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sldIdLst>
    <p:sldId id="256" r:id="rId2"/>
    <p:sldId id="399" r:id="rId3"/>
    <p:sldId id="343" r:id="rId4"/>
    <p:sldId id="391" r:id="rId5"/>
    <p:sldId id="344" r:id="rId6"/>
    <p:sldId id="345" r:id="rId7"/>
    <p:sldId id="392" r:id="rId8"/>
    <p:sldId id="346" r:id="rId9"/>
    <p:sldId id="350" r:id="rId10"/>
    <p:sldId id="393" r:id="rId11"/>
    <p:sldId id="347" r:id="rId12"/>
    <p:sldId id="394" r:id="rId13"/>
    <p:sldId id="348" r:id="rId14"/>
    <p:sldId id="395" r:id="rId15"/>
    <p:sldId id="397" r:id="rId16"/>
    <p:sldId id="398" r:id="rId17"/>
    <p:sldId id="400" r:id="rId18"/>
    <p:sldId id="405" r:id="rId19"/>
    <p:sldId id="365" r:id="rId20"/>
    <p:sldId id="366" r:id="rId21"/>
    <p:sldId id="367" r:id="rId22"/>
    <p:sldId id="375" r:id="rId23"/>
    <p:sldId id="372" r:id="rId24"/>
    <p:sldId id="370" r:id="rId25"/>
    <p:sldId id="406" r:id="rId26"/>
    <p:sldId id="380" r:id="rId27"/>
    <p:sldId id="404" r:id="rId28"/>
    <p:sldId id="403" r:id="rId29"/>
    <p:sldId id="408" r:id="rId30"/>
    <p:sldId id="407" r:id="rId31"/>
    <p:sldId id="396" r:id="rId32"/>
    <p:sldId id="315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EDAF4B"/>
    <a:srgbClr val="FD5807"/>
    <a:srgbClr val="F8DFB7"/>
    <a:srgbClr val="33CCCC"/>
    <a:srgbClr val="BC24BC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76435" autoAdjust="0"/>
  </p:normalViewPr>
  <p:slideViewPr>
    <p:cSldViewPr>
      <p:cViewPr varScale="1">
        <p:scale>
          <a:sx n="66" d="100"/>
          <a:sy n="66" d="100"/>
        </p:scale>
        <p:origin x="-1858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SzTx/>
              <a:buFontTx/>
              <a:buNone/>
              <a:defRPr sz="12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Tx/>
              <a:buFontTx/>
              <a:buNone/>
              <a:defRPr sz="12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SzTx/>
              <a:buFontTx/>
              <a:buNone/>
              <a:defRPr sz="120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Tx/>
              <a:buFontTx/>
              <a:buNone/>
              <a:defRPr sz="120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D150B10C-522E-49D7-80BB-D153EEF81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1209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11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Executive Officer </a:t>
            </a:r>
            <a:r>
              <a: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Chief Operating Officer</a:t>
            </a:r>
            <a:r>
              <a:rPr lang="zh-CN" altLang="en-US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Chief Technology Officer</a:t>
            </a:r>
            <a:r>
              <a:rPr lang="zh-CN" altLang="en-US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Chief Financial Officer</a:t>
            </a:r>
            <a:r>
              <a:rPr lang="zh-CN" altLang="en-US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Chief Information </a:t>
            </a:r>
            <a:r>
              <a:rPr lang="en-US" altLang="zh-CN" sz="8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Officer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9084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制约一个项目的条件是项目“三约束条件”</a:t>
            </a:r>
            <a:r>
              <a:rPr lang="en-US" altLang="zh-CN">
                <a:latin typeface="Arial" panose="020B0604020202020204" pitchFamily="34" charset="0"/>
              </a:rPr>
              <a:t>——</a:t>
            </a:r>
            <a:r>
              <a:rPr lang="zh-CN" altLang="en-US">
                <a:latin typeface="Arial" panose="020B0604020202020204" pitchFamily="34" charset="0"/>
              </a:rPr>
              <a:t>范围、时间、成本。</a:t>
            </a: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6E8F62-B5B1-49A5-ABE6-29BE270AE196}" type="slidenum">
              <a:rPr lang="en-US" altLang="zh-CN" smtClean="0">
                <a:solidFill>
                  <a:schemeClr val="tx1"/>
                </a:solidFill>
              </a:rPr>
              <a:pPr/>
              <a:t>4</a:t>
            </a:fld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394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9578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概要设计：大楼分几个部分，居住区、商业区、功能区，适应几类用户的户型。</a:t>
            </a: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DFD3F0-4326-4F4B-9952-218DA529D62E}" type="slidenum">
              <a:rPr lang="en-US" altLang="zh-CN" smtClean="0">
                <a:solidFill>
                  <a:schemeClr val="tx1"/>
                </a:solidFill>
              </a:rPr>
              <a:pPr/>
              <a:t>11</a:t>
            </a:fld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318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只见贼吃肉，不见贼挨打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304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保研事件及</a:t>
            </a:r>
            <a:r>
              <a:rPr lang="en-US" altLang="zh-CN" dirty="0"/>
              <a:t>ACM</a:t>
            </a:r>
            <a:r>
              <a:rPr lang="zh-CN" altLang="en-US" dirty="0"/>
              <a:t>，腾讯入</a:t>
            </a:r>
            <a:r>
              <a:rPr lang="zh-CN" altLang="en-US" dirty="0" smtClean="0"/>
              <a:t>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141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合作伙伴丁秀洪为知名求职节目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非你莫属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的常驻明星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BOSS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，并被国内过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所高校邀请为青年创业导师。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46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888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latin typeface="黑体" panose="02010609060101010101" pitchFamily="49" charset="-122"/>
                <a:ea typeface="黑体" panose="02010609060101010101" pitchFamily="49" charset="-122"/>
              </a:rPr>
              <a:t>Illumina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占据全球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70%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的基因测序市场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年被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MIT Technology Review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评为全球最具智慧的公司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第二名第三名分别为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Tesla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Google.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941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龙源集团和北京特域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3715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947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0B10C-522E-49D7-80BB-D153EEF81F69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947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E0661F-2AB5-4A54-A2A0-B1FF38A16BC7}" type="slidenum">
              <a:rPr lang="en-US" altLang="zh-CN" smtClean="0">
                <a:solidFill>
                  <a:schemeClr val="tx1"/>
                </a:solidFill>
              </a:rPr>
              <a:pPr/>
              <a:t>32</a:t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392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5302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476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994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596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4123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416050"/>
            <a:ext cx="4213225" cy="1941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6625" y="1416050"/>
            <a:ext cx="4213225" cy="1941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7925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5611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248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49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8737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1733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1240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15138" y="228600"/>
            <a:ext cx="2144712" cy="3128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281738" cy="31289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7179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57091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Title Slide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6050"/>
            <a:ext cx="8578850" cy="194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457200" indent="-4572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844550" indent="-385763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Ø"/>
        <a:defRPr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208088" indent="-3619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35113" indent="-325438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887538" indent="-350838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344738" indent="-350838" algn="l" rtl="0" fontAlgn="base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01938" indent="-350838" algn="l" rtl="0" fontAlgn="base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259138" indent="-350838" algn="l" rtl="0" fontAlgn="base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716338" indent="-350838" algn="l" rtl="0" fontAlgn="base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4.xml"/><Relationship Id="rId7" Type="http://schemas.openxmlformats.org/officeDocument/2006/relationships/slide" Target="slide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10" Type="http://schemas.openxmlformats.org/officeDocument/2006/relationships/slide" Target="slide17.xml"/><Relationship Id="rId4" Type="http://schemas.openxmlformats.org/officeDocument/2006/relationships/slide" Target="slide6.xml"/><Relationship Id="rId9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hyperlink" Target="http://photo.blog.sina.com.cn/photo/55226553t57f3bb876c4b" TargetMode="External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49400"/>
            <a:ext cx="8763000" cy="83978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第二讲 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行业概述</a:t>
            </a:r>
            <a:r>
              <a:rPr lang="en-US" altLang="zh-CN" sz="4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5800" y="3581400"/>
            <a:ext cx="76962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鲁斌</a:t>
            </a: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计算机系</a:t>
            </a: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Tel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7525252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Email</a:t>
            </a: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r>
              <a:rPr lang="en-US" altLang="zh-CN" sz="3600" b="1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lubin@ncepu.edu.cn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371600"/>
            <a:ext cx="6781800" cy="46164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计算机专业的特点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学计算机能干什么</a:t>
            </a:r>
          </a:p>
          <a:p>
            <a:pPr eaLnBrk="1" hangingPunct="1">
              <a:defRPr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我们的职业生涯</a:t>
            </a:r>
          </a:p>
          <a:p>
            <a:pPr eaLnBrk="1" hangingPunct="1">
              <a:defRPr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我们该怎么学习</a:t>
            </a:r>
          </a:p>
          <a:p>
            <a:pPr eaLnBrk="1" hangingPunct="1">
              <a:defRPr/>
            </a:pP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我们可以成功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1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1406"/>
            <a:ext cx="8570913" cy="5349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计算机行业职业生涯层次图</a:t>
            </a:r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auto">
          <a:xfrm>
            <a:off x="471488" y="717804"/>
            <a:ext cx="1752600" cy="6461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首席执行官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CEO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）</a:t>
            </a:r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3832225" y="723900"/>
            <a:ext cx="1638300" cy="646113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首席技术官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CTO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</a:t>
            </a:r>
          </a:p>
        </p:txBody>
      </p:sp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1219200" y="1427951"/>
            <a:ext cx="6553200" cy="400110"/>
          </a:xfrm>
          <a:prstGeom prst="rect">
            <a:avLst/>
          </a:prstGeom>
          <a:solidFill>
            <a:schemeClr val="bg2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项目经理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4503" name="Rectangle 7"/>
          <p:cNvSpPr>
            <a:spLocks noChangeArrowheads="1"/>
          </p:cNvSpPr>
          <p:nvPr/>
        </p:nvSpPr>
        <p:spPr bwMode="auto">
          <a:xfrm>
            <a:off x="1219200" y="1904825"/>
            <a:ext cx="6553200" cy="1667123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marL="2574000" lvl="4">
              <a:lnSpc>
                <a:spcPts val="2160"/>
              </a:lnSpc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产品经理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lnSpc>
                <a:spcPts val="2160"/>
              </a:lnSpc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系统分析员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lnSpc>
                <a:spcPts val="2160"/>
              </a:lnSpc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6" action="ppaction://hlinksldjump"/>
              </a:rPr>
              <a:t>系统构架师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lnSpc>
                <a:spcPts val="2160"/>
              </a:lnSpc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7" action="ppaction://hlinksldjump"/>
              </a:rPr>
              <a:t>测试经理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4504" name="Text Box 8"/>
          <p:cNvSpPr txBox="1">
            <a:spLocks noChangeArrowheads="1"/>
          </p:cNvSpPr>
          <p:nvPr/>
        </p:nvSpPr>
        <p:spPr bwMode="auto">
          <a:xfrm>
            <a:off x="1219200" y="4996696"/>
            <a:ext cx="6553200" cy="178510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测试程序员</a:t>
            </a:r>
          </a:p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程序员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市场营销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部署及维护人员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24088" y="723900"/>
            <a:ext cx="1608137" cy="646113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首席运营官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COO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219200" y="3620109"/>
            <a:ext cx="6553200" cy="1323439"/>
          </a:xfrm>
          <a:prstGeom prst="rect">
            <a:avLst/>
          </a:prstGeom>
          <a:solidFill>
            <a:schemeClr val="bg2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8" action="ppaction://hlinksldjump"/>
              </a:rPr>
              <a:t>开发组长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9" action="ppaction://hlinksldjump"/>
              </a:rPr>
              <a:t>测试开发组长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4000" lvl="4">
              <a:spcBef>
                <a:spcPct val="50000"/>
              </a:spcBef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10" action="ppaction://hlinksldjump"/>
              </a:rPr>
              <a:t>专家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高级程序员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05000" y="2409525"/>
            <a:ext cx="122237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创造级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904998" y="4710185"/>
            <a:ext cx="1222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实现级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896811" y="1362148"/>
            <a:ext cx="122237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管理级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7078663" y="722313"/>
            <a:ext cx="1608137" cy="64611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首席信息官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CIO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473700" y="722313"/>
            <a:ext cx="1608138" cy="6461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首席财务官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CFO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项目经理（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Project Manager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Leader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85763" y="804863"/>
            <a:ext cx="8224837" cy="552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范围管理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：确定项目的需求、定义规划项目的范围、范围的变更控制管理以及范围核实等；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：项目里程碑时间控制，项目出现偏离规划时，重新规划；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成本管理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：成本控制、资本预算以及基本财务结算等；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人力资源管理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：着重于对组内人员的管理，包括冲突的处理、对职员工作动力的促进、高效率的组织结构规划、团队工作和团队形成以及人际关系技巧；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风险管理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：在信息不完备的情况下做决定的过程。风险确定、风险冲击分析以及风险应对计划；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质量管理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：产品质量的控制；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合同管理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：项目合同条款的拟定和变更应对；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交流管理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：与公司上级、客户、三方厂商及属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下进行有效的交流。</a:t>
            </a:r>
          </a:p>
        </p:txBody>
      </p:sp>
      <p:pic>
        <p:nvPicPr>
          <p:cNvPr id="6148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4648200"/>
            <a:ext cx="193833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项目经理应需具备的能力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85763" y="936625"/>
            <a:ext cx="8224837" cy="574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号召力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：也就是调动下属工作积极性的能力。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：主要是对下属产生影响的能力，奖惩机制。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：有效倾听、劝告和理解他人行为的能力。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应变能力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：项目的管理是一个动态的管理，实施过程中可能各种情况，要求项目经理必须灵活应变，对各种不利的情况迅速作出反应，并着手解决。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大局意识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：能够占到项目大局的高度上思考、处理问题。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责任意识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：勇于作出决定，并且勇于承担该决定所带来的负面责任。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自信心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：具备敢局面对一切困难的信心。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管理能力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：具备计划、组织项目运作的能力。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技术能力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：项目经理为技术出身，具备一定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的专业素养。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58625" y="141737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197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4343400"/>
            <a:ext cx="2227262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产品经理（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Product Manager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122" y="1447800"/>
            <a:ext cx="3911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7150" y="1219200"/>
            <a:ext cx="5162550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产品经理负责并保证高质量的软件产品按时完成和发布的专职管理。任务包括：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联络用户，搜集用户的新需求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、竞争产品的资料以及研究产品的发展趋势等。 </a:t>
            </a: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基于领域背景参与到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产品功能的定义、规划、设计和推广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各种客户关系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的复杂决策，保证开发队伍顺利开展工作及跟踪程序错误等，全权负责产品的最终完成；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产品经理应具备的能力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81000" y="1025525"/>
            <a:ext cx="8418513" cy="539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敏锐市场洞察力及创新能力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：能够根据市场的实时变化，定义出最有价值的产品。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：应为技术出身，对所研发产品具有深刻理解，实现创新和现有技术的结合。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市场营销能力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：制定市场营销策略，促进产品推广力度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：能够与客户、项目经理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、系统分析员进行有效交流，成为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其三者沟通的桥梁。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：具备对产品运作团队的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管理能力。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48600" y="144390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245" name="Picture 2" descr="http://ww4.sinaimg.cn/large/82a86b72jw1e0vgfujkhnj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3463925"/>
            <a:ext cx="2514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系统分析员（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System Analyst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863600"/>
            <a:ext cx="5867400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分析用户的实际问题，为用户提出可行的解决方案。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为用户设计算机系统的一系列解决问题的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提出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软件、硬件及网络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三方面的环境与设备类型品牌规格等详细信息；（价格低、功能适用，还要考虑可扩展性，尤其是服务器根据项目特点要考虑很多方面）；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选择何种类型的开发工具与配套工具及中间件、第三方组件等；（熟悉各种开发工具的优缺点，成本估计） 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完成软件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需求分析说明书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。    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2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447800"/>
            <a:ext cx="281940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自动售货机需求分析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901700"/>
            <a:ext cx="6553200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支付实现（硬币、纸币的尺寸、支付宝等）</a:t>
            </a:r>
          </a:p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货品展示箱（可同时展示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种货品，可抗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公斤力重砸）</a:t>
            </a:r>
          </a:p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货品选择器（可选择不同种类的货品）</a:t>
            </a:r>
          </a:p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货品出口（直径三寸圆形出口）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货品安放功能（设置背板锁，可用指纹识别打开）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系统设置界面（设置货品安放位置价格）</a:t>
            </a:r>
          </a:p>
        </p:txBody>
      </p:sp>
      <p:grpSp>
        <p:nvGrpSpPr>
          <p:cNvPr id="12292" name="组合 2"/>
          <p:cNvGrpSpPr>
            <a:grpSpLocks/>
          </p:cNvGrpSpPr>
          <p:nvPr/>
        </p:nvGrpSpPr>
        <p:grpSpPr bwMode="auto">
          <a:xfrm>
            <a:off x="190500" y="4826000"/>
            <a:ext cx="685800" cy="1735138"/>
            <a:chOff x="419100" y="4614863"/>
            <a:chExt cx="685800" cy="1735137"/>
          </a:xfrm>
        </p:grpSpPr>
        <p:grpSp>
          <p:nvGrpSpPr>
            <p:cNvPr id="12314" name="组合 16"/>
            <p:cNvGrpSpPr>
              <a:grpSpLocks/>
            </p:cNvGrpSpPr>
            <p:nvPr/>
          </p:nvGrpSpPr>
          <p:grpSpPr bwMode="auto">
            <a:xfrm>
              <a:off x="419100" y="4614863"/>
              <a:ext cx="685800" cy="1447833"/>
              <a:chOff x="609600" y="3810000"/>
              <a:chExt cx="685800" cy="1447800"/>
            </a:xfrm>
          </p:grpSpPr>
          <p:sp>
            <p:nvSpPr>
              <p:cNvPr id="2" name="笑脸 1"/>
              <p:cNvSpPr/>
              <p:nvPr/>
            </p:nvSpPr>
            <p:spPr bwMode="auto">
              <a:xfrm>
                <a:off x="685800" y="3810000"/>
                <a:ext cx="457200" cy="457189"/>
              </a:xfrm>
              <a:prstGeom prst="smileyFace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  <a:extLst/>
            </p:spPr>
            <p:txBody>
              <a:bodyPr anchor="ctr">
                <a:spAutoFit/>
              </a:bodyPr>
              <a:lstStyle/>
              <a:p>
                <a:pPr algn="ctr">
                  <a:buClr>
                    <a:schemeClr val="tx2"/>
                  </a:buClr>
                  <a:buSzPts val="2100"/>
                  <a:buFont typeface="Wingdings" panose="05000000000000000000" pitchFamily="2" charset="2"/>
                  <a:buChar char="l"/>
                  <a:defRPr/>
                </a:pPr>
                <a:endPara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12317" name="直接连接符 3"/>
              <p:cNvCxnSpPr>
                <a:cxnSpLocks noChangeShapeType="1"/>
              </p:cNvCxnSpPr>
              <p:nvPr/>
            </p:nvCxnSpPr>
            <p:spPr bwMode="auto">
              <a:xfrm>
                <a:off x="609600" y="4457700"/>
                <a:ext cx="685800" cy="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18" name="直接连接符 6"/>
              <p:cNvCxnSpPr>
                <a:cxnSpLocks noChangeShapeType="1"/>
                <a:stCxn id="2" idx="4"/>
              </p:cNvCxnSpPr>
              <p:nvPr/>
            </p:nvCxnSpPr>
            <p:spPr bwMode="auto">
              <a:xfrm>
                <a:off x="914400" y="4267200"/>
                <a:ext cx="0" cy="685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19" name="直接连接符 11"/>
              <p:cNvCxnSpPr>
                <a:cxnSpLocks noChangeShapeType="1"/>
              </p:cNvCxnSpPr>
              <p:nvPr/>
            </p:nvCxnSpPr>
            <p:spPr bwMode="auto">
              <a:xfrm flipH="1">
                <a:off x="685800" y="4953000"/>
                <a:ext cx="228600" cy="304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20" name="直接连接符 13"/>
              <p:cNvCxnSpPr>
                <a:cxnSpLocks noChangeShapeType="1"/>
              </p:cNvCxnSpPr>
              <p:nvPr/>
            </p:nvCxnSpPr>
            <p:spPr bwMode="auto">
              <a:xfrm>
                <a:off x="914400" y="4953000"/>
                <a:ext cx="228600" cy="304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8" name="TextBox 17"/>
            <p:cNvSpPr txBox="1"/>
            <p:nvPr/>
          </p:nvSpPr>
          <p:spPr bwMode="auto">
            <a:xfrm>
              <a:off x="419100" y="5980112"/>
              <a:ext cx="685800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Clr>
                  <a:schemeClr val="tx2"/>
                </a:buClr>
                <a:buSzPts val="2100"/>
                <a:buFont typeface="Wingdings" panose="05000000000000000000" pitchFamily="2" charset="2"/>
                <a:buNone/>
                <a:defRPr/>
              </a:pPr>
              <a:r>
                <a:rPr lang="zh-CN" altLang="en-US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老板</a:t>
              </a:r>
            </a:p>
          </p:txBody>
        </p:sp>
      </p:grpSp>
      <p:cxnSp>
        <p:nvCxnSpPr>
          <p:cNvPr id="12293" name="直接箭头连接符 20"/>
          <p:cNvCxnSpPr>
            <a:cxnSpLocks noChangeShapeType="1"/>
          </p:cNvCxnSpPr>
          <p:nvPr/>
        </p:nvCxnSpPr>
        <p:spPr bwMode="auto">
          <a:xfrm flipV="1">
            <a:off x="901700" y="4927600"/>
            <a:ext cx="1143000" cy="5461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4" name="椭圆 21"/>
          <p:cNvSpPr>
            <a:spLocks noChangeArrowheads="1"/>
          </p:cNvSpPr>
          <p:nvPr/>
        </p:nvSpPr>
        <p:spPr bwMode="auto">
          <a:xfrm>
            <a:off x="1866900" y="4446588"/>
            <a:ext cx="1752600" cy="519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Pts val="2100"/>
              <a:buFont typeface="Wingdings" panose="05000000000000000000" pitchFamily="2" charset="2"/>
              <a:buNone/>
            </a:pPr>
            <a:r>
              <a:rPr lang="zh-CN" altLang="en-US" sz="1800"/>
              <a:t>安放糖果</a:t>
            </a:r>
          </a:p>
        </p:txBody>
      </p:sp>
      <p:sp>
        <p:nvSpPr>
          <p:cNvPr id="12295" name="椭圆 25"/>
          <p:cNvSpPr>
            <a:spLocks noChangeArrowheads="1"/>
          </p:cNvSpPr>
          <p:nvPr/>
        </p:nvSpPr>
        <p:spPr bwMode="auto">
          <a:xfrm>
            <a:off x="2044700" y="5441950"/>
            <a:ext cx="1752600" cy="519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Pts val="2100"/>
              <a:buFont typeface="Wingdings" panose="05000000000000000000" pitchFamily="2" charset="2"/>
              <a:buNone/>
            </a:pPr>
            <a:r>
              <a:rPr lang="zh-CN" altLang="en-US" sz="1800"/>
              <a:t>系统设置</a:t>
            </a:r>
          </a:p>
        </p:txBody>
      </p:sp>
      <p:cxnSp>
        <p:nvCxnSpPr>
          <p:cNvPr id="12296" name="直接箭头连接符 26"/>
          <p:cNvCxnSpPr>
            <a:cxnSpLocks noChangeShapeType="1"/>
            <a:endCxn id="12295" idx="2"/>
          </p:cNvCxnSpPr>
          <p:nvPr/>
        </p:nvCxnSpPr>
        <p:spPr bwMode="auto">
          <a:xfrm>
            <a:off x="876300" y="5473700"/>
            <a:ext cx="1168400" cy="2286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7" name="椭圆 30"/>
          <p:cNvSpPr>
            <a:spLocks noChangeArrowheads="1"/>
          </p:cNvSpPr>
          <p:nvPr/>
        </p:nvSpPr>
        <p:spPr bwMode="auto">
          <a:xfrm>
            <a:off x="2044700" y="6086475"/>
            <a:ext cx="1752600" cy="5207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Pts val="2100"/>
              <a:buFont typeface="Wingdings" panose="05000000000000000000" pitchFamily="2" charset="2"/>
              <a:buNone/>
            </a:pPr>
            <a:r>
              <a:rPr lang="zh-CN" altLang="en-US" sz="1800"/>
              <a:t>取钱</a:t>
            </a:r>
          </a:p>
        </p:txBody>
      </p:sp>
      <p:cxnSp>
        <p:nvCxnSpPr>
          <p:cNvPr id="12298" name="直接箭头连接符 31"/>
          <p:cNvCxnSpPr>
            <a:cxnSpLocks noChangeShapeType="1"/>
            <a:endCxn id="12297" idx="2"/>
          </p:cNvCxnSpPr>
          <p:nvPr/>
        </p:nvCxnSpPr>
        <p:spPr bwMode="auto">
          <a:xfrm>
            <a:off x="901700" y="5473700"/>
            <a:ext cx="1143000" cy="8731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299" name="组合 3"/>
          <p:cNvGrpSpPr>
            <a:grpSpLocks/>
          </p:cNvGrpSpPr>
          <p:nvPr/>
        </p:nvGrpSpPr>
        <p:grpSpPr bwMode="auto">
          <a:xfrm>
            <a:off x="4265613" y="4840288"/>
            <a:ext cx="685800" cy="1735137"/>
            <a:chOff x="4494331" y="4629944"/>
            <a:chExt cx="685800" cy="1735137"/>
          </a:xfrm>
        </p:grpSpPr>
        <p:grpSp>
          <p:nvGrpSpPr>
            <p:cNvPr id="12307" name="组合 34"/>
            <p:cNvGrpSpPr>
              <a:grpSpLocks/>
            </p:cNvGrpSpPr>
            <p:nvPr/>
          </p:nvGrpSpPr>
          <p:grpSpPr bwMode="auto">
            <a:xfrm>
              <a:off x="4494331" y="4629944"/>
              <a:ext cx="685800" cy="1447833"/>
              <a:chOff x="609600" y="3810000"/>
              <a:chExt cx="685800" cy="1447800"/>
            </a:xfrm>
          </p:grpSpPr>
          <p:sp>
            <p:nvSpPr>
              <p:cNvPr id="37" name="笑脸 36"/>
              <p:cNvSpPr/>
              <p:nvPr/>
            </p:nvSpPr>
            <p:spPr bwMode="auto">
              <a:xfrm>
                <a:off x="685800" y="3810000"/>
                <a:ext cx="457200" cy="457190"/>
              </a:xfrm>
              <a:prstGeom prst="smileyFace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  <a:extLst/>
            </p:spPr>
            <p:txBody>
              <a:bodyPr anchor="ctr">
                <a:spAutoFit/>
              </a:bodyPr>
              <a:lstStyle/>
              <a:p>
                <a:pPr algn="ctr">
                  <a:buClr>
                    <a:schemeClr val="tx2"/>
                  </a:buClr>
                  <a:buSzPts val="2100"/>
                  <a:buFont typeface="Wingdings" panose="05000000000000000000" pitchFamily="2" charset="2"/>
                  <a:buChar char="l"/>
                  <a:defRPr/>
                </a:pPr>
                <a:endPara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12310" name="直接连接符 37"/>
              <p:cNvCxnSpPr>
                <a:cxnSpLocks noChangeShapeType="1"/>
              </p:cNvCxnSpPr>
              <p:nvPr/>
            </p:nvCxnSpPr>
            <p:spPr bwMode="auto">
              <a:xfrm>
                <a:off x="609600" y="4457700"/>
                <a:ext cx="685800" cy="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11" name="直接连接符 38"/>
              <p:cNvCxnSpPr>
                <a:cxnSpLocks noChangeShapeType="1"/>
                <a:stCxn id="37" idx="4"/>
              </p:cNvCxnSpPr>
              <p:nvPr/>
            </p:nvCxnSpPr>
            <p:spPr bwMode="auto">
              <a:xfrm>
                <a:off x="914400" y="4267200"/>
                <a:ext cx="0" cy="685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12" name="直接连接符 39"/>
              <p:cNvCxnSpPr>
                <a:cxnSpLocks noChangeShapeType="1"/>
              </p:cNvCxnSpPr>
              <p:nvPr/>
            </p:nvCxnSpPr>
            <p:spPr bwMode="auto">
              <a:xfrm flipH="1">
                <a:off x="685800" y="4953000"/>
                <a:ext cx="228600" cy="304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13" name="直接连接符 40"/>
              <p:cNvCxnSpPr>
                <a:cxnSpLocks noChangeShapeType="1"/>
              </p:cNvCxnSpPr>
              <p:nvPr/>
            </p:nvCxnSpPr>
            <p:spPr bwMode="auto">
              <a:xfrm>
                <a:off x="914400" y="4953000"/>
                <a:ext cx="228600" cy="304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" name="TextBox 35"/>
            <p:cNvSpPr txBox="1"/>
            <p:nvPr/>
          </p:nvSpPr>
          <p:spPr bwMode="auto">
            <a:xfrm>
              <a:off x="4494331" y="5995194"/>
              <a:ext cx="685800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Clr>
                  <a:schemeClr val="tx2"/>
                </a:buClr>
                <a:buSzPts val="2100"/>
                <a:buFont typeface="Wingdings" panose="05000000000000000000" pitchFamily="2" charset="2"/>
                <a:buNone/>
                <a:defRPr/>
              </a:pPr>
              <a:r>
                <a:rPr lang="zh-CN" altLang="en-US" b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客户</a:t>
              </a:r>
            </a:p>
          </p:txBody>
        </p:sp>
      </p:grpSp>
      <p:cxnSp>
        <p:nvCxnSpPr>
          <p:cNvPr id="12300" name="直接箭头连接符 41"/>
          <p:cNvCxnSpPr>
            <a:cxnSpLocks noChangeShapeType="1"/>
          </p:cNvCxnSpPr>
          <p:nvPr/>
        </p:nvCxnSpPr>
        <p:spPr bwMode="auto">
          <a:xfrm flipV="1">
            <a:off x="4953000" y="4949825"/>
            <a:ext cx="1143000" cy="5461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01" name="椭圆 42"/>
          <p:cNvSpPr>
            <a:spLocks noChangeArrowheads="1"/>
          </p:cNvSpPr>
          <p:nvPr/>
        </p:nvSpPr>
        <p:spPr bwMode="auto">
          <a:xfrm>
            <a:off x="5918200" y="4468813"/>
            <a:ext cx="1752600" cy="519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Pts val="2100"/>
              <a:buFont typeface="Wingdings" panose="05000000000000000000" pitchFamily="2" charset="2"/>
              <a:buNone/>
            </a:pPr>
            <a:r>
              <a:rPr lang="zh-CN" altLang="en-US" sz="1800"/>
              <a:t>选择糖果</a:t>
            </a:r>
          </a:p>
        </p:txBody>
      </p:sp>
      <p:sp>
        <p:nvSpPr>
          <p:cNvPr id="12302" name="椭圆 43"/>
          <p:cNvSpPr>
            <a:spLocks noChangeArrowheads="1"/>
          </p:cNvSpPr>
          <p:nvPr/>
        </p:nvSpPr>
        <p:spPr bwMode="auto">
          <a:xfrm>
            <a:off x="6096000" y="5449888"/>
            <a:ext cx="1752600" cy="519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Pts val="2100"/>
              <a:buFont typeface="Wingdings" panose="05000000000000000000" pitchFamily="2" charset="2"/>
              <a:buNone/>
            </a:pPr>
            <a:r>
              <a:rPr lang="zh-CN" altLang="en-US" sz="1800"/>
              <a:t>付钱</a:t>
            </a:r>
          </a:p>
        </p:txBody>
      </p:sp>
      <p:cxnSp>
        <p:nvCxnSpPr>
          <p:cNvPr id="12303" name="直接箭头连接符 44"/>
          <p:cNvCxnSpPr>
            <a:cxnSpLocks noChangeShapeType="1"/>
            <a:endCxn id="12302" idx="2"/>
          </p:cNvCxnSpPr>
          <p:nvPr/>
        </p:nvCxnSpPr>
        <p:spPr bwMode="auto">
          <a:xfrm>
            <a:off x="4927600" y="5480050"/>
            <a:ext cx="1168400" cy="2286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04" name="椭圆 45"/>
          <p:cNvSpPr>
            <a:spLocks noChangeArrowheads="1"/>
          </p:cNvSpPr>
          <p:nvPr/>
        </p:nvSpPr>
        <p:spPr bwMode="auto">
          <a:xfrm>
            <a:off x="6096000" y="6110288"/>
            <a:ext cx="1752600" cy="5191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Pts val="2100"/>
              <a:buFont typeface="Wingdings" panose="05000000000000000000" pitchFamily="2" charset="2"/>
              <a:buNone/>
            </a:pPr>
            <a:r>
              <a:rPr lang="zh-CN" altLang="en-US" sz="1800"/>
              <a:t>取出糖果</a:t>
            </a:r>
          </a:p>
        </p:txBody>
      </p:sp>
      <p:cxnSp>
        <p:nvCxnSpPr>
          <p:cNvPr id="12305" name="直接箭头连接符 46"/>
          <p:cNvCxnSpPr>
            <a:cxnSpLocks noChangeShapeType="1"/>
            <a:endCxn id="12304" idx="2"/>
          </p:cNvCxnSpPr>
          <p:nvPr/>
        </p:nvCxnSpPr>
        <p:spPr bwMode="auto">
          <a:xfrm>
            <a:off x="4953000" y="5495925"/>
            <a:ext cx="1143000" cy="8731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30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6499"/>
            <a:ext cx="25558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系统分析员应具备的能力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200" y="1066800"/>
            <a:ext cx="8418513" cy="47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：能够与客户、项目经理、产品经理、系统构架师、测试经理进行有效交流；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：应为技术出身，对所定义的产品功能具有深刻理解，实现创新和现有技术的结合；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领域知识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：具备所涉足问题领域的专业知识；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逻辑分析能力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：为用户找到问题的根源，并提出解决方案；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耐心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：平和对待需求变更；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48600" y="144390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3317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3954463"/>
            <a:ext cx="3871912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系统构架师（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Architecture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817563"/>
            <a:ext cx="8991600" cy="500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algn="just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系统架构师根据软件构架理论和实践经验，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一个软件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系统的构架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，实现软件需求说明书中所提出的各种功能。构架设计主要分为两个阶段：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概要设计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：将一复杂系统按功能进行模块划分、建立模块的层次结构及调用关系、确定模块间的接口及人机界面等；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详细设计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：为每个模块完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成的功能进行具体描述。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考虑从需求到设计的每个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细节，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使项目开发容易，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维护方便，升级简单等；</a:t>
            </a: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最终完成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概要设计说明书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详细设计说明书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   </a:t>
            </a:r>
          </a:p>
        </p:txBody>
      </p:sp>
      <p:pic>
        <p:nvPicPr>
          <p:cNvPr id="14340" name="Picture 5" descr="C:\Users\fn123\AppData\Roaming\Tencent\Users\3094998\QQ\WinTemp\RichOle\8C822[4T8T$GM([FA)3A%~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2819400"/>
            <a:ext cx="45339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系统构架师应具备的能力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200" y="1066800"/>
            <a:ext cx="8418513" cy="47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：能够与项目经理、系统分析员、测试经理进行有效交流；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：一般为资深技术专家出身，项目经验丰富；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基础理论能力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：将各种基础理论模型应用到系统设计中；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全局设计能力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：把握全局着眼未来；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耐心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：平和对待需求变更和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48600" y="144390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6389" name="Picture 2" descr="http://img94.pp.sohu.com/images/blog/2006/9/25/0/23/10e7403e89f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7" y="3951287"/>
            <a:ext cx="2443163" cy="290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测试经理（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The Test Manager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7800" y="914400"/>
            <a:ext cx="8743950" cy="559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职责是有效的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领导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测试团队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，完成软件产品的测试工作，使软件产品的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得到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保障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Quality Assurance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根据每一次交付的版本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产物的内容制定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测试范围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在测试组织内部制定和分配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测试角色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为迎合测试需要进行测试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配置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和管理；</a:t>
            </a: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实现和开展适当的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度量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规划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lvl="2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交付的产品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是否可以测试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测试团队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是否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已经做好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测试准备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为每一个给定版本进行测试计划、开展测试以及管理测试结果；</a:t>
            </a:r>
          </a:p>
          <a:p>
            <a:pPr lvl="1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为迎合测试要求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和壮大必须的测试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资产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测试成员；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测试工具；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测试流程。</a:t>
            </a:r>
          </a:p>
        </p:txBody>
      </p:sp>
      <p:pic>
        <p:nvPicPr>
          <p:cNvPr id="17412" name="Picture 6" descr="http://www.uml.org.cn/UMLApplication/nested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575" y="5334000"/>
            <a:ext cx="25304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测试经理应具备的能力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200" y="1066800"/>
            <a:ext cx="84582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：能够与项目经理、系统分析员、构架师、软件实现团队进行有效交流。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：一般为资深系统分析专家或构架师出身。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：能够计划、组织好测试团队。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测试领域技能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：深谙测试方法学，能够高效的发现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耐心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：平和对待需求变更和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48600" y="144390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8437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56138"/>
            <a:ext cx="327660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开发组长（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Software Engineer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Teamleader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6250" y="990600"/>
            <a:ext cx="8134350" cy="478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主要职责：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根据软件详细设计说明书，组织程序员团队完成所负责模块的编码实现。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需要具备的能力：</a:t>
            </a:r>
            <a:endParaRPr lang="en-US" altLang="zh-CN" sz="2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：能够与构架师、测试组长、团队成员进行有效沟通。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：编写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Model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，能够解决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一定难度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的问题。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：能够计划、组织好开发团队。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耐心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：平和对待需求变更、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以及枯燥无味的代码工作。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：读懂软件详细设计说明书、编写开发计划文档。</a:t>
            </a:r>
          </a:p>
          <a:p>
            <a:pPr lvl="1" eaLnBrk="1" hangingPunct="1">
              <a:defRPr/>
            </a:pPr>
            <a:endParaRPr lang="zh-CN" altLang="en-US" sz="2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0" y="5747327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测试开发组长（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SEDT Leader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49250" y="914400"/>
            <a:ext cx="8418513" cy="528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全拼：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Software Development Engineer in Test Leader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主要职责：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组织测试程序员完成经理安排的测试任务。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需要具备的能力：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：能够与测试经理、测试程序员、系统分析员、构架师、开发组长进行有效交流。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：一般为资深程序员出身。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：能够计划、组织好测试团队。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测试领域技能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：深谙测试方法学，能够高效的发现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耐心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：平和对待需求变更和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29400" y="5791200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专家（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Expert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04800" y="1066800"/>
            <a:ext cx="8418513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主要职责：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针对项目中遇到的各种技术难题进行攻坚，并负责培训开发团队。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需要具备的能力：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：能够与各种管理、专业人员进行有效交流。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专业技能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：一般为资深程序员出身。。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激情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：对领域新技术无比热爱。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责任心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：关键时刻的中流砥柱。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文档能力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05400" y="5899106"/>
            <a:ext cx="703950" cy="7039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1509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244975"/>
            <a:ext cx="22860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箭头连接符 38"/>
          <p:cNvCxnSpPr/>
          <p:nvPr/>
        </p:nvCxnSpPr>
        <p:spPr bwMode="auto">
          <a:xfrm>
            <a:off x="3505200" y="2743200"/>
            <a:ext cx="85702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9225" y="90455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我们该怎么学习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2188268" y="2371856"/>
            <a:ext cx="1318724" cy="822325"/>
            <a:chOff x="2188268" y="2371856"/>
            <a:chExt cx="1318724" cy="822325"/>
          </a:xfrm>
        </p:grpSpPr>
        <p:sp>
          <p:nvSpPr>
            <p:cNvPr id="2" name="矩形 1"/>
            <p:cNvSpPr/>
            <p:nvPr/>
          </p:nvSpPr>
          <p:spPr bwMode="auto">
            <a:xfrm>
              <a:off x="2188268" y="2371856"/>
              <a:ext cx="1312426" cy="82232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2557" name="文本框 2"/>
            <p:cNvSpPr txBox="1">
              <a:spLocks noChangeArrowheads="1"/>
            </p:cNvSpPr>
            <p:nvPr/>
          </p:nvSpPr>
          <p:spPr bwMode="auto">
            <a:xfrm>
              <a:off x="2261106" y="2586259"/>
              <a:ext cx="12458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理论学习</a:t>
              </a:r>
            </a:p>
          </p:txBody>
        </p:sp>
      </p:grpSp>
      <p:grpSp>
        <p:nvGrpSpPr>
          <p:cNvPr id="22532" name="组合 7"/>
          <p:cNvGrpSpPr>
            <a:grpSpLocks/>
          </p:cNvGrpSpPr>
          <p:nvPr/>
        </p:nvGrpSpPr>
        <p:grpSpPr bwMode="auto">
          <a:xfrm>
            <a:off x="2129094" y="1383289"/>
            <a:ext cx="1600200" cy="674662"/>
            <a:chOff x="566558" y="2105697"/>
            <a:chExt cx="1752600" cy="838200"/>
          </a:xfrm>
        </p:grpSpPr>
        <p:sp>
          <p:nvSpPr>
            <p:cNvPr id="6" name="椭圆形标注 5"/>
            <p:cNvSpPr/>
            <p:nvPr/>
          </p:nvSpPr>
          <p:spPr bwMode="auto">
            <a:xfrm>
              <a:off x="566558" y="2105697"/>
              <a:ext cx="1752600" cy="838200"/>
            </a:xfrm>
            <a:prstGeom prst="wedgeEllipseCallout">
              <a:avLst>
                <a:gd name="adj1" fmla="val -20833"/>
                <a:gd name="adj2" fmla="val 89547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  <a:effectLst/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2555" name="文本框 6"/>
            <p:cNvSpPr txBox="1">
              <a:spLocks noChangeArrowheads="1"/>
            </p:cNvSpPr>
            <p:nvPr/>
          </p:nvSpPr>
          <p:spPr bwMode="auto">
            <a:xfrm>
              <a:off x="815529" y="2338899"/>
              <a:ext cx="12399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课堂教育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188268" y="3874235"/>
            <a:ext cx="1322479" cy="821035"/>
            <a:chOff x="-492997" y="2387097"/>
            <a:chExt cx="2085630" cy="82103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8" name="矩形 17"/>
            <p:cNvSpPr/>
            <p:nvPr/>
          </p:nvSpPr>
          <p:spPr bwMode="auto">
            <a:xfrm>
              <a:off x="-492997" y="2387097"/>
              <a:ext cx="2085630" cy="8210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  <a:effectLst/>
            <a:ex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-305827" y="2613913"/>
              <a:ext cx="1107996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实践学习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824294" y="5021887"/>
            <a:ext cx="1986731" cy="845513"/>
            <a:chOff x="1824294" y="5021887"/>
            <a:chExt cx="1788448" cy="648015"/>
          </a:xfrm>
        </p:grpSpPr>
        <p:sp>
          <p:nvSpPr>
            <p:cNvPr id="21" name="椭圆形标注 20"/>
            <p:cNvSpPr/>
            <p:nvPr/>
          </p:nvSpPr>
          <p:spPr bwMode="auto">
            <a:xfrm>
              <a:off x="1824294" y="5021887"/>
              <a:ext cx="1788448" cy="648015"/>
            </a:xfrm>
            <a:prstGeom prst="wedgeEllipseCallout">
              <a:avLst>
                <a:gd name="adj1" fmla="val 9350"/>
                <a:gd name="adj2" fmla="val -88063"/>
              </a:avLst>
            </a:prstGeom>
            <a:solidFill>
              <a:srgbClr val="F8DFB7"/>
            </a:solidFill>
            <a:ln>
              <a:solidFill>
                <a:schemeClr val="tx1"/>
              </a:solidFill>
            </a:ln>
            <a:effectLst/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2553" name="文本框 21"/>
            <p:cNvSpPr txBox="1">
              <a:spLocks noChangeArrowheads="1"/>
            </p:cNvSpPr>
            <p:nvPr/>
          </p:nvSpPr>
          <p:spPr bwMode="auto">
            <a:xfrm>
              <a:off x="2166110" y="5094688"/>
              <a:ext cx="1127801" cy="495359"/>
            </a:xfrm>
            <a:prstGeom prst="rect">
              <a:avLst/>
            </a:prstGeom>
            <a:solidFill>
              <a:srgbClr val="F8DF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实习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/>
              </a:r>
              <a:b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r>
                <a:rPr lang="en-US" altLang="zh-CN" dirty="0" err="1" smtClean="0">
                  <a:latin typeface="黑体" panose="02010609060101010101" pitchFamily="49" charset="-122"/>
                  <a:ea typeface="黑体" panose="02010609060101010101" pitchFamily="49" charset="-122"/>
                </a:rPr>
                <a:t>TechCat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5" name="矩形 24"/>
          <p:cNvSpPr/>
          <p:nvPr/>
        </p:nvSpPr>
        <p:spPr bwMode="auto">
          <a:xfrm>
            <a:off x="4362223" y="2371856"/>
            <a:ext cx="1356519" cy="822325"/>
          </a:xfrm>
          <a:prstGeom prst="rect">
            <a:avLst/>
          </a:prstGeom>
          <a:solidFill>
            <a:schemeClr val="tx1">
              <a:lumMod val="85000"/>
            </a:schemeClr>
          </a:solidFill>
          <a:ln w="19050">
            <a:solidFill>
              <a:schemeClr val="tx1"/>
            </a:solidFill>
          </a:ln>
          <a:effectLst/>
          <a:extLst/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37335" y="2471541"/>
            <a:ext cx="950356" cy="64633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第一层级工作</a:t>
            </a:r>
          </a:p>
        </p:txBody>
      </p:sp>
      <p:grpSp>
        <p:nvGrpSpPr>
          <p:cNvPr id="22537" name="组合 9"/>
          <p:cNvGrpSpPr>
            <a:grpSpLocks/>
          </p:cNvGrpSpPr>
          <p:nvPr/>
        </p:nvGrpSpPr>
        <p:grpSpPr bwMode="auto">
          <a:xfrm>
            <a:off x="4362223" y="1377640"/>
            <a:ext cx="1500671" cy="680311"/>
            <a:chOff x="4904693" y="1660336"/>
            <a:chExt cx="1752600" cy="838200"/>
          </a:xfrm>
        </p:grpSpPr>
        <p:sp>
          <p:nvSpPr>
            <p:cNvPr id="28" name="椭圆形标注 27"/>
            <p:cNvSpPr/>
            <p:nvPr/>
          </p:nvSpPr>
          <p:spPr bwMode="auto">
            <a:xfrm>
              <a:off x="4904693" y="1660336"/>
              <a:ext cx="1752600" cy="838200"/>
            </a:xfrm>
            <a:prstGeom prst="wedgeEllipseCallout">
              <a:avLst>
                <a:gd name="adj1" fmla="val 18405"/>
                <a:gd name="adj2" fmla="val 90448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  <a:effectLst/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2551" name="文本框 28"/>
            <p:cNvSpPr txBox="1">
              <a:spLocks noChangeArrowheads="1"/>
            </p:cNvSpPr>
            <p:nvPr/>
          </p:nvSpPr>
          <p:spPr bwMode="auto">
            <a:xfrm>
              <a:off x="5161002" y="1866867"/>
              <a:ext cx="12399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某公司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483249" y="2383543"/>
            <a:ext cx="1325959" cy="822325"/>
            <a:chOff x="5638800" y="2340754"/>
            <a:chExt cx="1325959" cy="822325"/>
          </a:xfrm>
        </p:grpSpPr>
        <p:sp>
          <p:nvSpPr>
            <p:cNvPr id="36" name="矩形 35"/>
            <p:cNvSpPr/>
            <p:nvPr/>
          </p:nvSpPr>
          <p:spPr bwMode="auto">
            <a:xfrm>
              <a:off x="5638800" y="2340754"/>
              <a:ext cx="1325959" cy="822325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  <a:effectLst/>
            <a:ex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886118" y="2442488"/>
              <a:ext cx="8917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更高层级工作</a:t>
              </a:r>
            </a:p>
          </p:txBody>
        </p:sp>
      </p:grpSp>
      <p:grpSp>
        <p:nvGrpSpPr>
          <p:cNvPr id="22542" name="组合 2"/>
          <p:cNvGrpSpPr>
            <a:grpSpLocks/>
          </p:cNvGrpSpPr>
          <p:nvPr/>
        </p:nvGrpSpPr>
        <p:grpSpPr bwMode="auto">
          <a:xfrm>
            <a:off x="779027" y="1974845"/>
            <a:ext cx="685800" cy="1735138"/>
            <a:chOff x="419100" y="4614863"/>
            <a:chExt cx="685800" cy="1735137"/>
          </a:xfrm>
        </p:grpSpPr>
        <p:grpSp>
          <p:nvGrpSpPr>
            <p:cNvPr id="22543" name="组合 16"/>
            <p:cNvGrpSpPr>
              <a:grpSpLocks/>
            </p:cNvGrpSpPr>
            <p:nvPr/>
          </p:nvGrpSpPr>
          <p:grpSpPr bwMode="auto">
            <a:xfrm>
              <a:off x="419100" y="4614863"/>
              <a:ext cx="685800" cy="1447833"/>
              <a:chOff x="609600" y="3810000"/>
              <a:chExt cx="685800" cy="1447800"/>
            </a:xfrm>
          </p:grpSpPr>
          <p:sp>
            <p:nvSpPr>
              <p:cNvPr id="42" name="笑脸 41"/>
              <p:cNvSpPr/>
              <p:nvPr/>
            </p:nvSpPr>
            <p:spPr bwMode="auto">
              <a:xfrm>
                <a:off x="685800" y="3810000"/>
                <a:ext cx="457200" cy="457189"/>
              </a:xfrm>
              <a:prstGeom prst="smileyFace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  <a:extLst/>
            </p:spPr>
            <p:txBody>
              <a:bodyPr anchor="ctr">
                <a:spAutoFit/>
              </a:bodyPr>
              <a:lstStyle/>
              <a:p>
                <a:pPr algn="ctr">
                  <a:buClr>
                    <a:schemeClr val="tx2"/>
                  </a:buClr>
                  <a:buSzPts val="2100"/>
                  <a:buFont typeface="Wingdings" panose="05000000000000000000" pitchFamily="2" charset="2"/>
                  <a:buChar char="l"/>
                  <a:defRPr/>
                </a:pPr>
                <a:endPara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22546" name="直接连接符 3"/>
              <p:cNvCxnSpPr>
                <a:cxnSpLocks noChangeShapeType="1"/>
              </p:cNvCxnSpPr>
              <p:nvPr/>
            </p:nvCxnSpPr>
            <p:spPr bwMode="auto">
              <a:xfrm>
                <a:off x="609600" y="4457700"/>
                <a:ext cx="685800" cy="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2547" name="直接连接符 6"/>
              <p:cNvCxnSpPr>
                <a:cxnSpLocks noChangeShapeType="1"/>
                <a:stCxn id="42" idx="4"/>
              </p:cNvCxnSpPr>
              <p:nvPr/>
            </p:nvCxnSpPr>
            <p:spPr bwMode="auto">
              <a:xfrm>
                <a:off x="914400" y="4267200"/>
                <a:ext cx="0" cy="685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2548" name="直接连接符 11"/>
              <p:cNvCxnSpPr>
                <a:cxnSpLocks noChangeShapeType="1"/>
              </p:cNvCxnSpPr>
              <p:nvPr/>
            </p:nvCxnSpPr>
            <p:spPr bwMode="auto">
              <a:xfrm flipH="1">
                <a:off x="685800" y="4953000"/>
                <a:ext cx="228600" cy="304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2549" name="直接连接符 13"/>
              <p:cNvCxnSpPr>
                <a:cxnSpLocks noChangeShapeType="1"/>
              </p:cNvCxnSpPr>
              <p:nvPr/>
            </p:nvCxnSpPr>
            <p:spPr bwMode="auto">
              <a:xfrm>
                <a:off x="914400" y="4953000"/>
                <a:ext cx="228600" cy="3048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1" name="TextBox 17"/>
            <p:cNvSpPr txBox="1"/>
            <p:nvPr/>
          </p:nvSpPr>
          <p:spPr bwMode="auto">
            <a:xfrm>
              <a:off x="419100" y="5980112"/>
              <a:ext cx="685800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Clr>
                  <a:schemeClr val="tx2"/>
                </a:buClr>
                <a:buSzPts val="2100"/>
                <a:buFont typeface="Wingdings" panose="05000000000000000000" pitchFamily="2" charset="2"/>
                <a:buNone/>
                <a:defRPr/>
              </a:pP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cxnSp>
        <p:nvCxnSpPr>
          <p:cNvPr id="7" name="直接箭头连接符 6"/>
          <p:cNvCxnSpPr/>
          <p:nvPr/>
        </p:nvCxnSpPr>
        <p:spPr bwMode="auto">
          <a:xfrm>
            <a:off x="1600200" y="2743200"/>
            <a:ext cx="528894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箭头连接符 39"/>
          <p:cNvCxnSpPr/>
          <p:nvPr/>
        </p:nvCxnSpPr>
        <p:spPr bwMode="auto">
          <a:xfrm>
            <a:off x="5710494" y="2743200"/>
            <a:ext cx="77275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箭头连接符 19"/>
          <p:cNvCxnSpPr/>
          <p:nvPr/>
        </p:nvCxnSpPr>
        <p:spPr bwMode="auto">
          <a:xfrm flipH="1">
            <a:off x="2832305" y="3217376"/>
            <a:ext cx="2136" cy="638429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连接符 26"/>
          <p:cNvCxnSpPr/>
          <p:nvPr/>
        </p:nvCxnSpPr>
        <p:spPr bwMode="auto">
          <a:xfrm>
            <a:off x="3520193" y="4277114"/>
            <a:ext cx="1520289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/>
          <p:cNvCxnSpPr/>
          <p:nvPr/>
        </p:nvCxnSpPr>
        <p:spPr bwMode="auto">
          <a:xfrm flipV="1">
            <a:off x="5031036" y="3194181"/>
            <a:ext cx="0" cy="109057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/>
          <p:cNvCxnSpPr/>
          <p:nvPr/>
        </p:nvCxnSpPr>
        <p:spPr bwMode="auto">
          <a:xfrm>
            <a:off x="5040482" y="4277195"/>
            <a:ext cx="2135974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接箭头连接符 62"/>
          <p:cNvCxnSpPr/>
          <p:nvPr/>
        </p:nvCxnSpPr>
        <p:spPr bwMode="auto">
          <a:xfrm flipV="1">
            <a:off x="7169044" y="3205869"/>
            <a:ext cx="0" cy="107124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0" name="组合 59"/>
          <p:cNvGrpSpPr/>
          <p:nvPr/>
        </p:nvGrpSpPr>
        <p:grpSpPr>
          <a:xfrm>
            <a:off x="5112513" y="4695270"/>
            <a:ext cx="2566366" cy="898705"/>
            <a:chOff x="5112513" y="4695270"/>
            <a:chExt cx="2566366" cy="898705"/>
          </a:xfrm>
        </p:grpSpPr>
        <p:sp>
          <p:nvSpPr>
            <p:cNvPr id="66" name="椭圆形标注 65"/>
            <p:cNvSpPr/>
            <p:nvPr/>
          </p:nvSpPr>
          <p:spPr bwMode="auto">
            <a:xfrm>
              <a:off x="5112513" y="4695270"/>
              <a:ext cx="2566366" cy="898705"/>
            </a:xfrm>
            <a:prstGeom prst="wedgeEllipseCallout">
              <a:avLst>
                <a:gd name="adj1" fmla="val 9350"/>
                <a:gd name="adj2" fmla="val -88063"/>
              </a:avLst>
            </a:prstGeom>
            <a:solidFill>
              <a:srgbClr val="F8DFB7"/>
            </a:solidFill>
            <a:ln>
              <a:solidFill>
                <a:schemeClr val="tx1"/>
              </a:solidFill>
            </a:ln>
            <a:effectLst/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67" name="文本框 21"/>
            <p:cNvSpPr txBox="1">
              <a:spLocks noChangeArrowheads="1"/>
            </p:cNvSpPr>
            <p:nvPr/>
          </p:nvSpPr>
          <p:spPr bwMode="auto">
            <a:xfrm>
              <a:off x="5299838" y="4824446"/>
              <a:ext cx="232250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理论知识过硬、项目经验丰富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495823" y="1057146"/>
            <a:ext cx="1325959" cy="822325"/>
            <a:chOff x="6499820" y="975013"/>
            <a:chExt cx="1325959" cy="822325"/>
          </a:xfrm>
        </p:grpSpPr>
        <p:sp>
          <p:nvSpPr>
            <p:cNvPr id="73" name="矩形 72"/>
            <p:cNvSpPr/>
            <p:nvPr/>
          </p:nvSpPr>
          <p:spPr bwMode="auto">
            <a:xfrm>
              <a:off x="6499820" y="975013"/>
              <a:ext cx="1325959" cy="822325"/>
            </a:xfrm>
            <a:prstGeom prst="rect">
              <a:avLst/>
            </a:prstGeom>
            <a:solidFill>
              <a:srgbClr val="EDAF4B"/>
            </a:solidFill>
            <a:ln w="19050">
              <a:solidFill>
                <a:schemeClr val="tx1"/>
              </a:solidFill>
            </a:ln>
            <a:effectLst/>
            <a:extLst/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6613616" y="1211648"/>
              <a:ext cx="11256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幸福生活</a:t>
              </a:r>
            </a:p>
          </p:txBody>
        </p:sp>
      </p:grpSp>
      <p:cxnSp>
        <p:nvCxnSpPr>
          <p:cNvPr id="77" name="直接箭头连接符 76"/>
          <p:cNvCxnSpPr/>
          <p:nvPr/>
        </p:nvCxnSpPr>
        <p:spPr bwMode="auto">
          <a:xfrm flipH="1" flipV="1">
            <a:off x="7146228" y="1898413"/>
            <a:ext cx="2264" cy="40511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我们该怎么学习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82650"/>
            <a:ext cx="8578850" cy="3582519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广撒网：尝试接触各个领域；</a:t>
            </a: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早定位：找到自己喜欢的领域；</a:t>
            </a: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多实践：工具多用才会熟；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勤总结：不在同一个地方摔倒两次；</a:t>
            </a: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重交流：站在巨人的肩膀上；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</a:rPr>
              <a:t>戒浮躁：排除世俗，坚持自我；</a:t>
            </a:r>
          </a:p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善规划：做出职业生涯规划，奋斗目标明确。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3556" name="Picture 5" descr="点击图片或使用键盘← →翻页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5151438"/>
            <a:ext cx="21336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7" descr="$9%2]OY$~TQFPE`0JX{OKH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151438"/>
            <a:ext cx="2209800" cy="14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9" descr="劳动人民预览图 点击看大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137150"/>
            <a:ext cx="190500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" descr="思考的小男孩预览图 点击看大图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54776"/>
            <a:ext cx="19621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15" descr="F~4LFE}U5_9EGXSYF7J1Q%W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050" y="546735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967" y="60445"/>
            <a:ext cx="2628218" cy="3749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9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9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553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我们可以成功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24000" y="1844824"/>
            <a:ext cx="3505200" cy="2964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黑体" panose="02010609060101010101" pitchFamily="49" charset="-122"/>
              </a:rPr>
              <a:t>陈睿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 smtClean="0">
                <a:latin typeface="黑体" panose="02010609060101010101" pitchFamily="49" charset="-122"/>
              </a:rPr>
              <a:t>吴</a:t>
            </a:r>
            <a:r>
              <a:rPr lang="zh-CN" altLang="en-US" dirty="0">
                <a:latin typeface="黑体" panose="02010609060101010101" pitchFamily="49" charset="-122"/>
              </a:rPr>
              <a:t>希粼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黑体" panose="02010609060101010101" pitchFamily="49" charset="-122"/>
              </a:rPr>
              <a:t>董小波</a:t>
            </a:r>
            <a:endParaRPr lang="en-US" altLang="zh-CN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 smtClean="0">
                <a:latin typeface="黑体" panose="02010609060101010101" pitchFamily="49" charset="-122"/>
              </a:rPr>
              <a:t>彭晓涛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hlinkClick r:id="rId2" action="ppaction://hlinksldjump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788024" y="1844824"/>
            <a:ext cx="3505200" cy="374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刘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童亮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张文淼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玉山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库尔班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 smtClean="0">
                <a:latin typeface="黑体" panose="02010609060101010101" pitchFamily="49" charset="-122"/>
              </a:rPr>
              <a:t>刘佳昌</a:t>
            </a:r>
            <a:endParaRPr lang="zh-CN" altLang="en-US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hlinkClick r:id="rId2" action="ppaction://hlinksldjump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8" name="Text Box 8"/>
          <p:cNvSpPr txBox="1">
            <a:spLocks noChangeArrowheads="1"/>
          </p:cNvSpPr>
          <p:nvPr/>
        </p:nvSpPr>
        <p:spPr bwMode="auto">
          <a:xfrm>
            <a:off x="152400" y="4267200"/>
            <a:ext cx="89154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012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班</a:t>
            </a:r>
            <a:r>
              <a:rPr lang="zh-CN" alt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2002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年全国英语竞赛特等奖，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2003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MCM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一等奖，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2004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年陈睿</a:t>
            </a:r>
            <a:r>
              <a:rPr lang="zh-CN" alt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带领三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名成员首次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ACM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成功杀入决赛圈最终获得优胜奖。科研项目开发多达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余项。文化课成绩优异，连续三年校级三好学生，专业第一名，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2005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年加入腾讯科技。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2010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年创办凡趣科技。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“猜歌王”用户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5000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多万；“亿万城市”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3000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多万。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年小米雷军注资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6000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万与凡趣科技打造“闺蜜圈”平台。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IOS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平台发布，目前已有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2000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万用户。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Clr>
                <a:schemeClr val="tx2"/>
              </a:buClr>
              <a:buSzPts val="2100"/>
              <a:buFont typeface="Wingdings" panose="05000000000000000000" pitchFamily="2" charset="2"/>
              <a:buChar char="l"/>
              <a:defRPr/>
            </a:pP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年创办深圳市点通商贸有限公司，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年营业额实现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亿。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867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7925923" cy="432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824133"/>
          </a:xfrm>
          <a:prstGeom prst="rect">
            <a:avLst/>
          </a:prstGeom>
        </p:spPr>
      </p:pic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1" y="4824133"/>
            <a:ext cx="8984876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网络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021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班，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2004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年获得国际大学生程序设计大赛决赛圈优胜奖。毕业后创办</a:t>
            </a:r>
            <a:r>
              <a:rPr lang="en-US" altLang="zh-CN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SF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互动传媒公司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，目前国内最大动漫轻小说网站传媒网，拥有原创作家达到</a:t>
            </a:r>
            <a:r>
              <a:rPr lang="en-US" altLang="zh-CN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万余人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，每天都会有将近</a:t>
            </a:r>
            <a:r>
              <a:rPr lang="en-US" altLang="zh-CN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50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原创轻小说</a:t>
            </a:r>
            <a:r>
              <a:rPr lang="zh-CN" altLang="en-US" sz="2400" dirty="0">
                <a:latin typeface="黑体" panose="02010609060101010101" pitchFamily="49" charset="-122"/>
              </a:rPr>
              <a:t>问世，“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</a:rPr>
              <a:t>请别告诉我这是三国正史</a:t>
            </a:r>
            <a:r>
              <a:rPr lang="zh-CN" altLang="en-US" sz="2400" dirty="0">
                <a:latin typeface="黑体" panose="02010609060101010101" pitchFamily="49" charset="-122"/>
              </a:rPr>
              <a:t>”过亿。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我是我妻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”浏览次数达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亿。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年收入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千万元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76200" y="4614839"/>
            <a:ext cx="79248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法政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031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班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校期间长期维护学校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网络，并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参与多项网络系统集成项目。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2009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年进入网易，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年成为网易最年轻的高级产品经理。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年融资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亿，创办北京云辰科技有限公司，任第一副总裁。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000" dirty="0">
                <a:latin typeface="黑体" panose="02010609060101010101" pitchFamily="49" charset="-122"/>
              </a:rPr>
              <a:t>年创办小额贷款互联网金融公司，北京钱到到金服科技有限公司。全年实现营业额</a:t>
            </a:r>
            <a:r>
              <a:rPr lang="en-US" altLang="zh-CN" sz="2000" dirty="0">
                <a:solidFill>
                  <a:srgbClr val="FFFF00"/>
                </a:solidFill>
                <a:latin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FF00"/>
                </a:solidFill>
                <a:latin typeface="黑体" panose="02010609060101010101" pitchFamily="49" charset="-122"/>
              </a:rPr>
              <a:t>亿元</a:t>
            </a:r>
            <a:r>
              <a:rPr lang="zh-CN" altLang="en-US" sz="2000" dirty="0">
                <a:latin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月最新实现融资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7000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万元。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318"/>
            <a:ext cx="6324600" cy="4573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4311416"/>
            <a:ext cx="8763000" cy="255454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信息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031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班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2005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MCM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二等奖。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2006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年国际大学生程序设计竞赛（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ACM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）优胜奖。在校期间主持开发科研项目多项。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CMS2.0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系统被广泛应用到电力系统中。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大四加盟中国最大的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CDN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企业</a:t>
            </a:r>
            <a:r>
              <a:rPr lang="en-US" altLang="zh-CN" sz="2000" dirty="0" err="1">
                <a:latin typeface="黑体" panose="02010609060101010101" pitchFamily="49" charset="-122"/>
                <a:ea typeface="黑体" panose="02010609060101010101" pitchFamily="49" charset="-122"/>
              </a:rPr>
              <a:t>ChinaCache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2007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年创办星芒科技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就任公司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CTO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年离开星芒科技进入风行在线，任应用研发系统部经理。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年追随鄂维南院士加盟普林科技，任技术总监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4528"/>
            <a:ext cx="7620000" cy="4386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70913" cy="53553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pitchFamily="2" charset="-122"/>
              </a:rPr>
              <a:t>刘童亮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>
          <a:xfrm>
            <a:off x="47282" y="4688919"/>
            <a:ext cx="9020518" cy="1938992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电力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031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班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2005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2006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年国际大学生程序设计竞赛（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ACM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）优胜奖。在校期间从事大量软件开发工作，完成项目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余项。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年就职于华北电网电科院。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年攻读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George Washington University Computer Science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硕士学位。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年毕业后在硅谷加入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Illumina, Inc.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年加入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Netflix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，任高级全栈架构师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7"/>
            <a:ext cx="9144000" cy="468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9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2" y="0"/>
            <a:ext cx="7083188" cy="4716171"/>
          </a:xfrm>
          <a:prstGeom prst="rect">
            <a:avLst/>
          </a:prstGeom>
        </p:spPr>
      </p:pic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0" y="4800600"/>
            <a:ext cx="90097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100000"/>
              </a:lnSpc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软件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052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班，毕业后创办嗨皮窝网络科技有限公司进行社交游戏开发，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2011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年被国内最大的网页游戏公司第七大道并购，任该公司社交游戏部经理，后第七大道被搜狐并购。张文淼离开搜狐，重新创办嗨皮窝</a:t>
            </a:r>
            <a:r>
              <a:rPr lang="zh-CN" altLang="en-US" sz="2400" dirty="0">
                <a:latin typeface="黑体" panose="02010609060101010101" pitchFamily="49" charset="-122"/>
              </a:rPr>
              <a:t>，“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</a:rPr>
              <a:t>小小精灵</a:t>
            </a:r>
            <a:r>
              <a:rPr lang="zh-CN" altLang="en-US" sz="2400" dirty="0">
                <a:latin typeface="黑体" panose="02010609060101010101" pitchFamily="49" charset="-122"/>
              </a:rPr>
              <a:t>”用户数</a:t>
            </a:r>
            <a:r>
              <a:rPr lang="en-US" altLang="zh-CN" sz="2400" dirty="0">
                <a:solidFill>
                  <a:srgbClr val="FFFF00"/>
                </a:solidFill>
                <a:latin typeface="黑体" panose="02010609060101010101" pitchFamily="49" charset="-122"/>
              </a:rPr>
              <a:t>1000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</a:rPr>
              <a:t>多万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宠物精灵王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”用户数</a:t>
            </a:r>
            <a:r>
              <a:rPr lang="en-US" altLang="zh-CN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300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多万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。年营业额</a:t>
            </a:r>
            <a:r>
              <a:rPr lang="en-US" altLang="zh-CN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2000</a:t>
            </a: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万元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76200" y="5388251"/>
            <a:ext cx="8985250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软件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072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班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校期间从事工业控制类软件管理及开发。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年毕业后直接任北京特域科技有限公司研发部经理，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年出任中防通用电信技术有限公司，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COO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CTO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，成为股东。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-7684"/>
            <a:ext cx="9144000" cy="5405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81000" y="4941168"/>
            <a:ext cx="8367464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zh-CN" altLang="en-US" sz="2400" dirty="0" smtClean="0"/>
              <a:t>玉山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库尔班，计科</a:t>
            </a:r>
            <a:r>
              <a:rPr lang="en-US" altLang="zh-CN" sz="2400" dirty="0" smtClean="0"/>
              <a:t>2014</a:t>
            </a:r>
            <a:r>
              <a:rPr lang="zh-CN" altLang="en-US" sz="2400" dirty="0" smtClean="0"/>
              <a:t>级，</a:t>
            </a:r>
            <a:r>
              <a:rPr lang="en-US" altLang="zh-CN" sz="2400" dirty="0" smtClean="0">
                <a:sym typeface="Helvetica"/>
              </a:rPr>
              <a:t>2016</a:t>
            </a:r>
            <a:r>
              <a:rPr lang="zh-CN" altLang="en-US" sz="2400" dirty="0">
                <a:sym typeface="Helvetica"/>
              </a:rPr>
              <a:t>年</a:t>
            </a:r>
            <a:r>
              <a:rPr lang="en-US" altLang="zh-CN" sz="2400" dirty="0">
                <a:sym typeface="Helvetica"/>
              </a:rPr>
              <a:t>10</a:t>
            </a:r>
            <a:r>
              <a:rPr lang="zh-CN" altLang="en-US" sz="2400" dirty="0"/>
              <a:t>月</a:t>
            </a:r>
            <a:r>
              <a:rPr lang="zh-CN" altLang="en-US" sz="2400" dirty="0" smtClean="0"/>
              <a:t>至今</a:t>
            </a:r>
            <a:r>
              <a:rPr lang="zh-CN" altLang="en-US" sz="2400" dirty="0"/>
              <a:t>在</a:t>
            </a:r>
            <a:r>
              <a:rPr lang="zh-CN" altLang="en-US" sz="2400" dirty="0" smtClean="0"/>
              <a:t>技术</a:t>
            </a:r>
            <a:r>
              <a:rPr lang="zh-CN" altLang="en-US" sz="2400" dirty="0"/>
              <a:t>猫编程</a:t>
            </a:r>
            <a:r>
              <a:rPr lang="zh-CN" altLang="en-US" sz="2400" dirty="0" smtClean="0"/>
              <a:t>俱乐部实习</a:t>
            </a:r>
            <a:endParaRPr lang="en-US" altLang="zh-CN" sz="2400" dirty="0" smtClean="0"/>
          </a:p>
          <a:p>
            <a:r>
              <a:rPr lang="en-US" altLang="zh-CN" sz="2400" dirty="0" smtClean="0"/>
              <a:t>2017</a:t>
            </a:r>
            <a:r>
              <a:rPr lang="zh-CN" altLang="en-US" sz="2400" dirty="0"/>
              <a:t>年</a:t>
            </a:r>
            <a:r>
              <a:rPr lang="en-US" altLang="zh-CN" sz="2400" dirty="0"/>
              <a:t>8</a:t>
            </a:r>
            <a:r>
              <a:rPr lang="zh-CN" altLang="en-US" sz="2400" dirty="0" smtClean="0"/>
              <a:t>月首次面试</a:t>
            </a:r>
            <a:r>
              <a:rPr lang="zh-CN" altLang="en-US" sz="2400" dirty="0"/>
              <a:t>即取得</a:t>
            </a:r>
            <a:r>
              <a:rPr lang="en-US" altLang="zh-CN" sz="2400" dirty="0"/>
              <a:t>offer</a:t>
            </a:r>
            <a:r>
              <a:rPr lang="zh-CN" altLang="en-US" sz="2400" dirty="0"/>
              <a:t>，实习期工资均在</a:t>
            </a:r>
            <a:r>
              <a:rPr lang="en-US" altLang="zh-CN" sz="2400" dirty="0"/>
              <a:t>8000</a:t>
            </a:r>
            <a:r>
              <a:rPr lang="zh-CN" altLang="en-US" sz="2400" dirty="0"/>
              <a:t>元，约定毕业后正式工作工资一万五千元</a:t>
            </a:r>
            <a:r>
              <a:rPr lang="zh-CN" altLang="en-US" sz="2400" dirty="0" smtClean="0"/>
              <a:t>以上</a:t>
            </a:r>
            <a:endParaRPr lang="en-US" altLang="zh-CN" sz="2400" dirty="0"/>
          </a:p>
        </p:txBody>
      </p:sp>
      <p:pic>
        <p:nvPicPr>
          <p:cNvPr id="5" name="1311504426654_.pic.jpg" descr="1311504426654_.pic.jpg"/>
          <p:cNvPicPr>
            <a:picLocks noChangeAspect="1"/>
          </p:cNvPicPr>
          <p:nvPr/>
        </p:nvPicPr>
        <p:blipFill>
          <a:blip r:embed="rId3">
            <a:extLst/>
          </a:blip>
          <a:srcRect l="18087" t="654" r="3102" b="9806"/>
          <a:stretch>
            <a:fillRect/>
          </a:stretch>
        </p:blipFill>
        <p:spPr>
          <a:xfrm>
            <a:off x="755576" y="836712"/>
            <a:ext cx="2527790" cy="382925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 2"/>
          <p:cNvSpPr/>
          <p:nvPr/>
        </p:nvSpPr>
        <p:spPr>
          <a:xfrm>
            <a:off x="3923928" y="1863852"/>
            <a:ext cx="4572000" cy="17912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目前拿到的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offer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有：</a:t>
            </a:r>
          </a:p>
          <a:p>
            <a:pPr marL="457200" indent="-4572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小肚皮社交手机应用</a:t>
            </a:r>
          </a:p>
          <a:p>
            <a:pPr marL="457200" indent="-4572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OFO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小黄车</a:t>
            </a:r>
          </a:p>
          <a:p>
            <a:pPr marL="457200" indent="-4572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豪腾嘉科（疯狂系列手游）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81000" y="4941168"/>
            <a:ext cx="8367464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844550" indent="-385763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208088" indent="-3619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35113" indent="-3254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87538" indent="-350838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3447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019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591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716338" indent="-350838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zh-CN" altLang="en-US" sz="2400" dirty="0" smtClean="0"/>
              <a:t>刘佳昌，软件</a:t>
            </a:r>
            <a:r>
              <a:rPr lang="en-US" altLang="zh-CN" sz="2400" dirty="0" smtClean="0"/>
              <a:t>2014</a:t>
            </a:r>
            <a:r>
              <a:rPr lang="zh-CN" altLang="en-US" sz="2400" dirty="0" smtClean="0"/>
              <a:t>级，</a:t>
            </a:r>
            <a:r>
              <a:rPr lang="en-US" altLang="zh-CN" sz="2400" dirty="0" smtClean="0">
                <a:sym typeface="Helvetica"/>
              </a:rPr>
              <a:t>2016</a:t>
            </a:r>
            <a:r>
              <a:rPr lang="zh-CN" altLang="en-US" sz="2400" dirty="0" smtClean="0">
                <a:sym typeface="Helvetica"/>
              </a:rPr>
              <a:t>年</a:t>
            </a:r>
            <a:r>
              <a:rPr lang="en-US" altLang="zh-CN" sz="2400" dirty="0" smtClean="0">
                <a:sym typeface="Helvetica"/>
              </a:rPr>
              <a:t>8</a:t>
            </a:r>
            <a:r>
              <a:rPr lang="zh-CN" altLang="en-US" sz="2400" dirty="0" smtClean="0"/>
              <a:t>月至今</a:t>
            </a:r>
            <a:r>
              <a:rPr lang="zh-CN" altLang="en-US" sz="2400" dirty="0"/>
              <a:t>在</a:t>
            </a:r>
            <a:r>
              <a:rPr lang="zh-CN" altLang="en-US" sz="2400" dirty="0" smtClean="0"/>
              <a:t>技术</a:t>
            </a:r>
            <a:r>
              <a:rPr lang="zh-CN" altLang="en-US" sz="2400" dirty="0"/>
              <a:t>猫编程</a:t>
            </a:r>
            <a:r>
              <a:rPr lang="zh-CN" altLang="en-US" sz="2400" dirty="0" smtClean="0"/>
              <a:t>俱乐部实习</a:t>
            </a:r>
            <a:endParaRPr lang="en-US" altLang="zh-CN" sz="2400" dirty="0" smtClean="0"/>
          </a:p>
          <a:p>
            <a:r>
              <a:rPr lang="en-US" altLang="zh-CN" sz="2400" dirty="0" smtClean="0"/>
              <a:t>2017</a:t>
            </a:r>
            <a:r>
              <a:rPr lang="zh-CN" altLang="en-US" sz="2400" dirty="0"/>
              <a:t>年</a:t>
            </a:r>
            <a:r>
              <a:rPr lang="en-US" altLang="zh-CN" sz="2400" dirty="0"/>
              <a:t>8</a:t>
            </a:r>
            <a:r>
              <a:rPr lang="zh-CN" altLang="en-US" sz="2400" dirty="0" smtClean="0"/>
              <a:t>月首次面试</a:t>
            </a:r>
            <a:r>
              <a:rPr lang="zh-CN" altLang="en-US" sz="2400" dirty="0"/>
              <a:t>即取得</a:t>
            </a:r>
            <a:r>
              <a:rPr lang="en-US" altLang="zh-CN" sz="2400" dirty="0"/>
              <a:t>offer</a:t>
            </a:r>
            <a:r>
              <a:rPr lang="zh-CN" altLang="en-US" sz="2400" dirty="0"/>
              <a:t>，实习期工资均在</a:t>
            </a:r>
            <a:r>
              <a:rPr lang="en-US" altLang="zh-CN" sz="2400" dirty="0"/>
              <a:t>8000</a:t>
            </a:r>
            <a:r>
              <a:rPr lang="zh-CN" altLang="en-US" sz="2400" dirty="0"/>
              <a:t>元，约定毕业后正式工作工资一万五千元</a:t>
            </a:r>
            <a:r>
              <a:rPr lang="zh-CN" altLang="en-US" sz="2400" dirty="0" smtClean="0"/>
              <a:t>以上</a:t>
            </a:r>
            <a:endParaRPr lang="en-US" altLang="zh-CN" sz="2400" dirty="0"/>
          </a:p>
        </p:txBody>
      </p:sp>
      <p:sp>
        <p:nvSpPr>
          <p:cNvPr id="3" name="矩形 2"/>
          <p:cNvSpPr/>
          <p:nvPr/>
        </p:nvSpPr>
        <p:spPr>
          <a:xfrm>
            <a:off x="3707904" y="1863852"/>
            <a:ext cx="5225646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目前拿到的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offer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有：</a:t>
            </a:r>
          </a:p>
          <a:p>
            <a:pPr marL="457200" indent="-4572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en-US" altLang="zh-C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OFO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小黄车</a:t>
            </a:r>
          </a:p>
          <a:p>
            <a:pPr marL="457200" indent="-4572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en-GB" altLang="zh-CN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DotaMAX</a:t>
            </a:r>
            <a:r>
              <a:rPr lang="zh-CN" altLang="en-GB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（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游戏数据分析公司）</a:t>
            </a:r>
          </a:p>
        </p:txBody>
      </p:sp>
      <p:pic>
        <p:nvPicPr>
          <p:cNvPr id="6" name="1321504426666_.pic.jpg" descr="1321504426666_.pic.jpg"/>
          <p:cNvPicPr>
            <a:picLocks noChangeAspect="1"/>
          </p:cNvPicPr>
          <p:nvPr/>
        </p:nvPicPr>
        <p:blipFill>
          <a:blip r:embed="rId3">
            <a:extLst/>
          </a:blip>
          <a:srcRect l="15053" t="6558" r="15053" b="22334"/>
          <a:stretch>
            <a:fillRect/>
          </a:stretch>
        </p:blipFill>
        <p:spPr>
          <a:xfrm>
            <a:off x="804876" y="774627"/>
            <a:ext cx="2599707" cy="352650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5521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570913" cy="5349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371600"/>
            <a:ext cx="6781800" cy="46164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专业的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特点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学计算机能干什么</a:t>
            </a:r>
          </a:p>
          <a:p>
            <a:pPr eaLnBrk="1" hangingPunct="1">
              <a:defRPr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我们的职业生涯</a:t>
            </a:r>
          </a:p>
          <a:p>
            <a:pPr eaLnBrk="1" hangingPunct="1">
              <a:defRPr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我们该怎么学习</a:t>
            </a:r>
          </a:p>
          <a:p>
            <a:pPr eaLnBrk="1" hangingPunct="1">
              <a:defRPr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我们可以成功</a:t>
            </a:r>
          </a:p>
        </p:txBody>
      </p:sp>
    </p:spTree>
    <p:extLst>
      <p:ext uri="{BB962C8B-B14F-4D97-AF65-F5344CB8AC3E}">
        <p14:creationId xmlns:p14="http://schemas.microsoft.com/office/powerpoint/2010/main" val="73600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570913" cy="534988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课后作业：三傻大闹宝莱坞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248400"/>
            <a:ext cx="8578850" cy="4794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观后感：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日前完成。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9940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8200"/>
            <a:ext cx="69342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Lu Bin\Desktop\mmexport15044067412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28738"/>
            <a:ext cx="4310062" cy="431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tNet">
  <a:themeElements>
    <a:clrScheme name="自定义 1">
      <a:dk1>
        <a:srgbClr val="000000"/>
      </a:dk1>
      <a:lt1>
        <a:srgbClr val="FFFFFF"/>
      </a:lt1>
      <a:dk2>
        <a:srgbClr val="000099"/>
      </a:dk2>
      <a:lt2>
        <a:srgbClr val="F8C32E"/>
      </a:lt2>
      <a:accent1>
        <a:srgbClr val="FCEB98"/>
      </a:accent1>
      <a:accent2>
        <a:srgbClr val="EDAF4B"/>
      </a:accent2>
      <a:accent3>
        <a:srgbClr val="AAAACA"/>
      </a:accent3>
      <a:accent4>
        <a:srgbClr val="DADADA"/>
      </a:accent4>
      <a:accent5>
        <a:srgbClr val="FDF3CA"/>
      </a:accent5>
      <a:accent6>
        <a:srgbClr val="D79E43"/>
      </a:accent6>
      <a:hlink>
        <a:srgbClr val="FFFFFF"/>
      </a:hlink>
      <a:folHlink>
        <a:srgbClr val="FFF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/>
          </a:solidFill>
        </a:ln>
        <a:effectLst/>
        <a:extLst/>
      </a:spPr>
      <a:bodyPr wrap="square" rtlCol="0" anchor="ctr">
        <a:spAutoFit/>
      </a:bodyPr>
      <a:lstStyle>
        <a:defPPr algn="ctr">
          <a:defRPr smtClean="0">
            <a:effectLst>
              <a:outerShdw blurRad="38100" dist="38100" dir="2700000" algn="tl">
                <a:srgbClr val="FFFFFF"/>
              </a:outerShdw>
            </a:effectLst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DotNe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tNe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tNe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tNe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tNe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tNe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tNe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tNet 8">
        <a:dk1>
          <a:srgbClr val="000000"/>
        </a:dk1>
        <a:lt1>
          <a:srgbClr val="FFFFFF"/>
        </a:lt1>
        <a:dk2>
          <a:srgbClr val="000099"/>
        </a:dk2>
        <a:lt2>
          <a:srgbClr val="FAD260"/>
        </a:lt2>
        <a:accent1>
          <a:srgbClr val="FCEB98"/>
        </a:accent1>
        <a:accent2>
          <a:srgbClr val="EC8D4C"/>
        </a:accent2>
        <a:accent3>
          <a:srgbClr val="AAAACA"/>
        </a:accent3>
        <a:accent4>
          <a:srgbClr val="DADADA"/>
        </a:accent4>
        <a:accent5>
          <a:srgbClr val="FDF3CA"/>
        </a:accent5>
        <a:accent6>
          <a:srgbClr val="D67F44"/>
        </a:accent6>
        <a:hlink>
          <a:srgbClr val="16CA85"/>
        </a:hlink>
        <a:folHlink>
          <a:srgbClr val="64B7F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tNet 9">
        <a:dk1>
          <a:srgbClr val="000000"/>
        </a:dk1>
        <a:lt1>
          <a:srgbClr val="FFFFFF"/>
        </a:lt1>
        <a:dk2>
          <a:srgbClr val="000099"/>
        </a:dk2>
        <a:lt2>
          <a:srgbClr val="FAD260"/>
        </a:lt2>
        <a:accent1>
          <a:srgbClr val="FCEB98"/>
        </a:accent1>
        <a:accent2>
          <a:srgbClr val="EC8D4C"/>
        </a:accent2>
        <a:accent3>
          <a:srgbClr val="AAAACA"/>
        </a:accent3>
        <a:accent4>
          <a:srgbClr val="DADADA"/>
        </a:accent4>
        <a:accent5>
          <a:srgbClr val="FDF3CA"/>
        </a:accent5>
        <a:accent6>
          <a:srgbClr val="D67F44"/>
        </a:accent6>
        <a:hlink>
          <a:srgbClr val="16CA85"/>
        </a:hlink>
        <a:folHlink>
          <a:srgbClr val="9DC7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tNet 10">
        <a:dk1>
          <a:srgbClr val="000000"/>
        </a:dk1>
        <a:lt1>
          <a:srgbClr val="FFFFFF"/>
        </a:lt1>
        <a:dk2>
          <a:srgbClr val="000099"/>
        </a:dk2>
        <a:lt2>
          <a:srgbClr val="F8C32E"/>
        </a:lt2>
        <a:accent1>
          <a:srgbClr val="FCEB98"/>
        </a:accent1>
        <a:accent2>
          <a:srgbClr val="EC8D4C"/>
        </a:accent2>
        <a:accent3>
          <a:srgbClr val="AAAACA"/>
        </a:accent3>
        <a:accent4>
          <a:srgbClr val="DADADA"/>
        </a:accent4>
        <a:accent5>
          <a:srgbClr val="FDF3CA"/>
        </a:accent5>
        <a:accent6>
          <a:srgbClr val="D67F44"/>
        </a:accent6>
        <a:hlink>
          <a:srgbClr val="16CA85"/>
        </a:hlink>
        <a:folHlink>
          <a:srgbClr val="9DC7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tNet 11">
        <a:dk1>
          <a:srgbClr val="000000"/>
        </a:dk1>
        <a:lt1>
          <a:srgbClr val="FFFFFF"/>
        </a:lt1>
        <a:dk2>
          <a:srgbClr val="000099"/>
        </a:dk2>
        <a:lt2>
          <a:srgbClr val="F8C32E"/>
        </a:lt2>
        <a:accent1>
          <a:srgbClr val="FCEB98"/>
        </a:accent1>
        <a:accent2>
          <a:srgbClr val="EDAF4B"/>
        </a:accent2>
        <a:accent3>
          <a:srgbClr val="AAAACA"/>
        </a:accent3>
        <a:accent4>
          <a:srgbClr val="DADADA"/>
        </a:accent4>
        <a:accent5>
          <a:srgbClr val="FDF3CA"/>
        </a:accent5>
        <a:accent6>
          <a:srgbClr val="D79E43"/>
        </a:accent6>
        <a:hlink>
          <a:srgbClr val="16CA85"/>
        </a:hlink>
        <a:folHlink>
          <a:srgbClr val="9DC7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11324</TotalTime>
  <Words>2483</Words>
  <Application>Microsoft Office PowerPoint</Application>
  <PresentationFormat>全屏显示(4:3)</PresentationFormat>
  <Paragraphs>255</Paragraphs>
  <Slides>32</Slides>
  <Notes>14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3" baseType="lpstr">
      <vt:lpstr>DotNet</vt:lpstr>
      <vt:lpstr>第二讲 行业概述2</vt:lpstr>
      <vt:lpstr>本章内容</vt:lpstr>
      <vt:lpstr>计算机行业职业生涯层次图</vt:lpstr>
      <vt:lpstr>项目经理（Project Manager） Leader</vt:lpstr>
      <vt:lpstr>项目经理应需具备的能力</vt:lpstr>
      <vt:lpstr>产品经理（Product Manager）</vt:lpstr>
      <vt:lpstr>产品经理应具备的能力</vt:lpstr>
      <vt:lpstr>系统分析员（System Analyst）</vt:lpstr>
      <vt:lpstr>自动售货机需求分析</vt:lpstr>
      <vt:lpstr>系统分析员应具备的能力</vt:lpstr>
      <vt:lpstr>系统构架师（Architecture）</vt:lpstr>
      <vt:lpstr>系统构架师应具备的能力</vt:lpstr>
      <vt:lpstr>测试经理（The Test Manager）</vt:lpstr>
      <vt:lpstr>测试经理应具备的能力</vt:lpstr>
      <vt:lpstr>开发组长（Software Engineer Teamleader）</vt:lpstr>
      <vt:lpstr>测试开发组长（SEDT Leader ）</vt:lpstr>
      <vt:lpstr>专家（Expert）</vt:lpstr>
      <vt:lpstr>我们该怎么学习</vt:lpstr>
      <vt:lpstr>我们该怎么学习</vt:lpstr>
      <vt:lpstr>我们可以成功</vt:lpstr>
      <vt:lpstr>PowerPoint 演示文稿</vt:lpstr>
      <vt:lpstr>PowerPoint 演示文稿</vt:lpstr>
      <vt:lpstr>PowerPoint 演示文稿</vt:lpstr>
      <vt:lpstr>PowerPoint 演示文稿</vt:lpstr>
      <vt:lpstr>刘童亮</vt:lpstr>
      <vt:lpstr>PowerPoint 演示文稿</vt:lpstr>
      <vt:lpstr>PowerPoint 演示文稿</vt:lpstr>
      <vt:lpstr>PowerPoint 演示文稿</vt:lpstr>
      <vt:lpstr>PowerPoint 演示文稿</vt:lpstr>
      <vt:lpstr>本章内容</vt:lpstr>
      <vt:lpstr>课后作业：三傻大闹宝莱坞</vt:lpstr>
      <vt:lpstr>PowerPoint 演示文稿</vt:lpstr>
    </vt:vector>
  </TitlesOfParts>
  <Company>Dreamtech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梅华威</dc:creator>
  <cp:lastModifiedBy>Lu Bin</cp:lastModifiedBy>
  <cp:revision>428</cp:revision>
  <dcterms:created xsi:type="dcterms:W3CDTF">2001-08-10T01:48:57Z</dcterms:created>
  <dcterms:modified xsi:type="dcterms:W3CDTF">2017-09-20T12:06:16Z</dcterms:modified>
</cp:coreProperties>
</file>