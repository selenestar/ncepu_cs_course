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7B58C-165D-45C2-B3A6-2306743815E9}" type="datetimeFigureOut">
              <a:rPr lang="zh-CN" altLang="en-US" smtClean="0"/>
              <a:t>2017/4/17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EFA1D-A19C-4CDF-9AC0-3DF80E450D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185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B58C-165D-45C2-B3A6-2306743815E9}" type="datetimeFigureOut">
              <a:rPr lang="zh-CN" altLang="en-US" smtClean="0"/>
              <a:t>2017/4/17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AEFA1D-A19C-4CDF-9AC0-3DF80E450D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79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b="1" smtClean="0">
                <a:solidFill>
                  <a:srgbClr val="FF0000"/>
                </a:solidFill>
              </a:rPr>
              <a:t>输入</a:t>
            </a:r>
            <a:r>
              <a:rPr lang="en-US" altLang="zh-CN" b="1" smtClean="0">
                <a:solidFill>
                  <a:srgbClr val="FF0000"/>
                </a:solidFill>
              </a:rPr>
              <a:t>/</a:t>
            </a:r>
            <a:r>
              <a:rPr lang="zh-CN" altLang="en-US" b="1" smtClean="0">
                <a:solidFill>
                  <a:srgbClr val="FF0000"/>
                </a:solidFill>
              </a:rPr>
              <a:t>输出与中断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641358"/>
      </p:ext>
    </p:extLst>
  </p:cSld>
  <p:clrMapOvr>
    <a:masterClrMapping/>
  </p:clrMapOvr>
  <p:transition>
    <p:blinds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mtClean="0"/>
              <a:t>I/O</a:t>
            </a:r>
            <a:r>
              <a:rPr lang="zh-CN" altLang="en-US" smtClean="0"/>
              <a:t>端口</a:t>
            </a:r>
            <a:endParaRPr lang="zh-CN" altLang="en-US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021744"/>
      </p:ext>
    </p:extLst>
  </p:cSld>
  <p:clrMapOvr>
    <a:masterClrMapping/>
  </p:clrMapOvr>
  <p:transition>
    <p:blinds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I/O</a:t>
            </a:r>
            <a:r>
              <a:rPr lang="zh-CN" altLang="en-US" smtClean="0"/>
              <a:t>指令及寻址方式</a:t>
            </a:r>
            <a:endParaRPr lang="zh-CN" altLang="en-US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138469"/>
      </p:ext>
    </p:extLst>
  </p:cSld>
  <p:clrMapOvr>
    <a:masterClrMapping/>
  </p:clrMapOvr>
  <p:transition>
    <p:blinds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mtClean="0">
                <a:latin typeface="Times New Roman" pitchFamily="18" charset="0"/>
                <a:ea typeface="宋体" pitchFamily="2" charset="-122"/>
              </a:rPr>
              <a:t>直接寻址的输入</a:t>
            </a:r>
            <a:r>
              <a:rPr lang="en-US" altLang="zh-CN" smtClean="0">
                <a:latin typeface="Times New Roman" pitchFamily="18" charset="0"/>
                <a:ea typeface="宋体" pitchFamily="2" charset="-122"/>
              </a:rPr>
              <a:t>/</a:t>
            </a:r>
            <a:r>
              <a:rPr lang="zh-CN" altLang="en-US" smtClean="0">
                <a:latin typeface="Times New Roman" pitchFamily="18" charset="0"/>
                <a:ea typeface="宋体" pitchFamily="2" charset="-122"/>
              </a:rPr>
              <a:t>输出指令</a:t>
            </a:r>
            <a:r>
              <a:rPr lang="en-US" smtClean="0">
                <a:latin typeface="Times New Roman" pitchFamily="18" charset="0"/>
                <a:ea typeface="宋体" pitchFamily="2" charset="-122"/>
              </a:rPr>
              <a:t>IN/OUT</a:t>
            </a:r>
            <a:endParaRPr lang="en-US" dirty="0"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385187"/>
      </p:ext>
    </p:extLst>
  </p:cSld>
  <p:clrMapOvr>
    <a:masterClrMapping/>
  </p:clrMapOvr>
  <p:transition>
    <p:blinds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DX</a:t>
            </a:r>
            <a:r>
              <a:rPr lang="zh-CN" altLang="en-US" smtClean="0"/>
              <a:t>间接寻址的</a:t>
            </a:r>
            <a:r>
              <a:rPr lang="en-US" smtClean="0"/>
              <a:t>IN/OUT</a:t>
            </a:r>
            <a:r>
              <a:rPr lang="zh-CN" altLang="en-US" smtClean="0"/>
              <a:t>指令</a:t>
            </a:r>
            <a:endParaRPr lang="zh-CN" altLang="en-US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173496"/>
      </p:ext>
    </p:extLst>
  </p:cSld>
  <p:clrMapOvr>
    <a:masterClrMapping/>
  </p:clrMapOvr>
  <p:transition>
    <p:blinds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064965"/>
      </p:ext>
    </p:extLst>
  </p:cSld>
  <p:clrMapOvr>
    <a:masterClrMapping/>
  </p:clrMapOvr>
  <p:transition>
    <p:blinds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mtClean="0"/>
              <a:t>I/O</a:t>
            </a:r>
            <a:r>
              <a:rPr lang="zh-CN" altLang="en-US" smtClean="0"/>
              <a:t>设备的数据传输控制方式</a:t>
            </a:r>
            <a:endParaRPr lang="zh-CN" altLang="en-US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098212"/>
      </p:ext>
    </p:extLst>
  </p:cSld>
  <p:clrMapOvr>
    <a:masterClrMapping/>
  </p:clrMapOvr>
  <p:transition>
    <p:blinds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200" smtClean="0">
                <a:solidFill>
                  <a:srgbClr val="FF0000"/>
                </a:solidFill>
              </a:rPr>
              <a:t>采用程序查询方式，把字节单元</a:t>
            </a:r>
            <a:r>
              <a:rPr lang="en-US" altLang="zh-CN" sz="3200" smtClean="0">
                <a:solidFill>
                  <a:srgbClr val="FF0000"/>
                </a:solidFill>
              </a:rPr>
              <a:t>BUF2</a:t>
            </a:r>
            <a:r>
              <a:rPr lang="zh-CN" altLang="en-US" sz="3200" smtClean="0">
                <a:solidFill>
                  <a:srgbClr val="FF0000"/>
                </a:solidFill>
              </a:rPr>
              <a:t>中的数据从串口</a:t>
            </a:r>
            <a:r>
              <a:rPr lang="en-US" altLang="zh-CN" sz="3200" smtClean="0">
                <a:solidFill>
                  <a:srgbClr val="FF0000"/>
                </a:solidFill>
              </a:rPr>
              <a:t>1</a:t>
            </a:r>
            <a:r>
              <a:rPr lang="zh-CN" altLang="en-US" sz="3200" smtClean="0">
                <a:solidFill>
                  <a:srgbClr val="FF0000"/>
                </a:solidFill>
              </a:rPr>
              <a:t>（打印机）输出</a:t>
            </a:r>
            <a:br>
              <a:rPr lang="zh-CN" altLang="en-US" sz="3200" smtClean="0">
                <a:solidFill>
                  <a:srgbClr val="FF0000"/>
                </a:solidFill>
              </a:rPr>
            </a:br>
            <a:r>
              <a:rPr lang="zh-CN" altLang="en-US" sz="3200" smtClean="0">
                <a:solidFill>
                  <a:schemeClr val="accent1">
                    <a:lumMod val="50000"/>
                  </a:schemeClr>
                </a:solidFill>
              </a:rPr>
              <a:t>数据端口</a:t>
            </a:r>
            <a:r>
              <a:rPr lang="en-US" altLang="zh-CN" sz="3200" smtClean="0">
                <a:solidFill>
                  <a:schemeClr val="accent1">
                    <a:lumMod val="50000"/>
                  </a:schemeClr>
                </a:solidFill>
              </a:rPr>
              <a:t>:</a:t>
            </a:r>
            <a:r>
              <a:rPr lang="zh-CN" altLang="en-US" sz="320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zh-CN" sz="3200" smtClean="0">
                <a:solidFill>
                  <a:schemeClr val="accent1">
                    <a:lumMod val="50000"/>
                  </a:schemeClr>
                </a:solidFill>
              </a:rPr>
              <a:t>3F8H</a:t>
            </a:r>
            <a:br>
              <a:rPr lang="en-US" altLang="zh-CN" sz="320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zh-CN" altLang="en-US" sz="3200" smtClean="0">
                <a:solidFill>
                  <a:schemeClr val="accent1">
                    <a:lumMod val="50000"/>
                  </a:schemeClr>
                </a:solidFill>
              </a:rPr>
              <a:t>状态端口</a:t>
            </a:r>
            <a:r>
              <a:rPr lang="en-US" altLang="zh-CN" sz="3200" smtClean="0">
                <a:solidFill>
                  <a:schemeClr val="accent1">
                    <a:lumMod val="50000"/>
                  </a:schemeClr>
                </a:solidFill>
              </a:rPr>
              <a:t>: 3FDH</a:t>
            </a:r>
            <a:r>
              <a:rPr lang="zh-CN" altLang="en-US" sz="320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br>
              <a:rPr lang="zh-CN" altLang="en-US" sz="320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zh-CN" altLang="en-US" sz="3200" smtClean="0">
                <a:solidFill>
                  <a:schemeClr val="accent1">
                    <a:lumMod val="50000"/>
                  </a:schemeClr>
                </a:solidFill>
              </a:rPr>
              <a:t>第</a:t>
            </a:r>
            <a:r>
              <a:rPr lang="en-US" altLang="zh-CN" sz="3200" smtClean="0">
                <a:solidFill>
                  <a:schemeClr val="accent1">
                    <a:lumMod val="50000"/>
                  </a:schemeClr>
                </a:solidFill>
              </a:rPr>
              <a:t>5</a:t>
            </a:r>
            <a:r>
              <a:rPr lang="zh-CN" altLang="en-US" sz="3200" smtClean="0">
                <a:solidFill>
                  <a:schemeClr val="accent1">
                    <a:lumMod val="50000"/>
                  </a:schemeClr>
                </a:solidFill>
              </a:rPr>
              <a:t>位为</a:t>
            </a:r>
            <a:r>
              <a:rPr lang="en-US" altLang="zh-CN" sz="3200" smtClean="0">
                <a:solidFill>
                  <a:schemeClr val="accent1">
                    <a:lumMod val="50000"/>
                  </a:schemeClr>
                </a:solidFill>
              </a:rPr>
              <a:t>0</a:t>
            </a:r>
            <a:r>
              <a:rPr lang="zh-CN" altLang="en-US" sz="3200" smtClean="0">
                <a:solidFill>
                  <a:schemeClr val="accent1">
                    <a:lumMod val="50000"/>
                  </a:schemeClr>
                </a:solidFill>
              </a:rPr>
              <a:t>表示打印机忙，为</a:t>
            </a:r>
            <a:r>
              <a:rPr lang="en-US" altLang="zh-CN" sz="3200" smtClean="0">
                <a:solidFill>
                  <a:schemeClr val="accent1">
                    <a:lumMod val="50000"/>
                  </a:schemeClr>
                </a:solidFill>
              </a:rPr>
              <a:t>1</a:t>
            </a:r>
            <a:r>
              <a:rPr lang="zh-CN" altLang="en-US" sz="3200" smtClean="0">
                <a:solidFill>
                  <a:schemeClr val="accent1">
                    <a:lumMod val="50000"/>
                  </a:schemeClr>
                </a:solidFill>
              </a:rPr>
              <a:t>表示打印机空闲</a:t>
            </a:r>
            <a:endParaRPr lang="zh-CN" altLang="en-US" sz="320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113489"/>
      </p:ext>
    </p:extLst>
  </p:cSld>
  <p:clrMapOvr>
    <a:masterClrMapping/>
  </p:clrMapOvr>
  <p:transition>
    <p:blinds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mtClean="0"/>
              <a:t>中断系统</a:t>
            </a:r>
            <a:endParaRPr lang="zh-CN" altLang="en-US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859539"/>
      </p:ext>
    </p:extLst>
  </p:cSld>
  <p:clrMapOvr>
    <a:masterClrMapping/>
  </p:clrMapOvr>
  <p:transition>
    <p:blinds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mtClean="0"/>
              <a:t>中断有关指令</a:t>
            </a:r>
            <a:endParaRPr lang="zh-CN" altLang="en-US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393722"/>
      </p:ext>
    </p:extLst>
  </p:cSld>
  <p:clrMapOvr>
    <a:masterClrMapping/>
  </p:clrMapOvr>
  <p:transition>
    <p:blinds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783679"/>
      </p:ext>
    </p:extLst>
  </p:cSld>
  <p:clrMapOvr>
    <a:masterClrMapping/>
  </p:clrMapOvr>
  <p:transition>
    <p:blinds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中断向量表</a:t>
            </a:r>
            <a:endParaRPr lang="zh-CN" altLang="en-US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44434"/>
      </p:ext>
    </p:extLst>
  </p:cSld>
  <p:clrMapOvr>
    <a:masterClrMapping/>
  </p:clrMapOvr>
  <p:transition>
    <p:blinds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4000" smtClean="0">
                <a:solidFill>
                  <a:schemeClr val="tx1"/>
                </a:solidFill>
              </a:rPr>
              <a:t>执行中断</a:t>
            </a:r>
            <a:r>
              <a:rPr lang="en-US" altLang="zh-CN" sz="4000" smtClean="0">
                <a:solidFill>
                  <a:schemeClr val="tx1"/>
                </a:solidFill>
              </a:rPr>
              <a:t>4AH</a:t>
            </a:r>
            <a:r>
              <a:rPr lang="zh-CN" altLang="en-US" sz="4000" smtClean="0">
                <a:solidFill>
                  <a:schemeClr val="tx1"/>
                </a:solidFill>
              </a:rPr>
              <a:t>操作的</a:t>
            </a:r>
            <a:r>
              <a:rPr lang="en-US" altLang="zh-CN" sz="4000" smtClean="0">
                <a:solidFill>
                  <a:schemeClr val="tx1"/>
                </a:solidFill>
              </a:rPr>
              <a:t>5</a:t>
            </a:r>
            <a:r>
              <a:rPr lang="zh-CN" altLang="en-US" sz="4000" smtClean="0">
                <a:solidFill>
                  <a:schemeClr val="tx1"/>
                </a:solidFill>
              </a:rPr>
              <a:t>个步骤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387336"/>
      </p:ext>
    </p:extLst>
  </p:cSld>
  <p:clrMapOvr>
    <a:masterClrMapping/>
  </p:clrMapOvr>
  <p:transition>
    <p:blinds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BIOS</a:t>
            </a:r>
            <a:r>
              <a:rPr lang="zh-CN" altLang="en-US" smtClean="0"/>
              <a:t>和</a:t>
            </a:r>
            <a:r>
              <a:rPr lang="en-US" smtClean="0"/>
              <a:t>DOS</a:t>
            </a:r>
            <a:r>
              <a:rPr lang="zh-CN" altLang="en-US" smtClean="0"/>
              <a:t>中断概述</a:t>
            </a:r>
            <a:endParaRPr lang="zh-CN" altLang="en-US" dirty="0" smtClean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91639"/>
      </p:ext>
    </p:extLst>
  </p:cSld>
  <p:clrMapOvr>
    <a:masterClrMapping/>
  </p:clrMapOvr>
  <p:transition>
    <p:blinds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DOS</a:t>
            </a:r>
            <a:r>
              <a:rPr lang="zh-CN" altLang="en-US" smtClean="0"/>
              <a:t>模块和</a:t>
            </a:r>
            <a:r>
              <a:rPr lang="en-US" smtClean="0"/>
              <a:t>ROM BIOS</a:t>
            </a:r>
            <a:r>
              <a:rPr lang="zh-CN" altLang="en-US" smtClean="0"/>
              <a:t>的关系</a:t>
            </a:r>
            <a:endParaRPr lang="zh-CN" altLang="en-US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775065"/>
      </p:ext>
    </p:extLst>
  </p:cSld>
  <p:clrMapOvr>
    <a:masterClrMapping/>
  </p:clrMapOvr>
  <p:transition>
    <p:blinds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mtClean="0"/>
              <a:t>DOS</a:t>
            </a:r>
            <a:r>
              <a:rPr lang="zh-CN" altLang="en-US" smtClean="0"/>
              <a:t>和</a:t>
            </a:r>
            <a:r>
              <a:rPr lang="en-US" altLang="zh-CN" smtClean="0"/>
              <a:t>BIOS</a:t>
            </a:r>
            <a:r>
              <a:rPr lang="zh-CN" altLang="en-US" smtClean="0"/>
              <a:t>调用的基本步骤</a:t>
            </a:r>
            <a:endParaRPr lang="zh-CN" altLang="en-US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963260"/>
      </p:ext>
    </p:extLst>
  </p:cSld>
  <p:clrMapOvr>
    <a:masterClrMapping/>
  </p:clrMapOvr>
  <p:transition>
    <p:blinds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mtClean="0">
                <a:solidFill>
                  <a:schemeClr val="tx1"/>
                </a:solidFill>
              </a:rPr>
              <a:t>键盘功能</a:t>
            </a:r>
            <a:r>
              <a:rPr lang="en-US" altLang="zh-CN" smtClean="0">
                <a:solidFill>
                  <a:schemeClr val="tx1"/>
                </a:solidFill>
              </a:rPr>
              <a:t>:</a:t>
            </a:r>
            <a:r>
              <a:rPr lang="zh-CN" altLang="en-US" smtClean="0">
                <a:solidFill>
                  <a:schemeClr val="tx1"/>
                </a:solidFill>
              </a:rPr>
              <a:t> </a:t>
            </a:r>
            <a:r>
              <a:rPr lang="en-US" altLang="zh-CN" sz="4000" smtClean="0">
                <a:solidFill>
                  <a:schemeClr val="tx1"/>
                </a:solidFill>
              </a:rPr>
              <a:t>INT</a:t>
            </a:r>
            <a:r>
              <a:rPr lang="en-US" sz="4000" smtClean="0">
                <a:solidFill>
                  <a:schemeClr val="tx1"/>
                </a:solidFill>
              </a:rPr>
              <a:t> </a:t>
            </a:r>
            <a:r>
              <a:rPr lang="en-US" altLang="zh-CN" sz="4000" smtClean="0">
                <a:solidFill>
                  <a:schemeClr val="tx1"/>
                </a:solidFill>
              </a:rPr>
              <a:t>21H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2402"/>
      </p:ext>
    </p:extLst>
  </p:cSld>
  <p:clrMapOvr>
    <a:masterClrMapping/>
  </p:clrMapOvr>
  <p:transition>
    <p:blinds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551279"/>
      </p:ext>
    </p:extLst>
  </p:cSld>
  <p:clrMapOvr>
    <a:masterClrMapping/>
  </p:clrMapOvr>
  <p:transition>
    <p:blinds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699461"/>
      </p:ext>
    </p:extLst>
  </p:cSld>
  <p:clrMapOvr>
    <a:masterClrMapping/>
  </p:clrMapOvr>
  <p:transition>
    <p:blinds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b="1" smtClean="0">
                <a:solidFill>
                  <a:schemeClr val="tx1"/>
                </a:solidFill>
                <a:latin typeface="+mn-ea"/>
                <a:ea typeface="+mn-ea"/>
              </a:rPr>
              <a:t>鼠标功能</a:t>
            </a:r>
            <a:r>
              <a:rPr lang="en-US" altLang="zh-CN" b="1" smtClean="0">
                <a:solidFill>
                  <a:schemeClr val="tx1"/>
                </a:solidFill>
                <a:latin typeface="+mn-ea"/>
                <a:ea typeface="+mn-ea"/>
              </a:rPr>
              <a:t>33H</a:t>
            </a:r>
            <a:endParaRPr lang="en-US" b="1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48079"/>
      </p:ext>
    </p:extLst>
  </p:cSld>
  <p:clrMapOvr>
    <a:masterClrMapping/>
  </p:clrMapOvr>
  <p:transition>
    <p:blinds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832798"/>
      </p:ext>
    </p:extLst>
  </p:cSld>
  <p:clrMapOvr>
    <a:masterClrMapping/>
  </p:clrMapOvr>
  <p:transition>
    <p:blinds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718377"/>
      </p:ext>
    </p:extLst>
  </p:cSld>
  <p:clrMapOvr>
    <a:masterClrMapping/>
  </p:clrMapOvr>
  <p:transition>
    <p:blinds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420313"/>
      </p:ext>
    </p:extLst>
  </p:cSld>
  <p:clrMapOvr>
    <a:masterClrMapping/>
  </p:clrMapOvr>
  <p:transition>
    <p:blinds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540034"/>
      </p:ext>
    </p:extLst>
  </p:cSld>
  <p:clrMapOvr>
    <a:masterClrMapping/>
  </p:clrMapOvr>
  <p:transition>
    <p:blinds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755526"/>
      </p:ext>
    </p:extLst>
  </p:cSld>
  <p:clrMapOvr>
    <a:masterClrMapping/>
  </p:clrMapOvr>
  <p:transition>
    <p:blinds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mtClean="0">
                <a:solidFill>
                  <a:schemeClr val="tx1"/>
                </a:solidFill>
              </a:rPr>
              <a:t>显示功能</a:t>
            </a:r>
            <a:r>
              <a:rPr lang="en-US" altLang="zh-CN" smtClean="0">
                <a:solidFill>
                  <a:schemeClr val="tx1"/>
                </a:solidFill>
              </a:rPr>
              <a:t>:</a:t>
            </a:r>
            <a:r>
              <a:rPr lang="zh-CN" altLang="en-US" smtClean="0">
                <a:solidFill>
                  <a:schemeClr val="tx1"/>
                </a:solidFill>
              </a:rPr>
              <a:t>  </a:t>
            </a:r>
            <a:r>
              <a:rPr lang="en-US" altLang="zh-CN" sz="4000" smtClean="0">
                <a:solidFill>
                  <a:schemeClr val="tx1"/>
                </a:solidFill>
              </a:rPr>
              <a:t>INT</a:t>
            </a:r>
            <a:r>
              <a:rPr lang="en-US" sz="4000" smtClean="0">
                <a:solidFill>
                  <a:schemeClr val="tx1"/>
                </a:solidFill>
              </a:rPr>
              <a:t> </a:t>
            </a:r>
            <a:r>
              <a:rPr lang="en-US" altLang="zh-CN" sz="4000" smtClean="0">
                <a:solidFill>
                  <a:schemeClr val="tx1"/>
                </a:solidFill>
              </a:rPr>
              <a:t>21H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624771"/>
      </p:ext>
    </p:extLst>
  </p:cSld>
  <p:clrMapOvr>
    <a:masterClrMapping/>
  </p:clrMapOvr>
  <p:transition>
    <p:blinds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27886"/>
      </p:ext>
    </p:extLst>
  </p:cSld>
  <p:clrMapOvr>
    <a:masterClrMapping/>
  </p:clrMapOvr>
  <p:transition>
    <p:blinds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mtClean="0">
                <a:solidFill>
                  <a:schemeClr val="tx1"/>
                </a:solidFill>
              </a:rPr>
              <a:t>键盘调用</a:t>
            </a:r>
            <a:r>
              <a:rPr lang="en-US" altLang="zh-CN" smtClean="0">
                <a:solidFill>
                  <a:schemeClr val="tx1"/>
                </a:solidFill>
              </a:rPr>
              <a:t>:</a:t>
            </a:r>
            <a:r>
              <a:rPr lang="zh-CN" altLang="en-US" smtClean="0">
                <a:solidFill>
                  <a:schemeClr val="tx1"/>
                </a:solidFill>
              </a:rPr>
              <a:t> </a:t>
            </a:r>
            <a:r>
              <a:rPr lang="en-US" altLang="zh-CN" smtClean="0">
                <a:solidFill>
                  <a:schemeClr val="tx1"/>
                </a:solidFill>
              </a:rPr>
              <a:t>16</a:t>
            </a:r>
            <a:r>
              <a:rPr lang="en-US" smtClean="0">
                <a:solidFill>
                  <a:schemeClr val="tx1"/>
                </a:solidFill>
              </a:rPr>
              <a:t>H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270564"/>
      </p:ext>
    </p:extLst>
  </p:cSld>
  <p:clrMapOvr>
    <a:masterClrMapping/>
  </p:clrMapOvr>
  <p:transition>
    <p:blinds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37646"/>
      </p:ext>
    </p:extLst>
  </p:cSld>
  <p:clrMapOvr>
    <a:masterClrMapping/>
  </p:clrMapOvr>
  <p:transition>
    <p:blinds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mtClean="0">
                <a:solidFill>
                  <a:schemeClr val="tx1"/>
                </a:solidFill>
                <a:latin typeface="+mn-ea"/>
                <a:ea typeface="+mn-ea"/>
              </a:rPr>
              <a:t>显示器：</a:t>
            </a:r>
            <a:r>
              <a:rPr lang="en-US" sz="3600" smtClean="0">
                <a:solidFill>
                  <a:schemeClr val="tx1"/>
                </a:solidFill>
                <a:latin typeface="+mn-ea"/>
                <a:ea typeface="+mn-ea"/>
              </a:rPr>
              <a:t>INT 10H</a:t>
            </a:r>
            <a:endParaRPr 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647640"/>
      </p:ext>
    </p:extLst>
  </p:cSld>
  <p:clrMapOvr>
    <a:masterClrMapping/>
  </p:clrMapOvr>
  <p:transition>
    <p:blinds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333939"/>
      </p:ext>
    </p:extLst>
  </p:cSld>
  <p:clrMapOvr>
    <a:masterClrMapping/>
  </p:clrMapOvr>
  <p:transition>
    <p:blinds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mtClean="0"/>
              <a:t>字符属性字节</a:t>
            </a:r>
            <a:endParaRPr lang="zh-CN" altLang="en-US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119027"/>
      </p:ext>
    </p:extLst>
  </p:cSld>
  <p:clrMapOvr>
    <a:masterClrMapping/>
  </p:clrMapOvr>
  <p:transition>
    <p:blinds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mtClean="0"/>
              <a:t>典型的显示属性</a:t>
            </a:r>
            <a:endParaRPr lang="zh-CN" altLang="en-US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726031"/>
      </p:ext>
    </p:extLst>
  </p:cSld>
  <p:clrMapOvr>
    <a:masterClrMapping/>
  </p:clrMapOvr>
  <p:transition>
    <p:blinds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mtClean="0"/>
              <a:t>彩色字符显示属性字节</a:t>
            </a:r>
            <a:endParaRPr lang="zh-CN" altLang="en-US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635510"/>
      </p:ext>
    </p:extLst>
  </p:cSld>
  <p:clrMapOvr>
    <a:masterClrMapping/>
  </p:clrMapOvr>
  <p:transition>
    <p:blinds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mtClean="0"/>
              <a:t>BIOS</a:t>
            </a:r>
            <a:r>
              <a:rPr lang="zh-CN" altLang="en-US" smtClean="0"/>
              <a:t>显示功能调用</a:t>
            </a:r>
            <a:endParaRPr lang="zh-CN" altLang="en-US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586849"/>
      </p:ext>
    </p:extLst>
  </p:cSld>
  <p:clrMapOvr>
    <a:masterClrMapping/>
  </p:clrMapOvr>
  <p:transition>
    <p:blinds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297961"/>
      </p:ext>
    </p:extLst>
  </p:cSld>
  <p:clrMapOvr>
    <a:masterClrMapping/>
  </p:clrMapOvr>
  <p:transition>
    <p:blinds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555868"/>
      </p:ext>
    </p:extLst>
  </p:cSld>
  <p:clrMapOvr>
    <a:masterClrMapping/>
  </p:clrMapOvr>
  <p:transition>
    <p:blinds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3600" smtClean="0"/>
              <a:t>编写一个宏：清屏任意区域</a:t>
            </a:r>
            <a:endParaRPr lang="zh-CN" altLang="en-US" sz="3600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271454"/>
      </p:ext>
    </p:extLst>
  </p:cSld>
  <p:clrMapOvr>
    <a:masterClrMapping/>
  </p:clrMapOvr>
  <p:transition>
    <p:blinds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81006"/>
      </p:ext>
    </p:extLst>
  </p:cSld>
  <p:clrMapOvr>
    <a:masterClrMapping/>
  </p:clrMapOvr>
  <p:transition>
    <p:blinds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477385"/>
      </p:ext>
    </p:extLst>
  </p:cSld>
  <p:clrMapOvr>
    <a:masterClrMapping/>
  </p:clrMapOvr>
  <p:transition>
    <p:blinds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28457"/>
      </p:ext>
    </p:extLst>
  </p:cSld>
  <p:clrMapOvr>
    <a:masterClrMapping/>
  </p:clrMapOvr>
  <p:transition>
    <p:blinds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531079"/>
      </p:ext>
    </p:extLst>
  </p:cSld>
  <p:clrMapOvr>
    <a:masterClrMapping/>
  </p:clrMapOvr>
  <p:transition>
    <p:blinds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659599"/>
      </p:ext>
    </p:extLst>
  </p:cSld>
  <p:clrMapOvr>
    <a:masterClrMapping/>
  </p:clrMapOvr>
  <p:transition>
    <p:blinds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40436"/>
      </p:ext>
    </p:extLst>
  </p:cSld>
  <p:clrMapOvr>
    <a:masterClrMapping/>
  </p:clrMapOvr>
  <p:transition>
    <p:blinds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083176"/>
      </p:ext>
    </p:extLst>
  </p:cSld>
  <p:clrMapOvr>
    <a:masterClrMapping/>
  </p:clrMapOvr>
  <p:transition>
    <p:blinds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输入一组数据并求和</a:t>
            </a:r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278654"/>
      </p:ext>
    </p:extLst>
  </p:cSld>
  <p:clrMapOvr>
    <a:masterClrMapping/>
  </p:clrMapOvr>
  <p:transition>
    <p:blinds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373641"/>
      </p:ext>
    </p:extLst>
  </p:cSld>
  <p:clrMapOvr>
    <a:masterClrMapping/>
  </p:clrMapOvr>
  <p:transition>
    <p:blinds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600" smtClean="0"/>
              <a:t>从（</a:t>
            </a:r>
            <a:r>
              <a:rPr lang="en-US" altLang="zh-CN" sz="3600" smtClean="0"/>
              <a:t>10</a:t>
            </a:r>
            <a:r>
              <a:rPr lang="zh-CN" altLang="en-US" sz="3600" smtClean="0"/>
              <a:t>，</a:t>
            </a:r>
            <a:r>
              <a:rPr lang="en-US" altLang="zh-CN" sz="3600" smtClean="0"/>
              <a:t>25</a:t>
            </a:r>
            <a:r>
              <a:rPr lang="zh-CN" altLang="en-US" sz="3600" smtClean="0"/>
              <a:t>）开始显示</a:t>
            </a:r>
            <a:r>
              <a:rPr lang="en-US" altLang="zh-CN" sz="3600" smtClean="0"/>
              <a:t>15</a:t>
            </a:r>
            <a:r>
              <a:rPr lang="zh-CN" altLang="en-US" sz="3600" smtClean="0"/>
              <a:t>个 *</a:t>
            </a:r>
            <a:endParaRPr lang="zh-CN" altLang="en-US" sz="3600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889250"/>
      </p:ext>
    </p:extLst>
  </p:cSld>
  <p:clrMapOvr>
    <a:masterClrMapping/>
  </p:clrMapOvr>
  <p:transition>
    <p:blinds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第</a:t>
            </a:r>
            <a:r>
              <a:rPr lang="en-US" altLang="zh-CN" smtClean="0"/>
              <a:t>2</a:t>
            </a:r>
            <a:r>
              <a:rPr lang="zh-CN" altLang="en-US" smtClean="0"/>
              <a:t>次上机实验题目</a:t>
            </a:r>
            <a:endParaRPr lang="zh-CN" altLang="en-US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711428"/>
      </p:ext>
    </p:extLst>
  </p:cSld>
  <p:clrMapOvr>
    <a:masterClrMapping/>
  </p:clrMapOvr>
  <p:transition>
    <p:blinds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800" kern="800" spc="-300" smtClean="0"/>
              <a:t>在屏幕中间建立一个</a:t>
            </a:r>
            <a:r>
              <a:rPr lang="en-US" altLang="zh-CN" sz="2800" kern="800" spc="-300" smtClean="0"/>
              <a:t>11</a:t>
            </a:r>
            <a:r>
              <a:rPr lang="zh-CN" altLang="en-US" sz="2800" kern="800" spc="-300" smtClean="0"/>
              <a:t>行</a:t>
            </a:r>
            <a:r>
              <a:rPr lang="en-US" altLang="zh-CN" sz="2800" kern="800" spc="-300" smtClean="0"/>
              <a:t>34</a:t>
            </a:r>
            <a:r>
              <a:rPr lang="zh-CN" altLang="en-US" sz="2800" kern="800" spc="-300" smtClean="0"/>
              <a:t>列反相显示的小窗口，在窗口最上一行以相同属性显示一个菜单栏，在屏幕最下一行以不同属性显示</a:t>
            </a:r>
            <a:endParaRPr lang="zh-CN" altLang="en-US" sz="2800" kern="800" spc="-300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733677"/>
      </p:ext>
    </p:extLst>
  </p:cSld>
  <p:clrMapOvr>
    <a:masterClrMapping/>
  </p:clrMapOvr>
  <p:transition>
    <p:blinds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579460"/>
      </p:ext>
    </p:extLst>
  </p:cSld>
  <p:clrMapOvr>
    <a:masterClrMapping/>
  </p:clrMapOvr>
  <p:transition>
    <p:blinds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370557"/>
      </p:ext>
    </p:extLst>
  </p:cSld>
  <p:clrMapOvr>
    <a:masterClrMapping/>
  </p:clrMapOvr>
  <p:transition>
    <p:blinds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157410"/>
      </p:ext>
    </p:extLst>
  </p:cSld>
  <p:clrMapOvr>
    <a:masterClrMapping/>
  </p:clrMapOvr>
  <p:transition>
    <p:blinds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BIOS</a:t>
            </a:r>
            <a:r>
              <a:rPr lang="zh-CN" altLang="en-US" smtClean="0"/>
              <a:t>与</a:t>
            </a:r>
            <a:r>
              <a:rPr lang="en-US" altLang="zh-CN" smtClean="0"/>
              <a:t>DOS</a:t>
            </a:r>
            <a:r>
              <a:rPr lang="zh-CN" altLang="en-US" smtClean="0"/>
              <a:t>的时间功能调用</a:t>
            </a:r>
            <a:endParaRPr lang="zh-CN" altLang="en-US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97655"/>
      </p:ext>
    </p:extLst>
  </p:cSld>
  <p:clrMapOvr>
    <a:masterClrMapping/>
  </p:clrMapOvr>
  <p:transition>
    <p:blinds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3600" smtClean="0">
                <a:solidFill>
                  <a:schemeClr val="bg1"/>
                </a:solidFill>
              </a:rPr>
              <a:t>在屏幕上显示当前时间</a:t>
            </a:r>
            <a:endParaRPr lang="zh-CN" altLang="en-US" sz="360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730114"/>
      </p:ext>
    </p:extLst>
  </p:cSld>
  <p:clrMapOvr>
    <a:masterClrMapping/>
  </p:clrMapOvr>
  <p:transition>
    <p:blinds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443450"/>
      </p:ext>
    </p:extLst>
  </p:cSld>
  <p:clrMapOvr>
    <a:masterClrMapping/>
  </p:clrMapOvr>
  <p:transition>
    <p:blinds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mtClean="0"/>
              <a:t>BIOS</a:t>
            </a:r>
            <a:r>
              <a:rPr lang="zh-CN" altLang="en-US" smtClean="0"/>
              <a:t>的</a:t>
            </a:r>
            <a:r>
              <a:rPr lang="en-US" altLang="zh-CN" smtClean="0"/>
              <a:t>INT 10H</a:t>
            </a:r>
            <a:r>
              <a:rPr lang="zh-CN" altLang="en-US" smtClean="0"/>
              <a:t>有关图形功能调用</a:t>
            </a:r>
            <a:endParaRPr lang="zh-CN" altLang="en-US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895623"/>
      </p:ext>
    </p:extLst>
  </p:cSld>
  <p:clrMapOvr>
    <a:masterClrMapping/>
  </p:clrMapOvr>
  <p:transition>
    <p:blinds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352016"/>
      </p:ext>
    </p:extLst>
  </p:cSld>
  <p:clrMapOvr>
    <a:masterClrMapping/>
  </p:clrMapOvr>
  <p:transition>
    <p:blinds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66434"/>
      </p:ext>
    </p:extLst>
  </p:cSld>
  <p:clrMapOvr>
    <a:masterClrMapping/>
  </p:clrMapOvr>
  <p:transition>
    <p:blinds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685486"/>
      </p:ext>
    </p:extLst>
  </p:cSld>
  <p:clrMapOvr>
    <a:masterClrMapping/>
  </p:clrMapOvr>
  <p:transition>
    <p:blinds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mtClean="0"/>
              <a:t>0CH</a:t>
            </a:r>
            <a:r>
              <a:rPr lang="zh-CN" altLang="en-US" smtClean="0"/>
              <a:t>功能 </a:t>
            </a:r>
            <a:r>
              <a:rPr lang="en-US" altLang="zh-CN" smtClean="0"/>
              <a:t>—</a:t>
            </a:r>
            <a:r>
              <a:rPr lang="zh-CN" altLang="en-US" smtClean="0"/>
              <a:t>写象素点</a:t>
            </a:r>
            <a:endParaRPr lang="zh-CN" altLang="en-US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802921"/>
      </p:ext>
    </p:extLst>
  </p:cSld>
  <p:clrMapOvr>
    <a:masterClrMapping/>
  </p:clrMapOvr>
  <p:transition>
    <p:blinds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532301"/>
      </p:ext>
    </p:extLst>
  </p:cSld>
  <p:clrMapOvr>
    <a:masterClrMapping/>
  </p:clrMapOvr>
  <p:transition>
    <p:blinds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mtClean="0"/>
              <a:t>在兰色背景上画</a:t>
            </a:r>
            <a:r>
              <a:rPr lang="en-US" altLang="zh-CN" smtClean="0"/>
              <a:t>4</a:t>
            </a:r>
            <a:r>
              <a:rPr lang="zh-CN" altLang="en-US" smtClean="0"/>
              <a:t>色或</a:t>
            </a:r>
            <a:r>
              <a:rPr lang="en-US" altLang="zh-CN" smtClean="0"/>
              <a:t>16</a:t>
            </a:r>
            <a:r>
              <a:rPr lang="zh-CN" altLang="en-US" smtClean="0"/>
              <a:t>色彩条</a:t>
            </a:r>
            <a:endParaRPr lang="zh-CN" altLang="en-US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23162"/>
      </p:ext>
    </p:extLst>
  </p:cSld>
  <p:clrMapOvr>
    <a:masterClrMapping/>
  </p:clrMapOvr>
  <p:transition>
    <p:blinds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727235"/>
      </p:ext>
    </p:extLst>
  </p:cSld>
  <p:clrMapOvr>
    <a:masterClrMapping/>
  </p:clrMapOvr>
  <p:transition>
    <p:blinds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zh-CN" altLang="en-US" sz="2800" spc="-150" smtClean="0"/>
              <a:t>设计一个简单的图形编辑器。按</a:t>
            </a:r>
            <a:r>
              <a:rPr lang="zh-CN" altLang="en-US" sz="2800" spc="-150" smtClean="0">
                <a:solidFill>
                  <a:schemeClr val="bg1"/>
                </a:solidFill>
                <a:sym typeface="Symbol"/>
              </a:rPr>
              <a:t> </a:t>
            </a:r>
            <a:r>
              <a:rPr lang="zh-CN" altLang="en-US" sz="2800" spc="-150" smtClean="0"/>
              <a:t>光标键任意画图，每画一点之前，由数字键</a:t>
            </a:r>
            <a:r>
              <a:rPr lang="en-US" altLang="zh-CN" sz="2800" spc="-150" smtClean="0"/>
              <a:t>0~3</a:t>
            </a:r>
            <a:r>
              <a:rPr lang="zh-CN" altLang="en-US" sz="2800" spc="-150" smtClean="0"/>
              <a:t>指定该点的彩色值，按</a:t>
            </a:r>
            <a:r>
              <a:rPr lang="en-US" altLang="zh-CN" sz="2800" spc="-150" smtClean="0">
                <a:solidFill>
                  <a:schemeClr val="bg1"/>
                </a:solidFill>
              </a:rPr>
              <a:t>ESC</a:t>
            </a:r>
            <a:r>
              <a:rPr lang="zh-CN" altLang="en-US" sz="2800" spc="-150" smtClean="0">
                <a:solidFill>
                  <a:schemeClr val="bg1"/>
                </a:solidFill>
              </a:rPr>
              <a:t>键</a:t>
            </a:r>
            <a:r>
              <a:rPr lang="zh-CN" altLang="en-US" sz="2800" spc="-150" smtClean="0"/>
              <a:t>结束。如果不换色，则可以用一种颜色一直画，直至成图。</a:t>
            </a:r>
            <a:endParaRPr lang="zh-CN" altLang="en-US" sz="2800" spc="-150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363689"/>
      </p:ext>
    </p:extLst>
  </p:cSld>
  <p:clrMapOvr>
    <a:masterClrMapping/>
  </p:clrMapOvr>
  <p:transition>
    <p:blinds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54666"/>
      </p:ext>
    </p:extLst>
  </p:cSld>
  <p:clrMapOvr>
    <a:masterClrMapping/>
  </p:clrMapOvr>
  <p:transition>
    <p:blinds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zh-CN" altLang="en-US" sz="4000" smtClean="0"/>
              <a:t>在屏幕上显示一个直角三角形</a:t>
            </a:r>
            <a:r>
              <a:rPr lang="en-US" altLang="zh-CN" sz="4000" smtClean="0"/>
              <a:t>,</a:t>
            </a:r>
            <a:r>
              <a:rPr lang="zh-CN" altLang="en-US" sz="4000" smtClean="0"/>
              <a:t>三边分别为红、黄、绿三种颜色</a:t>
            </a:r>
            <a:endParaRPr lang="zh-CN" altLang="en-US" sz="4000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555138"/>
      </p:ext>
    </p:extLst>
  </p:cSld>
  <p:clrMapOvr>
    <a:masterClrMapping/>
  </p:clrMapOvr>
  <p:transition>
    <p:blinds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63261"/>
      </p:ext>
    </p:extLst>
  </p:cSld>
  <p:clrMapOvr>
    <a:masterClrMapping/>
  </p:clrMapOvr>
  <p:transition>
    <p:blinds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186886"/>
      </p:ext>
    </p:extLst>
  </p:cSld>
  <p:clrMapOvr>
    <a:masterClrMapping/>
  </p:clrMapOvr>
  <p:transition>
    <p:blinds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943995"/>
      </p:ext>
    </p:extLst>
  </p:cSld>
  <p:clrMapOvr>
    <a:masterClrMapping/>
  </p:clrMapOvr>
  <p:transition>
    <p:blinds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Microsoft Office PowerPoint</Application>
  <PresentationFormat>全屏显示(4:3)</PresentationFormat>
  <Paragraphs>35</Paragraphs>
  <Slides>70</Slides>
  <Notes>0</Notes>
  <HiddenSlides>2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71" baseType="lpstr">
      <vt:lpstr>Office 主题​​</vt:lpstr>
      <vt:lpstr>输入/输出与中断</vt:lpstr>
      <vt:lpstr>I/O端口</vt:lpstr>
      <vt:lpstr>I/O指令及寻址方式</vt:lpstr>
      <vt:lpstr>直接寻址的输入/输出指令IN/OUT</vt:lpstr>
      <vt:lpstr>DX间接寻址的IN/OUT指令</vt:lpstr>
      <vt:lpstr>PowerPoint 演示文稿</vt:lpstr>
      <vt:lpstr>I/O设备的数据传输控制方式</vt:lpstr>
      <vt:lpstr>采用程序查询方式，把字节单元BUF2中的数据从串口1（打印机）输出 数据端口: 3F8H 状态端口: 3FDH  第5位为0表示打印机忙，为1表示打印机空闲</vt:lpstr>
      <vt:lpstr>中断系统</vt:lpstr>
      <vt:lpstr>中断有关指令</vt:lpstr>
      <vt:lpstr>PowerPoint 演示文稿</vt:lpstr>
      <vt:lpstr>中断向量表</vt:lpstr>
      <vt:lpstr>执行中断4AH操作的5个步骤</vt:lpstr>
      <vt:lpstr>BIOS和DOS中断概述</vt:lpstr>
      <vt:lpstr>DOS模块和ROM BIOS的关系</vt:lpstr>
      <vt:lpstr>DOS和BIOS调用的基本步骤</vt:lpstr>
      <vt:lpstr>键盘功能: INT 21H</vt:lpstr>
      <vt:lpstr>PowerPoint 演示文稿</vt:lpstr>
      <vt:lpstr>PowerPoint 演示文稿</vt:lpstr>
      <vt:lpstr>鼠标功能33H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显示功能:  INT 21H</vt:lpstr>
      <vt:lpstr>PowerPoint 演示文稿</vt:lpstr>
      <vt:lpstr>键盘调用: 16H</vt:lpstr>
      <vt:lpstr>PowerPoint 演示文稿</vt:lpstr>
      <vt:lpstr>显示器：INT 10H</vt:lpstr>
      <vt:lpstr>PowerPoint 演示文稿</vt:lpstr>
      <vt:lpstr>字符属性字节</vt:lpstr>
      <vt:lpstr>典型的显示属性</vt:lpstr>
      <vt:lpstr>彩色字符显示属性字节</vt:lpstr>
      <vt:lpstr>BIOS显示功能调用</vt:lpstr>
      <vt:lpstr>PowerPoint 演示文稿</vt:lpstr>
      <vt:lpstr>PowerPoint 演示文稿</vt:lpstr>
      <vt:lpstr>编写一个宏：清屏任意区域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输入一组数据并求和</vt:lpstr>
      <vt:lpstr>PowerPoint 演示文稿</vt:lpstr>
      <vt:lpstr>从（10，25）开始显示15个 *</vt:lpstr>
      <vt:lpstr>第2次上机实验题目</vt:lpstr>
      <vt:lpstr>在屏幕中间建立一个11行34列反相显示的小窗口，在窗口最上一行以相同属性显示一个菜单栏，在屏幕最下一行以不同属性显示</vt:lpstr>
      <vt:lpstr>PowerPoint 演示文稿</vt:lpstr>
      <vt:lpstr>PowerPoint 演示文稿</vt:lpstr>
      <vt:lpstr>PowerPoint 演示文稿</vt:lpstr>
      <vt:lpstr>BIOS与DOS的时间功能调用</vt:lpstr>
      <vt:lpstr>在屏幕上显示当前时间</vt:lpstr>
      <vt:lpstr>PowerPoint 演示文稿</vt:lpstr>
      <vt:lpstr>BIOS的INT 10H有关图形功能调用</vt:lpstr>
      <vt:lpstr>PowerPoint 演示文稿</vt:lpstr>
      <vt:lpstr>PowerPoint 演示文稿</vt:lpstr>
      <vt:lpstr>PowerPoint 演示文稿</vt:lpstr>
      <vt:lpstr>0CH功能 —写象素点</vt:lpstr>
      <vt:lpstr>PowerPoint 演示文稿</vt:lpstr>
      <vt:lpstr>在兰色背景上画4色或16色彩条</vt:lpstr>
      <vt:lpstr>PowerPoint 演示文稿</vt:lpstr>
      <vt:lpstr>设计一个简单的图形编辑器。按 光标键任意画图，每画一点之前，由数字键0~3指定该点的彩色值，按ESC键结束。如果不换色，则可以用一种颜色一直画，直至成图。</vt:lpstr>
      <vt:lpstr>PowerPoint 演示文稿</vt:lpstr>
      <vt:lpstr>在屏幕上显示一个直角三角形,三边分别为红、黄、绿三种颜色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输入/输出与中断</dc:title>
  <dc:creator>Su1</dc:creator>
  <cp:lastModifiedBy>Su1</cp:lastModifiedBy>
  <cp:revision>1</cp:revision>
  <dcterms:created xsi:type="dcterms:W3CDTF">2017-04-17T01:42:27Z</dcterms:created>
  <dcterms:modified xsi:type="dcterms:W3CDTF">2017-04-17T01:42:27Z</dcterms:modified>
</cp:coreProperties>
</file>