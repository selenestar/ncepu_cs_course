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74"/>
  </p:notesMasterIdLst>
  <p:handoutMasterIdLst>
    <p:handoutMasterId r:id="rId75"/>
  </p:handoutMasterIdLst>
  <p:sldIdLst>
    <p:sldId id="256" r:id="rId2"/>
    <p:sldId id="257" r:id="rId3"/>
    <p:sldId id="341" r:id="rId4"/>
    <p:sldId id="342" r:id="rId5"/>
    <p:sldId id="400" r:id="rId6"/>
    <p:sldId id="411" r:id="rId7"/>
    <p:sldId id="343" r:id="rId8"/>
    <p:sldId id="401" r:id="rId9"/>
    <p:sldId id="350" r:id="rId10"/>
    <p:sldId id="349" r:id="rId11"/>
    <p:sldId id="354" r:id="rId12"/>
    <p:sldId id="351" r:id="rId13"/>
    <p:sldId id="352" r:id="rId14"/>
    <p:sldId id="355" r:id="rId15"/>
    <p:sldId id="356" r:id="rId16"/>
    <p:sldId id="379" r:id="rId17"/>
    <p:sldId id="378" r:id="rId18"/>
    <p:sldId id="358" r:id="rId19"/>
    <p:sldId id="360" r:id="rId20"/>
    <p:sldId id="359" r:id="rId21"/>
    <p:sldId id="361" r:id="rId22"/>
    <p:sldId id="344" r:id="rId23"/>
    <p:sldId id="345" r:id="rId24"/>
    <p:sldId id="347" r:id="rId25"/>
    <p:sldId id="348" r:id="rId26"/>
    <p:sldId id="389" r:id="rId27"/>
    <p:sldId id="346" r:id="rId28"/>
    <p:sldId id="362" r:id="rId29"/>
    <p:sldId id="380" r:id="rId30"/>
    <p:sldId id="381" r:id="rId31"/>
    <p:sldId id="382" r:id="rId32"/>
    <p:sldId id="383" r:id="rId33"/>
    <p:sldId id="384" r:id="rId34"/>
    <p:sldId id="385" r:id="rId35"/>
    <p:sldId id="386" r:id="rId36"/>
    <p:sldId id="387" r:id="rId37"/>
    <p:sldId id="388" r:id="rId38"/>
    <p:sldId id="390" r:id="rId39"/>
    <p:sldId id="391" r:id="rId40"/>
    <p:sldId id="407" r:id="rId41"/>
    <p:sldId id="402" r:id="rId42"/>
    <p:sldId id="403" r:id="rId43"/>
    <p:sldId id="404" r:id="rId44"/>
    <p:sldId id="405" r:id="rId45"/>
    <p:sldId id="406" r:id="rId46"/>
    <p:sldId id="408" r:id="rId47"/>
    <p:sldId id="409" r:id="rId48"/>
    <p:sldId id="285" r:id="rId49"/>
    <p:sldId id="363" r:id="rId50"/>
    <p:sldId id="367" r:id="rId51"/>
    <p:sldId id="364" r:id="rId52"/>
    <p:sldId id="365" r:id="rId53"/>
    <p:sldId id="366" r:id="rId54"/>
    <p:sldId id="368" r:id="rId55"/>
    <p:sldId id="371" r:id="rId56"/>
    <p:sldId id="369" r:id="rId57"/>
    <p:sldId id="372" r:id="rId58"/>
    <p:sldId id="373" r:id="rId59"/>
    <p:sldId id="374" r:id="rId60"/>
    <p:sldId id="370" r:id="rId61"/>
    <p:sldId id="376" r:id="rId62"/>
    <p:sldId id="392" r:id="rId63"/>
    <p:sldId id="393" r:id="rId64"/>
    <p:sldId id="394" r:id="rId65"/>
    <p:sldId id="395" r:id="rId66"/>
    <p:sldId id="396" r:id="rId67"/>
    <p:sldId id="397" r:id="rId68"/>
    <p:sldId id="398" r:id="rId69"/>
    <p:sldId id="399" r:id="rId70"/>
    <p:sldId id="410" r:id="rId71"/>
    <p:sldId id="377" r:id="rId72"/>
    <p:sldId id="305" r:id="rId7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3" d="100"/>
          <a:sy n="93" d="100"/>
        </p:scale>
        <p:origin x="-1314" y="-2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F755745-6DA8-4705-B394-76BEE5747723}" type="datetimeFigureOut">
              <a:rPr lang="zh-CN" altLang="en-US" smtClean="0"/>
              <a:t>2019/10/8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8B870F1-F064-4538-97AD-6336D83D66C2}" type="slidenum">
              <a:rPr lang="zh-CN" altLang="en-US" smtClean="0"/>
              <a:t>‹#›</a:t>
            </a:fld>
            <a:endParaRPr lang="zh-CN" altLang="en-US"/>
          </a:p>
        </p:txBody>
      </p:sp>
    </p:spTree>
    <p:extLst>
      <p:ext uri="{BB962C8B-B14F-4D97-AF65-F5344CB8AC3E}">
        <p14:creationId xmlns:p14="http://schemas.microsoft.com/office/powerpoint/2010/main" val="19714045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9EE589-DDF6-4A7C-9EFC-C66DFCD4DCC0}" type="datetimeFigureOut">
              <a:rPr lang="zh-CN" altLang="en-US" smtClean="0"/>
              <a:t>2019/10/8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3FFB66-EBF6-4C90-92E6-1213CF9D7981}" type="slidenum">
              <a:rPr lang="zh-CN" altLang="en-US" smtClean="0"/>
              <a:t>‹#›</a:t>
            </a:fld>
            <a:endParaRPr lang="zh-CN" altLang="en-US"/>
          </a:p>
        </p:txBody>
      </p:sp>
    </p:spTree>
    <p:extLst>
      <p:ext uri="{BB962C8B-B14F-4D97-AF65-F5344CB8AC3E}">
        <p14:creationId xmlns:p14="http://schemas.microsoft.com/office/powerpoint/2010/main" val="248904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33FFB66-EBF6-4C90-92E6-1213CF9D7981}" type="slidenum">
              <a:rPr lang="zh-CN" altLang="en-US" smtClean="0"/>
              <a:t>3</a:t>
            </a:fld>
            <a:endParaRPr lang="zh-CN" altLang="en-US"/>
          </a:p>
        </p:txBody>
      </p:sp>
    </p:spTree>
    <p:extLst>
      <p:ext uri="{BB962C8B-B14F-4D97-AF65-F5344CB8AC3E}">
        <p14:creationId xmlns:p14="http://schemas.microsoft.com/office/powerpoint/2010/main" val="1917860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33FFB66-EBF6-4C90-92E6-1213CF9D7981}" type="slidenum">
              <a:rPr lang="zh-CN" altLang="en-US" smtClean="0"/>
              <a:t>4</a:t>
            </a:fld>
            <a:endParaRPr lang="zh-CN" altLang="en-US"/>
          </a:p>
        </p:txBody>
      </p:sp>
    </p:spTree>
    <p:extLst>
      <p:ext uri="{BB962C8B-B14F-4D97-AF65-F5344CB8AC3E}">
        <p14:creationId xmlns:p14="http://schemas.microsoft.com/office/powerpoint/2010/main" val="3784848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33FFB66-EBF6-4C90-92E6-1213CF9D7981}" type="slidenum">
              <a:rPr lang="zh-CN" altLang="en-US" smtClean="0"/>
              <a:t>6</a:t>
            </a:fld>
            <a:endParaRPr lang="zh-CN" altLang="en-US"/>
          </a:p>
        </p:txBody>
      </p:sp>
    </p:spTree>
    <p:extLst>
      <p:ext uri="{BB962C8B-B14F-4D97-AF65-F5344CB8AC3E}">
        <p14:creationId xmlns:p14="http://schemas.microsoft.com/office/powerpoint/2010/main" val="4344065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038" descr="배경화면6 copy"/>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08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1026"/>
          <p:cNvSpPr>
            <a:spLocks noGrp="1" noChangeArrowheads="1"/>
          </p:cNvSpPr>
          <p:nvPr>
            <p:ph type="ctrTitle"/>
          </p:nvPr>
        </p:nvSpPr>
        <p:spPr>
          <a:xfrm>
            <a:off x="0" y="3352800"/>
            <a:ext cx="7315200" cy="1219200"/>
          </a:xfrm>
        </p:spPr>
        <p:txBody>
          <a:bodyPr/>
          <a:lstStyle>
            <a:lvl1pPr algn="r">
              <a:defRPr sz="6000"/>
            </a:lvl1pPr>
          </a:lstStyle>
          <a:p>
            <a:pPr lvl="0"/>
            <a:r>
              <a:rPr lang="zh-CN" altLang="en-US" noProof="0" smtClean="0"/>
              <a:t>单击此处编辑母版标题样式</a:t>
            </a:r>
            <a:endParaRPr lang="ko-KR" altLang="en-US" noProof="0" smtClean="0"/>
          </a:p>
        </p:txBody>
      </p:sp>
      <p:sp>
        <p:nvSpPr>
          <p:cNvPr id="3075" name="Rectangle 1027"/>
          <p:cNvSpPr>
            <a:spLocks noGrp="1" noChangeArrowheads="1"/>
          </p:cNvSpPr>
          <p:nvPr>
            <p:ph type="subTitle" idx="1"/>
          </p:nvPr>
        </p:nvSpPr>
        <p:spPr>
          <a:xfrm>
            <a:off x="1588" y="4654550"/>
            <a:ext cx="7315200" cy="755650"/>
          </a:xfrm>
        </p:spPr>
        <p:txBody>
          <a:bodyPr/>
          <a:lstStyle>
            <a:lvl1pPr marL="0" indent="0" algn="r">
              <a:spcBef>
                <a:spcPct val="50000"/>
              </a:spcBef>
              <a:buFontTx/>
              <a:buNone/>
              <a:defRPr sz="3600" b="1">
                <a:solidFill>
                  <a:srgbClr val="660033"/>
                </a:solidFill>
              </a:defRPr>
            </a:lvl1pPr>
          </a:lstStyle>
          <a:p>
            <a:pPr lvl="0"/>
            <a:r>
              <a:rPr lang="zh-CN" altLang="en-US" noProof="0" smtClean="0"/>
              <a:t>单击此处编辑母版副标题样式</a:t>
            </a:r>
            <a:endParaRPr lang="ko-KR" altLang="en-US" noProof="0" smtClean="0"/>
          </a:p>
        </p:txBody>
      </p:sp>
      <p:sp>
        <p:nvSpPr>
          <p:cNvPr id="5" name="Rectangle 1028"/>
          <p:cNvSpPr>
            <a:spLocks noGrp="1" noChangeArrowheads="1"/>
          </p:cNvSpPr>
          <p:nvPr>
            <p:ph type="dt" sz="half" idx="10"/>
          </p:nvPr>
        </p:nvSpPr>
        <p:spPr/>
        <p:txBody>
          <a:bodyPr/>
          <a:lstStyle>
            <a:lvl1pPr>
              <a:defRPr/>
            </a:lvl1pPr>
          </a:lstStyle>
          <a:p>
            <a:fld id="{530820CF-B880-4189-942D-D702A7CBA730}" type="datetimeFigureOut">
              <a:rPr lang="zh-CN" altLang="en-US" smtClean="0"/>
              <a:t>2019/10/8</a:t>
            </a:fld>
            <a:endParaRPr lang="zh-CN" altLang="en-US"/>
          </a:p>
        </p:txBody>
      </p:sp>
      <p:sp>
        <p:nvSpPr>
          <p:cNvPr id="6" name="Rectangle 1029"/>
          <p:cNvSpPr>
            <a:spLocks noGrp="1" noChangeArrowheads="1"/>
          </p:cNvSpPr>
          <p:nvPr>
            <p:ph type="ftr" sz="quarter" idx="11"/>
          </p:nvPr>
        </p:nvSpPr>
        <p:spPr/>
        <p:txBody>
          <a:bodyPr/>
          <a:lstStyle>
            <a:lvl1pPr>
              <a:defRPr/>
            </a:lvl1pPr>
          </a:lstStyle>
          <a:p>
            <a:endParaRPr lang="zh-CN" altLang="en-US"/>
          </a:p>
        </p:txBody>
      </p:sp>
      <p:sp>
        <p:nvSpPr>
          <p:cNvPr id="7" name="Rectangle 1030"/>
          <p:cNvSpPr>
            <a:spLocks noGrp="1" noChangeArrowheads="1"/>
          </p:cNvSpPr>
          <p:nvPr>
            <p:ph type="sldNum" sz="quarter" idx="12"/>
          </p:nvPr>
        </p:nvSpPr>
        <p:spPr>
          <a:xfrm>
            <a:off x="6934200" y="6248400"/>
            <a:ext cx="1905000" cy="457200"/>
          </a:xfrm>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37289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02948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827876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676400"/>
            <a:ext cx="4076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0100" y="1676400"/>
            <a:ext cx="4076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91524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8" name="Rectangle 5"/>
          <p:cNvSpPr>
            <a:spLocks noGrp="1" noChangeArrowheads="1"/>
          </p:cNvSpPr>
          <p:nvPr>
            <p:ph type="ftr" sz="quarter" idx="11"/>
          </p:nvPr>
        </p:nvSpPr>
        <p:spPr>
          <a:ln/>
        </p:spPr>
        <p:txBody>
          <a:bodyPr/>
          <a:lstStyle>
            <a:lvl1pPr>
              <a:defRPr/>
            </a:lvl1pPr>
          </a:lstStyle>
          <a:p>
            <a:endParaRPr lang="zh-CN" altLang="en-US"/>
          </a:p>
        </p:txBody>
      </p:sp>
      <p:sp>
        <p:nvSpPr>
          <p:cNvPr id="9"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17440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4" name="Rectangle 5"/>
          <p:cNvSpPr>
            <a:spLocks noGrp="1" noChangeArrowheads="1"/>
          </p:cNvSpPr>
          <p:nvPr>
            <p:ph type="ftr" sz="quarter" idx="11"/>
          </p:nvPr>
        </p:nvSpPr>
        <p:spPr>
          <a:ln/>
        </p:spPr>
        <p:txBody>
          <a:bodyPr/>
          <a:lstStyle>
            <a:lvl1pPr>
              <a:defRPr/>
            </a:lvl1pPr>
          </a:lstStyle>
          <a:p>
            <a:endParaRPr lang="zh-CN" altLang="en-US"/>
          </a:p>
        </p:txBody>
      </p:sp>
      <p:sp>
        <p:nvSpPr>
          <p:cNvPr id="5"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405455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3" name="Rectangle 5"/>
          <p:cNvSpPr>
            <a:spLocks noGrp="1" noChangeArrowheads="1"/>
          </p:cNvSpPr>
          <p:nvPr>
            <p:ph type="ftr" sz="quarter" idx="11"/>
          </p:nvPr>
        </p:nvSpPr>
        <p:spPr>
          <a:ln/>
        </p:spPr>
        <p:txBody>
          <a:bodyPr/>
          <a:lstStyle>
            <a:lvl1pPr>
              <a:defRPr/>
            </a:lvl1pPr>
          </a:lstStyle>
          <a:p>
            <a:endParaRPr lang="zh-CN" altLang="en-US"/>
          </a:p>
        </p:txBody>
      </p:sp>
      <p:sp>
        <p:nvSpPr>
          <p:cNvPr id="4"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84866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095253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75762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860292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457200"/>
            <a:ext cx="2076450" cy="5334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457200"/>
            <a:ext cx="6076950" cy="5334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79637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202180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 descr="배경화면6(셋트2) copy"/>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08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381000" y="457200"/>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8" name="Rectangle 3"/>
          <p:cNvSpPr>
            <a:spLocks noGrp="1" noChangeArrowheads="1"/>
          </p:cNvSpPr>
          <p:nvPr>
            <p:ph type="body" idx="1"/>
          </p:nvPr>
        </p:nvSpPr>
        <p:spPr bwMode="auto">
          <a:xfrm>
            <a:off x="381000" y="1676400"/>
            <a:ext cx="830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latinLnBrk="1">
              <a:defRPr sz="1400">
                <a:solidFill>
                  <a:srgbClr val="660033"/>
                </a:solidFill>
                <a:latin typeface="+mn-lt"/>
                <a:ea typeface="+mn-ea"/>
              </a:defRPr>
            </a:lvl1pPr>
          </a:lstStyle>
          <a:p>
            <a:fld id="{530820CF-B880-4189-942D-D702A7CBA730}" type="datetimeFigureOut">
              <a:rPr lang="zh-CN" altLang="en-US" smtClean="0"/>
              <a:t>2019/10/8</a:t>
            </a:fld>
            <a:endParaRPr lang="zh-CN"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latinLnBrk="1">
              <a:defRPr sz="1400">
                <a:solidFill>
                  <a:srgbClr val="660033"/>
                </a:solidFill>
                <a:latin typeface="+mn-lt"/>
                <a:ea typeface="+mn-ea"/>
              </a:defRPr>
            </a:lvl1pPr>
          </a:lstStyle>
          <a:p>
            <a:endParaRPr lang="zh-CN" altLang="en-US"/>
          </a:p>
        </p:txBody>
      </p:sp>
      <p:sp>
        <p:nvSpPr>
          <p:cNvPr id="1030" name="Rectangle 6"/>
          <p:cNvSpPr>
            <a:spLocks noGrp="1" noChangeArrowheads="1"/>
          </p:cNvSpPr>
          <p:nvPr>
            <p:ph type="sldNum" sz="quarter" idx="4"/>
          </p:nvPr>
        </p:nvSpPr>
        <p:spPr bwMode="auto">
          <a:xfrm>
            <a:off x="6781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latinLnBrk="1">
              <a:defRPr sz="1400">
                <a:solidFill>
                  <a:srgbClr val="660033"/>
                </a:solidFill>
                <a:latin typeface="+mn-lt"/>
                <a:ea typeface="+mn-ea"/>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p:titleStyle>
    <p:body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2.xml"/><Relationship Id="rId4" Type="http://schemas.openxmlformats.org/officeDocument/2006/relationships/image" Target="../media/image7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2.xml"/><Relationship Id="rId4" Type="http://schemas.openxmlformats.org/officeDocument/2006/relationships/image" Target="../media/image76.png"/></Relationships>
</file>

<file path=ppt/slides/_rels/slide5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3568" y="908720"/>
            <a:ext cx="7992888" cy="2160240"/>
          </a:xfrm>
        </p:spPr>
        <p:txBody>
          <a:bodyPr/>
          <a:lstStyle/>
          <a:p>
            <a:pPr algn="l"/>
            <a:r>
              <a:rPr lang="zh-CN" altLang="en-US" b="1" dirty="0" smtClean="0">
                <a:solidFill>
                  <a:schemeClr val="accent4"/>
                </a:solidFill>
                <a:latin typeface="黑体" pitchFamily="49" charset="-122"/>
                <a:ea typeface="黑体" pitchFamily="49" charset="-122"/>
              </a:rPr>
              <a:t>第三章 技术创新原理</a:t>
            </a:r>
            <a:endParaRPr lang="zh-CN" altLang="en-US" b="1" dirty="0">
              <a:solidFill>
                <a:schemeClr val="accent4"/>
              </a:solidFill>
              <a:latin typeface="黑体" pitchFamily="49" charset="-122"/>
              <a:ea typeface="黑体" pitchFamily="49" charset="-122"/>
            </a:endParaRPr>
          </a:p>
        </p:txBody>
      </p:sp>
      <p:sp>
        <p:nvSpPr>
          <p:cNvPr id="3" name="副标题 2"/>
          <p:cNvSpPr>
            <a:spLocks noGrp="1"/>
          </p:cNvSpPr>
          <p:nvPr>
            <p:ph type="subTitle" idx="1"/>
          </p:nvPr>
        </p:nvSpPr>
        <p:spPr>
          <a:xfrm>
            <a:off x="611560" y="4365104"/>
            <a:ext cx="5976664" cy="755650"/>
          </a:xfrm>
        </p:spPr>
        <p:txBody>
          <a:bodyPr/>
          <a:lstStyle/>
          <a:p>
            <a:pPr algn="ctr"/>
            <a:r>
              <a:rPr lang="zh-CN" altLang="en-US" dirty="0" smtClean="0">
                <a:solidFill>
                  <a:srgbClr val="002060"/>
                </a:solidFill>
                <a:latin typeface="楷体_GB2312" pitchFamily="49" charset="-122"/>
                <a:ea typeface="楷体_GB2312" pitchFamily="49" charset="-122"/>
              </a:rPr>
              <a:t>檀勤良、张充</a:t>
            </a:r>
            <a:endParaRPr lang="zh-CN" altLang="en-US" dirty="0">
              <a:solidFill>
                <a:srgbClr val="002060"/>
              </a:solidFill>
              <a:latin typeface="楷体_GB2312" pitchFamily="49" charset="-122"/>
              <a:ea typeface="楷体_GB2312" pitchFamily="49" charset="-122"/>
            </a:endParaRPr>
          </a:p>
        </p:txBody>
      </p:sp>
    </p:spTree>
    <p:extLst>
      <p:ext uri="{BB962C8B-B14F-4D97-AF65-F5344CB8AC3E}">
        <p14:creationId xmlns:p14="http://schemas.microsoft.com/office/powerpoint/2010/main" val="2432478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476672"/>
            <a:ext cx="2952328" cy="1143000"/>
          </a:xfrm>
          <a:solidFill>
            <a:srgbClr val="FFFF00"/>
          </a:solidFill>
          <a:ln>
            <a:solidFill>
              <a:srgbClr val="FFFF00"/>
            </a:solidFill>
          </a:ln>
        </p:spPr>
        <p:txBody>
          <a:bodyPr/>
          <a:lstStyle/>
          <a:p>
            <a:r>
              <a:rPr lang="zh-CN" altLang="en-US" b="1" dirty="0" smtClean="0">
                <a:latin typeface="黑体" pitchFamily="49" charset="-122"/>
                <a:ea typeface="黑体" pitchFamily="49" charset="-122"/>
              </a:rPr>
              <a:t>授课内容</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1115616" y="1772816"/>
            <a:ext cx="7056784" cy="4104456"/>
          </a:xfrm>
        </p:spPr>
        <p:txBody>
          <a:bodyPr/>
          <a:lstStyle/>
          <a:p>
            <a:r>
              <a:rPr lang="zh-CN" altLang="en-US" sz="4400" b="1" dirty="0" smtClean="0">
                <a:latin typeface="隶书" pitchFamily="49" charset="-122"/>
                <a:ea typeface="隶书" pitchFamily="49" charset="-122"/>
              </a:rPr>
              <a:t>技术创新的概念</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技术创新的分类</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技术创新的过程模型</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技术创新的影响因素</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技术创新的经典理论溯源</a:t>
            </a:r>
            <a:endParaRPr lang="zh-CN" altLang="en-US" sz="4400" b="1" dirty="0">
              <a:latin typeface="隶书" pitchFamily="49" charset="-122"/>
              <a:ea typeface="隶书" pitchFamily="49" charset="-122"/>
            </a:endParaRPr>
          </a:p>
        </p:txBody>
      </p:sp>
    </p:spTree>
    <p:extLst>
      <p:ext uri="{BB962C8B-B14F-4D97-AF65-F5344CB8AC3E}">
        <p14:creationId xmlns:p14="http://schemas.microsoft.com/office/powerpoint/2010/main" val="32862586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332656"/>
            <a:ext cx="6066159" cy="1027584"/>
          </a:xfrm>
          <a:solidFill>
            <a:schemeClr val="accent5">
              <a:lumMod val="40000"/>
              <a:lumOff val="60000"/>
            </a:schemeClr>
          </a:solidFill>
        </p:spPr>
        <p:txBody>
          <a:bodyPr/>
          <a:lstStyle/>
          <a:p>
            <a:r>
              <a:rPr lang="zh-CN" altLang="en-US" b="1" dirty="0" smtClean="0">
                <a:latin typeface="幼圆" pitchFamily="49" charset="-122"/>
                <a:ea typeface="幼圆" pitchFamily="49" charset="-122"/>
              </a:rPr>
              <a:t>案例：我的手机变迁史</a:t>
            </a:r>
            <a:endParaRPr lang="zh-CN" altLang="en-US" b="1" dirty="0">
              <a:latin typeface="幼圆" pitchFamily="49" charset="-122"/>
              <a:ea typeface="幼圆" pitchFamily="49" charset="-122"/>
            </a:endParaRP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787" y="2132856"/>
            <a:ext cx="2808312" cy="4029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3848" y="2120013"/>
            <a:ext cx="3087048" cy="4029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4734" y="2120012"/>
            <a:ext cx="2745600" cy="4029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5671" y="42839"/>
            <a:ext cx="2790825" cy="1946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9103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3789040"/>
            <a:ext cx="4605090" cy="2780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4774" y="3789040"/>
            <a:ext cx="3816424" cy="2780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151730"/>
            <a:ext cx="6316663"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232" y="1196752"/>
            <a:ext cx="4013767"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4008" y="1196752"/>
            <a:ext cx="3744416"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84126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中国手机创新正在加速</a:t>
            </a:r>
            <a:endParaRPr lang="zh-CN" altLang="en-US" b="1" dirty="0"/>
          </a:p>
        </p:txBody>
      </p:sp>
      <p:sp>
        <p:nvSpPr>
          <p:cNvPr id="3" name="文本占位符 2"/>
          <p:cNvSpPr>
            <a:spLocks noGrp="1"/>
          </p:cNvSpPr>
          <p:nvPr>
            <p:ph type="body" idx="1"/>
          </p:nvPr>
        </p:nvSpPr>
        <p:spPr>
          <a:xfrm>
            <a:off x="899592" y="1700808"/>
            <a:ext cx="5328592" cy="3298304"/>
          </a:xfrm>
        </p:spPr>
        <p:txBody>
          <a:bodyPr/>
          <a:lstStyle/>
          <a:p>
            <a:r>
              <a:rPr lang="en-US" altLang="zh-CN" sz="4000" dirty="0" smtClean="0"/>
              <a:t>VIVO NEX</a:t>
            </a:r>
          </a:p>
          <a:p>
            <a:r>
              <a:rPr lang="en-US" altLang="zh-CN" sz="4000" dirty="0" smtClean="0"/>
              <a:t>OPPO FIND X</a:t>
            </a:r>
            <a:endParaRPr lang="zh-CN" altLang="en-US" sz="40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2120" y="1628801"/>
            <a:ext cx="3226609" cy="50741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713" y="3976546"/>
            <a:ext cx="5496407" cy="27482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168369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648072"/>
          </a:xfrm>
        </p:spPr>
        <p:txBody>
          <a:bodyPr/>
          <a:lstStyle/>
          <a:p>
            <a:r>
              <a:rPr lang="zh-CN" altLang="en-US" dirty="0" smtClean="0"/>
              <a:t>展望</a:t>
            </a:r>
            <a:r>
              <a:rPr lang="en-US" altLang="zh-CN" dirty="0" smtClean="0"/>
              <a:t>5G</a:t>
            </a:r>
            <a:endParaRPr lang="zh-CN" altLang="en-US" dirty="0"/>
          </a:p>
        </p:txBody>
      </p:sp>
      <p:sp>
        <p:nvSpPr>
          <p:cNvPr id="3" name="文本占位符 2"/>
          <p:cNvSpPr>
            <a:spLocks noGrp="1"/>
          </p:cNvSpPr>
          <p:nvPr>
            <p:ph type="body" idx="1"/>
          </p:nvPr>
        </p:nvSpPr>
        <p:spPr>
          <a:xfrm>
            <a:off x="275084" y="836712"/>
            <a:ext cx="8305800" cy="2304256"/>
          </a:xfrm>
        </p:spPr>
        <p:txBody>
          <a:bodyPr/>
          <a:lstStyle/>
          <a:p>
            <a:r>
              <a:rPr lang="en-US" altLang="zh-CN" dirty="0"/>
              <a:t>5G</a:t>
            </a:r>
            <a:r>
              <a:rPr lang="zh-CN" altLang="en-US" dirty="0"/>
              <a:t>手机是指使用第五代通信系统的智能手机。相对</a:t>
            </a:r>
            <a:r>
              <a:rPr lang="en-US" altLang="zh-CN" dirty="0"/>
              <a:t>4G</a:t>
            </a:r>
            <a:r>
              <a:rPr lang="zh-CN" altLang="en-US" dirty="0"/>
              <a:t>手机，</a:t>
            </a:r>
            <a:r>
              <a:rPr lang="en-US" altLang="zh-CN" dirty="0"/>
              <a:t>5G</a:t>
            </a:r>
            <a:r>
              <a:rPr lang="zh-CN" altLang="en-US" dirty="0"/>
              <a:t>手机有更快的网络与通信，低时延，通过网络切片技术，拥有更精准的定位。</a:t>
            </a:r>
          </a:p>
          <a:p>
            <a:r>
              <a:rPr lang="en-US" altLang="zh-CN" dirty="0"/>
              <a:t>5G</a:t>
            </a:r>
            <a:r>
              <a:rPr lang="zh-CN" altLang="en-US" dirty="0"/>
              <a:t>网络已成功在</a:t>
            </a:r>
            <a:r>
              <a:rPr lang="en-US" altLang="zh-CN" dirty="0"/>
              <a:t>28</a:t>
            </a:r>
            <a:r>
              <a:rPr lang="zh-CN" altLang="en-US" dirty="0"/>
              <a:t>千兆赫（</a:t>
            </a:r>
            <a:r>
              <a:rPr lang="en-US" altLang="zh-CN" dirty="0"/>
              <a:t>GHz</a:t>
            </a:r>
            <a:r>
              <a:rPr lang="zh-CN" altLang="en-US" dirty="0"/>
              <a:t>）波段下达到了</a:t>
            </a:r>
            <a:r>
              <a:rPr lang="en-US" altLang="zh-CN" dirty="0"/>
              <a:t>1Gbps</a:t>
            </a:r>
            <a:r>
              <a:rPr lang="zh-CN" altLang="en-US" dirty="0"/>
              <a:t>，相比之下，当前的第四代长期演进（</a:t>
            </a:r>
            <a:r>
              <a:rPr lang="en-US" altLang="zh-CN" dirty="0"/>
              <a:t>4G LTE</a:t>
            </a:r>
            <a:r>
              <a:rPr lang="zh-CN" altLang="en-US" dirty="0"/>
              <a:t>）服务的传输速率仅为</a:t>
            </a:r>
            <a:r>
              <a:rPr lang="en-US" altLang="zh-CN" dirty="0" smtClean="0"/>
              <a:t>75Mbps</a:t>
            </a:r>
            <a:r>
              <a:rPr lang="zh-CN" altLang="en-US" dirty="0" smtClean="0"/>
              <a:t>。</a:t>
            </a:r>
            <a:endParaRPr lang="en-US" altLang="zh-CN" dirty="0" smtClean="0"/>
          </a:p>
          <a:p>
            <a:pPr marL="0" indent="0">
              <a:buNone/>
            </a:pPr>
            <a:endParaRPr lang="en-US" altLang="zh-CN" dirty="0" smtClean="0"/>
          </a:p>
          <a:p>
            <a:endParaRPr lang="zh-CN" alt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6520" y="2992234"/>
            <a:ext cx="1461542" cy="38736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168" y="2992233"/>
            <a:ext cx="1492464" cy="38736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3436514"/>
            <a:ext cx="2771799" cy="3232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4430" y="3091014"/>
            <a:ext cx="2696564" cy="1804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71800" y="4945933"/>
            <a:ext cx="3312368" cy="174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1399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1676400"/>
            <a:ext cx="8305800" cy="1680592"/>
          </a:xfrm>
        </p:spPr>
        <p:txBody>
          <a:bodyPr/>
          <a:lstStyle/>
          <a:p>
            <a:pPr>
              <a:lnSpc>
                <a:spcPct val="150000"/>
              </a:lnSpc>
            </a:pPr>
            <a:r>
              <a:rPr lang="zh-CN" altLang="en-US" sz="3600" dirty="0" smtClean="0">
                <a:latin typeface="楷体_GB2312" pitchFamily="49" charset="-122"/>
                <a:ea typeface="楷体_GB2312" pitchFamily="49" charset="-122"/>
              </a:rPr>
              <a:t>技术创新：</a:t>
            </a:r>
            <a:r>
              <a:rPr lang="zh-CN" altLang="en-US" sz="3600" b="1" dirty="0" smtClean="0">
                <a:latin typeface="楷体_GB2312" pitchFamily="49" charset="-122"/>
                <a:ea typeface="楷体_GB2312" pitchFamily="49" charset="-122"/>
              </a:rPr>
              <a:t>以技术创造和革新为主要表现形式的生产要素新组合。</a:t>
            </a:r>
            <a:endParaRPr lang="zh-CN" altLang="en-US" sz="3600" dirty="0">
              <a:latin typeface="楷体_GB2312" pitchFamily="49" charset="-122"/>
              <a:ea typeface="楷体_GB2312" pitchFamily="49" charset="-122"/>
            </a:endParaRPr>
          </a:p>
        </p:txBody>
      </p:sp>
      <p:sp>
        <p:nvSpPr>
          <p:cNvPr id="4" name="标题 1"/>
          <p:cNvSpPr txBox="1">
            <a:spLocks/>
          </p:cNvSpPr>
          <p:nvPr/>
        </p:nvSpPr>
        <p:spPr bwMode="auto">
          <a:xfrm>
            <a:off x="323528" y="260648"/>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一、技术创新的概念</a:t>
            </a:r>
            <a:endParaRPr lang="zh-CN" altLang="en-US" sz="4800" b="1" dirty="0">
              <a:latin typeface="黑体" pitchFamily="49" charset="-122"/>
              <a:ea typeface="黑体" pitchFamily="49" charset="-122"/>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3356992"/>
            <a:ext cx="856895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17519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中国新四大发明</a:t>
            </a:r>
            <a:endParaRPr lang="zh-CN" altLang="en-US" b="1" dirty="0"/>
          </a:p>
        </p:txBody>
      </p:sp>
      <p:sp>
        <p:nvSpPr>
          <p:cNvPr id="3" name="文本占位符 2"/>
          <p:cNvSpPr>
            <a:spLocks noGrp="1"/>
          </p:cNvSpPr>
          <p:nvPr>
            <p:ph type="body" idx="1"/>
          </p:nvPr>
        </p:nvSpPr>
        <p:spPr>
          <a:xfrm>
            <a:off x="1115616" y="1772816"/>
            <a:ext cx="4983088" cy="4114800"/>
          </a:xfrm>
        </p:spPr>
        <p:txBody>
          <a:bodyPr/>
          <a:lstStyle/>
          <a:p>
            <a:r>
              <a:rPr lang="zh-CN" altLang="en-US" sz="4000" dirty="0" smtClean="0"/>
              <a:t>高铁</a:t>
            </a:r>
            <a:endParaRPr lang="en-US" altLang="zh-CN" sz="4000" dirty="0" smtClean="0"/>
          </a:p>
          <a:p>
            <a:r>
              <a:rPr lang="zh-CN" altLang="en-US" sz="4000" dirty="0" smtClean="0"/>
              <a:t>扫</a:t>
            </a:r>
            <a:r>
              <a:rPr lang="zh-CN" altLang="en-US" sz="4000" dirty="0"/>
              <a:t>码</a:t>
            </a:r>
            <a:r>
              <a:rPr lang="zh-CN" altLang="en-US" sz="4000" dirty="0" smtClean="0"/>
              <a:t>支付</a:t>
            </a:r>
            <a:endParaRPr lang="en-US" altLang="zh-CN" sz="4000" dirty="0" smtClean="0"/>
          </a:p>
          <a:p>
            <a:r>
              <a:rPr lang="zh-CN" altLang="en-US" sz="4000" dirty="0" smtClean="0"/>
              <a:t>共享单车</a:t>
            </a:r>
            <a:endParaRPr lang="en-US" altLang="zh-CN" sz="4000" dirty="0" smtClean="0"/>
          </a:p>
          <a:p>
            <a:r>
              <a:rPr lang="zh-CN" altLang="en-US" sz="4000" dirty="0" smtClean="0"/>
              <a:t>网购</a:t>
            </a:r>
            <a:endParaRPr lang="zh-CN" altLang="en-US" sz="4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960" y="3429000"/>
            <a:ext cx="4762500" cy="3152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692696"/>
            <a:ext cx="3400425"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2596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p:txBody>
          <a:bodyPr/>
          <a:lstStyle/>
          <a:p>
            <a:pPr>
              <a:lnSpc>
                <a:spcPct val="120000"/>
              </a:lnSpc>
            </a:pPr>
            <a:r>
              <a:rPr lang="zh-CN" altLang="en-US" sz="2800" b="1" dirty="0" smtClean="0">
                <a:latin typeface="楷体_GB2312" pitchFamily="49" charset="-122"/>
                <a:ea typeface="楷体_GB2312" pitchFamily="49" charset="-122"/>
              </a:rPr>
              <a:t>按创新内容分为：产品创新、工艺创新、技术扩散</a:t>
            </a:r>
            <a:r>
              <a:rPr lang="zh-CN" altLang="en-US" sz="2000" dirty="0" smtClean="0">
                <a:latin typeface="楷体_GB2312" pitchFamily="49" charset="-122"/>
                <a:ea typeface="楷体_GB2312" pitchFamily="49" charset="-122"/>
              </a:rPr>
              <a:t>（火药）</a:t>
            </a:r>
            <a:endParaRPr lang="en-US" altLang="zh-CN" sz="2000" dirty="0" smtClean="0">
              <a:latin typeface="楷体_GB2312" pitchFamily="49" charset="-122"/>
              <a:ea typeface="楷体_GB2312" pitchFamily="49" charset="-122"/>
            </a:endParaRPr>
          </a:p>
          <a:p>
            <a:pPr>
              <a:lnSpc>
                <a:spcPct val="120000"/>
              </a:lnSpc>
            </a:pPr>
            <a:r>
              <a:rPr lang="zh-CN" altLang="en-US" sz="2800" b="1" dirty="0">
                <a:latin typeface="楷体_GB2312" pitchFamily="49" charset="-122"/>
                <a:ea typeface="楷体_GB2312" pitchFamily="49" charset="-122"/>
              </a:rPr>
              <a:t>希克</a:t>
            </a:r>
            <a:r>
              <a:rPr lang="zh-CN" altLang="en-US" sz="2800" b="1" dirty="0" smtClean="0">
                <a:latin typeface="楷体_GB2312" pitchFamily="49" charset="-122"/>
                <a:ea typeface="楷体_GB2312" pitchFamily="49" charset="-122"/>
              </a:rPr>
              <a:t>斯分类：节省劳动的创新、节省资本的创新、中性（</a:t>
            </a:r>
            <a:r>
              <a:rPr lang="en-US" altLang="zh-CN" sz="2800" b="1" dirty="0" smtClean="0">
                <a:latin typeface="楷体_GB2312" pitchFamily="49" charset="-122"/>
                <a:ea typeface="楷体_GB2312" pitchFamily="49" charset="-122"/>
              </a:rPr>
              <a:t>Neutral</a:t>
            </a:r>
            <a:r>
              <a:rPr lang="zh-CN" altLang="en-US" sz="2800" b="1" dirty="0" smtClean="0">
                <a:latin typeface="楷体_GB2312" pitchFamily="49" charset="-122"/>
                <a:ea typeface="楷体_GB2312" pitchFamily="49" charset="-122"/>
              </a:rPr>
              <a:t>）技术创新</a:t>
            </a:r>
            <a:r>
              <a:rPr lang="zh-CN" altLang="en-US" sz="2000" dirty="0" smtClean="0">
                <a:latin typeface="楷体_GB2312" pitchFamily="49" charset="-122"/>
                <a:ea typeface="楷体_GB2312" pitchFamily="49" charset="-122"/>
              </a:rPr>
              <a:t>（</a:t>
            </a:r>
            <a:r>
              <a:rPr lang="zh-CN" altLang="en-US" sz="2000" dirty="0">
                <a:latin typeface="楷体_GB2312" pitchFamily="49" charset="-122"/>
                <a:ea typeface="楷体_GB2312" pitchFamily="49" charset="-122"/>
              </a:rPr>
              <a:t>同比例增加资本和劳动的边际</a:t>
            </a:r>
            <a:r>
              <a:rPr lang="zh-CN" altLang="en-US" sz="2000" dirty="0" smtClean="0">
                <a:latin typeface="楷体_GB2312" pitchFamily="49" charset="-122"/>
                <a:ea typeface="楷体_GB2312" pitchFamily="49" charset="-122"/>
              </a:rPr>
              <a:t>产品</a:t>
            </a:r>
            <a:r>
              <a:rPr lang="zh-CN" altLang="en-US" sz="2000" dirty="0">
                <a:latin typeface="楷体_GB2312" pitchFamily="49" charset="-122"/>
                <a:ea typeface="楷体_GB2312" pitchFamily="49" charset="-122"/>
              </a:rPr>
              <a:t>）</a:t>
            </a:r>
            <a:endParaRPr lang="en-US" altLang="zh-CN" sz="2000" dirty="0">
              <a:latin typeface="楷体_GB2312" pitchFamily="49" charset="-122"/>
              <a:ea typeface="楷体_GB2312" pitchFamily="49" charset="-122"/>
            </a:endParaRPr>
          </a:p>
          <a:p>
            <a:pPr>
              <a:lnSpc>
                <a:spcPct val="120000"/>
              </a:lnSpc>
            </a:pPr>
            <a:r>
              <a:rPr lang="en-US" altLang="zh-CN" sz="2800" b="1" dirty="0" smtClean="0">
                <a:latin typeface="楷体_GB2312" pitchFamily="49" charset="-122"/>
                <a:ea typeface="楷体_GB2312" pitchFamily="49" charset="-122"/>
              </a:rPr>
              <a:t>SPRU</a:t>
            </a:r>
            <a:r>
              <a:rPr lang="zh-CN" altLang="en-US" sz="2000" b="1" dirty="0" smtClean="0">
                <a:latin typeface="楷体_GB2312" pitchFamily="49" charset="-122"/>
                <a:ea typeface="楷体_GB2312" pitchFamily="49" charset="-122"/>
              </a:rPr>
              <a:t>（英国苏克赛斯大学科学政策研究所）</a:t>
            </a:r>
            <a:r>
              <a:rPr lang="zh-CN" altLang="en-US" sz="2800" b="1" dirty="0" smtClean="0">
                <a:latin typeface="楷体_GB2312" pitchFamily="49" charset="-122"/>
                <a:ea typeface="楷体_GB2312" pitchFamily="49" charset="-122"/>
              </a:rPr>
              <a:t>分类：渐进式创新、突破性创新、技术系统的变革、技术</a:t>
            </a:r>
            <a:r>
              <a:rPr lang="en-US"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经济范式的变更</a:t>
            </a:r>
            <a:endParaRPr lang="zh-CN" altLang="en-US" sz="2800" b="1" dirty="0">
              <a:latin typeface="楷体_GB2312" pitchFamily="49" charset="-122"/>
              <a:ea typeface="楷体_GB2312" pitchFamily="49" charset="-122"/>
            </a:endParaRPr>
          </a:p>
        </p:txBody>
      </p:sp>
      <p:sp>
        <p:nvSpPr>
          <p:cNvPr id="4" name="标题 1"/>
          <p:cNvSpPr txBox="1">
            <a:spLocks/>
          </p:cNvSpPr>
          <p:nvPr/>
        </p:nvSpPr>
        <p:spPr bwMode="auto">
          <a:xfrm>
            <a:off x="323528" y="260648"/>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二、技术创新的分类</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14348741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5919192" cy="1143000"/>
          </a:xfrm>
          <a:solidFill>
            <a:srgbClr val="FFFFCC"/>
          </a:solidFill>
        </p:spPr>
        <p:txBody>
          <a:bodyPr/>
          <a:lstStyle/>
          <a:p>
            <a:r>
              <a:rPr lang="zh-CN" altLang="en-US" b="1" dirty="0" smtClean="0">
                <a:latin typeface="幼圆" pitchFamily="49" charset="-122"/>
                <a:ea typeface="幼圆" pitchFamily="49" charset="-122"/>
              </a:rPr>
              <a:t>案例：海尔的产品创新</a:t>
            </a:r>
            <a:endParaRPr lang="zh-CN" altLang="en-US" b="1" dirty="0">
              <a:latin typeface="幼圆" pitchFamily="49" charset="-122"/>
              <a:ea typeface="幼圆" pitchFamily="49" charset="-122"/>
            </a:endParaRPr>
          </a:p>
        </p:txBody>
      </p:sp>
      <p:sp>
        <p:nvSpPr>
          <p:cNvPr id="3" name="文本占位符 2"/>
          <p:cNvSpPr>
            <a:spLocks noGrp="1"/>
          </p:cNvSpPr>
          <p:nvPr>
            <p:ph type="body" idx="1"/>
          </p:nvPr>
        </p:nvSpPr>
        <p:spPr>
          <a:xfrm>
            <a:off x="755576" y="2060848"/>
            <a:ext cx="7931224" cy="2976736"/>
          </a:xfrm>
        </p:spPr>
        <p:txBody>
          <a:bodyPr/>
          <a:lstStyle/>
          <a:p>
            <a:pPr>
              <a:lnSpc>
                <a:spcPct val="150000"/>
              </a:lnSpc>
            </a:pPr>
            <a:r>
              <a:rPr lang="zh-CN" altLang="en-US" sz="3600" dirty="0" smtClean="0">
                <a:latin typeface="楷体_GB2312" pitchFamily="49" charset="-122"/>
                <a:ea typeface="楷体_GB2312" pitchFamily="49" charset="-122"/>
              </a:rPr>
              <a:t>洗地瓜的洗衣机</a:t>
            </a:r>
            <a:endParaRPr lang="en-US" altLang="zh-CN" sz="3600" dirty="0" smtClean="0">
              <a:latin typeface="楷体_GB2312" pitchFamily="49" charset="-122"/>
              <a:ea typeface="楷体_GB2312" pitchFamily="49" charset="-122"/>
            </a:endParaRPr>
          </a:p>
          <a:p>
            <a:pPr>
              <a:lnSpc>
                <a:spcPct val="150000"/>
              </a:lnSpc>
            </a:pPr>
            <a:r>
              <a:rPr lang="zh-CN" altLang="en-US" sz="3600" dirty="0">
                <a:latin typeface="楷体_GB2312" pitchFamily="49" charset="-122"/>
                <a:ea typeface="楷体_GB2312" pitchFamily="49" charset="-122"/>
              </a:rPr>
              <a:t>怒砸</a:t>
            </a:r>
            <a:r>
              <a:rPr lang="zh-CN" altLang="en-US" sz="3600" dirty="0" smtClean="0">
                <a:latin typeface="楷体_GB2312" pitchFamily="49" charset="-122"/>
                <a:ea typeface="楷体_GB2312" pitchFamily="49" charset="-122"/>
              </a:rPr>
              <a:t>冰箱的张瑞敏</a:t>
            </a:r>
            <a:endParaRPr lang="en-US" altLang="zh-CN" sz="3600" dirty="0" smtClean="0">
              <a:latin typeface="楷体_GB2312" pitchFamily="49" charset="-122"/>
              <a:ea typeface="楷体_GB2312" pitchFamily="49" charset="-122"/>
            </a:endParaRPr>
          </a:p>
          <a:p>
            <a:pPr>
              <a:lnSpc>
                <a:spcPct val="150000"/>
              </a:lnSpc>
            </a:pPr>
            <a:r>
              <a:rPr lang="zh-CN" altLang="en-US" sz="3600" dirty="0">
                <a:latin typeface="楷体_GB2312" pitchFamily="49" charset="-122"/>
                <a:ea typeface="楷体_GB2312" pitchFamily="49" charset="-122"/>
              </a:rPr>
              <a:t>帝</a:t>
            </a:r>
            <a:r>
              <a:rPr lang="zh-CN" altLang="en-US" sz="3600" dirty="0" smtClean="0">
                <a:latin typeface="楷体_GB2312" pitchFamily="49" charset="-122"/>
                <a:ea typeface="楷体_GB2312" pitchFamily="49" charset="-122"/>
              </a:rPr>
              <a:t>樽空调横空出世</a:t>
            </a:r>
            <a:endParaRPr lang="zh-CN" altLang="en-US" sz="3600" dirty="0">
              <a:latin typeface="楷体_GB2312" pitchFamily="49" charset="-122"/>
              <a:ea typeface="楷体_GB2312" pitchFamily="49"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3861048"/>
            <a:ext cx="3810000"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1484784"/>
            <a:ext cx="3810000"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16181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2060848"/>
            <a:ext cx="8305800" cy="3672408"/>
          </a:xfrm>
        </p:spPr>
        <p:txBody>
          <a:bodyPr/>
          <a:lstStyle/>
          <a:p>
            <a:r>
              <a:rPr lang="zh-CN" altLang="zh-CN" sz="3200" b="1" dirty="0">
                <a:latin typeface="楷体_GB2312" pitchFamily="49" charset="-122"/>
                <a:ea typeface="楷体_GB2312" pitchFamily="49" charset="-122"/>
              </a:rPr>
              <a:t>《</a:t>
            </a:r>
            <a:r>
              <a:rPr lang="en-US" altLang="zh-CN" sz="3200" b="1" dirty="0" smtClean="0">
                <a:latin typeface="楷体_GB2312" pitchFamily="49" charset="-122"/>
                <a:ea typeface="楷体_GB2312" pitchFamily="49" charset="-122"/>
              </a:rPr>
              <a:t>2012</a:t>
            </a:r>
            <a:r>
              <a:rPr lang="zh-CN" altLang="zh-CN" sz="3200" b="1" dirty="0" smtClean="0">
                <a:latin typeface="楷体_GB2312" pitchFamily="49" charset="-122"/>
                <a:ea typeface="楷体_GB2312" pitchFamily="49" charset="-122"/>
              </a:rPr>
              <a:t>年度</a:t>
            </a:r>
            <a:r>
              <a:rPr lang="zh-CN" altLang="zh-CN" sz="3200" b="1" dirty="0">
                <a:latin typeface="楷体_GB2312" pitchFamily="49" charset="-122"/>
                <a:ea typeface="楷体_GB2312" pitchFamily="49" charset="-122"/>
              </a:rPr>
              <a:t>中国空调市场白皮书》的数据显示：</a:t>
            </a:r>
            <a:r>
              <a:rPr lang="en-US" altLang="zh-CN" sz="3200" dirty="0">
                <a:latin typeface="楷体_GB2312" pitchFamily="49" charset="-122"/>
                <a:ea typeface="楷体_GB2312" pitchFamily="49" charset="-122"/>
              </a:rPr>
              <a:t>2010</a:t>
            </a:r>
            <a:r>
              <a:rPr lang="zh-CN" altLang="zh-CN" sz="3200" dirty="0">
                <a:latin typeface="楷体_GB2312" pitchFamily="49" charset="-122"/>
                <a:ea typeface="楷体_GB2312" pitchFamily="49" charset="-122"/>
              </a:rPr>
              <a:t>年国内空调市场销售量同比增长</a:t>
            </a:r>
            <a:r>
              <a:rPr lang="en-US" altLang="zh-CN" sz="3200" dirty="0">
                <a:latin typeface="楷体_GB2312" pitchFamily="49" charset="-122"/>
                <a:ea typeface="楷体_GB2312" pitchFamily="49" charset="-122"/>
              </a:rPr>
              <a:t>31.45%</a:t>
            </a:r>
            <a:r>
              <a:rPr lang="zh-CN" altLang="zh-CN" sz="3200" dirty="0">
                <a:latin typeface="楷体_GB2312" pitchFamily="49" charset="-122"/>
                <a:ea typeface="楷体_GB2312" pitchFamily="49" charset="-122"/>
              </a:rPr>
              <a:t>，销售额同比增长</a:t>
            </a:r>
            <a:r>
              <a:rPr lang="en-US" altLang="zh-CN" sz="3200" dirty="0">
                <a:latin typeface="楷体_GB2312" pitchFamily="49" charset="-122"/>
                <a:ea typeface="楷体_GB2312" pitchFamily="49" charset="-122"/>
              </a:rPr>
              <a:t>24.13%</a:t>
            </a:r>
            <a:r>
              <a:rPr lang="zh-CN" altLang="zh-CN" sz="3200" dirty="0">
                <a:latin typeface="楷体_GB2312" pitchFamily="49" charset="-122"/>
                <a:ea typeface="楷体_GB2312" pitchFamily="49" charset="-122"/>
              </a:rPr>
              <a:t>；</a:t>
            </a:r>
            <a:r>
              <a:rPr lang="en-US" altLang="zh-CN" sz="3200" dirty="0">
                <a:latin typeface="楷体_GB2312" pitchFamily="49" charset="-122"/>
                <a:ea typeface="楷体_GB2312" pitchFamily="49" charset="-122"/>
              </a:rPr>
              <a:t>2011</a:t>
            </a:r>
            <a:r>
              <a:rPr lang="zh-CN" altLang="zh-CN" sz="3200" dirty="0">
                <a:latin typeface="楷体_GB2312" pitchFamily="49" charset="-122"/>
                <a:ea typeface="楷体_GB2312" pitchFamily="49" charset="-122"/>
              </a:rPr>
              <a:t>年，国内重点城市空调器销售量同比增长</a:t>
            </a:r>
            <a:r>
              <a:rPr lang="en-US" altLang="zh-CN" sz="3200" dirty="0">
                <a:latin typeface="楷体_GB2312" pitchFamily="49" charset="-122"/>
                <a:ea typeface="楷体_GB2312" pitchFamily="49" charset="-122"/>
              </a:rPr>
              <a:t>20.45%</a:t>
            </a:r>
            <a:r>
              <a:rPr lang="zh-CN" altLang="zh-CN" sz="3200" dirty="0">
                <a:latin typeface="楷体_GB2312" pitchFamily="49" charset="-122"/>
                <a:ea typeface="楷体_GB2312" pitchFamily="49" charset="-122"/>
              </a:rPr>
              <a:t>，销售额同比增长</a:t>
            </a:r>
            <a:r>
              <a:rPr lang="en-US" altLang="zh-CN" sz="3200" dirty="0">
                <a:latin typeface="楷体_GB2312" pitchFamily="49" charset="-122"/>
                <a:ea typeface="楷体_GB2312" pitchFamily="49" charset="-122"/>
              </a:rPr>
              <a:t>28.64%</a:t>
            </a:r>
            <a:r>
              <a:rPr lang="zh-CN" altLang="zh-CN" sz="3200" dirty="0">
                <a:latin typeface="楷体_GB2312" pitchFamily="49" charset="-122"/>
                <a:ea typeface="楷体_GB2312" pitchFamily="49" charset="-122"/>
              </a:rPr>
              <a:t>；</a:t>
            </a:r>
            <a:r>
              <a:rPr lang="zh-CN" altLang="zh-CN" sz="3200" b="1" dirty="0">
                <a:latin typeface="楷体_GB2312" pitchFamily="49" charset="-122"/>
                <a:ea typeface="楷体_GB2312" pitchFamily="49" charset="-122"/>
              </a:rPr>
              <a:t>而</a:t>
            </a:r>
            <a:r>
              <a:rPr lang="en-US" altLang="zh-CN" sz="3200" b="1" dirty="0">
                <a:latin typeface="楷体_GB2312" pitchFamily="49" charset="-122"/>
                <a:ea typeface="楷体_GB2312" pitchFamily="49" charset="-122"/>
              </a:rPr>
              <a:t>2012</a:t>
            </a:r>
            <a:r>
              <a:rPr lang="zh-CN" altLang="zh-CN" sz="3200" b="1" dirty="0">
                <a:latin typeface="楷体_GB2312" pitchFamily="49" charset="-122"/>
                <a:ea typeface="楷体_GB2312" pitchFamily="49" charset="-122"/>
              </a:rPr>
              <a:t>年，国内空调市场销售量同比下滑</a:t>
            </a:r>
            <a:r>
              <a:rPr lang="en-US" altLang="zh-CN" sz="3200" b="1" dirty="0">
                <a:latin typeface="楷体_GB2312" pitchFamily="49" charset="-122"/>
                <a:ea typeface="楷体_GB2312" pitchFamily="49" charset="-122"/>
              </a:rPr>
              <a:t>25.12%</a:t>
            </a:r>
            <a:r>
              <a:rPr lang="zh-CN" altLang="zh-CN" sz="3200" b="1" dirty="0">
                <a:latin typeface="楷体_GB2312" pitchFamily="49" charset="-122"/>
                <a:ea typeface="楷体_GB2312" pitchFamily="49" charset="-122"/>
              </a:rPr>
              <a:t>，销售额同比下滑</a:t>
            </a:r>
            <a:r>
              <a:rPr lang="en-US" altLang="zh-CN" sz="3200" b="1" dirty="0">
                <a:latin typeface="楷体_GB2312" pitchFamily="49" charset="-122"/>
                <a:ea typeface="楷体_GB2312" pitchFamily="49" charset="-122"/>
              </a:rPr>
              <a:t>19.36%</a:t>
            </a:r>
            <a:r>
              <a:rPr lang="zh-CN" altLang="zh-CN" sz="3200" b="1" dirty="0">
                <a:latin typeface="楷体_GB2312" pitchFamily="49" charset="-122"/>
                <a:ea typeface="楷体_GB2312" pitchFamily="49" charset="-122"/>
              </a:rPr>
              <a:t>。</a:t>
            </a:r>
            <a:endParaRPr lang="zh-CN" altLang="en-US" sz="3200" b="1" dirty="0">
              <a:latin typeface="楷体_GB2312" pitchFamily="49" charset="-122"/>
              <a:ea typeface="楷体_GB2312" pitchFamily="49" charset="-122"/>
            </a:endParaRPr>
          </a:p>
        </p:txBody>
      </p:sp>
      <p:sp>
        <p:nvSpPr>
          <p:cNvPr id="4" name="标题 1"/>
          <p:cNvSpPr txBox="1">
            <a:spLocks/>
          </p:cNvSpPr>
          <p:nvPr/>
        </p:nvSpPr>
        <p:spPr bwMode="auto">
          <a:xfrm>
            <a:off x="381000" y="457200"/>
            <a:ext cx="5919192" cy="11430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smtClean="0">
                <a:latin typeface="幼圆" pitchFamily="49" charset="-122"/>
                <a:ea typeface="幼圆" pitchFamily="49" charset="-122"/>
              </a:rPr>
              <a:t>案例：海尔的产品创新</a:t>
            </a:r>
            <a:endParaRPr lang="zh-CN" altLang="en-US" b="1" dirty="0">
              <a:latin typeface="幼圆" pitchFamily="49" charset="-122"/>
              <a:ea typeface="幼圆" pitchFamily="49" charset="-122"/>
            </a:endParaRPr>
          </a:p>
        </p:txBody>
      </p:sp>
    </p:spTree>
    <p:extLst>
      <p:ext uri="{BB962C8B-B14F-4D97-AF65-F5344CB8AC3E}">
        <p14:creationId xmlns:p14="http://schemas.microsoft.com/office/powerpoint/2010/main" val="28511799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5292080" y="1340768"/>
            <a:ext cx="3394720" cy="4824536"/>
          </a:xfrm>
        </p:spPr>
        <p:txBody>
          <a:bodyPr/>
          <a:lstStyle/>
          <a:p>
            <a:pPr marL="0" indent="0">
              <a:buNone/>
            </a:pPr>
            <a:r>
              <a:rPr lang="en-US" altLang="zh-CN" b="1" dirty="0" smtClean="0">
                <a:latin typeface="楷体_GB2312" pitchFamily="49" charset="-122"/>
                <a:ea typeface="楷体_GB2312" pitchFamily="49" charset="-122"/>
              </a:rPr>
              <a:t>    </a:t>
            </a:r>
            <a:r>
              <a:rPr lang="en-US" altLang="zh-CN" sz="2800" b="1" dirty="0" smtClean="0">
                <a:latin typeface="楷体_GB2312" pitchFamily="49" charset="-122"/>
                <a:ea typeface="楷体_GB2312" pitchFamily="49" charset="-122"/>
              </a:rPr>
              <a:t>2012</a:t>
            </a:r>
            <a:r>
              <a:rPr lang="zh-CN" altLang="zh-CN" sz="2800" b="1" dirty="0" smtClean="0">
                <a:latin typeface="楷体_GB2312" pitchFamily="49" charset="-122"/>
                <a:ea typeface="楷体_GB2312" pitchFamily="49" charset="-122"/>
              </a:rPr>
              <a:t>年，</a:t>
            </a:r>
            <a:r>
              <a:rPr lang="zh-CN" altLang="zh-CN" sz="2800" b="1" dirty="0">
                <a:latin typeface="楷体_GB2312" pitchFamily="49" charset="-122"/>
                <a:ea typeface="楷体_GB2312" pitchFamily="49" charset="-122"/>
              </a:rPr>
              <a:t>海尔改变产品研发方式，推出了帝樽空调</a:t>
            </a:r>
            <a:r>
              <a:rPr lang="zh-CN"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售价一般在</a:t>
            </a:r>
            <a:r>
              <a:rPr lang="en-US" altLang="zh-CN" sz="2800" b="1" dirty="0" smtClean="0">
                <a:latin typeface="楷体_GB2312" pitchFamily="49" charset="-122"/>
                <a:ea typeface="楷体_GB2312" pitchFamily="49" charset="-122"/>
              </a:rPr>
              <a:t>9000</a:t>
            </a:r>
            <a:r>
              <a:rPr lang="zh-CN" altLang="en-US" sz="2800" b="1" dirty="0" smtClean="0">
                <a:latin typeface="楷体_GB2312" pitchFamily="49" charset="-122"/>
                <a:ea typeface="楷体_GB2312" pitchFamily="49" charset="-122"/>
              </a:rPr>
              <a:t>元以上，</a:t>
            </a:r>
            <a:r>
              <a:rPr lang="en-US" altLang="zh-CN" sz="2800" b="1" dirty="0" smtClean="0">
                <a:latin typeface="楷体_GB2312" pitchFamily="49" charset="-122"/>
                <a:ea typeface="楷体_GB2312" pitchFamily="49" charset="-122"/>
              </a:rPr>
              <a:t>10</a:t>
            </a:r>
            <a:r>
              <a:rPr lang="zh-CN" altLang="en-US" sz="2800" b="1" dirty="0" smtClean="0">
                <a:latin typeface="楷体_GB2312" pitchFamily="49" charset="-122"/>
                <a:ea typeface="楷体_GB2312" pitchFamily="49" charset="-122"/>
              </a:rPr>
              <a:t>万台很快脱销，</a:t>
            </a:r>
            <a:r>
              <a:rPr lang="zh-CN" altLang="zh-CN" sz="2800" b="1" dirty="0" smtClean="0">
                <a:latin typeface="楷体_GB2312" pitchFamily="49" charset="-122"/>
                <a:ea typeface="楷体_GB2312" pitchFamily="49" charset="-122"/>
              </a:rPr>
              <a:t>上市不久卖</a:t>
            </a:r>
            <a:r>
              <a:rPr lang="zh-CN" altLang="zh-CN" sz="2800" b="1" dirty="0">
                <a:latin typeface="楷体_GB2312" pitchFamily="49" charset="-122"/>
                <a:ea typeface="楷体_GB2312" pitchFamily="49" charset="-122"/>
              </a:rPr>
              <a:t>了</a:t>
            </a:r>
            <a:r>
              <a:rPr lang="en-US" altLang="zh-CN" sz="2800" b="1" dirty="0">
                <a:latin typeface="楷体_GB2312" pitchFamily="49" charset="-122"/>
                <a:ea typeface="楷体_GB2312" pitchFamily="49" charset="-122"/>
              </a:rPr>
              <a:t>10</a:t>
            </a:r>
            <a:r>
              <a:rPr lang="zh-CN" altLang="zh-CN" sz="2800" b="1" dirty="0">
                <a:latin typeface="楷体_GB2312" pitchFamily="49" charset="-122"/>
                <a:ea typeface="楷体_GB2312" pitchFamily="49" charset="-122"/>
              </a:rPr>
              <a:t>个亿</a:t>
            </a:r>
            <a:r>
              <a:rPr lang="zh-CN" altLang="zh-CN" sz="2800" b="1" dirty="0" smtClean="0">
                <a:latin typeface="楷体_GB2312" pitchFamily="49" charset="-122"/>
                <a:ea typeface="楷体_GB2312" pitchFamily="49" charset="-122"/>
              </a:rPr>
              <a:t>。帝</a:t>
            </a:r>
            <a:r>
              <a:rPr lang="zh-CN" altLang="zh-CN" sz="2800" b="1" dirty="0">
                <a:latin typeface="楷体_GB2312" pitchFamily="49" charset="-122"/>
                <a:ea typeface="楷体_GB2312" pitchFamily="49" charset="-122"/>
              </a:rPr>
              <a:t>樽空调是第一款圆形柜机，成为行业标杆，引领了行业发展，竞争对手纷纷效仿。</a:t>
            </a:r>
            <a:endParaRPr lang="zh-CN" altLang="en-US" sz="2800" b="1" dirty="0">
              <a:latin typeface="楷体_GB2312" pitchFamily="49" charset="-122"/>
              <a:ea typeface="楷体_GB2312"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63" y="1268760"/>
            <a:ext cx="4824536" cy="5373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a:spLocks/>
          </p:cNvSpPr>
          <p:nvPr/>
        </p:nvSpPr>
        <p:spPr bwMode="auto">
          <a:xfrm>
            <a:off x="390563" y="164091"/>
            <a:ext cx="5919192" cy="1032661"/>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幼圆" pitchFamily="49" charset="-122"/>
                <a:ea typeface="幼圆" pitchFamily="49" charset="-122"/>
              </a:rPr>
              <a:t>案例：海尔的产品创新</a:t>
            </a:r>
            <a:endParaRPr lang="zh-CN" altLang="en-US" b="1" dirty="0">
              <a:latin typeface="幼圆" pitchFamily="49" charset="-122"/>
              <a:ea typeface="幼圆" pitchFamily="49" charset="-122"/>
            </a:endParaRPr>
          </a:p>
        </p:txBody>
      </p:sp>
    </p:spTree>
    <p:extLst>
      <p:ext uri="{BB962C8B-B14F-4D97-AF65-F5344CB8AC3E}">
        <p14:creationId xmlns:p14="http://schemas.microsoft.com/office/powerpoint/2010/main" val="15081367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187624" y="1101058"/>
            <a:ext cx="7427168" cy="2952328"/>
          </a:xfrm>
        </p:spPr>
        <p:txBody>
          <a:bodyPr/>
          <a:lstStyle/>
          <a:p>
            <a:r>
              <a:rPr lang="zh-CN" altLang="en-US" sz="3200" b="1" dirty="0" smtClean="0">
                <a:latin typeface="楷体_GB2312" pitchFamily="49" charset="-122"/>
                <a:ea typeface="楷体_GB2312" pitchFamily="49" charset="-122"/>
              </a:rPr>
              <a:t>用户体验引领设计</a:t>
            </a:r>
            <a:endParaRPr lang="en-US" altLang="zh-CN" sz="3200" b="1" dirty="0" smtClean="0">
              <a:latin typeface="楷体_GB2312" pitchFamily="49" charset="-122"/>
              <a:ea typeface="楷体_GB2312" pitchFamily="49" charset="-122"/>
            </a:endParaRPr>
          </a:p>
          <a:p>
            <a:r>
              <a:rPr lang="zh-CN" altLang="en-US" sz="3200" b="1" dirty="0" smtClean="0">
                <a:latin typeface="楷体_GB2312" pitchFamily="49" charset="-122"/>
                <a:ea typeface="楷体_GB2312" pitchFamily="49" charset="-122"/>
              </a:rPr>
              <a:t>让用户参与产品设计</a:t>
            </a:r>
            <a:endParaRPr lang="en-US" altLang="zh-CN" sz="3200" b="1" dirty="0" smtClean="0">
              <a:latin typeface="楷体_GB2312" pitchFamily="49" charset="-122"/>
              <a:ea typeface="楷体_GB2312" pitchFamily="49" charset="-122"/>
            </a:endParaRPr>
          </a:p>
          <a:p>
            <a:r>
              <a:rPr lang="zh-CN" altLang="en-US" sz="3200" b="1" dirty="0" smtClean="0">
                <a:latin typeface="楷体_GB2312" pitchFamily="49" charset="-122"/>
                <a:ea typeface="楷体_GB2312" pitchFamily="49" charset="-122"/>
              </a:rPr>
              <a:t>与供应商共创价值</a:t>
            </a:r>
            <a:endParaRPr lang="en-US" altLang="zh-CN" sz="3200" b="1" dirty="0" smtClean="0">
              <a:latin typeface="楷体_GB2312" pitchFamily="49" charset="-122"/>
              <a:ea typeface="楷体_GB2312" pitchFamily="49" charset="-122"/>
            </a:endParaRPr>
          </a:p>
          <a:p>
            <a:r>
              <a:rPr lang="zh-CN" altLang="en-US" sz="3200" b="1" dirty="0" smtClean="0">
                <a:latin typeface="楷体_GB2312" pitchFamily="49" charset="-122"/>
                <a:ea typeface="楷体_GB2312" pitchFamily="49" charset="-122"/>
              </a:rPr>
              <a:t>从躺着生产到站着生产</a:t>
            </a:r>
            <a:endParaRPr lang="zh-CN" altLang="en-US" sz="3200" b="1" dirty="0">
              <a:latin typeface="楷体_GB2312" pitchFamily="49" charset="-122"/>
              <a:ea typeface="楷体_GB2312" pitchFamily="49" charset="-122"/>
            </a:endParaRPr>
          </a:p>
        </p:txBody>
      </p:sp>
      <p:sp>
        <p:nvSpPr>
          <p:cNvPr id="4" name="标题 1"/>
          <p:cNvSpPr txBox="1">
            <a:spLocks/>
          </p:cNvSpPr>
          <p:nvPr/>
        </p:nvSpPr>
        <p:spPr bwMode="auto">
          <a:xfrm>
            <a:off x="409333" y="62292"/>
            <a:ext cx="5919192" cy="1032661"/>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幼圆" pitchFamily="49" charset="-122"/>
                <a:ea typeface="幼圆" pitchFamily="49" charset="-122"/>
              </a:rPr>
              <a:t>案例：海尔的产品创新</a:t>
            </a:r>
            <a:endParaRPr lang="zh-CN" altLang="en-US" b="1" dirty="0">
              <a:latin typeface="幼圆" pitchFamily="49" charset="-122"/>
              <a:ea typeface="幼圆" pitchFamily="49" charset="-122"/>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45" y="3573016"/>
            <a:ext cx="4263431" cy="3149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3573016"/>
            <a:ext cx="4459690" cy="3149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83062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934" y="1340768"/>
            <a:ext cx="8305800" cy="2328664"/>
          </a:xfrm>
        </p:spPr>
        <p:txBody>
          <a:bodyPr/>
          <a:lstStyle/>
          <a:p>
            <a:r>
              <a:rPr lang="en-US" altLang="zh-CN" b="1" kern="100" dirty="0">
                <a:latin typeface="楷体_GB2312" pitchFamily="49" charset="-122"/>
                <a:ea typeface="楷体_GB2312" pitchFamily="49" charset="-122"/>
                <a:cs typeface="黑体"/>
              </a:rPr>
              <a:t>2002</a:t>
            </a:r>
            <a:r>
              <a:rPr lang="zh-CN" altLang="zh-CN" b="1" kern="100" dirty="0">
                <a:latin typeface="楷体_GB2312" pitchFamily="49" charset="-122"/>
                <a:ea typeface="楷体_GB2312" pitchFamily="49" charset="-122"/>
                <a:cs typeface="黑体"/>
              </a:rPr>
              <a:t>年</a:t>
            </a:r>
            <a:r>
              <a:rPr lang="en-US" altLang="zh-CN" b="1" kern="100" dirty="0">
                <a:latin typeface="楷体_GB2312" pitchFamily="49" charset="-122"/>
                <a:ea typeface="楷体_GB2312" pitchFamily="49" charset="-122"/>
                <a:cs typeface="黑体"/>
              </a:rPr>
              <a:t>7</a:t>
            </a:r>
            <a:r>
              <a:rPr lang="zh-CN" altLang="zh-CN" b="1" kern="100" dirty="0">
                <a:latin typeface="楷体_GB2312" pitchFamily="49" charset="-122"/>
                <a:ea typeface="楷体_GB2312" pitchFamily="49" charset="-122"/>
                <a:cs typeface="黑体"/>
              </a:rPr>
              <a:t>月</a:t>
            </a:r>
            <a:r>
              <a:rPr lang="en-US" altLang="zh-CN" b="1" kern="100" dirty="0">
                <a:latin typeface="楷体_GB2312" pitchFamily="49" charset="-122"/>
                <a:ea typeface="楷体_GB2312" pitchFamily="49" charset="-122"/>
                <a:cs typeface="黑体"/>
              </a:rPr>
              <a:t>19</a:t>
            </a:r>
            <a:r>
              <a:rPr lang="zh-CN" altLang="zh-CN" b="1" kern="100" dirty="0">
                <a:latin typeface="楷体_GB2312" pitchFamily="49" charset="-122"/>
                <a:ea typeface="楷体_GB2312" pitchFamily="49" charset="-122"/>
                <a:cs typeface="黑体"/>
              </a:rPr>
              <a:t>日，河南郑州的特大雹灾，将一汽集团郑州销售公司刚售出的</a:t>
            </a:r>
            <a:r>
              <a:rPr lang="en-US" altLang="zh-CN" b="1" kern="100" dirty="0">
                <a:latin typeface="楷体_GB2312" pitchFamily="49" charset="-122"/>
                <a:ea typeface="楷体_GB2312" pitchFamily="49" charset="-122"/>
                <a:cs typeface="黑体"/>
              </a:rPr>
              <a:t>178</a:t>
            </a:r>
            <a:r>
              <a:rPr lang="zh-CN" altLang="zh-CN" b="1" kern="100" dirty="0">
                <a:latin typeface="楷体_GB2312" pitchFamily="49" charset="-122"/>
                <a:ea typeface="楷体_GB2312" pitchFamily="49" charset="-122"/>
                <a:cs typeface="黑体"/>
              </a:rPr>
              <a:t>辆轿车砸出了许多凹坑，有的“重伤”车辆“伤口”竟然多达</a:t>
            </a:r>
            <a:r>
              <a:rPr lang="en-US" altLang="zh-CN" b="1" kern="100" dirty="0">
                <a:latin typeface="楷体_GB2312" pitchFamily="49" charset="-122"/>
                <a:ea typeface="楷体_GB2312" pitchFamily="49" charset="-122"/>
                <a:cs typeface="黑体"/>
              </a:rPr>
              <a:t>20</a:t>
            </a:r>
            <a:r>
              <a:rPr lang="zh-CN" altLang="zh-CN" b="1" kern="100" dirty="0">
                <a:latin typeface="楷体_GB2312" pitchFamily="49" charset="-122"/>
                <a:ea typeface="楷体_GB2312" pitchFamily="49" charset="-122"/>
                <a:cs typeface="黑体"/>
              </a:rPr>
              <a:t>多处。修复这些车需要使用当时最顶尖的德国式不用泥子打底的车身修复工艺，只有“中国钣金王”王洪军会这项技术。仅用</a:t>
            </a:r>
            <a:r>
              <a:rPr lang="en-US" altLang="zh-CN" b="1" kern="100" dirty="0">
                <a:latin typeface="楷体_GB2312" pitchFamily="49" charset="-122"/>
                <a:ea typeface="楷体_GB2312" pitchFamily="49" charset="-122"/>
                <a:cs typeface="黑体"/>
              </a:rPr>
              <a:t>18</a:t>
            </a:r>
            <a:r>
              <a:rPr lang="zh-CN" altLang="zh-CN" b="1" kern="100" dirty="0">
                <a:latin typeface="楷体_GB2312" pitchFamily="49" charset="-122"/>
                <a:ea typeface="楷体_GB2312" pitchFamily="49" charset="-122"/>
                <a:cs typeface="黑体"/>
              </a:rPr>
              <a:t>天时间，王洪军带着</a:t>
            </a:r>
            <a:r>
              <a:rPr lang="en-US" altLang="zh-CN" b="1" kern="100" dirty="0">
                <a:latin typeface="楷体_GB2312" pitchFamily="49" charset="-122"/>
                <a:ea typeface="楷体_GB2312" pitchFamily="49" charset="-122"/>
                <a:cs typeface="黑体"/>
              </a:rPr>
              <a:t>6</a:t>
            </a:r>
            <a:r>
              <a:rPr lang="zh-CN" altLang="zh-CN" b="1" kern="100" dirty="0">
                <a:latin typeface="楷体_GB2312" pitchFamily="49" charset="-122"/>
                <a:ea typeface="楷体_GB2312" pitchFamily="49" charset="-122"/>
                <a:cs typeface="黑体"/>
              </a:rPr>
              <a:t>个钣金工就让这批受灾轿车修复如初</a:t>
            </a:r>
            <a:r>
              <a:rPr lang="zh-CN" altLang="zh-CN" b="1" kern="100" dirty="0" smtClean="0">
                <a:latin typeface="楷体_GB2312" pitchFamily="49" charset="-122"/>
                <a:ea typeface="楷体_GB2312" pitchFamily="49" charset="-122"/>
                <a:cs typeface="黑体"/>
              </a:rPr>
              <a:t>。</a:t>
            </a:r>
            <a:endParaRPr lang="zh-CN" altLang="en-US" b="1" dirty="0">
              <a:latin typeface="楷体_GB2312" pitchFamily="49" charset="-122"/>
              <a:ea typeface="楷体_GB2312" pitchFamily="49" charset="-122"/>
            </a:endParaRPr>
          </a:p>
        </p:txBody>
      </p:sp>
      <p:sp>
        <p:nvSpPr>
          <p:cNvPr id="4" name="标题 1"/>
          <p:cNvSpPr txBox="1">
            <a:spLocks/>
          </p:cNvSpPr>
          <p:nvPr/>
        </p:nvSpPr>
        <p:spPr bwMode="auto">
          <a:xfrm>
            <a:off x="409332" y="188640"/>
            <a:ext cx="6970979" cy="1032661"/>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幼圆" pitchFamily="49" charset="-122"/>
                <a:ea typeface="幼圆" pitchFamily="49" charset="-122"/>
              </a:rPr>
              <a:t>工艺创新：钣金之王王洪军</a:t>
            </a:r>
            <a:endParaRPr lang="zh-CN" altLang="en-US" b="1" dirty="0">
              <a:latin typeface="幼圆" pitchFamily="49" charset="-122"/>
              <a:ea typeface="幼圆" pitchFamily="49" charset="-122"/>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332" y="3789040"/>
            <a:ext cx="4090660"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3789040"/>
            <a:ext cx="3816424"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34947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51520" y="1541371"/>
            <a:ext cx="3407907" cy="4680520"/>
          </a:xfrm>
        </p:spPr>
        <p:txBody>
          <a:bodyPr/>
          <a:lstStyle/>
          <a:p>
            <a:r>
              <a:rPr lang="en-US" altLang="zh-CN" sz="2800" b="1" kern="100" dirty="0">
                <a:latin typeface="楷体_GB2312" pitchFamily="49" charset="-122"/>
                <a:ea typeface="楷体_GB2312" pitchFamily="49" charset="-122"/>
                <a:cs typeface="黑体"/>
              </a:rPr>
              <a:t>2006</a:t>
            </a:r>
            <a:r>
              <a:rPr lang="zh-CN" altLang="zh-CN" sz="2800" b="1" kern="100" dirty="0">
                <a:latin typeface="楷体_GB2312" pitchFamily="49" charset="-122"/>
                <a:ea typeface="楷体_GB2312" pitchFamily="49" charset="-122"/>
                <a:cs typeface="黑体"/>
              </a:rPr>
              <a:t>年，一汽集团钣金工王红军创立的“王洪军轿车钣金快速修复法”从</a:t>
            </a:r>
            <a:r>
              <a:rPr lang="en-US" altLang="zh-CN" sz="2800" b="1" kern="100" dirty="0">
                <a:latin typeface="楷体_GB2312" pitchFamily="49" charset="-122"/>
                <a:ea typeface="楷体_GB2312" pitchFamily="49" charset="-122"/>
                <a:cs typeface="黑体"/>
              </a:rPr>
              <a:t>1000</a:t>
            </a:r>
            <a:r>
              <a:rPr lang="zh-CN" altLang="zh-CN" sz="2800" b="1" kern="100" dirty="0">
                <a:latin typeface="楷体_GB2312" pitchFamily="49" charset="-122"/>
                <a:ea typeface="楷体_GB2312" pitchFamily="49" charset="-122"/>
                <a:cs typeface="黑体"/>
              </a:rPr>
              <a:t>多个候选项目中脱颖而出，获得国家科学技术进步二等奖，这是我国技术工人第一次获得此类大奖。</a:t>
            </a:r>
            <a:endParaRPr lang="zh-CN" altLang="en-US" sz="2800" b="1" dirty="0">
              <a:latin typeface="楷体_GB2312" pitchFamily="49" charset="-122"/>
              <a:ea typeface="楷体_GB2312" pitchFamily="49" charset="-122"/>
            </a:endParaRPr>
          </a:p>
          <a:p>
            <a:endParaRPr lang="zh-CN"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912" y="1556792"/>
            <a:ext cx="5040560"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a:spLocks/>
          </p:cNvSpPr>
          <p:nvPr/>
        </p:nvSpPr>
        <p:spPr bwMode="auto">
          <a:xfrm>
            <a:off x="409332" y="188640"/>
            <a:ext cx="6970979" cy="1032661"/>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幼圆" pitchFamily="49" charset="-122"/>
                <a:ea typeface="幼圆" pitchFamily="49" charset="-122"/>
              </a:rPr>
              <a:t>工艺创新：钣金之王王洪军</a:t>
            </a:r>
            <a:endParaRPr lang="zh-CN" altLang="en-US" b="1" dirty="0">
              <a:latin typeface="幼圆" pitchFamily="49" charset="-122"/>
              <a:ea typeface="幼圆" pitchFamily="49" charset="-122"/>
            </a:endParaRPr>
          </a:p>
        </p:txBody>
      </p:sp>
    </p:spTree>
    <p:extLst>
      <p:ext uri="{BB962C8B-B14F-4D97-AF65-F5344CB8AC3E}">
        <p14:creationId xmlns:p14="http://schemas.microsoft.com/office/powerpoint/2010/main" val="7914255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51520" y="1541371"/>
            <a:ext cx="4248472" cy="4335901"/>
          </a:xfrm>
        </p:spPr>
        <p:txBody>
          <a:bodyPr/>
          <a:lstStyle/>
          <a:p>
            <a:r>
              <a:rPr lang="zh-CN" altLang="en-US" sz="2800" dirty="0"/>
              <a:t>榫卯（</a:t>
            </a:r>
            <a:r>
              <a:rPr lang="en-US" altLang="zh-CN" sz="2800" dirty="0" err="1"/>
              <a:t>sǔn</a:t>
            </a:r>
            <a:r>
              <a:rPr lang="en-US" altLang="zh-CN" sz="2800" dirty="0"/>
              <a:t> </a:t>
            </a:r>
            <a:r>
              <a:rPr lang="en-US" altLang="zh-CN" sz="2800" dirty="0" err="1"/>
              <a:t>mǎo</a:t>
            </a:r>
            <a:r>
              <a:rPr lang="zh-CN" altLang="en-US" sz="2800" dirty="0"/>
              <a:t>），是古代中国建筑、家具及其它器械的主要</a:t>
            </a:r>
            <a:r>
              <a:rPr lang="zh-CN" altLang="en-US" sz="2800" b="1" dirty="0"/>
              <a:t>结构方式，</a:t>
            </a:r>
            <a:r>
              <a:rPr lang="zh-CN" altLang="en-US" sz="2800" dirty="0"/>
              <a:t>是在两个构件上采用凹凸部位相结合的一种连接方式。凸出部分</a:t>
            </a:r>
            <a:r>
              <a:rPr lang="zh-CN" altLang="en-US" sz="2800" dirty="0" smtClean="0"/>
              <a:t>叫榫（</a:t>
            </a:r>
            <a:r>
              <a:rPr lang="zh-CN" altLang="en-US" sz="2800" dirty="0"/>
              <a:t>或叫榫头）；凹进部分</a:t>
            </a:r>
            <a:r>
              <a:rPr lang="zh-CN" altLang="en-US" sz="2800" dirty="0" smtClean="0"/>
              <a:t>叫卯（</a:t>
            </a:r>
            <a:r>
              <a:rPr lang="zh-CN" altLang="en-US" sz="2800" dirty="0"/>
              <a:t>或叫榫眼、榫槽）。</a:t>
            </a:r>
            <a:endParaRPr lang="zh-CN" altLang="en-US" dirty="0"/>
          </a:p>
        </p:txBody>
      </p:sp>
      <p:sp>
        <p:nvSpPr>
          <p:cNvPr id="5" name="标题 1"/>
          <p:cNvSpPr txBox="1">
            <a:spLocks/>
          </p:cNvSpPr>
          <p:nvPr/>
        </p:nvSpPr>
        <p:spPr bwMode="auto">
          <a:xfrm>
            <a:off x="409332" y="188640"/>
            <a:ext cx="6970979" cy="1032661"/>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幼圆" pitchFamily="49" charset="-122"/>
                <a:ea typeface="幼圆" pitchFamily="49" charset="-122"/>
              </a:rPr>
              <a:t>工艺创新：榫卯的艺术</a:t>
            </a:r>
            <a:endParaRPr lang="zh-CN" altLang="en-US" b="1" dirty="0">
              <a:latin typeface="幼圆" pitchFamily="49" charset="-122"/>
              <a:ea typeface="幼圆"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8322" y="1556792"/>
            <a:ext cx="3776126"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76788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文本占位符 2"/>
          <p:cNvSpPr>
            <a:spLocks noGrp="1"/>
          </p:cNvSpPr>
          <p:nvPr>
            <p:ph type="body" idx="1"/>
          </p:nvPr>
        </p:nvSpPr>
        <p:spPr/>
        <p:txBody>
          <a:bodyPr/>
          <a:lstStyle/>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2009" y="67390"/>
            <a:ext cx="3591991" cy="298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3065" y="3048715"/>
            <a:ext cx="2674565" cy="3188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137" y="3048714"/>
            <a:ext cx="3290713" cy="3188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1" y="2739041"/>
            <a:ext cx="3135085" cy="3558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520" y="114300"/>
            <a:ext cx="5300489" cy="259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86418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1700808"/>
            <a:ext cx="8583488" cy="4272880"/>
          </a:xfrm>
        </p:spPr>
        <p:txBody>
          <a:bodyPr/>
          <a:lstStyle/>
          <a:p>
            <a:pPr>
              <a:lnSpc>
                <a:spcPct val="120000"/>
              </a:lnSpc>
            </a:pPr>
            <a:r>
              <a:rPr lang="zh-CN" altLang="en-US" sz="2800" b="1" dirty="0" smtClean="0">
                <a:latin typeface="楷体_GB2312" pitchFamily="49" charset="-122"/>
                <a:ea typeface="楷体_GB2312" pitchFamily="49" charset="-122"/>
              </a:rPr>
              <a:t>按创新内容分为：产品创新、工艺创新、技术扩散</a:t>
            </a:r>
            <a:r>
              <a:rPr lang="zh-CN" altLang="en-US" sz="2000" dirty="0" smtClean="0">
                <a:latin typeface="楷体_GB2312" pitchFamily="49" charset="-122"/>
                <a:ea typeface="楷体_GB2312" pitchFamily="49" charset="-122"/>
              </a:rPr>
              <a:t>（火药）</a:t>
            </a:r>
            <a:endParaRPr lang="en-US" altLang="zh-CN" sz="2000" dirty="0" smtClean="0">
              <a:latin typeface="楷体_GB2312" pitchFamily="49" charset="-122"/>
              <a:ea typeface="楷体_GB2312" pitchFamily="49" charset="-122"/>
            </a:endParaRPr>
          </a:p>
          <a:p>
            <a:pPr>
              <a:lnSpc>
                <a:spcPct val="120000"/>
              </a:lnSpc>
            </a:pPr>
            <a:r>
              <a:rPr lang="zh-CN" altLang="en-US" sz="2800" b="1" dirty="0">
                <a:latin typeface="楷体_GB2312" pitchFamily="49" charset="-122"/>
                <a:ea typeface="楷体_GB2312" pitchFamily="49" charset="-122"/>
              </a:rPr>
              <a:t>希克</a:t>
            </a:r>
            <a:r>
              <a:rPr lang="zh-CN" altLang="en-US" sz="2800" b="1" dirty="0" smtClean="0">
                <a:latin typeface="楷体_GB2312" pitchFamily="49" charset="-122"/>
                <a:ea typeface="楷体_GB2312" pitchFamily="49" charset="-122"/>
              </a:rPr>
              <a:t>斯分类：节省劳动的创新</a:t>
            </a:r>
            <a:r>
              <a:rPr lang="zh-CN" altLang="en-US" sz="2000" b="1" dirty="0" smtClean="0">
                <a:latin typeface="楷体_GB2312" pitchFamily="49" charset="-122"/>
                <a:ea typeface="楷体_GB2312" pitchFamily="49" charset="-122"/>
              </a:rPr>
              <a:t>（农业机械）</a:t>
            </a:r>
            <a:r>
              <a:rPr lang="zh-CN" altLang="en-US" sz="2800" b="1" dirty="0" smtClean="0">
                <a:latin typeface="楷体_GB2312" pitchFamily="49" charset="-122"/>
                <a:ea typeface="楷体_GB2312" pitchFamily="49" charset="-122"/>
              </a:rPr>
              <a:t>、节省资本的创新</a:t>
            </a:r>
            <a:r>
              <a:rPr lang="zh-CN" altLang="en-US" sz="2000" b="1" dirty="0" smtClean="0">
                <a:latin typeface="楷体_GB2312" pitchFamily="49" charset="-122"/>
                <a:ea typeface="楷体_GB2312" pitchFamily="49" charset="-122"/>
              </a:rPr>
              <a:t>（杂交水稻）</a:t>
            </a:r>
            <a:r>
              <a:rPr lang="zh-CN" altLang="en-US" sz="2800" b="1" dirty="0" smtClean="0">
                <a:latin typeface="楷体_GB2312" pitchFamily="49" charset="-122"/>
                <a:ea typeface="楷体_GB2312" pitchFamily="49" charset="-122"/>
              </a:rPr>
              <a:t>、中性（</a:t>
            </a:r>
            <a:r>
              <a:rPr lang="en-US" altLang="zh-CN" sz="2800" b="1" dirty="0" smtClean="0">
                <a:latin typeface="楷体_GB2312" pitchFamily="49" charset="-122"/>
                <a:ea typeface="楷体_GB2312" pitchFamily="49" charset="-122"/>
              </a:rPr>
              <a:t>Neutral</a:t>
            </a:r>
            <a:r>
              <a:rPr lang="zh-CN" altLang="en-US" sz="2800" b="1" dirty="0" smtClean="0">
                <a:latin typeface="楷体_GB2312" pitchFamily="49" charset="-122"/>
                <a:ea typeface="楷体_GB2312" pitchFamily="49" charset="-122"/>
              </a:rPr>
              <a:t>）技术创新</a:t>
            </a:r>
            <a:r>
              <a:rPr lang="zh-CN" altLang="en-US" sz="2000" dirty="0" smtClean="0">
                <a:latin typeface="楷体_GB2312" pitchFamily="49" charset="-122"/>
                <a:ea typeface="楷体_GB2312" pitchFamily="49" charset="-122"/>
              </a:rPr>
              <a:t>（</a:t>
            </a:r>
            <a:r>
              <a:rPr lang="zh-CN" altLang="en-US" sz="2000" dirty="0">
                <a:latin typeface="楷体_GB2312" pitchFamily="49" charset="-122"/>
                <a:ea typeface="楷体_GB2312" pitchFamily="49" charset="-122"/>
              </a:rPr>
              <a:t>同比例增加资本和劳动的边际</a:t>
            </a:r>
            <a:r>
              <a:rPr lang="zh-CN" altLang="en-US" sz="2000" dirty="0" smtClean="0">
                <a:latin typeface="楷体_GB2312" pitchFamily="49" charset="-122"/>
                <a:ea typeface="楷体_GB2312" pitchFamily="49" charset="-122"/>
              </a:rPr>
              <a:t>产品</a:t>
            </a:r>
            <a:r>
              <a:rPr lang="en-US" altLang="zh-CN" sz="2000" dirty="0" smtClean="0">
                <a:latin typeface="楷体_GB2312" pitchFamily="49" charset="-122"/>
                <a:ea typeface="楷体_GB2312" pitchFamily="49" charset="-122"/>
              </a:rPr>
              <a:t>-</a:t>
            </a:r>
            <a:r>
              <a:rPr lang="zh-CN" altLang="en-US" sz="2000" b="1" dirty="0" smtClean="0">
                <a:latin typeface="楷体_GB2312" pitchFamily="49" charset="-122"/>
                <a:ea typeface="楷体_GB2312" pitchFamily="49" charset="-122"/>
              </a:rPr>
              <a:t>无人机</a:t>
            </a:r>
            <a:r>
              <a:rPr lang="zh-CN" altLang="en-US" sz="2000" dirty="0" smtClean="0">
                <a:latin typeface="楷体_GB2312" pitchFamily="49" charset="-122"/>
                <a:ea typeface="楷体_GB2312" pitchFamily="49" charset="-122"/>
              </a:rPr>
              <a:t>）</a:t>
            </a:r>
            <a:endParaRPr lang="en-US" altLang="zh-CN" sz="2000" dirty="0">
              <a:latin typeface="楷体_GB2312" pitchFamily="49" charset="-122"/>
              <a:ea typeface="楷体_GB2312" pitchFamily="49" charset="-122"/>
            </a:endParaRPr>
          </a:p>
          <a:p>
            <a:pPr>
              <a:lnSpc>
                <a:spcPct val="120000"/>
              </a:lnSpc>
            </a:pPr>
            <a:r>
              <a:rPr lang="en-US" altLang="zh-CN" sz="2800" b="1" dirty="0" smtClean="0">
                <a:latin typeface="楷体_GB2312" pitchFamily="49" charset="-122"/>
                <a:ea typeface="楷体_GB2312" pitchFamily="49" charset="-122"/>
              </a:rPr>
              <a:t>SPRU</a:t>
            </a:r>
            <a:r>
              <a:rPr lang="zh-CN" altLang="en-US" sz="2000" b="1" dirty="0" smtClean="0">
                <a:latin typeface="楷体_GB2312" pitchFamily="49" charset="-122"/>
                <a:ea typeface="楷体_GB2312" pitchFamily="49" charset="-122"/>
              </a:rPr>
              <a:t>（英国苏克赛斯大学科学政策研究所）</a:t>
            </a:r>
            <a:r>
              <a:rPr lang="zh-CN" altLang="en-US" sz="2800" b="1" dirty="0" smtClean="0">
                <a:latin typeface="楷体_GB2312" pitchFamily="49" charset="-122"/>
                <a:ea typeface="楷体_GB2312" pitchFamily="49" charset="-122"/>
              </a:rPr>
              <a:t>分类：渐进式创新、突破性创新</a:t>
            </a:r>
            <a:r>
              <a:rPr lang="zh-CN" altLang="en-US" sz="2000" b="1" dirty="0" smtClean="0">
                <a:latin typeface="楷体_GB2312" pitchFamily="49" charset="-122"/>
                <a:ea typeface="楷体_GB2312" pitchFamily="49" charset="-122"/>
              </a:rPr>
              <a:t>（人工合成牛胰岛素</a:t>
            </a:r>
            <a:r>
              <a:rPr lang="en-US" altLang="zh-CN" sz="2000" b="1" dirty="0" smtClean="0">
                <a:latin typeface="楷体_GB2312" pitchFamily="49" charset="-122"/>
                <a:ea typeface="楷体_GB2312" pitchFamily="49" charset="-122"/>
              </a:rPr>
              <a:t>VS</a:t>
            </a:r>
            <a:r>
              <a:rPr lang="zh-CN" altLang="en-US" sz="2000" b="1" dirty="0" smtClean="0">
                <a:latin typeface="楷体_GB2312" pitchFamily="49" charset="-122"/>
                <a:ea typeface="楷体_GB2312" pitchFamily="49" charset="-122"/>
              </a:rPr>
              <a:t>屠呦呦）</a:t>
            </a:r>
            <a:r>
              <a:rPr lang="zh-CN" altLang="en-US" sz="2800" b="1" dirty="0" smtClean="0">
                <a:latin typeface="楷体_GB2312" pitchFamily="49" charset="-122"/>
                <a:ea typeface="楷体_GB2312" pitchFamily="49" charset="-122"/>
              </a:rPr>
              <a:t>、技术系统的变革</a:t>
            </a:r>
            <a:r>
              <a:rPr lang="zh-CN" altLang="en-US" sz="2000" b="1" dirty="0" smtClean="0">
                <a:latin typeface="楷体_GB2312" pitchFamily="49" charset="-122"/>
                <a:ea typeface="楷体_GB2312" pitchFamily="49" charset="-122"/>
              </a:rPr>
              <a:t>（铁路运输）</a:t>
            </a:r>
            <a:r>
              <a:rPr lang="zh-CN" altLang="en-US" sz="2800" b="1" dirty="0" smtClean="0">
                <a:latin typeface="楷体_GB2312" pitchFamily="49" charset="-122"/>
                <a:ea typeface="楷体_GB2312" pitchFamily="49" charset="-122"/>
              </a:rPr>
              <a:t>、技术</a:t>
            </a:r>
            <a:r>
              <a:rPr lang="en-US"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经济范式</a:t>
            </a:r>
            <a:r>
              <a:rPr lang="zh-CN" altLang="en-US" sz="2000" b="1" dirty="0" smtClean="0">
                <a:latin typeface="楷体_GB2312" pitchFamily="49" charset="-122"/>
                <a:ea typeface="楷体_GB2312" pitchFamily="49" charset="-122"/>
              </a:rPr>
              <a:t>（微电子）</a:t>
            </a:r>
            <a:r>
              <a:rPr lang="zh-CN" altLang="en-US" sz="2800" b="1" dirty="0" smtClean="0">
                <a:latin typeface="楷体_GB2312" pitchFamily="49" charset="-122"/>
                <a:ea typeface="楷体_GB2312" pitchFamily="49" charset="-122"/>
              </a:rPr>
              <a:t>的变更</a:t>
            </a:r>
            <a:endParaRPr lang="zh-CN" altLang="en-US" sz="2800" b="1" dirty="0">
              <a:latin typeface="楷体_GB2312" pitchFamily="49" charset="-122"/>
              <a:ea typeface="楷体_GB2312" pitchFamily="49" charset="-122"/>
            </a:endParaRPr>
          </a:p>
        </p:txBody>
      </p:sp>
      <p:sp>
        <p:nvSpPr>
          <p:cNvPr id="4" name="标题 1"/>
          <p:cNvSpPr txBox="1">
            <a:spLocks/>
          </p:cNvSpPr>
          <p:nvPr/>
        </p:nvSpPr>
        <p:spPr bwMode="auto">
          <a:xfrm>
            <a:off x="323528" y="260648"/>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二、技术创新的分类</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25300183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1676400"/>
            <a:ext cx="8305800" cy="4344888"/>
          </a:xfrm>
        </p:spPr>
        <p:txBody>
          <a:bodyPr/>
          <a:lstStyle/>
          <a:p>
            <a:r>
              <a:rPr lang="zh-CN" altLang="en-US" sz="2800" b="1" dirty="0">
                <a:latin typeface="楷体_GB2312" pitchFamily="49" charset="-122"/>
                <a:ea typeface="楷体_GB2312" pitchFamily="49" charset="-122"/>
              </a:rPr>
              <a:t>早在</a:t>
            </a:r>
            <a:r>
              <a:rPr lang="en-US" altLang="zh-CN" sz="2800" b="1" dirty="0">
                <a:latin typeface="楷体_GB2312" pitchFamily="49" charset="-122"/>
                <a:ea typeface="楷体_GB2312" pitchFamily="49" charset="-122"/>
              </a:rPr>
              <a:t>1948</a:t>
            </a:r>
            <a:r>
              <a:rPr lang="zh-CN" altLang="en-US" sz="2800" b="1" dirty="0">
                <a:latin typeface="楷体_GB2312" pitchFamily="49" charset="-122"/>
                <a:ea typeface="楷体_GB2312" pitchFamily="49" charset="-122"/>
              </a:rPr>
              <a:t>年，英国生物化学家桑格就选择了一种分子量小，但具有蛋白质全部结构特征</a:t>
            </a:r>
            <a:r>
              <a:rPr lang="zh-CN" altLang="en-US" sz="2800" b="1" dirty="0" smtClean="0">
                <a:latin typeface="楷体_GB2312" pitchFamily="49" charset="-122"/>
                <a:ea typeface="楷体_GB2312" pitchFamily="49" charset="-122"/>
              </a:rPr>
              <a:t>的牛胰岛素作为</a:t>
            </a:r>
            <a:r>
              <a:rPr lang="zh-CN" altLang="en-US" sz="2800" b="1" dirty="0">
                <a:latin typeface="楷体_GB2312" pitchFamily="49" charset="-122"/>
                <a:ea typeface="楷体_GB2312" pitchFamily="49" charset="-122"/>
              </a:rPr>
              <a:t>实验的典型材料进行研究</a:t>
            </a:r>
            <a:r>
              <a:rPr lang="zh-CN" altLang="en-US" sz="2800" b="1" dirty="0" smtClean="0">
                <a:latin typeface="楷体_GB2312" pitchFamily="49" charset="-122"/>
                <a:ea typeface="楷体_GB2312" pitchFamily="49" charset="-122"/>
              </a:rPr>
              <a:t>。</a:t>
            </a:r>
            <a:endParaRPr lang="en-US" altLang="zh-CN" sz="2800" b="1" dirty="0" smtClean="0">
              <a:latin typeface="楷体_GB2312" pitchFamily="49" charset="-122"/>
              <a:ea typeface="楷体_GB2312" pitchFamily="49" charset="-122"/>
            </a:endParaRPr>
          </a:p>
          <a:p>
            <a:r>
              <a:rPr lang="zh-CN" altLang="en-US" sz="2800" b="1" dirty="0" smtClean="0">
                <a:latin typeface="楷体_GB2312" pitchFamily="49" charset="-122"/>
                <a:ea typeface="楷体_GB2312" pitchFamily="49" charset="-122"/>
              </a:rPr>
              <a:t>于</a:t>
            </a:r>
            <a:r>
              <a:rPr lang="en-US" altLang="zh-CN" sz="2800" b="1" dirty="0">
                <a:latin typeface="楷体_GB2312" pitchFamily="49" charset="-122"/>
                <a:ea typeface="楷体_GB2312" pitchFamily="49" charset="-122"/>
              </a:rPr>
              <a:t>1952</a:t>
            </a:r>
            <a:r>
              <a:rPr lang="zh-CN" altLang="en-US" sz="2800" b="1" dirty="0">
                <a:latin typeface="楷体_GB2312" pitchFamily="49" charset="-122"/>
                <a:ea typeface="楷体_GB2312" pitchFamily="49" charset="-122"/>
              </a:rPr>
              <a:t>年搞清了牛胰岛素的</a:t>
            </a:r>
            <a:r>
              <a:rPr lang="en-US" altLang="zh-CN" sz="2800" b="1" dirty="0">
                <a:latin typeface="楷体_GB2312" pitchFamily="49" charset="-122"/>
                <a:ea typeface="楷体_GB2312" pitchFamily="49" charset="-122"/>
              </a:rPr>
              <a:t>G</a:t>
            </a:r>
            <a:r>
              <a:rPr lang="zh-CN" altLang="en-US" sz="2800" b="1" dirty="0">
                <a:latin typeface="楷体_GB2312" pitchFamily="49" charset="-122"/>
                <a:ea typeface="楷体_GB2312" pitchFamily="49" charset="-122"/>
              </a:rPr>
              <a:t>链和</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链上</a:t>
            </a:r>
            <a:r>
              <a:rPr lang="zh-CN" altLang="en-US" sz="2800" b="1" dirty="0" smtClean="0">
                <a:latin typeface="楷体_GB2312" pitchFamily="49" charset="-122"/>
                <a:ea typeface="楷体_GB2312" pitchFamily="49" charset="-122"/>
              </a:rPr>
              <a:t>所有氨基酸的</a:t>
            </a:r>
            <a:r>
              <a:rPr lang="zh-CN" altLang="en-US" sz="2800" b="1" dirty="0">
                <a:latin typeface="楷体_GB2312" pitchFamily="49" charset="-122"/>
                <a:ea typeface="楷体_GB2312" pitchFamily="49" charset="-122"/>
              </a:rPr>
              <a:t>排列次序以及这两个链的结合方式</a:t>
            </a:r>
            <a:r>
              <a:rPr lang="zh-CN" altLang="en-US" sz="2800" b="1" dirty="0" smtClean="0">
                <a:latin typeface="楷体_GB2312" pitchFamily="49" charset="-122"/>
                <a:ea typeface="楷体_GB2312" pitchFamily="49" charset="-122"/>
              </a:rPr>
              <a:t>。</a:t>
            </a:r>
            <a:endParaRPr lang="en-US" altLang="zh-CN" sz="2800" b="1" dirty="0" smtClean="0">
              <a:latin typeface="楷体_GB2312" pitchFamily="49" charset="-122"/>
              <a:ea typeface="楷体_GB2312" pitchFamily="49" charset="-122"/>
            </a:endParaRPr>
          </a:p>
          <a:p>
            <a:r>
              <a:rPr lang="zh-CN" altLang="en-US" sz="2800" b="1" dirty="0" smtClean="0">
                <a:latin typeface="楷体_GB2312" pitchFamily="49" charset="-122"/>
                <a:ea typeface="楷体_GB2312" pitchFamily="49" charset="-122"/>
              </a:rPr>
              <a:t>次年</a:t>
            </a:r>
            <a:r>
              <a:rPr lang="zh-CN" altLang="en-US" sz="2800" b="1" dirty="0">
                <a:latin typeface="楷体_GB2312" pitchFamily="49" charset="-122"/>
                <a:ea typeface="楷体_GB2312" pitchFamily="49" charset="-122"/>
              </a:rPr>
              <a:t>，他宣布破译出由</a:t>
            </a:r>
            <a:r>
              <a:rPr lang="en-US" altLang="zh-CN" sz="2800" b="1" dirty="0">
                <a:latin typeface="楷体_GB2312" pitchFamily="49" charset="-122"/>
                <a:ea typeface="楷体_GB2312" pitchFamily="49" charset="-122"/>
              </a:rPr>
              <a:t>17</a:t>
            </a:r>
            <a:r>
              <a:rPr lang="zh-CN" altLang="en-US" sz="2800" b="1" dirty="0">
                <a:latin typeface="楷体_GB2312" pitchFamily="49" charset="-122"/>
                <a:ea typeface="楷体_GB2312" pitchFamily="49" charset="-122"/>
              </a:rPr>
              <a:t>种</a:t>
            </a:r>
            <a:r>
              <a:rPr lang="en-US" altLang="zh-CN" sz="2800" b="1" dirty="0">
                <a:latin typeface="楷体_GB2312" pitchFamily="49" charset="-122"/>
                <a:ea typeface="楷体_GB2312" pitchFamily="49" charset="-122"/>
              </a:rPr>
              <a:t>51</a:t>
            </a:r>
            <a:r>
              <a:rPr lang="zh-CN" altLang="en-US" sz="2800" b="1" dirty="0">
                <a:latin typeface="楷体_GB2312" pitchFamily="49" charset="-122"/>
                <a:ea typeface="楷体_GB2312" pitchFamily="49" charset="-122"/>
              </a:rPr>
              <a:t>个氨基酸组成的两条多肽链牛胰岛素的全部结构。这是人类第一次搞清一种重要蛋白质分子的全部结构</a:t>
            </a:r>
            <a:r>
              <a:rPr lang="zh-CN" altLang="en-US" sz="2800" b="1" dirty="0" smtClean="0">
                <a:latin typeface="楷体_GB2312" pitchFamily="49" charset="-122"/>
                <a:ea typeface="楷体_GB2312" pitchFamily="49" charset="-122"/>
              </a:rPr>
              <a:t>。</a:t>
            </a:r>
            <a:endParaRPr lang="en-US" altLang="zh-CN" sz="2800" b="1" dirty="0" smtClean="0">
              <a:latin typeface="楷体_GB2312" pitchFamily="49" charset="-122"/>
              <a:ea typeface="楷体_GB2312" pitchFamily="49" charset="-122"/>
            </a:endParaRPr>
          </a:p>
          <a:p>
            <a:r>
              <a:rPr lang="zh-CN" altLang="en-US" sz="2800" b="1" dirty="0" smtClean="0">
                <a:latin typeface="楷体_GB2312" pitchFamily="49" charset="-122"/>
                <a:ea typeface="楷体_GB2312" pitchFamily="49" charset="-122"/>
              </a:rPr>
              <a:t>桑格</a:t>
            </a:r>
            <a:r>
              <a:rPr lang="zh-CN" altLang="en-US" sz="2800" b="1" dirty="0">
                <a:latin typeface="楷体_GB2312" pitchFamily="49" charset="-122"/>
                <a:ea typeface="楷体_GB2312" pitchFamily="49" charset="-122"/>
              </a:rPr>
              <a:t>也因此荣获</a:t>
            </a:r>
            <a:r>
              <a:rPr lang="en-US" altLang="zh-CN" sz="2800" b="1" dirty="0">
                <a:latin typeface="楷体_GB2312" pitchFamily="49" charset="-122"/>
                <a:ea typeface="楷体_GB2312" pitchFamily="49" charset="-122"/>
              </a:rPr>
              <a:t>1958</a:t>
            </a:r>
            <a:r>
              <a:rPr lang="zh-CN" altLang="en-US" sz="2800" b="1" dirty="0" smtClean="0">
                <a:latin typeface="楷体_GB2312" pitchFamily="49" charset="-122"/>
                <a:ea typeface="楷体_GB2312" pitchFamily="49" charset="-122"/>
              </a:rPr>
              <a:t>年诺贝尔化学奖。</a:t>
            </a:r>
            <a:endParaRPr lang="zh-CN" altLang="en-US" sz="2800" b="1" dirty="0">
              <a:latin typeface="楷体_GB2312" pitchFamily="49" charset="-122"/>
              <a:ea typeface="楷体_GB2312" pitchFamily="49" charset="-122"/>
            </a:endParaRPr>
          </a:p>
        </p:txBody>
      </p:sp>
      <p:sp>
        <p:nvSpPr>
          <p:cNvPr id="4" name="标题 1"/>
          <p:cNvSpPr txBox="1">
            <a:spLocks/>
          </p:cNvSpPr>
          <p:nvPr/>
        </p:nvSpPr>
        <p:spPr bwMode="auto">
          <a:xfrm>
            <a:off x="395536" y="260648"/>
            <a:ext cx="6552728" cy="1008112"/>
          </a:xfrm>
          <a:prstGeom prst="rect">
            <a:avLst/>
          </a:prstGeom>
          <a:solidFill>
            <a:schemeClr val="accent5">
              <a:lumMod val="60000"/>
              <a:lumOff val="4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smtClean="0">
                <a:latin typeface="幼圆" pitchFamily="49" charset="-122"/>
                <a:ea typeface="幼圆" pitchFamily="49" charset="-122"/>
              </a:rPr>
              <a:t>案例：人工合成牛胰岛素</a:t>
            </a:r>
            <a:endParaRPr lang="zh-CN" altLang="en-US" b="1" dirty="0">
              <a:latin typeface="幼圆" pitchFamily="49" charset="-122"/>
              <a:ea typeface="幼圆" pitchFamily="49" charset="-122"/>
            </a:endParaRPr>
          </a:p>
        </p:txBody>
      </p:sp>
    </p:spTree>
    <p:extLst>
      <p:ext uri="{BB962C8B-B14F-4D97-AF65-F5344CB8AC3E}">
        <p14:creationId xmlns:p14="http://schemas.microsoft.com/office/powerpoint/2010/main" val="31603454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6552728" cy="1008112"/>
          </a:xfrm>
          <a:solidFill>
            <a:schemeClr val="accent5">
              <a:lumMod val="60000"/>
              <a:lumOff val="40000"/>
            </a:schemeClr>
          </a:solidFill>
        </p:spPr>
        <p:txBody>
          <a:bodyPr/>
          <a:lstStyle/>
          <a:p>
            <a:r>
              <a:rPr lang="zh-CN" altLang="en-US" b="1" dirty="0" smtClean="0">
                <a:latin typeface="幼圆" pitchFamily="49" charset="-122"/>
                <a:ea typeface="幼圆" pitchFamily="49" charset="-122"/>
              </a:rPr>
              <a:t>案例：人工合成牛胰岛素</a:t>
            </a:r>
            <a:endParaRPr lang="zh-CN" altLang="en-US" b="1" dirty="0">
              <a:latin typeface="幼圆" pitchFamily="49" charset="-122"/>
              <a:ea typeface="幼圆" pitchFamily="49" charset="-122"/>
            </a:endParaRPr>
          </a:p>
        </p:txBody>
      </p:sp>
      <p:sp>
        <p:nvSpPr>
          <p:cNvPr id="3" name="文本占位符 2"/>
          <p:cNvSpPr>
            <a:spLocks noGrp="1"/>
          </p:cNvSpPr>
          <p:nvPr>
            <p:ph type="body" idx="1"/>
          </p:nvPr>
        </p:nvSpPr>
        <p:spPr>
          <a:xfrm>
            <a:off x="381000" y="1484784"/>
            <a:ext cx="8305800" cy="2736304"/>
          </a:xfrm>
        </p:spPr>
        <p:txBody>
          <a:bodyPr/>
          <a:lstStyle/>
          <a:p>
            <a:r>
              <a:rPr lang="zh-CN" altLang="en-US" sz="2000" b="1" dirty="0">
                <a:latin typeface="楷体_GB2312" pitchFamily="49" charset="-122"/>
                <a:ea typeface="楷体_GB2312" pitchFamily="49" charset="-122"/>
              </a:rPr>
              <a:t>从</a:t>
            </a:r>
            <a:r>
              <a:rPr lang="en-US" altLang="zh-CN" sz="2000" b="1" dirty="0">
                <a:latin typeface="楷体_GB2312" pitchFamily="49" charset="-122"/>
                <a:ea typeface="楷体_GB2312" pitchFamily="49" charset="-122"/>
              </a:rPr>
              <a:t>1958</a:t>
            </a:r>
            <a:r>
              <a:rPr lang="zh-CN" altLang="en-US" sz="2000" b="1" dirty="0">
                <a:latin typeface="楷体_GB2312" pitchFamily="49" charset="-122"/>
                <a:ea typeface="楷体_GB2312" pitchFamily="49" charset="-122"/>
              </a:rPr>
              <a:t>年开始</a:t>
            </a:r>
            <a:r>
              <a:rPr lang="zh-CN" altLang="en-US" sz="2000" b="1" dirty="0" smtClean="0">
                <a:latin typeface="楷体_GB2312" pitchFamily="49" charset="-122"/>
                <a:ea typeface="楷体_GB2312" pitchFamily="49" charset="-122"/>
              </a:rPr>
              <a:t>，中科院上海生化所、中科院上海有机化学所、北京大学生物系三</a:t>
            </a:r>
            <a:r>
              <a:rPr lang="zh-CN" altLang="en-US" sz="2000" b="1" dirty="0">
                <a:latin typeface="楷体_GB2312" pitchFamily="49" charset="-122"/>
                <a:ea typeface="楷体_GB2312" pitchFamily="49" charset="-122"/>
              </a:rPr>
              <a:t>个单位联合，</a:t>
            </a:r>
            <a:r>
              <a:rPr lang="zh-CN" altLang="en-US" sz="2000" b="1" dirty="0" smtClean="0">
                <a:latin typeface="楷体_GB2312" pitchFamily="49" charset="-122"/>
                <a:ea typeface="楷体_GB2312" pitchFamily="49" charset="-122"/>
              </a:rPr>
              <a:t>以钮经义为首</a:t>
            </a:r>
            <a:r>
              <a:rPr lang="zh-CN" altLang="en-US" sz="2000" b="1" dirty="0">
                <a:latin typeface="楷体_GB2312" pitchFamily="49" charset="-122"/>
                <a:ea typeface="楷体_GB2312" pitchFamily="49" charset="-122"/>
              </a:rPr>
              <a:t>，</a:t>
            </a:r>
            <a:r>
              <a:rPr lang="zh-CN" altLang="en-US" sz="2000" b="1" dirty="0" smtClean="0">
                <a:latin typeface="楷体_GB2312" pitchFamily="49" charset="-122"/>
                <a:ea typeface="楷体_GB2312" pitchFamily="49" charset="-122"/>
              </a:rPr>
              <a:t>由龚岳亭、邹承鲁等人</a:t>
            </a:r>
            <a:r>
              <a:rPr lang="zh-CN" altLang="en-US" sz="2000" b="1" dirty="0">
                <a:latin typeface="楷体_GB2312" pitchFamily="49" charset="-122"/>
                <a:ea typeface="楷体_GB2312" pitchFamily="49" charset="-122"/>
              </a:rPr>
              <a:t>共同组成一个协作组，在前人</a:t>
            </a:r>
            <a:r>
              <a:rPr lang="zh-CN" altLang="en-US" sz="2000" b="1" dirty="0" smtClean="0">
                <a:latin typeface="楷体_GB2312" pitchFamily="49" charset="-122"/>
                <a:ea typeface="楷体_GB2312" pitchFamily="49" charset="-122"/>
              </a:rPr>
              <a:t>对胰岛素结构</a:t>
            </a:r>
            <a:r>
              <a:rPr lang="zh-CN" altLang="en-US" sz="2000" b="1" dirty="0">
                <a:latin typeface="楷体_GB2312" pitchFamily="49" charset="-122"/>
                <a:ea typeface="楷体_GB2312" pitchFamily="49" charset="-122"/>
              </a:rPr>
              <a:t>和肽链合成方法研究的基础上，开始探索用化学方法合成胰岛素</a:t>
            </a:r>
            <a:r>
              <a:rPr lang="zh-CN" altLang="en-US" sz="2000" b="1" dirty="0" smtClean="0">
                <a:latin typeface="楷体_GB2312" pitchFamily="49" charset="-122"/>
                <a:ea typeface="楷体_GB2312" pitchFamily="49" charset="-122"/>
              </a:rPr>
              <a:t>。</a:t>
            </a:r>
            <a:r>
              <a:rPr lang="zh-CN" altLang="en-US" sz="2000" b="1" dirty="0">
                <a:latin typeface="楷体_GB2312" pitchFamily="49" charset="-122"/>
                <a:ea typeface="楷体_GB2312" pitchFamily="49" charset="-122"/>
              </a:rPr>
              <a:t>在</a:t>
            </a:r>
            <a:r>
              <a:rPr lang="en-US" altLang="zh-CN" sz="2000" b="1" dirty="0">
                <a:latin typeface="楷体_GB2312" pitchFamily="49" charset="-122"/>
                <a:ea typeface="楷体_GB2312" pitchFamily="49" charset="-122"/>
              </a:rPr>
              <a:t>1965</a:t>
            </a:r>
            <a:r>
              <a:rPr lang="zh-CN" altLang="en-US" sz="2000" b="1" dirty="0">
                <a:latin typeface="楷体_GB2312" pitchFamily="49" charset="-122"/>
                <a:ea typeface="楷体_GB2312" pitchFamily="49" charset="-122"/>
              </a:rPr>
              <a:t>年</a:t>
            </a:r>
            <a:r>
              <a:rPr lang="en-US" altLang="zh-CN" sz="2000" b="1" dirty="0">
                <a:latin typeface="楷体_GB2312" pitchFamily="49" charset="-122"/>
                <a:ea typeface="楷体_GB2312" pitchFamily="49" charset="-122"/>
              </a:rPr>
              <a:t>9</a:t>
            </a:r>
            <a:r>
              <a:rPr lang="zh-CN" altLang="en-US" sz="2000" b="1" dirty="0">
                <a:latin typeface="楷体_GB2312" pitchFamily="49" charset="-122"/>
                <a:ea typeface="楷体_GB2312" pitchFamily="49" charset="-122"/>
              </a:rPr>
              <a:t>月</a:t>
            </a:r>
            <a:r>
              <a:rPr lang="en-US" altLang="zh-CN" sz="2000" b="1" dirty="0">
                <a:latin typeface="楷体_GB2312" pitchFamily="49" charset="-122"/>
                <a:ea typeface="楷体_GB2312" pitchFamily="49" charset="-122"/>
              </a:rPr>
              <a:t>17</a:t>
            </a:r>
            <a:r>
              <a:rPr lang="zh-CN" altLang="en-US" sz="2000" b="1" dirty="0">
                <a:latin typeface="楷体_GB2312" pitchFamily="49" charset="-122"/>
                <a:ea typeface="楷体_GB2312" pitchFamily="49" charset="-122"/>
              </a:rPr>
              <a:t>日完成</a:t>
            </a:r>
            <a:r>
              <a:rPr lang="zh-CN" altLang="en-US" sz="2000" b="1" dirty="0" smtClean="0">
                <a:latin typeface="楷体_GB2312" pitchFamily="49" charset="-122"/>
                <a:ea typeface="楷体_GB2312" pitchFamily="49" charset="-122"/>
              </a:rPr>
              <a:t>了结晶牛胰岛素的全合成。</a:t>
            </a:r>
            <a:r>
              <a:rPr lang="zh-CN" altLang="en-US" sz="2000" b="1" dirty="0">
                <a:latin typeface="楷体_GB2312" pitchFamily="49" charset="-122"/>
                <a:ea typeface="楷体_GB2312" pitchFamily="49" charset="-122"/>
              </a:rPr>
              <a:t>经过严格鉴定，它的结构、生物活力、物理化学性质、结晶形状都和天然的牛胰岛素完全一样。这是世界上第一个人工合成的蛋白质，为人类认识生命、揭开生命奥秘迈出了可喜的一大步。这项成果获</a:t>
            </a:r>
            <a:r>
              <a:rPr lang="en-US" altLang="zh-CN" sz="2000" b="1" dirty="0">
                <a:latin typeface="楷体_GB2312" pitchFamily="49" charset="-122"/>
                <a:ea typeface="楷体_GB2312" pitchFamily="49" charset="-122"/>
              </a:rPr>
              <a:t>1982</a:t>
            </a:r>
            <a:r>
              <a:rPr lang="zh-CN" altLang="en-US" sz="2000" b="1" dirty="0">
                <a:latin typeface="楷体_GB2312" pitchFamily="49" charset="-122"/>
                <a:ea typeface="楷体_GB2312" pitchFamily="49" charset="-122"/>
              </a:rPr>
              <a:t>年中国自然科学一等奖。</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89" y="4386017"/>
            <a:ext cx="311467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2369" y="4396478"/>
            <a:ext cx="318135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216" y="4386017"/>
            <a:ext cx="2448272"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74126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9512" y="1464118"/>
            <a:ext cx="8856984" cy="4701186"/>
          </a:xfrm>
        </p:spPr>
        <p:txBody>
          <a:bodyPr/>
          <a:lstStyle/>
          <a:p>
            <a:pPr>
              <a:lnSpc>
                <a:spcPct val="120000"/>
              </a:lnSpc>
            </a:pPr>
            <a:r>
              <a:rPr lang="zh-CN" altLang="en-US" sz="2800" b="1" dirty="0" smtClean="0">
                <a:latin typeface="楷体_GB2312" pitchFamily="49" charset="-122"/>
                <a:ea typeface="楷体_GB2312" pitchFamily="49" charset="-122"/>
              </a:rPr>
              <a:t>按创新内容分为：产品创新、工艺创新</a:t>
            </a:r>
            <a:r>
              <a:rPr lang="en-US" altLang="zh-CN" sz="2000" b="1" dirty="0" smtClean="0">
                <a:latin typeface="楷体_GB2312" pitchFamily="49" charset="-122"/>
                <a:ea typeface="楷体_GB2312" pitchFamily="49" charset="-122"/>
              </a:rPr>
              <a:t>(</a:t>
            </a:r>
            <a:r>
              <a:rPr lang="zh-CN" altLang="en-US" sz="2000" b="1" dirty="0" smtClean="0">
                <a:latin typeface="楷体_GB2312" pitchFamily="49" charset="-122"/>
                <a:ea typeface="楷体_GB2312" pitchFamily="49" charset="-122"/>
              </a:rPr>
              <a:t>手机曲面屏</a:t>
            </a:r>
            <a:r>
              <a:rPr lang="en-US" altLang="zh-CN" sz="20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、技术扩散</a:t>
            </a:r>
            <a:r>
              <a:rPr lang="zh-CN" altLang="en-US" sz="2000" dirty="0" smtClean="0">
                <a:latin typeface="楷体_GB2312" pitchFamily="49" charset="-122"/>
                <a:ea typeface="楷体_GB2312" pitchFamily="49" charset="-122"/>
              </a:rPr>
              <a:t>（火药）</a:t>
            </a:r>
            <a:endParaRPr lang="en-US" altLang="zh-CN" sz="2000" dirty="0" smtClean="0">
              <a:latin typeface="楷体_GB2312" pitchFamily="49" charset="-122"/>
              <a:ea typeface="楷体_GB2312" pitchFamily="49" charset="-122"/>
            </a:endParaRPr>
          </a:p>
          <a:p>
            <a:pPr>
              <a:lnSpc>
                <a:spcPct val="120000"/>
              </a:lnSpc>
            </a:pPr>
            <a:r>
              <a:rPr lang="zh-CN" altLang="en-US" sz="2800" b="1" dirty="0">
                <a:latin typeface="楷体_GB2312" pitchFamily="49" charset="-122"/>
                <a:ea typeface="楷体_GB2312" pitchFamily="49" charset="-122"/>
              </a:rPr>
              <a:t>希克</a:t>
            </a:r>
            <a:r>
              <a:rPr lang="zh-CN" altLang="en-US" sz="2800" b="1" dirty="0" smtClean="0">
                <a:latin typeface="楷体_GB2312" pitchFamily="49" charset="-122"/>
                <a:ea typeface="楷体_GB2312" pitchFamily="49" charset="-122"/>
              </a:rPr>
              <a:t>斯分类：节省劳动的创新</a:t>
            </a:r>
            <a:r>
              <a:rPr lang="zh-CN" altLang="en-US" sz="2000" b="1" dirty="0" smtClean="0">
                <a:latin typeface="楷体_GB2312" pitchFamily="49" charset="-122"/>
                <a:ea typeface="楷体_GB2312" pitchFamily="49" charset="-122"/>
              </a:rPr>
              <a:t>（农业机械）</a:t>
            </a:r>
            <a:r>
              <a:rPr lang="zh-CN" altLang="en-US" sz="2800" b="1" dirty="0" smtClean="0">
                <a:latin typeface="楷体_GB2312" pitchFamily="49" charset="-122"/>
                <a:ea typeface="楷体_GB2312" pitchFamily="49" charset="-122"/>
              </a:rPr>
              <a:t>、节省资本的创新</a:t>
            </a:r>
            <a:r>
              <a:rPr lang="zh-CN" altLang="en-US" sz="2000" b="1" dirty="0" smtClean="0">
                <a:latin typeface="楷体_GB2312" pitchFamily="49" charset="-122"/>
                <a:ea typeface="楷体_GB2312" pitchFamily="49" charset="-122"/>
              </a:rPr>
              <a:t>（芭比娃娃、金融创新）</a:t>
            </a:r>
            <a:r>
              <a:rPr lang="zh-CN" altLang="en-US" sz="2800" b="1" dirty="0" smtClean="0">
                <a:latin typeface="楷体_GB2312" pitchFamily="49" charset="-122"/>
                <a:ea typeface="楷体_GB2312" pitchFamily="49" charset="-122"/>
              </a:rPr>
              <a:t>、中性（</a:t>
            </a:r>
            <a:r>
              <a:rPr lang="en-US" altLang="zh-CN" sz="2800" b="1" dirty="0" smtClean="0">
                <a:latin typeface="楷体_GB2312" pitchFamily="49" charset="-122"/>
                <a:ea typeface="楷体_GB2312" pitchFamily="49" charset="-122"/>
              </a:rPr>
              <a:t>Neutral</a:t>
            </a:r>
            <a:r>
              <a:rPr lang="zh-CN" altLang="en-US" sz="2800" b="1" dirty="0" smtClean="0">
                <a:latin typeface="楷体_GB2312" pitchFamily="49" charset="-122"/>
                <a:ea typeface="楷体_GB2312" pitchFamily="49" charset="-122"/>
              </a:rPr>
              <a:t>）技术创新</a:t>
            </a:r>
            <a:endParaRPr lang="en-US" altLang="zh-CN" sz="2800" b="1" dirty="0" smtClean="0">
              <a:latin typeface="楷体_GB2312" pitchFamily="49" charset="-122"/>
              <a:ea typeface="楷体_GB2312" pitchFamily="49" charset="-122"/>
            </a:endParaRPr>
          </a:p>
          <a:p>
            <a:pPr>
              <a:lnSpc>
                <a:spcPct val="120000"/>
              </a:lnSpc>
            </a:pPr>
            <a:r>
              <a:rPr lang="en-US" altLang="zh-CN" sz="2800" b="1" dirty="0" smtClean="0">
                <a:latin typeface="楷体_GB2312" pitchFamily="49" charset="-122"/>
                <a:ea typeface="楷体_GB2312" pitchFamily="49" charset="-122"/>
              </a:rPr>
              <a:t>SPRU</a:t>
            </a:r>
            <a:r>
              <a:rPr lang="zh-CN" altLang="en-US" sz="2000" b="1" dirty="0" smtClean="0">
                <a:latin typeface="楷体_GB2312" pitchFamily="49" charset="-122"/>
                <a:ea typeface="楷体_GB2312" pitchFamily="49" charset="-122"/>
              </a:rPr>
              <a:t>（英国苏克赛斯大学科学政策研究所）</a:t>
            </a:r>
            <a:r>
              <a:rPr lang="zh-CN" altLang="en-US" sz="2800" b="1" dirty="0" smtClean="0">
                <a:latin typeface="楷体_GB2312" pitchFamily="49" charset="-122"/>
                <a:ea typeface="楷体_GB2312" pitchFamily="49" charset="-122"/>
              </a:rPr>
              <a:t>分类：渐进式创新</a:t>
            </a:r>
            <a:r>
              <a:rPr lang="zh-CN" altLang="en-US" sz="2000" dirty="0" smtClean="0">
                <a:latin typeface="楷体_GB2312" pitchFamily="49" charset="-122"/>
                <a:ea typeface="楷体_GB2312" pitchFamily="49" charset="-122"/>
              </a:rPr>
              <a:t>（没有最好，只有更好）</a:t>
            </a:r>
            <a:r>
              <a:rPr lang="zh-CN" altLang="en-US" sz="2800" b="1" dirty="0" smtClean="0">
                <a:latin typeface="楷体_GB2312" pitchFamily="49" charset="-122"/>
                <a:ea typeface="楷体_GB2312" pitchFamily="49" charset="-122"/>
              </a:rPr>
              <a:t>、突破性创新</a:t>
            </a:r>
            <a:r>
              <a:rPr lang="zh-CN" altLang="en-US" sz="2000" b="1" dirty="0" smtClean="0">
                <a:latin typeface="楷体_GB2312" pitchFamily="49" charset="-122"/>
                <a:ea typeface="楷体_GB2312" pitchFamily="49" charset="-122"/>
              </a:rPr>
              <a:t>（人工合成牛胰岛素</a:t>
            </a:r>
            <a:r>
              <a:rPr lang="en-US" altLang="zh-CN" sz="2000" b="1" dirty="0" smtClean="0">
                <a:latin typeface="楷体_GB2312" pitchFamily="49" charset="-122"/>
                <a:ea typeface="楷体_GB2312" pitchFamily="49" charset="-122"/>
              </a:rPr>
              <a:t>VS</a:t>
            </a:r>
            <a:r>
              <a:rPr lang="zh-CN" altLang="en-US" sz="2000" b="1" dirty="0" smtClean="0">
                <a:latin typeface="楷体_GB2312" pitchFamily="49" charset="-122"/>
                <a:ea typeface="楷体_GB2312" pitchFamily="49" charset="-122"/>
              </a:rPr>
              <a:t>屠呦呦）</a:t>
            </a:r>
            <a:r>
              <a:rPr lang="zh-CN" altLang="en-US" sz="2800" b="1" dirty="0" smtClean="0">
                <a:latin typeface="楷体_GB2312" pitchFamily="49" charset="-122"/>
                <a:ea typeface="楷体_GB2312" pitchFamily="49" charset="-122"/>
              </a:rPr>
              <a:t>、技术系统的变革</a:t>
            </a:r>
            <a:r>
              <a:rPr lang="zh-CN" altLang="en-US" sz="2000" b="1" dirty="0" smtClean="0">
                <a:latin typeface="楷体_GB2312" pitchFamily="49" charset="-122"/>
                <a:ea typeface="楷体_GB2312" pitchFamily="49" charset="-122"/>
              </a:rPr>
              <a:t>（铁路运输）</a:t>
            </a:r>
            <a:r>
              <a:rPr lang="zh-CN" altLang="en-US" sz="2800" b="1" dirty="0" smtClean="0">
                <a:latin typeface="楷体_GB2312" pitchFamily="49" charset="-122"/>
                <a:ea typeface="楷体_GB2312" pitchFamily="49" charset="-122"/>
              </a:rPr>
              <a:t>、技术</a:t>
            </a:r>
            <a:r>
              <a:rPr lang="en-US"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经济范式的变更（</a:t>
            </a:r>
            <a:r>
              <a:rPr lang="zh-CN" altLang="en-US" sz="2000" b="1" dirty="0">
                <a:latin typeface="楷体_GB2312" pitchFamily="49" charset="-122"/>
                <a:ea typeface="楷体_GB2312" pitchFamily="49" charset="-122"/>
              </a:rPr>
              <a:t>信息经济、互联网</a:t>
            </a:r>
            <a:r>
              <a:rPr lang="en-US" altLang="zh-CN" sz="2000" b="1" dirty="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p:txBody>
      </p:sp>
      <p:sp>
        <p:nvSpPr>
          <p:cNvPr id="4" name="标题 1"/>
          <p:cNvSpPr txBox="1">
            <a:spLocks/>
          </p:cNvSpPr>
          <p:nvPr/>
        </p:nvSpPr>
        <p:spPr bwMode="auto">
          <a:xfrm>
            <a:off x="323528" y="260648"/>
            <a:ext cx="576064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二、技术创新的分类</a:t>
            </a:r>
            <a:endParaRPr lang="zh-CN" altLang="en-US" sz="4800" b="1" dirty="0">
              <a:latin typeface="黑体" pitchFamily="49" charset="-122"/>
              <a:ea typeface="黑体" pitchFamily="49" charset="-122"/>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116632"/>
            <a:ext cx="2387749" cy="1287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48009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22382" y="3356992"/>
            <a:ext cx="8305800" cy="504056"/>
          </a:xfrm>
        </p:spPr>
        <p:txBody>
          <a:bodyPr/>
          <a:lstStyle/>
          <a:p>
            <a:pPr algn="ctr"/>
            <a:r>
              <a:rPr lang="zh-CN" altLang="en-US" b="1" dirty="0" smtClean="0"/>
              <a:t>熊彼特创新模型</a:t>
            </a:r>
            <a:r>
              <a:rPr lang="en-US" altLang="zh-CN" b="1" dirty="0" smtClean="0">
                <a:latin typeface="楷体_GB2312"/>
                <a:ea typeface="楷体_GB2312"/>
              </a:rPr>
              <a:t>Ⅰ</a:t>
            </a:r>
            <a:r>
              <a:rPr lang="zh-CN" altLang="en-US" b="1" dirty="0" smtClean="0">
                <a:latin typeface="楷体_GB2312"/>
                <a:ea typeface="楷体_GB2312"/>
              </a:rPr>
              <a:t>（企业家创新模型）</a:t>
            </a:r>
            <a:endParaRPr lang="zh-CN" altLang="en-US"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484785"/>
            <a:ext cx="8208912"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a:spLocks/>
          </p:cNvSpPr>
          <p:nvPr/>
        </p:nvSpPr>
        <p:spPr bwMode="auto">
          <a:xfrm>
            <a:off x="323172" y="116632"/>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三、技术创新的过程模型</a:t>
            </a:r>
            <a:endParaRPr lang="zh-CN" altLang="en-US" sz="4800" b="1" dirty="0">
              <a:latin typeface="黑体" pitchFamily="49" charset="-122"/>
              <a:ea typeface="黑体" pitchFamily="49" charset="-122"/>
            </a:endParaRPr>
          </a:p>
        </p:txBody>
      </p:sp>
      <p:sp>
        <p:nvSpPr>
          <p:cNvPr id="6" name="文本占位符 2"/>
          <p:cNvSpPr txBox="1">
            <a:spLocks/>
          </p:cNvSpPr>
          <p:nvPr/>
        </p:nvSpPr>
        <p:spPr bwMode="auto">
          <a:xfrm>
            <a:off x="491108" y="4005064"/>
            <a:ext cx="8305800"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a:lnSpc>
                <a:spcPct val="120000"/>
              </a:lnSpc>
            </a:pPr>
            <a:r>
              <a:rPr lang="zh-CN" altLang="en-US" sz="2000" dirty="0" smtClean="0">
                <a:latin typeface="楷体_GB2312" pitchFamily="49" charset="-122"/>
                <a:ea typeface="楷体_GB2312" pitchFamily="49" charset="-122"/>
              </a:rPr>
              <a:t>有一个发明流，大半处于企业和市场之外，不受市场需求影响</a:t>
            </a:r>
            <a:endParaRPr lang="en-US" altLang="zh-CN" sz="2000" dirty="0" smtClean="0">
              <a:latin typeface="楷体_GB2312" pitchFamily="49" charset="-122"/>
              <a:ea typeface="楷体_GB2312" pitchFamily="49" charset="-122"/>
            </a:endParaRPr>
          </a:p>
          <a:p>
            <a:pPr>
              <a:lnSpc>
                <a:spcPct val="120000"/>
              </a:lnSpc>
            </a:pPr>
            <a:r>
              <a:rPr lang="zh-CN" altLang="en-US" sz="2000" dirty="0" smtClean="0">
                <a:latin typeface="楷体_GB2312" pitchFamily="49" charset="-122"/>
                <a:ea typeface="楷体_GB2312" pitchFamily="49" charset="-122"/>
              </a:rPr>
              <a:t>极少数企业家意识到发明的未来潜能，准备承担创新风险</a:t>
            </a:r>
            <a:r>
              <a:rPr lang="en-US" altLang="zh-CN" sz="2000" b="1" dirty="0" smtClean="0">
                <a:latin typeface="楷体_GB2312" pitchFamily="49" charset="-122"/>
                <a:ea typeface="楷体_GB2312" pitchFamily="49" charset="-122"/>
              </a:rPr>
              <a:t>——</a:t>
            </a:r>
            <a:r>
              <a:rPr lang="zh-CN" altLang="en-US" sz="2000" b="1" dirty="0" smtClean="0">
                <a:latin typeface="楷体_GB2312" pitchFamily="49" charset="-122"/>
                <a:ea typeface="楷体_GB2312" pitchFamily="49" charset="-122"/>
              </a:rPr>
              <a:t>小米</a:t>
            </a:r>
            <a:endParaRPr lang="en-US" altLang="zh-CN" sz="2000" b="1" dirty="0" smtClean="0">
              <a:latin typeface="楷体_GB2312" pitchFamily="49" charset="-122"/>
              <a:ea typeface="楷体_GB2312" pitchFamily="49" charset="-122"/>
            </a:endParaRPr>
          </a:p>
          <a:p>
            <a:pPr>
              <a:lnSpc>
                <a:spcPct val="120000"/>
              </a:lnSpc>
            </a:pPr>
            <a:r>
              <a:rPr lang="zh-CN" altLang="en-US" sz="2000" dirty="0" smtClean="0">
                <a:latin typeface="楷体_GB2312" pitchFamily="49" charset="-122"/>
                <a:ea typeface="楷体_GB2312" pitchFamily="49" charset="-122"/>
              </a:rPr>
              <a:t>一旦成功实现根本性创新，将打破市场结构的均衡，成功创新者将获得超额利润，并吸引大量模仿者进入</a:t>
            </a:r>
            <a:endParaRPr lang="en-US" altLang="zh-CN" sz="2000" dirty="0" smtClean="0">
              <a:latin typeface="楷体_GB2312" pitchFamily="49" charset="-122"/>
              <a:ea typeface="楷体_GB2312" pitchFamily="49" charset="-122"/>
            </a:endParaRPr>
          </a:p>
          <a:p>
            <a:pPr>
              <a:lnSpc>
                <a:spcPct val="120000"/>
              </a:lnSpc>
            </a:pPr>
            <a:r>
              <a:rPr lang="zh-CN" altLang="en-US" sz="2000" dirty="0" smtClean="0">
                <a:latin typeface="楷体_GB2312" pitchFamily="49" charset="-122"/>
                <a:ea typeface="楷体_GB2312" pitchFamily="49" charset="-122"/>
              </a:rPr>
              <a:t>技术创新过程是黑箱，技术是外生变量</a:t>
            </a:r>
            <a:endParaRPr lang="zh-CN" altLang="en-US" sz="2000" dirty="0">
              <a:latin typeface="楷体_GB2312" pitchFamily="49" charset="-122"/>
              <a:ea typeface="楷体_GB2312" pitchFamily="49" charset="-122"/>
            </a:endParaRPr>
          </a:p>
        </p:txBody>
      </p:sp>
    </p:spTree>
    <p:extLst>
      <p:ext uri="{BB962C8B-B14F-4D97-AF65-F5344CB8AC3E}">
        <p14:creationId xmlns:p14="http://schemas.microsoft.com/office/powerpoint/2010/main" val="7626383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18408" y="3140968"/>
            <a:ext cx="2726488" cy="576064"/>
          </a:xfrm>
        </p:spPr>
        <p:txBody>
          <a:bodyPr/>
          <a:lstStyle/>
          <a:p>
            <a:pPr marL="0" indent="0">
              <a:buNone/>
            </a:pPr>
            <a:r>
              <a:rPr lang="zh-CN" altLang="en-US" b="1" dirty="0" smtClean="0"/>
              <a:t>熊彼特创新模型</a:t>
            </a:r>
            <a:r>
              <a:rPr lang="en-US" altLang="zh-CN" b="1" dirty="0" smtClean="0">
                <a:latin typeface="楷体_GB2312"/>
                <a:ea typeface="楷体_GB2312"/>
              </a:rPr>
              <a:t>Ⅱ</a:t>
            </a:r>
            <a:endParaRPr lang="zh-CN" altLang="en-US" b="1"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065" y="1412776"/>
            <a:ext cx="8131175" cy="255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a:spLocks/>
          </p:cNvSpPr>
          <p:nvPr/>
        </p:nvSpPr>
        <p:spPr bwMode="auto">
          <a:xfrm>
            <a:off x="323172" y="116632"/>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三、技术创新的过程模型</a:t>
            </a:r>
            <a:endParaRPr lang="zh-CN" altLang="en-US" sz="4800" b="1" dirty="0">
              <a:latin typeface="黑体" pitchFamily="49" charset="-122"/>
              <a:ea typeface="黑体" pitchFamily="49" charset="-122"/>
            </a:endParaRPr>
          </a:p>
        </p:txBody>
      </p:sp>
      <p:sp>
        <p:nvSpPr>
          <p:cNvPr id="6" name="文本占位符 2"/>
          <p:cNvSpPr txBox="1">
            <a:spLocks/>
          </p:cNvSpPr>
          <p:nvPr/>
        </p:nvSpPr>
        <p:spPr bwMode="auto">
          <a:xfrm>
            <a:off x="381000" y="4293096"/>
            <a:ext cx="8305800" cy="18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dirty="0" smtClean="0">
                <a:latin typeface="楷体_GB2312" pitchFamily="49" charset="-122"/>
                <a:ea typeface="楷体_GB2312" pitchFamily="49" charset="-122"/>
              </a:rPr>
              <a:t>技术来自于企业内部的创新部门</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乔布斯、盖茨</a:t>
            </a:r>
            <a:endParaRPr lang="en-US" altLang="zh-CN" dirty="0" smtClean="0">
              <a:latin typeface="楷体_GB2312" pitchFamily="49" charset="-122"/>
              <a:ea typeface="楷体_GB2312" pitchFamily="49" charset="-122"/>
            </a:endParaRPr>
          </a:p>
          <a:p>
            <a:r>
              <a:rPr lang="zh-CN" altLang="en-US" dirty="0" smtClean="0">
                <a:latin typeface="楷体_GB2312" pitchFamily="49" charset="-122"/>
                <a:ea typeface="楷体_GB2312" pitchFamily="49" charset="-122"/>
              </a:rPr>
              <a:t>成功的技术创新是企业获取超额利润，企业壮大，并形成暂时的垄断地位</a:t>
            </a:r>
            <a:r>
              <a:rPr lang="en-US" altLang="zh-CN" dirty="0" smtClean="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苹果、三星</a:t>
            </a:r>
            <a:endParaRPr lang="en-US" altLang="zh-CN" b="1" dirty="0" smtClean="0">
              <a:latin typeface="楷体_GB2312" pitchFamily="49" charset="-122"/>
              <a:ea typeface="楷体_GB2312" pitchFamily="49" charset="-122"/>
            </a:endParaRPr>
          </a:p>
          <a:p>
            <a:r>
              <a:rPr lang="zh-CN" altLang="en-US" dirty="0" smtClean="0">
                <a:latin typeface="楷体_GB2312" pitchFamily="49" charset="-122"/>
                <a:ea typeface="楷体_GB2312" pitchFamily="49" charset="-122"/>
              </a:rPr>
              <a:t>大量模仿者的加入削弱了垄断者的地位</a:t>
            </a:r>
            <a:r>
              <a:rPr lang="en-US" altLang="zh-CN" dirty="0" smtClean="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华为、小米</a:t>
            </a:r>
            <a:endParaRPr lang="zh-CN" altLang="en-US" b="1" dirty="0">
              <a:latin typeface="楷体_GB2312" pitchFamily="49" charset="-122"/>
              <a:ea typeface="楷体_GB2312" pitchFamily="49" charset="-122"/>
            </a:endParaRPr>
          </a:p>
        </p:txBody>
      </p:sp>
    </p:spTree>
    <p:extLst>
      <p:ext uri="{BB962C8B-B14F-4D97-AF65-F5344CB8AC3E}">
        <p14:creationId xmlns:p14="http://schemas.microsoft.com/office/powerpoint/2010/main" val="19369035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547665" y="3356992"/>
            <a:ext cx="6458024" cy="504056"/>
          </a:xfrm>
        </p:spPr>
        <p:txBody>
          <a:bodyPr/>
          <a:lstStyle/>
          <a:p>
            <a:pPr marL="0" indent="0">
              <a:buNone/>
            </a:pPr>
            <a:r>
              <a:rPr lang="zh-CN" altLang="en-US" b="1" dirty="0" smtClean="0">
                <a:latin typeface="楷体_GB2312" pitchFamily="49" charset="-122"/>
                <a:ea typeface="楷体_GB2312" pitchFamily="49" charset="-122"/>
              </a:rPr>
              <a:t>技术创新过程的传统线性模型（技术供给论）</a:t>
            </a:r>
            <a:endParaRPr lang="zh-CN" altLang="en-US" b="1" dirty="0">
              <a:latin typeface="楷体_GB2312" pitchFamily="49" charset="-122"/>
              <a:ea typeface="楷体_GB2312" pitchFamily="49" charset="-122"/>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628800"/>
            <a:ext cx="7250113"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a:spLocks/>
          </p:cNvSpPr>
          <p:nvPr/>
        </p:nvSpPr>
        <p:spPr bwMode="auto">
          <a:xfrm>
            <a:off x="323528" y="260648"/>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三、技术创新的过程模型</a:t>
            </a:r>
            <a:endParaRPr lang="zh-CN" altLang="en-US" sz="4800" b="1" dirty="0">
              <a:latin typeface="黑体" pitchFamily="49" charset="-122"/>
              <a:ea typeface="黑体" pitchFamily="49" charset="-122"/>
            </a:endParaRPr>
          </a:p>
        </p:txBody>
      </p:sp>
      <p:sp>
        <p:nvSpPr>
          <p:cNvPr id="6" name="文本占位符 2"/>
          <p:cNvSpPr txBox="1">
            <a:spLocks/>
          </p:cNvSpPr>
          <p:nvPr/>
        </p:nvSpPr>
        <p:spPr bwMode="auto">
          <a:xfrm>
            <a:off x="381000" y="4005064"/>
            <a:ext cx="8305800"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sz="2000" dirty="0" smtClean="0">
                <a:latin typeface="楷体_GB2312" pitchFamily="49" charset="-122"/>
                <a:ea typeface="楷体_GB2312" pitchFamily="49" charset="-122"/>
              </a:rPr>
              <a:t>老布什</a:t>
            </a:r>
            <a:r>
              <a:rPr lang="en-US" altLang="zh-CN" sz="2000" dirty="0" smtClean="0">
                <a:latin typeface="楷体_GB2312" pitchFamily="49" charset="-122"/>
                <a:ea typeface="楷体_GB2312" pitchFamily="49" charset="-122"/>
              </a:rPr>
              <a:t>《</a:t>
            </a:r>
            <a:r>
              <a:rPr lang="zh-CN" altLang="en-US" sz="2000" dirty="0" smtClean="0">
                <a:latin typeface="楷体_GB2312" pitchFamily="49" charset="-122"/>
                <a:ea typeface="楷体_GB2312" pitchFamily="49" charset="-122"/>
              </a:rPr>
              <a:t>科学：无尽的前沿</a:t>
            </a:r>
            <a:r>
              <a:rPr lang="en-US" altLang="zh-CN" sz="2000" dirty="0" smtClean="0">
                <a:latin typeface="楷体_GB2312" pitchFamily="49" charset="-122"/>
                <a:ea typeface="楷体_GB2312" pitchFamily="49" charset="-122"/>
              </a:rPr>
              <a:t>》</a:t>
            </a:r>
            <a:r>
              <a:rPr lang="zh-CN" altLang="en-US" sz="2000" dirty="0" smtClean="0">
                <a:latin typeface="楷体_GB2312" pitchFamily="49" charset="-122"/>
                <a:ea typeface="楷体_GB2312" pitchFamily="49" charset="-122"/>
              </a:rPr>
              <a:t>（</a:t>
            </a:r>
            <a:r>
              <a:rPr lang="en-US" altLang="zh-CN" sz="2000" dirty="0" smtClean="0">
                <a:latin typeface="楷体_GB2312" pitchFamily="49" charset="-122"/>
                <a:ea typeface="楷体_GB2312" pitchFamily="49" charset="-122"/>
              </a:rPr>
              <a:t>1945</a:t>
            </a:r>
            <a:r>
              <a:rPr lang="zh-CN" altLang="en-US" sz="2000" dirty="0" smtClean="0">
                <a:latin typeface="楷体_GB2312" pitchFamily="49" charset="-122"/>
                <a:ea typeface="楷体_GB2312" pitchFamily="49" charset="-122"/>
              </a:rPr>
              <a:t>）</a:t>
            </a:r>
            <a:endParaRPr lang="en-US" altLang="zh-CN" sz="2000" dirty="0" smtClean="0">
              <a:latin typeface="楷体_GB2312" pitchFamily="49" charset="-122"/>
              <a:ea typeface="楷体_GB2312" pitchFamily="49" charset="-122"/>
            </a:endParaRPr>
          </a:p>
          <a:p>
            <a:r>
              <a:rPr lang="zh-CN" altLang="en-US" sz="2000" dirty="0">
                <a:latin typeface="楷体_GB2312" pitchFamily="49" charset="-122"/>
                <a:ea typeface="楷体_GB2312" pitchFamily="49" charset="-122"/>
              </a:rPr>
              <a:t>基础</a:t>
            </a:r>
            <a:r>
              <a:rPr lang="zh-CN" altLang="en-US" sz="2000" dirty="0" smtClean="0">
                <a:latin typeface="楷体_GB2312" pitchFamily="49" charset="-122"/>
                <a:ea typeface="楷体_GB2312" pitchFamily="49" charset="-122"/>
              </a:rPr>
              <a:t>研究是一个国家发展的基石，可以导致大量的技术发明和新产品，进而造福经济和国防</a:t>
            </a:r>
            <a:endParaRPr lang="en-US" altLang="zh-CN" sz="2000" dirty="0" smtClean="0">
              <a:latin typeface="楷体_GB2312" pitchFamily="49" charset="-122"/>
              <a:ea typeface="楷体_GB2312" pitchFamily="49" charset="-122"/>
            </a:endParaRPr>
          </a:p>
          <a:p>
            <a:r>
              <a:rPr lang="zh-CN" altLang="en-US" sz="2000" dirty="0" smtClean="0">
                <a:latin typeface="楷体_GB2312" pitchFamily="49" charset="-122"/>
                <a:ea typeface="楷体_GB2312" pitchFamily="49" charset="-122"/>
              </a:rPr>
              <a:t>支持基础研究可以获得无穷的创新，支持经济可持续增长</a:t>
            </a:r>
            <a:endParaRPr lang="en-US" altLang="zh-CN" sz="2000" dirty="0" smtClean="0">
              <a:latin typeface="楷体_GB2312" pitchFamily="49" charset="-122"/>
              <a:ea typeface="楷体_GB2312" pitchFamily="49" charset="-122"/>
            </a:endParaRPr>
          </a:p>
          <a:p>
            <a:r>
              <a:rPr lang="zh-CN" altLang="en-US" sz="2000" dirty="0">
                <a:latin typeface="楷体_GB2312" pitchFamily="49" charset="-122"/>
                <a:ea typeface="楷体_GB2312" pitchFamily="49" charset="-122"/>
              </a:rPr>
              <a:t>前提</a:t>
            </a:r>
            <a:r>
              <a:rPr lang="zh-CN" altLang="en-US" sz="2000" dirty="0" smtClean="0">
                <a:latin typeface="楷体_GB2312" pitchFamily="49" charset="-122"/>
                <a:ea typeface="楷体_GB2312" pitchFamily="49" charset="-122"/>
              </a:rPr>
              <a:t>是科技可以无障碍被企业利用，因此需要支持大学和研究机构，支持产学研合作</a:t>
            </a:r>
            <a:endParaRPr lang="en-US" altLang="zh-CN" sz="200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31244949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06898" y="3933056"/>
            <a:ext cx="8305800" cy="1800200"/>
          </a:xfrm>
        </p:spPr>
        <p:txBody>
          <a:bodyPr/>
          <a:lstStyle/>
          <a:p>
            <a:r>
              <a:rPr lang="zh-CN" altLang="en-US" b="1" dirty="0" smtClean="0"/>
              <a:t>要素稀缺的诱致型技术创新</a:t>
            </a:r>
            <a:r>
              <a:rPr lang="en-US" altLang="zh-CN" b="1" dirty="0" smtClean="0"/>
              <a:t>——</a:t>
            </a:r>
            <a:r>
              <a:rPr lang="zh-CN" altLang="en-US" sz="1800" b="1" dirty="0" smtClean="0"/>
              <a:t>机器替代人工、计算机替代人脑</a:t>
            </a:r>
            <a:endParaRPr lang="en-US" altLang="zh-CN" sz="1800" b="1" dirty="0" smtClean="0"/>
          </a:p>
          <a:p>
            <a:r>
              <a:rPr lang="zh-CN" altLang="en-US" b="1" dirty="0" smtClean="0"/>
              <a:t>技术创新主要是为了替代稀缺的要素</a:t>
            </a:r>
            <a:endParaRPr lang="en-US" altLang="zh-CN" b="1" dirty="0" smtClean="0"/>
          </a:p>
          <a:p>
            <a:r>
              <a:rPr lang="zh-CN" altLang="en-US" b="1" dirty="0" smtClean="0"/>
              <a:t>发明只有两种：一种是引致（</a:t>
            </a:r>
            <a:r>
              <a:rPr lang="en-US" altLang="zh-CN" b="1" dirty="0" smtClean="0"/>
              <a:t>induced</a:t>
            </a:r>
            <a:r>
              <a:rPr lang="zh-CN" altLang="en-US" b="1" dirty="0" smtClean="0"/>
              <a:t>）发明；一种是自主（</a:t>
            </a:r>
            <a:r>
              <a:rPr lang="en-US" altLang="zh-CN" b="1" dirty="0" smtClean="0"/>
              <a:t>autonomous</a:t>
            </a:r>
            <a:r>
              <a:rPr lang="zh-CN" altLang="en-US" b="1" dirty="0" smtClean="0"/>
              <a:t>）发明（派朋的压力锅）</a:t>
            </a:r>
            <a:endParaRPr lang="zh-CN" altLang="en-US"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371" y="1700808"/>
            <a:ext cx="7250113"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a:spLocks/>
          </p:cNvSpPr>
          <p:nvPr/>
        </p:nvSpPr>
        <p:spPr bwMode="auto">
          <a:xfrm>
            <a:off x="323528" y="260648"/>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三、技术创新的过程模型</a:t>
            </a:r>
            <a:endParaRPr lang="zh-CN" altLang="en-US" sz="4800" b="1" dirty="0">
              <a:latin typeface="黑体" pitchFamily="49" charset="-122"/>
              <a:ea typeface="黑体" pitchFamily="49" charset="-122"/>
            </a:endParaRPr>
          </a:p>
        </p:txBody>
      </p:sp>
      <p:sp>
        <p:nvSpPr>
          <p:cNvPr id="6" name="文本占位符 2"/>
          <p:cNvSpPr txBox="1">
            <a:spLocks/>
          </p:cNvSpPr>
          <p:nvPr/>
        </p:nvSpPr>
        <p:spPr bwMode="auto">
          <a:xfrm>
            <a:off x="2699792" y="3356992"/>
            <a:ext cx="3720012"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buNone/>
            </a:pPr>
            <a:r>
              <a:rPr lang="zh-CN" altLang="en-US" b="1" dirty="0" smtClean="0">
                <a:latin typeface="楷体_GB2312" pitchFamily="49" charset="-122"/>
                <a:ea typeface="楷体_GB2312" pitchFamily="49" charset="-122"/>
              </a:rPr>
              <a:t>希克斯技术创新过程模型</a:t>
            </a:r>
            <a:endParaRPr lang="zh-CN" altLang="en-US" b="1" dirty="0">
              <a:latin typeface="楷体_GB2312" pitchFamily="49" charset="-122"/>
              <a:ea typeface="楷体_GB2312" pitchFamily="49" charset="-122"/>
            </a:endParaRPr>
          </a:p>
        </p:txBody>
      </p:sp>
    </p:spTree>
    <p:extLst>
      <p:ext uri="{BB962C8B-B14F-4D97-AF65-F5344CB8AC3E}">
        <p14:creationId xmlns:p14="http://schemas.microsoft.com/office/powerpoint/2010/main" val="15999670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88640"/>
            <a:ext cx="8305800" cy="6669360"/>
          </a:xfrm>
        </p:spPr>
        <p:txBody>
          <a:bodyPr/>
          <a:lstStyle/>
          <a:p>
            <a:r>
              <a:rPr lang="zh-CN" altLang="en-US" b="1" dirty="0"/>
              <a:t>在</a:t>
            </a:r>
            <a:r>
              <a:rPr lang="en-US" altLang="zh-CN" b="1" dirty="0"/>
              <a:t>17</a:t>
            </a:r>
            <a:r>
              <a:rPr lang="zh-CN" altLang="en-US" b="1" dirty="0"/>
              <a:t>世纪末叶，年轻的法国人派朋在伦敦研究蒸汽发动机，他对蒸汽锅炉的研究，引发了他对烹饪用压力锅的发明。他发明的蒸煮锅是圆桶状的，上面有一个能扣紧的盖子和一个自动安全阀。这个安全阀也是派朋的发明</a:t>
            </a:r>
            <a:r>
              <a:rPr lang="zh-CN" altLang="en-US" b="1" dirty="0" smtClean="0"/>
              <a:t>。</a:t>
            </a:r>
            <a:endParaRPr lang="en-US" altLang="zh-CN" b="1" dirty="0" smtClean="0"/>
          </a:p>
          <a:p>
            <a:r>
              <a:rPr lang="en-US" altLang="zh-CN" b="1" dirty="0" smtClean="0"/>
              <a:t>1679</a:t>
            </a:r>
            <a:r>
              <a:rPr lang="zh-CN" altLang="en-US" b="1" dirty="0"/>
              <a:t>年，派朋为皇家学会做现场表演，用这种锅烹制了一些食品，大建筑师</a:t>
            </a:r>
            <a:r>
              <a:rPr lang="en-US" altLang="zh-CN" b="1" dirty="0"/>
              <a:t>C·</a:t>
            </a:r>
            <a:r>
              <a:rPr lang="zh-CN" altLang="en-US" b="1" dirty="0"/>
              <a:t>雷恩觉得这食物美味可口，建议派朋写一本小册子介绍这锅的用法和特点</a:t>
            </a:r>
            <a:r>
              <a:rPr lang="zh-CN" altLang="en-US" b="1" dirty="0" smtClean="0"/>
              <a:t>。</a:t>
            </a:r>
            <a:endParaRPr lang="en-US" altLang="zh-CN" b="1" dirty="0" smtClean="0"/>
          </a:p>
          <a:p>
            <a:r>
              <a:rPr lang="zh-CN" altLang="en-US" b="1" dirty="0" smtClean="0"/>
              <a:t>派</a:t>
            </a:r>
            <a:r>
              <a:rPr lang="zh-CN" altLang="en-US" b="1" dirty="0"/>
              <a:t>朋写道：“这种锅能使又老又硬的牛、羊肉变得又嫩又软，并能保护菜和肉的香味和营养。”但直到二次大战期间，这种锅才在需要考虑节约问题的家庭主妇中普及起来。</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4077072"/>
            <a:ext cx="3528392"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9" y="4077072"/>
            <a:ext cx="2664296" cy="1981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3040" y="4077072"/>
            <a:ext cx="2392812" cy="20379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047893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5661249"/>
            <a:ext cx="8305800" cy="432048"/>
          </a:xfrm>
        </p:spPr>
        <p:txBody>
          <a:bodyPr/>
          <a:lstStyle/>
          <a:p>
            <a:r>
              <a:rPr lang="zh-CN" altLang="en-US" sz="2000" b="1" dirty="0" smtClean="0">
                <a:solidFill>
                  <a:srgbClr val="C00000"/>
                </a:solidFill>
                <a:latin typeface="楷体_GB2312" pitchFamily="49" charset="-122"/>
                <a:ea typeface="楷体_GB2312" pitchFamily="49" charset="-122"/>
              </a:rPr>
              <a:t>专利活动根本上受到市场需求的引导和制约（小米的成功与隐忧）</a:t>
            </a:r>
            <a:endParaRPr lang="zh-CN" altLang="en-US" sz="2000" b="1" dirty="0">
              <a:solidFill>
                <a:srgbClr val="C00000"/>
              </a:solidFill>
              <a:latin typeface="楷体_GB2312" pitchFamily="49" charset="-122"/>
              <a:ea typeface="楷体_GB2312"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071960"/>
            <a:ext cx="8352928"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a:spLocks/>
          </p:cNvSpPr>
          <p:nvPr/>
        </p:nvSpPr>
        <p:spPr bwMode="auto">
          <a:xfrm>
            <a:off x="323528" y="260648"/>
            <a:ext cx="8305800" cy="79208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三、技术创新的过程模型</a:t>
            </a:r>
            <a:endParaRPr lang="zh-CN" altLang="en-US" sz="4800" b="1" dirty="0">
              <a:latin typeface="黑体" pitchFamily="49" charset="-122"/>
              <a:ea typeface="黑体" pitchFamily="49" charset="-122"/>
            </a:endParaRPr>
          </a:p>
        </p:txBody>
      </p:sp>
      <p:sp>
        <p:nvSpPr>
          <p:cNvPr id="6" name="文本占位符 2"/>
          <p:cNvSpPr txBox="1">
            <a:spLocks/>
          </p:cNvSpPr>
          <p:nvPr/>
        </p:nvSpPr>
        <p:spPr bwMode="auto">
          <a:xfrm>
            <a:off x="2267744" y="5157193"/>
            <a:ext cx="5485969"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buNone/>
            </a:pPr>
            <a:r>
              <a:rPr lang="zh-CN" altLang="en-US" sz="2000" b="1" dirty="0" smtClean="0">
                <a:latin typeface="楷体_GB2312" pitchFamily="49" charset="-122"/>
                <a:ea typeface="楷体_GB2312" pitchFamily="49" charset="-122"/>
              </a:rPr>
              <a:t>施莫克乐需求引导的技术创新过程模型</a:t>
            </a:r>
            <a:endParaRPr lang="zh-CN" altLang="en-US" sz="2000" b="1" dirty="0">
              <a:latin typeface="楷体_GB2312" pitchFamily="49" charset="-122"/>
              <a:ea typeface="楷体_GB2312" pitchFamily="49" charset="-122"/>
            </a:endParaRPr>
          </a:p>
        </p:txBody>
      </p:sp>
    </p:spTree>
    <p:extLst>
      <p:ext uri="{BB962C8B-B14F-4D97-AF65-F5344CB8AC3E}">
        <p14:creationId xmlns:p14="http://schemas.microsoft.com/office/powerpoint/2010/main" val="16019529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30821" y="5661248"/>
            <a:ext cx="5026374" cy="494928"/>
          </a:xfrm>
        </p:spPr>
        <p:txBody>
          <a:bodyPr/>
          <a:lstStyle/>
          <a:p>
            <a:r>
              <a:rPr lang="zh-CN" altLang="en-US" sz="3600" b="1" dirty="0">
                <a:latin typeface="楷体_GB2312" pitchFamily="49" charset="-122"/>
                <a:ea typeface="楷体_GB2312" pitchFamily="49" charset="-122"/>
              </a:rPr>
              <a:t>克莱因</a:t>
            </a:r>
            <a:r>
              <a:rPr lang="en-US" altLang="zh-CN" sz="3600" b="1" dirty="0" smtClean="0">
                <a:latin typeface="楷体_GB2312" pitchFamily="49" charset="-122"/>
                <a:ea typeface="楷体_GB2312" pitchFamily="49" charset="-122"/>
              </a:rPr>
              <a:t>&amp;</a:t>
            </a:r>
            <a:r>
              <a:rPr lang="zh-CN" altLang="en-US" sz="3600" b="1" dirty="0" smtClean="0">
                <a:latin typeface="楷体_GB2312" pitchFamily="49" charset="-122"/>
                <a:ea typeface="楷体_GB2312" pitchFamily="49" charset="-122"/>
              </a:rPr>
              <a:t>罗森堡（</a:t>
            </a:r>
            <a:r>
              <a:rPr lang="en-US" altLang="zh-CN" sz="3600" b="1" dirty="0" smtClean="0">
                <a:latin typeface="楷体_GB2312" pitchFamily="49" charset="-122"/>
                <a:ea typeface="楷体_GB2312" pitchFamily="49" charset="-122"/>
              </a:rPr>
              <a:t>1986</a:t>
            </a:r>
            <a:r>
              <a:rPr lang="zh-CN" altLang="en-US" sz="3600" b="1" dirty="0" smtClean="0">
                <a:latin typeface="楷体_GB2312" pitchFamily="49" charset="-122"/>
                <a:ea typeface="楷体_GB2312" pitchFamily="49" charset="-122"/>
              </a:rPr>
              <a:t>）</a:t>
            </a:r>
            <a:endParaRPr lang="zh-CN" altLang="en-US" sz="3600" b="1" dirty="0">
              <a:latin typeface="楷体_GB2312" pitchFamily="49" charset="-122"/>
              <a:ea typeface="楷体_GB2312" pitchFamily="49" charset="-122"/>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3292252"/>
            <a:ext cx="8208912" cy="2368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55" y="1212509"/>
            <a:ext cx="7928348"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标题 1"/>
          <p:cNvSpPr txBox="1">
            <a:spLocks/>
          </p:cNvSpPr>
          <p:nvPr/>
        </p:nvSpPr>
        <p:spPr bwMode="auto">
          <a:xfrm>
            <a:off x="323528" y="116632"/>
            <a:ext cx="8305800" cy="79208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三、技术创新的过程模型</a:t>
            </a:r>
            <a:endParaRPr lang="zh-CN" altLang="en-US" sz="4800" b="1" dirty="0">
              <a:latin typeface="黑体" pitchFamily="49" charset="-122"/>
              <a:ea typeface="黑体" pitchFamily="49" charset="-122"/>
            </a:endParaRPr>
          </a:p>
        </p:txBody>
      </p:sp>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6296" y="5085184"/>
            <a:ext cx="1811610"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55" y="5445224"/>
            <a:ext cx="2160239"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2199" y="908720"/>
            <a:ext cx="2530971"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20510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305800" cy="811560"/>
          </a:xfrm>
        </p:spPr>
        <p:txBody>
          <a:bodyPr/>
          <a:lstStyle/>
          <a:p>
            <a:r>
              <a:rPr lang="zh-CN" altLang="en-US" b="1" dirty="0" smtClean="0"/>
              <a:t>综合案例</a:t>
            </a:r>
            <a:r>
              <a:rPr lang="en-US" altLang="zh-CN" b="1" dirty="0" smtClean="0"/>
              <a:t>1</a:t>
            </a:r>
            <a:r>
              <a:rPr lang="zh-CN" altLang="en-US" b="1" dirty="0" smtClean="0"/>
              <a:t>：苹果手机的蜕变</a:t>
            </a:r>
            <a:endParaRPr lang="zh-CN" altLang="en-US" b="1" dirty="0"/>
          </a:p>
        </p:txBody>
      </p:sp>
      <p:sp>
        <p:nvSpPr>
          <p:cNvPr id="3" name="文本占位符 2"/>
          <p:cNvSpPr>
            <a:spLocks noGrp="1"/>
          </p:cNvSpPr>
          <p:nvPr>
            <p:ph type="body" idx="1"/>
          </p:nvPr>
        </p:nvSpPr>
        <p:spPr>
          <a:xfrm>
            <a:off x="381000" y="1412776"/>
            <a:ext cx="8305800" cy="4378424"/>
          </a:xfrm>
        </p:spPr>
        <p:txBody>
          <a:bodyPr/>
          <a:lstStyle/>
          <a:p>
            <a:r>
              <a:rPr lang="zh-CN" altLang="en-US" b="1" dirty="0"/>
              <a:t>初代</a:t>
            </a:r>
            <a:r>
              <a:rPr lang="en-US" altLang="zh-CN" b="1" dirty="0"/>
              <a:t>iPhone</a:t>
            </a:r>
            <a:r>
              <a:rPr lang="zh-CN" altLang="en-US" b="1" dirty="0"/>
              <a:t>于</a:t>
            </a:r>
            <a:r>
              <a:rPr lang="en-US" altLang="zh-CN" b="1" dirty="0"/>
              <a:t>2007</a:t>
            </a:r>
            <a:r>
              <a:rPr lang="zh-CN" altLang="en-US" b="1" dirty="0"/>
              <a:t>年正式发布，它带有标志性的“</a:t>
            </a:r>
            <a:r>
              <a:rPr lang="en-US" altLang="zh-CN" b="1" dirty="0"/>
              <a:t>Home”</a:t>
            </a:r>
            <a:r>
              <a:rPr lang="zh-CN" altLang="en-US" b="1" dirty="0"/>
              <a:t>按键、金属后壳，它的</a:t>
            </a:r>
            <a:r>
              <a:rPr lang="en-US" altLang="zh-CN" b="1" dirty="0"/>
              <a:t>3.5</a:t>
            </a:r>
            <a:r>
              <a:rPr lang="zh-CN" altLang="en-US" b="1" dirty="0"/>
              <a:t>英寸电容式触摸屏为现代化智能手机奠定了基础</a:t>
            </a:r>
            <a:r>
              <a:rPr lang="zh-CN" altLang="en-US" b="1" dirty="0" smtClean="0"/>
              <a:t>。</a:t>
            </a:r>
            <a:endParaRPr lang="en-US" altLang="zh-CN" b="1" dirty="0" smtClean="0"/>
          </a:p>
          <a:p>
            <a:endParaRPr lang="zh-CN" altLang="en-US" dirty="0"/>
          </a:p>
        </p:txBody>
      </p:sp>
      <p:pic>
        <p:nvPicPr>
          <p:cNvPr id="1026" name="Picture 2" descr="D:\360安全浏览器下载\141031598063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3068960"/>
            <a:ext cx="4286250" cy="300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4495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476672"/>
            <a:ext cx="8305800" cy="5314528"/>
          </a:xfrm>
        </p:spPr>
        <p:txBody>
          <a:bodyPr/>
          <a:lstStyle/>
          <a:p>
            <a:r>
              <a:rPr lang="zh-CN" altLang="en-US" b="1" dirty="0"/>
              <a:t>与初代</a:t>
            </a:r>
            <a:r>
              <a:rPr lang="en-US" altLang="zh-CN" b="1" dirty="0"/>
              <a:t>iPhone</a:t>
            </a:r>
            <a:r>
              <a:rPr lang="zh-CN" altLang="en-US" b="1" dirty="0"/>
              <a:t>一样，</a:t>
            </a:r>
            <a:r>
              <a:rPr lang="en-US" altLang="zh-CN" b="1" dirty="0"/>
              <a:t>iPhone 3G</a:t>
            </a:r>
            <a:r>
              <a:rPr lang="zh-CN" altLang="en-US" b="1" dirty="0"/>
              <a:t>的机身依旧圆润，并且按钮的位置依然保持不变</a:t>
            </a:r>
            <a:r>
              <a:rPr lang="zh-CN" altLang="en-US" b="1" dirty="0" smtClean="0"/>
              <a:t>。但是第二</a:t>
            </a:r>
            <a:r>
              <a:rPr lang="zh-CN" altLang="en-US" b="1" dirty="0"/>
              <a:t>代</a:t>
            </a:r>
            <a:r>
              <a:rPr lang="en-US" altLang="zh-CN" b="1" dirty="0"/>
              <a:t>iPhone</a:t>
            </a:r>
            <a:r>
              <a:rPr lang="zh-CN" altLang="en-US" b="1" dirty="0"/>
              <a:t>包含着众多的改变</a:t>
            </a:r>
            <a:r>
              <a:rPr lang="zh-CN" altLang="en-US" b="1" dirty="0" smtClean="0"/>
              <a:t>。</a:t>
            </a:r>
            <a:endParaRPr lang="en-US" altLang="zh-CN" b="1" dirty="0" smtClean="0"/>
          </a:p>
          <a:p>
            <a:r>
              <a:rPr lang="zh-CN" altLang="en-US" b="1" dirty="0" smtClean="0"/>
              <a:t>首先</a:t>
            </a:r>
            <a:r>
              <a:rPr lang="zh-CN" altLang="en-US" b="1" dirty="0"/>
              <a:t>，</a:t>
            </a:r>
            <a:r>
              <a:rPr lang="en-US" altLang="zh-CN" b="1" dirty="0"/>
              <a:t>iPhone 3G</a:t>
            </a:r>
            <a:r>
              <a:rPr lang="zh-CN" altLang="en-US" b="1" dirty="0"/>
              <a:t>的价格出现下滑，这要归于它所采用的塑料后壳。不过，苹果为</a:t>
            </a:r>
            <a:r>
              <a:rPr lang="en-US" altLang="zh-CN" b="1" dirty="0"/>
              <a:t>iPhone 3G</a:t>
            </a:r>
            <a:r>
              <a:rPr lang="zh-CN" altLang="en-US" b="1" dirty="0"/>
              <a:t>添加了</a:t>
            </a:r>
            <a:r>
              <a:rPr lang="en-US" altLang="zh-CN" b="1" dirty="0"/>
              <a:t>3G</a:t>
            </a:r>
            <a:r>
              <a:rPr lang="zh-CN" altLang="en-US" b="1" dirty="0"/>
              <a:t>连接、</a:t>
            </a:r>
            <a:r>
              <a:rPr lang="en-US" altLang="zh-CN" b="1" dirty="0"/>
              <a:t>GPS</a:t>
            </a:r>
            <a:r>
              <a:rPr lang="zh-CN" altLang="en-US" b="1" dirty="0"/>
              <a:t>、第三方应用程序支持，</a:t>
            </a:r>
            <a:r>
              <a:rPr lang="zh-CN" altLang="en-US" b="1" dirty="0" smtClean="0"/>
              <a:t>并且</a:t>
            </a:r>
            <a:r>
              <a:rPr lang="zh-CN" altLang="en-US" b="1" dirty="0"/>
              <a:t>还引入了白色版本的机型</a:t>
            </a:r>
            <a:r>
              <a:rPr lang="zh-CN" altLang="en-US" b="1" dirty="0" smtClean="0"/>
              <a:t>。</a:t>
            </a:r>
            <a:endParaRPr lang="en-US" altLang="zh-CN" b="1" dirty="0" smtClean="0"/>
          </a:p>
          <a:p>
            <a:endParaRPr lang="en-US" altLang="zh-CN" b="1" dirty="0" smtClean="0"/>
          </a:p>
        </p:txBody>
      </p:sp>
      <p:pic>
        <p:nvPicPr>
          <p:cNvPr id="2050" name="Picture 2" descr="D:\360安全浏览器下载\141031598024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068960"/>
            <a:ext cx="4824536" cy="302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650062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476672"/>
            <a:ext cx="8305800" cy="5314528"/>
          </a:xfrm>
        </p:spPr>
        <p:txBody>
          <a:bodyPr/>
          <a:lstStyle/>
          <a:p>
            <a:r>
              <a:rPr lang="zh-CN" altLang="en-US" b="1" dirty="0"/>
              <a:t>苹果第三代</a:t>
            </a:r>
            <a:r>
              <a:rPr lang="en-US" altLang="zh-CN" b="1" dirty="0"/>
              <a:t>iPhone</a:t>
            </a:r>
            <a:r>
              <a:rPr lang="zh-CN" altLang="en-US" b="1" dirty="0"/>
              <a:t>与第二代</a:t>
            </a:r>
            <a:r>
              <a:rPr lang="en-US" altLang="zh-CN" b="1" dirty="0"/>
              <a:t>iPhone</a:t>
            </a:r>
            <a:r>
              <a:rPr lang="zh-CN" altLang="en-US" b="1" dirty="0"/>
              <a:t>的外观设计几乎相同，它采用相同的塑料后壳，但是其后壳上的“</a:t>
            </a:r>
            <a:r>
              <a:rPr lang="en-US" altLang="zh-CN" b="1" dirty="0"/>
              <a:t>iPhone”</a:t>
            </a:r>
            <a:r>
              <a:rPr lang="zh-CN" altLang="en-US" b="1" dirty="0"/>
              <a:t>以银色字样显示，更为显眼</a:t>
            </a:r>
            <a:r>
              <a:rPr lang="zh-CN" altLang="en-US" b="1" dirty="0" smtClean="0"/>
              <a:t>。</a:t>
            </a:r>
            <a:endParaRPr lang="zh-CN" altLang="en-US" b="1" dirty="0"/>
          </a:p>
          <a:p>
            <a:r>
              <a:rPr lang="zh-CN" altLang="en-US" b="1" dirty="0"/>
              <a:t>就内部配置而言，苹果专注于提高处理器的运行速度，并且后置可拍摄视频的</a:t>
            </a:r>
            <a:r>
              <a:rPr lang="en-US" altLang="zh-CN" b="1" dirty="0"/>
              <a:t>300</a:t>
            </a:r>
            <a:r>
              <a:rPr lang="zh-CN" altLang="en-US" b="1" dirty="0"/>
              <a:t>万像素摄像头。另外，苹果还在</a:t>
            </a:r>
            <a:r>
              <a:rPr lang="en-US" altLang="zh-CN" b="1" dirty="0"/>
              <a:t>iOS 3</a:t>
            </a:r>
            <a:r>
              <a:rPr lang="zh-CN" altLang="en-US" b="1" dirty="0"/>
              <a:t>中引入了语音控制功能以及外界高度期待的剪切、复制和粘贴功能。</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3068960"/>
            <a:ext cx="4286250" cy="285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96807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88640"/>
            <a:ext cx="8305800" cy="6192688"/>
          </a:xfrm>
        </p:spPr>
        <p:txBody>
          <a:bodyPr/>
          <a:lstStyle/>
          <a:p>
            <a:r>
              <a:rPr lang="zh-CN" altLang="en-US" b="1" dirty="0"/>
              <a:t>相较于之前版本的</a:t>
            </a:r>
            <a:r>
              <a:rPr lang="en-US" altLang="zh-CN" b="1" dirty="0"/>
              <a:t>iPhone</a:t>
            </a:r>
            <a:r>
              <a:rPr lang="zh-CN" altLang="en-US" b="1" dirty="0"/>
              <a:t>，</a:t>
            </a:r>
            <a:r>
              <a:rPr lang="en-US" altLang="zh-CN" b="1" dirty="0"/>
              <a:t>iPhone 4</a:t>
            </a:r>
            <a:r>
              <a:rPr lang="zh-CN" altLang="en-US" b="1" dirty="0"/>
              <a:t>的外观设计发生了重大的变化，它的机身采用的是不锈钢与玻璃材质，并且棱角分明</a:t>
            </a:r>
            <a:r>
              <a:rPr lang="zh-CN" altLang="en-US" b="1" dirty="0" smtClean="0"/>
              <a:t>。</a:t>
            </a:r>
            <a:endParaRPr lang="zh-CN" altLang="en-US" b="1" dirty="0"/>
          </a:p>
          <a:p>
            <a:r>
              <a:rPr lang="en-US" altLang="zh-CN" b="1" dirty="0"/>
              <a:t>iPhone 4</a:t>
            </a:r>
            <a:r>
              <a:rPr lang="zh-CN" altLang="en-US" b="1" dirty="0"/>
              <a:t>的前端和背壳采用的均是玻璃材质，边框采用的是不锈钢材质，并且棱角分明，与</a:t>
            </a:r>
            <a:r>
              <a:rPr lang="en-US" altLang="zh-CN" b="1" dirty="0"/>
              <a:t>iPhone 3GS</a:t>
            </a:r>
            <a:r>
              <a:rPr lang="zh-CN" altLang="en-US" b="1" dirty="0"/>
              <a:t>圆润的边框有很大的区别</a:t>
            </a:r>
            <a:r>
              <a:rPr lang="zh-CN" altLang="en-US" b="1" dirty="0" smtClean="0"/>
              <a:t>。</a:t>
            </a:r>
            <a:endParaRPr lang="zh-CN" altLang="en-US" b="1" dirty="0"/>
          </a:p>
          <a:p>
            <a:r>
              <a:rPr lang="zh-CN" altLang="en-US" b="1" dirty="0"/>
              <a:t>与此同时，苹果还在</a:t>
            </a:r>
            <a:r>
              <a:rPr lang="en-US" altLang="zh-CN" b="1" dirty="0"/>
              <a:t>iPhone 4</a:t>
            </a:r>
            <a:r>
              <a:rPr lang="zh-CN" altLang="en-US" b="1" dirty="0"/>
              <a:t>中引入了支持</a:t>
            </a:r>
            <a:r>
              <a:rPr lang="en-US" altLang="zh-CN" b="1" dirty="0"/>
              <a:t>FaceTime</a:t>
            </a:r>
            <a:r>
              <a:rPr lang="zh-CN" altLang="en-US" b="1" dirty="0"/>
              <a:t>功能的前置摄像头，视网膜显示屏以及支持闪光灯的</a:t>
            </a:r>
            <a:r>
              <a:rPr lang="en-US" altLang="zh-CN" b="1" dirty="0"/>
              <a:t>500</a:t>
            </a:r>
            <a:r>
              <a:rPr lang="zh-CN" altLang="en-US" b="1" dirty="0"/>
              <a:t>万像素后置摄像头。</a:t>
            </a:r>
          </a:p>
          <a:p>
            <a:endParaRPr lang="zh-CN" altLang="en-US" dirty="0"/>
          </a:p>
          <a:p>
            <a:endParaRPr lang="zh-CN"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1828" y="3429001"/>
            <a:ext cx="4286250" cy="259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24110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260648"/>
            <a:ext cx="8305800" cy="5530552"/>
          </a:xfrm>
        </p:spPr>
        <p:txBody>
          <a:bodyPr/>
          <a:lstStyle/>
          <a:p>
            <a:r>
              <a:rPr lang="zh-CN" altLang="en-US" b="1" dirty="0"/>
              <a:t>就如</a:t>
            </a:r>
            <a:r>
              <a:rPr lang="en-US" altLang="zh-CN" b="1" dirty="0"/>
              <a:t>3G</a:t>
            </a:r>
            <a:r>
              <a:rPr lang="zh-CN" altLang="en-US" b="1" dirty="0"/>
              <a:t>至</a:t>
            </a:r>
            <a:r>
              <a:rPr lang="en-US" altLang="zh-CN" b="1" dirty="0"/>
              <a:t>3GS</a:t>
            </a:r>
            <a:r>
              <a:rPr lang="zh-CN" altLang="en-US" b="1" dirty="0"/>
              <a:t>的升级一样，苹果</a:t>
            </a:r>
            <a:r>
              <a:rPr lang="en-US" altLang="zh-CN" b="1" dirty="0"/>
              <a:t>iPhone 4S</a:t>
            </a:r>
            <a:r>
              <a:rPr lang="zh-CN" altLang="en-US" b="1" dirty="0"/>
              <a:t>的外形设计基本与</a:t>
            </a:r>
            <a:r>
              <a:rPr lang="en-US" altLang="zh-CN" b="1" dirty="0"/>
              <a:t>iPhone 4</a:t>
            </a:r>
            <a:r>
              <a:rPr lang="zh-CN" altLang="en-US" b="1" dirty="0"/>
              <a:t>保持一致。众所周知，</a:t>
            </a:r>
            <a:r>
              <a:rPr lang="en-US" altLang="zh-CN" b="1" dirty="0"/>
              <a:t>iPhone 4</a:t>
            </a:r>
            <a:r>
              <a:rPr lang="zh-CN" altLang="en-US" b="1" dirty="0"/>
              <a:t>引发了臭名昭著的“天线门”事件，苹果在</a:t>
            </a:r>
            <a:r>
              <a:rPr lang="en-US" altLang="zh-CN" b="1" dirty="0"/>
              <a:t>iPhone 4S</a:t>
            </a:r>
            <a:r>
              <a:rPr lang="zh-CN" altLang="en-US" b="1" dirty="0"/>
              <a:t>中对其封装在不锈钢边框下的双天线进行了改进</a:t>
            </a:r>
            <a:r>
              <a:rPr lang="zh-CN" altLang="en-US" b="1" dirty="0" smtClean="0"/>
              <a:t>。</a:t>
            </a:r>
            <a:endParaRPr lang="zh-CN" altLang="en-US" b="1" dirty="0"/>
          </a:p>
          <a:p>
            <a:r>
              <a:rPr lang="zh-CN" altLang="en-US" b="1" dirty="0"/>
              <a:t>另外，苹果还在</a:t>
            </a:r>
            <a:r>
              <a:rPr lang="en-US" altLang="zh-CN" b="1" dirty="0"/>
              <a:t>iPhone 4S</a:t>
            </a:r>
            <a:r>
              <a:rPr lang="zh-CN" altLang="en-US" b="1" dirty="0"/>
              <a:t>中添加了更快的处理器，支持</a:t>
            </a:r>
            <a:r>
              <a:rPr lang="en-US" altLang="zh-CN" b="1" dirty="0"/>
              <a:t>1080p</a:t>
            </a:r>
            <a:r>
              <a:rPr lang="zh-CN" altLang="en-US" b="1" dirty="0"/>
              <a:t>视频录制的</a:t>
            </a:r>
            <a:r>
              <a:rPr lang="en-US" altLang="zh-CN" b="1" dirty="0"/>
              <a:t>800</a:t>
            </a:r>
            <a:r>
              <a:rPr lang="zh-CN" altLang="en-US" b="1" dirty="0"/>
              <a:t>万像素后置摄像头，并且还支持</a:t>
            </a:r>
            <a:r>
              <a:rPr lang="en-US" altLang="zh-CN" b="1" dirty="0"/>
              <a:t>Siri</a:t>
            </a:r>
            <a:r>
              <a:rPr lang="zh-CN" altLang="en-US" b="1" dirty="0"/>
              <a:t>数字助理功能。</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2708920"/>
            <a:ext cx="5328592"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07025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476672"/>
            <a:ext cx="8305800" cy="5314528"/>
          </a:xfrm>
        </p:spPr>
        <p:txBody>
          <a:bodyPr/>
          <a:lstStyle/>
          <a:p>
            <a:r>
              <a:rPr lang="zh-CN" altLang="en-US" b="1" dirty="0"/>
              <a:t>在</a:t>
            </a:r>
            <a:r>
              <a:rPr lang="en-US" altLang="zh-CN" b="1" dirty="0"/>
              <a:t>iPhone 5</a:t>
            </a:r>
            <a:r>
              <a:rPr lang="zh-CN" altLang="en-US" b="1" dirty="0"/>
              <a:t>中，苹果采用的是</a:t>
            </a:r>
            <a:r>
              <a:rPr lang="en-US" altLang="zh-CN" b="1" dirty="0"/>
              <a:t>4</a:t>
            </a:r>
            <a:r>
              <a:rPr lang="zh-CN" altLang="en-US" b="1" dirty="0"/>
              <a:t>英寸的显示屏，并且机身创下有史以来最轻、最薄。</a:t>
            </a:r>
            <a:r>
              <a:rPr lang="en-US" altLang="zh-CN" b="1" dirty="0"/>
              <a:t>iPhone 5</a:t>
            </a:r>
            <a:r>
              <a:rPr lang="zh-CN" altLang="en-US" b="1" dirty="0"/>
              <a:t>中还包括一个改进的</a:t>
            </a:r>
            <a:r>
              <a:rPr lang="en-US" altLang="zh-CN" b="1" dirty="0"/>
              <a:t>800</a:t>
            </a:r>
            <a:r>
              <a:rPr lang="zh-CN" altLang="en-US" b="1" dirty="0"/>
              <a:t>万像素摄像头以及</a:t>
            </a:r>
            <a:r>
              <a:rPr lang="en-US" altLang="zh-CN" b="1" dirty="0"/>
              <a:t>HD FaceTime</a:t>
            </a:r>
            <a:r>
              <a:rPr lang="zh-CN" altLang="en-US" b="1" dirty="0"/>
              <a:t>摄像头</a:t>
            </a:r>
            <a:r>
              <a:rPr lang="zh-CN" altLang="en-US" b="1" dirty="0" smtClean="0"/>
              <a:t>。</a:t>
            </a:r>
            <a:endParaRPr lang="zh-CN" altLang="en-US" b="1" dirty="0"/>
          </a:p>
          <a:p>
            <a:r>
              <a:rPr lang="zh-CN" altLang="en-US" b="1" dirty="0"/>
              <a:t>除了智能手机本身的改变之外，苹果还为</a:t>
            </a:r>
            <a:r>
              <a:rPr lang="en-US" altLang="zh-CN" b="1" dirty="0"/>
              <a:t>iPhone 5</a:t>
            </a:r>
            <a:r>
              <a:rPr lang="zh-CN" altLang="en-US" b="1" dirty="0"/>
              <a:t>带来了一个全新的</a:t>
            </a:r>
            <a:r>
              <a:rPr lang="en-US" altLang="zh-CN" b="1" dirty="0"/>
              <a:t>Lightning</a:t>
            </a:r>
            <a:r>
              <a:rPr lang="zh-CN" altLang="en-US" b="1" dirty="0"/>
              <a:t>连接器以及一个重新设计的</a:t>
            </a:r>
            <a:r>
              <a:rPr lang="en-US" altLang="zh-CN" b="1" dirty="0" err="1"/>
              <a:t>EarPod</a:t>
            </a:r>
            <a:r>
              <a:rPr lang="zh-CN" altLang="en-US" b="1" dirty="0"/>
              <a:t>耳机。</a:t>
            </a:r>
          </a:p>
          <a:p>
            <a:endParaRPr lang="zh-CN" altLang="en-US" dirty="0"/>
          </a:p>
          <a:p>
            <a:endParaRPr lang="zh-CN"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2708920"/>
            <a:ext cx="5832648"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54674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548680"/>
            <a:ext cx="8305800" cy="5242520"/>
          </a:xfrm>
        </p:spPr>
        <p:txBody>
          <a:bodyPr/>
          <a:lstStyle/>
          <a:p>
            <a:r>
              <a:rPr lang="zh-CN" altLang="en-US" b="1" dirty="0"/>
              <a:t>在发布之前，很多人都期待</a:t>
            </a:r>
            <a:r>
              <a:rPr lang="en-US" altLang="zh-CN" b="1" dirty="0"/>
              <a:t>iPhone 5C</a:t>
            </a:r>
            <a:r>
              <a:rPr lang="zh-CN" altLang="en-US" b="1" dirty="0"/>
              <a:t>会是一款廉价的智能手机，但是事实并非如此。实际上，</a:t>
            </a:r>
            <a:r>
              <a:rPr lang="en-US" altLang="zh-CN" b="1" dirty="0"/>
              <a:t>iPhone 5C</a:t>
            </a:r>
            <a:r>
              <a:rPr lang="zh-CN" altLang="en-US" b="1" dirty="0"/>
              <a:t>就是</a:t>
            </a:r>
            <a:r>
              <a:rPr lang="en-US" altLang="zh-CN" b="1" dirty="0"/>
              <a:t>iPhone 5</a:t>
            </a:r>
            <a:r>
              <a:rPr lang="zh-CN" altLang="en-US" b="1" dirty="0"/>
              <a:t>的塑料版本，并且拥有多彩的外观选择，内部配置与</a:t>
            </a:r>
            <a:r>
              <a:rPr lang="en-US" altLang="zh-CN" b="1" dirty="0"/>
              <a:t>iPhone 5</a:t>
            </a:r>
            <a:r>
              <a:rPr lang="zh-CN" altLang="en-US" b="1" dirty="0" smtClean="0"/>
              <a:t>是一模一样</a:t>
            </a:r>
            <a:r>
              <a:rPr lang="zh-CN" altLang="en-US" b="1" dirty="0"/>
              <a:t>的</a:t>
            </a:r>
            <a:r>
              <a:rPr lang="zh-CN" altLang="en-US" b="1" dirty="0" smtClean="0"/>
              <a:t>。</a:t>
            </a:r>
            <a:endParaRPr lang="en-US" altLang="zh-CN" b="1" dirty="0" smtClean="0"/>
          </a:p>
          <a:p>
            <a:endParaRPr lang="zh-CN" altLang="en-US" b="1"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564904"/>
            <a:ext cx="4896543" cy="2933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3568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548680"/>
            <a:ext cx="8305800" cy="5242520"/>
          </a:xfrm>
        </p:spPr>
        <p:txBody>
          <a:bodyPr/>
          <a:lstStyle/>
          <a:p>
            <a:r>
              <a:rPr lang="zh-CN" altLang="en-US" b="1" dirty="0"/>
              <a:t>一眼望去，</a:t>
            </a:r>
            <a:r>
              <a:rPr lang="en-US" altLang="zh-CN" b="1" dirty="0"/>
              <a:t>iPhone 5S</a:t>
            </a:r>
            <a:r>
              <a:rPr lang="zh-CN" altLang="en-US" b="1" dirty="0"/>
              <a:t>的外观与</a:t>
            </a:r>
            <a:r>
              <a:rPr lang="en-US" altLang="zh-CN" b="1" dirty="0"/>
              <a:t>iPhone 5</a:t>
            </a:r>
            <a:r>
              <a:rPr lang="zh-CN" altLang="en-US" b="1" dirty="0"/>
              <a:t>基本上是一致的，但是它为用户提供了一个金色外观选择。在</a:t>
            </a:r>
            <a:r>
              <a:rPr lang="en-US" altLang="zh-CN" b="1" dirty="0"/>
              <a:t>iPhone 5S</a:t>
            </a:r>
            <a:r>
              <a:rPr lang="zh-CN" altLang="en-US" b="1" dirty="0"/>
              <a:t>中，苹果还重新设计了它的</a:t>
            </a:r>
            <a:r>
              <a:rPr lang="en-US" altLang="zh-CN" b="1" dirty="0"/>
              <a:t>Home</a:t>
            </a:r>
            <a:r>
              <a:rPr lang="zh-CN" altLang="en-US" b="1" dirty="0"/>
              <a:t>按钮，在其下方放置了一</a:t>
            </a:r>
            <a:r>
              <a:rPr lang="zh-CN" altLang="en-US" b="1" dirty="0" smtClean="0"/>
              <a:t>个</a:t>
            </a:r>
            <a:endParaRPr lang="en-US" altLang="zh-CN" b="1" dirty="0" smtClean="0"/>
          </a:p>
          <a:p>
            <a:pPr marL="0" indent="0">
              <a:buNone/>
            </a:pPr>
            <a:r>
              <a:rPr lang="en-US" altLang="zh-CN" b="1" dirty="0"/>
              <a:t> </a:t>
            </a:r>
            <a:r>
              <a:rPr lang="en-US" altLang="zh-CN" b="1" dirty="0" smtClean="0"/>
              <a:t> Touch </a:t>
            </a:r>
            <a:r>
              <a:rPr lang="en-US" altLang="zh-CN" b="1" dirty="0"/>
              <a:t>ID</a:t>
            </a:r>
            <a:r>
              <a:rPr lang="zh-CN" altLang="en-US" b="1" dirty="0"/>
              <a:t>指纹传感器用于解锁设备</a:t>
            </a:r>
            <a:r>
              <a:rPr lang="zh-CN" altLang="en-US" b="1" dirty="0" smtClean="0"/>
              <a:t>。</a:t>
            </a:r>
            <a:endParaRPr lang="en-US" altLang="zh-CN" b="1" dirty="0" smtClean="0"/>
          </a:p>
          <a:p>
            <a:pPr marL="0" indent="0">
              <a:buNone/>
            </a:pPr>
            <a:endParaRPr lang="zh-CN" altLang="en-US" b="1"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8245" y="2420888"/>
            <a:ext cx="4286250" cy="305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707276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404664"/>
            <a:ext cx="8305800" cy="5544616"/>
          </a:xfrm>
        </p:spPr>
        <p:txBody>
          <a:bodyPr/>
          <a:lstStyle/>
          <a:p>
            <a:r>
              <a:rPr lang="en-US" altLang="zh-CN" b="1" dirty="0"/>
              <a:t>iPhone 6</a:t>
            </a:r>
            <a:r>
              <a:rPr lang="zh-CN" altLang="en-US" b="1" dirty="0"/>
              <a:t>和</a:t>
            </a:r>
            <a:r>
              <a:rPr lang="en-US" altLang="zh-CN" b="1" dirty="0"/>
              <a:t>iPhone 6 Plus</a:t>
            </a:r>
            <a:r>
              <a:rPr lang="zh-CN" altLang="en-US" b="1" dirty="0"/>
              <a:t>最为显著的改进就是其更大的显示屏，</a:t>
            </a:r>
            <a:r>
              <a:rPr lang="en-US" altLang="zh-CN" b="1" dirty="0"/>
              <a:t>iPhone 6</a:t>
            </a:r>
            <a:r>
              <a:rPr lang="zh-CN" altLang="en-US" b="1" dirty="0"/>
              <a:t>采用的是</a:t>
            </a:r>
            <a:r>
              <a:rPr lang="en-US" altLang="zh-CN" b="1" dirty="0"/>
              <a:t>4.7</a:t>
            </a:r>
            <a:r>
              <a:rPr lang="zh-CN" altLang="en-US" b="1" dirty="0"/>
              <a:t>英寸显示屏，而</a:t>
            </a:r>
            <a:r>
              <a:rPr lang="en-US" altLang="zh-CN" b="1" dirty="0"/>
              <a:t>iPhone 6 Plus</a:t>
            </a:r>
            <a:r>
              <a:rPr lang="zh-CN" altLang="en-US" b="1" dirty="0"/>
              <a:t>采用的则是</a:t>
            </a:r>
            <a:r>
              <a:rPr lang="en-US" altLang="zh-CN" b="1" dirty="0"/>
              <a:t>5.5</a:t>
            </a:r>
            <a:r>
              <a:rPr lang="zh-CN" altLang="en-US" b="1" dirty="0"/>
              <a:t>英寸显示屏</a:t>
            </a:r>
            <a:r>
              <a:rPr lang="zh-CN" altLang="en-US" b="1" dirty="0" smtClean="0"/>
              <a:t>。</a:t>
            </a:r>
            <a:endParaRPr lang="en-US" altLang="zh-CN" b="1" dirty="0" smtClean="0"/>
          </a:p>
          <a:p>
            <a:r>
              <a:rPr lang="en-US" altLang="zh-CN" b="1" dirty="0" smtClean="0"/>
              <a:t>iPhone </a:t>
            </a:r>
            <a:r>
              <a:rPr lang="en-US" altLang="zh-CN" b="1" dirty="0"/>
              <a:t>6</a:t>
            </a:r>
            <a:r>
              <a:rPr lang="zh-CN" altLang="en-US" b="1" dirty="0"/>
              <a:t>和</a:t>
            </a:r>
            <a:r>
              <a:rPr lang="en-US" altLang="zh-CN" b="1" dirty="0"/>
              <a:t>iPhone 6 Plus</a:t>
            </a:r>
            <a:r>
              <a:rPr lang="zh-CN" altLang="en-US" b="1" dirty="0"/>
              <a:t>均配置视网膜显示屏，并且内置</a:t>
            </a:r>
            <a:r>
              <a:rPr lang="en-US" altLang="zh-CN" b="1" dirty="0"/>
              <a:t>NFC</a:t>
            </a:r>
            <a:r>
              <a:rPr lang="zh-CN" altLang="en-US" b="1" dirty="0"/>
              <a:t>芯片和</a:t>
            </a:r>
            <a:r>
              <a:rPr lang="en-US" altLang="zh-CN" b="1" dirty="0"/>
              <a:t>Touch ID</a:t>
            </a:r>
            <a:r>
              <a:rPr lang="zh-CN" altLang="en-US" b="1" dirty="0"/>
              <a:t>指纹传感器用于</a:t>
            </a:r>
            <a:r>
              <a:rPr lang="en-US" altLang="zh-CN" b="1" dirty="0"/>
              <a:t>Apple Pay</a:t>
            </a:r>
            <a:r>
              <a:rPr lang="zh-CN" altLang="en-US" b="1" dirty="0"/>
              <a:t>移动支付</a:t>
            </a:r>
            <a:r>
              <a:rPr lang="zh-CN" altLang="en-US" b="1" dirty="0" smtClean="0"/>
              <a:t>。</a:t>
            </a:r>
            <a:endParaRPr lang="en-US" altLang="zh-CN" b="1" dirty="0" smtClean="0"/>
          </a:p>
          <a:p>
            <a:r>
              <a:rPr lang="en-US" altLang="zh-CN" b="1" dirty="0" smtClean="0"/>
              <a:t>iPhone </a:t>
            </a:r>
            <a:r>
              <a:rPr lang="en-US" altLang="zh-CN" b="1" dirty="0"/>
              <a:t>6</a:t>
            </a:r>
            <a:r>
              <a:rPr lang="zh-CN" altLang="en-US" b="1" dirty="0"/>
              <a:t>和</a:t>
            </a:r>
            <a:r>
              <a:rPr lang="en-US" altLang="zh-CN" b="1" dirty="0"/>
              <a:t>iPhone 6 Plus</a:t>
            </a:r>
            <a:r>
              <a:rPr lang="zh-CN" altLang="en-US" b="1" dirty="0"/>
              <a:t>搭载的是性能更高的</a:t>
            </a:r>
            <a:r>
              <a:rPr lang="en-US" altLang="zh-CN" b="1" dirty="0"/>
              <a:t>A8</a:t>
            </a:r>
            <a:r>
              <a:rPr lang="zh-CN" altLang="en-US" b="1" dirty="0"/>
              <a:t>处理器，并且后置支持光学防抖的</a:t>
            </a:r>
            <a:r>
              <a:rPr lang="en-US" altLang="zh-CN" b="1" dirty="0"/>
              <a:t>800</a:t>
            </a:r>
            <a:r>
              <a:rPr lang="zh-CN" altLang="en-US" b="1" dirty="0"/>
              <a:t>万像素摄像头。</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3356992"/>
            <a:ext cx="4286250" cy="2705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540270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260648"/>
            <a:ext cx="8305800" cy="6264696"/>
          </a:xfrm>
        </p:spPr>
        <p:txBody>
          <a:bodyPr/>
          <a:lstStyle/>
          <a:p>
            <a:r>
              <a:rPr lang="en-US" altLang="zh-CN" sz="2000" b="1" dirty="0"/>
              <a:t>iPhone 7</a:t>
            </a:r>
            <a:r>
              <a:rPr lang="zh-CN" altLang="en-US" sz="2000" b="1" dirty="0"/>
              <a:t>是</a:t>
            </a:r>
            <a:r>
              <a:rPr lang="en-US" altLang="zh-CN" sz="2000" b="1" dirty="0"/>
              <a:t>Apple</a:t>
            </a:r>
            <a:r>
              <a:rPr lang="zh-CN" altLang="en-US" sz="2000" b="1" dirty="0"/>
              <a:t>（苹果公司）第</a:t>
            </a:r>
            <a:r>
              <a:rPr lang="en-US" altLang="zh-CN" sz="2000" b="1" dirty="0"/>
              <a:t>10</a:t>
            </a:r>
            <a:r>
              <a:rPr lang="zh-CN" altLang="en-US" sz="2000" b="1" dirty="0"/>
              <a:t>代手机，北京时间</a:t>
            </a:r>
            <a:r>
              <a:rPr lang="en-US" altLang="zh-CN" sz="2000" b="1" dirty="0"/>
              <a:t>2016</a:t>
            </a:r>
            <a:r>
              <a:rPr lang="zh-CN" altLang="en-US" sz="2000" b="1" dirty="0"/>
              <a:t>年</a:t>
            </a:r>
            <a:r>
              <a:rPr lang="en-US" altLang="zh-CN" sz="2000" b="1" dirty="0"/>
              <a:t>9</a:t>
            </a:r>
            <a:r>
              <a:rPr lang="zh-CN" altLang="en-US" sz="2000" b="1" dirty="0"/>
              <a:t>月</a:t>
            </a:r>
            <a:r>
              <a:rPr lang="en-US" altLang="zh-CN" sz="2000" b="1" dirty="0"/>
              <a:t>8</a:t>
            </a:r>
            <a:r>
              <a:rPr lang="zh-CN" altLang="en-US" sz="2000" b="1" dirty="0"/>
              <a:t>日凌晨</a:t>
            </a:r>
            <a:r>
              <a:rPr lang="en-US" altLang="zh-CN" sz="2000" b="1" dirty="0"/>
              <a:t>1</a:t>
            </a:r>
            <a:r>
              <a:rPr lang="zh-CN" altLang="en-US" sz="2000" b="1" dirty="0" smtClean="0"/>
              <a:t>点发布，</a:t>
            </a:r>
            <a:r>
              <a:rPr lang="en-US" altLang="zh-CN" sz="2000" b="1" dirty="0" smtClean="0"/>
              <a:t> iPhone </a:t>
            </a:r>
            <a:r>
              <a:rPr lang="en-US" altLang="zh-CN" sz="2000" b="1" dirty="0"/>
              <a:t>7</a:t>
            </a:r>
            <a:r>
              <a:rPr lang="zh-CN" altLang="en-US" sz="2000" b="1" dirty="0"/>
              <a:t>拥有金色、银色、玫瑰金色、黑色、亮黑色、红色</a:t>
            </a:r>
            <a:r>
              <a:rPr lang="en-US" altLang="zh-CN" sz="2000" b="1" dirty="0"/>
              <a:t>(</a:t>
            </a:r>
            <a:r>
              <a:rPr lang="zh-CN" altLang="en-US" sz="2000" b="1" dirty="0"/>
              <a:t>特别版，后增加</a:t>
            </a:r>
            <a:r>
              <a:rPr lang="en-US" altLang="zh-CN" sz="2000" b="1" dirty="0"/>
              <a:t>)</a:t>
            </a:r>
            <a:r>
              <a:rPr lang="zh-CN" altLang="en-US" sz="2000" b="1" dirty="0"/>
              <a:t>六种颜色</a:t>
            </a:r>
            <a:r>
              <a:rPr lang="zh-CN" altLang="en-US" sz="2000" b="1" dirty="0" smtClean="0"/>
              <a:t>。</a:t>
            </a:r>
            <a:endParaRPr lang="en-US" altLang="zh-CN" sz="2000" b="1" dirty="0" smtClean="0"/>
          </a:p>
          <a:p>
            <a:r>
              <a:rPr lang="en-US" altLang="zh-CN" sz="2000" b="1" dirty="0" smtClean="0"/>
              <a:t>Home</a:t>
            </a:r>
            <a:r>
              <a:rPr lang="zh-CN" altLang="en-US" sz="2000" b="1" dirty="0"/>
              <a:t>键有了全新的设计，添加了振动反馈。并且支持</a:t>
            </a:r>
            <a:r>
              <a:rPr lang="en-US" altLang="zh-CN" sz="2000" b="1" dirty="0"/>
              <a:t>IP67</a:t>
            </a:r>
            <a:r>
              <a:rPr lang="zh-CN" altLang="en-US" sz="2000" b="1" dirty="0"/>
              <a:t>防溅抗水防尘</a:t>
            </a:r>
            <a:r>
              <a:rPr lang="zh-CN" altLang="en-US" sz="2000" b="1" dirty="0" smtClean="0"/>
              <a:t>功能，</a:t>
            </a:r>
            <a:r>
              <a:rPr lang="zh-CN" altLang="en-US" sz="2000" b="1" dirty="0"/>
              <a:t>前</a:t>
            </a:r>
            <a:r>
              <a:rPr lang="en-US" altLang="zh-CN" sz="2000" b="1" dirty="0"/>
              <a:t>/</a:t>
            </a:r>
            <a:r>
              <a:rPr lang="zh-CN" altLang="en-US" sz="2000" b="1" dirty="0"/>
              <a:t>后单摄像头，防抖功能，新增了速度更快的</a:t>
            </a:r>
            <a:r>
              <a:rPr lang="en-US" altLang="zh-CN" sz="2000" b="1" dirty="0"/>
              <a:t>A10 Fusion</a:t>
            </a:r>
            <a:r>
              <a:rPr lang="zh-CN" altLang="en-US" sz="2000" b="1" dirty="0"/>
              <a:t>处理器。</a:t>
            </a:r>
          </a:p>
          <a:p>
            <a:r>
              <a:rPr lang="en-US" altLang="zh-CN" sz="2000" b="1" dirty="0"/>
              <a:t>iPhone 7</a:t>
            </a:r>
            <a:r>
              <a:rPr lang="zh-CN" altLang="en-US" sz="2000" b="1" dirty="0"/>
              <a:t>取消了</a:t>
            </a:r>
            <a:r>
              <a:rPr lang="en-US" altLang="zh-CN" sz="2000" b="1" dirty="0"/>
              <a:t>3.5mm</a:t>
            </a:r>
            <a:r>
              <a:rPr lang="zh-CN" altLang="en-US" sz="2000" b="1" dirty="0"/>
              <a:t>耳机接口，推出新耳机</a:t>
            </a:r>
            <a:r>
              <a:rPr lang="en-US" altLang="zh-CN" sz="2000" b="1" dirty="0"/>
              <a:t>Apple </a:t>
            </a:r>
            <a:r>
              <a:rPr lang="en-US" altLang="zh-CN" sz="2000" b="1" dirty="0" err="1"/>
              <a:t>AirPods</a:t>
            </a:r>
            <a:r>
              <a:rPr lang="zh-CN" altLang="en-US" sz="2000" b="1" dirty="0"/>
              <a:t>，采用</a:t>
            </a:r>
            <a:r>
              <a:rPr lang="en-US" altLang="zh-CN" sz="2000" b="1" dirty="0"/>
              <a:t>W1</a:t>
            </a:r>
            <a:r>
              <a:rPr lang="zh-CN" altLang="en-US" sz="2000" b="1" dirty="0"/>
              <a:t>芯片，有传感器，电池，都放在小小的</a:t>
            </a:r>
            <a:r>
              <a:rPr lang="zh-CN" altLang="en-US" sz="2000" b="1" dirty="0" smtClean="0"/>
              <a:t>耳机中。</a:t>
            </a:r>
            <a:endParaRPr lang="en-US" altLang="zh-CN" sz="2000" b="1" dirty="0"/>
          </a:p>
          <a:p>
            <a:r>
              <a:rPr lang="en-US" altLang="zh-CN" sz="2000" b="1" dirty="0" smtClean="0"/>
              <a:t>iPhone7 </a:t>
            </a:r>
            <a:r>
              <a:rPr lang="en-US" altLang="zh-CN" sz="2000" b="1" dirty="0"/>
              <a:t>Plus</a:t>
            </a:r>
            <a:r>
              <a:rPr lang="zh-CN" altLang="en-US" sz="2000" b="1" dirty="0"/>
              <a:t>的电池容量只有</a:t>
            </a:r>
            <a:r>
              <a:rPr lang="en-US" altLang="zh-CN" sz="2000" b="1" dirty="0"/>
              <a:t>2900mAh</a:t>
            </a:r>
            <a:r>
              <a:rPr lang="zh-CN" altLang="en-US" sz="2000" b="1" dirty="0"/>
              <a:t>，相比</a:t>
            </a:r>
            <a:r>
              <a:rPr lang="en-US" altLang="zh-CN" sz="2000" b="1" dirty="0" smtClean="0"/>
              <a:t>iPhone6 </a:t>
            </a:r>
            <a:r>
              <a:rPr lang="en-US" altLang="zh-CN" sz="2000" b="1" dirty="0"/>
              <a:t>Plus</a:t>
            </a:r>
            <a:r>
              <a:rPr lang="zh-CN" altLang="en-US" sz="2000" b="1" dirty="0"/>
              <a:t>上的</a:t>
            </a:r>
            <a:r>
              <a:rPr lang="en-US" altLang="zh-CN" sz="2000" b="1" dirty="0"/>
              <a:t>2915mAh</a:t>
            </a:r>
            <a:r>
              <a:rPr lang="zh-CN" altLang="en-US" sz="2000" b="1" dirty="0"/>
              <a:t>在容量上还小那么一点点，却能建立在更强悍的</a:t>
            </a:r>
            <a:r>
              <a:rPr lang="en-US" altLang="zh-CN" sz="2000" b="1" dirty="0"/>
              <a:t>A10 Fusion</a:t>
            </a:r>
            <a:r>
              <a:rPr lang="zh-CN" altLang="en-US" sz="2000" b="1" dirty="0"/>
              <a:t>处理器上多提供超过一个小时的续航时间</a:t>
            </a:r>
            <a:r>
              <a:rPr lang="en-US" altLang="zh-CN" sz="2000" b="1" dirty="0"/>
              <a:t>,iPhone 7 Plus</a:t>
            </a:r>
            <a:r>
              <a:rPr lang="zh-CN" altLang="en-US" sz="2000" b="1" dirty="0"/>
              <a:t>使用双摄像头</a:t>
            </a:r>
            <a:r>
              <a:rPr lang="zh-CN" altLang="en-US" sz="2000" b="1" dirty="0" smtClean="0"/>
              <a:t>。</a:t>
            </a:r>
            <a:endParaRPr lang="en-US" altLang="zh-CN" sz="2000" b="1" dirty="0" smtClean="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7039" y="4005064"/>
            <a:ext cx="2901106" cy="20570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9121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lstStyle/>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88640"/>
            <a:ext cx="8712968" cy="6093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490805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Iphone</a:t>
            </a:r>
            <a:r>
              <a:rPr lang="en-US" altLang="zh-CN" dirty="0" smtClean="0"/>
              <a:t> </a:t>
            </a:r>
            <a:r>
              <a:rPr lang="en-US" altLang="zh-CN" dirty="0" err="1" smtClean="0"/>
              <a:t>xs</a:t>
            </a:r>
            <a:r>
              <a:rPr lang="zh-CN" altLang="en-US" dirty="0" smtClean="0"/>
              <a:t>和</a:t>
            </a:r>
            <a:r>
              <a:rPr lang="en-US" altLang="zh-CN" dirty="0" err="1" smtClean="0"/>
              <a:t>Iphone</a:t>
            </a:r>
            <a:r>
              <a:rPr lang="en-US" altLang="zh-CN" dirty="0" smtClean="0"/>
              <a:t> </a:t>
            </a:r>
            <a:r>
              <a:rPr lang="en-US" altLang="zh-CN" dirty="0" err="1" smtClean="0"/>
              <a:t>xs</a:t>
            </a:r>
            <a:r>
              <a:rPr lang="en-US" altLang="zh-CN" dirty="0" smtClean="0"/>
              <a:t> max</a:t>
            </a:r>
            <a:endParaRPr lang="zh-CN" altLang="en-US" dirty="0"/>
          </a:p>
        </p:txBody>
      </p:sp>
      <p:sp>
        <p:nvSpPr>
          <p:cNvPr id="3" name="文本占位符 2"/>
          <p:cNvSpPr>
            <a:spLocks noGrp="1"/>
          </p:cNvSpPr>
          <p:nvPr>
            <p:ph type="body" idx="1"/>
          </p:nvPr>
        </p:nvSpPr>
        <p:spPr/>
        <p:txBody>
          <a:bodyPr/>
          <a:lstStyle/>
          <a:p>
            <a:endParaRPr lang="zh-CN" altLang="en-US"/>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9" y="1643063"/>
            <a:ext cx="6264920" cy="50262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96716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305800" cy="1143000"/>
          </a:xfrm>
        </p:spPr>
        <p:txBody>
          <a:bodyPr/>
          <a:lstStyle/>
          <a:p>
            <a:r>
              <a:rPr lang="zh-CN" altLang="en-US" b="1" dirty="0" smtClean="0"/>
              <a:t>综合案例</a:t>
            </a:r>
            <a:r>
              <a:rPr lang="en-US" altLang="zh-CN" b="1" dirty="0" smtClean="0"/>
              <a:t>2</a:t>
            </a:r>
            <a:r>
              <a:rPr lang="zh-CN" altLang="en-US" b="1" dirty="0" smtClean="0"/>
              <a:t>：</a:t>
            </a:r>
            <a:r>
              <a:rPr lang="en-US" altLang="zh-CN" b="1" dirty="0" smtClean="0"/>
              <a:t>2018</a:t>
            </a:r>
            <a:r>
              <a:rPr lang="zh-CN" altLang="en-US" b="1" dirty="0" smtClean="0"/>
              <a:t>年诺奖趣谈</a:t>
            </a:r>
            <a:endParaRPr lang="zh-CN" altLang="en-US" b="1" dirty="0"/>
          </a:p>
        </p:txBody>
      </p:sp>
      <p:sp>
        <p:nvSpPr>
          <p:cNvPr id="3" name="文本占位符 2"/>
          <p:cNvSpPr>
            <a:spLocks noGrp="1"/>
          </p:cNvSpPr>
          <p:nvPr>
            <p:ph type="body" idx="1"/>
          </p:nvPr>
        </p:nvSpPr>
        <p:spPr>
          <a:xfrm>
            <a:off x="395536" y="1196752"/>
            <a:ext cx="8305800" cy="4488904"/>
          </a:xfrm>
        </p:spPr>
        <p:txBody>
          <a:bodyPr/>
          <a:lstStyle/>
          <a:p>
            <a:r>
              <a:rPr lang="zh-CN" altLang="en-US" dirty="0" smtClean="0">
                <a:latin typeface="楷体_GB2312" panose="02010609030101010101" pitchFamily="49" charset="-122"/>
                <a:ea typeface="楷体_GB2312" panose="02010609030101010101" pitchFamily="49" charset="-122"/>
              </a:rPr>
              <a:t>瑞典皇家科学院</a:t>
            </a:r>
            <a:r>
              <a:rPr lang="en-US" altLang="zh-CN" dirty="0" smtClean="0">
                <a:latin typeface="楷体_GB2312" panose="02010609030101010101" pitchFamily="49" charset="-122"/>
                <a:ea typeface="楷体_GB2312" panose="02010609030101010101" pitchFamily="49" charset="-122"/>
              </a:rPr>
              <a:t>10</a:t>
            </a:r>
            <a:r>
              <a:rPr lang="zh-CN" altLang="en-US" dirty="0" smtClean="0">
                <a:latin typeface="楷体_GB2312" panose="02010609030101010101" pitchFamily="49" charset="-122"/>
                <a:ea typeface="楷体_GB2312" panose="02010609030101010101" pitchFamily="49" charset="-122"/>
              </a:rPr>
              <a:t>月２日</a:t>
            </a:r>
            <a:r>
              <a:rPr lang="zh-CN" altLang="en-US" dirty="0">
                <a:latin typeface="楷体_GB2312" panose="02010609030101010101" pitchFamily="49" charset="-122"/>
                <a:ea typeface="楷体_GB2312" panose="02010609030101010101" pitchFamily="49" charset="-122"/>
              </a:rPr>
              <a:t>宣布，</a:t>
            </a:r>
            <a:r>
              <a:rPr lang="zh-CN" altLang="en-US" dirty="0" smtClean="0">
                <a:latin typeface="楷体_GB2312" panose="02010609030101010101" pitchFamily="49" charset="-122"/>
                <a:ea typeface="楷体_GB2312" panose="02010609030101010101" pitchFamily="49" charset="-122"/>
              </a:rPr>
              <a:t>将</a:t>
            </a:r>
            <a:r>
              <a:rPr lang="en-US" altLang="zh-CN" dirty="0" smtClean="0">
                <a:latin typeface="楷体_GB2312" panose="02010609030101010101" pitchFamily="49" charset="-122"/>
                <a:ea typeface="楷体_GB2312" panose="02010609030101010101" pitchFamily="49" charset="-122"/>
              </a:rPr>
              <a:t>2018</a:t>
            </a:r>
            <a:r>
              <a:rPr lang="zh-CN" altLang="en-US" dirty="0" smtClean="0">
                <a:latin typeface="楷体_GB2312" panose="02010609030101010101" pitchFamily="49" charset="-122"/>
                <a:ea typeface="楷体_GB2312" panose="02010609030101010101" pitchFamily="49" charset="-122"/>
              </a:rPr>
              <a:t>年</a:t>
            </a:r>
            <a:r>
              <a:rPr lang="zh-CN" altLang="en-US" dirty="0">
                <a:latin typeface="楷体_GB2312" panose="02010609030101010101" pitchFamily="49" charset="-122"/>
                <a:ea typeface="楷体_GB2312" panose="02010609030101010101" pitchFamily="49" charset="-122"/>
              </a:rPr>
              <a:t>诺贝尔物理学奖授予美国科学家阿瑟</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阿什金、法国科学家热拉尔</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穆鲁以及加拿大科学家唐娜</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斯特里克兰（</a:t>
            </a:r>
            <a:r>
              <a:rPr lang="zh-CN" altLang="en-US" b="1" dirty="0">
                <a:latin typeface="楷体_GB2312" panose="02010609030101010101" pitchFamily="49" charset="-122"/>
                <a:ea typeface="楷体_GB2312" panose="02010609030101010101" pitchFamily="49" charset="-122"/>
              </a:rPr>
              <a:t>加拿大滑铁卢大学副教授</a:t>
            </a:r>
            <a:r>
              <a:rPr lang="zh-CN" altLang="en-US" dirty="0">
                <a:latin typeface="楷体_GB2312" panose="02010609030101010101" pitchFamily="49" charset="-122"/>
                <a:ea typeface="楷体_GB2312" panose="02010609030101010101" pitchFamily="49" charset="-122"/>
              </a:rPr>
              <a:t>），以表彰他们在激光物理学领域的突破性贡献</a:t>
            </a:r>
            <a:r>
              <a:rPr lang="zh-CN" altLang="en-US" dirty="0" smtClean="0">
                <a:latin typeface="楷体_GB2312" panose="02010609030101010101" pitchFamily="49" charset="-122"/>
                <a:ea typeface="楷体_GB2312" panose="02010609030101010101" pitchFamily="49" charset="-122"/>
              </a:rPr>
              <a:t>。</a:t>
            </a:r>
            <a:endParaRPr lang="zh-CN" altLang="en-US" dirty="0">
              <a:latin typeface="楷体_GB2312" panose="02010609030101010101" pitchFamily="49" charset="-122"/>
              <a:ea typeface="楷体_GB2312" panose="02010609030101010101" pitchFamily="49" charset="-122"/>
            </a:endParaRPr>
          </a:p>
          <a:p>
            <a:r>
              <a:rPr lang="zh-CN" altLang="en-US" dirty="0" smtClean="0">
                <a:latin typeface="楷体_GB2312" panose="02010609030101010101" pitchFamily="49" charset="-122"/>
                <a:ea typeface="楷体_GB2312" panose="02010609030101010101" pitchFamily="49" charset="-122"/>
              </a:rPr>
              <a:t>阿</a:t>
            </a:r>
            <a:r>
              <a:rPr lang="zh-CN" altLang="en-US" dirty="0">
                <a:latin typeface="楷体_GB2312" panose="02010609030101010101" pitchFamily="49" charset="-122"/>
                <a:ea typeface="楷体_GB2312" panose="02010609030101010101" pitchFamily="49" charset="-122"/>
              </a:rPr>
              <a:t>什金发明的光镊工具能够“夹”住微小如原子、病毒以及活细胞等物体，这让研究人员实现了科幻小说中的场景</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利用激光束操纵和移动物体</a:t>
            </a:r>
            <a:r>
              <a:rPr lang="zh-CN" altLang="en-US" dirty="0" smtClean="0">
                <a:latin typeface="楷体_GB2312" panose="02010609030101010101" pitchFamily="49" charset="-122"/>
                <a:ea typeface="楷体_GB2312" panose="02010609030101010101" pitchFamily="49" charset="-122"/>
              </a:rPr>
              <a:t>。</a:t>
            </a:r>
            <a:endParaRPr lang="zh-CN" altLang="en-US" dirty="0">
              <a:latin typeface="楷体_GB2312" panose="02010609030101010101" pitchFamily="49" charset="-122"/>
              <a:ea typeface="楷体_GB2312" panose="02010609030101010101" pitchFamily="49" charset="-122"/>
            </a:endParaRPr>
          </a:p>
          <a:p>
            <a:r>
              <a:rPr lang="zh-CN" altLang="en-US" dirty="0" smtClean="0">
                <a:latin typeface="楷体_GB2312" panose="02010609030101010101" pitchFamily="49" charset="-122"/>
                <a:ea typeface="楷体_GB2312" panose="02010609030101010101" pitchFamily="49" charset="-122"/>
              </a:rPr>
              <a:t>穆</a:t>
            </a:r>
            <a:r>
              <a:rPr lang="zh-CN" altLang="en-US" dirty="0">
                <a:latin typeface="楷体_GB2312" panose="02010609030101010101" pitchFamily="49" charset="-122"/>
                <a:ea typeface="楷体_GB2312" panose="02010609030101010101" pitchFamily="49" charset="-122"/>
              </a:rPr>
              <a:t>鲁和斯特里克兰的科研突破则为实现更短和更强的激光脉冲打下基础。他们发明的</a:t>
            </a:r>
            <a:r>
              <a:rPr lang="zh-CN" altLang="en-US" dirty="0" smtClean="0">
                <a:latin typeface="楷体_GB2312" panose="02010609030101010101" pitchFamily="49" charset="-122"/>
                <a:ea typeface="楷体_GB2312" panose="02010609030101010101" pitchFamily="49" charset="-122"/>
              </a:rPr>
              <a:t>啁啾（</a:t>
            </a:r>
            <a:r>
              <a:rPr lang="en-US" altLang="zh-CN" dirty="0" err="1" smtClean="0">
                <a:latin typeface="楷体_GB2312" panose="02010609030101010101" pitchFamily="49" charset="-122"/>
                <a:ea typeface="楷体_GB2312" panose="02010609030101010101" pitchFamily="49" charset="-122"/>
              </a:rPr>
              <a:t>zhou</a:t>
            </a:r>
            <a:r>
              <a:rPr lang="en-US" altLang="zh-CN" dirty="0" smtClean="0">
                <a:latin typeface="楷体_GB2312" panose="02010609030101010101" pitchFamily="49" charset="-122"/>
                <a:ea typeface="楷体_GB2312" panose="02010609030101010101" pitchFamily="49" charset="-122"/>
              </a:rPr>
              <a:t> </a:t>
            </a:r>
            <a:r>
              <a:rPr lang="en-US" altLang="zh-CN" dirty="0" err="1" smtClean="0">
                <a:latin typeface="楷体_GB2312" panose="02010609030101010101" pitchFamily="49" charset="-122"/>
                <a:ea typeface="楷体_GB2312" panose="02010609030101010101" pitchFamily="49" charset="-122"/>
              </a:rPr>
              <a:t>jiu</a:t>
            </a:r>
            <a:r>
              <a:rPr lang="zh-CN" altLang="en-US" dirty="0" smtClean="0">
                <a:latin typeface="楷体_GB2312" panose="02010609030101010101" pitchFamily="49" charset="-122"/>
                <a:ea typeface="楷体_GB2312" panose="02010609030101010101" pitchFamily="49" charset="-122"/>
              </a:rPr>
              <a:t>）脉冲</a:t>
            </a:r>
            <a:r>
              <a:rPr lang="zh-CN" altLang="en-US" dirty="0">
                <a:latin typeface="楷体_GB2312" panose="02010609030101010101" pitchFamily="49" charset="-122"/>
                <a:ea typeface="楷体_GB2312" panose="02010609030101010101" pitchFamily="49" charset="-122"/>
              </a:rPr>
              <a:t>放大技术，已经成为高强度激光的标准，应用于众多领域，例如目前广泛开展的激光视力矫正手术。</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168" y="5085184"/>
            <a:ext cx="1544588" cy="1829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16085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332656"/>
            <a:ext cx="8305800" cy="4032448"/>
          </a:xfrm>
        </p:spPr>
        <p:txBody>
          <a:bodyPr/>
          <a:lstStyle/>
          <a:p>
            <a:r>
              <a:rPr lang="en-US" altLang="zh-CN" b="1" dirty="0">
                <a:latin typeface="楷体_GB2312" panose="02010609030101010101" pitchFamily="49" charset="-122"/>
                <a:ea typeface="楷体_GB2312" panose="02010609030101010101" pitchFamily="49" charset="-122"/>
              </a:rPr>
              <a:t>2018 </a:t>
            </a:r>
            <a:r>
              <a:rPr lang="zh-CN" altLang="en-US" b="1" dirty="0">
                <a:latin typeface="楷体_GB2312" panose="02010609030101010101" pitchFamily="49" charset="-122"/>
                <a:ea typeface="楷体_GB2312" panose="02010609030101010101" pitchFamily="49" charset="-122"/>
              </a:rPr>
              <a:t>年 </a:t>
            </a:r>
            <a:r>
              <a:rPr lang="en-US" altLang="zh-CN" b="1" dirty="0">
                <a:latin typeface="楷体_GB2312" panose="02010609030101010101" pitchFamily="49" charset="-122"/>
                <a:ea typeface="楷体_GB2312" panose="02010609030101010101" pitchFamily="49" charset="-122"/>
              </a:rPr>
              <a:t>10 </a:t>
            </a:r>
            <a:r>
              <a:rPr lang="zh-CN" altLang="en-US" b="1" dirty="0">
                <a:latin typeface="楷体_GB2312" panose="02010609030101010101" pitchFamily="49" charset="-122"/>
                <a:ea typeface="楷体_GB2312" panose="02010609030101010101" pitchFamily="49" charset="-122"/>
              </a:rPr>
              <a:t>月 </a:t>
            </a:r>
            <a:r>
              <a:rPr lang="en-US" altLang="zh-CN" b="1" dirty="0">
                <a:latin typeface="楷体_GB2312" panose="02010609030101010101" pitchFamily="49" charset="-122"/>
                <a:ea typeface="楷体_GB2312" panose="02010609030101010101" pitchFamily="49" charset="-122"/>
              </a:rPr>
              <a:t>1 </a:t>
            </a:r>
            <a:r>
              <a:rPr lang="zh-CN" altLang="en-US" b="1" dirty="0" smtClean="0">
                <a:latin typeface="楷体_GB2312" panose="02010609030101010101" pitchFamily="49" charset="-122"/>
                <a:ea typeface="楷体_GB2312" panose="02010609030101010101" pitchFamily="49" charset="-122"/>
              </a:rPr>
              <a:t>日</a:t>
            </a:r>
            <a:r>
              <a:rPr lang="en-US" altLang="zh-CN" b="1" dirty="0" smtClean="0">
                <a:latin typeface="楷体_GB2312" panose="02010609030101010101" pitchFamily="49" charset="-122"/>
                <a:ea typeface="楷体_GB2312" panose="02010609030101010101" pitchFamily="49" charset="-122"/>
              </a:rPr>
              <a:t>,</a:t>
            </a:r>
            <a:r>
              <a:rPr lang="zh-CN" altLang="en-US" b="1" dirty="0" smtClean="0">
                <a:latin typeface="楷体_GB2312" panose="02010609030101010101" pitchFamily="49" charset="-122"/>
                <a:ea typeface="楷体_GB2312" panose="02010609030101010101" pitchFamily="49" charset="-122"/>
              </a:rPr>
              <a:t>美国</a:t>
            </a:r>
            <a:r>
              <a:rPr lang="zh-CN" altLang="en-US" b="1" dirty="0">
                <a:latin typeface="楷体_GB2312" panose="02010609030101010101" pitchFamily="49" charset="-122"/>
                <a:ea typeface="楷体_GB2312" panose="02010609030101010101" pitchFamily="49" charset="-122"/>
              </a:rPr>
              <a:t>免疫学家詹姆斯</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艾利森（</a:t>
            </a:r>
            <a:r>
              <a:rPr lang="en-US" altLang="zh-CN" b="1" dirty="0">
                <a:latin typeface="楷体_GB2312" panose="02010609030101010101" pitchFamily="49" charset="-122"/>
                <a:ea typeface="楷体_GB2312" panose="02010609030101010101" pitchFamily="49" charset="-122"/>
              </a:rPr>
              <a:t>James P Alison</a:t>
            </a:r>
            <a:r>
              <a:rPr lang="zh-CN" altLang="en-US" b="1" dirty="0">
                <a:latin typeface="楷体_GB2312" panose="02010609030101010101" pitchFamily="49" charset="-122"/>
                <a:ea typeface="楷体_GB2312" panose="02010609030101010101" pitchFamily="49" charset="-122"/>
              </a:rPr>
              <a:t>）和日本免疫学家本庶佑（</a:t>
            </a:r>
            <a:r>
              <a:rPr lang="en-US" altLang="zh-CN" b="1" dirty="0" err="1">
                <a:latin typeface="楷体_GB2312" panose="02010609030101010101" pitchFamily="49" charset="-122"/>
                <a:ea typeface="楷体_GB2312" panose="02010609030101010101" pitchFamily="49" charset="-122"/>
              </a:rPr>
              <a:t>Tasuku</a:t>
            </a:r>
            <a:r>
              <a:rPr lang="en-US" altLang="zh-CN" b="1" dirty="0">
                <a:latin typeface="楷体_GB2312" panose="02010609030101010101" pitchFamily="49" charset="-122"/>
                <a:ea typeface="楷体_GB2312" panose="02010609030101010101" pitchFamily="49" charset="-122"/>
              </a:rPr>
              <a:t> </a:t>
            </a:r>
            <a:r>
              <a:rPr lang="en-US" altLang="zh-CN" b="1" dirty="0" err="1">
                <a:latin typeface="楷体_GB2312" panose="02010609030101010101" pitchFamily="49" charset="-122"/>
                <a:ea typeface="楷体_GB2312" panose="02010609030101010101" pitchFamily="49" charset="-122"/>
              </a:rPr>
              <a:t>Honjo</a:t>
            </a:r>
            <a:r>
              <a:rPr lang="zh-CN" altLang="en-US" b="1" dirty="0">
                <a:latin typeface="楷体_GB2312" panose="02010609030101010101" pitchFamily="49" charset="-122"/>
                <a:ea typeface="楷体_GB2312" panose="02010609030101010101" pitchFamily="49" charset="-122"/>
              </a:rPr>
              <a:t>）因为在肿瘤免疫领域做出的贡献，荣获 </a:t>
            </a:r>
            <a:r>
              <a:rPr lang="en-US" altLang="zh-CN" b="1" dirty="0">
                <a:latin typeface="楷体_GB2312" panose="02010609030101010101" pitchFamily="49" charset="-122"/>
                <a:ea typeface="楷体_GB2312" panose="02010609030101010101" pitchFamily="49" charset="-122"/>
              </a:rPr>
              <a:t>2018 </a:t>
            </a:r>
            <a:r>
              <a:rPr lang="zh-CN" altLang="en-US" b="1" dirty="0">
                <a:latin typeface="楷体_GB2312" panose="02010609030101010101" pitchFamily="49" charset="-122"/>
                <a:ea typeface="楷体_GB2312" panose="02010609030101010101" pitchFamily="49" charset="-122"/>
              </a:rPr>
              <a:t>年诺贝尔生理学或医学奖</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a:latin typeface="楷体_GB2312" panose="02010609030101010101" pitchFamily="49" charset="-122"/>
                <a:ea typeface="楷体_GB2312" panose="02010609030101010101" pitchFamily="49" charset="-122"/>
              </a:rPr>
              <a:t>詹姆斯</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艾利森（</a:t>
            </a:r>
            <a:r>
              <a:rPr lang="en-US" altLang="zh-CN" b="1" dirty="0">
                <a:latin typeface="楷体_GB2312" panose="02010609030101010101" pitchFamily="49" charset="-122"/>
                <a:ea typeface="楷体_GB2312" panose="02010609030101010101" pitchFamily="49" charset="-122"/>
              </a:rPr>
              <a:t>James P</a:t>
            </a:r>
            <a:r>
              <a:rPr lang="zh-CN" altLang="en-US" b="1" dirty="0">
                <a:latin typeface="楷体_GB2312" panose="02010609030101010101" pitchFamily="49" charset="-122"/>
                <a:ea typeface="楷体_GB2312" panose="02010609030101010101" pitchFamily="49" charset="-122"/>
              </a:rPr>
              <a:t>。 </a:t>
            </a:r>
            <a:r>
              <a:rPr lang="en-US" altLang="zh-CN" b="1" dirty="0">
                <a:latin typeface="楷体_GB2312" panose="02010609030101010101" pitchFamily="49" charset="-122"/>
                <a:ea typeface="楷体_GB2312" panose="02010609030101010101" pitchFamily="49" charset="-122"/>
              </a:rPr>
              <a:t>Allison</a:t>
            </a:r>
            <a:r>
              <a:rPr lang="zh-CN" altLang="en-US" b="1" dirty="0">
                <a:latin typeface="楷体_GB2312" panose="02010609030101010101" pitchFamily="49" charset="-122"/>
                <a:ea typeface="楷体_GB2312" panose="02010609030101010101" pitchFamily="49" charset="-122"/>
              </a:rPr>
              <a:t>）是美国著名免疫学家，美国得克萨斯大学</a:t>
            </a:r>
            <a:r>
              <a:rPr lang="en-US" altLang="zh-CN" b="1" dirty="0">
                <a:latin typeface="楷体_GB2312" panose="02010609030101010101" pitchFamily="49" charset="-122"/>
                <a:ea typeface="楷体_GB2312" panose="02010609030101010101" pitchFamily="49" charset="-122"/>
              </a:rPr>
              <a:t>M·D·</a:t>
            </a:r>
            <a:r>
              <a:rPr lang="zh-CN" altLang="en-US" b="1" dirty="0">
                <a:latin typeface="楷体_GB2312" panose="02010609030101010101" pitchFamily="49" charset="-122"/>
                <a:ea typeface="楷体_GB2312" panose="02010609030101010101" pitchFamily="49" charset="-122"/>
              </a:rPr>
              <a:t>安德森癌症中心免疫学研究平台负责人、免疫学教授。艾利森被认为是分离出</a:t>
            </a:r>
            <a:r>
              <a:rPr lang="en-US" altLang="zh-CN" b="1" dirty="0">
                <a:latin typeface="楷体_GB2312" panose="02010609030101010101" pitchFamily="49" charset="-122"/>
                <a:ea typeface="楷体_GB2312" panose="02010609030101010101" pitchFamily="49" charset="-122"/>
              </a:rPr>
              <a:t>T</a:t>
            </a:r>
            <a:r>
              <a:rPr lang="zh-CN" altLang="en-US" b="1" dirty="0">
                <a:latin typeface="楷体_GB2312" panose="02010609030101010101" pitchFamily="49" charset="-122"/>
                <a:ea typeface="楷体_GB2312" panose="02010609030101010101" pitchFamily="49" charset="-122"/>
              </a:rPr>
              <a:t>细胞抗原（</a:t>
            </a:r>
            <a:r>
              <a:rPr lang="en-US" altLang="zh-CN" b="1" dirty="0">
                <a:latin typeface="楷体_GB2312" panose="02010609030101010101" pitchFamily="49" charset="-122"/>
                <a:ea typeface="楷体_GB2312" panose="02010609030101010101" pitchFamily="49" charset="-122"/>
              </a:rPr>
              <a:t>T-cell antigen</a:t>
            </a:r>
            <a:r>
              <a:rPr lang="zh-CN" altLang="en-US" b="1" dirty="0">
                <a:latin typeface="楷体_GB2312" panose="02010609030101010101" pitchFamily="49" charset="-122"/>
                <a:ea typeface="楷体_GB2312" panose="02010609030101010101" pitchFamily="49" charset="-122"/>
              </a:rPr>
              <a:t>）复合物蛋白的第一人，他同时发现，如果可以暂时抑制</a:t>
            </a:r>
            <a:r>
              <a:rPr lang="en-US" altLang="zh-CN" b="1" dirty="0">
                <a:latin typeface="楷体_GB2312" panose="02010609030101010101" pitchFamily="49" charset="-122"/>
                <a:ea typeface="楷体_GB2312" panose="02010609030101010101" pitchFamily="49" charset="-122"/>
              </a:rPr>
              <a:t>T</a:t>
            </a:r>
            <a:r>
              <a:rPr lang="zh-CN" altLang="en-US" b="1" dirty="0">
                <a:latin typeface="楷体_GB2312" panose="02010609030101010101" pitchFamily="49" charset="-122"/>
                <a:ea typeface="楷体_GB2312" panose="02010609030101010101" pitchFamily="49" charset="-122"/>
              </a:rPr>
              <a:t>细胞表面表达的</a:t>
            </a:r>
            <a:r>
              <a:rPr lang="en-US" altLang="zh-CN" b="1" dirty="0">
                <a:latin typeface="楷体_GB2312" panose="02010609030101010101" pitchFamily="49" charset="-122"/>
                <a:ea typeface="楷体_GB2312" panose="02010609030101010101" pitchFamily="49" charset="-122"/>
              </a:rPr>
              <a:t>CTLA-4</a:t>
            </a:r>
            <a:r>
              <a:rPr lang="zh-CN" altLang="en-US" b="1" dirty="0">
                <a:latin typeface="楷体_GB2312" panose="02010609030101010101" pitchFamily="49" charset="-122"/>
                <a:ea typeface="楷体_GB2312" panose="02010609030101010101" pitchFamily="49" charset="-122"/>
              </a:rPr>
              <a:t>这一免疫系统“分子刹车”的活性，就能提高免疫系统对肿瘤细胞的攻击性，从而缩小肿瘤的体积。他对</a:t>
            </a:r>
            <a:r>
              <a:rPr lang="en-US" altLang="zh-CN" b="1" dirty="0">
                <a:latin typeface="楷体_GB2312" panose="02010609030101010101" pitchFamily="49" charset="-122"/>
                <a:ea typeface="楷体_GB2312" panose="02010609030101010101" pitchFamily="49" charset="-122"/>
              </a:rPr>
              <a:t>T</a:t>
            </a:r>
            <a:r>
              <a:rPr lang="zh-CN" altLang="en-US" b="1" dirty="0">
                <a:latin typeface="楷体_GB2312" panose="02010609030101010101" pitchFamily="49" charset="-122"/>
                <a:ea typeface="楷体_GB2312" panose="02010609030101010101" pitchFamily="49" charset="-122"/>
              </a:rPr>
              <a:t>细胞发育和激活，以及及免疫系统“刹车”的卓越研究</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pPr marL="0" indent="0">
              <a:buNone/>
            </a:pPr>
            <a:r>
              <a:rPr lang="en-US" altLang="zh-CN" b="1" dirty="0">
                <a:latin typeface="楷体_GB2312" panose="02010609030101010101" pitchFamily="49" charset="-122"/>
                <a:ea typeface="楷体_GB2312" panose="02010609030101010101" pitchFamily="49" charset="-122"/>
              </a:rPr>
              <a:t> </a:t>
            </a:r>
            <a:r>
              <a:rPr lang="en-US" altLang="zh-CN" b="1" dirty="0" smtClean="0">
                <a:latin typeface="楷体_GB2312" panose="02010609030101010101" pitchFamily="49" charset="-122"/>
                <a:ea typeface="楷体_GB2312" panose="02010609030101010101" pitchFamily="49" charset="-122"/>
              </a:rPr>
              <a:t> </a:t>
            </a:r>
            <a:r>
              <a:rPr lang="zh-CN" altLang="en-US" b="1" dirty="0" smtClean="0">
                <a:latin typeface="楷体_GB2312" panose="02010609030101010101" pitchFamily="49" charset="-122"/>
                <a:ea typeface="楷体_GB2312" panose="02010609030101010101" pitchFamily="49" charset="-122"/>
              </a:rPr>
              <a:t>为</a:t>
            </a:r>
            <a:r>
              <a:rPr lang="zh-CN" altLang="en-US" b="1" dirty="0">
                <a:latin typeface="楷体_GB2312" panose="02010609030101010101" pitchFamily="49" charset="-122"/>
                <a:ea typeface="楷体_GB2312" panose="02010609030101010101" pitchFamily="49" charset="-122"/>
              </a:rPr>
              <a:t>癌症治疗开创了全新的免疫治疗</a:t>
            </a:r>
            <a:r>
              <a:rPr lang="zh-CN" altLang="en-US" b="1" dirty="0" smtClean="0">
                <a:latin typeface="楷体_GB2312" panose="02010609030101010101" pitchFamily="49" charset="-122"/>
                <a:ea typeface="楷体_GB2312" panose="02010609030101010101" pitchFamily="49" charset="-122"/>
              </a:rPr>
              <a:t>思路</a:t>
            </a:r>
            <a:endParaRPr lang="en-US" altLang="zh-CN" b="1" dirty="0" smtClean="0">
              <a:latin typeface="楷体_GB2312" panose="02010609030101010101" pitchFamily="49" charset="-122"/>
              <a:ea typeface="楷体_GB2312" panose="02010609030101010101" pitchFamily="49" charset="-122"/>
            </a:endParaRPr>
          </a:p>
          <a:p>
            <a:pPr marL="0" indent="0">
              <a:buNone/>
            </a:pPr>
            <a:r>
              <a:rPr lang="en-US" altLang="zh-CN" b="1" dirty="0" smtClean="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释放免疫系统自身的能力来攻击肿瘤。</a:t>
            </a:r>
            <a:endParaRPr lang="en-US" altLang="zh-CN" b="1" dirty="0" smtClean="0">
              <a:latin typeface="楷体_GB2312" panose="02010609030101010101" pitchFamily="49" charset="-122"/>
              <a:ea typeface="楷体_GB2312" panose="02010609030101010101" pitchFamily="49" charset="-122"/>
            </a:endParaRPr>
          </a:p>
          <a:p>
            <a:endParaRPr lang="zh-CN" altLang="en-US" sz="2000" dirty="0">
              <a:latin typeface="楷体_GB2312" panose="02010609030101010101" pitchFamily="49" charset="-122"/>
              <a:ea typeface="楷体_GB2312" panose="02010609030101010101"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8184" y="4603534"/>
            <a:ext cx="2907764" cy="2254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68699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332656"/>
            <a:ext cx="8305800" cy="5832648"/>
          </a:xfrm>
        </p:spPr>
        <p:txBody>
          <a:bodyPr/>
          <a:lstStyle/>
          <a:p>
            <a:r>
              <a:rPr lang="zh-CN" altLang="en-US" b="1" dirty="0">
                <a:latin typeface="楷体_GB2312" panose="02010609030101010101" pitchFamily="49" charset="-122"/>
                <a:ea typeface="楷体_GB2312" panose="02010609030101010101" pitchFamily="49" charset="-122"/>
              </a:rPr>
              <a:t>本庶佑（</a:t>
            </a:r>
            <a:r>
              <a:rPr lang="en-US" altLang="zh-CN" b="1" dirty="0" err="1">
                <a:latin typeface="楷体_GB2312" panose="02010609030101010101" pitchFamily="49" charset="-122"/>
                <a:ea typeface="楷体_GB2312" panose="02010609030101010101" pitchFamily="49" charset="-122"/>
              </a:rPr>
              <a:t>Tasuku</a:t>
            </a:r>
            <a:r>
              <a:rPr lang="en-US" altLang="zh-CN" b="1" dirty="0">
                <a:latin typeface="楷体_GB2312" panose="02010609030101010101" pitchFamily="49" charset="-122"/>
                <a:ea typeface="楷体_GB2312" panose="02010609030101010101" pitchFamily="49" charset="-122"/>
              </a:rPr>
              <a:t> </a:t>
            </a:r>
            <a:r>
              <a:rPr lang="en-US" altLang="zh-CN" b="1" dirty="0" err="1">
                <a:latin typeface="楷体_GB2312" panose="02010609030101010101" pitchFamily="49" charset="-122"/>
                <a:ea typeface="楷体_GB2312" panose="02010609030101010101" pitchFamily="49" charset="-122"/>
              </a:rPr>
              <a:t>Honjo</a:t>
            </a:r>
            <a:r>
              <a:rPr lang="zh-CN" altLang="en-US" b="1" dirty="0">
                <a:latin typeface="楷体_GB2312" panose="02010609030101010101" pitchFamily="49" charset="-122"/>
                <a:ea typeface="楷体_GB2312" panose="02010609030101010101" pitchFamily="49" charset="-122"/>
              </a:rPr>
              <a:t>）日本免疫学家，美国国家科学院外籍院士，日本学士院会员。现任京都大学高等研究院特别教授。</a:t>
            </a:r>
          </a:p>
          <a:p>
            <a:r>
              <a:rPr lang="zh-CN" altLang="en-US" b="1" dirty="0" smtClean="0">
                <a:latin typeface="楷体_GB2312" panose="02010609030101010101" pitchFamily="49" charset="-122"/>
                <a:ea typeface="楷体_GB2312" panose="02010609030101010101" pitchFamily="49" charset="-122"/>
              </a:rPr>
              <a:t>完成</a:t>
            </a:r>
            <a:r>
              <a:rPr lang="zh-CN" altLang="en-US" b="1" dirty="0">
                <a:latin typeface="楷体_GB2312" panose="02010609030101010101" pitchFamily="49" charset="-122"/>
                <a:ea typeface="楷体_GB2312" panose="02010609030101010101" pitchFamily="49" charset="-122"/>
              </a:rPr>
              <a:t>学业后，本庶曾在京都大学、东京大学医学部任助手。此一时间，他也兼任了美国卡内基研究所、美国国立卫生研究院的客座研究员，在许多美国研究机关以客座身份活动。</a:t>
            </a:r>
            <a:r>
              <a:rPr lang="en-US" altLang="zh-CN" b="1" dirty="0">
                <a:latin typeface="楷体_GB2312" panose="02010609030101010101" pitchFamily="49" charset="-122"/>
                <a:ea typeface="楷体_GB2312" panose="02010609030101010101" pitchFamily="49" charset="-122"/>
              </a:rPr>
              <a:t>1984</a:t>
            </a:r>
            <a:r>
              <a:rPr lang="zh-CN" altLang="en-US" b="1" dirty="0">
                <a:latin typeface="楷体_GB2312" panose="02010609030101010101" pitchFamily="49" charset="-122"/>
                <a:ea typeface="楷体_GB2312" panose="02010609030101010101" pitchFamily="49" charset="-122"/>
              </a:rPr>
              <a:t>年开始在京大专职，担任了京都大学基因实验设施的负责人。此后数十年，他又担任过弘前大学教授、京大研究科长、医学部学部长等职</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en-US" altLang="zh-CN" b="1" dirty="0" smtClean="0">
                <a:latin typeface="楷体_GB2312" panose="02010609030101010101" pitchFamily="49" charset="-122"/>
                <a:ea typeface="楷体_GB2312" panose="02010609030101010101" pitchFamily="49" charset="-122"/>
              </a:rPr>
              <a:t>2005</a:t>
            </a:r>
            <a:r>
              <a:rPr lang="zh-CN" altLang="en-US" b="1" dirty="0">
                <a:latin typeface="楷体_GB2312" panose="02010609030101010101" pitchFamily="49" charset="-122"/>
                <a:ea typeface="楷体_GB2312" panose="02010609030101010101" pitchFamily="49" charset="-122"/>
              </a:rPr>
              <a:t>年开始转为京大教授。本庶教授建立了免疫球蛋白类型转换的基本概念框架，他提出了一个解释抗体基因在模式转换中变化的模型。</a:t>
            </a:r>
            <a:r>
              <a:rPr lang="en-US" altLang="zh-CN" b="1" dirty="0">
                <a:latin typeface="楷体_GB2312" panose="02010609030101010101" pitchFamily="49" charset="-122"/>
                <a:ea typeface="楷体_GB2312" panose="02010609030101010101" pitchFamily="49" charset="-122"/>
              </a:rPr>
              <a:t>1992</a:t>
            </a:r>
            <a:r>
              <a:rPr lang="zh-CN" altLang="en-US" b="1" dirty="0">
                <a:latin typeface="楷体_GB2312" panose="02010609030101010101" pitchFamily="49" charset="-122"/>
                <a:ea typeface="楷体_GB2312" panose="02010609030101010101" pitchFamily="49" charset="-122"/>
              </a:rPr>
              <a:t>年，本庶首先鉴定</a:t>
            </a:r>
            <a:r>
              <a:rPr lang="en-US" altLang="zh-CN" b="1" dirty="0">
                <a:latin typeface="楷体_GB2312" panose="02010609030101010101" pitchFamily="49" charset="-122"/>
                <a:ea typeface="楷体_GB2312" panose="02010609030101010101" pitchFamily="49" charset="-122"/>
              </a:rPr>
              <a:t>PD-1</a:t>
            </a:r>
            <a:r>
              <a:rPr lang="zh-CN" altLang="en-US" b="1" dirty="0">
                <a:latin typeface="楷体_GB2312" panose="02010609030101010101" pitchFamily="49" charset="-122"/>
                <a:ea typeface="楷体_GB2312" panose="02010609030101010101" pitchFamily="49" charset="-122"/>
              </a:rPr>
              <a:t>为活化</a:t>
            </a:r>
            <a:r>
              <a:rPr lang="en-US" altLang="zh-CN" b="1" dirty="0">
                <a:latin typeface="楷体_GB2312" panose="02010609030101010101" pitchFamily="49" charset="-122"/>
                <a:ea typeface="楷体_GB2312" panose="02010609030101010101" pitchFamily="49" charset="-122"/>
              </a:rPr>
              <a:t>T</a:t>
            </a:r>
            <a:r>
              <a:rPr lang="zh-CN" altLang="en-US" b="1" dirty="0">
                <a:latin typeface="楷体_GB2312" panose="02010609030101010101" pitchFamily="49" charset="-122"/>
                <a:ea typeface="楷体_GB2312" panose="02010609030101010101" pitchFamily="49" charset="-122"/>
              </a:rPr>
              <a:t>淋巴细胞上的诱导型基因，这一发现为</a:t>
            </a:r>
            <a:r>
              <a:rPr lang="en-US" altLang="zh-CN" b="1" dirty="0">
                <a:latin typeface="楷体_GB2312" panose="02010609030101010101" pitchFamily="49" charset="-122"/>
                <a:ea typeface="楷体_GB2312" panose="02010609030101010101" pitchFamily="49" charset="-122"/>
              </a:rPr>
              <a:t>PD-1</a:t>
            </a:r>
            <a:r>
              <a:rPr lang="zh-CN" altLang="en-US" b="1" dirty="0">
                <a:latin typeface="楷体_GB2312" panose="02010609030101010101" pitchFamily="49" charset="-122"/>
                <a:ea typeface="楷体_GB2312" panose="02010609030101010101" pitchFamily="49" charset="-122"/>
              </a:rPr>
              <a:t>阻断建立癌症免疫治疗原理做出了重大贡献，曾在</a:t>
            </a:r>
            <a:r>
              <a:rPr lang="en-US" altLang="zh-CN" b="1" dirty="0">
                <a:latin typeface="楷体_GB2312" panose="02010609030101010101" pitchFamily="49" charset="-122"/>
                <a:ea typeface="楷体_GB2312" panose="02010609030101010101" pitchFamily="49" charset="-122"/>
              </a:rPr>
              <a:t>2013</a:t>
            </a:r>
            <a:r>
              <a:rPr lang="zh-CN" altLang="en-US" b="1" dirty="0">
                <a:latin typeface="楷体_GB2312" panose="02010609030101010101" pitchFamily="49" charset="-122"/>
                <a:ea typeface="楷体_GB2312" panose="02010609030101010101" pitchFamily="49" charset="-122"/>
              </a:rPr>
              <a:t>年被</a:t>
            </a:r>
            <a:r>
              <a:rPr lang="en-US" altLang="zh-CN" b="1" dirty="0">
                <a:latin typeface="楷体_GB2312" panose="02010609030101010101" pitchFamily="49" charset="-122"/>
                <a:ea typeface="楷体_GB2312" panose="02010609030101010101" pitchFamily="49" charset="-122"/>
              </a:rPr>
              <a:t>《Science》</a:t>
            </a:r>
            <a:r>
              <a:rPr lang="zh-CN" altLang="en-US" b="1" dirty="0">
                <a:latin typeface="楷体_GB2312" panose="02010609030101010101" pitchFamily="49" charset="-122"/>
                <a:ea typeface="楷体_GB2312" panose="02010609030101010101" pitchFamily="49" charset="-122"/>
              </a:rPr>
              <a:t>评为年度十大科学突破之首。</a:t>
            </a:r>
          </a:p>
          <a:p>
            <a:endParaRPr lang="zh-CN" altLang="en-US" dirty="0"/>
          </a:p>
        </p:txBody>
      </p:sp>
    </p:spTree>
    <p:extLst>
      <p:ext uri="{BB962C8B-B14F-4D97-AF65-F5344CB8AC3E}">
        <p14:creationId xmlns:p14="http://schemas.microsoft.com/office/powerpoint/2010/main" val="1056046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404664"/>
            <a:ext cx="8305800" cy="5832648"/>
          </a:xfrm>
        </p:spPr>
        <p:txBody>
          <a:bodyPr/>
          <a:lstStyle/>
          <a:p>
            <a:r>
              <a:rPr lang="zh-CN" altLang="en-US" sz="2000" b="1" dirty="0">
                <a:latin typeface="楷体_GB2312" panose="02010609030101010101" pitchFamily="49" charset="-122"/>
                <a:ea typeface="楷体_GB2312" panose="02010609030101010101" pitchFamily="49" charset="-122"/>
              </a:rPr>
              <a:t>华人科学家、美国耶鲁大学医学院免疫学教授陈列平发现了</a:t>
            </a:r>
            <a:r>
              <a:rPr lang="en-US" altLang="zh-CN" sz="2000" b="1" dirty="0">
                <a:latin typeface="楷体_GB2312" panose="02010609030101010101" pitchFamily="49" charset="-122"/>
                <a:ea typeface="楷体_GB2312" panose="02010609030101010101" pitchFamily="49" charset="-122"/>
              </a:rPr>
              <a:t>PD-L1</a:t>
            </a:r>
            <a:r>
              <a:rPr lang="zh-CN" altLang="en-US" sz="2000" b="1" dirty="0">
                <a:latin typeface="楷体_GB2312" panose="02010609030101010101" pitchFamily="49" charset="-122"/>
                <a:ea typeface="楷体_GB2312" panose="02010609030101010101" pitchFamily="49" charset="-122"/>
              </a:rPr>
              <a:t>抗体在癌症治疗上的作用并将其推至临床。业内专家评论，陈列平奠定了肿瘤免疫调节分子领域的半壁江山，这样的一个人却与“诺奖”擦肩而过，让本届诺贝尔奖的掌声中夹杂着几分唏嘘。</a:t>
            </a:r>
          </a:p>
          <a:p>
            <a:r>
              <a:rPr lang="zh-CN" altLang="en-US" sz="2000" b="1" dirty="0">
                <a:latin typeface="楷体_GB2312" panose="02010609030101010101" pitchFamily="49" charset="-122"/>
                <a:ea typeface="楷体_GB2312" panose="02010609030101010101" pitchFamily="49" charset="-122"/>
              </a:rPr>
              <a:t>陈列</a:t>
            </a:r>
            <a:r>
              <a:rPr lang="zh-CN" altLang="en-US" sz="2000" b="1" dirty="0" smtClean="0">
                <a:latin typeface="楷体_GB2312" panose="02010609030101010101" pitchFamily="49" charset="-122"/>
                <a:ea typeface="楷体_GB2312" panose="02010609030101010101" pitchFamily="49" charset="-122"/>
              </a:rPr>
              <a:t>平</a:t>
            </a:r>
            <a:r>
              <a:rPr lang="en-US" altLang="zh-CN" sz="2000" b="1" dirty="0" smtClean="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a:t>
            </a:r>
            <a:r>
              <a:rPr lang="zh-CN" altLang="en-US" sz="2000" b="1" dirty="0">
                <a:latin typeface="楷体_GB2312" panose="02010609030101010101" pitchFamily="49" charset="-122"/>
                <a:ea typeface="楷体_GB2312" panose="02010609030101010101" pitchFamily="49" charset="-122"/>
              </a:rPr>
              <a:t>我们都觉得这次奖发的逻辑混乱：</a:t>
            </a:r>
            <a:r>
              <a:rPr lang="en-US" altLang="zh-CN" sz="2000" b="1" dirty="0">
                <a:latin typeface="楷体_GB2312" panose="02010609030101010101" pitchFamily="49" charset="-122"/>
                <a:ea typeface="楷体_GB2312" panose="02010609030101010101" pitchFamily="49" charset="-122"/>
              </a:rPr>
              <a:t>CTLA-4</a:t>
            </a:r>
            <a:r>
              <a:rPr lang="zh-CN" altLang="en-US" sz="2000" b="1" dirty="0">
                <a:latin typeface="楷体_GB2312" panose="02010609030101010101" pitchFamily="49" charset="-122"/>
                <a:ea typeface="楷体_GB2312" panose="02010609030101010101" pitchFamily="49" charset="-122"/>
              </a:rPr>
              <a:t>不是艾利森发现的，</a:t>
            </a:r>
            <a:r>
              <a:rPr lang="en-US" altLang="zh-CN" sz="2000" b="1" dirty="0">
                <a:latin typeface="楷体_GB2312" panose="02010609030101010101" pitchFamily="49" charset="-122"/>
                <a:ea typeface="楷体_GB2312" panose="02010609030101010101" pitchFamily="49" charset="-122"/>
              </a:rPr>
              <a:t>CTLA-4</a:t>
            </a:r>
            <a:r>
              <a:rPr lang="zh-CN" altLang="en-US" sz="2000" b="1" dirty="0">
                <a:latin typeface="楷体_GB2312" panose="02010609030101010101" pitchFamily="49" charset="-122"/>
                <a:ea typeface="楷体_GB2312" panose="02010609030101010101" pitchFamily="49" charset="-122"/>
              </a:rPr>
              <a:t>的抑制作用也不是他发现的</a:t>
            </a:r>
            <a:r>
              <a:rPr lang="en-US" altLang="zh-CN" sz="2000" b="1" dirty="0">
                <a:latin typeface="楷体_GB2312" panose="02010609030101010101" pitchFamily="49" charset="-122"/>
                <a:ea typeface="楷体_GB2312" panose="02010609030101010101" pitchFamily="49" charset="-122"/>
              </a:rPr>
              <a:t>, </a:t>
            </a:r>
            <a:r>
              <a:rPr lang="zh-CN" altLang="en-US" sz="2000" b="1" dirty="0">
                <a:latin typeface="楷体_GB2312" panose="02010609030101010101" pitchFamily="49" charset="-122"/>
                <a:ea typeface="楷体_GB2312" panose="02010609030101010101" pitchFamily="49" charset="-122"/>
              </a:rPr>
              <a:t>但艾利森是第一次将</a:t>
            </a:r>
            <a:r>
              <a:rPr lang="en-US" altLang="zh-CN" sz="2000" b="1" dirty="0">
                <a:latin typeface="楷体_GB2312" panose="02010609030101010101" pitchFamily="49" charset="-122"/>
                <a:ea typeface="楷体_GB2312" panose="02010609030101010101" pitchFamily="49" charset="-122"/>
              </a:rPr>
              <a:t>CTLA-4</a:t>
            </a:r>
            <a:r>
              <a:rPr lang="zh-CN" altLang="en-US" sz="2000" b="1" dirty="0">
                <a:latin typeface="楷体_GB2312" panose="02010609030101010101" pitchFamily="49" charset="-122"/>
                <a:ea typeface="楷体_GB2312" panose="02010609030101010101" pitchFamily="49" charset="-122"/>
              </a:rPr>
              <a:t>联到癌症治疗上，这是他的贡献。相反，本庶佑发现了</a:t>
            </a:r>
            <a:r>
              <a:rPr lang="en-US" altLang="zh-CN" sz="2000" b="1" dirty="0">
                <a:latin typeface="楷体_GB2312" panose="02010609030101010101" pitchFamily="49" charset="-122"/>
                <a:ea typeface="楷体_GB2312" panose="02010609030101010101" pitchFamily="49" charset="-122"/>
              </a:rPr>
              <a:t>PD-1, </a:t>
            </a:r>
            <a:r>
              <a:rPr lang="zh-CN" altLang="en-US" sz="2000" b="1" dirty="0">
                <a:latin typeface="楷体_GB2312" panose="02010609030101010101" pitchFamily="49" charset="-122"/>
                <a:ea typeface="楷体_GB2312" panose="02010609030101010101" pitchFamily="49" charset="-122"/>
              </a:rPr>
              <a:t>但机制不是他发现的，肿瘤治疗也没有他什么事。但这两位在宣传鼓动上确实胜我很多，所以我说</a:t>
            </a:r>
            <a:r>
              <a:rPr lang="en-US" altLang="zh-CN" sz="2000" b="1" dirty="0">
                <a:latin typeface="楷体_GB2312" panose="02010609030101010101" pitchFamily="49" charset="-122"/>
                <a:ea typeface="楷体_GB2312" panose="02010609030101010101" pitchFamily="49" charset="-122"/>
              </a:rPr>
              <a:t>It proves that promotion of work is more important than the work itself……</a:t>
            </a:r>
            <a:r>
              <a:rPr lang="zh-CN" altLang="en-US" sz="2000" b="1" dirty="0">
                <a:latin typeface="楷体_GB2312" panose="02010609030101010101" pitchFamily="49" charset="-122"/>
                <a:ea typeface="楷体_GB2312" panose="02010609030101010101" pitchFamily="49" charset="-122"/>
              </a:rPr>
              <a:t>（对工作的宣传要比工作本身重要很多）”</a:t>
            </a:r>
          </a:p>
          <a:p>
            <a:r>
              <a:rPr lang="zh-CN" altLang="en-US" sz="2000" b="1" dirty="0" smtClean="0">
                <a:latin typeface="楷体_GB2312" panose="02010609030101010101" pitchFamily="49" charset="-122"/>
                <a:ea typeface="楷体_GB2312" panose="02010609030101010101" pitchFamily="49" charset="-122"/>
              </a:rPr>
              <a:t>陈列</a:t>
            </a:r>
            <a:r>
              <a:rPr lang="zh-CN" altLang="en-US" sz="2000" b="1" dirty="0">
                <a:latin typeface="楷体_GB2312" panose="02010609030101010101" pitchFamily="49" charset="-122"/>
                <a:ea typeface="楷体_GB2312" panose="02010609030101010101" pitchFamily="49" charset="-122"/>
              </a:rPr>
              <a:t>平</a:t>
            </a:r>
            <a:r>
              <a:rPr lang="zh-CN" altLang="en-US" sz="2000" b="1" dirty="0" smtClean="0">
                <a:latin typeface="楷体_GB2312" panose="02010609030101010101" pitchFamily="49" charset="-122"/>
                <a:ea typeface="楷体_GB2312" panose="02010609030101010101" pitchFamily="49" charset="-122"/>
              </a:rPr>
              <a:t>同事</a:t>
            </a:r>
            <a:r>
              <a:rPr lang="en-US" altLang="zh-CN" sz="2000" b="1" dirty="0" smtClean="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众所周知</a:t>
            </a:r>
            <a:r>
              <a:rPr lang="zh-CN" altLang="en-US" sz="2000" b="1" dirty="0">
                <a:latin typeface="楷体_GB2312" panose="02010609030101010101" pitchFamily="49" charset="-122"/>
                <a:ea typeface="楷体_GB2312" panose="02010609030101010101" pitchFamily="49" charset="-122"/>
              </a:rPr>
              <a:t>，诺奖只颁给该领域的最早发现者。的确，毋庸置疑，艾利森发现了</a:t>
            </a:r>
            <a:r>
              <a:rPr lang="en-US" altLang="zh-CN" sz="2000" b="1" dirty="0">
                <a:latin typeface="楷体_GB2312" panose="02010609030101010101" pitchFamily="49" charset="-122"/>
                <a:ea typeface="楷体_GB2312" panose="02010609030101010101" pitchFamily="49" charset="-122"/>
              </a:rPr>
              <a:t>CTLA-4</a:t>
            </a:r>
            <a:r>
              <a:rPr lang="zh-CN" altLang="en-US" sz="2000" b="1" dirty="0">
                <a:latin typeface="楷体_GB2312" panose="02010609030101010101" pitchFamily="49" charset="-122"/>
                <a:ea typeface="楷体_GB2312" panose="02010609030101010101" pitchFamily="49" charset="-122"/>
              </a:rPr>
              <a:t>抗体对癌症的治疗功能，本庶佑发现了</a:t>
            </a:r>
            <a:r>
              <a:rPr lang="en-US" altLang="zh-CN" sz="2000" b="1" dirty="0">
                <a:latin typeface="楷体_GB2312" panose="02010609030101010101" pitchFamily="49" charset="-122"/>
                <a:ea typeface="楷体_GB2312" panose="02010609030101010101" pitchFamily="49" charset="-122"/>
              </a:rPr>
              <a:t>PD-1</a:t>
            </a:r>
            <a:r>
              <a:rPr lang="zh-CN" altLang="en-US" sz="2000" b="1" dirty="0">
                <a:latin typeface="楷体_GB2312" panose="02010609030101010101" pitchFamily="49" charset="-122"/>
                <a:ea typeface="楷体_GB2312" panose="02010609030101010101" pitchFamily="49" charset="-122"/>
              </a:rPr>
              <a:t>基因，陈列平发现了</a:t>
            </a:r>
            <a:r>
              <a:rPr lang="en-US" altLang="zh-CN" sz="2000" b="1" dirty="0">
                <a:latin typeface="楷体_GB2312" panose="02010609030101010101" pitchFamily="49" charset="-122"/>
                <a:ea typeface="楷体_GB2312" panose="02010609030101010101" pitchFamily="49" charset="-122"/>
              </a:rPr>
              <a:t>PD-L1</a:t>
            </a:r>
            <a:r>
              <a:rPr lang="zh-CN" altLang="en-US" sz="2000" b="1" dirty="0">
                <a:latin typeface="楷体_GB2312" panose="02010609030101010101" pitchFamily="49" charset="-122"/>
                <a:ea typeface="楷体_GB2312" panose="02010609030101010101" pitchFamily="49" charset="-122"/>
              </a:rPr>
              <a:t>基因。但真正把</a:t>
            </a:r>
            <a:r>
              <a:rPr lang="en-US" altLang="zh-CN" sz="2000" b="1" dirty="0">
                <a:latin typeface="楷体_GB2312" panose="02010609030101010101" pitchFamily="49" charset="-122"/>
                <a:ea typeface="楷体_GB2312" panose="02010609030101010101" pitchFamily="49" charset="-122"/>
              </a:rPr>
              <a:t>PD-1/PD-L1</a:t>
            </a:r>
            <a:r>
              <a:rPr lang="zh-CN" altLang="en-US" sz="2000" b="1" dirty="0">
                <a:latin typeface="楷体_GB2312" panose="02010609030101010101" pitchFamily="49" charset="-122"/>
                <a:ea typeface="楷体_GB2312" panose="02010609030101010101" pitchFamily="49" charset="-122"/>
              </a:rPr>
              <a:t>抗体引到肿瘤免疫治疗的是陈列平，因此，陈列平应该属于发现</a:t>
            </a:r>
            <a:r>
              <a:rPr lang="en-US" altLang="zh-CN" sz="2000" b="1" dirty="0">
                <a:latin typeface="楷体_GB2312" panose="02010609030101010101" pitchFamily="49" charset="-122"/>
                <a:ea typeface="楷体_GB2312" panose="02010609030101010101" pitchFamily="49" charset="-122"/>
              </a:rPr>
              <a:t>PD-1/PD-L1</a:t>
            </a:r>
            <a:r>
              <a:rPr lang="zh-CN" altLang="en-US" sz="2000" b="1" dirty="0">
                <a:latin typeface="楷体_GB2312" panose="02010609030101010101" pitchFamily="49" charset="-122"/>
                <a:ea typeface="楷体_GB2312" panose="02010609030101010101" pitchFamily="49" charset="-122"/>
              </a:rPr>
              <a:t>基因及其</a:t>
            </a:r>
            <a:r>
              <a:rPr lang="en-US" altLang="zh-CN" sz="2000" b="1" dirty="0">
                <a:latin typeface="楷体_GB2312" panose="02010609030101010101" pitchFamily="49" charset="-122"/>
                <a:ea typeface="楷体_GB2312" panose="02010609030101010101" pitchFamily="49" charset="-122"/>
              </a:rPr>
              <a:t>T</a:t>
            </a:r>
            <a:r>
              <a:rPr lang="zh-CN" altLang="en-US" sz="2000" b="1" dirty="0">
                <a:latin typeface="楷体_GB2312" panose="02010609030101010101" pitchFamily="49" charset="-122"/>
                <a:ea typeface="楷体_GB2312" panose="02010609030101010101" pitchFamily="49" charset="-122"/>
              </a:rPr>
              <a:t>细胞抑制功能，以及该途径肿瘤治疗功能的共同获奖人之一。这三点都是陈列平的贡献。</a:t>
            </a:r>
          </a:p>
          <a:p>
            <a:endParaRPr lang="zh-CN" altLang="en-US" dirty="0"/>
          </a:p>
        </p:txBody>
      </p:sp>
    </p:spTree>
    <p:extLst>
      <p:ext uri="{BB962C8B-B14F-4D97-AF65-F5344CB8AC3E}">
        <p14:creationId xmlns:p14="http://schemas.microsoft.com/office/powerpoint/2010/main" val="29830933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692696"/>
            <a:ext cx="8305800" cy="5098504"/>
          </a:xfrm>
        </p:spPr>
        <p:txBody>
          <a:bodyPr/>
          <a:lstStyle/>
          <a:p>
            <a:r>
              <a:rPr lang="zh-CN" altLang="en-US" b="1" dirty="0">
                <a:latin typeface="楷体_GB2312" panose="02010609030101010101" pitchFamily="49" charset="-122"/>
                <a:ea typeface="楷体_GB2312" panose="02010609030101010101" pitchFamily="49" charset="-122"/>
              </a:rPr>
              <a:t>陈列平的研究问题和这个类似，他不是这个靶点的原创发现者，他只是偶然发现这个靶点不错，率先完成了后期的产品研发工作。陈列平做的是转化应用，他的贡献在于独辟蹊径，把这个靶点用在肿瘤治疗上。</a:t>
            </a:r>
          </a:p>
          <a:p>
            <a:r>
              <a:rPr lang="zh-CN" altLang="en-US" b="1" dirty="0">
                <a:latin typeface="楷体_GB2312" panose="02010609030101010101" pitchFamily="49" charset="-122"/>
                <a:ea typeface="楷体_GB2312" panose="02010609030101010101" pitchFamily="49" charset="-122"/>
              </a:rPr>
              <a:t>其实，这项工作很多人在做，但这项工作风险很大，需要勇气，且运气和经费一个都不能少。一些人为陈列平鸣不平</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大抵是不清楚诺贝尔奖的评奖标准，诺贝尔奖几乎永远不会授予做应用转化的人，产业界的人士也不会得到，它只是基础研究的狂欢。</a:t>
            </a:r>
          </a:p>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152" y="3933056"/>
            <a:ext cx="2192660" cy="28095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1675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404664"/>
            <a:ext cx="8305800" cy="5386536"/>
          </a:xfrm>
        </p:spPr>
        <p:txBody>
          <a:bodyPr/>
          <a:lstStyle/>
          <a:p>
            <a:r>
              <a:rPr lang="en-US" altLang="zh-CN" b="1" dirty="0" smtClean="0">
                <a:latin typeface="楷体_GB2312" panose="02010609030101010101" pitchFamily="49" charset="-122"/>
                <a:ea typeface="楷体_GB2312" panose="02010609030101010101" pitchFamily="49" charset="-122"/>
              </a:rPr>
              <a:t>2018</a:t>
            </a:r>
            <a:r>
              <a:rPr lang="zh-CN" altLang="en-US" b="1" dirty="0" smtClean="0">
                <a:latin typeface="楷体_GB2312" panose="02010609030101010101" pitchFamily="49" charset="-122"/>
                <a:ea typeface="楷体_GB2312" panose="02010609030101010101" pitchFamily="49" charset="-122"/>
              </a:rPr>
              <a:t>年</a:t>
            </a:r>
            <a:r>
              <a:rPr lang="en-US" altLang="zh-CN" b="1" dirty="0" smtClean="0">
                <a:latin typeface="楷体_GB2312" panose="02010609030101010101" pitchFamily="49" charset="-122"/>
                <a:ea typeface="楷体_GB2312" panose="02010609030101010101" pitchFamily="49" charset="-122"/>
              </a:rPr>
              <a:t>10</a:t>
            </a:r>
            <a:r>
              <a:rPr lang="zh-CN" altLang="en-US" b="1" dirty="0">
                <a:latin typeface="楷体_GB2312" panose="02010609030101010101" pitchFamily="49" charset="-122"/>
                <a:ea typeface="楷体_GB2312" panose="02010609030101010101" pitchFamily="49" charset="-122"/>
              </a:rPr>
              <a:t>月</a:t>
            </a:r>
            <a:r>
              <a:rPr lang="en-US" altLang="zh-CN" b="1" dirty="0">
                <a:latin typeface="楷体_GB2312" panose="02010609030101010101" pitchFamily="49" charset="-122"/>
                <a:ea typeface="楷体_GB2312" panose="02010609030101010101" pitchFamily="49" charset="-122"/>
              </a:rPr>
              <a:t>8</a:t>
            </a:r>
            <a:r>
              <a:rPr lang="zh-CN" altLang="en-US" b="1" dirty="0">
                <a:latin typeface="楷体_GB2312" panose="02010609030101010101" pitchFamily="49" charset="-122"/>
                <a:ea typeface="楷体_GB2312" panose="02010609030101010101" pitchFamily="49" charset="-122"/>
              </a:rPr>
              <a:t>日上午</a:t>
            </a:r>
            <a:r>
              <a:rPr lang="en-US" altLang="zh-CN" b="1" dirty="0">
                <a:latin typeface="楷体_GB2312" panose="02010609030101010101" pitchFamily="49" charset="-122"/>
                <a:ea typeface="楷体_GB2312" panose="02010609030101010101" pitchFamily="49" charset="-122"/>
              </a:rPr>
              <a:t>11</a:t>
            </a:r>
            <a:r>
              <a:rPr lang="zh-CN" altLang="en-US" b="1" dirty="0">
                <a:latin typeface="楷体_GB2312" panose="02010609030101010101" pitchFamily="49" charset="-122"/>
                <a:ea typeface="楷体_GB2312" panose="02010609030101010101" pitchFamily="49" charset="-122"/>
              </a:rPr>
              <a:t>点</a:t>
            </a:r>
            <a:r>
              <a:rPr lang="en-US" altLang="zh-CN" b="1" dirty="0">
                <a:latin typeface="楷体_GB2312" panose="02010609030101010101" pitchFamily="49" charset="-122"/>
                <a:ea typeface="楷体_GB2312" panose="02010609030101010101" pitchFamily="49" charset="-122"/>
              </a:rPr>
              <a:t>45</a:t>
            </a:r>
            <a:r>
              <a:rPr lang="zh-CN" altLang="en-US" b="1" dirty="0">
                <a:latin typeface="楷体_GB2312" panose="02010609030101010101" pitchFamily="49" charset="-122"/>
                <a:ea typeface="楷体_GB2312" panose="02010609030101010101" pitchFamily="49" charset="-122"/>
              </a:rPr>
              <a:t>分，诺贝尔经济学奖（</a:t>
            </a:r>
            <a:r>
              <a:rPr lang="en-US" altLang="zh-CN" b="1" dirty="0">
                <a:latin typeface="楷体_GB2312" panose="02010609030101010101" pitchFamily="49" charset="-122"/>
                <a:ea typeface="楷体_GB2312" panose="02010609030101010101" pitchFamily="49" charset="-122"/>
              </a:rPr>
              <a:t>Nobel Prize in Economic Sciences</a:t>
            </a:r>
            <a:r>
              <a:rPr lang="zh-CN" altLang="en-US" b="1" dirty="0">
                <a:latin typeface="楷体_GB2312" panose="02010609030101010101" pitchFamily="49" charset="-122"/>
                <a:ea typeface="楷体_GB2312" panose="02010609030101010101" pitchFamily="49" charset="-122"/>
              </a:rPr>
              <a:t>）在瑞典皇家科学院揭晓。威廉</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诺德豪斯和保罗</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罗默获得</a:t>
            </a:r>
            <a:r>
              <a:rPr lang="en-US" altLang="zh-CN" b="1" dirty="0">
                <a:latin typeface="楷体_GB2312" panose="02010609030101010101" pitchFamily="49" charset="-122"/>
                <a:ea typeface="楷体_GB2312" panose="02010609030101010101" pitchFamily="49" charset="-122"/>
              </a:rPr>
              <a:t>2018</a:t>
            </a:r>
            <a:r>
              <a:rPr lang="zh-CN" altLang="en-US" b="1" dirty="0">
                <a:latin typeface="楷体_GB2312" panose="02010609030101010101" pitchFamily="49" charset="-122"/>
                <a:ea typeface="楷体_GB2312" panose="02010609030101010101" pitchFamily="49" charset="-122"/>
              </a:rPr>
              <a:t>年诺贝尔经济学奖，获奖理由是创新、气候和经济增长的研究</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a:latin typeface="楷体_GB2312" panose="02010609030101010101" pitchFamily="49" charset="-122"/>
                <a:ea typeface="楷体_GB2312" panose="02010609030101010101" pitchFamily="49" charset="-122"/>
              </a:rPr>
              <a:t>诺德豪斯为耶鲁大学教授，主要研究领域是气候变化经济学，表明了人类如何忽视不作为所带来的灾难性的高代价。</a:t>
            </a:r>
            <a:r>
              <a:rPr lang="en-US" altLang="zh-CN" b="1" dirty="0">
                <a:latin typeface="楷体_GB2312" panose="02010609030101010101" pitchFamily="49" charset="-122"/>
                <a:ea typeface="楷体_GB2312" panose="02010609030101010101" pitchFamily="49" charset="-122"/>
              </a:rPr>
              <a:t>Nordhaus</a:t>
            </a:r>
            <a:r>
              <a:rPr lang="zh-CN" altLang="en-US" b="1" dirty="0">
                <a:latin typeface="楷体_GB2312" panose="02010609030101010101" pitchFamily="49" charset="-122"/>
                <a:ea typeface="楷体_GB2312" panose="02010609030101010101" pitchFamily="49" charset="-122"/>
              </a:rPr>
              <a:t>（</a:t>
            </a:r>
            <a:r>
              <a:rPr lang="en-US" altLang="zh-CN" b="1" dirty="0">
                <a:latin typeface="楷体_GB2312" panose="02010609030101010101" pitchFamily="49" charset="-122"/>
                <a:ea typeface="楷体_GB2312" panose="02010609030101010101" pitchFamily="49" charset="-122"/>
              </a:rPr>
              <a:t>1994</a:t>
            </a:r>
            <a:r>
              <a:rPr lang="zh-CN" altLang="en-US" b="1" dirty="0">
                <a:latin typeface="楷体_GB2312" panose="02010609030101010101" pitchFamily="49" charset="-122"/>
                <a:ea typeface="楷体_GB2312" panose="02010609030101010101" pitchFamily="49" charset="-122"/>
              </a:rPr>
              <a:t>年）提出的</a:t>
            </a:r>
            <a:r>
              <a:rPr lang="en-US" altLang="zh-CN" b="1" dirty="0">
                <a:latin typeface="楷体_GB2312" panose="02010609030101010101" pitchFamily="49" charset="-122"/>
                <a:ea typeface="楷体_GB2312" panose="02010609030101010101" pitchFamily="49" charset="-122"/>
              </a:rPr>
              <a:t>DICE</a:t>
            </a:r>
            <a:r>
              <a:rPr lang="zh-CN" altLang="en-US" b="1" dirty="0">
                <a:latin typeface="楷体_GB2312" panose="02010609030101010101" pitchFamily="49" charset="-122"/>
                <a:ea typeface="楷体_GB2312" panose="02010609030101010101" pitchFamily="49" charset="-122"/>
              </a:rPr>
              <a:t>（</a:t>
            </a:r>
            <a:r>
              <a:rPr lang="en-US" altLang="zh-CN" b="1" dirty="0">
                <a:latin typeface="楷体_GB2312" panose="02010609030101010101" pitchFamily="49" charset="-122"/>
                <a:ea typeface="楷体_GB2312" panose="02010609030101010101" pitchFamily="49" charset="-122"/>
              </a:rPr>
              <a:t>Dynamic Integrated Climate- Economy</a:t>
            </a:r>
            <a:r>
              <a:rPr lang="zh-CN" altLang="en-US" b="1" dirty="0">
                <a:latin typeface="楷体_GB2312" panose="02010609030101010101" pitchFamily="49" charset="-122"/>
                <a:ea typeface="楷体_GB2312" panose="02010609030101010101" pitchFamily="49" charset="-122"/>
              </a:rPr>
              <a:t>）就一个最优化模型，用于计算减排措施的成本和收益，以及最优减排额的确定。</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2863" y="4221088"/>
            <a:ext cx="5238750" cy="25831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25943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548680"/>
            <a:ext cx="8305800" cy="5242520"/>
          </a:xfrm>
        </p:spPr>
        <p:txBody>
          <a:bodyPr/>
          <a:lstStyle/>
          <a:p>
            <a:r>
              <a:rPr lang="zh-CN" altLang="en-US" b="1" dirty="0">
                <a:latin typeface="楷体_GB2312" panose="02010609030101010101" pitchFamily="49" charset="-122"/>
                <a:ea typeface="楷体_GB2312" panose="02010609030101010101" pitchFamily="49" charset="-122"/>
              </a:rPr>
              <a:t>保罗</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罗默为美国经济学家，斯坦福大学教授。他被认为是经济增长方面的专家并且是诺贝尔经济学奖的有力候选人。罗默在</a:t>
            </a:r>
            <a:r>
              <a:rPr lang="en-US" altLang="zh-CN" b="1" dirty="0">
                <a:latin typeface="楷体_GB2312" panose="02010609030101010101" pitchFamily="49" charset="-122"/>
                <a:ea typeface="楷体_GB2312" panose="02010609030101010101" pitchFamily="49" charset="-122"/>
              </a:rPr>
              <a:t>1977</a:t>
            </a:r>
            <a:r>
              <a:rPr lang="zh-CN" altLang="en-US" b="1" dirty="0">
                <a:latin typeface="楷体_GB2312" panose="02010609030101010101" pitchFamily="49" charset="-122"/>
                <a:ea typeface="楷体_GB2312" panose="02010609030101010101" pitchFamily="49" charset="-122"/>
              </a:rPr>
              <a:t>年获得芝加哥大学物理学学士学位，并于</a:t>
            </a:r>
            <a:r>
              <a:rPr lang="en-US" altLang="zh-CN" b="1" dirty="0">
                <a:latin typeface="楷体_GB2312" panose="02010609030101010101" pitchFamily="49" charset="-122"/>
                <a:ea typeface="楷体_GB2312" panose="02010609030101010101" pitchFamily="49" charset="-122"/>
              </a:rPr>
              <a:t>1983</a:t>
            </a:r>
            <a:r>
              <a:rPr lang="zh-CN" altLang="en-US" b="1" dirty="0">
                <a:latin typeface="楷体_GB2312" panose="02010609030101010101" pitchFamily="49" charset="-122"/>
                <a:ea typeface="楷体_GB2312" panose="02010609030101010101" pitchFamily="49" charset="-122"/>
              </a:rPr>
              <a:t>年在该校获得经济学博士学位。他被</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时代杂志</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选为</a:t>
            </a:r>
            <a:r>
              <a:rPr lang="en-US" altLang="zh-CN" b="1" dirty="0">
                <a:latin typeface="楷体_GB2312" panose="02010609030101010101" pitchFamily="49" charset="-122"/>
                <a:ea typeface="楷体_GB2312" panose="02010609030101010101" pitchFamily="49" charset="-122"/>
              </a:rPr>
              <a:t>1997</a:t>
            </a:r>
            <a:r>
              <a:rPr lang="zh-CN" altLang="en-US" b="1" dirty="0">
                <a:latin typeface="楷体_GB2312" panose="02010609030101010101" pitchFamily="49" charset="-122"/>
                <a:ea typeface="楷体_GB2312" panose="02010609030101010101" pitchFamily="49" charset="-122"/>
              </a:rPr>
              <a:t>年美国最具影响力的</a:t>
            </a:r>
            <a:r>
              <a:rPr lang="en-US" altLang="zh-CN" b="1" dirty="0">
                <a:latin typeface="楷体_GB2312" panose="02010609030101010101" pitchFamily="49" charset="-122"/>
                <a:ea typeface="楷体_GB2312" panose="02010609030101010101" pitchFamily="49" charset="-122"/>
              </a:rPr>
              <a:t>25</a:t>
            </a:r>
            <a:r>
              <a:rPr lang="zh-CN" altLang="en-US" b="1" dirty="0">
                <a:latin typeface="楷体_GB2312" panose="02010609030101010101" pitchFamily="49" charset="-122"/>
                <a:ea typeface="楷体_GB2312" panose="02010609030101010101" pitchFamily="49" charset="-122"/>
              </a:rPr>
              <a:t>人之一</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a:latin typeface="楷体_GB2312" panose="02010609030101010101" pitchFamily="49" charset="-122"/>
                <a:ea typeface="楷体_GB2312" panose="02010609030101010101" pitchFamily="49" charset="-122"/>
              </a:rPr>
              <a:t>获奖</a:t>
            </a:r>
            <a:r>
              <a:rPr lang="zh-CN" altLang="en-US" b="1" dirty="0" smtClean="0">
                <a:latin typeface="楷体_GB2312" panose="02010609030101010101" pitchFamily="49" charset="-122"/>
                <a:ea typeface="楷体_GB2312" panose="02010609030101010101" pitchFamily="49" charset="-122"/>
              </a:rPr>
              <a:t>研究：如何获得健康的经济增长</a:t>
            </a:r>
            <a:endParaRPr lang="zh-CN" altLang="en-US" b="1" dirty="0">
              <a:latin typeface="楷体_GB2312" panose="02010609030101010101" pitchFamily="49" charset="-122"/>
              <a:ea typeface="楷体_GB2312" panose="02010609030101010101" pitchFamily="49"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888" y="3284984"/>
            <a:ext cx="5238750" cy="348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44108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1628800"/>
            <a:ext cx="8161784" cy="4176464"/>
          </a:xfrm>
        </p:spPr>
        <p:txBody>
          <a:bodyPr/>
          <a:lstStyle/>
          <a:p>
            <a:r>
              <a:rPr lang="zh-CN" altLang="en-US" sz="4400" b="1" dirty="0" smtClean="0">
                <a:latin typeface="楷体_GB2312" pitchFamily="49" charset="-122"/>
                <a:ea typeface="楷体_GB2312" pitchFamily="49" charset="-122"/>
              </a:rPr>
              <a:t>市场结构</a:t>
            </a:r>
            <a:r>
              <a:rPr lang="en-US" altLang="zh-CN" sz="36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某种程度的垄断是技术进步必不可缺的？（麦克拉林，</a:t>
            </a:r>
            <a:r>
              <a:rPr lang="en-US" altLang="zh-CN" sz="2800" b="1" dirty="0" smtClean="0">
                <a:latin typeface="楷体_GB2312" pitchFamily="49" charset="-122"/>
                <a:ea typeface="楷体_GB2312" pitchFamily="49" charset="-122"/>
              </a:rPr>
              <a:t>1954</a:t>
            </a:r>
            <a:r>
              <a:rPr lang="zh-CN" altLang="en-US" sz="2800" b="1" dirty="0" smtClean="0">
                <a:latin typeface="楷体_GB2312" pitchFamily="49" charset="-122"/>
                <a:ea typeface="楷体_GB2312" pitchFamily="49" charset="-122"/>
              </a:rPr>
              <a:t>）</a:t>
            </a:r>
            <a:endParaRPr lang="en-US" altLang="zh-CN" sz="2800" b="1" dirty="0" smtClean="0">
              <a:latin typeface="楷体_GB2312" pitchFamily="49" charset="-122"/>
              <a:ea typeface="楷体_GB2312" pitchFamily="49" charset="-122"/>
            </a:endParaRPr>
          </a:p>
          <a:p>
            <a:r>
              <a:rPr lang="zh-CN" altLang="en-US" sz="4400" b="1" dirty="0" smtClean="0">
                <a:latin typeface="楷体_GB2312" pitchFamily="49" charset="-122"/>
                <a:ea typeface="楷体_GB2312" pitchFamily="49" charset="-122"/>
              </a:rPr>
              <a:t>企业规模</a:t>
            </a:r>
            <a:r>
              <a:rPr lang="en-US" altLang="zh-CN" sz="3600" b="1" dirty="0" smtClean="0">
                <a:latin typeface="楷体_GB2312" pitchFamily="49" charset="-122"/>
                <a:ea typeface="楷体_GB2312" pitchFamily="49" charset="-122"/>
              </a:rPr>
              <a:t>——</a:t>
            </a:r>
            <a:r>
              <a:rPr lang="en-US" altLang="zh-CN" sz="2800" b="1" dirty="0" smtClean="0">
                <a:latin typeface="楷体_GB2312" pitchFamily="49" charset="-122"/>
                <a:ea typeface="楷体_GB2312" pitchFamily="49" charset="-122"/>
              </a:rPr>
              <a:t>R&amp;D</a:t>
            </a:r>
            <a:r>
              <a:rPr lang="zh-CN" altLang="en-US" sz="2800" b="1" dirty="0" smtClean="0">
                <a:latin typeface="楷体_GB2312" pitchFamily="49" charset="-122"/>
                <a:ea typeface="楷体_GB2312" pitchFamily="49" charset="-122"/>
              </a:rPr>
              <a:t>支出与销售收入呈现倒</a:t>
            </a:r>
            <a:r>
              <a:rPr lang="en-US" altLang="zh-CN" sz="2800" b="1" dirty="0" smtClean="0">
                <a:latin typeface="楷体_GB2312" pitchFamily="49" charset="-122"/>
                <a:ea typeface="楷体_GB2312" pitchFamily="49" charset="-122"/>
              </a:rPr>
              <a:t>U</a:t>
            </a:r>
            <a:r>
              <a:rPr lang="zh-CN" altLang="en-US" sz="2800" b="1" dirty="0" smtClean="0">
                <a:latin typeface="楷体_GB2312" pitchFamily="49" charset="-122"/>
                <a:ea typeface="楷体_GB2312" pitchFamily="49" charset="-122"/>
              </a:rPr>
              <a:t>型关系？</a:t>
            </a:r>
            <a:endParaRPr lang="en-US" altLang="zh-CN" sz="2800" b="1" dirty="0" smtClean="0">
              <a:latin typeface="楷体_GB2312" pitchFamily="49" charset="-122"/>
              <a:ea typeface="楷体_GB2312" pitchFamily="49" charset="-122"/>
            </a:endParaRPr>
          </a:p>
          <a:p>
            <a:r>
              <a:rPr lang="zh-CN" altLang="en-US" sz="4400" b="1" dirty="0" smtClean="0">
                <a:latin typeface="楷体_GB2312" pitchFamily="49" charset="-122"/>
                <a:ea typeface="楷体_GB2312" pitchFamily="49" charset="-122"/>
              </a:rPr>
              <a:t>知识积累</a:t>
            </a:r>
            <a:r>
              <a:rPr lang="en-US"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从</a:t>
            </a:r>
            <a:r>
              <a:rPr lang="zh-CN" altLang="en-US" sz="2800" b="1" dirty="0">
                <a:latin typeface="楷体_GB2312" pitchFamily="49" charset="-122"/>
                <a:ea typeface="楷体_GB2312" pitchFamily="49" charset="-122"/>
              </a:rPr>
              <a:t>干</a:t>
            </a:r>
            <a:r>
              <a:rPr lang="zh-CN" altLang="en-US" sz="2800" b="1" dirty="0" smtClean="0">
                <a:latin typeface="楷体_GB2312" pitchFamily="49" charset="-122"/>
                <a:ea typeface="楷体_GB2312" pitchFamily="49" charset="-122"/>
              </a:rPr>
              <a:t>中学的</a:t>
            </a:r>
            <a:r>
              <a:rPr lang="zh-CN" altLang="en-US" sz="2800" b="1" dirty="0">
                <a:latin typeface="楷体_GB2312" pitchFamily="49" charset="-122"/>
                <a:ea typeface="楷体_GB2312" pitchFamily="49" charset="-122"/>
              </a:rPr>
              <a:t>经济意义</a:t>
            </a:r>
            <a:r>
              <a:rPr lang="en-US"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a:t>
            </a:r>
            <a:r>
              <a:rPr lang="en-US" altLang="zh-CN" sz="2800" b="1" dirty="0" smtClean="0">
                <a:latin typeface="楷体_GB2312" pitchFamily="49" charset="-122"/>
                <a:ea typeface="楷体_GB2312" pitchFamily="49" charset="-122"/>
              </a:rPr>
              <a:t>The Economic Implications of learning </a:t>
            </a:r>
            <a:r>
              <a:rPr lang="en-US" altLang="zh-CN" sz="2800" b="1" dirty="0">
                <a:latin typeface="楷体_GB2312" pitchFamily="49" charset="-122"/>
                <a:ea typeface="楷体_GB2312" pitchFamily="49" charset="-122"/>
              </a:rPr>
              <a:t>by donging</a:t>
            </a:r>
            <a:r>
              <a:rPr lang="zh-CN" altLang="en-US" sz="2800" b="1" dirty="0">
                <a:latin typeface="楷体_GB2312" pitchFamily="49" charset="-122"/>
                <a:ea typeface="楷体_GB2312" pitchFamily="49" charset="-122"/>
              </a:rPr>
              <a:t>）（</a:t>
            </a:r>
            <a:r>
              <a:rPr lang="en-US" altLang="zh-CN" sz="2800" b="1" dirty="0" smtClean="0">
                <a:latin typeface="楷体_GB2312" pitchFamily="49" charset="-122"/>
                <a:ea typeface="楷体_GB2312" pitchFamily="49" charset="-122"/>
              </a:rPr>
              <a:t>Arrow</a:t>
            </a:r>
            <a:r>
              <a:rPr lang="zh-CN" altLang="en-US" sz="2800" b="1" dirty="0" smtClean="0">
                <a:latin typeface="楷体_GB2312" pitchFamily="49" charset="-122"/>
                <a:ea typeface="楷体_GB2312" pitchFamily="49" charset="-122"/>
              </a:rPr>
              <a:t>，</a:t>
            </a:r>
            <a:r>
              <a:rPr lang="en-US" altLang="zh-CN" sz="2800" b="1" dirty="0" smtClean="0">
                <a:latin typeface="楷体_GB2312" pitchFamily="49" charset="-122"/>
                <a:ea typeface="楷体_GB2312" pitchFamily="49" charset="-122"/>
              </a:rPr>
              <a:t>1962</a:t>
            </a:r>
            <a:r>
              <a:rPr lang="zh-CN" altLang="en-US" sz="2800" b="1" dirty="0" smtClean="0">
                <a:latin typeface="楷体_GB2312" pitchFamily="49" charset="-122"/>
                <a:ea typeface="楷体_GB2312" pitchFamily="49" charset="-122"/>
              </a:rPr>
              <a:t>）</a:t>
            </a:r>
            <a:endParaRPr lang="en-US" altLang="zh-CN" sz="2800" b="1" dirty="0" smtClean="0">
              <a:latin typeface="楷体_GB2312" pitchFamily="49" charset="-122"/>
              <a:ea typeface="楷体_GB2312" pitchFamily="49" charset="-122"/>
            </a:endParaRPr>
          </a:p>
          <a:p>
            <a:endParaRPr lang="zh-CN" altLang="en-US" sz="4800" b="1" dirty="0">
              <a:latin typeface="楷体_GB2312" pitchFamily="49" charset="-122"/>
              <a:ea typeface="楷体_GB2312" pitchFamily="49" charset="-122"/>
            </a:endParaRPr>
          </a:p>
        </p:txBody>
      </p:sp>
      <p:sp>
        <p:nvSpPr>
          <p:cNvPr id="4" name="标题 1"/>
          <p:cNvSpPr txBox="1">
            <a:spLocks/>
          </p:cNvSpPr>
          <p:nvPr/>
        </p:nvSpPr>
        <p:spPr bwMode="auto">
          <a:xfrm>
            <a:off x="323528" y="260648"/>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四、技术创新的影响因素</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105291214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8208912" cy="936104"/>
          </a:xfrm>
          <a:solidFill>
            <a:srgbClr val="FFFFCC"/>
          </a:solidFill>
        </p:spPr>
        <p:txBody>
          <a:bodyPr/>
          <a:lstStyle/>
          <a:p>
            <a:r>
              <a:rPr lang="zh-CN" altLang="en-US" b="1" dirty="0">
                <a:latin typeface="幼圆" pitchFamily="49" charset="-122"/>
                <a:ea typeface="幼圆" pitchFamily="49" charset="-122"/>
              </a:rPr>
              <a:t>综合</a:t>
            </a:r>
            <a:r>
              <a:rPr lang="zh-CN" altLang="en-US" b="1" dirty="0" smtClean="0">
                <a:latin typeface="幼圆" pitchFamily="49" charset="-122"/>
                <a:ea typeface="幼圆" pitchFamily="49" charset="-122"/>
              </a:rPr>
              <a:t>案例</a:t>
            </a:r>
            <a:r>
              <a:rPr lang="en-US" altLang="zh-CN" b="1" dirty="0" smtClean="0">
                <a:latin typeface="幼圆" pitchFamily="49" charset="-122"/>
                <a:ea typeface="幼圆" pitchFamily="49" charset="-122"/>
              </a:rPr>
              <a:t>1</a:t>
            </a:r>
            <a:r>
              <a:rPr lang="zh-CN" altLang="en-US" b="1" dirty="0" smtClean="0">
                <a:latin typeface="幼圆" pitchFamily="49" charset="-122"/>
                <a:ea typeface="幼圆" pitchFamily="49" charset="-122"/>
              </a:rPr>
              <a:t>：中国高铁横空出世</a:t>
            </a:r>
            <a:endParaRPr lang="zh-CN" altLang="en-US" b="1" dirty="0">
              <a:latin typeface="幼圆" pitchFamily="49" charset="-122"/>
              <a:ea typeface="幼圆" pitchFamily="49" charset="-122"/>
            </a:endParaRPr>
          </a:p>
        </p:txBody>
      </p:sp>
      <p:sp>
        <p:nvSpPr>
          <p:cNvPr id="3" name="文本占位符 2"/>
          <p:cNvSpPr>
            <a:spLocks noGrp="1"/>
          </p:cNvSpPr>
          <p:nvPr>
            <p:ph type="body" idx="1"/>
          </p:nvPr>
        </p:nvSpPr>
        <p:spPr>
          <a:xfrm>
            <a:off x="395536" y="1057864"/>
            <a:ext cx="3470920" cy="3744416"/>
          </a:xfrm>
        </p:spPr>
        <p:txBody>
          <a:bodyPr/>
          <a:lstStyle/>
          <a:p>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中国</a:t>
            </a:r>
            <a:r>
              <a:rPr lang="en-US" altLang="zh-CN" sz="2000" b="1" dirty="0">
                <a:latin typeface="楷体_GB2312" pitchFamily="49" charset="-122"/>
                <a:ea typeface="楷体_GB2312" pitchFamily="49" charset="-122"/>
              </a:rPr>
              <a:t>CRH2</a:t>
            </a:r>
            <a:r>
              <a:rPr lang="zh-CN" altLang="en-US" sz="2000" b="1" dirty="0">
                <a:latin typeface="楷体_GB2312" pitchFamily="49" charset="-122"/>
                <a:ea typeface="楷体_GB2312" pitchFamily="49" charset="-122"/>
              </a:rPr>
              <a:t>高铁</a:t>
            </a:r>
          </a:p>
          <a:p>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台湾</a:t>
            </a:r>
            <a:r>
              <a:rPr lang="en-US" altLang="zh-CN" sz="2000" b="1" dirty="0">
                <a:latin typeface="楷体_GB2312" pitchFamily="49" charset="-122"/>
                <a:ea typeface="楷体_GB2312" pitchFamily="49" charset="-122"/>
              </a:rPr>
              <a:t>THSR</a:t>
            </a:r>
            <a:r>
              <a:rPr lang="zh-CN" altLang="en-US" sz="2000" b="1" dirty="0">
                <a:latin typeface="楷体_GB2312" pitchFamily="49" charset="-122"/>
                <a:ea typeface="楷体_GB2312" pitchFamily="49" charset="-122"/>
              </a:rPr>
              <a:t>高铁</a:t>
            </a:r>
          </a:p>
          <a:p>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韩国</a:t>
            </a:r>
            <a:r>
              <a:rPr lang="en-US" altLang="zh-CN" sz="2000" b="1" dirty="0">
                <a:latin typeface="楷体_GB2312" pitchFamily="49" charset="-122"/>
                <a:ea typeface="楷体_GB2312" pitchFamily="49" charset="-122"/>
              </a:rPr>
              <a:t>KTX</a:t>
            </a:r>
            <a:r>
              <a:rPr lang="zh-CN" altLang="en-US" sz="2000" b="1" dirty="0">
                <a:latin typeface="楷体_GB2312" pitchFamily="49" charset="-122"/>
                <a:ea typeface="楷体_GB2312" pitchFamily="49" charset="-122"/>
              </a:rPr>
              <a:t>高铁</a:t>
            </a:r>
          </a:p>
          <a:p>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日本新干线</a:t>
            </a:r>
          </a:p>
          <a:p>
            <a:r>
              <a:rPr lang="en-US" altLang="zh-CN" sz="2000" b="1" dirty="0">
                <a:latin typeface="楷体_GB2312" pitchFamily="49" charset="-122"/>
                <a:ea typeface="楷体_GB2312" pitchFamily="49" charset="-122"/>
              </a:rPr>
              <a:t>5.</a:t>
            </a:r>
            <a:r>
              <a:rPr lang="zh-CN" altLang="en-US" sz="2000" b="1" dirty="0">
                <a:latin typeface="楷体_GB2312" pitchFamily="49" charset="-122"/>
                <a:ea typeface="楷体_GB2312" pitchFamily="49" charset="-122"/>
              </a:rPr>
              <a:t>西班牙</a:t>
            </a:r>
            <a:r>
              <a:rPr lang="en-US" altLang="zh-CN" sz="2000" b="1" dirty="0">
                <a:latin typeface="楷体_GB2312" pitchFamily="49" charset="-122"/>
                <a:ea typeface="楷体_GB2312" pitchFamily="49" charset="-122"/>
              </a:rPr>
              <a:t>AVE</a:t>
            </a:r>
          </a:p>
          <a:p>
            <a:r>
              <a:rPr lang="en-US" altLang="zh-CN" sz="2000" b="1" dirty="0">
                <a:latin typeface="楷体_GB2312" pitchFamily="49" charset="-122"/>
                <a:ea typeface="楷体_GB2312" pitchFamily="49" charset="-122"/>
              </a:rPr>
              <a:t>6.</a:t>
            </a:r>
            <a:r>
              <a:rPr lang="zh-CN" altLang="en-US" sz="2000" b="1" dirty="0">
                <a:latin typeface="楷体_GB2312" pitchFamily="49" charset="-122"/>
                <a:ea typeface="楷体_GB2312" pitchFamily="49" charset="-122"/>
              </a:rPr>
              <a:t>英国“欧洲之星”</a:t>
            </a:r>
          </a:p>
          <a:p>
            <a:r>
              <a:rPr lang="en-US" altLang="zh-CN" sz="2000" b="1" dirty="0">
                <a:latin typeface="楷体_GB2312" pitchFamily="49" charset="-122"/>
                <a:ea typeface="楷体_GB2312" pitchFamily="49" charset="-122"/>
              </a:rPr>
              <a:t>7.</a:t>
            </a:r>
            <a:r>
              <a:rPr lang="zh-CN" altLang="en-US" sz="2000" b="1" dirty="0">
                <a:latin typeface="楷体_GB2312" pitchFamily="49" charset="-122"/>
                <a:ea typeface="楷体_GB2312" pitchFamily="49" charset="-122"/>
              </a:rPr>
              <a:t>法国</a:t>
            </a:r>
            <a:r>
              <a:rPr lang="en-US" altLang="zh-CN" sz="2000" b="1" dirty="0">
                <a:latin typeface="楷体_GB2312" pitchFamily="49" charset="-122"/>
                <a:ea typeface="楷体_GB2312" pitchFamily="49" charset="-122"/>
              </a:rPr>
              <a:t>TGV</a:t>
            </a:r>
          </a:p>
          <a:p>
            <a:r>
              <a:rPr lang="en-US" altLang="zh-CN" sz="2000" b="1" dirty="0">
                <a:latin typeface="楷体_GB2312" pitchFamily="49" charset="-122"/>
                <a:ea typeface="楷体_GB2312" pitchFamily="49" charset="-122"/>
              </a:rPr>
              <a:t>8.</a:t>
            </a:r>
            <a:r>
              <a:rPr lang="zh-CN" altLang="en-US" sz="2000" b="1" dirty="0">
                <a:latin typeface="楷体_GB2312" pitchFamily="49" charset="-122"/>
                <a:ea typeface="楷体_GB2312" pitchFamily="49" charset="-122"/>
              </a:rPr>
              <a:t>日本</a:t>
            </a:r>
            <a:r>
              <a:rPr lang="en-US" altLang="zh-CN" sz="2000" b="1" dirty="0">
                <a:latin typeface="楷体_GB2312" pitchFamily="49" charset="-122"/>
                <a:ea typeface="楷体_GB2312" pitchFamily="49" charset="-122"/>
              </a:rPr>
              <a:t>MLX01</a:t>
            </a:r>
          </a:p>
          <a:p>
            <a:r>
              <a:rPr lang="en-US" altLang="zh-CN" sz="2000" b="1" dirty="0">
                <a:latin typeface="楷体_GB2312" pitchFamily="49" charset="-122"/>
                <a:ea typeface="楷体_GB2312" pitchFamily="49" charset="-122"/>
              </a:rPr>
              <a:t>9.</a:t>
            </a:r>
            <a:r>
              <a:rPr lang="zh-CN" altLang="en-US" sz="2000" b="1" dirty="0">
                <a:latin typeface="楷体_GB2312" pitchFamily="49" charset="-122"/>
                <a:ea typeface="楷体_GB2312" pitchFamily="49" charset="-122"/>
              </a:rPr>
              <a:t>德国</a:t>
            </a:r>
            <a:r>
              <a:rPr lang="en-US" altLang="zh-CN" sz="2000" b="1" dirty="0">
                <a:latin typeface="楷体_GB2312" pitchFamily="49" charset="-122"/>
                <a:ea typeface="楷体_GB2312" pitchFamily="49" charset="-122"/>
              </a:rPr>
              <a:t>TR-07</a:t>
            </a:r>
          </a:p>
          <a:p>
            <a:r>
              <a:rPr lang="en-US" altLang="zh-CN" sz="2000" b="1" dirty="0">
                <a:latin typeface="楷体_GB2312" pitchFamily="49" charset="-122"/>
                <a:ea typeface="楷体_GB2312" pitchFamily="49" charset="-122"/>
              </a:rPr>
              <a:t>10.</a:t>
            </a:r>
            <a:r>
              <a:rPr lang="zh-CN" altLang="en-US" sz="2000" b="1" dirty="0">
                <a:latin typeface="楷体_GB2312" pitchFamily="49" charset="-122"/>
                <a:ea typeface="楷体_GB2312" pitchFamily="49" charset="-122"/>
              </a:rPr>
              <a:t>日本</a:t>
            </a:r>
            <a:r>
              <a:rPr lang="en-US" altLang="zh-CN" sz="2000" b="1" dirty="0">
                <a:latin typeface="楷体_GB2312" pitchFamily="49" charset="-122"/>
                <a:ea typeface="楷体_GB2312" pitchFamily="49" charset="-122"/>
              </a:rPr>
              <a:t>MLU001</a:t>
            </a:r>
          </a:p>
          <a:p>
            <a:endParaRPr lang="zh-CN" altLang="en-US" sz="2000" b="1" dirty="0">
              <a:latin typeface="楷体_GB2312" pitchFamily="49" charset="-122"/>
              <a:ea typeface="楷体_GB2312" pitchFamily="49" charset="-122"/>
            </a:endParaRPr>
          </a:p>
        </p:txBody>
      </p:sp>
      <p:sp>
        <p:nvSpPr>
          <p:cNvPr id="4" name="文本占位符 2"/>
          <p:cNvSpPr txBox="1">
            <a:spLocks/>
          </p:cNvSpPr>
          <p:nvPr/>
        </p:nvSpPr>
        <p:spPr bwMode="auto">
          <a:xfrm>
            <a:off x="3203848" y="1340768"/>
            <a:ext cx="5760640" cy="208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b="1" dirty="0" smtClean="0">
                <a:latin typeface="楷体_GB2312" pitchFamily="49" charset="-122"/>
                <a:ea typeface="楷体_GB2312" pitchFamily="49" charset="-122"/>
              </a:rPr>
              <a:t>高铁</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a:t>
            </a:r>
            <a:r>
              <a:rPr lang="zh-CN" altLang="en-US" dirty="0">
                <a:latin typeface="楷体_GB2312" pitchFamily="49" charset="-122"/>
                <a:ea typeface="楷体_GB2312" pitchFamily="49" charset="-122"/>
              </a:rPr>
              <a:t>新建设计开行</a:t>
            </a:r>
            <a:r>
              <a:rPr lang="en-US" altLang="zh-CN" dirty="0">
                <a:latin typeface="楷体_GB2312" pitchFamily="49" charset="-122"/>
                <a:ea typeface="楷体_GB2312" pitchFamily="49" charset="-122"/>
              </a:rPr>
              <a:t>250</a:t>
            </a:r>
            <a:r>
              <a:rPr lang="zh-CN" altLang="en-US" dirty="0">
                <a:latin typeface="楷体_GB2312" pitchFamily="49" charset="-122"/>
                <a:ea typeface="楷体_GB2312" pitchFamily="49" charset="-122"/>
              </a:rPr>
              <a:t>公里</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小时（含预留）及</a:t>
            </a:r>
            <a:r>
              <a:rPr lang="zh-CN" altLang="en-US" dirty="0" smtClean="0">
                <a:latin typeface="楷体_GB2312" pitchFamily="49" charset="-122"/>
                <a:ea typeface="楷体_GB2312" pitchFamily="49" charset="-122"/>
              </a:rPr>
              <a:t>以上动车组列车</a:t>
            </a:r>
            <a:r>
              <a:rPr lang="zh-CN" altLang="en-US" dirty="0">
                <a:latin typeface="楷体_GB2312" pitchFamily="49" charset="-122"/>
                <a:ea typeface="楷体_GB2312" pitchFamily="49" charset="-122"/>
              </a:rPr>
              <a:t>，初期运营速度不小于</a:t>
            </a:r>
            <a:r>
              <a:rPr lang="en-US" altLang="zh-CN" dirty="0">
                <a:latin typeface="楷体_GB2312" pitchFamily="49" charset="-122"/>
                <a:ea typeface="楷体_GB2312" pitchFamily="49" charset="-122"/>
              </a:rPr>
              <a:t>200</a:t>
            </a:r>
            <a:r>
              <a:rPr lang="zh-CN" altLang="en-US" dirty="0">
                <a:latin typeface="楷体_GB2312" pitchFamily="49" charset="-122"/>
                <a:ea typeface="楷体_GB2312" pitchFamily="49" charset="-122"/>
              </a:rPr>
              <a:t>公里</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小时</a:t>
            </a:r>
            <a:r>
              <a:rPr lang="zh-CN" altLang="en-US" dirty="0" smtClean="0">
                <a:latin typeface="楷体_GB2312" pitchFamily="49" charset="-122"/>
                <a:ea typeface="楷体_GB2312" pitchFamily="49" charset="-122"/>
              </a:rPr>
              <a:t>的客运专线铁路铁路</a:t>
            </a:r>
            <a:r>
              <a:rPr lang="zh-CN" altLang="en-US"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1946" y="2852936"/>
            <a:ext cx="3400425"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2159" y="4948435"/>
            <a:ext cx="3924300" cy="1897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512" y="4948435"/>
            <a:ext cx="4522703" cy="1834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1040742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9512" y="1340768"/>
            <a:ext cx="8784976" cy="5035432"/>
          </a:xfrm>
        </p:spPr>
        <p:txBody>
          <a:bodyPr/>
          <a:lstStyle/>
          <a:p>
            <a:r>
              <a:rPr lang="zh-CN" altLang="en-US" sz="3200" b="1" dirty="0">
                <a:latin typeface="楷体_GB2312" pitchFamily="49" charset="-122"/>
                <a:ea typeface="楷体_GB2312" pitchFamily="49" charset="-122"/>
              </a:rPr>
              <a:t>运营里程最</a:t>
            </a:r>
            <a:r>
              <a:rPr lang="zh-CN" altLang="en-US" sz="3200" b="1" dirty="0" smtClean="0">
                <a:latin typeface="楷体_GB2312" pitchFamily="49" charset="-122"/>
                <a:ea typeface="楷体_GB2312" pitchFamily="49" charset="-122"/>
              </a:rPr>
              <a:t>长</a:t>
            </a:r>
            <a:r>
              <a:rPr lang="en-US" altLang="zh-CN" dirty="0" smtClean="0">
                <a:latin typeface="楷体_GB2312" pitchFamily="49" charset="-122"/>
                <a:ea typeface="楷体_GB2312" pitchFamily="49" charset="-122"/>
              </a:rPr>
              <a:t>——2014</a:t>
            </a:r>
            <a:r>
              <a:rPr lang="zh-CN" altLang="en-US" dirty="0">
                <a:latin typeface="楷体_GB2312" pitchFamily="49" charset="-122"/>
                <a:ea typeface="楷体_GB2312" pitchFamily="49" charset="-122"/>
              </a:rPr>
              <a:t>年，贵阳至广州、沪昆高铁杭州至南昌段和长沙至怀化段、兰新等一批高铁新线相继开通。截至</a:t>
            </a:r>
            <a:r>
              <a:rPr lang="en-US" altLang="zh-CN" dirty="0" smtClean="0">
                <a:latin typeface="楷体_GB2312" pitchFamily="49" charset="-122"/>
                <a:ea typeface="楷体_GB2312" pitchFamily="49" charset="-122"/>
              </a:rPr>
              <a:t>2015</a:t>
            </a:r>
            <a:r>
              <a:rPr lang="zh-CN" altLang="en-US" dirty="0" smtClean="0">
                <a:latin typeface="楷体_GB2312" pitchFamily="49" charset="-122"/>
                <a:ea typeface="楷体_GB2312" pitchFamily="49" charset="-122"/>
              </a:rPr>
              <a:t>年底</a:t>
            </a:r>
            <a:r>
              <a:rPr lang="zh-CN" altLang="en-US" dirty="0">
                <a:latin typeface="楷体_GB2312" pitchFamily="49" charset="-122"/>
                <a:ea typeface="楷体_GB2312" pitchFamily="49" charset="-122"/>
              </a:rPr>
              <a:t>，</a:t>
            </a:r>
            <a:r>
              <a:rPr lang="zh-CN" altLang="en-US" dirty="0" smtClean="0">
                <a:latin typeface="楷体_GB2312" pitchFamily="49" charset="-122"/>
                <a:ea typeface="楷体_GB2312" pitchFamily="49" charset="-122"/>
              </a:rPr>
              <a:t>我国高</a:t>
            </a:r>
            <a:r>
              <a:rPr lang="zh-CN" altLang="en-US" dirty="0">
                <a:latin typeface="楷体_GB2312" pitchFamily="49" charset="-122"/>
                <a:ea typeface="楷体_GB2312" pitchFamily="49" charset="-122"/>
              </a:rPr>
              <a:t>铁里程达到</a:t>
            </a:r>
            <a:r>
              <a:rPr lang="en-US" altLang="zh-CN" b="1" dirty="0" smtClean="0">
                <a:latin typeface="楷体_GB2312" pitchFamily="49" charset="-122"/>
                <a:ea typeface="楷体_GB2312" pitchFamily="49" charset="-122"/>
              </a:rPr>
              <a:t>1.9</a:t>
            </a:r>
            <a:r>
              <a:rPr lang="zh-CN" altLang="en-US" b="1" dirty="0" smtClean="0">
                <a:latin typeface="楷体_GB2312" pitchFamily="49" charset="-122"/>
                <a:ea typeface="楷体_GB2312" pitchFamily="49" charset="-122"/>
              </a:rPr>
              <a:t>万</a:t>
            </a:r>
            <a:r>
              <a:rPr lang="zh-CN" altLang="en-US" b="1" dirty="0">
                <a:latin typeface="楷体_GB2312" pitchFamily="49" charset="-122"/>
                <a:ea typeface="楷体_GB2312" pitchFamily="49" charset="-122"/>
              </a:rPr>
              <a:t>公里</a:t>
            </a:r>
            <a:r>
              <a:rPr lang="zh-CN" altLang="en-US" dirty="0">
                <a:latin typeface="楷体_GB2312" pitchFamily="49" charset="-122"/>
                <a:ea typeface="楷体_GB2312" pitchFamily="49" charset="-122"/>
              </a:rPr>
              <a:t>，超过世界高铁营业里程的一半，是当之无愧的“世界第一”。</a:t>
            </a:r>
          </a:p>
          <a:p>
            <a:r>
              <a:rPr lang="zh-CN" altLang="en-US" sz="3200" b="1" dirty="0">
                <a:latin typeface="楷体_GB2312" pitchFamily="49" charset="-122"/>
                <a:ea typeface="楷体_GB2312" pitchFamily="49" charset="-122"/>
              </a:rPr>
              <a:t>运营时速最高</a:t>
            </a:r>
            <a:r>
              <a:rPr lang="en-US" altLang="zh-CN" dirty="0">
                <a:latin typeface="楷体_GB2312" pitchFamily="49" charset="-122"/>
                <a:ea typeface="楷体_GB2312" pitchFamily="49" charset="-122"/>
              </a:rPr>
              <a:t>——</a:t>
            </a:r>
            <a:r>
              <a:rPr lang="en-US" altLang="zh-CN" dirty="0" smtClean="0">
                <a:latin typeface="楷体_GB2312" pitchFamily="49" charset="-122"/>
                <a:ea typeface="楷体_GB2312" pitchFamily="49" charset="-122"/>
              </a:rPr>
              <a:t>486.1</a:t>
            </a:r>
            <a:r>
              <a:rPr lang="zh-CN" altLang="en-US" dirty="0" smtClean="0">
                <a:latin typeface="楷体_GB2312" pitchFamily="49" charset="-122"/>
                <a:ea typeface="楷体_GB2312" pitchFamily="49" charset="-122"/>
              </a:rPr>
              <a:t>公里，这</a:t>
            </a:r>
            <a:r>
              <a:rPr lang="zh-CN" altLang="en-US" dirty="0">
                <a:latin typeface="楷体_GB2312" pitchFamily="49" charset="-122"/>
                <a:ea typeface="楷体_GB2312" pitchFamily="49" charset="-122"/>
              </a:rPr>
              <a:t>是喷气飞机低速巡航的速度！</a:t>
            </a:r>
            <a:r>
              <a:rPr lang="en-US" altLang="zh-CN" dirty="0">
                <a:latin typeface="楷体_GB2312" pitchFamily="49" charset="-122"/>
                <a:ea typeface="楷体_GB2312" pitchFamily="49" charset="-122"/>
              </a:rPr>
              <a:t>2010</a:t>
            </a:r>
            <a:r>
              <a:rPr lang="zh-CN" altLang="en-US" dirty="0">
                <a:latin typeface="楷体_GB2312" pitchFamily="49" charset="-122"/>
                <a:ea typeface="楷体_GB2312" pitchFamily="49" charset="-122"/>
              </a:rPr>
              <a:t>年</a:t>
            </a:r>
            <a:r>
              <a:rPr lang="en-US" altLang="zh-CN" dirty="0">
                <a:latin typeface="楷体_GB2312" pitchFamily="49" charset="-122"/>
                <a:ea typeface="楷体_GB2312" pitchFamily="49" charset="-122"/>
              </a:rPr>
              <a:t>12</a:t>
            </a:r>
            <a:r>
              <a:rPr lang="zh-CN" altLang="en-US" dirty="0">
                <a:latin typeface="楷体_GB2312" pitchFamily="49" charset="-122"/>
                <a:ea typeface="楷体_GB2312" pitchFamily="49" charset="-122"/>
              </a:rPr>
              <a:t>月</a:t>
            </a:r>
            <a:r>
              <a:rPr lang="en-US" altLang="zh-CN" dirty="0">
                <a:latin typeface="楷体_GB2312" pitchFamily="49" charset="-122"/>
                <a:ea typeface="楷体_GB2312" pitchFamily="49" charset="-122"/>
              </a:rPr>
              <a:t>3</a:t>
            </a:r>
            <a:r>
              <a:rPr lang="zh-CN" altLang="en-US" dirty="0">
                <a:latin typeface="楷体_GB2312" pitchFamily="49" charset="-122"/>
                <a:ea typeface="楷体_GB2312" pitchFamily="49" charset="-122"/>
              </a:rPr>
              <a:t>日，在京沪高铁枣庄至蚌埠试验段，</a:t>
            </a:r>
            <a:r>
              <a:rPr lang="en-US" altLang="zh-CN" dirty="0">
                <a:latin typeface="楷体_GB2312" pitchFamily="49" charset="-122"/>
                <a:ea typeface="楷体_GB2312" pitchFamily="49" charset="-122"/>
              </a:rPr>
              <a:t>CRH380AL</a:t>
            </a:r>
            <a:r>
              <a:rPr lang="zh-CN" altLang="en-US" dirty="0">
                <a:latin typeface="楷体_GB2312" pitchFamily="49" charset="-122"/>
                <a:ea typeface="楷体_GB2312" pitchFamily="49" charset="-122"/>
              </a:rPr>
              <a:t>新一代高速动车组创造了时速</a:t>
            </a:r>
            <a:r>
              <a:rPr lang="en-US" altLang="zh-CN" dirty="0" smtClean="0">
                <a:latin typeface="楷体_GB2312" pitchFamily="49" charset="-122"/>
                <a:ea typeface="楷体_GB2312" pitchFamily="49" charset="-122"/>
              </a:rPr>
              <a:t>486.1</a:t>
            </a:r>
            <a:r>
              <a:rPr lang="zh-CN" altLang="en-US" dirty="0">
                <a:latin typeface="楷体_GB2312" pitchFamily="49" charset="-122"/>
                <a:ea typeface="楷体_GB2312" pitchFamily="49" charset="-122"/>
              </a:rPr>
              <a:t>公里的世界铁路运营第一速。</a:t>
            </a:r>
          </a:p>
          <a:p>
            <a:r>
              <a:rPr lang="zh-CN" altLang="en-US" sz="3200" b="1" dirty="0">
                <a:latin typeface="楷体_GB2312" pitchFamily="49" charset="-122"/>
                <a:ea typeface="楷体_GB2312" pitchFamily="49" charset="-122"/>
              </a:rPr>
              <a:t>轮轨试验时速最高</a:t>
            </a:r>
            <a:r>
              <a:rPr lang="en-US" altLang="zh-CN" dirty="0" smtClean="0">
                <a:latin typeface="楷体_GB2312" pitchFamily="49" charset="-122"/>
                <a:ea typeface="楷体_GB2312" pitchFamily="49" charset="-122"/>
              </a:rPr>
              <a:t>——2011</a:t>
            </a:r>
            <a:r>
              <a:rPr lang="zh-CN" altLang="en-US" dirty="0">
                <a:latin typeface="楷体_GB2312" pitchFamily="49" charset="-122"/>
                <a:ea typeface="楷体_GB2312" pitchFamily="49" charset="-122"/>
              </a:rPr>
              <a:t>年</a:t>
            </a:r>
            <a:r>
              <a:rPr lang="en-US" altLang="zh-CN" dirty="0">
                <a:latin typeface="楷体_GB2312" pitchFamily="49" charset="-122"/>
                <a:ea typeface="楷体_GB2312" pitchFamily="49" charset="-122"/>
              </a:rPr>
              <a:t>12</a:t>
            </a:r>
            <a:r>
              <a:rPr lang="zh-CN" altLang="en-US" dirty="0">
                <a:latin typeface="楷体_GB2312" pitchFamily="49" charset="-122"/>
                <a:ea typeface="楷体_GB2312" pitchFamily="49" charset="-122"/>
              </a:rPr>
              <a:t>月，由中国南车研制的更高速度试验</a:t>
            </a:r>
            <a:r>
              <a:rPr lang="zh-CN" altLang="en-US" dirty="0" smtClean="0">
                <a:latin typeface="楷体_GB2312" pitchFamily="49" charset="-122"/>
                <a:ea typeface="楷体_GB2312" pitchFamily="49" charset="-122"/>
              </a:rPr>
              <a:t>列车落成</a:t>
            </a:r>
            <a:r>
              <a:rPr lang="zh-CN" altLang="en-US" dirty="0">
                <a:latin typeface="楷体_GB2312" pitchFamily="49" charset="-122"/>
                <a:ea typeface="楷体_GB2312" pitchFamily="49" charset="-122"/>
              </a:rPr>
              <a:t>，设计速度</a:t>
            </a:r>
            <a:r>
              <a:rPr lang="en-US" altLang="zh-CN" dirty="0">
                <a:latin typeface="楷体_GB2312" pitchFamily="49" charset="-122"/>
                <a:ea typeface="楷体_GB2312" pitchFamily="49" charset="-122"/>
              </a:rPr>
              <a:t>500</a:t>
            </a:r>
            <a:r>
              <a:rPr lang="zh-CN" altLang="en-US" dirty="0">
                <a:latin typeface="楷体_GB2312" pitchFamily="49" charset="-122"/>
                <a:ea typeface="楷体_GB2312" pitchFamily="49" charset="-122"/>
              </a:rPr>
              <a:t>公里，在高速列车国家工程实验室中创造了</a:t>
            </a:r>
            <a:r>
              <a:rPr lang="en-US" altLang="zh-CN" dirty="0">
                <a:latin typeface="楷体_GB2312" pitchFamily="49" charset="-122"/>
                <a:ea typeface="楷体_GB2312" pitchFamily="49" charset="-122"/>
              </a:rPr>
              <a:t>605</a:t>
            </a:r>
            <a:r>
              <a:rPr lang="zh-CN" altLang="en-US" dirty="0">
                <a:latin typeface="楷体_GB2312" pitchFamily="49" charset="-122"/>
                <a:ea typeface="楷体_GB2312" pitchFamily="49" charset="-122"/>
              </a:rPr>
              <a:t>公里的最高轮轨试验速度</a:t>
            </a:r>
            <a:r>
              <a:rPr lang="zh-CN" altLang="en-US" dirty="0" smtClean="0">
                <a:latin typeface="楷体_GB2312" pitchFamily="49" charset="-122"/>
                <a:ea typeface="楷体_GB2312" pitchFamily="49" charset="-122"/>
              </a:rPr>
              <a:t>。</a:t>
            </a:r>
            <a:endParaRPr lang="zh-CN" altLang="en-US" dirty="0"/>
          </a:p>
        </p:txBody>
      </p:sp>
      <p:sp>
        <p:nvSpPr>
          <p:cNvPr id="4" name="标题 1"/>
          <p:cNvSpPr txBox="1">
            <a:spLocks/>
          </p:cNvSpPr>
          <p:nvPr/>
        </p:nvSpPr>
        <p:spPr bwMode="auto">
          <a:xfrm>
            <a:off x="395536" y="260648"/>
            <a:ext cx="7632848" cy="936104"/>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smtClean="0">
                <a:latin typeface="幼圆" pitchFamily="49" charset="-122"/>
                <a:ea typeface="幼圆" pitchFamily="49" charset="-122"/>
              </a:rPr>
              <a:t>综合案例：中国高铁横空出世</a:t>
            </a:r>
            <a:endParaRPr lang="zh-CN" altLang="en-US" b="1" dirty="0">
              <a:latin typeface="幼圆" pitchFamily="49" charset="-122"/>
              <a:ea typeface="幼圆" pitchFamily="49" charset="-122"/>
            </a:endParaRPr>
          </a:p>
        </p:txBody>
      </p:sp>
    </p:spTree>
    <p:extLst>
      <p:ext uri="{BB962C8B-B14F-4D97-AF65-F5344CB8AC3E}">
        <p14:creationId xmlns:p14="http://schemas.microsoft.com/office/powerpoint/2010/main" val="188550036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476672"/>
            <a:ext cx="8305800" cy="5544616"/>
          </a:xfrm>
        </p:spPr>
        <p:txBody>
          <a:bodyPr/>
          <a:lstStyle/>
          <a:p>
            <a:r>
              <a:rPr lang="zh-CN" altLang="en-US" sz="3200" b="1" dirty="0">
                <a:latin typeface="楷体_GB2312" pitchFamily="49" charset="-122"/>
                <a:ea typeface="楷体_GB2312" pitchFamily="49" charset="-122"/>
              </a:rPr>
              <a:t>世界等级最高的高铁</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京沪</a:t>
            </a:r>
            <a:r>
              <a:rPr lang="zh-CN" altLang="en-US" dirty="0" smtClean="0">
                <a:latin typeface="楷体_GB2312" pitchFamily="49" charset="-122"/>
                <a:ea typeface="楷体_GB2312" pitchFamily="49" charset="-122"/>
              </a:rPr>
              <a:t>高铁，</a:t>
            </a:r>
            <a:r>
              <a:rPr lang="en-US" altLang="zh-CN" dirty="0" smtClean="0">
                <a:latin typeface="楷体_GB2312" pitchFamily="49" charset="-122"/>
                <a:ea typeface="楷体_GB2312" pitchFamily="49" charset="-122"/>
              </a:rPr>
              <a:t>2011</a:t>
            </a:r>
            <a:r>
              <a:rPr lang="zh-CN" altLang="en-US" dirty="0">
                <a:latin typeface="楷体_GB2312" pitchFamily="49" charset="-122"/>
                <a:ea typeface="楷体_GB2312" pitchFamily="49" charset="-122"/>
              </a:rPr>
              <a:t>年</a:t>
            </a:r>
            <a:r>
              <a:rPr lang="en-US" altLang="zh-CN" dirty="0">
                <a:latin typeface="楷体_GB2312" pitchFamily="49" charset="-122"/>
                <a:ea typeface="楷体_GB2312" pitchFamily="49" charset="-122"/>
              </a:rPr>
              <a:t>6</a:t>
            </a:r>
            <a:r>
              <a:rPr lang="zh-CN" altLang="en-US" dirty="0">
                <a:latin typeface="楷体_GB2312" pitchFamily="49" charset="-122"/>
                <a:ea typeface="楷体_GB2312" pitchFamily="49" charset="-122"/>
              </a:rPr>
              <a:t>月，京沪高铁建成投产，这是世界上一次建成线路最长、标准最高的高速铁路。它贯穿北京、天津、河北、山东、安徽、江苏、上海</a:t>
            </a:r>
            <a:r>
              <a:rPr lang="en-US" altLang="zh-CN" dirty="0">
                <a:latin typeface="楷体_GB2312" pitchFamily="49" charset="-122"/>
                <a:ea typeface="楷体_GB2312" pitchFamily="49" charset="-122"/>
              </a:rPr>
              <a:t>7</a:t>
            </a:r>
            <a:r>
              <a:rPr lang="zh-CN" altLang="en-US" dirty="0">
                <a:latin typeface="楷体_GB2312" pitchFamily="49" charset="-122"/>
                <a:ea typeface="楷体_GB2312" pitchFamily="49" charset="-122"/>
              </a:rPr>
              <a:t>省市，连接环渤海和长三角两大经济区，全长</a:t>
            </a:r>
            <a:r>
              <a:rPr lang="en-US" altLang="zh-CN" dirty="0">
                <a:latin typeface="楷体_GB2312" pitchFamily="49" charset="-122"/>
                <a:ea typeface="楷体_GB2312" pitchFamily="49" charset="-122"/>
              </a:rPr>
              <a:t>1318</a:t>
            </a:r>
            <a:r>
              <a:rPr lang="zh-CN" altLang="en-US" dirty="0">
                <a:latin typeface="楷体_GB2312" pitchFamily="49" charset="-122"/>
                <a:ea typeface="楷体_GB2312" pitchFamily="49" charset="-122"/>
              </a:rPr>
              <a:t>公里</a:t>
            </a:r>
            <a:r>
              <a:rPr lang="zh-CN" altLang="en-US" dirty="0" smtClean="0">
                <a:latin typeface="楷体_GB2312" pitchFamily="49" charset="-122"/>
                <a:ea typeface="楷体_GB2312" pitchFamily="49" charset="-122"/>
              </a:rPr>
              <a:t>。</a:t>
            </a:r>
            <a:r>
              <a:rPr lang="en-US" altLang="zh-CN" dirty="0" smtClean="0">
                <a:latin typeface="楷体_GB2312" pitchFamily="49" charset="-122"/>
                <a:ea typeface="楷体_GB2312" pitchFamily="49" charset="-122"/>
              </a:rPr>
              <a:t>2014</a:t>
            </a:r>
            <a:r>
              <a:rPr lang="zh-CN" altLang="en-US" dirty="0">
                <a:latin typeface="楷体_GB2312" pitchFamily="49" charset="-122"/>
                <a:ea typeface="楷体_GB2312" pitchFamily="49" charset="-122"/>
              </a:rPr>
              <a:t>年</a:t>
            </a:r>
            <a:r>
              <a:rPr lang="en-US" altLang="zh-CN" dirty="0">
                <a:latin typeface="楷体_GB2312" pitchFamily="49" charset="-122"/>
                <a:ea typeface="楷体_GB2312" pitchFamily="49" charset="-122"/>
              </a:rPr>
              <a:t>7</a:t>
            </a:r>
            <a:r>
              <a:rPr lang="zh-CN" altLang="en-US" dirty="0">
                <a:latin typeface="楷体_GB2312" pitchFamily="49" charset="-122"/>
                <a:ea typeface="楷体_GB2312" pitchFamily="49" charset="-122"/>
              </a:rPr>
              <a:t>月</a:t>
            </a:r>
            <a:r>
              <a:rPr lang="en-US" altLang="zh-CN" dirty="0">
                <a:latin typeface="楷体_GB2312" pitchFamily="49" charset="-122"/>
                <a:ea typeface="楷体_GB2312" pitchFamily="49" charset="-122"/>
              </a:rPr>
              <a:t>1</a:t>
            </a:r>
            <a:r>
              <a:rPr lang="zh-CN" altLang="en-US" dirty="0">
                <a:latin typeface="楷体_GB2312" pitchFamily="49" charset="-122"/>
                <a:ea typeface="楷体_GB2312" pitchFamily="49" charset="-122"/>
              </a:rPr>
              <a:t>日，在开通运营三周年之际，京沪高铁对外宣布正式盈利，按营业税口径计算，全年有望实现利润</a:t>
            </a:r>
            <a:r>
              <a:rPr lang="en-US" altLang="zh-CN" dirty="0">
                <a:latin typeface="楷体_GB2312" pitchFamily="49" charset="-122"/>
                <a:ea typeface="楷体_GB2312" pitchFamily="49" charset="-122"/>
              </a:rPr>
              <a:t>12</a:t>
            </a:r>
            <a:r>
              <a:rPr lang="zh-CN" altLang="en-US" dirty="0">
                <a:latin typeface="楷体_GB2312" pitchFamily="49" charset="-122"/>
                <a:ea typeface="楷体_GB2312" pitchFamily="49" charset="-122"/>
              </a:rPr>
              <a:t>亿元左右。</a:t>
            </a:r>
          </a:p>
          <a:p>
            <a:r>
              <a:rPr lang="zh-CN" altLang="en-US" sz="3200" b="1" dirty="0">
                <a:latin typeface="楷体_GB2312" pitchFamily="49" charset="-122"/>
                <a:ea typeface="楷体_GB2312" pitchFamily="49" charset="-122"/>
              </a:rPr>
              <a:t>世界首条新建高寒高铁</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哈大</a:t>
            </a:r>
            <a:r>
              <a:rPr lang="zh-CN" altLang="en-US" dirty="0" smtClean="0">
                <a:latin typeface="楷体_GB2312" pitchFamily="49" charset="-122"/>
                <a:ea typeface="楷体_GB2312" pitchFamily="49" charset="-122"/>
              </a:rPr>
              <a:t>高铁，</a:t>
            </a:r>
            <a:r>
              <a:rPr lang="en-US" altLang="zh-CN" dirty="0" smtClean="0">
                <a:latin typeface="楷体_GB2312" pitchFamily="49" charset="-122"/>
                <a:ea typeface="楷体_GB2312" pitchFamily="49" charset="-122"/>
              </a:rPr>
              <a:t>2012</a:t>
            </a:r>
            <a:r>
              <a:rPr lang="zh-CN" altLang="en-US" dirty="0">
                <a:latin typeface="楷体_GB2312" pitchFamily="49" charset="-122"/>
                <a:ea typeface="楷体_GB2312" pitchFamily="49" charset="-122"/>
              </a:rPr>
              <a:t>年</a:t>
            </a:r>
            <a:r>
              <a:rPr lang="en-US" altLang="zh-CN" dirty="0">
                <a:latin typeface="楷体_GB2312" pitchFamily="49" charset="-122"/>
                <a:ea typeface="楷体_GB2312" pitchFamily="49" charset="-122"/>
              </a:rPr>
              <a:t>12</a:t>
            </a:r>
            <a:r>
              <a:rPr lang="zh-CN" altLang="en-US" dirty="0">
                <a:latin typeface="楷体_GB2312" pitchFamily="49" charset="-122"/>
                <a:ea typeface="楷体_GB2312" pitchFamily="49" charset="-122"/>
              </a:rPr>
              <a:t>月</a:t>
            </a:r>
            <a:r>
              <a:rPr lang="en-US" altLang="zh-CN" dirty="0">
                <a:latin typeface="楷体_GB2312" pitchFamily="49" charset="-122"/>
                <a:ea typeface="楷体_GB2312" pitchFamily="49" charset="-122"/>
              </a:rPr>
              <a:t>1</a:t>
            </a:r>
            <a:r>
              <a:rPr lang="zh-CN" altLang="en-US" dirty="0">
                <a:latin typeface="楷体_GB2312" pitchFamily="49" charset="-122"/>
                <a:ea typeface="楷体_GB2312" pitchFamily="49" charset="-122"/>
              </a:rPr>
              <a:t>日，中国首条也是世界第一条新建高寒地区长大高速铁路哈尔滨</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大连高铁投入运营。哈大高铁营业里程</a:t>
            </a:r>
            <a:r>
              <a:rPr lang="en-US" altLang="zh-CN" dirty="0">
                <a:latin typeface="楷体_GB2312" pitchFamily="49" charset="-122"/>
                <a:ea typeface="楷体_GB2312" pitchFamily="49" charset="-122"/>
              </a:rPr>
              <a:t>921</a:t>
            </a:r>
            <a:r>
              <a:rPr lang="zh-CN" altLang="en-US" dirty="0">
                <a:latin typeface="楷体_GB2312" pitchFamily="49" charset="-122"/>
                <a:ea typeface="楷体_GB2312" pitchFamily="49" charset="-122"/>
              </a:rPr>
              <a:t>公里，设计时速</a:t>
            </a:r>
            <a:r>
              <a:rPr lang="en-US" altLang="zh-CN" dirty="0">
                <a:latin typeface="楷体_GB2312" pitchFamily="49" charset="-122"/>
                <a:ea typeface="楷体_GB2312" pitchFamily="49" charset="-122"/>
              </a:rPr>
              <a:t>350</a:t>
            </a:r>
            <a:r>
              <a:rPr lang="zh-CN" altLang="en-US" dirty="0">
                <a:latin typeface="楷体_GB2312" pitchFamily="49" charset="-122"/>
                <a:ea typeface="楷体_GB2312" pitchFamily="49" charset="-122"/>
              </a:rPr>
              <a:t>公里，纵贯辽宁、吉林、黑龙江三省，全线设</a:t>
            </a:r>
            <a:r>
              <a:rPr lang="en-US" altLang="zh-CN" dirty="0">
                <a:latin typeface="楷体_GB2312" pitchFamily="49" charset="-122"/>
                <a:ea typeface="楷体_GB2312" pitchFamily="49" charset="-122"/>
              </a:rPr>
              <a:t>23</a:t>
            </a:r>
            <a:r>
              <a:rPr lang="zh-CN" altLang="en-US" dirty="0">
                <a:latin typeface="楷体_GB2312" pitchFamily="49" charset="-122"/>
                <a:ea typeface="楷体_GB2312" pitchFamily="49" charset="-122"/>
              </a:rPr>
              <a:t>个车站。根据最近</a:t>
            </a:r>
            <a:r>
              <a:rPr lang="en-US" altLang="zh-CN" dirty="0">
                <a:latin typeface="楷体_GB2312" pitchFamily="49" charset="-122"/>
                <a:ea typeface="楷体_GB2312" pitchFamily="49" charset="-122"/>
              </a:rPr>
              <a:t>30</a:t>
            </a:r>
            <a:r>
              <a:rPr lang="zh-CN" altLang="en-US" dirty="0">
                <a:latin typeface="楷体_GB2312" pitchFamily="49" charset="-122"/>
                <a:ea typeface="楷体_GB2312" pitchFamily="49" charset="-122"/>
              </a:rPr>
              <a:t>年的气象记录，东北三省全年温差达到</a:t>
            </a:r>
            <a:r>
              <a:rPr lang="en-US" altLang="zh-CN" dirty="0">
                <a:latin typeface="楷体_GB2312" pitchFamily="49" charset="-122"/>
                <a:ea typeface="楷体_GB2312" pitchFamily="49" charset="-122"/>
              </a:rPr>
              <a:t>80℃</a:t>
            </a:r>
            <a:r>
              <a:rPr lang="zh-CN" altLang="en-US" dirty="0">
                <a:latin typeface="楷体_GB2312" pitchFamily="49" charset="-122"/>
                <a:ea typeface="楷体_GB2312" pitchFamily="49" charset="-122"/>
              </a:rPr>
              <a:t>，是中国最为寒冷、也是温差最大的地区。中国高铁在这样冷的地方经受住了</a:t>
            </a:r>
            <a:r>
              <a:rPr lang="zh-CN" altLang="en-US" dirty="0" smtClean="0">
                <a:latin typeface="楷体_GB2312" pitchFamily="49" charset="-122"/>
                <a:ea typeface="楷体_GB2312" pitchFamily="49" charset="-122"/>
              </a:rPr>
              <a:t>考验</a:t>
            </a:r>
            <a:r>
              <a:rPr lang="zh-CN" altLang="en-US" dirty="0">
                <a:latin typeface="楷体_GB2312" pitchFamily="49" charset="-122"/>
                <a:ea typeface="楷体_GB2312" pitchFamily="49" charset="-122"/>
              </a:rPr>
              <a:t>。</a:t>
            </a:r>
          </a:p>
          <a:p>
            <a:endParaRPr lang="zh-CN" altLang="en-US" dirty="0"/>
          </a:p>
        </p:txBody>
      </p:sp>
    </p:spTree>
    <p:extLst>
      <p:ext uri="{BB962C8B-B14F-4D97-AF65-F5344CB8AC3E}">
        <p14:creationId xmlns:p14="http://schemas.microsoft.com/office/powerpoint/2010/main" val="8719713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9512" y="260648"/>
            <a:ext cx="8521824" cy="6048672"/>
          </a:xfrm>
        </p:spPr>
        <p:txBody>
          <a:bodyPr/>
          <a:lstStyle/>
          <a:p>
            <a:r>
              <a:rPr lang="zh-CN" altLang="en-US" sz="3200" b="1" dirty="0">
                <a:latin typeface="楷体_GB2312" pitchFamily="49" charset="-122"/>
                <a:ea typeface="楷体_GB2312" pitchFamily="49" charset="-122"/>
              </a:rPr>
              <a:t>世界单条运营里程最长高铁</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京广</a:t>
            </a:r>
            <a:r>
              <a:rPr lang="zh-CN" altLang="en-US" dirty="0" smtClean="0">
                <a:latin typeface="楷体_GB2312" pitchFamily="49" charset="-122"/>
                <a:ea typeface="楷体_GB2312" pitchFamily="49" charset="-122"/>
              </a:rPr>
              <a:t>高铁，</a:t>
            </a:r>
            <a:r>
              <a:rPr lang="en-US" altLang="zh-CN" dirty="0" smtClean="0">
                <a:latin typeface="楷体_GB2312" pitchFamily="49" charset="-122"/>
                <a:ea typeface="楷体_GB2312" pitchFamily="49" charset="-122"/>
              </a:rPr>
              <a:t>2012</a:t>
            </a:r>
            <a:r>
              <a:rPr lang="zh-CN" altLang="en-US" dirty="0">
                <a:latin typeface="楷体_GB2312" pitchFamily="49" charset="-122"/>
                <a:ea typeface="楷体_GB2312" pitchFamily="49" charset="-122"/>
              </a:rPr>
              <a:t>年</a:t>
            </a:r>
            <a:r>
              <a:rPr lang="en-US" altLang="zh-CN" dirty="0">
                <a:latin typeface="楷体_GB2312" pitchFamily="49" charset="-122"/>
                <a:ea typeface="楷体_GB2312" pitchFamily="49" charset="-122"/>
              </a:rPr>
              <a:t>12</a:t>
            </a:r>
            <a:r>
              <a:rPr lang="zh-CN" altLang="en-US" dirty="0">
                <a:latin typeface="楷体_GB2312" pitchFamily="49" charset="-122"/>
                <a:ea typeface="楷体_GB2312" pitchFamily="49" charset="-122"/>
              </a:rPr>
              <a:t>月</a:t>
            </a:r>
            <a:r>
              <a:rPr lang="en-US" altLang="zh-CN" dirty="0">
                <a:latin typeface="楷体_GB2312" pitchFamily="49" charset="-122"/>
                <a:ea typeface="楷体_GB2312" pitchFamily="49" charset="-122"/>
              </a:rPr>
              <a:t>26</a:t>
            </a:r>
            <a:r>
              <a:rPr lang="zh-CN" altLang="en-US" dirty="0">
                <a:latin typeface="楷体_GB2312" pitchFamily="49" charset="-122"/>
                <a:ea typeface="楷体_GB2312" pitchFamily="49" charset="-122"/>
              </a:rPr>
              <a:t>日，全球运营里程最长</a:t>
            </a:r>
            <a:r>
              <a:rPr lang="zh-CN" altLang="en-US" dirty="0" smtClean="0">
                <a:latin typeface="楷体_GB2312" pitchFamily="49" charset="-122"/>
                <a:ea typeface="楷体_GB2312" pitchFamily="49" charset="-122"/>
              </a:rPr>
              <a:t>的京广</a:t>
            </a:r>
            <a:r>
              <a:rPr lang="zh-CN" altLang="en-US" dirty="0">
                <a:latin typeface="楷体_GB2312" pitchFamily="49" charset="-122"/>
                <a:ea typeface="楷体_GB2312" pitchFamily="49" charset="-122"/>
              </a:rPr>
              <a:t>高铁全线开通</a:t>
            </a:r>
            <a:r>
              <a:rPr lang="zh-CN" altLang="en-US" dirty="0" smtClean="0">
                <a:latin typeface="楷体_GB2312" pitchFamily="49" charset="-122"/>
                <a:ea typeface="楷体_GB2312" pitchFamily="49" charset="-122"/>
              </a:rPr>
              <a:t>运营，全长</a:t>
            </a:r>
            <a:r>
              <a:rPr lang="en-US" altLang="zh-CN" dirty="0">
                <a:latin typeface="楷体_GB2312" pitchFamily="49" charset="-122"/>
                <a:ea typeface="楷体_GB2312" pitchFamily="49" charset="-122"/>
              </a:rPr>
              <a:t>2298</a:t>
            </a:r>
            <a:r>
              <a:rPr lang="zh-CN" altLang="en-US" dirty="0" smtClean="0">
                <a:latin typeface="楷体_GB2312" pitchFamily="49" charset="-122"/>
                <a:ea typeface="楷体_GB2312" pitchFamily="49" charset="-122"/>
              </a:rPr>
              <a:t>公里，</a:t>
            </a:r>
            <a:r>
              <a:rPr lang="zh-CN" altLang="en-US" dirty="0">
                <a:latin typeface="楷体_GB2312" pitchFamily="49" charset="-122"/>
                <a:ea typeface="楷体_GB2312" pitchFamily="49" charset="-122"/>
              </a:rPr>
              <a:t>是我国中长期铁路网规划中“四纵四横”高速铁路的重要“一纵”，北起北京，经石家庄、郑州、武汉、长沙等地，南至广州，全线设计时速</a:t>
            </a:r>
            <a:r>
              <a:rPr lang="en-US" altLang="zh-CN" dirty="0">
                <a:latin typeface="楷体_GB2312" pitchFamily="49" charset="-122"/>
                <a:ea typeface="楷体_GB2312" pitchFamily="49" charset="-122"/>
              </a:rPr>
              <a:t>350</a:t>
            </a:r>
            <a:r>
              <a:rPr lang="zh-CN" altLang="en-US" dirty="0">
                <a:latin typeface="楷体_GB2312" pitchFamily="49" charset="-122"/>
                <a:ea typeface="楷体_GB2312" pitchFamily="49" charset="-122"/>
              </a:rPr>
              <a:t>公里，初期运营时速</a:t>
            </a:r>
            <a:r>
              <a:rPr lang="en-US" altLang="zh-CN" dirty="0">
                <a:latin typeface="楷体_GB2312" pitchFamily="49" charset="-122"/>
                <a:ea typeface="楷体_GB2312" pitchFamily="49" charset="-122"/>
              </a:rPr>
              <a:t>300</a:t>
            </a:r>
            <a:r>
              <a:rPr lang="zh-CN" altLang="en-US" dirty="0">
                <a:latin typeface="楷体_GB2312" pitchFamily="49" charset="-122"/>
                <a:ea typeface="楷体_GB2312" pitchFamily="49" charset="-122"/>
              </a:rPr>
              <a:t>公里</a:t>
            </a:r>
            <a:r>
              <a:rPr lang="zh-CN" altLang="en-US" dirty="0" smtClean="0">
                <a:latin typeface="楷体_GB2312" pitchFamily="49" charset="-122"/>
                <a:ea typeface="楷体_GB2312" pitchFamily="49" charset="-122"/>
              </a:rPr>
              <a:t>。仅京</a:t>
            </a:r>
            <a:r>
              <a:rPr lang="zh-CN" altLang="en-US" dirty="0">
                <a:latin typeface="楷体_GB2312" pitchFamily="49" charset="-122"/>
                <a:ea typeface="楷体_GB2312" pitchFamily="49" charset="-122"/>
              </a:rPr>
              <a:t>郑段</a:t>
            </a:r>
            <a:r>
              <a:rPr lang="en-US" altLang="zh-CN" dirty="0">
                <a:latin typeface="楷体_GB2312" pitchFamily="49" charset="-122"/>
                <a:ea typeface="楷体_GB2312" pitchFamily="49" charset="-122"/>
              </a:rPr>
              <a:t>2030</a:t>
            </a:r>
            <a:r>
              <a:rPr lang="zh-CN" altLang="en-US" dirty="0">
                <a:latin typeface="楷体_GB2312" pitchFamily="49" charset="-122"/>
                <a:ea typeface="楷体_GB2312" pitchFamily="49" charset="-122"/>
              </a:rPr>
              <a:t>年前对全社会经济的拉动作用就将达到</a:t>
            </a:r>
            <a:r>
              <a:rPr lang="en-US" altLang="zh-CN" dirty="0" smtClean="0">
                <a:latin typeface="楷体_GB2312" pitchFamily="49" charset="-122"/>
                <a:ea typeface="楷体_GB2312" pitchFamily="49" charset="-122"/>
              </a:rPr>
              <a:t>2758.44</a:t>
            </a:r>
            <a:r>
              <a:rPr lang="zh-CN" altLang="en-US" dirty="0">
                <a:latin typeface="楷体_GB2312" pitchFamily="49" charset="-122"/>
                <a:ea typeface="楷体_GB2312" pitchFamily="49" charset="-122"/>
              </a:rPr>
              <a:t>亿元</a:t>
            </a:r>
            <a:r>
              <a:rPr lang="zh-CN" altLang="en-US" dirty="0" smtClean="0">
                <a:latin typeface="楷体_GB2312" pitchFamily="49" charset="-122"/>
                <a:ea typeface="楷体_GB2312" pitchFamily="49" charset="-122"/>
              </a:rPr>
              <a:t>。</a:t>
            </a:r>
            <a:endParaRPr lang="en-US" altLang="zh-CN" dirty="0" smtClean="0">
              <a:latin typeface="楷体_GB2312" pitchFamily="49" charset="-122"/>
              <a:ea typeface="楷体_GB2312" pitchFamily="49" charset="-122"/>
            </a:endParaRPr>
          </a:p>
          <a:p>
            <a:r>
              <a:rPr lang="zh-CN" altLang="en-US" sz="3200" b="1" dirty="0" smtClean="0">
                <a:latin typeface="楷体_GB2312" pitchFamily="49" charset="-122"/>
                <a:ea typeface="楷体_GB2312" pitchFamily="49" charset="-122"/>
              </a:rPr>
              <a:t>世界</a:t>
            </a:r>
            <a:r>
              <a:rPr lang="zh-CN" altLang="en-US" sz="3200" b="1" dirty="0">
                <a:latin typeface="楷体_GB2312" pitchFamily="49" charset="-122"/>
                <a:ea typeface="楷体_GB2312" pitchFamily="49" charset="-122"/>
              </a:rPr>
              <a:t>上一次性建成里程最长的高铁</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兰新</a:t>
            </a:r>
            <a:r>
              <a:rPr lang="zh-CN" altLang="en-US" dirty="0" smtClean="0">
                <a:latin typeface="楷体_GB2312" pitchFamily="49" charset="-122"/>
                <a:ea typeface="楷体_GB2312" pitchFamily="49" charset="-122"/>
              </a:rPr>
              <a:t>高铁，</a:t>
            </a:r>
            <a:r>
              <a:rPr lang="en-US" altLang="zh-CN" dirty="0" smtClean="0">
                <a:latin typeface="楷体_GB2312" pitchFamily="49" charset="-122"/>
                <a:ea typeface="楷体_GB2312" pitchFamily="49" charset="-122"/>
              </a:rPr>
              <a:t>2014</a:t>
            </a:r>
            <a:r>
              <a:rPr lang="zh-CN" altLang="en-US" dirty="0">
                <a:latin typeface="楷体_GB2312" pitchFamily="49" charset="-122"/>
                <a:ea typeface="楷体_GB2312" pitchFamily="49" charset="-122"/>
              </a:rPr>
              <a:t>年</a:t>
            </a:r>
            <a:r>
              <a:rPr lang="en-US" altLang="zh-CN" dirty="0">
                <a:latin typeface="楷体_GB2312" pitchFamily="49" charset="-122"/>
                <a:ea typeface="楷体_GB2312" pitchFamily="49" charset="-122"/>
              </a:rPr>
              <a:t>12</a:t>
            </a:r>
            <a:r>
              <a:rPr lang="zh-CN" altLang="en-US" dirty="0">
                <a:latin typeface="楷体_GB2312" pitchFamily="49" charset="-122"/>
                <a:ea typeface="楷体_GB2312" pitchFamily="49" charset="-122"/>
              </a:rPr>
              <a:t>月</a:t>
            </a:r>
            <a:r>
              <a:rPr lang="en-US" altLang="zh-CN" dirty="0">
                <a:latin typeface="楷体_GB2312" pitchFamily="49" charset="-122"/>
                <a:ea typeface="楷体_GB2312" pitchFamily="49" charset="-122"/>
              </a:rPr>
              <a:t>26</a:t>
            </a:r>
            <a:r>
              <a:rPr lang="zh-CN" altLang="en-US" dirty="0">
                <a:latin typeface="楷体_GB2312" pitchFamily="49" charset="-122"/>
                <a:ea typeface="楷体_GB2312" pitchFamily="49" charset="-122"/>
              </a:rPr>
              <a:t>日</a:t>
            </a:r>
            <a:r>
              <a:rPr lang="zh-CN" altLang="en-US" dirty="0" smtClean="0">
                <a:latin typeface="楷体_GB2312" pitchFamily="49" charset="-122"/>
                <a:ea typeface="楷体_GB2312" pitchFamily="49" charset="-122"/>
              </a:rPr>
              <a:t>，</a:t>
            </a:r>
            <a:r>
              <a:rPr lang="zh-CN" altLang="en-US" dirty="0">
                <a:latin typeface="楷体_GB2312" pitchFamily="49" charset="-122"/>
                <a:ea typeface="楷体_GB2312" pitchFamily="49" charset="-122"/>
              </a:rPr>
              <a:t>世界上一次性建成通车里程最长</a:t>
            </a:r>
            <a:r>
              <a:rPr lang="zh-CN" altLang="en-US" dirty="0" smtClean="0">
                <a:latin typeface="楷体_GB2312" pitchFamily="49" charset="-122"/>
                <a:ea typeface="楷体_GB2312" pitchFamily="49" charset="-122"/>
              </a:rPr>
              <a:t>的兰新</a:t>
            </a:r>
            <a:r>
              <a:rPr lang="zh-CN" altLang="en-US" dirty="0">
                <a:latin typeface="楷体_GB2312" pitchFamily="49" charset="-122"/>
                <a:ea typeface="楷体_GB2312" pitchFamily="49" charset="-122"/>
              </a:rPr>
              <a:t>高铁全线</a:t>
            </a:r>
            <a:r>
              <a:rPr lang="zh-CN" altLang="en-US" dirty="0" smtClean="0">
                <a:latin typeface="楷体_GB2312" pitchFamily="49" charset="-122"/>
                <a:ea typeface="楷体_GB2312" pitchFamily="49" charset="-122"/>
              </a:rPr>
              <a:t>贯通，全长</a:t>
            </a:r>
            <a:r>
              <a:rPr lang="en-US" altLang="zh-CN" dirty="0">
                <a:latin typeface="楷体_GB2312" pitchFamily="49" charset="-122"/>
                <a:ea typeface="楷体_GB2312" pitchFamily="49" charset="-122"/>
              </a:rPr>
              <a:t>1776</a:t>
            </a:r>
            <a:r>
              <a:rPr lang="zh-CN" altLang="en-US" dirty="0" smtClean="0">
                <a:latin typeface="楷体_GB2312" pitchFamily="49" charset="-122"/>
                <a:ea typeface="楷体_GB2312" pitchFamily="49" charset="-122"/>
              </a:rPr>
              <a:t>公里。它</a:t>
            </a:r>
            <a:r>
              <a:rPr lang="zh-CN" altLang="en-US" dirty="0">
                <a:latin typeface="楷体_GB2312" pitchFamily="49" charset="-122"/>
                <a:ea typeface="楷体_GB2312" pitchFamily="49" charset="-122"/>
              </a:rPr>
              <a:t>还享有不少“第一”：一是它途经烟墩、百里、三十里及大阪城等四大风区，同时沿线有塔克拉玛干、古尔班通固特等几处沙漠，是首条穿越</a:t>
            </a:r>
            <a:r>
              <a:rPr lang="zh-CN" altLang="en-US" b="1" dirty="0">
                <a:latin typeface="楷体_GB2312" pitchFamily="49" charset="-122"/>
                <a:ea typeface="楷体_GB2312" pitchFamily="49" charset="-122"/>
              </a:rPr>
              <a:t>沙漠大风区</a:t>
            </a:r>
            <a:r>
              <a:rPr lang="zh-CN" altLang="en-US" dirty="0">
                <a:latin typeface="楷体_GB2312" pitchFamily="49" charset="-122"/>
                <a:ea typeface="楷体_GB2312" pitchFamily="49" charset="-122"/>
              </a:rPr>
              <a:t>的高铁；二是横穿我国海拔最低的吐鲁番盆地和海拔最高的祁连山高铁隧道，</a:t>
            </a:r>
            <a:r>
              <a:rPr lang="en-US" altLang="zh-CN" dirty="0" smtClean="0">
                <a:latin typeface="楷体_GB2312" pitchFamily="49" charset="-122"/>
                <a:ea typeface="楷体_GB2312" pitchFamily="49" charset="-122"/>
              </a:rPr>
              <a:t>16.3</a:t>
            </a:r>
            <a:r>
              <a:rPr lang="zh-CN" altLang="en-US" dirty="0">
                <a:latin typeface="楷体_GB2312" pitchFamily="49" charset="-122"/>
                <a:ea typeface="楷体_GB2312" pitchFamily="49" charset="-122"/>
              </a:rPr>
              <a:t>公里的祁连山隧道中的最高轨面海拔为</a:t>
            </a:r>
            <a:r>
              <a:rPr lang="en-US" altLang="zh-CN" dirty="0" smtClean="0">
                <a:latin typeface="楷体_GB2312" pitchFamily="49" charset="-122"/>
                <a:ea typeface="楷体_GB2312" pitchFamily="49" charset="-122"/>
              </a:rPr>
              <a:t>3607.4</a:t>
            </a:r>
            <a:r>
              <a:rPr lang="zh-CN" altLang="en-US" dirty="0">
                <a:latin typeface="楷体_GB2312" pitchFamily="49" charset="-122"/>
                <a:ea typeface="楷体_GB2312" pitchFamily="49" charset="-122"/>
              </a:rPr>
              <a:t>米，被誉为“世界高铁第一高隧”。</a:t>
            </a:r>
          </a:p>
          <a:p>
            <a:endParaRPr lang="zh-CN" altLang="en-US" dirty="0"/>
          </a:p>
        </p:txBody>
      </p:sp>
    </p:spTree>
    <p:extLst>
      <p:ext uri="{BB962C8B-B14F-4D97-AF65-F5344CB8AC3E}">
        <p14:creationId xmlns:p14="http://schemas.microsoft.com/office/powerpoint/2010/main" val="15875410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1412776"/>
            <a:ext cx="8305800" cy="4608512"/>
          </a:xfrm>
        </p:spPr>
        <p:txBody>
          <a:bodyPr/>
          <a:lstStyle/>
          <a:p>
            <a:r>
              <a:rPr lang="en-US" altLang="zh-CN" sz="2800" b="1" dirty="0" smtClean="0">
                <a:latin typeface="楷体_GB2312" pitchFamily="49" charset="-122"/>
                <a:ea typeface="楷体_GB2312" pitchFamily="49" charset="-122"/>
              </a:rPr>
              <a:t>2004</a:t>
            </a:r>
            <a:r>
              <a:rPr lang="zh-CN" altLang="en-US" sz="2800" b="1" dirty="0" smtClean="0">
                <a:latin typeface="楷体_GB2312" pitchFamily="49" charset="-122"/>
                <a:ea typeface="楷体_GB2312" pitchFamily="49" charset="-122"/>
              </a:rPr>
              <a:t>年</a:t>
            </a:r>
            <a:r>
              <a:rPr lang="en-US" altLang="zh-CN" sz="2800" b="1" dirty="0" smtClean="0">
                <a:latin typeface="楷体_GB2312" pitchFamily="49" charset="-122"/>
                <a:ea typeface="楷体_GB2312" pitchFamily="49" charset="-122"/>
              </a:rPr>
              <a:t>8</a:t>
            </a:r>
            <a:r>
              <a:rPr lang="zh-CN" altLang="en-US" sz="2800" b="1" dirty="0" smtClean="0">
                <a:latin typeface="楷体_GB2312" pitchFamily="49" charset="-122"/>
                <a:ea typeface="楷体_GB2312" pitchFamily="49" charset="-122"/>
              </a:rPr>
              <a:t>月，前铁道部正式对京哈、京沪等干线提速车辆招标，德国西门子、法国阿尔斯通、日本川崎重工和加拿大庞巴迪</a:t>
            </a:r>
            <a:r>
              <a:rPr lang="en-US" altLang="zh-CN" sz="2800" b="1" dirty="0" smtClean="0">
                <a:latin typeface="楷体_GB2312" pitchFamily="49" charset="-122"/>
                <a:ea typeface="楷体_GB2312" pitchFamily="49" charset="-122"/>
              </a:rPr>
              <a:t>4</a:t>
            </a:r>
            <a:r>
              <a:rPr lang="zh-CN" altLang="en-US" sz="2800" b="1" dirty="0" smtClean="0">
                <a:latin typeface="楷体_GB2312" pitchFamily="49" charset="-122"/>
                <a:ea typeface="楷体_GB2312" pitchFamily="49" charset="-122"/>
              </a:rPr>
              <a:t>家高铁巨头都来竞标。</a:t>
            </a:r>
            <a:endParaRPr lang="en-US" altLang="zh-CN" sz="2800" b="1" dirty="0" smtClean="0">
              <a:latin typeface="楷体_GB2312" pitchFamily="49" charset="-122"/>
              <a:ea typeface="楷体_GB2312" pitchFamily="49" charset="-122"/>
            </a:endParaRPr>
          </a:p>
          <a:p>
            <a:r>
              <a:rPr lang="zh-CN" altLang="en-US" sz="2800" b="1" dirty="0">
                <a:latin typeface="楷体_GB2312" pitchFamily="49" charset="-122"/>
                <a:ea typeface="楷体_GB2312" pitchFamily="49" charset="-122"/>
              </a:rPr>
              <a:t>第一</a:t>
            </a:r>
            <a:r>
              <a:rPr lang="zh-CN" altLang="en-US" sz="2800" b="1" dirty="0" smtClean="0">
                <a:latin typeface="楷体_GB2312" pitchFamily="49" charset="-122"/>
                <a:ea typeface="楷体_GB2312" pitchFamily="49" charset="-122"/>
              </a:rPr>
              <a:t>轮竞标，西门子对所谓原型车要价</a:t>
            </a:r>
            <a:r>
              <a:rPr lang="en-US" altLang="zh-CN" sz="2800" b="1" dirty="0" smtClean="0">
                <a:latin typeface="楷体_GB2312" pitchFamily="49" charset="-122"/>
                <a:ea typeface="楷体_GB2312" pitchFamily="49" charset="-122"/>
              </a:rPr>
              <a:t>3.5</a:t>
            </a:r>
            <a:r>
              <a:rPr lang="zh-CN" altLang="en-US" sz="2800" b="1" dirty="0" smtClean="0">
                <a:latin typeface="楷体_GB2312" pitchFamily="49" charset="-122"/>
                <a:ea typeface="楷体_GB2312" pitchFamily="49" charset="-122"/>
              </a:rPr>
              <a:t>亿人民币，技术转让费</a:t>
            </a:r>
            <a:r>
              <a:rPr lang="en-US" altLang="zh-CN" sz="2800" b="1" dirty="0" smtClean="0">
                <a:latin typeface="楷体_GB2312" pitchFamily="49" charset="-122"/>
                <a:ea typeface="楷体_GB2312" pitchFamily="49" charset="-122"/>
              </a:rPr>
              <a:t>3.9</a:t>
            </a:r>
            <a:r>
              <a:rPr lang="zh-CN" altLang="en-US" sz="2800" b="1" dirty="0" smtClean="0">
                <a:latin typeface="楷体_GB2312" pitchFamily="49" charset="-122"/>
                <a:ea typeface="楷体_GB2312" pitchFamily="49" charset="-122"/>
              </a:rPr>
              <a:t>亿欧元。</a:t>
            </a:r>
            <a:r>
              <a:rPr lang="en-US"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第一轮出局，股价暴跌，谈判团队解散</a:t>
            </a:r>
            <a:endParaRPr lang="en-US" altLang="zh-CN" sz="2800" b="1" dirty="0" smtClean="0">
              <a:latin typeface="楷体_GB2312" pitchFamily="49" charset="-122"/>
              <a:ea typeface="楷体_GB2312" pitchFamily="49" charset="-122"/>
            </a:endParaRPr>
          </a:p>
          <a:p>
            <a:r>
              <a:rPr lang="zh-CN" altLang="en-US" sz="2800" b="1" dirty="0">
                <a:latin typeface="楷体_GB2312" pitchFamily="49" charset="-122"/>
                <a:ea typeface="楷体_GB2312" pitchFamily="49" charset="-122"/>
              </a:rPr>
              <a:t>川崎重</a:t>
            </a:r>
            <a:r>
              <a:rPr lang="zh-CN" altLang="en-US" sz="2800" b="1" dirty="0" smtClean="0">
                <a:latin typeface="楷体_GB2312" pitchFamily="49" charset="-122"/>
                <a:ea typeface="楷体_GB2312" pitchFamily="49" charset="-122"/>
              </a:rPr>
              <a:t>工向中国南车提供了“疾风”号新干线技术</a:t>
            </a:r>
            <a:endParaRPr lang="en-US" altLang="zh-CN" sz="2800" b="1" dirty="0" smtClean="0">
              <a:latin typeface="楷体_GB2312" pitchFamily="49" charset="-122"/>
              <a:ea typeface="楷体_GB2312" pitchFamily="49" charset="-122"/>
            </a:endParaRPr>
          </a:p>
          <a:p>
            <a:pPr marL="0" indent="0">
              <a:buNone/>
            </a:pPr>
            <a:endParaRPr lang="en-US" altLang="zh-CN" sz="2800" b="1" dirty="0" smtClean="0">
              <a:latin typeface="楷体_GB2312" pitchFamily="49" charset="-122"/>
              <a:ea typeface="楷体_GB2312" pitchFamily="49" charset="-122"/>
            </a:endParaRPr>
          </a:p>
        </p:txBody>
      </p:sp>
      <p:sp>
        <p:nvSpPr>
          <p:cNvPr id="4" name="标题 1"/>
          <p:cNvSpPr txBox="1">
            <a:spLocks/>
          </p:cNvSpPr>
          <p:nvPr/>
        </p:nvSpPr>
        <p:spPr bwMode="auto">
          <a:xfrm>
            <a:off x="395536" y="260648"/>
            <a:ext cx="7632848" cy="936104"/>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smtClean="0">
                <a:latin typeface="幼圆" pitchFamily="49" charset="-122"/>
                <a:ea typeface="幼圆" pitchFamily="49" charset="-122"/>
              </a:rPr>
              <a:t>综合案例：中国高铁横空出世</a:t>
            </a:r>
            <a:endParaRPr lang="zh-CN" altLang="en-US" b="1" dirty="0">
              <a:latin typeface="幼圆" pitchFamily="49" charset="-122"/>
              <a:ea typeface="幼圆" pitchFamily="49" charset="-122"/>
            </a:endParaRPr>
          </a:p>
        </p:txBody>
      </p:sp>
    </p:spTree>
    <p:extLst>
      <p:ext uri="{BB962C8B-B14F-4D97-AF65-F5344CB8AC3E}">
        <p14:creationId xmlns:p14="http://schemas.microsoft.com/office/powerpoint/2010/main" val="15126495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404664"/>
            <a:ext cx="8305800" cy="5832648"/>
          </a:xfrm>
        </p:spPr>
        <p:txBody>
          <a:bodyPr/>
          <a:lstStyle/>
          <a:p>
            <a:r>
              <a:rPr lang="zh-CN" altLang="zh-CN" b="1" dirty="0">
                <a:latin typeface="楷体_GB2312" pitchFamily="49" charset="-122"/>
                <a:ea typeface="楷体_GB2312" pitchFamily="49" charset="-122"/>
              </a:rPr>
              <a:t>投标企业必须是“在中华人民共和国境内合法注册的，具备铁路动车组制造能力，并获得拥有成熟的时速</a:t>
            </a:r>
            <a:r>
              <a:rPr lang="en-US" altLang="zh-CN" b="1" dirty="0">
                <a:latin typeface="楷体_GB2312" pitchFamily="49" charset="-122"/>
                <a:ea typeface="楷体_GB2312" pitchFamily="49" charset="-122"/>
              </a:rPr>
              <a:t>200</a:t>
            </a:r>
            <a:r>
              <a:rPr lang="zh-CN" altLang="zh-CN" b="1" dirty="0">
                <a:latin typeface="楷体_GB2312" pitchFamily="49" charset="-122"/>
                <a:ea typeface="楷体_GB2312" pitchFamily="49" charset="-122"/>
              </a:rPr>
              <a:t>公里铁路动车组设计和制造技术的国外合作方技术支持的中国制造企业</a:t>
            </a:r>
            <a:r>
              <a:rPr lang="en-US" altLang="zh-CN" b="1" dirty="0">
                <a:latin typeface="楷体_GB2312" pitchFamily="49" charset="-122"/>
                <a:ea typeface="楷体_GB2312" pitchFamily="49" charset="-122"/>
              </a:rPr>
              <a:t>(</a:t>
            </a:r>
            <a:r>
              <a:rPr lang="zh-CN" altLang="zh-CN" b="1" dirty="0">
                <a:latin typeface="楷体_GB2312" pitchFamily="49" charset="-122"/>
                <a:ea typeface="楷体_GB2312" pitchFamily="49" charset="-122"/>
              </a:rPr>
              <a:t>含中外合资企业</a:t>
            </a:r>
            <a:r>
              <a:rPr lang="en-US" altLang="zh-CN" b="1" dirty="0">
                <a:latin typeface="楷体_GB2312" pitchFamily="49" charset="-122"/>
                <a:ea typeface="楷体_GB2312" pitchFamily="49" charset="-122"/>
              </a:rPr>
              <a:t>)</a:t>
            </a:r>
            <a:r>
              <a:rPr lang="zh-CN" altLang="zh-CN" b="1" dirty="0">
                <a:latin typeface="楷体_GB2312" pitchFamily="49" charset="-122"/>
                <a:ea typeface="楷体_GB2312" pitchFamily="49" charset="-122"/>
              </a:rPr>
              <a:t>”</a:t>
            </a:r>
            <a:r>
              <a:rPr lang="zh-CN" altLang="zh-CN"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zh-CN" b="1" dirty="0">
                <a:latin typeface="楷体_GB2312" pitchFamily="49" charset="-122"/>
                <a:ea typeface="楷体_GB2312" pitchFamily="49" charset="-122"/>
              </a:rPr>
              <a:t>规定了三个原则，第一关键技术必须转让，第二价格必须最低，第三必须使用中国品牌。</a:t>
            </a:r>
          </a:p>
          <a:p>
            <a:r>
              <a:rPr lang="zh-CN" altLang="zh-CN" b="1" dirty="0">
                <a:latin typeface="楷体_GB2312" pitchFamily="49" charset="-122"/>
                <a:ea typeface="楷体_GB2312" pitchFamily="49" charset="-122"/>
              </a:rPr>
              <a:t>指定了两家企业能够技术引进，一家是南车集团的四方机车车辆股份有限公司，一家是北车的长春客车股份有限公司，这被称为“战略买家”</a:t>
            </a:r>
            <a:r>
              <a:rPr lang="zh-CN" altLang="zh-CN"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en-US" altLang="zh-CN" b="1" dirty="0">
                <a:latin typeface="楷体_GB2312" pitchFamily="49" charset="-122"/>
                <a:ea typeface="楷体_GB2312" pitchFamily="49" charset="-122"/>
              </a:rPr>
              <a:t>7</a:t>
            </a:r>
            <a:r>
              <a:rPr lang="zh-CN" altLang="zh-CN" b="1" dirty="0">
                <a:latin typeface="楷体_GB2312" pitchFamily="49" charset="-122"/>
                <a:ea typeface="楷体_GB2312" pitchFamily="49" charset="-122"/>
              </a:rPr>
              <a:t>月</a:t>
            </a:r>
            <a:r>
              <a:rPr lang="en-US" altLang="zh-CN" b="1" dirty="0">
                <a:latin typeface="楷体_GB2312" pitchFamily="49" charset="-122"/>
                <a:ea typeface="楷体_GB2312" pitchFamily="49" charset="-122"/>
              </a:rPr>
              <a:t>28</a:t>
            </a:r>
            <a:r>
              <a:rPr lang="zh-CN" altLang="zh-CN" b="1" dirty="0">
                <a:latin typeface="楷体_GB2312" pitchFamily="49" charset="-122"/>
                <a:ea typeface="楷体_GB2312" pitchFamily="49" charset="-122"/>
              </a:rPr>
              <a:t>日，投标的最后截止日期，南车四方与日本大联合六家公司结成了联合体，投出了自己的标书；长客与阿尔斯通结成了联合体，也顺利投出了自己的标书；庞巴迪以自己与南车四方成立的合资公司为主体也投出了自己的标书；西门子因为在最后时刻没有找到合适的合作伙伴，只能黯然出局。</a:t>
            </a:r>
            <a:endParaRPr lang="zh-CN" altLang="en-US" b="1" dirty="0">
              <a:latin typeface="楷体_GB2312" pitchFamily="49" charset="-122"/>
              <a:ea typeface="楷体_GB2312" pitchFamily="49" charset="-122"/>
            </a:endParaRPr>
          </a:p>
        </p:txBody>
      </p:sp>
    </p:spTree>
    <p:extLst>
      <p:ext uri="{BB962C8B-B14F-4D97-AF65-F5344CB8AC3E}">
        <p14:creationId xmlns:p14="http://schemas.microsoft.com/office/powerpoint/2010/main" val="14022163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332656"/>
            <a:ext cx="8305800" cy="5904656"/>
          </a:xfrm>
        </p:spPr>
        <p:txBody>
          <a:bodyPr/>
          <a:lstStyle/>
          <a:p>
            <a:r>
              <a:rPr lang="en-US" altLang="zh-CN" sz="2800" dirty="0">
                <a:latin typeface="楷体_GB2312" pitchFamily="49" charset="-122"/>
                <a:ea typeface="楷体_GB2312" pitchFamily="49" charset="-122"/>
              </a:rPr>
              <a:t>2005</a:t>
            </a:r>
            <a:r>
              <a:rPr lang="zh-CN" altLang="zh-CN" sz="2800" dirty="0">
                <a:latin typeface="楷体_GB2312" pitchFamily="49" charset="-122"/>
                <a:ea typeface="楷体_GB2312" pitchFamily="49" charset="-122"/>
              </a:rPr>
              <a:t>年</a:t>
            </a:r>
            <a:r>
              <a:rPr lang="en-US" altLang="zh-CN" sz="2800" dirty="0">
                <a:latin typeface="楷体_GB2312" pitchFamily="49" charset="-122"/>
                <a:ea typeface="楷体_GB2312" pitchFamily="49" charset="-122"/>
              </a:rPr>
              <a:t>6</a:t>
            </a:r>
            <a:r>
              <a:rPr lang="zh-CN" altLang="zh-CN" sz="2800" dirty="0">
                <a:latin typeface="楷体_GB2312" pitchFamily="49" charset="-122"/>
                <a:ea typeface="楷体_GB2312" pitchFamily="49" charset="-122"/>
              </a:rPr>
              <a:t>月份，铁道部又启动了时速</a:t>
            </a:r>
            <a:r>
              <a:rPr lang="en-US" altLang="zh-CN" sz="2800" dirty="0">
                <a:latin typeface="楷体_GB2312" pitchFamily="49" charset="-122"/>
                <a:ea typeface="楷体_GB2312" pitchFamily="49" charset="-122"/>
              </a:rPr>
              <a:t>300</a:t>
            </a:r>
            <a:r>
              <a:rPr lang="zh-CN" altLang="zh-CN" sz="2800" dirty="0">
                <a:latin typeface="楷体_GB2312" pitchFamily="49" charset="-122"/>
                <a:ea typeface="楷体_GB2312" pitchFamily="49" charset="-122"/>
              </a:rPr>
              <a:t>公里动车组采购项目。这次铁道部没有采取公开招标的方式，而是采取了</a:t>
            </a:r>
            <a:r>
              <a:rPr lang="zh-CN" altLang="zh-CN" sz="2800" b="1" dirty="0">
                <a:latin typeface="楷体_GB2312" pitchFamily="49" charset="-122"/>
                <a:ea typeface="楷体_GB2312" pitchFamily="49" charset="-122"/>
              </a:rPr>
              <a:t>竞争性谈判</a:t>
            </a:r>
            <a:r>
              <a:rPr lang="zh-CN" altLang="zh-CN" sz="2800" dirty="0">
                <a:latin typeface="楷体_GB2312" pitchFamily="49" charset="-122"/>
                <a:ea typeface="楷体_GB2312" pitchFamily="49" charset="-122"/>
              </a:rPr>
              <a:t>的方式进行采购</a:t>
            </a:r>
            <a:r>
              <a:rPr lang="zh-CN" altLang="zh-CN"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a:p>
            <a:r>
              <a:rPr lang="zh-CN" altLang="en-US" sz="2800" b="1" dirty="0" smtClean="0">
                <a:latin typeface="楷体_GB2312" pitchFamily="49" charset="-122"/>
                <a:ea typeface="楷体_GB2312" pitchFamily="49" charset="-122"/>
              </a:rPr>
              <a:t>北</a:t>
            </a:r>
            <a:r>
              <a:rPr lang="zh-CN" altLang="en-US" sz="2800" b="1" dirty="0">
                <a:latin typeface="楷体_GB2312" pitchFamily="49" charset="-122"/>
                <a:ea typeface="楷体_GB2312" pitchFamily="49" charset="-122"/>
              </a:rPr>
              <a:t>车</a:t>
            </a:r>
            <a:r>
              <a:rPr lang="zh-CN" altLang="zh-CN" sz="2800" b="1" dirty="0" smtClean="0">
                <a:latin typeface="楷体_GB2312" pitchFamily="49" charset="-122"/>
                <a:ea typeface="楷体_GB2312" pitchFamily="49" charset="-122"/>
              </a:rPr>
              <a:t>唐山</a:t>
            </a:r>
            <a:r>
              <a:rPr lang="zh-CN" altLang="zh-CN" sz="2800" b="1" dirty="0">
                <a:latin typeface="楷体_GB2312" pitchFamily="49" charset="-122"/>
                <a:ea typeface="楷体_GB2312" pitchFamily="49" charset="-122"/>
              </a:rPr>
              <a:t>厂与西门子公司联合</a:t>
            </a:r>
            <a:r>
              <a:rPr lang="zh-CN" altLang="zh-CN" sz="2800" dirty="0">
                <a:latin typeface="楷体_GB2312" pitchFamily="49" charset="-122"/>
                <a:ea typeface="楷体_GB2312" pitchFamily="49" charset="-122"/>
              </a:rPr>
              <a:t>拿下了</a:t>
            </a:r>
            <a:r>
              <a:rPr lang="en-US" altLang="zh-CN" sz="2800" dirty="0">
                <a:latin typeface="楷体_GB2312" pitchFamily="49" charset="-122"/>
                <a:ea typeface="楷体_GB2312" pitchFamily="49" charset="-122"/>
              </a:rPr>
              <a:t>60</a:t>
            </a:r>
            <a:r>
              <a:rPr lang="zh-CN" altLang="zh-CN" sz="2800" dirty="0">
                <a:latin typeface="楷体_GB2312" pitchFamily="49" charset="-122"/>
                <a:ea typeface="楷体_GB2312" pitchFamily="49" charset="-122"/>
              </a:rPr>
              <a:t>列时速</a:t>
            </a:r>
            <a:r>
              <a:rPr lang="en-US" altLang="zh-CN" sz="2800" dirty="0">
                <a:latin typeface="楷体_GB2312" pitchFamily="49" charset="-122"/>
                <a:ea typeface="楷体_GB2312" pitchFamily="49" charset="-122"/>
              </a:rPr>
              <a:t>300</a:t>
            </a:r>
            <a:r>
              <a:rPr lang="zh-CN" altLang="zh-CN" sz="2800" dirty="0">
                <a:latin typeface="楷体_GB2312" pitchFamily="49" charset="-122"/>
                <a:ea typeface="楷体_GB2312" pitchFamily="49" charset="-122"/>
              </a:rPr>
              <a:t>公里动车组订单，此时</a:t>
            </a:r>
            <a:r>
              <a:rPr lang="zh-CN" altLang="zh-CN" sz="2800" dirty="0" smtClean="0">
                <a:latin typeface="楷体_GB2312" pitchFamily="49" charset="-122"/>
                <a:ea typeface="楷体_GB2312" pitchFamily="49" charset="-122"/>
              </a:rPr>
              <a:t>西门子每</a:t>
            </a:r>
            <a:r>
              <a:rPr lang="zh-CN" altLang="zh-CN" sz="2800" dirty="0">
                <a:latin typeface="楷体_GB2312" pitchFamily="49" charset="-122"/>
                <a:ea typeface="楷体_GB2312" pitchFamily="49" charset="-122"/>
              </a:rPr>
              <a:t>列原型车的费用已经降到</a:t>
            </a:r>
            <a:r>
              <a:rPr lang="en-US" altLang="zh-CN" sz="2800" dirty="0">
                <a:latin typeface="楷体_GB2312" pitchFamily="49" charset="-122"/>
                <a:ea typeface="楷体_GB2312" pitchFamily="49" charset="-122"/>
              </a:rPr>
              <a:t>2.5</a:t>
            </a:r>
            <a:r>
              <a:rPr lang="zh-CN" altLang="zh-CN" sz="2800" dirty="0">
                <a:latin typeface="楷体_GB2312" pitchFamily="49" charset="-122"/>
                <a:ea typeface="楷体_GB2312" pitchFamily="49" charset="-122"/>
              </a:rPr>
              <a:t>亿人民币，技术转让费降到了</a:t>
            </a:r>
            <a:r>
              <a:rPr lang="en-US" altLang="zh-CN" sz="2800" dirty="0">
                <a:latin typeface="楷体_GB2312" pitchFamily="49" charset="-122"/>
                <a:ea typeface="楷体_GB2312" pitchFamily="49" charset="-122"/>
              </a:rPr>
              <a:t>8,000</a:t>
            </a:r>
            <a:r>
              <a:rPr lang="zh-CN" altLang="zh-CN" sz="2800" dirty="0">
                <a:latin typeface="楷体_GB2312" pitchFamily="49" charset="-122"/>
                <a:ea typeface="楷体_GB2312" pitchFamily="49" charset="-122"/>
              </a:rPr>
              <a:t>万欧元</a:t>
            </a:r>
            <a:r>
              <a:rPr lang="zh-CN" altLang="zh-CN"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a:p>
            <a:r>
              <a:rPr lang="zh-CN" altLang="zh-CN" sz="2800" b="1" dirty="0" smtClean="0">
                <a:latin typeface="楷体_GB2312" pitchFamily="49" charset="-122"/>
                <a:ea typeface="楷体_GB2312" pitchFamily="49" charset="-122"/>
              </a:rPr>
              <a:t>南</a:t>
            </a:r>
            <a:r>
              <a:rPr lang="zh-CN" altLang="zh-CN" sz="2800" b="1" dirty="0">
                <a:latin typeface="楷体_GB2312" pitchFamily="49" charset="-122"/>
                <a:ea typeface="楷体_GB2312" pitchFamily="49" charset="-122"/>
              </a:rPr>
              <a:t>车四方</a:t>
            </a:r>
            <a:r>
              <a:rPr lang="zh-CN" altLang="zh-CN" sz="2800" dirty="0">
                <a:latin typeface="楷体_GB2312" pitchFamily="49" charset="-122"/>
                <a:ea typeface="楷体_GB2312" pitchFamily="49" charset="-122"/>
              </a:rPr>
              <a:t>也拿下了</a:t>
            </a:r>
            <a:r>
              <a:rPr lang="en-US" altLang="zh-CN" sz="2800" dirty="0">
                <a:latin typeface="楷体_GB2312" pitchFamily="49" charset="-122"/>
                <a:ea typeface="楷体_GB2312" pitchFamily="49" charset="-122"/>
              </a:rPr>
              <a:t>60</a:t>
            </a:r>
            <a:r>
              <a:rPr lang="zh-CN" altLang="zh-CN" sz="2800" dirty="0">
                <a:latin typeface="楷体_GB2312" pitchFamily="49" charset="-122"/>
                <a:ea typeface="楷体_GB2312" pitchFamily="49" charset="-122"/>
              </a:rPr>
              <a:t>列时速</a:t>
            </a:r>
            <a:r>
              <a:rPr lang="en-US" altLang="zh-CN" sz="2800" dirty="0">
                <a:latin typeface="楷体_GB2312" pitchFamily="49" charset="-122"/>
                <a:ea typeface="楷体_GB2312" pitchFamily="49" charset="-122"/>
              </a:rPr>
              <a:t>300</a:t>
            </a:r>
            <a:r>
              <a:rPr lang="zh-CN" altLang="zh-CN" sz="2800" dirty="0">
                <a:latin typeface="楷体_GB2312" pitchFamily="49" charset="-122"/>
                <a:ea typeface="楷体_GB2312" pitchFamily="49" charset="-122"/>
              </a:rPr>
              <a:t>公里动车组订单，此次招标已经完全以南车四方为主，由铁路局与南车四方直接签合同，川崎重工不再作为联合体的一部分，而只是提供一些技术支持；庞巴迪也四处攻关，它在中国的合资企业四方庞巴迪也顺利拿到了</a:t>
            </a:r>
            <a:r>
              <a:rPr lang="en-US" altLang="zh-CN" sz="2800" dirty="0">
                <a:latin typeface="楷体_GB2312" pitchFamily="49" charset="-122"/>
                <a:ea typeface="楷体_GB2312" pitchFamily="49" charset="-122"/>
              </a:rPr>
              <a:t>40</a:t>
            </a:r>
            <a:r>
              <a:rPr lang="zh-CN" altLang="zh-CN" sz="2800" dirty="0">
                <a:latin typeface="楷体_GB2312" pitchFamily="49" charset="-122"/>
                <a:ea typeface="楷体_GB2312" pitchFamily="49" charset="-122"/>
              </a:rPr>
              <a:t>列动车组订单。</a:t>
            </a:r>
            <a:endParaRPr lang="zh-CN" altLang="en-US" sz="2800" dirty="0">
              <a:latin typeface="楷体_GB2312" pitchFamily="49" charset="-122"/>
              <a:ea typeface="楷体_GB2312" pitchFamily="49" charset="-122"/>
            </a:endParaRPr>
          </a:p>
        </p:txBody>
      </p:sp>
    </p:spTree>
    <p:extLst>
      <p:ext uri="{BB962C8B-B14F-4D97-AF65-F5344CB8AC3E}">
        <p14:creationId xmlns:p14="http://schemas.microsoft.com/office/powerpoint/2010/main" val="33072494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51520" y="332656"/>
            <a:ext cx="8305800" cy="5242520"/>
          </a:xfrm>
        </p:spPr>
        <p:txBody>
          <a:bodyPr/>
          <a:lstStyle/>
          <a:p>
            <a:r>
              <a:rPr lang="zh-CN" altLang="zh-CN" dirty="0">
                <a:latin typeface="楷体_GB2312" pitchFamily="49" charset="-122"/>
                <a:ea typeface="楷体_GB2312" pitchFamily="49" charset="-122"/>
              </a:rPr>
              <a:t>通过两次招标，中国企业在铁道部的统筹下，捏成了一个拳头，成功获得了日本、法国、德国的高铁技术</a:t>
            </a:r>
            <a:r>
              <a:rPr lang="zh-CN" altLang="zh-CN" dirty="0" smtClean="0">
                <a:latin typeface="楷体_GB2312" pitchFamily="49" charset="-122"/>
                <a:ea typeface="楷体_GB2312" pitchFamily="49" charset="-122"/>
              </a:rPr>
              <a:t>。</a:t>
            </a:r>
            <a:endParaRPr lang="en-US" altLang="zh-CN" dirty="0" smtClean="0">
              <a:latin typeface="楷体_GB2312" pitchFamily="49" charset="-122"/>
              <a:ea typeface="楷体_GB2312" pitchFamily="49" charset="-122"/>
            </a:endParaRPr>
          </a:p>
          <a:p>
            <a:r>
              <a:rPr lang="zh-CN" altLang="zh-CN" b="1" dirty="0" smtClean="0">
                <a:latin typeface="楷体_GB2312" pitchFamily="49" charset="-122"/>
                <a:ea typeface="楷体_GB2312" pitchFamily="49" charset="-122"/>
              </a:rPr>
              <a:t>西门子</a:t>
            </a:r>
            <a:r>
              <a:rPr lang="zh-CN" altLang="zh-CN" dirty="0">
                <a:latin typeface="楷体_GB2312" pitchFamily="49" charset="-122"/>
                <a:ea typeface="楷体_GB2312" pitchFamily="49" charset="-122"/>
              </a:rPr>
              <a:t>拿出来的是基于</a:t>
            </a:r>
            <a:r>
              <a:rPr lang="en-US" altLang="zh-CN" dirty="0">
                <a:latin typeface="楷体_GB2312" pitchFamily="49" charset="-122"/>
                <a:ea typeface="楷体_GB2312" pitchFamily="49" charset="-122"/>
              </a:rPr>
              <a:t>ICE3</a:t>
            </a:r>
            <a:r>
              <a:rPr lang="zh-CN" altLang="zh-CN" dirty="0">
                <a:latin typeface="楷体_GB2312" pitchFamily="49" charset="-122"/>
                <a:ea typeface="楷体_GB2312" pitchFamily="49" charset="-122"/>
              </a:rPr>
              <a:t>开发的</a:t>
            </a:r>
            <a:r>
              <a:rPr lang="en-US" altLang="zh-CN" dirty="0" err="1">
                <a:latin typeface="楷体_GB2312" pitchFamily="49" charset="-122"/>
                <a:ea typeface="楷体_GB2312" pitchFamily="49" charset="-122"/>
              </a:rPr>
              <a:t>Velaro</a:t>
            </a:r>
            <a:r>
              <a:rPr lang="en-US" altLang="zh-CN" dirty="0">
                <a:latin typeface="楷体_GB2312" pitchFamily="49" charset="-122"/>
                <a:ea typeface="楷体_GB2312" pitchFamily="49" charset="-122"/>
              </a:rPr>
              <a:t> CN</a:t>
            </a:r>
            <a:r>
              <a:rPr lang="zh-CN" altLang="zh-CN" dirty="0">
                <a:latin typeface="楷体_GB2312" pitchFamily="49" charset="-122"/>
                <a:ea typeface="楷体_GB2312" pitchFamily="49" charset="-122"/>
              </a:rPr>
              <a:t>平台技术，代表了当时世界动力分散型动车组的最高水平</a:t>
            </a:r>
            <a:r>
              <a:rPr lang="zh-CN" altLang="zh-CN" dirty="0" smtClean="0">
                <a:latin typeface="楷体_GB2312" pitchFamily="49" charset="-122"/>
                <a:ea typeface="楷体_GB2312" pitchFamily="49" charset="-122"/>
              </a:rPr>
              <a:t>；</a:t>
            </a:r>
            <a:endParaRPr lang="en-US" altLang="zh-CN" dirty="0" smtClean="0">
              <a:latin typeface="楷体_GB2312" pitchFamily="49" charset="-122"/>
              <a:ea typeface="楷体_GB2312" pitchFamily="49" charset="-122"/>
            </a:endParaRPr>
          </a:p>
          <a:p>
            <a:r>
              <a:rPr lang="zh-CN" altLang="zh-CN" b="1" dirty="0" smtClean="0">
                <a:latin typeface="楷体_GB2312" pitchFamily="49" charset="-122"/>
                <a:ea typeface="楷体_GB2312" pitchFamily="49" charset="-122"/>
              </a:rPr>
              <a:t>阿尔斯通</a:t>
            </a:r>
            <a:r>
              <a:rPr lang="zh-CN" altLang="zh-CN" dirty="0">
                <a:latin typeface="楷体_GB2312" pitchFamily="49" charset="-122"/>
                <a:ea typeface="楷体_GB2312" pitchFamily="49" charset="-122"/>
              </a:rPr>
              <a:t>擅长动力集中技术，他拿出来的仅仅是以“潘多利诺”摆式列车和</a:t>
            </a:r>
            <a:r>
              <a:rPr lang="en-US" altLang="zh-CN" dirty="0">
                <a:latin typeface="楷体_GB2312" pitchFamily="49" charset="-122"/>
                <a:ea typeface="楷体_GB2312" pitchFamily="49" charset="-122"/>
              </a:rPr>
              <a:t>SM3</a:t>
            </a:r>
            <a:r>
              <a:rPr lang="zh-CN" altLang="zh-CN" dirty="0">
                <a:latin typeface="楷体_GB2312" pitchFamily="49" charset="-122"/>
                <a:ea typeface="楷体_GB2312" pitchFamily="49" charset="-122"/>
              </a:rPr>
              <a:t>型动车组的结合体，技术并不先进，所以</a:t>
            </a:r>
            <a:r>
              <a:rPr lang="en-US" altLang="zh-CN" dirty="0">
                <a:latin typeface="楷体_GB2312" pitchFamily="49" charset="-122"/>
                <a:ea typeface="楷体_GB2312" pitchFamily="49" charset="-122"/>
              </a:rPr>
              <a:t>CRH5</a:t>
            </a:r>
            <a:r>
              <a:rPr lang="zh-CN" altLang="zh-CN" dirty="0">
                <a:latin typeface="楷体_GB2312" pitchFamily="49" charset="-122"/>
                <a:ea typeface="楷体_GB2312" pitchFamily="49" charset="-122"/>
              </a:rPr>
              <a:t>投入运营的初期，故障率一直居高不下</a:t>
            </a:r>
            <a:r>
              <a:rPr lang="zh-CN" altLang="zh-CN" dirty="0" smtClean="0">
                <a:latin typeface="楷体_GB2312" pitchFamily="49" charset="-122"/>
                <a:ea typeface="楷体_GB2312" pitchFamily="49" charset="-122"/>
              </a:rPr>
              <a:t>；</a:t>
            </a:r>
            <a:endParaRPr lang="en-US" altLang="zh-CN" dirty="0" smtClean="0">
              <a:latin typeface="楷体_GB2312" pitchFamily="49" charset="-122"/>
              <a:ea typeface="楷体_GB2312" pitchFamily="49" charset="-122"/>
            </a:endParaRPr>
          </a:p>
          <a:p>
            <a:r>
              <a:rPr lang="zh-CN" altLang="zh-CN" b="1" dirty="0" smtClean="0">
                <a:latin typeface="楷体_GB2312" pitchFamily="49" charset="-122"/>
                <a:ea typeface="楷体_GB2312" pitchFamily="49" charset="-122"/>
              </a:rPr>
              <a:t>日本</a:t>
            </a:r>
            <a:r>
              <a:rPr lang="zh-CN" altLang="zh-CN" b="1" dirty="0">
                <a:latin typeface="楷体_GB2312" pitchFamily="49" charset="-122"/>
                <a:ea typeface="楷体_GB2312" pitchFamily="49" charset="-122"/>
              </a:rPr>
              <a:t>大联合</a:t>
            </a:r>
            <a:r>
              <a:rPr lang="zh-CN" altLang="zh-CN" dirty="0">
                <a:latin typeface="楷体_GB2312" pitchFamily="49" charset="-122"/>
                <a:ea typeface="楷体_GB2312" pitchFamily="49" charset="-122"/>
              </a:rPr>
              <a:t>没有拿出自己最好的动车组技术，只是拿出了缩水版的“疾风号”</a:t>
            </a:r>
            <a:r>
              <a:rPr lang="en-US" altLang="zh-CN" dirty="0">
                <a:latin typeface="楷体_GB2312" pitchFamily="49" charset="-122"/>
                <a:ea typeface="楷体_GB2312" pitchFamily="49" charset="-122"/>
              </a:rPr>
              <a:t>E2-1000</a:t>
            </a:r>
            <a:r>
              <a:rPr lang="zh-CN" altLang="zh-CN" dirty="0">
                <a:latin typeface="楷体_GB2312" pitchFamily="49" charset="-122"/>
                <a:ea typeface="楷体_GB2312" pitchFamily="49" charset="-122"/>
              </a:rPr>
              <a:t>，但是通过与日本企业的合作，中国企业不但获得了一个向上开发的动车组平台，而且也在与日本企业的合作中学到精益制造技术，这让中方企业在此后的发展中受益匪浅。</a:t>
            </a:r>
          </a:p>
          <a:p>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0072" y="4725144"/>
            <a:ext cx="3744416" cy="2088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10889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07504" y="295442"/>
            <a:ext cx="4176464" cy="4104456"/>
          </a:xfrm>
        </p:spPr>
        <p:txBody>
          <a:bodyPr/>
          <a:lstStyle/>
          <a:p>
            <a:r>
              <a:rPr lang="en-US" altLang="zh-CN" b="1" dirty="0" smtClean="0">
                <a:latin typeface="楷体_GB2312" pitchFamily="49" charset="-122"/>
                <a:ea typeface="楷体_GB2312" pitchFamily="49" charset="-122"/>
              </a:rPr>
              <a:t>2011</a:t>
            </a:r>
            <a:r>
              <a:rPr lang="zh-CN" altLang="en-US" b="1" dirty="0" smtClean="0">
                <a:latin typeface="楷体_GB2312" pitchFamily="49" charset="-122"/>
                <a:ea typeface="楷体_GB2312" pitchFamily="49" charset="-122"/>
              </a:rPr>
              <a:t>年</a:t>
            </a:r>
            <a:r>
              <a:rPr lang="en-US" altLang="zh-CN" b="1" dirty="0" smtClean="0">
                <a:latin typeface="楷体_GB2312" pitchFamily="49" charset="-122"/>
                <a:ea typeface="楷体_GB2312" pitchFamily="49" charset="-122"/>
              </a:rPr>
              <a:t>6</a:t>
            </a:r>
            <a:r>
              <a:rPr lang="zh-CN" altLang="en-US" b="1" dirty="0" smtClean="0">
                <a:latin typeface="楷体_GB2312" pitchFamily="49" charset="-122"/>
                <a:ea typeface="楷体_GB2312" pitchFamily="49" charset="-122"/>
              </a:rPr>
              <a:t>月，中国南车计划在美国为</a:t>
            </a:r>
            <a:r>
              <a:rPr lang="en-US" altLang="zh-CN" b="1" dirty="0" smtClean="0">
                <a:latin typeface="楷体_GB2312" pitchFamily="49" charset="-122"/>
                <a:ea typeface="楷体_GB2312" pitchFamily="49" charset="-122"/>
              </a:rPr>
              <a:t>CRH380A</a:t>
            </a:r>
            <a:r>
              <a:rPr lang="zh-CN" altLang="en-US" b="1" dirty="0" smtClean="0">
                <a:latin typeface="楷体_GB2312" pitchFamily="49" charset="-122"/>
                <a:ea typeface="楷体_GB2312" pitchFamily="49" charset="-122"/>
              </a:rPr>
              <a:t>申请高铁专利，为南车竞标美国高铁项目做准备。</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美国知识产权局对中国南车提供的技术条件和设计方案进行</a:t>
            </a:r>
            <a:r>
              <a:rPr lang="en-US" altLang="zh-CN" b="1" dirty="0" smtClean="0">
                <a:latin typeface="楷体_GB2312" pitchFamily="49" charset="-122"/>
                <a:ea typeface="楷体_GB2312" pitchFamily="49" charset="-122"/>
              </a:rPr>
              <a:t>3</a:t>
            </a:r>
            <a:r>
              <a:rPr lang="zh-CN" altLang="en-US" b="1" dirty="0" smtClean="0">
                <a:latin typeface="楷体_GB2312" pitchFamily="49" charset="-122"/>
                <a:ea typeface="楷体_GB2312" pitchFamily="49" charset="-122"/>
              </a:rPr>
              <a:t>个多月的审查，对</a:t>
            </a:r>
            <a:r>
              <a:rPr lang="en-US" altLang="zh-CN" b="1" dirty="0" smtClean="0">
                <a:latin typeface="楷体_GB2312" pitchFamily="49" charset="-122"/>
                <a:ea typeface="楷体_GB2312" pitchFamily="49" charset="-122"/>
              </a:rPr>
              <a:t>900</a:t>
            </a:r>
            <a:r>
              <a:rPr lang="zh-CN" altLang="en-US" b="1" dirty="0" smtClean="0">
                <a:latin typeface="楷体_GB2312" pitchFamily="49" charset="-122"/>
                <a:ea typeface="楷体_GB2312" pitchFamily="49" charset="-122"/>
              </a:rPr>
              <a:t>多项专利进行检索后，认定“中国此型高铁拥有完全自主知识产权”</a:t>
            </a:r>
            <a:endParaRPr lang="zh-CN" altLang="en-US" b="1" dirty="0">
              <a:latin typeface="楷体_GB2312" pitchFamily="49" charset="-122"/>
              <a:ea typeface="楷体_GB2312" pitchFamily="49"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582944"/>
            <a:ext cx="4001567"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16632"/>
            <a:ext cx="4000500"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4088725"/>
            <a:ext cx="308610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25816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b="1" dirty="0" smtClean="0"/>
              <a:t>知识积累的过渡产品</a:t>
            </a:r>
            <a:r>
              <a:rPr lang="en-US" altLang="zh-CN" sz="4000" b="1" dirty="0" smtClean="0"/>
              <a:t>——</a:t>
            </a:r>
            <a:r>
              <a:rPr lang="zh-CN" altLang="en-US" sz="4000" b="1" dirty="0" smtClean="0"/>
              <a:t>中华之星</a:t>
            </a:r>
            <a:endParaRPr lang="zh-CN" altLang="en-US" sz="4000" b="1" dirty="0"/>
          </a:p>
        </p:txBody>
      </p:sp>
      <p:sp>
        <p:nvSpPr>
          <p:cNvPr id="3" name="文本占位符 2"/>
          <p:cNvSpPr>
            <a:spLocks noGrp="1"/>
          </p:cNvSpPr>
          <p:nvPr>
            <p:ph type="body" idx="1"/>
          </p:nvPr>
        </p:nvSpPr>
        <p:spPr>
          <a:xfrm>
            <a:off x="381000" y="1484784"/>
            <a:ext cx="8305800" cy="4306416"/>
          </a:xfrm>
        </p:spPr>
        <p:txBody>
          <a:bodyPr/>
          <a:lstStyle/>
          <a:p>
            <a:r>
              <a:rPr lang="zh-CN" altLang="en-US" b="1" dirty="0">
                <a:latin typeface="楷体_GB2312" pitchFamily="49" charset="-122"/>
                <a:ea typeface="楷体_GB2312" pitchFamily="49" charset="-122"/>
              </a:rPr>
              <a:t>“中华之星”电动车组（</a:t>
            </a:r>
            <a:r>
              <a:rPr lang="en-US" altLang="zh-CN" b="1" dirty="0">
                <a:latin typeface="楷体_GB2312" pitchFamily="49" charset="-122"/>
                <a:ea typeface="楷体_GB2312" pitchFamily="49" charset="-122"/>
              </a:rPr>
              <a:t>DJJ2</a:t>
            </a:r>
            <a:r>
              <a:rPr lang="zh-CN" altLang="en-US" b="1" dirty="0">
                <a:latin typeface="楷体_GB2312" pitchFamily="49" charset="-122"/>
                <a:ea typeface="楷体_GB2312" pitchFamily="49" charset="-122"/>
              </a:rPr>
              <a:t>型电力动车组）是中国自行设计，拥有自主知识产权的高速电力动车组，是采用交流传动系统、动力集中型电动车组。设计时速为每小时</a:t>
            </a:r>
            <a:r>
              <a:rPr lang="en-US" altLang="zh-CN" b="1" dirty="0">
                <a:latin typeface="楷体_GB2312" pitchFamily="49" charset="-122"/>
                <a:ea typeface="楷体_GB2312" pitchFamily="49" charset="-122"/>
              </a:rPr>
              <a:t>270</a:t>
            </a:r>
            <a:r>
              <a:rPr lang="zh-CN" altLang="en-US" b="1" dirty="0">
                <a:latin typeface="楷体_GB2312" pitchFamily="49" charset="-122"/>
                <a:ea typeface="楷体_GB2312" pitchFamily="49" charset="-122"/>
              </a:rPr>
              <a:t>公里，满座载</a:t>
            </a:r>
            <a:r>
              <a:rPr lang="en-US" altLang="zh-CN" b="1" dirty="0">
                <a:latin typeface="楷体_GB2312" pitchFamily="49" charset="-122"/>
                <a:ea typeface="楷体_GB2312" pitchFamily="49" charset="-122"/>
              </a:rPr>
              <a:t>726</a:t>
            </a:r>
            <a:r>
              <a:rPr lang="zh-CN" altLang="en-US" b="1" dirty="0">
                <a:latin typeface="楷体_GB2312" pitchFamily="49" charset="-122"/>
                <a:ea typeface="楷体_GB2312" pitchFamily="49" charset="-122"/>
              </a:rPr>
              <a:t>名旅客</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en-US" altLang="zh-CN" b="1" dirty="0" smtClean="0">
                <a:latin typeface="楷体_GB2312" pitchFamily="49" charset="-122"/>
                <a:ea typeface="楷体_GB2312" pitchFamily="49" charset="-122"/>
              </a:rPr>
              <a:t>2002</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11</a:t>
            </a:r>
            <a:r>
              <a:rPr lang="zh-CN" altLang="en-US" b="1" dirty="0">
                <a:latin typeface="楷体_GB2312" pitchFamily="49" charset="-122"/>
                <a:ea typeface="楷体_GB2312" pitchFamily="49" charset="-122"/>
              </a:rPr>
              <a:t>月</a:t>
            </a:r>
            <a:r>
              <a:rPr lang="en-US" altLang="zh-CN" b="1" dirty="0">
                <a:latin typeface="楷体_GB2312" pitchFamily="49" charset="-122"/>
                <a:ea typeface="楷体_GB2312" pitchFamily="49" charset="-122"/>
              </a:rPr>
              <a:t>27</a:t>
            </a:r>
            <a:r>
              <a:rPr lang="zh-CN" altLang="en-US" b="1" dirty="0">
                <a:latin typeface="楷体_GB2312" pitchFamily="49" charset="-122"/>
                <a:ea typeface="楷体_GB2312" pitchFamily="49" charset="-122"/>
              </a:rPr>
              <a:t>日，“中华之星”电动车组冲刺试验在中国第一条铁路快速</a:t>
            </a:r>
            <a:r>
              <a:rPr lang="zh-CN" altLang="en-US" b="1" dirty="0" smtClean="0">
                <a:latin typeface="楷体_GB2312" pitchFamily="49" charset="-122"/>
                <a:ea typeface="楷体_GB2312" pitchFamily="49" charset="-122"/>
              </a:rPr>
              <a:t>客运专线秦沈客运专线创造</a:t>
            </a:r>
            <a:r>
              <a:rPr lang="zh-CN" altLang="en-US" b="1" dirty="0">
                <a:latin typeface="楷体_GB2312" pitchFamily="49" charset="-122"/>
                <a:ea typeface="楷体_GB2312" pitchFamily="49" charset="-122"/>
              </a:rPr>
              <a:t>了当时“中国铁路第一速”</a:t>
            </a:r>
            <a:r>
              <a:rPr lang="en-US" altLang="zh-CN" b="1" dirty="0">
                <a:latin typeface="楷体_GB2312" pitchFamily="49" charset="-122"/>
                <a:ea typeface="楷体_GB2312" pitchFamily="49" charset="-122"/>
              </a:rPr>
              <a:t>321.5</a:t>
            </a:r>
            <a:r>
              <a:rPr lang="zh-CN" altLang="en-US" b="1" dirty="0">
                <a:latin typeface="楷体_GB2312" pitchFamily="49" charset="-122"/>
                <a:ea typeface="楷体_GB2312" pitchFamily="49" charset="-122"/>
              </a:rPr>
              <a:t>公里</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小时。（该纪录直到</a:t>
            </a:r>
            <a:r>
              <a:rPr lang="en-US" altLang="zh-CN" b="1" dirty="0">
                <a:latin typeface="楷体_GB2312" pitchFamily="49" charset="-122"/>
                <a:ea typeface="楷体_GB2312" pitchFamily="49" charset="-122"/>
              </a:rPr>
              <a:t>CRH2</a:t>
            </a:r>
            <a:r>
              <a:rPr lang="zh-CN" altLang="en-US" b="1" dirty="0">
                <a:latin typeface="楷体_GB2312" pitchFamily="49" charset="-122"/>
                <a:ea typeface="楷体_GB2312" pitchFamily="49" charset="-122"/>
              </a:rPr>
              <a:t>在</a:t>
            </a:r>
            <a:r>
              <a:rPr lang="en-US" altLang="zh-CN" b="1" dirty="0">
                <a:latin typeface="楷体_GB2312" pitchFamily="49" charset="-122"/>
                <a:ea typeface="楷体_GB2312" pitchFamily="49" charset="-122"/>
              </a:rPr>
              <a:t>2008</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4</a:t>
            </a:r>
            <a:r>
              <a:rPr lang="zh-CN" altLang="en-US" b="1" dirty="0">
                <a:latin typeface="楷体_GB2312" pitchFamily="49" charset="-122"/>
                <a:ea typeface="楷体_GB2312" pitchFamily="49" charset="-122"/>
              </a:rPr>
              <a:t>月</a:t>
            </a:r>
            <a:r>
              <a:rPr lang="en-US" altLang="zh-CN" b="1" dirty="0">
                <a:latin typeface="楷体_GB2312" pitchFamily="49" charset="-122"/>
                <a:ea typeface="楷体_GB2312" pitchFamily="49" charset="-122"/>
              </a:rPr>
              <a:t>24</a:t>
            </a:r>
            <a:r>
              <a:rPr lang="zh-CN" altLang="en-US" b="1" dirty="0">
                <a:latin typeface="楷体_GB2312" pitchFamily="49" charset="-122"/>
                <a:ea typeface="楷体_GB2312" pitchFamily="49" charset="-122"/>
              </a:rPr>
              <a:t>日于京津客运专线上进行高速测试时才被打破）</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111" y="4653136"/>
            <a:ext cx="341947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27291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1143000"/>
          </a:xfrm>
        </p:spPr>
        <p:txBody>
          <a:bodyPr/>
          <a:lstStyle/>
          <a:p>
            <a:r>
              <a:rPr lang="zh-CN" altLang="en-US" sz="4000" b="1" dirty="0" smtClean="0"/>
              <a:t>知识积累的过渡产品</a:t>
            </a:r>
            <a:r>
              <a:rPr lang="en-US" altLang="zh-CN" sz="4000" b="1" dirty="0" smtClean="0"/>
              <a:t>——</a:t>
            </a:r>
            <a:r>
              <a:rPr lang="zh-CN" altLang="en-US" sz="4000" b="1" dirty="0" smtClean="0"/>
              <a:t>中华之星</a:t>
            </a:r>
            <a:endParaRPr lang="zh-CN" altLang="en-US" sz="4000" b="1" dirty="0"/>
          </a:p>
        </p:txBody>
      </p:sp>
      <p:sp>
        <p:nvSpPr>
          <p:cNvPr id="3" name="文本占位符 2"/>
          <p:cNvSpPr>
            <a:spLocks noGrp="1"/>
          </p:cNvSpPr>
          <p:nvPr>
            <p:ph type="body" idx="1"/>
          </p:nvPr>
        </p:nvSpPr>
        <p:spPr>
          <a:xfrm>
            <a:off x="395536" y="1374087"/>
            <a:ext cx="8305800" cy="1406841"/>
          </a:xfrm>
        </p:spPr>
        <p:txBody>
          <a:bodyPr/>
          <a:lstStyle/>
          <a:p>
            <a:r>
              <a:rPr lang="zh-CN" altLang="en-US" b="1" dirty="0" smtClean="0">
                <a:latin typeface="楷体_GB2312" pitchFamily="49" charset="-122"/>
                <a:ea typeface="楷体_GB2312" pitchFamily="49" charset="-122"/>
              </a:rPr>
              <a:t>“中华之星”</a:t>
            </a:r>
            <a:r>
              <a:rPr lang="zh-CN" altLang="en-US" b="1" dirty="0">
                <a:latin typeface="楷体_GB2312" pitchFamily="49" charset="-122"/>
                <a:ea typeface="楷体_GB2312" pitchFamily="49" charset="-122"/>
              </a:rPr>
              <a:t>电动车组</a:t>
            </a:r>
            <a:r>
              <a:rPr lang="zh-CN" altLang="en-US" b="1" dirty="0" smtClean="0">
                <a:latin typeface="楷体_GB2312" pitchFamily="49" charset="-122"/>
                <a:ea typeface="楷体_GB2312" pitchFamily="49" charset="-122"/>
              </a:rPr>
              <a:t>研制由</a:t>
            </a:r>
            <a:r>
              <a:rPr lang="zh-CN" altLang="en-US" b="1" dirty="0">
                <a:latin typeface="楷体_GB2312" pitchFamily="49" charset="-122"/>
                <a:ea typeface="楷体_GB2312" pitchFamily="49" charset="-122"/>
              </a:rPr>
              <a:t>国家计委立项，铁道部主持</a:t>
            </a:r>
            <a:r>
              <a:rPr lang="zh-CN" altLang="en-US" b="1" dirty="0" smtClean="0">
                <a:latin typeface="楷体_GB2312" pitchFamily="49" charset="-122"/>
                <a:ea typeface="楷体_GB2312" pitchFamily="49" charset="-122"/>
              </a:rPr>
              <a:t>，中国北车和中国南车参加</a:t>
            </a:r>
            <a:r>
              <a:rPr lang="zh-CN" altLang="en-US" b="1" dirty="0">
                <a:latin typeface="楷体_GB2312" pitchFamily="49" charset="-122"/>
                <a:ea typeface="楷体_GB2312" pitchFamily="49" charset="-122"/>
              </a:rPr>
              <a:t>研制。由铁道部组织机车车辆制造工厂、科研院所、高等院校联合攻关共同</a:t>
            </a:r>
            <a:r>
              <a:rPr lang="zh-CN" altLang="en-US" b="1" dirty="0" smtClean="0">
                <a:latin typeface="楷体_GB2312" pitchFamily="49" charset="-122"/>
                <a:ea typeface="楷体_GB2312" pitchFamily="49" charset="-122"/>
              </a:rPr>
              <a:t>研制。</a:t>
            </a:r>
            <a:endParaRPr lang="zh-CN" altLang="en-US" b="1" dirty="0">
              <a:latin typeface="楷体_GB2312" pitchFamily="49" charset="-122"/>
              <a:ea typeface="楷体_GB2312" pitchFamily="49" charset="-122"/>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6954" y="4762500"/>
            <a:ext cx="341947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2"/>
          <p:cNvSpPr txBox="1">
            <a:spLocks/>
          </p:cNvSpPr>
          <p:nvPr/>
        </p:nvSpPr>
        <p:spPr bwMode="auto">
          <a:xfrm>
            <a:off x="395536" y="2540720"/>
            <a:ext cx="8208912" cy="2983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dirty="0" smtClean="0"/>
              <a:t> </a:t>
            </a:r>
            <a:r>
              <a:rPr lang="zh-CN" altLang="en-US" b="1" dirty="0" smtClean="0">
                <a:latin typeface="楷体_GB2312" pitchFamily="49" charset="-122"/>
                <a:ea typeface="楷体_GB2312" pitchFamily="49" charset="-122"/>
              </a:rPr>
              <a:t>“中华之星” 前身是行驶在广深铁路的“蓝箭号” ，跟“蓝箭”电动车组一样，由首尾两辆电动力车以前拉后推的方式牵引，属于动力集中型动车组设计。采用了交直交电力牵引，使用</a:t>
            </a:r>
            <a:r>
              <a:rPr lang="en-US" altLang="zh-CN" b="1" dirty="0" smtClean="0">
                <a:latin typeface="楷体_GB2312" pitchFamily="49" charset="-122"/>
                <a:ea typeface="楷体_GB2312" pitchFamily="49" charset="-122"/>
              </a:rPr>
              <a:t>JD128</a:t>
            </a:r>
            <a:r>
              <a:rPr lang="zh-CN" altLang="en-US" b="1" dirty="0" smtClean="0">
                <a:latin typeface="楷体_GB2312" pitchFamily="49" charset="-122"/>
                <a:ea typeface="楷体_GB2312" pitchFamily="49" charset="-122"/>
              </a:rPr>
              <a:t>型交流牵引电动机及</a:t>
            </a:r>
            <a:r>
              <a:rPr lang="en-US" altLang="zh-CN" b="1" dirty="0" smtClean="0">
                <a:latin typeface="楷体_GB2312" pitchFamily="49" charset="-122"/>
                <a:ea typeface="楷体_GB2312" pitchFamily="49" charset="-122"/>
              </a:rPr>
              <a:t>TEP28WG01</a:t>
            </a:r>
            <a:r>
              <a:rPr lang="zh-CN" altLang="en-US" b="1" dirty="0" smtClean="0">
                <a:latin typeface="楷体_GB2312" pitchFamily="49" charset="-122"/>
                <a:ea typeface="楷体_GB2312" pitchFamily="49" charset="-122"/>
              </a:rPr>
              <a:t>型</a:t>
            </a:r>
            <a:r>
              <a:rPr lang="en-US" altLang="zh-CN" b="1" dirty="0" smtClean="0">
                <a:latin typeface="楷体_GB2312" pitchFamily="49" charset="-122"/>
                <a:ea typeface="楷体_GB2312" pitchFamily="49" charset="-122"/>
              </a:rPr>
              <a:t>GTO</a:t>
            </a:r>
            <a:r>
              <a:rPr lang="zh-CN" altLang="en-US" b="1" dirty="0" smtClean="0">
                <a:latin typeface="楷体_GB2312" pitchFamily="49" charset="-122"/>
                <a:ea typeface="楷体_GB2312" pitchFamily="49" charset="-122"/>
              </a:rPr>
              <a:t>牵引逆变器；计算机网络控制技术、动力再生制动加电控制动的直通式数字制动机等先进技术，体现了中国机车车辆制造技术的最高水平。</a:t>
            </a:r>
            <a:endParaRPr lang="zh-CN" altLang="en-US" b="1" dirty="0">
              <a:latin typeface="楷体_GB2312" pitchFamily="49" charset="-122"/>
              <a:ea typeface="楷体_GB2312" pitchFamily="49" charset="-122"/>
            </a:endParaRPr>
          </a:p>
        </p:txBody>
      </p:sp>
    </p:spTree>
    <p:extLst>
      <p:ext uri="{BB962C8B-B14F-4D97-AF65-F5344CB8AC3E}">
        <p14:creationId xmlns:p14="http://schemas.microsoft.com/office/powerpoint/2010/main" val="8875622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332656"/>
            <a:ext cx="8305800" cy="4632920"/>
          </a:xfrm>
        </p:spPr>
        <p:txBody>
          <a:bodyPr/>
          <a:lstStyle/>
          <a:p>
            <a:r>
              <a:rPr lang="zh-CN" altLang="en-US" b="1" dirty="0" smtClean="0">
                <a:latin typeface="楷体_GB2312" pitchFamily="49" charset="-122"/>
                <a:ea typeface="楷体_GB2312" pitchFamily="49" charset="-122"/>
              </a:rPr>
              <a:t>中华之星有难以克服的安全问题，试验过程中暴露出了重大安全隐患</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但是我们的知识积累已到量变临界点，只要借助外国图纸突破几个关键技术</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代表中国高铁最高水平的</a:t>
            </a:r>
            <a:r>
              <a:rPr lang="en-US" altLang="zh-CN" b="1" dirty="0" smtClean="0">
                <a:latin typeface="楷体_GB2312" pitchFamily="49" charset="-122"/>
                <a:ea typeface="楷体_GB2312" pitchFamily="49" charset="-122"/>
              </a:rPr>
              <a:t>CRH380A</a:t>
            </a:r>
            <a:r>
              <a:rPr lang="zh-CN" altLang="en-US" b="1" dirty="0" smtClean="0">
                <a:latin typeface="楷体_GB2312" pitchFamily="49" charset="-122"/>
                <a:ea typeface="楷体_GB2312" pitchFamily="49" charset="-122"/>
              </a:rPr>
              <a:t>和</a:t>
            </a:r>
            <a:r>
              <a:rPr lang="en-US" altLang="zh-CN" b="1" dirty="0" smtClean="0">
                <a:latin typeface="楷体_GB2312" pitchFamily="49" charset="-122"/>
                <a:ea typeface="楷体_GB2312" pitchFamily="49" charset="-122"/>
              </a:rPr>
              <a:t>CRH380B</a:t>
            </a:r>
            <a:r>
              <a:rPr lang="zh-CN" altLang="en-US" b="1" dirty="0" smtClean="0">
                <a:latin typeface="楷体_GB2312" pitchFamily="49" charset="-122"/>
                <a:ea typeface="楷体_GB2312" pitchFamily="49" charset="-122"/>
              </a:rPr>
              <a:t>总设计师分别是梁建英和赵明花，两位都是中国自主设计高铁的技术骨干。</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赵曾直接主持了“春城号”和“长白山号”动车型号的设计开发，当北车在消化吸收阿尔斯通引进的“</a:t>
            </a:r>
            <a:r>
              <a:rPr lang="en-US" altLang="zh-CN" b="1" dirty="0" smtClean="0">
                <a:latin typeface="楷体_GB2312" pitchFamily="49" charset="-122"/>
                <a:ea typeface="楷体_GB2312" pitchFamily="49" charset="-122"/>
              </a:rPr>
              <a:t>5</a:t>
            </a:r>
            <a:r>
              <a:rPr lang="zh-CN" altLang="en-US" b="1" dirty="0" smtClean="0">
                <a:latin typeface="楷体_GB2312" pitchFamily="49" charset="-122"/>
                <a:ea typeface="楷体_GB2312" pitchFamily="49" charset="-122"/>
              </a:rPr>
              <a:t>型车”时遇到严重技术困境时，她走马上任，成为技术负责人，最终中国北车的“</a:t>
            </a:r>
            <a:r>
              <a:rPr lang="en-US" altLang="zh-CN" b="1" dirty="0" smtClean="0">
                <a:latin typeface="楷体_GB2312" pitchFamily="49" charset="-122"/>
                <a:ea typeface="楷体_GB2312" pitchFamily="49" charset="-122"/>
              </a:rPr>
              <a:t>5</a:t>
            </a:r>
            <a:r>
              <a:rPr lang="zh-CN" altLang="en-US" b="1" dirty="0" smtClean="0">
                <a:latin typeface="楷体_GB2312" pitchFamily="49" charset="-122"/>
                <a:ea typeface="楷体_GB2312" pitchFamily="49" charset="-122"/>
              </a:rPr>
              <a:t>型车”（</a:t>
            </a:r>
            <a:r>
              <a:rPr lang="en-US" altLang="zh-CN" b="1" dirty="0" smtClean="0">
                <a:latin typeface="楷体_GB2312" pitchFamily="49" charset="-122"/>
                <a:ea typeface="楷体_GB2312" pitchFamily="49" charset="-122"/>
              </a:rPr>
              <a:t>CRH5</a:t>
            </a:r>
            <a:r>
              <a:rPr lang="zh-CN" altLang="en-US" b="1" dirty="0" smtClean="0">
                <a:latin typeface="楷体_GB2312" pitchFamily="49" charset="-122"/>
                <a:ea typeface="楷体_GB2312" pitchFamily="49" charset="-122"/>
              </a:rPr>
              <a:t>）顺利出厂。</a:t>
            </a:r>
            <a:endParaRPr lang="zh-CN" altLang="en-US" b="1" dirty="0">
              <a:latin typeface="楷体_GB2312" pitchFamily="49" charset="-122"/>
              <a:ea typeface="楷体_GB2312" pitchFamily="49" charset="-122"/>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4653136"/>
            <a:ext cx="279082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6256" y="4334792"/>
            <a:ext cx="2160240" cy="242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22367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1143000"/>
          </a:xfrm>
        </p:spPr>
        <p:txBody>
          <a:bodyPr/>
          <a:lstStyle/>
          <a:p>
            <a:r>
              <a:rPr lang="zh-CN" altLang="en-US" dirty="0" smtClean="0">
                <a:latin typeface="幼圆" pitchFamily="49" charset="-122"/>
                <a:ea typeface="幼圆" pitchFamily="49" charset="-122"/>
              </a:rPr>
              <a:t>中国高铁的隐忧：</a:t>
            </a:r>
            <a:endParaRPr lang="zh-CN" altLang="en-US" dirty="0">
              <a:latin typeface="幼圆" pitchFamily="49" charset="-122"/>
              <a:ea typeface="幼圆" pitchFamily="49" charset="-122"/>
            </a:endParaRPr>
          </a:p>
        </p:txBody>
      </p:sp>
      <p:sp>
        <p:nvSpPr>
          <p:cNvPr id="3" name="文本占位符 2"/>
          <p:cNvSpPr>
            <a:spLocks noGrp="1"/>
          </p:cNvSpPr>
          <p:nvPr>
            <p:ph type="body" idx="1"/>
          </p:nvPr>
        </p:nvSpPr>
        <p:spPr>
          <a:xfrm>
            <a:off x="381000" y="1412776"/>
            <a:ext cx="8305800" cy="4378424"/>
          </a:xfrm>
        </p:spPr>
        <p:txBody>
          <a:bodyPr/>
          <a:lstStyle/>
          <a:p>
            <a:r>
              <a:rPr lang="zh-CN" altLang="en-US" sz="2800" b="1" dirty="0" smtClean="0">
                <a:latin typeface="楷体_GB2312" pitchFamily="49" charset="-122"/>
                <a:ea typeface="楷体_GB2312" pitchFamily="49" charset="-122"/>
              </a:rPr>
              <a:t>材料困境。</a:t>
            </a:r>
            <a:r>
              <a:rPr lang="zh-CN" altLang="en-US" sz="2800" dirty="0" smtClean="0">
                <a:latin typeface="楷体_GB2312" pitchFamily="49" charset="-122"/>
                <a:ea typeface="楷体_GB2312" pitchFamily="49" charset="-122"/>
              </a:rPr>
              <a:t>车轮、车轴、轴承等还需要国外进口</a:t>
            </a:r>
            <a:endParaRPr lang="en-US" altLang="zh-CN" sz="2800" dirty="0" smtClean="0">
              <a:latin typeface="楷体_GB2312" pitchFamily="49" charset="-122"/>
              <a:ea typeface="楷体_GB2312" pitchFamily="49" charset="-122"/>
            </a:endParaRPr>
          </a:p>
          <a:p>
            <a:r>
              <a:rPr lang="zh-CN" altLang="en-US" sz="2800" b="1" dirty="0" smtClean="0">
                <a:latin typeface="楷体_GB2312" pitchFamily="49" charset="-122"/>
                <a:ea typeface="楷体_GB2312" pitchFamily="49" charset="-122"/>
              </a:rPr>
              <a:t>部分核心技术仍被国外厂商垄断。</a:t>
            </a:r>
            <a:r>
              <a:rPr lang="zh-CN" altLang="en-US" sz="2800" dirty="0" smtClean="0">
                <a:latin typeface="楷体_GB2312" pitchFamily="49" charset="-122"/>
                <a:ea typeface="楷体_GB2312" pitchFamily="49" charset="-122"/>
              </a:rPr>
              <a:t>制动系统制造商只有德国克诺尔集团一家；大功率电子器件，国际上只有瑞士、日本的公司能够生产；受电弓、变流器、制动设备等主要依靠进口（电器部分占高铁报价的</a:t>
            </a:r>
            <a:r>
              <a:rPr lang="en-US" altLang="zh-CN" sz="2800" dirty="0" smtClean="0">
                <a:latin typeface="楷体_GB2312" pitchFamily="49" charset="-122"/>
                <a:ea typeface="楷体_GB2312" pitchFamily="49" charset="-122"/>
              </a:rPr>
              <a:t>30%</a:t>
            </a:r>
            <a:r>
              <a:rPr lang="zh-CN" altLang="en-US" sz="2800" dirty="0" smtClean="0">
                <a:latin typeface="楷体_GB2312" pitchFamily="49" charset="-122"/>
                <a:ea typeface="楷体_GB2312" pitchFamily="49" charset="-122"/>
              </a:rPr>
              <a:t>，其中核心元器件占到电器报价的</a:t>
            </a:r>
            <a:r>
              <a:rPr lang="en-US" altLang="zh-CN" sz="2800" dirty="0" smtClean="0">
                <a:latin typeface="楷体_GB2312" pitchFamily="49" charset="-122"/>
                <a:ea typeface="楷体_GB2312" pitchFamily="49" charset="-122"/>
              </a:rPr>
              <a:t>50%</a:t>
            </a:r>
            <a:r>
              <a:rPr lang="zh-CN" altLang="en-US"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a:p>
            <a:r>
              <a:rPr lang="zh-CN" altLang="en-US" sz="2800" b="1" dirty="0" smtClean="0">
                <a:latin typeface="楷体_GB2312" pitchFamily="49" charset="-122"/>
                <a:ea typeface="楷体_GB2312" pitchFamily="49" charset="-122"/>
              </a:rPr>
              <a:t>国际项目管理经验缺乏，低劳动力成本的经验无法复制。（沙特、美国）</a:t>
            </a:r>
            <a:endParaRPr lang="en-US" altLang="zh-CN" sz="2800" b="1"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40537668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340768"/>
            <a:ext cx="8305800" cy="4114800"/>
          </a:xfrm>
        </p:spPr>
        <p:txBody>
          <a:bodyPr/>
          <a:lstStyle/>
          <a:p>
            <a:r>
              <a:rPr lang="zh-CN" altLang="en-US" sz="3200" b="1" dirty="0">
                <a:latin typeface="楷体_GB2312" panose="02010609030101010101" pitchFamily="49" charset="-122"/>
                <a:ea typeface="楷体_GB2312" panose="02010609030101010101" pitchFamily="49" charset="-122"/>
              </a:rPr>
              <a:t>对</a:t>
            </a:r>
            <a:r>
              <a:rPr lang="en-US" altLang="zh-CN" sz="3200" b="1" dirty="0">
                <a:latin typeface="楷体_GB2312" panose="02010609030101010101" pitchFamily="49" charset="-122"/>
                <a:ea typeface="楷体_GB2312" panose="02010609030101010101" pitchFamily="49" charset="-122"/>
              </a:rPr>
              <a:t>AI</a:t>
            </a:r>
            <a:r>
              <a:rPr lang="zh-CN" altLang="en-US" sz="3200" b="1" dirty="0">
                <a:latin typeface="楷体_GB2312" panose="02010609030101010101" pitchFamily="49" charset="-122"/>
                <a:ea typeface="楷体_GB2312" panose="02010609030101010101" pitchFamily="49" charset="-122"/>
              </a:rPr>
              <a:t>芯片的产业前景，有机构预测，到</a:t>
            </a:r>
            <a:r>
              <a:rPr lang="en-US" altLang="zh-CN" sz="3200" b="1" dirty="0">
                <a:latin typeface="楷体_GB2312" panose="02010609030101010101" pitchFamily="49" charset="-122"/>
                <a:ea typeface="楷体_GB2312" panose="02010609030101010101" pitchFamily="49" charset="-122"/>
              </a:rPr>
              <a:t>2025</a:t>
            </a:r>
            <a:r>
              <a:rPr lang="zh-CN" altLang="en-US" sz="3200" b="1" dirty="0">
                <a:latin typeface="楷体_GB2312" panose="02010609030101010101" pitchFamily="49" charset="-122"/>
                <a:ea typeface="楷体_GB2312" panose="02010609030101010101" pitchFamily="49" charset="-122"/>
              </a:rPr>
              <a:t>年，全球</a:t>
            </a:r>
            <a:r>
              <a:rPr lang="en-US" altLang="zh-CN" sz="3200" b="1" dirty="0">
                <a:latin typeface="楷体_GB2312" panose="02010609030101010101" pitchFamily="49" charset="-122"/>
                <a:ea typeface="楷体_GB2312" panose="02010609030101010101" pitchFamily="49" charset="-122"/>
              </a:rPr>
              <a:t>AI</a:t>
            </a:r>
            <a:r>
              <a:rPr lang="zh-CN" altLang="en-US" sz="3200" b="1" dirty="0">
                <a:latin typeface="楷体_GB2312" panose="02010609030101010101" pitchFamily="49" charset="-122"/>
                <a:ea typeface="楷体_GB2312" panose="02010609030101010101" pitchFamily="49" charset="-122"/>
              </a:rPr>
              <a:t>芯片组市场规模将超过</a:t>
            </a:r>
            <a:r>
              <a:rPr lang="en-US" altLang="zh-CN" sz="3200" b="1" dirty="0">
                <a:latin typeface="楷体_GB2312" panose="02010609030101010101" pitchFamily="49" charset="-122"/>
                <a:ea typeface="楷体_GB2312" panose="02010609030101010101" pitchFamily="49" charset="-122"/>
              </a:rPr>
              <a:t>122</a:t>
            </a:r>
            <a:r>
              <a:rPr lang="zh-CN" altLang="en-US" sz="3200" b="1" dirty="0">
                <a:latin typeface="楷体_GB2312" panose="02010609030101010101" pitchFamily="49" charset="-122"/>
                <a:ea typeface="楷体_GB2312" panose="02010609030101010101" pitchFamily="49" charset="-122"/>
              </a:rPr>
              <a:t>亿美元；而我国</a:t>
            </a:r>
            <a:r>
              <a:rPr lang="en-US" altLang="zh-CN" sz="3200" b="1" dirty="0">
                <a:latin typeface="楷体_GB2312" panose="02010609030101010101" pitchFamily="49" charset="-122"/>
                <a:ea typeface="楷体_GB2312" panose="02010609030101010101" pitchFamily="49" charset="-122"/>
              </a:rPr>
              <a:t>《</a:t>
            </a:r>
            <a:r>
              <a:rPr lang="zh-CN" altLang="en-US" sz="3200" b="1" dirty="0">
                <a:latin typeface="楷体_GB2312" panose="02010609030101010101" pitchFamily="49" charset="-122"/>
                <a:ea typeface="楷体_GB2312" panose="02010609030101010101" pitchFamily="49" charset="-122"/>
              </a:rPr>
              <a:t>新一代人工智能发展规划</a:t>
            </a:r>
            <a:r>
              <a:rPr lang="en-US" altLang="zh-CN" sz="3200" b="1" dirty="0">
                <a:latin typeface="楷体_GB2312" panose="02010609030101010101" pitchFamily="49" charset="-122"/>
                <a:ea typeface="楷体_GB2312" panose="02010609030101010101" pitchFamily="49" charset="-122"/>
              </a:rPr>
              <a:t>》</a:t>
            </a:r>
            <a:r>
              <a:rPr lang="zh-CN" altLang="en-US" sz="3200" b="1" dirty="0">
                <a:latin typeface="楷体_GB2312" panose="02010609030101010101" pitchFamily="49" charset="-122"/>
                <a:ea typeface="楷体_GB2312" panose="02010609030101010101" pitchFamily="49" charset="-122"/>
              </a:rPr>
              <a:t>预计，到</a:t>
            </a:r>
            <a:r>
              <a:rPr lang="en-US" altLang="zh-CN" sz="3200" b="1" dirty="0">
                <a:latin typeface="楷体_GB2312" panose="02010609030101010101" pitchFamily="49" charset="-122"/>
                <a:ea typeface="楷体_GB2312" panose="02010609030101010101" pitchFamily="49" charset="-122"/>
              </a:rPr>
              <a:t>2020</a:t>
            </a:r>
            <a:r>
              <a:rPr lang="zh-CN" altLang="en-US" sz="3200" b="1" dirty="0">
                <a:latin typeface="楷体_GB2312" panose="02010609030101010101" pitchFamily="49" charset="-122"/>
                <a:ea typeface="楷体_GB2312" panose="02010609030101010101" pitchFamily="49" charset="-122"/>
              </a:rPr>
              <a:t>年，国内智能计算芯片市场规模将达到</a:t>
            </a:r>
            <a:r>
              <a:rPr lang="en-US" altLang="zh-CN" sz="3200" b="1" dirty="0">
                <a:latin typeface="楷体_GB2312" panose="02010609030101010101" pitchFamily="49" charset="-122"/>
                <a:ea typeface="楷体_GB2312" panose="02010609030101010101" pitchFamily="49" charset="-122"/>
              </a:rPr>
              <a:t>100</a:t>
            </a:r>
            <a:r>
              <a:rPr lang="zh-CN" altLang="en-US" sz="3200" b="1" dirty="0">
                <a:latin typeface="楷体_GB2312" panose="02010609030101010101" pitchFamily="49" charset="-122"/>
                <a:ea typeface="楷体_GB2312" panose="02010609030101010101" pitchFamily="49" charset="-122"/>
              </a:rPr>
              <a:t>亿元。业内人士认为，</a:t>
            </a:r>
            <a:r>
              <a:rPr lang="en-US" altLang="zh-CN" sz="3200" b="1" dirty="0">
                <a:latin typeface="楷体_GB2312" panose="02010609030101010101" pitchFamily="49" charset="-122"/>
                <a:ea typeface="楷体_GB2312" panose="02010609030101010101" pitchFamily="49" charset="-122"/>
              </a:rPr>
              <a:t>AI</a:t>
            </a:r>
            <a:r>
              <a:rPr lang="zh-CN" altLang="en-US" sz="3200" b="1" dirty="0">
                <a:latin typeface="楷体_GB2312" panose="02010609030101010101" pitchFamily="49" charset="-122"/>
                <a:ea typeface="楷体_GB2312" panose="02010609030101010101" pitchFamily="49" charset="-122"/>
              </a:rPr>
              <a:t>芯片有望率先在手机</a:t>
            </a:r>
            <a:r>
              <a:rPr lang="zh-CN" altLang="en-US" sz="3200" b="1" dirty="0" smtClean="0">
                <a:latin typeface="楷体_GB2312" panose="02010609030101010101" pitchFamily="49" charset="-122"/>
                <a:ea typeface="楷体_GB2312" panose="02010609030101010101" pitchFamily="49" charset="-122"/>
              </a:rPr>
              <a:t>、</a:t>
            </a:r>
            <a:endParaRPr lang="en-US" altLang="zh-CN" sz="3200" b="1" dirty="0" smtClean="0">
              <a:latin typeface="楷体_GB2312" panose="02010609030101010101" pitchFamily="49" charset="-122"/>
              <a:ea typeface="楷体_GB2312" panose="02010609030101010101" pitchFamily="49" charset="-122"/>
            </a:endParaRPr>
          </a:p>
          <a:p>
            <a:pPr marL="0" indent="0">
              <a:buNone/>
            </a:pPr>
            <a:r>
              <a:rPr lang="zh-CN" altLang="en-US" sz="3200" b="1" dirty="0" smtClean="0">
                <a:latin typeface="楷体_GB2312" panose="02010609030101010101" pitchFamily="49" charset="-122"/>
                <a:ea typeface="楷体_GB2312" panose="02010609030101010101" pitchFamily="49" charset="-122"/>
              </a:rPr>
              <a:t> 安防和</a:t>
            </a:r>
            <a:r>
              <a:rPr lang="zh-CN" altLang="en-US" sz="3200" b="1" dirty="0">
                <a:latin typeface="楷体_GB2312" panose="02010609030101010101" pitchFamily="49" charset="-122"/>
                <a:ea typeface="楷体_GB2312" panose="02010609030101010101" pitchFamily="49" charset="-122"/>
              </a:rPr>
              <a:t>自动驾驶</a:t>
            </a:r>
            <a:r>
              <a:rPr lang="zh-CN" altLang="en-US" sz="3200" b="1" dirty="0" smtClean="0">
                <a:latin typeface="楷体_GB2312" panose="02010609030101010101" pitchFamily="49" charset="-122"/>
                <a:ea typeface="楷体_GB2312" panose="02010609030101010101" pitchFamily="49" charset="-122"/>
              </a:rPr>
              <a:t>等</a:t>
            </a:r>
            <a:endParaRPr lang="en-US" altLang="zh-CN" sz="3200" b="1" dirty="0" smtClean="0">
              <a:latin typeface="楷体_GB2312" panose="02010609030101010101" pitchFamily="49" charset="-122"/>
              <a:ea typeface="楷体_GB2312" panose="02010609030101010101" pitchFamily="49" charset="-122"/>
            </a:endParaRPr>
          </a:p>
          <a:p>
            <a:pPr marL="0" indent="0">
              <a:buNone/>
            </a:pPr>
            <a:r>
              <a:rPr lang="zh-CN" altLang="en-US" sz="3200" b="1" dirty="0" smtClean="0">
                <a:latin typeface="楷体_GB2312" panose="02010609030101010101" pitchFamily="49" charset="-122"/>
                <a:ea typeface="楷体_GB2312" panose="02010609030101010101" pitchFamily="49" charset="-122"/>
              </a:rPr>
              <a:t> 领域</a:t>
            </a:r>
            <a:r>
              <a:rPr lang="zh-CN" altLang="en-US" sz="3200" b="1" dirty="0">
                <a:latin typeface="楷体_GB2312" panose="02010609030101010101" pitchFamily="49" charset="-122"/>
                <a:ea typeface="楷体_GB2312" panose="02010609030101010101" pitchFamily="49" charset="-122"/>
              </a:rPr>
              <a:t>打开应用空间。</a:t>
            </a:r>
          </a:p>
        </p:txBody>
      </p:sp>
      <p:sp>
        <p:nvSpPr>
          <p:cNvPr id="4" name="标题 1"/>
          <p:cNvSpPr txBox="1">
            <a:spLocks/>
          </p:cNvSpPr>
          <p:nvPr/>
        </p:nvSpPr>
        <p:spPr bwMode="auto">
          <a:xfrm>
            <a:off x="395536" y="260648"/>
            <a:ext cx="8208912" cy="936104"/>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kern="0" dirty="0" smtClean="0">
                <a:latin typeface="幼圆" pitchFamily="49" charset="-122"/>
                <a:ea typeface="幼圆" pitchFamily="49" charset="-122"/>
              </a:rPr>
              <a:t>综合案例</a:t>
            </a:r>
            <a:r>
              <a:rPr lang="en-US" altLang="zh-CN" b="1" kern="0" dirty="0" smtClean="0">
                <a:latin typeface="幼圆" pitchFamily="49" charset="-122"/>
                <a:ea typeface="幼圆" pitchFamily="49" charset="-122"/>
              </a:rPr>
              <a:t>2</a:t>
            </a:r>
            <a:r>
              <a:rPr lang="zh-CN" altLang="en-US" b="1" kern="0" dirty="0" smtClean="0">
                <a:latin typeface="幼圆" pitchFamily="49" charset="-122"/>
                <a:ea typeface="幼圆" pitchFamily="49" charset="-122"/>
              </a:rPr>
              <a:t>：华为</a:t>
            </a:r>
            <a:r>
              <a:rPr lang="en-US" altLang="zh-CN" b="1" kern="0" dirty="0" smtClean="0">
                <a:latin typeface="幼圆" pitchFamily="49" charset="-122"/>
                <a:ea typeface="幼圆" pitchFamily="49" charset="-122"/>
              </a:rPr>
              <a:t>AI</a:t>
            </a:r>
            <a:r>
              <a:rPr lang="zh-CN" altLang="en-US" b="1" kern="0" dirty="0" smtClean="0">
                <a:latin typeface="幼圆" pitchFamily="49" charset="-122"/>
                <a:ea typeface="幼圆" pitchFamily="49" charset="-122"/>
              </a:rPr>
              <a:t>芯片已起航</a:t>
            </a:r>
            <a:endParaRPr lang="zh-CN" altLang="en-US" b="1" kern="0" dirty="0">
              <a:latin typeface="幼圆" pitchFamily="49" charset="-122"/>
              <a:ea typeface="幼圆" pitchFamily="49"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9992" y="3861048"/>
            <a:ext cx="4507979" cy="2977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32087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260648"/>
            <a:ext cx="8496944" cy="4114800"/>
          </a:xfrm>
        </p:spPr>
        <p:txBody>
          <a:bodyPr/>
          <a:lstStyle/>
          <a:p>
            <a:r>
              <a:rPr lang="zh-CN" altLang="en-US" sz="3200" b="1" dirty="0">
                <a:latin typeface="楷体_GB2312" panose="02010609030101010101" pitchFamily="49" charset="-122"/>
                <a:ea typeface="楷体_GB2312" panose="02010609030101010101" pitchFamily="49" charset="-122"/>
              </a:rPr>
              <a:t>华为麒麟</a:t>
            </a:r>
            <a:r>
              <a:rPr lang="en-US" altLang="zh-CN" sz="3200" b="1" dirty="0">
                <a:latin typeface="楷体_GB2312" panose="02010609030101010101" pitchFamily="49" charset="-122"/>
                <a:ea typeface="楷体_GB2312" panose="02010609030101010101" pitchFamily="49" charset="-122"/>
              </a:rPr>
              <a:t>970</a:t>
            </a:r>
            <a:r>
              <a:rPr lang="zh-CN" altLang="en-US" sz="3200" b="1" dirty="0">
                <a:latin typeface="楷体_GB2312" panose="02010609030101010101" pitchFamily="49" charset="-122"/>
                <a:ea typeface="楷体_GB2312" panose="02010609030101010101" pitchFamily="49" charset="-122"/>
              </a:rPr>
              <a:t>芯片在国内的首次正式亮相，再次激活了</a:t>
            </a:r>
            <a:r>
              <a:rPr lang="en-US" altLang="zh-CN" sz="3200" b="1" dirty="0">
                <a:latin typeface="楷体_GB2312" panose="02010609030101010101" pitchFamily="49" charset="-122"/>
                <a:ea typeface="楷体_GB2312" panose="02010609030101010101" pitchFamily="49" charset="-122"/>
              </a:rPr>
              <a:t>AI</a:t>
            </a:r>
            <a:r>
              <a:rPr lang="zh-CN" altLang="en-US" sz="3200" b="1" dirty="0">
                <a:latin typeface="楷体_GB2312" panose="02010609030101010101" pitchFamily="49" charset="-122"/>
                <a:ea typeface="楷体_GB2312" panose="02010609030101010101" pitchFamily="49" charset="-122"/>
              </a:rPr>
              <a:t>芯片的想象空间。业内人士认为，手机领域将因为</a:t>
            </a:r>
            <a:r>
              <a:rPr lang="en-US" altLang="zh-CN" sz="3200" b="1" dirty="0">
                <a:latin typeface="楷体_GB2312" panose="02010609030101010101" pitchFamily="49" charset="-122"/>
                <a:ea typeface="楷体_GB2312" panose="02010609030101010101" pitchFamily="49" charset="-122"/>
              </a:rPr>
              <a:t>AI</a:t>
            </a:r>
            <a:r>
              <a:rPr lang="zh-CN" altLang="en-US" sz="3200" b="1" dirty="0">
                <a:latin typeface="楷体_GB2312" panose="02010609030101010101" pitchFamily="49" charset="-122"/>
                <a:ea typeface="楷体_GB2312" panose="02010609030101010101" pitchFamily="49" charset="-122"/>
              </a:rPr>
              <a:t>芯片而出现质的变化，可以说，华为、苹果等产业领跑者开启了手机的</a:t>
            </a:r>
            <a:r>
              <a:rPr lang="en-US" altLang="zh-CN" sz="3200" b="1" dirty="0">
                <a:latin typeface="楷体_GB2312" panose="02010609030101010101" pitchFamily="49" charset="-122"/>
                <a:ea typeface="楷体_GB2312" panose="02010609030101010101" pitchFamily="49" charset="-122"/>
              </a:rPr>
              <a:t>AI</a:t>
            </a:r>
            <a:r>
              <a:rPr lang="zh-CN" altLang="en-US" sz="3200" b="1" dirty="0">
                <a:latin typeface="楷体_GB2312" panose="02010609030101010101" pitchFamily="49" charset="-122"/>
                <a:ea typeface="楷体_GB2312" panose="02010609030101010101" pitchFamily="49" charset="-122"/>
              </a:rPr>
              <a:t>时代。同时，安防和自动驾驶也是被广泛看好的</a:t>
            </a:r>
            <a:r>
              <a:rPr lang="en-US" altLang="zh-CN" sz="3200" b="1" dirty="0">
                <a:latin typeface="楷体_GB2312" panose="02010609030101010101" pitchFamily="49" charset="-122"/>
                <a:ea typeface="楷体_GB2312" panose="02010609030101010101" pitchFamily="49" charset="-122"/>
              </a:rPr>
              <a:t>AI</a:t>
            </a:r>
            <a:r>
              <a:rPr lang="zh-CN" altLang="en-US" sz="3200" b="1" dirty="0">
                <a:latin typeface="楷体_GB2312" panose="02010609030101010101" pitchFamily="49" charset="-122"/>
                <a:ea typeface="楷体_GB2312" panose="02010609030101010101" pitchFamily="49" charset="-122"/>
              </a:rPr>
              <a:t>应用领域，已有特斯拉、</a:t>
            </a:r>
            <a:r>
              <a:rPr lang="en-US" altLang="zh-CN" sz="3200" b="1" dirty="0">
                <a:latin typeface="楷体_GB2312" panose="02010609030101010101" pitchFamily="49" charset="-122"/>
                <a:ea typeface="楷体_GB2312" panose="02010609030101010101" pitchFamily="49" charset="-122"/>
              </a:rPr>
              <a:t>Intel</a:t>
            </a:r>
            <a:r>
              <a:rPr lang="zh-CN" altLang="en-US" sz="3200" b="1" dirty="0">
                <a:latin typeface="楷体_GB2312" panose="02010609030101010101" pitchFamily="49" charset="-122"/>
                <a:ea typeface="楷体_GB2312" panose="02010609030101010101" pitchFamily="49" charset="-122"/>
              </a:rPr>
              <a:t>、百度等国内外巨头率先布局。</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3352" y="4005064"/>
            <a:ext cx="4762500" cy="2686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37149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260648"/>
            <a:ext cx="8305800" cy="5832648"/>
          </a:xfrm>
        </p:spPr>
        <p:txBody>
          <a:bodyPr/>
          <a:lstStyle/>
          <a:p>
            <a:r>
              <a:rPr lang="en-US" altLang="zh-CN" sz="2600" b="1" dirty="0" smtClean="0">
                <a:latin typeface="楷体_GB2312" panose="02010609030101010101" pitchFamily="49" charset="-122"/>
                <a:ea typeface="楷体_GB2312" panose="02010609030101010101" pitchFamily="49" charset="-122"/>
              </a:rPr>
              <a:t>2017</a:t>
            </a:r>
            <a:r>
              <a:rPr lang="zh-CN" altLang="en-US" sz="2600" b="1" dirty="0" smtClean="0">
                <a:latin typeface="楷体_GB2312" panose="02010609030101010101" pitchFamily="49" charset="-122"/>
                <a:ea typeface="楷体_GB2312" panose="02010609030101010101" pitchFamily="49" charset="-122"/>
              </a:rPr>
              <a:t>年</a:t>
            </a:r>
            <a:r>
              <a:rPr lang="en-US" altLang="zh-CN" sz="2600" b="1" dirty="0" smtClean="0">
                <a:latin typeface="楷体_GB2312" panose="02010609030101010101" pitchFamily="49" charset="-122"/>
                <a:ea typeface="楷体_GB2312" panose="02010609030101010101" pitchFamily="49" charset="-122"/>
              </a:rPr>
              <a:t>9</a:t>
            </a:r>
            <a:r>
              <a:rPr lang="zh-CN" altLang="en-US" sz="2600" b="1" dirty="0" smtClean="0">
                <a:latin typeface="楷体_GB2312" panose="02010609030101010101" pitchFamily="49" charset="-122"/>
                <a:ea typeface="楷体_GB2312" panose="02010609030101010101" pitchFamily="49" charset="-122"/>
              </a:rPr>
              <a:t>月</a:t>
            </a:r>
            <a:r>
              <a:rPr lang="en-US" altLang="zh-CN" sz="2600" b="1" dirty="0" smtClean="0">
                <a:latin typeface="楷体_GB2312" panose="02010609030101010101" pitchFamily="49" charset="-122"/>
                <a:ea typeface="楷体_GB2312" panose="02010609030101010101" pitchFamily="49" charset="-122"/>
              </a:rPr>
              <a:t>25</a:t>
            </a:r>
            <a:r>
              <a:rPr lang="zh-CN" altLang="en-US" sz="2600" b="1" dirty="0">
                <a:latin typeface="楷体_GB2312" panose="02010609030101010101" pitchFamily="49" charset="-122"/>
                <a:ea typeface="楷体_GB2312" panose="02010609030101010101" pitchFamily="49" charset="-122"/>
              </a:rPr>
              <a:t>日，华为在京举行麒麟</a:t>
            </a:r>
            <a:r>
              <a:rPr lang="en-US" altLang="zh-CN" sz="2600" b="1" dirty="0">
                <a:latin typeface="楷体_GB2312" panose="02010609030101010101" pitchFamily="49" charset="-122"/>
                <a:ea typeface="楷体_GB2312" panose="02010609030101010101" pitchFamily="49" charset="-122"/>
              </a:rPr>
              <a:t>970</a:t>
            </a:r>
            <a:r>
              <a:rPr lang="zh-CN" altLang="en-US" sz="2600" b="1" dirty="0">
                <a:latin typeface="楷体_GB2312" panose="02010609030101010101" pitchFamily="49" charset="-122"/>
                <a:ea typeface="楷体_GB2312" panose="02010609030101010101" pitchFamily="49" charset="-122"/>
              </a:rPr>
              <a:t>芯片媒体沟通会，这是华为</a:t>
            </a:r>
            <a:r>
              <a:rPr lang="en-US" altLang="zh-CN" sz="2600" b="1" dirty="0">
                <a:latin typeface="楷体_GB2312" panose="02010609030101010101" pitchFamily="49" charset="-122"/>
                <a:ea typeface="楷体_GB2312" panose="02010609030101010101" pitchFamily="49" charset="-122"/>
              </a:rPr>
              <a:t>9</a:t>
            </a:r>
            <a:r>
              <a:rPr lang="zh-CN" altLang="en-US" sz="2600" b="1" dirty="0">
                <a:latin typeface="楷体_GB2312" panose="02010609030101010101" pitchFamily="49" charset="-122"/>
                <a:ea typeface="楷体_GB2312" panose="02010609030101010101" pitchFamily="49" charset="-122"/>
              </a:rPr>
              <a:t>月初在</a:t>
            </a:r>
            <a:r>
              <a:rPr lang="en-US" altLang="zh-CN" sz="2600" b="1" dirty="0">
                <a:latin typeface="楷体_GB2312" panose="02010609030101010101" pitchFamily="49" charset="-122"/>
                <a:ea typeface="楷体_GB2312" panose="02010609030101010101" pitchFamily="49" charset="-122"/>
              </a:rPr>
              <a:t>IFA</a:t>
            </a:r>
            <a:r>
              <a:rPr lang="zh-CN" altLang="en-US" sz="2600" b="1" dirty="0">
                <a:latin typeface="楷体_GB2312" panose="02010609030101010101" pitchFamily="49" charset="-122"/>
                <a:ea typeface="楷体_GB2312" panose="02010609030101010101" pitchFamily="49" charset="-122"/>
              </a:rPr>
              <a:t>（</a:t>
            </a:r>
            <a:r>
              <a:rPr lang="en-US" altLang="zh-CN" sz="2600" b="1" dirty="0">
                <a:latin typeface="楷体_GB2312" panose="02010609030101010101" pitchFamily="49" charset="-122"/>
                <a:ea typeface="楷体_GB2312" panose="02010609030101010101" pitchFamily="49" charset="-122"/>
              </a:rPr>
              <a:t>2017</a:t>
            </a:r>
            <a:r>
              <a:rPr lang="zh-CN" altLang="en-US" sz="2600" b="1" dirty="0">
                <a:latin typeface="楷体_GB2312" panose="02010609030101010101" pitchFamily="49" charset="-122"/>
                <a:ea typeface="楷体_GB2312" panose="02010609030101010101" pitchFamily="49" charset="-122"/>
              </a:rPr>
              <a:t>柏林国际消费类电子展览会）发布该款芯片后，首次在国内进行该芯片的宣讲</a:t>
            </a:r>
            <a:r>
              <a:rPr lang="zh-CN" altLang="en-US" sz="2600" b="1" dirty="0" smtClean="0">
                <a:latin typeface="楷体_GB2312" panose="02010609030101010101" pitchFamily="49" charset="-122"/>
                <a:ea typeface="楷体_GB2312" panose="02010609030101010101" pitchFamily="49" charset="-122"/>
              </a:rPr>
              <a:t>。</a:t>
            </a:r>
            <a:endParaRPr lang="en-US" altLang="zh-CN" sz="2600" b="1" dirty="0" smtClean="0">
              <a:latin typeface="楷体_GB2312" panose="02010609030101010101" pitchFamily="49" charset="-122"/>
              <a:ea typeface="楷体_GB2312" panose="02010609030101010101" pitchFamily="49" charset="-122"/>
            </a:endParaRPr>
          </a:p>
          <a:p>
            <a:r>
              <a:rPr lang="zh-CN" altLang="en-US" sz="2600" b="1" dirty="0">
                <a:latin typeface="楷体_GB2312" panose="02010609030101010101" pitchFamily="49" charset="-122"/>
                <a:ea typeface="楷体_GB2312" panose="02010609030101010101" pitchFamily="49" charset="-122"/>
              </a:rPr>
              <a:t>作为全球首款人工智能（</a:t>
            </a:r>
            <a:r>
              <a:rPr lang="en-US" altLang="zh-CN" sz="2600" b="1" dirty="0">
                <a:latin typeface="楷体_GB2312" panose="02010609030101010101" pitchFamily="49" charset="-122"/>
                <a:ea typeface="楷体_GB2312" panose="02010609030101010101" pitchFamily="49" charset="-122"/>
              </a:rPr>
              <a:t>AI</a:t>
            </a:r>
            <a:r>
              <a:rPr lang="zh-CN" altLang="en-US" sz="2600" b="1" dirty="0">
                <a:latin typeface="楷体_GB2312" panose="02010609030101010101" pitchFamily="49" charset="-122"/>
                <a:ea typeface="楷体_GB2312" panose="02010609030101010101" pitchFamily="49" charset="-122"/>
              </a:rPr>
              <a:t>）通信芯片，麒麟</a:t>
            </a:r>
            <a:r>
              <a:rPr lang="en-US" altLang="zh-CN" sz="2600" b="1" dirty="0">
                <a:latin typeface="楷体_GB2312" panose="02010609030101010101" pitchFamily="49" charset="-122"/>
                <a:ea typeface="楷体_GB2312" panose="02010609030101010101" pitchFamily="49" charset="-122"/>
              </a:rPr>
              <a:t>970</a:t>
            </a:r>
            <a:r>
              <a:rPr lang="zh-CN" altLang="en-US" sz="2600" b="1" dirty="0">
                <a:latin typeface="楷体_GB2312" panose="02010609030101010101" pitchFamily="49" charset="-122"/>
                <a:ea typeface="楷体_GB2312" panose="02010609030101010101" pitchFamily="49" charset="-122"/>
              </a:rPr>
              <a:t>内置</a:t>
            </a:r>
            <a:r>
              <a:rPr lang="en-US" altLang="zh-CN" sz="2600" b="1" dirty="0">
                <a:latin typeface="楷体_GB2312" panose="02010609030101010101" pitchFamily="49" charset="-122"/>
                <a:ea typeface="楷体_GB2312" panose="02010609030101010101" pitchFamily="49" charset="-122"/>
              </a:rPr>
              <a:t>NPU</a:t>
            </a:r>
            <a:r>
              <a:rPr lang="zh-CN" altLang="en-US" sz="2600" b="1" dirty="0">
                <a:latin typeface="楷体_GB2312" panose="02010609030101010101" pitchFamily="49" charset="-122"/>
                <a:ea typeface="楷体_GB2312" panose="02010609030101010101" pitchFamily="49" charset="-122"/>
              </a:rPr>
              <a:t>（神经网络处理器）实现芯片自主深度学习。采用</a:t>
            </a:r>
            <a:r>
              <a:rPr lang="en-US" altLang="zh-CN" sz="2600" b="1" dirty="0">
                <a:latin typeface="楷体_GB2312" panose="02010609030101010101" pitchFamily="49" charset="-122"/>
                <a:ea typeface="楷体_GB2312" panose="02010609030101010101" pitchFamily="49" charset="-122"/>
              </a:rPr>
              <a:t>10nm</a:t>
            </a:r>
            <a:r>
              <a:rPr lang="zh-CN" altLang="en-US" sz="2600" b="1" dirty="0">
                <a:latin typeface="楷体_GB2312" panose="02010609030101010101" pitchFamily="49" charset="-122"/>
                <a:ea typeface="楷体_GB2312" panose="02010609030101010101" pitchFamily="49" charset="-122"/>
              </a:rPr>
              <a:t>制程工艺，该芯片集成晶体管数量达</a:t>
            </a:r>
            <a:r>
              <a:rPr lang="en-US" altLang="zh-CN" sz="2600" b="1" dirty="0">
                <a:latin typeface="楷体_GB2312" panose="02010609030101010101" pitchFamily="49" charset="-122"/>
                <a:ea typeface="楷体_GB2312" panose="02010609030101010101" pitchFamily="49" charset="-122"/>
              </a:rPr>
              <a:t>55</a:t>
            </a:r>
            <a:r>
              <a:rPr lang="zh-CN" altLang="en-US" sz="2600" b="1" dirty="0">
                <a:latin typeface="楷体_GB2312" panose="02010609030101010101" pitchFamily="49" charset="-122"/>
                <a:ea typeface="楷体_GB2312" panose="02010609030101010101" pitchFamily="49" charset="-122"/>
              </a:rPr>
              <a:t>亿颗，是高通骁龙</a:t>
            </a:r>
            <a:r>
              <a:rPr lang="en-US" altLang="zh-CN" sz="2600" b="1" dirty="0">
                <a:latin typeface="楷体_GB2312" panose="02010609030101010101" pitchFamily="49" charset="-122"/>
                <a:ea typeface="楷体_GB2312" panose="02010609030101010101" pitchFamily="49" charset="-122"/>
              </a:rPr>
              <a:t>835</a:t>
            </a:r>
            <a:r>
              <a:rPr lang="zh-CN" altLang="en-US" sz="2600" b="1" dirty="0">
                <a:latin typeface="楷体_GB2312" panose="02010609030101010101" pitchFamily="49" charset="-122"/>
                <a:ea typeface="楷体_GB2312" panose="02010609030101010101" pitchFamily="49" charset="-122"/>
              </a:rPr>
              <a:t>（</a:t>
            </a:r>
            <a:r>
              <a:rPr lang="en-US" altLang="zh-CN" sz="2600" b="1" dirty="0">
                <a:latin typeface="楷体_GB2312" panose="02010609030101010101" pitchFamily="49" charset="-122"/>
                <a:ea typeface="楷体_GB2312" panose="02010609030101010101" pitchFamily="49" charset="-122"/>
              </a:rPr>
              <a:t>31</a:t>
            </a:r>
            <a:r>
              <a:rPr lang="zh-CN" altLang="en-US" sz="2600" b="1" dirty="0">
                <a:latin typeface="楷体_GB2312" panose="02010609030101010101" pitchFamily="49" charset="-122"/>
                <a:ea typeface="楷体_GB2312" panose="02010609030101010101" pitchFamily="49" charset="-122"/>
              </a:rPr>
              <a:t>亿颗）的</a:t>
            </a:r>
            <a:r>
              <a:rPr lang="en-US" altLang="zh-CN" sz="2600" b="1" dirty="0">
                <a:latin typeface="楷体_GB2312" panose="02010609030101010101" pitchFamily="49" charset="-122"/>
                <a:ea typeface="楷体_GB2312" panose="02010609030101010101" pitchFamily="49" charset="-122"/>
              </a:rPr>
              <a:t>1.77</a:t>
            </a:r>
            <a:r>
              <a:rPr lang="zh-CN" altLang="en-US" sz="2600" b="1" dirty="0">
                <a:latin typeface="楷体_GB2312" panose="02010609030101010101" pitchFamily="49" charset="-122"/>
                <a:ea typeface="楷体_GB2312" panose="02010609030101010101" pitchFamily="49" charset="-122"/>
              </a:rPr>
              <a:t>倍、苹果</a:t>
            </a:r>
            <a:r>
              <a:rPr lang="en-US" altLang="zh-CN" sz="2600" b="1" dirty="0">
                <a:latin typeface="楷体_GB2312" panose="02010609030101010101" pitchFamily="49" charset="-122"/>
                <a:ea typeface="楷体_GB2312" panose="02010609030101010101" pitchFamily="49" charset="-122"/>
              </a:rPr>
              <a:t>A11</a:t>
            </a:r>
            <a:r>
              <a:rPr lang="zh-CN" altLang="en-US" sz="2600" b="1" dirty="0">
                <a:latin typeface="楷体_GB2312" panose="02010609030101010101" pitchFamily="49" charset="-122"/>
                <a:ea typeface="楷体_GB2312" panose="02010609030101010101" pitchFamily="49" charset="-122"/>
              </a:rPr>
              <a:t>（</a:t>
            </a:r>
            <a:r>
              <a:rPr lang="en-US" altLang="zh-CN" sz="2600" b="1" dirty="0">
                <a:latin typeface="楷体_GB2312" panose="02010609030101010101" pitchFamily="49" charset="-122"/>
                <a:ea typeface="楷体_GB2312" panose="02010609030101010101" pitchFamily="49" charset="-122"/>
              </a:rPr>
              <a:t>43</a:t>
            </a:r>
            <a:r>
              <a:rPr lang="zh-CN" altLang="en-US" sz="2600" b="1" dirty="0">
                <a:latin typeface="楷体_GB2312" panose="02010609030101010101" pitchFamily="49" charset="-122"/>
                <a:ea typeface="楷体_GB2312" panose="02010609030101010101" pitchFamily="49" charset="-122"/>
              </a:rPr>
              <a:t>亿颗）的</a:t>
            </a:r>
            <a:r>
              <a:rPr lang="en-US" altLang="zh-CN" sz="2600" b="1" dirty="0">
                <a:latin typeface="楷体_GB2312" panose="02010609030101010101" pitchFamily="49" charset="-122"/>
                <a:ea typeface="楷体_GB2312" panose="02010609030101010101" pitchFamily="49" charset="-122"/>
              </a:rPr>
              <a:t>1.28</a:t>
            </a:r>
            <a:r>
              <a:rPr lang="zh-CN" altLang="en-US" sz="2600" b="1" dirty="0">
                <a:latin typeface="楷体_GB2312" panose="02010609030101010101" pitchFamily="49" charset="-122"/>
                <a:ea typeface="楷体_GB2312" panose="02010609030101010101" pitchFamily="49" charset="-122"/>
              </a:rPr>
              <a:t>倍</a:t>
            </a:r>
            <a:r>
              <a:rPr lang="zh-CN" altLang="en-US" sz="2600" b="1" dirty="0" smtClean="0">
                <a:latin typeface="楷体_GB2312" panose="02010609030101010101" pitchFamily="49" charset="-122"/>
                <a:ea typeface="楷体_GB2312" panose="02010609030101010101" pitchFamily="49" charset="-122"/>
              </a:rPr>
              <a:t>。</a:t>
            </a:r>
            <a:endParaRPr lang="en-US" altLang="zh-CN" sz="2600" b="1" dirty="0" smtClean="0">
              <a:latin typeface="楷体_GB2312" panose="02010609030101010101" pitchFamily="49" charset="-122"/>
              <a:ea typeface="楷体_GB2312" panose="02010609030101010101" pitchFamily="49" charset="-122"/>
            </a:endParaRPr>
          </a:p>
          <a:p>
            <a:r>
              <a:rPr lang="zh-CN" altLang="en-US" sz="2600" b="1" dirty="0">
                <a:latin typeface="楷体_GB2312" panose="02010609030101010101" pitchFamily="49" charset="-122"/>
                <a:ea typeface="楷体_GB2312" panose="02010609030101010101" pitchFamily="49" charset="-122"/>
              </a:rPr>
              <a:t>内置</a:t>
            </a:r>
            <a:r>
              <a:rPr lang="en-US" altLang="zh-CN" sz="2600" b="1" dirty="0">
                <a:latin typeface="楷体_GB2312" panose="02010609030101010101" pitchFamily="49" charset="-122"/>
                <a:ea typeface="楷体_GB2312" panose="02010609030101010101" pitchFamily="49" charset="-122"/>
              </a:rPr>
              <a:t>NPU</a:t>
            </a:r>
            <a:r>
              <a:rPr lang="zh-CN" altLang="en-US" sz="2600" b="1" dirty="0">
                <a:latin typeface="楷体_GB2312" panose="02010609030101010101" pitchFamily="49" charset="-122"/>
                <a:ea typeface="楷体_GB2312" panose="02010609030101010101" pitchFamily="49" charset="-122"/>
              </a:rPr>
              <a:t>使麒麟</a:t>
            </a:r>
            <a:r>
              <a:rPr lang="en-US" altLang="zh-CN" sz="2600" b="1" dirty="0">
                <a:latin typeface="楷体_GB2312" panose="02010609030101010101" pitchFamily="49" charset="-122"/>
                <a:ea typeface="楷体_GB2312" panose="02010609030101010101" pitchFamily="49" charset="-122"/>
              </a:rPr>
              <a:t>970</a:t>
            </a:r>
            <a:r>
              <a:rPr lang="zh-CN" altLang="en-US" sz="2600" b="1" dirty="0">
                <a:latin typeface="楷体_GB2312" panose="02010609030101010101" pitchFamily="49" charset="-122"/>
                <a:ea typeface="楷体_GB2312" panose="02010609030101010101" pitchFamily="49" charset="-122"/>
              </a:rPr>
              <a:t>的处理图像速度比单独</a:t>
            </a:r>
            <a:r>
              <a:rPr lang="en-US" altLang="zh-CN" sz="2600" b="1" dirty="0">
                <a:latin typeface="楷体_GB2312" panose="02010609030101010101" pitchFamily="49" charset="-122"/>
                <a:ea typeface="楷体_GB2312" panose="02010609030101010101" pitchFamily="49" charset="-122"/>
              </a:rPr>
              <a:t>CPU</a:t>
            </a:r>
            <a:r>
              <a:rPr lang="zh-CN" altLang="en-US" sz="2600" b="1" dirty="0">
                <a:latin typeface="楷体_GB2312" panose="02010609030101010101" pitchFamily="49" charset="-122"/>
                <a:ea typeface="楷体_GB2312" panose="02010609030101010101" pitchFamily="49" charset="-122"/>
              </a:rPr>
              <a:t>（中央处理器）快</a:t>
            </a:r>
            <a:r>
              <a:rPr lang="en-US" altLang="zh-CN" sz="2600" b="1" dirty="0">
                <a:latin typeface="楷体_GB2312" panose="02010609030101010101" pitchFamily="49" charset="-122"/>
                <a:ea typeface="楷体_GB2312" panose="02010609030101010101" pitchFamily="49" charset="-122"/>
              </a:rPr>
              <a:t>20</a:t>
            </a:r>
            <a:r>
              <a:rPr lang="zh-CN" altLang="en-US" sz="2600" b="1" dirty="0">
                <a:latin typeface="楷体_GB2312" panose="02010609030101010101" pitchFamily="49" charset="-122"/>
                <a:ea typeface="楷体_GB2312" panose="02010609030101010101" pitchFamily="49" charset="-122"/>
              </a:rPr>
              <a:t>倍。华为给出的内部测试数据显示，用于图像识别时，麒麟</a:t>
            </a:r>
            <a:r>
              <a:rPr lang="en-US" altLang="zh-CN" sz="2600" b="1" dirty="0">
                <a:latin typeface="楷体_GB2312" panose="02010609030101010101" pitchFamily="49" charset="-122"/>
                <a:ea typeface="楷体_GB2312" panose="02010609030101010101" pitchFamily="49" charset="-122"/>
              </a:rPr>
              <a:t>970</a:t>
            </a:r>
            <a:r>
              <a:rPr lang="zh-CN" altLang="en-US" sz="2600" b="1" dirty="0">
                <a:latin typeface="楷体_GB2312" panose="02010609030101010101" pitchFamily="49" charset="-122"/>
                <a:ea typeface="楷体_GB2312" panose="02010609030101010101" pitchFamily="49" charset="-122"/>
              </a:rPr>
              <a:t>每分钟处理的图像可达</a:t>
            </a:r>
            <a:r>
              <a:rPr lang="en-US" altLang="zh-CN" sz="2600" b="1" dirty="0">
                <a:latin typeface="楷体_GB2312" panose="02010609030101010101" pitchFamily="49" charset="-122"/>
                <a:ea typeface="楷体_GB2312" panose="02010609030101010101" pitchFamily="49" charset="-122"/>
              </a:rPr>
              <a:t>2005</a:t>
            </a:r>
            <a:r>
              <a:rPr lang="zh-CN" altLang="en-US" sz="2600" b="1" dirty="0">
                <a:latin typeface="楷体_GB2312" panose="02010609030101010101" pitchFamily="49" charset="-122"/>
                <a:ea typeface="楷体_GB2312" panose="02010609030101010101" pitchFamily="49" charset="-122"/>
              </a:rPr>
              <a:t>张，这个处理速度远高于三星</a:t>
            </a:r>
            <a:r>
              <a:rPr lang="en-US" altLang="zh-CN" sz="2600" b="1" dirty="0">
                <a:latin typeface="楷体_GB2312" panose="02010609030101010101" pitchFamily="49" charset="-122"/>
                <a:ea typeface="楷体_GB2312" panose="02010609030101010101" pitchFamily="49" charset="-122"/>
              </a:rPr>
              <a:t>S8CPU</a:t>
            </a:r>
            <a:r>
              <a:rPr lang="zh-CN" altLang="en-US" sz="2600" b="1" dirty="0">
                <a:latin typeface="楷体_GB2312" panose="02010609030101010101" pitchFamily="49" charset="-122"/>
                <a:ea typeface="楷体_GB2312" panose="02010609030101010101" pitchFamily="49" charset="-122"/>
              </a:rPr>
              <a:t>的</a:t>
            </a:r>
            <a:r>
              <a:rPr lang="en-US" altLang="zh-CN" sz="2600" b="1" dirty="0">
                <a:latin typeface="楷体_GB2312" panose="02010609030101010101" pitchFamily="49" charset="-122"/>
                <a:ea typeface="楷体_GB2312" panose="02010609030101010101" pitchFamily="49" charset="-122"/>
              </a:rPr>
              <a:t>95</a:t>
            </a:r>
            <a:r>
              <a:rPr lang="zh-CN" altLang="en-US" sz="2600" b="1" dirty="0">
                <a:latin typeface="楷体_GB2312" panose="02010609030101010101" pitchFamily="49" charset="-122"/>
                <a:ea typeface="楷体_GB2312" panose="02010609030101010101" pitchFamily="49" charset="-122"/>
              </a:rPr>
              <a:t>张</a:t>
            </a:r>
            <a:r>
              <a:rPr lang="en-US" altLang="zh-CN" sz="2600" b="1" dirty="0">
                <a:latin typeface="楷体_GB2312" panose="02010609030101010101" pitchFamily="49" charset="-122"/>
                <a:ea typeface="楷体_GB2312" panose="02010609030101010101" pitchFamily="49" charset="-122"/>
              </a:rPr>
              <a:t>/</a:t>
            </a:r>
            <a:r>
              <a:rPr lang="zh-CN" altLang="en-US" sz="2600" b="1" dirty="0">
                <a:latin typeface="楷体_GB2312" panose="02010609030101010101" pitchFamily="49" charset="-122"/>
                <a:ea typeface="楷体_GB2312" panose="02010609030101010101" pitchFamily="49" charset="-122"/>
              </a:rPr>
              <a:t>分钟，也高于</a:t>
            </a:r>
            <a:r>
              <a:rPr lang="en-US" altLang="zh-CN" sz="2600" b="1" dirty="0">
                <a:latin typeface="楷体_GB2312" panose="02010609030101010101" pitchFamily="49" charset="-122"/>
                <a:ea typeface="楷体_GB2312" panose="02010609030101010101" pitchFamily="49" charset="-122"/>
              </a:rPr>
              <a:t>iPhone 7 Plus</a:t>
            </a:r>
            <a:r>
              <a:rPr lang="zh-CN" altLang="en-US" sz="2600" b="1" dirty="0">
                <a:latin typeface="楷体_GB2312" panose="02010609030101010101" pitchFamily="49" charset="-122"/>
                <a:ea typeface="楷体_GB2312" panose="02010609030101010101" pitchFamily="49" charset="-122"/>
              </a:rPr>
              <a:t>的</a:t>
            </a:r>
            <a:r>
              <a:rPr lang="en-US" altLang="zh-CN" sz="2600" b="1" dirty="0">
                <a:latin typeface="楷体_GB2312" panose="02010609030101010101" pitchFamily="49" charset="-122"/>
                <a:ea typeface="楷体_GB2312" panose="02010609030101010101" pitchFamily="49" charset="-122"/>
              </a:rPr>
              <a:t>487</a:t>
            </a:r>
            <a:r>
              <a:rPr lang="zh-CN" altLang="en-US" sz="2600" b="1" dirty="0">
                <a:latin typeface="楷体_GB2312" panose="02010609030101010101" pitchFamily="49" charset="-122"/>
                <a:ea typeface="楷体_GB2312" panose="02010609030101010101" pitchFamily="49" charset="-122"/>
              </a:rPr>
              <a:t>张</a:t>
            </a:r>
            <a:r>
              <a:rPr lang="en-US" altLang="zh-CN" sz="2600" b="1" dirty="0">
                <a:latin typeface="楷体_GB2312" panose="02010609030101010101" pitchFamily="49" charset="-122"/>
                <a:ea typeface="楷体_GB2312" panose="02010609030101010101" pitchFamily="49" charset="-122"/>
              </a:rPr>
              <a:t>/</a:t>
            </a:r>
            <a:r>
              <a:rPr lang="zh-CN" altLang="en-US" sz="2600" b="1" dirty="0">
                <a:latin typeface="楷体_GB2312" panose="02010609030101010101" pitchFamily="49" charset="-122"/>
                <a:ea typeface="楷体_GB2312" panose="02010609030101010101" pitchFamily="49" charset="-122"/>
              </a:rPr>
              <a:t>分钟。</a:t>
            </a:r>
          </a:p>
        </p:txBody>
      </p:sp>
    </p:spTree>
    <p:extLst>
      <p:ext uri="{BB962C8B-B14F-4D97-AF65-F5344CB8AC3E}">
        <p14:creationId xmlns:p14="http://schemas.microsoft.com/office/powerpoint/2010/main" val="10896030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548680"/>
            <a:ext cx="8305800" cy="5400600"/>
          </a:xfrm>
        </p:spPr>
        <p:txBody>
          <a:bodyPr/>
          <a:lstStyle/>
          <a:p>
            <a:r>
              <a:rPr lang="zh-CN" altLang="en-US" sz="2800" b="1" dirty="0">
                <a:latin typeface="楷体_GB2312" panose="02010609030101010101" pitchFamily="49" charset="-122"/>
                <a:ea typeface="楷体_GB2312" panose="02010609030101010101" pitchFamily="49" charset="-122"/>
              </a:rPr>
              <a:t>苹果、高通、展讯等手机芯片厂商都敏锐地洞察到了</a:t>
            </a:r>
            <a:r>
              <a:rPr lang="en-US" altLang="zh-CN" sz="2800" b="1" dirty="0">
                <a:latin typeface="楷体_GB2312" panose="02010609030101010101" pitchFamily="49" charset="-122"/>
                <a:ea typeface="楷体_GB2312" panose="02010609030101010101" pitchFamily="49" charset="-122"/>
              </a:rPr>
              <a:t>AI</a:t>
            </a:r>
            <a:r>
              <a:rPr lang="zh-CN" altLang="en-US" sz="2800" b="1" dirty="0">
                <a:latin typeface="楷体_GB2312" panose="02010609030101010101" pitchFamily="49" charset="-122"/>
                <a:ea typeface="楷体_GB2312" panose="02010609030101010101" pitchFamily="49" charset="-122"/>
              </a:rPr>
              <a:t>的机遇。以苹果为例，其在最新的</a:t>
            </a:r>
            <a:r>
              <a:rPr lang="en-US" altLang="zh-CN" sz="2800" b="1" dirty="0">
                <a:latin typeface="楷体_GB2312" panose="02010609030101010101" pitchFamily="49" charset="-122"/>
                <a:ea typeface="楷体_GB2312" panose="02010609030101010101" pitchFamily="49" charset="-122"/>
              </a:rPr>
              <a:t>A11</a:t>
            </a:r>
            <a:r>
              <a:rPr lang="zh-CN" altLang="en-US" sz="2800" b="1" dirty="0">
                <a:latin typeface="楷体_GB2312" panose="02010609030101010101" pitchFamily="49" charset="-122"/>
                <a:ea typeface="楷体_GB2312" panose="02010609030101010101" pitchFamily="49" charset="-122"/>
              </a:rPr>
              <a:t>处理器中采用了</a:t>
            </a:r>
            <a:r>
              <a:rPr lang="en-US" altLang="zh-CN" sz="2800" b="1" dirty="0">
                <a:latin typeface="楷体_GB2312" panose="02010609030101010101" pitchFamily="49" charset="-122"/>
                <a:ea typeface="楷体_GB2312" panose="02010609030101010101" pitchFamily="49" charset="-122"/>
              </a:rPr>
              <a:t>AI</a:t>
            </a:r>
            <a:r>
              <a:rPr lang="zh-CN" altLang="en-US" sz="2800" b="1" dirty="0">
                <a:latin typeface="楷体_GB2312" panose="02010609030101010101" pitchFamily="49" charset="-122"/>
                <a:ea typeface="楷体_GB2312" panose="02010609030101010101" pitchFamily="49" charset="-122"/>
              </a:rPr>
              <a:t>技术，其中，苹果独立设计的首款三核</a:t>
            </a:r>
            <a:r>
              <a:rPr lang="en-US" altLang="zh-CN" sz="2800" b="1" dirty="0">
                <a:latin typeface="楷体_GB2312" panose="02010609030101010101" pitchFamily="49" charset="-122"/>
                <a:ea typeface="楷体_GB2312" panose="02010609030101010101" pitchFamily="49" charset="-122"/>
              </a:rPr>
              <a:t>GPU</a:t>
            </a:r>
            <a:r>
              <a:rPr lang="zh-CN" altLang="en-US" sz="2800" b="1" dirty="0">
                <a:latin typeface="楷体_GB2312" panose="02010609030101010101" pitchFamily="49" charset="-122"/>
                <a:ea typeface="楷体_GB2312" panose="02010609030101010101" pitchFamily="49" charset="-122"/>
              </a:rPr>
              <a:t>（图形处理器）速度比</a:t>
            </a:r>
            <a:r>
              <a:rPr lang="en-US" altLang="zh-CN" sz="2800" b="1" dirty="0">
                <a:latin typeface="楷体_GB2312" panose="02010609030101010101" pitchFamily="49" charset="-122"/>
                <a:ea typeface="楷体_GB2312" panose="02010609030101010101" pitchFamily="49" charset="-122"/>
              </a:rPr>
              <a:t>iPhone 7</a:t>
            </a:r>
            <a:r>
              <a:rPr lang="zh-CN" altLang="en-US" sz="2800" b="1" dirty="0">
                <a:latin typeface="楷体_GB2312" panose="02010609030101010101" pitchFamily="49" charset="-122"/>
                <a:ea typeface="楷体_GB2312" panose="02010609030101010101" pitchFamily="49" charset="-122"/>
              </a:rPr>
              <a:t>采用的</a:t>
            </a:r>
            <a:r>
              <a:rPr lang="en-US" altLang="zh-CN" sz="2800" b="1" dirty="0">
                <a:latin typeface="楷体_GB2312" panose="02010609030101010101" pitchFamily="49" charset="-122"/>
                <a:ea typeface="楷体_GB2312" panose="02010609030101010101" pitchFamily="49" charset="-122"/>
              </a:rPr>
              <a:t>GPU</a:t>
            </a:r>
            <a:r>
              <a:rPr lang="zh-CN" altLang="en-US" sz="2800" b="1" dirty="0">
                <a:latin typeface="楷体_GB2312" panose="02010609030101010101" pitchFamily="49" charset="-122"/>
                <a:ea typeface="楷体_GB2312" panose="02010609030101010101" pitchFamily="49" charset="-122"/>
              </a:rPr>
              <a:t>速度快了</a:t>
            </a:r>
            <a:r>
              <a:rPr lang="en-US" altLang="zh-CN" sz="2800" b="1" dirty="0">
                <a:latin typeface="楷体_GB2312" panose="02010609030101010101" pitchFamily="49" charset="-122"/>
                <a:ea typeface="楷体_GB2312" panose="02010609030101010101" pitchFamily="49" charset="-122"/>
              </a:rPr>
              <a:t>30%</a:t>
            </a:r>
            <a:r>
              <a:rPr lang="zh-CN" altLang="en-US" sz="2800" b="1" dirty="0" smtClean="0">
                <a:latin typeface="楷体_GB2312" panose="02010609030101010101" pitchFamily="49" charset="-122"/>
                <a:ea typeface="楷体_GB2312" panose="02010609030101010101" pitchFamily="49" charset="-122"/>
              </a:rPr>
              <a:t>。</a:t>
            </a:r>
            <a:endParaRPr lang="en-US" altLang="zh-CN" sz="2800" b="1" dirty="0" smtClean="0">
              <a:latin typeface="楷体_GB2312" panose="02010609030101010101" pitchFamily="49" charset="-122"/>
              <a:ea typeface="楷体_GB2312" panose="02010609030101010101" pitchFamily="49" charset="-122"/>
            </a:endParaRPr>
          </a:p>
          <a:p>
            <a:r>
              <a:rPr lang="zh-CN" altLang="en-US" sz="2800" b="1" dirty="0">
                <a:latin typeface="楷体_GB2312" panose="02010609030101010101" pitchFamily="49" charset="-122"/>
                <a:ea typeface="楷体_GB2312" panose="02010609030101010101" pitchFamily="49" charset="-122"/>
              </a:rPr>
              <a:t>在业内人士看来，手机领域将因为</a:t>
            </a:r>
            <a:r>
              <a:rPr lang="en-US" altLang="zh-CN" sz="2800" b="1" dirty="0">
                <a:latin typeface="楷体_GB2312" panose="02010609030101010101" pitchFamily="49" charset="-122"/>
                <a:ea typeface="楷体_GB2312" panose="02010609030101010101" pitchFamily="49" charset="-122"/>
              </a:rPr>
              <a:t>AI</a:t>
            </a:r>
            <a:r>
              <a:rPr lang="zh-CN" altLang="en-US" sz="2800" b="1" dirty="0">
                <a:latin typeface="楷体_GB2312" panose="02010609030101010101" pitchFamily="49" charset="-122"/>
                <a:ea typeface="楷体_GB2312" panose="02010609030101010101" pitchFamily="49" charset="-122"/>
              </a:rPr>
              <a:t>而出现质的变化，苹果和华为则开启了手机的人工智能时代。“这是大的趋势，接下来在中高端机型上，大家都会采用</a:t>
            </a:r>
            <a:r>
              <a:rPr lang="en-US" altLang="zh-CN" sz="2800" b="1" dirty="0">
                <a:latin typeface="楷体_GB2312" panose="02010609030101010101" pitchFamily="49" charset="-122"/>
                <a:ea typeface="楷体_GB2312" panose="02010609030101010101" pitchFamily="49" charset="-122"/>
              </a:rPr>
              <a:t>AI</a:t>
            </a:r>
            <a:r>
              <a:rPr lang="zh-CN" altLang="en-US" sz="2800" b="1" dirty="0">
                <a:latin typeface="楷体_GB2312" panose="02010609030101010101" pitchFamily="49" charset="-122"/>
                <a:ea typeface="楷体_GB2312" panose="02010609030101010101" pitchFamily="49" charset="-122"/>
              </a:rPr>
              <a:t>芯片。”传音控股预研总监郭辉奇在接受记者采访时表示。郭辉奇进一步解释，不仅是苹果、华为，其实小米、</a:t>
            </a:r>
            <a:r>
              <a:rPr lang="en-US" altLang="zh-CN" sz="2800" b="1" dirty="0">
                <a:latin typeface="楷体_GB2312" panose="02010609030101010101" pitchFamily="49" charset="-122"/>
                <a:ea typeface="楷体_GB2312" panose="02010609030101010101" pitchFamily="49" charset="-122"/>
              </a:rPr>
              <a:t>VIVO</a:t>
            </a:r>
            <a:r>
              <a:rPr lang="zh-CN" altLang="en-US" sz="2800" b="1" dirty="0">
                <a:latin typeface="楷体_GB2312" panose="02010609030101010101" pitchFamily="49" charset="-122"/>
                <a:ea typeface="楷体_GB2312" panose="02010609030101010101" pitchFamily="49" charset="-122"/>
              </a:rPr>
              <a:t>等在近期发布的旗舰机型中均已采用</a:t>
            </a:r>
            <a:r>
              <a:rPr lang="en-US" altLang="zh-CN" sz="2800" b="1" dirty="0">
                <a:latin typeface="楷体_GB2312" panose="02010609030101010101" pitchFamily="49" charset="-122"/>
                <a:ea typeface="楷体_GB2312" panose="02010609030101010101" pitchFamily="49" charset="-122"/>
              </a:rPr>
              <a:t>AI</a:t>
            </a:r>
            <a:r>
              <a:rPr lang="zh-CN" altLang="en-US" sz="2800" b="1" dirty="0">
                <a:latin typeface="楷体_GB2312" panose="02010609030101010101" pitchFamily="49" charset="-122"/>
                <a:ea typeface="楷体_GB2312" panose="02010609030101010101" pitchFamily="49" charset="-122"/>
              </a:rPr>
              <a:t>引擎。</a:t>
            </a:r>
          </a:p>
        </p:txBody>
      </p:sp>
    </p:spTree>
    <p:extLst>
      <p:ext uri="{BB962C8B-B14F-4D97-AF65-F5344CB8AC3E}">
        <p14:creationId xmlns:p14="http://schemas.microsoft.com/office/powerpoint/2010/main" val="42054876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457200"/>
            <a:ext cx="8305800" cy="811560"/>
          </a:xfrm>
        </p:spPr>
        <p:txBody>
          <a:bodyPr/>
          <a:lstStyle/>
          <a:p>
            <a:r>
              <a:rPr lang="zh-CN" altLang="en-US" b="1" dirty="0"/>
              <a:t>汽车</a:t>
            </a:r>
            <a:r>
              <a:rPr lang="en-US" altLang="zh-CN" b="1" dirty="0"/>
              <a:t>AI</a:t>
            </a:r>
            <a:r>
              <a:rPr lang="zh-CN" altLang="en-US" b="1" dirty="0"/>
              <a:t>芯片充满想象</a:t>
            </a:r>
            <a:r>
              <a:rPr lang="zh-CN" altLang="en-US" b="1" dirty="0" smtClean="0"/>
              <a:t>空间</a:t>
            </a:r>
            <a:endParaRPr lang="zh-CN" altLang="en-US" dirty="0"/>
          </a:p>
        </p:txBody>
      </p:sp>
      <p:sp>
        <p:nvSpPr>
          <p:cNvPr id="3" name="文本占位符 2"/>
          <p:cNvSpPr>
            <a:spLocks noGrp="1"/>
          </p:cNvSpPr>
          <p:nvPr>
            <p:ph type="body" idx="1"/>
          </p:nvPr>
        </p:nvSpPr>
        <p:spPr>
          <a:xfrm>
            <a:off x="395536" y="1412776"/>
            <a:ext cx="8305800" cy="4536504"/>
          </a:xfrm>
        </p:spPr>
        <p:txBody>
          <a:bodyPr/>
          <a:lstStyle/>
          <a:p>
            <a:r>
              <a:rPr lang="zh-CN" altLang="en-US" sz="2800" dirty="0" smtClean="0">
                <a:latin typeface="楷体_GB2312" panose="02010609030101010101" pitchFamily="49" charset="-122"/>
                <a:ea typeface="楷体_GB2312" panose="02010609030101010101" pitchFamily="49" charset="-122"/>
              </a:rPr>
              <a:t>随着</a:t>
            </a:r>
            <a:r>
              <a:rPr lang="zh-CN" altLang="en-US" sz="2800" dirty="0">
                <a:latin typeface="楷体_GB2312" panose="02010609030101010101" pitchFamily="49" charset="-122"/>
                <a:ea typeface="楷体_GB2312" panose="02010609030101010101" pitchFamily="49" charset="-122"/>
              </a:rPr>
              <a:t>计算能力和通信能力的大幅提升，自动驾驶已成为被广泛看好的</a:t>
            </a:r>
            <a:r>
              <a:rPr lang="en-US" altLang="zh-CN" sz="2800" dirty="0">
                <a:latin typeface="楷体_GB2312" panose="02010609030101010101" pitchFamily="49" charset="-122"/>
                <a:ea typeface="楷体_GB2312" panose="02010609030101010101" pitchFamily="49" charset="-122"/>
              </a:rPr>
              <a:t>AI</a:t>
            </a:r>
            <a:r>
              <a:rPr lang="zh-CN" altLang="en-US" sz="2800" dirty="0">
                <a:latin typeface="楷体_GB2312" panose="02010609030101010101" pitchFamily="49" charset="-122"/>
                <a:ea typeface="楷体_GB2312" panose="02010609030101010101" pitchFamily="49" charset="-122"/>
              </a:rPr>
              <a:t>应用领域，而</a:t>
            </a:r>
            <a:r>
              <a:rPr lang="zh-CN" altLang="en-US" sz="2800" b="1" dirty="0">
                <a:latin typeface="楷体_GB2312" panose="02010609030101010101" pitchFamily="49" charset="-122"/>
                <a:ea typeface="楷体_GB2312" panose="02010609030101010101" pitchFamily="49" charset="-122"/>
              </a:rPr>
              <a:t>“芯片</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算法”</a:t>
            </a:r>
            <a:r>
              <a:rPr lang="zh-CN" altLang="en-US" sz="2800" dirty="0">
                <a:latin typeface="楷体_GB2312" panose="02010609030101010101" pitchFamily="49" charset="-122"/>
                <a:ea typeface="楷体_GB2312" panose="02010609030101010101" pitchFamily="49" charset="-122"/>
              </a:rPr>
              <a:t>是其关键点。</a:t>
            </a:r>
          </a:p>
          <a:p>
            <a:r>
              <a:rPr lang="zh-CN" altLang="en-US" sz="2800" dirty="0">
                <a:latin typeface="楷体_GB2312" panose="02010609030101010101" pitchFamily="49" charset="-122"/>
                <a:ea typeface="楷体_GB2312" panose="02010609030101010101" pitchFamily="49" charset="-122"/>
              </a:rPr>
              <a:t>近日，格罗方德（</a:t>
            </a:r>
            <a:r>
              <a:rPr lang="en-US" altLang="zh-CN" sz="2800" dirty="0">
                <a:latin typeface="楷体_GB2312" panose="02010609030101010101" pitchFamily="49" charset="-122"/>
                <a:ea typeface="楷体_GB2312" panose="02010609030101010101" pitchFamily="49" charset="-122"/>
              </a:rPr>
              <a:t>Global foundries</a:t>
            </a:r>
            <a:r>
              <a:rPr lang="zh-CN" altLang="en-US" sz="2800" dirty="0">
                <a:latin typeface="楷体_GB2312" panose="02010609030101010101" pitchFamily="49" charset="-122"/>
                <a:ea typeface="楷体_GB2312" panose="02010609030101010101" pitchFamily="49" charset="-122"/>
              </a:rPr>
              <a:t>）首席执行官</a:t>
            </a:r>
            <a:r>
              <a:rPr lang="en-US" altLang="zh-CN" sz="2800" dirty="0">
                <a:latin typeface="楷体_GB2312" panose="02010609030101010101" pitchFamily="49" charset="-122"/>
                <a:ea typeface="楷体_GB2312" panose="02010609030101010101" pitchFamily="49" charset="-122"/>
              </a:rPr>
              <a:t>Sanjay </a:t>
            </a:r>
            <a:r>
              <a:rPr lang="en-US" altLang="zh-CN" sz="2800" dirty="0" err="1">
                <a:latin typeface="楷体_GB2312" panose="02010609030101010101" pitchFamily="49" charset="-122"/>
                <a:ea typeface="楷体_GB2312" panose="02010609030101010101" pitchFamily="49" charset="-122"/>
              </a:rPr>
              <a:t>Jha</a:t>
            </a:r>
            <a:r>
              <a:rPr lang="zh-CN" altLang="en-US" sz="2800" dirty="0">
                <a:latin typeface="楷体_GB2312" panose="02010609030101010101" pitchFamily="49" charset="-122"/>
                <a:ea typeface="楷体_GB2312" panose="02010609030101010101" pitchFamily="49" charset="-122"/>
              </a:rPr>
              <a:t>透露，特斯拉正与美国超威半导体公司（</a:t>
            </a:r>
            <a:r>
              <a:rPr lang="en-US" altLang="zh-CN" sz="2800" dirty="0">
                <a:latin typeface="楷体_GB2312" panose="02010609030101010101" pitchFamily="49" charset="-122"/>
                <a:ea typeface="楷体_GB2312" panose="02010609030101010101" pitchFamily="49" charset="-122"/>
              </a:rPr>
              <a:t>AMD</a:t>
            </a:r>
            <a:r>
              <a:rPr lang="zh-CN" altLang="en-US" sz="2800" dirty="0">
                <a:latin typeface="楷体_GB2312" panose="02010609030101010101" pitchFamily="49" charset="-122"/>
                <a:ea typeface="楷体_GB2312" panose="02010609030101010101" pitchFamily="49" charset="-122"/>
              </a:rPr>
              <a:t>）联合开发人工智能芯片</a:t>
            </a:r>
            <a:r>
              <a:rPr lang="zh-CN" altLang="en-US" sz="2800" dirty="0" smtClean="0">
                <a:latin typeface="楷体_GB2312" panose="02010609030101010101" pitchFamily="49" charset="-122"/>
                <a:ea typeface="楷体_GB2312" panose="02010609030101010101" pitchFamily="49" charset="-122"/>
              </a:rPr>
              <a:t>。</a:t>
            </a:r>
            <a:endParaRPr lang="en-US" altLang="zh-CN" sz="2800" dirty="0" smtClean="0">
              <a:latin typeface="楷体_GB2312" panose="02010609030101010101" pitchFamily="49" charset="-122"/>
              <a:ea typeface="楷体_GB2312" panose="02010609030101010101" pitchFamily="49" charset="-122"/>
            </a:endParaRPr>
          </a:p>
          <a:p>
            <a:r>
              <a:rPr lang="zh-CN" altLang="en-US" sz="2800" dirty="0" smtClean="0">
                <a:latin typeface="楷体_GB2312" panose="02010609030101010101" pitchFamily="49" charset="-122"/>
                <a:ea typeface="楷体_GB2312" panose="02010609030101010101" pitchFamily="49" charset="-122"/>
              </a:rPr>
              <a:t>目前</a:t>
            </a:r>
            <a:r>
              <a:rPr lang="zh-CN" altLang="en-US" sz="2800" dirty="0">
                <a:latin typeface="楷体_GB2312" panose="02010609030101010101" pitchFamily="49" charset="-122"/>
                <a:ea typeface="楷体_GB2312" panose="02010609030101010101" pitchFamily="49" charset="-122"/>
              </a:rPr>
              <a:t>，特斯拉的</a:t>
            </a:r>
            <a:r>
              <a:rPr lang="en-US" altLang="zh-CN" sz="2800" dirty="0">
                <a:latin typeface="楷体_GB2312" panose="02010609030101010101" pitchFamily="49" charset="-122"/>
                <a:ea typeface="楷体_GB2312" panose="02010609030101010101" pitchFamily="49" charset="-122"/>
              </a:rPr>
              <a:t>AI</a:t>
            </a:r>
            <a:r>
              <a:rPr lang="zh-CN" altLang="en-US" sz="2800" dirty="0">
                <a:latin typeface="楷体_GB2312" panose="02010609030101010101" pitchFamily="49" charset="-122"/>
                <a:ea typeface="楷体_GB2312" panose="02010609030101010101" pitchFamily="49" charset="-122"/>
              </a:rPr>
              <a:t>芯片已进入测试阶段。在自动驾驶领域，</a:t>
            </a:r>
            <a:r>
              <a:rPr lang="zh-CN" altLang="en-US" sz="2800" b="1" dirty="0">
                <a:latin typeface="楷体_GB2312" panose="02010609030101010101" pitchFamily="49" charset="-122"/>
                <a:ea typeface="楷体_GB2312" panose="02010609030101010101" pitchFamily="49" charset="-122"/>
              </a:rPr>
              <a:t>英伟达也是特斯拉的合作伙伴。正是凭借</a:t>
            </a:r>
            <a:r>
              <a:rPr lang="en-US" altLang="zh-CN" sz="2800" b="1" dirty="0">
                <a:latin typeface="楷体_GB2312" panose="02010609030101010101" pitchFamily="49" charset="-122"/>
                <a:ea typeface="楷体_GB2312" panose="02010609030101010101" pitchFamily="49" charset="-122"/>
              </a:rPr>
              <a:t>AI</a:t>
            </a:r>
            <a:r>
              <a:rPr lang="zh-CN" altLang="en-US" sz="2800" b="1" dirty="0">
                <a:latin typeface="楷体_GB2312" panose="02010609030101010101" pitchFamily="49" charset="-122"/>
                <a:ea typeface="楷体_GB2312" panose="02010609030101010101" pitchFamily="49" charset="-122"/>
              </a:rPr>
              <a:t>芯片，英伟达股价已从</a:t>
            </a:r>
            <a:r>
              <a:rPr lang="en-US" altLang="zh-CN" sz="2800" b="1" dirty="0">
                <a:latin typeface="楷体_GB2312" panose="02010609030101010101" pitchFamily="49" charset="-122"/>
                <a:ea typeface="楷体_GB2312" panose="02010609030101010101" pitchFamily="49" charset="-122"/>
              </a:rPr>
              <a:t>2016</a:t>
            </a:r>
            <a:r>
              <a:rPr lang="zh-CN" altLang="en-US" sz="2800" b="1" dirty="0">
                <a:latin typeface="楷体_GB2312" panose="02010609030101010101" pitchFamily="49" charset="-122"/>
                <a:ea typeface="楷体_GB2312" panose="02010609030101010101" pitchFamily="49" charset="-122"/>
              </a:rPr>
              <a:t>年初的约</a:t>
            </a:r>
            <a:r>
              <a:rPr lang="en-US" altLang="zh-CN" sz="2800" b="1" dirty="0">
                <a:latin typeface="楷体_GB2312" panose="02010609030101010101" pitchFamily="49" charset="-122"/>
                <a:ea typeface="楷体_GB2312" panose="02010609030101010101" pitchFamily="49" charset="-122"/>
              </a:rPr>
              <a:t>30</a:t>
            </a:r>
            <a:r>
              <a:rPr lang="zh-CN" altLang="en-US" sz="2800" b="1" dirty="0">
                <a:latin typeface="楷体_GB2312" panose="02010609030101010101" pitchFamily="49" charset="-122"/>
                <a:ea typeface="楷体_GB2312" panose="02010609030101010101" pitchFamily="49" charset="-122"/>
              </a:rPr>
              <a:t>美元，上涨到</a:t>
            </a:r>
            <a:r>
              <a:rPr lang="en-US" altLang="zh-CN" sz="2800" b="1" dirty="0">
                <a:latin typeface="楷体_GB2312" panose="02010609030101010101" pitchFamily="49" charset="-122"/>
                <a:ea typeface="楷体_GB2312" panose="02010609030101010101" pitchFamily="49" charset="-122"/>
              </a:rPr>
              <a:t>180</a:t>
            </a:r>
            <a:r>
              <a:rPr lang="zh-CN" altLang="en-US" sz="2800" b="1" dirty="0">
                <a:latin typeface="楷体_GB2312" panose="02010609030101010101" pitchFamily="49" charset="-122"/>
                <a:ea typeface="楷体_GB2312" panose="02010609030101010101" pitchFamily="49" charset="-122"/>
              </a:rPr>
              <a:t>美元左右。</a:t>
            </a:r>
          </a:p>
          <a:p>
            <a:endParaRPr lang="zh-CN" altLang="en-US" sz="280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8589846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404664"/>
            <a:ext cx="8305800" cy="5760640"/>
          </a:xfrm>
        </p:spPr>
        <p:txBody>
          <a:bodyPr/>
          <a:lstStyle/>
          <a:p>
            <a:r>
              <a:rPr lang="zh-CN" altLang="en-US" sz="2600" b="1" dirty="0">
                <a:latin typeface="楷体_GB2312" panose="02010609030101010101" pitchFamily="49" charset="-122"/>
                <a:ea typeface="楷体_GB2312" panose="02010609030101010101" pitchFamily="49" charset="-122"/>
              </a:rPr>
              <a:t>自动驾驶领域的</a:t>
            </a:r>
            <a:r>
              <a:rPr lang="en-US" altLang="zh-CN" sz="2600" b="1" dirty="0">
                <a:latin typeface="楷体_GB2312" panose="02010609030101010101" pitchFamily="49" charset="-122"/>
                <a:ea typeface="楷体_GB2312" panose="02010609030101010101" pitchFamily="49" charset="-122"/>
              </a:rPr>
              <a:t>AI</a:t>
            </a:r>
            <a:r>
              <a:rPr lang="zh-CN" altLang="en-US" sz="2600" b="1" dirty="0">
                <a:latin typeface="楷体_GB2312" panose="02010609030101010101" pitchFamily="49" charset="-122"/>
                <a:ea typeface="楷体_GB2312" panose="02010609030101010101" pitchFamily="49" charset="-122"/>
              </a:rPr>
              <a:t>应用尚需大概五年才能成熟。“目前能进入实际应用的只有一些小范围产品，如</a:t>
            </a:r>
            <a:r>
              <a:rPr lang="en-US" altLang="zh-CN" sz="2600" b="1" dirty="0">
                <a:latin typeface="楷体_GB2312" panose="02010609030101010101" pitchFamily="49" charset="-122"/>
                <a:ea typeface="楷体_GB2312" panose="02010609030101010101" pitchFamily="49" charset="-122"/>
              </a:rPr>
              <a:t>ADAS</a:t>
            </a:r>
            <a:r>
              <a:rPr lang="zh-CN" altLang="en-US" sz="2600" b="1" dirty="0">
                <a:latin typeface="楷体_GB2312" panose="02010609030101010101" pitchFamily="49" charset="-122"/>
                <a:ea typeface="楷体_GB2312" panose="02010609030101010101" pitchFamily="49" charset="-122"/>
              </a:rPr>
              <a:t>（高级驾驶辅助系统）等。而五到十年内，自动驾驶市场规模可能会突破千亿美元。”</a:t>
            </a:r>
          </a:p>
          <a:p>
            <a:r>
              <a:rPr lang="zh-CN" altLang="en-US" sz="2600" b="1" dirty="0">
                <a:latin typeface="楷体_GB2312" panose="02010609030101010101" pitchFamily="49" charset="-122"/>
                <a:ea typeface="楷体_GB2312" panose="02010609030101010101" pitchFamily="49" charset="-122"/>
              </a:rPr>
              <a:t>此前，斯坦福大学人工智能实验室主任李飞飞表示，未来五到十年，人工智能在无人驾驶、工业机器人及</a:t>
            </a:r>
            <a:r>
              <a:rPr lang="en-US" altLang="zh-CN" sz="2600" b="1" dirty="0">
                <a:latin typeface="楷体_GB2312" panose="02010609030101010101" pitchFamily="49" charset="-122"/>
                <a:ea typeface="楷体_GB2312" panose="02010609030101010101" pitchFamily="49" charset="-122"/>
              </a:rPr>
              <a:t>AR/VR</a:t>
            </a:r>
            <a:r>
              <a:rPr lang="zh-CN" altLang="en-US" sz="2600" b="1" dirty="0">
                <a:latin typeface="楷体_GB2312" panose="02010609030101010101" pitchFamily="49" charset="-122"/>
                <a:ea typeface="楷体_GB2312" panose="02010609030101010101" pitchFamily="49" charset="-122"/>
              </a:rPr>
              <a:t>等行业的应用会得到大规模提高。</a:t>
            </a:r>
          </a:p>
          <a:p>
            <a:r>
              <a:rPr lang="en-US" altLang="zh-CN" sz="2600" b="1" dirty="0">
                <a:latin typeface="楷体_GB2312" panose="02010609030101010101" pitchFamily="49" charset="-122"/>
                <a:ea typeface="楷体_GB2312" panose="02010609030101010101" pitchFamily="49" charset="-122"/>
              </a:rPr>
              <a:t>A</a:t>
            </a:r>
            <a:r>
              <a:rPr lang="zh-CN" altLang="en-US" sz="2600" b="1" dirty="0">
                <a:latin typeface="楷体_GB2312" panose="02010609030101010101" pitchFamily="49" charset="-122"/>
                <a:ea typeface="楷体_GB2312" panose="02010609030101010101" pitchFamily="49" charset="-122"/>
              </a:rPr>
              <a:t>股公司中，中科创达通过并购积极拓展智能车载系统业务。此外，在智能硬件领域，公司已形成面向无人机、</a:t>
            </a:r>
            <a:r>
              <a:rPr lang="en-US" altLang="zh-CN" sz="2600" b="1" dirty="0">
                <a:latin typeface="楷体_GB2312" panose="02010609030101010101" pitchFamily="49" charset="-122"/>
                <a:ea typeface="楷体_GB2312" panose="02010609030101010101" pitchFamily="49" charset="-122"/>
              </a:rPr>
              <a:t>VR</a:t>
            </a:r>
            <a:r>
              <a:rPr lang="zh-CN" altLang="en-US" sz="2600" b="1" dirty="0">
                <a:latin typeface="楷体_GB2312" panose="02010609030101010101" pitchFamily="49" charset="-122"/>
                <a:ea typeface="楷体_GB2312" panose="02010609030101010101" pitchFamily="49" charset="-122"/>
              </a:rPr>
              <a:t>一体机、机器人、智能相机的“芯片</a:t>
            </a:r>
            <a:r>
              <a:rPr lang="en-US" altLang="zh-CN" sz="2600" b="1" dirty="0">
                <a:latin typeface="楷体_GB2312" panose="02010609030101010101" pitchFamily="49" charset="-122"/>
                <a:ea typeface="楷体_GB2312" panose="02010609030101010101" pitchFamily="49" charset="-122"/>
              </a:rPr>
              <a:t>+</a:t>
            </a:r>
            <a:r>
              <a:rPr lang="zh-CN" altLang="en-US" sz="2600" b="1" dirty="0">
                <a:latin typeface="楷体_GB2312" panose="02010609030101010101" pitchFamily="49" charset="-122"/>
                <a:ea typeface="楷体_GB2312" panose="02010609030101010101" pitchFamily="49" charset="-122"/>
              </a:rPr>
              <a:t>操作系统</a:t>
            </a:r>
            <a:r>
              <a:rPr lang="en-US" altLang="zh-CN" sz="2600" b="1" dirty="0">
                <a:latin typeface="楷体_GB2312" panose="02010609030101010101" pitchFamily="49" charset="-122"/>
                <a:ea typeface="楷体_GB2312" panose="02010609030101010101" pitchFamily="49" charset="-122"/>
              </a:rPr>
              <a:t>+</a:t>
            </a:r>
            <a:r>
              <a:rPr lang="zh-CN" altLang="en-US" sz="2600" b="1" dirty="0">
                <a:latin typeface="楷体_GB2312" panose="02010609030101010101" pitchFamily="49" charset="-122"/>
                <a:ea typeface="楷体_GB2312" panose="02010609030101010101" pitchFamily="49" charset="-122"/>
              </a:rPr>
              <a:t>核心算法”的模块化产品，客户遍及行业主流厂商。此外，全志科技通过“芯片</a:t>
            </a:r>
            <a:r>
              <a:rPr lang="en-US" altLang="zh-CN" sz="2600" b="1" dirty="0">
                <a:latin typeface="楷体_GB2312" panose="02010609030101010101" pitchFamily="49" charset="-122"/>
                <a:ea typeface="楷体_GB2312" panose="02010609030101010101" pitchFamily="49" charset="-122"/>
              </a:rPr>
              <a:t>+</a:t>
            </a:r>
            <a:r>
              <a:rPr lang="zh-CN" altLang="en-US" sz="2600" b="1" dirty="0">
                <a:latin typeface="楷体_GB2312" panose="02010609030101010101" pitchFamily="49" charset="-122"/>
                <a:ea typeface="楷体_GB2312" panose="02010609030101010101" pitchFamily="49" charset="-122"/>
              </a:rPr>
              <a:t>服务”的模式，从源端构建产业生态链，与科大讯飞在车联网、智能音箱等多个领域建立了合作。</a:t>
            </a:r>
          </a:p>
          <a:p>
            <a:endParaRPr lang="zh-CN" altLang="en-US" dirty="0"/>
          </a:p>
        </p:txBody>
      </p:sp>
    </p:spTree>
    <p:extLst>
      <p:ext uri="{BB962C8B-B14F-4D97-AF65-F5344CB8AC3E}">
        <p14:creationId xmlns:p14="http://schemas.microsoft.com/office/powerpoint/2010/main" val="37860479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8305800" cy="1143000"/>
          </a:xfrm>
        </p:spPr>
        <p:txBody>
          <a:bodyPr/>
          <a:lstStyle/>
          <a:p>
            <a:r>
              <a:rPr lang="zh-CN" altLang="en-US" b="1" dirty="0">
                <a:latin typeface="方正姚体" panose="02010601030101010101" pitchFamily="2" charset="-122"/>
                <a:ea typeface="方正姚体" panose="02010601030101010101" pitchFamily="2" charset="-122"/>
              </a:rPr>
              <a:t>安防</a:t>
            </a:r>
            <a:r>
              <a:rPr lang="en-US" altLang="zh-CN" b="1" dirty="0">
                <a:latin typeface="方正姚体" panose="02010601030101010101" pitchFamily="2" charset="-122"/>
                <a:ea typeface="方正姚体" panose="02010601030101010101" pitchFamily="2" charset="-122"/>
              </a:rPr>
              <a:t>AI</a:t>
            </a:r>
            <a:r>
              <a:rPr lang="zh-CN" altLang="en-US" b="1" dirty="0">
                <a:latin typeface="方正姚体" panose="02010601030101010101" pitchFamily="2" charset="-122"/>
                <a:ea typeface="方正姚体" panose="02010601030101010101" pitchFamily="2" charset="-122"/>
              </a:rPr>
              <a:t>芯片市场有望率先爆发</a:t>
            </a:r>
          </a:p>
        </p:txBody>
      </p:sp>
      <p:sp>
        <p:nvSpPr>
          <p:cNvPr id="3" name="文本占位符 2"/>
          <p:cNvSpPr>
            <a:spLocks noGrp="1"/>
          </p:cNvSpPr>
          <p:nvPr>
            <p:ph type="body" idx="1"/>
          </p:nvPr>
        </p:nvSpPr>
        <p:spPr>
          <a:xfrm>
            <a:off x="395536" y="1268760"/>
            <a:ext cx="8305800" cy="2448272"/>
          </a:xfrm>
        </p:spPr>
        <p:txBody>
          <a:bodyPr/>
          <a:lstStyle/>
          <a:p>
            <a:r>
              <a:rPr lang="zh-CN" altLang="en-US" sz="2800" dirty="0" smtClean="0">
                <a:latin typeface="楷体_GB2312" panose="02010609030101010101" pitchFamily="49" charset="-122"/>
                <a:ea typeface="楷体_GB2312" panose="02010609030101010101" pitchFamily="49" charset="-122"/>
              </a:rPr>
              <a:t>安</a:t>
            </a:r>
            <a:r>
              <a:rPr lang="zh-CN" altLang="en-US" sz="2800" dirty="0">
                <a:latin typeface="楷体_GB2312" panose="02010609030101010101" pitchFamily="49" charset="-122"/>
                <a:ea typeface="楷体_GB2312" panose="02010609030101010101" pitchFamily="49" charset="-122"/>
              </a:rPr>
              <a:t>防是最被看好、并有望率先爆发的</a:t>
            </a:r>
            <a:r>
              <a:rPr lang="en-US" altLang="zh-CN" sz="2800" dirty="0">
                <a:latin typeface="楷体_GB2312" panose="02010609030101010101" pitchFamily="49" charset="-122"/>
                <a:ea typeface="楷体_GB2312" panose="02010609030101010101" pitchFamily="49" charset="-122"/>
              </a:rPr>
              <a:t>AI</a:t>
            </a:r>
            <a:r>
              <a:rPr lang="zh-CN" altLang="en-US" sz="2800" dirty="0">
                <a:latin typeface="楷体_GB2312" panose="02010609030101010101" pitchFamily="49" charset="-122"/>
                <a:ea typeface="楷体_GB2312" panose="02010609030101010101" pitchFamily="49" charset="-122"/>
              </a:rPr>
              <a:t>应用落地</a:t>
            </a:r>
            <a:r>
              <a:rPr lang="zh-CN" altLang="en-US" sz="2800" dirty="0" smtClean="0">
                <a:latin typeface="楷体_GB2312" panose="02010609030101010101" pitchFamily="49" charset="-122"/>
                <a:ea typeface="楷体_GB2312" panose="02010609030101010101" pitchFamily="49" charset="-122"/>
              </a:rPr>
              <a:t>领域，比如</a:t>
            </a:r>
            <a:r>
              <a:rPr lang="zh-CN" altLang="en-US" sz="2800" dirty="0">
                <a:latin typeface="楷体_GB2312" panose="02010609030101010101" pitchFamily="49" charset="-122"/>
                <a:ea typeface="楷体_GB2312" panose="02010609030101010101" pitchFamily="49" charset="-122"/>
              </a:rPr>
              <a:t>人脸检测、区分人形或特征性场景。。</a:t>
            </a:r>
            <a:r>
              <a:rPr lang="zh-CN" altLang="en-US" sz="2800" dirty="0" smtClean="0">
                <a:latin typeface="楷体_GB2312" panose="02010609030101010101" pitchFamily="49" charset="-122"/>
                <a:ea typeface="楷体_GB2312" panose="02010609030101010101" pitchFamily="49" charset="-122"/>
              </a:rPr>
              <a:t>有</a:t>
            </a:r>
            <a:r>
              <a:rPr lang="zh-CN" altLang="en-US" sz="2800" dirty="0">
                <a:latin typeface="楷体_GB2312" panose="02010609030101010101" pitchFamily="49" charset="-122"/>
                <a:ea typeface="楷体_GB2312" panose="02010609030101010101" pitchFamily="49" charset="-122"/>
              </a:rPr>
              <a:t>业内人士预计，随着平安城市建设的推进，智能安防很可能快速成长为千亿规模的市场</a:t>
            </a:r>
            <a:r>
              <a:rPr lang="zh-CN" altLang="en-US" sz="2800" dirty="0" smtClean="0">
                <a:latin typeface="楷体_GB2312" panose="02010609030101010101" pitchFamily="49" charset="-122"/>
                <a:ea typeface="楷体_GB2312" panose="02010609030101010101" pitchFamily="49" charset="-122"/>
              </a:rPr>
              <a:t>。</a:t>
            </a:r>
            <a:endParaRPr lang="en-US" altLang="zh-CN" sz="2800" dirty="0" smtClean="0">
              <a:latin typeface="楷体_GB2312" panose="02010609030101010101" pitchFamily="49" charset="-122"/>
              <a:ea typeface="楷体_GB2312" panose="02010609030101010101" pitchFamily="49" charset="-122"/>
            </a:endParaRPr>
          </a:p>
          <a:p>
            <a:r>
              <a:rPr lang="zh-CN" altLang="en-US" sz="2800" dirty="0" smtClean="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速度与激情</a:t>
            </a:r>
            <a:r>
              <a:rPr lang="en-US" altLang="zh-CN" sz="2800" b="1" dirty="0">
                <a:latin typeface="楷体_GB2312" panose="02010609030101010101" pitchFamily="49" charset="-122"/>
                <a:ea typeface="楷体_GB2312" panose="02010609030101010101" pitchFamily="49" charset="-122"/>
              </a:rPr>
              <a:t>5</a:t>
            </a:r>
            <a:r>
              <a:rPr lang="zh-CN" altLang="en-US" sz="2800" dirty="0">
                <a:latin typeface="楷体_GB2312" panose="02010609030101010101" pitchFamily="49" charset="-122"/>
                <a:ea typeface="楷体_GB2312" panose="02010609030101010101" pitchFamily="49" charset="-122"/>
              </a:rPr>
              <a:t>）</a:t>
            </a:r>
          </a:p>
          <a:p>
            <a:endParaRPr lang="zh-CN" altLang="en-US" sz="2800" dirty="0">
              <a:latin typeface="楷体_GB2312" panose="02010609030101010101" pitchFamily="49" charset="-122"/>
              <a:ea typeface="楷体_GB2312" panose="02010609030101010101" pitchFamily="49" charset="-122"/>
            </a:endParaRPr>
          </a:p>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3573016"/>
            <a:ext cx="6120680" cy="30716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21241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1000" y="692696"/>
            <a:ext cx="8511480" cy="5098504"/>
          </a:xfrm>
        </p:spPr>
        <p:txBody>
          <a:bodyPr/>
          <a:lstStyle/>
          <a:p>
            <a:r>
              <a:rPr lang="zh-CN" altLang="en-US" sz="2800" dirty="0" smtClean="0">
                <a:latin typeface="楷体_GB2312" panose="02010609030101010101" pitchFamily="49" charset="-122"/>
                <a:ea typeface="楷体_GB2312" panose="02010609030101010101" pitchFamily="49" charset="-122"/>
              </a:rPr>
              <a:t>圈内人士预测了</a:t>
            </a:r>
            <a:r>
              <a:rPr lang="en-US" altLang="zh-CN" sz="2800" dirty="0" smtClean="0">
                <a:latin typeface="楷体_GB2312" panose="02010609030101010101" pitchFamily="49" charset="-122"/>
                <a:ea typeface="楷体_GB2312" panose="02010609030101010101" pitchFamily="49" charset="-122"/>
              </a:rPr>
              <a:t>AI</a:t>
            </a:r>
            <a:r>
              <a:rPr lang="zh-CN" altLang="en-US" sz="2800" dirty="0">
                <a:latin typeface="楷体_GB2312" panose="02010609030101010101" pitchFamily="49" charset="-122"/>
                <a:ea typeface="楷体_GB2312" panose="02010609030101010101" pitchFamily="49" charset="-122"/>
              </a:rPr>
              <a:t>安防产业的规模。</a:t>
            </a:r>
            <a:r>
              <a:rPr lang="zh-CN" altLang="en-US" sz="2800" dirty="0" smtClean="0">
                <a:latin typeface="楷体_GB2312" panose="02010609030101010101" pitchFamily="49" charset="-122"/>
                <a:ea typeface="楷体_GB2312" panose="02010609030101010101" pitchFamily="49" charset="-122"/>
              </a:rPr>
              <a:t>“</a:t>
            </a:r>
            <a:r>
              <a:rPr lang="en-US" altLang="zh-CN" sz="2800" dirty="0" smtClean="0">
                <a:latin typeface="楷体_GB2312" panose="02010609030101010101" pitchFamily="49" charset="-122"/>
                <a:ea typeface="楷体_GB2312" panose="02010609030101010101" pitchFamily="49" charset="-122"/>
              </a:rPr>
              <a:t>2017-2018</a:t>
            </a:r>
            <a:r>
              <a:rPr lang="zh-CN" altLang="en-US" sz="2800" dirty="0" smtClean="0">
                <a:latin typeface="楷体_GB2312" panose="02010609030101010101" pitchFamily="49" charset="-122"/>
                <a:ea typeface="楷体_GB2312" panose="02010609030101010101" pitchFamily="49" charset="-122"/>
              </a:rPr>
              <a:t>年，</a:t>
            </a:r>
            <a:r>
              <a:rPr lang="zh-CN" altLang="en-US" sz="2800" dirty="0">
                <a:latin typeface="楷体_GB2312" panose="02010609030101010101" pitchFamily="49" charset="-122"/>
                <a:ea typeface="楷体_GB2312" panose="02010609030101010101" pitchFamily="49" charset="-122"/>
              </a:rPr>
              <a:t>国内安防高清摄像头的出货量都会在</a:t>
            </a:r>
            <a:r>
              <a:rPr lang="en-US" altLang="zh-CN" sz="2800" dirty="0">
                <a:latin typeface="楷体_GB2312" panose="02010609030101010101" pitchFamily="49" charset="-122"/>
                <a:ea typeface="楷体_GB2312" panose="02010609030101010101" pitchFamily="49" charset="-122"/>
              </a:rPr>
              <a:t>1</a:t>
            </a:r>
            <a:r>
              <a:rPr lang="zh-CN" altLang="en-US" sz="2800" dirty="0">
                <a:latin typeface="楷体_GB2312" panose="02010609030101010101" pitchFamily="49" charset="-122"/>
                <a:ea typeface="楷体_GB2312" panose="02010609030101010101" pitchFamily="49" charset="-122"/>
              </a:rPr>
              <a:t>亿只左右。此前，海思生产的此类高清模组的单价是</a:t>
            </a:r>
            <a:r>
              <a:rPr lang="en-US" altLang="zh-CN" sz="2800" dirty="0">
                <a:latin typeface="楷体_GB2312" panose="02010609030101010101" pitchFamily="49" charset="-122"/>
                <a:ea typeface="楷体_GB2312" panose="02010609030101010101" pitchFamily="49" charset="-122"/>
              </a:rPr>
              <a:t>200</a:t>
            </a:r>
            <a:r>
              <a:rPr lang="zh-CN" altLang="en-US" sz="2800" dirty="0">
                <a:latin typeface="楷体_GB2312" panose="02010609030101010101" pitchFamily="49" charset="-122"/>
                <a:ea typeface="楷体_GB2312" panose="02010609030101010101" pitchFamily="49" charset="-122"/>
              </a:rPr>
              <a:t>元左右；加入</a:t>
            </a:r>
            <a:r>
              <a:rPr lang="en-US" altLang="zh-CN" sz="2800" dirty="0">
                <a:latin typeface="楷体_GB2312" panose="02010609030101010101" pitchFamily="49" charset="-122"/>
                <a:ea typeface="楷体_GB2312" panose="02010609030101010101" pitchFamily="49" charset="-122"/>
              </a:rPr>
              <a:t>AI</a:t>
            </a:r>
            <a:r>
              <a:rPr lang="zh-CN" altLang="en-US" sz="2800" dirty="0">
                <a:latin typeface="楷体_GB2312" panose="02010609030101010101" pitchFamily="49" charset="-122"/>
                <a:ea typeface="楷体_GB2312" panose="02010609030101010101" pitchFamily="49" charset="-122"/>
              </a:rPr>
              <a:t>后，成本容忍度会提高到</a:t>
            </a:r>
            <a:r>
              <a:rPr lang="en-US" altLang="zh-CN" sz="2800" dirty="0">
                <a:latin typeface="楷体_GB2312" panose="02010609030101010101" pitchFamily="49" charset="-122"/>
                <a:ea typeface="楷体_GB2312" panose="02010609030101010101" pitchFamily="49" charset="-122"/>
              </a:rPr>
              <a:t>60</a:t>
            </a:r>
            <a:r>
              <a:rPr lang="zh-CN" altLang="en-US" sz="2800" dirty="0">
                <a:latin typeface="楷体_GB2312" panose="02010609030101010101" pitchFamily="49" charset="-122"/>
                <a:ea typeface="楷体_GB2312" panose="02010609030101010101" pitchFamily="49" charset="-122"/>
              </a:rPr>
              <a:t>至</a:t>
            </a:r>
            <a:r>
              <a:rPr lang="en-US" altLang="zh-CN" sz="2800" dirty="0">
                <a:latin typeface="楷体_GB2312" panose="02010609030101010101" pitchFamily="49" charset="-122"/>
                <a:ea typeface="楷体_GB2312" panose="02010609030101010101" pitchFamily="49" charset="-122"/>
              </a:rPr>
              <a:t>70</a:t>
            </a:r>
            <a:r>
              <a:rPr lang="zh-CN" altLang="en-US" sz="2800" dirty="0">
                <a:latin typeface="楷体_GB2312" panose="02010609030101010101" pitchFamily="49" charset="-122"/>
                <a:ea typeface="楷体_GB2312" panose="02010609030101010101" pitchFamily="49" charset="-122"/>
              </a:rPr>
              <a:t>美元。也就是说，随着安防智能化，至少可带来</a:t>
            </a:r>
            <a:r>
              <a:rPr lang="en-US" altLang="zh-CN" sz="2800" dirty="0">
                <a:latin typeface="楷体_GB2312" panose="02010609030101010101" pitchFamily="49" charset="-122"/>
                <a:ea typeface="楷体_GB2312" panose="02010609030101010101" pitchFamily="49" charset="-122"/>
              </a:rPr>
              <a:t>60</a:t>
            </a:r>
            <a:r>
              <a:rPr lang="zh-CN" altLang="en-US" sz="2800" dirty="0">
                <a:latin typeface="楷体_GB2312" panose="02010609030101010101" pitchFamily="49" charset="-122"/>
                <a:ea typeface="楷体_GB2312" panose="02010609030101010101" pitchFamily="49" charset="-122"/>
              </a:rPr>
              <a:t>亿至</a:t>
            </a:r>
            <a:r>
              <a:rPr lang="en-US" altLang="zh-CN" sz="2800" dirty="0">
                <a:latin typeface="楷体_GB2312" panose="02010609030101010101" pitchFamily="49" charset="-122"/>
                <a:ea typeface="楷体_GB2312" panose="02010609030101010101" pitchFamily="49" charset="-122"/>
              </a:rPr>
              <a:t>70</a:t>
            </a:r>
            <a:r>
              <a:rPr lang="zh-CN" altLang="en-US" sz="2800" dirty="0">
                <a:latin typeface="楷体_GB2312" panose="02010609030101010101" pitchFamily="49" charset="-122"/>
                <a:ea typeface="楷体_GB2312" panose="02010609030101010101" pitchFamily="49" charset="-122"/>
              </a:rPr>
              <a:t>亿美元规模的市场扩容。”</a:t>
            </a:r>
          </a:p>
          <a:p>
            <a:r>
              <a:rPr lang="zh-CN" altLang="en-US" sz="2800" dirty="0">
                <a:latin typeface="楷体_GB2312" panose="02010609030101010101" pitchFamily="49" charset="-122"/>
                <a:ea typeface="楷体_GB2312" panose="02010609030101010101" pitchFamily="49" charset="-122"/>
              </a:rPr>
              <a:t>北京君正方面近日表示，面向安防和家用消费类市场的智能视频领域，其</a:t>
            </a:r>
            <a:r>
              <a:rPr lang="en-US" altLang="zh-CN" sz="2800" dirty="0">
                <a:latin typeface="楷体_GB2312" panose="02010609030101010101" pitchFamily="49" charset="-122"/>
                <a:ea typeface="楷体_GB2312" panose="02010609030101010101" pitchFamily="49" charset="-122"/>
              </a:rPr>
              <a:t>T30</a:t>
            </a:r>
            <a:r>
              <a:rPr lang="zh-CN" altLang="en-US" sz="2800" dirty="0">
                <a:latin typeface="楷体_GB2312" panose="02010609030101010101" pitchFamily="49" charset="-122"/>
                <a:ea typeface="楷体_GB2312" panose="02010609030101010101" pitchFamily="49" charset="-122"/>
              </a:rPr>
              <a:t>芯片预计明年可以批量销售。此外，智能家居和消费电子也是</a:t>
            </a:r>
            <a:r>
              <a:rPr lang="en-US" altLang="zh-CN" sz="2800" dirty="0">
                <a:latin typeface="楷体_GB2312" panose="02010609030101010101" pitchFamily="49" charset="-122"/>
                <a:ea typeface="楷体_GB2312" panose="02010609030101010101" pitchFamily="49" charset="-122"/>
              </a:rPr>
              <a:t>AI</a:t>
            </a:r>
            <a:r>
              <a:rPr lang="zh-CN" altLang="en-US" sz="2800" dirty="0">
                <a:latin typeface="楷体_GB2312" panose="02010609030101010101" pitchFamily="49" charset="-122"/>
                <a:ea typeface="楷体_GB2312" panose="02010609030101010101" pitchFamily="49" charset="-122"/>
              </a:rPr>
              <a:t>的重要落地领域。目前，通过与科大讯飞合作，北京君正、全志科技的</a:t>
            </a:r>
            <a:r>
              <a:rPr lang="en-US" altLang="zh-CN" sz="2800" dirty="0">
                <a:latin typeface="楷体_GB2312" panose="02010609030101010101" pitchFamily="49" charset="-122"/>
                <a:ea typeface="楷体_GB2312" panose="02010609030101010101" pitchFamily="49" charset="-122"/>
              </a:rPr>
              <a:t>AI</a:t>
            </a:r>
            <a:r>
              <a:rPr lang="zh-CN" altLang="en-US" sz="2800" dirty="0">
                <a:latin typeface="楷体_GB2312" panose="02010609030101010101" pitchFamily="49" charset="-122"/>
                <a:ea typeface="楷体_GB2312" panose="02010609030101010101" pitchFamily="49" charset="-122"/>
              </a:rPr>
              <a:t>芯片均已应用到京东智能音箱“叮咚”中。</a:t>
            </a:r>
          </a:p>
          <a:p>
            <a:endParaRPr lang="zh-CN" altLang="en-US" dirty="0"/>
          </a:p>
        </p:txBody>
      </p:sp>
    </p:spTree>
    <p:extLst>
      <p:ext uri="{BB962C8B-B14F-4D97-AF65-F5344CB8AC3E}">
        <p14:creationId xmlns:p14="http://schemas.microsoft.com/office/powerpoint/2010/main" val="19440303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lstStyle/>
          <a:p>
            <a:r>
              <a:rPr lang="zh-CN" altLang="en-US" sz="3200" b="1" dirty="0" smtClean="0">
                <a:latin typeface="楷体_GB2312" panose="02010609030101010101" pitchFamily="49" charset="-122"/>
                <a:ea typeface="楷体_GB2312" panose="02010609030101010101" pitchFamily="49" charset="-122"/>
              </a:rPr>
              <a:t>大疆无人机</a:t>
            </a:r>
            <a:r>
              <a:rPr lang="en-US" altLang="zh-CN" sz="3200" dirty="0" smtClean="0">
                <a:latin typeface="楷体_GB2312" panose="02010609030101010101" pitchFamily="49" charset="-122"/>
                <a:ea typeface="楷体_GB2312" panose="02010609030101010101" pitchFamily="49" charset="-122"/>
              </a:rPr>
              <a:t>——</a:t>
            </a:r>
            <a:r>
              <a:rPr lang="zh-CN" altLang="en-US" sz="3200" dirty="0" smtClean="0">
                <a:latin typeface="楷体_GB2312" panose="02010609030101010101" pitchFamily="49" charset="-122"/>
                <a:ea typeface="楷体_GB2312" panose="02010609030101010101" pitchFamily="49" charset="-122"/>
              </a:rPr>
              <a:t>汪涛</a:t>
            </a:r>
            <a:endParaRPr lang="en-US" altLang="zh-CN" sz="3200" dirty="0" smtClean="0">
              <a:latin typeface="楷体_GB2312" panose="02010609030101010101" pitchFamily="49" charset="-122"/>
              <a:ea typeface="楷体_GB2312" panose="02010609030101010101" pitchFamily="49" charset="-122"/>
            </a:endParaRPr>
          </a:p>
          <a:p>
            <a:r>
              <a:rPr lang="zh-CN" altLang="en-US" sz="3200" b="1" dirty="0">
                <a:latin typeface="楷体_GB2312" panose="02010609030101010101" pitchFamily="49" charset="-122"/>
                <a:ea typeface="楷体_GB2312" panose="02010609030101010101" pitchFamily="49" charset="-122"/>
              </a:rPr>
              <a:t>科大讯</a:t>
            </a:r>
            <a:r>
              <a:rPr lang="zh-CN" altLang="en-US" sz="3200" b="1" dirty="0" smtClean="0">
                <a:latin typeface="楷体_GB2312" panose="02010609030101010101" pitchFamily="49" charset="-122"/>
                <a:ea typeface="楷体_GB2312" panose="02010609030101010101" pitchFamily="49" charset="-122"/>
              </a:rPr>
              <a:t>飞</a:t>
            </a:r>
            <a:r>
              <a:rPr lang="en-US" altLang="zh-CN" sz="3200" dirty="0" smtClean="0">
                <a:latin typeface="楷体_GB2312" panose="02010609030101010101" pitchFamily="49" charset="-122"/>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科大讯飞股份有限公司，成立于</a:t>
            </a:r>
            <a:r>
              <a:rPr lang="en-US" altLang="zh-CN" sz="3200" dirty="0">
                <a:latin typeface="楷体_GB2312" panose="02010609030101010101" pitchFamily="49" charset="-122"/>
                <a:ea typeface="楷体_GB2312" panose="02010609030101010101" pitchFamily="49" charset="-122"/>
              </a:rPr>
              <a:t>1999</a:t>
            </a:r>
            <a:r>
              <a:rPr lang="zh-CN" altLang="en-US" sz="3200" dirty="0">
                <a:latin typeface="楷体_GB2312" panose="02010609030101010101" pitchFamily="49" charset="-122"/>
                <a:ea typeface="楷体_GB2312" panose="02010609030101010101" pitchFamily="49" charset="-122"/>
              </a:rPr>
              <a:t>年，在语音合成、语音识别、口语评测、语言翻译、声纹识别、</a:t>
            </a:r>
            <a:r>
              <a:rPr lang="zh-CN" altLang="en-US" sz="3200" b="1" dirty="0">
                <a:latin typeface="楷体_GB2312" panose="02010609030101010101" pitchFamily="49" charset="-122"/>
                <a:ea typeface="楷体_GB2312" panose="02010609030101010101" pitchFamily="49" charset="-122"/>
              </a:rPr>
              <a:t>人脸识别</a:t>
            </a:r>
            <a:r>
              <a:rPr lang="zh-CN" altLang="en-US" sz="3200" dirty="0">
                <a:latin typeface="楷体_GB2312" panose="02010609030101010101" pitchFamily="49" charset="-122"/>
                <a:ea typeface="楷体_GB2312" panose="02010609030101010101" pitchFamily="49" charset="-122"/>
              </a:rPr>
              <a:t>、自然语言处理等智能语音与人工智能核心技术上代表国际先进水平。</a:t>
            </a:r>
            <a:r>
              <a:rPr lang="en-US" altLang="zh-CN" sz="3200" dirty="0">
                <a:latin typeface="楷体_GB2312" panose="02010609030101010101" pitchFamily="49" charset="-122"/>
                <a:ea typeface="楷体_GB2312" panose="02010609030101010101" pitchFamily="49" charset="-122"/>
              </a:rPr>
              <a:t>2008</a:t>
            </a:r>
            <a:r>
              <a:rPr lang="zh-CN" altLang="en-US" sz="3200" dirty="0">
                <a:latin typeface="楷体_GB2312" panose="02010609030101010101" pitchFamily="49" charset="-122"/>
                <a:ea typeface="楷体_GB2312" panose="02010609030101010101" pitchFamily="49" charset="-122"/>
              </a:rPr>
              <a:t>年在深圳证券交易所挂牌上市，股票代码：</a:t>
            </a:r>
            <a:r>
              <a:rPr lang="en-US" altLang="zh-CN" sz="3200" dirty="0">
                <a:latin typeface="楷体_GB2312" panose="02010609030101010101" pitchFamily="49" charset="-122"/>
                <a:ea typeface="楷体_GB2312" panose="02010609030101010101" pitchFamily="49" charset="-122"/>
              </a:rPr>
              <a:t>002230</a:t>
            </a:r>
            <a:endParaRPr lang="zh-CN" altLang="en-US" sz="320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38522927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1700808"/>
            <a:ext cx="8305800" cy="3384376"/>
          </a:xfrm>
        </p:spPr>
        <p:txBody>
          <a:bodyPr/>
          <a:lstStyle/>
          <a:p>
            <a:r>
              <a:rPr lang="zh-CN" altLang="en-US" sz="3600" dirty="0" smtClean="0">
                <a:latin typeface="楷体_GB2312" pitchFamily="49" charset="-122"/>
                <a:ea typeface="楷体_GB2312" pitchFamily="49" charset="-122"/>
              </a:rPr>
              <a:t>哈罗德</a:t>
            </a:r>
            <a:r>
              <a:rPr lang="en-US" altLang="zh-CN" sz="3600" dirty="0" smtClean="0">
                <a:latin typeface="楷体_GB2312" pitchFamily="49" charset="-122"/>
                <a:ea typeface="楷体_GB2312" pitchFamily="49" charset="-122"/>
              </a:rPr>
              <a:t>—</a:t>
            </a:r>
            <a:r>
              <a:rPr lang="zh-CN" altLang="en-US" sz="3600" dirty="0" smtClean="0">
                <a:latin typeface="楷体_GB2312" pitchFamily="49" charset="-122"/>
                <a:ea typeface="楷体_GB2312" pitchFamily="49" charset="-122"/>
              </a:rPr>
              <a:t>多马模型（</a:t>
            </a:r>
            <a:r>
              <a:rPr lang="en-US" altLang="zh-CN" sz="3600" dirty="0" err="1"/>
              <a:t>Gn</a:t>
            </a:r>
            <a:r>
              <a:rPr lang="en-US" altLang="zh-CN" sz="3600" dirty="0"/>
              <a:t> = </a:t>
            </a:r>
            <a:r>
              <a:rPr lang="en-US" altLang="zh-CN" sz="3600" dirty="0" smtClean="0"/>
              <a:t>Sn/Cn=</a:t>
            </a:r>
            <a:r>
              <a:rPr lang="en-US" altLang="zh-CN" sz="3600" dirty="0" err="1" smtClean="0"/>
              <a:t>G</a:t>
            </a:r>
            <a:r>
              <a:rPr lang="en-US" altLang="zh-CN" sz="3600" dirty="0" err="1"/>
              <a:t>w</a:t>
            </a:r>
            <a:r>
              <a:rPr lang="en-US" altLang="zh-CN" sz="3600" dirty="0" smtClean="0"/>
              <a:t>=G</a:t>
            </a:r>
            <a:r>
              <a:rPr lang="zh-CN" altLang="en-US" sz="3600" dirty="0" smtClean="0">
                <a:latin typeface="楷体_GB2312" pitchFamily="49" charset="-122"/>
                <a:ea typeface="楷体_GB2312" pitchFamily="49" charset="-122"/>
              </a:rPr>
              <a:t>）</a:t>
            </a:r>
            <a:endParaRPr lang="en-US" altLang="zh-CN" sz="3600" dirty="0" smtClean="0">
              <a:latin typeface="楷体_GB2312" pitchFamily="49" charset="-122"/>
              <a:ea typeface="楷体_GB2312" pitchFamily="49" charset="-122"/>
            </a:endParaRPr>
          </a:p>
          <a:p>
            <a:r>
              <a:rPr lang="zh-CN" altLang="en-US" sz="3600" dirty="0" smtClean="0">
                <a:latin typeface="楷体_GB2312" pitchFamily="49" charset="-122"/>
                <a:ea typeface="楷体_GB2312" pitchFamily="49" charset="-122"/>
              </a:rPr>
              <a:t>索洛的技术进步模型</a:t>
            </a:r>
            <a:endParaRPr lang="en-US" altLang="zh-CN" sz="3600" dirty="0" smtClean="0">
              <a:latin typeface="楷体_GB2312" pitchFamily="49" charset="-122"/>
              <a:ea typeface="楷体_GB2312" pitchFamily="49" charset="-122"/>
            </a:endParaRPr>
          </a:p>
          <a:p>
            <a:r>
              <a:rPr lang="zh-CN" altLang="en-US" sz="3600" dirty="0">
                <a:latin typeface="楷体_GB2312" pitchFamily="49" charset="-122"/>
                <a:ea typeface="楷体_GB2312" pitchFamily="49" charset="-122"/>
              </a:rPr>
              <a:t>罗</a:t>
            </a:r>
            <a:r>
              <a:rPr lang="zh-CN" altLang="en-US" sz="3600" dirty="0" smtClean="0">
                <a:latin typeface="楷体_GB2312" pitchFamily="49" charset="-122"/>
                <a:ea typeface="楷体_GB2312" pitchFamily="49" charset="-122"/>
              </a:rPr>
              <a:t>默的内生增长理论</a:t>
            </a:r>
            <a:endParaRPr lang="en-US" altLang="zh-CN" sz="3600" dirty="0" smtClean="0">
              <a:latin typeface="楷体_GB2312" pitchFamily="49" charset="-122"/>
              <a:ea typeface="楷体_GB2312" pitchFamily="49" charset="-122"/>
            </a:endParaRPr>
          </a:p>
          <a:p>
            <a:pPr marL="0" indent="0">
              <a:buNone/>
            </a:pPr>
            <a:r>
              <a:rPr lang="en-US" altLang="zh-CN" sz="3600" dirty="0">
                <a:latin typeface="楷体_GB2312" pitchFamily="49" charset="-122"/>
                <a:ea typeface="楷体_GB2312" pitchFamily="49" charset="-122"/>
              </a:rPr>
              <a:t> </a:t>
            </a:r>
            <a:r>
              <a:rPr lang="zh-CN" altLang="en-US" sz="2800" dirty="0" smtClean="0">
                <a:latin typeface="楷体_GB2312" pitchFamily="49" charset="-122"/>
                <a:ea typeface="楷体_GB2312" pitchFamily="49" charset="-122"/>
              </a:rPr>
              <a:t>（知识和技术是经济增长重要源泉）</a:t>
            </a:r>
            <a:endParaRPr lang="en-US" altLang="zh-CN" sz="2800" dirty="0" smtClean="0">
              <a:latin typeface="楷体_GB2312" pitchFamily="49" charset="-122"/>
              <a:ea typeface="楷体_GB2312" pitchFamily="49" charset="-122"/>
            </a:endParaRPr>
          </a:p>
          <a:p>
            <a:pPr marL="0" indent="0">
              <a:buNone/>
            </a:pPr>
            <a:endParaRPr lang="en-US" altLang="zh-CN" sz="3600" dirty="0">
              <a:latin typeface="楷体_GB2312" pitchFamily="49" charset="-122"/>
              <a:ea typeface="楷体_GB2312" pitchFamily="49" charset="-122"/>
            </a:endParaRPr>
          </a:p>
        </p:txBody>
      </p:sp>
      <p:sp>
        <p:nvSpPr>
          <p:cNvPr id="4" name="标题 1"/>
          <p:cNvSpPr txBox="1">
            <a:spLocks/>
          </p:cNvSpPr>
          <p:nvPr/>
        </p:nvSpPr>
        <p:spPr bwMode="auto">
          <a:xfrm>
            <a:off x="323528" y="116632"/>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a:latin typeface="黑体" pitchFamily="49" charset="-122"/>
                <a:ea typeface="黑体" pitchFamily="49" charset="-122"/>
              </a:rPr>
              <a:t>五</a:t>
            </a:r>
            <a:r>
              <a:rPr lang="zh-CN" altLang="en-US" sz="4800" b="1" dirty="0" smtClean="0">
                <a:latin typeface="黑体" pitchFamily="49" charset="-122"/>
                <a:ea typeface="黑体" pitchFamily="49" charset="-122"/>
              </a:rPr>
              <a:t>、技术创新的经典理论溯源</a:t>
            </a:r>
            <a:endParaRPr lang="zh-CN" altLang="en-US" sz="4800" b="1" dirty="0">
              <a:latin typeface="黑体" pitchFamily="49" charset="-122"/>
              <a:ea typeface="黑体" pitchFamily="49" charset="-122"/>
            </a:endParaRPr>
          </a:p>
        </p:txBody>
      </p:sp>
      <p:sp>
        <p:nvSpPr>
          <p:cNvPr id="5" name="文本占位符 2"/>
          <p:cNvSpPr txBox="1">
            <a:spLocks/>
          </p:cNvSpPr>
          <p:nvPr/>
        </p:nvSpPr>
        <p:spPr bwMode="auto">
          <a:xfrm>
            <a:off x="530911" y="5229200"/>
            <a:ext cx="8305800" cy="760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buFontTx/>
              <a:buNone/>
            </a:pPr>
            <a:r>
              <a:rPr lang="zh-CN" altLang="en-US" b="1" dirty="0" smtClean="0"/>
              <a:t>推荐阅读：高鸿业、曼昆或罗默的</a:t>
            </a:r>
            <a:r>
              <a:rPr lang="en-US" altLang="zh-CN" b="1" dirty="0" smtClean="0"/>
              <a:t>《</a:t>
            </a:r>
            <a:r>
              <a:rPr lang="zh-CN" altLang="en-US" b="1" dirty="0" smtClean="0"/>
              <a:t>宏观经济学</a:t>
            </a:r>
            <a:r>
              <a:rPr lang="en-US" altLang="zh-CN" b="1" dirty="0" smtClean="0"/>
              <a:t>》</a:t>
            </a:r>
            <a:r>
              <a:rPr lang="zh-CN" altLang="en-US" b="1" dirty="0" smtClean="0"/>
              <a:t>中经济增长理论部分</a:t>
            </a:r>
            <a:endParaRPr lang="en-US" altLang="zh-CN" b="1" dirty="0"/>
          </a:p>
        </p:txBody>
      </p:sp>
      <p:pic>
        <p:nvPicPr>
          <p:cNvPr id="3074" name="Picture 2" descr="https://gss0.bdstatic.com/94o3dSag_xI4khGkpoWK1HF6hhy/baike/w%3D268%3Bg%3D0/sign=c61b17ea0f2442a7ae0efaa3e978ca76/ac345982b2b7d0a254be29f4cbef76094b369a6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2492896"/>
            <a:ext cx="1872208" cy="2448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4143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1562" y="1268760"/>
            <a:ext cx="7848872" cy="1440160"/>
          </a:xfrm>
        </p:spPr>
        <p:txBody>
          <a:bodyPr/>
          <a:lstStyle/>
          <a:p>
            <a:r>
              <a:rPr lang="zh-CN" altLang="en-US" sz="2800" b="1" dirty="0" smtClean="0">
                <a:latin typeface="仿宋_GB2312" pitchFamily="49" charset="-122"/>
                <a:ea typeface="仿宋_GB2312" pitchFamily="49" charset="-122"/>
              </a:rPr>
              <a:t>思考题：高铁的“市场换技术”为什么成功了？</a:t>
            </a:r>
            <a:endParaRPr lang="zh-CN" altLang="en-US" sz="2800" b="1" dirty="0">
              <a:latin typeface="仿宋_GB2312" pitchFamily="49" charset="-122"/>
              <a:ea typeface="仿宋_GB2312" pitchFamily="49" charset="-122"/>
            </a:endParaRPr>
          </a:p>
        </p:txBody>
      </p:sp>
      <p:sp>
        <p:nvSpPr>
          <p:cNvPr id="4" name="矩形 3"/>
          <p:cNvSpPr/>
          <p:nvPr/>
        </p:nvSpPr>
        <p:spPr>
          <a:xfrm>
            <a:off x="2699792" y="3501008"/>
            <a:ext cx="3892412" cy="156966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9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谢谢！</a:t>
            </a:r>
            <a:endParaRPr lang="zh-CN" altLang="en-US" sz="9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4256941429"/>
      </p:ext>
    </p:extLst>
  </p:cSld>
  <p:clrMapOvr>
    <a:masterClrMapping/>
  </p:clrMapOvr>
  <p:timing>
    <p:tnLst>
      <p:par>
        <p:cTn id="1" dur="indefinite" restart="never" nodeType="tmRoot"/>
      </p:par>
    </p:tnLst>
  </p:timing>
</p:sld>
</file>

<file path=ppt/theme/theme1.xml><?xml version="1.0" encoding="utf-8"?>
<a:theme xmlns:a="http://schemas.openxmlformats.org/drawingml/2006/main" name="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봄IIB"/>
        <a:ea typeface="-봄IIB"/>
        <a:cs typeface=""/>
      </a:majorFont>
      <a:minorFont>
        <a:latin typeface="-봄IIM"/>
        <a:ea typeface="-봄I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PPT助手_模板_756</Template>
  <TotalTime>2123</TotalTime>
  <Words>6612</Words>
  <Application>Microsoft Office PowerPoint</Application>
  <PresentationFormat>全屏显示(4:3)</PresentationFormat>
  <Paragraphs>224</Paragraphs>
  <Slides>72</Slides>
  <Notes>3</Notes>
  <HiddenSlides>0</HiddenSlides>
  <MMClips>0</MMClips>
  <ScaleCrop>false</ScaleCrop>
  <HeadingPairs>
    <vt:vector size="4" baseType="variant">
      <vt:variant>
        <vt:lpstr>主题</vt:lpstr>
      </vt:variant>
      <vt:variant>
        <vt:i4>1</vt:i4>
      </vt:variant>
      <vt:variant>
        <vt:lpstr>幻灯片标题</vt:lpstr>
      </vt:variant>
      <vt:variant>
        <vt:i4>72</vt:i4>
      </vt:variant>
    </vt:vector>
  </HeadingPairs>
  <TitlesOfParts>
    <vt:vector size="73" baseType="lpstr">
      <vt:lpstr>기본 디자인</vt:lpstr>
      <vt:lpstr>第三章 技术创新原理</vt:lpstr>
      <vt:lpstr>授课内容</vt:lpstr>
      <vt:lpstr>案例：我的手机变迁史</vt:lpstr>
      <vt:lpstr>PowerPoint 演示文稿</vt:lpstr>
      <vt:lpstr>中国手机创新正在加速</vt:lpstr>
      <vt:lpstr>展望5G</vt:lpstr>
      <vt:lpstr>PowerPoint 演示文稿</vt:lpstr>
      <vt:lpstr>中国新四大发明</vt:lpstr>
      <vt:lpstr>PowerPoint 演示文稿</vt:lpstr>
      <vt:lpstr>案例：海尔的产品创新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案例：人工合成牛胰岛素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克莱因&amp;罗森堡（1986）</vt:lpstr>
      <vt:lpstr>综合案例1：苹果手机的蜕变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Iphone xs和Iphone xs max</vt:lpstr>
      <vt:lpstr>综合案例2：2018年诺奖趣谈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综合案例1：中国高铁横空出世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知识积累的过渡产品——中华之星</vt:lpstr>
      <vt:lpstr>知识积累的过渡产品——中华之星</vt:lpstr>
      <vt:lpstr>PowerPoint 演示文稿</vt:lpstr>
      <vt:lpstr>中国高铁的隐忧：</vt:lpstr>
      <vt:lpstr>PowerPoint 演示文稿</vt:lpstr>
      <vt:lpstr>PowerPoint 演示文稿</vt:lpstr>
      <vt:lpstr>PowerPoint 演示文稿</vt:lpstr>
      <vt:lpstr>PowerPoint 演示文稿</vt:lpstr>
      <vt:lpstr>汽车AI芯片充满想象空间</vt:lpstr>
      <vt:lpstr>PowerPoint 演示文稿</vt:lpstr>
      <vt:lpstr>安防AI芯片市场有望率先爆发</vt:lpstr>
      <vt:lpstr>PowerPoint 演示文稿</vt:lpstr>
      <vt:lpstr>PowerPoint 演示文稿</vt:lpstr>
      <vt:lpstr>PowerPoint 演示文稿</vt:lpstr>
      <vt:lpstr>思考题：高铁的“市场换技术”为什么成功了？</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创新经济学</dc:title>
  <dc:creator>zc</dc:creator>
  <cp:lastModifiedBy>zc</cp:lastModifiedBy>
  <cp:revision>261</cp:revision>
  <cp:lastPrinted>2016-08-29T03:01:01Z</cp:lastPrinted>
  <dcterms:created xsi:type="dcterms:W3CDTF">2016-08-24T00:56:32Z</dcterms:created>
  <dcterms:modified xsi:type="dcterms:W3CDTF">2019-10-08T03:36:17Z</dcterms:modified>
</cp:coreProperties>
</file>