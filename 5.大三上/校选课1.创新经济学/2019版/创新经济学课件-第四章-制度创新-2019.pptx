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84"/>
  </p:notesMasterIdLst>
  <p:handoutMasterIdLst>
    <p:handoutMasterId r:id="rId85"/>
  </p:handoutMasterIdLst>
  <p:sldIdLst>
    <p:sldId id="256" r:id="rId2"/>
    <p:sldId id="257" r:id="rId3"/>
    <p:sldId id="359" r:id="rId4"/>
    <p:sldId id="360" r:id="rId5"/>
    <p:sldId id="361" r:id="rId6"/>
    <p:sldId id="362" r:id="rId7"/>
    <p:sldId id="364" r:id="rId8"/>
    <p:sldId id="365" r:id="rId9"/>
    <p:sldId id="366" r:id="rId10"/>
    <p:sldId id="367" r:id="rId11"/>
    <p:sldId id="343" r:id="rId12"/>
    <p:sldId id="368" r:id="rId13"/>
    <p:sldId id="369" r:id="rId14"/>
    <p:sldId id="350" r:id="rId15"/>
    <p:sldId id="370" r:id="rId16"/>
    <p:sldId id="371" r:id="rId17"/>
    <p:sldId id="372" r:id="rId18"/>
    <p:sldId id="373" r:id="rId19"/>
    <p:sldId id="374" r:id="rId20"/>
    <p:sldId id="358" r:id="rId21"/>
    <p:sldId id="375" r:id="rId22"/>
    <p:sldId id="379" r:id="rId23"/>
    <p:sldId id="380" r:id="rId24"/>
    <p:sldId id="389" r:id="rId25"/>
    <p:sldId id="381" r:id="rId26"/>
    <p:sldId id="382" r:id="rId27"/>
    <p:sldId id="390" r:id="rId28"/>
    <p:sldId id="384" r:id="rId29"/>
    <p:sldId id="385" r:id="rId30"/>
    <p:sldId id="387" r:id="rId31"/>
    <p:sldId id="388" r:id="rId32"/>
    <p:sldId id="392" r:id="rId33"/>
    <p:sldId id="391" r:id="rId34"/>
    <p:sldId id="376" r:id="rId35"/>
    <p:sldId id="393" r:id="rId36"/>
    <p:sldId id="395" r:id="rId37"/>
    <p:sldId id="396" r:id="rId38"/>
    <p:sldId id="377" r:id="rId39"/>
    <p:sldId id="397" r:id="rId40"/>
    <p:sldId id="378" r:id="rId41"/>
    <p:sldId id="398" r:id="rId42"/>
    <p:sldId id="399" r:id="rId43"/>
    <p:sldId id="401" r:id="rId44"/>
    <p:sldId id="400" r:id="rId45"/>
    <p:sldId id="402" r:id="rId46"/>
    <p:sldId id="404" r:id="rId47"/>
    <p:sldId id="403" r:id="rId48"/>
    <p:sldId id="405" r:id="rId49"/>
    <p:sldId id="406" r:id="rId50"/>
    <p:sldId id="407" r:id="rId51"/>
    <p:sldId id="408" r:id="rId52"/>
    <p:sldId id="412" r:id="rId53"/>
    <p:sldId id="418" r:id="rId54"/>
    <p:sldId id="413" r:id="rId55"/>
    <p:sldId id="419" r:id="rId56"/>
    <p:sldId id="420" r:id="rId57"/>
    <p:sldId id="414" r:id="rId58"/>
    <p:sldId id="421" r:id="rId59"/>
    <p:sldId id="422" r:id="rId60"/>
    <p:sldId id="415" r:id="rId61"/>
    <p:sldId id="423" r:id="rId62"/>
    <p:sldId id="416" r:id="rId63"/>
    <p:sldId id="448" r:id="rId64"/>
    <p:sldId id="427" r:id="rId65"/>
    <p:sldId id="428" r:id="rId66"/>
    <p:sldId id="429" r:id="rId67"/>
    <p:sldId id="430" r:id="rId68"/>
    <p:sldId id="431" r:id="rId69"/>
    <p:sldId id="432" r:id="rId70"/>
    <p:sldId id="433" r:id="rId71"/>
    <p:sldId id="434" r:id="rId72"/>
    <p:sldId id="435" r:id="rId73"/>
    <p:sldId id="436" r:id="rId74"/>
    <p:sldId id="437" r:id="rId75"/>
    <p:sldId id="438" r:id="rId76"/>
    <p:sldId id="439" r:id="rId77"/>
    <p:sldId id="440" r:id="rId78"/>
    <p:sldId id="441" r:id="rId79"/>
    <p:sldId id="442" r:id="rId80"/>
    <p:sldId id="444" r:id="rId81"/>
    <p:sldId id="446" r:id="rId82"/>
    <p:sldId id="305" r:id="rId8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FF"/>
    <a:srgbClr val="EDFE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3" d="100"/>
          <a:sy n="93" d="100"/>
        </p:scale>
        <p:origin x="-1314" y="-2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F755745-6DA8-4705-B394-76BEE5747723}" type="datetimeFigureOut">
              <a:rPr lang="zh-CN" altLang="en-US" smtClean="0"/>
              <a:t>2019/11/5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8B870F1-F064-4538-97AD-6336D83D66C2}" type="slidenum">
              <a:rPr lang="zh-CN" altLang="en-US" smtClean="0"/>
              <a:t>‹#›</a:t>
            </a:fld>
            <a:endParaRPr lang="zh-CN" altLang="en-US"/>
          </a:p>
        </p:txBody>
      </p:sp>
    </p:spTree>
    <p:extLst>
      <p:ext uri="{BB962C8B-B14F-4D97-AF65-F5344CB8AC3E}">
        <p14:creationId xmlns:p14="http://schemas.microsoft.com/office/powerpoint/2010/main" val="19714045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9EE589-DDF6-4A7C-9EFC-C66DFCD4DCC0}" type="datetimeFigureOut">
              <a:rPr lang="zh-CN" altLang="en-US" smtClean="0"/>
              <a:t>2019/11/5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3FFB66-EBF6-4C90-92E6-1213CF9D7981}" type="slidenum">
              <a:rPr lang="zh-CN" altLang="en-US" smtClean="0"/>
              <a:t>‹#›</a:t>
            </a:fld>
            <a:endParaRPr lang="zh-CN" altLang="en-US"/>
          </a:p>
        </p:txBody>
      </p:sp>
    </p:spTree>
    <p:extLst>
      <p:ext uri="{BB962C8B-B14F-4D97-AF65-F5344CB8AC3E}">
        <p14:creationId xmlns:p14="http://schemas.microsoft.com/office/powerpoint/2010/main" val="248904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038" descr="배경화면6 copy"/>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08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1026"/>
          <p:cNvSpPr>
            <a:spLocks noGrp="1" noChangeArrowheads="1"/>
          </p:cNvSpPr>
          <p:nvPr>
            <p:ph type="ctrTitle"/>
          </p:nvPr>
        </p:nvSpPr>
        <p:spPr>
          <a:xfrm>
            <a:off x="0" y="3352800"/>
            <a:ext cx="7315200" cy="1219200"/>
          </a:xfrm>
        </p:spPr>
        <p:txBody>
          <a:bodyPr/>
          <a:lstStyle>
            <a:lvl1pPr algn="r">
              <a:defRPr sz="6000"/>
            </a:lvl1pPr>
          </a:lstStyle>
          <a:p>
            <a:pPr lvl="0"/>
            <a:r>
              <a:rPr lang="zh-CN" altLang="en-US" noProof="0" smtClean="0"/>
              <a:t>单击此处编辑母版标题样式</a:t>
            </a:r>
            <a:endParaRPr lang="ko-KR" altLang="en-US" noProof="0" smtClean="0"/>
          </a:p>
        </p:txBody>
      </p:sp>
      <p:sp>
        <p:nvSpPr>
          <p:cNvPr id="3075" name="Rectangle 1027"/>
          <p:cNvSpPr>
            <a:spLocks noGrp="1" noChangeArrowheads="1"/>
          </p:cNvSpPr>
          <p:nvPr>
            <p:ph type="subTitle" idx="1"/>
          </p:nvPr>
        </p:nvSpPr>
        <p:spPr>
          <a:xfrm>
            <a:off x="1588" y="4654550"/>
            <a:ext cx="7315200" cy="755650"/>
          </a:xfrm>
        </p:spPr>
        <p:txBody>
          <a:bodyPr/>
          <a:lstStyle>
            <a:lvl1pPr marL="0" indent="0" algn="r">
              <a:spcBef>
                <a:spcPct val="50000"/>
              </a:spcBef>
              <a:buFontTx/>
              <a:buNone/>
              <a:defRPr sz="3600" b="1">
                <a:solidFill>
                  <a:srgbClr val="660033"/>
                </a:solidFill>
              </a:defRPr>
            </a:lvl1pPr>
          </a:lstStyle>
          <a:p>
            <a:pPr lvl="0"/>
            <a:r>
              <a:rPr lang="zh-CN" altLang="en-US" noProof="0" smtClean="0"/>
              <a:t>单击此处编辑母版副标题样式</a:t>
            </a:r>
            <a:endParaRPr lang="ko-KR" altLang="en-US" noProof="0" smtClean="0"/>
          </a:p>
        </p:txBody>
      </p:sp>
      <p:sp>
        <p:nvSpPr>
          <p:cNvPr id="5" name="Rectangle 1028"/>
          <p:cNvSpPr>
            <a:spLocks noGrp="1" noChangeArrowheads="1"/>
          </p:cNvSpPr>
          <p:nvPr>
            <p:ph type="dt" sz="half" idx="10"/>
          </p:nvPr>
        </p:nvSpPr>
        <p:spPr/>
        <p:txBody>
          <a:bodyPr/>
          <a:lstStyle>
            <a:lvl1pPr>
              <a:defRPr/>
            </a:lvl1pPr>
          </a:lstStyle>
          <a:p>
            <a:fld id="{530820CF-B880-4189-942D-D702A7CBA730}" type="datetimeFigureOut">
              <a:rPr lang="zh-CN" altLang="en-US" smtClean="0"/>
              <a:t>2019/11/5</a:t>
            </a:fld>
            <a:endParaRPr lang="zh-CN" altLang="en-US"/>
          </a:p>
        </p:txBody>
      </p:sp>
      <p:sp>
        <p:nvSpPr>
          <p:cNvPr id="6" name="Rectangle 1029"/>
          <p:cNvSpPr>
            <a:spLocks noGrp="1" noChangeArrowheads="1"/>
          </p:cNvSpPr>
          <p:nvPr>
            <p:ph type="ftr" sz="quarter" idx="11"/>
          </p:nvPr>
        </p:nvSpPr>
        <p:spPr/>
        <p:txBody>
          <a:bodyPr/>
          <a:lstStyle>
            <a:lvl1pPr>
              <a:defRPr/>
            </a:lvl1pPr>
          </a:lstStyle>
          <a:p>
            <a:endParaRPr lang="zh-CN" altLang="en-US"/>
          </a:p>
        </p:txBody>
      </p:sp>
      <p:sp>
        <p:nvSpPr>
          <p:cNvPr id="7" name="Rectangle 1030"/>
          <p:cNvSpPr>
            <a:spLocks noGrp="1" noChangeArrowheads="1"/>
          </p:cNvSpPr>
          <p:nvPr>
            <p:ph type="sldNum" sz="quarter" idx="12"/>
          </p:nvPr>
        </p:nvSpPr>
        <p:spPr>
          <a:xfrm>
            <a:off x="6934200" y="6248400"/>
            <a:ext cx="1905000" cy="457200"/>
          </a:xfrm>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3728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02948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827876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6764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0100" y="16764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91524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8" name="Rectangle 5"/>
          <p:cNvSpPr>
            <a:spLocks noGrp="1" noChangeArrowheads="1"/>
          </p:cNvSpPr>
          <p:nvPr>
            <p:ph type="ftr" sz="quarter" idx="11"/>
          </p:nvPr>
        </p:nvSpPr>
        <p:spPr>
          <a:ln/>
        </p:spPr>
        <p:txBody>
          <a:bodyPr/>
          <a:lstStyle>
            <a:lvl1pPr>
              <a:defRPr/>
            </a:lvl1pPr>
          </a:lstStyle>
          <a:p>
            <a:endParaRPr lang="zh-CN" altLang="en-US"/>
          </a:p>
        </p:txBody>
      </p:sp>
      <p:sp>
        <p:nvSpPr>
          <p:cNvPr id="9"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1744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4" name="Rectangle 5"/>
          <p:cNvSpPr>
            <a:spLocks noGrp="1" noChangeArrowheads="1"/>
          </p:cNvSpPr>
          <p:nvPr>
            <p:ph type="ftr" sz="quarter" idx="11"/>
          </p:nvPr>
        </p:nvSpPr>
        <p:spPr>
          <a:ln/>
        </p:spPr>
        <p:txBody>
          <a:bodyPr/>
          <a:lstStyle>
            <a:lvl1pPr>
              <a:defRPr/>
            </a:lvl1pPr>
          </a:lstStyle>
          <a:p>
            <a:endParaRPr lang="zh-CN" altLang="en-US"/>
          </a:p>
        </p:txBody>
      </p:sp>
      <p:sp>
        <p:nvSpPr>
          <p:cNvPr id="5"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05455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3" name="Rectangle 5"/>
          <p:cNvSpPr>
            <a:spLocks noGrp="1" noChangeArrowheads="1"/>
          </p:cNvSpPr>
          <p:nvPr>
            <p:ph type="ftr" sz="quarter" idx="11"/>
          </p:nvPr>
        </p:nvSpPr>
        <p:spPr>
          <a:ln/>
        </p:spPr>
        <p:txBody>
          <a:bodyPr/>
          <a:lstStyle>
            <a:lvl1pPr>
              <a:defRPr/>
            </a:lvl1pPr>
          </a:lstStyle>
          <a:p>
            <a:endParaRPr lang="zh-CN" altLang="en-US"/>
          </a:p>
        </p:txBody>
      </p:sp>
      <p:sp>
        <p:nvSpPr>
          <p:cNvPr id="4"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84866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95253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75762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860292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457200"/>
            <a:ext cx="2076450" cy="5334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457200"/>
            <a:ext cx="6076950" cy="5334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2019/11/5</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79637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202180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 descr="배경화면6(셋트2) copy"/>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08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381000" y="45720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8" name="Rectangle 3"/>
          <p:cNvSpPr>
            <a:spLocks noGrp="1" noChangeArrowheads="1"/>
          </p:cNvSpPr>
          <p:nvPr>
            <p:ph type="body" idx="1"/>
          </p:nvPr>
        </p:nvSpPr>
        <p:spPr bwMode="auto">
          <a:xfrm>
            <a:off x="381000" y="1676400"/>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latinLnBrk="1">
              <a:defRPr sz="1400">
                <a:solidFill>
                  <a:srgbClr val="660033"/>
                </a:solidFill>
                <a:latin typeface="+mn-lt"/>
                <a:ea typeface="+mn-ea"/>
              </a:defRPr>
            </a:lvl1pPr>
          </a:lstStyle>
          <a:p>
            <a:fld id="{530820CF-B880-4189-942D-D702A7CBA730}" type="datetimeFigureOut">
              <a:rPr lang="zh-CN" altLang="en-US" smtClean="0"/>
              <a:t>2019/11/5</a:t>
            </a:fld>
            <a:endParaRPr lang="zh-CN"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latinLnBrk="1">
              <a:defRPr sz="1400">
                <a:solidFill>
                  <a:srgbClr val="660033"/>
                </a:solidFill>
                <a:latin typeface="+mn-lt"/>
                <a:ea typeface="+mn-ea"/>
              </a:defRPr>
            </a:lvl1pPr>
          </a:lstStyle>
          <a:p>
            <a:endParaRPr lang="zh-CN" altLang="en-US"/>
          </a:p>
        </p:txBody>
      </p:sp>
      <p:sp>
        <p:nvSpPr>
          <p:cNvPr id="1030" name="Rectangle 6"/>
          <p:cNvSpPr>
            <a:spLocks noGrp="1" noChangeArrowheads="1"/>
          </p:cNvSpPr>
          <p:nvPr>
            <p:ph type="sldNum" sz="quarter" idx="4"/>
          </p:nvPr>
        </p:nvSpPr>
        <p:spPr bwMode="auto">
          <a:xfrm>
            <a:off x="6781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latinLnBrk="1">
              <a:defRPr sz="1400">
                <a:solidFill>
                  <a:srgbClr val="660033"/>
                </a:solidFill>
                <a:latin typeface="+mn-lt"/>
                <a:ea typeface="+mn-ea"/>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p:titleStyle>
    <p:body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3568" y="908720"/>
            <a:ext cx="7992888" cy="2160240"/>
          </a:xfrm>
        </p:spPr>
        <p:txBody>
          <a:bodyPr/>
          <a:lstStyle/>
          <a:p>
            <a:pPr algn="l"/>
            <a:r>
              <a:rPr lang="zh-CN" altLang="en-US" b="1" dirty="0" smtClean="0">
                <a:solidFill>
                  <a:schemeClr val="accent4"/>
                </a:solidFill>
                <a:latin typeface="黑体" pitchFamily="49" charset="-122"/>
                <a:ea typeface="黑体" pitchFamily="49" charset="-122"/>
              </a:rPr>
              <a:t>第四章 制度创新原理</a:t>
            </a:r>
            <a:endParaRPr lang="zh-CN" altLang="en-US" b="1" dirty="0">
              <a:solidFill>
                <a:schemeClr val="accent4"/>
              </a:solidFill>
              <a:latin typeface="黑体" pitchFamily="49" charset="-122"/>
              <a:ea typeface="黑体" pitchFamily="49" charset="-122"/>
            </a:endParaRPr>
          </a:p>
        </p:txBody>
      </p:sp>
      <p:sp>
        <p:nvSpPr>
          <p:cNvPr id="3" name="副标题 2"/>
          <p:cNvSpPr>
            <a:spLocks noGrp="1"/>
          </p:cNvSpPr>
          <p:nvPr>
            <p:ph type="subTitle" idx="1"/>
          </p:nvPr>
        </p:nvSpPr>
        <p:spPr>
          <a:xfrm>
            <a:off x="611560" y="4365104"/>
            <a:ext cx="5976664" cy="755650"/>
          </a:xfrm>
        </p:spPr>
        <p:txBody>
          <a:bodyPr/>
          <a:lstStyle/>
          <a:p>
            <a:pPr algn="ctr"/>
            <a:r>
              <a:rPr lang="zh-CN" altLang="en-US" dirty="0" smtClean="0">
                <a:solidFill>
                  <a:srgbClr val="002060"/>
                </a:solidFill>
                <a:latin typeface="楷体_GB2312" pitchFamily="49" charset="-122"/>
                <a:ea typeface="楷体_GB2312" pitchFamily="49" charset="-122"/>
              </a:rPr>
              <a:t>檀勤良、张充</a:t>
            </a:r>
            <a:endParaRPr lang="zh-CN" altLang="en-US" dirty="0">
              <a:solidFill>
                <a:srgbClr val="002060"/>
              </a:solidFill>
              <a:latin typeface="楷体_GB2312" pitchFamily="49" charset="-122"/>
              <a:ea typeface="楷体_GB2312" pitchFamily="49" charset="-122"/>
            </a:endParaRPr>
          </a:p>
        </p:txBody>
      </p:sp>
    </p:spTree>
    <p:extLst>
      <p:ext uri="{BB962C8B-B14F-4D97-AF65-F5344CB8AC3E}">
        <p14:creationId xmlns:p14="http://schemas.microsoft.com/office/powerpoint/2010/main" val="2432478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260648"/>
            <a:ext cx="2952328" cy="1143000"/>
          </a:xfrm>
          <a:solidFill>
            <a:srgbClr val="FFFF00"/>
          </a:solidFill>
          <a:ln>
            <a:solidFill>
              <a:srgbClr val="FFFF00"/>
            </a:solidFill>
          </a:ln>
        </p:spPr>
        <p:txBody>
          <a:bodyPr/>
          <a:lstStyle/>
          <a:p>
            <a:r>
              <a:rPr lang="zh-CN" altLang="en-US" b="1" dirty="0" smtClean="0">
                <a:latin typeface="黑体" pitchFamily="49" charset="-122"/>
                <a:ea typeface="黑体" pitchFamily="49" charset="-122"/>
              </a:rPr>
              <a:t>授课内容</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1691680" y="1340768"/>
            <a:ext cx="5832648" cy="4896544"/>
          </a:xfrm>
        </p:spPr>
        <p:txBody>
          <a:bodyPr/>
          <a:lstStyle/>
          <a:p>
            <a:r>
              <a:rPr lang="zh-CN" altLang="en-US" sz="4400" b="1" dirty="0" smtClean="0">
                <a:latin typeface="隶书" pitchFamily="49" charset="-122"/>
                <a:ea typeface="隶书" pitchFamily="49" charset="-122"/>
              </a:rPr>
              <a:t>制度创新的概念</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制度创新的相关理论</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制度供需分析</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制度均衡与非均衡</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制度创新的过程</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制度创新的模型比较</a:t>
            </a:r>
            <a:endParaRPr lang="zh-CN" altLang="en-US" sz="4400" b="1" dirty="0">
              <a:latin typeface="隶书" pitchFamily="49" charset="-122"/>
              <a:ea typeface="隶书" pitchFamily="49" charset="-122"/>
            </a:endParaRPr>
          </a:p>
        </p:txBody>
      </p:sp>
    </p:spTree>
    <p:extLst>
      <p:ext uri="{BB962C8B-B14F-4D97-AF65-F5344CB8AC3E}">
        <p14:creationId xmlns:p14="http://schemas.microsoft.com/office/powerpoint/2010/main" val="32862586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568952" cy="1143000"/>
          </a:xfrm>
          <a:solidFill>
            <a:srgbClr val="EDFEC4"/>
          </a:solidFill>
          <a:ln>
            <a:solidFill>
              <a:schemeClr val="accent1">
                <a:lumMod val="20000"/>
                <a:lumOff val="80000"/>
              </a:schemeClr>
            </a:solidFill>
          </a:ln>
        </p:spPr>
        <p:txBody>
          <a:bodyPr/>
          <a:lstStyle/>
          <a:p>
            <a:r>
              <a:rPr lang="zh-CN" altLang="en-US" sz="3600" b="1" dirty="0" smtClean="0">
                <a:latin typeface="幼圆" panose="02010509060101010101" pitchFamily="49" charset="-122"/>
                <a:ea typeface="幼圆" panose="02010509060101010101" pitchFamily="49" charset="-122"/>
              </a:rPr>
              <a:t>案例：新中国最成功的一次制度创新</a:t>
            </a:r>
            <a:r>
              <a:rPr lang="en-US" altLang="zh-CN" sz="3600" b="1" dirty="0">
                <a:latin typeface="幼圆" panose="02010509060101010101" pitchFamily="49" charset="-122"/>
                <a:ea typeface="幼圆" panose="02010509060101010101" pitchFamily="49" charset="-122"/>
              </a:rPr>
              <a:t>——</a:t>
            </a:r>
            <a:r>
              <a:rPr lang="en-US" altLang="zh-CN" sz="3600" b="1" dirty="0" smtClean="0">
                <a:latin typeface="幼圆" panose="02010509060101010101" pitchFamily="49" charset="-122"/>
                <a:ea typeface="幼圆" panose="02010509060101010101" pitchFamily="49" charset="-122"/>
              </a:rPr>
              <a:t>  </a:t>
            </a:r>
            <a:br>
              <a:rPr lang="en-US" altLang="zh-CN" sz="3600" b="1" dirty="0" smtClean="0">
                <a:latin typeface="幼圆" panose="02010509060101010101" pitchFamily="49" charset="-122"/>
                <a:ea typeface="幼圆" panose="02010509060101010101" pitchFamily="49" charset="-122"/>
              </a:rPr>
            </a:br>
            <a:r>
              <a:rPr lang="en-US" altLang="zh-CN" sz="3600" b="1" dirty="0">
                <a:latin typeface="幼圆" panose="02010509060101010101" pitchFamily="49" charset="-122"/>
                <a:ea typeface="幼圆" panose="02010509060101010101" pitchFamily="49" charset="-122"/>
              </a:rPr>
              <a:t> </a:t>
            </a:r>
            <a:r>
              <a:rPr lang="en-US" altLang="zh-CN" sz="3600" b="1" dirty="0" smtClean="0">
                <a:latin typeface="幼圆" panose="02010509060101010101" pitchFamily="49" charset="-122"/>
                <a:ea typeface="幼圆" panose="02010509060101010101" pitchFamily="49" charset="-122"/>
              </a:rPr>
              <a:t>     </a:t>
            </a:r>
            <a:r>
              <a:rPr lang="zh-CN" altLang="en-US" sz="4000" b="1" dirty="0" smtClean="0">
                <a:latin typeface="幼圆" panose="02010509060101010101" pitchFamily="49" charset="-122"/>
                <a:ea typeface="幼圆" panose="02010509060101010101" pitchFamily="49" charset="-122"/>
              </a:rPr>
              <a:t>家庭联产承包责任制的确立</a:t>
            </a:r>
            <a:endParaRPr lang="zh-CN" altLang="en-US" sz="4000" b="1" dirty="0">
              <a:latin typeface="幼圆" panose="02010509060101010101" pitchFamily="49" charset="-122"/>
              <a:ea typeface="幼圆" panose="02010509060101010101" pitchFamily="49" charset="-122"/>
            </a:endParaRPr>
          </a:p>
        </p:txBody>
      </p:sp>
      <p:sp>
        <p:nvSpPr>
          <p:cNvPr id="3" name="文本占位符 2"/>
          <p:cNvSpPr>
            <a:spLocks noGrp="1"/>
          </p:cNvSpPr>
          <p:nvPr>
            <p:ph type="body" idx="1"/>
          </p:nvPr>
        </p:nvSpPr>
        <p:spPr>
          <a:xfrm>
            <a:off x="383096" y="1502185"/>
            <a:ext cx="8305800" cy="4608512"/>
          </a:xfrm>
        </p:spPr>
        <p:txBody>
          <a:bodyPr/>
          <a:lstStyle/>
          <a:p>
            <a:r>
              <a:rPr lang="zh-CN" altLang="en-US" b="1" dirty="0" smtClean="0">
                <a:latin typeface="楷体_GB2312" panose="02010609030101010101" pitchFamily="49" charset="-122"/>
                <a:ea typeface="楷体_GB2312" panose="02010609030101010101" pitchFamily="49" charset="-122"/>
              </a:rPr>
              <a:t>土地是农民的命根子，土地制度是中国农村基本经济制度。</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到</a:t>
            </a:r>
            <a:r>
              <a:rPr lang="en-US" altLang="zh-CN" b="1" dirty="0">
                <a:latin typeface="楷体_GB2312" panose="02010609030101010101" pitchFamily="49" charset="-122"/>
                <a:ea typeface="楷体_GB2312" panose="02010609030101010101" pitchFamily="49" charset="-122"/>
              </a:rPr>
              <a:t>1952</a:t>
            </a:r>
            <a:r>
              <a:rPr lang="zh-CN" altLang="en-US" b="1" dirty="0">
                <a:latin typeface="楷体_GB2312" panose="02010609030101010101" pitchFamily="49" charset="-122"/>
                <a:ea typeface="楷体_GB2312" panose="02010609030101010101" pitchFamily="49" charset="-122"/>
              </a:rPr>
              <a:t>年底，全国广大解放区的土地改革己全部完成</a:t>
            </a:r>
            <a:r>
              <a:rPr lang="zh-CN" altLang="en-US" b="1" dirty="0" smtClean="0">
                <a:latin typeface="楷体_GB2312" panose="02010609030101010101" pitchFamily="49" charset="-122"/>
                <a:ea typeface="楷体_GB2312" panose="02010609030101010101" pitchFamily="49" charset="-122"/>
              </a:rPr>
              <a:t>，土地</a:t>
            </a:r>
            <a:r>
              <a:rPr lang="zh-CN" altLang="en-US" b="1" dirty="0">
                <a:latin typeface="楷体_GB2312" panose="02010609030101010101" pitchFamily="49" charset="-122"/>
                <a:ea typeface="楷体_GB2312" panose="02010609030101010101" pitchFamily="49" charset="-122"/>
              </a:rPr>
              <a:t>由剥削阶级所有转为归农民所有，实现了“耕者有其田”的目标</a:t>
            </a:r>
            <a:r>
              <a:rPr lang="zh-CN" altLang="en-US" b="1" dirty="0" smtClean="0">
                <a:latin typeface="楷体_GB2312" panose="02010609030101010101" pitchFamily="49" charset="-122"/>
                <a:ea typeface="楷体_GB2312" panose="02010609030101010101" pitchFamily="49" charset="-122"/>
              </a:rPr>
              <a:t>，有力</a:t>
            </a:r>
            <a:r>
              <a:rPr lang="zh-CN" altLang="en-US" b="1" dirty="0">
                <a:latin typeface="楷体_GB2312" panose="02010609030101010101" pitchFamily="49" charset="-122"/>
                <a:ea typeface="楷体_GB2312" panose="02010609030101010101" pitchFamily="49" charset="-122"/>
              </a:rPr>
              <a:t>地激发了农民的劳动</a:t>
            </a:r>
            <a:r>
              <a:rPr lang="zh-CN" altLang="en-US" b="1" dirty="0" smtClean="0">
                <a:latin typeface="楷体_GB2312" panose="02010609030101010101" pitchFamily="49" charset="-122"/>
                <a:ea typeface="楷体_GB2312" panose="02010609030101010101" pitchFamily="49" charset="-122"/>
              </a:rPr>
              <a:t>积极性，使</a:t>
            </a:r>
            <a:r>
              <a:rPr lang="zh-CN" altLang="en-US" b="1" dirty="0">
                <a:latin typeface="楷体_GB2312" panose="02010609030101010101" pitchFamily="49" charset="-122"/>
                <a:ea typeface="楷体_GB2312" panose="02010609030101010101" pitchFamily="49" charset="-122"/>
              </a:rPr>
              <a:t>农业生产迅速得到恢复和发展</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土改以后</a:t>
            </a:r>
            <a:r>
              <a:rPr lang="zh-CN" altLang="en-US" b="1" dirty="0" smtClean="0">
                <a:latin typeface="楷体_GB2312" panose="02010609030101010101" pitchFamily="49" charset="-122"/>
                <a:ea typeface="楷体_GB2312" panose="02010609030101010101" pitchFamily="49" charset="-122"/>
              </a:rPr>
              <a:t>，农村掀起</a:t>
            </a:r>
            <a:r>
              <a:rPr lang="zh-CN" altLang="en-US" b="1" dirty="0">
                <a:latin typeface="楷体_GB2312" panose="02010609030101010101" pitchFamily="49" charset="-122"/>
                <a:ea typeface="楷体_GB2312" panose="02010609030101010101" pitchFamily="49" charset="-122"/>
              </a:rPr>
              <a:t>了农业合作化运动</a:t>
            </a:r>
            <a:r>
              <a:rPr lang="zh-CN" altLang="en-US" b="1" dirty="0" smtClean="0">
                <a:latin typeface="楷体_GB2312" panose="02010609030101010101" pitchFamily="49" charset="-122"/>
                <a:ea typeface="楷体_GB2312" panose="02010609030101010101" pitchFamily="49" charset="-122"/>
              </a:rPr>
              <a:t>。从</a:t>
            </a:r>
            <a:r>
              <a:rPr lang="en-US" altLang="zh-CN" b="1" dirty="0">
                <a:latin typeface="楷体_GB2312" panose="02010609030101010101" pitchFamily="49" charset="-122"/>
                <a:ea typeface="楷体_GB2312" panose="02010609030101010101" pitchFamily="49" charset="-122"/>
              </a:rPr>
              <a:t>1955</a:t>
            </a:r>
            <a:r>
              <a:rPr lang="zh-CN" altLang="en-US" b="1" dirty="0" smtClean="0">
                <a:latin typeface="楷体_GB2312" panose="02010609030101010101" pitchFamily="49" charset="-122"/>
                <a:ea typeface="楷体_GB2312" panose="02010609030101010101" pitchFamily="49" charset="-122"/>
              </a:rPr>
              <a:t>年开始</a:t>
            </a:r>
            <a:r>
              <a:rPr lang="zh-CN" altLang="en-US" b="1" dirty="0">
                <a:latin typeface="楷体_GB2312" panose="02010609030101010101" pitchFamily="49" charset="-122"/>
                <a:ea typeface="楷体_GB2312" panose="02010609030101010101" pitchFamily="49" charset="-122"/>
              </a:rPr>
              <a:t>，高级合作社开始在全国推行</a:t>
            </a:r>
            <a:r>
              <a:rPr lang="zh-CN" altLang="en-US" b="1" dirty="0" smtClean="0">
                <a:latin typeface="楷体_GB2312" panose="02010609030101010101" pitchFamily="49" charset="-122"/>
                <a:ea typeface="楷体_GB2312" panose="02010609030101010101" pitchFamily="49" charset="-122"/>
              </a:rPr>
              <a:t>，高级社出了</a:t>
            </a:r>
            <a:r>
              <a:rPr lang="zh-CN" altLang="en-US" b="1" dirty="0">
                <a:latin typeface="楷体_GB2312" panose="02010609030101010101" pitchFamily="49" charset="-122"/>
                <a:ea typeface="楷体_GB2312" panose="02010609030101010101" pitchFamily="49" charset="-122"/>
              </a:rPr>
              <a:t>“一大二公”，把农民的土地私有制改成了合作社性质的劳动群众集体所有制，土地的农民私有被集体统一所有</a:t>
            </a:r>
            <a:r>
              <a:rPr lang="zh-CN" altLang="en-US" b="1" dirty="0" smtClean="0">
                <a:latin typeface="楷体_GB2312" panose="02010609030101010101" pitchFamily="49" charset="-122"/>
                <a:ea typeface="楷体_GB2312" panose="02010609030101010101" pitchFamily="49" charset="-122"/>
              </a:rPr>
              <a:t>代替。高度</a:t>
            </a:r>
            <a:r>
              <a:rPr lang="zh-CN" altLang="en-US" b="1" dirty="0">
                <a:latin typeface="楷体_GB2312" panose="02010609030101010101" pitchFamily="49" charset="-122"/>
                <a:ea typeface="楷体_GB2312" panose="02010609030101010101" pitchFamily="49" charset="-122"/>
              </a:rPr>
              <a:t>集中的劳动方式和分配中的平均主义</a:t>
            </a:r>
            <a:r>
              <a:rPr lang="zh-CN" altLang="en-US" b="1" dirty="0" smtClean="0">
                <a:latin typeface="楷体_GB2312" panose="02010609030101010101" pitchFamily="49" charset="-122"/>
                <a:ea typeface="楷体_GB2312" panose="02010609030101010101" pitchFamily="49" charset="-122"/>
              </a:rPr>
              <a:t>，严重制约了农民的生产积极性。（朝鲜）</a:t>
            </a:r>
            <a:endParaRPr lang="zh-CN" altLang="en-US" b="1" dirty="0">
              <a:latin typeface="楷体_GB2312" panose="02010609030101010101" pitchFamily="49" charset="-122"/>
              <a:ea typeface="楷体_GB2312" panose="02010609030101010101"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5435936"/>
            <a:ext cx="2952328" cy="1409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192" y="5435936"/>
            <a:ext cx="2494576" cy="1400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20367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568952" cy="1143000"/>
          </a:xfrm>
          <a:solidFill>
            <a:srgbClr val="EDFEC4"/>
          </a:solidFill>
          <a:ln>
            <a:solidFill>
              <a:schemeClr val="accent1">
                <a:lumMod val="20000"/>
                <a:lumOff val="80000"/>
              </a:schemeClr>
            </a:solidFill>
          </a:ln>
        </p:spPr>
        <p:txBody>
          <a:bodyPr/>
          <a:lstStyle/>
          <a:p>
            <a:r>
              <a:rPr lang="zh-CN" altLang="en-US" sz="3600" b="1" dirty="0" smtClean="0">
                <a:latin typeface="幼圆" panose="02010509060101010101" pitchFamily="49" charset="-122"/>
                <a:ea typeface="幼圆" panose="02010509060101010101" pitchFamily="49" charset="-122"/>
              </a:rPr>
              <a:t>案例：新中国最成功的一次制度创新</a:t>
            </a:r>
            <a:r>
              <a:rPr lang="en-US" altLang="zh-CN" sz="3600" b="1" dirty="0">
                <a:latin typeface="幼圆" panose="02010509060101010101" pitchFamily="49" charset="-122"/>
                <a:ea typeface="幼圆" panose="02010509060101010101" pitchFamily="49" charset="-122"/>
              </a:rPr>
              <a:t>——</a:t>
            </a:r>
            <a:r>
              <a:rPr lang="en-US" altLang="zh-CN" sz="3600" b="1" dirty="0" smtClean="0">
                <a:latin typeface="幼圆" panose="02010509060101010101" pitchFamily="49" charset="-122"/>
                <a:ea typeface="幼圆" panose="02010509060101010101" pitchFamily="49" charset="-122"/>
              </a:rPr>
              <a:t>  </a:t>
            </a:r>
            <a:br>
              <a:rPr lang="en-US" altLang="zh-CN" sz="3600" b="1" dirty="0" smtClean="0">
                <a:latin typeface="幼圆" panose="02010509060101010101" pitchFamily="49" charset="-122"/>
                <a:ea typeface="幼圆" panose="02010509060101010101" pitchFamily="49" charset="-122"/>
              </a:rPr>
            </a:br>
            <a:r>
              <a:rPr lang="en-US" altLang="zh-CN" sz="3600" b="1" dirty="0">
                <a:latin typeface="幼圆" panose="02010509060101010101" pitchFamily="49" charset="-122"/>
                <a:ea typeface="幼圆" panose="02010509060101010101" pitchFamily="49" charset="-122"/>
              </a:rPr>
              <a:t> </a:t>
            </a:r>
            <a:r>
              <a:rPr lang="en-US" altLang="zh-CN" sz="3600" b="1" dirty="0" smtClean="0">
                <a:latin typeface="幼圆" panose="02010509060101010101" pitchFamily="49" charset="-122"/>
                <a:ea typeface="幼圆" panose="02010509060101010101" pitchFamily="49" charset="-122"/>
              </a:rPr>
              <a:t>     </a:t>
            </a:r>
            <a:r>
              <a:rPr lang="zh-CN" altLang="en-US" sz="4000" b="1" dirty="0" smtClean="0">
                <a:latin typeface="幼圆" panose="02010509060101010101" pitchFamily="49" charset="-122"/>
                <a:ea typeface="幼圆" panose="02010509060101010101" pitchFamily="49" charset="-122"/>
              </a:rPr>
              <a:t>家庭联产承包责任制的确立</a:t>
            </a:r>
            <a:endParaRPr lang="zh-CN" altLang="en-US" sz="4000" b="1" dirty="0">
              <a:latin typeface="幼圆" panose="02010509060101010101" pitchFamily="49" charset="-122"/>
              <a:ea typeface="幼圆" panose="02010509060101010101" pitchFamily="49" charset="-122"/>
            </a:endParaRPr>
          </a:p>
        </p:txBody>
      </p:sp>
      <p:sp>
        <p:nvSpPr>
          <p:cNvPr id="3" name="文本占位符 2"/>
          <p:cNvSpPr>
            <a:spLocks noGrp="1"/>
          </p:cNvSpPr>
          <p:nvPr>
            <p:ph type="body" idx="1"/>
          </p:nvPr>
        </p:nvSpPr>
        <p:spPr>
          <a:xfrm>
            <a:off x="383096" y="1502185"/>
            <a:ext cx="6646227" cy="4608512"/>
          </a:xfrm>
        </p:spPr>
        <p:txBody>
          <a:bodyPr/>
          <a:lstStyle/>
          <a:p>
            <a:r>
              <a:rPr lang="zh-CN" altLang="en-US" b="1" dirty="0" smtClean="0">
                <a:latin typeface="楷体_GB2312" panose="02010609030101010101" pitchFamily="49" charset="-122"/>
                <a:ea typeface="楷体_GB2312" panose="02010609030101010101" pitchFamily="49" charset="-122"/>
              </a:rPr>
              <a:t>安徽凤阳县</a:t>
            </a:r>
            <a:r>
              <a:rPr lang="zh-CN" altLang="en-US" b="1" dirty="0">
                <a:latin typeface="楷体_GB2312" panose="02010609030101010101" pitchFamily="49" charset="-122"/>
                <a:ea typeface="楷体_GB2312" panose="02010609030101010101" pitchFamily="49" charset="-122"/>
              </a:rPr>
              <a:t>小岗村</a:t>
            </a:r>
            <a:r>
              <a:rPr lang="zh-CN" altLang="en-US" b="1" dirty="0" smtClean="0">
                <a:latin typeface="楷体_GB2312" panose="02010609030101010101" pitchFamily="49" charset="-122"/>
                <a:ea typeface="楷体_GB2312" panose="02010609030101010101" pitchFamily="49" charset="-122"/>
              </a:rPr>
              <a:t>，这里土地贫瘠、十年</a:t>
            </a:r>
            <a:r>
              <a:rPr lang="zh-CN" altLang="en-US" b="1" dirty="0">
                <a:latin typeface="楷体_GB2312" panose="02010609030101010101" pitchFamily="49" charset="-122"/>
                <a:ea typeface="楷体_GB2312" panose="02010609030101010101" pitchFamily="49" charset="-122"/>
              </a:rPr>
              <a:t>九</a:t>
            </a:r>
            <a:r>
              <a:rPr lang="zh-CN" altLang="en-US" b="1" dirty="0" smtClean="0">
                <a:latin typeface="楷体_GB2312" panose="02010609030101010101" pitchFamily="49" charset="-122"/>
                <a:ea typeface="楷体_GB2312" panose="02010609030101010101" pitchFamily="49" charset="-122"/>
              </a:rPr>
              <a:t>灾。每年农民打</a:t>
            </a:r>
            <a:r>
              <a:rPr lang="zh-CN" altLang="en-US" b="1" dirty="0">
                <a:latin typeface="楷体_GB2312" panose="02010609030101010101" pitchFamily="49" charset="-122"/>
                <a:ea typeface="楷体_GB2312" panose="02010609030101010101" pitchFamily="49" charset="-122"/>
              </a:rPr>
              <a:t>着花鼓到外省讨饭，让“凤阳花鼓”成了“讨饭”的同义词</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人民公社时代“上工大呼隆，下地似绵羊</a:t>
            </a:r>
            <a:r>
              <a:rPr lang="zh-CN" altLang="en-US" b="1" dirty="0" smtClean="0">
                <a:latin typeface="楷体_GB2312" panose="02010609030101010101" pitchFamily="49" charset="-122"/>
                <a:ea typeface="楷体_GB2312" panose="02010609030101010101" pitchFamily="49" charset="-122"/>
              </a:rPr>
              <a:t>”，小</a:t>
            </a:r>
            <a:r>
              <a:rPr lang="zh-CN" altLang="en-US" b="1" dirty="0">
                <a:latin typeface="楷体_GB2312" panose="02010609030101010101" pitchFamily="49" charset="-122"/>
                <a:ea typeface="楷体_GB2312" panose="02010609030101010101" pitchFamily="49" charset="-122"/>
              </a:rPr>
              <a:t>岗</a:t>
            </a:r>
            <a:r>
              <a:rPr lang="zh-CN" altLang="en-US" b="1" dirty="0" smtClean="0">
                <a:latin typeface="楷体_GB2312" panose="02010609030101010101" pitchFamily="49" charset="-122"/>
                <a:ea typeface="楷体_GB2312" panose="02010609030101010101" pitchFamily="49" charset="-122"/>
              </a:rPr>
              <a:t>村</a:t>
            </a:r>
            <a:r>
              <a:rPr lang="en-US" altLang="zh-CN" b="1" dirty="0" smtClean="0">
                <a:latin typeface="楷体_GB2312" panose="02010609030101010101" pitchFamily="49" charset="-122"/>
                <a:ea typeface="楷体_GB2312" panose="02010609030101010101" pitchFamily="49" charset="-122"/>
              </a:rPr>
              <a:t>20</a:t>
            </a:r>
            <a:r>
              <a:rPr lang="zh-CN" altLang="en-US" b="1" dirty="0">
                <a:latin typeface="楷体_GB2312" panose="02010609030101010101" pitchFamily="49" charset="-122"/>
                <a:ea typeface="楷体_GB2312" panose="02010609030101010101" pitchFamily="49" charset="-122"/>
              </a:rPr>
              <a:t>户</a:t>
            </a:r>
            <a:r>
              <a:rPr lang="en-US" altLang="zh-CN" b="1" dirty="0">
                <a:latin typeface="楷体_GB2312" panose="02010609030101010101" pitchFamily="49" charset="-122"/>
                <a:ea typeface="楷体_GB2312" panose="02010609030101010101" pitchFamily="49" charset="-122"/>
              </a:rPr>
              <a:t>115</a:t>
            </a:r>
            <a:r>
              <a:rPr lang="zh-CN" altLang="en-US" b="1" dirty="0">
                <a:latin typeface="楷体_GB2312" panose="02010609030101010101" pitchFamily="49" charset="-122"/>
                <a:ea typeface="楷体_GB2312" panose="02010609030101010101" pitchFamily="49" charset="-122"/>
              </a:rPr>
              <a:t>名村民，</a:t>
            </a:r>
            <a:r>
              <a:rPr lang="zh-CN" altLang="en-US" b="1" dirty="0" smtClean="0">
                <a:latin typeface="楷体_GB2312" panose="02010609030101010101" pitchFamily="49" charset="-122"/>
                <a:ea typeface="楷体_GB2312" panose="02010609030101010101" pitchFamily="49" charset="-122"/>
              </a:rPr>
              <a:t>早就没</a:t>
            </a:r>
            <a:r>
              <a:rPr lang="zh-CN" altLang="en-US" b="1" dirty="0">
                <a:latin typeface="楷体_GB2312" panose="02010609030101010101" pitchFamily="49" charset="-122"/>
                <a:ea typeface="楷体_GB2312" panose="02010609030101010101" pitchFamily="49" charset="-122"/>
              </a:rPr>
              <a:t>了生产</a:t>
            </a:r>
            <a:r>
              <a:rPr lang="zh-CN" altLang="en-US" b="1" dirty="0" smtClean="0">
                <a:latin typeface="楷体_GB2312" panose="02010609030101010101" pitchFamily="49" charset="-122"/>
                <a:ea typeface="楷体_GB2312" panose="02010609030101010101" pitchFamily="49" charset="-122"/>
              </a:rPr>
              <a:t>积极性。粮食</a:t>
            </a:r>
            <a:r>
              <a:rPr lang="zh-CN" altLang="en-US" b="1" dirty="0">
                <a:latin typeface="楷体_GB2312" panose="02010609030101010101" pitchFamily="49" charset="-122"/>
                <a:ea typeface="楷体_GB2312" panose="02010609030101010101" pitchFamily="49" charset="-122"/>
              </a:rPr>
              <a:t>产量之低，被自嘲为“一亩地种</a:t>
            </a:r>
            <a:r>
              <a:rPr lang="en-US" altLang="zh-CN" b="1" dirty="0">
                <a:latin typeface="楷体_GB2312" panose="02010609030101010101" pitchFamily="49" charset="-122"/>
                <a:ea typeface="楷体_GB2312" panose="02010609030101010101" pitchFamily="49" charset="-122"/>
              </a:rPr>
              <a:t>20</a:t>
            </a:r>
            <a:r>
              <a:rPr lang="zh-CN" altLang="en-US" b="1" dirty="0">
                <a:latin typeface="楷体_GB2312" panose="02010609030101010101" pitchFamily="49" charset="-122"/>
                <a:ea typeface="楷体_GB2312" panose="02010609030101010101" pitchFamily="49" charset="-122"/>
              </a:rPr>
              <a:t>斤种子，收</a:t>
            </a:r>
            <a:r>
              <a:rPr lang="en-US" altLang="zh-CN" b="1" dirty="0">
                <a:latin typeface="楷体_GB2312" panose="02010609030101010101" pitchFamily="49" charset="-122"/>
                <a:ea typeface="楷体_GB2312" panose="02010609030101010101" pitchFamily="49" charset="-122"/>
              </a:rPr>
              <a:t>18</a:t>
            </a:r>
            <a:r>
              <a:rPr lang="zh-CN" altLang="en-US" b="1" dirty="0">
                <a:latin typeface="楷体_GB2312" panose="02010609030101010101" pitchFamily="49" charset="-122"/>
                <a:ea typeface="楷体_GB2312" panose="02010609030101010101" pitchFamily="49" charset="-122"/>
              </a:rPr>
              <a:t>斤，收时不用镰刀用手拔”</a:t>
            </a:r>
            <a:r>
              <a:rPr lang="zh-CN" altLang="en-US" b="1" dirty="0" smtClean="0">
                <a:latin typeface="楷体_GB2312" panose="02010609030101010101" pitchFamily="49" charset="-122"/>
                <a:ea typeface="楷体_GB2312" panose="02010609030101010101" pitchFamily="49" charset="-122"/>
              </a:rPr>
              <a:t>。</a:t>
            </a:r>
            <a:r>
              <a:rPr lang="en-US" altLang="zh-CN" b="1" dirty="0" smtClean="0">
                <a:latin typeface="楷体_GB2312" panose="02010609030101010101" pitchFamily="49" charset="-122"/>
                <a:ea typeface="楷体_GB2312" panose="02010609030101010101" pitchFamily="49" charset="-122"/>
              </a:rPr>
              <a:t>1978</a:t>
            </a:r>
            <a:r>
              <a:rPr lang="zh-CN" altLang="en-US" b="1" dirty="0" smtClean="0">
                <a:latin typeface="楷体_GB2312" panose="02010609030101010101" pitchFamily="49" charset="-122"/>
                <a:ea typeface="楷体_GB2312" panose="02010609030101010101" pitchFamily="49" charset="-122"/>
              </a:rPr>
              <a:t>年，已经有农民重新开始到江西</a:t>
            </a:r>
            <a:r>
              <a:rPr lang="zh-CN" altLang="en-US" b="1" dirty="0">
                <a:latin typeface="楷体_GB2312" panose="02010609030101010101" pitchFamily="49" charset="-122"/>
                <a:ea typeface="楷体_GB2312" panose="02010609030101010101" pitchFamily="49" charset="-122"/>
              </a:rPr>
              <a:t>讨饭去了</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en-US" altLang="zh-CN" b="1" dirty="0">
                <a:latin typeface="楷体_GB2312" panose="02010609030101010101" pitchFamily="49" charset="-122"/>
                <a:ea typeface="楷体_GB2312" panose="02010609030101010101" pitchFamily="49" charset="-122"/>
              </a:rPr>
              <a:t>22</a:t>
            </a:r>
            <a:r>
              <a:rPr lang="zh-CN" altLang="en-US" b="1" dirty="0">
                <a:latin typeface="楷体_GB2312" panose="02010609030101010101" pitchFamily="49" charset="-122"/>
                <a:ea typeface="楷体_GB2312" panose="02010609030101010101" pitchFamily="49" charset="-122"/>
              </a:rPr>
              <a:t>岁</a:t>
            </a:r>
            <a:r>
              <a:rPr lang="zh-CN" altLang="en-US" b="1" dirty="0" smtClean="0">
                <a:latin typeface="楷体_GB2312" panose="02010609030101010101" pitchFamily="49" charset="-122"/>
                <a:ea typeface="楷体_GB2312" panose="02010609030101010101" pitchFamily="49" charset="-122"/>
              </a:rPr>
              <a:t>，严宏昌离开</a:t>
            </a:r>
            <a:r>
              <a:rPr lang="zh-CN" altLang="en-US" b="1" dirty="0">
                <a:latin typeface="楷体_GB2312" panose="02010609030101010101" pitchFamily="49" charset="-122"/>
                <a:ea typeface="楷体_GB2312" panose="02010609030101010101" pitchFamily="49" charset="-122"/>
              </a:rPr>
              <a:t>小岗到城里寻找</a:t>
            </a:r>
            <a:r>
              <a:rPr lang="zh-CN" altLang="en-US" b="1" dirty="0" smtClean="0">
                <a:latin typeface="楷体_GB2312" panose="02010609030101010101" pitchFamily="49" charset="-122"/>
                <a:ea typeface="楷体_GB2312" panose="02010609030101010101" pitchFamily="49" charset="-122"/>
              </a:rPr>
              <a:t>生机。</a:t>
            </a:r>
            <a:r>
              <a:rPr lang="zh-CN" altLang="en-US" b="1" dirty="0">
                <a:latin typeface="楷体_GB2312" panose="02010609030101010101" pitchFamily="49" charset="-122"/>
                <a:ea typeface="楷体_GB2312" panose="02010609030101010101" pitchFamily="49" charset="-122"/>
              </a:rPr>
              <a:t>渐渐地</a:t>
            </a:r>
            <a:r>
              <a:rPr lang="zh-CN" altLang="en-US" b="1" dirty="0" smtClean="0">
                <a:latin typeface="楷体_GB2312" panose="02010609030101010101" pitchFamily="49" charset="-122"/>
                <a:ea typeface="楷体_GB2312" panose="02010609030101010101" pitchFamily="49" charset="-122"/>
              </a:rPr>
              <a:t>，他开始承包建筑</a:t>
            </a:r>
            <a:r>
              <a:rPr lang="zh-CN" altLang="en-US" b="1" dirty="0">
                <a:latin typeface="楷体_GB2312" panose="02010609030101010101" pitchFamily="49" charset="-122"/>
                <a:ea typeface="楷体_GB2312" panose="02010609030101010101" pitchFamily="49" charset="-122"/>
              </a:rPr>
              <a:t>上的小活儿，成了“小包工头”。也正是从承包制，让他看到了人们工作的热情和效率</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9323" y="3717032"/>
            <a:ext cx="2105025" cy="3009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9323" y="1340768"/>
            <a:ext cx="2095018"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63675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568952" cy="1143000"/>
          </a:xfrm>
          <a:solidFill>
            <a:srgbClr val="EDFEC4"/>
          </a:solidFill>
          <a:ln>
            <a:solidFill>
              <a:schemeClr val="accent1">
                <a:lumMod val="20000"/>
                <a:lumOff val="80000"/>
              </a:schemeClr>
            </a:solidFill>
          </a:ln>
        </p:spPr>
        <p:txBody>
          <a:bodyPr/>
          <a:lstStyle/>
          <a:p>
            <a:r>
              <a:rPr lang="zh-CN" altLang="en-US" sz="3600" b="1" dirty="0" smtClean="0">
                <a:latin typeface="幼圆" panose="02010509060101010101" pitchFamily="49" charset="-122"/>
                <a:ea typeface="幼圆" panose="02010509060101010101" pitchFamily="49" charset="-122"/>
              </a:rPr>
              <a:t>案例：新中国最成功的一次制度创新</a:t>
            </a:r>
            <a:r>
              <a:rPr lang="en-US" altLang="zh-CN" sz="3600" b="1" dirty="0">
                <a:latin typeface="幼圆" panose="02010509060101010101" pitchFamily="49" charset="-122"/>
                <a:ea typeface="幼圆" panose="02010509060101010101" pitchFamily="49" charset="-122"/>
              </a:rPr>
              <a:t>——</a:t>
            </a:r>
            <a:r>
              <a:rPr lang="en-US" altLang="zh-CN" sz="3600" b="1" dirty="0" smtClean="0">
                <a:latin typeface="幼圆" panose="02010509060101010101" pitchFamily="49" charset="-122"/>
                <a:ea typeface="幼圆" panose="02010509060101010101" pitchFamily="49" charset="-122"/>
              </a:rPr>
              <a:t>  </a:t>
            </a:r>
            <a:br>
              <a:rPr lang="en-US" altLang="zh-CN" sz="3600" b="1" dirty="0" smtClean="0">
                <a:latin typeface="幼圆" panose="02010509060101010101" pitchFamily="49" charset="-122"/>
                <a:ea typeface="幼圆" panose="02010509060101010101" pitchFamily="49" charset="-122"/>
              </a:rPr>
            </a:br>
            <a:r>
              <a:rPr lang="en-US" altLang="zh-CN" sz="3600" b="1" dirty="0">
                <a:latin typeface="幼圆" panose="02010509060101010101" pitchFamily="49" charset="-122"/>
                <a:ea typeface="幼圆" panose="02010509060101010101" pitchFamily="49" charset="-122"/>
              </a:rPr>
              <a:t> </a:t>
            </a:r>
            <a:r>
              <a:rPr lang="en-US" altLang="zh-CN" sz="3600" b="1" dirty="0" smtClean="0">
                <a:latin typeface="幼圆" panose="02010509060101010101" pitchFamily="49" charset="-122"/>
                <a:ea typeface="幼圆" panose="02010509060101010101" pitchFamily="49" charset="-122"/>
              </a:rPr>
              <a:t>     </a:t>
            </a:r>
            <a:r>
              <a:rPr lang="zh-CN" altLang="en-US" sz="4000" b="1" dirty="0" smtClean="0">
                <a:latin typeface="幼圆" panose="02010509060101010101" pitchFamily="49" charset="-122"/>
                <a:ea typeface="幼圆" panose="02010509060101010101" pitchFamily="49" charset="-122"/>
              </a:rPr>
              <a:t>家庭联产承包责任制的确立</a:t>
            </a:r>
            <a:endParaRPr lang="zh-CN" altLang="en-US" sz="4000" b="1" dirty="0">
              <a:latin typeface="幼圆" panose="02010509060101010101" pitchFamily="49" charset="-122"/>
              <a:ea typeface="幼圆" panose="02010509060101010101" pitchFamily="49" charset="-122"/>
            </a:endParaRPr>
          </a:p>
        </p:txBody>
      </p:sp>
      <p:sp>
        <p:nvSpPr>
          <p:cNvPr id="3" name="文本占位符 2"/>
          <p:cNvSpPr>
            <a:spLocks noGrp="1"/>
          </p:cNvSpPr>
          <p:nvPr>
            <p:ph type="body" idx="1"/>
          </p:nvPr>
        </p:nvSpPr>
        <p:spPr>
          <a:xfrm>
            <a:off x="383096" y="1502185"/>
            <a:ext cx="8305800" cy="4608512"/>
          </a:xfrm>
        </p:spPr>
        <p:txBody>
          <a:bodyPr/>
          <a:lstStyle/>
          <a:p>
            <a:r>
              <a:rPr lang="en-US" altLang="zh-CN" b="1" dirty="0" smtClean="0">
                <a:latin typeface="楷体_GB2312" panose="02010609030101010101" pitchFamily="49" charset="-122"/>
                <a:ea typeface="楷体_GB2312" panose="02010609030101010101" pitchFamily="49" charset="-122"/>
              </a:rPr>
              <a:t>1978</a:t>
            </a:r>
            <a:r>
              <a:rPr lang="zh-CN" altLang="en-US" b="1" dirty="0" smtClean="0">
                <a:latin typeface="楷体_GB2312" panose="02010609030101010101" pitchFamily="49" charset="-122"/>
                <a:ea typeface="楷体_GB2312" panose="02010609030101010101" pitchFamily="49" charset="-122"/>
              </a:rPr>
              <a:t>年，“能人”严宏昌被请回小岗当生产</a:t>
            </a:r>
            <a:r>
              <a:rPr lang="zh-CN" altLang="en-US" b="1" dirty="0">
                <a:latin typeface="楷体_GB2312" panose="02010609030101010101" pitchFamily="49" charset="-122"/>
                <a:ea typeface="楷体_GB2312" panose="02010609030101010101" pitchFamily="49" charset="-122"/>
              </a:rPr>
              <a:t>队长。</a:t>
            </a:r>
            <a:r>
              <a:rPr lang="zh-CN" altLang="en-US" b="1" dirty="0" smtClean="0">
                <a:latin typeface="楷体_GB2312" panose="02010609030101010101" pitchFamily="49" charset="-122"/>
                <a:ea typeface="楷体_GB2312" panose="02010609030101010101" pitchFamily="49" charset="-122"/>
              </a:rPr>
              <a:t>村里的长者关友江</a:t>
            </a:r>
            <a:r>
              <a:rPr lang="zh-CN" altLang="en-US" b="1" dirty="0">
                <a:latin typeface="楷体_GB2312" panose="02010609030101010101" pitchFamily="49" charset="-122"/>
                <a:ea typeface="楷体_GB2312" panose="02010609030101010101" pitchFamily="49" charset="-122"/>
              </a:rPr>
              <a:t>，语重心长对严宏昌说：“你让我们每天喝上两顿菜稀饭</a:t>
            </a:r>
            <a:r>
              <a:rPr lang="zh-CN" altLang="en-US" b="1" dirty="0" smtClean="0">
                <a:latin typeface="楷体_GB2312" panose="02010609030101010101" pitchFamily="49" charset="-122"/>
                <a:ea typeface="楷体_GB2312" panose="02010609030101010101" pitchFamily="49" charset="-122"/>
              </a:rPr>
              <a:t>，不用去要饭，我</a:t>
            </a:r>
            <a:r>
              <a:rPr lang="zh-CN" altLang="en-US" b="1" dirty="0">
                <a:latin typeface="楷体_GB2312" panose="02010609030101010101" pitchFamily="49" charset="-122"/>
                <a:ea typeface="楷体_GB2312" panose="02010609030101010101" pitchFamily="49" charset="-122"/>
              </a:rPr>
              <a:t>就满足了。”</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严宏昌认识</a:t>
            </a:r>
            <a:r>
              <a:rPr lang="zh-CN" altLang="en-US" b="1" dirty="0">
                <a:latin typeface="楷体_GB2312" panose="02010609030101010101" pitchFamily="49" charset="-122"/>
                <a:ea typeface="楷体_GB2312" panose="02010609030101010101" pitchFamily="49" charset="-122"/>
              </a:rPr>
              <a:t>到，“大锅饭”是饿肚子的根源。当时农村实行的还是二十多年一成不变的人民公社制度，一个村的农民一起出工，一起收工，一起吃饭。因为干多干少一个样，干好干坏一个样，农民的生产积极性低，农业效率低下</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52036" y="4221088"/>
            <a:ext cx="3779912" cy="2636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文本占位符 2"/>
          <p:cNvSpPr txBox="1">
            <a:spLocks/>
          </p:cNvSpPr>
          <p:nvPr/>
        </p:nvSpPr>
        <p:spPr bwMode="auto">
          <a:xfrm>
            <a:off x="385352" y="4248561"/>
            <a:ext cx="4966684" cy="1708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b="1" kern="0" dirty="0" smtClean="0">
                <a:latin typeface="楷体_GB2312" panose="02010609030101010101" pitchFamily="49" charset="-122"/>
                <a:ea typeface="楷体_GB2312" panose="02010609030101010101" pitchFamily="49" charset="-122"/>
              </a:rPr>
              <a:t>这种现象在小岗村尤其突出，部分村干部利用职权搭便车，社员则普遍消极怠工，村里年年收不上粮食，只得去讨饭。</a:t>
            </a:r>
            <a:endParaRPr lang="zh-CN" altLang="en-US" b="1" kern="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2908501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568952" cy="1143000"/>
          </a:xfrm>
          <a:solidFill>
            <a:srgbClr val="EDFEC4"/>
          </a:solidFill>
          <a:ln>
            <a:solidFill>
              <a:schemeClr val="accent1">
                <a:lumMod val="20000"/>
                <a:lumOff val="80000"/>
              </a:schemeClr>
            </a:solidFill>
          </a:ln>
        </p:spPr>
        <p:txBody>
          <a:bodyPr/>
          <a:lstStyle/>
          <a:p>
            <a:r>
              <a:rPr lang="zh-CN" altLang="en-US" sz="3600" b="1" dirty="0" smtClean="0">
                <a:latin typeface="幼圆" panose="02010509060101010101" pitchFamily="49" charset="-122"/>
                <a:ea typeface="幼圆" panose="02010509060101010101" pitchFamily="49" charset="-122"/>
              </a:rPr>
              <a:t>案例：新中国最成功的一次制度创新</a:t>
            </a:r>
            <a:r>
              <a:rPr lang="en-US" altLang="zh-CN" sz="3600" b="1" dirty="0">
                <a:latin typeface="幼圆" panose="02010509060101010101" pitchFamily="49" charset="-122"/>
                <a:ea typeface="幼圆" panose="02010509060101010101" pitchFamily="49" charset="-122"/>
              </a:rPr>
              <a:t>——</a:t>
            </a:r>
            <a:r>
              <a:rPr lang="en-US" altLang="zh-CN" sz="3600" b="1" dirty="0" smtClean="0">
                <a:latin typeface="幼圆" panose="02010509060101010101" pitchFamily="49" charset="-122"/>
                <a:ea typeface="幼圆" panose="02010509060101010101" pitchFamily="49" charset="-122"/>
              </a:rPr>
              <a:t>  </a:t>
            </a:r>
            <a:br>
              <a:rPr lang="en-US" altLang="zh-CN" sz="3600" b="1" dirty="0" smtClean="0">
                <a:latin typeface="幼圆" panose="02010509060101010101" pitchFamily="49" charset="-122"/>
                <a:ea typeface="幼圆" panose="02010509060101010101" pitchFamily="49" charset="-122"/>
              </a:rPr>
            </a:br>
            <a:r>
              <a:rPr lang="en-US" altLang="zh-CN" sz="3600" b="1" dirty="0">
                <a:latin typeface="幼圆" panose="02010509060101010101" pitchFamily="49" charset="-122"/>
                <a:ea typeface="幼圆" panose="02010509060101010101" pitchFamily="49" charset="-122"/>
              </a:rPr>
              <a:t> </a:t>
            </a:r>
            <a:r>
              <a:rPr lang="en-US" altLang="zh-CN" sz="3600" b="1" dirty="0" smtClean="0">
                <a:latin typeface="幼圆" panose="02010509060101010101" pitchFamily="49" charset="-122"/>
                <a:ea typeface="幼圆" panose="02010509060101010101" pitchFamily="49" charset="-122"/>
              </a:rPr>
              <a:t>     </a:t>
            </a:r>
            <a:r>
              <a:rPr lang="zh-CN" altLang="en-US" sz="4000" b="1" dirty="0" smtClean="0">
                <a:latin typeface="幼圆" panose="02010509060101010101" pitchFamily="49" charset="-122"/>
                <a:ea typeface="幼圆" panose="02010509060101010101" pitchFamily="49" charset="-122"/>
              </a:rPr>
              <a:t>家庭联产承包责任制的确立</a:t>
            </a:r>
            <a:endParaRPr lang="zh-CN" altLang="en-US" sz="4000" b="1" dirty="0">
              <a:latin typeface="幼圆" panose="02010509060101010101" pitchFamily="49" charset="-122"/>
              <a:ea typeface="幼圆" panose="02010509060101010101" pitchFamily="49" charset="-122"/>
            </a:endParaRPr>
          </a:p>
        </p:txBody>
      </p:sp>
      <p:sp>
        <p:nvSpPr>
          <p:cNvPr id="3" name="文本占位符 2"/>
          <p:cNvSpPr>
            <a:spLocks noGrp="1"/>
          </p:cNvSpPr>
          <p:nvPr>
            <p:ph type="body" idx="1"/>
          </p:nvPr>
        </p:nvSpPr>
        <p:spPr>
          <a:xfrm>
            <a:off x="383096" y="1502185"/>
            <a:ext cx="8305800" cy="4608512"/>
          </a:xfrm>
        </p:spPr>
        <p:txBody>
          <a:bodyPr/>
          <a:lstStyle/>
          <a:p>
            <a:r>
              <a:rPr lang="zh-CN" altLang="en-US" b="1" dirty="0" smtClean="0">
                <a:latin typeface="楷体_GB2312" panose="02010609030101010101" pitchFamily="49" charset="-122"/>
                <a:ea typeface="楷体_GB2312" panose="02010609030101010101" pitchFamily="49" charset="-122"/>
              </a:rPr>
              <a:t>严宏昌了解到：</a:t>
            </a:r>
            <a:r>
              <a:rPr lang="en-US" altLang="zh-CN" b="1" dirty="0" smtClean="0">
                <a:latin typeface="楷体_GB2312" panose="02010609030101010101" pitchFamily="49" charset="-122"/>
                <a:ea typeface="楷体_GB2312" panose="02010609030101010101" pitchFamily="49" charset="-122"/>
              </a:rPr>
              <a:t>1961</a:t>
            </a:r>
            <a:r>
              <a:rPr lang="zh-CN" altLang="en-US" b="1" dirty="0">
                <a:latin typeface="楷体_GB2312" panose="02010609030101010101" pitchFamily="49" charset="-122"/>
                <a:ea typeface="楷体_GB2312" panose="02010609030101010101" pitchFamily="49" charset="-122"/>
              </a:rPr>
              <a:t>年和</a:t>
            </a:r>
            <a:r>
              <a:rPr lang="en-US" altLang="zh-CN" b="1" dirty="0">
                <a:latin typeface="楷体_GB2312" panose="02010609030101010101" pitchFamily="49" charset="-122"/>
                <a:ea typeface="楷体_GB2312" panose="02010609030101010101" pitchFamily="49" charset="-122"/>
              </a:rPr>
              <a:t>1965</a:t>
            </a:r>
            <a:r>
              <a:rPr lang="zh-CN" altLang="en-US" b="1" dirty="0">
                <a:latin typeface="楷体_GB2312" panose="02010609030101010101" pitchFamily="49" charset="-122"/>
                <a:ea typeface="楷体_GB2312" panose="02010609030101010101" pitchFamily="49" charset="-122"/>
              </a:rPr>
              <a:t>年，凤阳先后两次又实行了极其短暂的“责任田”和“自留地”，每家仅有的半分地的产量竟超过集体一亩地的</a:t>
            </a:r>
            <a:r>
              <a:rPr lang="en-US" altLang="zh-CN" b="1" dirty="0">
                <a:latin typeface="楷体_GB2312" panose="02010609030101010101" pitchFamily="49" charset="-122"/>
                <a:ea typeface="楷体_GB2312" panose="02010609030101010101" pitchFamily="49" charset="-122"/>
              </a:rPr>
              <a:t>10</a:t>
            </a:r>
            <a:r>
              <a:rPr lang="zh-CN" altLang="en-US" b="1" dirty="0">
                <a:latin typeface="楷体_GB2312" panose="02010609030101010101" pitchFamily="49" charset="-122"/>
                <a:ea typeface="楷体_GB2312" panose="02010609030101010101" pitchFamily="49" charset="-122"/>
              </a:rPr>
              <a:t>到</a:t>
            </a:r>
            <a:r>
              <a:rPr lang="en-US" altLang="zh-CN" b="1" dirty="0">
                <a:latin typeface="楷体_GB2312" panose="02010609030101010101" pitchFamily="49" charset="-122"/>
                <a:ea typeface="楷体_GB2312" panose="02010609030101010101" pitchFamily="49" charset="-122"/>
              </a:rPr>
              <a:t>20</a:t>
            </a:r>
            <a:r>
              <a:rPr lang="zh-CN" altLang="en-US" b="1" dirty="0">
                <a:latin typeface="楷体_GB2312" panose="02010609030101010101" pitchFamily="49" charset="-122"/>
                <a:ea typeface="楷体_GB2312" panose="02010609030101010101" pitchFamily="49" charset="-122"/>
              </a:rPr>
              <a:t>倍</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当时分田单干和包产到户是国家政策所不容的</a:t>
            </a:r>
            <a:r>
              <a:rPr lang="zh-CN" altLang="en-US" b="1" dirty="0" smtClean="0">
                <a:latin typeface="楷体_GB2312" panose="02010609030101010101" pitchFamily="49" charset="-122"/>
                <a:ea typeface="楷体_GB2312" panose="02010609030101010101" pitchFamily="49" charset="-122"/>
              </a:rPr>
              <a:t>“禁区”！</a:t>
            </a:r>
            <a:endParaRPr lang="en-US" altLang="zh-CN" b="1" dirty="0" smtClean="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小岗前后</a:t>
            </a:r>
            <a:r>
              <a:rPr lang="en-US" altLang="zh-CN" b="1" dirty="0">
                <a:latin typeface="楷体_GB2312" panose="02010609030101010101" pitchFamily="49" charset="-122"/>
                <a:ea typeface="楷体_GB2312" panose="02010609030101010101" pitchFamily="49" charset="-122"/>
              </a:rPr>
              <a:t>67</a:t>
            </a:r>
            <a:r>
              <a:rPr lang="zh-CN" altLang="en-US" b="1" dirty="0">
                <a:latin typeface="楷体_GB2312" panose="02010609030101010101" pitchFamily="49" charset="-122"/>
                <a:ea typeface="楷体_GB2312" panose="02010609030101010101" pitchFamily="49" charset="-122"/>
              </a:rPr>
              <a:t>口人饿死、</a:t>
            </a:r>
            <a:r>
              <a:rPr lang="en-US" altLang="zh-CN" b="1" dirty="0">
                <a:latin typeface="楷体_GB2312" panose="02010609030101010101" pitchFamily="49" charset="-122"/>
                <a:ea typeface="楷体_GB2312" panose="02010609030101010101" pitchFamily="49" charset="-122"/>
              </a:rPr>
              <a:t>6</a:t>
            </a:r>
            <a:r>
              <a:rPr lang="zh-CN" altLang="en-US" b="1" dirty="0">
                <a:latin typeface="楷体_GB2312" panose="02010609030101010101" pitchFamily="49" charset="-122"/>
                <a:ea typeface="楷体_GB2312" panose="02010609030101010101" pitchFamily="49" charset="-122"/>
              </a:rPr>
              <a:t>户全家死绝的阴影激起了严宏昌铤而走险的勇气。严宏昌和村干部约定，全村</a:t>
            </a:r>
            <a:r>
              <a:rPr lang="en-US" altLang="zh-CN" b="1" dirty="0">
                <a:latin typeface="楷体_GB2312" panose="02010609030101010101" pitchFamily="49" charset="-122"/>
                <a:ea typeface="楷体_GB2312" panose="02010609030101010101" pitchFamily="49" charset="-122"/>
              </a:rPr>
              <a:t>20</a:t>
            </a:r>
            <a:r>
              <a:rPr lang="zh-CN" altLang="en-US" b="1" dirty="0">
                <a:latin typeface="楷体_GB2312" panose="02010609030101010101" pitchFamily="49" charset="-122"/>
                <a:ea typeface="楷体_GB2312" panose="02010609030101010101" pitchFamily="49" charset="-122"/>
              </a:rPr>
              <a:t>户户主在</a:t>
            </a:r>
            <a:r>
              <a:rPr lang="en-US" altLang="zh-CN" b="1" dirty="0">
                <a:latin typeface="楷体_GB2312" panose="02010609030101010101" pitchFamily="49" charset="-122"/>
                <a:ea typeface="楷体_GB2312" panose="02010609030101010101" pitchFamily="49" charset="-122"/>
              </a:rPr>
              <a:t>1978</a:t>
            </a:r>
            <a:r>
              <a:rPr lang="zh-CN" altLang="en-US" b="1" dirty="0">
                <a:latin typeface="楷体_GB2312" panose="02010609030101010101" pitchFamily="49" charset="-122"/>
                <a:ea typeface="楷体_GB2312" panose="02010609030101010101" pitchFamily="49" charset="-122"/>
              </a:rPr>
              <a:t>年</a:t>
            </a:r>
            <a:r>
              <a:rPr lang="en-US" altLang="zh-CN" b="1" dirty="0">
                <a:latin typeface="楷体_GB2312" panose="02010609030101010101" pitchFamily="49" charset="-122"/>
                <a:ea typeface="楷体_GB2312" panose="02010609030101010101" pitchFamily="49" charset="-122"/>
              </a:rPr>
              <a:t>11</a:t>
            </a:r>
            <a:r>
              <a:rPr lang="zh-CN" altLang="en-US" b="1" dirty="0">
                <a:latin typeface="楷体_GB2312" panose="02010609030101010101" pitchFamily="49" charset="-122"/>
                <a:ea typeface="楷体_GB2312" panose="02010609030101010101" pitchFamily="49" charset="-122"/>
              </a:rPr>
              <a:t>月</a:t>
            </a:r>
            <a:r>
              <a:rPr lang="en-US" altLang="zh-CN" b="1" dirty="0">
                <a:latin typeface="楷体_GB2312" panose="02010609030101010101" pitchFamily="49" charset="-122"/>
                <a:ea typeface="楷体_GB2312" panose="02010609030101010101" pitchFamily="49" charset="-122"/>
              </a:rPr>
              <a:t>24</a:t>
            </a:r>
            <a:r>
              <a:rPr lang="zh-CN" altLang="en-US" b="1" dirty="0">
                <a:latin typeface="楷体_GB2312" panose="02010609030101010101" pitchFamily="49" charset="-122"/>
                <a:ea typeface="楷体_GB2312" panose="02010609030101010101" pitchFamily="49" charset="-122"/>
              </a:rPr>
              <a:t>日夜晚，到村会计严立华家秘密商讨“包产到户”</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严宏昌回忆：“</a:t>
            </a:r>
            <a:r>
              <a:rPr lang="zh-CN" altLang="en-US" b="1" dirty="0">
                <a:latin typeface="楷体_GB2312" panose="02010609030101010101" pitchFamily="49" charset="-122"/>
                <a:ea typeface="楷体_GB2312" panose="02010609030101010101" pitchFamily="49" charset="-122"/>
              </a:rPr>
              <a:t>因为已经有</a:t>
            </a:r>
            <a:r>
              <a:rPr lang="en-US" altLang="zh-CN" b="1" dirty="0">
                <a:latin typeface="楷体_GB2312" panose="02010609030101010101" pitchFamily="49" charset="-122"/>
                <a:ea typeface="楷体_GB2312" panose="02010609030101010101" pitchFamily="49" charset="-122"/>
              </a:rPr>
              <a:t>2</a:t>
            </a:r>
            <a:r>
              <a:rPr lang="zh-CN" altLang="en-US" b="1" dirty="0">
                <a:latin typeface="楷体_GB2312" panose="02010609030101010101" pitchFamily="49" charset="-122"/>
                <a:ea typeface="楷体_GB2312" panose="02010609030101010101" pitchFamily="49" charset="-122"/>
              </a:rPr>
              <a:t>户讨饭去了，所以那天来的是</a:t>
            </a:r>
            <a:r>
              <a:rPr lang="en-US" altLang="zh-CN" b="1" dirty="0">
                <a:latin typeface="楷体_GB2312" panose="02010609030101010101" pitchFamily="49" charset="-122"/>
                <a:ea typeface="楷体_GB2312" panose="02010609030101010101" pitchFamily="49" charset="-122"/>
              </a:rPr>
              <a:t>18</a:t>
            </a:r>
            <a:r>
              <a:rPr lang="zh-CN" altLang="en-US" b="1" dirty="0">
                <a:latin typeface="楷体_GB2312" panose="02010609030101010101" pitchFamily="49" charset="-122"/>
                <a:ea typeface="楷体_GB2312" panose="02010609030101010101" pitchFamily="49" charset="-122"/>
              </a:rPr>
              <a:t>个户主</a:t>
            </a:r>
            <a:r>
              <a:rPr lang="zh-CN" altLang="en-US" b="1" dirty="0" smtClean="0">
                <a:latin typeface="楷体_GB2312" panose="02010609030101010101" pitchFamily="49" charset="-122"/>
                <a:ea typeface="楷体_GB2312" panose="02010609030101010101" pitchFamily="49" charset="-122"/>
              </a:rPr>
              <a:t>。当时大家</a:t>
            </a:r>
            <a:r>
              <a:rPr lang="zh-CN" altLang="en-US" b="1" dirty="0">
                <a:latin typeface="楷体_GB2312" panose="02010609030101010101" pitchFamily="49" charset="-122"/>
                <a:ea typeface="楷体_GB2312" panose="02010609030101010101" pitchFamily="49" charset="-122"/>
              </a:rPr>
              <a:t>交流</a:t>
            </a:r>
            <a:r>
              <a:rPr lang="zh-CN" altLang="en-US" b="1" dirty="0" smtClean="0">
                <a:latin typeface="楷体_GB2312" panose="02010609030101010101" pitchFamily="49" charset="-122"/>
                <a:ea typeface="楷体_GB2312" panose="02010609030101010101" pitchFamily="49" charset="-122"/>
              </a:rPr>
              <a:t>的主要是</a:t>
            </a:r>
            <a:r>
              <a:rPr lang="zh-CN" altLang="en-US" b="1" dirty="0">
                <a:latin typeface="楷体_GB2312" panose="02010609030101010101" pitchFamily="49" charset="-122"/>
                <a:ea typeface="楷体_GB2312" panose="02010609030101010101" pitchFamily="49" charset="-122"/>
              </a:rPr>
              <a:t>讨饭经验。”当严宏昌和村干部正式提出“包产到户”、“大包干”的做法时，立即得到大家的热烈响应。</a:t>
            </a:r>
            <a:endParaRPr lang="en-US" altLang="zh-CN" b="1" dirty="0" smtClean="0">
              <a:latin typeface="楷体_GB2312" panose="02010609030101010101" pitchFamily="49" charset="-122"/>
              <a:ea typeface="楷体_GB2312" panose="02010609030101010101" pitchFamily="49" charset="-122"/>
            </a:endParaRPr>
          </a:p>
          <a:p>
            <a:endParaRPr lang="zh-CN" altLang="en-US" b="1"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0961201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568952" cy="1143000"/>
          </a:xfrm>
          <a:solidFill>
            <a:srgbClr val="EDFEC4"/>
          </a:solidFill>
          <a:ln>
            <a:solidFill>
              <a:schemeClr val="accent1">
                <a:lumMod val="20000"/>
                <a:lumOff val="80000"/>
              </a:schemeClr>
            </a:solidFill>
          </a:ln>
        </p:spPr>
        <p:txBody>
          <a:bodyPr/>
          <a:lstStyle/>
          <a:p>
            <a:r>
              <a:rPr lang="zh-CN" altLang="en-US" sz="3600" b="1" dirty="0" smtClean="0">
                <a:latin typeface="幼圆" panose="02010509060101010101" pitchFamily="49" charset="-122"/>
                <a:ea typeface="幼圆" panose="02010509060101010101" pitchFamily="49" charset="-122"/>
              </a:rPr>
              <a:t>案例：新中国最成功的一次制度创新</a:t>
            </a:r>
            <a:r>
              <a:rPr lang="en-US" altLang="zh-CN" sz="3600" b="1" dirty="0">
                <a:latin typeface="幼圆" panose="02010509060101010101" pitchFamily="49" charset="-122"/>
                <a:ea typeface="幼圆" panose="02010509060101010101" pitchFamily="49" charset="-122"/>
              </a:rPr>
              <a:t>——</a:t>
            </a:r>
            <a:r>
              <a:rPr lang="en-US" altLang="zh-CN" sz="3600" b="1" dirty="0" smtClean="0">
                <a:latin typeface="幼圆" panose="02010509060101010101" pitchFamily="49" charset="-122"/>
                <a:ea typeface="幼圆" panose="02010509060101010101" pitchFamily="49" charset="-122"/>
              </a:rPr>
              <a:t>  </a:t>
            </a:r>
            <a:br>
              <a:rPr lang="en-US" altLang="zh-CN" sz="3600" b="1" dirty="0" smtClean="0">
                <a:latin typeface="幼圆" panose="02010509060101010101" pitchFamily="49" charset="-122"/>
                <a:ea typeface="幼圆" panose="02010509060101010101" pitchFamily="49" charset="-122"/>
              </a:rPr>
            </a:br>
            <a:r>
              <a:rPr lang="en-US" altLang="zh-CN" sz="3600" b="1" dirty="0">
                <a:latin typeface="幼圆" panose="02010509060101010101" pitchFamily="49" charset="-122"/>
                <a:ea typeface="幼圆" panose="02010509060101010101" pitchFamily="49" charset="-122"/>
              </a:rPr>
              <a:t> </a:t>
            </a:r>
            <a:r>
              <a:rPr lang="en-US" altLang="zh-CN" sz="3600" b="1" dirty="0" smtClean="0">
                <a:latin typeface="幼圆" panose="02010509060101010101" pitchFamily="49" charset="-122"/>
                <a:ea typeface="幼圆" panose="02010509060101010101" pitchFamily="49" charset="-122"/>
              </a:rPr>
              <a:t>     </a:t>
            </a:r>
            <a:r>
              <a:rPr lang="zh-CN" altLang="en-US" sz="4000" b="1" dirty="0" smtClean="0">
                <a:latin typeface="幼圆" panose="02010509060101010101" pitchFamily="49" charset="-122"/>
                <a:ea typeface="幼圆" panose="02010509060101010101" pitchFamily="49" charset="-122"/>
              </a:rPr>
              <a:t>家庭联产承包责任制的确立</a:t>
            </a:r>
            <a:endParaRPr lang="zh-CN" altLang="en-US" sz="4000" b="1" dirty="0">
              <a:latin typeface="幼圆" panose="02010509060101010101" pitchFamily="49" charset="-122"/>
              <a:ea typeface="幼圆" panose="02010509060101010101" pitchFamily="49" charset="-122"/>
            </a:endParaRPr>
          </a:p>
        </p:txBody>
      </p:sp>
      <p:sp>
        <p:nvSpPr>
          <p:cNvPr id="3" name="文本占位符 2"/>
          <p:cNvSpPr>
            <a:spLocks noGrp="1"/>
          </p:cNvSpPr>
          <p:nvPr>
            <p:ph type="body" idx="1"/>
          </p:nvPr>
        </p:nvSpPr>
        <p:spPr>
          <a:xfrm>
            <a:off x="383096" y="1502185"/>
            <a:ext cx="8305800" cy="4608512"/>
          </a:xfrm>
        </p:spPr>
        <p:txBody>
          <a:bodyPr/>
          <a:lstStyle/>
          <a:p>
            <a:r>
              <a:rPr lang="zh-CN" altLang="en-US" b="1" dirty="0">
                <a:latin typeface="楷体_GB2312" panose="02010609030101010101" pitchFamily="49" charset="-122"/>
                <a:ea typeface="楷体_GB2312" panose="02010609030101010101" pitchFamily="49" charset="-122"/>
              </a:rPr>
              <a:t>严宏昌在一张毛纸上写下：“我们分田到户，每户户主签字盖章，如以后能干，每户保证完成每户全年上缴的公粮，不在</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再</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向国家伸手要钱要粮。如不成，我们干部坐牢杀头也甘心，大家社员也保证把我们的小孩养活到</a:t>
            </a:r>
            <a:r>
              <a:rPr lang="en-US" altLang="zh-CN" b="1" dirty="0">
                <a:latin typeface="楷体_GB2312" panose="02010609030101010101" pitchFamily="49" charset="-122"/>
                <a:ea typeface="楷体_GB2312" panose="02010609030101010101" pitchFamily="49" charset="-122"/>
              </a:rPr>
              <a:t>18</a:t>
            </a:r>
            <a:r>
              <a:rPr lang="zh-CN" altLang="en-US" b="1" dirty="0">
                <a:latin typeface="楷体_GB2312" panose="02010609030101010101" pitchFamily="49" charset="-122"/>
                <a:ea typeface="楷体_GB2312" panose="02010609030101010101" pitchFamily="49" charset="-122"/>
              </a:rPr>
              <a:t>岁。</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我们还订了协定：分田到户，瞒上不瞒下，不许向任何外人讲；每逢夏秋两季交粮油时，保证国家的，留足集体的，剩下都是自己的。</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endParaRPr lang="zh-CN" altLang="en-US" b="1" dirty="0">
              <a:latin typeface="楷体_GB2312" panose="02010609030101010101" pitchFamily="49" charset="-122"/>
              <a:ea typeface="楷体_GB2312" panose="02010609030101010101" pitchFamily="49" charset="-122"/>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0519" y="4077072"/>
            <a:ext cx="287655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95536" y="4221492"/>
            <a:ext cx="5472608" cy="1938992"/>
          </a:xfrm>
          <a:prstGeom prst="rect">
            <a:avLst/>
          </a:prstGeom>
        </p:spPr>
        <p:txBody>
          <a:bodyPr wrap="square">
            <a:spAutoFit/>
          </a:bodyPr>
          <a:lstStyle/>
          <a:p>
            <a:pPr marL="285750" indent="-285750">
              <a:buFont typeface="Arial" panose="020B0604020202020204" pitchFamily="34" charset="0"/>
              <a:buChar char="•"/>
            </a:pPr>
            <a:r>
              <a:rPr kumimoji="1" lang="zh-CN" altLang="en-US" sz="2400" b="1" dirty="0">
                <a:latin typeface="楷体_GB2312" panose="02010609030101010101" pitchFamily="49" charset="-122"/>
                <a:ea typeface="楷体_GB2312" panose="02010609030101010101" pitchFamily="49" charset="-122"/>
              </a:rPr>
              <a:t>小岗第二年向国家交了</a:t>
            </a:r>
            <a:r>
              <a:rPr kumimoji="1" lang="en-US" altLang="zh-CN" sz="2400" b="1" dirty="0">
                <a:latin typeface="楷体_GB2312" panose="02010609030101010101" pitchFamily="49" charset="-122"/>
                <a:ea typeface="楷体_GB2312" panose="02010609030101010101" pitchFamily="49" charset="-122"/>
              </a:rPr>
              <a:t>13.9</a:t>
            </a:r>
            <a:r>
              <a:rPr kumimoji="1" lang="zh-CN" altLang="en-US" sz="2400" b="1" dirty="0">
                <a:latin typeface="楷体_GB2312" panose="02010609030101010101" pitchFamily="49" charset="-122"/>
                <a:ea typeface="楷体_GB2312" panose="02010609030101010101" pitchFamily="49" charset="-122"/>
              </a:rPr>
              <a:t>万斤粮食，单花生就是</a:t>
            </a:r>
            <a:r>
              <a:rPr kumimoji="1" lang="en-US" altLang="zh-CN" sz="2400" b="1" dirty="0">
                <a:latin typeface="楷体_GB2312" panose="02010609030101010101" pitchFamily="49" charset="-122"/>
                <a:ea typeface="楷体_GB2312" panose="02010609030101010101" pitchFamily="49" charset="-122"/>
              </a:rPr>
              <a:t>3</a:t>
            </a:r>
            <a:r>
              <a:rPr kumimoji="1" lang="zh-CN" altLang="en-US" sz="2400" b="1" dirty="0">
                <a:latin typeface="楷体_GB2312" panose="02010609030101010101" pitchFamily="49" charset="-122"/>
                <a:ea typeface="楷体_GB2312" panose="02010609030101010101" pitchFamily="49" charset="-122"/>
              </a:rPr>
              <a:t>万多斤，而在从前，国家给的上缴</a:t>
            </a:r>
            <a:r>
              <a:rPr kumimoji="1" lang="en-US" altLang="zh-CN" sz="2400" b="1" dirty="0">
                <a:latin typeface="楷体_GB2312" panose="02010609030101010101" pitchFamily="49" charset="-122"/>
                <a:ea typeface="楷体_GB2312" panose="02010609030101010101" pitchFamily="49" charset="-122"/>
              </a:rPr>
              <a:t>100</a:t>
            </a:r>
            <a:r>
              <a:rPr kumimoji="1" lang="zh-CN" altLang="en-US" sz="2400" b="1" dirty="0">
                <a:latin typeface="楷体_GB2312" panose="02010609030101010101" pitchFamily="49" charset="-122"/>
                <a:ea typeface="楷体_GB2312" panose="02010609030101010101" pitchFamily="49" charset="-122"/>
              </a:rPr>
              <a:t>斤花生的任务都完不成</a:t>
            </a:r>
            <a:r>
              <a:rPr kumimoji="1" lang="zh-CN" altLang="en-US" sz="2400" b="1" dirty="0" smtClean="0">
                <a:latin typeface="楷体_GB2312" panose="02010609030101010101" pitchFamily="49" charset="-122"/>
                <a:ea typeface="楷体_GB2312" panose="02010609030101010101" pitchFamily="49" charset="-122"/>
              </a:rPr>
              <a:t>。小岗</a:t>
            </a:r>
            <a:r>
              <a:rPr kumimoji="1" lang="zh-CN" altLang="en-US" sz="2400" b="1" dirty="0">
                <a:latin typeface="楷体_GB2312" panose="02010609030101010101" pitchFamily="49" charset="-122"/>
                <a:ea typeface="楷体_GB2312" panose="02010609030101010101" pitchFamily="49" charset="-122"/>
              </a:rPr>
              <a:t>人均收入从</a:t>
            </a:r>
            <a:r>
              <a:rPr kumimoji="1" lang="en-US" altLang="zh-CN" sz="2400" b="1" dirty="0">
                <a:latin typeface="楷体_GB2312" panose="02010609030101010101" pitchFamily="49" charset="-122"/>
                <a:ea typeface="楷体_GB2312" panose="02010609030101010101" pitchFamily="49" charset="-122"/>
              </a:rPr>
              <a:t>20</a:t>
            </a:r>
            <a:r>
              <a:rPr kumimoji="1" lang="zh-CN" altLang="en-US" sz="2400" b="1" dirty="0">
                <a:latin typeface="楷体_GB2312" panose="02010609030101010101" pitchFamily="49" charset="-122"/>
                <a:ea typeface="楷体_GB2312" panose="02010609030101010101" pitchFamily="49" charset="-122"/>
              </a:rPr>
              <a:t>元一下子上升到</a:t>
            </a:r>
            <a:r>
              <a:rPr kumimoji="1" lang="en-US" altLang="zh-CN" sz="2400" b="1" dirty="0">
                <a:latin typeface="楷体_GB2312" panose="02010609030101010101" pitchFamily="49" charset="-122"/>
                <a:ea typeface="楷体_GB2312" panose="02010609030101010101" pitchFamily="49" charset="-122"/>
              </a:rPr>
              <a:t>400</a:t>
            </a:r>
            <a:r>
              <a:rPr kumimoji="1" lang="zh-CN" altLang="en-US" sz="2400" b="1" dirty="0">
                <a:latin typeface="楷体_GB2312" panose="02010609030101010101" pitchFamily="49" charset="-122"/>
                <a:ea typeface="楷体_GB2312" panose="02010609030101010101" pitchFamily="49" charset="-122"/>
              </a:rPr>
              <a:t>元，增长了</a:t>
            </a:r>
            <a:r>
              <a:rPr kumimoji="1" lang="en-US" altLang="zh-CN" sz="2400" b="1" dirty="0">
                <a:latin typeface="楷体_GB2312" panose="02010609030101010101" pitchFamily="49" charset="-122"/>
                <a:ea typeface="楷体_GB2312" panose="02010609030101010101" pitchFamily="49" charset="-122"/>
              </a:rPr>
              <a:t>20</a:t>
            </a:r>
            <a:r>
              <a:rPr kumimoji="1" lang="zh-CN" altLang="en-US" sz="2400" b="1" dirty="0">
                <a:latin typeface="楷体_GB2312" panose="02010609030101010101" pitchFamily="49" charset="-122"/>
                <a:ea typeface="楷体_GB2312" panose="02010609030101010101" pitchFamily="49" charset="-122"/>
              </a:rPr>
              <a:t>倍。</a:t>
            </a:r>
          </a:p>
        </p:txBody>
      </p:sp>
    </p:spTree>
    <p:extLst>
      <p:ext uri="{BB962C8B-B14F-4D97-AF65-F5344CB8AC3E}">
        <p14:creationId xmlns:p14="http://schemas.microsoft.com/office/powerpoint/2010/main" val="2725593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76672"/>
            <a:ext cx="8568952" cy="1143000"/>
          </a:xfrm>
          <a:solidFill>
            <a:srgbClr val="EDFEC4"/>
          </a:solidFill>
          <a:ln>
            <a:solidFill>
              <a:schemeClr val="accent1">
                <a:lumMod val="20000"/>
                <a:lumOff val="80000"/>
              </a:schemeClr>
            </a:solidFill>
          </a:ln>
        </p:spPr>
        <p:txBody>
          <a:bodyPr/>
          <a:lstStyle/>
          <a:p>
            <a:r>
              <a:rPr lang="zh-CN" altLang="en-US" sz="3600" b="1" dirty="0" smtClean="0">
                <a:latin typeface="幼圆" panose="02010509060101010101" pitchFamily="49" charset="-122"/>
                <a:ea typeface="幼圆" panose="02010509060101010101" pitchFamily="49" charset="-122"/>
              </a:rPr>
              <a:t>案例：新中国最成功的一次制度创新</a:t>
            </a:r>
            <a:r>
              <a:rPr lang="en-US" altLang="zh-CN" sz="3600" b="1" dirty="0">
                <a:latin typeface="幼圆" panose="02010509060101010101" pitchFamily="49" charset="-122"/>
                <a:ea typeface="幼圆" panose="02010509060101010101" pitchFamily="49" charset="-122"/>
              </a:rPr>
              <a:t>——</a:t>
            </a:r>
            <a:r>
              <a:rPr lang="en-US" altLang="zh-CN" sz="3600" b="1" dirty="0" smtClean="0">
                <a:latin typeface="幼圆" panose="02010509060101010101" pitchFamily="49" charset="-122"/>
                <a:ea typeface="幼圆" panose="02010509060101010101" pitchFamily="49" charset="-122"/>
              </a:rPr>
              <a:t>  </a:t>
            </a:r>
            <a:br>
              <a:rPr lang="en-US" altLang="zh-CN" sz="3600" b="1" dirty="0" smtClean="0">
                <a:latin typeface="幼圆" panose="02010509060101010101" pitchFamily="49" charset="-122"/>
                <a:ea typeface="幼圆" panose="02010509060101010101" pitchFamily="49" charset="-122"/>
              </a:rPr>
            </a:br>
            <a:r>
              <a:rPr lang="en-US" altLang="zh-CN" sz="3600" b="1" dirty="0">
                <a:latin typeface="幼圆" panose="02010509060101010101" pitchFamily="49" charset="-122"/>
                <a:ea typeface="幼圆" panose="02010509060101010101" pitchFamily="49" charset="-122"/>
              </a:rPr>
              <a:t> </a:t>
            </a:r>
            <a:r>
              <a:rPr lang="en-US" altLang="zh-CN" sz="3600" b="1" dirty="0" smtClean="0">
                <a:latin typeface="幼圆" panose="02010509060101010101" pitchFamily="49" charset="-122"/>
                <a:ea typeface="幼圆" panose="02010509060101010101" pitchFamily="49" charset="-122"/>
              </a:rPr>
              <a:t>     </a:t>
            </a:r>
            <a:r>
              <a:rPr lang="zh-CN" altLang="en-US" sz="4000" b="1" dirty="0" smtClean="0">
                <a:latin typeface="幼圆" panose="02010509060101010101" pitchFamily="49" charset="-122"/>
                <a:ea typeface="幼圆" panose="02010509060101010101" pitchFamily="49" charset="-122"/>
              </a:rPr>
              <a:t>家庭联产承包责任制的确立</a:t>
            </a:r>
            <a:endParaRPr lang="zh-CN" altLang="en-US" sz="4000" b="1" dirty="0">
              <a:latin typeface="幼圆" panose="02010509060101010101" pitchFamily="49" charset="-122"/>
              <a:ea typeface="幼圆" panose="02010509060101010101" pitchFamily="49" charset="-122"/>
            </a:endParaRPr>
          </a:p>
        </p:txBody>
      </p:sp>
      <p:sp>
        <p:nvSpPr>
          <p:cNvPr id="3" name="文本占位符 2"/>
          <p:cNvSpPr>
            <a:spLocks noGrp="1"/>
          </p:cNvSpPr>
          <p:nvPr>
            <p:ph type="body" idx="1"/>
          </p:nvPr>
        </p:nvSpPr>
        <p:spPr>
          <a:xfrm>
            <a:off x="323528" y="1943236"/>
            <a:ext cx="8305800" cy="2790911"/>
          </a:xfrm>
        </p:spPr>
        <p:txBody>
          <a:bodyPr/>
          <a:lstStyle/>
          <a:p>
            <a:r>
              <a:rPr lang="en-US" altLang="zh-CN" b="1" dirty="0">
                <a:latin typeface="楷体_GB2312" panose="02010609030101010101" pitchFamily="49" charset="-122"/>
                <a:ea typeface="楷体_GB2312" panose="02010609030101010101" pitchFamily="49" charset="-122"/>
              </a:rPr>
              <a:t>1980</a:t>
            </a:r>
            <a:r>
              <a:rPr lang="zh-CN" altLang="en-US" b="1" dirty="0">
                <a:latin typeface="楷体_GB2312" panose="02010609030101010101" pitchFamily="49" charset="-122"/>
                <a:ea typeface="楷体_GB2312" panose="02010609030101010101" pitchFamily="49" charset="-122"/>
              </a:rPr>
              <a:t>年</a:t>
            </a:r>
            <a:r>
              <a:rPr lang="en-US" altLang="zh-CN" b="1" dirty="0">
                <a:latin typeface="楷体_GB2312" panose="02010609030101010101" pitchFamily="49" charset="-122"/>
                <a:ea typeface="楷体_GB2312" panose="02010609030101010101" pitchFamily="49" charset="-122"/>
              </a:rPr>
              <a:t>5</a:t>
            </a:r>
            <a:r>
              <a:rPr lang="zh-CN" altLang="en-US" b="1" dirty="0">
                <a:latin typeface="楷体_GB2312" panose="02010609030101010101" pitchFamily="49" charset="-122"/>
                <a:ea typeface="楷体_GB2312" panose="02010609030101010101" pitchFamily="49" charset="-122"/>
              </a:rPr>
              <a:t>月</a:t>
            </a:r>
            <a:r>
              <a:rPr lang="en-US" altLang="zh-CN" b="1" dirty="0">
                <a:latin typeface="楷体_GB2312" panose="02010609030101010101" pitchFamily="49" charset="-122"/>
                <a:ea typeface="楷体_GB2312" panose="02010609030101010101" pitchFamily="49" charset="-122"/>
              </a:rPr>
              <a:t>31</a:t>
            </a:r>
            <a:r>
              <a:rPr lang="zh-CN" altLang="en-US" b="1" dirty="0">
                <a:latin typeface="楷体_GB2312" panose="02010609030101010101" pitchFamily="49" charset="-122"/>
                <a:ea typeface="楷体_GB2312" panose="02010609030101010101" pitchFamily="49" charset="-122"/>
              </a:rPr>
              <a:t>日，邓小平在一次重要谈话中公开肯定了小岗村“大包干”的做法</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改革开放的总设计师</a:t>
            </a:r>
            <a:r>
              <a:rPr lang="zh-CN" altLang="en-US" b="1" dirty="0" smtClean="0">
                <a:latin typeface="楷体_GB2312" panose="02010609030101010101" pitchFamily="49" charset="-122"/>
                <a:ea typeface="楷体_GB2312" panose="02010609030101010101" pitchFamily="49" charset="-122"/>
              </a:rPr>
              <a:t>邓小平</a:t>
            </a:r>
            <a:r>
              <a:rPr lang="zh-CN" altLang="en-US" b="1" dirty="0">
                <a:latin typeface="楷体_GB2312" panose="02010609030101010101" pitchFamily="49" charset="-122"/>
                <a:ea typeface="楷体_GB2312" panose="02010609030101010101" pitchFamily="49" charset="-122"/>
              </a:rPr>
              <a:t>和</a:t>
            </a:r>
            <a:r>
              <a:rPr lang="zh-CN" altLang="en-US" b="1" dirty="0" smtClean="0">
                <a:latin typeface="楷体_GB2312" panose="02010609030101010101" pitchFamily="49" charset="-122"/>
                <a:ea typeface="楷体_GB2312" panose="02010609030101010101" pitchFamily="49" charset="-122"/>
              </a:rPr>
              <a:t>当时</a:t>
            </a:r>
            <a:r>
              <a:rPr lang="zh-CN" altLang="en-US" b="1" dirty="0">
                <a:latin typeface="楷体_GB2312" panose="02010609030101010101" pitchFamily="49" charset="-122"/>
                <a:ea typeface="楷体_GB2312" panose="02010609030101010101" pitchFamily="49" charset="-122"/>
              </a:rPr>
              <a:t>国务院主管农业的副总理</a:t>
            </a:r>
            <a:r>
              <a:rPr lang="zh-CN" altLang="en-US" b="1" dirty="0" smtClean="0">
                <a:latin typeface="楷体_GB2312" panose="02010609030101010101" pitchFamily="49" charset="-122"/>
                <a:ea typeface="楷体_GB2312" panose="02010609030101010101" pitchFamily="49" charset="-122"/>
              </a:rPr>
              <a:t>万里的支持表明：中国农村</a:t>
            </a:r>
            <a:r>
              <a:rPr lang="zh-CN" altLang="en-US" b="1" dirty="0">
                <a:latin typeface="楷体_GB2312" panose="02010609030101010101" pitchFamily="49" charset="-122"/>
                <a:ea typeface="楷体_GB2312" panose="02010609030101010101" pitchFamily="49" charset="-122"/>
              </a:rPr>
              <a:t>改革</a:t>
            </a:r>
            <a:r>
              <a:rPr lang="zh-CN" altLang="en-US" b="1" dirty="0" smtClean="0">
                <a:latin typeface="楷体_GB2312" panose="02010609030101010101" pitchFamily="49" charset="-122"/>
                <a:ea typeface="楷体_GB2312" panose="02010609030101010101" pitchFamily="49" charset="-122"/>
              </a:rPr>
              <a:t>势在必行</a:t>
            </a:r>
            <a:r>
              <a:rPr lang="zh-CN" altLang="en-US" b="1" dirty="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en-US" altLang="zh-CN" b="1" dirty="0">
                <a:latin typeface="楷体_GB2312" panose="02010609030101010101" pitchFamily="49" charset="-122"/>
                <a:ea typeface="楷体_GB2312" panose="02010609030101010101" pitchFamily="49" charset="-122"/>
              </a:rPr>
              <a:t>1982</a:t>
            </a:r>
            <a:r>
              <a:rPr lang="zh-CN" altLang="en-US" b="1" dirty="0">
                <a:latin typeface="楷体_GB2312" panose="02010609030101010101" pitchFamily="49" charset="-122"/>
                <a:ea typeface="楷体_GB2312" panose="02010609030101010101" pitchFamily="49" charset="-122"/>
              </a:rPr>
              <a:t>年</a:t>
            </a:r>
            <a:r>
              <a:rPr lang="en-US" altLang="zh-CN" b="1" dirty="0">
                <a:latin typeface="楷体_GB2312" panose="02010609030101010101" pitchFamily="49" charset="-122"/>
                <a:ea typeface="楷体_GB2312" panose="02010609030101010101" pitchFamily="49" charset="-122"/>
              </a:rPr>
              <a:t>1</a:t>
            </a:r>
            <a:r>
              <a:rPr lang="zh-CN" altLang="en-US" b="1" dirty="0">
                <a:latin typeface="楷体_GB2312" panose="02010609030101010101" pitchFamily="49" charset="-122"/>
                <a:ea typeface="楷体_GB2312" panose="02010609030101010101" pitchFamily="49" charset="-122"/>
              </a:rPr>
              <a:t>月</a:t>
            </a:r>
            <a:r>
              <a:rPr lang="en-US" altLang="zh-CN" b="1" dirty="0">
                <a:latin typeface="楷体_GB2312" panose="02010609030101010101" pitchFamily="49" charset="-122"/>
                <a:ea typeface="楷体_GB2312" panose="02010609030101010101" pitchFamily="49" charset="-122"/>
              </a:rPr>
              <a:t>1</a:t>
            </a:r>
            <a:r>
              <a:rPr lang="zh-CN" altLang="en-US" b="1" dirty="0">
                <a:latin typeface="楷体_GB2312" panose="02010609030101010101" pitchFamily="49" charset="-122"/>
                <a:ea typeface="楷体_GB2312" panose="02010609030101010101" pitchFamily="49" charset="-122"/>
              </a:rPr>
              <a:t>日，中国共产党历史上第一个关于农村工作的一号文件正式出台，明确指出包产到户、包干到户都是社会主义集体经济的生产责任制</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5443" y="4728842"/>
            <a:ext cx="1438275"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9254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568952" cy="1143000"/>
          </a:xfrm>
          <a:solidFill>
            <a:srgbClr val="EDFEC4"/>
          </a:solidFill>
          <a:ln>
            <a:solidFill>
              <a:schemeClr val="accent1">
                <a:lumMod val="20000"/>
                <a:lumOff val="80000"/>
              </a:schemeClr>
            </a:solidFill>
          </a:ln>
        </p:spPr>
        <p:txBody>
          <a:bodyPr/>
          <a:lstStyle/>
          <a:p>
            <a:r>
              <a:rPr lang="zh-CN" altLang="en-US" sz="3600" b="1" dirty="0" smtClean="0">
                <a:latin typeface="幼圆" panose="02010509060101010101" pitchFamily="49" charset="-122"/>
                <a:ea typeface="幼圆" panose="02010509060101010101" pitchFamily="49" charset="-122"/>
              </a:rPr>
              <a:t>案例：新中国最成功的一次制度创新</a:t>
            </a:r>
            <a:r>
              <a:rPr lang="en-US" altLang="zh-CN" sz="3600" b="1" dirty="0">
                <a:latin typeface="幼圆" panose="02010509060101010101" pitchFamily="49" charset="-122"/>
                <a:ea typeface="幼圆" panose="02010509060101010101" pitchFamily="49" charset="-122"/>
              </a:rPr>
              <a:t>——</a:t>
            </a:r>
            <a:r>
              <a:rPr lang="en-US" altLang="zh-CN" sz="3600" b="1" dirty="0" smtClean="0">
                <a:latin typeface="幼圆" panose="02010509060101010101" pitchFamily="49" charset="-122"/>
                <a:ea typeface="幼圆" panose="02010509060101010101" pitchFamily="49" charset="-122"/>
              </a:rPr>
              <a:t>  </a:t>
            </a:r>
            <a:br>
              <a:rPr lang="en-US" altLang="zh-CN" sz="3600" b="1" dirty="0" smtClean="0">
                <a:latin typeface="幼圆" panose="02010509060101010101" pitchFamily="49" charset="-122"/>
                <a:ea typeface="幼圆" panose="02010509060101010101" pitchFamily="49" charset="-122"/>
              </a:rPr>
            </a:br>
            <a:r>
              <a:rPr lang="en-US" altLang="zh-CN" sz="3600" b="1" dirty="0">
                <a:latin typeface="幼圆" panose="02010509060101010101" pitchFamily="49" charset="-122"/>
                <a:ea typeface="幼圆" panose="02010509060101010101" pitchFamily="49" charset="-122"/>
              </a:rPr>
              <a:t> </a:t>
            </a:r>
            <a:r>
              <a:rPr lang="en-US" altLang="zh-CN" sz="3600" b="1" dirty="0" smtClean="0">
                <a:latin typeface="幼圆" panose="02010509060101010101" pitchFamily="49" charset="-122"/>
                <a:ea typeface="幼圆" panose="02010509060101010101" pitchFamily="49" charset="-122"/>
              </a:rPr>
              <a:t>     </a:t>
            </a:r>
            <a:r>
              <a:rPr lang="zh-CN" altLang="en-US" sz="4000" b="1" dirty="0" smtClean="0">
                <a:latin typeface="幼圆" panose="02010509060101010101" pitchFamily="49" charset="-122"/>
                <a:ea typeface="幼圆" panose="02010509060101010101" pitchFamily="49" charset="-122"/>
              </a:rPr>
              <a:t>家庭联产承包责任制的确立</a:t>
            </a:r>
            <a:endParaRPr lang="zh-CN" altLang="en-US" sz="4000" b="1" dirty="0">
              <a:latin typeface="幼圆" panose="02010509060101010101" pitchFamily="49" charset="-122"/>
              <a:ea typeface="幼圆" panose="02010509060101010101" pitchFamily="49" charset="-122"/>
            </a:endParaRPr>
          </a:p>
        </p:txBody>
      </p:sp>
      <p:sp>
        <p:nvSpPr>
          <p:cNvPr id="7" name="文本占位符 2"/>
          <p:cNvSpPr txBox="1">
            <a:spLocks/>
          </p:cNvSpPr>
          <p:nvPr/>
        </p:nvSpPr>
        <p:spPr bwMode="auto">
          <a:xfrm>
            <a:off x="331756" y="1556792"/>
            <a:ext cx="8488715"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b="1" kern="0" dirty="0" smtClean="0">
                <a:latin typeface="楷体_GB2312" panose="02010609030101010101" pitchFamily="49" charset="-122"/>
                <a:ea typeface="楷体_GB2312" panose="02010609030101010101" pitchFamily="49" charset="-122"/>
              </a:rPr>
              <a:t>此后，中国政府不断稳固和完善家庭联产承包责任制，使广大农村地区迅速摘掉贫困落后的帽子，逐步走上富裕的道路，中国因此创造了令世人瞩目的用世界上</a:t>
            </a:r>
            <a:r>
              <a:rPr lang="en-US" altLang="zh-CN" b="1" kern="0" dirty="0" smtClean="0">
                <a:latin typeface="楷体_GB2312" panose="02010609030101010101" pitchFamily="49" charset="-122"/>
                <a:ea typeface="楷体_GB2312" panose="02010609030101010101" pitchFamily="49" charset="-122"/>
              </a:rPr>
              <a:t>7%</a:t>
            </a:r>
            <a:r>
              <a:rPr lang="zh-CN" altLang="en-US" b="1" kern="0" dirty="0" smtClean="0">
                <a:latin typeface="楷体_GB2312" panose="02010609030101010101" pitchFamily="49" charset="-122"/>
                <a:ea typeface="楷体_GB2312" panose="02010609030101010101" pitchFamily="49" charset="-122"/>
              </a:rPr>
              <a:t>的土地养活世界上</a:t>
            </a:r>
            <a:r>
              <a:rPr lang="en-US" altLang="zh-CN" b="1" kern="0" dirty="0" smtClean="0">
                <a:latin typeface="楷体_GB2312" panose="02010609030101010101" pitchFamily="49" charset="-122"/>
                <a:ea typeface="楷体_GB2312" panose="02010609030101010101" pitchFamily="49" charset="-122"/>
              </a:rPr>
              <a:t>22%</a:t>
            </a:r>
            <a:r>
              <a:rPr lang="zh-CN" altLang="en-US" b="1" kern="0" dirty="0" smtClean="0">
                <a:latin typeface="楷体_GB2312" panose="02010609030101010101" pitchFamily="49" charset="-122"/>
                <a:ea typeface="楷体_GB2312" panose="02010609030101010101" pitchFamily="49" charset="-122"/>
              </a:rPr>
              <a:t>人口的奇迹。</a:t>
            </a:r>
            <a:endParaRPr lang="en-US" altLang="zh-CN" b="1" kern="0" dirty="0" smtClean="0">
              <a:latin typeface="楷体_GB2312" panose="02010609030101010101" pitchFamily="49" charset="-122"/>
              <a:ea typeface="楷体_GB2312" panose="02010609030101010101" pitchFamily="49" charset="-122"/>
            </a:endParaRPr>
          </a:p>
          <a:p>
            <a:r>
              <a:rPr lang="zh-CN" altLang="en-US" b="1" kern="0" dirty="0">
                <a:latin typeface="楷体_GB2312" panose="02010609030101010101" pitchFamily="49" charset="-122"/>
                <a:ea typeface="楷体_GB2312" panose="02010609030101010101" pitchFamily="49" charset="-122"/>
              </a:rPr>
              <a:t>林毅夫的研究表明：</a:t>
            </a:r>
            <a:r>
              <a:rPr lang="en-US" altLang="zh-CN" b="1" kern="0" dirty="0">
                <a:latin typeface="楷体_GB2312" panose="02010609030101010101" pitchFamily="49" charset="-122"/>
                <a:ea typeface="楷体_GB2312" panose="02010609030101010101" pitchFamily="49" charset="-122"/>
              </a:rPr>
              <a:t>1978</a:t>
            </a:r>
            <a:r>
              <a:rPr lang="zh-CN" altLang="en-US" b="1" kern="0" dirty="0">
                <a:latin typeface="楷体_GB2312" panose="02010609030101010101" pitchFamily="49" charset="-122"/>
                <a:ea typeface="楷体_GB2312" panose="02010609030101010101" pitchFamily="49" charset="-122"/>
              </a:rPr>
              <a:t>～</a:t>
            </a:r>
            <a:r>
              <a:rPr lang="en-US" altLang="zh-CN" b="1" kern="0" dirty="0">
                <a:latin typeface="楷体_GB2312" panose="02010609030101010101" pitchFamily="49" charset="-122"/>
                <a:ea typeface="楷体_GB2312" panose="02010609030101010101" pitchFamily="49" charset="-122"/>
              </a:rPr>
              <a:t>1984</a:t>
            </a:r>
            <a:r>
              <a:rPr lang="zh-CN" altLang="en-US" b="1" kern="0" dirty="0">
                <a:latin typeface="楷体_GB2312" panose="02010609030101010101" pitchFamily="49" charset="-122"/>
                <a:ea typeface="楷体_GB2312" panose="02010609030101010101" pitchFamily="49" charset="-122"/>
              </a:rPr>
              <a:t>年期间，生产率增长解释了</a:t>
            </a:r>
            <a:r>
              <a:rPr lang="en-US" altLang="zh-CN" b="1" kern="0" dirty="0">
                <a:latin typeface="楷体_GB2312" panose="02010609030101010101" pitchFamily="49" charset="-122"/>
                <a:ea typeface="楷体_GB2312" panose="02010609030101010101" pitchFamily="49" charset="-122"/>
              </a:rPr>
              <a:t>50%</a:t>
            </a:r>
            <a:r>
              <a:rPr lang="zh-CN" altLang="en-US" b="1" kern="0" dirty="0">
                <a:latin typeface="楷体_GB2312" panose="02010609030101010101" pitchFamily="49" charset="-122"/>
                <a:ea typeface="楷体_GB2312" panose="02010609030101010101" pitchFamily="49" charset="-122"/>
              </a:rPr>
              <a:t>以上的农业产出增长，且</a:t>
            </a:r>
            <a:r>
              <a:rPr lang="en-US" altLang="zh-CN" b="1" kern="0" dirty="0">
                <a:latin typeface="楷体_GB2312" panose="02010609030101010101" pitchFamily="49" charset="-122"/>
                <a:ea typeface="楷体_GB2312" panose="02010609030101010101" pitchFamily="49" charset="-122"/>
              </a:rPr>
              <a:t>90%</a:t>
            </a:r>
            <a:r>
              <a:rPr lang="zh-CN" altLang="en-US" b="1" kern="0" dirty="0">
                <a:latin typeface="楷体_GB2312" panose="02010609030101010101" pitchFamily="49" charset="-122"/>
                <a:ea typeface="楷体_GB2312" panose="02010609030101010101" pitchFamily="49" charset="-122"/>
              </a:rPr>
              <a:t>以上的农业生产率增长可以归功于家庭联产承包责任制的确立。</a:t>
            </a:r>
          </a:p>
          <a:p>
            <a:endParaRPr lang="zh-CN" altLang="en-US" b="1" kern="0" dirty="0">
              <a:latin typeface="楷体_GB2312" panose="02010609030101010101" pitchFamily="49" charset="-122"/>
              <a:ea typeface="楷体_GB2312" panose="02010609030101010101" pitchFamily="49" charset="-122"/>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032" y="4526629"/>
            <a:ext cx="2448272"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4526629"/>
            <a:ext cx="3024336"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4437112"/>
            <a:ext cx="3419872" cy="2338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50947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568952" cy="1143000"/>
          </a:xfrm>
          <a:solidFill>
            <a:srgbClr val="EDFEC4"/>
          </a:solidFill>
          <a:ln>
            <a:solidFill>
              <a:schemeClr val="accent1">
                <a:lumMod val="20000"/>
                <a:lumOff val="80000"/>
              </a:schemeClr>
            </a:solidFill>
          </a:ln>
        </p:spPr>
        <p:txBody>
          <a:bodyPr/>
          <a:lstStyle/>
          <a:p>
            <a:r>
              <a:rPr lang="zh-CN" altLang="en-US" sz="3600" b="1" dirty="0" smtClean="0">
                <a:latin typeface="幼圆" panose="02010509060101010101" pitchFamily="49" charset="-122"/>
                <a:ea typeface="幼圆" panose="02010509060101010101" pitchFamily="49" charset="-122"/>
              </a:rPr>
              <a:t>案例：新中国最成功的一次制度创新</a:t>
            </a:r>
            <a:r>
              <a:rPr lang="en-US" altLang="zh-CN" sz="3600" b="1" dirty="0">
                <a:latin typeface="幼圆" panose="02010509060101010101" pitchFamily="49" charset="-122"/>
                <a:ea typeface="幼圆" panose="02010509060101010101" pitchFamily="49" charset="-122"/>
              </a:rPr>
              <a:t>——</a:t>
            </a:r>
            <a:r>
              <a:rPr lang="en-US" altLang="zh-CN" sz="3600" b="1" dirty="0" smtClean="0">
                <a:latin typeface="幼圆" panose="02010509060101010101" pitchFamily="49" charset="-122"/>
                <a:ea typeface="幼圆" panose="02010509060101010101" pitchFamily="49" charset="-122"/>
              </a:rPr>
              <a:t>  </a:t>
            </a:r>
            <a:br>
              <a:rPr lang="en-US" altLang="zh-CN" sz="3600" b="1" dirty="0" smtClean="0">
                <a:latin typeface="幼圆" panose="02010509060101010101" pitchFamily="49" charset="-122"/>
                <a:ea typeface="幼圆" panose="02010509060101010101" pitchFamily="49" charset="-122"/>
              </a:rPr>
            </a:br>
            <a:r>
              <a:rPr lang="en-US" altLang="zh-CN" sz="3600" b="1" dirty="0">
                <a:latin typeface="幼圆" panose="02010509060101010101" pitchFamily="49" charset="-122"/>
                <a:ea typeface="幼圆" panose="02010509060101010101" pitchFamily="49" charset="-122"/>
              </a:rPr>
              <a:t> </a:t>
            </a:r>
            <a:r>
              <a:rPr lang="en-US" altLang="zh-CN" sz="3600" b="1" dirty="0" smtClean="0">
                <a:latin typeface="幼圆" panose="02010509060101010101" pitchFamily="49" charset="-122"/>
                <a:ea typeface="幼圆" panose="02010509060101010101" pitchFamily="49" charset="-122"/>
              </a:rPr>
              <a:t>     </a:t>
            </a:r>
            <a:r>
              <a:rPr lang="zh-CN" altLang="en-US" sz="4000" b="1" dirty="0" smtClean="0">
                <a:latin typeface="幼圆" panose="02010509060101010101" pitchFamily="49" charset="-122"/>
                <a:ea typeface="幼圆" panose="02010509060101010101" pitchFamily="49" charset="-122"/>
              </a:rPr>
              <a:t>家庭联产承包责任制的确立</a:t>
            </a:r>
            <a:endParaRPr lang="zh-CN" altLang="en-US" sz="4000" b="1" dirty="0">
              <a:latin typeface="幼圆" panose="02010509060101010101" pitchFamily="49" charset="-122"/>
              <a:ea typeface="幼圆" panose="02010509060101010101" pitchFamily="49" charset="-122"/>
            </a:endParaRPr>
          </a:p>
        </p:txBody>
      </p:sp>
      <p:sp>
        <p:nvSpPr>
          <p:cNvPr id="3" name="文本占位符 2"/>
          <p:cNvSpPr>
            <a:spLocks noGrp="1"/>
          </p:cNvSpPr>
          <p:nvPr>
            <p:ph type="body" idx="1"/>
          </p:nvPr>
        </p:nvSpPr>
        <p:spPr>
          <a:xfrm>
            <a:off x="251520" y="1991113"/>
            <a:ext cx="8784976" cy="2878047"/>
          </a:xfrm>
        </p:spPr>
        <p:txBody>
          <a:bodyPr/>
          <a:lstStyle/>
          <a:p>
            <a:r>
              <a:rPr lang="zh-CN" altLang="en-US" b="1" dirty="0" smtClean="0">
                <a:latin typeface="楷体_GB2312" panose="02010609030101010101" pitchFamily="49" charset="-122"/>
                <a:ea typeface="楷体_GB2312" panose="02010609030101010101" pitchFamily="49" charset="-122"/>
              </a:rPr>
              <a:t>家庭</a:t>
            </a:r>
            <a:r>
              <a:rPr lang="zh-CN" altLang="en-US" b="1" dirty="0">
                <a:latin typeface="楷体_GB2312" panose="02010609030101010101" pitchFamily="49" charset="-122"/>
                <a:ea typeface="楷体_GB2312" panose="02010609030101010101" pitchFamily="49" charset="-122"/>
              </a:rPr>
              <a:t>分散经营，经营规模过小，难以形成</a:t>
            </a:r>
            <a:r>
              <a:rPr lang="zh-CN" altLang="en-US" b="1" dirty="0" smtClean="0">
                <a:latin typeface="楷体_GB2312" panose="02010609030101010101" pitchFamily="49" charset="-122"/>
                <a:ea typeface="楷体_GB2312" panose="02010609030101010101" pitchFamily="49" charset="-122"/>
              </a:rPr>
              <a:t>规模效益</a:t>
            </a:r>
            <a:endParaRPr lang="zh-CN" altLang="en-US" b="1" dirty="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农民</a:t>
            </a:r>
            <a:r>
              <a:rPr lang="zh-CN" altLang="en-US" b="1" dirty="0">
                <a:latin typeface="楷体_GB2312" panose="02010609030101010101" pitchFamily="49" charset="-122"/>
                <a:ea typeface="楷体_GB2312" panose="02010609030101010101" pitchFamily="49" charset="-122"/>
              </a:rPr>
              <a:t>不能自由处置土地，限制了农民的择业自由</a:t>
            </a:r>
          </a:p>
          <a:p>
            <a:r>
              <a:rPr lang="zh-CN" altLang="en-US" b="1" dirty="0" smtClean="0">
                <a:latin typeface="楷体_GB2312" panose="02010609030101010101" pitchFamily="49" charset="-122"/>
                <a:ea typeface="楷体_GB2312" panose="02010609030101010101" pitchFamily="49" charset="-122"/>
              </a:rPr>
              <a:t>农村</a:t>
            </a:r>
            <a:r>
              <a:rPr lang="zh-CN" altLang="en-US" b="1" dirty="0">
                <a:latin typeface="楷体_GB2312" panose="02010609030101010101" pitchFamily="49" charset="-122"/>
                <a:ea typeface="楷体_GB2312" panose="02010609030101010101" pitchFamily="49" charset="-122"/>
              </a:rPr>
              <a:t>基础</a:t>
            </a:r>
            <a:r>
              <a:rPr lang="zh-CN" altLang="en-US" b="1" dirty="0" smtClean="0">
                <a:latin typeface="楷体_GB2312" panose="02010609030101010101" pitchFamily="49" charset="-122"/>
                <a:ea typeface="楷体_GB2312" panose="02010609030101010101" pitchFamily="49" charset="-122"/>
              </a:rPr>
              <a:t>设施建设滞后，</a:t>
            </a:r>
            <a:r>
              <a:rPr lang="zh-CN" altLang="en-US" b="1" dirty="0">
                <a:latin typeface="楷体_GB2312" panose="02010609030101010101" pitchFamily="49" charset="-122"/>
                <a:ea typeface="楷体_GB2312" panose="02010609030101010101" pitchFamily="49" charset="-122"/>
              </a:rPr>
              <a:t>农业</a:t>
            </a:r>
            <a:r>
              <a:rPr lang="zh-CN" altLang="en-US" b="1" dirty="0" smtClean="0">
                <a:latin typeface="楷体_GB2312" panose="02010609030101010101" pitchFamily="49" charset="-122"/>
                <a:ea typeface="楷体_GB2312" panose="02010609030101010101" pitchFamily="49" charset="-122"/>
              </a:rPr>
              <a:t>生产成本较高</a:t>
            </a:r>
            <a:endParaRPr lang="zh-CN" altLang="en-US" b="1" dirty="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家庭</a:t>
            </a:r>
            <a:r>
              <a:rPr lang="zh-CN" altLang="en-US" b="1" dirty="0">
                <a:latin typeface="楷体_GB2312" panose="02010609030101010101" pitchFamily="49" charset="-122"/>
                <a:ea typeface="楷体_GB2312" panose="02010609030101010101" pitchFamily="49" charset="-122"/>
              </a:rPr>
              <a:t>小块田地分散经营，不利于农业科技水平的提高</a:t>
            </a:r>
          </a:p>
          <a:p>
            <a:r>
              <a:rPr lang="zh-CN" altLang="en-US" b="1" dirty="0" smtClean="0">
                <a:latin typeface="楷体_GB2312" panose="02010609030101010101" pitchFamily="49" charset="-122"/>
                <a:ea typeface="楷体_GB2312" panose="02010609030101010101" pitchFamily="49" charset="-122"/>
              </a:rPr>
              <a:t>土地</a:t>
            </a:r>
            <a:r>
              <a:rPr lang="zh-CN" altLang="en-US" b="1" dirty="0">
                <a:latin typeface="楷体_GB2312" panose="02010609030101010101" pitchFamily="49" charset="-122"/>
                <a:ea typeface="楷体_GB2312" panose="02010609030101010101" pitchFamily="49" charset="-122"/>
              </a:rPr>
              <a:t>制度缺乏</a:t>
            </a:r>
            <a:r>
              <a:rPr lang="zh-CN" altLang="en-US" b="1" dirty="0" smtClean="0">
                <a:latin typeface="楷体_GB2312" panose="02010609030101010101" pitchFamily="49" charset="-122"/>
                <a:ea typeface="楷体_GB2312" panose="02010609030101010101" pitchFamily="49" charset="-122"/>
              </a:rPr>
              <a:t>规范化法律</a:t>
            </a:r>
            <a:r>
              <a:rPr lang="zh-CN" altLang="en-US" b="1" dirty="0">
                <a:latin typeface="楷体_GB2312" panose="02010609030101010101" pitchFamily="49" charset="-122"/>
                <a:ea typeface="楷体_GB2312" panose="02010609030101010101" pitchFamily="49" charset="-122"/>
              </a:rPr>
              <a:t>保障，</a:t>
            </a:r>
            <a:r>
              <a:rPr lang="zh-CN" altLang="en-US" b="1" dirty="0" smtClean="0">
                <a:latin typeface="楷体_GB2312" panose="02010609030101010101" pitchFamily="49" charset="-122"/>
                <a:ea typeface="楷体_GB2312" panose="02010609030101010101" pitchFamily="49" charset="-122"/>
              </a:rPr>
              <a:t>制约农民经营土地收入能力</a:t>
            </a:r>
            <a:endParaRPr lang="zh-CN" altLang="en-US" b="1" dirty="0">
              <a:latin typeface="楷体_GB2312" panose="02010609030101010101" pitchFamily="49" charset="-122"/>
              <a:ea typeface="楷体_GB2312" panose="02010609030101010101" pitchFamily="49" charset="-122"/>
            </a:endParaRPr>
          </a:p>
        </p:txBody>
      </p:sp>
      <p:sp>
        <p:nvSpPr>
          <p:cNvPr id="4" name="文本占位符 2"/>
          <p:cNvSpPr txBox="1">
            <a:spLocks/>
          </p:cNvSpPr>
          <p:nvPr/>
        </p:nvSpPr>
        <p:spPr bwMode="auto">
          <a:xfrm>
            <a:off x="395536" y="1429136"/>
            <a:ext cx="6408712"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buNone/>
            </a:pPr>
            <a:r>
              <a:rPr lang="zh-CN" altLang="en-US" b="1" kern="0" dirty="0" smtClean="0">
                <a:latin typeface="黑体" panose="02010609060101010101" pitchFamily="49" charset="-122"/>
                <a:ea typeface="黑体" panose="02010609060101010101" pitchFamily="49" charset="-122"/>
              </a:rPr>
              <a:t>家庭联产承包责任制的制度缺陷：</a:t>
            </a:r>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5789" y="5052754"/>
            <a:ext cx="4000500" cy="17750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082944"/>
            <a:ext cx="3528392" cy="1775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右箭头 4"/>
          <p:cNvSpPr/>
          <p:nvPr/>
        </p:nvSpPr>
        <p:spPr bwMode="auto">
          <a:xfrm>
            <a:off x="3538488" y="5729040"/>
            <a:ext cx="1608390" cy="48286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Gulim" pitchFamily="34" charset="-127"/>
              <a:ea typeface="Gulim" pitchFamily="34" charset="-127"/>
            </a:endParaRPr>
          </a:p>
        </p:txBody>
      </p:sp>
    </p:spTree>
    <p:extLst>
      <p:ext uri="{BB962C8B-B14F-4D97-AF65-F5344CB8AC3E}">
        <p14:creationId xmlns:p14="http://schemas.microsoft.com/office/powerpoint/2010/main" val="7859727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一、制度创新的概念</a:t>
            </a:r>
            <a:endParaRPr lang="zh-CN" altLang="en-US" sz="4800" b="1" dirty="0">
              <a:latin typeface="黑体" pitchFamily="49" charset="-122"/>
              <a:ea typeface="黑体" pitchFamily="49" charset="-122"/>
            </a:endParaRPr>
          </a:p>
        </p:txBody>
      </p:sp>
      <p:sp>
        <p:nvSpPr>
          <p:cNvPr id="6" name="Rectangle 3"/>
          <p:cNvSpPr txBox="1">
            <a:spLocks noChangeArrowheads="1"/>
          </p:cNvSpPr>
          <p:nvPr/>
        </p:nvSpPr>
        <p:spPr bwMode="auto">
          <a:xfrm>
            <a:off x="179512" y="1600200"/>
            <a:ext cx="8856984"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lnSpc>
                <a:spcPct val="120000"/>
              </a:lnSpc>
              <a:buNone/>
            </a:pPr>
            <a:r>
              <a:rPr lang="zh-CN" altLang="pt-BR" sz="3200" b="1" kern="0" dirty="0" smtClean="0">
                <a:latin typeface="黑体" panose="02010609060101010101" pitchFamily="49" charset="-122"/>
                <a:ea typeface="黑体" panose="02010609060101010101" pitchFamily="49" charset="-122"/>
              </a:rPr>
              <a:t>新制度经济学论述制度创新有以下几方面的内容</a:t>
            </a:r>
            <a:r>
              <a:rPr lang="pt-BR" altLang="zh-CN" sz="3200" b="1" kern="0" dirty="0" smtClean="0">
                <a:latin typeface="黑体" panose="02010609060101010101" pitchFamily="49" charset="-122"/>
                <a:ea typeface="黑体" panose="02010609060101010101" pitchFamily="49" charset="-122"/>
              </a:rPr>
              <a:t>:</a:t>
            </a:r>
          </a:p>
          <a:p>
            <a:pPr>
              <a:lnSpc>
                <a:spcPct val="120000"/>
              </a:lnSpc>
            </a:pPr>
            <a:r>
              <a:rPr lang="pt-BR" altLang="zh-CN" kern="0" dirty="0" smtClean="0">
                <a:latin typeface="楷体_GB2312" panose="02010609030101010101" pitchFamily="49" charset="-122"/>
                <a:ea typeface="楷体_GB2312" panose="02010609030101010101" pitchFamily="49" charset="-122"/>
              </a:rPr>
              <a:t>(1)</a:t>
            </a:r>
            <a:r>
              <a:rPr lang="zh-CN" altLang="pt-BR" kern="0" dirty="0" smtClean="0">
                <a:latin typeface="楷体_GB2312" panose="02010609030101010101" pitchFamily="49" charset="-122"/>
                <a:ea typeface="楷体_GB2312" panose="02010609030101010101" pitchFamily="49" charset="-122"/>
              </a:rPr>
              <a:t>制度创新一般是指制度主体通过建立新的制度以获得追加利润的活动</a:t>
            </a:r>
            <a:r>
              <a:rPr lang="pt-BR" altLang="zh-CN" kern="0" dirty="0" smtClean="0">
                <a:latin typeface="楷体_GB2312" panose="02010609030101010101" pitchFamily="49" charset="-122"/>
                <a:ea typeface="楷体_GB2312" panose="02010609030101010101" pitchFamily="49" charset="-122"/>
              </a:rPr>
              <a:t>,</a:t>
            </a:r>
            <a:r>
              <a:rPr lang="zh-CN" altLang="pt-BR" kern="0" dirty="0" smtClean="0">
                <a:latin typeface="楷体_GB2312" panose="02010609030101010101" pitchFamily="49" charset="-122"/>
                <a:ea typeface="楷体_GB2312" panose="02010609030101010101" pitchFamily="49" charset="-122"/>
              </a:rPr>
              <a:t>它包括以下三方面</a:t>
            </a:r>
            <a:r>
              <a:rPr lang="pt-BR" altLang="zh-CN" kern="0" dirty="0" smtClean="0">
                <a:latin typeface="楷体_GB2312" panose="02010609030101010101" pitchFamily="49" charset="-122"/>
                <a:ea typeface="楷体_GB2312" panose="02010609030101010101" pitchFamily="49" charset="-122"/>
              </a:rPr>
              <a:t>:</a:t>
            </a:r>
            <a:r>
              <a:rPr lang="zh-CN" altLang="pt-BR" kern="0" dirty="0" smtClean="0">
                <a:latin typeface="楷体_GB2312" panose="02010609030101010101" pitchFamily="49" charset="-122"/>
                <a:ea typeface="楷体_GB2312" panose="02010609030101010101" pitchFamily="49" charset="-122"/>
              </a:rPr>
              <a:t>第一</a:t>
            </a:r>
            <a:r>
              <a:rPr lang="pt-BR" altLang="zh-CN" kern="0" dirty="0" smtClean="0">
                <a:latin typeface="楷体_GB2312" panose="02010609030101010101" pitchFamily="49" charset="-122"/>
                <a:ea typeface="楷体_GB2312" panose="02010609030101010101" pitchFamily="49" charset="-122"/>
              </a:rPr>
              <a:t>,</a:t>
            </a:r>
            <a:r>
              <a:rPr lang="zh-CN" altLang="pt-BR" kern="0" dirty="0" smtClean="0">
                <a:latin typeface="楷体_GB2312" panose="02010609030101010101" pitchFamily="49" charset="-122"/>
                <a:ea typeface="楷体_GB2312" panose="02010609030101010101" pitchFamily="49" charset="-122"/>
              </a:rPr>
              <a:t>是反映特定</a:t>
            </a:r>
            <a:r>
              <a:rPr lang="zh-CN" altLang="pt-BR" b="1" kern="0" dirty="0" smtClean="0">
                <a:latin typeface="楷体_GB2312" panose="02010609030101010101" pitchFamily="49" charset="-122"/>
                <a:ea typeface="楷体_GB2312" panose="02010609030101010101" pitchFamily="49" charset="-122"/>
              </a:rPr>
              <a:t>组织行为</a:t>
            </a:r>
            <a:r>
              <a:rPr lang="zh-CN" altLang="pt-BR" kern="0" dirty="0" smtClean="0">
                <a:latin typeface="楷体_GB2312" panose="02010609030101010101" pitchFamily="49" charset="-122"/>
                <a:ea typeface="楷体_GB2312" panose="02010609030101010101" pitchFamily="49" charset="-122"/>
              </a:rPr>
              <a:t>的变化</a:t>
            </a:r>
            <a:r>
              <a:rPr lang="zh-CN" altLang="en-US" kern="0" dirty="0" smtClean="0">
                <a:latin typeface="楷体_GB2312" panose="02010609030101010101" pitchFamily="49" charset="-122"/>
                <a:ea typeface="楷体_GB2312" panose="02010609030101010101" pitchFamily="49" charset="-122"/>
              </a:rPr>
              <a:t>（</a:t>
            </a:r>
            <a:r>
              <a:rPr lang="zh-CN" altLang="en-US" b="1" kern="0" dirty="0" smtClean="0">
                <a:latin typeface="楷体_GB2312" panose="02010609030101010101" pitchFamily="49" charset="-122"/>
                <a:ea typeface="楷体_GB2312" panose="02010609030101010101" pitchFamily="49" charset="-122"/>
              </a:rPr>
              <a:t>农村包围城市</a:t>
            </a:r>
            <a:r>
              <a:rPr lang="en-US" altLang="zh-CN" b="1" kern="0" dirty="0" smtClean="0">
                <a:latin typeface="楷体_GB2312" panose="02010609030101010101" pitchFamily="49" charset="-122"/>
                <a:ea typeface="楷体_GB2312" panose="02010609030101010101" pitchFamily="49" charset="-122"/>
              </a:rPr>
              <a:t>&amp;</a:t>
            </a:r>
            <a:r>
              <a:rPr lang="zh-CN" altLang="en-US" b="1" kern="0" dirty="0" smtClean="0">
                <a:latin typeface="楷体_GB2312" panose="02010609030101010101" pitchFamily="49" charset="-122"/>
                <a:ea typeface="楷体_GB2312" panose="02010609030101010101" pitchFamily="49" charset="-122"/>
              </a:rPr>
              <a:t>改革开放</a:t>
            </a:r>
            <a:r>
              <a:rPr lang="zh-CN" altLang="en-US" kern="0" dirty="0" smtClean="0">
                <a:latin typeface="楷体_GB2312" panose="02010609030101010101" pitchFamily="49" charset="-122"/>
                <a:ea typeface="楷体_GB2312" panose="02010609030101010101" pitchFamily="49" charset="-122"/>
              </a:rPr>
              <a:t>）</a:t>
            </a:r>
            <a:r>
              <a:rPr lang="zh-CN" altLang="pt-BR" kern="0" dirty="0" smtClean="0">
                <a:latin typeface="楷体_GB2312" panose="02010609030101010101" pitchFamily="49" charset="-122"/>
                <a:ea typeface="楷体_GB2312" panose="02010609030101010101" pitchFamily="49" charset="-122"/>
              </a:rPr>
              <a:t>；第二</a:t>
            </a:r>
            <a:r>
              <a:rPr lang="pt-BR" altLang="zh-CN" kern="0" dirty="0" smtClean="0">
                <a:latin typeface="楷体_GB2312" panose="02010609030101010101" pitchFamily="49" charset="-122"/>
                <a:ea typeface="楷体_GB2312" panose="02010609030101010101" pitchFamily="49" charset="-122"/>
              </a:rPr>
              <a:t>,</a:t>
            </a:r>
            <a:r>
              <a:rPr lang="zh-CN" altLang="pt-BR" kern="0" dirty="0" smtClean="0">
                <a:latin typeface="楷体_GB2312" panose="02010609030101010101" pitchFamily="49" charset="-122"/>
                <a:ea typeface="楷体_GB2312" panose="02010609030101010101" pitchFamily="49" charset="-122"/>
              </a:rPr>
              <a:t>是指这一组织与其环境之间的相互关系的变化</a:t>
            </a:r>
            <a:r>
              <a:rPr lang="zh-CN" altLang="en-US" kern="0" dirty="0" smtClean="0">
                <a:latin typeface="楷体_GB2312" panose="02010609030101010101" pitchFamily="49" charset="-122"/>
                <a:ea typeface="楷体_GB2312" panose="02010609030101010101" pitchFamily="49" charset="-122"/>
              </a:rPr>
              <a:t>（</a:t>
            </a:r>
            <a:r>
              <a:rPr lang="zh-CN" altLang="en-US" b="1" kern="0" dirty="0" smtClean="0">
                <a:latin typeface="楷体_GB2312" panose="02010609030101010101" pitchFamily="49" charset="-122"/>
                <a:ea typeface="楷体_GB2312" panose="02010609030101010101" pitchFamily="49" charset="-122"/>
              </a:rPr>
              <a:t>新民主主义革命</a:t>
            </a:r>
            <a:r>
              <a:rPr lang="en-US" altLang="zh-CN" b="1" kern="0" dirty="0" smtClean="0">
                <a:latin typeface="楷体_GB2312" panose="02010609030101010101" pitchFamily="49" charset="-122"/>
                <a:ea typeface="楷体_GB2312" panose="02010609030101010101" pitchFamily="49" charset="-122"/>
              </a:rPr>
              <a:t>&amp;</a:t>
            </a:r>
            <a:r>
              <a:rPr lang="zh-CN" altLang="en-US" b="1" kern="0" dirty="0" smtClean="0">
                <a:latin typeface="楷体_GB2312" panose="02010609030101010101" pitchFamily="49" charset="-122"/>
                <a:ea typeface="楷体_GB2312" panose="02010609030101010101" pitchFamily="49" charset="-122"/>
              </a:rPr>
              <a:t>中国特色社会主义市场经济</a:t>
            </a:r>
            <a:r>
              <a:rPr lang="zh-CN" altLang="en-US" kern="0" dirty="0" smtClean="0">
                <a:latin typeface="楷体_GB2312" panose="02010609030101010101" pitchFamily="49" charset="-122"/>
                <a:ea typeface="楷体_GB2312" panose="02010609030101010101" pitchFamily="49" charset="-122"/>
              </a:rPr>
              <a:t>）</a:t>
            </a:r>
            <a:r>
              <a:rPr lang="zh-CN" altLang="pt-BR" kern="0" dirty="0" smtClean="0">
                <a:latin typeface="楷体_GB2312" panose="02010609030101010101" pitchFamily="49" charset="-122"/>
                <a:ea typeface="楷体_GB2312" panose="02010609030101010101" pitchFamily="49" charset="-122"/>
              </a:rPr>
              <a:t>；第三</a:t>
            </a:r>
            <a:r>
              <a:rPr lang="pt-BR" altLang="zh-CN" kern="0" dirty="0" smtClean="0">
                <a:latin typeface="楷体_GB2312" panose="02010609030101010101" pitchFamily="49" charset="-122"/>
                <a:ea typeface="楷体_GB2312" panose="02010609030101010101" pitchFamily="49" charset="-122"/>
              </a:rPr>
              <a:t>,</a:t>
            </a:r>
            <a:r>
              <a:rPr lang="zh-CN" altLang="pt-BR" kern="0" dirty="0" smtClean="0">
                <a:latin typeface="楷体_GB2312" panose="02010609030101010101" pitchFamily="49" charset="-122"/>
                <a:ea typeface="楷体_GB2312" panose="02010609030101010101" pitchFamily="49" charset="-122"/>
              </a:rPr>
              <a:t>是指在一种组织的环境中支配行为与相互关系规则的变化</a:t>
            </a:r>
            <a:r>
              <a:rPr lang="zh-CN" altLang="en-US" kern="0" dirty="0" smtClean="0">
                <a:latin typeface="楷体_GB2312" panose="02010609030101010101" pitchFamily="49" charset="-122"/>
                <a:ea typeface="楷体_GB2312" panose="02010609030101010101" pitchFamily="49" charset="-122"/>
              </a:rPr>
              <a:t>（三权分立、</a:t>
            </a:r>
            <a:r>
              <a:rPr lang="zh-CN" altLang="en-US" b="1" kern="0" dirty="0" smtClean="0">
                <a:latin typeface="楷体_GB2312" panose="02010609030101010101" pitchFamily="49" charset="-122"/>
                <a:ea typeface="楷体_GB2312" panose="02010609030101010101" pitchFamily="49" charset="-122"/>
              </a:rPr>
              <a:t>一国两制</a:t>
            </a:r>
            <a:r>
              <a:rPr lang="zh-CN" altLang="en-US" kern="0" dirty="0" smtClean="0">
                <a:latin typeface="楷体_GB2312" panose="02010609030101010101" pitchFamily="49" charset="-122"/>
                <a:ea typeface="楷体_GB2312" panose="02010609030101010101" pitchFamily="49" charset="-122"/>
              </a:rPr>
              <a:t>）</a:t>
            </a:r>
            <a:r>
              <a:rPr lang="zh-CN" altLang="pt-BR" kern="0" dirty="0" smtClean="0">
                <a:latin typeface="楷体_GB2312" panose="02010609030101010101" pitchFamily="49" charset="-122"/>
                <a:ea typeface="楷体_GB2312" panose="02010609030101010101" pitchFamily="49" charset="-122"/>
              </a:rPr>
              <a:t>。</a:t>
            </a:r>
          </a:p>
          <a:p>
            <a:pPr>
              <a:lnSpc>
                <a:spcPct val="120000"/>
              </a:lnSpc>
            </a:pPr>
            <a:r>
              <a:rPr lang="pt-BR" altLang="zh-CN" kern="0" dirty="0" smtClean="0">
                <a:latin typeface="楷体_GB2312" panose="02010609030101010101" pitchFamily="49" charset="-122"/>
                <a:ea typeface="楷体_GB2312" panose="02010609030101010101" pitchFamily="49" charset="-122"/>
              </a:rPr>
              <a:t>(2)</a:t>
            </a:r>
            <a:r>
              <a:rPr lang="zh-CN" altLang="pt-BR" kern="0" dirty="0" smtClean="0">
                <a:latin typeface="楷体_GB2312" panose="02010609030101010101" pitchFamily="49" charset="-122"/>
                <a:ea typeface="楷体_GB2312" panose="02010609030101010101" pitchFamily="49" charset="-122"/>
              </a:rPr>
              <a:t>制度创新是指能使创新者获得追加利益而对现行制度进行变革的种种措施与对策。</a:t>
            </a:r>
            <a:endParaRPr lang="zh-CN" altLang="en-US" kern="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5317519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333002" y="332656"/>
            <a:ext cx="7263334" cy="936104"/>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一、制度创新的概念</a:t>
            </a:r>
            <a:endParaRPr lang="zh-CN" altLang="en-US" sz="4800" b="1" dirty="0">
              <a:latin typeface="黑体" pitchFamily="49" charset="-122"/>
              <a:ea typeface="黑体" pitchFamily="49" charset="-122"/>
            </a:endParaRPr>
          </a:p>
        </p:txBody>
      </p:sp>
      <p:sp>
        <p:nvSpPr>
          <p:cNvPr id="5" name="Rectangle 3"/>
          <p:cNvSpPr>
            <a:spLocks noGrp="1" noChangeArrowheads="1"/>
          </p:cNvSpPr>
          <p:nvPr>
            <p:ph type="body" idx="1"/>
          </p:nvPr>
        </p:nvSpPr>
        <p:spPr>
          <a:xfrm>
            <a:off x="303780" y="1412776"/>
            <a:ext cx="8652657" cy="4248472"/>
          </a:xfrm>
        </p:spPr>
        <p:txBody>
          <a:bodyPr/>
          <a:lstStyle/>
          <a:p>
            <a:pPr>
              <a:lnSpc>
                <a:spcPct val="120000"/>
              </a:lnSpc>
            </a:pPr>
            <a:r>
              <a:rPr lang="pt-BR" altLang="zh-CN" sz="2000" dirty="0">
                <a:latin typeface="楷体_GB2312" panose="02010609030101010101" pitchFamily="49" charset="-122"/>
                <a:ea typeface="楷体_GB2312" panose="02010609030101010101" pitchFamily="49" charset="-122"/>
              </a:rPr>
              <a:t>(3)</a:t>
            </a:r>
            <a:r>
              <a:rPr lang="zh-CN" altLang="pt-BR" sz="2000" dirty="0">
                <a:latin typeface="楷体_GB2312" panose="02010609030101010101" pitchFamily="49" charset="-122"/>
                <a:ea typeface="楷体_GB2312" panose="02010609030101010101" pitchFamily="49" charset="-122"/>
              </a:rPr>
              <a:t>制度创新是在既定的宪法秩序和规范性行为准则下制度供给主体解决制度供给不足</a:t>
            </a:r>
            <a:r>
              <a:rPr lang="pt-BR" altLang="zh-CN" sz="2000" dirty="0">
                <a:latin typeface="楷体_GB2312" panose="02010609030101010101" pitchFamily="49" charset="-122"/>
                <a:ea typeface="楷体_GB2312" panose="02010609030101010101" pitchFamily="49" charset="-122"/>
              </a:rPr>
              <a:t>,</a:t>
            </a:r>
            <a:r>
              <a:rPr lang="zh-CN" altLang="pt-BR" sz="2000" dirty="0">
                <a:latin typeface="楷体_GB2312" panose="02010609030101010101" pitchFamily="49" charset="-122"/>
                <a:ea typeface="楷体_GB2312" panose="02010609030101010101" pitchFamily="49" charset="-122"/>
              </a:rPr>
              <a:t>从而扩大制度供给的获取潜在收益的行为</a:t>
            </a:r>
            <a:r>
              <a:rPr lang="zh-CN" altLang="pt-BR" sz="2000" dirty="0" smtClean="0">
                <a:latin typeface="楷体_GB2312" panose="02010609030101010101" pitchFamily="49" charset="-122"/>
                <a:ea typeface="楷体_GB2312" panose="02010609030101010101" pitchFamily="49" charset="-122"/>
              </a:rPr>
              <a:t>。</a:t>
            </a:r>
            <a:r>
              <a:rPr lang="zh-CN" altLang="en-US" sz="2000"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宪法：国体</a:t>
            </a:r>
            <a:r>
              <a:rPr lang="en-US" altLang="zh-CN" sz="2000" b="1" dirty="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人民民主专政；政体</a:t>
            </a:r>
            <a:r>
              <a:rPr lang="en-US" altLang="zh-CN" sz="2000" b="1"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民主集中制</a:t>
            </a:r>
            <a:r>
              <a:rPr lang="zh-CN" altLang="en-US" sz="2000" b="1" dirty="0">
                <a:latin typeface="楷体_GB2312" panose="02010609030101010101" pitchFamily="49" charset="-122"/>
                <a:ea typeface="楷体_GB2312" panose="02010609030101010101" pitchFamily="49" charset="-122"/>
              </a:rPr>
              <a:t>的人民代表大会制度</a:t>
            </a:r>
            <a:r>
              <a:rPr lang="zh-CN" altLang="en-US" sz="2000" b="1" dirty="0" smtClean="0">
                <a:latin typeface="楷体_GB2312" panose="02010609030101010101" pitchFamily="49" charset="-122"/>
                <a:ea typeface="楷体_GB2312" panose="02010609030101010101" pitchFamily="49" charset="-122"/>
              </a:rPr>
              <a:t>。</a:t>
            </a:r>
            <a:endParaRPr lang="en-US" altLang="zh-CN" sz="2000" b="1" dirty="0" smtClean="0">
              <a:latin typeface="楷体_GB2312" panose="02010609030101010101" pitchFamily="49" charset="-122"/>
              <a:ea typeface="楷体_GB2312" panose="02010609030101010101" pitchFamily="49" charset="-122"/>
            </a:endParaRPr>
          </a:p>
          <a:p>
            <a:pPr marL="0" indent="0">
              <a:lnSpc>
                <a:spcPct val="120000"/>
              </a:lnSpc>
              <a:buNone/>
            </a:pPr>
            <a:r>
              <a:rPr lang="en-US" altLang="zh-CN" sz="2000" b="1" dirty="0">
                <a:latin typeface="楷体_GB2312" panose="02010609030101010101" pitchFamily="49" charset="-122"/>
                <a:ea typeface="楷体_GB2312" panose="02010609030101010101" pitchFamily="49" charset="-122"/>
              </a:rPr>
              <a:t> </a:t>
            </a:r>
            <a:r>
              <a:rPr lang="en-US" altLang="zh-CN" sz="2000" b="1" dirty="0" smtClean="0">
                <a:latin typeface="楷体_GB2312" panose="02010609030101010101" pitchFamily="49" charset="-122"/>
                <a:ea typeface="楷体_GB2312" panose="02010609030101010101" pitchFamily="49" charset="-122"/>
              </a:rPr>
              <a:t>  </a:t>
            </a:r>
            <a:r>
              <a:rPr lang="zh-CN" altLang="en-US" sz="2000" b="1" dirty="0" smtClean="0">
                <a:latin typeface="楷体_GB2312" panose="02010609030101010101" pitchFamily="49" charset="-122"/>
                <a:ea typeface="楷体_GB2312" panose="02010609030101010101" pitchFamily="49" charset="-122"/>
              </a:rPr>
              <a:t>美国</a:t>
            </a:r>
            <a:r>
              <a:rPr lang="zh-CN" altLang="en-US" sz="2000" b="1" dirty="0">
                <a:latin typeface="楷体_GB2312" panose="02010609030101010101" pitchFamily="49" charset="-122"/>
                <a:ea typeface="楷体_GB2312" panose="02010609030101010101" pitchFamily="49" charset="-122"/>
              </a:rPr>
              <a:t>国体是</a:t>
            </a:r>
            <a:r>
              <a:rPr lang="zh-CN" altLang="en-US" sz="2000" b="1" dirty="0" smtClean="0">
                <a:latin typeface="楷体_GB2312" panose="02010609030101010101" pitchFamily="49" charset="-122"/>
                <a:ea typeface="楷体_GB2312" panose="02010609030101010101" pitchFamily="49" charset="-122"/>
              </a:rPr>
              <a:t>资产阶级专政，美国</a:t>
            </a:r>
            <a:r>
              <a:rPr lang="zh-CN" altLang="en-US" sz="2000" b="1" dirty="0">
                <a:latin typeface="楷体_GB2312" panose="02010609030101010101" pitchFamily="49" charset="-122"/>
                <a:ea typeface="楷体_GB2312" panose="02010609030101010101" pitchFamily="49" charset="-122"/>
              </a:rPr>
              <a:t>的政体是</a:t>
            </a:r>
            <a:r>
              <a:rPr lang="zh-CN" altLang="en-US" sz="2000" b="1" dirty="0" smtClean="0">
                <a:latin typeface="楷体_GB2312" panose="02010609030101010101" pitchFamily="49" charset="-122"/>
                <a:ea typeface="楷体_GB2312" panose="02010609030101010101" pitchFamily="49" charset="-122"/>
              </a:rPr>
              <a:t>总统为核心的共和制；</a:t>
            </a:r>
            <a:endParaRPr lang="en-US" altLang="zh-CN" sz="2000" b="1" dirty="0" smtClean="0">
              <a:latin typeface="楷体_GB2312" panose="02010609030101010101" pitchFamily="49" charset="-122"/>
              <a:ea typeface="楷体_GB2312" panose="02010609030101010101" pitchFamily="49" charset="-122"/>
            </a:endParaRPr>
          </a:p>
          <a:p>
            <a:pPr marL="0" indent="0">
              <a:lnSpc>
                <a:spcPct val="120000"/>
              </a:lnSpc>
              <a:buNone/>
            </a:pPr>
            <a:r>
              <a:rPr lang="en-US" altLang="zh-CN" sz="2000" b="1" dirty="0">
                <a:latin typeface="楷体_GB2312" panose="02010609030101010101" pitchFamily="49" charset="-122"/>
                <a:ea typeface="楷体_GB2312" panose="02010609030101010101" pitchFamily="49" charset="-122"/>
              </a:rPr>
              <a:t> </a:t>
            </a:r>
            <a:r>
              <a:rPr lang="en-US" altLang="zh-CN" sz="2000" b="1" dirty="0" smtClean="0">
                <a:latin typeface="楷体_GB2312" panose="02010609030101010101" pitchFamily="49" charset="-122"/>
                <a:ea typeface="楷体_GB2312" panose="02010609030101010101" pitchFamily="49" charset="-122"/>
              </a:rPr>
              <a:t>  </a:t>
            </a:r>
            <a:r>
              <a:rPr lang="zh-CN" altLang="en-US" sz="2000" b="1" dirty="0" smtClean="0">
                <a:latin typeface="楷体_GB2312" panose="02010609030101010101" pitchFamily="49" charset="-122"/>
                <a:ea typeface="楷体_GB2312" panose="02010609030101010101" pitchFamily="49" charset="-122"/>
              </a:rPr>
              <a:t>日本的国体是注重神道的资本主义国家</a:t>
            </a:r>
            <a:r>
              <a:rPr lang="zh-CN" altLang="en-US" sz="2000" b="1" dirty="0" smtClean="0">
                <a:latin typeface="楷体_GB2312" panose="02010609030101010101" pitchFamily="49" charset="-122"/>
                <a:ea typeface="楷体_GB2312" panose="02010609030101010101" pitchFamily="49" charset="-122"/>
              </a:rPr>
              <a:t>，政体是</a:t>
            </a:r>
            <a:r>
              <a:rPr lang="zh-CN" altLang="en-US" sz="2000" b="1" dirty="0" smtClean="0">
                <a:latin typeface="楷体_GB2312" panose="02010609030101010101" pitchFamily="49" charset="-122"/>
                <a:ea typeface="楷体_GB2312" panose="02010609030101010101" pitchFamily="49" charset="-122"/>
              </a:rPr>
              <a:t>三权分立的议会内阁制</a:t>
            </a:r>
            <a:r>
              <a:rPr lang="zh-CN" altLang="en-US" sz="2000" dirty="0" smtClean="0">
                <a:latin typeface="楷体_GB2312" panose="02010609030101010101" pitchFamily="49" charset="-122"/>
                <a:ea typeface="楷体_GB2312" panose="02010609030101010101" pitchFamily="49" charset="-122"/>
              </a:rPr>
              <a:t>）</a:t>
            </a:r>
            <a:endParaRPr lang="zh-CN" altLang="pt-BR" sz="2000" dirty="0">
              <a:latin typeface="楷体_GB2312" panose="02010609030101010101" pitchFamily="49" charset="-122"/>
              <a:ea typeface="楷体_GB2312" panose="02010609030101010101" pitchFamily="49" charset="-122"/>
            </a:endParaRPr>
          </a:p>
          <a:p>
            <a:pPr>
              <a:lnSpc>
                <a:spcPct val="120000"/>
              </a:lnSpc>
            </a:pPr>
            <a:r>
              <a:rPr lang="pt-BR" altLang="zh-CN" sz="2000" dirty="0">
                <a:latin typeface="楷体_GB2312" panose="02010609030101010101" pitchFamily="49" charset="-122"/>
                <a:ea typeface="楷体_GB2312" panose="02010609030101010101" pitchFamily="49" charset="-122"/>
              </a:rPr>
              <a:t>(4)</a:t>
            </a:r>
            <a:r>
              <a:rPr lang="zh-CN" altLang="pt-BR" sz="2000" dirty="0">
                <a:latin typeface="楷体_GB2312" panose="02010609030101010101" pitchFamily="49" charset="-122"/>
                <a:ea typeface="楷体_GB2312" panose="02010609030101010101" pitchFamily="49" charset="-122"/>
              </a:rPr>
              <a:t>制度创新是由产权制度</a:t>
            </a:r>
            <a:r>
              <a:rPr lang="zh-CN" altLang="pt-BR" sz="2000" dirty="0" smtClean="0">
                <a:latin typeface="楷体_GB2312" panose="02010609030101010101" pitchFamily="49" charset="-122"/>
                <a:ea typeface="楷体_GB2312" panose="02010609030101010101" pitchFamily="49" charset="-122"/>
              </a:rPr>
              <a:t>创新</a:t>
            </a:r>
            <a:r>
              <a:rPr lang="zh-CN" altLang="en-US" sz="2000"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国有还是私有？</a:t>
            </a:r>
            <a:r>
              <a:rPr lang="zh-CN" altLang="en-US" sz="2000" dirty="0" smtClean="0">
                <a:latin typeface="楷体_GB2312" panose="02010609030101010101" pitchFamily="49" charset="-122"/>
                <a:ea typeface="楷体_GB2312" panose="02010609030101010101" pitchFamily="49" charset="-122"/>
              </a:rPr>
              <a:t>）</a:t>
            </a:r>
            <a:r>
              <a:rPr lang="zh-CN" altLang="pt-BR" sz="2000" dirty="0" smtClean="0">
                <a:latin typeface="楷体_GB2312" panose="02010609030101010101" pitchFamily="49" charset="-122"/>
                <a:ea typeface="楷体_GB2312" panose="02010609030101010101" pitchFamily="49" charset="-122"/>
              </a:rPr>
              <a:t>、</a:t>
            </a:r>
            <a:r>
              <a:rPr lang="zh-CN" altLang="pt-BR" sz="2000" dirty="0">
                <a:latin typeface="楷体_GB2312" panose="02010609030101010101" pitchFamily="49" charset="-122"/>
                <a:ea typeface="楷体_GB2312" panose="02010609030101010101" pitchFamily="49" charset="-122"/>
              </a:rPr>
              <a:t>组织制度</a:t>
            </a:r>
            <a:r>
              <a:rPr lang="zh-CN" altLang="pt-BR" sz="2000" dirty="0" smtClean="0">
                <a:latin typeface="楷体_GB2312" panose="02010609030101010101" pitchFamily="49" charset="-122"/>
                <a:ea typeface="楷体_GB2312" panose="02010609030101010101" pitchFamily="49" charset="-122"/>
              </a:rPr>
              <a:t>创新</a:t>
            </a:r>
            <a:r>
              <a:rPr lang="zh-CN" altLang="en-US" sz="2000"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国有企业改革</a:t>
            </a:r>
            <a:r>
              <a:rPr lang="zh-CN" altLang="en-US" sz="2000" dirty="0" smtClean="0">
                <a:latin typeface="楷体_GB2312" panose="02010609030101010101" pitchFamily="49" charset="-122"/>
                <a:ea typeface="楷体_GB2312" panose="02010609030101010101" pitchFamily="49" charset="-122"/>
              </a:rPr>
              <a:t>）</a:t>
            </a:r>
            <a:r>
              <a:rPr lang="zh-CN" altLang="pt-BR" sz="2000" dirty="0" smtClean="0">
                <a:latin typeface="楷体_GB2312" panose="02010609030101010101" pitchFamily="49" charset="-122"/>
                <a:ea typeface="楷体_GB2312" panose="02010609030101010101" pitchFamily="49" charset="-122"/>
              </a:rPr>
              <a:t>、</a:t>
            </a:r>
            <a:r>
              <a:rPr lang="zh-CN" altLang="pt-BR" sz="2000" dirty="0">
                <a:latin typeface="楷体_GB2312" panose="02010609030101010101" pitchFamily="49" charset="-122"/>
                <a:ea typeface="楷体_GB2312" panose="02010609030101010101" pitchFamily="49" charset="-122"/>
              </a:rPr>
              <a:t>管理制度</a:t>
            </a:r>
            <a:r>
              <a:rPr lang="zh-CN" altLang="pt-BR" sz="2000" dirty="0" smtClean="0">
                <a:latin typeface="楷体_GB2312" panose="02010609030101010101" pitchFamily="49" charset="-122"/>
                <a:ea typeface="楷体_GB2312" panose="02010609030101010101" pitchFamily="49" charset="-122"/>
              </a:rPr>
              <a:t>创新</a:t>
            </a:r>
            <a:r>
              <a:rPr lang="zh-CN" altLang="en-US" sz="2000"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马云的合伙人制度、接班人张勇</a:t>
            </a:r>
            <a:r>
              <a:rPr lang="zh-CN" altLang="en-US" sz="2000" dirty="0" smtClean="0">
                <a:latin typeface="楷体_GB2312" panose="02010609030101010101" pitchFamily="49" charset="-122"/>
                <a:ea typeface="楷体_GB2312" panose="02010609030101010101" pitchFamily="49" charset="-122"/>
              </a:rPr>
              <a:t>）</a:t>
            </a:r>
            <a:r>
              <a:rPr lang="zh-CN" altLang="pt-BR" sz="2000" dirty="0" smtClean="0">
                <a:latin typeface="楷体_GB2312" panose="02010609030101010101" pitchFamily="49" charset="-122"/>
                <a:ea typeface="楷体_GB2312" panose="02010609030101010101" pitchFamily="49" charset="-122"/>
              </a:rPr>
              <a:t>和</a:t>
            </a:r>
            <a:r>
              <a:rPr lang="zh-CN" altLang="pt-BR" sz="2000" dirty="0">
                <a:latin typeface="楷体_GB2312" panose="02010609030101010101" pitchFamily="49" charset="-122"/>
                <a:ea typeface="楷体_GB2312" panose="02010609030101010101" pitchFamily="49" charset="-122"/>
              </a:rPr>
              <a:t>约束制度</a:t>
            </a:r>
            <a:r>
              <a:rPr lang="zh-CN" altLang="pt-BR" sz="2000" dirty="0" smtClean="0">
                <a:latin typeface="楷体_GB2312" panose="02010609030101010101" pitchFamily="49" charset="-122"/>
                <a:ea typeface="楷体_GB2312" panose="02010609030101010101" pitchFamily="49" charset="-122"/>
              </a:rPr>
              <a:t>创新</a:t>
            </a:r>
            <a:r>
              <a:rPr lang="zh-CN" altLang="en-US" sz="2000"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莫雷</a:t>
            </a:r>
            <a:r>
              <a:rPr lang="en-US" altLang="zh-CN" sz="2000" b="1" dirty="0" smtClean="0">
                <a:latin typeface="楷体_GB2312" panose="02010609030101010101" pitchFamily="49" charset="-122"/>
                <a:ea typeface="楷体_GB2312" panose="02010609030101010101" pitchFamily="49" charset="-122"/>
              </a:rPr>
              <a:t>VS</a:t>
            </a:r>
            <a:r>
              <a:rPr lang="zh-CN" altLang="en-US" sz="2000" b="1" dirty="0" smtClean="0">
                <a:latin typeface="楷体_GB2312" panose="02010609030101010101" pitchFamily="49" charset="-122"/>
                <a:ea typeface="楷体_GB2312" panose="02010609030101010101" pitchFamily="49" charset="-122"/>
              </a:rPr>
              <a:t>昆山龙哥？</a:t>
            </a:r>
            <a:r>
              <a:rPr lang="zh-CN" altLang="en-US" sz="2000" dirty="0" smtClean="0">
                <a:latin typeface="楷体_GB2312" panose="02010609030101010101" pitchFamily="49" charset="-122"/>
                <a:ea typeface="楷体_GB2312" panose="02010609030101010101" pitchFamily="49" charset="-122"/>
              </a:rPr>
              <a:t>）</a:t>
            </a:r>
            <a:r>
              <a:rPr lang="zh-CN" altLang="pt-BR" sz="2000" dirty="0" smtClean="0">
                <a:latin typeface="楷体_GB2312" panose="02010609030101010101" pitchFamily="49" charset="-122"/>
                <a:ea typeface="楷体_GB2312" panose="02010609030101010101" pitchFamily="49" charset="-122"/>
              </a:rPr>
              <a:t>四</a:t>
            </a:r>
            <a:r>
              <a:rPr lang="zh-CN" altLang="pt-BR" sz="2000" dirty="0">
                <a:latin typeface="楷体_GB2312" panose="02010609030101010101" pitchFamily="49" charset="-122"/>
                <a:ea typeface="楷体_GB2312" panose="02010609030101010101" pitchFamily="49" charset="-122"/>
              </a:rPr>
              <a:t>方面组成。</a:t>
            </a:r>
          </a:p>
          <a:p>
            <a:pPr>
              <a:lnSpc>
                <a:spcPct val="120000"/>
              </a:lnSpc>
            </a:pPr>
            <a:r>
              <a:rPr lang="pt-BR" altLang="zh-CN" sz="2000" dirty="0">
                <a:latin typeface="楷体_GB2312" panose="02010609030101010101" pitchFamily="49" charset="-122"/>
                <a:ea typeface="楷体_GB2312" panose="02010609030101010101" pitchFamily="49" charset="-122"/>
              </a:rPr>
              <a:t>(5)</a:t>
            </a:r>
            <a:r>
              <a:rPr lang="zh-CN" altLang="pt-BR" sz="2000" dirty="0">
                <a:latin typeface="楷体_GB2312" panose="02010609030101010101" pitchFamily="49" charset="-122"/>
                <a:ea typeface="楷体_GB2312" panose="02010609030101010101" pitchFamily="49" charset="-122"/>
              </a:rPr>
              <a:t>制度创新既包括根本制度的变革</a:t>
            </a:r>
            <a:r>
              <a:rPr lang="pt-BR" altLang="zh-CN" sz="2000" dirty="0">
                <a:latin typeface="楷体_GB2312" panose="02010609030101010101" pitchFamily="49" charset="-122"/>
                <a:ea typeface="楷体_GB2312" panose="02010609030101010101" pitchFamily="49" charset="-122"/>
              </a:rPr>
              <a:t>,</a:t>
            </a:r>
            <a:r>
              <a:rPr lang="zh-CN" altLang="pt-BR" sz="2000" dirty="0">
                <a:latin typeface="楷体_GB2312" panose="02010609030101010101" pitchFamily="49" charset="-122"/>
                <a:ea typeface="楷体_GB2312" panose="02010609030101010101" pitchFamily="49" charset="-122"/>
              </a:rPr>
              <a:t>也包括在基本制度不变前提下具体运行的体制模式的转换</a:t>
            </a:r>
            <a:r>
              <a:rPr lang="zh-CN" altLang="pt-BR" sz="2000" dirty="0" smtClean="0">
                <a:latin typeface="楷体_GB2312" panose="02010609030101010101" pitchFamily="49" charset="-122"/>
                <a:ea typeface="楷体_GB2312" panose="02010609030101010101" pitchFamily="49" charset="-122"/>
              </a:rPr>
              <a:t>。</a:t>
            </a:r>
            <a:r>
              <a:rPr lang="zh-CN" altLang="en-US" sz="2000"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袁世凯</a:t>
            </a:r>
            <a:r>
              <a:rPr lang="en-US" altLang="zh-CN" sz="2000" b="1" dirty="0" smtClean="0">
                <a:latin typeface="楷体_GB2312" panose="02010609030101010101" pitchFamily="49" charset="-122"/>
                <a:ea typeface="楷体_GB2312" panose="02010609030101010101" pitchFamily="49" charset="-122"/>
              </a:rPr>
              <a:t>——</a:t>
            </a:r>
            <a:r>
              <a:rPr lang="zh-CN" altLang="en-US" sz="2000" b="1" dirty="0" smtClean="0">
                <a:latin typeface="楷体_GB2312" panose="02010609030101010101" pitchFamily="49" charset="-122"/>
                <a:ea typeface="楷体_GB2312" panose="02010609030101010101" pitchFamily="49" charset="-122"/>
              </a:rPr>
              <a:t>宪政还是共和？计划经济还是市场机制？</a:t>
            </a:r>
            <a:r>
              <a:rPr lang="zh-CN" altLang="en-US" sz="2000" dirty="0" smtClean="0">
                <a:latin typeface="楷体_GB2312" panose="02010609030101010101" pitchFamily="49" charset="-122"/>
                <a:ea typeface="楷体_GB2312" panose="02010609030101010101" pitchFamily="49" charset="-122"/>
              </a:rPr>
              <a:t>）</a:t>
            </a:r>
            <a:endParaRPr lang="en-US" altLang="zh-CN" sz="2000" dirty="0" smtClean="0">
              <a:latin typeface="楷体_GB2312" panose="02010609030101010101" pitchFamily="49" charset="-122"/>
              <a:ea typeface="楷体_GB2312" panose="02010609030101010101" pitchFamily="49" charset="-122"/>
            </a:endParaRPr>
          </a:p>
          <a:p>
            <a:pPr>
              <a:lnSpc>
                <a:spcPct val="120000"/>
              </a:lnSpc>
            </a:pPr>
            <a:r>
              <a:rPr lang="pt-BR" altLang="zh-CN" sz="2000" dirty="0">
                <a:latin typeface="楷体_GB2312" panose="02010609030101010101" pitchFamily="49" charset="-122"/>
                <a:ea typeface="楷体_GB2312" panose="02010609030101010101" pitchFamily="49" charset="-122"/>
              </a:rPr>
              <a:t>(6)</a:t>
            </a:r>
            <a:r>
              <a:rPr lang="zh-CN" altLang="pt-BR" sz="2000" dirty="0">
                <a:latin typeface="楷体_GB2312" panose="02010609030101010101" pitchFamily="49" charset="-122"/>
                <a:ea typeface="楷体_GB2312" panose="02010609030101010101" pitchFamily="49" charset="-122"/>
              </a:rPr>
              <a:t>制度创新是一个演进的过程</a:t>
            </a:r>
            <a:r>
              <a:rPr lang="pt-BR" altLang="zh-CN" sz="2000" dirty="0">
                <a:latin typeface="楷体_GB2312" panose="02010609030101010101" pitchFamily="49" charset="-122"/>
                <a:ea typeface="楷体_GB2312" panose="02010609030101010101" pitchFamily="49" charset="-122"/>
              </a:rPr>
              <a:t>,</a:t>
            </a:r>
            <a:r>
              <a:rPr lang="zh-CN" altLang="pt-BR" sz="2000" dirty="0">
                <a:latin typeface="楷体_GB2312" panose="02010609030101010101" pitchFamily="49" charset="-122"/>
                <a:ea typeface="楷体_GB2312" panose="02010609030101010101" pitchFamily="49" charset="-122"/>
              </a:rPr>
              <a:t>包括制度的替代、转化和交易过程</a:t>
            </a:r>
            <a:r>
              <a:rPr lang="zh-CN" altLang="pt-BR" sz="2000" dirty="0" smtClean="0">
                <a:latin typeface="楷体_GB2312" panose="02010609030101010101" pitchFamily="49" charset="-122"/>
                <a:ea typeface="楷体_GB2312" panose="02010609030101010101" pitchFamily="49" charset="-122"/>
              </a:rPr>
              <a:t>。</a:t>
            </a:r>
            <a:endParaRPr lang="zh-CN" altLang="en-US" sz="200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4408" y="5301208"/>
            <a:ext cx="899592" cy="14127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22096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303780" y="188640"/>
            <a:ext cx="8305800" cy="936104"/>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一、制度创新的概念</a:t>
            </a:r>
            <a:endParaRPr lang="zh-CN" altLang="en-US" sz="4800" b="1" dirty="0">
              <a:latin typeface="黑体" pitchFamily="49" charset="-122"/>
              <a:ea typeface="黑体" pitchFamily="49" charset="-122"/>
            </a:endParaRPr>
          </a:p>
        </p:txBody>
      </p:sp>
      <p:sp>
        <p:nvSpPr>
          <p:cNvPr id="5" name="Rectangle 3"/>
          <p:cNvSpPr>
            <a:spLocks noGrp="1" noChangeArrowheads="1"/>
          </p:cNvSpPr>
          <p:nvPr>
            <p:ph type="body" idx="1"/>
          </p:nvPr>
        </p:nvSpPr>
        <p:spPr>
          <a:xfrm>
            <a:off x="303780" y="1196752"/>
            <a:ext cx="8642027" cy="1927579"/>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综合观之，所谓制度创新是指社会规范体系的选择、创造、新建和优化的通称，包括制度的调整、完善、改革和更替等</a:t>
            </a:r>
            <a:r>
              <a:rPr lang="zh-CN" altLang="en-US" sz="2800" b="1" dirty="0" smtClean="0">
                <a:latin typeface="楷体_GB2312" panose="02010609030101010101" pitchFamily="49" charset="-122"/>
                <a:ea typeface="楷体_GB2312" panose="02010609030101010101" pitchFamily="49" charset="-122"/>
              </a:rPr>
              <a:t>。（卢现祥）</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商鞅变法</a:t>
            </a:r>
            <a:r>
              <a:rPr lang="en-US" altLang="zh-CN" sz="2800" b="1" dirty="0" smtClean="0">
                <a:latin typeface="楷体_GB2312" panose="02010609030101010101" pitchFamily="49" charset="-122"/>
                <a:ea typeface="楷体_GB2312" panose="02010609030101010101" pitchFamily="49" charset="-122"/>
              </a:rPr>
              <a:t>&amp;</a:t>
            </a:r>
            <a:r>
              <a:rPr lang="zh-CN" altLang="en-US" sz="2800" b="1" dirty="0" smtClean="0">
                <a:latin typeface="楷体_GB2312" panose="02010609030101010101" pitchFamily="49" charset="-122"/>
                <a:ea typeface="楷体_GB2312" panose="02010609030101010101" pitchFamily="49" charset="-122"/>
              </a:rPr>
              <a:t>明治维新</a:t>
            </a:r>
            <a:endParaRPr lang="zh-CN" altLang="en-US" sz="2800" b="1"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18284"/>
            <a:ext cx="2457450" cy="1934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568" y="2887671"/>
            <a:ext cx="2609488" cy="1965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4888142"/>
            <a:ext cx="3773112" cy="19698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056" y="2918284"/>
            <a:ext cx="4067944" cy="3939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973719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268760"/>
            <a:ext cx="8305800" cy="4896544"/>
          </a:xfrm>
        </p:spPr>
        <p:txBody>
          <a:bodyPr/>
          <a:lstStyle/>
          <a:p>
            <a:pPr>
              <a:lnSpc>
                <a:spcPct val="120000"/>
              </a:lnSpc>
            </a:pPr>
            <a:r>
              <a:rPr lang="zh-CN" altLang="en-US" sz="2200" dirty="0">
                <a:latin typeface="楷体_GB2312" pitchFamily="49" charset="-122"/>
                <a:ea typeface="楷体_GB2312" pitchFamily="49" charset="-122"/>
              </a:rPr>
              <a:t>新制度经济学家认为，新古典经济增长理论最大的不足就在于它对制度和制度变迁的忽视。</a:t>
            </a:r>
            <a:r>
              <a:rPr lang="zh-CN" altLang="en-US" sz="2200" b="1" dirty="0">
                <a:latin typeface="楷体_GB2312" pitchFamily="49" charset="-122"/>
                <a:ea typeface="楷体_GB2312" pitchFamily="49" charset="-122"/>
              </a:rPr>
              <a:t>在新古典经济增长模型中几乎看不到制度和制度变迁的作用。 </a:t>
            </a:r>
          </a:p>
          <a:p>
            <a:pPr>
              <a:lnSpc>
                <a:spcPct val="120000"/>
              </a:lnSpc>
            </a:pPr>
            <a:r>
              <a:rPr lang="en-US" altLang="zh-CN" sz="2200" dirty="0" smtClean="0">
                <a:latin typeface="楷体_GB2312" pitchFamily="49" charset="-122"/>
                <a:ea typeface="楷体_GB2312" pitchFamily="49" charset="-122"/>
              </a:rPr>
              <a:t>1955</a:t>
            </a:r>
            <a:r>
              <a:rPr lang="zh-CN" altLang="en-US" sz="2200" dirty="0" smtClean="0">
                <a:latin typeface="楷体_GB2312" pitchFamily="49" charset="-122"/>
                <a:ea typeface="楷体_GB2312" pitchFamily="49" charset="-122"/>
              </a:rPr>
              <a:t>年，刘易斯分析</a:t>
            </a:r>
            <a:r>
              <a:rPr lang="zh-CN" altLang="en-US" sz="2200" dirty="0">
                <a:latin typeface="楷体_GB2312" pitchFamily="49" charset="-122"/>
                <a:ea typeface="楷体_GB2312" pitchFamily="49" charset="-122"/>
              </a:rPr>
              <a:t>了影响经济增长的主要因素，经济制度就是其中一个重要的因素</a:t>
            </a:r>
            <a:r>
              <a:rPr lang="zh-CN" altLang="en-US" sz="2200" dirty="0" smtClean="0">
                <a:latin typeface="楷体_GB2312" pitchFamily="49" charset="-122"/>
                <a:ea typeface="楷体_GB2312" pitchFamily="49" charset="-122"/>
              </a:rPr>
              <a:t>。他把</a:t>
            </a:r>
            <a:r>
              <a:rPr lang="zh-CN" altLang="en-US" sz="2200" dirty="0">
                <a:latin typeface="楷体_GB2312" pitchFamily="49" charset="-122"/>
                <a:ea typeface="楷体_GB2312" pitchFamily="49" charset="-122"/>
              </a:rPr>
              <a:t>决定经济增长的人类行为分为“近因”（即直接原因）和“近因的起因”（即间接原因），其中，</a:t>
            </a:r>
            <a:r>
              <a:rPr lang="zh-CN" altLang="en-US" sz="2200" b="1" dirty="0">
                <a:latin typeface="楷体_GB2312" pitchFamily="49" charset="-122"/>
                <a:ea typeface="楷体_GB2312" pitchFamily="49" charset="-122"/>
              </a:rPr>
              <a:t>直接原因是从事经济活动的努力、知识的增进与运用及资本积累，而决定这些直接原因的原因则是制度与信念</a:t>
            </a:r>
            <a:r>
              <a:rPr lang="zh-CN" altLang="en-US" sz="2200" b="1" dirty="0" smtClean="0">
                <a:latin typeface="楷体_GB2312" pitchFamily="49" charset="-122"/>
                <a:ea typeface="楷体_GB2312" pitchFamily="49" charset="-122"/>
              </a:rPr>
              <a:t>。</a:t>
            </a:r>
            <a:r>
              <a:rPr lang="zh-CN" altLang="en-US" sz="2200" dirty="0" smtClean="0">
                <a:latin typeface="楷体_GB2312" pitchFamily="49" charset="-122"/>
                <a:ea typeface="楷体_GB2312" pitchFamily="49" charset="-122"/>
              </a:rPr>
              <a:t>他说</a:t>
            </a:r>
            <a:r>
              <a:rPr lang="zh-CN" altLang="en-US" sz="2200" dirty="0">
                <a:latin typeface="楷体_GB2312" pitchFamily="49" charset="-122"/>
                <a:ea typeface="楷体_GB2312" pitchFamily="49" charset="-122"/>
              </a:rPr>
              <a:t>：“制度是促进还是限制经济增长，要看它对人们的努力是否加以保护；要看它为专业化的发展提供多少机会和允许有多大的活动自由。” </a:t>
            </a:r>
            <a:r>
              <a:rPr lang="zh-CN" altLang="en-US" sz="2200" b="1" dirty="0" smtClean="0">
                <a:latin typeface="楷体_GB2312" pitchFamily="49" charset="-122"/>
                <a:ea typeface="楷体_GB2312" pitchFamily="49" charset="-122"/>
              </a:rPr>
              <a:t>（特朗普的专利指责）</a:t>
            </a:r>
            <a:endParaRPr lang="zh-CN" altLang="en-US" sz="2200" b="1" dirty="0">
              <a:latin typeface="楷体_GB2312" pitchFamily="49" charset="-122"/>
              <a:ea typeface="楷体_GB2312" pitchFamily="49" charset="-122"/>
            </a:endParaRPr>
          </a:p>
        </p:txBody>
      </p:sp>
      <p:sp>
        <p:nvSpPr>
          <p:cNvPr id="4" name="标题 1"/>
          <p:cNvSpPr txBox="1">
            <a:spLocks/>
          </p:cNvSpPr>
          <p:nvPr/>
        </p:nvSpPr>
        <p:spPr bwMode="auto">
          <a:xfrm>
            <a:off x="323528" y="202797"/>
            <a:ext cx="8305800" cy="99395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二、制度创新的相关理论</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14348741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340768"/>
            <a:ext cx="8568952" cy="4320480"/>
          </a:xfrm>
        </p:spPr>
        <p:txBody>
          <a:bodyPr/>
          <a:lstStyle/>
          <a:p>
            <a:pPr>
              <a:lnSpc>
                <a:spcPct val="120000"/>
              </a:lnSpc>
            </a:pPr>
            <a:r>
              <a:rPr lang="en-US" altLang="zh-CN" sz="2800" dirty="0">
                <a:latin typeface="楷体_GB2312" pitchFamily="49" charset="-122"/>
                <a:ea typeface="楷体_GB2312" pitchFamily="49" charset="-122"/>
              </a:rPr>
              <a:t>1957</a:t>
            </a:r>
            <a:r>
              <a:rPr lang="zh-CN" altLang="en-US" sz="2800" dirty="0">
                <a:latin typeface="楷体_GB2312" pitchFamily="49" charset="-122"/>
                <a:ea typeface="楷体_GB2312" pitchFamily="49" charset="-122"/>
              </a:rPr>
              <a:t>年，鲍尔与耶梅写了一本开创先河的著作</a:t>
            </a:r>
            <a:r>
              <a:rPr lang="en-US" altLang="zh-CN" sz="2800"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欠发达国家经济学</a:t>
            </a:r>
            <a:r>
              <a:rPr lang="en-US" altLang="zh-CN" sz="2800"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。该书打破了传统发展经济学的许多神话，并号召对比较制度进行研究，以考察哪些制度更有助于经济增长。</a:t>
            </a:r>
            <a:r>
              <a:rPr lang="zh-CN" altLang="en-US" sz="2800" b="1" dirty="0">
                <a:latin typeface="楷体_GB2312" pitchFamily="49" charset="-122"/>
                <a:ea typeface="楷体_GB2312" pitchFamily="49" charset="-122"/>
              </a:rPr>
              <a:t>他们把产权制度和非正规行为规则作为决定经济增长的重要因素。</a:t>
            </a:r>
          </a:p>
          <a:p>
            <a:pPr>
              <a:lnSpc>
                <a:spcPct val="120000"/>
              </a:lnSpc>
            </a:pPr>
            <a:r>
              <a:rPr lang="zh-CN" altLang="en-US" sz="2800" dirty="0">
                <a:latin typeface="楷体_GB2312" pitchFamily="49" charset="-122"/>
                <a:ea typeface="楷体_GB2312" pitchFamily="49" charset="-122"/>
              </a:rPr>
              <a:t>著名经济学家阿克劳夫</a:t>
            </a:r>
            <a:r>
              <a:rPr lang="en-US" altLang="zh-CN" sz="2800" dirty="0">
                <a:latin typeface="楷体_GB2312" pitchFamily="49" charset="-122"/>
                <a:ea typeface="楷体_GB2312" pitchFamily="49" charset="-122"/>
              </a:rPr>
              <a:t>1970</a:t>
            </a:r>
            <a:r>
              <a:rPr lang="zh-CN" altLang="en-US" sz="2800" dirty="0">
                <a:latin typeface="楷体_GB2312" pitchFamily="49" charset="-122"/>
                <a:ea typeface="楷体_GB2312" pitchFamily="49" charset="-122"/>
              </a:rPr>
              <a:t>年</a:t>
            </a:r>
            <a:r>
              <a:rPr lang="zh-CN" altLang="en-US" sz="2800" b="1" dirty="0">
                <a:latin typeface="楷体_GB2312" pitchFamily="49" charset="-122"/>
                <a:ea typeface="楷体_GB2312" pitchFamily="49" charset="-122"/>
              </a:rPr>
              <a:t>把制度安排的缺乏看作是经济增长的主要约束。</a:t>
            </a:r>
            <a:r>
              <a:rPr lang="zh-CN" altLang="en-US" sz="2800" dirty="0">
                <a:latin typeface="楷体_GB2312" pitchFamily="49" charset="-122"/>
                <a:ea typeface="楷体_GB2312" pitchFamily="49" charset="-122"/>
              </a:rPr>
              <a:t>法国历史年鉴学派的代表人物布劳代尔发现，在历史上，一些国家有大量的钱闲置，这些钱都没有用于生产和投资活动。 </a:t>
            </a:r>
          </a:p>
        </p:txBody>
      </p:sp>
      <p:sp>
        <p:nvSpPr>
          <p:cNvPr id="4" name="标题 1"/>
          <p:cNvSpPr txBox="1">
            <a:spLocks/>
          </p:cNvSpPr>
          <p:nvPr/>
        </p:nvSpPr>
        <p:spPr bwMode="auto">
          <a:xfrm>
            <a:off x="323528" y="202797"/>
            <a:ext cx="8305800" cy="99395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二、制度创新的相关理论</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26579024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268760"/>
            <a:ext cx="8305800" cy="4968552"/>
          </a:xfrm>
        </p:spPr>
        <p:txBody>
          <a:bodyPr/>
          <a:lstStyle/>
          <a:p>
            <a:pPr>
              <a:lnSpc>
                <a:spcPct val="120000"/>
              </a:lnSpc>
            </a:pPr>
            <a:r>
              <a:rPr lang="zh-CN" altLang="en-US" dirty="0">
                <a:latin typeface="楷体_GB2312" pitchFamily="49" charset="-122"/>
                <a:ea typeface="楷体_GB2312" pitchFamily="49" charset="-122"/>
              </a:rPr>
              <a:t>诺思</a:t>
            </a:r>
            <a:r>
              <a:rPr lang="en-US" altLang="zh-CN" dirty="0">
                <a:latin typeface="楷体_GB2312" pitchFamily="49" charset="-122"/>
                <a:ea typeface="楷体_GB2312" pitchFamily="49" charset="-122"/>
              </a:rPr>
              <a:t>1968</a:t>
            </a:r>
            <a:r>
              <a:rPr lang="zh-CN" altLang="en-US" dirty="0">
                <a:latin typeface="楷体_GB2312" pitchFamily="49" charset="-122"/>
                <a:ea typeface="楷体_GB2312" pitchFamily="49" charset="-122"/>
              </a:rPr>
              <a:t>年发表的</a:t>
            </a:r>
            <a:r>
              <a:rPr lang="en-US" altLang="zh-CN" dirty="0">
                <a:latin typeface="楷体_GB2312" pitchFamily="49" charset="-122"/>
                <a:ea typeface="楷体_GB2312" pitchFamily="49" charset="-122"/>
              </a:rPr>
              <a:t>《1600-1850</a:t>
            </a:r>
            <a:r>
              <a:rPr lang="zh-CN" altLang="en-US" dirty="0">
                <a:latin typeface="楷体_GB2312" pitchFamily="49" charset="-122"/>
                <a:ea typeface="楷体_GB2312" pitchFamily="49" charset="-122"/>
              </a:rPr>
              <a:t>年海洋运输的生产率变化的原因</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文章经过对海洋运输成本的各方面的统计分析发现，尽管这一时期海洋运输技术没有大的变化，</a:t>
            </a:r>
            <a:r>
              <a:rPr lang="zh-CN" altLang="en-US" b="1" dirty="0">
                <a:latin typeface="楷体_GB2312" pitchFamily="49" charset="-122"/>
                <a:ea typeface="楷体_GB2312" pitchFamily="49" charset="-122"/>
              </a:rPr>
              <a:t>但由于船运制度和市场制度发生了变化，最终降低了海洋运输成本，</a:t>
            </a:r>
            <a:r>
              <a:rPr lang="zh-CN" altLang="en-US" dirty="0">
                <a:latin typeface="楷体_GB2312" pitchFamily="49" charset="-122"/>
                <a:ea typeface="楷体_GB2312" pitchFamily="49" charset="-122"/>
              </a:rPr>
              <a:t>使得海洋运输生产率大有提高。</a:t>
            </a:r>
          </a:p>
          <a:p>
            <a:pPr>
              <a:lnSpc>
                <a:spcPct val="120000"/>
              </a:lnSpc>
            </a:pPr>
            <a:r>
              <a:rPr lang="en-US" altLang="zh-CN" dirty="0">
                <a:latin typeface="楷体_GB2312" pitchFamily="49" charset="-122"/>
                <a:ea typeface="楷体_GB2312" pitchFamily="49" charset="-122"/>
              </a:rPr>
              <a:t>1971</a:t>
            </a:r>
            <a:r>
              <a:rPr lang="zh-CN" altLang="en-US" dirty="0" smtClean="0">
                <a:latin typeface="楷体_GB2312" pitchFamily="49" charset="-122"/>
                <a:ea typeface="楷体_GB2312" pitchFamily="49" charset="-122"/>
              </a:rPr>
              <a:t>年，</a:t>
            </a:r>
            <a:r>
              <a:rPr lang="zh-CN" altLang="en-US" dirty="0">
                <a:latin typeface="楷体_GB2312" pitchFamily="49" charset="-122"/>
                <a:ea typeface="楷体_GB2312" pitchFamily="49" charset="-122"/>
              </a:rPr>
              <a:t>诺</a:t>
            </a:r>
            <a:r>
              <a:rPr lang="zh-CN" altLang="en-US" dirty="0" smtClean="0">
                <a:latin typeface="楷体_GB2312" pitchFamily="49" charset="-122"/>
                <a:ea typeface="楷体_GB2312" pitchFamily="49" charset="-122"/>
              </a:rPr>
              <a:t>斯在</a:t>
            </a:r>
            <a:r>
              <a:rPr lang="en-US" altLang="zh-CN" dirty="0" smtClean="0">
                <a:latin typeface="楷体_GB2312" pitchFamily="49" charset="-122"/>
                <a:ea typeface="楷体_GB2312" pitchFamily="49" charset="-122"/>
              </a:rPr>
              <a:t>《</a:t>
            </a:r>
            <a:r>
              <a:rPr lang="zh-CN" altLang="en-US" dirty="0">
                <a:latin typeface="楷体_GB2312" pitchFamily="49" charset="-122"/>
                <a:ea typeface="楷体_GB2312" pitchFamily="49" charset="-122"/>
              </a:rPr>
              <a:t>制度变迁与经济增长</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一文中指出：</a:t>
            </a:r>
            <a:r>
              <a:rPr lang="zh-CN" altLang="en-US" dirty="0">
                <a:latin typeface="楷体_GB2312" pitchFamily="49" charset="-122"/>
                <a:ea typeface="楷体_GB2312" pitchFamily="49" charset="-122"/>
              </a:rPr>
              <a:t>“经济史学家已经集中注意力于技术变化，把它看作增长的源泉，但是，如上所述，</a:t>
            </a:r>
            <a:r>
              <a:rPr lang="zh-CN" altLang="en-US" b="1" dirty="0">
                <a:latin typeface="楷体_GB2312" pitchFamily="49" charset="-122"/>
                <a:ea typeface="楷体_GB2312" pitchFamily="49" charset="-122"/>
              </a:rPr>
              <a:t>制度安排的发展才是主要的改善生产效率和要素市场的历史原因。</a:t>
            </a:r>
            <a:r>
              <a:rPr lang="zh-CN" altLang="en-US" dirty="0">
                <a:latin typeface="楷体_GB2312" pitchFamily="49" charset="-122"/>
                <a:ea typeface="楷体_GB2312" pitchFamily="49" charset="-122"/>
              </a:rPr>
              <a:t>更为有效的经济组织的发展，其作用如同技术发展对于西方世界增长所起的作用那样同等重要。” </a:t>
            </a:r>
          </a:p>
        </p:txBody>
      </p:sp>
      <p:sp>
        <p:nvSpPr>
          <p:cNvPr id="4" name="标题 1"/>
          <p:cNvSpPr txBox="1">
            <a:spLocks/>
          </p:cNvSpPr>
          <p:nvPr/>
        </p:nvSpPr>
        <p:spPr bwMode="auto">
          <a:xfrm>
            <a:off x="323528" y="202797"/>
            <a:ext cx="8305800" cy="99395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二、制度创新的相关理论</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446032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052736"/>
            <a:ext cx="8305800" cy="4968552"/>
          </a:xfrm>
        </p:spPr>
        <p:txBody>
          <a:bodyPr/>
          <a:lstStyle/>
          <a:p>
            <a:pPr>
              <a:lnSpc>
                <a:spcPct val="120000"/>
              </a:lnSpc>
            </a:pPr>
            <a:r>
              <a:rPr lang="en-US" altLang="zh-CN" sz="2600" dirty="0">
                <a:latin typeface="楷体_GB2312" pitchFamily="49" charset="-122"/>
                <a:ea typeface="楷体_GB2312" pitchFamily="49" charset="-122"/>
              </a:rPr>
              <a:t>1973</a:t>
            </a:r>
            <a:r>
              <a:rPr lang="zh-CN" altLang="en-US" sz="2600" dirty="0">
                <a:latin typeface="楷体_GB2312" pitchFamily="49" charset="-122"/>
                <a:ea typeface="楷体_GB2312" pitchFamily="49" charset="-122"/>
              </a:rPr>
              <a:t>年的</a:t>
            </a:r>
            <a:r>
              <a:rPr lang="en-US" altLang="zh-CN" sz="2600" dirty="0">
                <a:latin typeface="楷体_GB2312" pitchFamily="49" charset="-122"/>
                <a:ea typeface="楷体_GB2312" pitchFamily="49" charset="-122"/>
              </a:rPr>
              <a:t>《</a:t>
            </a:r>
            <a:r>
              <a:rPr lang="zh-CN" altLang="en-US" sz="2600" dirty="0">
                <a:latin typeface="楷体_GB2312" pitchFamily="49" charset="-122"/>
                <a:ea typeface="楷体_GB2312" pitchFamily="49" charset="-122"/>
              </a:rPr>
              <a:t>西方世界的兴起</a:t>
            </a:r>
            <a:r>
              <a:rPr lang="en-US" altLang="zh-CN" sz="2600" dirty="0">
                <a:latin typeface="楷体_GB2312" pitchFamily="49" charset="-122"/>
                <a:ea typeface="楷体_GB2312" pitchFamily="49" charset="-122"/>
              </a:rPr>
              <a:t>》</a:t>
            </a:r>
            <a:r>
              <a:rPr lang="zh-CN" altLang="en-US" sz="2600" dirty="0">
                <a:latin typeface="楷体_GB2312" pitchFamily="49" charset="-122"/>
                <a:ea typeface="楷体_GB2312" pitchFamily="49" charset="-122"/>
              </a:rPr>
              <a:t>，诺思指出：“有效率的经济组织是经济增长的关键；一个有效率的经济组织在西欧的发展是西方兴起的原因所在。</a:t>
            </a:r>
            <a:r>
              <a:rPr lang="zh-CN" altLang="en-US" sz="2600" b="1" dirty="0">
                <a:latin typeface="楷体_GB2312" pitchFamily="49" charset="-122"/>
                <a:ea typeface="楷体_GB2312" pitchFamily="49" charset="-122"/>
              </a:rPr>
              <a:t>有效率的组织需要在制度上作出安排和确立所有权以便造成一种刺激，将个人的经济努力变成私人收益率接近社会收益率的活动。</a:t>
            </a:r>
            <a:r>
              <a:rPr lang="zh-CN" altLang="en-US" sz="2600" dirty="0" smtClean="0">
                <a:latin typeface="楷体_GB2312" pitchFamily="49" charset="-122"/>
                <a:ea typeface="楷体_GB2312" pitchFamily="49" charset="-122"/>
              </a:rPr>
              <a:t>”</a:t>
            </a:r>
            <a:r>
              <a:rPr lang="zh-CN" altLang="en-US" sz="2000" dirty="0" smtClean="0">
                <a:solidFill>
                  <a:srgbClr val="FF0000"/>
                </a:solidFill>
                <a:latin typeface="楷体_GB2312" pitchFamily="49" charset="-122"/>
                <a:ea typeface="楷体_GB2312" pitchFamily="49" charset="-122"/>
              </a:rPr>
              <a:t>（外部性：予人玫瑰</a:t>
            </a:r>
            <a:r>
              <a:rPr lang="zh-CN" altLang="en-US" sz="2000" dirty="0" smtClean="0">
                <a:solidFill>
                  <a:srgbClr val="FF0000"/>
                </a:solidFill>
                <a:latin typeface="楷体_GB2312" pitchFamily="49" charset="-122"/>
                <a:ea typeface="楷体_GB2312" pitchFamily="49" charset="-122"/>
              </a:rPr>
              <a:t>、手有余香；城门失火，殃及池鱼。范冰冰偷税漏税搞残了霍尔果斯，三鹿奶粉搞垮了中国的婴儿奶粉品牌） </a:t>
            </a:r>
            <a:endParaRPr lang="zh-CN" altLang="en-US" sz="2000" dirty="0">
              <a:solidFill>
                <a:srgbClr val="FF0000"/>
              </a:solidFill>
              <a:latin typeface="楷体_GB2312" pitchFamily="49" charset="-122"/>
              <a:ea typeface="楷体_GB2312" pitchFamily="49" charset="-122"/>
            </a:endParaRPr>
          </a:p>
          <a:p>
            <a:pPr>
              <a:lnSpc>
                <a:spcPct val="120000"/>
              </a:lnSpc>
            </a:pPr>
            <a:r>
              <a:rPr lang="zh-CN" altLang="en-US" sz="2600" dirty="0" smtClean="0">
                <a:latin typeface="楷体_GB2312" pitchFamily="49" charset="-122"/>
                <a:ea typeface="楷体_GB2312" pitchFamily="49" charset="-122"/>
              </a:rPr>
              <a:t>诺斯还</a:t>
            </a:r>
            <a:r>
              <a:rPr lang="zh-CN" altLang="en-US" sz="2600" dirty="0">
                <a:latin typeface="楷体_GB2312" pitchFamily="49" charset="-122"/>
                <a:ea typeface="楷体_GB2312" pitchFamily="49" charset="-122"/>
              </a:rPr>
              <a:t>说：“我们列出的原因（创新、规模经济、教育、资本积累等）并不是经济增长的原因，</a:t>
            </a:r>
            <a:r>
              <a:rPr lang="zh-CN" altLang="en-US" sz="2600" dirty="0" smtClean="0">
                <a:latin typeface="楷体_GB2312" pitchFamily="49" charset="-122"/>
                <a:ea typeface="楷体_GB2312" pitchFamily="49" charset="-122"/>
              </a:rPr>
              <a:t>它们是增长本身。”</a:t>
            </a:r>
            <a:endParaRPr lang="zh-CN" altLang="en-US" sz="2600" dirty="0">
              <a:latin typeface="楷体_GB2312" pitchFamily="49" charset="-122"/>
              <a:ea typeface="楷体_GB2312" pitchFamily="49" charset="-122"/>
            </a:endParaRPr>
          </a:p>
        </p:txBody>
      </p:sp>
      <p:sp>
        <p:nvSpPr>
          <p:cNvPr id="4" name="标题 1"/>
          <p:cNvSpPr txBox="1">
            <a:spLocks/>
          </p:cNvSpPr>
          <p:nvPr/>
        </p:nvSpPr>
        <p:spPr bwMode="auto">
          <a:xfrm>
            <a:off x="323528" y="202797"/>
            <a:ext cx="8305800" cy="849939"/>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二、制度创新的相关理论</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257364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196752"/>
            <a:ext cx="8305800" cy="3024336"/>
          </a:xfrm>
        </p:spPr>
        <p:txBody>
          <a:bodyPr/>
          <a:lstStyle/>
          <a:p>
            <a:pPr marL="0" indent="0">
              <a:lnSpc>
                <a:spcPct val="120000"/>
              </a:lnSpc>
              <a:buNone/>
            </a:pPr>
            <a:r>
              <a:rPr lang="zh-CN" altLang="en-US" sz="3600" b="1" dirty="0" smtClean="0">
                <a:latin typeface="黑体" panose="02010609060101010101" pitchFamily="49" charset="-122"/>
                <a:ea typeface="黑体" panose="02010609060101010101" pitchFamily="49" charset="-122"/>
              </a:rPr>
              <a:t>制度变迁决定经济增长的核心机理在于：</a:t>
            </a:r>
            <a:endParaRPr lang="en-US" altLang="zh-CN" sz="3600" b="1" dirty="0" smtClean="0">
              <a:latin typeface="黑体" panose="02010609060101010101" pitchFamily="49" charset="-122"/>
              <a:ea typeface="黑体" panose="02010609060101010101" pitchFamily="49" charset="-122"/>
            </a:endParaRPr>
          </a:p>
          <a:p>
            <a:pPr>
              <a:lnSpc>
                <a:spcPct val="120000"/>
              </a:lnSpc>
            </a:pPr>
            <a:r>
              <a:rPr lang="zh-CN" altLang="en-US" sz="2800" b="1" dirty="0" smtClean="0">
                <a:latin typeface="楷体_GB2312" pitchFamily="49" charset="-122"/>
                <a:ea typeface="楷体_GB2312" pitchFamily="49" charset="-122"/>
              </a:rPr>
              <a:t>要</a:t>
            </a:r>
            <a:r>
              <a:rPr lang="zh-CN" altLang="en-US" sz="2800" b="1" dirty="0">
                <a:latin typeface="楷体_GB2312" pitchFamily="49" charset="-122"/>
                <a:ea typeface="楷体_GB2312" pitchFamily="49" charset="-122"/>
              </a:rPr>
              <a:t>使人们积极地从事这些有利于经济增长的活动，显然必须使他们受到刺激和激励。</a:t>
            </a:r>
          </a:p>
          <a:p>
            <a:pPr>
              <a:lnSpc>
                <a:spcPct val="120000"/>
              </a:lnSpc>
            </a:pPr>
            <a:r>
              <a:rPr lang="zh-CN" altLang="en-US" sz="2800" b="1" dirty="0">
                <a:latin typeface="楷体_GB2312" pitchFamily="49" charset="-122"/>
                <a:ea typeface="楷体_GB2312" pitchFamily="49" charset="-122"/>
              </a:rPr>
              <a:t>什么因素能给人们以刺激和激励呢？它离不开各种各样的制度，即一个有效的制度结构</a:t>
            </a:r>
            <a:r>
              <a:rPr lang="zh-CN" altLang="en-US" sz="2800" b="1" dirty="0" smtClean="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p:txBody>
      </p:sp>
      <p:sp>
        <p:nvSpPr>
          <p:cNvPr id="4" name="标题 1"/>
          <p:cNvSpPr txBox="1">
            <a:spLocks/>
          </p:cNvSpPr>
          <p:nvPr/>
        </p:nvSpPr>
        <p:spPr bwMode="auto">
          <a:xfrm>
            <a:off x="323528" y="202797"/>
            <a:ext cx="8305800" cy="99395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二、制度创新的相关理论</a:t>
            </a:r>
            <a:endParaRPr lang="zh-CN" altLang="en-US" sz="4800" b="1" dirty="0">
              <a:latin typeface="黑体" pitchFamily="49" charset="-122"/>
              <a:ea typeface="黑体"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100" y="4381500"/>
            <a:ext cx="7467600" cy="174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98"/>
          <p:cNvSpPr txBox="1">
            <a:spLocks noChangeArrowheads="1"/>
          </p:cNvSpPr>
          <p:nvPr/>
        </p:nvSpPr>
        <p:spPr bwMode="auto">
          <a:xfrm>
            <a:off x="468313" y="4581128"/>
            <a:ext cx="458787"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b="1" dirty="0">
                <a:solidFill>
                  <a:srgbClr val="FF0066"/>
                </a:solidFill>
              </a:rPr>
              <a:t>奖勤罚懒博弈</a:t>
            </a:r>
            <a:r>
              <a:rPr lang="zh-CN" altLang="en-US" dirty="0"/>
              <a:t> </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1237" y="4581128"/>
            <a:ext cx="500063"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05618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412776"/>
            <a:ext cx="8305800" cy="4968552"/>
          </a:xfrm>
        </p:spPr>
        <p:txBody>
          <a:bodyPr/>
          <a:lstStyle/>
          <a:p>
            <a:pPr>
              <a:lnSpc>
                <a:spcPct val="120000"/>
              </a:lnSpc>
            </a:pPr>
            <a:r>
              <a:rPr lang="en-US" altLang="zh-CN" sz="2800" dirty="0">
                <a:latin typeface="楷体_GB2312" pitchFamily="49" charset="-122"/>
                <a:ea typeface="楷体_GB2312" pitchFamily="49" charset="-122"/>
              </a:rPr>
              <a:t>1973</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1981</a:t>
            </a:r>
            <a:r>
              <a:rPr lang="zh-CN" altLang="en-US" sz="2800" dirty="0">
                <a:latin typeface="楷体_GB2312" pitchFamily="49" charset="-122"/>
                <a:ea typeface="楷体_GB2312" pitchFamily="49" charset="-122"/>
              </a:rPr>
              <a:t>年，诺思强调了能使私人收益率接近社会收益率的产权制度安排在给予人们从事合乎社会需要的活动的刺激与激励从而促进经济增长中的关键作用</a:t>
            </a:r>
            <a:r>
              <a:rPr lang="zh-CN" altLang="en-US" sz="2800"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（造假、</a:t>
            </a:r>
            <a:r>
              <a:rPr lang="zh-CN" altLang="en-US" sz="2800" b="1" dirty="0" smtClean="0">
                <a:latin typeface="楷体_GB2312" pitchFamily="49" charset="-122"/>
                <a:ea typeface="楷体_GB2312" pitchFamily="49" charset="-122"/>
              </a:rPr>
              <a:t>冒牌、盗版不</a:t>
            </a:r>
            <a:r>
              <a:rPr lang="zh-CN" altLang="en-US" sz="2800" b="1" dirty="0" smtClean="0">
                <a:latin typeface="楷体_GB2312" pitchFamily="49" charset="-122"/>
                <a:ea typeface="楷体_GB2312" pitchFamily="49" charset="-122"/>
              </a:rPr>
              <a:t>除，创新无路！）</a:t>
            </a:r>
            <a:endParaRPr lang="zh-CN" altLang="en-US" sz="2800" b="1" dirty="0">
              <a:latin typeface="楷体_GB2312" pitchFamily="49" charset="-122"/>
              <a:ea typeface="楷体_GB2312" pitchFamily="49" charset="-122"/>
            </a:endParaRPr>
          </a:p>
          <a:p>
            <a:pPr>
              <a:lnSpc>
                <a:spcPct val="120000"/>
              </a:lnSpc>
            </a:pPr>
            <a:r>
              <a:rPr lang="zh-CN" altLang="en-US" sz="2800" dirty="0">
                <a:latin typeface="楷体_GB2312" pitchFamily="49" charset="-122"/>
                <a:ea typeface="楷体_GB2312" pitchFamily="49" charset="-122"/>
              </a:rPr>
              <a:t>勒帕日在</a:t>
            </a:r>
            <a:r>
              <a:rPr lang="en-US" altLang="zh-CN" sz="2800"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美国新自由主义经济学</a:t>
            </a:r>
            <a:r>
              <a:rPr lang="en-US" altLang="zh-CN" sz="2800"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中对产权制度安排在经济增长中的关键作用进行了分析</a:t>
            </a:r>
            <a:r>
              <a:rPr lang="zh-CN" altLang="en-US"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a:p>
            <a:pPr>
              <a:lnSpc>
                <a:spcPct val="120000"/>
              </a:lnSpc>
            </a:pPr>
            <a:r>
              <a:rPr lang="zh-CN" altLang="en-US" sz="2800" dirty="0">
                <a:latin typeface="楷体_GB2312" pitchFamily="49" charset="-122"/>
                <a:ea typeface="楷体_GB2312" pitchFamily="49" charset="-122"/>
              </a:rPr>
              <a:t>诺思认为，不是技术创新决定制度创新，而是制度创新决定技术创新，即</a:t>
            </a:r>
            <a:r>
              <a:rPr lang="zh-CN" altLang="en-US" sz="2800" b="1" dirty="0">
                <a:latin typeface="楷体_GB2312" pitchFamily="49" charset="-122"/>
                <a:ea typeface="楷体_GB2312" pitchFamily="49" charset="-122"/>
              </a:rPr>
              <a:t>“制度决定论”</a:t>
            </a:r>
            <a:r>
              <a:rPr lang="zh-CN" altLang="en-US" sz="2800" dirty="0">
                <a:latin typeface="楷体_GB2312" pitchFamily="49" charset="-122"/>
                <a:ea typeface="楷体_GB2312" pitchFamily="49" charset="-122"/>
              </a:rPr>
              <a:t>。 </a:t>
            </a:r>
          </a:p>
          <a:p>
            <a:pPr>
              <a:lnSpc>
                <a:spcPct val="120000"/>
              </a:lnSpc>
            </a:pPr>
            <a:endParaRPr lang="zh-CN" altLang="en-US" sz="2800" b="1" dirty="0">
              <a:latin typeface="楷体_GB2312" pitchFamily="49" charset="-122"/>
              <a:ea typeface="楷体_GB2312" pitchFamily="49" charset="-122"/>
            </a:endParaRPr>
          </a:p>
        </p:txBody>
      </p:sp>
      <p:sp>
        <p:nvSpPr>
          <p:cNvPr id="4" name="标题 1"/>
          <p:cNvSpPr txBox="1">
            <a:spLocks/>
          </p:cNvSpPr>
          <p:nvPr/>
        </p:nvSpPr>
        <p:spPr bwMode="auto">
          <a:xfrm>
            <a:off x="323528" y="202797"/>
            <a:ext cx="8305800" cy="99395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二、制度创新的相关理论</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37725502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043608" y="1772816"/>
            <a:ext cx="6192688" cy="3744416"/>
          </a:xfrm>
        </p:spPr>
        <p:txBody>
          <a:bodyPr/>
          <a:lstStyle/>
          <a:p>
            <a:pPr>
              <a:lnSpc>
                <a:spcPct val="120000"/>
              </a:lnSpc>
            </a:pPr>
            <a:r>
              <a:rPr lang="zh-CN" altLang="en-US" sz="3200" b="1" dirty="0" smtClean="0">
                <a:latin typeface="楷体_GB2312" pitchFamily="49" charset="-122"/>
                <a:ea typeface="楷体_GB2312" pitchFamily="49" charset="-122"/>
              </a:rPr>
              <a:t>制度供需分析的理论框架</a:t>
            </a:r>
            <a:endParaRPr lang="en-US" altLang="zh-CN" sz="3200" b="1" dirty="0" smtClean="0">
              <a:latin typeface="楷体_GB2312" pitchFamily="49" charset="-122"/>
              <a:ea typeface="楷体_GB2312" pitchFamily="49" charset="-122"/>
            </a:endParaRPr>
          </a:p>
          <a:p>
            <a:pPr>
              <a:lnSpc>
                <a:spcPct val="120000"/>
              </a:lnSpc>
            </a:pPr>
            <a:r>
              <a:rPr lang="zh-CN" altLang="en-US" sz="3200" b="1" dirty="0" smtClean="0">
                <a:latin typeface="楷体_GB2312" pitchFamily="49" charset="-122"/>
                <a:ea typeface="楷体_GB2312" pitchFamily="49" charset="-122"/>
              </a:rPr>
              <a:t>制度需求的含义</a:t>
            </a:r>
            <a:endParaRPr lang="en-US" altLang="zh-CN" sz="3200" b="1" dirty="0" smtClean="0">
              <a:latin typeface="楷体_GB2312" pitchFamily="49" charset="-122"/>
              <a:ea typeface="楷体_GB2312" pitchFamily="49" charset="-122"/>
            </a:endParaRPr>
          </a:p>
          <a:p>
            <a:pPr>
              <a:lnSpc>
                <a:spcPct val="120000"/>
              </a:lnSpc>
            </a:pPr>
            <a:r>
              <a:rPr lang="zh-CN" altLang="en-US" sz="3200" b="1" dirty="0" smtClean="0">
                <a:latin typeface="楷体_GB2312" pitchFamily="49" charset="-122"/>
                <a:ea typeface="楷体_GB2312" pitchFamily="49" charset="-122"/>
              </a:rPr>
              <a:t>制度需求的影响因素</a:t>
            </a:r>
            <a:endParaRPr lang="en-US" altLang="zh-CN" sz="3200" b="1" dirty="0" smtClean="0">
              <a:latin typeface="楷体_GB2312" pitchFamily="49" charset="-122"/>
              <a:ea typeface="楷体_GB2312" pitchFamily="49" charset="-122"/>
            </a:endParaRPr>
          </a:p>
          <a:p>
            <a:pPr>
              <a:lnSpc>
                <a:spcPct val="120000"/>
              </a:lnSpc>
            </a:pPr>
            <a:r>
              <a:rPr lang="zh-CN" altLang="en-US" sz="3200" b="1" dirty="0" smtClean="0">
                <a:latin typeface="楷体_GB2312" pitchFamily="49" charset="-122"/>
                <a:ea typeface="楷体_GB2312" pitchFamily="49" charset="-122"/>
              </a:rPr>
              <a:t>制度供给的含义</a:t>
            </a:r>
            <a:endParaRPr lang="en-US" altLang="zh-CN" sz="3200" b="1" dirty="0" smtClean="0">
              <a:latin typeface="楷体_GB2312" pitchFamily="49" charset="-122"/>
              <a:ea typeface="楷体_GB2312" pitchFamily="49" charset="-122"/>
            </a:endParaRPr>
          </a:p>
          <a:p>
            <a:pPr>
              <a:lnSpc>
                <a:spcPct val="120000"/>
              </a:lnSpc>
            </a:pPr>
            <a:r>
              <a:rPr lang="zh-CN" altLang="en-US" sz="3200" b="1" dirty="0" smtClean="0">
                <a:latin typeface="楷体_GB2312" pitchFamily="49" charset="-122"/>
                <a:ea typeface="楷体_GB2312" pitchFamily="49" charset="-122"/>
              </a:rPr>
              <a:t>制度供给的影响因素</a:t>
            </a:r>
            <a:endParaRPr lang="en-US" altLang="zh-CN" sz="3200" b="1" dirty="0" smtClean="0">
              <a:latin typeface="楷体_GB2312" pitchFamily="49" charset="-122"/>
              <a:ea typeface="楷体_GB2312" pitchFamily="49" charset="-122"/>
            </a:endParaRPr>
          </a:p>
          <a:p>
            <a:pPr>
              <a:lnSpc>
                <a:spcPct val="120000"/>
              </a:lnSpc>
            </a:pPr>
            <a:endParaRPr lang="en-US" altLang="zh-CN" sz="2800" b="1" dirty="0" smtClean="0">
              <a:latin typeface="楷体_GB2312" pitchFamily="49" charset="-122"/>
              <a:ea typeface="楷体_GB2312" pitchFamily="49" charset="-122"/>
            </a:endParaRPr>
          </a:p>
          <a:p>
            <a:pPr>
              <a:lnSpc>
                <a:spcPct val="120000"/>
              </a:lnSpc>
            </a:pPr>
            <a:endParaRPr lang="en-US" altLang="zh-CN" sz="2800" b="1" dirty="0" smtClean="0">
              <a:latin typeface="楷体_GB2312" pitchFamily="49" charset="-122"/>
              <a:ea typeface="楷体_GB2312" pitchFamily="49" charset="-122"/>
            </a:endParaRPr>
          </a:p>
        </p:txBody>
      </p:sp>
      <p:sp>
        <p:nvSpPr>
          <p:cNvPr id="4"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三、制度供需分析</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25300183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305800" cy="1143000"/>
          </a:xfrm>
          <a:solidFill>
            <a:schemeClr val="accent1">
              <a:lumMod val="20000"/>
              <a:lumOff val="80000"/>
            </a:schemeClr>
          </a:solidFill>
        </p:spPr>
        <p:txBody>
          <a:bodyPr/>
          <a:lstStyle/>
          <a:p>
            <a:r>
              <a:rPr lang="en-US" altLang="zh-CN" dirty="0" smtClean="0">
                <a:solidFill>
                  <a:schemeClr val="tx1"/>
                </a:solidFill>
                <a:latin typeface="黑体" panose="02010609060101010101" pitchFamily="49" charset="-122"/>
                <a:ea typeface="黑体" panose="02010609060101010101" pitchFamily="49" charset="-122"/>
              </a:rPr>
              <a:t>3.1</a:t>
            </a:r>
            <a:r>
              <a:rPr lang="zh-CN" altLang="en-US" dirty="0" smtClean="0">
                <a:solidFill>
                  <a:schemeClr val="tx1"/>
                </a:solidFill>
                <a:latin typeface="黑体" panose="02010609060101010101" pitchFamily="49" charset="-122"/>
                <a:ea typeface="黑体" panose="02010609060101010101" pitchFamily="49" charset="-122"/>
              </a:rPr>
              <a:t>制度供需分析的理论框架</a:t>
            </a:r>
            <a:endParaRPr lang="zh-CN" altLang="en-US" dirty="0">
              <a:solidFill>
                <a:schemeClr val="tx1"/>
              </a:solidFill>
              <a:latin typeface="黑体" panose="02010609060101010101" pitchFamily="49" charset="-122"/>
              <a:ea typeface="黑体" panose="02010609060101010101" pitchFamily="49" charset="-122"/>
            </a:endParaRPr>
          </a:p>
        </p:txBody>
      </p:sp>
      <p:sp>
        <p:nvSpPr>
          <p:cNvPr id="3" name="文本占位符 2"/>
          <p:cNvSpPr>
            <a:spLocks noGrp="1"/>
          </p:cNvSpPr>
          <p:nvPr>
            <p:ph type="body" idx="1"/>
          </p:nvPr>
        </p:nvSpPr>
        <p:spPr>
          <a:xfrm>
            <a:off x="381000" y="1676400"/>
            <a:ext cx="8305800" cy="4416896"/>
          </a:xfrm>
        </p:spPr>
        <p:txBody>
          <a:bodyPr/>
          <a:lstStyle/>
          <a:p>
            <a:r>
              <a:rPr lang="zh-CN" altLang="en-US" dirty="0">
                <a:latin typeface="楷体_GB2312" panose="02010609030101010101" pitchFamily="49" charset="-122"/>
                <a:ea typeface="楷体_GB2312" panose="02010609030101010101" pitchFamily="49" charset="-122"/>
              </a:rPr>
              <a:t>最早对制度变迁进行供求分析的新制度经济学家是舒尔茨。他</a:t>
            </a:r>
            <a:r>
              <a:rPr lang="en-US" altLang="zh-CN" dirty="0">
                <a:latin typeface="楷体_GB2312" panose="02010609030101010101" pitchFamily="49" charset="-122"/>
                <a:ea typeface="楷体_GB2312" panose="02010609030101010101" pitchFamily="49" charset="-122"/>
              </a:rPr>
              <a:t>1968</a:t>
            </a:r>
            <a:r>
              <a:rPr lang="zh-CN" altLang="en-US" dirty="0">
                <a:latin typeface="楷体_GB2312" panose="02010609030101010101" pitchFamily="49" charset="-122"/>
                <a:ea typeface="楷体_GB2312" panose="02010609030101010101" pitchFamily="49" charset="-122"/>
              </a:rPr>
              <a:t>年明确地提出了</a:t>
            </a:r>
            <a:r>
              <a:rPr lang="zh-CN" altLang="en-US" b="1" dirty="0">
                <a:latin typeface="楷体_GB2312" panose="02010609030101010101" pitchFamily="49" charset="-122"/>
                <a:ea typeface="楷体_GB2312" panose="02010609030101010101" pitchFamily="49" charset="-122"/>
              </a:rPr>
              <a:t>制度需求、制度供给、制度供求分析、制度均衡和非均衡等概念，</a:t>
            </a:r>
            <a:r>
              <a:rPr lang="zh-CN" altLang="en-US" dirty="0">
                <a:latin typeface="楷体_GB2312" panose="02010609030101010101" pitchFamily="49" charset="-122"/>
                <a:ea typeface="楷体_GB2312" panose="02010609030101010101" pitchFamily="49" charset="-122"/>
              </a:rPr>
              <a:t>并把它们引入制度变迁的分析中。 </a:t>
            </a:r>
          </a:p>
          <a:p>
            <a:r>
              <a:rPr lang="zh-CN" altLang="en-US" dirty="0">
                <a:latin typeface="楷体_GB2312" panose="02010609030101010101" pitchFamily="49" charset="-122"/>
                <a:ea typeface="楷体_GB2312" panose="02010609030101010101" pitchFamily="49" charset="-122"/>
              </a:rPr>
              <a:t>戴维斯和诺思</a:t>
            </a:r>
            <a:r>
              <a:rPr lang="en-US" altLang="zh-CN" dirty="0">
                <a:latin typeface="楷体_GB2312" panose="02010609030101010101" pitchFamily="49" charset="-122"/>
                <a:ea typeface="楷体_GB2312" panose="02010609030101010101" pitchFamily="49" charset="-122"/>
              </a:rPr>
              <a:t>1971</a:t>
            </a:r>
            <a:r>
              <a:rPr lang="zh-CN" altLang="en-US" dirty="0">
                <a:latin typeface="楷体_GB2312" panose="02010609030101010101" pitchFamily="49" charset="-122"/>
                <a:ea typeface="楷体_GB2312" panose="02010609030101010101" pitchFamily="49" charset="-122"/>
              </a:rPr>
              <a:t>年再次将制度供求分析应用到对制度变迁的分析中并对引起制度安排需求和供给变动的因素作了初步的探讨。</a:t>
            </a:r>
          </a:p>
          <a:p>
            <a:r>
              <a:rPr lang="zh-CN" altLang="en-US" dirty="0">
                <a:latin typeface="楷体_GB2312" panose="02010609030101010101" pitchFamily="49" charset="-122"/>
                <a:ea typeface="楷体_GB2312" panose="02010609030101010101" pitchFamily="49" charset="-122"/>
              </a:rPr>
              <a:t>拉坦</a:t>
            </a:r>
            <a:r>
              <a:rPr lang="en-US" altLang="zh-CN" dirty="0">
                <a:latin typeface="楷体_GB2312" panose="02010609030101010101" pitchFamily="49" charset="-122"/>
                <a:ea typeface="楷体_GB2312" panose="02010609030101010101" pitchFamily="49" charset="-122"/>
              </a:rPr>
              <a:t>1978</a:t>
            </a:r>
            <a:r>
              <a:rPr lang="zh-CN" altLang="en-US" dirty="0">
                <a:latin typeface="楷体_GB2312" panose="02010609030101010101" pitchFamily="49" charset="-122"/>
                <a:ea typeface="楷体_GB2312" panose="02010609030101010101" pitchFamily="49" charset="-122"/>
              </a:rPr>
              <a:t>年明确使用了“制度变迁的需求”和“制度变迁的供给”概念，并对引起制度变迁需求与供给变化的因素作了进一步的分析。他还指出了舒尔茨和诺思等人的制度供求分析的不足，即对制度变迁的供给缺乏分析。 </a:t>
            </a:r>
          </a:p>
          <a:p>
            <a:endParaRPr lang="zh-CN" altLang="en-US" dirty="0"/>
          </a:p>
        </p:txBody>
      </p:sp>
    </p:spTree>
    <p:extLst>
      <p:ext uri="{BB962C8B-B14F-4D97-AF65-F5344CB8AC3E}">
        <p14:creationId xmlns:p14="http://schemas.microsoft.com/office/powerpoint/2010/main" val="20452119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305800" cy="1143000"/>
          </a:xfrm>
          <a:solidFill>
            <a:schemeClr val="accent1">
              <a:lumMod val="20000"/>
              <a:lumOff val="80000"/>
            </a:schemeClr>
          </a:solidFill>
        </p:spPr>
        <p:txBody>
          <a:bodyPr/>
          <a:lstStyle/>
          <a:p>
            <a:r>
              <a:rPr lang="en-US" altLang="zh-CN" dirty="0" smtClean="0">
                <a:solidFill>
                  <a:schemeClr val="tx1"/>
                </a:solidFill>
                <a:latin typeface="黑体" panose="02010609060101010101" pitchFamily="49" charset="-122"/>
                <a:ea typeface="黑体" panose="02010609060101010101" pitchFamily="49" charset="-122"/>
              </a:rPr>
              <a:t>3.1</a:t>
            </a:r>
            <a:r>
              <a:rPr lang="zh-CN" altLang="en-US" dirty="0" smtClean="0">
                <a:solidFill>
                  <a:schemeClr val="tx1"/>
                </a:solidFill>
                <a:latin typeface="黑体" panose="02010609060101010101" pitchFamily="49" charset="-122"/>
                <a:ea typeface="黑体" panose="02010609060101010101" pitchFamily="49" charset="-122"/>
              </a:rPr>
              <a:t>制度供需分析的理论框架</a:t>
            </a:r>
            <a:endParaRPr lang="zh-CN" altLang="en-US" dirty="0">
              <a:solidFill>
                <a:schemeClr val="tx1"/>
              </a:solidFill>
              <a:latin typeface="黑体" panose="02010609060101010101" pitchFamily="49" charset="-122"/>
              <a:ea typeface="黑体" panose="02010609060101010101" pitchFamily="49" charset="-122"/>
            </a:endParaRPr>
          </a:p>
        </p:txBody>
      </p:sp>
      <p:sp>
        <p:nvSpPr>
          <p:cNvPr id="3" name="文本占位符 2"/>
          <p:cNvSpPr>
            <a:spLocks noGrp="1"/>
          </p:cNvSpPr>
          <p:nvPr>
            <p:ph type="body" idx="1"/>
          </p:nvPr>
        </p:nvSpPr>
        <p:spPr>
          <a:xfrm>
            <a:off x="933044" y="5671709"/>
            <a:ext cx="6984776" cy="456456"/>
          </a:xfrm>
          <a:solidFill>
            <a:srgbClr val="FFFFCC"/>
          </a:solidFill>
        </p:spPr>
        <p:txBody>
          <a:bodyPr/>
          <a:lstStyle/>
          <a:p>
            <a:pPr marL="0" indent="0">
              <a:buNone/>
            </a:pPr>
            <a:r>
              <a:rPr lang="zh-CN" altLang="en-US" b="1" dirty="0" smtClean="0"/>
              <a:t>菲尼的制度变迁供求分析框架</a:t>
            </a:r>
            <a:r>
              <a:rPr lang="en-US" altLang="zh-CN" b="1" dirty="0" smtClean="0"/>
              <a:t>——</a:t>
            </a:r>
            <a:r>
              <a:rPr lang="zh-CN" altLang="en-US" b="1" dirty="0" smtClean="0"/>
              <a:t>霸座怎么办？</a:t>
            </a:r>
            <a:endParaRPr lang="zh-CN" altLang="en-US"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132" y="1268760"/>
            <a:ext cx="7340600"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03110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305800" cy="1143000"/>
          </a:xfrm>
          <a:solidFill>
            <a:schemeClr val="accent1">
              <a:lumMod val="20000"/>
              <a:lumOff val="80000"/>
            </a:schemeClr>
          </a:solidFill>
        </p:spPr>
        <p:txBody>
          <a:bodyPr/>
          <a:lstStyle/>
          <a:p>
            <a:r>
              <a:rPr lang="en-US" altLang="zh-CN" dirty="0" smtClean="0">
                <a:solidFill>
                  <a:schemeClr val="tx1"/>
                </a:solidFill>
                <a:latin typeface="黑体" panose="02010609060101010101" pitchFamily="49" charset="-122"/>
                <a:ea typeface="黑体" panose="02010609060101010101" pitchFamily="49" charset="-122"/>
              </a:rPr>
              <a:t>3.2</a:t>
            </a:r>
            <a:r>
              <a:rPr lang="zh-CN" altLang="en-US" dirty="0" smtClean="0">
                <a:solidFill>
                  <a:schemeClr val="tx1"/>
                </a:solidFill>
                <a:latin typeface="黑体" panose="02010609060101010101" pitchFamily="49" charset="-122"/>
                <a:ea typeface="黑体" panose="02010609060101010101" pitchFamily="49" charset="-122"/>
              </a:rPr>
              <a:t>制度需求的含义</a:t>
            </a:r>
            <a:endParaRPr lang="zh-CN" altLang="en-US" dirty="0">
              <a:solidFill>
                <a:schemeClr val="tx1"/>
              </a:solidFill>
              <a:latin typeface="黑体" panose="02010609060101010101" pitchFamily="49" charset="-122"/>
              <a:ea typeface="黑体" panose="02010609060101010101" pitchFamily="49" charset="-122"/>
            </a:endParaRPr>
          </a:p>
        </p:txBody>
      </p:sp>
      <p:sp>
        <p:nvSpPr>
          <p:cNvPr id="3" name="文本占位符 2"/>
          <p:cNvSpPr>
            <a:spLocks noGrp="1"/>
          </p:cNvSpPr>
          <p:nvPr>
            <p:ph type="body" idx="1"/>
          </p:nvPr>
        </p:nvSpPr>
        <p:spPr>
          <a:xfrm>
            <a:off x="381000" y="1676400"/>
            <a:ext cx="8305800" cy="4416896"/>
          </a:xfrm>
        </p:spPr>
        <p:txBody>
          <a:bodyPr/>
          <a:lstStyle/>
          <a:p>
            <a:r>
              <a:rPr lang="zh-CN" altLang="en-US" dirty="0">
                <a:latin typeface="楷体_GB2312" panose="02010609030101010101" pitchFamily="49" charset="-122"/>
                <a:ea typeface="楷体_GB2312" panose="02010609030101010101" pitchFamily="49" charset="-122"/>
              </a:rPr>
              <a:t>制度变迁是一种效益更高的制度对另一种效益低的制度的替代过程。所以，</a:t>
            </a:r>
            <a:r>
              <a:rPr lang="zh-CN" altLang="en-US" sz="2800" b="1" dirty="0">
                <a:latin typeface="楷体_GB2312" panose="02010609030101010101" pitchFamily="49" charset="-122"/>
                <a:ea typeface="楷体_GB2312" panose="02010609030101010101" pitchFamily="49" charset="-122"/>
              </a:rPr>
              <a:t>人们对制度变迁的需求就是对效益更高的新制度的需求</a:t>
            </a:r>
            <a:r>
              <a:rPr lang="zh-CN" altLang="en-US" sz="2800" b="1" dirty="0" smtClean="0">
                <a:latin typeface="楷体_GB2312" panose="02010609030101010101" pitchFamily="49" charset="-122"/>
                <a:ea typeface="楷体_GB2312" panose="02010609030101010101" pitchFamily="49" charset="-122"/>
              </a:rPr>
              <a:t>。</a:t>
            </a:r>
            <a:r>
              <a:rPr lang="zh-CN" altLang="en-US" sz="2800"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倒逼改革！</a:t>
            </a:r>
            <a:r>
              <a:rPr lang="zh-CN" altLang="en-US" sz="2800" dirty="0" smtClean="0">
                <a:latin typeface="楷体_GB2312" panose="02010609030101010101" pitchFamily="49" charset="-122"/>
                <a:ea typeface="楷体_GB2312" panose="02010609030101010101" pitchFamily="49" charset="-122"/>
              </a:rPr>
              <a:t>）</a:t>
            </a:r>
            <a:endParaRPr lang="en-US" altLang="zh-CN" sz="2800" dirty="0" smtClean="0">
              <a:latin typeface="楷体_GB2312" panose="02010609030101010101" pitchFamily="49" charset="-122"/>
              <a:ea typeface="楷体_GB2312" panose="02010609030101010101" pitchFamily="49" charset="-122"/>
            </a:endParaRPr>
          </a:p>
          <a:p>
            <a:r>
              <a:rPr lang="zh-CN" altLang="en-US" dirty="0">
                <a:latin typeface="楷体_GB2312" panose="02010609030101010101" pitchFamily="49" charset="-122"/>
                <a:ea typeface="楷体_GB2312" panose="02010609030101010101" pitchFamily="49" charset="-122"/>
              </a:rPr>
              <a:t>人们之所以对制度产生需求</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是因为制度能够给人们提供便利、增进人们的利益</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这种方便和利益就是制度发挥的功能和作用。</a:t>
            </a:r>
          </a:p>
          <a:p>
            <a:r>
              <a:rPr lang="zh-CN" altLang="en-US" dirty="0">
                <a:latin typeface="楷体_GB2312" panose="02010609030101010101" pitchFamily="49" charset="-122"/>
                <a:ea typeface="楷体_GB2312" panose="02010609030101010101" pitchFamily="49" charset="-122"/>
              </a:rPr>
              <a:t>制度除了减少生活的风险和不确定性</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很多都有节约的经济功能。 </a:t>
            </a:r>
            <a:r>
              <a:rPr lang="zh-CN" altLang="en-US" b="1" dirty="0" smtClean="0">
                <a:latin typeface="楷体_GB2312" panose="02010609030101010101" pitchFamily="49" charset="-122"/>
                <a:ea typeface="楷体_GB2312" panose="02010609030101010101" pitchFamily="49" charset="-122"/>
              </a:rPr>
              <a:t>（请您证明你妈是你妈）</a:t>
            </a:r>
            <a:endParaRPr lang="zh-CN" altLang="en-US" b="1" dirty="0">
              <a:latin typeface="楷体_GB2312" panose="02010609030101010101" pitchFamily="49" charset="-122"/>
              <a:ea typeface="楷体_GB2312" panose="02010609030101010101" pitchFamily="49" charset="-122"/>
            </a:endParaRPr>
          </a:p>
          <a:p>
            <a:r>
              <a:rPr lang="zh-CN" altLang="en-US" dirty="0">
                <a:latin typeface="楷体_GB2312" panose="02010609030101010101" pitchFamily="49" charset="-122"/>
                <a:ea typeface="楷体_GB2312" panose="02010609030101010101" pitchFamily="49" charset="-122"/>
              </a:rPr>
              <a:t>制度除了防备风险、减少不确定性和经济上的功能外</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几乎所有制度都包含了</a:t>
            </a:r>
            <a:r>
              <a:rPr lang="zh-CN" altLang="en-US" b="1" dirty="0">
                <a:latin typeface="楷体_GB2312" panose="02010609030101010101" pitchFamily="49" charset="-122"/>
                <a:ea typeface="楷体_GB2312" panose="02010609030101010101" pitchFamily="49" charset="-122"/>
              </a:rPr>
              <a:t>稳定和秩序的功能</a:t>
            </a:r>
            <a:r>
              <a:rPr lang="zh-CN" altLang="en-US"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枪支</a:t>
            </a:r>
            <a:r>
              <a:rPr lang="zh-CN" altLang="en-US" b="1" dirty="0" smtClean="0">
                <a:latin typeface="楷体_GB2312" panose="02010609030101010101" pitchFamily="49" charset="-122"/>
                <a:ea typeface="楷体_GB2312" panose="02010609030101010101" pitchFamily="49" charset="-122"/>
              </a:rPr>
              <a:t>管制、蒙面违法</a:t>
            </a:r>
            <a:r>
              <a:rPr lang="zh-CN" altLang="en-US" dirty="0" smtClean="0">
                <a:latin typeface="楷体_GB2312" panose="02010609030101010101" pitchFamily="49" charset="-122"/>
                <a:ea typeface="楷体_GB2312" panose="02010609030101010101" pitchFamily="49" charset="-122"/>
              </a:rPr>
              <a:t>）</a:t>
            </a:r>
            <a:endParaRPr lang="zh-CN" altLang="en-US"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4363236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305800" cy="1143000"/>
          </a:xfrm>
          <a:solidFill>
            <a:schemeClr val="accent1">
              <a:lumMod val="20000"/>
              <a:lumOff val="80000"/>
            </a:schemeClr>
          </a:solidFill>
        </p:spPr>
        <p:txBody>
          <a:bodyPr/>
          <a:lstStyle/>
          <a:p>
            <a:r>
              <a:rPr lang="en-US" altLang="zh-CN" dirty="0" smtClean="0">
                <a:solidFill>
                  <a:schemeClr val="tx1"/>
                </a:solidFill>
                <a:latin typeface="黑体" panose="02010609060101010101" pitchFamily="49" charset="-122"/>
                <a:ea typeface="黑体" panose="02010609060101010101" pitchFamily="49" charset="-122"/>
              </a:rPr>
              <a:t>3.3</a:t>
            </a:r>
            <a:r>
              <a:rPr lang="zh-CN" altLang="en-US" dirty="0" smtClean="0">
                <a:solidFill>
                  <a:schemeClr val="tx1"/>
                </a:solidFill>
                <a:latin typeface="黑体" panose="02010609060101010101" pitchFamily="49" charset="-122"/>
                <a:ea typeface="黑体" panose="02010609060101010101" pitchFamily="49" charset="-122"/>
              </a:rPr>
              <a:t>制度需求的影响因素</a:t>
            </a:r>
            <a:endParaRPr lang="zh-CN" altLang="en-US" dirty="0">
              <a:solidFill>
                <a:schemeClr val="tx1"/>
              </a:solidFill>
              <a:latin typeface="黑体" panose="02010609060101010101" pitchFamily="49" charset="-122"/>
              <a:ea typeface="黑体" panose="02010609060101010101" pitchFamily="49" charset="-122"/>
            </a:endParaRPr>
          </a:p>
        </p:txBody>
      </p:sp>
      <p:sp>
        <p:nvSpPr>
          <p:cNvPr id="3" name="文本占位符 2"/>
          <p:cNvSpPr>
            <a:spLocks noGrp="1"/>
          </p:cNvSpPr>
          <p:nvPr>
            <p:ph type="body" idx="1"/>
          </p:nvPr>
        </p:nvSpPr>
        <p:spPr>
          <a:xfrm>
            <a:off x="971600" y="1916832"/>
            <a:ext cx="6783288" cy="4416896"/>
          </a:xfrm>
        </p:spPr>
        <p:txBody>
          <a:bodyPr/>
          <a:lstStyle/>
          <a:p>
            <a:r>
              <a:rPr lang="zh-CN" altLang="en-US" sz="3200" b="1" dirty="0" smtClean="0">
                <a:latin typeface="楷体_GB2312" panose="02010609030101010101" pitchFamily="49" charset="-122"/>
                <a:ea typeface="楷体_GB2312" panose="02010609030101010101" pitchFamily="49" charset="-122"/>
              </a:rPr>
              <a:t>价格变动</a:t>
            </a:r>
            <a:endParaRPr lang="en-US" altLang="zh-CN" sz="3200" b="1" dirty="0" smtClean="0">
              <a:latin typeface="楷体_GB2312" panose="02010609030101010101" pitchFamily="49" charset="-122"/>
              <a:ea typeface="楷体_GB2312" panose="02010609030101010101" pitchFamily="49" charset="-122"/>
            </a:endParaRPr>
          </a:p>
          <a:p>
            <a:r>
              <a:rPr lang="zh-CN" altLang="en-US" sz="3200" b="1" dirty="0" smtClean="0">
                <a:latin typeface="楷体_GB2312" panose="02010609030101010101" pitchFamily="49" charset="-122"/>
                <a:ea typeface="楷体_GB2312" panose="02010609030101010101" pitchFamily="49" charset="-122"/>
              </a:rPr>
              <a:t>技术进步</a:t>
            </a:r>
            <a:endParaRPr lang="en-US" altLang="zh-CN" sz="3200" b="1" dirty="0" smtClean="0">
              <a:latin typeface="楷体_GB2312" panose="02010609030101010101" pitchFamily="49" charset="-122"/>
              <a:ea typeface="楷体_GB2312" panose="02010609030101010101" pitchFamily="49" charset="-122"/>
            </a:endParaRPr>
          </a:p>
          <a:p>
            <a:r>
              <a:rPr lang="zh-CN" altLang="en-US" sz="3200" b="1" dirty="0">
                <a:latin typeface="楷体_GB2312" panose="02010609030101010101" pitchFamily="49" charset="-122"/>
                <a:ea typeface="楷体_GB2312" panose="02010609030101010101" pitchFamily="49" charset="-122"/>
              </a:rPr>
              <a:t>市场</a:t>
            </a:r>
            <a:r>
              <a:rPr lang="zh-CN" altLang="en-US" sz="3200" b="1" dirty="0" smtClean="0">
                <a:latin typeface="楷体_GB2312" panose="02010609030101010101" pitchFamily="49" charset="-122"/>
                <a:ea typeface="楷体_GB2312" panose="02010609030101010101" pitchFamily="49" charset="-122"/>
              </a:rPr>
              <a:t>规模</a:t>
            </a:r>
            <a:endParaRPr lang="en-US" altLang="zh-CN" sz="3200" b="1" dirty="0" smtClean="0">
              <a:latin typeface="楷体_GB2312" panose="02010609030101010101" pitchFamily="49" charset="-122"/>
              <a:ea typeface="楷体_GB2312" panose="02010609030101010101" pitchFamily="49" charset="-122"/>
            </a:endParaRPr>
          </a:p>
          <a:p>
            <a:r>
              <a:rPr lang="zh-CN" altLang="en-US" sz="3200" b="1" dirty="0" smtClean="0">
                <a:latin typeface="楷体_GB2312" panose="02010609030101010101" pitchFamily="49" charset="-122"/>
                <a:ea typeface="楷体_GB2312" panose="02010609030101010101" pitchFamily="49" charset="-122"/>
              </a:rPr>
              <a:t>偏好变化</a:t>
            </a:r>
            <a:endParaRPr lang="en-US" altLang="zh-CN" sz="3200" b="1" dirty="0" smtClean="0">
              <a:latin typeface="楷体_GB2312" panose="02010609030101010101" pitchFamily="49" charset="-122"/>
              <a:ea typeface="楷体_GB2312" panose="02010609030101010101" pitchFamily="49" charset="-122"/>
            </a:endParaRPr>
          </a:p>
          <a:p>
            <a:r>
              <a:rPr lang="zh-CN" altLang="en-US" sz="3200" b="1" dirty="0" smtClean="0">
                <a:latin typeface="楷体_GB2312" panose="02010609030101010101" pitchFamily="49" charset="-122"/>
                <a:ea typeface="楷体_GB2312" panose="02010609030101010101" pitchFamily="49" charset="-122"/>
              </a:rPr>
              <a:t>偶然因素</a:t>
            </a:r>
            <a:endParaRPr lang="zh-CN" altLang="en-US" sz="3200" b="1"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22693728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16F63BB-DA09-4803-B4F5-F908F555D295}" type="slidenum">
              <a:rPr lang="en-US" altLang="zh-CN"/>
              <a:pPr/>
              <a:t>25</a:t>
            </a:fld>
            <a:endParaRPr lang="en-US" altLang="zh-CN"/>
          </a:p>
        </p:txBody>
      </p:sp>
      <p:sp>
        <p:nvSpPr>
          <p:cNvPr id="11266" name="Rectangle 2"/>
          <p:cNvSpPr>
            <a:spLocks noGrp="1" noChangeArrowheads="1"/>
          </p:cNvSpPr>
          <p:nvPr>
            <p:ph type="title"/>
          </p:nvPr>
        </p:nvSpPr>
        <p:spPr>
          <a:xfrm>
            <a:off x="467544" y="404664"/>
            <a:ext cx="8229600" cy="796925"/>
          </a:xfrm>
          <a:solidFill>
            <a:srgbClr val="FFFFCC"/>
          </a:solidFill>
        </p:spPr>
        <p:txBody>
          <a:bodyPr/>
          <a:lstStyle/>
          <a:p>
            <a:r>
              <a:rPr lang="en-US" altLang="zh-CN" sz="3600" dirty="0" smtClean="0">
                <a:latin typeface="隶书" panose="02010509060101010101" pitchFamily="49" charset="-122"/>
                <a:ea typeface="隶书" panose="02010509060101010101" pitchFamily="49" charset="-122"/>
              </a:rPr>
              <a:t>3.3.1</a:t>
            </a:r>
            <a:r>
              <a:rPr lang="zh-CN" altLang="en-US" sz="3600" dirty="0" smtClean="0">
                <a:latin typeface="隶书" panose="02010509060101010101" pitchFamily="49" charset="-122"/>
                <a:ea typeface="隶书" panose="02010509060101010101" pitchFamily="49" charset="-122"/>
              </a:rPr>
              <a:t>要素</a:t>
            </a:r>
            <a:r>
              <a:rPr lang="zh-CN" altLang="en-US" sz="3600" dirty="0">
                <a:latin typeface="隶书" panose="02010509060101010101" pitchFamily="49" charset="-122"/>
                <a:ea typeface="隶书" panose="02010509060101010101" pitchFamily="49" charset="-122"/>
              </a:rPr>
              <a:t>和产品相对价格的长期变动</a:t>
            </a:r>
          </a:p>
        </p:txBody>
      </p:sp>
      <p:sp>
        <p:nvSpPr>
          <p:cNvPr id="11267" name="Rectangle 3"/>
          <p:cNvSpPr>
            <a:spLocks noGrp="1" noChangeArrowheads="1"/>
          </p:cNvSpPr>
          <p:nvPr>
            <p:ph type="body" idx="1"/>
          </p:nvPr>
        </p:nvSpPr>
        <p:spPr>
          <a:xfrm>
            <a:off x="539552" y="1700808"/>
            <a:ext cx="8229600" cy="4032448"/>
          </a:xfrm>
        </p:spPr>
        <p:txBody>
          <a:bodyPr/>
          <a:lstStyle/>
          <a:p>
            <a:pPr>
              <a:lnSpc>
                <a:spcPct val="90000"/>
              </a:lnSpc>
            </a:pPr>
            <a:r>
              <a:rPr lang="zh-CN" altLang="en-US" sz="2800" dirty="0">
                <a:ea typeface="楷体_GB2312" pitchFamily="49" charset="-122"/>
              </a:rPr>
              <a:t>要素和产品相对价格的长期变动是诱致历史上多次产权制度变迁的主要原因</a:t>
            </a:r>
            <a:r>
              <a:rPr lang="zh-CN" altLang="en-US" sz="2800" dirty="0" smtClean="0">
                <a:ea typeface="楷体_GB2312" pitchFamily="49" charset="-122"/>
              </a:rPr>
              <a:t>。</a:t>
            </a:r>
            <a:endParaRPr lang="en-US" altLang="zh-CN" sz="2800" dirty="0" smtClean="0">
              <a:ea typeface="楷体_GB2312" pitchFamily="49" charset="-122"/>
            </a:endParaRPr>
          </a:p>
          <a:p>
            <a:pPr>
              <a:lnSpc>
                <a:spcPct val="90000"/>
              </a:lnSpc>
            </a:pPr>
            <a:r>
              <a:rPr lang="zh-CN" altLang="en-US" sz="2800" dirty="0" smtClean="0">
                <a:ea typeface="楷体_GB2312" pitchFamily="49" charset="-122"/>
              </a:rPr>
              <a:t>之所以</a:t>
            </a:r>
            <a:r>
              <a:rPr lang="zh-CN" altLang="en-US" sz="2800" dirty="0">
                <a:ea typeface="楷体_GB2312" pitchFamily="49" charset="-122"/>
              </a:rPr>
              <a:t>要素和产品相对价格的长期变动会产生制度变迁的需求，是因为当某种要素或产品因为某种原因变得稀缺因而相对价格（或价值）上升时，其所有者可以从对这种要素或产品的所有权中获得更多的收益，当所有者从对产品或要素的专有权中获得的收益大于保护这种专有权而支付的成本时，产权制度的建立就会成为迫切的需要。</a:t>
            </a:r>
            <a:r>
              <a:rPr lang="zh-CN" altLang="en-US" sz="2800" dirty="0"/>
              <a:t> </a:t>
            </a:r>
          </a:p>
        </p:txBody>
      </p:sp>
    </p:spTree>
    <p:extLst>
      <p:ext uri="{BB962C8B-B14F-4D97-AF65-F5344CB8AC3E}">
        <p14:creationId xmlns:p14="http://schemas.microsoft.com/office/powerpoint/2010/main" val="174636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E909ECDF-0049-4A92-8562-359E69ED8849}" type="slidenum">
              <a:rPr lang="en-US" altLang="zh-CN"/>
              <a:pPr/>
              <a:t>26</a:t>
            </a:fld>
            <a:endParaRPr lang="en-US" altLang="zh-CN" dirty="0"/>
          </a:p>
        </p:txBody>
      </p:sp>
      <p:sp>
        <p:nvSpPr>
          <p:cNvPr id="59395" name="Rectangle 3"/>
          <p:cNvSpPr>
            <a:spLocks noGrp="1" noChangeArrowheads="1"/>
          </p:cNvSpPr>
          <p:nvPr>
            <p:ph type="body" idx="1"/>
          </p:nvPr>
        </p:nvSpPr>
        <p:spPr>
          <a:xfrm>
            <a:off x="251520" y="1700808"/>
            <a:ext cx="8713788" cy="4607769"/>
          </a:xfrm>
        </p:spPr>
        <p:txBody>
          <a:bodyPr/>
          <a:lstStyle/>
          <a:p>
            <a:pPr>
              <a:lnSpc>
                <a:spcPct val="120000"/>
              </a:lnSpc>
            </a:pPr>
            <a:r>
              <a:rPr lang="zh-CN" altLang="en-US" sz="2800" dirty="0">
                <a:latin typeface="楷体_GB2312" pitchFamily="49" charset="-122"/>
                <a:ea typeface="楷体_GB2312" pitchFamily="49" charset="-122"/>
              </a:rPr>
              <a:t>德姆塞茨（</a:t>
            </a:r>
            <a:r>
              <a:rPr lang="en-US" altLang="zh-CN" sz="2800" dirty="0">
                <a:latin typeface="楷体_GB2312" pitchFamily="49" charset="-122"/>
                <a:ea typeface="楷体_GB2312" pitchFamily="49" charset="-122"/>
              </a:rPr>
              <a:t>1967</a:t>
            </a:r>
            <a:r>
              <a:rPr lang="zh-CN" altLang="en-US" sz="2800" dirty="0">
                <a:latin typeface="楷体_GB2312" pitchFamily="49" charset="-122"/>
                <a:ea typeface="楷体_GB2312" pitchFamily="49" charset="-122"/>
              </a:rPr>
              <a:t>）</a:t>
            </a:r>
            <a:r>
              <a:rPr lang="zh-CN" altLang="en-US" sz="2800" dirty="0" smtClean="0">
                <a:latin typeface="楷体_GB2312" pitchFamily="49" charset="-122"/>
                <a:ea typeface="楷体_GB2312" pitchFamily="49" charset="-122"/>
              </a:rPr>
              <a:t>考察美国</a:t>
            </a:r>
            <a:r>
              <a:rPr lang="zh-CN" altLang="en-US" sz="2800" dirty="0">
                <a:latin typeface="楷体_GB2312" pitchFamily="49" charset="-122"/>
                <a:ea typeface="楷体_GB2312" pitchFamily="49" charset="-122"/>
              </a:rPr>
              <a:t>印第安人土地私有权的发展，认为美国山区的印第安人之所以在</a:t>
            </a:r>
            <a:r>
              <a:rPr lang="en-US" altLang="zh-CN" sz="2800" dirty="0">
                <a:latin typeface="楷体_GB2312" pitchFamily="49" charset="-122"/>
                <a:ea typeface="楷体_GB2312" pitchFamily="49" charset="-122"/>
              </a:rPr>
              <a:t>18</a:t>
            </a:r>
            <a:r>
              <a:rPr lang="zh-CN" altLang="en-US" sz="2800" dirty="0">
                <a:latin typeface="楷体_GB2312" pitchFamily="49" charset="-122"/>
                <a:ea typeface="楷体_GB2312" pitchFamily="49" charset="-122"/>
              </a:rPr>
              <a:t>世纪之后</a:t>
            </a:r>
            <a:r>
              <a:rPr lang="zh-CN" altLang="en-US" sz="2800" dirty="0" smtClean="0">
                <a:latin typeface="楷体_GB2312" pitchFamily="49" charset="-122"/>
                <a:ea typeface="楷体_GB2312" pitchFamily="49" charset="-122"/>
              </a:rPr>
              <a:t>形成土地</a:t>
            </a:r>
            <a:r>
              <a:rPr lang="zh-CN" altLang="en-US" sz="2800" dirty="0">
                <a:latin typeface="楷体_GB2312" pitchFamily="49" charset="-122"/>
                <a:ea typeface="楷体_GB2312" pitchFamily="49" charset="-122"/>
              </a:rPr>
              <a:t>的私有产权，主要原因是动物</a:t>
            </a:r>
            <a:r>
              <a:rPr lang="zh-CN" altLang="en-US" sz="2800" dirty="0" smtClean="0">
                <a:latin typeface="楷体_GB2312" pitchFamily="49" charset="-122"/>
                <a:ea typeface="楷体_GB2312" pitchFamily="49" charset="-122"/>
              </a:rPr>
              <a:t>毛皮贸易提高</a:t>
            </a:r>
            <a:r>
              <a:rPr lang="zh-CN" altLang="en-US" sz="2800" dirty="0">
                <a:latin typeface="楷体_GB2312" pitchFamily="49" charset="-122"/>
                <a:ea typeface="楷体_GB2312" pitchFamily="49" charset="-122"/>
              </a:rPr>
              <a:t>了动物的相对价格</a:t>
            </a:r>
            <a:r>
              <a:rPr lang="zh-CN" altLang="en-US" sz="2800" dirty="0" smtClean="0">
                <a:latin typeface="楷体_GB2312" pitchFamily="49" charset="-122"/>
                <a:ea typeface="楷体_GB2312" pitchFamily="49" charset="-122"/>
              </a:rPr>
              <a:t>。动物</a:t>
            </a:r>
            <a:r>
              <a:rPr lang="zh-CN" altLang="en-US" sz="2800" dirty="0">
                <a:latin typeface="楷体_GB2312" pitchFamily="49" charset="-122"/>
                <a:ea typeface="楷体_GB2312" pitchFamily="49" charset="-122"/>
              </a:rPr>
              <a:t>相对价格的提高促进了更为经济</a:t>
            </a:r>
            <a:r>
              <a:rPr lang="zh-CN" altLang="en-US" sz="2800" dirty="0" smtClean="0">
                <a:latin typeface="楷体_GB2312" pitchFamily="49" charset="-122"/>
                <a:ea typeface="楷体_GB2312" pitchFamily="49" charset="-122"/>
              </a:rPr>
              <a:t>地圈养毛皮</a:t>
            </a:r>
            <a:r>
              <a:rPr lang="zh-CN" altLang="en-US" sz="2800" dirty="0">
                <a:latin typeface="楷体_GB2312" pitchFamily="49" charset="-122"/>
                <a:ea typeface="楷体_GB2312" pitchFamily="49" charset="-122"/>
              </a:rPr>
              <a:t>动物</a:t>
            </a:r>
            <a:r>
              <a:rPr lang="zh-CN" altLang="en-US" sz="2800" dirty="0" smtClean="0">
                <a:latin typeface="楷体_GB2312" pitchFamily="49" charset="-122"/>
                <a:ea typeface="楷体_GB2312" pitchFamily="49" charset="-122"/>
              </a:rPr>
              <a:t>。圈养毛皮</a:t>
            </a:r>
            <a:r>
              <a:rPr lang="zh-CN" altLang="en-US" sz="2800" dirty="0">
                <a:latin typeface="楷体_GB2312" pitchFamily="49" charset="-122"/>
                <a:ea typeface="楷体_GB2312" pitchFamily="49" charset="-122"/>
              </a:rPr>
              <a:t>动物要求有能力阻止偷猎，于是诱致了对圈养毛皮动物的土地私有产权进行界定和保护的制度的产生</a:t>
            </a:r>
            <a:r>
              <a:rPr lang="zh-CN" altLang="en-US" sz="2800" dirty="0" smtClean="0">
                <a:latin typeface="楷体_GB2312" pitchFamily="49" charset="-122"/>
                <a:ea typeface="楷体_GB2312" pitchFamily="49" charset="-122"/>
              </a:rPr>
              <a:t>。</a:t>
            </a:r>
            <a:endParaRPr lang="en-US" altLang="zh-CN" sz="2800" dirty="0" smtClean="0">
              <a:latin typeface="楷体_GB2312" pitchFamily="49" charset="-122"/>
              <a:ea typeface="楷体_GB2312" pitchFamily="49" charset="-122"/>
            </a:endParaRPr>
          </a:p>
        </p:txBody>
      </p:sp>
      <p:sp>
        <p:nvSpPr>
          <p:cNvPr id="6" name="Rectangle 2"/>
          <p:cNvSpPr>
            <a:spLocks noGrp="1" noChangeArrowheads="1"/>
          </p:cNvSpPr>
          <p:nvPr>
            <p:ph type="title"/>
          </p:nvPr>
        </p:nvSpPr>
        <p:spPr>
          <a:xfrm>
            <a:off x="467544" y="404664"/>
            <a:ext cx="8229600" cy="796925"/>
          </a:xfrm>
          <a:solidFill>
            <a:srgbClr val="FFFFCC"/>
          </a:solidFill>
        </p:spPr>
        <p:txBody>
          <a:bodyPr/>
          <a:lstStyle/>
          <a:p>
            <a:r>
              <a:rPr lang="en-US" altLang="zh-CN" sz="3600" dirty="0" smtClean="0">
                <a:latin typeface="隶书" panose="02010509060101010101" pitchFamily="49" charset="-122"/>
                <a:ea typeface="隶书" panose="02010509060101010101" pitchFamily="49" charset="-122"/>
              </a:rPr>
              <a:t>3.3.1</a:t>
            </a:r>
            <a:r>
              <a:rPr lang="zh-CN" altLang="en-US" sz="3600" dirty="0" smtClean="0">
                <a:latin typeface="隶书" panose="02010509060101010101" pitchFamily="49" charset="-122"/>
                <a:ea typeface="隶书" panose="02010509060101010101" pitchFamily="49" charset="-122"/>
              </a:rPr>
              <a:t>要素</a:t>
            </a:r>
            <a:r>
              <a:rPr lang="zh-CN" altLang="en-US" sz="3600" dirty="0">
                <a:latin typeface="隶书" panose="02010509060101010101" pitchFamily="49" charset="-122"/>
                <a:ea typeface="隶书" panose="02010509060101010101" pitchFamily="49" charset="-122"/>
              </a:rPr>
              <a:t>和产品相对价格的长期变动</a:t>
            </a:r>
          </a:p>
        </p:txBody>
      </p:sp>
    </p:spTree>
    <p:extLst>
      <p:ext uri="{BB962C8B-B14F-4D97-AF65-F5344CB8AC3E}">
        <p14:creationId xmlns:p14="http://schemas.microsoft.com/office/powerpoint/2010/main" val="21215520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E909ECDF-0049-4A92-8562-359E69ED8849}" type="slidenum">
              <a:rPr lang="en-US" altLang="zh-CN"/>
              <a:pPr/>
              <a:t>27</a:t>
            </a:fld>
            <a:endParaRPr lang="en-US" altLang="zh-CN"/>
          </a:p>
        </p:txBody>
      </p:sp>
      <p:sp>
        <p:nvSpPr>
          <p:cNvPr id="59395" name="Rectangle 3"/>
          <p:cNvSpPr>
            <a:spLocks noGrp="1" noChangeArrowheads="1"/>
          </p:cNvSpPr>
          <p:nvPr>
            <p:ph type="body" idx="1"/>
          </p:nvPr>
        </p:nvSpPr>
        <p:spPr>
          <a:xfrm>
            <a:off x="251520" y="1124744"/>
            <a:ext cx="8713788" cy="5256584"/>
          </a:xfrm>
        </p:spPr>
        <p:txBody>
          <a:bodyPr/>
          <a:lstStyle/>
          <a:p>
            <a:pPr>
              <a:lnSpc>
                <a:spcPct val="120000"/>
              </a:lnSpc>
            </a:pPr>
            <a:r>
              <a:rPr lang="zh-CN" altLang="en-US" dirty="0" smtClean="0">
                <a:latin typeface="楷体_GB2312" pitchFamily="49" charset="-122"/>
                <a:ea typeface="楷体_GB2312" pitchFamily="49" charset="-122"/>
              </a:rPr>
              <a:t>相反</a:t>
            </a:r>
            <a:r>
              <a:rPr lang="zh-CN" altLang="en-US" dirty="0">
                <a:latin typeface="楷体_GB2312" pitchFamily="49" charset="-122"/>
                <a:ea typeface="楷体_GB2312" pitchFamily="49" charset="-122"/>
              </a:rPr>
              <a:t>，美国西南部印第安人迟迟未发生私有产权的制度变迁，因为平原地区的动物和森林地区毛皮动物相比没有商业上的重要性，而且平原动物主要是食草动物，其习性是在广阔的土地上漫跑，为确立私有狩猎边界所获得的价值，由于要阻止动物跑到相邻的土地的成本相对较高而降低了</a:t>
            </a:r>
            <a:r>
              <a:rPr lang="zh-CN" altLang="en-US" dirty="0" smtClean="0">
                <a:latin typeface="楷体_GB2312" pitchFamily="49" charset="-122"/>
                <a:ea typeface="楷体_GB2312" pitchFamily="49" charset="-122"/>
              </a:rPr>
              <a:t>。</a:t>
            </a:r>
            <a:endParaRPr lang="en-US" altLang="zh-CN" dirty="0" smtClean="0">
              <a:latin typeface="楷体_GB2312" pitchFamily="49" charset="-122"/>
              <a:ea typeface="楷体_GB2312" pitchFamily="49" charset="-122"/>
            </a:endParaRPr>
          </a:p>
          <a:p>
            <a:pPr>
              <a:lnSpc>
                <a:spcPct val="120000"/>
              </a:lnSpc>
            </a:pPr>
            <a:r>
              <a:rPr lang="zh-CN" altLang="en-US" dirty="0" smtClean="0">
                <a:latin typeface="楷体_GB2312" pitchFamily="49" charset="-122"/>
                <a:ea typeface="楷体_GB2312" pitchFamily="49" charset="-122"/>
              </a:rPr>
              <a:t>他</a:t>
            </a:r>
            <a:r>
              <a:rPr lang="zh-CN" altLang="en-US" dirty="0">
                <a:latin typeface="楷体_GB2312" pitchFamily="49" charset="-122"/>
                <a:ea typeface="楷体_GB2312" pitchFamily="49" charset="-122"/>
              </a:rPr>
              <a:t>由此证明，</a:t>
            </a:r>
            <a:r>
              <a:rPr lang="zh-CN" altLang="en-US" dirty="0" smtClean="0">
                <a:latin typeface="楷体_GB2312" pitchFamily="49" charset="-122"/>
                <a:ea typeface="楷体_GB2312" pitchFamily="49" charset="-122"/>
              </a:rPr>
              <a:t>新产权</a:t>
            </a:r>
            <a:r>
              <a:rPr lang="zh-CN" altLang="en-US" dirty="0">
                <a:latin typeface="楷体_GB2312" pitchFamily="49" charset="-122"/>
                <a:ea typeface="楷体_GB2312" pitchFamily="49" charset="-122"/>
              </a:rPr>
              <a:t>制度的形成是相互作用的人们对新的收益</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itchFamily="49" charset="-122"/>
                <a:ea typeface="楷体_GB2312" pitchFamily="49" charset="-122"/>
              </a:rPr>
              <a:t>成本的</a:t>
            </a:r>
            <a:r>
              <a:rPr lang="zh-CN" altLang="en-US" dirty="0" smtClean="0">
                <a:latin typeface="楷体_GB2312" pitchFamily="49" charset="-122"/>
                <a:ea typeface="楷体_GB2312" pitchFamily="49" charset="-122"/>
              </a:rPr>
              <a:t>可能预期进行</a:t>
            </a:r>
            <a:r>
              <a:rPr lang="zh-CN" altLang="en-US" dirty="0">
                <a:latin typeface="楷体_GB2312" pitchFamily="49" charset="-122"/>
                <a:ea typeface="楷体_GB2312" pitchFamily="49" charset="-122"/>
              </a:rPr>
              <a:t>调整的回应。而相对价格是</a:t>
            </a:r>
            <a:r>
              <a:rPr lang="zh-CN" altLang="en-US" dirty="0" smtClean="0">
                <a:latin typeface="楷体_GB2312" pitchFamily="49" charset="-122"/>
                <a:ea typeface="楷体_GB2312" pitchFamily="49" charset="-122"/>
              </a:rPr>
              <a:t>决定新</a:t>
            </a:r>
            <a:r>
              <a:rPr lang="zh-CN" altLang="en-US" dirty="0">
                <a:latin typeface="楷体_GB2312" pitchFamily="49" charset="-122"/>
                <a:ea typeface="楷体_GB2312" pitchFamily="49" charset="-122"/>
              </a:rPr>
              <a:t>的收益</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itchFamily="49" charset="-122"/>
                <a:ea typeface="楷体_GB2312" pitchFamily="49" charset="-122"/>
              </a:rPr>
              <a:t>成本比较的关键因素</a:t>
            </a:r>
            <a:r>
              <a:rPr lang="zh-CN" altLang="en-US" dirty="0" smtClean="0">
                <a:latin typeface="楷体_GB2312" pitchFamily="49" charset="-122"/>
                <a:ea typeface="楷体_GB2312" pitchFamily="49" charset="-122"/>
              </a:rPr>
              <a:t>。</a:t>
            </a:r>
            <a:endParaRPr lang="en-US" altLang="zh-CN" dirty="0" smtClean="0">
              <a:latin typeface="楷体_GB2312" pitchFamily="49" charset="-122"/>
              <a:ea typeface="楷体_GB2312" pitchFamily="49" charset="-122"/>
            </a:endParaRPr>
          </a:p>
          <a:p>
            <a:pPr lvl="0">
              <a:lnSpc>
                <a:spcPct val="120000"/>
              </a:lnSpc>
            </a:pPr>
            <a:r>
              <a:rPr lang="zh-CN" altLang="en-US" dirty="0" smtClean="0">
                <a:latin typeface="楷体_GB2312" pitchFamily="49" charset="-122"/>
                <a:ea typeface="楷体_GB2312" pitchFamily="49" charset="-122"/>
              </a:rPr>
              <a:t> </a:t>
            </a:r>
            <a:r>
              <a:rPr lang="zh-CN" altLang="en-US" sz="2800" b="1" u="sng" dirty="0">
                <a:solidFill>
                  <a:srgbClr val="000000"/>
                </a:solidFill>
                <a:latin typeface="楷体_GB2312" pitchFamily="49" charset="-122"/>
                <a:ea typeface="楷体_GB2312" pitchFamily="49" charset="-122"/>
              </a:rPr>
              <a:t>（典型例子：北京房价</a:t>
            </a:r>
            <a:r>
              <a:rPr lang="en-US" altLang="zh-CN" sz="2800" b="1" u="sng" dirty="0">
                <a:solidFill>
                  <a:srgbClr val="000000"/>
                </a:solidFill>
                <a:latin typeface="楷体_GB2312" pitchFamily="49" charset="-122"/>
                <a:ea typeface="楷体_GB2312" pitchFamily="49" charset="-122"/>
              </a:rPr>
              <a:t>——</a:t>
            </a:r>
            <a:r>
              <a:rPr lang="zh-CN" altLang="en-US" sz="2800" b="1" u="sng" dirty="0">
                <a:solidFill>
                  <a:srgbClr val="000000"/>
                </a:solidFill>
                <a:latin typeface="楷体_GB2312" pitchFamily="49" charset="-122"/>
                <a:ea typeface="楷体_GB2312" pitchFamily="49" charset="-122"/>
              </a:rPr>
              <a:t>限购怪圈）</a:t>
            </a:r>
            <a:endParaRPr lang="en-US" altLang="zh-CN" sz="2800" b="1" u="sng" dirty="0">
              <a:solidFill>
                <a:srgbClr val="000000"/>
              </a:solidFill>
              <a:latin typeface="楷体_GB2312" pitchFamily="49" charset="-122"/>
              <a:ea typeface="楷体_GB2312" pitchFamily="49" charset="-122"/>
            </a:endParaRPr>
          </a:p>
          <a:p>
            <a:pPr>
              <a:lnSpc>
                <a:spcPct val="120000"/>
              </a:lnSpc>
            </a:pPr>
            <a:endParaRPr lang="zh-CN" altLang="en-US" dirty="0">
              <a:latin typeface="楷体_GB2312" pitchFamily="49" charset="-122"/>
              <a:ea typeface="楷体_GB2312" pitchFamily="49" charset="-122"/>
            </a:endParaRPr>
          </a:p>
        </p:txBody>
      </p:sp>
      <p:sp>
        <p:nvSpPr>
          <p:cNvPr id="4" name="Rectangle 2"/>
          <p:cNvSpPr>
            <a:spLocks noGrp="1" noChangeArrowheads="1"/>
          </p:cNvSpPr>
          <p:nvPr>
            <p:ph type="title"/>
          </p:nvPr>
        </p:nvSpPr>
        <p:spPr>
          <a:xfrm>
            <a:off x="467544" y="188640"/>
            <a:ext cx="8229600" cy="796925"/>
          </a:xfrm>
          <a:solidFill>
            <a:srgbClr val="FFFFCC"/>
          </a:solidFill>
        </p:spPr>
        <p:txBody>
          <a:bodyPr/>
          <a:lstStyle/>
          <a:p>
            <a:r>
              <a:rPr lang="en-US" altLang="zh-CN" sz="3600" dirty="0" smtClean="0">
                <a:latin typeface="隶书" panose="02010509060101010101" pitchFamily="49" charset="-122"/>
                <a:ea typeface="隶书" panose="02010509060101010101" pitchFamily="49" charset="-122"/>
              </a:rPr>
              <a:t>3.3.1</a:t>
            </a:r>
            <a:r>
              <a:rPr lang="zh-CN" altLang="en-US" sz="3600" dirty="0" smtClean="0">
                <a:latin typeface="隶书" panose="02010509060101010101" pitchFamily="49" charset="-122"/>
                <a:ea typeface="隶书" panose="02010509060101010101" pitchFamily="49" charset="-122"/>
              </a:rPr>
              <a:t>要素</a:t>
            </a:r>
            <a:r>
              <a:rPr lang="zh-CN" altLang="en-US" sz="3600" dirty="0">
                <a:latin typeface="隶书" panose="02010509060101010101" pitchFamily="49" charset="-122"/>
                <a:ea typeface="隶书" panose="02010509060101010101" pitchFamily="49" charset="-122"/>
              </a:rPr>
              <a:t>和产品相对价格的长期变动</a:t>
            </a:r>
          </a:p>
        </p:txBody>
      </p:sp>
    </p:spTree>
    <p:extLst>
      <p:ext uri="{BB962C8B-B14F-4D97-AF65-F5344CB8AC3E}">
        <p14:creationId xmlns:p14="http://schemas.microsoft.com/office/powerpoint/2010/main" val="13477321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27829686-626A-4EDF-BE4E-A7FD334469FD}" type="slidenum">
              <a:rPr lang="en-US" altLang="zh-CN"/>
              <a:pPr/>
              <a:t>28</a:t>
            </a:fld>
            <a:endParaRPr lang="en-US" altLang="zh-CN"/>
          </a:p>
        </p:txBody>
      </p:sp>
      <p:sp>
        <p:nvSpPr>
          <p:cNvPr id="12290" name="Rectangle 2"/>
          <p:cNvSpPr>
            <a:spLocks noGrp="1" noChangeArrowheads="1"/>
          </p:cNvSpPr>
          <p:nvPr>
            <p:ph type="title"/>
          </p:nvPr>
        </p:nvSpPr>
        <p:spPr>
          <a:xfrm>
            <a:off x="755576" y="332656"/>
            <a:ext cx="4104704" cy="1008063"/>
          </a:xfrm>
          <a:solidFill>
            <a:srgbClr val="FFFFCC"/>
          </a:solidFill>
        </p:spPr>
        <p:txBody>
          <a:bodyPr/>
          <a:lstStyle/>
          <a:p>
            <a:r>
              <a:rPr lang="en-US" altLang="zh-CN" sz="4000" dirty="0" smtClean="0">
                <a:latin typeface="隶书" panose="02010509060101010101" pitchFamily="49" charset="-122"/>
                <a:ea typeface="隶书" panose="02010509060101010101" pitchFamily="49" charset="-122"/>
              </a:rPr>
              <a:t>3.3.2</a:t>
            </a:r>
            <a:r>
              <a:rPr lang="zh-CN" altLang="en-US" sz="4000" dirty="0" smtClean="0">
                <a:latin typeface="隶书" panose="02010509060101010101" pitchFamily="49" charset="-122"/>
                <a:ea typeface="隶书" panose="02010509060101010101" pitchFamily="49" charset="-122"/>
              </a:rPr>
              <a:t>技术</a:t>
            </a:r>
            <a:r>
              <a:rPr lang="zh-CN" altLang="en-US" sz="4000" dirty="0">
                <a:latin typeface="隶书" panose="02010509060101010101" pitchFamily="49" charset="-122"/>
                <a:ea typeface="隶书" panose="02010509060101010101" pitchFamily="49" charset="-122"/>
              </a:rPr>
              <a:t>进步</a:t>
            </a:r>
            <a:r>
              <a:rPr lang="zh-CN" altLang="en-US" dirty="0">
                <a:latin typeface="隶书" panose="02010509060101010101" pitchFamily="49" charset="-122"/>
                <a:ea typeface="隶书" panose="02010509060101010101" pitchFamily="49" charset="-122"/>
              </a:rPr>
              <a:t> </a:t>
            </a:r>
          </a:p>
        </p:txBody>
      </p:sp>
      <p:sp>
        <p:nvSpPr>
          <p:cNvPr id="12291" name="Rectangle 3"/>
          <p:cNvSpPr>
            <a:spLocks noGrp="1" noChangeArrowheads="1"/>
          </p:cNvSpPr>
          <p:nvPr>
            <p:ph type="body" idx="1"/>
          </p:nvPr>
        </p:nvSpPr>
        <p:spPr>
          <a:xfrm>
            <a:off x="899592" y="1628801"/>
            <a:ext cx="7777163" cy="3456384"/>
          </a:xfrm>
        </p:spPr>
        <p:txBody>
          <a:bodyPr/>
          <a:lstStyle/>
          <a:p>
            <a:r>
              <a:rPr lang="zh-CN" altLang="en-US" sz="2800" b="1" dirty="0">
                <a:latin typeface="楷体_GB2312" panose="02010609030101010101" pitchFamily="49" charset="-122"/>
                <a:ea typeface="楷体_GB2312" panose="02010609030101010101" pitchFamily="49" charset="-122"/>
              </a:rPr>
              <a:t>从生产方面看，新的制度安排往往需要利用新的潜在外部性。这在存在某种技术进步的情况下容易得到保证。</a:t>
            </a:r>
          </a:p>
          <a:p>
            <a:r>
              <a:rPr lang="zh-CN" altLang="en-US" sz="2800" b="1" dirty="0">
                <a:latin typeface="楷体_GB2312" panose="02010609030101010101" pitchFamily="49" charset="-122"/>
                <a:ea typeface="楷体_GB2312" panose="02010609030101010101" pitchFamily="49" charset="-122"/>
              </a:rPr>
              <a:t>从交易方面看，技术进步可能影响交易费用并使原先不起作用的某些制度安排起作用。 </a:t>
            </a:r>
          </a:p>
          <a:p>
            <a:r>
              <a:rPr lang="zh-CN" altLang="en-US" sz="2800" b="1" dirty="0">
                <a:latin typeface="楷体_GB2312" panose="02010609030101010101" pitchFamily="49" charset="-122"/>
                <a:ea typeface="楷体_GB2312" panose="02010609030101010101" pitchFamily="49" charset="-122"/>
              </a:rPr>
              <a:t>从分配方面看，技术进步可以有效地改变要素所有者或各个经济部门之间的收入流的分割。 </a:t>
            </a:r>
          </a:p>
        </p:txBody>
      </p:sp>
      <p:sp>
        <p:nvSpPr>
          <p:cNvPr id="7" name="Rectangle 3"/>
          <p:cNvSpPr txBox="1">
            <a:spLocks noChangeArrowheads="1"/>
          </p:cNvSpPr>
          <p:nvPr/>
        </p:nvSpPr>
        <p:spPr bwMode="auto">
          <a:xfrm>
            <a:off x="889140" y="5085184"/>
            <a:ext cx="7777163" cy="872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buNone/>
            </a:pPr>
            <a:r>
              <a:rPr lang="en-US" altLang="zh-CN" sz="2800" b="1" kern="0" dirty="0" smtClean="0">
                <a:solidFill>
                  <a:schemeClr val="accent2">
                    <a:lumMod val="75000"/>
                  </a:schemeClr>
                </a:solidFill>
                <a:latin typeface="楷体_GB2312" panose="02010609030101010101" pitchFamily="49" charset="-122"/>
                <a:ea typeface="楷体_GB2312" panose="02010609030101010101" pitchFamily="49" charset="-122"/>
              </a:rPr>
              <a:t>——</a:t>
            </a:r>
            <a:r>
              <a:rPr lang="zh-CN" altLang="en-US" sz="2800" b="1" kern="0" dirty="0" smtClean="0">
                <a:solidFill>
                  <a:schemeClr val="accent2">
                    <a:lumMod val="75000"/>
                  </a:schemeClr>
                </a:solidFill>
                <a:latin typeface="楷体_GB2312" panose="02010609030101010101" pitchFamily="49" charset="-122"/>
                <a:ea typeface="楷体_GB2312" panose="02010609030101010101" pitchFamily="49" charset="-122"/>
              </a:rPr>
              <a:t>资本主义制度本身就可以被看做是工业技术革命的产物。</a:t>
            </a:r>
            <a:r>
              <a:rPr lang="zh-CN" altLang="en-US" sz="2000" b="1" kern="0" dirty="0" smtClean="0">
                <a:solidFill>
                  <a:schemeClr val="accent2">
                    <a:lumMod val="75000"/>
                  </a:schemeClr>
                </a:solidFill>
                <a:latin typeface="楷体_GB2312" panose="02010609030101010101" pitchFamily="49" charset="-122"/>
                <a:ea typeface="楷体_GB2312" panose="02010609030101010101" pitchFamily="49" charset="-122"/>
              </a:rPr>
              <a:t>（互联网技术甚至改变了现在的商业模式）</a:t>
            </a:r>
            <a:endParaRPr lang="zh-CN" altLang="en-US" sz="2000" b="1" kern="0" dirty="0">
              <a:solidFill>
                <a:schemeClr val="accent2">
                  <a:lumMod val="75000"/>
                </a:schemeClr>
              </a:solidFill>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7285741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D5D47EE-69FA-407D-B9B5-5FCB7022C2F7}" type="slidenum">
              <a:rPr lang="en-US" altLang="zh-CN"/>
              <a:pPr/>
              <a:t>29</a:t>
            </a:fld>
            <a:endParaRPr lang="en-US" altLang="zh-CN"/>
          </a:p>
        </p:txBody>
      </p:sp>
      <p:sp>
        <p:nvSpPr>
          <p:cNvPr id="13315" name="Rectangle 3"/>
          <p:cNvSpPr>
            <a:spLocks noGrp="1" noChangeArrowheads="1"/>
          </p:cNvSpPr>
          <p:nvPr>
            <p:ph type="body" idx="1"/>
          </p:nvPr>
        </p:nvSpPr>
        <p:spPr>
          <a:xfrm>
            <a:off x="467544" y="1556792"/>
            <a:ext cx="8229600" cy="2952328"/>
          </a:xfrm>
        </p:spPr>
        <p:txBody>
          <a:bodyPr/>
          <a:lstStyle/>
          <a:p>
            <a:pPr>
              <a:lnSpc>
                <a:spcPct val="90000"/>
              </a:lnSpc>
            </a:pPr>
            <a:r>
              <a:rPr lang="zh-CN" altLang="en-US" sz="2800" dirty="0">
                <a:latin typeface="楷体_GB2312" panose="02010609030101010101" pitchFamily="49" charset="-122"/>
                <a:ea typeface="楷体_GB2312" panose="02010609030101010101" pitchFamily="49" charset="-122"/>
              </a:rPr>
              <a:t>市场规模的变化能够改变特定制度安排的利益和费用：搜集信息或排除非参与者的成本并不随交易的量而同比例增长，这两类活动都体现了成本递减特性。</a:t>
            </a:r>
          </a:p>
          <a:p>
            <a:pPr>
              <a:lnSpc>
                <a:spcPct val="90000"/>
              </a:lnSpc>
            </a:pPr>
            <a:r>
              <a:rPr lang="zh-CN" altLang="en-US" sz="2800" dirty="0">
                <a:latin typeface="楷体_GB2312" panose="02010609030101010101" pitchFamily="49" charset="-122"/>
                <a:ea typeface="楷体_GB2312" panose="02010609030101010101" pitchFamily="49" charset="-122"/>
              </a:rPr>
              <a:t>市场规模一扩大，固定成本即可以通过很多的交易、而不是相对很少的几笔交易收回。这样，固定成本就成为制度安排创新的一个较小的障碍了。 </a:t>
            </a:r>
          </a:p>
        </p:txBody>
      </p:sp>
      <p:sp>
        <p:nvSpPr>
          <p:cNvPr id="7" name="Rectangle 2"/>
          <p:cNvSpPr txBox="1">
            <a:spLocks noChangeArrowheads="1"/>
          </p:cNvSpPr>
          <p:nvPr/>
        </p:nvSpPr>
        <p:spPr bwMode="auto">
          <a:xfrm>
            <a:off x="683568" y="332656"/>
            <a:ext cx="4104704" cy="100806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sz="4000" kern="0" dirty="0" smtClean="0">
                <a:latin typeface="隶书" panose="02010509060101010101" pitchFamily="49" charset="-122"/>
                <a:ea typeface="隶书" panose="02010509060101010101" pitchFamily="49" charset="-122"/>
              </a:rPr>
              <a:t>3.3.3</a:t>
            </a:r>
            <a:r>
              <a:rPr lang="zh-CN" altLang="en-US" sz="4000" kern="0" dirty="0" smtClean="0">
                <a:latin typeface="隶书" panose="02010509060101010101" pitchFamily="49" charset="-122"/>
                <a:ea typeface="隶书" panose="02010509060101010101" pitchFamily="49" charset="-122"/>
              </a:rPr>
              <a:t>市场规模</a:t>
            </a:r>
            <a:endParaRPr lang="zh-CN" altLang="en-US" kern="0" dirty="0">
              <a:latin typeface="隶书" panose="02010509060101010101" pitchFamily="49" charset="-122"/>
              <a:ea typeface="隶书" panose="02010509060101010101" pitchFamily="49" charset="-122"/>
            </a:endParaRPr>
          </a:p>
        </p:txBody>
      </p:sp>
      <p:sp>
        <p:nvSpPr>
          <p:cNvPr id="9" name="Rectangle 3"/>
          <p:cNvSpPr txBox="1">
            <a:spLocks noChangeArrowheads="1"/>
          </p:cNvSpPr>
          <p:nvPr/>
        </p:nvSpPr>
        <p:spPr bwMode="auto">
          <a:xfrm>
            <a:off x="395536" y="4869160"/>
            <a:ext cx="8229600"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lnSpc>
                <a:spcPct val="90000"/>
              </a:lnSpc>
              <a:buNone/>
            </a:pPr>
            <a:r>
              <a:rPr lang="en-US" altLang="zh-CN" sz="2800" b="1" kern="0" dirty="0" smtClean="0">
                <a:solidFill>
                  <a:srgbClr val="002060"/>
                </a:solidFill>
                <a:latin typeface="楷体_GB2312" panose="02010609030101010101" pitchFamily="49" charset="-122"/>
                <a:ea typeface="楷体_GB2312" panose="02010609030101010101" pitchFamily="49" charset="-122"/>
              </a:rPr>
              <a:t>——</a:t>
            </a:r>
            <a:r>
              <a:rPr lang="zh-CN" altLang="en-US" sz="2800" b="1" kern="0" dirty="0" smtClean="0">
                <a:solidFill>
                  <a:srgbClr val="002060"/>
                </a:solidFill>
                <a:latin typeface="楷体_GB2312" panose="02010609030101010101" pitchFamily="49" charset="-122"/>
                <a:ea typeface="楷体_GB2312" panose="02010609030101010101" pitchFamily="49" charset="-122"/>
              </a:rPr>
              <a:t>庞大的市场规模，使得计划经济难以为继。</a:t>
            </a:r>
            <a:endParaRPr lang="zh-CN" altLang="en-US" sz="2800" b="1" kern="0" dirty="0">
              <a:solidFill>
                <a:srgbClr val="002060"/>
              </a:solidFill>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19288895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4E18192-8AC4-41C4-A365-669AF7D1D388}" type="slidenum">
              <a:rPr lang="en-US" altLang="zh-CN"/>
              <a:pPr/>
              <a:t>30</a:t>
            </a:fld>
            <a:endParaRPr lang="en-US" altLang="zh-CN"/>
          </a:p>
        </p:txBody>
      </p:sp>
      <p:sp>
        <p:nvSpPr>
          <p:cNvPr id="15363" name="Rectangle 3"/>
          <p:cNvSpPr>
            <a:spLocks noGrp="1" noChangeArrowheads="1"/>
          </p:cNvSpPr>
          <p:nvPr>
            <p:ph type="body" idx="1"/>
          </p:nvPr>
        </p:nvSpPr>
        <p:spPr>
          <a:xfrm>
            <a:off x="312577" y="1196702"/>
            <a:ext cx="8568952" cy="3384376"/>
          </a:xfrm>
        </p:spPr>
        <p:txBody>
          <a:bodyPr/>
          <a:lstStyle/>
          <a:p>
            <a:pPr>
              <a:lnSpc>
                <a:spcPct val="90000"/>
              </a:lnSpc>
            </a:pPr>
            <a:r>
              <a:rPr lang="zh-CN" altLang="en-US" sz="2400" dirty="0">
                <a:latin typeface="楷体_GB2312" pitchFamily="49" charset="-122"/>
                <a:ea typeface="楷体_GB2312" pitchFamily="49" charset="-122"/>
              </a:rPr>
              <a:t>偏好是群体的偏好，即某一集团的共同爱好、价值观念等。一个民族或国家的历史文化传统、习俗都决定性地影响着集团的偏好</a:t>
            </a:r>
            <a:r>
              <a:rPr lang="zh-CN" altLang="en-US" sz="2400" dirty="0" smtClean="0">
                <a:latin typeface="楷体_GB2312" pitchFamily="49" charset="-122"/>
                <a:ea typeface="楷体_GB2312" pitchFamily="49" charset="-122"/>
              </a:rPr>
              <a:t>。</a:t>
            </a:r>
            <a:endParaRPr lang="en-US" altLang="zh-CN" sz="2400" b="1" dirty="0" smtClean="0">
              <a:latin typeface="楷体_GB2312" pitchFamily="49" charset="-122"/>
              <a:ea typeface="楷体_GB2312" pitchFamily="49" charset="-122"/>
            </a:endParaRPr>
          </a:p>
          <a:p>
            <a:pPr>
              <a:lnSpc>
                <a:spcPct val="90000"/>
              </a:lnSpc>
            </a:pPr>
            <a:r>
              <a:rPr lang="zh-CN" altLang="en-US" sz="2400" dirty="0" smtClean="0">
                <a:latin typeface="楷体_GB2312" pitchFamily="49" charset="-122"/>
                <a:ea typeface="楷体_GB2312" pitchFamily="49" charset="-122"/>
              </a:rPr>
              <a:t>偏好</a:t>
            </a:r>
            <a:r>
              <a:rPr lang="zh-CN" altLang="en-US" sz="2400" dirty="0">
                <a:latin typeface="楷体_GB2312" pitchFamily="49" charset="-122"/>
                <a:ea typeface="楷体_GB2312" pitchFamily="49" charset="-122"/>
              </a:rPr>
              <a:t>变化对制度变迁需求有直接和间接影响两种情况。前者指偏好变化直接导致制度变迁需求；后者指偏好变化并不直接指向某一制度安排，而是在一定时期里影响制度环境和制度选择的集合空间并最终导致制度安排变化。偏好影响制度变迁需求本质上是由于它改变了人们的效用函数，从而改变了</a:t>
            </a:r>
            <a:r>
              <a:rPr lang="zh-CN" altLang="en-US" sz="2400" dirty="0" smtClean="0">
                <a:latin typeface="楷体_GB2312" pitchFamily="49" charset="-122"/>
                <a:ea typeface="楷体_GB2312" pitchFamily="49" charset="-122"/>
              </a:rPr>
              <a:t>人们利益</a:t>
            </a:r>
            <a:r>
              <a:rPr lang="zh-CN" altLang="en-US" sz="2400" dirty="0">
                <a:latin typeface="楷体_GB2312" pitchFamily="49" charset="-122"/>
                <a:ea typeface="楷体_GB2312" pitchFamily="49" charset="-122"/>
              </a:rPr>
              <a:t>判断的变化</a:t>
            </a:r>
            <a:r>
              <a:rPr lang="zh-CN" altLang="en-US" sz="2400" dirty="0" smtClean="0">
                <a:latin typeface="楷体_GB2312" pitchFamily="49" charset="-122"/>
                <a:ea typeface="楷体_GB2312" pitchFamily="49" charset="-122"/>
              </a:rPr>
              <a:t>。</a:t>
            </a:r>
            <a:endParaRPr lang="zh-CN" altLang="en-US" sz="2400" dirty="0">
              <a:latin typeface="楷体_GB2312" pitchFamily="49" charset="-122"/>
              <a:ea typeface="楷体_GB2312" pitchFamily="49" charset="-122"/>
            </a:endParaRPr>
          </a:p>
        </p:txBody>
      </p:sp>
      <p:sp>
        <p:nvSpPr>
          <p:cNvPr id="7" name="Rectangle 2"/>
          <p:cNvSpPr txBox="1">
            <a:spLocks noChangeArrowheads="1"/>
          </p:cNvSpPr>
          <p:nvPr/>
        </p:nvSpPr>
        <p:spPr bwMode="auto">
          <a:xfrm>
            <a:off x="611560" y="188639"/>
            <a:ext cx="4104704" cy="100806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sz="4000" kern="0" dirty="0" smtClean="0">
                <a:latin typeface="隶书" panose="02010509060101010101" pitchFamily="49" charset="-122"/>
                <a:ea typeface="隶书" panose="02010509060101010101" pitchFamily="49" charset="-122"/>
              </a:rPr>
              <a:t>3.3.4</a:t>
            </a:r>
            <a:r>
              <a:rPr lang="zh-CN" altLang="en-US" sz="4000" kern="0" dirty="0" smtClean="0">
                <a:latin typeface="隶书" panose="02010509060101010101" pitchFamily="49" charset="-122"/>
                <a:ea typeface="隶书" panose="02010509060101010101" pitchFamily="49" charset="-122"/>
              </a:rPr>
              <a:t>偏好的变化</a:t>
            </a:r>
            <a:endParaRPr lang="zh-CN" altLang="en-US" kern="0" dirty="0">
              <a:latin typeface="隶书" panose="02010509060101010101" pitchFamily="49" charset="-122"/>
              <a:ea typeface="隶书" panose="02010509060101010101" pitchFamily="49" charset="-122"/>
            </a:endParaRPr>
          </a:p>
        </p:txBody>
      </p:sp>
      <p:sp>
        <p:nvSpPr>
          <p:cNvPr id="9" name="Rectangle 3"/>
          <p:cNvSpPr txBox="1">
            <a:spLocks noChangeArrowheads="1"/>
          </p:cNvSpPr>
          <p:nvPr/>
        </p:nvSpPr>
        <p:spPr bwMode="auto">
          <a:xfrm>
            <a:off x="358775" y="4293096"/>
            <a:ext cx="8785225"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lnSpc>
                <a:spcPct val="90000"/>
              </a:lnSpc>
              <a:buNone/>
            </a:pPr>
            <a:r>
              <a:rPr lang="en-US" altLang="zh-CN" b="1" kern="0" dirty="0" smtClean="0">
                <a:solidFill>
                  <a:schemeClr val="accent6">
                    <a:lumMod val="75000"/>
                  </a:schemeClr>
                </a:solidFill>
                <a:latin typeface="楷体_GB2312" pitchFamily="49" charset="-122"/>
                <a:ea typeface="楷体_GB2312" pitchFamily="49" charset="-122"/>
              </a:rPr>
              <a:t>——</a:t>
            </a:r>
            <a:r>
              <a:rPr lang="zh-CN" altLang="en-US" b="1" kern="0" dirty="0" smtClean="0">
                <a:solidFill>
                  <a:schemeClr val="accent6">
                    <a:lumMod val="75000"/>
                  </a:schemeClr>
                </a:solidFill>
                <a:latin typeface="楷体_GB2312" pitchFamily="49" charset="-122"/>
                <a:ea typeface="楷体_GB2312" pitchFamily="49" charset="-122"/>
              </a:rPr>
              <a:t>中国人民对土地似乎有种近乎狂热的偏好，太平天国凭借“均田制”调动了广大人民积极性，席卷半个中国；即使在今天的社会，这种偏好依然推动着中国房地产市场不断升温。</a:t>
            </a:r>
            <a:endParaRPr lang="en-US" altLang="zh-CN" b="1" kern="0" dirty="0" smtClean="0">
              <a:solidFill>
                <a:schemeClr val="accent6">
                  <a:lumMod val="75000"/>
                </a:schemeClr>
              </a:solidFill>
              <a:latin typeface="楷体_GB2312" pitchFamily="49" charset="-122"/>
              <a:ea typeface="楷体_GB2312" pitchFamily="49" charset="-122"/>
            </a:endParaRPr>
          </a:p>
          <a:p>
            <a:pPr marL="0" indent="0">
              <a:lnSpc>
                <a:spcPct val="90000"/>
              </a:lnSpc>
              <a:buNone/>
            </a:pPr>
            <a:r>
              <a:rPr lang="en-US" altLang="zh-CN" b="1" kern="0" dirty="0" smtClean="0">
                <a:solidFill>
                  <a:schemeClr val="accent6">
                    <a:lumMod val="75000"/>
                  </a:schemeClr>
                </a:solidFill>
                <a:latin typeface="楷体_GB2312" pitchFamily="49" charset="-122"/>
                <a:ea typeface="楷体_GB2312" pitchFamily="49" charset="-122"/>
              </a:rPr>
              <a:t>——</a:t>
            </a:r>
            <a:r>
              <a:rPr lang="zh-CN" altLang="en-US" b="1" kern="0" dirty="0">
                <a:solidFill>
                  <a:schemeClr val="accent6">
                    <a:lumMod val="75000"/>
                  </a:schemeClr>
                </a:solidFill>
                <a:latin typeface="楷体_GB2312" pitchFamily="49" charset="-122"/>
                <a:ea typeface="楷体_GB2312" pitchFamily="49" charset="-122"/>
              </a:rPr>
              <a:t>中国偏好储蓄催生了扩大内需政策、家电下乡、</a:t>
            </a:r>
            <a:r>
              <a:rPr lang="zh-CN" altLang="en-US" b="1" kern="0" dirty="0" smtClean="0">
                <a:solidFill>
                  <a:schemeClr val="accent6">
                    <a:lumMod val="75000"/>
                  </a:schemeClr>
                </a:solidFill>
                <a:latin typeface="楷体_GB2312" pitchFamily="49" charset="-122"/>
                <a:ea typeface="楷体_GB2312" pitchFamily="49" charset="-122"/>
              </a:rPr>
              <a:t>以旧换新</a:t>
            </a:r>
            <a:endParaRPr lang="en-US" altLang="zh-CN" b="1" kern="0" dirty="0" smtClean="0">
              <a:solidFill>
                <a:schemeClr val="accent6">
                  <a:lumMod val="75000"/>
                </a:schemeClr>
              </a:solidFill>
              <a:latin typeface="楷体_GB2312" pitchFamily="49" charset="-122"/>
              <a:ea typeface="楷体_GB2312" pitchFamily="49" charset="-122"/>
            </a:endParaRPr>
          </a:p>
          <a:p>
            <a:pPr marL="0" indent="0">
              <a:lnSpc>
                <a:spcPct val="90000"/>
              </a:lnSpc>
              <a:buNone/>
            </a:pPr>
            <a:r>
              <a:rPr lang="en-US" altLang="zh-CN" b="1" kern="0" dirty="0" smtClean="0">
                <a:solidFill>
                  <a:schemeClr val="accent6">
                    <a:lumMod val="75000"/>
                  </a:schemeClr>
                </a:solidFill>
                <a:latin typeface="楷体_GB2312" pitchFamily="49" charset="-122"/>
                <a:ea typeface="楷体_GB2312" pitchFamily="49" charset="-122"/>
              </a:rPr>
              <a:t>——</a:t>
            </a:r>
            <a:r>
              <a:rPr lang="zh-CN" altLang="en-US" b="1" kern="0" dirty="0" smtClean="0">
                <a:solidFill>
                  <a:schemeClr val="accent6">
                    <a:lumMod val="75000"/>
                  </a:schemeClr>
                </a:solidFill>
                <a:latin typeface="楷体_GB2312" pitchFamily="49" charset="-122"/>
                <a:ea typeface="楷体_GB2312" pitchFamily="49" charset="-122"/>
              </a:rPr>
              <a:t>网购热情甚至带来了大量商场的萧条</a:t>
            </a:r>
            <a:endParaRPr lang="zh-CN" altLang="en-US" b="1" kern="0" dirty="0">
              <a:solidFill>
                <a:schemeClr val="accent6">
                  <a:lumMod val="75000"/>
                </a:schemeClr>
              </a:solidFill>
              <a:latin typeface="楷体_GB2312" pitchFamily="49" charset="-122"/>
              <a:ea typeface="楷体_GB2312" pitchFamily="49" charset="-122"/>
            </a:endParaRPr>
          </a:p>
        </p:txBody>
      </p:sp>
    </p:spTree>
    <p:extLst>
      <p:ext uri="{BB962C8B-B14F-4D97-AF65-F5344CB8AC3E}">
        <p14:creationId xmlns:p14="http://schemas.microsoft.com/office/powerpoint/2010/main" val="3581819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847A88C3-0C99-496F-9BAF-B53DA1E187A2}" type="slidenum">
              <a:rPr lang="en-US" altLang="zh-CN"/>
              <a:pPr/>
              <a:t>31</a:t>
            </a:fld>
            <a:endParaRPr lang="en-US" altLang="zh-CN"/>
          </a:p>
        </p:txBody>
      </p:sp>
      <p:pic>
        <p:nvPicPr>
          <p:cNvPr id="58372" name="Picture 4" descr="xian04"/>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763713" y="2205038"/>
            <a:ext cx="2592387" cy="2270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8373" name="Picture 5" descr="usa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2205038"/>
            <a:ext cx="2736850" cy="2200275"/>
          </a:xfrm>
          <a:prstGeom prst="rect">
            <a:avLst/>
          </a:prstGeom>
          <a:noFill/>
          <a:extLst>
            <a:ext uri="{909E8E84-426E-40DD-AFC4-6F175D3DCCD1}">
              <a14:hiddenFill xmlns:a14="http://schemas.microsoft.com/office/drawing/2010/main">
                <a:solidFill>
                  <a:srgbClr val="FFFFFF"/>
                </a:solidFill>
              </a14:hiddenFill>
            </a:ext>
          </a:extLst>
        </p:spPr>
      </p:pic>
      <p:sp>
        <p:nvSpPr>
          <p:cNvPr id="58374" name="Text Box 6"/>
          <p:cNvSpPr txBox="1">
            <a:spLocks noChangeArrowheads="1"/>
          </p:cNvSpPr>
          <p:nvPr/>
        </p:nvSpPr>
        <p:spPr bwMode="auto">
          <a:xfrm>
            <a:off x="1619250" y="5157788"/>
            <a:ext cx="6264275" cy="646331"/>
          </a:xfrm>
          <a:prstGeom prst="rect">
            <a:avLst/>
          </a:prstGeom>
          <a:solidFill>
            <a:schemeClr val="bg1"/>
          </a:solidFill>
          <a:ln>
            <a:noFill/>
          </a:ln>
          <a:effectLst/>
        </p:spPr>
        <p:txBody>
          <a:bodyPr>
            <a:spAutoFit/>
          </a:bodyPr>
          <a:lstStyle/>
          <a:p>
            <a:pPr>
              <a:spcBef>
                <a:spcPct val="50000"/>
              </a:spcBef>
            </a:pPr>
            <a:r>
              <a:rPr lang="zh-CN" altLang="en-US" b="1" dirty="0" smtClean="0">
                <a:solidFill>
                  <a:srgbClr val="7030A0"/>
                </a:solidFill>
                <a:latin typeface="楷体_GB2312" panose="02010609030101010101" pitchFamily="49" charset="-122"/>
                <a:ea typeface="楷体_GB2312" panose="02010609030101010101" pitchFamily="49" charset="-122"/>
              </a:rPr>
              <a:t>“</a:t>
            </a:r>
            <a:r>
              <a:rPr lang="en-US" altLang="zh-CN" b="1" dirty="0" smtClean="0">
                <a:solidFill>
                  <a:srgbClr val="7030A0"/>
                </a:solidFill>
                <a:latin typeface="楷体_GB2312" panose="02010609030101010101" pitchFamily="49" charset="-122"/>
                <a:ea typeface="楷体_GB2312" panose="02010609030101010101" pitchFamily="49" charset="-122"/>
              </a:rPr>
              <a:t>9·11</a:t>
            </a:r>
            <a:r>
              <a:rPr lang="zh-CN" altLang="en-US" b="1" dirty="0" smtClean="0">
                <a:solidFill>
                  <a:srgbClr val="7030A0"/>
                </a:solidFill>
                <a:latin typeface="楷体_GB2312" panose="02010609030101010101" pitchFamily="49" charset="-122"/>
                <a:ea typeface="楷体_GB2312" panose="02010609030101010101" pitchFamily="49" charset="-122"/>
              </a:rPr>
              <a:t>”</a:t>
            </a:r>
            <a:r>
              <a:rPr lang="en-US" altLang="zh-CN" b="1" dirty="0" smtClean="0">
                <a:solidFill>
                  <a:srgbClr val="7030A0"/>
                </a:solidFill>
                <a:latin typeface="楷体_GB2312" panose="02010609030101010101" pitchFamily="49" charset="-122"/>
                <a:ea typeface="楷体_GB2312" panose="02010609030101010101" pitchFamily="49" charset="-122"/>
              </a:rPr>
              <a:t> </a:t>
            </a:r>
            <a:r>
              <a:rPr lang="zh-CN" altLang="en-US" b="1" dirty="0" smtClean="0">
                <a:solidFill>
                  <a:srgbClr val="7030A0"/>
                </a:solidFill>
                <a:latin typeface="楷体_GB2312" panose="02010609030101010101" pitchFamily="49" charset="-122"/>
                <a:ea typeface="楷体_GB2312" panose="02010609030101010101" pitchFamily="49" charset="-122"/>
              </a:rPr>
              <a:t>事件使得美国集中精力发展经济的战略发生转折，开始了漫长的对外反恐战争状态！</a:t>
            </a:r>
            <a:endParaRPr lang="zh-CN" altLang="en-US" b="1" dirty="0">
              <a:solidFill>
                <a:srgbClr val="7030A0"/>
              </a:solidFill>
              <a:latin typeface="楷体_GB2312" panose="02010609030101010101" pitchFamily="49" charset="-122"/>
              <a:ea typeface="楷体_GB2312" panose="02010609030101010101" pitchFamily="49" charset="-122"/>
            </a:endParaRPr>
          </a:p>
        </p:txBody>
      </p:sp>
      <p:sp>
        <p:nvSpPr>
          <p:cNvPr id="9" name="Rectangle 2"/>
          <p:cNvSpPr txBox="1">
            <a:spLocks noChangeArrowheads="1"/>
          </p:cNvSpPr>
          <p:nvPr/>
        </p:nvSpPr>
        <p:spPr bwMode="auto">
          <a:xfrm>
            <a:off x="1115616" y="476696"/>
            <a:ext cx="4104704" cy="100806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sz="4000" kern="0" dirty="0" smtClean="0">
                <a:latin typeface="隶书" panose="02010509060101010101" pitchFamily="49" charset="-122"/>
                <a:ea typeface="隶书" panose="02010509060101010101" pitchFamily="49" charset="-122"/>
              </a:rPr>
              <a:t>3.3.5</a:t>
            </a:r>
            <a:r>
              <a:rPr lang="zh-CN" altLang="en-US" sz="4000" kern="0" dirty="0" smtClean="0">
                <a:latin typeface="隶书" panose="02010509060101010101" pitchFamily="49" charset="-122"/>
                <a:ea typeface="隶书" panose="02010509060101010101" pitchFamily="49" charset="-122"/>
              </a:rPr>
              <a:t>偶然因素</a:t>
            </a:r>
            <a:endParaRPr lang="zh-CN" altLang="en-US" kern="0" dirty="0">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4567765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332656"/>
            <a:ext cx="8305800" cy="883568"/>
          </a:xfrm>
          <a:solidFill>
            <a:srgbClr val="FFFFCC"/>
          </a:solidFill>
        </p:spPr>
        <p:txBody>
          <a:bodyPr/>
          <a:lstStyle/>
          <a:p>
            <a:r>
              <a:rPr lang="zh-CN" altLang="en-US" sz="3200" b="1" dirty="0" smtClean="0">
                <a:latin typeface="黑体" panose="02010609060101010101" pitchFamily="49" charset="-122"/>
                <a:ea typeface="黑体" panose="02010609060101010101" pitchFamily="49" charset="-122"/>
              </a:rPr>
              <a:t>制度需求案例：李昌平</a:t>
            </a:r>
            <a:r>
              <a:rPr lang="en-US" altLang="zh-CN" sz="3200" b="1" dirty="0" smtClean="0">
                <a:latin typeface="黑体" panose="02010609060101010101" pitchFamily="49" charset="-122"/>
                <a:ea typeface="黑体" panose="02010609060101010101" pitchFamily="49" charset="-122"/>
              </a:rPr>
              <a:t>—</a:t>
            </a:r>
            <a:r>
              <a:rPr lang="zh-CN" altLang="en-US" sz="3200" b="1" dirty="0" smtClean="0">
                <a:latin typeface="黑体" panose="02010609060101010101" pitchFamily="49" charset="-122"/>
                <a:ea typeface="黑体" panose="02010609060101010101" pitchFamily="49" charset="-122"/>
              </a:rPr>
              <a:t>我向总理说实话</a:t>
            </a:r>
            <a:endParaRPr lang="zh-CN" altLang="en-US" sz="3200" b="1"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395536" y="1268760"/>
            <a:ext cx="8305800" cy="4114800"/>
          </a:xfrm>
        </p:spPr>
        <p:txBody>
          <a:bodyPr/>
          <a:lstStyle/>
          <a:p>
            <a:r>
              <a:rPr lang="en-US" altLang="zh-CN" sz="2800" b="1" dirty="0" smtClean="0">
                <a:latin typeface="楷体_GB2312" panose="02010609030101010101" pitchFamily="49" charset="-122"/>
                <a:ea typeface="楷体_GB2312" panose="02010609030101010101" pitchFamily="49" charset="-122"/>
              </a:rPr>
              <a:t>2000</a:t>
            </a:r>
            <a:r>
              <a:rPr lang="zh-CN" altLang="en-US" sz="2800" b="1" dirty="0" smtClean="0">
                <a:latin typeface="楷体_GB2312" panose="02010609030101010101" pitchFamily="49" charset="-122"/>
                <a:ea typeface="楷体_GB2312" panose="02010609030101010101" pitchFamily="49" charset="-122"/>
              </a:rPr>
              <a:t>年，湖北省监利县的李昌平以</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一个乡党委书记的心里话</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为题，用扎实的数据、详尽的材料，向时任朱镕基总理反映“农民真苦、农村真穷、农业真危险”的基层情况。中央领导人动情批复，掀起湖北省声势浩大的农村改革，之后该材料被整理成为畅销书</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我向总理说实话</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予以出版，李昌平高票当选</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南方周末</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年度十大人物。</a:t>
            </a:r>
            <a:endParaRPr lang="en-US" altLang="zh-CN" sz="2800" b="1" dirty="0" smtClean="0">
              <a:latin typeface="楷体_GB2312" panose="02010609030101010101" pitchFamily="49" charset="-122"/>
              <a:ea typeface="楷体_GB2312" panose="02010609030101010101" pitchFamily="49" charset="-122"/>
            </a:endParaRPr>
          </a:p>
          <a:p>
            <a:r>
              <a:rPr lang="zh-CN" altLang="en-US" sz="2800" b="1" dirty="0" smtClean="0">
                <a:latin typeface="楷体_GB2312" panose="02010609030101010101" pitchFamily="49" charset="-122"/>
                <a:ea typeface="楷体_GB2312" panose="02010609030101010101" pitchFamily="49" charset="-122"/>
              </a:rPr>
              <a:t>中国农村呼唤新政！</a:t>
            </a:r>
            <a:endParaRPr lang="zh-CN" altLang="en-US" sz="2800" b="1" dirty="0">
              <a:latin typeface="楷体_GB2312" panose="02010609030101010101" pitchFamily="49" charset="-122"/>
              <a:ea typeface="楷体_GB2312" panose="02010609030101010101" pitchFamily="49" charset="-122"/>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4581128"/>
            <a:ext cx="209550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993057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305800" cy="1143000"/>
          </a:xfrm>
          <a:solidFill>
            <a:schemeClr val="accent1">
              <a:lumMod val="20000"/>
              <a:lumOff val="80000"/>
            </a:schemeClr>
          </a:solidFill>
        </p:spPr>
        <p:txBody>
          <a:bodyPr/>
          <a:lstStyle/>
          <a:p>
            <a:r>
              <a:rPr lang="en-US" altLang="zh-CN" dirty="0" smtClean="0">
                <a:solidFill>
                  <a:schemeClr val="tx1"/>
                </a:solidFill>
                <a:latin typeface="黑体" panose="02010609060101010101" pitchFamily="49" charset="-122"/>
                <a:ea typeface="黑体" panose="02010609060101010101" pitchFamily="49" charset="-122"/>
              </a:rPr>
              <a:t>3.4</a:t>
            </a:r>
            <a:r>
              <a:rPr lang="zh-CN" altLang="en-US" dirty="0" smtClean="0">
                <a:solidFill>
                  <a:schemeClr val="tx1"/>
                </a:solidFill>
                <a:latin typeface="黑体" panose="02010609060101010101" pitchFamily="49" charset="-122"/>
                <a:ea typeface="黑体" panose="02010609060101010101" pitchFamily="49" charset="-122"/>
              </a:rPr>
              <a:t>制度供给的含义</a:t>
            </a:r>
            <a:endParaRPr lang="zh-CN" altLang="en-US" dirty="0">
              <a:solidFill>
                <a:schemeClr val="tx1"/>
              </a:solidFill>
              <a:latin typeface="黑体" panose="02010609060101010101" pitchFamily="49" charset="-122"/>
              <a:ea typeface="黑体" panose="02010609060101010101" pitchFamily="49" charset="-122"/>
            </a:endParaRPr>
          </a:p>
        </p:txBody>
      </p:sp>
      <p:sp>
        <p:nvSpPr>
          <p:cNvPr id="3" name="文本占位符 2"/>
          <p:cNvSpPr>
            <a:spLocks noGrp="1"/>
          </p:cNvSpPr>
          <p:nvPr>
            <p:ph type="body" idx="1"/>
          </p:nvPr>
        </p:nvSpPr>
        <p:spPr>
          <a:xfrm>
            <a:off x="381000" y="1676400"/>
            <a:ext cx="8305800" cy="4488904"/>
          </a:xfrm>
        </p:spPr>
        <p:txBody>
          <a:bodyPr/>
          <a:lstStyle/>
          <a:p>
            <a:r>
              <a:rPr lang="zh-CN" altLang="en-US" dirty="0">
                <a:latin typeface="楷体_GB2312" panose="02010609030101010101" pitchFamily="49" charset="-122"/>
                <a:ea typeface="楷体_GB2312" panose="02010609030101010101" pitchFamily="49" charset="-122"/>
              </a:rPr>
              <a:t>制度变迁供给</a:t>
            </a:r>
            <a:r>
              <a:rPr lang="zh-CN" altLang="en-US" b="1" dirty="0" smtClean="0">
                <a:latin typeface="楷体_GB2312" panose="02010609030101010101" pitchFamily="49" charset="-122"/>
                <a:ea typeface="楷体_GB2312" panose="02010609030101010101" pitchFamily="49" charset="-122"/>
              </a:rPr>
              <a:t>是新制度的“生产者”在</a:t>
            </a:r>
            <a:r>
              <a:rPr lang="zh-CN" altLang="en-US" b="1" dirty="0">
                <a:latin typeface="楷体_GB2312" panose="02010609030101010101" pitchFamily="49" charset="-122"/>
                <a:ea typeface="楷体_GB2312" panose="02010609030101010101" pitchFamily="49" charset="-122"/>
              </a:rPr>
              <a:t>制度变迁收益大于制度变迁成本的情况下设计和推动制度变迁的活动，</a:t>
            </a:r>
            <a:r>
              <a:rPr lang="zh-CN" altLang="en-US" dirty="0">
                <a:latin typeface="楷体_GB2312" panose="02010609030101010101" pitchFamily="49" charset="-122"/>
                <a:ea typeface="楷体_GB2312" panose="02010609030101010101" pitchFamily="49" charset="-122"/>
              </a:rPr>
              <a:t>它是制度变迁的生产者供给愿望和能力的统一。 </a:t>
            </a:r>
            <a:endParaRPr lang="en-US" altLang="zh-CN" dirty="0" smtClean="0">
              <a:latin typeface="楷体_GB2312" panose="02010609030101010101" pitchFamily="49" charset="-122"/>
              <a:ea typeface="楷体_GB2312" panose="02010609030101010101" pitchFamily="49" charset="-122"/>
            </a:endParaRPr>
          </a:p>
          <a:p>
            <a:r>
              <a:rPr lang="zh-CN" altLang="en-US" dirty="0">
                <a:latin typeface="楷体_GB2312" panose="02010609030101010101" pitchFamily="49" charset="-122"/>
                <a:ea typeface="楷体_GB2312" panose="02010609030101010101" pitchFamily="49" charset="-122"/>
              </a:rPr>
              <a:t>制度供给即是制度的生产</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它是对制度需求的回应。</a:t>
            </a:r>
            <a:r>
              <a:rPr lang="zh-CN" altLang="en-US" b="1" dirty="0">
                <a:latin typeface="楷体_GB2312" panose="02010609030101010101" pitchFamily="49" charset="-122"/>
                <a:ea typeface="楷体_GB2312" panose="02010609030101010101" pitchFamily="49" charset="-122"/>
              </a:rPr>
              <a:t>制度可能由人们有意地设计</a:t>
            </a:r>
            <a:r>
              <a:rPr lang="zh-CN" altLang="en-US" b="1" dirty="0" smtClean="0">
                <a:latin typeface="楷体_GB2312" panose="02010609030101010101" pitchFamily="49" charset="-122"/>
                <a:ea typeface="楷体_GB2312" panose="02010609030101010101" pitchFamily="49" charset="-122"/>
              </a:rPr>
              <a:t>出来（熔断）</a:t>
            </a:r>
            <a:r>
              <a:rPr lang="en-US" altLang="zh-CN" b="1" dirty="0" smtClean="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也可能是逐步演化而自发形成</a:t>
            </a:r>
            <a:r>
              <a:rPr lang="en-US" altLang="zh-CN" b="1"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这两种不同的制度供给方式有不同的特点</a:t>
            </a:r>
            <a:r>
              <a:rPr lang="zh-CN" altLang="en-US" dirty="0" smtClean="0">
                <a:latin typeface="楷体_GB2312" panose="02010609030101010101" pitchFamily="49" charset="-122"/>
                <a:ea typeface="楷体_GB2312" panose="02010609030101010101" pitchFamily="49" charset="-122"/>
              </a:rPr>
              <a:t>。</a:t>
            </a:r>
            <a:endParaRPr lang="en-US" altLang="zh-CN" dirty="0" smtClean="0">
              <a:latin typeface="楷体_GB2312" panose="02010609030101010101" pitchFamily="49" charset="-122"/>
              <a:ea typeface="楷体_GB2312" panose="02010609030101010101" pitchFamily="49" charset="-122"/>
            </a:endParaRPr>
          </a:p>
          <a:p>
            <a:r>
              <a:rPr lang="zh-CN" altLang="en-US" dirty="0">
                <a:latin typeface="楷体_GB2312" panose="02010609030101010101" pitchFamily="49" charset="-122"/>
                <a:ea typeface="楷体_GB2312" panose="02010609030101010101" pitchFamily="49" charset="-122"/>
              </a:rPr>
              <a:t>正式制度作为管束群体竞争与合作关系的正式规则</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它对群体的所有成员具有强制</a:t>
            </a:r>
            <a:r>
              <a:rPr lang="zh-CN" altLang="en-US" dirty="0" smtClean="0">
                <a:latin typeface="楷体_GB2312" panose="02010609030101010101" pitchFamily="49" charset="-122"/>
                <a:ea typeface="楷体_GB2312" panose="02010609030101010101" pitchFamily="49" charset="-122"/>
              </a:rPr>
              <a:t>约束力（法律、法规）。 </a:t>
            </a:r>
            <a:endParaRPr lang="zh-CN" altLang="en-US" dirty="0">
              <a:latin typeface="楷体_GB2312" panose="02010609030101010101" pitchFamily="49" charset="-122"/>
              <a:ea typeface="楷体_GB2312" panose="02010609030101010101" pitchFamily="49" charset="-122"/>
            </a:endParaRPr>
          </a:p>
          <a:p>
            <a:r>
              <a:rPr lang="zh-CN" altLang="en-US" dirty="0">
                <a:latin typeface="楷体_GB2312" panose="02010609030101010101" pitchFamily="49" charset="-122"/>
                <a:ea typeface="楷体_GB2312" panose="02010609030101010101" pitchFamily="49" charset="-122"/>
              </a:rPr>
              <a:t>非正式制度是自我实施的行为规则</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是人类社会文化传统的重要组成部分</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它是个人行为扩散的</a:t>
            </a:r>
            <a:r>
              <a:rPr lang="zh-CN" altLang="en-US" dirty="0" smtClean="0">
                <a:latin typeface="楷体_GB2312" panose="02010609030101010101" pitchFamily="49" charset="-122"/>
                <a:ea typeface="楷体_GB2312" panose="02010609030101010101" pitchFamily="49" charset="-122"/>
              </a:rPr>
              <a:t>结果</a:t>
            </a:r>
            <a:r>
              <a:rPr lang="zh-CN" altLang="en-US" b="1"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排队、按号入座）</a:t>
            </a:r>
            <a:r>
              <a:rPr lang="zh-CN" altLang="en-US" dirty="0" smtClean="0">
                <a:latin typeface="楷体_GB2312" panose="02010609030101010101" pitchFamily="49" charset="-122"/>
                <a:ea typeface="楷体_GB2312" panose="02010609030101010101" pitchFamily="49" charset="-122"/>
              </a:rPr>
              <a:t>。 </a:t>
            </a:r>
            <a:endParaRPr lang="en-US" altLang="zh-CN" dirty="0" smtClean="0">
              <a:latin typeface="楷体_GB2312" panose="02010609030101010101" pitchFamily="49" charset="-122"/>
              <a:ea typeface="楷体_GB2312" panose="02010609030101010101" pitchFamily="49" charset="-122"/>
            </a:endParaRPr>
          </a:p>
          <a:p>
            <a:endParaRPr lang="zh-CN" altLang="en-US" b="1" dirty="0">
              <a:latin typeface="楷体_GB2312" panose="02010609030101010101" pitchFamily="49" charset="-122"/>
              <a:ea typeface="楷体_GB2312" panose="02010609030101010101" pitchFamily="49" charset="-122"/>
            </a:endParaRPr>
          </a:p>
          <a:p>
            <a:endParaRPr lang="zh-CN" altLang="en-US" b="1"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25742590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0856" y="1988840"/>
            <a:ext cx="7355160" cy="3192760"/>
          </a:xfrm>
        </p:spPr>
        <p:txBody>
          <a:bodyPr/>
          <a:lstStyle/>
          <a:p>
            <a:r>
              <a:rPr lang="zh-CN" altLang="en-US" sz="3200" b="1" dirty="0" smtClean="0">
                <a:latin typeface="楷体_GB2312" panose="02010609030101010101" pitchFamily="49" charset="-122"/>
                <a:ea typeface="楷体_GB2312" panose="02010609030101010101" pitchFamily="49" charset="-122"/>
              </a:rPr>
              <a:t>宪法秩序</a:t>
            </a:r>
            <a:endParaRPr lang="en-US" altLang="zh-CN" sz="3200" b="1" dirty="0" smtClean="0">
              <a:latin typeface="楷体_GB2312" panose="02010609030101010101" pitchFamily="49" charset="-122"/>
              <a:ea typeface="楷体_GB2312" panose="02010609030101010101" pitchFamily="49" charset="-122"/>
            </a:endParaRPr>
          </a:p>
          <a:p>
            <a:r>
              <a:rPr lang="zh-CN" altLang="en-US" sz="3200" b="1" dirty="0" smtClean="0">
                <a:latin typeface="楷体_GB2312" panose="02010609030101010101" pitchFamily="49" charset="-122"/>
                <a:ea typeface="楷体_GB2312" panose="02010609030101010101" pitchFamily="49" charset="-122"/>
              </a:rPr>
              <a:t>行为规范准则</a:t>
            </a:r>
            <a:endParaRPr lang="zh-CN" altLang="en-US" sz="3200" b="1" dirty="0">
              <a:latin typeface="楷体_GB2312" panose="02010609030101010101" pitchFamily="49" charset="-122"/>
              <a:ea typeface="楷体_GB2312" panose="02010609030101010101" pitchFamily="49" charset="-122"/>
            </a:endParaRPr>
          </a:p>
          <a:p>
            <a:r>
              <a:rPr lang="zh-CN" altLang="en-US" sz="3200" b="1" dirty="0" smtClean="0">
                <a:latin typeface="楷体_GB2312" panose="02010609030101010101" pitchFamily="49" charset="-122"/>
                <a:ea typeface="楷体_GB2312" panose="02010609030101010101" pitchFamily="49" charset="-122"/>
              </a:rPr>
              <a:t>制度</a:t>
            </a:r>
            <a:r>
              <a:rPr lang="zh-CN" altLang="en-US" sz="3200" b="1" dirty="0">
                <a:latin typeface="楷体_GB2312" panose="02010609030101010101" pitchFamily="49" charset="-122"/>
                <a:ea typeface="楷体_GB2312" panose="02010609030101010101" pitchFamily="49" charset="-122"/>
              </a:rPr>
              <a:t>设计</a:t>
            </a:r>
            <a:r>
              <a:rPr lang="zh-CN" altLang="en-US" sz="3200" b="1" dirty="0" smtClean="0">
                <a:latin typeface="楷体_GB2312" panose="02010609030101010101" pitchFamily="49" charset="-122"/>
                <a:ea typeface="楷体_GB2312" panose="02010609030101010101" pitchFamily="49" charset="-122"/>
              </a:rPr>
              <a:t>成本和实施新制度的成本 </a:t>
            </a:r>
            <a:endParaRPr lang="zh-CN" altLang="en-US" sz="3200" b="1" dirty="0">
              <a:latin typeface="楷体_GB2312" panose="02010609030101010101" pitchFamily="49" charset="-122"/>
              <a:ea typeface="楷体_GB2312" panose="02010609030101010101" pitchFamily="49" charset="-122"/>
            </a:endParaRPr>
          </a:p>
          <a:p>
            <a:r>
              <a:rPr lang="zh-CN" altLang="en-US" sz="3200" b="1" dirty="0" smtClean="0">
                <a:latin typeface="楷体_GB2312" panose="02010609030101010101" pitchFamily="49" charset="-122"/>
                <a:ea typeface="楷体_GB2312" panose="02010609030101010101" pitchFamily="49" charset="-122"/>
              </a:rPr>
              <a:t>现有</a:t>
            </a:r>
            <a:r>
              <a:rPr lang="zh-CN" altLang="en-US" sz="3200" b="1" dirty="0">
                <a:latin typeface="楷体_GB2312" panose="02010609030101010101" pitchFamily="49" charset="-122"/>
                <a:ea typeface="楷体_GB2312" panose="02010609030101010101" pitchFamily="49" charset="-122"/>
              </a:rPr>
              <a:t>知识</a:t>
            </a:r>
            <a:r>
              <a:rPr lang="zh-CN" altLang="en-US" sz="3200" b="1" dirty="0" smtClean="0">
                <a:latin typeface="楷体_GB2312" panose="02010609030101010101" pitchFamily="49" charset="-122"/>
                <a:ea typeface="楷体_GB2312" panose="02010609030101010101" pitchFamily="49" charset="-122"/>
              </a:rPr>
              <a:t>积累和社会科学</a:t>
            </a:r>
            <a:r>
              <a:rPr lang="zh-CN" altLang="en-US" sz="3200" b="1" dirty="0">
                <a:latin typeface="楷体_GB2312" panose="02010609030101010101" pitchFamily="49" charset="-122"/>
                <a:ea typeface="楷体_GB2312" panose="02010609030101010101" pitchFamily="49" charset="-122"/>
              </a:rPr>
              <a:t>知识的</a:t>
            </a:r>
            <a:r>
              <a:rPr lang="zh-CN" altLang="en-US" sz="3200" b="1" dirty="0" smtClean="0">
                <a:latin typeface="楷体_GB2312" panose="02010609030101010101" pitchFamily="49" charset="-122"/>
                <a:ea typeface="楷体_GB2312" panose="02010609030101010101" pitchFamily="49" charset="-122"/>
              </a:rPr>
              <a:t>进步 </a:t>
            </a:r>
            <a:endParaRPr lang="zh-CN" altLang="en-US" sz="3200" b="1" dirty="0">
              <a:latin typeface="楷体_GB2312" panose="02010609030101010101" pitchFamily="49" charset="-122"/>
              <a:ea typeface="楷体_GB2312" panose="02010609030101010101" pitchFamily="49" charset="-122"/>
            </a:endParaRPr>
          </a:p>
          <a:p>
            <a:r>
              <a:rPr lang="zh-CN" altLang="en-US" sz="3200" b="1" dirty="0" smtClean="0">
                <a:latin typeface="楷体_GB2312" panose="02010609030101010101" pitchFamily="49" charset="-122"/>
                <a:ea typeface="楷体_GB2312" panose="02010609030101010101" pitchFamily="49" charset="-122"/>
              </a:rPr>
              <a:t>上层</a:t>
            </a:r>
            <a:r>
              <a:rPr lang="zh-CN" altLang="en-US" sz="3200" b="1" dirty="0">
                <a:latin typeface="楷体_GB2312" panose="02010609030101010101" pitchFamily="49" charset="-122"/>
                <a:ea typeface="楷体_GB2312" panose="02010609030101010101" pitchFamily="49" charset="-122"/>
              </a:rPr>
              <a:t>决策者的净利益 </a:t>
            </a:r>
          </a:p>
        </p:txBody>
      </p:sp>
      <p:sp>
        <p:nvSpPr>
          <p:cNvPr id="4" name="标题 1"/>
          <p:cNvSpPr txBox="1">
            <a:spLocks/>
          </p:cNvSpPr>
          <p:nvPr/>
        </p:nvSpPr>
        <p:spPr bwMode="auto">
          <a:xfrm>
            <a:off x="395536" y="332656"/>
            <a:ext cx="8305800" cy="1143000"/>
          </a:xfrm>
          <a:prstGeom prst="rect">
            <a:avLst/>
          </a:prstGeom>
          <a:solidFill>
            <a:schemeClr val="accent1">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kern="0" dirty="0" smtClean="0">
                <a:solidFill>
                  <a:schemeClr val="tx1"/>
                </a:solidFill>
                <a:latin typeface="黑体" panose="02010609060101010101" pitchFamily="49" charset="-122"/>
                <a:ea typeface="黑体" panose="02010609060101010101" pitchFamily="49" charset="-122"/>
              </a:rPr>
              <a:t>3.5 </a:t>
            </a:r>
            <a:r>
              <a:rPr lang="zh-CN" altLang="en-US" kern="0" dirty="0" smtClean="0">
                <a:solidFill>
                  <a:schemeClr val="tx1"/>
                </a:solidFill>
                <a:latin typeface="黑体" panose="02010609060101010101" pitchFamily="49" charset="-122"/>
                <a:ea typeface="黑体" panose="02010609060101010101" pitchFamily="49" charset="-122"/>
              </a:rPr>
              <a:t>制度供给的影响因素</a:t>
            </a:r>
            <a:endParaRPr lang="zh-CN" altLang="en-US" kern="0" dirty="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6279426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4E18192-8AC4-41C4-A365-669AF7D1D388}" type="slidenum">
              <a:rPr lang="en-US" altLang="zh-CN"/>
              <a:pPr/>
              <a:t>35</a:t>
            </a:fld>
            <a:endParaRPr lang="en-US" altLang="zh-CN"/>
          </a:p>
        </p:txBody>
      </p:sp>
      <p:sp>
        <p:nvSpPr>
          <p:cNvPr id="7" name="Rectangle 2"/>
          <p:cNvSpPr txBox="1">
            <a:spLocks noChangeArrowheads="1"/>
          </p:cNvSpPr>
          <p:nvPr/>
        </p:nvSpPr>
        <p:spPr bwMode="auto">
          <a:xfrm>
            <a:off x="611560" y="188639"/>
            <a:ext cx="7272808" cy="792089"/>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sz="4000" kern="0" dirty="0" smtClean="0">
                <a:latin typeface="隶书" panose="02010509060101010101" pitchFamily="49" charset="-122"/>
                <a:ea typeface="隶书" panose="02010509060101010101" pitchFamily="49" charset="-122"/>
              </a:rPr>
              <a:t>3.4.1</a:t>
            </a:r>
            <a:r>
              <a:rPr lang="zh-CN" altLang="en-US" sz="4000" kern="0" dirty="0" smtClean="0">
                <a:latin typeface="隶书" panose="02010509060101010101" pitchFamily="49" charset="-122"/>
                <a:ea typeface="隶书" panose="02010509060101010101" pitchFamily="49" charset="-122"/>
              </a:rPr>
              <a:t>宪法秩序</a:t>
            </a:r>
            <a:endParaRPr lang="zh-CN" altLang="en-US" kern="0" dirty="0">
              <a:latin typeface="隶书" panose="02010509060101010101" pitchFamily="49" charset="-122"/>
              <a:ea typeface="隶书" panose="02010509060101010101" pitchFamily="49" charset="-122"/>
            </a:endParaRPr>
          </a:p>
        </p:txBody>
      </p:sp>
      <p:sp>
        <p:nvSpPr>
          <p:cNvPr id="8" name="Rectangle 3"/>
          <p:cNvSpPr txBox="1">
            <a:spLocks noChangeArrowheads="1"/>
          </p:cNvSpPr>
          <p:nvPr/>
        </p:nvSpPr>
        <p:spPr bwMode="auto">
          <a:xfrm>
            <a:off x="539552" y="980728"/>
            <a:ext cx="8229600"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b="1" kern="0" dirty="0" smtClean="0">
                <a:latin typeface="楷体_GB2312" pitchFamily="49" charset="-122"/>
                <a:ea typeface="楷体_GB2312" pitchFamily="49" charset="-122"/>
              </a:rPr>
              <a:t>宪法秩序对制度变迁供给的影响：</a:t>
            </a:r>
            <a:endParaRPr lang="en-US" altLang="zh-CN" b="1" kern="0" dirty="0" smtClean="0">
              <a:latin typeface="楷体_GB2312" pitchFamily="49" charset="-122"/>
              <a:ea typeface="楷体_GB2312" pitchFamily="49" charset="-122"/>
            </a:endParaRPr>
          </a:p>
          <a:p>
            <a:pPr marL="0" indent="0">
              <a:buNone/>
            </a:pPr>
            <a:r>
              <a:rPr lang="zh-CN" altLang="en-US" kern="0" dirty="0" smtClean="0">
                <a:latin typeface="楷体_GB2312" pitchFamily="49" charset="-122"/>
                <a:ea typeface="楷体_GB2312" pitchFamily="49" charset="-122"/>
              </a:rPr>
              <a:t>    </a:t>
            </a:r>
            <a:r>
              <a:rPr lang="zh-CN" altLang="en-US" sz="2000" kern="0" dirty="0" smtClean="0">
                <a:latin typeface="楷体_GB2312" pitchFamily="49" charset="-122"/>
                <a:ea typeface="楷体_GB2312" pitchFamily="49" charset="-122"/>
              </a:rPr>
              <a:t>①宪法秩序通过对政体和基本经济制度的明确规定来界定制度创新的方向和形式。</a:t>
            </a:r>
            <a:endParaRPr lang="en-US" altLang="zh-CN" sz="2000" kern="0" dirty="0" smtClean="0">
              <a:latin typeface="楷体_GB2312" pitchFamily="49" charset="-122"/>
              <a:ea typeface="楷体_GB2312" pitchFamily="49" charset="-122"/>
            </a:endParaRPr>
          </a:p>
          <a:p>
            <a:pPr marL="0" indent="0">
              <a:buNone/>
            </a:pPr>
            <a:r>
              <a:rPr lang="zh-CN" altLang="en-US" sz="2000" kern="0" dirty="0" smtClean="0">
                <a:latin typeface="楷体_GB2312" pitchFamily="49" charset="-122"/>
                <a:ea typeface="楷体_GB2312" pitchFamily="49" charset="-122"/>
              </a:rPr>
              <a:t>    ②如果由宪法界定的权力结构使政府处于绝对支配地位，且缺乏有效的监督机制，非政府主体的权限很小，那么，当政府垄断行政权力、立法权和资源配置权后，一方面因政府可借助宪法赋予的权限达到经济和政治目标，为维护既得利益，政府主动进行制度创新的愿望可能会不强，除非遇到外部因素的冲击；另一方面因非政府主体的权限极小，它在利益诱导下的某种制度创新需求，因缺乏实践机会或与政府谈判力量过小，而难以通过权利中心成为现实的制度供给。</a:t>
            </a:r>
            <a:endParaRPr lang="en-US" altLang="zh-CN" sz="2000" kern="0" dirty="0" smtClean="0">
              <a:latin typeface="楷体_GB2312" pitchFamily="49" charset="-122"/>
              <a:ea typeface="楷体_GB2312" pitchFamily="49" charset="-122"/>
            </a:endParaRPr>
          </a:p>
          <a:p>
            <a:pPr marL="0" indent="0">
              <a:buNone/>
            </a:pPr>
            <a:r>
              <a:rPr lang="en-US" altLang="zh-CN" sz="2000" kern="0" dirty="0">
                <a:latin typeface="楷体_GB2312" pitchFamily="49" charset="-122"/>
                <a:ea typeface="楷体_GB2312" pitchFamily="49" charset="-122"/>
              </a:rPr>
              <a:t> </a:t>
            </a:r>
            <a:r>
              <a:rPr lang="en-US" altLang="zh-CN" sz="2000" kern="0" dirty="0" smtClean="0">
                <a:latin typeface="楷体_GB2312" pitchFamily="49" charset="-122"/>
                <a:ea typeface="楷体_GB2312" pitchFamily="49" charset="-122"/>
              </a:rPr>
              <a:t>   </a:t>
            </a:r>
            <a:r>
              <a:rPr lang="zh-CN" altLang="en-US" sz="2000" kern="0" dirty="0" smtClean="0">
                <a:latin typeface="楷体_GB2312" pitchFamily="49" charset="-122"/>
                <a:ea typeface="楷体_GB2312" pitchFamily="49" charset="-122"/>
              </a:rPr>
              <a:t>③宪法秩序将直接影响进入政治体系的成本和建立新制度的立法基础的难易度。</a:t>
            </a:r>
            <a:endParaRPr lang="zh-CN" altLang="en-US" sz="2000" kern="0" dirty="0">
              <a:latin typeface="楷体_GB2312" pitchFamily="49" charset="-122"/>
              <a:ea typeface="楷体_GB2312" pitchFamily="49" charset="-122"/>
            </a:endParaRPr>
          </a:p>
        </p:txBody>
      </p:sp>
      <p:sp>
        <p:nvSpPr>
          <p:cNvPr id="5" name="Rectangle 3"/>
          <p:cNvSpPr txBox="1">
            <a:spLocks noChangeArrowheads="1"/>
          </p:cNvSpPr>
          <p:nvPr/>
        </p:nvSpPr>
        <p:spPr bwMode="auto">
          <a:xfrm>
            <a:off x="539552" y="5085184"/>
            <a:ext cx="8229600"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lnSpc>
                <a:spcPct val="80000"/>
              </a:lnSpc>
              <a:buNone/>
            </a:pPr>
            <a:r>
              <a:rPr lang="en-US" altLang="zh-CN" b="1" kern="0" dirty="0" smtClean="0">
                <a:solidFill>
                  <a:srgbClr val="7030A0"/>
                </a:solidFill>
              </a:rPr>
              <a:t>——</a:t>
            </a:r>
            <a:r>
              <a:rPr lang="zh-CN" altLang="en-US" b="1" kern="0" dirty="0" smtClean="0">
                <a:solidFill>
                  <a:srgbClr val="7030A0"/>
                </a:solidFill>
              </a:rPr>
              <a:t>美国枪击案件频发，禁枪法案却举步维艰，重要原因在于宪法赋予美国人民合法持有枪支的权力</a:t>
            </a:r>
            <a:r>
              <a:rPr lang="zh-CN" altLang="en-US" b="1" kern="0" dirty="0" smtClean="0">
                <a:solidFill>
                  <a:srgbClr val="7030A0"/>
                </a:solidFill>
              </a:rPr>
              <a:t>。</a:t>
            </a:r>
            <a:endParaRPr lang="en-US" altLang="zh-CN" b="1" kern="0" dirty="0" smtClean="0">
              <a:solidFill>
                <a:srgbClr val="7030A0"/>
              </a:solidFill>
            </a:endParaRPr>
          </a:p>
          <a:p>
            <a:pPr marL="0" indent="0">
              <a:lnSpc>
                <a:spcPct val="80000"/>
              </a:lnSpc>
              <a:buNone/>
            </a:pPr>
            <a:r>
              <a:rPr lang="en-US" altLang="zh-CN" b="1" kern="0" dirty="0" smtClean="0">
                <a:solidFill>
                  <a:srgbClr val="7030A0"/>
                </a:solidFill>
              </a:rPr>
              <a:t>——</a:t>
            </a:r>
            <a:r>
              <a:rPr lang="zh-CN" altLang="en-US" b="1" kern="0" dirty="0" smtClean="0">
                <a:solidFill>
                  <a:srgbClr val="7030A0"/>
                </a:solidFill>
              </a:rPr>
              <a:t>依据宪法，我们必须依靠群众，因为人民当家作主</a:t>
            </a:r>
            <a:endParaRPr lang="zh-CN" altLang="en-US" b="1" kern="0" dirty="0">
              <a:solidFill>
                <a:srgbClr val="7030A0"/>
              </a:solidFill>
            </a:endParaRPr>
          </a:p>
        </p:txBody>
      </p:sp>
    </p:spTree>
    <p:extLst>
      <p:ext uri="{BB962C8B-B14F-4D97-AF65-F5344CB8AC3E}">
        <p14:creationId xmlns:p14="http://schemas.microsoft.com/office/powerpoint/2010/main" val="3517599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4E18192-8AC4-41C4-A365-669AF7D1D388}" type="slidenum">
              <a:rPr lang="en-US" altLang="zh-CN"/>
              <a:pPr/>
              <a:t>36</a:t>
            </a:fld>
            <a:endParaRPr lang="en-US" altLang="zh-CN"/>
          </a:p>
        </p:txBody>
      </p:sp>
      <p:sp>
        <p:nvSpPr>
          <p:cNvPr id="7" name="Rectangle 2"/>
          <p:cNvSpPr txBox="1">
            <a:spLocks noChangeArrowheads="1"/>
          </p:cNvSpPr>
          <p:nvPr/>
        </p:nvSpPr>
        <p:spPr bwMode="auto">
          <a:xfrm>
            <a:off x="611560" y="188639"/>
            <a:ext cx="7272808" cy="792089"/>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sz="4000" kern="0" dirty="0" smtClean="0">
                <a:latin typeface="隶书" panose="02010509060101010101" pitchFamily="49" charset="-122"/>
                <a:ea typeface="隶书" panose="02010509060101010101" pitchFamily="49" charset="-122"/>
              </a:rPr>
              <a:t>3.4.2</a:t>
            </a:r>
            <a:r>
              <a:rPr lang="zh-CN" altLang="en-US" sz="4000" kern="0" dirty="0" smtClean="0">
                <a:latin typeface="隶书" panose="02010509060101010101" pitchFamily="49" charset="-122"/>
                <a:ea typeface="隶书" panose="02010509060101010101" pitchFamily="49" charset="-122"/>
              </a:rPr>
              <a:t>行为规范准则</a:t>
            </a:r>
            <a:endParaRPr lang="zh-CN" altLang="en-US" kern="0" dirty="0">
              <a:latin typeface="隶书" panose="02010509060101010101" pitchFamily="49" charset="-122"/>
              <a:ea typeface="隶书" panose="02010509060101010101" pitchFamily="49" charset="-122"/>
            </a:endParaRPr>
          </a:p>
        </p:txBody>
      </p:sp>
      <p:sp>
        <p:nvSpPr>
          <p:cNvPr id="8" name="Rectangle 3"/>
          <p:cNvSpPr txBox="1">
            <a:spLocks noChangeArrowheads="1"/>
          </p:cNvSpPr>
          <p:nvPr/>
        </p:nvSpPr>
        <p:spPr bwMode="auto">
          <a:xfrm>
            <a:off x="539552" y="1340768"/>
            <a:ext cx="8229600" cy="468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sz="3200" b="1" kern="0" dirty="0">
                <a:latin typeface="楷体_GB2312" pitchFamily="49" charset="-122"/>
                <a:ea typeface="楷体_GB2312" pitchFamily="49" charset="-122"/>
              </a:rPr>
              <a:t>规范性行为准则受特定社会文化传统和意识形态的强烈</a:t>
            </a:r>
            <a:r>
              <a:rPr lang="zh-CN" altLang="en-US" sz="3200" b="1" kern="0" dirty="0" smtClean="0">
                <a:latin typeface="楷体_GB2312" pitchFamily="49" charset="-122"/>
                <a:ea typeface="楷体_GB2312" pitchFamily="49" charset="-122"/>
              </a:rPr>
              <a:t>影响，对</a:t>
            </a:r>
            <a:r>
              <a:rPr lang="zh-CN" altLang="en-US" sz="3200" b="1" kern="0" dirty="0">
                <a:latin typeface="楷体_GB2312" pitchFamily="49" charset="-122"/>
                <a:ea typeface="楷体_GB2312" pitchFamily="49" charset="-122"/>
              </a:rPr>
              <a:t>制度变迁的供给会产生深刻的影响</a:t>
            </a:r>
            <a:r>
              <a:rPr lang="zh-CN" altLang="en-US" sz="3200" b="1" kern="0" dirty="0" smtClean="0">
                <a:latin typeface="楷体_GB2312" pitchFamily="49" charset="-122"/>
                <a:ea typeface="楷体_GB2312" pitchFamily="49" charset="-122"/>
              </a:rPr>
              <a:t>。</a:t>
            </a:r>
            <a:endParaRPr lang="en-US" altLang="zh-CN" sz="3200" b="1" kern="0" dirty="0" smtClean="0">
              <a:latin typeface="楷体_GB2312" pitchFamily="49" charset="-122"/>
              <a:ea typeface="楷体_GB2312" pitchFamily="49" charset="-122"/>
            </a:endParaRPr>
          </a:p>
          <a:p>
            <a:r>
              <a:rPr lang="en-US" altLang="zh-CN" sz="3200" b="1" kern="0" dirty="0" smtClean="0">
                <a:latin typeface="楷体_GB2312" pitchFamily="49" charset="-122"/>
                <a:ea typeface="楷体_GB2312" pitchFamily="49" charset="-122"/>
              </a:rPr>
              <a:t>——</a:t>
            </a:r>
            <a:r>
              <a:rPr lang="zh-CN" altLang="en-US" sz="3200" b="1" kern="0" dirty="0" smtClean="0">
                <a:latin typeface="楷体_GB2312" pitchFamily="49" charset="-122"/>
                <a:ea typeface="楷体_GB2312" pitchFamily="49" charset="-122"/>
              </a:rPr>
              <a:t>美国能搞家庭联产承包责任制吗？</a:t>
            </a:r>
            <a:endParaRPr lang="en-US" altLang="zh-CN" sz="3200" b="1" kern="0" dirty="0" smtClean="0">
              <a:latin typeface="楷体_GB2312" pitchFamily="49" charset="-122"/>
              <a:ea typeface="楷体_GB2312" pitchFamily="49" charset="-122"/>
            </a:endParaRPr>
          </a:p>
          <a:p>
            <a:r>
              <a:rPr lang="en-US" altLang="zh-CN" sz="3200" b="1" kern="0" dirty="0" smtClean="0">
                <a:latin typeface="楷体_GB2312" pitchFamily="49" charset="-122"/>
                <a:ea typeface="楷体_GB2312" pitchFamily="49" charset="-122"/>
              </a:rPr>
              <a:t>——</a:t>
            </a:r>
            <a:r>
              <a:rPr lang="zh-CN" altLang="en-US" sz="3200" b="1" kern="0" dirty="0">
                <a:latin typeface="楷体_GB2312" pitchFamily="49" charset="-122"/>
                <a:ea typeface="楷体_GB2312" pitchFamily="49" charset="-122"/>
              </a:rPr>
              <a:t>有</a:t>
            </a:r>
            <a:r>
              <a:rPr lang="zh-CN" altLang="en-US" sz="3200" b="1" kern="0" dirty="0" smtClean="0">
                <a:latin typeface="楷体_GB2312" pitchFamily="49" charset="-122"/>
                <a:ea typeface="楷体_GB2312" pitchFamily="49" charset="-122"/>
              </a:rPr>
              <a:t>中国特色的社会主义制度是历史的选择！</a:t>
            </a:r>
            <a:endParaRPr lang="en-US" altLang="zh-CN" sz="3200" b="1" kern="0" dirty="0" smtClean="0">
              <a:latin typeface="楷体_GB2312" pitchFamily="49" charset="-122"/>
              <a:ea typeface="楷体_GB2312" pitchFamily="49" charset="-122"/>
            </a:endParaRPr>
          </a:p>
          <a:p>
            <a:r>
              <a:rPr lang="en-US" altLang="zh-CN" sz="3200" b="1" kern="0" dirty="0" smtClean="0">
                <a:latin typeface="楷体_GB2312" pitchFamily="49" charset="-122"/>
                <a:ea typeface="楷体_GB2312" pitchFamily="49" charset="-122"/>
              </a:rPr>
              <a:t>——</a:t>
            </a:r>
            <a:r>
              <a:rPr lang="zh-CN" altLang="en-US" sz="3200" b="1" kern="0" dirty="0" smtClean="0">
                <a:latin typeface="楷体_GB2312" pitchFamily="49" charset="-122"/>
                <a:ea typeface="楷体_GB2312" pitchFamily="49" charset="-122"/>
              </a:rPr>
              <a:t>大陆法系与英美法系的区别</a:t>
            </a:r>
            <a:endParaRPr lang="zh-CN" altLang="en-US" sz="3200" b="1" kern="0" dirty="0">
              <a:latin typeface="楷体_GB2312" pitchFamily="49" charset="-122"/>
              <a:ea typeface="楷体_GB2312" pitchFamily="49" charset="-122"/>
            </a:endParaRPr>
          </a:p>
        </p:txBody>
      </p:sp>
    </p:spTree>
    <p:extLst>
      <p:ext uri="{BB962C8B-B14F-4D97-AF65-F5344CB8AC3E}">
        <p14:creationId xmlns:p14="http://schemas.microsoft.com/office/powerpoint/2010/main" val="39563457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4E18192-8AC4-41C4-A365-669AF7D1D388}" type="slidenum">
              <a:rPr lang="en-US" altLang="zh-CN"/>
              <a:pPr/>
              <a:t>37</a:t>
            </a:fld>
            <a:endParaRPr lang="en-US" altLang="zh-CN"/>
          </a:p>
        </p:txBody>
      </p:sp>
      <p:sp>
        <p:nvSpPr>
          <p:cNvPr id="7" name="Rectangle 2"/>
          <p:cNvSpPr txBox="1">
            <a:spLocks noChangeArrowheads="1"/>
          </p:cNvSpPr>
          <p:nvPr/>
        </p:nvSpPr>
        <p:spPr bwMode="auto">
          <a:xfrm>
            <a:off x="395536" y="260648"/>
            <a:ext cx="8064896" cy="792089"/>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sz="2800" kern="0" dirty="0" smtClean="0">
                <a:latin typeface="隶书" panose="02010509060101010101" pitchFamily="49" charset="-122"/>
                <a:ea typeface="隶书" panose="02010509060101010101" pitchFamily="49" charset="-122"/>
              </a:rPr>
              <a:t>3.4.3</a:t>
            </a:r>
            <a:r>
              <a:rPr lang="zh-CN" altLang="en-US" sz="2800" kern="0" dirty="0">
                <a:latin typeface="隶书" panose="02010509060101010101" pitchFamily="49" charset="-122"/>
                <a:ea typeface="隶书" panose="02010509060101010101" pitchFamily="49" charset="-122"/>
              </a:rPr>
              <a:t>制度</a:t>
            </a:r>
            <a:r>
              <a:rPr lang="zh-CN" altLang="en-US" sz="2800" kern="0" dirty="0" smtClean="0">
                <a:latin typeface="隶书" panose="02010509060101010101" pitchFamily="49" charset="-122"/>
                <a:ea typeface="隶书" panose="02010509060101010101" pitchFamily="49" charset="-122"/>
              </a:rPr>
              <a:t>设计成本</a:t>
            </a:r>
            <a:r>
              <a:rPr lang="zh-CN" altLang="en-US" sz="2800" kern="0" dirty="0">
                <a:latin typeface="隶书" panose="02010509060101010101" pitchFamily="49" charset="-122"/>
                <a:ea typeface="隶书" panose="02010509060101010101" pitchFamily="49" charset="-122"/>
              </a:rPr>
              <a:t>和实施</a:t>
            </a:r>
            <a:r>
              <a:rPr lang="zh-CN" altLang="en-US" sz="2800" kern="0" dirty="0" smtClean="0">
                <a:latin typeface="隶书" panose="02010509060101010101" pitchFamily="49" charset="-122"/>
                <a:ea typeface="隶书" panose="02010509060101010101" pitchFamily="49" charset="-122"/>
              </a:rPr>
              <a:t>新制度的</a:t>
            </a:r>
            <a:r>
              <a:rPr lang="zh-CN" altLang="en-US" sz="2800" kern="0" dirty="0">
                <a:latin typeface="隶书" panose="02010509060101010101" pitchFamily="49" charset="-122"/>
                <a:ea typeface="隶书" panose="02010509060101010101" pitchFamily="49" charset="-122"/>
              </a:rPr>
              <a:t>预期成本 </a:t>
            </a:r>
          </a:p>
        </p:txBody>
      </p:sp>
      <p:sp>
        <p:nvSpPr>
          <p:cNvPr id="5" name="Rectangle 3"/>
          <p:cNvSpPr txBox="1">
            <a:spLocks noChangeArrowheads="1"/>
          </p:cNvSpPr>
          <p:nvPr/>
        </p:nvSpPr>
        <p:spPr bwMode="auto">
          <a:xfrm>
            <a:off x="395536" y="1196752"/>
            <a:ext cx="8479538" cy="3744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a:lnSpc>
                <a:spcPct val="80000"/>
              </a:lnSpc>
            </a:pPr>
            <a:r>
              <a:rPr lang="zh-CN" altLang="en-US" sz="2800" kern="0" dirty="0" smtClean="0">
                <a:latin typeface="楷体_GB2312" panose="02010609030101010101" pitchFamily="49" charset="-122"/>
                <a:ea typeface="楷体_GB2312" panose="02010609030101010101" pitchFamily="49" charset="-122"/>
              </a:rPr>
              <a:t>制度变迁供给的基本原则是制度变迁的收益大于制度变迁的成本，因此，在制度变迁的收益已定的情况下，制度变迁的成本，包括制度设计的成本和实施新制度安排的预期成本等，就成为影响制度变迁供给的重要因素。 </a:t>
            </a:r>
          </a:p>
          <a:p>
            <a:pPr>
              <a:lnSpc>
                <a:spcPct val="80000"/>
              </a:lnSpc>
            </a:pPr>
            <a:r>
              <a:rPr lang="zh-CN" altLang="en-US" sz="2800" kern="0" dirty="0" smtClean="0">
                <a:latin typeface="楷体_GB2312" panose="02010609030101010101" pitchFamily="49" charset="-122"/>
                <a:ea typeface="楷体_GB2312" panose="02010609030101010101" pitchFamily="49" charset="-122"/>
              </a:rPr>
              <a:t>制度设计的成本，主要取决于设计新的制度安排的人力资源和其他资源的要素价格。</a:t>
            </a:r>
          </a:p>
          <a:p>
            <a:pPr>
              <a:lnSpc>
                <a:spcPct val="80000"/>
              </a:lnSpc>
            </a:pPr>
            <a:r>
              <a:rPr lang="zh-CN" altLang="en-US" sz="2800" kern="0" dirty="0" smtClean="0">
                <a:latin typeface="楷体_GB2312" panose="02010609030101010101" pitchFamily="49" charset="-122"/>
                <a:ea typeface="楷体_GB2312" panose="02010609030101010101" pitchFamily="49" charset="-122"/>
              </a:rPr>
              <a:t>制度变迁的供给还受实施上的预期成本的影响。制度从潜在安排转变为现实安排的关键就是制度安排实施上的预期成本的大小。</a:t>
            </a:r>
            <a:endParaRPr lang="zh-CN" altLang="en-US" sz="2800" kern="0" dirty="0">
              <a:latin typeface="楷体_GB2312" panose="02010609030101010101" pitchFamily="49" charset="-122"/>
              <a:ea typeface="楷体_GB2312" panose="02010609030101010101" pitchFamily="49" charset="-122"/>
            </a:endParaRPr>
          </a:p>
        </p:txBody>
      </p:sp>
      <p:sp>
        <p:nvSpPr>
          <p:cNvPr id="9" name="Rectangle 3"/>
          <p:cNvSpPr txBox="1">
            <a:spLocks noChangeArrowheads="1"/>
          </p:cNvSpPr>
          <p:nvPr/>
        </p:nvSpPr>
        <p:spPr bwMode="auto">
          <a:xfrm>
            <a:off x="642847" y="4940642"/>
            <a:ext cx="8479538" cy="122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lnSpc>
                <a:spcPct val="80000"/>
              </a:lnSpc>
              <a:buNone/>
            </a:pPr>
            <a:r>
              <a:rPr lang="en-US" altLang="zh-CN" sz="2800" b="1" kern="0" dirty="0" smtClean="0">
                <a:solidFill>
                  <a:srgbClr val="7030A0"/>
                </a:solidFill>
                <a:latin typeface="楷体_GB2312" panose="02010609030101010101" pitchFamily="49" charset="-122"/>
                <a:ea typeface="楷体_GB2312" panose="02010609030101010101" pitchFamily="49" charset="-122"/>
              </a:rPr>
              <a:t>——</a:t>
            </a:r>
            <a:r>
              <a:rPr lang="zh-CN" altLang="en-US" sz="2800" b="1" kern="0" dirty="0" smtClean="0">
                <a:solidFill>
                  <a:srgbClr val="7030A0"/>
                </a:solidFill>
                <a:latin typeface="楷体_GB2312" panose="02010609030101010101" pitchFamily="49" charset="-122"/>
                <a:ea typeface="楷体_GB2312" panose="02010609030101010101" pitchFamily="49" charset="-122"/>
              </a:rPr>
              <a:t>改革开放势在必行！</a:t>
            </a:r>
            <a:endParaRPr lang="en-US" altLang="zh-CN" sz="2800" b="1" kern="0" dirty="0" smtClean="0">
              <a:solidFill>
                <a:srgbClr val="7030A0"/>
              </a:solidFill>
              <a:latin typeface="楷体_GB2312" panose="02010609030101010101" pitchFamily="49" charset="-122"/>
              <a:ea typeface="楷体_GB2312" panose="02010609030101010101" pitchFamily="49" charset="-122"/>
            </a:endParaRPr>
          </a:p>
          <a:p>
            <a:pPr marL="0" indent="0">
              <a:lnSpc>
                <a:spcPct val="80000"/>
              </a:lnSpc>
              <a:buNone/>
            </a:pPr>
            <a:r>
              <a:rPr lang="en-US" altLang="zh-CN" sz="2800" b="1" kern="0" dirty="0">
                <a:solidFill>
                  <a:srgbClr val="7030A0"/>
                </a:solidFill>
                <a:latin typeface="楷体_GB2312" panose="02010609030101010101" pitchFamily="49" charset="-122"/>
                <a:ea typeface="楷体_GB2312" panose="02010609030101010101" pitchFamily="49" charset="-122"/>
              </a:rPr>
              <a:t>——</a:t>
            </a:r>
            <a:r>
              <a:rPr lang="zh-CN" altLang="en-US" sz="2800" b="1" kern="0" dirty="0" smtClean="0">
                <a:solidFill>
                  <a:srgbClr val="7030A0"/>
                </a:solidFill>
                <a:latin typeface="楷体_GB2312" panose="02010609030101010101" pitchFamily="49" charset="-122"/>
                <a:ea typeface="楷体_GB2312" panose="02010609030101010101" pitchFamily="49" charset="-122"/>
              </a:rPr>
              <a:t>中国股市的熔断机制成为了最短命的政策，正是因为制度变迁成本难以承受。</a:t>
            </a:r>
            <a:endParaRPr lang="zh-CN" altLang="en-US" sz="2800" b="1" kern="0" dirty="0">
              <a:solidFill>
                <a:srgbClr val="7030A0"/>
              </a:solidFill>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794615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3096" y="1222873"/>
            <a:ext cx="8305800" cy="2544688"/>
          </a:xfrm>
        </p:spPr>
        <p:txBody>
          <a:bodyPr/>
          <a:lstStyle/>
          <a:p>
            <a:r>
              <a:rPr lang="zh-CN" altLang="en-US" sz="3200" dirty="0">
                <a:latin typeface="楷体_GB2312" panose="02010609030101010101" pitchFamily="49" charset="-122"/>
                <a:ea typeface="楷体_GB2312" panose="02010609030101010101" pitchFamily="49" charset="-122"/>
              </a:rPr>
              <a:t>社会知识使制度绩效和制度创新得以增进主要是通过成功先例的逐渐积累或作为行政与管理知识与经验的副产品来实现的。在最近的一个世纪，社会科学知识的进步已为制度创新的效率开辟了新的可能性。 </a:t>
            </a:r>
          </a:p>
        </p:txBody>
      </p:sp>
      <p:sp>
        <p:nvSpPr>
          <p:cNvPr id="4" name="Rectangle 2"/>
          <p:cNvSpPr txBox="1">
            <a:spLocks noChangeArrowheads="1"/>
          </p:cNvSpPr>
          <p:nvPr/>
        </p:nvSpPr>
        <p:spPr bwMode="auto">
          <a:xfrm>
            <a:off x="323528" y="404664"/>
            <a:ext cx="8424936" cy="792089"/>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sz="3600" kern="0" dirty="0" smtClean="0">
                <a:latin typeface="隶书" panose="02010509060101010101" pitchFamily="49" charset="-122"/>
                <a:ea typeface="隶书" panose="02010509060101010101" pitchFamily="49" charset="-122"/>
              </a:rPr>
              <a:t>3.4.4</a:t>
            </a:r>
            <a:r>
              <a:rPr lang="zh-CN" altLang="en-US" sz="3600" kern="0" dirty="0" smtClean="0">
                <a:latin typeface="隶书" panose="02010509060101010101" pitchFamily="49" charset="-122"/>
                <a:ea typeface="隶书" panose="02010509060101010101" pitchFamily="49" charset="-122"/>
              </a:rPr>
              <a:t>现有知识积累和社会科学知识进步</a:t>
            </a:r>
            <a:endParaRPr lang="zh-CN" altLang="en-US" sz="3600" kern="0" dirty="0">
              <a:latin typeface="隶书" panose="02010509060101010101" pitchFamily="49" charset="-122"/>
              <a:ea typeface="隶书" panose="02010509060101010101" pitchFamily="49" charset="-122"/>
            </a:endParaRPr>
          </a:p>
        </p:txBody>
      </p:sp>
      <p:sp>
        <p:nvSpPr>
          <p:cNvPr id="5" name="文本占位符 2"/>
          <p:cNvSpPr txBox="1">
            <a:spLocks/>
          </p:cNvSpPr>
          <p:nvPr/>
        </p:nvSpPr>
        <p:spPr bwMode="auto">
          <a:xfrm>
            <a:off x="323528" y="3789040"/>
            <a:ext cx="8712968"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buNone/>
            </a:pPr>
            <a:r>
              <a:rPr lang="en-US" altLang="zh-CN" sz="3200" b="1" kern="0" dirty="0" smtClean="0">
                <a:solidFill>
                  <a:srgbClr val="7030A0"/>
                </a:solidFill>
                <a:latin typeface="楷体_GB2312" panose="02010609030101010101" pitchFamily="49" charset="-122"/>
                <a:ea typeface="楷体_GB2312" panose="02010609030101010101" pitchFamily="49" charset="-122"/>
              </a:rPr>
              <a:t>——</a:t>
            </a:r>
            <a:r>
              <a:rPr lang="zh-CN" altLang="en-US" sz="3200" b="1" kern="0" dirty="0" smtClean="0">
                <a:solidFill>
                  <a:srgbClr val="7030A0"/>
                </a:solidFill>
                <a:latin typeface="楷体_GB2312" panose="02010609030101010101" pitchFamily="49" charset="-122"/>
                <a:ea typeface="楷体_GB2312" panose="02010609030101010101" pitchFamily="49" charset="-122"/>
              </a:rPr>
              <a:t>马克思传入中国</a:t>
            </a:r>
            <a:r>
              <a:rPr lang="en-US" altLang="zh-CN" sz="3200" b="1" kern="0" dirty="0" smtClean="0">
                <a:solidFill>
                  <a:srgbClr val="7030A0"/>
                </a:solidFill>
                <a:latin typeface="楷体_GB2312" panose="02010609030101010101" pitchFamily="49" charset="-122"/>
                <a:ea typeface="楷体_GB2312" panose="02010609030101010101" pitchFamily="49" charset="-122"/>
              </a:rPr>
              <a:t>+</a:t>
            </a:r>
            <a:r>
              <a:rPr lang="zh-CN" altLang="en-US" sz="3200" b="1" kern="0" dirty="0" smtClean="0">
                <a:solidFill>
                  <a:srgbClr val="7030A0"/>
                </a:solidFill>
                <a:latin typeface="楷体_GB2312" panose="02010609030101010101" pitchFamily="49" charset="-122"/>
                <a:ea typeface="楷体_GB2312" panose="02010609030101010101" pitchFamily="49" charset="-122"/>
              </a:rPr>
              <a:t>只有社会主义才能救中国</a:t>
            </a:r>
            <a:endParaRPr lang="zh-CN" altLang="en-US" sz="3200" kern="0" dirty="0">
              <a:latin typeface="楷体_GB2312" panose="02010609030101010101" pitchFamily="49" charset="-122"/>
              <a:ea typeface="楷体_GB2312" panose="02010609030101010101" pitchFamily="49" charset="-122"/>
            </a:endParaRPr>
          </a:p>
        </p:txBody>
      </p:sp>
      <p:sp>
        <p:nvSpPr>
          <p:cNvPr id="6" name="下箭头 5"/>
          <p:cNvSpPr/>
          <p:nvPr/>
        </p:nvSpPr>
        <p:spPr bwMode="auto">
          <a:xfrm>
            <a:off x="5868144" y="4394691"/>
            <a:ext cx="648072" cy="504056"/>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Gulim" pitchFamily="34" charset="-127"/>
              <a:ea typeface="Gulim" pitchFamily="34" charset="-127"/>
            </a:endParaRPr>
          </a:p>
        </p:txBody>
      </p:sp>
      <p:sp>
        <p:nvSpPr>
          <p:cNvPr id="7" name="文本占位符 2"/>
          <p:cNvSpPr txBox="1">
            <a:spLocks/>
          </p:cNvSpPr>
          <p:nvPr/>
        </p:nvSpPr>
        <p:spPr bwMode="auto">
          <a:xfrm>
            <a:off x="442664" y="4992192"/>
            <a:ext cx="8305800" cy="117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sz="3200" b="1" kern="0" dirty="0" smtClean="0">
                <a:solidFill>
                  <a:srgbClr val="7030A0"/>
                </a:solidFill>
                <a:latin typeface="楷体_GB2312" panose="02010609030101010101" pitchFamily="49" charset="-122"/>
                <a:ea typeface="楷体_GB2312" panose="02010609030101010101" pitchFamily="49" charset="-122"/>
              </a:rPr>
              <a:t>必须坚定地走有中国特色的社会主义道路（市场经济为基础</a:t>
            </a:r>
            <a:r>
              <a:rPr lang="en-US" altLang="zh-CN" sz="3200" b="1" kern="0" dirty="0" smtClean="0">
                <a:solidFill>
                  <a:srgbClr val="7030A0"/>
                </a:solidFill>
                <a:latin typeface="楷体_GB2312" panose="02010609030101010101" pitchFamily="49" charset="-122"/>
                <a:ea typeface="楷体_GB2312" panose="02010609030101010101" pitchFamily="49" charset="-122"/>
              </a:rPr>
              <a:t>+</a:t>
            </a:r>
            <a:r>
              <a:rPr lang="zh-CN" altLang="en-US" sz="3200" b="1" kern="0" dirty="0" smtClean="0">
                <a:solidFill>
                  <a:srgbClr val="7030A0"/>
                </a:solidFill>
                <a:latin typeface="楷体_GB2312" panose="02010609030101010101" pitchFamily="49" charset="-122"/>
                <a:ea typeface="楷体_GB2312" panose="02010609030101010101" pitchFamily="49" charset="-122"/>
              </a:rPr>
              <a:t>有效的宏观调控）</a:t>
            </a:r>
            <a:endParaRPr lang="zh-CN" altLang="en-US" sz="3200" b="1" kern="0" dirty="0">
              <a:solidFill>
                <a:srgbClr val="7030A0"/>
              </a:solidFill>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1009021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3096" y="1340768"/>
            <a:ext cx="8305800" cy="2544688"/>
          </a:xfrm>
        </p:spPr>
        <p:txBody>
          <a:bodyPr/>
          <a:lstStyle/>
          <a:p>
            <a:r>
              <a:rPr lang="zh-CN" altLang="en-US" sz="3200" dirty="0">
                <a:latin typeface="楷体_GB2312" panose="02010609030101010101" pitchFamily="49" charset="-122"/>
                <a:ea typeface="楷体_GB2312" panose="02010609030101010101" pitchFamily="49" charset="-122"/>
              </a:rPr>
              <a:t>上层决策者的净利益如何影响制度变迁供给是一个比较复杂的问题，这首先取决于一个国家或地区的集权程度。</a:t>
            </a:r>
            <a:r>
              <a:rPr lang="zh-CN" altLang="en-US" sz="3200" dirty="0" smtClean="0">
                <a:latin typeface="楷体_GB2312" panose="02010609030101010101" pitchFamily="49" charset="-122"/>
                <a:ea typeface="楷体_GB2312" panose="02010609030101010101" pitchFamily="49" charset="-122"/>
              </a:rPr>
              <a:t>在集权程度越高，上层</a:t>
            </a:r>
            <a:r>
              <a:rPr lang="zh-CN" altLang="en-US" sz="3200" dirty="0">
                <a:latin typeface="楷体_GB2312" panose="02010609030101010101" pitchFamily="49" charset="-122"/>
                <a:ea typeface="楷体_GB2312" panose="02010609030101010101" pitchFamily="49" charset="-122"/>
              </a:rPr>
              <a:t>决策者的净利益对制度</a:t>
            </a:r>
            <a:r>
              <a:rPr lang="zh-CN" altLang="en-US" sz="3200" dirty="0" smtClean="0">
                <a:latin typeface="楷体_GB2312" panose="02010609030101010101" pitchFamily="49" charset="-122"/>
                <a:ea typeface="楷体_GB2312" panose="02010609030101010101" pitchFamily="49" charset="-122"/>
              </a:rPr>
              <a:t>变迁供给所起的作用越显著。 </a:t>
            </a:r>
            <a:endParaRPr lang="zh-CN" altLang="en-US" sz="3200" dirty="0">
              <a:latin typeface="楷体_GB2312" panose="02010609030101010101" pitchFamily="49" charset="-122"/>
              <a:ea typeface="楷体_GB2312" panose="02010609030101010101" pitchFamily="49" charset="-122"/>
            </a:endParaRPr>
          </a:p>
        </p:txBody>
      </p:sp>
      <p:sp>
        <p:nvSpPr>
          <p:cNvPr id="4" name="Rectangle 2"/>
          <p:cNvSpPr txBox="1">
            <a:spLocks noChangeArrowheads="1"/>
          </p:cNvSpPr>
          <p:nvPr/>
        </p:nvSpPr>
        <p:spPr bwMode="auto">
          <a:xfrm>
            <a:off x="323528" y="404664"/>
            <a:ext cx="8424936" cy="792089"/>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en-US" altLang="zh-CN" sz="3600" kern="0" dirty="0" smtClean="0">
                <a:latin typeface="隶书" panose="02010509060101010101" pitchFamily="49" charset="-122"/>
                <a:ea typeface="隶书" panose="02010509060101010101" pitchFamily="49" charset="-122"/>
              </a:rPr>
              <a:t>3.4.5</a:t>
            </a:r>
            <a:r>
              <a:rPr lang="zh-CN" altLang="en-US" sz="3600" kern="0" dirty="0" smtClean="0">
                <a:latin typeface="隶书" panose="02010509060101010101" pitchFamily="49" charset="-122"/>
                <a:ea typeface="隶书" panose="02010509060101010101" pitchFamily="49" charset="-122"/>
              </a:rPr>
              <a:t>上层决策者的净利益</a:t>
            </a:r>
            <a:endParaRPr lang="zh-CN" altLang="en-US" sz="3600" kern="0" dirty="0">
              <a:latin typeface="隶书" panose="02010509060101010101" pitchFamily="49" charset="-122"/>
              <a:ea typeface="隶书" panose="02010509060101010101" pitchFamily="49" charset="-122"/>
            </a:endParaRPr>
          </a:p>
        </p:txBody>
      </p:sp>
      <p:sp>
        <p:nvSpPr>
          <p:cNvPr id="5" name="文本占位符 2"/>
          <p:cNvSpPr txBox="1">
            <a:spLocks/>
          </p:cNvSpPr>
          <p:nvPr/>
        </p:nvSpPr>
        <p:spPr bwMode="auto">
          <a:xfrm>
            <a:off x="611560" y="3861048"/>
            <a:ext cx="8305800"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pPr marL="0" indent="0">
              <a:buNone/>
            </a:pPr>
            <a:r>
              <a:rPr lang="en-US" altLang="zh-CN" sz="3200" b="1" kern="0" dirty="0" smtClean="0">
                <a:solidFill>
                  <a:srgbClr val="7030A0"/>
                </a:solidFill>
                <a:latin typeface="楷体_GB2312" panose="02010609030101010101" pitchFamily="49" charset="-122"/>
                <a:ea typeface="楷体_GB2312" panose="02010609030101010101" pitchFamily="49" charset="-122"/>
              </a:rPr>
              <a:t>——</a:t>
            </a:r>
            <a:r>
              <a:rPr lang="zh-CN" altLang="en-US" sz="3200" b="1" kern="0" dirty="0" smtClean="0">
                <a:solidFill>
                  <a:srgbClr val="7030A0"/>
                </a:solidFill>
                <a:latin typeface="楷体_GB2312" panose="02010609030101010101" pitchFamily="49" charset="-122"/>
                <a:ea typeface="楷体_GB2312" panose="02010609030101010101" pitchFamily="49" charset="-122"/>
              </a:rPr>
              <a:t>蔡英文拒绝承认“</a:t>
            </a:r>
            <a:r>
              <a:rPr lang="zh-CN" altLang="en-US" sz="3200" b="1" kern="0" dirty="0">
                <a:solidFill>
                  <a:srgbClr val="7030A0"/>
                </a:solidFill>
                <a:latin typeface="楷体_GB2312" panose="02010609030101010101" pitchFamily="49" charset="-122"/>
                <a:ea typeface="楷体_GB2312" panose="02010609030101010101" pitchFamily="49" charset="-122"/>
              </a:rPr>
              <a:t>九二</a:t>
            </a:r>
            <a:r>
              <a:rPr lang="zh-CN" altLang="en-US" sz="3200" b="1" kern="0" dirty="0" smtClean="0">
                <a:solidFill>
                  <a:srgbClr val="7030A0"/>
                </a:solidFill>
                <a:latin typeface="楷体_GB2312" panose="02010609030101010101" pitchFamily="49" charset="-122"/>
                <a:ea typeface="楷体_GB2312" panose="02010609030101010101" pitchFamily="49" charset="-122"/>
              </a:rPr>
              <a:t>” 共识，台湾正在滑向深渊；特朗普的贸易战，美国豆农遭了秧</a:t>
            </a:r>
            <a:endParaRPr lang="en-US" altLang="zh-CN" sz="3200" b="1" kern="0" dirty="0" smtClean="0">
              <a:solidFill>
                <a:srgbClr val="7030A0"/>
              </a:solidFill>
              <a:latin typeface="楷体_GB2312" panose="02010609030101010101" pitchFamily="49" charset="-122"/>
              <a:ea typeface="楷体_GB2312" panose="02010609030101010101" pitchFamily="49" charset="-122"/>
            </a:endParaRPr>
          </a:p>
          <a:p>
            <a:pPr marL="0" indent="0">
              <a:buNone/>
            </a:pPr>
            <a:r>
              <a:rPr lang="en-US" altLang="zh-CN" sz="3200" b="1" kern="0" dirty="0" smtClean="0">
                <a:solidFill>
                  <a:srgbClr val="7030A0"/>
                </a:solidFill>
                <a:latin typeface="楷体_GB2312" panose="02010609030101010101" pitchFamily="49" charset="-122"/>
                <a:ea typeface="楷体_GB2312" panose="02010609030101010101" pitchFamily="49" charset="-122"/>
              </a:rPr>
              <a:t>——</a:t>
            </a:r>
            <a:r>
              <a:rPr lang="zh-CN" altLang="en-US" sz="3200" b="1" kern="0" dirty="0" smtClean="0">
                <a:solidFill>
                  <a:srgbClr val="7030A0"/>
                </a:solidFill>
                <a:latin typeface="楷体_GB2312" panose="02010609030101010101" pitchFamily="49" charset="-122"/>
                <a:ea typeface="楷体_GB2312" panose="02010609030101010101" pitchFamily="49" charset="-122"/>
              </a:rPr>
              <a:t>刘邦封韩信</a:t>
            </a:r>
            <a:r>
              <a:rPr lang="en-US" altLang="zh-CN" sz="3200" b="1" kern="0" dirty="0" smtClean="0">
                <a:solidFill>
                  <a:srgbClr val="7030A0"/>
                </a:solidFill>
                <a:latin typeface="楷体_GB2312" panose="02010609030101010101" pitchFamily="49" charset="-122"/>
                <a:ea typeface="楷体_GB2312" panose="02010609030101010101" pitchFamily="49" charset="-122"/>
              </a:rPr>
              <a:t>VS</a:t>
            </a:r>
            <a:r>
              <a:rPr lang="zh-CN" altLang="en-US" sz="3200" b="1" kern="0" dirty="0" smtClean="0">
                <a:solidFill>
                  <a:srgbClr val="7030A0"/>
                </a:solidFill>
                <a:latin typeface="楷体_GB2312" panose="02010609030101010101" pitchFamily="49" charset="-122"/>
                <a:ea typeface="楷体_GB2312" panose="02010609030101010101" pitchFamily="49" charset="-122"/>
              </a:rPr>
              <a:t>玄武门之变</a:t>
            </a:r>
            <a:endParaRPr lang="zh-CN" altLang="en-US" sz="3200" kern="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11116918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305800" cy="936104"/>
          </a:xfrm>
        </p:spPr>
        <p:txBody>
          <a:bodyPr/>
          <a:lstStyle/>
          <a:p>
            <a:r>
              <a:rPr lang="zh-CN" altLang="en-US" b="1" dirty="0" smtClean="0">
                <a:latin typeface="华文新魏" panose="02010800040101010101" pitchFamily="2" charset="-122"/>
                <a:ea typeface="华文新魏" panose="02010800040101010101" pitchFamily="2" charset="-122"/>
              </a:rPr>
              <a:t>制度供给案例：农业新政</a:t>
            </a:r>
            <a:endParaRPr lang="zh-CN" altLang="en-US" b="1" dirty="0">
              <a:latin typeface="华文新魏" panose="02010800040101010101" pitchFamily="2" charset="-122"/>
              <a:ea typeface="华文新魏" panose="02010800040101010101" pitchFamily="2" charset="-122"/>
            </a:endParaRPr>
          </a:p>
        </p:txBody>
      </p:sp>
      <p:sp>
        <p:nvSpPr>
          <p:cNvPr id="3" name="文本占位符 2"/>
          <p:cNvSpPr>
            <a:spLocks noGrp="1"/>
          </p:cNvSpPr>
          <p:nvPr>
            <p:ph type="body" idx="1"/>
          </p:nvPr>
        </p:nvSpPr>
        <p:spPr>
          <a:xfrm>
            <a:off x="395536" y="1124744"/>
            <a:ext cx="8305800" cy="3456384"/>
          </a:xfrm>
        </p:spPr>
        <p:txBody>
          <a:bodyPr/>
          <a:lstStyle/>
          <a:p>
            <a:r>
              <a:rPr lang="en-US" altLang="zh-CN" b="1" dirty="0" smtClean="0">
                <a:latin typeface="楷体_GB2312" panose="02010609030101010101" pitchFamily="49" charset="-122"/>
                <a:ea typeface="楷体_GB2312" panose="02010609030101010101" pitchFamily="49" charset="-122"/>
              </a:rPr>
              <a:t>2004</a:t>
            </a:r>
            <a:r>
              <a:rPr lang="zh-CN" altLang="en-US" b="1" dirty="0" smtClean="0">
                <a:latin typeface="楷体_GB2312" panose="02010609030101010101" pitchFamily="49" charset="-122"/>
                <a:ea typeface="楷体_GB2312" panose="02010609030101010101" pitchFamily="49" charset="-122"/>
              </a:rPr>
              <a:t>年，中央发布一号文件</a:t>
            </a:r>
            <a:r>
              <a:rPr lang="en-US" altLang="zh-CN" b="1" dirty="0" smtClean="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关于促进农民增加收入若干政策的意见</a:t>
            </a:r>
            <a:r>
              <a:rPr lang="en-US" altLang="zh-CN" b="1"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a:t>
            </a:r>
            <a:r>
              <a:rPr lang="en-US" altLang="zh-CN" b="1" dirty="0" smtClean="0">
                <a:latin typeface="楷体_GB2312" panose="02010609030101010101" pitchFamily="49" charset="-122"/>
                <a:ea typeface="楷体_GB2312" panose="02010609030101010101" pitchFamily="49" charset="-122"/>
              </a:rPr>
              <a:t>18</a:t>
            </a:r>
            <a:r>
              <a:rPr lang="zh-CN" altLang="en-US" b="1" dirty="0" smtClean="0">
                <a:latin typeface="楷体_GB2312" panose="02010609030101010101" pitchFamily="49" charset="-122"/>
                <a:ea typeface="楷体_GB2312" panose="02010609030101010101" pitchFamily="49" charset="-122"/>
              </a:rPr>
              <a:t>年后再次将一号文件主题聚焦农业，自此，中央一号文件连续</a:t>
            </a:r>
            <a:r>
              <a:rPr lang="en-US" altLang="zh-CN" b="1" dirty="0" smtClean="0">
                <a:latin typeface="楷体_GB2312" panose="02010609030101010101" pitchFamily="49" charset="-122"/>
                <a:ea typeface="楷体_GB2312" panose="02010609030101010101" pitchFamily="49" charset="-122"/>
              </a:rPr>
              <a:t>12</a:t>
            </a:r>
            <a:r>
              <a:rPr lang="zh-CN" altLang="en-US" b="1" dirty="0" smtClean="0">
                <a:latin typeface="楷体_GB2312" panose="02010609030101010101" pitchFamily="49" charset="-122"/>
                <a:ea typeface="楷体_GB2312" panose="02010609030101010101" pitchFamily="49" charset="-122"/>
              </a:rPr>
              <a:t>年关注农业问题。</a:t>
            </a:r>
            <a:endParaRPr lang="en-US" altLang="zh-CN" b="1" dirty="0" smtClean="0">
              <a:latin typeface="楷体_GB2312" panose="02010609030101010101" pitchFamily="49" charset="-122"/>
              <a:ea typeface="楷体_GB2312" panose="02010609030101010101" pitchFamily="49" charset="-122"/>
            </a:endParaRPr>
          </a:p>
          <a:p>
            <a:r>
              <a:rPr lang="en-US" altLang="zh-CN" b="1" dirty="0" smtClean="0">
                <a:latin typeface="楷体_GB2312" panose="02010609030101010101" pitchFamily="49" charset="-122"/>
                <a:ea typeface="楷体_GB2312" panose="02010609030101010101" pitchFamily="49" charset="-122"/>
              </a:rPr>
              <a:t>2004</a:t>
            </a:r>
            <a:r>
              <a:rPr lang="zh-CN" altLang="en-US" b="1" dirty="0" smtClean="0">
                <a:latin typeface="楷体_GB2312" panose="02010609030101010101" pitchFamily="49" charset="-122"/>
                <a:ea typeface="楷体_GB2312" panose="02010609030101010101" pitchFamily="49" charset="-122"/>
              </a:rPr>
              <a:t>年开始的农业新政坚持“多予、少取、放活”方针，逐步取消农业税、农业特产税，切实减轻农民负担；探索实施农业直接补贴，显著增加农民收入，有效遏制不断扩大的城乡收入差距。</a:t>
            </a:r>
            <a:endParaRPr lang="en-US" altLang="zh-CN" b="1" dirty="0" smtClean="0">
              <a:latin typeface="楷体_GB2312" panose="02010609030101010101" pitchFamily="49" charset="-122"/>
              <a:ea typeface="楷体_GB2312" panose="02010609030101010101" pitchFamily="49" charset="-122"/>
            </a:endParaRPr>
          </a:p>
          <a:p>
            <a:r>
              <a:rPr lang="en-US" altLang="zh-CN" b="1" dirty="0" smtClean="0">
                <a:latin typeface="楷体_GB2312" panose="02010609030101010101" pitchFamily="49" charset="-122"/>
                <a:ea typeface="楷体_GB2312" panose="02010609030101010101" pitchFamily="49" charset="-122"/>
              </a:rPr>
              <a:t>12</a:t>
            </a:r>
            <a:r>
              <a:rPr lang="zh-CN" altLang="en-US" b="1" dirty="0" smtClean="0">
                <a:latin typeface="楷体_GB2312" panose="02010609030101010101" pitchFamily="49" charset="-122"/>
                <a:ea typeface="楷体_GB2312" panose="02010609030101010101" pitchFamily="49" charset="-122"/>
              </a:rPr>
              <a:t>年来，农业新政成为我国最具“含金量”的制度供给。</a:t>
            </a:r>
            <a:endParaRPr lang="zh-CN" altLang="en-US" b="1" dirty="0">
              <a:latin typeface="楷体_GB2312" panose="02010609030101010101" pitchFamily="49" charset="-122"/>
              <a:ea typeface="楷体_GB2312" panose="02010609030101010101"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4509120"/>
            <a:ext cx="3097726" cy="23514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5551" y="4509120"/>
            <a:ext cx="3049864" cy="23514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40308"/>
            <a:ext cx="2987824" cy="23203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79849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305800" cy="936104"/>
          </a:xfrm>
        </p:spPr>
        <p:txBody>
          <a:bodyPr/>
          <a:lstStyle/>
          <a:p>
            <a:r>
              <a:rPr lang="zh-CN" altLang="en-US" sz="3200" b="1" dirty="0" smtClean="0">
                <a:latin typeface="幼圆" panose="02010509060101010101" pitchFamily="49" charset="-122"/>
                <a:ea typeface="幼圆" panose="02010509060101010101" pitchFamily="49" charset="-122"/>
              </a:rPr>
              <a:t>制度供需分析综合案例：中国电力体制改革</a:t>
            </a:r>
            <a:endParaRPr lang="zh-CN" altLang="en-US" sz="3200" b="1" dirty="0">
              <a:latin typeface="幼圆" panose="02010509060101010101" pitchFamily="49" charset="-122"/>
              <a:ea typeface="幼圆" panose="02010509060101010101" pitchFamily="49" charset="-122"/>
            </a:endParaRPr>
          </a:p>
        </p:txBody>
      </p:sp>
      <p:sp>
        <p:nvSpPr>
          <p:cNvPr id="3" name="文本占位符 2"/>
          <p:cNvSpPr>
            <a:spLocks noGrp="1"/>
          </p:cNvSpPr>
          <p:nvPr>
            <p:ph type="body" idx="1"/>
          </p:nvPr>
        </p:nvSpPr>
        <p:spPr/>
        <p:txBody>
          <a:bodyPr/>
          <a:lstStyle/>
          <a:p>
            <a:pPr marL="0" indent="0">
              <a:buNone/>
            </a:pPr>
            <a:r>
              <a:rPr lang="zh-CN" altLang="en-US" b="1" dirty="0" smtClean="0"/>
              <a:t>           制度需求：打破垄断，引入竞争！</a:t>
            </a:r>
            <a:endParaRPr lang="en-US" altLang="zh-CN" b="1" dirty="0" smtClean="0"/>
          </a:p>
          <a:p>
            <a:pPr marL="0" indent="0">
              <a:buNone/>
            </a:pPr>
            <a:endParaRPr lang="en-US" altLang="zh-CN" b="1" dirty="0"/>
          </a:p>
          <a:p>
            <a:pPr marL="0" indent="0">
              <a:buNone/>
            </a:pPr>
            <a:endParaRPr lang="en-US" altLang="zh-CN" b="1" dirty="0" smtClean="0"/>
          </a:p>
          <a:p>
            <a:endParaRPr lang="en-US" altLang="zh-CN" b="1" dirty="0" smtClean="0"/>
          </a:p>
          <a:p>
            <a:endParaRPr lang="en-US" altLang="zh-CN" b="1" dirty="0"/>
          </a:p>
          <a:p>
            <a:pPr marL="0" indent="0">
              <a:buNone/>
            </a:pPr>
            <a:r>
              <a:rPr lang="zh-CN" altLang="en-US" b="1" dirty="0" smtClean="0"/>
              <a:t>     制度供给：</a:t>
            </a:r>
            <a:r>
              <a:rPr lang="en-US" altLang="zh-CN" b="1" dirty="0" smtClean="0"/>
              <a:t>《</a:t>
            </a:r>
            <a:r>
              <a:rPr lang="zh-CN" altLang="en-US" b="1" dirty="0" smtClean="0"/>
              <a:t>电力体制改革方案</a:t>
            </a:r>
            <a:r>
              <a:rPr lang="en-US" altLang="zh-CN" b="1" dirty="0" smtClean="0"/>
              <a:t>》</a:t>
            </a:r>
            <a:r>
              <a:rPr lang="zh-CN" altLang="en-US" b="1" dirty="0" smtClean="0"/>
              <a:t>（国发</a:t>
            </a:r>
            <a:r>
              <a:rPr lang="en-US" altLang="zh-CN" b="1" dirty="0" smtClean="0"/>
              <a:t>[2002]5</a:t>
            </a:r>
            <a:r>
              <a:rPr lang="zh-CN" altLang="en-US" b="1" dirty="0" smtClean="0"/>
              <a:t>号文）</a:t>
            </a:r>
            <a:endParaRPr lang="en-US" altLang="zh-CN" b="1" dirty="0" smtClean="0"/>
          </a:p>
          <a:p>
            <a:pPr marL="0" indent="0">
              <a:buNone/>
            </a:pPr>
            <a:r>
              <a:rPr lang="en-US" altLang="zh-CN" b="1" dirty="0" smtClean="0"/>
              <a:t>    </a:t>
            </a:r>
            <a:r>
              <a:rPr lang="en-US" altLang="zh-CN" sz="2000" b="1" dirty="0" smtClean="0"/>
              <a:t>《</a:t>
            </a:r>
            <a:r>
              <a:rPr lang="zh-CN" altLang="en-US" sz="2000" b="1" dirty="0" smtClean="0"/>
              <a:t>关于进一步深化电力体制改革的若干意见</a:t>
            </a:r>
            <a:r>
              <a:rPr lang="en-US" altLang="zh-CN" sz="2000" b="1" dirty="0" smtClean="0"/>
              <a:t>》</a:t>
            </a:r>
            <a:r>
              <a:rPr lang="zh-CN" altLang="en-US" sz="2000" b="1" dirty="0" smtClean="0"/>
              <a:t>（中发</a:t>
            </a:r>
            <a:r>
              <a:rPr lang="en-US" altLang="zh-CN" sz="2000" b="1" dirty="0" smtClean="0"/>
              <a:t>[2015]9</a:t>
            </a:r>
            <a:r>
              <a:rPr lang="zh-CN" altLang="en-US" sz="2000" b="1" dirty="0" smtClean="0"/>
              <a:t>号文）</a:t>
            </a:r>
            <a:endParaRPr lang="zh-CN" altLang="en-US" sz="2000" b="1" dirty="0"/>
          </a:p>
        </p:txBody>
      </p:sp>
      <p:sp>
        <p:nvSpPr>
          <p:cNvPr id="4" name="上下箭头 3"/>
          <p:cNvSpPr/>
          <p:nvPr/>
        </p:nvSpPr>
        <p:spPr bwMode="auto">
          <a:xfrm>
            <a:off x="3779912" y="2276872"/>
            <a:ext cx="1008112" cy="1512168"/>
          </a:xfrm>
          <a:prstGeom prst="up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zh-CN" altLang="en-US" sz="2400" b="0" i="0" u="none" strike="noStrike" cap="none" normalizeH="0" baseline="0" smtClean="0">
              <a:ln>
                <a:noFill/>
              </a:ln>
              <a:solidFill>
                <a:schemeClr val="tx1"/>
              </a:solidFill>
              <a:effectLst/>
              <a:latin typeface="Gulim" pitchFamily="34" charset="-127"/>
              <a:ea typeface="Gulim" pitchFamily="34" charset="-127"/>
            </a:endParaRPr>
          </a:p>
        </p:txBody>
      </p:sp>
    </p:spTree>
    <p:extLst>
      <p:ext uri="{BB962C8B-B14F-4D97-AF65-F5344CB8AC3E}">
        <p14:creationId xmlns:p14="http://schemas.microsoft.com/office/powerpoint/2010/main" val="5793982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936104"/>
          </a:xfrm>
        </p:spPr>
        <p:txBody>
          <a:bodyPr/>
          <a:lstStyle/>
          <a:p>
            <a:r>
              <a:rPr lang="zh-CN" altLang="en-US" b="1" dirty="0" smtClean="0">
                <a:latin typeface="仿宋_GB2312" panose="02010609030101010101" pitchFamily="49" charset="-122"/>
                <a:ea typeface="仿宋_GB2312" panose="02010609030101010101" pitchFamily="49" charset="-122"/>
              </a:rPr>
              <a:t>情景</a:t>
            </a:r>
            <a:r>
              <a:rPr lang="en-US" altLang="zh-CN" b="1" dirty="0" smtClean="0">
                <a:latin typeface="仿宋_GB2312" panose="02010609030101010101" pitchFamily="49" charset="-122"/>
                <a:ea typeface="仿宋_GB2312" panose="02010609030101010101" pitchFamily="49" charset="-122"/>
              </a:rPr>
              <a:t>1:</a:t>
            </a:r>
            <a:r>
              <a:rPr lang="zh-CN" altLang="en-US" b="1" dirty="0" smtClean="0">
                <a:latin typeface="仿宋_GB2312" panose="02010609030101010101" pitchFamily="49" charset="-122"/>
                <a:ea typeface="仿宋_GB2312" panose="02010609030101010101" pitchFamily="49" charset="-122"/>
              </a:rPr>
              <a:t>国发</a:t>
            </a:r>
            <a:r>
              <a:rPr lang="en-US" altLang="zh-CN" b="1" dirty="0" smtClean="0">
                <a:latin typeface="仿宋_GB2312" panose="02010609030101010101" pitchFamily="49" charset="-122"/>
                <a:ea typeface="仿宋_GB2312" panose="02010609030101010101" pitchFamily="49" charset="-122"/>
              </a:rPr>
              <a:t>[2002]5</a:t>
            </a:r>
            <a:r>
              <a:rPr lang="zh-CN" altLang="en-US" b="1" dirty="0" smtClean="0">
                <a:latin typeface="仿宋_GB2312" panose="02010609030101010101" pitchFamily="49" charset="-122"/>
                <a:ea typeface="仿宋_GB2312" panose="02010609030101010101" pitchFamily="49" charset="-122"/>
              </a:rPr>
              <a:t>号文件发布</a:t>
            </a:r>
            <a:endParaRPr lang="zh-CN" altLang="en-US" b="1" dirty="0">
              <a:latin typeface="仿宋_GB2312" panose="02010609030101010101" pitchFamily="49" charset="-122"/>
              <a:ea typeface="仿宋_GB2312" panose="02010609030101010101" pitchFamily="49" charset="-122"/>
            </a:endParaRPr>
          </a:p>
        </p:txBody>
      </p:sp>
      <p:sp>
        <p:nvSpPr>
          <p:cNvPr id="3" name="文本占位符 2"/>
          <p:cNvSpPr>
            <a:spLocks noGrp="1"/>
          </p:cNvSpPr>
          <p:nvPr>
            <p:ph type="body" idx="1"/>
          </p:nvPr>
        </p:nvSpPr>
        <p:spPr>
          <a:xfrm>
            <a:off x="323528" y="980728"/>
            <a:ext cx="8305800" cy="3960440"/>
          </a:xfrm>
        </p:spPr>
        <p:txBody>
          <a:bodyPr/>
          <a:lstStyle/>
          <a:p>
            <a:r>
              <a:rPr lang="zh-CN" altLang="en-US" b="1" dirty="0">
                <a:latin typeface="楷体_GB2312" panose="02010609030101010101" pitchFamily="49" charset="-122"/>
                <a:ea typeface="楷体_GB2312" panose="02010609030101010101" pitchFamily="49" charset="-122"/>
              </a:rPr>
              <a:t>原国家电力公司控制着中国这个世界第二大电力</a:t>
            </a:r>
            <a:r>
              <a:rPr lang="zh-CN" altLang="en-US" b="1" dirty="0" smtClean="0">
                <a:latin typeface="楷体_GB2312" panose="02010609030101010101" pitchFamily="49" charset="-122"/>
                <a:ea typeface="楷体_GB2312" panose="02010609030101010101" pitchFamily="49" charset="-122"/>
              </a:rPr>
              <a:t>市场（当时装机容量接近</a:t>
            </a:r>
            <a:r>
              <a:rPr lang="en-US" altLang="zh-CN" b="1" dirty="0" smtClean="0">
                <a:latin typeface="楷体_GB2312" panose="02010609030101010101" pitchFamily="49" charset="-122"/>
                <a:ea typeface="楷体_GB2312" panose="02010609030101010101" pitchFamily="49" charset="-122"/>
              </a:rPr>
              <a:t>3.5</a:t>
            </a:r>
            <a:r>
              <a:rPr lang="zh-CN" altLang="en-US" b="1" dirty="0" smtClean="0">
                <a:latin typeface="楷体_GB2312" panose="02010609030101010101" pitchFamily="49" charset="-122"/>
                <a:ea typeface="楷体_GB2312" panose="02010609030101010101" pitchFamily="49" charset="-122"/>
              </a:rPr>
              <a:t>亿千瓦）的</a:t>
            </a:r>
            <a:r>
              <a:rPr lang="zh-CN" altLang="en-US" b="1" dirty="0">
                <a:latin typeface="楷体_GB2312" panose="02010609030101010101" pitchFamily="49" charset="-122"/>
                <a:ea typeface="楷体_GB2312" panose="02010609030101010101" pitchFamily="49" charset="-122"/>
              </a:rPr>
              <a:t>绝大多数发电和输电能力</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en-US" altLang="zh-CN" b="1" dirty="0" smtClean="0">
                <a:latin typeface="楷体_GB2312" panose="02010609030101010101" pitchFamily="49" charset="-122"/>
                <a:ea typeface="楷体_GB2312" panose="02010609030101010101" pitchFamily="49" charset="-122"/>
              </a:rPr>
              <a:t>2002</a:t>
            </a:r>
            <a:r>
              <a:rPr lang="zh-CN" altLang="en-US" b="1" dirty="0" smtClean="0">
                <a:latin typeface="楷体_GB2312" panose="02010609030101010101" pitchFamily="49" charset="-122"/>
                <a:ea typeface="楷体_GB2312" panose="02010609030101010101" pitchFamily="49" charset="-122"/>
              </a:rPr>
              <a:t>年，</a:t>
            </a:r>
            <a:r>
              <a:rPr lang="zh-CN" altLang="en-US" b="1" dirty="0">
                <a:latin typeface="楷体_GB2312" panose="02010609030101010101" pitchFamily="49" charset="-122"/>
                <a:ea typeface="楷体_GB2312" panose="02010609030101010101" pitchFamily="49" charset="-122"/>
              </a:rPr>
              <a:t>国家</a:t>
            </a:r>
            <a:r>
              <a:rPr lang="zh-CN" altLang="en-US" b="1" dirty="0" smtClean="0">
                <a:latin typeface="楷体_GB2312" panose="02010609030101010101" pitchFamily="49" charset="-122"/>
                <a:ea typeface="楷体_GB2312" panose="02010609030101010101" pitchFamily="49" charset="-122"/>
              </a:rPr>
              <a:t>批准了以“</a:t>
            </a:r>
            <a:r>
              <a:rPr lang="zh-CN" altLang="en-US" b="1" dirty="0">
                <a:latin typeface="楷体_GB2312" panose="02010609030101010101" pitchFamily="49" charset="-122"/>
                <a:ea typeface="楷体_GB2312" panose="02010609030101010101" pitchFamily="49" charset="-122"/>
              </a:rPr>
              <a:t>厂网分开、竞价上网，打破垄断，引入竞争</a:t>
            </a:r>
            <a:r>
              <a:rPr lang="zh-CN" altLang="en-US" b="1" dirty="0" smtClean="0">
                <a:latin typeface="楷体_GB2312" panose="02010609030101010101" pitchFamily="49" charset="-122"/>
                <a:ea typeface="楷体_GB2312" panose="02010609030101010101" pitchFamily="49" charset="-122"/>
              </a:rPr>
              <a:t>”为宗旨的</a:t>
            </a:r>
            <a:r>
              <a:rPr lang="en-US" altLang="zh-CN" b="1"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电力体制改革方案</a:t>
            </a:r>
            <a:r>
              <a:rPr lang="en-US" altLang="zh-CN" b="1"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（根本目的：根治“电荒”）。</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将</a:t>
            </a:r>
            <a:r>
              <a:rPr lang="zh-CN" altLang="en-US" b="1" dirty="0">
                <a:latin typeface="楷体_GB2312" panose="02010609030101010101" pitchFamily="49" charset="-122"/>
                <a:ea typeface="楷体_GB2312" panose="02010609030101010101" pitchFamily="49" charset="-122"/>
              </a:rPr>
              <a:t>原国家电力公司管理的电力资产按照发电和电网两类业务进行划分，在发电环节引入了竞争机制，实现了</a:t>
            </a:r>
            <a:r>
              <a:rPr lang="zh-CN" altLang="en-US" b="1" dirty="0" smtClean="0">
                <a:latin typeface="楷体_GB2312" panose="02010609030101010101" pitchFamily="49" charset="-122"/>
                <a:ea typeface="楷体_GB2312" panose="02010609030101010101" pitchFamily="49" charset="-122"/>
              </a:rPr>
              <a:t>“厂网分开”。这个</a:t>
            </a:r>
            <a:r>
              <a:rPr lang="zh-CN" altLang="en-US" b="1" dirty="0">
                <a:latin typeface="楷体_GB2312" panose="02010609030101010101" pitchFamily="49" charset="-122"/>
                <a:ea typeface="楷体_GB2312" panose="02010609030101010101" pitchFamily="49" charset="-122"/>
              </a:rPr>
              <a:t>拆分案涉及原国家电力公司近</a:t>
            </a:r>
            <a:r>
              <a:rPr lang="en-US" altLang="zh-CN" b="1" dirty="0">
                <a:latin typeface="楷体_GB2312" panose="02010609030101010101" pitchFamily="49" charset="-122"/>
                <a:ea typeface="楷体_GB2312" panose="02010609030101010101" pitchFamily="49" charset="-122"/>
              </a:rPr>
              <a:t>200</a:t>
            </a:r>
            <a:r>
              <a:rPr lang="zh-CN" altLang="en-US" b="1" dirty="0">
                <a:latin typeface="楷体_GB2312" panose="02010609030101010101" pitchFamily="49" charset="-122"/>
                <a:ea typeface="楷体_GB2312" panose="02010609030101010101" pitchFamily="49" charset="-122"/>
              </a:rPr>
              <a:t>万职工。在原国家电力公司的基础上，成立了</a:t>
            </a:r>
            <a:r>
              <a:rPr lang="en-US" altLang="zh-CN" b="1" dirty="0">
                <a:latin typeface="楷体_GB2312" panose="02010609030101010101" pitchFamily="49" charset="-122"/>
                <a:ea typeface="楷体_GB2312" panose="02010609030101010101" pitchFamily="49" charset="-122"/>
              </a:rPr>
              <a:t>2</a:t>
            </a:r>
            <a:r>
              <a:rPr lang="zh-CN" altLang="en-US" b="1" dirty="0">
                <a:latin typeface="楷体_GB2312" panose="02010609030101010101" pitchFamily="49" charset="-122"/>
                <a:ea typeface="楷体_GB2312" panose="02010609030101010101" pitchFamily="49" charset="-122"/>
              </a:rPr>
              <a:t>家电网公司，</a:t>
            </a:r>
            <a:r>
              <a:rPr lang="en-US" altLang="zh-CN" b="1" dirty="0">
                <a:latin typeface="楷体_GB2312" panose="02010609030101010101" pitchFamily="49" charset="-122"/>
                <a:ea typeface="楷体_GB2312" panose="02010609030101010101" pitchFamily="49" charset="-122"/>
              </a:rPr>
              <a:t>5</a:t>
            </a:r>
            <a:r>
              <a:rPr lang="zh-CN" altLang="en-US" b="1" dirty="0">
                <a:latin typeface="楷体_GB2312" panose="02010609030101010101" pitchFamily="49" charset="-122"/>
                <a:ea typeface="楷体_GB2312" panose="02010609030101010101" pitchFamily="49" charset="-122"/>
              </a:rPr>
              <a:t>家发电集团公司和</a:t>
            </a:r>
            <a:r>
              <a:rPr lang="en-US" altLang="zh-CN" b="1" dirty="0">
                <a:latin typeface="楷体_GB2312" panose="02010609030101010101" pitchFamily="49" charset="-122"/>
                <a:ea typeface="楷体_GB2312" panose="02010609030101010101" pitchFamily="49" charset="-122"/>
              </a:rPr>
              <a:t>4</a:t>
            </a:r>
            <a:r>
              <a:rPr lang="zh-CN" altLang="en-US" b="1" dirty="0">
                <a:latin typeface="楷体_GB2312" panose="02010609030101010101" pitchFamily="49" charset="-122"/>
                <a:ea typeface="楷体_GB2312" panose="02010609030101010101" pitchFamily="49" charset="-122"/>
              </a:rPr>
              <a:t>家辅业集团公司</a:t>
            </a:r>
            <a:r>
              <a:rPr lang="zh-CN" altLang="en-US" b="1" dirty="0" smtClean="0">
                <a:latin typeface="楷体_GB2312" panose="02010609030101010101" pitchFamily="49" charset="-122"/>
                <a:ea typeface="楷体_GB2312" panose="02010609030101010101" pitchFamily="49" charset="-122"/>
              </a:rPr>
              <a:t>。</a:t>
            </a:r>
            <a:endParaRPr lang="zh-CN" altLang="en-US" dirty="0"/>
          </a:p>
        </p:txBody>
      </p:sp>
      <p:sp>
        <p:nvSpPr>
          <p:cNvPr id="4" name="矩形 3"/>
          <p:cNvSpPr/>
          <p:nvPr/>
        </p:nvSpPr>
        <p:spPr>
          <a:xfrm>
            <a:off x="539552" y="4941168"/>
            <a:ext cx="8352928" cy="1200329"/>
          </a:xfrm>
          <a:prstGeom prst="rect">
            <a:avLst/>
          </a:prstGeom>
        </p:spPr>
        <p:txBody>
          <a:bodyPr wrap="square">
            <a:spAutoFit/>
          </a:bodyPr>
          <a:lstStyle/>
          <a:p>
            <a:pPr marL="285750" indent="-285750">
              <a:buClr>
                <a:srgbClr val="C00000"/>
              </a:buClr>
              <a:buFont typeface="Wingdings" panose="05000000000000000000" pitchFamily="2" charset="2"/>
              <a:buChar char="u"/>
            </a:pPr>
            <a:r>
              <a:rPr lang="zh-CN" altLang="en-US" b="1" dirty="0">
                <a:latin typeface="宋体" panose="02010600030101010101" pitchFamily="2" charset="-122"/>
                <a:ea typeface="宋体" panose="02010600030101010101" pitchFamily="2" charset="-122"/>
              </a:rPr>
              <a:t>两大电网公司：国家电网公司、中国南方电网有限责任公司 </a:t>
            </a:r>
            <a:endParaRPr lang="en-US" altLang="zh-CN" b="1" dirty="0" smtClean="0">
              <a:latin typeface="宋体" panose="02010600030101010101" pitchFamily="2" charset="-122"/>
              <a:ea typeface="宋体" panose="02010600030101010101" pitchFamily="2" charset="-122"/>
            </a:endParaRPr>
          </a:p>
          <a:p>
            <a:pPr marL="285750" indent="-285750">
              <a:buClr>
                <a:srgbClr val="C00000"/>
              </a:buClr>
              <a:buFont typeface="Wingdings" panose="05000000000000000000" pitchFamily="2" charset="2"/>
              <a:buChar char="u"/>
            </a:pPr>
            <a:r>
              <a:rPr lang="zh-CN" altLang="en-US" b="1" dirty="0" smtClean="0">
                <a:latin typeface="宋体" panose="02010600030101010101" pitchFamily="2" charset="-122"/>
                <a:ea typeface="宋体" panose="02010600030101010101" pitchFamily="2" charset="-122"/>
              </a:rPr>
              <a:t>五</a:t>
            </a:r>
            <a:r>
              <a:rPr lang="zh-CN" altLang="en-US" b="1" dirty="0">
                <a:latin typeface="宋体" panose="02010600030101010101" pitchFamily="2" charset="-122"/>
                <a:ea typeface="宋体" panose="02010600030101010101" pitchFamily="2" charset="-122"/>
              </a:rPr>
              <a:t>大发电集团：中国华能集团公司、中国大唐集团公司、中国华电集团公司</a:t>
            </a:r>
            <a:r>
              <a:rPr lang="zh-CN" altLang="en-US" b="1" dirty="0" smtClean="0">
                <a:latin typeface="宋体" panose="02010600030101010101" pitchFamily="2" charset="-122"/>
                <a:ea typeface="宋体" panose="02010600030101010101" pitchFamily="2" charset="-122"/>
              </a:rPr>
              <a:t>、  </a:t>
            </a:r>
            <a:endParaRPr lang="en-US" altLang="zh-CN" b="1" dirty="0" smtClean="0">
              <a:latin typeface="宋体" panose="02010600030101010101" pitchFamily="2" charset="-122"/>
              <a:ea typeface="宋体" panose="02010600030101010101" pitchFamily="2" charset="-122"/>
            </a:endParaRPr>
          </a:p>
          <a:p>
            <a:pPr>
              <a:buClr>
                <a:srgbClr val="C00000"/>
              </a:buClr>
            </a:pPr>
            <a:r>
              <a:rPr lang="en-US" altLang="zh-CN" b="1" dirty="0">
                <a:latin typeface="宋体" panose="02010600030101010101" pitchFamily="2" charset="-122"/>
                <a:ea typeface="宋体" panose="02010600030101010101" pitchFamily="2" charset="-122"/>
              </a:rPr>
              <a:t> </a:t>
            </a:r>
            <a:r>
              <a:rPr lang="en-US" altLang="zh-CN" b="1" dirty="0" smtClean="0">
                <a:latin typeface="宋体" panose="02010600030101010101" pitchFamily="2" charset="-122"/>
                <a:ea typeface="宋体" panose="02010600030101010101" pitchFamily="2" charset="-122"/>
              </a:rPr>
              <a:t>                </a:t>
            </a:r>
            <a:r>
              <a:rPr lang="zh-CN" altLang="en-US" b="1" dirty="0" smtClean="0">
                <a:latin typeface="宋体" panose="02010600030101010101" pitchFamily="2" charset="-122"/>
                <a:ea typeface="宋体" panose="02010600030101010101" pitchFamily="2" charset="-122"/>
              </a:rPr>
              <a:t>中国</a:t>
            </a:r>
            <a:r>
              <a:rPr lang="zh-CN" altLang="en-US" b="1" dirty="0">
                <a:latin typeface="宋体" panose="02010600030101010101" pitchFamily="2" charset="-122"/>
                <a:ea typeface="宋体" panose="02010600030101010101" pitchFamily="2" charset="-122"/>
              </a:rPr>
              <a:t>国电集团公司、中国电力投资集团公司</a:t>
            </a:r>
          </a:p>
          <a:p>
            <a:pPr marL="285750" indent="-285750">
              <a:buClr>
                <a:srgbClr val="C00000"/>
              </a:buClr>
              <a:buFont typeface="Wingdings" panose="05000000000000000000" pitchFamily="2" charset="2"/>
              <a:buChar char="u"/>
            </a:pPr>
            <a:r>
              <a:rPr lang="zh-CN" altLang="en-US" b="1" dirty="0" smtClean="0">
                <a:latin typeface="宋体" panose="02010600030101010101" pitchFamily="2" charset="-122"/>
                <a:ea typeface="宋体" panose="02010600030101010101" pitchFamily="2" charset="-122"/>
              </a:rPr>
              <a:t>四</a:t>
            </a:r>
            <a:r>
              <a:rPr lang="zh-CN" altLang="en-US" b="1" dirty="0">
                <a:latin typeface="宋体" panose="02010600030101010101" pitchFamily="2" charset="-122"/>
                <a:ea typeface="宋体" panose="02010600030101010101" pitchFamily="2" charset="-122"/>
              </a:rPr>
              <a:t>小豪门：国投电力、国华电力、华润电力、中广</a:t>
            </a:r>
            <a:r>
              <a:rPr lang="zh-CN" altLang="en-US" b="1" dirty="0" smtClean="0">
                <a:latin typeface="宋体" panose="02010600030101010101" pitchFamily="2" charset="-122"/>
                <a:ea typeface="宋体" panose="02010600030101010101" pitchFamily="2" charset="-122"/>
              </a:rPr>
              <a:t>核</a:t>
            </a:r>
            <a:endParaRPr lang="zh-CN" altLang="en-US"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1889680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628800"/>
            <a:ext cx="8305800" cy="4320480"/>
          </a:xfrm>
        </p:spPr>
        <p:txBody>
          <a:bodyPr/>
          <a:lstStyle/>
          <a:p>
            <a:r>
              <a:rPr lang="zh-CN" altLang="en-US" b="1" dirty="0">
                <a:latin typeface="楷体_GB2312" panose="02010609030101010101" pitchFamily="49" charset="-122"/>
                <a:ea typeface="楷体_GB2312" panose="02010609030101010101" pitchFamily="49" charset="-122"/>
              </a:rPr>
              <a:t>原国家电力公司管理的发电资产被直接改组或重组为规模大致相当的</a:t>
            </a:r>
            <a:r>
              <a:rPr lang="en-US" altLang="zh-CN" b="1" dirty="0">
                <a:latin typeface="楷体_GB2312" panose="02010609030101010101" pitchFamily="49" charset="-122"/>
                <a:ea typeface="楷体_GB2312" panose="02010609030101010101" pitchFamily="49" charset="-122"/>
              </a:rPr>
              <a:t>5</a:t>
            </a:r>
            <a:r>
              <a:rPr lang="zh-CN" altLang="en-US" b="1" dirty="0">
                <a:latin typeface="楷体_GB2312" panose="02010609030101010101" pitchFamily="49" charset="-122"/>
                <a:ea typeface="楷体_GB2312" panose="02010609030101010101" pitchFamily="49" charset="-122"/>
              </a:rPr>
              <a:t>个全国性的独立发电公司，将逐步实行“竞价上网”，开展公平竞争。</a:t>
            </a:r>
            <a:r>
              <a:rPr lang="en-US" altLang="zh-CN" b="1" dirty="0">
                <a:latin typeface="楷体_GB2312" panose="02010609030101010101" pitchFamily="49" charset="-122"/>
                <a:ea typeface="楷体_GB2312" panose="02010609030101010101" pitchFamily="49" charset="-122"/>
              </a:rPr>
              <a:t>5</a:t>
            </a:r>
            <a:r>
              <a:rPr lang="zh-CN" altLang="en-US" b="1" dirty="0">
                <a:latin typeface="楷体_GB2312" panose="02010609030101010101" pitchFamily="49" charset="-122"/>
                <a:ea typeface="楷体_GB2312" panose="02010609030101010101" pitchFamily="49" charset="-122"/>
              </a:rPr>
              <a:t>家发电集团公司在各区域电力市场中的份额均不超过</a:t>
            </a:r>
            <a:r>
              <a:rPr lang="en-US" altLang="zh-CN" b="1" dirty="0">
                <a:latin typeface="楷体_GB2312" panose="02010609030101010101" pitchFamily="49" charset="-122"/>
                <a:ea typeface="楷体_GB2312" panose="02010609030101010101" pitchFamily="49" charset="-122"/>
              </a:rPr>
              <a:t>20%</a:t>
            </a:r>
            <a:r>
              <a:rPr lang="zh-CN" altLang="en-US" b="1" dirty="0">
                <a:latin typeface="楷体_GB2312" panose="02010609030101010101" pitchFamily="49" charset="-122"/>
                <a:ea typeface="楷体_GB2312" panose="02010609030101010101" pitchFamily="49" charset="-122"/>
              </a:rPr>
              <a:t>，平均可控发电容量为</a:t>
            </a:r>
            <a:r>
              <a:rPr lang="en-US" altLang="zh-CN" b="1" dirty="0">
                <a:latin typeface="楷体_GB2312" panose="02010609030101010101" pitchFamily="49" charset="-122"/>
                <a:ea typeface="楷体_GB2312" panose="02010609030101010101" pitchFamily="49" charset="-122"/>
              </a:rPr>
              <a:t>3200</a:t>
            </a:r>
            <a:r>
              <a:rPr lang="zh-CN" altLang="en-US" b="1" dirty="0">
                <a:latin typeface="楷体_GB2312" panose="02010609030101010101" pitchFamily="49" charset="-122"/>
                <a:ea typeface="楷体_GB2312" panose="02010609030101010101" pitchFamily="49" charset="-122"/>
              </a:rPr>
              <a:t>万千瓦，权益容量为</a:t>
            </a:r>
            <a:r>
              <a:rPr lang="en-US" altLang="zh-CN" b="1" dirty="0">
                <a:latin typeface="楷体_GB2312" panose="02010609030101010101" pitchFamily="49" charset="-122"/>
                <a:ea typeface="楷体_GB2312" panose="02010609030101010101" pitchFamily="49" charset="-122"/>
              </a:rPr>
              <a:t>2000</a:t>
            </a:r>
            <a:r>
              <a:rPr lang="zh-CN" altLang="en-US" b="1" dirty="0">
                <a:latin typeface="楷体_GB2312" panose="02010609030101010101" pitchFamily="49" charset="-122"/>
                <a:ea typeface="楷体_GB2312" panose="02010609030101010101" pitchFamily="49" charset="-122"/>
              </a:rPr>
              <a:t>万千瓦左右。电网环节分别设立了国家电网公司和中国南方电网有限责任公司</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国家</a:t>
            </a:r>
            <a:r>
              <a:rPr lang="zh-CN" altLang="en-US" b="1" dirty="0">
                <a:latin typeface="楷体_GB2312" panose="02010609030101010101" pitchFamily="49" charset="-122"/>
                <a:ea typeface="楷体_GB2312" panose="02010609030101010101" pitchFamily="49" charset="-122"/>
              </a:rPr>
              <a:t>电网公司下设华北、东北、华东、华中和西北</a:t>
            </a:r>
            <a:r>
              <a:rPr lang="en-US" altLang="zh-CN" b="1" dirty="0">
                <a:latin typeface="楷体_GB2312" panose="02010609030101010101" pitchFamily="49" charset="-122"/>
                <a:ea typeface="楷体_GB2312" panose="02010609030101010101" pitchFamily="49" charset="-122"/>
              </a:rPr>
              <a:t>5</a:t>
            </a:r>
            <a:r>
              <a:rPr lang="zh-CN" altLang="en-US" b="1" dirty="0">
                <a:latin typeface="楷体_GB2312" panose="02010609030101010101" pitchFamily="49" charset="-122"/>
                <a:ea typeface="楷体_GB2312" panose="02010609030101010101" pitchFamily="49" charset="-122"/>
              </a:rPr>
              <a:t>个区域电网公司</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还成立</a:t>
            </a:r>
            <a:r>
              <a:rPr lang="zh-CN" altLang="en-US" b="1" dirty="0">
                <a:latin typeface="楷体_GB2312" panose="02010609030101010101" pitchFamily="49" charset="-122"/>
                <a:ea typeface="楷体_GB2312" panose="02010609030101010101" pitchFamily="49" charset="-122"/>
              </a:rPr>
              <a:t>了中国电力工程顾问集团公司、中国水电工程顾问集团公司、中国水利水电建设集团公司和中国葛洲坝集团公司等</a:t>
            </a:r>
            <a:r>
              <a:rPr lang="en-US" altLang="zh-CN" b="1" dirty="0">
                <a:latin typeface="楷体_GB2312" panose="02010609030101010101" pitchFamily="49" charset="-122"/>
                <a:ea typeface="楷体_GB2312" panose="02010609030101010101" pitchFamily="49" charset="-122"/>
              </a:rPr>
              <a:t>4</a:t>
            </a:r>
            <a:r>
              <a:rPr lang="zh-CN" altLang="en-US" b="1" dirty="0">
                <a:latin typeface="楷体_GB2312" panose="02010609030101010101" pitchFamily="49" charset="-122"/>
                <a:ea typeface="楷体_GB2312" panose="02010609030101010101" pitchFamily="49" charset="-122"/>
              </a:rPr>
              <a:t>家辅业集团公司</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endParaRPr lang="zh-CN" altLang="en-US" dirty="0"/>
          </a:p>
        </p:txBody>
      </p:sp>
      <p:sp>
        <p:nvSpPr>
          <p:cNvPr id="4" name="标题 1"/>
          <p:cNvSpPr txBox="1">
            <a:spLocks/>
          </p:cNvSpPr>
          <p:nvPr/>
        </p:nvSpPr>
        <p:spPr bwMode="auto">
          <a:xfrm>
            <a:off x="533400" y="260648"/>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kern="0" dirty="0" smtClean="0">
                <a:latin typeface="仿宋_GB2312" panose="02010609030101010101" pitchFamily="49" charset="-122"/>
                <a:ea typeface="仿宋_GB2312" panose="02010609030101010101" pitchFamily="49" charset="-122"/>
              </a:rPr>
              <a:t>情景</a:t>
            </a:r>
            <a:r>
              <a:rPr lang="en-US" altLang="zh-CN" b="1" kern="0" dirty="0" smtClean="0">
                <a:latin typeface="仿宋_GB2312" panose="02010609030101010101" pitchFamily="49" charset="-122"/>
                <a:ea typeface="仿宋_GB2312" panose="02010609030101010101" pitchFamily="49" charset="-122"/>
              </a:rPr>
              <a:t>1:</a:t>
            </a:r>
            <a:r>
              <a:rPr lang="zh-CN" altLang="en-US" b="1" kern="0" dirty="0" smtClean="0">
                <a:latin typeface="仿宋_GB2312" panose="02010609030101010101" pitchFamily="49" charset="-122"/>
                <a:ea typeface="仿宋_GB2312" panose="02010609030101010101" pitchFamily="49" charset="-122"/>
              </a:rPr>
              <a:t>国发</a:t>
            </a:r>
            <a:r>
              <a:rPr lang="en-US" altLang="zh-CN" b="1" kern="0" dirty="0" smtClean="0">
                <a:latin typeface="仿宋_GB2312" panose="02010609030101010101" pitchFamily="49" charset="-122"/>
                <a:ea typeface="仿宋_GB2312" panose="02010609030101010101" pitchFamily="49" charset="-122"/>
              </a:rPr>
              <a:t>[2002]5</a:t>
            </a:r>
            <a:r>
              <a:rPr lang="zh-CN" altLang="en-US" b="1" kern="0" dirty="0" smtClean="0">
                <a:latin typeface="仿宋_GB2312" panose="02010609030101010101" pitchFamily="49" charset="-122"/>
                <a:ea typeface="仿宋_GB2312" panose="02010609030101010101" pitchFamily="49" charset="-122"/>
              </a:rPr>
              <a:t>号文件发布</a:t>
            </a:r>
            <a:endParaRPr lang="zh-CN" altLang="en-US" b="1" kern="0" dirty="0">
              <a:latin typeface="仿宋_GB2312" panose="02010609030101010101" pitchFamily="49" charset="-122"/>
              <a:ea typeface="仿宋_GB2312" panose="02010609030101010101" pitchFamily="49" charset="-122"/>
            </a:endParaRPr>
          </a:p>
        </p:txBody>
      </p:sp>
    </p:spTree>
    <p:extLst>
      <p:ext uri="{BB962C8B-B14F-4D97-AF65-F5344CB8AC3E}">
        <p14:creationId xmlns:p14="http://schemas.microsoft.com/office/powerpoint/2010/main" val="2558732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p:txBody>
          <a:bodyPr/>
          <a:lstStyle/>
          <a:p>
            <a:r>
              <a:rPr lang="zh-CN" altLang="en-US" b="1" dirty="0">
                <a:latin typeface="楷体_GB2312" panose="02010609030101010101" pitchFamily="49" charset="-122"/>
                <a:ea typeface="楷体_GB2312" panose="02010609030101010101" pitchFamily="49" charset="-122"/>
              </a:rPr>
              <a:t>为了对电力企业进行有效监管，国务院决定成立国家电力监管委员会，向区域电网公司电力交易调度中心派驻代表机构。监管委员会的主要职责是制订市场运营规则，监管市场运行，维护公平竞争；向政府价格主管部门提出调整电价建议；监督电力企业生产标准，颁发和管理电力业务许可证；处理电力纠纷；负责监督社会普遍服务政策的实施</a:t>
            </a:r>
            <a:r>
              <a:rPr lang="zh-CN" altLang="en-US" b="1" dirty="0" smtClean="0">
                <a:latin typeface="楷体_GB2312" panose="02010609030101010101" pitchFamily="49" charset="-122"/>
                <a:ea typeface="楷体_GB2312" panose="02010609030101010101" pitchFamily="49" charset="-122"/>
              </a:rPr>
              <a:t>。</a:t>
            </a:r>
            <a:endParaRPr lang="zh-CN" altLang="en-US" dirty="0"/>
          </a:p>
          <a:p>
            <a:r>
              <a:rPr lang="zh-CN" altLang="en-US" dirty="0"/>
              <a:t>    </a:t>
            </a:r>
            <a:r>
              <a:rPr lang="zh-CN" altLang="en-US" b="1" dirty="0">
                <a:latin typeface="楷体_GB2312" panose="02010609030101010101" pitchFamily="49" charset="-122"/>
                <a:ea typeface="楷体_GB2312" panose="02010609030101010101" pitchFamily="49" charset="-122"/>
              </a:rPr>
              <a:t>在人民大会堂举行的成立大会上，中共中央政治局委员、国家计委主任曾培炎说，中国电力新组建（改组）公司正式宣告成立，是中国电力体制改革的重要成果，是电力工业发展的新的里程碑，是社会经济生活中的大事。</a:t>
            </a:r>
          </a:p>
          <a:p>
            <a:pPr marL="0" indent="0">
              <a:buNone/>
            </a:pPr>
            <a:endParaRPr lang="zh-CN" altLang="en-US" dirty="0"/>
          </a:p>
        </p:txBody>
      </p:sp>
      <p:sp>
        <p:nvSpPr>
          <p:cNvPr id="4" name="标题 1"/>
          <p:cNvSpPr txBox="1">
            <a:spLocks/>
          </p:cNvSpPr>
          <p:nvPr/>
        </p:nvSpPr>
        <p:spPr bwMode="auto">
          <a:xfrm>
            <a:off x="533400" y="260648"/>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kern="0" dirty="0" smtClean="0">
                <a:latin typeface="仿宋_GB2312" panose="02010609030101010101" pitchFamily="49" charset="-122"/>
                <a:ea typeface="仿宋_GB2312" panose="02010609030101010101" pitchFamily="49" charset="-122"/>
              </a:rPr>
              <a:t>情景</a:t>
            </a:r>
            <a:r>
              <a:rPr lang="en-US" altLang="zh-CN" b="1" kern="0" dirty="0" smtClean="0">
                <a:latin typeface="仿宋_GB2312" panose="02010609030101010101" pitchFamily="49" charset="-122"/>
                <a:ea typeface="仿宋_GB2312" panose="02010609030101010101" pitchFamily="49" charset="-122"/>
              </a:rPr>
              <a:t>1:</a:t>
            </a:r>
            <a:r>
              <a:rPr lang="zh-CN" altLang="en-US" b="1" kern="0" dirty="0" smtClean="0">
                <a:latin typeface="仿宋_GB2312" panose="02010609030101010101" pitchFamily="49" charset="-122"/>
                <a:ea typeface="仿宋_GB2312" panose="02010609030101010101" pitchFamily="49" charset="-122"/>
              </a:rPr>
              <a:t>国发</a:t>
            </a:r>
            <a:r>
              <a:rPr lang="en-US" altLang="zh-CN" b="1" kern="0" dirty="0" smtClean="0">
                <a:latin typeface="仿宋_GB2312" panose="02010609030101010101" pitchFamily="49" charset="-122"/>
                <a:ea typeface="仿宋_GB2312" panose="02010609030101010101" pitchFamily="49" charset="-122"/>
              </a:rPr>
              <a:t>[2002]5</a:t>
            </a:r>
            <a:r>
              <a:rPr lang="zh-CN" altLang="en-US" b="1" kern="0" dirty="0" smtClean="0">
                <a:latin typeface="仿宋_GB2312" panose="02010609030101010101" pitchFamily="49" charset="-122"/>
                <a:ea typeface="仿宋_GB2312" panose="02010609030101010101" pitchFamily="49" charset="-122"/>
              </a:rPr>
              <a:t>号文件发布</a:t>
            </a:r>
            <a:endParaRPr lang="zh-CN" altLang="en-US" b="1" kern="0" dirty="0">
              <a:latin typeface="仿宋_GB2312" panose="02010609030101010101" pitchFamily="49" charset="-122"/>
              <a:ea typeface="仿宋_GB2312" panose="02010609030101010101" pitchFamily="49" charset="-122"/>
            </a:endParaRPr>
          </a:p>
        </p:txBody>
      </p:sp>
    </p:spTree>
    <p:extLst>
      <p:ext uri="{BB962C8B-B14F-4D97-AF65-F5344CB8AC3E}">
        <p14:creationId xmlns:p14="http://schemas.microsoft.com/office/powerpoint/2010/main" val="170001845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1196752"/>
            <a:ext cx="8305800" cy="4968552"/>
          </a:xfrm>
        </p:spPr>
        <p:txBody>
          <a:bodyPr/>
          <a:lstStyle/>
          <a:p>
            <a:r>
              <a:rPr lang="zh-CN" altLang="en-US" b="1" dirty="0" smtClean="0">
                <a:latin typeface="楷体_GB2312" panose="02010609030101010101" pitchFamily="49" charset="-122"/>
                <a:ea typeface="楷体_GB2312" panose="02010609030101010101" pitchFamily="49" charset="-122"/>
              </a:rPr>
              <a:t>截止到</a:t>
            </a:r>
            <a:r>
              <a:rPr lang="en-US" altLang="zh-CN" b="1" dirty="0" smtClean="0">
                <a:latin typeface="楷体_GB2312" panose="02010609030101010101" pitchFamily="49" charset="-122"/>
                <a:ea typeface="楷体_GB2312" panose="02010609030101010101" pitchFamily="49" charset="-122"/>
              </a:rPr>
              <a:t>2014</a:t>
            </a:r>
            <a:r>
              <a:rPr lang="zh-CN" altLang="en-US" b="1" dirty="0" smtClean="0">
                <a:latin typeface="楷体_GB2312" panose="02010609030101010101" pitchFamily="49" charset="-122"/>
                <a:ea typeface="楷体_GB2312" panose="02010609030101010101" pitchFamily="49" charset="-122"/>
              </a:rPr>
              <a:t>年，</a:t>
            </a:r>
            <a:r>
              <a:rPr lang="en-US" altLang="zh-CN" b="1" dirty="0" smtClean="0">
                <a:latin typeface="楷体_GB2312" panose="02010609030101010101" pitchFamily="49" charset="-122"/>
                <a:ea typeface="楷体_GB2312" panose="02010609030101010101" pitchFamily="49" charset="-122"/>
              </a:rPr>
              <a:t>2012</a:t>
            </a:r>
            <a:r>
              <a:rPr lang="zh-CN" altLang="en-US" b="1" dirty="0" smtClean="0">
                <a:latin typeface="楷体_GB2312" panose="02010609030101010101" pitchFamily="49" charset="-122"/>
                <a:ea typeface="楷体_GB2312" panose="02010609030101010101" pitchFamily="49" charset="-122"/>
              </a:rPr>
              <a:t>年</a:t>
            </a:r>
            <a:r>
              <a:rPr lang="en-US" altLang="zh-CN" b="1" dirty="0" smtClean="0">
                <a:latin typeface="楷体_GB2312" panose="02010609030101010101" pitchFamily="49" charset="-122"/>
                <a:ea typeface="楷体_GB2312" panose="02010609030101010101" pitchFamily="49" charset="-122"/>
              </a:rPr>
              <a:t>5</a:t>
            </a:r>
            <a:r>
              <a:rPr lang="zh-CN" altLang="en-US" b="1" dirty="0" smtClean="0">
                <a:latin typeface="楷体_GB2312" panose="02010609030101010101" pitchFamily="49" charset="-122"/>
                <a:ea typeface="楷体_GB2312" panose="02010609030101010101" pitchFamily="49" charset="-122"/>
              </a:rPr>
              <a:t>号文的改革任务只完成了两个：一是“厂网分开”，即电网和电厂分离；二是“主辅分离”，即电力系统过去附带的学校、医院分离出去。真正涉及垄断利益的改革难以推行，输、配、售仍然一体化，发电企业没有实行竞价上网。</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陕西地方电力公司并未被国家电网收购，原来一直向国家电网购电，后配售给辖区内企业和家庭，后来因为用电量猛增，附近的内蒙古西部电网又能提供廉价的电力，所以，陕西地电和蒙西电网绕开国家电网公司，在两地之间建设一条</a:t>
            </a:r>
            <a:r>
              <a:rPr lang="en-US" altLang="zh-CN" b="1" dirty="0" smtClean="0">
                <a:latin typeface="楷体_GB2312" panose="02010609030101010101" pitchFamily="49" charset="-122"/>
                <a:ea typeface="楷体_GB2312" panose="02010609030101010101" pitchFamily="49" charset="-122"/>
              </a:rPr>
              <a:t>220</a:t>
            </a:r>
            <a:r>
              <a:rPr lang="zh-CN" altLang="en-US" b="1" dirty="0" smtClean="0">
                <a:latin typeface="楷体_GB2312" panose="02010609030101010101" pitchFamily="49" charset="-122"/>
                <a:ea typeface="楷体_GB2312" panose="02010609030101010101" pitchFamily="49" charset="-122"/>
              </a:rPr>
              <a:t>千伏的高压电网，由蒙西电网直接给陕西地电输电，用电价格下降。但是国家电网认为这个项目没有通过审批，为防止重复建设、维护陕西电网安全，不允许项目完工，发生了陕西地电与国电之间百人规模的武斗。</a:t>
            </a:r>
            <a:endParaRPr lang="zh-CN" altLang="en-US" b="1" dirty="0">
              <a:latin typeface="楷体_GB2312" panose="02010609030101010101" pitchFamily="49" charset="-122"/>
              <a:ea typeface="楷体_GB2312" panose="02010609030101010101" pitchFamily="49" charset="-122"/>
            </a:endParaRPr>
          </a:p>
        </p:txBody>
      </p:sp>
      <p:sp>
        <p:nvSpPr>
          <p:cNvPr id="4" name="标题 1"/>
          <p:cNvSpPr txBox="1">
            <a:spLocks/>
          </p:cNvSpPr>
          <p:nvPr/>
        </p:nvSpPr>
        <p:spPr bwMode="auto">
          <a:xfrm>
            <a:off x="323528" y="332656"/>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kern="0" dirty="0" smtClean="0">
                <a:latin typeface="仿宋_GB2312" panose="02010609030101010101" pitchFamily="49" charset="-122"/>
                <a:ea typeface="仿宋_GB2312" panose="02010609030101010101" pitchFamily="49" charset="-122"/>
              </a:rPr>
              <a:t>情景</a:t>
            </a:r>
            <a:r>
              <a:rPr lang="en-US" altLang="zh-CN" b="1" kern="0" dirty="0" smtClean="0">
                <a:latin typeface="仿宋_GB2312" panose="02010609030101010101" pitchFamily="49" charset="-122"/>
                <a:ea typeface="仿宋_GB2312" panose="02010609030101010101" pitchFamily="49" charset="-122"/>
              </a:rPr>
              <a:t>2:</a:t>
            </a:r>
            <a:r>
              <a:rPr lang="zh-CN" altLang="en-US" b="1" kern="0" dirty="0" smtClean="0">
                <a:latin typeface="仿宋_GB2312" panose="02010609030101010101" pitchFamily="49" charset="-122"/>
                <a:ea typeface="仿宋_GB2312" panose="02010609030101010101" pitchFamily="49" charset="-122"/>
              </a:rPr>
              <a:t>电力体制改革举步维艰</a:t>
            </a:r>
            <a:endParaRPr lang="zh-CN" altLang="en-US" b="1" kern="0" dirty="0">
              <a:latin typeface="仿宋_GB2312" panose="02010609030101010101" pitchFamily="49" charset="-122"/>
              <a:ea typeface="仿宋_GB2312" panose="02010609030101010101" pitchFamily="49" charset="-122"/>
            </a:endParaRPr>
          </a:p>
        </p:txBody>
      </p:sp>
    </p:spTree>
    <p:extLst>
      <p:ext uri="{BB962C8B-B14F-4D97-AF65-F5344CB8AC3E}">
        <p14:creationId xmlns:p14="http://schemas.microsoft.com/office/powerpoint/2010/main" val="246343063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2" y="1461559"/>
            <a:ext cx="8593832" cy="4689648"/>
          </a:xfrm>
        </p:spPr>
        <p:txBody>
          <a:bodyPr/>
          <a:lstStyle/>
          <a:p>
            <a:r>
              <a:rPr lang="zh-CN" altLang="en-US" b="1" dirty="0">
                <a:latin typeface="楷体_GB2312" panose="02010609030101010101" pitchFamily="49" charset="-122"/>
                <a:ea typeface="楷体_GB2312" panose="02010609030101010101" pitchFamily="49" charset="-122"/>
              </a:rPr>
              <a:t>山东魏桥集团自办电厂，外卖电价至少比国电低</a:t>
            </a:r>
            <a:r>
              <a:rPr lang="en-US" altLang="zh-CN" b="1" dirty="0" smtClean="0">
                <a:latin typeface="楷体_GB2312" panose="02010609030101010101" pitchFamily="49" charset="-122"/>
                <a:ea typeface="楷体_GB2312" panose="02010609030101010101" pitchFamily="49" charset="-122"/>
              </a:rPr>
              <a:t>1/3</a:t>
            </a:r>
            <a:r>
              <a:rPr lang="zh-CN" altLang="en-US" b="1" dirty="0" smtClean="0">
                <a:latin typeface="楷体_GB2312" panose="02010609030101010101" pitchFamily="49" charset="-122"/>
                <a:ea typeface="楷体_GB2312" panose="02010609030101010101" pitchFamily="49" charset="-122"/>
              </a:rPr>
              <a:t>。</a:t>
            </a:r>
            <a:r>
              <a:rPr lang="en-US" altLang="zh-CN" b="1" dirty="0" smtClean="0">
                <a:latin typeface="楷体_GB2312" panose="02010609030101010101" pitchFamily="49" charset="-122"/>
                <a:ea typeface="楷体_GB2312" panose="02010609030101010101" pitchFamily="49" charset="-122"/>
              </a:rPr>
              <a:t>2009</a:t>
            </a:r>
            <a:r>
              <a:rPr lang="zh-CN" altLang="en-US" b="1" dirty="0">
                <a:latin typeface="楷体_GB2312" panose="02010609030101010101" pitchFamily="49" charset="-122"/>
                <a:ea typeface="楷体_GB2312" panose="02010609030101010101" pitchFamily="49" charset="-122"/>
              </a:rPr>
              <a:t>年“李庄聚众事件”中魏桥打赢国电，使得魏桥模式在山东发展</a:t>
            </a:r>
            <a:r>
              <a:rPr lang="zh-CN" altLang="en-US" b="1" dirty="0" smtClean="0">
                <a:latin typeface="楷体_GB2312" panose="02010609030101010101" pitchFamily="49" charset="-122"/>
                <a:ea typeface="楷体_GB2312" panose="02010609030101010101" pitchFamily="49" charset="-122"/>
              </a:rPr>
              <a:t>壮大。</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魏桥镇</a:t>
            </a:r>
            <a:r>
              <a:rPr lang="zh-CN" altLang="en-US" b="1" dirty="0">
                <a:latin typeface="楷体_GB2312" panose="02010609030101010101" pitchFamily="49" charset="-122"/>
                <a:ea typeface="楷体_GB2312" panose="02010609030101010101" pitchFamily="49" charset="-122"/>
              </a:rPr>
              <a:t>是中国百强名镇之一，能取得这一称号主要是因为镇上的山东魏桥集团。魏桥集团总资产</a:t>
            </a:r>
            <a:r>
              <a:rPr lang="en-US" altLang="zh-CN" b="1" dirty="0">
                <a:latin typeface="楷体_GB2312" panose="02010609030101010101" pitchFamily="49" charset="-122"/>
                <a:ea typeface="楷体_GB2312" panose="02010609030101010101" pitchFamily="49" charset="-122"/>
              </a:rPr>
              <a:t>650</a:t>
            </a:r>
            <a:r>
              <a:rPr lang="zh-CN" altLang="en-US" b="1" dirty="0">
                <a:latin typeface="楷体_GB2312" panose="02010609030101010101" pitchFamily="49" charset="-122"/>
                <a:ea typeface="楷体_GB2312" panose="02010609030101010101" pitchFamily="49" charset="-122"/>
              </a:rPr>
              <a:t>亿元、员工</a:t>
            </a:r>
            <a:r>
              <a:rPr lang="en-US" altLang="zh-CN" b="1" dirty="0">
                <a:latin typeface="楷体_GB2312" panose="02010609030101010101" pitchFamily="49" charset="-122"/>
                <a:ea typeface="楷体_GB2312" panose="02010609030101010101" pitchFamily="49" charset="-122"/>
              </a:rPr>
              <a:t>16</a:t>
            </a:r>
            <a:r>
              <a:rPr lang="zh-CN" altLang="en-US" b="1" dirty="0">
                <a:latin typeface="楷体_GB2312" panose="02010609030101010101" pitchFamily="49" charset="-122"/>
                <a:ea typeface="楷体_GB2312" panose="02010609030101010101" pitchFamily="49" charset="-122"/>
              </a:rPr>
              <a:t>万人，是集棉业、棉纺、织造、染整、服装、家纺、热电、铝业、盐化于一体的特大型企业。该集团董事长为张士平，而张士平家族在</a:t>
            </a:r>
            <a:r>
              <a:rPr lang="en-US" altLang="zh-CN" b="1" dirty="0">
                <a:latin typeface="楷体_GB2312" panose="02010609030101010101" pitchFamily="49" charset="-122"/>
                <a:ea typeface="楷体_GB2312" panose="02010609030101010101" pitchFamily="49" charset="-122"/>
              </a:rPr>
              <a:t>2011</a:t>
            </a:r>
            <a:r>
              <a:rPr lang="zh-CN" altLang="en-US" b="1" dirty="0">
                <a:latin typeface="楷体_GB2312" panose="02010609030101010101" pitchFamily="49" charset="-122"/>
                <a:ea typeface="楷体_GB2312" panose="02010609030101010101" pitchFamily="49" charset="-122"/>
              </a:rPr>
              <a:t>年胡润富豪榜中以</a:t>
            </a:r>
            <a:r>
              <a:rPr lang="en-US" altLang="zh-CN" b="1" dirty="0">
                <a:latin typeface="楷体_GB2312" panose="02010609030101010101" pitchFamily="49" charset="-122"/>
                <a:ea typeface="楷体_GB2312" panose="02010609030101010101" pitchFamily="49" charset="-122"/>
              </a:rPr>
              <a:t>300</a:t>
            </a:r>
            <a:r>
              <a:rPr lang="zh-CN" altLang="en-US" b="1" dirty="0">
                <a:latin typeface="楷体_GB2312" panose="02010609030101010101" pitchFamily="49" charset="-122"/>
                <a:ea typeface="楷体_GB2312" panose="02010609030101010101" pitchFamily="49" charset="-122"/>
              </a:rPr>
              <a:t>亿的资产被评为“山东首富”</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与</a:t>
            </a:r>
            <a:r>
              <a:rPr lang="zh-CN" altLang="en-US" b="1" dirty="0">
                <a:latin typeface="楷体_GB2312" panose="02010609030101010101" pitchFamily="49" charset="-122"/>
                <a:ea typeface="楷体_GB2312" panose="02010609030101010101" pitchFamily="49" charset="-122"/>
              </a:rPr>
              <a:t>很多大型生产企业一样，魏桥集团也建有自备电厂，但不同的是魏桥集团的电厂不但为本集团旗下企业供电，同时也通过自建电网向其他企业供电。</a:t>
            </a:r>
          </a:p>
          <a:p>
            <a:endParaRPr lang="zh-CN" altLang="en-US" b="1" dirty="0">
              <a:latin typeface="楷体_GB2312" panose="02010609030101010101" pitchFamily="49" charset="-122"/>
              <a:ea typeface="楷体_GB2312" panose="02010609030101010101" pitchFamily="49" charset="-122"/>
            </a:endParaRPr>
          </a:p>
          <a:p>
            <a:r>
              <a:rPr lang="zh-CN" altLang="en-US" b="1" dirty="0">
                <a:latin typeface="楷体_GB2312" panose="02010609030101010101" pitchFamily="49" charset="-122"/>
                <a:ea typeface="楷体_GB2312" panose="02010609030101010101" pitchFamily="49" charset="-122"/>
              </a:rPr>
              <a:t>  </a:t>
            </a:r>
          </a:p>
        </p:txBody>
      </p:sp>
      <p:sp>
        <p:nvSpPr>
          <p:cNvPr id="4" name="标题 1"/>
          <p:cNvSpPr txBox="1">
            <a:spLocks/>
          </p:cNvSpPr>
          <p:nvPr/>
        </p:nvSpPr>
        <p:spPr bwMode="auto">
          <a:xfrm>
            <a:off x="323528" y="332656"/>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kern="0" dirty="0" smtClean="0">
                <a:latin typeface="仿宋_GB2312" panose="02010609030101010101" pitchFamily="49" charset="-122"/>
                <a:ea typeface="仿宋_GB2312" panose="02010609030101010101" pitchFamily="49" charset="-122"/>
              </a:rPr>
              <a:t>情景</a:t>
            </a:r>
            <a:r>
              <a:rPr lang="en-US" altLang="zh-CN" b="1" kern="0" dirty="0" smtClean="0">
                <a:latin typeface="仿宋_GB2312" panose="02010609030101010101" pitchFamily="49" charset="-122"/>
                <a:ea typeface="仿宋_GB2312" panose="02010609030101010101" pitchFamily="49" charset="-122"/>
              </a:rPr>
              <a:t>2:</a:t>
            </a:r>
            <a:r>
              <a:rPr lang="zh-CN" altLang="en-US" b="1" kern="0" dirty="0" smtClean="0">
                <a:latin typeface="仿宋_GB2312" panose="02010609030101010101" pitchFamily="49" charset="-122"/>
                <a:ea typeface="仿宋_GB2312" panose="02010609030101010101" pitchFamily="49" charset="-122"/>
              </a:rPr>
              <a:t>电力体制改革举步维艰</a:t>
            </a:r>
            <a:endParaRPr lang="zh-CN" altLang="en-US" b="1" kern="0" dirty="0">
              <a:latin typeface="仿宋_GB2312" panose="02010609030101010101" pitchFamily="49" charset="-122"/>
              <a:ea typeface="仿宋_GB2312" panose="02010609030101010101" pitchFamily="49" charset="-122"/>
            </a:endParaRPr>
          </a:p>
        </p:txBody>
      </p:sp>
    </p:spTree>
    <p:extLst>
      <p:ext uri="{BB962C8B-B14F-4D97-AF65-F5344CB8AC3E}">
        <p14:creationId xmlns:p14="http://schemas.microsoft.com/office/powerpoint/2010/main" val="396738140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51520" y="692696"/>
            <a:ext cx="8640960" cy="5400600"/>
          </a:xfrm>
        </p:spPr>
        <p:txBody>
          <a:bodyPr/>
          <a:lstStyle/>
          <a:p>
            <a:r>
              <a:rPr lang="zh-CN" altLang="en-US" b="1" dirty="0">
                <a:latin typeface="楷体_GB2312" panose="02010609030101010101" pitchFamily="49" charset="-122"/>
                <a:ea typeface="楷体_GB2312" panose="02010609030101010101" pitchFamily="49" charset="-122"/>
              </a:rPr>
              <a:t>记者在采访中了解到，</a:t>
            </a:r>
            <a:r>
              <a:rPr lang="en-US" altLang="zh-CN" b="1" dirty="0">
                <a:latin typeface="楷体_GB2312" panose="02010609030101010101" pitchFamily="49" charset="-122"/>
                <a:ea typeface="楷体_GB2312" panose="02010609030101010101" pitchFamily="49" charset="-122"/>
              </a:rPr>
              <a:t>0.6</a:t>
            </a:r>
            <a:r>
              <a:rPr lang="zh-CN" altLang="en-US" b="1" dirty="0">
                <a:latin typeface="楷体_GB2312" panose="02010609030101010101" pitchFamily="49" charset="-122"/>
                <a:ea typeface="楷体_GB2312" panose="02010609030101010101" pitchFamily="49" charset="-122"/>
              </a:rPr>
              <a:t>元</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度是魏桥对外供电中较高的商业用电价格。在魏桥的家属区，魏桥的供电价格是</a:t>
            </a:r>
            <a:r>
              <a:rPr lang="en-US" altLang="zh-CN" b="1" dirty="0">
                <a:latin typeface="楷体_GB2312" panose="02010609030101010101" pitchFamily="49" charset="-122"/>
                <a:ea typeface="楷体_GB2312" panose="02010609030101010101" pitchFamily="49" charset="-122"/>
              </a:rPr>
              <a:t>0.35</a:t>
            </a:r>
            <a:r>
              <a:rPr lang="zh-CN" altLang="en-US" b="1" dirty="0">
                <a:latin typeface="楷体_GB2312" panose="02010609030101010101" pitchFamily="49" charset="-122"/>
                <a:ea typeface="楷体_GB2312" panose="02010609030101010101" pitchFamily="49" charset="-122"/>
              </a:rPr>
              <a:t>元</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度，而家属区之外，国家电网的居民用电价格是每度</a:t>
            </a:r>
            <a:r>
              <a:rPr lang="en-US" altLang="zh-CN" b="1" dirty="0">
                <a:latin typeface="楷体_GB2312" panose="02010609030101010101" pitchFamily="49" charset="-122"/>
                <a:ea typeface="楷体_GB2312" panose="02010609030101010101" pitchFamily="49" charset="-122"/>
              </a:rPr>
              <a:t>0.6</a:t>
            </a:r>
            <a:r>
              <a:rPr lang="zh-CN" altLang="en-US" b="1" dirty="0">
                <a:latin typeface="楷体_GB2312" panose="02010609030101010101" pitchFamily="49" charset="-122"/>
                <a:ea typeface="楷体_GB2312" panose="02010609030101010101" pitchFamily="49" charset="-122"/>
              </a:rPr>
              <a:t>元多</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魏桥集团</a:t>
            </a:r>
            <a:r>
              <a:rPr lang="zh-CN" altLang="en-US" b="1" dirty="0">
                <a:latin typeface="楷体_GB2312" panose="02010609030101010101" pitchFamily="49" charset="-122"/>
                <a:ea typeface="楷体_GB2312" panose="02010609030101010101" pitchFamily="49" charset="-122"/>
              </a:rPr>
              <a:t>旗下企业用电价格不到</a:t>
            </a:r>
            <a:r>
              <a:rPr lang="en-US" altLang="zh-CN" b="1" dirty="0">
                <a:latin typeface="楷体_GB2312" panose="02010609030101010101" pitchFamily="49" charset="-122"/>
                <a:ea typeface="楷体_GB2312" panose="02010609030101010101" pitchFamily="49" charset="-122"/>
              </a:rPr>
              <a:t>0.3</a:t>
            </a:r>
            <a:r>
              <a:rPr lang="zh-CN" altLang="en-US" b="1" dirty="0">
                <a:latin typeface="楷体_GB2312" panose="02010609030101010101" pitchFamily="49" charset="-122"/>
                <a:ea typeface="楷体_GB2312" panose="02010609030101010101" pitchFamily="49" charset="-122"/>
              </a:rPr>
              <a:t>元</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度，而当地的工业用电价格接近</a:t>
            </a:r>
            <a:r>
              <a:rPr lang="en-US" altLang="zh-CN" b="1" dirty="0">
                <a:latin typeface="楷体_GB2312" panose="02010609030101010101" pitchFamily="49" charset="-122"/>
                <a:ea typeface="楷体_GB2312" panose="02010609030101010101" pitchFamily="49" charset="-122"/>
              </a:rPr>
              <a:t>1</a:t>
            </a:r>
            <a:r>
              <a:rPr lang="zh-CN" altLang="en-US" b="1" dirty="0">
                <a:latin typeface="楷体_GB2312" panose="02010609030101010101" pitchFamily="49" charset="-122"/>
                <a:ea typeface="楷体_GB2312" panose="02010609030101010101" pitchFamily="49" charset="-122"/>
              </a:rPr>
              <a:t>元</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度，这样的价格优势吸引了周边其他城镇的企业来买电。无论是工商业用电，还是居民用电，魏桥集团的电价都比国家电网要低</a:t>
            </a:r>
            <a:r>
              <a:rPr lang="en-US" altLang="zh-CN" b="1" dirty="0">
                <a:latin typeface="楷体_GB2312" panose="02010609030101010101" pitchFamily="49" charset="-122"/>
                <a:ea typeface="楷体_GB2312" panose="02010609030101010101" pitchFamily="49" charset="-122"/>
              </a:rPr>
              <a:t>1/3</a:t>
            </a:r>
            <a:r>
              <a:rPr lang="zh-CN" altLang="en-US" b="1" dirty="0">
                <a:latin typeface="楷体_GB2312" panose="02010609030101010101" pitchFamily="49" charset="-122"/>
                <a:ea typeface="楷体_GB2312" panose="02010609030101010101" pitchFamily="49" charset="-122"/>
              </a:rPr>
              <a:t>以上</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魏桥集团</a:t>
            </a:r>
            <a:r>
              <a:rPr lang="zh-CN" altLang="en-US" b="1" dirty="0">
                <a:latin typeface="楷体_GB2312" panose="02010609030101010101" pitchFamily="49" charset="-122"/>
                <a:ea typeface="楷体_GB2312" panose="02010609030101010101" pitchFamily="49" charset="-122"/>
              </a:rPr>
              <a:t>与国家电网山东电力公司最大规模的一次武斗发生在</a:t>
            </a:r>
            <a:r>
              <a:rPr lang="en-US" altLang="zh-CN" b="1" dirty="0">
                <a:latin typeface="楷体_GB2312" panose="02010609030101010101" pitchFamily="49" charset="-122"/>
                <a:ea typeface="楷体_GB2312" panose="02010609030101010101" pitchFamily="49" charset="-122"/>
              </a:rPr>
              <a:t>2009</a:t>
            </a:r>
            <a:r>
              <a:rPr lang="zh-CN" altLang="en-US" b="1" dirty="0">
                <a:latin typeface="楷体_GB2312" panose="02010609030101010101" pitchFamily="49" charset="-122"/>
                <a:ea typeface="楷体_GB2312" panose="02010609030101010101" pitchFamily="49" charset="-122"/>
              </a:rPr>
              <a:t>年，地点在山东省惠民县李庄，焦点就是魏桥集团欲将自己的电输往惠民县。当时共有近</a:t>
            </a:r>
            <a:r>
              <a:rPr lang="en-US" altLang="zh-CN" b="1" dirty="0">
                <a:latin typeface="楷体_GB2312" panose="02010609030101010101" pitchFamily="49" charset="-122"/>
                <a:ea typeface="楷体_GB2312" panose="02010609030101010101" pitchFamily="49" charset="-122"/>
              </a:rPr>
              <a:t>1000</a:t>
            </a:r>
            <a:r>
              <a:rPr lang="zh-CN" altLang="en-US" b="1" dirty="0">
                <a:latin typeface="楷体_GB2312" panose="02010609030101010101" pitchFamily="49" charset="-122"/>
                <a:ea typeface="楷体_GB2312" panose="02010609030101010101" pitchFamily="49" charset="-122"/>
              </a:rPr>
              <a:t>人参与这次武斗，该事件被当地人称为“李庄聚众”</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129711636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196752"/>
            <a:ext cx="8305800" cy="4114800"/>
          </a:xfrm>
        </p:spPr>
        <p:txBody>
          <a:bodyPr/>
          <a:lstStyle/>
          <a:p>
            <a:r>
              <a:rPr lang="zh-CN" altLang="en-US" b="1" dirty="0">
                <a:latin typeface="楷体_GB2312" panose="02010609030101010101" pitchFamily="49" charset="-122"/>
                <a:ea typeface="楷体_GB2312" panose="02010609030101010101" pitchFamily="49" charset="-122"/>
              </a:rPr>
              <a:t>山东民电发展迅速，由于担心越来越多的小电网与国家电网断开连接，国家电网也做出了妥协。有消息称，国家电网与魏桥集团达成了共识，欲重新联网，实现双方互利共赢。魏桥集团方面拒绝透露合作细节，但知情人士称，这是一个“平起平坐”的合作</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魏桥</a:t>
            </a:r>
            <a:r>
              <a:rPr lang="zh-CN" altLang="en-US" b="1" dirty="0">
                <a:latin typeface="楷体_GB2312" panose="02010609030101010101" pitchFamily="49" charset="-122"/>
                <a:ea typeface="楷体_GB2312" panose="02010609030101010101" pitchFamily="49" charset="-122"/>
              </a:rPr>
              <a:t>模式让我们看到的是市场的力量。它说明，即便烧着一样贵的煤炭、用着低效率的机组，市场可以为我们提供比国有企业更低的电价，我们本可以支出更少的电费</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无论</a:t>
            </a:r>
            <a:r>
              <a:rPr lang="zh-CN" altLang="en-US" b="1" dirty="0">
                <a:latin typeface="楷体_GB2312" panose="02010609030101010101" pitchFamily="49" charset="-122"/>
                <a:ea typeface="楷体_GB2312" panose="02010609030101010101" pitchFamily="49" charset="-122"/>
              </a:rPr>
              <a:t>国家发改委拿出多少涨电价的理由和方式</a:t>
            </a:r>
            <a:r>
              <a:rPr lang="zh-CN" altLang="en-US" b="1" dirty="0" smtClean="0">
                <a:latin typeface="楷体_GB2312" panose="02010609030101010101" pitchFamily="49" charset="-122"/>
                <a:ea typeface="楷体_GB2312" panose="02010609030101010101" pitchFamily="49" charset="-122"/>
              </a:rPr>
              <a:t>，涨电价都是一种值得商榷的选择。</a:t>
            </a:r>
            <a:r>
              <a:rPr lang="zh-CN" altLang="en-US" dirty="0" smtClean="0"/>
              <a:t>  </a:t>
            </a:r>
            <a:endParaRPr lang="zh-CN" altLang="en-US" dirty="0"/>
          </a:p>
          <a:p>
            <a:endParaRPr lang="zh-CN" altLang="en-US" dirty="0"/>
          </a:p>
        </p:txBody>
      </p:sp>
    </p:spTree>
    <p:extLst>
      <p:ext uri="{BB962C8B-B14F-4D97-AF65-F5344CB8AC3E}">
        <p14:creationId xmlns:p14="http://schemas.microsoft.com/office/powerpoint/2010/main" val="17964541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9511" y="332656"/>
            <a:ext cx="4658845" cy="5688632"/>
          </a:xfrm>
        </p:spPr>
        <p:txBody>
          <a:bodyPr/>
          <a:lstStyle/>
          <a:p>
            <a:r>
              <a:rPr lang="zh-CN" altLang="en-US" b="1" dirty="0">
                <a:latin typeface="楷体_GB2312" panose="02010609030101010101" pitchFamily="49" charset="-122"/>
                <a:ea typeface="楷体_GB2312" panose="02010609030101010101" pitchFamily="49" charset="-122"/>
              </a:rPr>
              <a:t>中国的电价犹如深潭</a:t>
            </a:r>
            <a:r>
              <a:rPr lang="zh-CN" altLang="en-US" b="1" dirty="0" smtClean="0">
                <a:latin typeface="楷体_GB2312" panose="02010609030101010101" pitchFamily="49" charset="-122"/>
                <a:ea typeface="楷体_GB2312" panose="02010609030101010101" pitchFamily="49" charset="-122"/>
              </a:rPr>
              <a:t>，各级</a:t>
            </a:r>
            <a:r>
              <a:rPr lang="zh-CN" altLang="en-US" b="1" dirty="0">
                <a:latin typeface="楷体_GB2312" panose="02010609030101010101" pitchFamily="49" charset="-122"/>
                <a:ea typeface="楷体_GB2312" panose="02010609030101010101" pitchFamily="49" charset="-122"/>
              </a:rPr>
              <a:t>政府都想从这深潭中“取水”，其手法名为“交叉补贴”，并以此之名在电价中附加各种收费。去年全国用电量近</a:t>
            </a:r>
            <a:r>
              <a:rPr lang="en-US" altLang="zh-CN" b="1" dirty="0">
                <a:latin typeface="楷体_GB2312" panose="02010609030101010101" pitchFamily="49" charset="-122"/>
                <a:ea typeface="楷体_GB2312" panose="02010609030101010101" pitchFamily="49" charset="-122"/>
              </a:rPr>
              <a:t>47</a:t>
            </a:r>
            <a:r>
              <a:rPr lang="zh-CN" altLang="en-US" b="1" dirty="0">
                <a:latin typeface="楷体_GB2312" panose="02010609030101010101" pitchFamily="49" charset="-122"/>
                <a:ea typeface="楷体_GB2312" panose="02010609030101010101" pitchFamily="49" charset="-122"/>
              </a:rPr>
              <a:t>万亿度，每度电附加</a:t>
            </a:r>
            <a:r>
              <a:rPr lang="en-US" altLang="zh-CN" b="1" dirty="0">
                <a:latin typeface="楷体_GB2312" panose="02010609030101010101" pitchFamily="49" charset="-122"/>
                <a:ea typeface="楷体_GB2312" panose="02010609030101010101" pitchFamily="49" charset="-122"/>
              </a:rPr>
              <a:t>1</a:t>
            </a:r>
            <a:r>
              <a:rPr lang="zh-CN" altLang="en-US" b="1" dirty="0">
                <a:latin typeface="楷体_GB2312" panose="02010609030101010101" pitchFamily="49" charset="-122"/>
                <a:ea typeface="楷体_GB2312" panose="02010609030101010101" pitchFamily="49" charset="-122"/>
              </a:rPr>
              <a:t>厘的费用就要多收</a:t>
            </a:r>
            <a:r>
              <a:rPr lang="en-US" altLang="zh-CN" b="1" dirty="0">
                <a:latin typeface="楷体_GB2312" panose="02010609030101010101" pitchFamily="49" charset="-122"/>
                <a:ea typeface="楷体_GB2312" panose="02010609030101010101" pitchFamily="49" charset="-122"/>
              </a:rPr>
              <a:t>470</a:t>
            </a:r>
            <a:r>
              <a:rPr lang="zh-CN" altLang="en-US" b="1" dirty="0">
                <a:latin typeface="楷体_GB2312" panose="02010609030101010101" pitchFamily="49" charset="-122"/>
                <a:ea typeface="楷体_GB2312" panose="02010609030101010101" pitchFamily="49" charset="-122"/>
              </a:rPr>
              <a:t>亿元</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如此</a:t>
            </a:r>
            <a:r>
              <a:rPr lang="zh-CN" altLang="en-US" b="1" dirty="0">
                <a:latin typeface="楷体_GB2312" panose="02010609030101010101" pitchFamily="49" charset="-122"/>
                <a:ea typeface="楷体_GB2312" panose="02010609030101010101" pitchFamily="49" charset="-122"/>
              </a:rPr>
              <a:t>巨大的利益面前，难怪主管部门没有推动电力体制改革的积极性。毕竟电价构成越是糊涂，越是容易从中获利。因此，凡有利于电价透明的改革无不受到阻挠。 </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（以上报道均来自</a:t>
            </a:r>
            <a:r>
              <a:rPr lang="en-US" altLang="zh-CN" b="1" dirty="0" smtClean="0">
                <a:latin typeface="楷体_GB2312" panose="02010609030101010101" pitchFamily="49" charset="-122"/>
                <a:ea typeface="楷体_GB2312" panose="02010609030101010101" pitchFamily="49" charset="-122"/>
              </a:rPr>
              <a:t>《</a:t>
            </a:r>
            <a:r>
              <a:rPr lang="en-US" altLang="zh-CN" b="1" dirty="0">
                <a:latin typeface="楷体_GB2312" panose="02010609030101010101" pitchFamily="49" charset="-122"/>
                <a:ea typeface="楷体_GB2312" panose="02010609030101010101" pitchFamily="49" charset="-122"/>
              </a:rPr>
              <a:t>21</a:t>
            </a:r>
            <a:r>
              <a:rPr lang="zh-CN" altLang="en-US" b="1" dirty="0">
                <a:latin typeface="楷体_GB2312" panose="02010609030101010101" pitchFamily="49" charset="-122"/>
                <a:ea typeface="楷体_GB2312" panose="02010609030101010101" pitchFamily="49" charset="-122"/>
              </a:rPr>
              <a:t>世纪经济报道</a:t>
            </a:r>
            <a:r>
              <a:rPr lang="en-US" altLang="zh-CN" b="1" dirty="0">
                <a:latin typeface="楷体_GB2312" panose="02010609030101010101" pitchFamily="49" charset="-122"/>
                <a:ea typeface="楷体_GB2312" panose="02010609030101010101" pitchFamily="49" charset="-122"/>
              </a:rPr>
              <a:t>》</a:t>
            </a:r>
            <a:r>
              <a:rPr lang="zh-CN" altLang="en-US" b="1" dirty="0">
                <a:latin typeface="楷体_GB2312" panose="02010609030101010101" pitchFamily="49" charset="-122"/>
                <a:ea typeface="楷体_GB2312" panose="02010609030101010101" pitchFamily="49" charset="-122"/>
              </a:rPr>
              <a:t>）</a:t>
            </a:r>
          </a:p>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178553"/>
            <a:ext cx="4286250"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736902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9573" y="188640"/>
            <a:ext cx="8305800" cy="864096"/>
          </a:xfrm>
        </p:spPr>
        <p:txBody>
          <a:bodyPr/>
          <a:lstStyle/>
          <a:p>
            <a:r>
              <a:rPr lang="zh-CN" altLang="en-US" b="1" dirty="0">
                <a:latin typeface="仿宋_GB2312" panose="02010609030101010101" pitchFamily="49" charset="-122"/>
                <a:ea typeface="仿宋_GB2312" panose="02010609030101010101" pitchFamily="49" charset="-122"/>
              </a:rPr>
              <a:t>情景</a:t>
            </a:r>
            <a:r>
              <a:rPr lang="en-US" altLang="zh-CN" b="1" dirty="0">
                <a:latin typeface="仿宋_GB2312" panose="02010609030101010101" pitchFamily="49" charset="-122"/>
                <a:ea typeface="仿宋_GB2312" panose="02010609030101010101" pitchFamily="49" charset="-122"/>
              </a:rPr>
              <a:t>3</a:t>
            </a:r>
            <a:r>
              <a:rPr lang="zh-CN" altLang="en-US" b="1" dirty="0">
                <a:latin typeface="仿宋_GB2312" panose="02010609030101010101" pitchFamily="49" charset="-122"/>
                <a:ea typeface="仿宋_GB2312" panose="02010609030101010101" pitchFamily="49" charset="-122"/>
              </a:rPr>
              <a:t>：中美电价比较</a:t>
            </a:r>
          </a:p>
        </p:txBody>
      </p:sp>
      <p:sp>
        <p:nvSpPr>
          <p:cNvPr id="3" name="文本占位符 2"/>
          <p:cNvSpPr>
            <a:spLocks noGrp="1"/>
          </p:cNvSpPr>
          <p:nvPr>
            <p:ph type="body" idx="1"/>
          </p:nvPr>
        </p:nvSpPr>
        <p:spPr>
          <a:xfrm>
            <a:off x="323528" y="1124744"/>
            <a:ext cx="8712968" cy="2016224"/>
          </a:xfrm>
        </p:spPr>
        <p:txBody>
          <a:bodyPr/>
          <a:lstStyle/>
          <a:p>
            <a:r>
              <a:rPr lang="zh-CN" altLang="en-US" b="1" dirty="0" smtClean="0">
                <a:latin typeface="楷体_GB2312" panose="02010609030101010101" pitchFamily="49" charset="-122"/>
                <a:ea typeface="楷体_GB2312" panose="02010609030101010101" pitchFamily="49" charset="-122"/>
              </a:rPr>
              <a:t>广东火电上网电价</a:t>
            </a:r>
            <a:r>
              <a:rPr lang="en-US" altLang="zh-CN" b="1" dirty="0" smtClean="0">
                <a:latin typeface="楷体_GB2312" panose="02010609030101010101" pitchFamily="49" charset="-122"/>
                <a:ea typeface="楷体_GB2312" panose="02010609030101010101" pitchFamily="49" charset="-122"/>
              </a:rPr>
              <a:t>0.502</a:t>
            </a:r>
            <a:r>
              <a:rPr lang="zh-CN" altLang="en-US" b="1" dirty="0" smtClean="0">
                <a:latin typeface="楷体_GB2312" panose="02010609030101010101" pitchFamily="49" charset="-122"/>
                <a:ea typeface="楷体_GB2312" panose="02010609030101010101" pitchFamily="49" charset="-122"/>
              </a:rPr>
              <a:t>元，经电网售出后，加价</a:t>
            </a:r>
            <a:r>
              <a:rPr lang="en-US" altLang="zh-CN" b="1" dirty="0" smtClean="0">
                <a:latin typeface="楷体_GB2312" panose="02010609030101010101" pitchFamily="49" charset="-122"/>
                <a:ea typeface="楷体_GB2312" panose="02010609030101010101" pitchFamily="49" charset="-122"/>
              </a:rPr>
              <a:t>46.8%</a:t>
            </a:r>
            <a:r>
              <a:rPr lang="zh-CN" altLang="en-US" b="1" dirty="0" smtClean="0">
                <a:latin typeface="楷体_GB2312" panose="02010609030101010101" pitchFamily="49" charset="-122"/>
                <a:ea typeface="楷体_GB2312" panose="02010609030101010101" pitchFamily="49" charset="-122"/>
              </a:rPr>
              <a:t>。</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美国工业电价折合成人民币约为</a:t>
            </a:r>
            <a:r>
              <a:rPr lang="en-US" altLang="zh-CN" b="1" dirty="0" smtClean="0">
                <a:latin typeface="楷体_GB2312" panose="02010609030101010101" pitchFamily="49" charset="-122"/>
                <a:ea typeface="楷体_GB2312" panose="02010609030101010101" pitchFamily="49" charset="-122"/>
              </a:rPr>
              <a:t>0.435</a:t>
            </a:r>
            <a:r>
              <a:rPr lang="zh-CN" altLang="en-US" b="1" dirty="0" smtClean="0">
                <a:latin typeface="楷体_GB2312" panose="02010609030101010101" pitchFamily="49" charset="-122"/>
                <a:ea typeface="楷体_GB2312" panose="02010609030101010101" pitchFamily="49" charset="-122"/>
              </a:rPr>
              <a:t>元</a:t>
            </a:r>
            <a:r>
              <a:rPr lang="en-US" altLang="zh-CN" b="1"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千瓦时，电网加价占总电价的</a:t>
            </a:r>
            <a:r>
              <a:rPr lang="en-US" altLang="zh-CN" b="1" dirty="0" smtClean="0">
                <a:latin typeface="楷体_GB2312" panose="02010609030101010101" pitchFamily="49" charset="-122"/>
                <a:ea typeface="楷体_GB2312" panose="02010609030101010101" pitchFamily="49" charset="-122"/>
              </a:rPr>
              <a:t>28%</a:t>
            </a:r>
            <a:r>
              <a:rPr lang="zh-CN" altLang="en-US" b="1" dirty="0" smtClean="0">
                <a:latin typeface="楷体_GB2312" panose="02010609030101010101" pitchFamily="49" charset="-122"/>
                <a:ea typeface="楷体_GB2312" panose="02010609030101010101" pitchFamily="49" charset="-122"/>
              </a:rPr>
              <a:t>，能源成本占</a:t>
            </a:r>
            <a:r>
              <a:rPr lang="en-US" altLang="zh-CN" b="1" dirty="0" smtClean="0">
                <a:latin typeface="楷体_GB2312" panose="02010609030101010101" pitchFamily="49" charset="-122"/>
                <a:ea typeface="楷体_GB2312" panose="02010609030101010101" pitchFamily="49" charset="-122"/>
              </a:rPr>
              <a:t>49%</a:t>
            </a:r>
            <a:r>
              <a:rPr lang="zh-CN" altLang="en-US" b="1" dirty="0" smtClean="0">
                <a:latin typeface="楷体_GB2312" panose="02010609030101010101" pitchFamily="49" charset="-122"/>
                <a:ea typeface="楷体_GB2312" panose="02010609030101010101" pitchFamily="49" charset="-122"/>
              </a:rPr>
              <a:t>，其他</a:t>
            </a:r>
            <a:r>
              <a:rPr lang="en-US" altLang="zh-CN" b="1" dirty="0" smtClean="0">
                <a:latin typeface="楷体_GB2312" panose="02010609030101010101" pitchFamily="49" charset="-122"/>
                <a:ea typeface="楷体_GB2312" panose="02010609030101010101" pitchFamily="49" charset="-122"/>
              </a:rPr>
              <a:t>23%</a:t>
            </a:r>
            <a:r>
              <a:rPr lang="zh-CN" altLang="en-US" b="1" dirty="0" smtClean="0">
                <a:latin typeface="楷体_GB2312" panose="02010609030101010101" pitchFamily="49" charset="-122"/>
                <a:ea typeface="楷体_GB2312" panose="02010609030101010101" pitchFamily="49" charset="-122"/>
              </a:rPr>
              <a:t>为国家收取的税费。</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打破垄断、降低电价成为深化电力体制改革不可回避的课题。</a:t>
            </a:r>
            <a:endParaRPr lang="zh-CN" altLang="en-US" b="1" dirty="0">
              <a:latin typeface="楷体_GB2312" panose="02010609030101010101" pitchFamily="49" charset="-122"/>
              <a:ea typeface="楷体_GB2312" panose="02010609030101010101" pitchFamily="49" charset="-122"/>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125" y="2996952"/>
            <a:ext cx="7072313" cy="362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014486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49573" y="1078323"/>
            <a:ext cx="8305800" cy="4968552"/>
          </a:xfrm>
        </p:spPr>
        <p:txBody>
          <a:bodyPr/>
          <a:lstStyle/>
          <a:p>
            <a:r>
              <a:rPr lang="zh-CN" altLang="en-US" sz="2000" b="1" dirty="0" smtClean="0">
                <a:latin typeface="楷体_GB2312" panose="02010609030101010101" pitchFamily="49" charset="-122"/>
                <a:ea typeface="楷体_GB2312" panose="02010609030101010101" pitchFamily="49" charset="-122"/>
              </a:rPr>
              <a:t>明确问题：</a:t>
            </a:r>
            <a:r>
              <a:rPr lang="zh-CN" altLang="en-US" sz="2000" dirty="0">
                <a:latin typeface="楷体_GB2312" panose="02010609030101010101" pitchFamily="49" charset="-122"/>
                <a:ea typeface="楷体_GB2312" panose="02010609030101010101" pitchFamily="49" charset="-122"/>
              </a:rPr>
              <a:t>一是交易机制缺失，资源利用效率不高</a:t>
            </a:r>
            <a:r>
              <a:rPr lang="zh-CN" altLang="en-US" sz="2000" dirty="0" smtClean="0">
                <a:latin typeface="楷体_GB2312" panose="02010609030101010101" pitchFamily="49" charset="-122"/>
                <a:ea typeface="楷体_GB2312" panose="02010609030101010101" pitchFamily="49" charset="-122"/>
              </a:rPr>
              <a:t>。二</a:t>
            </a:r>
            <a:r>
              <a:rPr lang="zh-CN" altLang="en-US" sz="2000" dirty="0">
                <a:latin typeface="楷体_GB2312" panose="02010609030101010101" pitchFamily="49" charset="-122"/>
                <a:ea typeface="楷体_GB2312" panose="02010609030101010101" pitchFamily="49" charset="-122"/>
              </a:rPr>
              <a:t>是价格关系没有理顺，市场化定价机制尚未完全形成</a:t>
            </a:r>
            <a:r>
              <a:rPr lang="zh-CN" altLang="en-US" sz="2000" dirty="0" smtClean="0">
                <a:latin typeface="楷体_GB2312" panose="02010609030101010101" pitchFamily="49" charset="-122"/>
                <a:ea typeface="楷体_GB2312" panose="02010609030101010101" pitchFamily="49" charset="-122"/>
              </a:rPr>
              <a:t>。三</a:t>
            </a:r>
            <a:r>
              <a:rPr lang="zh-CN" altLang="en-US" sz="2000" dirty="0">
                <a:latin typeface="楷体_GB2312" panose="02010609030101010101" pitchFamily="49" charset="-122"/>
                <a:ea typeface="楷体_GB2312" panose="02010609030101010101" pitchFamily="49" charset="-122"/>
              </a:rPr>
              <a:t>是政府职能转变不到位，各类规划协调机制不完善</a:t>
            </a:r>
            <a:r>
              <a:rPr lang="zh-CN" altLang="en-US" sz="2000" dirty="0" smtClean="0">
                <a:latin typeface="楷体_GB2312" panose="02010609030101010101" pitchFamily="49" charset="-122"/>
                <a:ea typeface="楷体_GB2312" panose="02010609030101010101" pitchFamily="49" charset="-122"/>
              </a:rPr>
              <a:t>。四</a:t>
            </a:r>
            <a:r>
              <a:rPr lang="zh-CN" altLang="en-US" sz="2000" dirty="0">
                <a:latin typeface="楷体_GB2312" panose="02010609030101010101" pitchFamily="49" charset="-122"/>
                <a:ea typeface="楷体_GB2312" panose="02010609030101010101" pitchFamily="49" charset="-122"/>
              </a:rPr>
              <a:t>是发展机制不健全，新能源和可再生能源开发利用面临困难</a:t>
            </a:r>
            <a:r>
              <a:rPr lang="zh-CN" altLang="en-US" sz="2000" dirty="0" smtClean="0">
                <a:latin typeface="楷体_GB2312" panose="02010609030101010101" pitchFamily="49" charset="-122"/>
                <a:ea typeface="楷体_GB2312" panose="02010609030101010101" pitchFamily="49" charset="-122"/>
              </a:rPr>
              <a:t>。五</a:t>
            </a:r>
            <a:r>
              <a:rPr lang="zh-CN" altLang="en-US" sz="2000" dirty="0">
                <a:latin typeface="楷体_GB2312" panose="02010609030101010101" pitchFamily="49" charset="-122"/>
                <a:ea typeface="楷体_GB2312" panose="02010609030101010101" pitchFamily="49" charset="-122"/>
              </a:rPr>
              <a:t>是立法修法工作相对滞后，制约电力市场化和健康发展</a:t>
            </a:r>
            <a:r>
              <a:rPr lang="zh-CN" altLang="en-US" sz="2000" dirty="0" smtClean="0">
                <a:latin typeface="楷体_GB2312" panose="02010609030101010101" pitchFamily="49" charset="-122"/>
                <a:ea typeface="楷体_GB2312" panose="02010609030101010101" pitchFamily="49" charset="-122"/>
              </a:rPr>
              <a:t>。</a:t>
            </a:r>
            <a:endParaRPr lang="en-US" altLang="zh-CN" sz="2000" dirty="0" smtClean="0">
              <a:latin typeface="楷体_GB2312" panose="02010609030101010101" pitchFamily="49" charset="-122"/>
              <a:ea typeface="楷体_GB2312" panose="02010609030101010101" pitchFamily="49" charset="-122"/>
            </a:endParaRPr>
          </a:p>
          <a:p>
            <a:r>
              <a:rPr lang="zh-CN" altLang="en-US" sz="2000" b="1" dirty="0">
                <a:latin typeface="楷体_GB2312" panose="02010609030101010101" pitchFamily="49" charset="-122"/>
                <a:ea typeface="楷体_GB2312" panose="02010609030101010101" pitchFamily="49" charset="-122"/>
              </a:rPr>
              <a:t>总体目标：</a:t>
            </a:r>
            <a:r>
              <a:rPr lang="zh-CN" altLang="en-US" sz="2000" dirty="0">
                <a:latin typeface="楷体_GB2312" panose="02010609030101010101" pitchFamily="49" charset="-122"/>
                <a:ea typeface="楷体_GB2312" panose="02010609030101010101" pitchFamily="49" charset="-122"/>
              </a:rPr>
              <a:t>坚持社会主义市场经济改革方向，从我国国情出发，坚持清洁、高效、安全、可持续发展，全面实施国家能源战略，加快构建有效竞争的市场结构和市场体系，形成主要由</a:t>
            </a:r>
            <a:r>
              <a:rPr lang="zh-CN" altLang="en-US" sz="2000" b="1" dirty="0">
                <a:latin typeface="楷体_GB2312" panose="02010609030101010101" pitchFamily="49" charset="-122"/>
                <a:ea typeface="楷体_GB2312" panose="02010609030101010101" pitchFamily="49" charset="-122"/>
              </a:rPr>
              <a:t>市场决定能源价格</a:t>
            </a:r>
            <a:r>
              <a:rPr lang="zh-CN" altLang="en-US" sz="2000" dirty="0">
                <a:latin typeface="楷体_GB2312" panose="02010609030101010101" pitchFamily="49" charset="-122"/>
                <a:ea typeface="楷体_GB2312" panose="02010609030101010101" pitchFamily="49" charset="-122"/>
              </a:rPr>
              <a:t>的机制，转变政府对能源的监管方式，建立健全能源法制体系，为建立现代能源体系、保障国家能源安全营造良好的制度环境，充分考虑各方面诉求和电力工业发展规律，兼顾改到位和保稳定。通过改革，建立健全电力行业“</a:t>
            </a:r>
            <a:r>
              <a:rPr lang="zh-CN" altLang="en-US" sz="2000" b="1" dirty="0">
                <a:latin typeface="楷体_GB2312" panose="02010609030101010101" pitchFamily="49" charset="-122"/>
                <a:ea typeface="楷体_GB2312" panose="02010609030101010101" pitchFamily="49" charset="-122"/>
              </a:rPr>
              <a:t>有法可依、政企分开、主体规范、交易公平、价格合理、监管有效”</a:t>
            </a:r>
            <a:r>
              <a:rPr lang="zh-CN" altLang="en-US" sz="2000" dirty="0">
                <a:latin typeface="楷体_GB2312" panose="02010609030101010101" pitchFamily="49" charset="-122"/>
                <a:ea typeface="楷体_GB2312" panose="02010609030101010101" pitchFamily="49" charset="-122"/>
              </a:rPr>
              <a:t>的市场体制，努力降低电力成本、理顺价格形成机制，逐步打破垄断、有序放开竞争性业务，实现供应多元化，调整产业结构，提升技术水平、控制能源消费总量，提高能源利用效率、提高安全可靠性，促进公平竞争、促进节能环保。</a:t>
            </a:r>
            <a:endParaRPr lang="en-US" altLang="zh-CN" sz="2000" dirty="0" smtClean="0">
              <a:latin typeface="楷体_GB2312" panose="02010609030101010101" pitchFamily="49" charset="-122"/>
              <a:ea typeface="楷体_GB2312" panose="02010609030101010101" pitchFamily="49" charset="-122"/>
            </a:endParaRPr>
          </a:p>
          <a:p>
            <a:endParaRPr lang="zh-CN" altLang="en-US" dirty="0"/>
          </a:p>
        </p:txBody>
      </p:sp>
      <p:sp>
        <p:nvSpPr>
          <p:cNvPr id="4" name="标题 1"/>
          <p:cNvSpPr txBox="1">
            <a:spLocks/>
          </p:cNvSpPr>
          <p:nvPr/>
        </p:nvSpPr>
        <p:spPr bwMode="auto">
          <a:xfrm>
            <a:off x="449573" y="188640"/>
            <a:ext cx="8305800"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kern="0" dirty="0" smtClean="0">
                <a:latin typeface="仿宋_GB2312" panose="02010609030101010101" pitchFamily="49" charset="-122"/>
                <a:ea typeface="仿宋_GB2312" panose="02010609030101010101" pitchFamily="49" charset="-122"/>
              </a:rPr>
              <a:t>情景</a:t>
            </a:r>
            <a:r>
              <a:rPr lang="en-US" altLang="zh-CN" b="1" kern="0" dirty="0" smtClean="0">
                <a:latin typeface="仿宋_GB2312" panose="02010609030101010101" pitchFamily="49" charset="-122"/>
                <a:ea typeface="仿宋_GB2312" panose="02010609030101010101" pitchFamily="49" charset="-122"/>
              </a:rPr>
              <a:t>4</a:t>
            </a:r>
            <a:r>
              <a:rPr lang="zh-CN" altLang="en-US" b="1" kern="0" dirty="0" smtClean="0">
                <a:latin typeface="仿宋_GB2312" panose="02010609030101010101" pitchFamily="49" charset="-122"/>
                <a:ea typeface="仿宋_GB2312" panose="02010609030101010101" pitchFamily="49" charset="-122"/>
              </a:rPr>
              <a:t>：</a:t>
            </a:r>
            <a:r>
              <a:rPr lang="en-US" altLang="zh-CN" b="1" kern="0" dirty="0" smtClean="0">
                <a:latin typeface="仿宋_GB2312" panose="02010609030101010101" pitchFamily="49" charset="-122"/>
                <a:ea typeface="仿宋_GB2312" panose="02010609030101010101" pitchFamily="49" charset="-122"/>
              </a:rPr>
              <a:t>2015</a:t>
            </a:r>
            <a:r>
              <a:rPr lang="zh-CN" altLang="en-US" b="1" kern="0" dirty="0" smtClean="0">
                <a:latin typeface="仿宋_GB2312" panose="02010609030101010101" pitchFamily="49" charset="-122"/>
                <a:ea typeface="仿宋_GB2312" panose="02010609030101010101" pitchFamily="49" charset="-122"/>
              </a:rPr>
              <a:t>年</a:t>
            </a:r>
            <a:r>
              <a:rPr lang="en-US" altLang="zh-CN" b="1" kern="0" dirty="0" smtClean="0">
                <a:latin typeface="仿宋_GB2312" panose="02010609030101010101" pitchFamily="49" charset="-122"/>
                <a:ea typeface="仿宋_GB2312" panose="02010609030101010101" pitchFamily="49" charset="-122"/>
              </a:rPr>
              <a:t>9</a:t>
            </a:r>
            <a:r>
              <a:rPr lang="zh-CN" altLang="en-US" b="1" kern="0" dirty="0" smtClean="0">
                <a:latin typeface="仿宋_GB2312" panose="02010609030101010101" pitchFamily="49" charset="-122"/>
                <a:ea typeface="仿宋_GB2312" panose="02010609030101010101" pitchFamily="49" charset="-122"/>
              </a:rPr>
              <a:t>号文件</a:t>
            </a:r>
            <a:endParaRPr lang="zh-CN" altLang="en-US" b="1" kern="0" dirty="0">
              <a:latin typeface="仿宋_GB2312" panose="02010609030101010101" pitchFamily="49" charset="-122"/>
              <a:ea typeface="仿宋_GB2312" panose="02010609030101010101" pitchFamily="49" charset="-122"/>
            </a:endParaRPr>
          </a:p>
        </p:txBody>
      </p:sp>
    </p:spTree>
    <p:extLst>
      <p:ext uri="{BB962C8B-B14F-4D97-AF65-F5344CB8AC3E}">
        <p14:creationId xmlns:p14="http://schemas.microsoft.com/office/powerpoint/2010/main" val="303777945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49573" y="1078322"/>
            <a:ext cx="8305800" cy="5086981"/>
          </a:xfrm>
        </p:spPr>
        <p:txBody>
          <a:bodyPr/>
          <a:lstStyle/>
          <a:p>
            <a:r>
              <a:rPr lang="zh-CN" altLang="en-US" sz="3200" b="1" dirty="0" smtClean="0">
                <a:solidFill>
                  <a:srgbClr val="7030A0"/>
                </a:solidFill>
                <a:latin typeface="楷体_GB2312" panose="02010609030101010101" pitchFamily="49" charset="-122"/>
                <a:ea typeface="楷体_GB2312" panose="02010609030101010101" pitchFamily="49" charset="-122"/>
              </a:rPr>
              <a:t>主要思路：</a:t>
            </a:r>
            <a:r>
              <a:rPr lang="zh-CN" altLang="en-US" b="1" dirty="0" smtClean="0">
                <a:latin typeface="楷体_GB2312" panose="02010609030101010101" pitchFamily="49" charset="-122"/>
                <a:ea typeface="楷体_GB2312" panose="02010609030101010101" pitchFamily="49" charset="-122"/>
              </a:rPr>
              <a:t>放开两头，监管</a:t>
            </a:r>
            <a:r>
              <a:rPr lang="zh-CN" altLang="en-US" b="1" dirty="0">
                <a:latin typeface="楷体_GB2312" panose="02010609030101010101" pitchFamily="49" charset="-122"/>
                <a:ea typeface="楷体_GB2312" panose="02010609030101010101" pitchFamily="49" charset="-122"/>
              </a:rPr>
              <a:t>中间。即在发电侧和售电侧引入竞争，同时加强对中间电网环节的监管力度，构建能够为市场主体提供全方位优质服务的、统一的电网适应性平台，并且逐步建立完善科学合理的电价机制。</a:t>
            </a:r>
            <a:endParaRPr lang="en-US" altLang="zh-CN" b="1" dirty="0" smtClean="0">
              <a:latin typeface="楷体_GB2312" panose="02010609030101010101" pitchFamily="49" charset="-122"/>
              <a:ea typeface="楷体_GB2312" panose="02010609030101010101" pitchFamily="49" charset="-122"/>
            </a:endParaRPr>
          </a:p>
          <a:p>
            <a:r>
              <a:rPr lang="zh-CN" altLang="en-US" sz="3200" b="1" dirty="0" smtClean="0">
                <a:solidFill>
                  <a:srgbClr val="7030A0"/>
                </a:solidFill>
                <a:latin typeface="楷体_GB2312" panose="02010609030101010101" pitchFamily="49" charset="-122"/>
                <a:ea typeface="楷体_GB2312" panose="02010609030101010101" pitchFamily="49" charset="-122"/>
              </a:rPr>
              <a:t>主要内容：</a:t>
            </a:r>
            <a:r>
              <a:rPr lang="zh-CN" altLang="en-US" b="1" dirty="0" smtClean="0">
                <a:latin typeface="楷体_GB2312" panose="02010609030101010101" pitchFamily="49" charset="-122"/>
                <a:ea typeface="楷体_GB2312" panose="02010609030101010101" pitchFamily="49" charset="-122"/>
              </a:rPr>
              <a:t>三放开、一独立、三加强。三放开：有序向社会资本放开售配电业务、有序放开输配电以外竞争性电价、有序放开公益性调节性以外的发用电计划；一独立：推进相对独立、规范运行的电力交易机构；三加强：强化政府监管、强化电力统筹规划、强化电力安全和可靠性供应。</a:t>
            </a:r>
            <a:endParaRPr lang="en-US" altLang="zh-CN" b="1" dirty="0" smtClean="0">
              <a:latin typeface="楷体_GB2312" panose="02010609030101010101" pitchFamily="49" charset="-122"/>
              <a:ea typeface="楷体_GB2312" panose="02010609030101010101" pitchFamily="49" charset="-122"/>
            </a:endParaRPr>
          </a:p>
          <a:p>
            <a:r>
              <a:rPr lang="zh-CN" altLang="en-US" sz="3200" b="1" dirty="0">
                <a:solidFill>
                  <a:srgbClr val="7030A0"/>
                </a:solidFill>
                <a:latin typeface="楷体_GB2312" panose="02010609030101010101" pitchFamily="49" charset="-122"/>
                <a:ea typeface="楷体_GB2312" panose="02010609030101010101" pitchFamily="49" charset="-122"/>
              </a:rPr>
              <a:t>预期成效：</a:t>
            </a:r>
            <a:r>
              <a:rPr lang="zh-CN" altLang="en-US" b="1" dirty="0">
                <a:latin typeface="楷体_GB2312" panose="02010609030101010101" pitchFamily="49" charset="-122"/>
                <a:ea typeface="楷体_GB2312" panose="02010609030101010101" pitchFamily="49" charset="-122"/>
              </a:rPr>
              <a:t>改革难度仍然很大，电力体制改革仍然任重道远。</a:t>
            </a:r>
          </a:p>
        </p:txBody>
      </p:sp>
      <p:sp>
        <p:nvSpPr>
          <p:cNvPr id="4" name="标题 1"/>
          <p:cNvSpPr txBox="1">
            <a:spLocks/>
          </p:cNvSpPr>
          <p:nvPr/>
        </p:nvSpPr>
        <p:spPr bwMode="auto">
          <a:xfrm>
            <a:off x="449573" y="188640"/>
            <a:ext cx="8305800"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kern="0" dirty="0" smtClean="0">
                <a:latin typeface="仿宋_GB2312" panose="02010609030101010101" pitchFamily="49" charset="-122"/>
                <a:ea typeface="仿宋_GB2312" panose="02010609030101010101" pitchFamily="49" charset="-122"/>
              </a:rPr>
              <a:t>情景</a:t>
            </a:r>
            <a:r>
              <a:rPr lang="en-US" altLang="zh-CN" b="1" kern="0" dirty="0" smtClean="0">
                <a:latin typeface="仿宋_GB2312" panose="02010609030101010101" pitchFamily="49" charset="-122"/>
                <a:ea typeface="仿宋_GB2312" panose="02010609030101010101" pitchFamily="49" charset="-122"/>
              </a:rPr>
              <a:t>4</a:t>
            </a:r>
            <a:r>
              <a:rPr lang="zh-CN" altLang="en-US" b="1" kern="0" dirty="0" smtClean="0">
                <a:latin typeface="仿宋_GB2312" panose="02010609030101010101" pitchFamily="49" charset="-122"/>
                <a:ea typeface="仿宋_GB2312" panose="02010609030101010101" pitchFamily="49" charset="-122"/>
              </a:rPr>
              <a:t>：</a:t>
            </a:r>
            <a:r>
              <a:rPr lang="en-US" altLang="zh-CN" b="1" kern="0" dirty="0" smtClean="0">
                <a:latin typeface="仿宋_GB2312" panose="02010609030101010101" pitchFamily="49" charset="-122"/>
                <a:ea typeface="仿宋_GB2312" panose="02010609030101010101" pitchFamily="49" charset="-122"/>
              </a:rPr>
              <a:t>2015</a:t>
            </a:r>
            <a:r>
              <a:rPr lang="zh-CN" altLang="en-US" b="1" kern="0" dirty="0" smtClean="0">
                <a:latin typeface="仿宋_GB2312" panose="02010609030101010101" pitchFamily="49" charset="-122"/>
                <a:ea typeface="仿宋_GB2312" panose="02010609030101010101" pitchFamily="49" charset="-122"/>
              </a:rPr>
              <a:t>年</a:t>
            </a:r>
            <a:r>
              <a:rPr lang="en-US" altLang="zh-CN" b="1" kern="0" dirty="0" smtClean="0">
                <a:latin typeface="仿宋_GB2312" panose="02010609030101010101" pitchFamily="49" charset="-122"/>
                <a:ea typeface="仿宋_GB2312" panose="02010609030101010101" pitchFamily="49" charset="-122"/>
              </a:rPr>
              <a:t>9</a:t>
            </a:r>
            <a:r>
              <a:rPr lang="zh-CN" altLang="en-US" b="1" kern="0" dirty="0" smtClean="0">
                <a:latin typeface="仿宋_GB2312" panose="02010609030101010101" pitchFamily="49" charset="-122"/>
                <a:ea typeface="仿宋_GB2312" panose="02010609030101010101" pitchFamily="49" charset="-122"/>
              </a:rPr>
              <a:t>号文件</a:t>
            </a:r>
            <a:endParaRPr lang="zh-CN" altLang="en-US" b="1" kern="0" dirty="0">
              <a:latin typeface="仿宋_GB2312" panose="02010609030101010101" pitchFamily="49" charset="-122"/>
              <a:ea typeface="仿宋_GB2312" panose="02010609030101010101" pitchFamily="49" charset="-122"/>
            </a:endParaRPr>
          </a:p>
        </p:txBody>
      </p:sp>
    </p:spTree>
    <p:extLst>
      <p:ext uri="{BB962C8B-B14F-4D97-AF65-F5344CB8AC3E}">
        <p14:creationId xmlns:p14="http://schemas.microsoft.com/office/powerpoint/2010/main" val="112667032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四、制度均衡与非均衡</a:t>
            </a:r>
            <a:endParaRPr lang="zh-CN" altLang="en-US" sz="4800" b="1" dirty="0">
              <a:latin typeface="黑体" pitchFamily="49" charset="-122"/>
              <a:ea typeface="黑体" pitchFamily="49" charset="-122"/>
            </a:endParaRPr>
          </a:p>
        </p:txBody>
      </p:sp>
      <p:sp>
        <p:nvSpPr>
          <p:cNvPr id="5" name="Rectangle 3"/>
          <p:cNvSpPr>
            <a:spLocks noGrp="1" noChangeArrowheads="1"/>
          </p:cNvSpPr>
          <p:nvPr>
            <p:ph type="body" idx="1"/>
          </p:nvPr>
        </p:nvSpPr>
        <p:spPr>
          <a:xfrm>
            <a:off x="381000" y="1556792"/>
            <a:ext cx="8305800" cy="4680520"/>
          </a:xfrm>
        </p:spPr>
        <p:txBody>
          <a:bodyPr/>
          <a:lstStyle/>
          <a:p>
            <a:pPr>
              <a:lnSpc>
                <a:spcPct val="80000"/>
              </a:lnSpc>
            </a:pPr>
            <a:r>
              <a:rPr lang="zh-CN" altLang="en-US" sz="2800" dirty="0">
                <a:latin typeface="楷体_GB2312" panose="02010609030101010101" pitchFamily="49" charset="-122"/>
                <a:ea typeface="楷体_GB2312" panose="02010609030101010101" pitchFamily="49" charset="-122"/>
              </a:rPr>
              <a:t>制度供求的均衡与非均衡</a:t>
            </a:r>
          </a:p>
          <a:p>
            <a:pPr>
              <a:lnSpc>
                <a:spcPct val="80000"/>
              </a:lnSpc>
            </a:pPr>
            <a:r>
              <a:rPr lang="zh-CN" altLang="en-US" sz="2800" b="1" dirty="0">
                <a:latin typeface="楷体_GB2312" panose="02010609030101010101" pitchFamily="49" charset="-122"/>
                <a:ea typeface="楷体_GB2312" panose="02010609030101010101" pitchFamily="49" charset="-122"/>
              </a:rPr>
              <a:t>所谓制度均衡，就是人们对既定制度安排和制度结构的一种满足状态或满意状态，因而无意也无力改变现行制度。</a:t>
            </a:r>
          </a:p>
          <a:p>
            <a:pPr>
              <a:lnSpc>
                <a:spcPct val="80000"/>
              </a:lnSpc>
            </a:pPr>
            <a:r>
              <a:rPr lang="zh-CN" altLang="en-US" sz="2800" dirty="0">
                <a:latin typeface="楷体_GB2312" panose="02010609030101010101" pitchFamily="49" charset="-122"/>
                <a:ea typeface="楷体_GB2312" panose="02010609030101010101" pitchFamily="49" charset="-122"/>
              </a:rPr>
              <a:t>从供求关系来看，制度均衡是指在影响人们的制度需求和制度供给的因素一定时，制度的供给适应制度需求。制度均衡形成的过程是一个错综复杂的博弈过程。</a:t>
            </a:r>
          </a:p>
          <a:p>
            <a:pPr>
              <a:lnSpc>
                <a:spcPct val="80000"/>
              </a:lnSpc>
            </a:pPr>
            <a:r>
              <a:rPr lang="zh-CN" altLang="en-US" sz="2800" dirty="0">
                <a:latin typeface="楷体_GB2312" panose="02010609030101010101" pitchFamily="49" charset="-122"/>
                <a:ea typeface="楷体_GB2312" panose="02010609030101010101" pitchFamily="49" charset="-122"/>
              </a:rPr>
              <a:t>制度均衡不同于一般的商品均衡。影响制度均衡的因素远远多于影响商品市场均衡的因素。制度均衡只是一种理想状态，实际制度状态偏离制度均衡的程度。</a:t>
            </a:r>
            <a:endParaRPr lang="zh-CN" altLang="en-US" sz="2800" dirty="0">
              <a:latin typeface="楷体_GB2312" panose="02010609030101010101" pitchFamily="49" charset="-122"/>
              <a:ea typeface="楷体_GB2312" panose="02010609030101010101" pitchFamily="49" charset="-122"/>
              <a:hlinkClick r:id="" action="ppaction://noaction"/>
            </a:endParaRPr>
          </a:p>
        </p:txBody>
      </p:sp>
    </p:spTree>
    <p:extLst>
      <p:ext uri="{BB962C8B-B14F-4D97-AF65-F5344CB8AC3E}">
        <p14:creationId xmlns:p14="http://schemas.microsoft.com/office/powerpoint/2010/main" val="49980633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1143000"/>
          </a:xfrm>
          <a:solidFill>
            <a:srgbClr val="FFFFCC"/>
          </a:solidFill>
        </p:spPr>
        <p:txBody>
          <a:bodyPr/>
          <a:lstStyle/>
          <a:p>
            <a:r>
              <a:rPr lang="zh-CN" altLang="en-US" b="1" dirty="0" smtClean="0">
                <a:latin typeface="方正姚体" panose="02010601030101010101" pitchFamily="2" charset="-122"/>
                <a:ea typeface="方正姚体" panose="02010601030101010101" pitchFamily="2" charset="-122"/>
              </a:rPr>
              <a:t>制度均衡案例：中国经济新常态</a:t>
            </a:r>
            <a:endParaRPr lang="zh-CN" altLang="en-US" b="1" dirty="0">
              <a:latin typeface="方正姚体" panose="02010601030101010101" pitchFamily="2" charset="-122"/>
              <a:ea typeface="方正姚体" panose="02010601030101010101" pitchFamily="2" charset="-122"/>
            </a:endParaRPr>
          </a:p>
        </p:txBody>
      </p:sp>
      <p:sp>
        <p:nvSpPr>
          <p:cNvPr id="3" name="文本占位符 2"/>
          <p:cNvSpPr>
            <a:spLocks noGrp="1"/>
          </p:cNvSpPr>
          <p:nvPr>
            <p:ph type="body" idx="1"/>
          </p:nvPr>
        </p:nvSpPr>
        <p:spPr>
          <a:xfrm>
            <a:off x="467544" y="1412776"/>
            <a:ext cx="8305800" cy="4632920"/>
          </a:xfrm>
        </p:spPr>
        <p:txBody>
          <a:bodyPr/>
          <a:lstStyle/>
          <a:p>
            <a:r>
              <a:rPr lang="zh-CN" altLang="en-US" b="1" dirty="0">
                <a:latin typeface="楷体_GB2312" panose="02010609030101010101" pitchFamily="49" charset="-122"/>
                <a:ea typeface="楷体_GB2312" panose="02010609030101010101" pitchFamily="49" charset="-122"/>
              </a:rPr>
              <a:t>新常态就是不同以往的、相对稳定的状态。这是一种趋势性、不可逆的发展状态，意味着中国经济已进入一个与过去三十多年高速增长期不同的新阶段。</a:t>
            </a:r>
            <a:endParaRPr lang="en-US" altLang="zh-CN" b="1" dirty="0" smtClean="0">
              <a:latin typeface="楷体_GB2312" panose="02010609030101010101" pitchFamily="49" charset="-122"/>
              <a:ea typeface="楷体_GB2312" panose="02010609030101010101" pitchFamily="49" charset="-122"/>
            </a:endParaRPr>
          </a:p>
          <a:p>
            <a:r>
              <a:rPr lang="zh-CN" altLang="en-US" b="1" dirty="0" smtClean="0">
                <a:latin typeface="楷体_GB2312" panose="02010609030101010101" pitchFamily="49" charset="-122"/>
                <a:ea typeface="楷体_GB2312" panose="02010609030101010101" pitchFamily="49" charset="-122"/>
              </a:rPr>
              <a:t>在</a:t>
            </a:r>
            <a:r>
              <a:rPr lang="zh-CN" altLang="en-US" b="1" dirty="0">
                <a:latin typeface="楷体_GB2312" panose="02010609030101010101" pitchFamily="49" charset="-122"/>
                <a:ea typeface="楷体_GB2312" panose="02010609030101010101" pitchFamily="49" charset="-122"/>
              </a:rPr>
              <a:t>十八大之后，习总的公开文章和讲话中，“新常态”被提及了</a:t>
            </a:r>
            <a:r>
              <a:rPr lang="en-US" altLang="zh-CN" b="1" dirty="0">
                <a:latin typeface="楷体_GB2312" panose="02010609030101010101" pitchFamily="49" charset="-122"/>
                <a:ea typeface="楷体_GB2312" panose="02010609030101010101" pitchFamily="49" charset="-122"/>
              </a:rPr>
              <a:t>160</a:t>
            </a:r>
            <a:r>
              <a:rPr lang="zh-CN" altLang="en-US" b="1" dirty="0">
                <a:latin typeface="楷体_GB2312" panose="02010609030101010101" pitchFamily="49" charset="-122"/>
                <a:ea typeface="楷体_GB2312" panose="02010609030101010101" pitchFamily="49" charset="-122"/>
              </a:rPr>
              <a:t>余次</a:t>
            </a:r>
            <a:r>
              <a:rPr lang="zh-CN" altLang="en-US" b="1" dirty="0" smtClean="0">
                <a:latin typeface="楷体_GB2312" panose="02010609030101010101" pitchFamily="49" charset="-122"/>
                <a:ea typeface="楷体_GB2312" panose="02010609030101010101" pitchFamily="49" charset="-122"/>
              </a:rPr>
              <a:t>。其中</a:t>
            </a:r>
            <a:r>
              <a:rPr lang="zh-CN" altLang="en-US" b="1" dirty="0">
                <a:latin typeface="楷体_GB2312" panose="02010609030101010101" pitchFamily="49" charset="-122"/>
                <a:ea typeface="楷体_GB2312" panose="02010609030101010101" pitchFamily="49" charset="-122"/>
              </a:rPr>
              <a:t>阐述最全面的，应该是在</a:t>
            </a:r>
            <a:r>
              <a:rPr lang="en-US" altLang="zh-CN" b="1" dirty="0">
                <a:latin typeface="楷体_GB2312" panose="02010609030101010101" pitchFamily="49" charset="-122"/>
                <a:ea typeface="楷体_GB2312" panose="02010609030101010101" pitchFamily="49" charset="-122"/>
              </a:rPr>
              <a:t>2014</a:t>
            </a:r>
            <a:r>
              <a:rPr lang="zh-CN" altLang="en-US" b="1" dirty="0">
                <a:latin typeface="楷体_GB2312" panose="02010609030101010101" pitchFamily="49" charset="-122"/>
                <a:ea typeface="楷体_GB2312" panose="02010609030101010101" pitchFamily="49" charset="-122"/>
              </a:rPr>
              <a:t>年亚太经合组织（</a:t>
            </a:r>
            <a:r>
              <a:rPr lang="en-US" altLang="zh-CN" b="1" dirty="0">
                <a:latin typeface="楷体_GB2312" panose="02010609030101010101" pitchFamily="49" charset="-122"/>
                <a:ea typeface="楷体_GB2312" panose="02010609030101010101" pitchFamily="49" charset="-122"/>
              </a:rPr>
              <a:t>APEC</a:t>
            </a:r>
            <a:r>
              <a:rPr lang="zh-CN" altLang="en-US" b="1" dirty="0">
                <a:latin typeface="楷体_GB2312" panose="02010609030101010101" pitchFamily="49" charset="-122"/>
                <a:ea typeface="楷体_GB2312" panose="02010609030101010101" pitchFamily="49" charset="-122"/>
              </a:rPr>
              <a:t>）工商领导人峰会上，习总的主旨演讲。这之中，习总讲到了“新常态”的</a:t>
            </a:r>
            <a:r>
              <a:rPr lang="en-US" altLang="zh-CN" b="1" dirty="0">
                <a:latin typeface="楷体_GB2312" panose="02010609030101010101" pitchFamily="49" charset="-122"/>
                <a:ea typeface="楷体_GB2312" panose="02010609030101010101" pitchFamily="49" charset="-122"/>
              </a:rPr>
              <a:t>3</a:t>
            </a:r>
            <a:r>
              <a:rPr lang="zh-CN" altLang="en-US" b="1" dirty="0">
                <a:latin typeface="楷体_GB2312" panose="02010609030101010101" pitchFamily="49" charset="-122"/>
                <a:ea typeface="楷体_GB2312" panose="02010609030101010101" pitchFamily="49" charset="-122"/>
              </a:rPr>
              <a:t>个特点、</a:t>
            </a:r>
            <a:r>
              <a:rPr lang="en-US" altLang="zh-CN" b="1" dirty="0">
                <a:latin typeface="楷体_GB2312" panose="02010609030101010101" pitchFamily="49" charset="-122"/>
                <a:ea typeface="楷体_GB2312" panose="02010609030101010101" pitchFamily="49" charset="-122"/>
              </a:rPr>
              <a:t>4</a:t>
            </a:r>
            <a:r>
              <a:rPr lang="zh-CN" altLang="en-US" b="1" dirty="0">
                <a:latin typeface="楷体_GB2312" panose="02010609030101010101" pitchFamily="49" charset="-122"/>
                <a:ea typeface="楷体_GB2312" panose="02010609030101010101" pitchFamily="49" charset="-122"/>
              </a:rPr>
              <a:t>个机遇和</a:t>
            </a:r>
            <a:r>
              <a:rPr lang="en-US" altLang="zh-CN" b="1" dirty="0">
                <a:latin typeface="楷体_GB2312" panose="02010609030101010101" pitchFamily="49" charset="-122"/>
                <a:ea typeface="楷体_GB2312" panose="02010609030101010101" pitchFamily="49" charset="-122"/>
              </a:rPr>
              <a:t>1</a:t>
            </a:r>
            <a:r>
              <a:rPr lang="zh-CN" altLang="en-US" b="1" dirty="0">
                <a:latin typeface="楷体_GB2312" panose="02010609030101010101" pitchFamily="49" charset="-122"/>
                <a:ea typeface="楷体_GB2312" panose="02010609030101010101" pitchFamily="49" charset="-122"/>
              </a:rPr>
              <a:t>个挑战。</a:t>
            </a:r>
          </a:p>
          <a:p>
            <a:r>
              <a:rPr lang="zh-CN" altLang="en-US" b="1" dirty="0">
                <a:latin typeface="楷体_GB2312" panose="02010609030101010101" pitchFamily="49" charset="-122"/>
                <a:ea typeface="楷体_GB2312" panose="02010609030101010101" pitchFamily="49" charset="-122"/>
              </a:rPr>
              <a:t>在其他场合，特别是在各地调研时，例如在浙江、贵州、吉林、重庆等地，习总也都提及到“新常态”。在一些国际场合发言时，向世界讲解中国经济形势，也会提及“新常态”。</a:t>
            </a:r>
          </a:p>
        </p:txBody>
      </p:sp>
    </p:spTree>
    <p:extLst>
      <p:ext uri="{BB962C8B-B14F-4D97-AF65-F5344CB8AC3E}">
        <p14:creationId xmlns:p14="http://schemas.microsoft.com/office/powerpoint/2010/main" val="14372796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1143000"/>
          </a:xfrm>
          <a:solidFill>
            <a:srgbClr val="FFFFCC"/>
          </a:solidFill>
        </p:spPr>
        <p:txBody>
          <a:bodyPr/>
          <a:lstStyle/>
          <a:p>
            <a:r>
              <a:rPr lang="zh-CN" altLang="en-US" b="1" dirty="0" smtClean="0">
                <a:latin typeface="方正姚体" panose="02010601030101010101" pitchFamily="2" charset="-122"/>
                <a:ea typeface="方正姚体" panose="02010601030101010101" pitchFamily="2" charset="-122"/>
              </a:rPr>
              <a:t>制度均衡案例：中国经济新常态</a:t>
            </a:r>
            <a:endParaRPr lang="zh-CN" altLang="en-US" b="1" dirty="0">
              <a:latin typeface="方正姚体" panose="02010601030101010101" pitchFamily="2" charset="-122"/>
              <a:ea typeface="方正姚体" panose="02010601030101010101" pitchFamily="2" charset="-122"/>
            </a:endParaRPr>
          </a:p>
        </p:txBody>
      </p:sp>
      <p:sp>
        <p:nvSpPr>
          <p:cNvPr id="3" name="文本占位符 2"/>
          <p:cNvSpPr>
            <a:spLocks noGrp="1"/>
          </p:cNvSpPr>
          <p:nvPr>
            <p:ph type="body" idx="1"/>
          </p:nvPr>
        </p:nvSpPr>
        <p:spPr>
          <a:xfrm>
            <a:off x="395536" y="1556792"/>
            <a:ext cx="4320480" cy="4344888"/>
          </a:xfrm>
        </p:spPr>
        <p:txBody>
          <a:bodyPr/>
          <a:lstStyle/>
          <a:p>
            <a:pPr marL="0" indent="0">
              <a:buNone/>
            </a:pPr>
            <a:r>
              <a:rPr lang="zh-CN" altLang="en-US" b="1" dirty="0">
                <a:latin typeface="楷体_GB2312" panose="02010609030101010101" pitchFamily="49" charset="-122"/>
                <a:ea typeface="楷体_GB2312" panose="02010609030101010101" pitchFamily="49" charset="-122"/>
              </a:rPr>
              <a:t>中国经济呈现出新常态，有几个主要特点：</a:t>
            </a:r>
          </a:p>
          <a:p>
            <a:r>
              <a:rPr lang="zh-CN" altLang="en-US" b="1" dirty="0">
                <a:latin typeface="楷体_GB2312" panose="02010609030101010101" pitchFamily="49" charset="-122"/>
                <a:ea typeface="楷体_GB2312" panose="02010609030101010101" pitchFamily="49" charset="-122"/>
              </a:rPr>
              <a:t>一是从高速增长转为中高速增长。</a:t>
            </a:r>
          </a:p>
          <a:p>
            <a:r>
              <a:rPr lang="zh-CN" altLang="en-US" b="1" dirty="0">
                <a:latin typeface="楷体_GB2312" panose="02010609030101010101" pitchFamily="49" charset="-122"/>
                <a:ea typeface="楷体_GB2312" panose="02010609030101010101" pitchFamily="49" charset="-122"/>
              </a:rPr>
              <a:t>二是经济结构不断优化升级，第三产业消费需求逐步成为主体，城乡区域差距逐步缩小，居民收入占比上升，发展成果惠及更广大民众。</a:t>
            </a:r>
          </a:p>
          <a:p>
            <a:r>
              <a:rPr lang="zh-CN" altLang="en-US" b="1" dirty="0">
                <a:latin typeface="楷体_GB2312" panose="02010609030101010101" pitchFamily="49" charset="-122"/>
                <a:ea typeface="楷体_GB2312" panose="02010609030101010101" pitchFamily="49" charset="-122"/>
              </a:rPr>
              <a:t>三是从要素驱动、投资驱动转向创新驱动。</a:t>
            </a:r>
          </a:p>
        </p:txBody>
      </p:sp>
      <p:pic>
        <p:nvPicPr>
          <p:cNvPr id="1026" name="Picture 2" descr="http://news.xinhuanet.com/world/2013-10/08/125490697_21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340768"/>
            <a:ext cx="4200525" cy="5354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0441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864096"/>
          </a:xfrm>
          <a:solidFill>
            <a:srgbClr val="FFFFCC"/>
          </a:solidFill>
        </p:spPr>
        <p:txBody>
          <a:bodyPr/>
          <a:lstStyle/>
          <a:p>
            <a:r>
              <a:rPr lang="zh-CN" altLang="en-US" b="1" dirty="0" smtClean="0">
                <a:latin typeface="方正姚体" panose="02010601030101010101" pitchFamily="2" charset="-122"/>
                <a:ea typeface="方正姚体" panose="02010601030101010101" pitchFamily="2" charset="-122"/>
              </a:rPr>
              <a:t>制度均衡案例：中国经济新常态</a:t>
            </a:r>
            <a:endParaRPr lang="zh-CN" altLang="en-US" b="1" dirty="0">
              <a:latin typeface="方正姚体" panose="02010601030101010101" pitchFamily="2" charset="-122"/>
              <a:ea typeface="方正姚体" panose="02010601030101010101" pitchFamily="2" charset="-122"/>
            </a:endParaRPr>
          </a:p>
        </p:txBody>
      </p:sp>
      <p:sp>
        <p:nvSpPr>
          <p:cNvPr id="3" name="文本占位符 2"/>
          <p:cNvSpPr>
            <a:spLocks noGrp="1"/>
          </p:cNvSpPr>
          <p:nvPr>
            <p:ph type="body" idx="1"/>
          </p:nvPr>
        </p:nvSpPr>
        <p:spPr>
          <a:xfrm>
            <a:off x="323528" y="980728"/>
            <a:ext cx="8305800" cy="5328592"/>
          </a:xfrm>
        </p:spPr>
        <p:txBody>
          <a:bodyPr/>
          <a:lstStyle/>
          <a:p>
            <a:pPr marL="0" indent="0">
              <a:lnSpc>
                <a:spcPct val="120000"/>
              </a:lnSpc>
              <a:buNone/>
            </a:pPr>
            <a:r>
              <a:rPr lang="zh-CN" altLang="en-US" sz="2000" b="1" dirty="0">
                <a:latin typeface="楷体_GB2312" panose="02010609030101010101" pitchFamily="49" charset="-122"/>
                <a:ea typeface="楷体_GB2312" panose="02010609030101010101" pitchFamily="49" charset="-122"/>
              </a:rPr>
              <a:t>新常态将给中国带来新的发展</a:t>
            </a:r>
            <a:r>
              <a:rPr lang="zh-CN" altLang="en-US" sz="2000" b="1" dirty="0" smtClean="0">
                <a:latin typeface="楷体_GB2312" panose="02010609030101010101" pitchFamily="49" charset="-122"/>
                <a:ea typeface="楷体_GB2312" panose="02010609030101010101" pitchFamily="49" charset="-122"/>
              </a:rPr>
              <a:t>机遇：</a:t>
            </a:r>
            <a:endParaRPr lang="zh-CN" altLang="en-US" sz="2000" b="1" dirty="0">
              <a:latin typeface="楷体_GB2312" panose="02010609030101010101" pitchFamily="49" charset="-122"/>
              <a:ea typeface="楷体_GB2312" panose="02010609030101010101" pitchFamily="49" charset="-122"/>
            </a:endParaRPr>
          </a:p>
          <a:p>
            <a:pPr>
              <a:lnSpc>
                <a:spcPct val="120000"/>
              </a:lnSpc>
            </a:pPr>
            <a:r>
              <a:rPr lang="zh-CN" altLang="en-US" sz="2000" b="1" dirty="0">
                <a:latin typeface="楷体_GB2312" panose="02010609030101010101" pitchFamily="49" charset="-122"/>
                <a:ea typeface="楷体_GB2312" panose="02010609030101010101" pitchFamily="49" charset="-122"/>
              </a:rPr>
              <a:t>第一，新常态下，中国经济增速虽然放缓，实际增量依然可观。</a:t>
            </a:r>
            <a:r>
              <a:rPr lang="zh-CN" altLang="en-US" sz="2000" dirty="0">
                <a:latin typeface="楷体_GB2312" panose="02010609030101010101" pitchFamily="49" charset="-122"/>
                <a:ea typeface="楷体_GB2312" panose="02010609030101010101" pitchFamily="49" charset="-122"/>
              </a:rPr>
              <a:t>经过</a:t>
            </a:r>
            <a:r>
              <a:rPr lang="en-US" altLang="zh-CN" sz="2000" dirty="0">
                <a:latin typeface="楷体_GB2312" panose="02010609030101010101" pitchFamily="49" charset="-122"/>
                <a:ea typeface="楷体_GB2312" panose="02010609030101010101" pitchFamily="49" charset="-122"/>
              </a:rPr>
              <a:t>30</a:t>
            </a:r>
            <a:r>
              <a:rPr lang="zh-CN" altLang="en-US" sz="2000" dirty="0">
                <a:latin typeface="楷体_GB2312" panose="02010609030101010101" pitchFamily="49" charset="-122"/>
                <a:ea typeface="楷体_GB2312" panose="02010609030101010101" pitchFamily="49" charset="-122"/>
              </a:rPr>
              <a:t>多年的高速增长，中国的经济体量已经今非昔比。</a:t>
            </a:r>
            <a:r>
              <a:rPr lang="en-US" altLang="zh-CN" sz="2000" dirty="0">
                <a:latin typeface="楷体_GB2312" panose="02010609030101010101" pitchFamily="49" charset="-122"/>
                <a:ea typeface="楷体_GB2312" panose="02010609030101010101" pitchFamily="49" charset="-122"/>
              </a:rPr>
              <a:t>2013</a:t>
            </a:r>
            <a:r>
              <a:rPr lang="zh-CN" altLang="en-US" sz="2000" dirty="0">
                <a:latin typeface="楷体_GB2312" panose="02010609030101010101" pitchFamily="49" charset="-122"/>
                <a:ea typeface="楷体_GB2312" panose="02010609030101010101" pitchFamily="49" charset="-122"/>
              </a:rPr>
              <a:t>年一年中国经济的增量就相当于</a:t>
            </a:r>
            <a:r>
              <a:rPr lang="en-US" altLang="zh-CN" sz="2000" dirty="0">
                <a:latin typeface="楷体_GB2312" panose="02010609030101010101" pitchFamily="49" charset="-122"/>
                <a:ea typeface="楷体_GB2312" panose="02010609030101010101" pitchFamily="49" charset="-122"/>
              </a:rPr>
              <a:t>1994</a:t>
            </a:r>
            <a:r>
              <a:rPr lang="zh-CN" altLang="en-US" sz="2000" dirty="0">
                <a:latin typeface="楷体_GB2312" panose="02010609030101010101" pitchFamily="49" charset="-122"/>
                <a:ea typeface="楷体_GB2312" panose="02010609030101010101" pitchFamily="49" charset="-122"/>
              </a:rPr>
              <a:t>年全年的经济总量，可以在全世界排到第</a:t>
            </a:r>
            <a:r>
              <a:rPr lang="en-US" altLang="zh-CN" sz="2000" dirty="0">
                <a:latin typeface="楷体_GB2312" panose="02010609030101010101" pitchFamily="49" charset="-122"/>
                <a:ea typeface="楷体_GB2312" panose="02010609030101010101" pitchFamily="49" charset="-122"/>
              </a:rPr>
              <a:t>17</a:t>
            </a:r>
            <a:r>
              <a:rPr lang="zh-CN" altLang="en-US" sz="2000" dirty="0">
                <a:latin typeface="楷体_GB2312" panose="02010609030101010101" pitchFamily="49" charset="-122"/>
                <a:ea typeface="楷体_GB2312" panose="02010609030101010101" pitchFamily="49" charset="-122"/>
              </a:rPr>
              <a:t>位。即使是</a:t>
            </a:r>
            <a:r>
              <a:rPr lang="en-US" altLang="zh-CN" sz="2000" dirty="0">
                <a:latin typeface="楷体_GB2312" panose="02010609030101010101" pitchFamily="49" charset="-122"/>
                <a:ea typeface="楷体_GB2312" panose="02010609030101010101" pitchFamily="49" charset="-122"/>
              </a:rPr>
              <a:t>7%</a:t>
            </a:r>
            <a:r>
              <a:rPr lang="zh-CN" altLang="en-US" sz="2000" dirty="0">
                <a:latin typeface="楷体_GB2312" panose="02010609030101010101" pitchFamily="49" charset="-122"/>
                <a:ea typeface="楷体_GB2312" panose="02010609030101010101" pitchFamily="49" charset="-122"/>
              </a:rPr>
              <a:t>左右的增长，无论是速度还是体量，在全球也是名列前茅的。</a:t>
            </a:r>
          </a:p>
          <a:p>
            <a:pPr>
              <a:lnSpc>
                <a:spcPct val="120000"/>
              </a:lnSpc>
            </a:pPr>
            <a:r>
              <a:rPr lang="zh-CN" altLang="en-US" sz="2000" b="1" dirty="0">
                <a:latin typeface="楷体_GB2312" panose="02010609030101010101" pitchFamily="49" charset="-122"/>
                <a:ea typeface="楷体_GB2312" panose="02010609030101010101" pitchFamily="49" charset="-122"/>
              </a:rPr>
              <a:t>第二，新常态下，中国经济增长更趋平稳，增长动力更为多元。</a:t>
            </a:r>
            <a:r>
              <a:rPr lang="zh-CN" altLang="en-US" sz="2000" dirty="0">
                <a:latin typeface="楷体_GB2312" panose="02010609030101010101" pitchFamily="49" charset="-122"/>
                <a:ea typeface="楷体_GB2312" panose="02010609030101010101" pitchFamily="49" charset="-122"/>
              </a:rPr>
              <a:t>有人担心，中国经济增速会不会进一步回落，能不能爬坡过坎？风险确实有，但没有那么可怕。中国经济的强韧性是防范风险的最有力支撑。我们创新宏观调控的思路和方式，以目前确定的战略和所拥有的政策储备，我们有信心、有能力应对各种可能出现的风险。我们正在协同推进新型工业化、城镇化、信息化、农业现代化，这有利于化解各种成长的烦恼。中国经济更多依赖国内消费需求拉动，避免依赖出口的外部风险。</a:t>
            </a:r>
          </a:p>
          <a:p>
            <a:endParaRPr lang="zh-CN" altLang="en-US" b="1"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6975001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548680"/>
            <a:ext cx="8305800" cy="5616624"/>
          </a:xfrm>
        </p:spPr>
        <p:txBody>
          <a:bodyPr/>
          <a:lstStyle/>
          <a:p>
            <a:pPr>
              <a:lnSpc>
                <a:spcPct val="120000"/>
              </a:lnSpc>
            </a:pPr>
            <a:r>
              <a:rPr lang="zh-CN" altLang="en-US" b="1" dirty="0">
                <a:latin typeface="楷体_GB2312" panose="02010609030101010101" pitchFamily="49" charset="-122"/>
                <a:ea typeface="楷体_GB2312" panose="02010609030101010101" pitchFamily="49" charset="-122"/>
              </a:rPr>
              <a:t>第三，新常态下，中国经济结构优化升级，发展前景更加稳定</a:t>
            </a:r>
            <a:r>
              <a:rPr lang="zh-CN" altLang="en-US" b="1" dirty="0" smtClean="0">
                <a:latin typeface="楷体_GB2312" panose="02010609030101010101" pitchFamily="49" charset="-122"/>
                <a:ea typeface="楷体_GB2312" panose="02010609030101010101" pitchFamily="49" charset="-122"/>
              </a:rPr>
              <a:t>。</a:t>
            </a:r>
            <a:r>
              <a:rPr lang="en-US" altLang="zh-CN" dirty="0" smtClean="0">
                <a:latin typeface="楷体_GB2312" panose="02010609030101010101" pitchFamily="49" charset="-122"/>
                <a:ea typeface="楷体_GB2312" panose="02010609030101010101" pitchFamily="49" charset="-122"/>
              </a:rPr>
              <a:t>2018</a:t>
            </a:r>
            <a:r>
              <a:rPr lang="zh-CN" altLang="en-US" dirty="0" smtClean="0">
                <a:latin typeface="楷体_GB2312" panose="02010609030101010101" pitchFamily="49" charset="-122"/>
                <a:ea typeface="楷体_GB2312" panose="02010609030101010101" pitchFamily="49" charset="-122"/>
              </a:rPr>
              <a:t>年前三个季度</a:t>
            </a:r>
            <a:r>
              <a:rPr lang="zh-CN" altLang="en-US" dirty="0">
                <a:latin typeface="楷体_GB2312" panose="02010609030101010101" pitchFamily="49" charset="-122"/>
                <a:ea typeface="楷体_GB2312" panose="02010609030101010101" pitchFamily="49" charset="-122"/>
              </a:rPr>
              <a:t>，中国最终消费对经济增长的贡献率为</a:t>
            </a:r>
            <a:r>
              <a:rPr lang="en-US" altLang="zh-CN" dirty="0">
                <a:latin typeface="楷体_GB2312" panose="02010609030101010101" pitchFamily="49" charset="-122"/>
                <a:ea typeface="楷体_GB2312" panose="02010609030101010101" pitchFamily="49" charset="-122"/>
              </a:rPr>
              <a:t>48.5%</a:t>
            </a:r>
            <a:r>
              <a:rPr lang="zh-CN" altLang="en-US" dirty="0">
                <a:latin typeface="楷体_GB2312" panose="02010609030101010101" pitchFamily="49" charset="-122"/>
                <a:ea typeface="楷体_GB2312" panose="02010609030101010101" pitchFamily="49" charset="-122"/>
              </a:rPr>
              <a:t>，超过了投资。服务业增加值占比</a:t>
            </a:r>
            <a:r>
              <a:rPr lang="en-US" altLang="zh-CN" dirty="0">
                <a:latin typeface="楷体_GB2312" panose="02010609030101010101" pitchFamily="49" charset="-122"/>
                <a:ea typeface="楷体_GB2312" panose="02010609030101010101" pitchFamily="49" charset="-122"/>
              </a:rPr>
              <a:t>46.7%</a:t>
            </a:r>
            <a:r>
              <a:rPr lang="zh-CN" altLang="en-US" dirty="0">
                <a:latin typeface="楷体_GB2312" panose="02010609030101010101" pitchFamily="49" charset="-122"/>
                <a:ea typeface="楷体_GB2312" panose="02010609030101010101" pitchFamily="49" charset="-122"/>
              </a:rPr>
              <a:t>，继续超过第二产业。高新技术产业和装备制造业增速分别为</a:t>
            </a:r>
            <a:r>
              <a:rPr lang="en-US" altLang="zh-CN" dirty="0">
                <a:latin typeface="楷体_GB2312" panose="02010609030101010101" pitchFamily="49" charset="-122"/>
                <a:ea typeface="楷体_GB2312" panose="02010609030101010101" pitchFamily="49" charset="-122"/>
              </a:rPr>
              <a:t>12.3%</a:t>
            </a:r>
            <a:r>
              <a:rPr lang="zh-CN" altLang="en-US" dirty="0">
                <a:latin typeface="楷体_GB2312" panose="02010609030101010101" pitchFamily="49" charset="-122"/>
                <a:ea typeface="楷体_GB2312" panose="02010609030101010101" pitchFamily="49" charset="-122"/>
              </a:rPr>
              <a:t>和</a:t>
            </a:r>
            <a:r>
              <a:rPr lang="en-US" altLang="zh-CN" dirty="0">
                <a:latin typeface="楷体_GB2312" panose="02010609030101010101" pitchFamily="49" charset="-122"/>
                <a:ea typeface="楷体_GB2312" panose="02010609030101010101" pitchFamily="49" charset="-122"/>
              </a:rPr>
              <a:t>11.1%</a:t>
            </a:r>
            <a:r>
              <a:rPr lang="zh-CN" altLang="en-US" dirty="0">
                <a:latin typeface="楷体_GB2312" panose="02010609030101010101" pitchFamily="49" charset="-122"/>
                <a:ea typeface="楷体_GB2312" panose="02010609030101010101" pitchFamily="49" charset="-122"/>
              </a:rPr>
              <a:t>，明显高于工业平均增速。单位国内生产总值能耗下降</a:t>
            </a:r>
            <a:r>
              <a:rPr lang="en-US" altLang="zh-CN" dirty="0">
                <a:latin typeface="楷体_GB2312" panose="02010609030101010101" pitchFamily="49" charset="-122"/>
                <a:ea typeface="楷体_GB2312" panose="02010609030101010101" pitchFamily="49" charset="-122"/>
              </a:rPr>
              <a:t>4.6%</a:t>
            </a:r>
            <a:r>
              <a:rPr lang="zh-CN" altLang="en-US" dirty="0">
                <a:latin typeface="楷体_GB2312" panose="02010609030101010101" pitchFamily="49" charset="-122"/>
                <a:ea typeface="楷体_GB2312" panose="02010609030101010101" pitchFamily="49" charset="-122"/>
              </a:rPr>
              <a:t>。这些数据显示，中国经济结构正在发生深刻变化，质量更好、结构更优。</a:t>
            </a:r>
          </a:p>
          <a:p>
            <a:pPr>
              <a:lnSpc>
                <a:spcPct val="120000"/>
              </a:lnSpc>
            </a:pPr>
            <a:r>
              <a:rPr lang="zh-CN" altLang="en-US" b="1" dirty="0">
                <a:latin typeface="楷体_GB2312" panose="02010609030101010101" pitchFamily="49" charset="-122"/>
                <a:ea typeface="楷体_GB2312" panose="02010609030101010101" pitchFamily="49" charset="-122"/>
              </a:rPr>
              <a:t>第四，新常态下，中国政府大力简政放权，市场活力进一步释放。</a:t>
            </a:r>
            <a:r>
              <a:rPr lang="zh-CN" altLang="en-US" dirty="0">
                <a:latin typeface="楷体_GB2312" panose="02010609030101010101" pitchFamily="49" charset="-122"/>
                <a:ea typeface="楷体_GB2312" panose="02010609030101010101" pitchFamily="49" charset="-122"/>
              </a:rPr>
              <a:t>简言之，就是要放开政府这只看得见的手，用好市场这只看不见的手。比如我们改革了企业登记制度</a:t>
            </a:r>
            <a:r>
              <a:rPr lang="zh-CN" altLang="en-US" dirty="0" smtClean="0">
                <a:latin typeface="楷体_GB2312" panose="02010609030101010101" pitchFamily="49" charset="-122"/>
                <a:ea typeface="楷体_GB2312" panose="02010609030101010101" pitchFamily="49" charset="-122"/>
              </a:rPr>
              <a:t>，</a:t>
            </a:r>
            <a:r>
              <a:rPr lang="en-US" altLang="zh-CN" dirty="0" smtClean="0">
                <a:latin typeface="楷体_GB2312" panose="02010609030101010101" pitchFamily="49" charset="-122"/>
                <a:ea typeface="楷体_GB2312" panose="02010609030101010101" pitchFamily="49" charset="-122"/>
              </a:rPr>
              <a:t>2018</a:t>
            </a:r>
            <a:r>
              <a:rPr lang="zh-CN" altLang="en-US" dirty="0" smtClean="0">
                <a:latin typeface="楷体_GB2312" panose="02010609030101010101" pitchFamily="49" charset="-122"/>
                <a:ea typeface="楷体_GB2312" panose="02010609030101010101" pitchFamily="49" charset="-122"/>
              </a:rPr>
              <a:t>年前三个季度</a:t>
            </a:r>
            <a:r>
              <a:rPr lang="zh-CN" altLang="en-US" dirty="0">
                <a:latin typeface="楷体_GB2312" panose="02010609030101010101" pitchFamily="49" charset="-122"/>
                <a:ea typeface="楷体_GB2312" panose="02010609030101010101" pitchFamily="49" charset="-122"/>
              </a:rPr>
              <a:t>全国新登记注册市场主体</a:t>
            </a:r>
            <a:r>
              <a:rPr lang="en-US" altLang="zh-CN" dirty="0">
                <a:latin typeface="楷体_GB2312" panose="02010609030101010101" pitchFamily="49" charset="-122"/>
                <a:ea typeface="楷体_GB2312" panose="02010609030101010101" pitchFamily="49" charset="-122"/>
              </a:rPr>
              <a:t>920</a:t>
            </a:r>
            <a:r>
              <a:rPr lang="zh-CN" altLang="en-US" dirty="0">
                <a:latin typeface="楷体_GB2312" panose="02010609030101010101" pitchFamily="49" charset="-122"/>
                <a:ea typeface="楷体_GB2312" panose="02010609030101010101" pitchFamily="49" charset="-122"/>
              </a:rPr>
              <a:t>万户，新增企业数量较去年增长了</a:t>
            </a:r>
            <a:r>
              <a:rPr lang="en-US" altLang="zh-CN" dirty="0">
                <a:latin typeface="楷体_GB2312" panose="02010609030101010101" pitchFamily="49" charset="-122"/>
                <a:ea typeface="楷体_GB2312" panose="02010609030101010101" pitchFamily="49" charset="-122"/>
              </a:rPr>
              <a:t>60%</a:t>
            </a:r>
            <a:r>
              <a:rPr lang="zh-CN" altLang="en-US" dirty="0">
                <a:latin typeface="楷体_GB2312" panose="02010609030101010101" pitchFamily="49" charset="-122"/>
                <a:ea typeface="楷体_GB2312" panose="02010609030101010101" pitchFamily="49" charset="-122"/>
              </a:rPr>
              <a:t>以上。</a:t>
            </a:r>
          </a:p>
        </p:txBody>
      </p:sp>
    </p:spTree>
    <p:extLst>
      <p:ext uri="{BB962C8B-B14F-4D97-AF65-F5344CB8AC3E}">
        <p14:creationId xmlns:p14="http://schemas.microsoft.com/office/powerpoint/2010/main" val="30799359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1143000"/>
          </a:xfrm>
          <a:solidFill>
            <a:srgbClr val="FFFFCC"/>
          </a:solidFill>
        </p:spPr>
        <p:txBody>
          <a:bodyPr/>
          <a:lstStyle/>
          <a:p>
            <a:r>
              <a:rPr lang="zh-CN" altLang="en-US" b="1" dirty="0" smtClean="0">
                <a:latin typeface="方正姚体" panose="02010601030101010101" pitchFamily="2" charset="-122"/>
                <a:ea typeface="方正姚体" panose="02010601030101010101" pitchFamily="2" charset="-122"/>
              </a:rPr>
              <a:t>制度均衡案例：中国经济新常态</a:t>
            </a:r>
            <a:endParaRPr lang="zh-CN" altLang="en-US" b="1" dirty="0">
              <a:latin typeface="方正姚体" panose="02010601030101010101" pitchFamily="2" charset="-122"/>
              <a:ea typeface="方正姚体" panose="02010601030101010101" pitchFamily="2" charset="-122"/>
            </a:endParaRPr>
          </a:p>
        </p:txBody>
      </p:sp>
      <p:sp>
        <p:nvSpPr>
          <p:cNvPr id="3" name="文本占位符 2"/>
          <p:cNvSpPr>
            <a:spLocks noGrp="1"/>
          </p:cNvSpPr>
          <p:nvPr>
            <p:ph type="body" idx="1"/>
          </p:nvPr>
        </p:nvSpPr>
        <p:spPr>
          <a:xfrm>
            <a:off x="395536" y="1340768"/>
            <a:ext cx="8305800" cy="4272880"/>
          </a:xfrm>
        </p:spPr>
        <p:txBody>
          <a:bodyPr/>
          <a:lstStyle/>
          <a:p>
            <a:pPr marL="0" indent="0">
              <a:lnSpc>
                <a:spcPct val="120000"/>
              </a:lnSpc>
              <a:buNone/>
            </a:pPr>
            <a:r>
              <a:rPr lang="zh-CN" altLang="en-US" b="1" dirty="0" smtClean="0">
                <a:latin typeface="楷体_GB2312" panose="02010609030101010101" pitchFamily="49" charset="-122"/>
                <a:ea typeface="楷体_GB2312" panose="02010609030101010101" pitchFamily="49" charset="-122"/>
              </a:rPr>
              <a:t>新常态的</a:t>
            </a:r>
            <a:r>
              <a:rPr lang="en-US" altLang="zh-CN" b="1" dirty="0" smtClean="0">
                <a:latin typeface="楷体_GB2312" panose="02010609030101010101" pitchFamily="49" charset="-122"/>
                <a:ea typeface="楷体_GB2312" panose="02010609030101010101" pitchFamily="49" charset="-122"/>
              </a:rPr>
              <a:t>1</a:t>
            </a:r>
            <a:r>
              <a:rPr lang="zh-CN" altLang="en-US" b="1" dirty="0" smtClean="0">
                <a:latin typeface="楷体_GB2312" panose="02010609030101010101" pitchFamily="49" charset="-122"/>
                <a:ea typeface="楷体_GB2312" panose="02010609030101010101" pitchFamily="49" charset="-122"/>
              </a:rPr>
              <a:t>个挑战：</a:t>
            </a:r>
            <a:endParaRPr lang="en-US" altLang="zh-CN" b="1" dirty="0" smtClean="0">
              <a:latin typeface="楷体_GB2312" panose="02010609030101010101" pitchFamily="49" charset="-122"/>
              <a:ea typeface="楷体_GB2312" panose="02010609030101010101" pitchFamily="49" charset="-122"/>
            </a:endParaRPr>
          </a:p>
          <a:p>
            <a:pPr>
              <a:lnSpc>
                <a:spcPct val="120000"/>
              </a:lnSpc>
            </a:pPr>
            <a:r>
              <a:rPr lang="zh-CN" altLang="en-US" b="1" dirty="0" smtClean="0">
                <a:latin typeface="楷体_GB2312" panose="02010609030101010101" pitchFamily="49" charset="-122"/>
                <a:ea typeface="楷体_GB2312" panose="02010609030101010101" pitchFamily="49" charset="-122"/>
              </a:rPr>
              <a:t>  “</a:t>
            </a:r>
            <a:r>
              <a:rPr lang="zh-CN" altLang="en-US" b="1" dirty="0">
                <a:latin typeface="楷体_GB2312" panose="02010609030101010101" pitchFamily="49" charset="-122"/>
                <a:ea typeface="楷体_GB2312" panose="02010609030101010101" pitchFamily="49" charset="-122"/>
              </a:rPr>
              <a:t>同时，我们也清醒地认识到，新常态也伴随着新问题、新矛盾，一些潜在风险渐渐浮出水面。能不能适应新常态，关键在于全面深化改革的力度。我在去年工商领导人峰会上说过，中国改革已经进入攻坚期和深水区。我们要敢于啃硬骨头，敢于涉险滩，敢于向积存多年的顽疾开刀</a:t>
            </a:r>
            <a:r>
              <a:rPr lang="zh-CN" altLang="en-US" b="1" dirty="0" smtClean="0">
                <a:latin typeface="楷体_GB2312" panose="02010609030101010101" pitchFamily="49" charset="-122"/>
                <a:ea typeface="楷体_GB2312" panose="02010609030101010101" pitchFamily="49" charset="-122"/>
              </a:rPr>
              <a:t>。”</a:t>
            </a:r>
            <a:endParaRPr lang="zh-CN" altLang="en-US" b="1" dirty="0">
              <a:latin typeface="楷体_GB2312" panose="02010609030101010101" pitchFamily="49" charset="-122"/>
              <a:ea typeface="楷体_GB2312" panose="02010609030101010101" pitchFamily="49" charset="-122"/>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4149080"/>
            <a:ext cx="3638550" cy="27089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8878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331402" y="332656"/>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四、制度均衡与非均衡</a:t>
            </a:r>
            <a:endParaRPr lang="zh-CN" altLang="en-US" sz="4800" b="1" dirty="0">
              <a:latin typeface="黑体" pitchFamily="49" charset="-122"/>
              <a:ea typeface="黑体" pitchFamily="49" charset="-122"/>
            </a:endParaRPr>
          </a:p>
        </p:txBody>
      </p:sp>
      <p:sp>
        <p:nvSpPr>
          <p:cNvPr id="5" name="Rectangle 3"/>
          <p:cNvSpPr>
            <a:spLocks noGrp="1" noChangeArrowheads="1"/>
          </p:cNvSpPr>
          <p:nvPr>
            <p:ph type="body" idx="1"/>
          </p:nvPr>
        </p:nvSpPr>
        <p:spPr>
          <a:xfrm>
            <a:off x="361869" y="1844824"/>
            <a:ext cx="8305800" cy="3744416"/>
          </a:xfrm>
        </p:spPr>
        <p:txBody>
          <a:bodyPr/>
          <a:lstStyle/>
          <a:p>
            <a:r>
              <a:rPr lang="zh-CN" altLang="en-US" sz="2800" b="1" dirty="0">
                <a:latin typeface="楷体_GB2312" panose="02010609030101010101" pitchFamily="49" charset="-122"/>
                <a:ea typeface="楷体_GB2312" panose="02010609030101010101" pitchFamily="49" charset="-122"/>
              </a:rPr>
              <a:t>所谓制度非均衡就是人们对现存制度的一种不满意或不满足，欲意改变而又尚未改变的状态。</a:t>
            </a:r>
          </a:p>
          <a:p>
            <a:r>
              <a:rPr lang="zh-CN" altLang="en-US" sz="2800" b="1" dirty="0">
                <a:latin typeface="楷体_GB2312" panose="02010609030101010101" pitchFamily="49" charset="-122"/>
                <a:ea typeface="楷体_GB2312" panose="02010609030101010101" pitchFamily="49" charset="-122"/>
              </a:rPr>
              <a:t>从供求关系看，制度非均衡就是指制度供给与制度需求出现了不一致。</a:t>
            </a:r>
          </a:p>
          <a:p>
            <a:r>
              <a:rPr lang="zh-CN" altLang="en-US" sz="2800" b="1" dirty="0">
                <a:latin typeface="楷体_GB2312" panose="02010609030101010101" pitchFamily="49" charset="-122"/>
                <a:ea typeface="楷体_GB2312" panose="02010609030101010101" pitchFamily="49" charset="-122"/>
              </a:rPr>
              <a:t>制度变迁实际上是对制度非均衡的一种反应。</a:t>
            </a:r>
            <a:endParaRPr lang="zh-CN" altLang="en-US" sz="2800" dirty="0">
              <a:latin typeface="楷体_GB2312" panose="02010609030101010101" pitchFamily="49" charset="-122"/>
              <a:ea typeface="楷体_GB2312" panose="02010609030101010101" pitchFamily="49" charset="-122"/>
              <a:hlinkClick r:id="rId2" action="ppaction://hlinksldjump"/>
            </a:endParaRPr>
          </a:p>
          <a:p>
            <a:r>
              <a:rPr lang="zh-CN" altLang="en-US" sz="2800" b="1" dirty="0">
                <a:latin typeface="楷体_GB2312" panose="02010609030101010101" pitchFamily="49" charset="-122"/>
                <a:ea typeface="楷体_GB2312" panose="02010609030101010101" pitchFamily="49" charset="-122"/>
              </a:rPr>
              <a:t>制度非均衡的</a:t>
            </a:r>
            <a:r>
              <a:rPr lang="zh-CN" altLang="en-US" sz="2800" b="1" dirty="0" smtClean="0">
                <a:latin typeface="楷体_GB2312" panose="02010609030101010101" pitchFamily="49" charset="-122"/>
                <a:ea typeface="楷体_GB2312" panose="02010609030101010101" pitchFamily="49" charset="-122"/>
              </a:rPr>
              <a:t>类型：</a:t>
            </a:r>
            <a:r>
              <a:rPr lang="en-US" altLang="zh-CN" sz="2800" b="1" dirty="0" smtClean="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1)</a:t>
            </a:r>
            <a:r>
              <a:rPr lang="zh-CN" altLang="en-US" sz="2800" b="1" dirty="0">
                <a:latin typeface="楷体_GB2312" panose="02010609030101010101" pitchFamily="49" charset="-122"/>
                <a:ea typeface="楷体_GB2312" panose="02010609030101010101" pitchFamily="49" charset="-122"/>
              </a:rPr>
              <a:t>制度供给</a:t>
            </a:r>
            <a:r>
              <a:rPr lang="zh-CN" altLang="en-US" sz="2800" b="1" dirty="0" smtClean="0">
                <a:latin typeface="楷体_GB2312" panose="02010609030101010101" pitchFamily="49" charset="-122"/>
                <a:ea typeface="楷体_GB2312" panose="02010609030101010101" pitchFamily="49" charset="-122"/>
              </a:rPr>
              <a:t>不足；</a:t>
            </a:r>
            <a:r>
              <a:rPr lang="en-US" altLang="zh-CN" sz="2800" b="1" dirty="0" smtClean="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2)</a:t>
            </a:r>
            <a:r>
              <a:rPr lang="zh-CN" altLang="en-US" sz="2800" b="1" dirty="0">
                <a:latin typeface="楷体_GB2312" panose="02010609030101010101" pitchFamily="49" charset="-122"/>
                <a:ea typeface="楷体_GB2312" panose="02010609030101010101" pitchFamily="49" charset="-122"/>
              </a:rPr>
              <a:t>制度供给“过剩”。</a:t>
            </a:r>
            <a:endParaRPr lang="zh-CN" altLang="en-US" sz="2800" b="1" dirty="0">
              <a:latin typeface="楷体_GB2312" panose="02010609030101010101" pitchFamily="49" charset="-122"/>
              <a:ea typeface="楷体_GB2312" panose="02010609030101010101" pitchFamily="49" charset="-122"/>
              <a:hlinkClick r:id="rId2" action="ppaction://hlinksldjump"/>
            </a:endParaRPr>
          </a:p>
          <a:p>
            <a:pPr>
              <a:lnSpc>
                <a:spcPct val="80000"/>
              </a:lnSpc>
            </a:pPr>
            <a:endParaRPr lang="zh-CN" altLang="en-US" sz="2800" b="1" dirty="0">
              <a:latin typeface="楷体_GB2312" panose="02010609030101010101" pitchFamily="49" charset="-122"/>
              <a:ea typeface="楷体_GB2312" panose="02010609030101010101" pitchFamily="49" charset="-122"/>
              <a:hlinkClick r:id="" action="ppaction://noaction"/>
            </a:endParaRPr>
          </a:p>
        </p:txBody>
      </p:sp>
    </p:spTree>
    <p:extLst>
      <p:ext uri="{BB962C8B-B14F-4D97-AF65-F5344CB8AC3E}">
        <p14:creationId xmlns:p14="http://schemas.microsoft.com/office/powerpoint/2010/main" val="313478335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018347"/>
            <a:ext cx="7848872" cy="3074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bwMode="auto">
          <a:xfrm>
            <a:off x="467544" y="1484784"/>
            <a:ext cx="8424936" cy="127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indent="0">
              <a:lnSpc>
                <a:spcPct val="80000"/>
              </a:lnSpc>
              <a:buNone/>
            </a:pPr>
            <a:r>
              <a:rPr lang="en-US" altLang="zh-CN" sz="2400" b="1" kern="0" dirty="0" smtClean="0">
                <a:solidFill>
                  <a:srgbClr val="7030A0"/>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rPr>
              <a:t>——2016</a:t>
            </a:r>
            <a:r>
              <a:rPr lang="zh-CN" altLang="en-US" sz="2400" b="1" kern="0" dirty="0" smtClean="0">
                <a:solidFill>
                  <a:srgbClr val="7030A0"/>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rPr>
              <a:t>年的“金九银十”，不仅一线城市的房价直线上涨，天津、合肥、杭州、武汉、南京等二线城市也开始疯狂。以新京</a:t>
            </a:r>
            <a:r>
              <a:rPr lang="en-US" altLang="zh-CN" sz="2400" b="1" kern="0" dirty="0" smtClean="0">
                <a:solidFill>
                  <a:srgbClr val="7030A0"/>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rPr>
              <a:t>8</a:t>
            </a:r>
            <a:r>
              <a:rPr lang="zh-CN" altLang="en-US" sz="2400" b="1" kern="0" dirty="0" smtClean="0">
                <a:solidFill>
                  <a:srgbClr val="7030A0"/>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rPr>
              <a:t>条为代表的新一轮房地产调控新政开始陆续出台。这是制度补短板还是继续火上浇油？</a:t>
            </a:r>
          </a:p>
        </p:txBody>
      </p:sp>
      <p:sp>
        <p:nvSpPr>
          <p:cNvPr id="6" name="标题 1"/>
          <p:cNvSpPr txBox="1">
            <a:spLocks/>
          </p:cNvSpPr>
          <p:nvPr/>
        </p:nvSpPr>
        <p:spPr bwMode="auto">
          <a:xfrm>
            <a:off x="395536" y="188640"/>
            <a:ext cx="8305800" cy="11430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3600" b="1" kern="0" dirty="0" smtClean="0">
                <a:latin typeface="方正姚体" panose="02010601030101010101" pitchFamily="2" charset="-122"/>
                <a:ea typeface="方正姚体" panose="02010601030101010101" pitchFamily="2" charset="-122"/>
              </a:rPr>
              <a:t>制度非均衡案例：疯狂的房价与调控</a:t>
            </a:r>
            <a:endParaRPr lang="zh-CN" altLang="en-US" sz="3600" b="1" kern="0" dirty="0">
              <a:latin typeface="方正姚体" panose="02010601030101010101" pitchFamily="2" charset="-122"/>
              <a:ea typeface="方正姚体" panose="02010601030101010101" pitchFamily="2" charset="-122"/>
            </a:endParaRPr>
          </a:p>
        </p:txBody>
      </p:sp>
    </p:spTree>
    <p:extLst>
      <p:ext uri="{BB962C8B-B14F-4D97-AF65-F5344CB8AC3E}">
        <p14:creationId xmlns:p14="http://schemas.microsoft.com/office/powerpoint/2010/main" val="30293066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69502" y="1331641"/>
            <a:ext cx="8229600" cy="657200"/>
          </a:xfrm>
        </p:spPr>
        <p:txBody>
          <a:bodyPr/>
          <a:lstStyle/>
          <a:p>
            <a:r>
              <a:rPr lang="zh-CN" altLang="en-US" sz="3200" b="1" dirty="0" smtClean="0">
                <a:latin typeface="楷体_GB2312" panose="02010609030101010101" pitchFamily="49" charset="-122"/>
                <a:ea typeface="楷体_GB2312" panose="02010609030101010101" pitchFamily="49" charset="-122"/>
              </a:rPr>
              <a:t>诺思</a:t>
            </a:r>
            <a:r>
              <a:rPr lang="zh-CN" altLang="en-US" sz="3200" b="1" dirty="0">
                <a:latin typeface="楷体_GB2312" panose="02010609030101010101" pitchFamily="49" charset="-122"/>
                <a:ea typeface="楷体_GB2312" panose="02010609030101010101" pitchFamily="49" charset="-122"/>
              </a:rPr>
              <a:t>等对制度变迁一般过程的分析</a:t>
            </a:r>
            <a:r>
              <a:rPr lang="zh-CN" altLang="en-US" sz="4800" b="1" dirty="0">
                <a:latin typeface="楷体_GB2312" panose="02010609030101010101" pitchFamily="49" charset="-122"/>
                <a:ea typeface="楷体_GB2312" panose="02010609030101010101" pitchFamily="49" charset="-122"/>
              </a:rPr>
              <a:t> </a:t>
            </a:r>
          </a:p>
        </p:txBody>
      </p:sp>
      <p:sp>
        <p:nvSpPr>
          <p:cNvPr id="10243" name="Rectangle 3"/>
          <p:cNvSpPr>
            <a:spLocks noGrp="1" noChangeArrowheads="1"/>
          </p:cNvSpPr>
          <p:nvPr>
            <p:ph type="body" idx="1"/>
          </p:nvPr>
        </p:nvSpPr>
        <p:spPr>
          <a:xfrm>
            <a:off x="179512" y="2060848"/>
            <a:ext cx="6264696" cy="4797152"/>
          </a:xfrm>
        </p:spPr>
        <p:txBody>
          <a:bodyPr/>
          <a:lstStyle/>
          <a:p>
            <a:pPr>
              <a:buFontTx/>
              <a:buNone/>
            </a:pPr>
            <a:r>
              <a:rPr lang="en-US" altLang="zh-CN" sz="2000" dirty="0">
                <a:latin typeface="楷体_GB2312" panose="02010609030101010101" pitchFamily="49" charset="-122"/>
                <a:ea typeface="楷体_GB2312" panose="02010609030101010101" pitchFamily="49" charset="-122"/>
              </a:rPr>
              <a:t>①</a:t>
            </a:r>
            <a:r>
              <a:rPr lang="zh-CN" altLang="en-US" sz="2000" dirty="0">
                <a:latin typeface="楷体_GB2312" panose="02010609030101010101" pitchFamily="49" charset="-122"/>
                <a:ea typeface="楷体_GB2312" panose="02010609030101010101" pitchFamily="49" charset="-122"/>
              </a:rPr>
              <a:t>形成“初级行动团体” 。 </a:t>
            </a:r>
            <a:r>
              <a:rPr lang="zh-CN" altLang="en-US" sz="2000" dirty="0" smtClean="0">
                <a:latin typeface="楷体_GB2312" panose="02010609030101010101" pitchFamily="49" charset="-122"/>
                <a:ea typeface="楷体_GB2312" panose="02010609030101010101" pitchFamily="49" charset="-122"/>
              </a:rPr>
              <a:t>（杨贵来到林县）</a:t>
            </a:r>
            <a:endParaRPr lang="en-US" altLang="zh-CN" sz="2000" dirty="0" smtClean="0">
              <a:latin typeface="楷体_GB2312" panose="02010609030101010101" pitchFamily="49" charset="-122"/>
              <a:ea typeface="楷体_GB2312" panose="02010609030101010101" pitchFamily="49" charset="-122"/>
            </a:endParaRPr>
          </a:p>
          <a:p>
            <a:pPr>
              <a:buFontTx/>
              <a:buNone/>
            </a:pPr>
            <a:r>
              <a:rPr lang="zh-CN" altLang="en-US" sz="2000" dirty="0" smtClean="0">
                <a:latin typeface="楷体_GB2312" panose="02010609030101010101" pitchFamily="49" charset="-122"/>
                <a:ea typeface="楷体_GB2312" panose="02010609030101010101" pitchFamily="49" charset="-122"/>
              </a:rPr>
              <a:t>②</a:t>
            </a:r>
            <a:r>
              <a:rPr lang="zh-CN" altLang="en-US" sz="2000" dirty="0">
                <a:latin typeface="楷体_GB2312" panose="02010609030101010101" pitchFamily="49" charset="-122"/>
                <a:ea typeface="楷体_GB2312" panose="02010609030101010101" pitchFamily="49" charset="-122"/>
              </a:rPr>
              <a:t>初级行动团体提出制度变迁方案。 </a:t>
            </a:r>
            <a:r>
              <a:rPr lang="zh-CN" altLang="en-US" sz="2000" dirty="0" smtClean="0">
                <a:latin typeface="楷体_GB2312" panose="02010609030101010101" pitchFamily="49" charset="-122"/>
                <a:ea typeface="楷体_GB2312" panose="02010609030101010101" pitchFamily="49" charset="-122"/>
              </a:rPr>
              <a:t>（重新安排林县河山）</a:t>
            </a:r>
            <a:endParaRPr lang="zh-CN" altLang="en-US" sz="2000" dirty="0">
              <a:latin typeface="楷体_GB2312" panose="02010609030101010101" pitchFamily="49" charset="-122"/>
              <a:ea typeface="楷体_GB2312" panose="02010609030101010101" pitchFamily="49" charset="-122"/>
            </a:endParaRPr>
          </a:p>
          <a:p>
            <a:pPr>
              <a:buFontTx/>
              <a:buNone/>
            </a:pPr>
            <a:r>
              <a:rPr lang="zh-CN" altLang="en-US" sz="2000" dirty="0">
                <a:latin typeface="楷体_GB2312" panose="02010609030101010101" pitchFamily="49" charset="-122"/>
                <a:ea typeface="楷体_GB2312" panose="02010609030101010101" pitchFamily="49" charset="-122"/>
              </a:rPr>
              <a:t>③在有了若干可供选择的制度变迁方案之后，初级行动团体对预期纯收益为正值的几种制度变迁方案进行比较和选择</a:t>
            </a:r>
            <a:r>
              <a:rPr lang="zh-CN" altLang="en-US" sz="2000" dirty="0" smtClean="0">
                <a:latin typeface="楷体_GB2312" panose="02010609030101010101" pitchFamily="49" charset="-122"/>
                <a:ea typeface="楷体_GB2312" panose="02010609030101010101" pitchFamily="49" charset="-122"/>
              </a:rPr>
              <a:t>。（修水库、小渠</a:t>
            </a:r>
            <a:r>
              <a:rPr lang="en-US" altLang="zh-CN" sz="2000" dirty="0" smtClean="0">
                <a:latin typeface="楷体_GB2312" panose="02010609030101010101" pitchFamily="49" charset="-122"/>
                <a:ea typeface="楷体_GB2312" panose="02010609030101010101" pitchFamily="49" charset="-122"/>
              </a:rPr>
              <a:t>——</a:t>
            </a:r>
            <a:r>
              <a:rPr lang="zh-CN" altLang="en-US" sz="2000" dirty="0" smtClean="0">
                <a:latin typeface="楷体_GB2312" panose="02010609030101010101" pitchFamily="49" charset="-122"/>
                <a:ea typeface="楷体_GB2312" panose="02010609030101010101" pitchFamily="49" charset="-122"/>
              </a:rPr>
              <a:t>引漳入林）</a:t>
            </a:r>
            <a:endParaRPr lang="zh-CN" altLang="en-US" sz="2000" dirty="0">
              <a:latin typeface="楷体_GB2312" panose="02010609030101010101" pitchFamily="49" charset="-122"/>
              <a:ea typeface="楷体_GB2312" panose="02010609030101010101" pitchFamily="49" charset="-122"/>
            </a:endParaRPr>
          </a:p>
          <a:p>
            <a:pPr>
              <a:buFontTx/>
              <a:buNone/>
            </a:pPr>
            <a:r>
              <a:rPr lang="zh-CN" altLang="en-US" sz="2000" dirty="0">
                <a:latin typeface="楷体_GB2312" panose="02010609030101010101" pitchFamily="49" charset="-122"/>
                <a:ea typeface="楷体_GB2312" panose="02010609030101010101" pitchFamily="49" charset="-122"/>
              </a:rPr>
              <a:t>④形成</a:t>
            </a:r>
            <a:r>
              <a:rPr lang="zh-CN" altLang="en-US" sz="2000" dirty="0" smtClean="0">
                <a:latin typeface="楷体_GB2312" panose="02010609030101010101" pitchFamily="49" charset="-122"/>
                <a:ea typeface="楷体_GB2312" panose="02010609030101010101" pitchFamily="49" charset="-122"/>
              </a:rPr>
              <a:t>“次级行动团体”（</a:t>
            </a:r>
            <a:r>
              <a:rPr lang="en-US" altLang="zh-CN" sz="2000" dirty="0" smtClean="0">
                <a:latin typeface="楷体_GB2312" panose="02010609030101010101" pitchFamily="49" charset="-122"/>
                <a:ea typeface="楷体_GB2312" panose="02010609030101010101" pitchFamily="49" charset="-122"/>
              </a:rPr>
              <a:t>4</a:t>
            </a:r>
            <a:r>
              <a:rPr lang="zh-CN" altLang="en-US" sz="2000" dirty="0" smtClean="0">
                <a:latin typeface="楷体_GB2312" panose="02010609030101010101" pitchFamily="49" charset="-122"/>
                <a:ea typeface="楷体_GB2312" panose="02010609030101010101" pitchFamily="49" charset="-122"/>
              </a:rPr>
              <a:t>万群众大军） </a:t>
            </a:r>
            <a:r>
              <a:rPr lang="zh-CN" altLang="en-US" sz="2000" dirty="0">
                <a:latin typeface="楷体_GB2312" panose="02010609030101010101" pitchFamily="49" charset="-122"/>
                <a:ea typeface="楷体_GB2312" panose="02010609030101010101" pitchFamily="49" charset="-122"/>
              </a:rPr>
              <a:t>。</a:t>
            </a:r>
          </a:p>
          <a:p>
            <a:pPr>
              <a:buFontTx/>
              <a:buNone/>
            </a:pPr>
            <a:r>
              <a:rPr lang="zh-CN" altLang="en-US" sz="2000" dirty="0">
                <a:latin typeface="楷体_GB2312" panose="02010609030101010101" pitchFamily="49" charset="-122"/>
                <a:ea typeface="楷体_GB2312" panose="02010609030101010101" pitchFamily="49" charset="-122"/>
              </a:rPr>
              <a:t>⑤初级行动团体和次级行动团体一起努力使新的制度方案得以通过并付诸实施</a:t>
            </a:r>
            <a:r>
              <a:rPr lang="zh-CN" altLang="en-US" sz="2000" dirty="0" smtClean="0">
                <a:latin typeface="楷体_GB2312" panose="02010609030101010101" pitchFamily="49" charset="-122"/>
                <a:ea typeface="楷体_GB2312" panose="02010609030101010101" pitchFamily="49" charset="-122"/>
              </a:rPr>
              <a:t>。</a:t>
            </a:r>
            <a:r>
              <a:rPr lang="zh-CN" altLang="en-US" sz="2000" dirty="0" smtClean="0">
                <a:latin typeface="楷体_GB2312" panose="02010609030101010101" pitchFamily="49" charset="-122"/>
                <a:ea typeface="楷体_GB2312" panose="02010609030101010101" pitchFamily="49" charset="-122"/>
              </a:rPr>
              <a:t>（“人工天河”红旗渠） </a:t>
            </a:r>
            <a:endParaRPr lang="zh-CN" altLang="en-US" sz="2000" dirty="0">
              <a:latin typeface="楷体_GB2312" panose="02010609030101010101" pitchFamily="49" charset="-122"/>
              <a:ea typeface="楷体_GB2312" panose="02010609030101010101" pitchFamily="49" charset="-122"/>
            </a:endParaRPr>
          </a:p>
        </p:txBody>
      </p:sp>
      <p:sp>
        <p:nvSpPr>
          <p:cNvPr id="7" name="标题 1"/>
          <p:cNvSpPr txBox="1">
            <a:spLocks/>
          </p:cNvSpPr>
          <p:nvPr/>
        </p:nvSpPr>
        <p:spPr bwMode="auto">
          <a:xfrm>
            <a:off x="331402" y="188640"/>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五、制度创新的过程</a:t>
            </a:r>
            <a:endParaRPr lang="zh-CN" altLang="en-US" sz="4800" b="1" dirty="0">
              <a:latin typeface="黑体" pitchFamily="49" charset="-122"/>
              <a:ea typeface="黑体" pitchFamily="49" charset="-122"/>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2060848"/>
            <a:ext cx="2552700" cy="4797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7814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28122"/>
            <a:ext cx="8305800" cy="792088"/>
          </a:xfrm>
          <a:solidFill>
            <a:schemeClr val="tx1"/>
          </a:solidFill>
        </p:spPr>
        <p:txBody>
          <a:bodyPr/>
          <a:lstStyle/>
          <a:p>
            <a:r>
              <a:rPr lang="zh-CN" altLang="en-US" dirty="0" smtClean="0">
                <a:solidFill>
                  <a:srgbClr val="FFFFFF"/>
                </a:solidFill>
                <a:latin typeface="方正姚体" panose="02010601030101010101" pitchFamily="2" charset="-122"/>
                <a:ea typeface="方正姚体" panose="02010601030101010101" pitchFamily="2" charset="-122"/>
              </a:rPr>
              <a:t>案例：</a:t>
            </a:r>
            <a:r>
              <a:rPr lang="en-US" altLang="zh-CN" dirty="0" smtClean="0">
                <a:solidFill>
                  <a:srgbClr val="FFFFFF"/>
                </a:solidFill>
                <a:latin typeface="方正姚体" panose="02010601030101010101" pitchFamily="2" charset="-122"/>
                <a:ea typeface="方正姚体" panose="02010601030101010101" pitchFamily="2" charset="-122"/>
              </a:rPr>
              <a:t>1991</a:t>
            </a:r>
            <a:r>
              <a:rPr lang="zh-CN" altLang="en-US" dirty="0" smtClean="0">
                <a:solidFill>
                  <a:srgbClr val="FFFFFF"/>
                </a:solidFill>
                <a:latin typeface="方正姚体" panose="02010601030101010101" pitchFamily="2" charset="-122"/>
                <a:ea typeface="方正姚体" panose="02010601030101010101" pitchFamily="2" charset="-122"/>
              </a:rPr>
              <a:t>年苏联解体！</a:t>
            </a:r>
            <a:endParaRPr lang="zh-CN" altLang="en-US" dirty="0">
              <a:solidFill>
                <a:srgbClr val="FFFFFF"/>
              </a:solidFill>
              <a:latin typeface="方正姚体" panose="02010601030101010101" pitchFamily="2" charset="-122"/>
              <a:ea typeface="方正姚体" panose="02010601030101010101" pitchFamily="2" charset="-122"/>
            </a:endParaRPr>
          </a:p>
        </p:txBody>
      </p:sp>
      <p:sp>
        <p:nvSpPr>
          <p:cNvPr id="3" name="文本占位符 2"/>
          <p:cNvSpPr>
            <a:spLocks noGrp="1"/>
          </p:cNvSpPr>
          <p:nvPr>
            <p:ph type="body" idx="1"/>
          </p:nvPr>
        </p:nvSpPr>
        <p:spPr/>
        <p:txBody>
          <a:bodyPr/>
          <a:lstStyle/>
          <a:p>
            <a:endParaRPr lang="zh-CN"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2971" y="5138327"/>
            <a:ext cx="2709910" cy="1719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5" y="980728"/>
            <a:ext cx="335280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2185" y="976737"/>
            <a:ext cx="314325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85" y="3072237"/>
            <a:ext cx="3333750" cy="2066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2185" y="3042827"/>
            <a:ext cx="2690695"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7"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10" y="5223996"/>
            <a:ext cx="3313875" cy="16340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8"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25613" y="947327"/>
            <a:ext cx="3118387"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9"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00192" y="3645024"/>
            <a:ext cx="2095500"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85950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48750" y="1124745"/>
            <a:ext cx="8229600" cy="720080"/>
          </a:xfrm>
        </p:spPr>
        <p:txBody>
          <a:bodyPr/>
          <a:lstStyle/>
          <a:p>
            <a:r>
              <a:rPr lang="zh-CN" altLang="en-US" sz="4800" b="1" dirty="0" smtClean="0">
                <a:latin typeface="楷体_GB2312" panose="02010609030101010101" pitchFamily="49" charset="-122"/>
                <a:ea typeface="楷体_GB2312" panose="02010609030101010101" pitchFamily="49" charset="-122"/>
              </a:rPr>
              <a:t>几种现象：</a:t>
            </a:r>
            <a:endParaRPr lang="zh-CN" altLang="en-US" sz="4800" b="1" dirty="0">
              <a:latin typeface="楷体_GB2312" panose="02010609030101010101" pitchFamily="49" charset="-122"/>
              <a:ea typeface="楷体_GB2312" panose="02010609030101010101" pitchFamily="49" charset="-122"/>
            </a:endParaRPr>
          </a:p>
        </p:txBody>
      </p:sp>
      <p:sp>
        <p:nvSpPr>
          <p:cNvPr id="10243" name="Rectangle 3"/>
          <p:cNvSpPr>
            <a:spLocks noGrp="1" noChangeArrowheads="1"/>
          </p:cNvSpPr>
          <p:nvPr>
            <p:ph type="body" idx="1"/>
          </p:nvPr>
        </p:nvSpPr>
        <p:spPr>
          <a:xfrm>
            <a:off x="331402" y="1844824"/>
            <a:ext cx="8352928" cy="4464496"/>
          </a:xfrm>
        </p:spPr>
        <p:txBody>
          <a:bodyPr/>
          <a:lstStyle/>
          <a:p>
            <a:pPr>
              <a:buClr>
                <a:srgbClr val="C00000"/>
              </a:buClr>
              <a:buFont typeface="Wingdings" panose="05000000000000000000" pitchFamily="2" charset="2"/>
              <a:buChar char="Ø"/>
            </a:pPr>
            <a:r>
              <a:rPr lang="zh-CN" altLang="en-US" sz="3200" b="1" dirty="0" smtClean="0">
                <a:latin typeface="楷体_GB2312" panose="02010609030101010101" pitchFamily="49" charset="-122"/>
                <a:ea typeface="楷体_GB2312" panose="02010609030101010101" pitchFamily="49" charset="-122"/>
              </a:rPr>
              <a:t>时滞：</a:t>
            </a:r>
            <a:r>
              <a:rPr lang="zh-CN" altLang="en-US" dirty="0" smtClean="0">
                <a:latin typeface="楷体_GB2312" panose="02010609030101010101" pitchFamily="49" charset="-122"/>
                <a:ea typeface="楷体_GB2312" panose="02010609030101010101" pitchFamily="49" charset="-122"/>
              </a:rPr>
              <a:t>制度</a:t>
            </a:r>
            <a:r>
              <a:rPr lang="zh-CN" altLang="en-US" dirty="0">
                <a:latin typeface="楷体_GB2312" panose="02010609030101010101" pitchFamily="49" charset="-122"/>
                <a:ea typeface="楷体_GB2312" panose="02010609030101010101" pitchFamily="49" charset="-122"/>
              </a:rPr>
              <a:t>非均衡意味着制度变迁潜在利润的存在，从而产生了制度变迁的可能性。但是从认知制度非均衡、发现潜在利润的存在到实际发生制度变迁之间存在一个较长的时期和过程，这就是制度变迁过程中的时滞现象。 </a:t>
            </a:r>
          </a:p>
          <a:p>
            <a:pPr>
              <a:buClr>
                <a:srgbClr val="C00000"/>
              </a:buClr>
              <a:buFont typeface="Wingdings" panose="05000000000000000000" pitchFamily="2" charset="2"/>
              <a:buChar char="Ø"/>
            </a:pPr>
            <a:r>
              <a:rPr lang="zh-CN" altLang="en-US" sz="3200" dirty="0">
                <a:latin typeface="楷体_GB2312" panose="02010609030101010101" pitchFamily="49" charset="-122"/>
                <a:ea typeface="楷体_GB2312" panose="02010609030101010101" pitchFamily="49" charset="-122"/>
              </a:rPr>
              <a:t>连锁</a:t>
            </a:r>
            <a:r>
              <a:rPr lang="zh-CN" altLang="en-US" sz="3200" dirty="0" smtClean="0">
                <a:latin typeface="楷体_GB2312" panose="02010609030101010101" pitchFamily="49" charset="-122"/>
                <a:ea typeface="楷体_GB2312" panose="02010609030101010101" pitchFamily="49" charset="-122"/>
              </a:rPr>
              <a:t>效应：</a:t>
            </a:r>
            <a:r>
              <a:rPr lang="zh-CN" altLang="en-US" dirty="0" smtClean="0">
                <a:latin typeface="楷体_GB2312" panose="02010609030101010101" pitchFamily="49" charset="-122"/>
                <a:ea typeface="楷体_GB2312" panose="02010609030101010101" pitchFamily="49" charset="-122"/>
              </a:rPr>
              <a:t>是</a:t>
            </a:r>
            <a:r>
              <a:rPr lang="zh-CN" altLang="en-US" dirty="0">
                <a:latin typeface="楷体_GB2312" panose="02010609030101010101" pitchFamily="49" charset="-122"/>
                <a:ea typeface="楷体_GB2312" panose="02010609030101010101" pitchFamily="49" charset="-122"/>
              </a:rPr>
              <a:t>指国民经济中各个产业部门之间相互联系、相互影响和相互依赖的关系机制</a:t>
            </a:r>
            <a:r>
              <a:rPr lang="zh-CN" altLang="en-US" dirty="0" smtClean="0">
                <a:latin typeface="楷体_GB2312" panose="02010609030101010101" pitchFamily="49" charset="-122"/>
                <a:ea typeface="楷体_GB2312" panose="02010609030101010101" pitchFamily="49" charset="-122"/>
              </a:rPr>
              <a:t>。</a:t>
            </a:r>
            <a:endParaRPr lang="en-US" altLang="zh-CN" dirty="0" smtClean="0">
              <a:latin typeface="楷体_GB2312" panose="02010609030101010101" pitchFamily="49" charset="-122"/>
              <a:ea typeface="楷体_GB2312" panose="02010609030101010101" pitchFamily="49" charset="-122"/>
            </a:endParaRPr>
          </a:p>
          <a:p>
            <a:pPr>
              <a:buClr>
                <a:srgbClr val="C00000"/>
              </a:buClr>
              <a:buFont typeface="Wingdings" panose="05000000000000000000" pitchFamily="2" charset="2"/>
              <a:buChar char="Ø"/>
            </a:pPr>
            <a:r>
              <a:rPr lang="zh-CN" altLang="en-US" sz="3200" b="1" dirty="0" smtClean="0">
                <a:latin typeface="楷体_GB2312" panose="02010609030101010101" pitchFamily="49" charset="-122"/>
                <a:ea typeface="楷体_GB2312" panose="02010609030101010101" pitchFamily="49" charset="-122"/>
              </a:rPr>
              <a:t>路径依赖：</a:t>
            </a:r>
            <a:r>
              <a:rPr lang="zh-CN" altLang="en-US" dirty="0" smtClean="0">
                <a:latin typeface="楷体_GB2312" panose="02010609030101010101" pitchFamily="49" charset="-122"/>
                <a:ea typeface="楷体_GB2312" panose="02010609030101010101" pitchFamily="49" charset="-122"/>
              </a:rPr>
              <a:t>是</a:t>
            </a:r>
            <a:r>
              <a:rPr lang="zh-CN" altLang="en-US" dirty="0">
                <a:latin typeface="楷体_GB2312" panose="02010609030101010101" pitchFamily="49" charset="-122"/>
                <a:ea typeface="楷体_GB2312" panose="02010609030101010101" pitchFamily="49" charset="-122"/>
              </a:rPr>
              <a:t>描述过去对现在和将来产生强大影响的术语。人们过去的选择决定了他们现在可能的选择</a:t>
            </a:r>
            <a:r>
              <a:rPr lang="zh-CN" altLang="en-US" dirty="0" smtClean="0">
                <a:latin typeface="楷体_GB2312" panose="02010609030101010101" pitchFamily="49" charset="-122"/>
                <a:ea typeface="楷体_GB2312" panose="02010609030101010101" pitchFamily="49" charset="-122"/>
              </a:rPr>
              <a:t>。</a:t>
            </a:r>
            <a:r>
              <a:rPr lang="zh-CN" altLang="en-US" b="1" dirty="0" smtClean="0">
                <a:latin typeface="楷体_GB2312" panose="02010609030101010101" pitchFamily="49" charset="-122"/>
                <a:ea typeface="楷体_GB2312" panose="02010609030101010101" pitchFamily="49" charset="-122"/>
              </a:rPr>
              <a:t>（现代铁路的宽度是四英尺又八点五英寸，罗马战车的宽度决定了航天飞机火箭推进器的宽度） </a:t>
            </a:r>
            <a:endParaRPr lang="zh-CN" altLang="en-US" b="1" dirty="0">
              <a:latin typeface="楷体_GB2312" panose="02010609030101010101" pitchFamily="49" charset="-122"/>
              <a:ea typeface="楷体_GB2312" panose="02010609030101010101" pitchFamily="49" charset="-122"/>
            </a:endParaRPr>
          </a:p>
          <a:p>
            <a:pPr>
              <a:buClr>
                <a:srgbClr val="C00000"/>
              </a:buClr>
              <a:buFont typeface="Wingdings" panose="05000000000000000000" pitchFamily="2" charset="2"/>
              <a:buChar char="Ø"/>
            </a:pPr>
            <a:endParaRPr lang="zh-CN" altLang="en-US" sz="3200" dirty="0">
              <a:latin typeface="楷体_GB2312" panose="02010609030101010101" pitchFamily="49" charset="-122"/>
              <a:ea typeface="楷体_GB2312" panose="02010609030101010101" pitchFamily="49" charset="-122"/>
            </a:endParaRPr>
          </a:p>
        </p:txBody>
      </p:sp>
      <p:sp>
        <p:nvSpPr>
          <p:cNvPr id="7" name="标题 1"/>
          <p:cNvSpPr txBox="1">
            <a:spLocks/>
          </p:cNvSpPr>
          <p:nvPr/>
        </p:nvSpPr>
        <p:spPr bwMode="auto">
          <a:xfrm>
            <a:off x="331402" y="188640"/>
            <a:ext cx="8305800" cy="936104"/>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五、制度创新的过程</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34229552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Rectangle 3"/>
          <p:cNvSpPr>
            <a:spLocks noGrp="1" noChangeArrowheads="1"/>
          </p:cNvSpPr>
          <p:nvPr>
            <p:ph type="body" idx="1"/>
          </p:nvPr>
        </p:nvSpPr>
        <p:spPr>
          <a:xfrm>
            <a:off x="331402" y="1088686"/>
            <a:ext cx="8489070" cy="5068888"/>
          </a:xfrm>
        </p:spPr>
        <p:txBody>
          <a:bodyPr/>
          <a:lstStyle/>
          <a:p>
            <a:pPr marL="0" indent="0">
              <a:lnSpc>
                <a:spcPct val="90000"/>
              </a:lnSpc>
              <a:buNone/>
            </a:pPr>
            <a:r>
              <a:rPr lang="zh-CN" altLang="en-US" sz="2800" b="1" dirty="0">
                <a:latin typeface="楷体_GB2312" panose="02010609030101010101" pitchFamily="49" charset="-122"/>
                <a:ea typeface="楷体_GB2312" panose="02010609030101010101" pitchFamily="49" charset="-122"/>
              </a:rPr>
              <a:t>制度变迁模型分类</a:t>
            </a:r>
          </a:p>
          <a:p>
            <a:pPr>
              <a:lnSpc>
                <a:spcPct val="90000"/>
              </a:lnSpc>
            </a:pPr>
            <a:r>
              <a:rPr lang="zh-CN" altLang="pt-BR" sz="2800" b="1" dirty="0">
                <a:latin typeface="楷体_GB2312" panose="02010609030101010101" pitchFamily="49" charset="-122"/>
                <a:ea typeface="楷体_GB2312" panose="02010609030101010101" pitchFamily="49" charset="-122"/>
              </a:rPr>
              <a:t>诺斯认为</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制度变迁是制度不均衡时追求潜在获利机会的自发交替过程。从制度变迁的主体和诱因来看</a:t>
            </a:r>
            <a:r>
              <a:rPr lang="pt-BR" altLang="zh-CN" sz="2800" b="1" dirty="0">
                <a:latin typeface="楷体_GB2312" panose="02010609030101010101" pitchFamily="49" charset="-122"/>
                <a:ea typeface="楷体_GB2312" panose="02010609030101010101" pitchFamily="49" charset="-122"/>
              </a:rPr>
              <a:t>, </a:t>
            </a:r>
            <a:r>
              <a:rPr lang="zh-CN" altLang="pt-BR" sz="2800" b="1" dirty="0">
                <a:latin typeface="楷体_GB2312" panose="02010609030101010101" pitchFamily="49" charset="-122"/>
                <a:ea typeface="楷体_GB2312" panose="02010609030101010101" pitchFamily="49" charset="-122"/>
              </a:rPr>
              <a:t>制度变迁方式分为强制性制度变迁和需求诱致性制度变迁。</a:t>
            </a:r>
          </a:p>
          <a:p>
            <a:pPr>
              <a:lnSpc>
                <a:spcPct val="90000"/>
              </a:lnSpc>
            </a:pPr>
            <a:r>
              <a:rPr lang="zh-CN" altLang="pt-BR" sz="2800" b="1" dirty="0">
                <a:latin typeface="楷体_GB2312" panose="02010609030101010101" pitchFamily="49" charset="-122"/>
                <a:ea typeface="楷体_GB2312" panose="02010609030101010101" pitchFamily="49" charset="-122"/>
              </a:rPr>
              <a:t>林毅夫认为</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制度变迁是人们在制度不均衡时追求潜在获利机会的自发变迁</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诱致性变迁</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与国家在追求租金最大化和产出最大化目标下</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通过政策法令实施的强制性变迁。从制度变迁的速度来看</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有激进方式和渐进方式。</a:t>
            </a:r>
          </a:p>
          <a:p>
            <a:pPr>
              <a:lnSpc>
                <a:spcPct val="90000"/>
              </a:lnSpc>
            </a:pPr>
            <a:r>
              <a:rPr lang="zh-CN" altLang="pt-BR" sz="2800" b="1" dirty="0">
                <a:latin typeface="楷体_GB2312" panose="02010609030101010101" pitchFamily="49" charset="-122"/>
                <a:ea typeface="楷体_GB2312" panose="02010609030101010101" pitchFamily="49" charset="-122"/>
              </a:rPr>
              <a:t>但从制度变迁的轨迹加总来看</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可能组合成多种多样的变迁模式。</a:t>
            </a:r>
            <a:r>
              <a:rPr lang="zh-CN" altLang="en-US" sz="2800" dirty="0">
                <a:latin typeface="楷体_GB2312" panose="02010609030101010101" pitchFamily="49" charset="-122"/>
                <a:ea typeface="楷体_GB2312" panose="02010609030101010101" pitchFamily="49" charset="-122"/>
              </a:rPr>
              <a:t> </a:t>
            </a:r>
            <a:r>
              <a:rPr lang="zh-CN" altLang="en-US" sz="2800" b="1" dirty="0">
                <a:latin typeface="楷体_GB2312" panose="02010609030101010101" pitchFamily="49" charset="-122"/>
                <a:ea typeface="楷体_GB2312" panose="02010609030101010101" pitchFamily="49" charset="-122"/>
              </a:rPr>
              <a:t> </a:t>
            </a:r>
          </a:p>
        </p:txBody>
      </p:sp>
      <p:sp>
        <p:nvSpPr>
          <p:cNvPr id="6" name="标题 1"/>
          <p:cNvSpPr txBox="1">
            <a:spLocks/>
          </p:cNvSpPr>
          <p:nvPr/>
        </p:nvSpPr>
        <p:spPr bwMode="auto">
          <a:xfrm>
            <a:off x="331402" y="188640"/>
            <a:ext cx="8305800" cy="864096"/>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六、制度创新的模型比较</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38568363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9" name="Rectangle 3"/>
          <p:cNvSpPr>
            <a:spLocks noGrp="1" noChangeArrowheads="1"/>
          </p:cNvSpPr>
          <p:nvPr>
            <p:ph type="body" idx="1"/>
          </p:nvPr>
        </p:nvSpPr>
        <p:spPr>
          <a:xfrm>
            <a:off x="467544" y="548680"/>
            <a:ext cx="7467600" cy="5472608"/>
          </a:xfrm>
        </p:spPr>
        <p:txBody>
          <a:bodyPr/>
          <a:lstStyle/>
          <a:p>
            <a:r>
              <a:rPr lang="zh-CN" altLang="en-US" sz="2800" b="1" dirty="0">
                <a:latin typeface="楷体_GB2312" panose="02010609030101010101" pitchFamily="49" charset="-122"/>
                <a:ea typeface="楷体_GB2312" panose="02010609030101010101" pitchFamily="49" charset="-122"/>
              </a:rPr>
              <a:t>制度变迁的层次</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基础性制度安排与次级制度安排</a:t>
            </a:r>
          </a:p>
          <a:p>
            <a:r>
              <a:rPr lang="zh-CN" altLang="en-US" sz="2800" b="1" dirty="0">
                <a:latin typeface="楷体_GB2312" panose="02010609030101010101" pitchFamily="49" charset="-122"/>
                <a:ea typeface="楷体_GB2312" panose="02010609030101010101" pitchFamily="49" charset="-122"/>
              </a:rPr>
              <a:t>基础性制度安排</a:t>
            </a:r>
            <a:r>
              <a:rPr lang="en-US" altLang="zh-CN" sz="2800" b="1" dirty="0">
                <a:latin typeface="楷体_GB2312" panose="02010609030101010101" pitchFamily="49" charset="-122"/>
                <a:ea typeface="楷体_GB2312" panose="02010609030101010101" pitchFamily="49" charset="-122"/>
              </a:rPr>
              <a:t>(</a:t>
            </a:r>
            <a:r>
              <a:rPr lang="en-US" altLang="zh-CN" sz="2800" b="1" dirty="0" err="1">
                <a:latin typeface="楷体_GB2312" panose="02010609030101010101" pitchFamily="49" charset="-122"/>
                <a:ea typeface="楷体_GB2312" panose="02010609030101010101" pitchFamily="49" charset="-122"/>
              </a:rPr>
              <a:t>foundament</a:t>
            </a:r>
            <a:r>
              <a:rPr lang="en-US" altLang="zh-CN" sz="2800" b="1" dirty="0">
                <a:latin typeface="楷体_GB2312" panose="02010609030101010101" pitchFamily="49" charset="-122"/>
                <a:ea typeface="楷体_GB2312" panose="02010609030101010101" pitchFamily="49" charset="-122"/>
              </a:rPr>
              <a:t> institutional arrangement)</a:t>
            </a:r>
            <a:r>
              <a:rPr lang="zh-CN" altLang="en-US" sz="2800" b="1" dirty="0">
                <a:latin typeface="楷体_GB2312" panose="02010609030101010101" pitchFamily="49" charset="-122"/>
                <a:ea typeface="楷体_GB2312" panose="02010609030101010101" pitchFamily="49" charset="-122"/>
              </a:rPr>
              <a:t>是指一系列用来建立生产、交换与分配基础的政治、社会和法律基础规则。 </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家庭联产承包责任制</a:t>
            </a:r>
            <a:endParaRPr lang="zh-CN" altLang="en-US" sz="2800" b="1" dirty="0">
              <a:latin typeface="楷体_GB2312" panose="02010609030101010101" pitchFamily="49" charset="-122"/>
              <a:ea typeface="楷体_GB2312" panose="02010609030101010101" pitchFamily="49" charset="-122"/>
            </a:endParaRPr>
          </a:p>
          <a:p>
            <a:r>
              <a:rPr lang="zh-CN" altLang="en-US" sz="2800" b="1" dirty="0">
                <a:latin typeface="楷体_GB2312" panose="02010609030101010101" pitchFamily="49" charset="-122"/>
                <a:ea typeface="楷体_GB2312" panose="02010609030101010101" pitchFamily="49" charset="-122"/>
              </a:rPr>
              <a:t>新制度经济学一般把制度环境视为制度创新模型的外生变量。制度安排，是支配经济单位之间，可能合作与竞争的方式的一种安排。这里的制度安排也可称之为“第二级制度安排</a:t>
            </a:r>
            <a:r>
              <a:rPr lang="en-US" altLang="zh-CN" sz="2800" b="1" dirty="0">
                <a:latin typeface="楷体_GB2312" panose="02010609030101010101" pitchFamily="49" charset="-122"/>
                <a:ea typeface="楷体_GB2312" panose="02010609030101010101" pitchFamily="49" charset="-122"/>
              </a:rPr>
              <a:t>(secondary  institutional  arrangement)”</a:t>
            </a:r>
            <a:r>
              <a:rPr lang="zh-CN" altLang="en-US" sz="2800" b="1" dirty="0">
                <a:latin typeface="楷体_GB2312" panose="02010609030101010101" pitchFamily="49" charset="-122"/>
                <a:ea typeface="楷体_GB2312" panose="02010609030101010101" pitchFamily="49" charset="-122"/>
              </a:rPr>
              <a:t>。或者称之为次级制度安排。 </a:t>
            </a:r>
          </a:p>
        </p:txBody>
      </p:sp>
    </p:spTree>
    <p:extLst>
      <p:ext uri="{BB962C8B-B14F-4D97-AF65-F5344CB8AC3E}">
        <p14:creationId xmlns:p14="http://schemas.microsoft.com/office/powerpoint/2010/main" val="16273678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3" name="Rectangle 3"/>
          <p:cNvSpPr>
            <a:spLocks noGrp="1" noChangeArrowheads="1"/>
          </p:cNvSpPr>
          <p:nvPr>
            <p:ph type="body" idx="1"/>
          </p:nvPr>
        </p:nvSpPr>
        <p:spPr>
          <a:xfrm>
            <a:off x="755576" y="620688"/>
            <a:ext cx="7467600" cy="5068888"/>
          </a:xfrm>
        </p:spPr>
        <p:txBody>
          <a:bodyPr/>
          <a:lstStyle/>
          <a:p>
            <a:r>
              <a:rPr lang="zh-CN" altLang="pt-BR" sz="2800" b="1" dirty="0">
                <a:latin typeface="楷体_GB2312" panose="02010609030101010101" pitchFamily="49" charset="-122"/>
                <a:ea typeface="楷体_GB2312" panose="02010609030101010101" pitchFamily="49" charset="-122"/>
              </a:rPr>
              <a:t>从制度变迁的规模来考察：整体制度变迁和局部制度变迁</a:t>
            </a:r>
          </a:p>
          <a:p>
            <a:r>
              <a:rPr lang="zh-CN" altLang="pt-BR" sz="2800" b="1" dirty="0">
                <a:latin typeface="楷体_GB2312" panose="02010609030101010101" pitchFamily="49" charset="-122"/>
                <a:ea typeface="楷体_GB2312" panose="02010609030101010101" pitchFamily="49" charset="-122"/>
              </a:rPr>
              <a:t>整体制度变迁是一个国家或者一个地区制度体系的改革</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这种制度变迁涉及到几乎所有的制度</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这又可称之为宏观制度变迁。在宏观制度变迁的背景下</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各种制度变迁交叉推进</a:t>
            </a:r>
            <a:r>
              <a:rPr lang="zh-CN" altLang="pt-BR"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（社会主义制度）</a:t>
            </a:r>
            <a:endParaRPr lang="zh-CN" altLang="pt-BR" sz="2800" b="1" dirty="0">
              <a:latin typeface="楷体_GB2312" panose="02010609030101010101" pitchFamily="49" charset="-122"/>
              <a:ea typeface="楷体_GB2312" panose="02010609030101010101" pitchFamily="49" charset="-122"/>
            </a:endParaRPr>
          </a:p>
          <a:p>
            <a:r>
              <a:rPr lang="zh-CN" altLang="pt-BR" sz="2800" b="1" dirty="0">
                <a:latin typeface="楷体_GB2312" panose="02010609030101010101" pitchFamily="49" charset="-122"/>
                <a:ea typeface="楷体_GB2312" panose="02010609030101010101" pitchFamily="49" charset="-122"/>
              </a:rPr>
              <a:t>局部制度变迁是同一轨迹的单个制度变迁</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如粮食流通制度变迁、土地制度变迁、社会保障制度变迁等等。与局部制度相对应的制度均衡称之为局部制度均衡。</a:t>
            </a:r>
            <a:endParaRPr lang="zh-CN" altLang="en-US" sz="2800" b="1"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1904910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7" name="Rectangle 3"/>
          <p:cNvSpPr>
            <a:spLocks noGrp="1" noChangeArrowheads="1"/>
          </p:cNvSpPr>
          <p:nvPr>
            <p:ph type="body" idx="1"/>
          </p:nvPr>
        </p:nvSpPr>
        <p:spPr>
          <a:xfrm>
            <a:off x="323528" y="548680"/>
            <a:ext cx="8280920" cy="6120680"/>
          </a:xfrm>
        </p:spPr>
        <p:txBody>
          <a:bodyPr/>
          <a:lstStyle/>
          <a:p>
            <a:pPr>
              <a:lnSpc>
                <a:spcPct val="130000"/>
              </a:lnSpc>
            </a:pPr>
            <a:r>
              <a:rPr lang="zh-CN" altLang="pt-BR" sz="2800" b="1" dirty="0">
                <a:latin typeface="楷体_GB2312" panose="02010609030101010101" pitchFamily="49" charset="-122"/>
                <a:ea typeface="楷体_GB2312" panose="02010609030101010101" pitchFamily="49" charset="-122"/>
              </a:rPr>
              <a:t>从制度变迁的主体来考察</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需求诱致性制度变迁和强制性制度变迁</a:t>
            </a:r>
          </a:p>
          <a:p>
            <a:pPr>
              <a:lnSpc>
                <a:spcPct val="130000"/>
              </a:lnSpc>
            </a:pPr>
            <a:r>
              <a:rPr lang="zh-CN" altLang="pt-BR" sz="2800" b="1" dirty="0">
                <a:latin typeface="楷体_GB2312" panose="02010609030101010101" pitchFamily="49" charset="-122"/>
                <a:ea typeface="楷体_GB2312" panose="02010609030101010101" pitchFamily="49" charset="-122"/>
              </a:rPr>
              <a:t>需求诱致性制度变迁是来自于地方政府和微观主体对潜在利润的追求</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改革主体来自于基层</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程序为自下而上</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具有边际革命和增量调整性质。</a:t>
            </a:r>
          </a:p>
          <a:p>
            <a:pPr>
              <a:lnSpc>
                <a:spcPct val="130000"/>
              </a:lnSpc>
            </a:pPr>
            <a:r>
              <a:rPr lang="zh-CN" altLang="pt-BR" sz="2800" b="1" dirty="0">
                <a:latin typeface="楷体_GB2312" panose="02010609030101010101" pitchFamily="49" charset="-122"/>
                <a:ea typeface="楷体_GB2312" panose="02010609030101010101" pitchFamily="49" charset="-122"/>
              </a:rPr>
              <a:t>强制性制度变迁</a:t>
            </a:r>
            <a:r>
              <a:rPr lang="zh-CN" altLang="pt-BR" sz="2800" b="1" dirty="0" smtClean="0">
                <a:latin typeface="楷体_GB2312" panose="02010609030101010101" pitchFamily="49" charset="-122"/>
                <a:ea typeface="楷体_GB2312" panose="02010609030101010101" pitchFamily="49" charset="-122"/>
              </a:rPr>
              <a:t>是在</a:t>
            </a:r>
            <a:r>
              <a:rPr lang="zh-CN" altLang="en-US" sz="2800" b="1" dirty="0" smtClean="0">
                <a:latin typeface="楷体_GB2312" panose="02010609030101010101" pitchFamily="49" charset="-122"/>
                <a:ea typeface="楷体_GB2312" panose="02010609030101010101" pitchFamily="49" charset="-122"/>
              </a:rPr>
              <a:t>利益</a:t>
            </a:r>
            <a:r>
              <a:rPr lang="zh-CN" altLang="pt-BR" sz="2800" b="1" dirty="0" smtClean="0">
                <a:latin typeface="楷体_GB2312" panose="02010609030101010101" pitchFamily="49" charset="-122"/>
                <a:ea typeface="楷体_GB2312" panose="02010609030101010101" pitchFamily="49" charset="-122"/>
              </a:rPr>
              <a:t>最大化</a:t>
            </a:r>
            <a:r>
              <a:rPr lang="zh-CN" altLang="pt-BR" sz="2800" b="1" dirty="0">
                <a:latin typeface="楷体_GB2312" panose="02010609030101010101" pitchFamily="49" charset="-122"/>
                <a:ea typeface="楷体_GB2312" panose="02010609030101010101" pitchFamily="49" charset="-122"/>
              </a:rPr>
              <a:t>目标下</a:t>
            </a:r>
            <a:r>
              <a:rPr lang="pt-BR" altLang="zh-CN" sz="2800" b="1" dirty="0" smtClean="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国家通过政策法令实施的</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它是以政府为制度变迁的主体</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程序是自上而下的激进性质的存量革命。</a:t>
            </a:r>
            <a:r>
              <a:rPr lang="zh-CN" altLang="pt-BR" sz="2800" dirty="0">
                <a:latin typeface="楷体_GB2312" panose="02010609030101010101" pitchFamily="49" charset="-122"/>
                <a:ea typeface="楷体_GB2312" panose="02010609030101010101" pitchFamily="49" charset="-122"/>
              </a:rPr>
              <a:t> </a:t>
            </a:r>
            <a:endParaRPr lang="zh-CN" altLang="en-US" sz="280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1761113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1" name="Rectangle 3"/>
          <p:cNvSpPr>
            <a:spLocks noGrp="1" noChangeArrowheads="1"/>
          </p:cNvSpPr>
          <p:nvPr>
            <p:ph type="body" idx="1"/>
          </p:nvPr>
        </p:nvSpPr>
        <p:spPr>
          <a:xfrm>
            <a:off x="467544" y="260648"/>
            <a:ext cx="8136904" cy="5976664"/>
          </a:xfrm>
        </p:spPr>
        <p:txBody>
          <a:bodyPr/>
          <a:lstStyle/>
          <a:p>
            <a:pPr marL="0" indent="0">
              <a:lnSpc>
                <a:spcPct val="120000"/>
              </a:lnSpc>
              <a:buNone/>
            </a:pPr>
            <a:r>
              <a:rPr lang="zh-CN" altLang="pt-BR" sz="2800" b="1" dirty="0">
                <a:latin typeface="楷体_GB2312" panose="02010609030101010101" pitchFamily="49" charset="-122"/>
                <a:ea typeface="楷体_GB2312" panose="02010609030101010101" pitchFamily="49" charset="-122"/>
              </a:rPr>
              <a:t>从制度变迁的速度来考察</a:t>
            </a:r>
            <a:r>
              <a:rPr lang="pt-BR" altLang="zh-CN" sz="2800" b="1" dirty="0">
                <a:latin typeface="楷体_GB2312" panose="02010609030101010101" pitchFamily="49" charset="-122"/>
                <a:ea typeface="楷体_GB2312" panose="02010609030101010101" pitchFamily="49" charset="-122"/>
              </a:rPr>
              <a:t>: </a:t>
            </a:r>
            <a:r>
              <a:rPr lang="zh-CN" altLang="pt-BR" sz="2800" b="1" dirty="0">
                <a:latin typeface="楷体_GB2312" panose="02010609030101010101" pitchFamily="49" charset="-122"/>
                <a:ea typeface="楷体_GB2312" panose="02010609030101010101" pitchFamily="49" charset="-122"/>
              </a:rPr>
              <a:t>激进式和渐进式</a:t>
            </a:r>
          </a:p>
          <a:p>
            <a:pPr>
              <a:lnSpc>
                <a:spcPct val="120000"/>
              </a:lnSpc>
            </a:pPr>
            <a:r>
              <a:rPr lang="zh-CN" altLang="pt-BR" sz="2800" b="1" dirty="0">
                <a:latin typeface="楷体_GB2312" panose="02010609030101010101" pitchFamily="49" charset="-122"/>
                <a:ea typeface="楷体_GB2312" panose="02010609030101010101" pitchFamily="49" charset="-122"/>
              </a:rPr>
              <a:t>激进式的制度变迁是以终极预期目标为参照系数</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采取迅速而果断的行动</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一步到位安排预期制度的方式</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破”与“立”同时进行</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也就是在新制度安排的同时</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否认现存的组织结构和信息存量</a:t>
            </a:r>
            <a:r>
              <a:rPr lang="zh-CN" altLang="pt-BR" sz="2800" b="1" dirty="0" smtClean="0">
                <a:latin typeface="楷体_GB2312" panose="02010609030101010101" pitchFamily="49" charset="-122"/>
                <a:ea typeface="楷体_GB2312" panose="02010609030101010101" pitchFamily="49" charset="-122"/>
              </a:rPr>
              <a:t>。</a:t>
            </a:r>
            <a:endParaRPr lang="en-US" altLang="zh-CN" sz="2800" b="1" dirty="0" smtClean="0">
              <a:latin typeface="楷体_GB2312" panose="02010609030101010101" pitchFamily="49" charset="-122"/>
              <a:ea typeface="楷体_GB2312" panose="02010609030101010101" pitchFamily="49" charset="-122"/>
            </a:endParaRPr>
          </a:p>
          <a:p>
            <a:pPr marL="0" indent="0">
              <a:lnSpc>
                <a:spcPct val="120000"/>
              </a:lnSpc>
              <a:buNone/>
            </a:pPr>
            <a:r>
              <a:rPr lang="en-US" altLang="zh-CN" sz="2800" b="1" dirty="0" smtClean="0">
                <a:latin typeface="楷体_GB2312" panose="02010609030101010101" pitchFamily="49" charset="-122"/>
                <a:ea typeface="楷体_GB2312" panose="02010609030101010101" pitchFamily="49" charset="-122"/>
              </a:rPr>
              <a:t>  ——</a:t>
            </a:r>
            <a:r>
              <a:rPr lang="zh-CN" altLang="en-US" sz="2800" b="1" dirty="0" smtClean="0">
                <a:latin typeface="楷体_GB2312" panose="02010609030101010101" pitchFamily="49" charset="-122"/>
                <a:ea typeface="楷体_GB2312" panose="02010609030101010101" pitchFamily="49" charset="-122"/>
              </a:rPr>
              <a:t>反腐败</a:t>
            </a:r>
            <a:endParaRPr lang="zh-CN" altLang="pt-BR" sz="2800" b="1" dirty="0">
              <a:latin typeface="楷体_GB2312" panose="02010609030101010101" pitchFamily="49" charset="-122"/>
              <a:ea typeface="楷体_GB2312" panose="02010609030101010101" pitchFamily="49" charset="-122"/>
            </a:endParaRPr>
          </a:p>
          <a:p>
            <a:pPr>
              <a:lnSpc>
                <a:spcPct val="120000"/>
              </a:lnSpc>
            </a:pPr>
            <a:r>
              <a:rPr lang="zh-CN" altLang="pt-BR" sz="2800" b="1" dirty="0">
                <a:latin typeface="楷体_GB2312" panose="02010609030101010101" pitchFamily="49" charset="-122"/>
                <a:ea typeface="楷体_GB2312" panose="02010609030101010101" pitchFamily="49" charset="-122"/>
              </a:rPr>
              <a:t>渐进式的制度变迁是假定每个人、每个组织的信息和知识存量都是极其有限的</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不可能预先设计好终极制度的模型</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只能采取需求累增与阶段性突破的方式</a:t>
            </a:r>
            <a:r>
              <a:rPr lang="pt-BR" altLang="zh-CN" sz="2800" b="1" dirty="0">
                <a:latin typeface="楷体_GB2312" panose="02010609030101010101" pitchFamily="49" charset="-122"/>
                <a:ea typeface="楷体_GB2312" panose="02010609030101010101" pitchFamily="49" charset="-122"/>
              </a:rPr>
              <a:t>,</a:t>
            </a:r>
            <a:r>
              <a:rPr lang="zh-CN" altLang="pt-BR" sz="2800" b="1" dirty="0">
                <a:latin typeface="楷体_GB2312" panose="02010609030101010101" pitchFamily="49" charset="-122"/>
                <a:ea typeface="楷体_GB2312" panose="02010609030101010101" pitchFamily="49" charset="-122"/>
              </a:rPr>
              <a:t>逐步推动制度升级并向终极制度靠拢</a:t>
            </a:r>
            <a:r>
              <a:rPr lang="zh-CN" altLang="pt-BR" sz="2800" b="1" dirty="0" smtClean="0">
                <a:latin typeface="楷体_GB2312" panose="02010609030101010101" pitchFamily="49" charset="-122"/>
                <a:ea typeface="楷体_GB2312" panose="02010609030101010101" pitchFamily="49" charset="-122"/>
              </a:rPr>
              <a:t>。</a:t>
            </a:r>
            <a:r>
              <a:rPr lang="en-US" altLang="zh-CN" sz="2800" b="1" dirty="0" smtClean="0">
                <a:latin typeface="楷体_GB2312" panose="02010609030101010101" pitchFamily="49" charset="-122"/>
                <a:ea typeface="楷体_GB2312" panose="02010609030101010101" pitchFamily="49" charset="-122"/>
              </a:rPr>
              <a:t>——</a:t>
            </a:r>
            <a:r>
              <a:rPr lang="zh-CN" altLang="en-US" sz="2800" b="1" dirty="0" smtClean="0">
                <a:latin typeface="楷体_GB2312" panose="02010609030101010101" pitchFamily="49" charset="-122"/>
                <a:ea typeface="楷体_GB2312" panose="02010609030101010101" pitchFamily="49" charset="-122"/>
              </a:rPr>
              <a:t>摸着石头过河</a:t>
            </a:r>
            <a:endParaRPr lang="zh-CN" altLang="en-US" sz="280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12208338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5" name="Rectangle 3"/>
          <p:cNvSpPr>
            <a:spLocks noGrp="1" noChangeArrowheads="1"/>
          </p:cNvSpPr>
          <p:nvPr>
            <p:ph type="body" idx="1"/>
          </p:nvPr>
        </p:nvSpPr>
        <p:spPr>
          <a:xfrm>
            <a:off x="395536" y="404664"/>
            <a:ext cx="8208912" cy="5616624"/>
          </a:xfrm>
        </p:spPr>
        <p:txBody>
          <a:bodyPr/>
          <a:lstStyle/>
          <a:p>
            <a:pPr marL="0" indent="0">
              <a:lnSpc>
                <a:spcPct val="120000"/>
              </a:lnSpc>
              <a:buNone/>
            </a:pPr>
            <a:r>
              <a:rPr lang="zh-CN" altLang="pt-BR" sz="2400" b="1" dirty="0">
                <a:latin typeface="楷体_GB2312" panose="02010609030101010101" pitchFamily="49" charset="-122"/>
                <a:ea typeface="楷体_GB2312" panose="02010609030101010101" pitchFamily="49" charset="-122"/>
              </a:rPr>
              <a:t>制度变迁的相机组合的</a:t>
            </a:r>
            <a:r>
              <a:rPr lang="zh-CN" altLang="pt-BR" sz="2400" b="1" dirty="0" smtClean="0">
                <a:latin typeface="楷体_GB2312" panose="02010609030101010101" pitchFamily="49" charset="-122"/>
                <a:ea typeface="楷体_GB2312" panose="02010609030101010101" pitchFamily="49" charset="-122"/>
              </a:rPr>
              <a:t>模式</a:t>
            </a:r>
            <a:r>
              <a:rPr lang="zh-CN" altLang="en-US" sz="2400" b="1" dirty="0" smtClean="0">
                <a:latin typeface="楷体_GB2312" panose="02010609030101010101" pitchFamily="49" charset="-122"/>
                <a:ea typeface="楷体_GB2312" panose="02010609030101010101" pitchFamily="49" charset="-122"/>
              </a:rPr>
              <a:t>：</a:t>
            </a:r>
            <a:endParaRPr lang="zh-CN" altLang="pt-BR" sz="2400" b="1" dirty="0">
              <a:latin typeface="楷体_GB2312" panose="02010609030101010101" pitchFamily="49" charset="-122"/>
              <a:ea typeface="楷体_GB2312" panose="02010609030101010101" pitchFamily="49" charset="-122"/>
            </a:endParaRPr>
          </a:p>
          <a:p>
            <a:pPr>
              <a:lnSpc>
                <a:spcPct val="120000"/>
              </a:lnSpc>
            </a:pPr>
            <a:r>
              <a:rPr lang="zh-CN" altLang="pt-BR" sz="2200" b="1" dirty="0">
                <a:latin typeface="楷体_GB2312" panose="02010609030101010101" pitchFamily="49" charset="-122"/>
                <a:ea typeface="楷体_GB2312" panose="02010609030101010101" pitchFamily="49" charset="-122"/>
              </a:rPr>
              <a:t>强制性制度变迁既可以与激进方式结合</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也可以与渐进方式结合。需求诱导性制度变迁也是一样</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既可以与激进方式结合</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也可以与渐进方式结合</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其组合方式有以下几种</a:t>
            </a:r>
            <a:r>
              <a:rPr lang="pt-BR" altLang="zh-CN" sz="2200" b="1" dirty="0">
                <a:latin typeface="楷体_GB2312" panose="02010609030101010101" pitchFamily="49" charset="-122"/>
                <a:ea typeface="楷体_GB2312" panose="02010609030101010101" pitchFamily="49" charset="-122"/>
              </a:rPr>
              <a:t>:</a:t>
            </a:r>
          </a:p>
          <a:p>
            <a:pPr>
              <a:lnSpc>
                <a:spcPct val="120000"/>
              </a:lnSpc>
            </a:pPr>
            <a:r>
              <a:rPr lang="zh-CN" altLang="pt-BR" sz="2200" b="1" dirty="0">
                <a:latin typeface="楷体_GB2312" panose="02010609030101010101" pitchFamily="49" charset="-122"/>
                <a:ea typeface="楷体_GB2312" panose="02010609030101010101" pitchFamily="49" charset="-122"/>
              </a:rPr>
              <a:t>组合一</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强制性制度创新方式</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激进方式的变迁模式</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简称激进式强制性制度变迁组合模式</a:t>
            </a:r>
            <a:r>
              <a:rPr lang="zh-CN" altLang="pt-BR" sz="2200" b="1" dirty="0" smtClean="0">
                <a:latin typeface="楷体_GB2312" panose="02010609030101010101" pitchFamily="49" charset="-122"/>
                <a:ea typeface="楷体_GB2312" panose="02010609030101010101" pitchFamily="49" charset="-122"/>
              </a:rPr>
              <a:t>。</a:t>
            </a:r>
            <a:r>
              <a:rPr lang="en-US" altLang="zh-CN" sz="2200" b="1" dirty="0" smtClean="0">
                <a:latin typeface="楷体_GB2312" panose="02010609030101010101" pitchFamily="49" charset="-122"/>
                <a:ea typeface="楷体_GB2312" panose="02010609030101010101" pitchFamily="49" charset="-122"/>
              </a:rPr>
              <a:t>——</a:t>
            </a:r>
            <a:r>
              <a:rPr lang="zh-CN" altLang="en-US" sz="2200" b="1" dirty="0" smtClean="0">
                <a:latin typeface="楷体_GB2312" panose="02010609030101010101" pitchFamily="49" charset="-122"/>
                <a:ea typeface="楷体_GB2312" panose="02010609030101010101" pitchFamily="49" charset="-122"/>
              </a:rPr>
              <a:t>强力反腐</a:t>
            </a:r>
            <a:endParaRPr lang="zh-CN" altLang="pt-BR" sz="2200" b="1" dirty="0">
              <a:latin typeface="楷体_GB2312" panose="02010609030101010101" pitchFamily="49" charset="-122"/>
              <a:ea typeface="楷体_GB2312" panose="02010609030101010101" pitchFamily="49" charset="-122"/>
            </a:endParaRPr>
          </a:p>
          <a:p>
            <a:pPr>
              <a:lnSpc>
                <a:spcPct val="120000"/>
              </a:lnSpc>
            </a:pPr>
            <a:r>
              <a:rPr lang="zh-CN" altLang="pt-BR" sz="2200" b="1" dirty="0">
                <a:latin typeface="楷体_GB2312" panose="02010609030101010101" pitchFamily="49" charset="-122"/>
                <a:ea typeface="楷体_GB2312" panose="02010609030101010101" pitchFamily="49" charset="-122"/>
              </a:rPr>
              <a:t>组合二</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强制性制度创新方式</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渐进方式的模式</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简称渐进式强制性制度变迁组合模式</a:t>
            </a:r>
            <a:r>
              <a:rPr lang="zh-CN" altLang="pt-BR" sz="2200" b="1" dirty="0" smtClean="0">
                <a:latin typeface="楷体_GB2312" panose="02010609030101010101" pitchFamily="49" charset="-122"/>
                <a:ea typeface="楷体_GB2312" panose="02010609030101010101" pitchFamily="49" charset="-122"/>
              </a:rPr>
              <a:t>。</a:t>
            </a:r>
            <a:r>
              <a:rPr lang="en-US" altLang="zh-CN" sz="2200" b="1" dirty="0" smtClean="0">
                <a:latin typeface="楷体_GB2312" panose="02010609030101010101" pitchFamily="49" charset="-122"/>
                <a:ea typeface="楷体_GB2312" panose="02010609030101010101" pitchFamily="49" charset="-122"/>
              </a:rPr>
              <a:t>——</a:t>
            </a:r>
            <a:r>
              <a:rPr lang="zh-CN" altLang="en-US" sz="2200" b="1" dirty="0" smtClean="0">
                <a:latin typeface="楷体_GB2312" panose="02010609030101010101" pitchFamily="49" charset="-122"/>
                <a:ea typeface="楷体_GB2312" panose="02010609030101010101" pitchFamily="49" charset="-122"/>
              </a:rPr>
              <a:t>深圳特区</a:t>
            </a:r>
            <a:endParaRPr lang="zh-CN" altLang="pt-BR" sz="2200" b="1" dirty="0">
              <a:latin typeface="楷体_GB2312" panose="02010609030101010101" pitchFamily="49" charset="-122"/>
              <a:ea typeface="楷体_GB2312" panose="02010609030101010101" pitchFamily="49" charset="-122"/>
            </a:endParaRPr>
          </a:p>
          <a:p>
            <a:pPr>
              <a:lnSpc>
                <a:spcPct val="120000"/>
              </a:lnSpc>
            </a:pPr>
            <a:r>
              <a:rPr lang="zh-CN" altLang="pt-BR" sz="2200" b="1" dirty="0">
                <a:latin typeface="楷体_GB2312" panose="02010609030101010101" pitchFamily="49" charset="-122"/>
                <a:ea typeface="楷体_GB2312" panose="02010609030101010101" pitchFamily="49" charset="-122"/>
              </a:rPr>
              <a:t>组合三</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需求诱导性制度创新方式</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激进方式的组合模式</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简称激进式需求诱导性制度变迁组合模式</a:t>
            </a:r>
            <a:r>
              <a:rPr lang="zh-CN" altLang="pt-BR" sz="2200" b="1" dirty="0" smtClean="0">
                <a:latin typeface="楷体_GB2312" panose="02010609030101010101" pitchFamily="49" charset="-122"/>
                <a:ea typeface="楷体_GB2312" panose="02010609030101010101" pitchFamily="49" charset="-122"/>
              </a:rPr>
              <a:t>。</a:t>
            </a:r>
            <a:r>
              <a:rPr lang="en-US" altLang="zh-CN" sz="2200" b="1" dirty="0" smtClean="0">
                <a:latin typeface="楷体_GB2312" panose="02010609030101010101" pitchFamily="49" charset="-122"/>
                <a:ea typeface="楷体_GB2312" panose="02010609030101010101" pitchFamily="49" charset="-122"/>
              </a:rPr>
              <a:t>——</a:t>
            </a:r>
            <a:r>
              <a:rPr lang="zh-CN" altLang="en-US" sz="2200" b="1" dirty="0" smtClean="0">
                <a:latin typeface="楷体_GB2312" panose="02010609030101010101" pitchFamily="49" charset="-122"/>
                <a:ea typeface="楷体_GB2312" panose="02010609030101010101" pitchFamily="49" charset="-122"/>
              </a:rPr>
              <a:t>土地革命：打土豪分田地</a:t>
            </a:r>
            <a:r>
              <a:rPr lang="zh-CN" altLang="pt-BR" sz="2200" b="1" dirty="0" smtClean="0">
                <a:latin typeface="楷体_GB2312" panose="02010609030101010101" pitchFamily="49" charset="-122"/>
                <a:ea typeface="楷体_GB2312" panose="02010609030101010101" pitchFamily="49" charset="-122"/>
              </a:rPr>
              <a:t> </a:t>
            </a:r>
            <a:endParaRPr lang="zh-CN" altLang="pt-BR" sz="2200" b="1" dirty="0">
              <a:latin typeface="楷体_GB2312" panose="02010609030101010101" pitchFamily="49" charset="-122"/>
              <a:ea typeface="楷体_GB2312" panose="02010609030101010101" pitchFamily="49" charset="-122"/>
            </a:endParaRPr>
          </a:p>
          <a:p>
            <a:pPr>
              <a:lnSpc>
                <a:spcPct val="120000"/>
              </a:lnSpc>
            </a:pPr>
            <a:r>
              <a:rPr lang="zh-CN" altLang="pt-BR" sz="2200" b="1" dirty="0">
                <a:latin typeface="楷体_GB2312" panose="02010609030101010101" pitchFamily="49" charset="-122"/>
                <a:ea typeface="楷体_GB2312" panose="02010609030101010101" pitchFamily="49" charset="-122"/>
              </a:rPr>
              <a:t>组合四</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需求诱致性制度变迁</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渐进方式的组合模式</a:t>
            </a:r>
            <a:r>
              <a:rPr lang="pt-BR" altLang="zh-CN" sz="2200" b="1" dirty="0">
                <a:latin typeface="楷体_GB2312" panose="02010609030101010101" pitchFamily="49" charset="-122"/>
                <a:ea typeface="楷体_GB2312" panose="02010609030101010101" pitchFamily="49" charset="-122"/>
              </a:rPr>
              <a:t>,</a:t>
            </a:r>
            <a:r>
              <a:rPr lang="zh-CN" altLang="pt-BR" sz="2200" b="1" dirty="0">
                <a:latin typeface="楷体_GB2312" panose="02010609030101010101" pitchFamily="49" charset="-122"/>
                <a:ea typeface="楷体_GB2312" panose="02010609030101010101" pitchFamily="49" charset="-122"/>
              </a:rPr>
              <a:t>简称渐进式需求诱致性制度变迁组合模式</a:t>
            </a:r>
            <a:r>
              <a:rPr lang="zh-CN" altLang="pt-BR" sz="2200" b="1" dirty="0" smtClean="0">
                <a:latin typeface="楷体_GB2312" panose="02010609030101010101" pitchFamily="49" charset="-122"/>
                <a:ea typeface="楷体_GB2312" panose="02010609030101010101" pitchFamily="49" charset="-122"/>
              </a:rPr>
              <a:t>。</a:t>
            </a:r>
            <a:r>
              <a:rPr lang="en-US" altLang="zh-CN" sz="2200" b="1" dirty="0" smtClean="0">
                <a:latin typeface="楷体_GB2312" panose="02010609030101010101" pitchFamily="49" charset="-122"/>
                <a:ea typeface="楷体_GB2312" panose="02010609030101010101" pitchFamily="49" charset="-122"/>
              </a:rPr>
              <a:t>——</a:t>
            </a:r>
            <a:r>
              <a:rPr lang="zh-CN" altLang="en-US" sz="2200" b="1" dirty="0">
                <a:latin typeface="楷体_GB2312" panose="02010609030101010101" pitchFamily="49" charset="-122"/>
                <a:ea typeface="楷体_GB2312" panose="02010609030101010101" pitchFamily="49" charset="-122"/>
              </a:rPr>
              <a:t>家庭</a:t>
            </a:r>
            <a:r>
              <a:rPr lang="zh-CN" altLang="en-US" sz="2200" b="1" dirty="0" smtClean="0">
                <a:latin typeface="楷体_GB2312" panose="02010609030101010101" pitchFamily="49" charset="-122"/>
                <a:ea typeface="楷体_GB2312" panose="02010609030101010101" pitchFamily="49" charset="-122"/>
              </a:rPr>
              <a:t>联产承包</a:t>
            </a:r>
            <a:endParaRPr lang="zh-CN" altLang="en-US" sz="220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16384031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9" name="Rectangle 3"/>
          <p:cNvSpPr>
            <a:spLocks noGrp="1" noChangeArrowheads="1"/>
          </p:cNvSpPr>
          <p:nvPr>
            <p:ph type="body" idx="1"/>
          </p:nvPr>
        </p:nvSpPr>
        <p:spPr>
          <a:xfrm>
            <a:off x="395536" y="908720"/>
            <a:ext cx="8208912" cy="5068888"/>
          </a:xfrm>
        </p:spPr>
        <p:txBody>
          <a:bodyPr/>
          <a:lstStyle/>
          <a:p>
            <a:pPr marL="0" indent="0">
              <a:lnSpc>
                <a:spcPct val="120000"/>
              </a:lnSpc>
              <a:buNone/>
            </a:pPr>
            <a:r>
              <a:rPr lang="zh-CN" altLang="en-US" sz="2800" b="1" dirty="0">
                <a:latin typeface="楷体_GB2312" panose="02010609030101010101" pitchFamily="49" charset="-122"/>
                <a:ea typeface="楷体_GB2312" panose="02010609030101010101" pitchFamily="49" charset="-122"/>
              </a:rPr>
              <a:t>诱致性制度变迁与强制性制度变迁及其比较</a:t>
            </a:r>
            <a:r>
              <a:rPr lang="zh-CN" altLang="en-US" sz="2800" dirty="0">
                <a:latin typeface="楷体_GB2312" panose="02010609030101010101" pitchFamily="49" charset="-122"/>
                <a:ea typeface="楷体_GB2312" panose="02010609030101010101" pitchFamily="49" charset="-122"/>
              </a:rPr>
              <a:t> </a:t>
            </a:r>
            <a:endParaRPr lang="zh-CN" altLang="en-US" sz="2800" b="1" dirty="0">
              <a:latin typeface="楷体_GB2312" panose="02010609030101010101" pitchFamily="49" charset="-122"/>
              <a:ea typeface="楷体_GB2312" panose="02010609030101010101" pitchFamily="49" charset="-122"/>
            </a:endParaRPr>
          </a:p>
          <a:p>
            <a:pPr>
              <a:lnSpc>
                <a:spcPct val="120000"/>
              </a:lnSpc>
            </a:pPr>
            <a:r>
              <a:rPr lang="zh-CN" altLang="en-US" sz="2800" b="1" dirty="0">
                <a:latin typeface="楷体_GB2312" panose="02010609030101010101" pitchFamily="49" charset="-122"/>
                <a:ea typeface="楷体_GB2312" panose="02010609030101010101" pitchFamily="49" charset="-122"/>
              </a:rPr>
              <a:t>诱致性制度变迁的分析</a:t>
            </a:r>
          </a:p>
          <a:p>
            <a:pPr>
              <a:lnSpc>
                <a:spcPct val="120000"/>
              </a:lnSpc>
            </a:pPr>
            <a:r>
              <a:rPr lang="zh-CN" altLang="en-US" sz="2800" b="1" dirty="0">
                <a:latin typeface="楷体_GB2312" panose="02010609030101010101" pitchFamily="49" charset="-122"/>
                <a:ea typeface="楷体_GB2312" panose="02010609030101010101" pitchFamily="49" charset="-122"/>
              </a:rPr>
              <a:t>诱致性制度变迁指的是现行制度安排的变更或替代，或者是新制度安排的创造，它由个人或一群</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个</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人，在响应获利机会时自发倡导、组织和实行。诱致性制度变迁必须由某种在原有制度安排下无法得到的获利机会</a:t>
            </a:r>
            <a:r>
              <a:rPr lang="zh-CN" altLang="en-US" sz="2800" b="1" dirty="0" smtClean="0">
                <a:latin typeface="楷体_GB2312" panose="02010609030101010101" pitchFamily="49" charset="-122"/>
                <a:ea typeface="楷体_GB2312" panose="02010609030101010101" pitchFamily="49" charset="-122"/>
              </a:rPr>
              <a:t>引起</a:t>
            </a:r>
            <a:endParaRPr lang="en-US" altLang="zh-CN" sz="2800" b="1" dirty="0" smtClean="0">
              <a:latin typeface="楷体_GB2312" panose="02010609030101010101" pitchFamily="49" charset="-122"/>
              <a:ea typeface="楷体_GB2312" panose="02010609030101010101" pitchFamily="49" charset="-122"/>
            </a:endParaRPr>
          </a:p>
          <a:p>
            <a:pPr marL="0" indent="0">
              <a:lnSpc>
                <a:spcPct val="120000"/>
              </a:lnSpc>
              <a:buNone/>
            </a:pPr>
            <a:r>
              <a:rPr lang="en-US" altLang="zh-CN" sz="2800" b="1" dirty="0" smtClean="0">
                <a:solidFill>
                  <a:srgbClr val="FF0000"/>
                </a:solidFill>
                <a:latin typeface="楷体_GB2312" panose="02010609030101010101" pitchFamily="49" charset="-122"/>
                <a:ea typeface="楷体_GB2312" panose="02010609030101010101" pitchFamily="49" charset="-122"/>
              </a:rPr>
              <a:t>——</a:t>
            </a:r>
            <a:r>
              <a:rPr lang="zh-CN" altLang="en-US" sz="2800" b="1" dirty="0" smtClean="0">
                <a:solidFill>
                  <a:srgbClr val="FF0000"/>
                </a:solidFill>
                <a:latin typeface="楷体_GB2312" panose="02010609030101010101" pitchFamily="49" charset="-122"/>
                <a:ea typeface="楷体_GB2312" panose="02010609030101010101" pitchFamily="49" charset="-122"/>
              </a:rPr>
              <a:t>土地流转</a:t>
            </a:r>
            <a:endParaRPr lang="zh-CN" altLang="en-US" sz="2800" b="1" dirty="0">
              <a:solidFill>
                <a:srgbClr val="FF0000"/>
              </a:solidFill>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28087749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3" name="Rectangle 3"/>
          <p:cNvSpPr>
            <a:spLocks noGrp="1" noChangeArrowheads="1"/>
          </p:cNvSpPr>
          <p:nvPr>
            <p:ph type="body" idx="1"/>
          </p:nvPr>
        </p:nvSpPr>
        <p:spPr>
          <a:xfrm>
            <a:off x="827584" y="836712"/>
            <a:ext cx="7467600" cy="5068888"/>
          </a:xfrm>
        </p:spPr>
        <p:txBody>
          <a:bodyPr/>
          <a:lstStyle/>
          <a:p>
            <a:pPr marL="0" indent="0">
              <a:lnSpc>
                <a:spcPct val="120000"/>
              </a:lnSpc>
              <a:buNone/>
            </a:pPr>
            <a:r>
              <a:rPr lang="zh-CN" altLang="en-US" sz="2800" b="1" dirty="0">
                <a:latin typeface="楷体_GB2312" panose="02010609030101010101" pitchFamily="49" charset="-122"/>
                <a:ea typeface="楷体_GB2312" panose="02010609030101010101" pitchFamily="49" charset="-122"/>
              </a:rPr>
              <a:t>诱致性制度变迁的</a:t>
            </a:r>
            <a:r>
              <a:rPr lang="zh-CN" altLang="en-US" sz="2800" b="1" dirty="0" smtClean="0">
                <a:latin typeface="楷体_GB2312" panose="02010609030101010101" pitchFamily="49" charset="-122"/>
                <a:ea typeface="楷体_GB2312" panose="02010609030101010101" pitchFamily="49" charset="-122"/>
              </a:rPr>
              <a:t>特点：</a:t>
            </a:r>
            <a:endParaRPr lang="zh-CN" altLang="en-US" sz="2800" b="1" dirty="0">
              <a:latin typeface="楷体_GB2312" panose="02010609030101010101" pitchFamily="49" charset="-122"/>
              <a:ea typeface="楷体_GB2312" panose="02010609030101010101" pitchFamily="49" charset="-122"/>
            </a:endParaRPr>
          </a:p>
          <a:p>
            <a:pPr>
              <a:lnSpc>
                <a:spcPct val="120000"/>
              </a:lnSpc>
            </a:pPr>
            <a:r>
              <a:rPr lang="en-US" altLang="zh-CN" sz="2800" b="1" dirty="0">
                <a:latin typeface="楷体_GB2312" panose="02010609030101010101" pitchFamily="49" charset="-122"/>
                <a:ea typeface="楷体_GB2312" panose="02010609030101010101" pitchFamily="49" charset="-122"/>
              </a:rPr>
              <a:t>(</a:t>
            </a:r>
            <a:r>
              <a:rPr lang="pt-BR" altLang="zh-CN" sz="2800" b="1" dirty="0">
                <a:latin typeface="楷体_GB2312" panose="02010609030101010101" pitchFamily="49" charset="-122"/>
                <a:ea typeface="楷体_GB2312" panose="02010609030101010101" pitchFamily="49" charset="-122"/>
              </a:rPr>
              <a:t>1)</a:t>
            </a:r>
            <a:r>
              <a:rPr lang="zh-CN" altLang="en-US" sz="2800" b="1" dirty="0">
                <a:latin typeface="楷体_GB2312" panose="02010609030101010101" pitchFamily="49" charset="-122"/>
                <a:ea typeface="楷体_GB2312" panose="02010609030101010101" pitchFamily="49" charset="-122"/>
              </a:rPr>
              <a:t>改革主体来自基层。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2)</a:t>
            </a:r>
            <a:r>
              <a:rPr lang="zh-CN" altLang="en-US" sz="2800" b="1" dirty="0">
                <a:latin typeface="楷体_GB2312" panose="02010609030101010101" pitchFamily="49" charset="-122"/>
                <a:ea typeface="楷体_GB2312" panose="02010609030101010101" pitchFamily="49" charset="-122"/>
              </a:rPr>
              <a:t>程序为自下而上。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3)</a:t>
            </a:r>
            <a:r>
              <a:rPr lang="zh-CN" altLang="en-US" sz="2800" b="1" dirty="0">
                <a:latin typeface="楷体_GB2312" panose="02010609030101010101" pitchFamily="49" charset="-122"/>
                <a:ea typeface="楷体_GB2312" panose="02010609030101010101" pitchFamily="49" charset="-122"/>
              </a:rPr>
              <a:t>具有边际革命和增量调整性质。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4)</a:t>
            </a:r>
            <a:r>
              <a:rPr lang="zh-CN" altLang="en-US" sz="2800" b="1" dirty="0">
                <a:latin typeface="楷体_GB2312" panose="02010609030101010101" pitchFamily="49" charset="-122"/>
                <a:ea typeface="楷体_GB2312" panose="02010609030101010101" pitchFamily="49" charset="-122"/>
              </a:rPr>
              <a:t>在改革成本的分摊上向后推移。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5)</a:t>
            </a:r>
            <a:r>
              <a:rPr lang="zh-CN" altLang="en-US" sz="2800" b="1" dirty="0">
                <a:latin typeface="楷体_GB2312" panose="02010609030101010101" pitchFamily="49" charset="-122"/>
                <a:ea typeface="楷体_GB2312" panose="02010609030101010101" pitchFamily="49" charset="-122"/>
              </a:rPr>
              <a:t>在改革的顺序上</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先易后难、先试点后推广和从外围向核心突破相结合。</a:t>
            </a:r>
          </a:p>
          <a:p>
            <a:pPr>
              <a:lnSpc>
                <a:spcPct val="120000"/>
              </a:lnSpc>
            </a:pPr>
            <a:r>
              <a:rPr lang="en-US" altLang="zh-CN" sz="2800" b="1" dirty="0">
                <a:latin typeface="楷体_GB2312" panose="02010609030101010101" pitchFamily="49" charset="-122"/>
                <a:ea typeface="楷体_GB2312" panose="02010609030101010101" pitchFamily="49" charset="-122"/>
              </a:rPr>
              <a:t>(6)</a:t>
            </a:r>
            <a:r>
              <a:rPr lang="zh-CN" altLang="en-US" sz="2800" b="1" dirty="0">
                <a:latin typeface="楷体_GB2312" panose="02010609030101010101" pitchFamily="49" charset="-122"/>
                <a:ea typeface="楷体_GB2312" panose="02010609030101010101" pitchFamily="49" charset="-122"/>
              </a:rPr>
              <a:t>改革的路径是渐进的 </a:t>
            </a:r>
          </a:p>
        </p:txBody>
      </p:sp>
    </p:spTree>
    <p:extLst>
      <p:ext uri="{BB962C8B-B14F-4D97-AF65-F5344CB8AC3E}">
        <p14:creationId xmlns:p14="http://schemas.microsoft.com/office/powerpoint/2010/main" val="36108242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7" name="Rectangle 3"/>
          <p:cNvSpPr>
            <a:spLocks noGrp="1" noChangeArrowheads="1"/>
          </p:cNvSpPr>
          <p:nvPr>
            <p:ph type="body" idx="1"/>
          </p:nvPr>
        </p:nvSpPr>
        <p:spPr>
          <a:xfrm>
            <a:off x="467544" y="332656"/>
            <a:ext cx="8208912" cy="5068888"/>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诱致性制度变迁的优点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1)</a:t>
            </a:r>
            <a:r>
              <a:rPr lang="zh-CN" altLang="en-US" sz="2800" b="1" dirty="0">
                <a:latin typeface="楷体_GB2312" panose="02010609030101010101" pitchFamily="49" charset="-122"/>
                <a:ea typeface="楷体_GB2312" panose="02010609030101010101" pitchFamily="49" charset="-122"/>
              </a:rPr>
              <a:t>具有坚实的组织保障机制</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改革的速度和路径有可控性。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2)</a:t>
            </a:r>
            <a:r>
              <a:rPr lang="zh-CN" altLang="en-US" sz="2800" b="1" dirty="0">
                <a:latin typeface="楷体_GB2312" panose="02010609030101010101" pitchFamily="49" charset="-122"/>
                <a:ea typeface="楷体_GB2312" panose="02010609030101010101" pitchFamily="49" charset="-122"/>
              </a:rPr>
              <a:t>具有自动的稳定功能</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改革震动效应在预期内。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3)</a:t>
            </a:r>
            <a:r>
              <a:rPr lang="zh-CN" altLang="en-US" sz="2800" b="1" dirty="0">
                <a:latin typeface="楷体_GB2312" panose="02010609030101010101" pitchFamily="49" charset="-122"/>
                <a:ea typeface="楷体_GB2312" panose="02010609030101010101" pitchFamily="49" charset="-122"/>
              </a:rPr>
              <a:t>具有内在的优化演进机制和广泛的决策修正机制</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降低了决策失误率。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4)</a:t>
            </a:r>
            <a:r>
              <a:rPr lang="zh-CN" altLang="en-US" sz="2800" b="1" dirty="0">
                <a:latin typeface="楷体_GB2312" panose="02010609030101010101" pitchFamily="49" charset="-122"/>
                <a:ea typeface="楷体_GB2312" panose="02010609030101010101" pitchFamily="49" charset="-122"/>
              </a:rPr>
              <a:t>激励机制持久起作用</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保证源源不断的改革动力。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5)</a:t>
            </a:r>
            <a:r>
              <a:rPr lang="zh-CN" altLang="en-US" sz="2800" b="1" dirty="0">
                <a:latin typeface="楷体_GB2312" panose="02010609030101010101" pitchFamily="49" charset="-122"/>
                <a:ea typeface="楷体_GB2312" panose="02010609030101010101" pitchFamily="49" charset="-122"/>
              </a:rPr>
              <a:t>改革收益外溢性和改革主体的受益性</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保证了改革的不可逆性。 </a:t>
            </a:r>
          </a:p>
        </p:txBody>
      </p:sp>
    </p:spTree>
    <p:extLst>
      <p:ext uri="{BB962C8B-B14F-4D97-AF65-F5344CB8AC3E}">
        <p14:creationId xmlns:p14="http://schemas.microsoft.com/office/powerpoint/2010/main" val="39277952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1" name="Rectangle 3"/>
          <p:cNvSpPr>
            <a:spLocks noGrp="1" noChangeArrowheads="1"/>
          </p:cNvSpPr>
          <p:nvPr>
            <p:ph type="body" idx="1"/>
          </p:nvPr>
        </p:nvSpPr>
        <p:spPr>
          <a:xfrm>
            <a:off x="539552" y="548680"/>
            <a:ext cx="7467600" cy="5068888"/>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诱致性制度变迁的缺点 </a:t>
            </a:r>
          </a:p>
          <a:p>
            <a:pPr>
              <a:lnSpc>
                <a:spcPct val="120000"/>
              </a:lnSpc>
            </a:pPr>
            <a:r>
              <a:rPr lang="pt-BR" altLang="zh-CN" sz="2800" b="1" dirty="0">
                <a:latin typeface="楷体_GB2312" panose="02010609030101010101" pitchFamily="49" charset="-122"/>
                <a:ea typeface="楷体_GB2312" panose="02010609030101010101" pitchFamily="49" charset="-122"/>
              </a:rPr>
              <a:t>(1)</a:t>
            </a:r>
            <a:r>
              <a:rPr lang="zh-CN" altLang="en-US" sz="2800" b="1" dirty="0">
                <a:latin typeface="楷体_GB2312" panose="02010609030101010101" pitchFamily="49" charset="-122"/>
                <a:ea typeface="楷体_GB2312" panose="02010609030101010101" pitchFamily="49" charset="-122"/>
              </a:rPr>
              <a:t>改革难以彻底</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核心制度难以突破</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或者强制性制度供给长期滞后</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制度需求缺口大。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2)</a:t>
            </a:r>
            <a:r>
              <a:rPr lang="zh-CN" altLang="en-US" sz="2800" b="1" dirty="0">
                <a:latin typeface="楷体_GB2312" panose="02010609030101010101" pitchFamily="49" charset="-122"/>
                <a:ea typeface="楷体_GB2312" panose="02010609030101010101" pitchFamily="49" charset="-122"/>
              </a:rPr>
              <a:t>改革时间较长。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3)</a:t>
            </a:r>
            <a:r>
              <a:rPr lang="zh-CN" altLang="en-US" sz="2800" b="1" dirty="0">
                <a:latin typeface="楷体_GB2312" panose="02010609030101010101" pitchFamily="49" charset="-122"/>
                <a:ea typeface="楷体_GB2312" panose="02010609030101010101" pitchFamily="49" charset="-122"/>
              </a:rPr>
              <a:t>改革成本较大</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且有向后累积的趋势。</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4)</a:t>
            </a:r>
            <a:r>
              <a:rPr lang="zh-CN" altLang="en-US" sz="2800" b="1" dirty="0">
                <a:latin typeface="楷体_GB2312" panose="02010609030101010101" pitchFamily="49" charset="-122"/>
                <a:ea typeface="楷体_GB2312" panose="02010609030101010101" pitchFamily="49" charset="-122"/>
              </a:rPr>
              <a:t>改革主体可能会出现逐步位移。</a:t>
            </a:r>
          </a:p>
          <a:p>
            <a:pPr>
              <a:lnSpc>
                <a:spcPct val="120000"/>
              </a:lnSpc>
            </a:pPr>
            <a:r>
              <a:rPr lang="en-US" altLang="zh-CN" sz="2800" b="1" dirty="0">
                <a:latin typeface="楷体_GB2312" panose="02010609030101010101" pitchFamily="49" charset="-122"/>
                <a:ea typeface="楷体_GB2312" panose="02010609030101010101" pitchFamily="49" charset="-122"/>
              </a:rPr>
              <a:t>(5)</a:t>
            </a:r>
            <a:r>
              <a:rPr lang="zh-CN" altLang="en-US" sz="2800" b="1" dirty="0">
                <a:latin typeface="楷体_GB2312" panose="02010609030101010101" pitchFamily="49" charset="-122"/>
                <a:ea typeface="楷体_GB2312" panose="02010609030101010101" pitchFamily="49" charset="-122"/>
              </a:rPr>
              <a:t>导致“双轨制”长期并存</a:t>
            </a:r>
            <a:r>
              <a:rPr lang="en-US" altLang="zh-CN" sz="2800" b="1" dirty="0">
                <a:latin typeface="楷体_GB2312" panose="02010609030101010101" pitchFamily="49" charset="-122"/>
                <a:ea typeface="楷体_GB2312" panose="02010609030101010101" pitchFamily="49" charset="-122"/>
              </a:rPr>
              <a:t>,</a:t>
            </a:r>
            <a:r>
              <a:rPr lang="zh-CN" altLang="en-US" sz="2800" b="1" dirty="0">
                <a:latin typeface="楷体_GB2312" panose="02010609030101010101" pitchFamily="49" charset="-122"/>
                <a:ea typeface="楷体_GB2312" panose="02010609030101010101" pitchFamily="49" charset="-122"/>
              </a:rPr>
              <a:t>加大了政府和官员的“寻租”空间。 </a:t>
            </a:r>
          </a:p>
        </p:txBody>
      </p:sp>
    </p:spTree>
    <p:extLst>
      <p:ext uri="{BB962C8B-B14F-4D97-AF65-F5344CB8AC3E}">
        <p14:creationId xmlns:p14="http://schemas.microsoft.com/office/powerpoint/2010/main" val="1502643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5" name="Rectangle 3"/>
          <p:cNvSpPr>
            <a:spLocks noGrp="1" noChangeArrowheads="1"/>
          </p:cNvSpPr>
          <p:nvPr>
            <p:ph type="body" idx="1"/>
          </p:nvPr>
        </p:nvSpPr>
        <p:spPr>
          <a:xfrm>
            <a:off x="611560" y="692696"/>
            <a:ext cx="7467600" cy="5068888"/>
          </a:xfrm>
        </p:spPr>
        <p:txBody>
          <a:bodyPr/>
          <a:lstStyle/>
          <a:p>
            <a:pPr marL="0" indent="0">
              <a:lnSpc>
                <a:spcPct val="120000"/>
              </a:lnSpc>
              <a:buNone/>
            </a:pPr>
            <a:r>
              <a:rPr lang="zh-CN" altLang="en-US" sz="2800" b="1" dirty="0">
                <a:latin typeface="楷体_GB2312" panose="02010609030101010101" pitchFamily="49" charset="-122"/>
                <a:ea typeface="楷体_GB2312" panose="02010609030101010101" pitchFamily="49" charset="-122"/>
              </a:rPr>
              <a:t>强制性制度变迁分析</a:t>
            </a:r>
          </a:p>
          <a:p>
            <a:pPr>
              <a:lnSpc>
                <a:spcPct val="120000"/>
              </a:lnSpc>
            </a:pPr>
            <a:r>
              <a:rPr lang="zh-CN" altLang="en-US" sz="2800" b="1" dirty="0">
                <a:latin typeface="楷体_GB2312" panose="02010609030101010101" pitchFamily="49" charset="-122"/>
                <a:ea typeface="楷体_GB2312" panose="02010609030101010101" pitchFamily="49" charset="-122"/>
              </a:rPr>
              <a:t>强制性制度变迁由政府命令和法律引入和实现。与诱致性制度变迁不同，强制性制度变迁可以纯粹因在不同选民集团之间对现有收入进行再分配而发生。</a:t>
            </a:r>
          </a:p>
          <a:p>
            <a:pPr>
              <a:lnSpc>
                <a:spcPct val="120000"/>
              </a:lnSpc>
            </a:pPr>
            <a:r>
              <a:rPr lang="zh-CN" altLang="en-US" sz="2800" b="1" dirty="0">
                <a:latin typeface="楷体_GB2312" panose="02010609030101010101" pitchFamily="49" charset="-122"/>
                <a:ea typeface="楷体_GB2312" panose="02010609030101010101" pitchFamily="49" charset="-122"/>
              </a:rPr>
              <a:t>强制性制度变迁的主体是</a:t>
            </a:r>
            <a:r>
              <a:rPr lang="zh-CN" altLang="en-US" sz="2800" b="1" dirty="0" smtClean="0">
                <a:latin typeface="楷体_GB2312" panose="02010609030101010101" pitchFamily="49" charset="-122"/>
                <a:ea typeface="楷体_GB2312" panose="02010609030101010101" pitchFamily="49" charset="-122"/>
              </a:rPr>
              <a:t>国家</a:t>
            </a:r>
            <a:r>
              <a:rPr lang="zh-CN" altLang="en-US" sz="2800" b="1" dirty="0">
                <a:latin typeface="楷体_GB2312" panose="02010609030101010101" pitchFamily="49" charset="-122"/>
                <a:ea typeface="楷体_GB2312" panose="02010609030101010101" pitchFamily="49" charset="-122"/>
              </a:rPr>
              <a:t>或政府</a:t>
            </a:r>
            <a:r>
              <a:rPr lang="zh-CN" altLang="en-US" sz="2800" b="1" dirty="0" smtClean="0">
                <a:latin typeface="楷体_GB2312" panose="02010609030101010101" pitchFamily="49" charset="-122"/>
                <a:ea typeface="楷体_GB2312" panose="02010609030101010101" pitchFamily="49" charset="-122"/>
              </a:rPr>
              <a:t>。</a:t>
            </a:r>
            <a:endParaRPr lang="en-US" altLang="zh-CN" sz="2800" b="1" dirty="0" smtClean="0">
              <a:latin typeface="楷体_GB2312" panose="02010609030101010101" pitchFamily="49" charset="-122"/>
              <a:ea typeface="楷体_GB2312" panose="02010609030101010101" pitchFamily="49" charset="-122"/>
            </a:endParaRPr>
          </a:p>
          <a:p>
            <a:pPr marL="0" indent="0">
              <a:lnSpc>
                <a:spcPct val="120000"/>
              </a:lnSpc>
              <a:buNone/>
            </a:pPr>
            <a:r>
              <a:rPr lang="en-US" altLang="zh-CN" sz="2800" b="1" dirty="0" smtClean="0">
                <a:solidFill>
                  <a:srgbClr val="FF0000"/>
                </a:solidFill>
                <a:latin typeface="楷体_GB2312" panose="02010609030101010101" pitchFamily="49" charset="-122"/>
                <a:ea typeface="楷体_GB2312" panose="02010609030101010101" pitchFamily="49" charset="-122"/>
              </a:rPr>
              <a:t>——</a:t>
            </a:r>
            <a:r>
              <a:rPr lang="zh-CN" altLang="en-US" sz="2800" b="1" dirty="0" smtClean="0">
                <a:solidFill>
                  <a:srgbClr val="FF0000"/>
                </a:solidFill>
                <a:latin typeface="楷体_GB2312" panose="02010609030101010101" pitchFamily="49" charset="-122"/>
                <a:ea typeface="楷体_GB2312" panose="02010609030101010101" pitchFamily="49" charset="-122"/>
              </a:rPr>
              <a:t>国家生育政策 </a:t>
            </a:r>
            <a:endParaRPr lang="zh-CN" altLang="en-US" sz="2800" b="1" dirty="0">
              <a:solidFill>
                <a:srgbClr val="FF0000"/>
              </a:solidFill>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554377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9" name="Rectangle 3"/>
          <p:cNvSpPr>
            <a:spLocks noGrp="1" noChangeArrowheads="1"/>
          </p:cNvSpPr>
          <p:nvPr>
            <p:ph type="body" idx="1"/>
          </p:nvPr>
        </p:nvSpPr>
        <p:spPr>
          <a:xfrm>
            <a:off x="539552" y="260648"/>
            <a:ext cx="8136904" cy="5068888"/>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强制性制度变迁的类型</a:t>
            </a:r>
          </a:p>
          <a:p>
            <a:pPr>
              <a:lnSpc>
                <a:spcPct val="120000"/>
              </a:lnSpc>
            </a:pPr>
            <a:r>
              <a:rPr lang="pt-BR" altLang="zh-CN" dirty="0">
                <a:latin typeface="楷体_GB2312" panose="02010609030101010101" pitchFamily="49" charset="-122"/>
                <a:ea typeface="楷体_GB2312" panose="02010609030101010101" pitchFamily="49" charset="-122"/>
              </a:rPr>
              <a:t>(1)</a:t>
            </a:r>
            <a:r>
              <a:rPr lang="zh-CN" altLang="pt-BR" dirty="0">
                <a:latin typeface="楷体_GB2312" panose="02010609030101010101" pitchFamily="49" charset="-122"/>
                <a:ea typeface="楷体_GB2312" panose="02010609030101010101" pitchFamily="49" charset="-122"/>
              </a:rPr>
              <a:t>从制度变迁的主体来看</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可以分为两种</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即以中央政府为主体的制度</a:t>
            </a:r>
            <a:r>
              <a:rPr lang="zh-CN" altLang="en-US" dirty="0" smtClean="0">
                <a:latin typeface="楷体_GB2312" panose="02010609030101010101" pitchFamily="49" charset="-122"/>
                <a:ea typeface="楷体_GB2312" panose="02010609030101010101" pitchFamily="49" charset="-122"/>
              </a:rPr>
              <a:t>变迁（</a:t>
            </a:r>
            <a:r>
              <a:rPr lang="zh-CN" altLang="en-US" b="1" dirty="0" smtClean="0">
                <a:latin typeface="楷体_GB2312" panose="02010609030101010101" pitchFamily="49" charset="-122"/>
                <a:ea typeface="楷体_GB2312" panose="02010609030101010101" pitchFamily="49" charset="-122"/>
              </a:rPr>
              <a:t>简政放权</a:t>
            </a:r>
            <a:r>
              <a:rPr lang="zh-CN" altLang="en-US" dirty="0" smtClean="0">
                <a:latin typeface="楷体_GB2312" panose="02010609030101010101" pitchFamily="49" charset="-122"/>
                <a:ea typeface="楷体_GB2312" panose="02010609030101010101" pitchFamily="49" charset="-122"/>
              </a:rPr>
              <a:t>）和</a:t>
            </a:r>
            <a:r>
              <a:rPr lang="zh-CN" altLang="en-US" dirty="0">
                <a:latin typeface="楷体_GB2312" panose="02010609030101010101" pitchFamily="49" charset="-122"/>
                <a:ea typeface="楷体_GB2312" panose="02010609030101010101" pitchFamily="49" charset="-122"/>
              </a:rPr>
              <a:t>以地方政府为主体的制度</a:t>
            </a:r>
            <a:r>
              <a:rPr lang="zh-CN" altLang="en-US" dirty="0" smtClean="0">
                <a:latin typeface="楷体_GB2312" panose="02010609030101010101" pitchFamily="49" charset="-122"/>
                <a:ea typeface="楷体_GB2312" panose="02010609030101010101" pitchFamily="49" charset="-122"/>
              </a:rPr>
              <a:t>变迁（</a:t>
            </a:r>
            <a:r>
              <a:rPr lang="zh-CN" altLang="en-US" b="1" dirty="0" smtClean="0">
                <a:latin typeface="楷体_GB2312" panose="02010609030101010101" pitchFamily="49" charset="-122"/>
                <a:ea typeface="楷体_GB2312" panose="02010609030101010101" pitchFamily="49" charset="-122"/>
              </a:rPr>
              <a:t>杭州的最多跑一次服务</a:t>
            </a:r>
            <a:r>
              <a:rPr lang="zh-CN" altLang="en-US" dirty="0" smtClean="0">
                <a:latin typeface="楷体_GB2312" panose="02010609030101010101" pitchFamily="49" charset="-122"/>
                <a:ea typeface="楷体_GB2312" panose="02010609030101010101" pitchFamily="49" charset="-122"/>
              </a:rPr>
              <a:t>）。</a:t>
            </a:r>
            <a:endParaRPr lang="zh-CN" altLang="en-US" dirty="0">
              <a:latin typeface="楷体_GB2312" panose="02010609030101010101" pitchFamily="49" charset="-122"/>
              <a:ea typeface="楷体_GB2312" panose="02010609030101010101" pitchFamily="49" charset="-122"/>
            </a:endParaRPr>
          </a:p>
          <a:p>
            <a:pPr>
              <a:lnSpc>
                <a:spcPct val="120000"/>
              </a:lnSpc>
            </a:pPr>
            <a:r>
              <a:rPr lang="en-US" altLang="zh-CN" dirty="0">
                <a:latin typeface="楷体_GB2312" panose="02010609030101010101" pitchFamily="49" charset="-122"/>
                <a:ea typeface="楷体_GB2312" panose="02010609030101010101" pitchFamily="49" charset="-122"/>
              </a:rPr>
              <a:t>(2)</a:t>
            </a:r>
            <a:r>
              <a:rPr lang="zh-CN" altLang="en-US" dirty="0">
                <a:latin typeface="楷体_GB2312" panose="02010609030101010101" pitchFamily="49" charset="-122"/>
                <a:ea typeface="楷体_GB2312" panose="02010609030101010101" pitchFamily="49" charset="-122"/>
              </a:rPr>
              <a:t>从对制度需求的回应来看</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也可分为两种</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即需求回应性的强制性制度变迁和没有需求的强制性制度变迁。</a:t>
            </a:r>
          </a:p>
          <a:p>
            <a:pPr>
              <a:lnSpc>
                <a:spcPct val="120000"/>
              </a:lnSpc>
            </a:pPr>
            <a:r>
              <a:rPr lang="en-US" altLang="zh-CN" dirty="0">
                <a:latin typeface="楷体_GB2312" panose="02010609030101010101" pitchFamily="49" charset="-122"/>
                <a:ea typeface="楷体_GB2312" panose="02010609030101010101" pitchFamily="49" charset="-122"/>
              </a:rPr>
              <a:t>(3)</a:t>
            </a:r>
            <a:r>
              <a:rPr lang="zh-CN" altLang="en-US" dirty="0">
                <a:latin typeface="楷体_GB2312" panose="02010609030101010101" pitchFamily="49" charset="-122"/>
                <a:ea typeface="楷体_GB2312" panose="02010609030101010101" pitchFamily="49" charset="-122"/>
              </a:rPr>
              <a:t>从制度变迁的暴力性质来看</a:t>
            </a:r>
            <a:r>
              <a:rPr lang="en-US" altLang="zh-CN" dirty="0">
                <a:latin typeface="楷体_GB2312" panose="02010609030101010101" pitchFamily="49" charset="-122"/>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有暴力性质的强制性制度变迁和非暴力性质的强制性制度变迁。</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7262" y="4293095"/>
            <a:ext cx="3639373" cy="2531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7450" y="4077073"/>
            <a:ext cx="2625030" cy="27586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622" y="4293095"/>
            <a:ext cx="2093706" cy="253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4610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3" name="Rectangle 3"/>
          <p:cNvSpPr>
            <a:spLocks noGrp="1" noChangeArrowheads="1"/>
          </p:cNvSpPr>
          <p:nvPr>
            <p:ph type="body" idx="1"/>
          </p:nvPr>
        </p:nvSpPr>
        <p:spPr>
          <a:xfrm>
            <a:off x="992163" y="188640"/>
            <a:ext cx="7467600" cy="5068888"/>
          </a:xfrm>
        </p:spPr>
        <p:txBody>
          <a:bodyPr/>
          <a:lstStyle/>
          <a:p>
            <a:pPr marL="0" indent="0">
              <a:lnSpc>
                <a:spcPct val="120000"/>
              </a:lnSpc>
              <a:buNone/>
            </a:pPr>
            <a:r>
              <a:rPr lang="zh-CN" altLang="en-US" sz="2800" b="1" dirty="0">
                <a:latin typeface="楷体_GB2312" panose="02010609030101010101" pitchFamily="49" charset="-122"/>
                <a:ea typeface="楷体_GB2312" panose="02010609030101010101" pitchFamily="49" charset="-122"/>
              </a:rPr>
              <a:t>强制性制度变迁的特点</a:t>
            </a:r>
          </a:p>
          <a:p>
            <a:pPr>
              <a:lnSpc>
                <a:spcPct val="120000"/>
              </a:lnSpc>
            </a:pPr>
            <a:r>
              <a:rPr lang="en-US" altLang="zh-CN" sz="2800" b="1" dirty="0">
                <a:latin typeface="楷体_GB2312" panose="02010609030101010101" pitchFamily="49" charset="-122"/>
                <a:ea typeface="楷体_GB2312" panose="02010609030101010101" pitchFamily="49" charset="-122"/>
              </a:rPr>
              <a:t>(1)</a:t>
            </a:r>
            <a:r>
              <a:rPr lang="zh-CN" altLang="en-US" sz="2800" b="1" dirty="0">
                <a:latin typeface="楷体_GB2312" panose="02010609030101010101" pitchFamily="49" charset="-122"/>
                <a:ea typeface="楷体_GB2312" panose="02010609030101010101" pitchFamily="49" charset="-122"/>
              </a:rPr>
              <a:t>政府为制度变迁的主体。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2)</a:t>
            </a:r>
            <a:r>
              <a:rPr lang="zh-CN" altLang="en-US" sz="2800" b="1" dirty="0">
                <a:latin typeface="楷体_GB2312" panose="02010609030101010101" pitchFamily="49" charset="-122"/>
                <a:ea typeface="楷体_GB2312" panose="02010609030101010101" pitchFamily="49" charset="-122"/>
              </a:rPr>
              <a:t>程序是自上而下的。</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3)</a:t>
            </a:r>
            <a:r>
              <a:rPr lang="zh-CN" altLang="en-US" sz="2800" b="1" dirty="0">
                <a:latin typeface="楷体_GB2312" panose="02010609030101010101" pitchFamily="49" charset="-122"/>
                <a:ea typeface="楷体_GB2312" panose="02010609030101010101" pitchFamily="49" charset="-122"/>
              </a:rPr>
              <a:t>激进性质。 </a:t>
            </a:r>
          </a:p>
          <a:p>
            <a:pPr>
              <a:lnSpc>
                <a:spcPct val="120000"/>
              </a:lnSpc>
            </a:pPr>
            <a:r>
              <a:rPr lang="pt-BR" altLang="zh-CN" sz="2800" b="1" dirty="0">
                <a:latin typeface="楷体_GB2312" panose="02010609030101010101" pitchFamily="49" charset="-122"/>
                <a:ea typeface="楷体_GB2312" panose="02010609030101010101" pitchFamily="49" charset="-122"/>
              </a:rPr>
              <a:t>(</a:t>
            </a:r>
            <a:r>
              <a:rPr lang="en-US" altLang="zh-CN" sz="2800" b="1" dirty="0">
                <a:latin typeface="楷体_GB2312" panose="02010609030101010101" pitchFamily="49" charset="-122"/>
                <a:ea typeface="楷体_GB2312" panose="02010609030101010101" pitchFamily="49" charset="-122"/>
              </a:rPr>
              <a:t>4)</a:t>
            </a:r>
            <a:r>
              <a:rPr lang="zh-CN" altLang="en-US" sz="2800" b="1" dirty="0">
                <a:latin typeface="楷体_GB2312" panose="02010609030101010101" pitchFamily="49" charset="-122"/>
                <a:ea typeface="楷体_GB2312" panose="02010609030101010101" pitchFamily="49" charset="-122"/>
              </a:rPr>
              <a:t>具有存量革命性质</a:t>
            </a:r>
            <a:r>
              <a:rPr lang="zh-CN" altLang="en-US" sz="2800" b="1" dirty="0" smtClean="0">
                <a:latin typeface="楷体_GB2312" panose="02010609030101010101" pitchFamily="49" charset="-122"/>
                <a:ea typeface="楷体_GB2312" panose="02010609030101010101" pitchFamily="49" charset="-122"/>
              </a:rPr>
              <a:t>。（王莽的悲剧）</a:t>
            </a:r>
            <a:endParaRPr lang="en-US" altLang="zh-CN" sz="2800" b="1" dirty="0" smtClean="0">
              <a:latin typeface="楷体_GB2312" panose="02010609030101010101" pitchFamily="49" charset="-122"/>
              <a:ea typeface="楷体_GB2312" panose="02010609030101010101" pitchFamily="49" charset="-122"/>
            </a:endParaRPr>
          </a:p>
          <a:p>
            <a:pPr>
              <a:lnSpc>
                <a:spcPct val="120000"/>
              </a:lnSpc>
            </a:pPr>
            <a:r>
              <a:rPr lang="zh-CN" altLang="en-US" sz="2000" dirty="0">
                <a:latin typeface="楷体_GB2312" panose="02010609030101010101" pitchFamily="49" charset="-122"/>
                <a:ea typeface="楷体_GB2312" panose="02010609030101010101" pitchFamily="49" charset="-122"/>
              </a:rPr>
              <a:t>王莽称帝后，采取了一系列惠民措施，史称“王莽改制”</a:t>
            </a:r>
            <a:r>
              <a:rPr lang="zh-CN" altLang="en-US" sz="2000" dirty="0" smtClean="0">
                <a:latin typeface="楷体_GB2312" panose="02010609030101010101" pitchFamily="49" charset="-122"/>
                <a:ea typeface="楷体_GB2312" panose="02010609030101010101" pitchFamily="49" charset="-122"/>
              </a:rPr>
              <a:t>。始建</a:t>
            </a:r>
            <a:r>
              <a:rPr lang="zh-CN" altLang="en-US" sz="2000" dirty="0">
                <a:latin typeface="楷体_GB2312" panose="02010609030101010101" pitchFamily="49" charset="-122"/>
                <a:ea typeface="楷体_GB2312" panose="02010609030101010101" pitchFamily="49" charset="-122"/>
              </a:rPr>
              <a:t>国元年（公元</a:t>
            </a:r>
            <a:r>
              <a:rPr lang="en-US" altLang="zh-CN" sz="2000" dirty="0">
                <a:latin typeface="楷体_GB2312" panose="02010609030101010101" pitchFamily="49" charset="-122"/>
                <a:ea typeface="楷体_GB2312" panose="02010609030101010101" pitchFamily="49" charset="-122"/>
              </a:rPr>
              <a:t>9</a:t>
            </a:r>
            <a:r>
              <a:rPr lang="zh-CN" altLang="en-US" sz="2000" dirty="0">
                <a:latin typeface="楷体_GB2312" panose="02010609030101010101" pitchFamily="49" charset="-122"/>
                <a:ea typeface="楷体_GB2312" panose="02010609030101010101" pitchFamily="49" charset="-122"/>
              </a:rPr>
              <a:t>年）宣布：将天下田改曰王田，以王田代替私田；奴婢改称私属，与王田一样，均不得买卖。其后，改革币制、官制，规定盐铁官营，山川河流收归</a:t>
            </a:r>
            <a:r>
              <a:rPr lang="zh-CN" altLang="en-US" sz="2000" dirty="0" smtClean="0">
                <a:latin typeface="楷体_GB2312" panose="02010609030101010101" pitchFamily="49" charset="-122"/>
                <a:ea typeface="楷体_GB2312" panose="02010609030101010101" pitchFamily="49" charset="-122"/>
              </a:rPr>
              <a:t>国有。</a:t>
            </a:r>
            <a:endParaRPr lang="en-US" altLang="zh-CN" sz="2800" dirty="0" smtClean="0">
              <a:latin typeface="楷体_GB2312" panose="02010609030101010101" pitchFamily="49" charset="-122"/>
              <a:ea typeface="楷体_GB2312" panose="02010609030101010101" pitchFamily="49" charset="-122"/>
            </a:endParaRPr>
          </a:p>
          <a:p>
            <a:pPr marL="0" indent="0">
              <a:lnSpc>
                <a:spcPct val="120000"/>
              </a:lnSpc>
              <a:buNone/>
            </a:pPr>
            <a:r>
              <a:rPr lang="en-US" altLang="zh-CN" sz="2800" b="1" dirty="0" smtClean="0">
                <a:latin typeface="楷体_GB2312" panose="02010609030101010101" pitchFamily="49" charset="-122"/>
                <a:ea typeface="楷体_GB2312" panose="02010609030101010101" pitchFamily="49" charset="-122"/>
              </a:rPr>
              <a:t>    </a:t>
            </a:r>
            <a:endParaRPr lang="en-US" altLang="zh-CN" sz="2800" b="1" dirty="0">
              <a:latin typeface="楷体_GB2312" panose="02010609030101010101" pitchFamily="49" charset="-122"/>
              <a:ea typeface="楷体_GB2312" panose="02010609030101010101" pitchFamily="49" charset="-122"/>
            </a:endParaRPr>
          </a:p>
          <a:p>
            <a:pPr>
              <a:lnSpc>
                <a:spcPct val="120000"/>
              </a:lnSpc>
            </a:pPr>
            <a:endParaRPr lang="zh-CN" altLang="en-US" sz="2800" b="1" dirty="0">
              <a:latin typeface="楷体_GB2312" panose="02010609030101010101" pitchFamily="49" charset="-122"/>
              <a:ea typeface="楷体_GB2312" panose="02010609030101010101"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4725144"/>
            <a:ext cx="5924550" cy="2121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738349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7" name="Rectangle 3"/>
          <p:cNvSpPr>
            <a:spLocks noGrp="1" noChangeArrowheads="1"/>
          </p:cNvSpPr>
          <p:nvPr>
            <p:ph type="body" idx="1"/>
          </p:nvPr>
        </p:nvSpPr>
        <p:spPr>
          <a:xfrm>
            <a:off x="1219200" y="1600200"/>
            <a:ext cx="7467600" cy="5068888"/>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强制性制度变迁的优点</a:t>
            </a:r>
          </a:p>
          <a:p>
            <a:pPr>
              <a:lnSpc>
                <a:spcPct val="120000"/>
              </a:lnSpc>
            </a:pPr>
            <a:r>
              <a:rPr lang="zh-CN" altLang="en-US" sz="2800" b="1" dirty="0">
                <a:latin typeface="楷体_GB2312" panose="02010609030101010101" pitchFamily="49" charset="-122"/>
                <a:ea typeface="楷体_GB2312" panose="02010609030101010101" pitchFamily="49" charset="-122"/>
              </a:rPr>
              <a:t>一是推动力度大。</a:t>
            </a:r>
          </a:p>
          <a:p>
            <a:pPr>
              <a:lnSpc>
                <a:spcPct val="120000"/>
              </a:lnSpc>
            </a:pPr>
            <a:r>
              <a:rPr lang="zh-CN" altLang="en-US" sz="2800" b="1" dirty="0">
                <a:latin typeface="楷体_GB2312" panose="02010609030101010101" pitchFamily="49" charset="-122"/>
                <a:ea typeface="楷体_GB2312" panose="02010609030101010101" pitchFamily="49" charset="-122"/>
              </a:rPr>
              <a:t>二是制度出台的时间短。</a:t>
            </a:r>
          </a:p>
          <a:p>
            <a:pPr>
              <a:lnSpc>
                <a:spcPct val="120000"/>
              </a:lnSpc>
            </a:pPr>
            <a:r>
              <a:rPr lang="zh-CN" altLang="en-US" sz="2800" b="1" dirty="0">
                <a:latin typeface="楷体_GB2312" panose="02010609030101010101" pitchFamily="49" charset="-122"/>
                <a:ea typeface="楷体_GB2312" panose="02010609030101010101" pitchFamily="49" charset="-122"/>
              </a:rPr>
              <a:t>三是能够保证制度安排较好地运行。</a:t>
            </a:r>
          </a:p>
          <a:p>
            <a:pPr>
              <a:lnSpc>
                <a:spcPct val="120000"/>
              </a:lnSpc>
            </a:pPr>
            <a:r>
              <a:rPr lang="zh-CN" altLang="en-US" sz="2800" b="1" dirty="0">
                <a:latin typeface="楷体_GB2312" panose="02010609030101010101" pitchFamily="49" charset="-122"/>
                <a:ea typeface="楷体_GB2312" panose="02010609030101010101" pitchFamily="49" charset="-122"/>
              </a:rPr>
              <a:t>四是对旧制度的更替作用巨大。 </a:t>
            </a:r>
          </a:p>
        </p:txBody>
      </p:sp>
    </p:spTree>
    <p:extLst>
      <p:ext uri="{BB962C8B-B14F-4D97-AF65-F5344CB8AC3E}">
        <p14:creationId xmlns:p14="http://schemas.microsoft.com/office/powerpoint/2010/main" val="9254565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1" name="Rectangle 3"/>
          <p:cNvSpPr>
            <a:spLocks noGrp="1" noChangeArrowheads="1"/>
          </p:cNvSpPr>
          <p:nvPr>
            <p:ph type="body" idx="1"/>
          </p:nvPr>
        </p:nvSpPr>
        <p:spPr>
          <a:xfrm>
            <a:off x="827584" y="548680"/>
            <a:ext cx="7467600" cy="5068888"/>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强制性制度变迁的缺陷</a:t>
            </a:r>
          </a:p>
          <a:p>
            <a:pPr>
              <a:lnSpc>
                <a:spcPct val="120000"/>
              </a:lnSpc>
            </a:pPr>
            <a:r>
              <a:rPr lang="zh-CN" altLang="en-US" sz="2800" b="1" dirty="0">
                <a:latin typeface="楷体_GB2312" panose="02010609030101010101" pitchFamily="49" charset="-122"/>
                <a:ea typeface="楷体_GB2312" panose="02010609030101010101" pitchFamily="49" charset="-122"/>
              </a:rPr>
              <a:t>一是低效性。</a:t>
            </a:r>
          </a:p>
          <a:p>
            <a:pPr>
              <a:lnSpc>
                <a:spcPct val="120000"/>
              </a:lnSpc>
            </a:pPr>
            <a:r>
              <a:rPr lang="zh-CN" altLang="en-US" sz="2800" b="1" dirty="0">
                <a:latin typeface="楷体_GB2312" panose="02010609030101010101" pitchFamily="49" charset="-122"/>
                <a:ea typeface="楷体_GB2312" panose="02010609030101010101" pitchFamily="49" charset="-122"/>
              </a:rPr>
              <a:t>二是“搭便车”行为不可避免。</a:t>
            </a:r>
          </a:p>
          <a:p>
            <a:pPr>
              <a:lnSpc>
                <a:spcPct val="120000"/>
              </a:lnSpc>
            </a:pPr>
            <a:r>
              <a:rPr lang="zh-CN" altLang="en-US" sz="2800" b="1" dirty="0">
                <a:latin typeface="楷体_GB2312" panose="02010609030101010101" pitchFamily="49" charset="-122"/>
                <a:ea typeface="楷体_GB2312" panose="02010609030101010101" pitchFamily="49" charset="-122"/>
              </a:rPr>
              <a:t>三是制度破坏性大。</a:t>
            </a:r>
          </a:p>
          <a:p>
            <a:pPr>
              <a:lnSpc>
                <a:spcPct val="120000"/>
              </a:lnSpc>
            </a:pPr>
            <a:r>
              <a:rPr lang="zh-CN" altLang="en-US" sz="2800" b="1" dirty="0">
                <a:latin typeface="楷体_GB2312" panose="02010609030101010101" pitchFamily="49" charset="-122"/>
                <a:ea typeface="楷体_GB2312" panose="02010609030101010101" pitchFamily="49" charset="-122"/>
              </a:rPr>
              <a:t>四是社会震荡大。</a:t>
            </a:r>
          </a:p>
          <a:p>
            <a:pPr>
              <a:lnSpc>
                <a:spcPct val="120000"/>
              </a:lnSpc>
            </a:pPr>
            <a:r>
              <a:rPr lang="zh-CN" altLang="en-US" sz="2800" b="1" dirty="0">
                <a:latin typeface="楷体_GB2312" panose="02010609030101010101" pitchFamily="49" charset="-122"/>
                <a:ea typeface="楷体_GB2312" panose="02010609030101010101" pitchFamily="49" charset="-122"/>
              </a:rPr>
              <a:t>五是风险高。</a:t>
            </a:r>
          </a:p>
          <a:p>
            <a:pPr>
              <a:lnSpc>
                <a:spcPct val="120000"/>
              </a:lnSpc>
            </a:pPr>
            <a:r>
              <a:rPr lang="zh-CN" altLang="en-US" sz="2800" b="1" dirty="0">
                <a:latin typeface="楷体_GB2312" panose="02010609030101010101" pitchFamily="49" charset="-122"/>
                <a:ea typeface="楷体_GB2312" panose="02010609030101010101" pitchFamily="49" charset="-122"/>
              </a:rPr>
              <a:t>强制性制度变迁的局限性还表现在，强制性制度变迁尽管可以降低组织成本和实施成本，但它可能违背了一致性同意原则 </a:t>
            </a:r>
          </a:p>
        </p:txBody>
      </p:sp>
    </p:spTree>
    <p:extLst>
      <p:ext uri="{BB962C8B-B14F-4D97-AF65-F5344CB8AC3E}">
        <p14:creationId xmlns:p14="http://schemas.microsoft.com/office/powerpoint/2010/main" val="39890566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5" name="Rectangle 3"/>
          <p:cNvSpPr>
            <a:spLocks noGrp="1" noChangeArrowheads="1"/>
          </p:cNvSpPr>
          <p:nvPr>
            <p:ph type="body" idx="1"/>
          </p:nvPr>
        </p:nvSpPr>
        <p:spPr>
          <a:xfrm>
            <a:off x="683568" y="692696"/>
            <a:ext cx="7467600" cy="5068888"/>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诱致性制度变迁与强制性制度变迁的比较</a:t>
            </a:r>
          </a:p>
          <a:p>
            <a:pPr>
              <a:lnSpc>
                <a:spcPct val="120000"/>
              </a:lnSpc>
            </a:pPr>
            <a:r>
              <a:rPr lang="zh-CN" altLang="en-US" sz="2800" b="1" dirty="0">
                <a:latin typeface="楷体_GB2312" panose="02010609030101010101" pitchFamily="49" charset="-122"/>
                <a:ea typeface="楷体_GB2312" panose="02010609030101010101" pitchFamily="49" charset="-122"/>
              </a:rPr>
              <a:t>在社会实际生活中，诱致性制度变迁与强制性制度变迁是很难划分开的。它们相互联系、相互制约，共同推动着社会的制度变迁</a:t>
            </a:r>
            <a:r>
              <a:rPr lang="zh-CN" altLang="en-US" sz="2800" b="1" dirty="0" smtClean="0">
                <a:latin typeface="楷体_GB2312" panose="02010609030101010101" pitchFamily="49" charset="-122"/>
                <a:ea typeface="楷体_GB2312" panose="02010609030101010101" pitchFamily="49" charset="-122"/>
              </a:rPr>
              <a:t>。</a:t>
            </a:r>
            <a:endParaRPr lang="zh-CN" altLang="en-US" sz="2800" b="1"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479310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3" name="Rectangle 3"/>
          <p:cNvSpPr>
            <a:spLocks noGrp="1" noChangeArrowheads="1"/>
          </p:cNvSpPr>
          <p:nvPr>
            <p:ph type="body" idx="1"/>
          </p:nvPr>
        </p:nvSpPr>
        <p:spPr>
          <a:xfrm>
            <a:off x="1219200" y="1600200"/>
            <a:ext cx="7467600" cy="3124944"/>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诱致性制度变迁与强制性制度变迁模式的差别</a:t>
            </a:r>
          </a:p>
          <a:p>
            <a:pPr>
              <a:lnSpc>
                <a:spcPct val="120000"/>
              </a:lnSpc>
            </a:pPr>
            <a:r>
              <a:rPr lang="en-US" altLang="zh-CN" sz="2800" b="1" dirty="0">
                <a:latin typeface="楷体_GB2312" panose="02010609030101010101" pitchFamily="49" charset="-122"/>
                <a:ea typeface="楷体_GB2312" panose="02010609030101010101" pitchFamily="49" charset="-122"/>
              </a:rPr>
              <a:t>(1)</a:t>
            </a:r>
            <a:r>
              <a:rPr lang="zh-CN" altLang="en-US" sz="2800" b="1" dirty="0">
                <a:latin typeface="楷体_GB2312" panose="02010609030101010101" pitchFamily="49" charset="-122"/>
                <a:ea typeface="楷体_GB2312" panose="02010609030101010101" pitchFamily="49" charset="-122"/>
              </a:rPr>
              <a:t>制度变迁的主体不同。</a:t>
            </a:r>
          </a:p>
          <a:p>
            <a:pPr>
              <a:lnSpc>
                <a:spcPct val="120000"/>
              </a:lnSpc>
            </a:pPr>
            <a:r>
              <a:rPr lang="en-US" altLang="zh-CN" sz="2800" b="1" dirty="0">
                <a:latin typeface="楷体_GB2312" panose="02010609030101010101" pitchFamily="49" charset="-122"/>
                <a:ea typeface="楷体_GB2312" panose="02010609030101010101" pitchFamily="49" charset="-122"/>
              </a:rPr>
              <a:t>(2)</a:t>
            </a:r>
            <a:r>
              <a:rPr lang="zh-CN" altLang="en-US" sz="2800" b="1" dirty="0">
                <a:latin typeface="楷体_GB2312" panose="02010609030101010101" pitchFamily="49" charset="-122"/>
                <a:ea typeface="楷体_GB2312" panose="02010609030101010101" pitchFamily="49" charset="-122"/>
              </a:rPr>
              <a:t>两类制度变迁的优势不同。</a:t>
            </a:r>
          </a:p>
          <a:p>
            <a:pPr>
              <a:lnSpc>
                <a:spcPct val="120000"/>
              </a:lnSpc>
            </a:pPr>
            <a:r>
              <a:rPr lang="en-US" altLang="zh-CN" sz="2800" b="1" dirty="0">
                <a:latin typeface="楷体_GB2312" panose="02010609030101010101" pitchFamily="49" charset="-122"/>
                <a:ea typeface="楷体_GB2312" panose="02010609030101010101" pitchFamily="49" charset="-122"/>
              </a:rPr>
              <a:t>(3)</a:t>
            </a:r>
            <a:r>
              <a:rPr lang="zh-CN" altLang="en-US" sz="2800" b="1" dirty="0">
                <a:latin typeface="楷体_GB2312" panose="02010609030101010101" pitchFamily="49" charset="-122"/>
                <a:ea typeface="楷体_GB2312" panose="02010609030101010101" pitchFamily="49" charset="-122"/>
              </a:rPr>
              <a:t>两类制度变迁面临的问题不同。 </a:t>
            </a:r>
          </a:p>
        </p:txBody>
      </p:sp>
    </p:spTree>
    <p:extLst>
      <p:ext uri="{BB962C8B-B14F-4D97-AF65-F5344CB8AC3E}">
        <p14:creationId xmlns:p14="http://schemas.microsoft.com/office/powerpoint/2010/main" val="15225812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1" name="Rectangle 3"/>
          <p:cNvSpPr>
            <a:spLocks noGrp="1" noChangeArrowheads="1"/>
          </p:cNvSpPr>
          <p:nvPr>
            <p:ph type="body" idx="1"/>
          </p:nvPr>
        </p:nvSpPr>
        <p:spPr>
          <a:xfrm>
            <a:off x="539552" y="692696"/>
            <a:ext cx="7467600" cy="5068888"/>
          </a:xfrm>
        </p:spPr>
        <p:txBody>
          <a:bodyPr/>
          <a:lstStyle/>
          <a:p>
            <a:pPr>
              <a:lnSpc>
                <a:spcPct val="120000"/>
              </a:lnSpc>
            </a:pPr>
            <a:r>
              <a:rPr lang="zh-CN" altLang="en-US" sz="2800" b="1" dirty="0">
                <a:latin typeface="楷体_GB2312" panose="02010609030101010101" pitchFamily="49" charset="-122"/>
                <a:ea typeface="楷体_GB2312" panose="02010609030101010101" pitchFamily="49" charset="-122"/>
              </a:rPr>
              <a:t>制度变迁方式之间的对立统一关系是由个人或集团之间的利益偏好与选择的对立统一关系决定的。这是因为</a:t>
            </a:r>
            <a:r>
              <a:rPr lang="en-US" altLang="zh-CN" sz="2800" b="1" dirty="0">
                <a:latin typeface="楷体_GB2312" panose="02010609030101010101" pitchFamily="49" charset="-122"/>
                <a:ea typeface="楷体_GB2312" panose="02010609030101010101" pitchFamily="49" charset="-122"/>
              </a:rPr>
              <a:t>:</a:t>
            </a:r>
          </a:p>
          <a:p>
            <a:pPr>
              <a:lnSpc>
                <a:spcPct val="120000"/>
              </a:lnSpc>
            </a:pPr>
            <a:r>
              <a:rPr lang="en-US" altLang="zh-CN" sz="2800" b="1" dirty="0">
                <a:latin typeface="楷体_GB2312" panose="02010609030101010101" pitchFamily="49" charset="-122"/>
                <a:ea typeface="楷体_GB2312" panose="02010609030101010101" pitchFamily="49" charset="-122"/>
              </a:rPr>
              <a:t>(1)</a:t>
            </a:r>
            <a:r>
              <a:rPr lang="zh-CN" altLang="en-US" sz="2800" b="1" dirty="0">
                <a:latin typeface="楷体_GB2312" panose="02010609030101010101" pitchFamily="49" charset="-122"/>
                <a:ea typeface="楷体_GB2312" panose="02010609030101010101" pitchFamily="49" charset="-122"/>
              </a:rPr>
              <a:t>制度变迁是存在获利机会的。 </a:t>
            </a:r>
          </a:p>
          <a:p>
            <a:pPr>
              <a:lnSpc>
                <a:spcPct val="120000"/>
              </a:lnSpc>
            </a:pPr>
            <a:r>
              <a:rPr lang="en-US" altLang="zh-CN" sz="2800" b="1" dirty="0">
                <a:latin typeface="楷体_GB2312" panose="02010609030101010101" pitchFamily="49" charset="-122"/>
                <a:ea typeface="楷体_GB2312" panose="02010609030101010101" pitchFamily="49" charset="-122"/>
              </a:rPr>
              <a:t>(2)</a:t>
            </a:r>
            <a:r>
              <a:rPr lang="zh-CN" altLang="en-US" sz="2800" b="1" dirty="0">
                <a:latin typeface="楷体_GB2312" panose="02010609030101010101" pitchFamily="49" charset="-122"/>
                <a:ea typeface="楷体_GB2312" panose="02010609030101010101" pitchFamily="49" charset="-122"/>
              </a:rPr>
              <a:t>个人或集团有明显的利益偏好。 </a:t>
            </a:r>
          </a:p>
          <a:p>
            <a:pPr>
              <a:lnSpc>
                <a:spcPct val="120000"/>
              </a:lnSpc>
            </a:pPr>
            <a:r>
              <a:rPr lang="en-US" altLang="zh-CN" sz="2800" b="1" dirty="0">
                <a:latin typeface="楷体_GB2312" panose="02010609030101010101" pitchFamily="49" charset="-122"/>
                <a:ea typeface="楷体_GB2312" panose="02010609030101010101" pitchFamily="49" charset="-122"/>
              </a:rPr>
              <a:t>(3)</a:t>
            </a:r>
            <a:r>
              <a:rPr lang="zh-CN" altLang="en-US" sz="2800" b="1" dirty="0">
                <a:latin typeface="楷体_GB2312" panose="02010609030101010101" pitchFamily="49" charset="-122"/>
                <a:ea typeface="楷体_GB2312" panose="02010609030101010101" pitchFamily="49" charset="-122"/>
              </a:rPr>
              <a:t>个人或集团的利益偏好是通过制度安排以及结局的结构来决定策略或选择的。 </a:t>
            </a:r>
          </a:p>
        </p:txBody>
      </p:sp>
    </p:spTree>
    <p:extLst>
      <p:ext uri="{BB962C8B-B14F-4D97-AF65-F5344CB8AC3E}">
        <p14:creationId xmlns:p14="http://schemas.microsoft.com/office/powerpoint/2010/main" val="23213725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733806" y="548680"/>
            <a:ext cx="3892412" cy="156966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9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谢谢！</a:t>
            </a:r>
            <a:endParaRPr lang="zh-CN" altLang="en-US" sz="9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标题 1"/>
          <p:cNvSpPr txBox="1">
            <a:spLocks/>
          </p:cNvSpPr>
          <p:nvPr/>
        </p:nvSpPr>
        <p:spPr bwMode="auto">
          <a:xfrm>
            <a:off x="755576" y="3631026"/>
            <a:ext cx="7848872"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3600" b="1" dirty="0" smtClean="0">
                <a:latin typeface="仿宋_GB2312" pitchFamily="49" charset="-122"/>
                <a:ea typeface="仿宋_GB2312" pitchFamily="49" charset="-122"/>
              </a:rPr>
              <a:t>推荐阅读：</a:t>
            </a:r>
            <a:r>
              <a:rPr lang="en-US" altLang="zh-CN" sz="3600" b="1" dirty="0" smtClean="0">
                <a:latin typeface="仿宋_GB2312" pitchFamily="49" charset="-122"/>
                <a:ea typeface="仿宋_GB2312" pitchFamily="49" charset="-122"/>
              </a:rPr>
              <a:t>《</a:t>
            </a:r>
            <a:r>
              <a:rPr lang="zh-CN" altLang="en-US" sz="3600" b="1" dirty="0">
                <a:latin typeface="仿宋_GB2312" pitchFamily="49" charset="-122"/>
                <a:ea typeface="仿宋_GB2312" pitchFamily="49" charset="-122"/>
              </a:rPr>
              <a:t>我国制度变迁方式转换的三阶段</a:t>
            </a:r>
            <a:r>
              <a:rPr lang="zh-CN" altLang="en-US" sz="3600" b="1" dirty="0" smtClean="0">
                <a:latin typeface="仿宋_GB2312" pitchFamily="49" charset="-122"/>
                <a:ea typeface="仿宋_GB2312" pitchFamily="49" charset="-122"/>
              </a:rPr>
              <a:t>论</a:t>
            </a:r>
            <a:r>
              <a:rPr lang="en-US" altLang="zh-CN" sz="3600" b="1" dirty="0" smtClean="0">
                <a:latin typeface="仿宋_GB2312" pitchFamily="49" charset="-122"/>
                <a:ea typeface="仿宋_GB2312" pitchFamily="49" charset="-122"/>
              </a:rPr>
              <a:t>—</a:t>
            </a:r>
            <a:r>
              <a:rPr lang="zh-CN" altLang="en-US" sz="3600" b="1" dirty="0" smtClean="0">
                <a:latin typeface="仿宋_GB2312" pitchFamily="49" charset="-122"/>
                <a:ea typeface="仿宋_GB2312" pitchFamily="49" charset="-122"/>
              </a:rPr>
              <a:t>兼</a:t>
            </a:r>
            <a:r>
              <a:rPr lang="zh-CN" altLang="en-US" sz="3600" b="1" dirty="0">
                <a:latin typeface="仿宋_GB2312" pitchFamily="49" charset="-122"/>
                <a:ea typeface="仿宋_GB2312" pitchFamily="49" charset="-122"/>
              </a:rPr>
              <a:t>论地方政府的制度创新</a:t>
            </a:r>
            <a:r>
              <a:rPr lang="zh-CN" altLang="en-US" sz="3600" b="1" dirty="0" smtClean="0">
                <a:latin typeface="仿宋_GB2312" pitchFamily="49" charset="-122"/>
                <a:ea typeface="仿宋_GB2312" pitchFamily="49" charset="-122"/>
              </a:rPr>
              <a:t>行为</a:t>
            </a:r>
            <a:r>
              <a:rPr lang="en-US" altLang="zh-CN" sz="3600" b="1" dirty="0" smtClean="0">
                <a:latin typeface="仿宋_GB2312" pitchFamily="49" charset="-122"/>
                <a:ea typeface="仿宋_GB2312" pitchFamily="49" charset="-122"/>
              </a:rPr>
              <a:t>》</a:t>
            </a:r>
            <a:r>
              <a:rPr lang="zh-CN" altLang="en-US" sz="3600" b="1" dirty="0" smtClean="0">
                <a:latin typeface="仿宋_GB2312" pitchFamily="49" charset="-122"/>
                <a:ea typeface="仿宋_GB2312" pitchFamily="49" charset="-122"/>
              </a:rPr>
              <a:t>（中国人民大学：杨瑞龙）</a:t>
            </a:r>
            <a:endParaRPr lang="zh-CN" altLang="en-US" sz="3600" b="1" dirty="0">
              <a:latin typeface="仿宋_GB2312" pitchFamily="49" charset="-122"/>
              <a:ea typeface="仿宋_GB2312" pitchFamily="49" charset="-122"/>
            </a:endParaRPr>
          </a:p>
        </p:txBody>
      </p:sp>
      <p:sp>
        <p:nvSpPr>
          <p:cNvPr id="6" name="标题 1"/>
          <p:cNvSpPr txBox="1">
            <a:spLocks/>
          </p:cNvSpPr>
          <p:nvPr/>
        </p:nvSpPr>
        <p:spPr bwMode="auto">
          <a:xfrm>
            <a:off x="611560" y="2118340"/>
            <a:ext cx="7848872" cy="1512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3600" b="1" dirty="0" smtClean="0">
                <a:latin typeface="仿宋_GB2312" pitchFamily="49" charset="-122"/>
                <a:ea typeface="仿宋_GB2312" pitchFamily="49" charset="-122"/>
              </a:rPr>
              <a:t>课堂作业：如何通过制度创新</a:t>
            </a:r>
            <a:r>
              <a:rPr lang="zh-CN" altLang="en-US" sz="3600" b="1" dirty="0" smtClean="0">
                <a:latin typeface="仿宋_GB2312" pitchFamily="49" charset="-122"/>
                <a:ea typeface="仿宋_GB2312" pitchFamily="49" charset="-122"/>
              </a:rPr>
              <a:t>来</a:t>
            </a:r>
            <a:r>
              <a:rPr lang="zh-CN" altLang="en-US" sz="3600" b="1" dirty="0" smtClean="0">
                <a:latin typeface="仿宋_GB2312" pitchFamily="49" charset="-122"/>
                <a:ea typeface="仿宋_GB2312" pitchFamily="49" charset="-122"/>
              </a:rPr>
              <a:t>解决我国的“卡脖子”技术难题</a:t>
            </a:r>
            <a:endParaRPr lang="zh-CN" altLang="en-US" sz="3600" b="1" dirty="0">
              <a:latin typeface="仿宋_GB2312" pitchFamily="49" charset="-122"/>
              <a:ea typeface="仿宋_GB2312" pitchFamily="49" charset="-122"/>
            </a:endParaRPr>
          </a:p>
        </p:txBody>
      </p:sp>
    </p:spTree>
    <p:extLst>
      <p:ext uri="{BB962C8B-B14F-4D97-AF65-F5344CB8AC3E}">
        <p14:creationId xmlns:p14="http://schemas.microsoft.com/office/powerpoint/2010/main" val="4256941429"/>
      </p:ext>
    </p:extLst>
  </p:cSld>
  <p:clrMapOvr>
    <a:masterClrMapping/>
  </p:clrMapOvr>
  <p:timing>
    <p:tnLst>
      <p:par>
        <p:cTn id="1" dur="indefinite" restart="never" nodeType="tmRoot"/>
      </p:par>
    </p:tnLst>
  </p:timing>
</p:sld>
</file>

<file path=ppt/theme/theme1.xml><?xml version="1.0" encoding="utf-8"?>
<a:theme xmlns:a="http://schemas.openxmlformats.org/drawingml/2006/main" name="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봄IIB"/>
        <a:ea typeface="-봄IIB"/>
        <a:cs typeface=""/>
      </a:majorFont>
      <a:minorFont>
        <a:latin typeface="-봄IIM"/>
        <a:ea typeface="-봄I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Gulim" pitchFamily="34" charset="-127"/>
            <a:ea typeface="Gulim" pitchFamily="34" charset="-127"/>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indent="0">
          <a:lnSpc>
            <a:spcPct val="80000"/>
          </a:lnSpc>
          <a:buNone/>
          <a:defRPr sz="2800" b="1" kern="0" dirty="0" smtClean="0">
            <a:solidFill>
              <a:srgbClr val="7030A0"/>
            </a:solidFill>
          </a:defRPr>
        </a:defPPr>
      </a:lstStyle>
    </a:tx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PPT助手_模板_756</Template>
  <TotalTime>2982</TotalTime>
  <Words>9143</Words>
  <Application>Microsoft Office PowerPoint</Application>
  <PresentationFormat>全屏显示(4:3)</PresentationFormat>
  <Paragraphs>363</Paragraphs>
  <Slides>82</Slides>
  <Notes>0</Notes>
  <HiddenSlides>0</HiddenSlides>
  <MMClips>0</MMClips>
  <ScaleCrop>false</ScaleCrop>
  <HeadingPairs>
    <vt:vector size="4" baseType="variant">
      <vt:variant>
        <vt:lpstr>主题</vt:lpstr>
      </vt:variant>
      <vt:variant>
        <vt:i4>1</vt:i4>
      </vt:variant>
      <vt:variant>
        <vt:lpstr>幻灯片标题</vt:lpstr>
      </vt:variant>
      <vt:variant>
        <vt:i4>82</vt:i4>
      </vt:variant>
    </vt:vector>
  </HeadingPairs>
  <TitlesOfParts>
    <vt:vector size="83" baseType="lpstr">
      <vt:lpstr>기본 디자인</vt:lpstr>
      <vt:lpstr>第四章 制度创新原理</vt:lpstr>
      <vt:lpstr>授课内容</vt:lpstr>
      <vt:lpstr>案例：新中国最成功的一次制度创新——         家庭联产承包责任制的确立</vt:lpstr>
      <vt:lpstr>案例：新中国最成功的一次制度创新——         家庭联产承包责任制的确立</vt:lpstr>
      <vt:lpstr>案例：新中国最成功的一次制度创新——         家庭联产承包责任制的确立</vt:lpstr>
      <vt:lpstr>案例：新中国最成功的一次制度创新——         家庭联产承包责任制的确立</vt:lpstr>
      <vt:lpstr>案例：新中国最成功的一次制度创新——         家庭联产承包责任制的确立</vt:lpstr>
      <vt:lpstr>案例：新中国最成功的一次制度创新——         家庭联产承包责任制的确立</vt:lpstr>
      <vt:lpstr>案例：新中国最成功的一次制度创新——         家庭联产承包责任制的确立</vt:lpstr>
      <vt:lpstr>案例：新中国最成功的一次制度创新——         家庭联产承包责任制的确立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3.1制度供需分析的理论框架</vt:lpstr>
      <vt:lpstr>3.1制度供需分析的理论框架</vt:lpstr>
      <vt:lpstr>3.2制度需求的含义</vt:lpstr>
      <vt:lpstr>3.3制度需求的影响因素</vt:lpstr>
      <vt:lpstr>3.3.1要素和产品相对价格的长期变动</vt:lpstr>
      <vt:lpstr>3.3.1要素和产品相对价格的长期变动</vt:lpstr>
      <vt:lpstr>3.3.1要素和产品相对价格的长期变动</vt:lpstr>
      <vt:lpstr>3.3.2技术进步 </vt:lpstr>
      <vt:lpstr>PowerPoint 演示文稿</vt:lpstr>
      <vt:lpstr>PowerPoint 演示文稿</vt:lpstr>
      <vt:lpstr>PowerPoint 演示文稿</vt:lpstr>
      <vt:lpstr>制度需求案例：李昌平—我向总理说实话</vt:lpstr>
      <vt:lpstr>3.4制度供给的含义</vt:lpstr>
      <vt:lpstr>PowerPoint 演示文稿</vt:lpstr>
      <vt:lpstr>PowerPoint 演示文稿</vt:lpstr>
      <vt:lpstr>PowerPoint 演示文稿</vt:lpstr>
      <vt:lpstr>PowerPoint 演示文稿</vt:lpstr>
      <vt:lpstr>PowerPoint 演示文稿</vt:lpstr>
      <vt:lpstr>PowerPoint 演示文稿</vt:lpstr>
      <vt:lpstr>制度供给案例：农业新政</vt:lpstr>
      <vt:lpstr>制度供需分析综合案例：中国电力体制改革</vt:lpstr>
      <vt:lpstr>情景1:国发[2002]5号文件发布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情景3：中美电价比较</vt:lpstr>
      <vt:lpstr>PowerPoint 演示文稿</vt:lpstr>
      <vt:lpstr>PowerPoint 演示文稿</vt:lpstr>
      <vt:lpstr>PowerPoint 演示文稿</vt:lpstr>
      <vt:lpstr>制度均衡案例：中国经济新常态</vt:lpstr>
      <vt:lpstr>制度均衡案例：中国经济新常态</vt:lpstr>
      <vt:lpstr>制度均衡案例：中国经济新常态</vt:lpstr>
      <vt:lpstr>PowerPoint 演示文稿</vt:lpstr>
      <vt:lpstr>制度均衡案例：中国经济新常态</vt:lpstr>
      <vt:lpstr>PowerPoint 演示文稿</vt:lpstr>
      <vt:lpstr>PowerPoint 演示文稿</vt:lpstr>
      <vt:lpstr>诺思等对制度变迁一般过程的分析 </vt:lpstr>
      <vt:lpstr>案例：1991年苏联解体！</vt:lpstr>
      <vt:lpstr>几种现象：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创新经济学</dc:title>
  <dc:creator>zc</dc:creator>
  <cp:lastModifiedBy>zc</cp:lastModifiedBy>
  <cp:revision>359</cp:revision>
  <cp:lastPrinted>2016-08-29T03:01:01Z</cp:lastPrinted>
  <dcterms:created xsi:type="dcterms:W3CDTF">2016-08-24T00:56:32Z</dcterms:created>
  <dcterms:modified xsi:type="dcterms:W3CDTF">2019-11-05T03:14:39Z</dcterms:modified>
</cp:coreProperties>
</file>