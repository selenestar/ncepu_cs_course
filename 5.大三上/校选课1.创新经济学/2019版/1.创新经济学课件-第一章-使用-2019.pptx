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6"/>
  </p:notesMasterIdLst>
  <p:handoutMasterIdLst>
    <p:handoutMasterId r:id="rId47"/>
  </p:handoutMasterIdLst>
  <p:sldIdLst>
    <p:sldId id="256" r:id="rId2"/>
    <p:sldId id="257" r:id="rId3"/>
    <p:sldId id="334" r:id="rId4"/>
    <p:sldId id="335" r:id="rId5"/>
    <p:sldId id="336" r:id="rId6"/>
    <p:sldId id="337" r:id="rId7"/>
    <p:sldId id="338" r:id="rId8"/>
    <p:sldId id="339" r:id="rId9"/>
    <p:sldId id="351" r:id="rId10"/>
    <p:sldId id="352" r:id="rId11"/>
    <p:sldId id="353" r:id="rId12"/>
    <p:sldId id="354" r:id="rId13"/>
    <p:sldId id="355" r:id="rId14"/>
    <p:sldId id="356" r:id="rId15"/>
    <p:sldId id="357" r:id="rId16"/>
    <p:sldId id="358" r:id="rId17"/>
    <p:sldId id="359" r:id="rId18"/>
    <p:sldId id="360" r:id="rId19"/>
    <p:sldId id="361" r:id="rId20"/>
    <p:sldId id="340" r:id="rId21"/>
    <p:sldId id="341" r:id="rId22"/>
    <p:sldId id="342" r:id="rId23"/>
    <p:sldId id="343" r:id="rId24"/>
    <p:sldId id="344" r:id="rId25"/>
    <p:sldId id="345" r:id="rId26"/>
    <p:sldId id="346" r:id="rId27"/>
    <p:sldId id="347" r:id="rId28"/>
    <p:sldId id="348" r:id="rId29"/>
    <p:sldId id="323" r:id="rId30"/>
    <p:sldId id="350" r:id="rId31"/>
    <p:sldId id="362" r:id="rId32"/>
    <p:sldId id="363" r:id="rId33"/>
    <p:sldId id="364" r:id="rId34"/>
    <p:sldId id="309" r:id="rId35"/>
    <p:sldId id="310" r:id="rId36"/>
    <p:sldId id="311" r:id="rId37"/>
    <p:sldId id="312" r:id="rId38"/>
    <p:sldId id="313" r:id="rId39"/>
    <p:sldId id="314" r:id="rId40"/>
    <p:sldId id="315" r:id="rId41"/>
    <p:sldId id="316" r:id="rId42"/>
    <p:sldId id="366" r:id="rId43"/>
    <p:sldId id="367" r:id="rId44"/>
    <p:sldId id="307"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3" d="100"/>
          <a:sy n="93" d="100"/>
        </p:scale>
        <p:origin x="-1314" y="-2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5E4265-6E92-4C77-B69C-DB9302A515BA}" type="datetimeFigureOut">
              <a:rPr lang="zh-CN" altLang="en-US" smtClean="0"/>
              <a:t>2019/9/3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733F285-1635-4301-95F1-6ACCA906CFE4}" type="slidenum">
              <a:rPr lang="zh-CN" altLang="en-US" smtClean="0"/>
              <a:t>‹#›</a:t>
            </a:fld>
            <a:endParaRPr lang="zh-CN" altLang="en-US"/>
          </a:p>
        </p:txBody>
      </p:sp>
    </p:spTree>
    <p:extLst>
      <p:ext uri="{BB962C8B-B14F-4D97-AF65-F5344CB8AC3E}">
        <p14:creationId xmlns:p14="http://schemas.microsoft.com/office/powerpoint/2010/main" val="7187639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EE589-DDF6-4A7C-9EFC-C66DFCD4DCC0}" type="datetimeFigureOut">
              <a:rPr lang="zh-CN" altLang="en-US" smtClean="0"/>
              <a:t>2019/9/3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3FFB66-EBF6-4C90-92E6-1213CF9D7981}" type="slidenum">
              <a:rPr lang="zh-CN" altLang="en-US" smtClean="0"/>
              <a:t>‹#›</a:t>
            </a:fld>
            <a:endParaRPr lang="zh-CN" altLang="en-US"/>
          </a:p>
        </p:txBody>
      </p:sp>
    </p:spTree>
    <p:extLst>
      <p:ext uri="{BB962C8B-B14F-4D97-AF65-F5344CB8AC3E}">
        <p14:creationId xmlns:p14="http://schemas.microsoft.com/office/powerpoint/2010/main" val="24890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38" descr="배경화면6 copy"/>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1026"/>
          <p:cNvSpPr>
            <a:spLocks noGrp="1" noChangeArrowheads="1"/>
          </p:cNvSpPr>
          <p:nvPr>
            <p:ph type="ctrTitle"/>
          </p:nvPr>
        </p:nvSpPr>
        <p:spPr>
          <a:xfrm>
            <a:off x="0" y="3352800"/>
            <a:ext cx="7315200" cy="1219200"/>
          </a:xfrm>
        </p:spPr>
        <p:txBody>
          <a:bodyPr/>
          <a:lstStyle>
            <a:lvl1pPr algn="r">
              <a:defRPr sz="6000"/>
            </a:lvl1pPr>
          </a:lstStyle>
          <a:p>
            <a:pPr lvl="0"/>
            <a:r>
              <a:rPr lang="zh-CN" altLang="en-US" noProof="0" smtClean="0"/>
              <a:t>单击此处编辑母版标题样式</a:t>
            </a:r>
            <a:endParaRPr lang="ko-KR" altLang="en-US" noProof="0" smtClean="0"/>
          </a:p>
        </p:txBody>
      </p:sp>
      <p:sp>
        <p:nvSpPr>
          <p:cNvPr id="3075" name="Rectangle 1027"/>
          <p:cNvSpPr>
            <a:spLocks noGrp="1" noChangeArrowheads="1"/>
          </p:cNvSpPr>
          <p:nvPr>
            <p:ph type="subTitle" idx="1"/>
          </p:nvPr>
        </p:nvSpPr>
        <p:spPr>
          <a:xfrm>
            <a:off x="1588" y="4654550"/>
            <a:ext cx="7315200" cy="755650"/>
          </a:xfrm>
        </p:spPr>
        <p:txBody>
          <a:bodyPr/>
          <a:lstStyle>
            <a:lvl1pPr marL="0" indent="0" algn="r">
              <a:spcBef>
                <a:spcPct val="50000"/>
              </a:spcBef>
              <a:buFontTx/>
              <a:buNone/>
              <a:defRPr sz="3600" b="1">
                <a:solidFill>
                  <a:srgbClr val="660033"/>
                </a:solidFill>
              </a:defRPr>
            </a:lvl1pPr>
          </a:lstStyle>
          <a:p>
            <a:pPr lvl="0"/>
            <a:r>
              <a:rPr lang="zh-CN" altLang="en-US" noProof="0" smtClean="0"/>
              <a:t>单击此处编辑母版副标题样式</a:t>
            </a:r>
            <a:endParaRPr lang="ko-KR" altLang="en-US" noProof="0" smtClean="0"/>
          </a:p>
        </p:txBody>
      </p:sp>
      <p:sp>
        <p:nvSpPr>
          <p:cNvPr id="5" name="Rectangle 1028"/>
          <p:cNvSpPr>
            <a:spLocks noGrp="1" noChangeArrowheads="1"/>
          </p:cNvSpPr>
          <p:nvPr>
            <p:ph type="dt" sz="half" idx="10"/>
          </p:nvPr>
        </p:nvSpPr>
        <p:spPr/>
        <p:txBody>
          <a:bodyPr/>
          <a:lstStyle>
            <a:lvl1pPr>
              <a:defRPr/>
            </a:lvl1pPr>
          </a:lstStyle>
          <a:p>
            <a:fld id="{530820CF-B880-4189-942D-D702A7CBA730}" type="datetimeFigureOut">
              <a:rPr lang="zh-CN" altLang="en-US" smtClean="0"/>
              <a:t>2019/9/3</a:t>
            </a:fld>
            <a:endParaRPr lang="zh-CN" altLang="en-US"/>
          </a:p>
        </p:txBody>
      </p:sp>
      <p:sp>
        <p:nvSpPr>
          <p:cNvPr id="6" name="Rectangle 1029"/>
          <p:cNvSpPr>
            <a:spLocks noGrp="1" noChangeArrowheads="1"/>
          </p:cNvSpPr>
          <p:nvPr>
            <p:ph type="ftr" sz="quarter" idx="11"/>
          </p:nvPr>
        </p:nvSpPr>
        <p:spPr/>
        <p:txBody>
          <a:bodyPr/>
          <a:lstStyle>
            <a:lvl1pPr>
              <a:defRPr/>
            </a:lvl1pPr>
          </a:lstStyle>
          <a:p>
            <a:endParaRPr lang="zh-CN" altLang="en-US"/>
          </a:p>
        </p:txBody>
      </p:sp>
      <p:sp>
        <p:nvSpPr>
          <p:cNvPr id="7" name="Rectangle 1030"/>
          <p:cNvSpPr>
            <a:spLocks noGrp="1" noChangeArrowheads="1"/>
          </p:cNvSpPr>
          <p:nvPr>
            <p:ph type="sldNum" sz="quarter" idx="12"/>
          </p:nvPr>
        </p:nvSpPr>
        <p:spPr>
          <a:xfrm>
            <a:off x="6934200" y="6248400"/>
            <a:ext cx="1905000" cy="457200"/>
          </a:xfrm>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3728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0294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27876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01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9152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1744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054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3" name="Rectangle 5"/>
          <p:cNvSpPr>
            <a:spLocks noGrp="1" noChangeArrowheads="1"/>
          </p:cNvSpPr>
          <p:nvPr>
            <p:ph type="ftr" sz="quarter" idx="11"/>
          </p:nvPr>
        </p:nvSpPr>
        <p:spPr>
          <a:ln/>
        </p:spPr>
        <p:txBody>
          <a:bodyPr/>
          <a:lstStyle>
            <a:lvl1pPr>
              <a:defRPr/>
            </a:lvl1pPr>
          </a:lstStyle>
          <a:p>
            <a:endParaRPr lang="zh-CN" altLang="en-US"/>
          </a:p>
        </p:txBody>
      </p:sp>
      <p:sp>
        <p:nvSpPr>
          <p:cNvPr id="4"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8486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95253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7576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86029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457200"/>
            <a:ext cx="207645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457200"/>
            <a:ext cx="6076950" cy="5334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2019/9/3</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7963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202180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 descr="배경화면6(셋트2) copy"/>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381000" y="4572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8" name="Rectangle 3"/>
          <p:cNvSpPr>
            <a:spLocks noGrp="1" noChangeArrowheads="1"/>
          </p:cNvSpPr>
          <p:nvPr>
            <p:ph type="body" idx="1"/>
          </p:nvPr>
        </p:nvSpPr>
        <p:spPr bwMode="auto">
          <a:xfrm>
            <a:off x="381000" y="16764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latinLnBrk="1">
              <a:defRPr sz="1400">
                <a:solidFill>
                  <a:srgbClr val="660033"/>
                </a:solidFill>
                <a:latin typeface="+mn-lt"/>
                <a:ea typeface="+mn-ea"/>
              </a:defRPr>
            </a:lvl1pPr>
          </a:lstStyle>
          <a:p>
            <a:fld id="{530820CF-B880-4189-942D-D702A7CBA730}" type="datetimeFigureOut">
              <a:rPr lang="zh-CN" altLang="en-US" smtClean="0"/>
              <a:t>2019/9/3</a:t>
            </a:fld>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latinLnBrk="1">
              <a:defRPr sz="1400">
                <a:solidFill>
                  <a:srgbClr val="660033"/>
                </a:solidFill>
                <a:latin typeface="+mn-lt"/>
                <a:ea typeface="+mn-ea"/>
              </a:defRPr>
            </a:lvl1pPr>
          </a:lstStyle>
          <a:p>
            <a:endParaRPr lang="zh-CN" altLang="en-US"/>
          </a:p>
        </p:txBody>
      </p:sp>
      <p:sp>
        <p:nvSpPr>
          <p:cNvPr id="1030" name="Rectangle 6"/>
          <p:cNvSpPr>
            <a:spLocks noGrp="1" noChangeArrowheads="1"/>
          </p:cNvSpPr>
          <p:nvPr>
            <p:ph type="sldNum" sz="quarter" idx="4"/>
          </p:nvPr>
        </p:nvSpPr>
        <p:spPr bwMode="auto">
          <a:xfrm>
            <a:off x="6781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latinLnBrk="1">
              <a:defRPr sz="1400">
                <a:solidFill>
                  <a:srgbClr val="660033"/>
                </a:solidFill>
                <a:latin typeface="+mn-lt"/>
                <a:ea typeface="+mn-ea"/>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p:titleStyle>
    <p:body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55576" y="980728"/>
            <a:ext cx="7315200" cy="2160240"/>
          </a:xfrm>
        </p:spPr>
        <p:txBody>
          <a:bodyPr/>
          <a:lstStyle/>
          <a:p>
            <a:pPr algn="l"/>
            <a:r>
              <a:rPr lang="zh-CN" altLang="en-US" sz="8000" b="1" dirty="0" smtClean="0">
                <a:latin typeface="黑体" pitchFamily="49" charset="-122"/>
                <a:ea typeface="黑体" pitchFamily="49" charset="-122"/>
              </a:rPr>
              <a:t>创新经济学</a:t>
            </a:r>
            <a:endParaRPr lang="zh-CN" altLang="en-US" sz="8000" b="1" dirty="0">
              <a:latin typeface="黑体" pitchFamily="49" charset="-122"/>
              <a:ea typeface="黑体" pitchFamily="49" charset="-122"/>
            </a:endParaRPr>
          </a:p>
        </p:txBody>
      </p:sp>
      <p:sp>
        <p:nvSpPr>
          <p:cNvPr id="3" name="副标题 2"/>
          <p:cNvSpPr>
            <a:spLocks noGrp="1"/>
          </p:cNvSpPr>
          <p:nvPr>
            <p:ph type="subTitle" idx="1"/>
          </p:nvPr>
        </p:nvSpPr>
        <p:spPr>
          <a:xfrm>
            <a:off x="611560" y="4365104"/>
            <a:ext cx="5976664" cy="1584176"/>
          </a:xfrm>
        </p:spPr>
        <p:txBody>
          <a:bodyPr/>
          <a:lstStyle/>
          <a:p>
            <a:pPr algn="ctr"/>
            <a:r>
              <a:rPr lang="zh-CN" altLang="en-US" dirty="0" smtClean="0">
                <a:solidFill>
                  <a:srgbClr val="002060"/>
                </a:solidFill>
                <a:latin typeface="楷体_GB2312" pitchFamily="49" charset="-122"/>
                <a:ea typeface="楷体_GB2312" pitchFamily="49" charset="-122"/>
              </a:rPr>
              <a:t>檀勤良、张充</a:t>
            </a:r>
            <a:endParaRPr lang="zh-CN" altLang="en-US" dirty="0">
              <a:solidFill>
                <a:srgbClr val="002060"/>
              </a:solidFill>
              <a:latin typeface="楷体_GB2312" pitchFamily="49" charset="-122"/>
              <a:ea typeface="楷体_GB2312" pitchFamily="49" charset="-122"/>
            </a:endParaRPr>
          </a:p>
        </p:txBody>
      </p:sp>
    </p:spTree>
    <p:extLst>
      <p:ext uri="{BB962C8B-B14F-4D97-AF65-F5344CB8AC3E}">
        <p14:creationId xmlns:p14="http://schemas.microsoft.com/office/powerpoint/2010/main" val="243247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404664"/>
            <a:ext cx="5703168" cy="1143000"/>
          </a:xfrm>
          <a:solidFill>
            <a:srgbClr val="FFFF00"/>
          </a:solidFill>
          <a:ln>
            <a:solidFill>
              <a:srgbClr val="FFFF00"/>
            </a:solidFill>
          </a:ln>
        </p:spPr>
        <p:txBody>
          <a:bodyPr/>
          <a:lstStyle/>
          <a:p>
            <a:r>
              <a:rPr lang="zh-CN" altLang="en-US" b="1" dirty="0" smtClean="0">
                <a:latin typeface="黑体" pitchFamily="49" charset="-122"/>
                <a:ea typeface="黑体" pitchFamily="49" charset="-122"/>
              </a:rPr>
              <a:t>第一章 创新的概念</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611560" y="2060848"/>
            <a:ext cx="7503368" cy="3754760"/>
          </a:xfrm>
        </p:spPr>
        <p:txBody>
          <a:bodyPr/>
          <a:lstStyle/>
          <a:p>
            <a:pPr>
              <a:lnSpc>
                <a:spcPct val="150000"/>
              </a:lnSpc>
            </a:pPr>
            <a:r>
              <a:rPr lang="zh-CN" altLang="en-US" sz="3600" dirty="0" smtClean="0">
                <a:latin typeface="楷体_GB2312" pitchFamily="49" charset="-122"/>
                <a:ea typeface="楷体_GB2312" pitchFamily="49" charset="-122"/>
              </a:rPr>
              <a:t>经济思想史中的创新理论</a:t>
            </a:r>
            <a:endParaRPr lang="en-US" altLang="zh-CN" sz="3600" dirty="0" smtClean="0">
              <a:latin typeface="楷体_GB2312" pitchFamily="49" charset="-122"/>
              <a:ea typeface="楷体_GB2312" pitchFamily="49" charset="-122"/>
            </a:endParaRPr>
          </a:p>
          <a:p>
            <a:pPr>
              <a:lnSpc>
                <a:spcPct val="150000"/>
              </a:lnSpc>
            </a:pPr>
            <a:r>
              <a:rPr lang="zh-CN" altLang="en-US" sz="3600" dirty="0" smtClean="0">
                <a:latin typeface="楷体_GB2312" pitchFamily="49" charset="-122"/>
                <a:ea typeface="楷体_GB2312" pitchFamily="49" charset="-122"/>
              </a:rPr>
              <a:t>创新的概念</a:t>
            </a:r>
            <a:endParaRPr lang="en-US" altLang="zh-CN" sz="3600" dirty="0" smtClean="0">
              <a:latin typeface="楷体_GB2312" pitchFamily="49" charset="-122"/>
              <a:ea typeface="楷体_GB2312" pitchFamily="49" charset="-122"/>
            </a:endParaRPr>
          </a:p>
          <a:p>
            <a:pPr>
              <a:lnSpc>
                <a:spcPct val="150000"/>
              </a:lnSpc>
            </a:pPr>
            <a:r>
              <a:rPr lang="zh-CN" altLang="en-US" sz="3600" dirty="0" smtClean="0">
                <a:latin typeface="楷体_GB2312" pitchFamily="49" charset="-122"/>
                <a:ea typeface="楷体_GB2312" pitchFamily="49" charset="-122"/>
              </a:rPr>
              <a:t>创新对我国经济发展的作用与意义</a:t>
            </a:r>
            <a:endParaRPr lang="en-US" altLang="zh-CN" sz="3600" dirty="0" smtClean="0">
              <a:latin typeface="楷体_GB2312" pitchFamily="49" charset="-122"/>
              <a:ea typeface="楷体_GB2312" pitchFamily="49" charset="-122"/>
            </a:endParaRPr>
          </a:p>
          <a:p>
            <a:endParaRPr lang="zh-CN" altLang="en-US" dirty="0"/>
          </a:p>
        </p:txBody>
      </p:sp>
    </p:spTree>
    <p:extLst>
      <p:ext uri="{BB962C8B-B14F-4D97-AF65-F5344CB8AC3E}">
        <p14:creationId xmlns:p14="http://schemas.microsoft.com/office/powerpoint/2010/main" val="3286258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457200"/>
            <a:ext cx="8367464" cy="1143000"/>
          </a:xfrm>
          <a:solidFill>
            <a:srgbClr val="FFFF00"/>
          </a:solidFill>
        </p:spPr>
        <p:txBody>
          <a:bodyPr/>
          <a:lstStyle/>
          <a:p>
            <a:r>
              <a:rPr lang="zh-CN" altLang="en-US" sz="4800" b="1" dirty="0" smtClean="0">
                <a:latin typeface="黑体" pitchFamily="49" charset="-122"/>
                <a:ea typeface="黑体" pitchFamily="49" charset="-122"/>
              </a:rPr>
              <a:t>一、经济思想史中的创新理论</a:t>
            </a:r>
            <a:endParaRPr lang="zh-CN" altLang="en-US" sz="4800" b="1" dirty="0">
              <a:latin typeface="黑体" pitchFamily="49" charset="-122"/>
              <a:ea typeface="黑体" pitchFamily="49" charset="-122"/>
            </a:endParaRPr>
          </a:p>
        </p:txBody>
      </p:sp>
      <p:sp>
        <p:nvSpPr>
          <p:cNvPr id="3" name="文本占位符 2"/>
          <p:cNvSpPr>
            <a:spLocks noGrp="1"/>
          </p:cNvSpPr>
          <p:nvPr>
            <p:ph type="body" idx="1"/>
          </p:nvPr>
        </p:nvSpPr>
        <p:spPr>
          <a:xfrm>
            <a:off x="381000" y="1676400"/>
            <a:ext cx="8305800" cy="3408784"/>
          </a:xfrm>
        </p:spPr>
        <p:txBody>
          <a:bodyPr/>
          <a:lstStyle/>
          <a:p>
            <a:r>
              <a:rPr lang="zh-CN" altLang="en-US" sz="2000" b="1" dirty="0" smtClean="0"/>
              <a:t>亚当</a:t>
            </a:r>
            <a:r>
              <a:rPr lang="en-US" altLang="zh-CN" sz="2000" b="1" dirty="0" smtClean="0"/>
              <a:t>·</a:t>
            </a:r>
            <a:r>
              <a:rPr lang="zh-CN" altLang="en-US" sz="2000" b="1" dirty="0" smtClean="0"/>
              <a:t>斯密：</a:t>
            </a:r>
            <a:r>
              <a:rPr lang="zh-CN" altLang="en-US" sz="2000" dirty="0" smtClean="0"/>
              <a:t>发明和技术变革都是创造国民财富的重要因素，但是劳动分工而非发明本身，才是创造国民财富的主要驱动力量，“简化和节省劳动所有那些机械发明，看起来也是起源于劳动分工”。（</a:t>
            </a:r>
            <a:r>
              <a:rPr lang="en-US" altLang="zh-CN" sz="2000" dirty="0" smtClean="0"/>
              <a:t>1776</a:t>
            </a:r>
            <a:r>
              <a:rPr lang="en-US" altLang="zh-CN" sz="2000" dirty="0"/>
              <a:t>/</a:t>
            </a:r>
            <a:r>
              <a:rPr lang="en-US" altLang="zh-CN" sz="2000" dirty="0" smtClean="0"/>
              <a:t>1904</a:t>
            </a:r>
            <a:r>
              <a:rPr lang="zh-CN" altLang="en-US" sz="2000" dirty="0" smtClean="0"/>
              <a:t>）</a:t>
            </a:r>
            <a:endParaRPr lang="en-US" altLang="zh-CN" sz="2000" dirty="0" smtClean="0"/>
          </a:p>
          <a:p>
            <a:r>
              <a:rPr lang="zh-CN" altLang="en-US" sz="2000" b="1" dirty="0"/>
              <a:t>卡</a:t>
            </a:r>
            <a:r>
              <a:rPr lang="zh-CN" altLang="en-US" sz="2000" b="1" dirty="0" smtClean="0"/>
              <a:t>尔</a:t>
            </a:r>
            <a:r>
              <a:rPr lang="en-US" altLang="zh-CN" sz="2000" b="1" dirty="0" smtClean="0"/>
              <a:t>·</a:t>
            </a:r>
            <a:r>
              <a:rPr lang="zh-CN" altLang="en-US" sz="2000" b="1" dirty="0" smtClean="0"/>
              <a:t>马克思：</a:t>
            </a:r>
            <a:r>
              <a:rPr lang="zh-CN" altLang="en-US" sz="2000" dirty="0" smtClean="0"/>
              <a:t>“资产阶级除非对生产工具，对生产关系，从而对全部社会关系不断地进行革命，否则就不能生存下去。”（</a:t>
            </a:r>
            <a:r>
              <a:rPr lang="en-US" altLang="zh-CN" sz="2000" dirty="0" smtClean="0"/>
              <a:t>1848</a:t>
            </a:r>
            <a:r>
              <a:rPr lang="zh-CN" altLang="en-US" sz="2000" dirty="0" smtClean="0"/>
              <a:t>）</a:t>
            </a:r>
            <a:endParaRPr lang="en-US" altLang="zh-CN" sz="2000" dirty="0" smtClean="0"/>
          </a:p>
          <a:p>
            <a:r>
              <a:rPr lang="zh-CN" altLang="en-US" sz="2000" b="1" dirty="0" smtClean="0"/>
              <a:t>阿尔弗雷德</a:t>
            </a:r>
            <a:r>
              <a:rPr lang="en-US" altLang="zh-CN" sz="2000" b="1" dirty="0" smtClean="0"/>
              <a:t>·</a:t>
            </a:r>
            <a:r>
              <a:rPr lang="zh-CN" altLang="en-US" sz="2000" b="1" dirty="0" smtClean="0"/>
              <a:t>马歇尔：</a:t>
            </a:r>
            <a:r>
              <a:rPr lang="zh-CN" altLang="en-US" sz="2000" dirty="0" smtClean="0"/>
              <a:t>“欲望或希望的满足不过是向更新的追求前进了一步而已，在前进的每一阶段中，人类注定是要设计和发明、从事新的事业，而在完成这些新事业之后，还要以新的精力从事其他新的事业。” （</a:t>
            </a:r>
            <a:r>
              <a:rPr lang="en-US" altLang="zh-CN" sz="2000" dirty="0" smtClean="0"/>
              <a:t>1920</a:t>
            </a:r>
            <a:r>
              <a:rPr lang="zh-CN" altLang="en-US" sz="2000" dirty="0" smtClean="0"/>
              <a:t>）</a:t>
            </a:r>
          </a:p>
          <a:p>
            <a:endParaRPr lang="zh-CN" altLang="en-US" dirty="0"/>
          </a:p>
        </p:txBody>
      </p:sp>
      <p:sp>
        <p:nvSpPr>
          <p:cNvPr id="4" name="AutoShape 4" descr="http://img3.imgtn.bdimg.com/it/u=3099134061,2470945048&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5013176"/>
            <a:ext cx="1752129" cy="185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4770739"/>
            <a:ext cx="161925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4770739"/>
            <a:ext cx="2390775" cy="208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34851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367464" cy="936104"/>
          </a:xfrm>
          <a:solidFill>
            <a:srgbClr val="FFFF00"/>
          </a:solidFill>
        </p:spPr>
        <p:txBody>
          <a:bodyPr/>
          <a:lstStyle/>
          <a:p>
            <a:r>
              <a:rPr lang="zh-CN" altLang="en-US" sz="4800" b="1" dirty="0" smtClean="0">
                <a:latin typeface="黑体" pitchFamily="49" charset="-122"/>
                <a:ea typeface="黑体" pitchFamily="49" charset="-122"/>
              </a:rPr>
              <a:t>一、经济思想史中的创新理论</a:t>
            </a:r>
            <a:endParaRPr lang="zh-CN" altLang="en-US" sz="4800" b="1" dirty="0">
              <a:latin typeface="黑体" pitchFamily="49" charset="-122"/>
              <a:ea typeface="黑体" pitchFamily="49" charset="-122"/>
            </a:endParaRPr>
          </a:p>
        </p:txBody>
      </p:sp>
      <p:sp>
        <p:nvSpPr>
          <p:cNvPr id="3" name="文本占位符 2"/>
          <p:cNvSpPr>
            <a:spLocks noGrp="1"/>
          </p:cNvSpPr>
          <p:nvPr>
            <p:ph type="body" idx="1"/>
          </p:nvPr>
        </p:nvSpPr>
        <p:spPr>
          <a:xfrm>
            <a:off x="323528" y="1268760"/>
            <a:ext cx="8655496" cy="3384376"/>
          </a:xfrm>
        </p:spPr>
        <p:txBody>
          <a:bodyPr/>
          <a:lstStyle/>
          <a:p>
            <a:r>
              <a:rPr lang="zh-CN" altLang="en-US" sz="2000" b="1" dirty="0" smtClean="0"/>
              <a:t>罗伯特</a:t>
            </a:r>
            <a:r>
              <a:rPr lang="en-US" altLang="zh-CN" sz="2000" b="1" dirty="0" smtClean="0"/>
              <a:t>·</a:t>
            </a:r>
            <a:r>
              <a:rPr lang="zh-CN" altLang="en-US" sz="2000" b="1" dirty="0" smtClean="0"/>
              <a:t>索洛：</a:t>
            </a:r>
            <a:r>
              <a:rPr lang="zh-CN" altLang="en-US" sz="2000" dirty="0" smtClean="0"/>
              <a:t>索洛应用柯布道格拉斯生产函数，开创“索洛余值”的计量方法，测度技术进步对于经济增长的贡献，并因此获得诺贝尔经济学奖，开创定量测度技术进步的先河。</a:t>
            </a:r>
            <a:endParaRPr lang="en-US" altLang="zh-CN" sz="2000" dirty="0" smtClean="0"/>
          </a:p>
          <a:p>
            <a:r>
              <a:rPr lang="zh-CN" altLang="en-US" sz="2000" b="1" dirty="0" smtClean="0"/>
              <a:t>理查德</a:t>
            </a:r>
            <a:r>
              <a:rPr lang="en-US" altLang="zh-CN" sz="2000" b="1" dirty="0" smtClean="0"/>
              <a:t>·</a:t>
            </a:r>
            <a:r>
              <a:rPr lang="zh-CN" altLang="en-US" sz="2000" b="1" dirty="0" smtClean="0"/>
              <a:t>纳尔逊：</a:t>
            </a:r>
            <a:r>
              <a:rPr lang="zh-CN" altLang="en-US" sz="2000" dirty="0" smtClean="0"/>
              <a:t>纳尔逊奠基</a:t>
            </a:r>
            <a:r>
              <a:rPr lang="en-US" altLang="zh-CN" sz="2000" dirty="0" smtClean="0"/>
              <a:t>《</a:t>
            </a:r>
            <a:r>
              <a:rPr lang="zh-CN" altLang="en-US" sz="2000" dirty="0" smtClean="0"/>
              <a:t>演化经济学</a:t>
            </a:r>
            <a:r>
              <a:rPr lang="en-US" altLang="zh-CN" sz="2000" dirty="0" smtClean="0"/>
              <a:t>》</a:t>
            </a:r>
            <a:r>
              <a:rPr lang="zh-CN" altLang="en-US" sz="2000" dirty="0" smtClean="0"/>
              <a:t>，认为创新是一场持久的暴风，可利用演化的生物隐喻来理解创新和经济是如何共同演化的。“创新需要惯例的变革。” （</a:t>
            </a:r>
            <a:r>
              <a:rPr lang="en-US" altLang="zh-CN" sz="2000" dirty="0" smtClean="0"/>
              <a:t>1982</a:t>
            </a:r>
            <a:r>
              <a:rPr lang="zh-CN" altLang="en-US" sz="2000" dirty="0" smtClean="0"/>
              <a:t>）</a:t>
            </a:r>
            <a:endParaRPr lang="en-US" altLang="zh-CN" sz="2000" dirty="0" smtClean="0"/>
          </a:p>
          <a:p>
            <a:r>
              <a:rPr lang="zh-CN" altLang="en-US" sz="2000" b="1" dirty="0"/>
              <a:t>保</a:t>
            </a:r>
            <a:r>
              <a:rPr lang="zh-CN" altLang="en-US" sz="2000" b="1" dirty="0" smtClean="0"/>
              <a:t>罗</a:t>
            </a:r>
            <a:r>
              <a:rPr lang="en-US" altLang="zh-CN" sz="2000" b="1" dirty="0" smtClean="0"/>
              <a:t>·</a:t>
            </a:r>
            <a:r>
              <a:rPr lang="zh-CN" altLang="en-US" sz="2000" b="1" dirty="0" smtClean="0"/>
              <a:t>戴维：</a:t>
            </a:r>
            <a:r>
              <a:rPr lang="zh-CN" altLang="en-US" sz="2000" dirty="0" smtClean="0"/>
              <a:t>创新经济学和制度经济学“路径依赖”思想的创始人，当新技术的市场发育时，何种技术作为标准将取决于历史细节。缺乏完美未来市场的竞争会促使产业过早地进入对于错误体系的标准化。</a:t>
            </a:r>
            <a:r>
              <a:rPr lang="en-US" altLang="zh-CN" sz="2000" dirty="0" smtClean="0"/>
              <a:t>——QWERTY</a:t>
            </a:r>
            <a:r>
              <a:rPr lang="zh-CN" altLang="en-US" sz="2000" dirty="0" smtClean="0"/>
              <a:t>键盘案例</a:t>
            </a:r>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725144"/>
            <a:ext cx="2114550" cy="1988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9633" y="4725144"/>
            <a:ext cx="2016224"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69139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8620" y="160338"/>
            <a:ext cx="8305800" cy="1143000"/>
          </a:xfrm>
        </p:spPr>
        <p:txBody>
          <a:bodyPr/>
          <a:lstStyle/>
          <a:p>
            <a:r>
              <a:rPr lang="zh-CN" altLang="en-US" b="1" dirty="0" smtClean="0">
                <a:latin typeface="方正姚体" pitchFamily="2" charset="-122"/>
                <a:ea typeface="方正姚体" pitchFamily="2" charset="-122"/>
              </a:rPr>
              <a:t>案例：</a:t>
            </a:r>
            <a:r>
              <a:rPr lang="en-US" altLang="zh-CN" b="1" dirty="0" smtClean="0">
                <a:latin typeface="方正姚体" pitchFamily="2" charset="-122"/>
                <a:ea typeface="方正姚体" pitchFamily="2" charset="-122"/>
              </a:rPr>
              <a:t>QWERTY</a:t>
            </a:r>
            <a:r>
              <a:rPr lang="zh-CN" altLang="en-US" b="1" dirty="0" smtClean="0">
                <a:latin typeface="方正姚体" pitchFamily="2" charset="-122"/>
                <a:ea typeface="方正姚体" pitchFamily="2" charset="-122"/>
              </a:rPr>
              <a:t>键盘</a:t>
            </a:r>
            <a:endParaRPr lang="zh-CN" altLang="en-US" b="1" dirty="0">
              <a:latin typeface="方正姚体" pitchFamily="2" charset="-122"/>
              <a:ea typeface="方正姚体" pitchFamily="2" charset="-122"/>
            </a:endParaRPr>
          </a:p>
        </p:txBody>
      </p:sp>
      <p:sp>
        <p:nvSpPr>
          <p:cNvPr id="3" name="文本占位符 2"/>
          <p:cNvSpPr>
            <a:spLocks noGrp="1"/>
          </p:cNvSpPr>
          <p:nvPr>
            <p:ph type="body" idx="1"/>
          </p:nvPr>
        </p:nvSpPr>
        <p:spPr>
          <a:xfrm>
            <a:off x="314653" y="1340768"/>
            <a:ext cx="8305800" cy="4744541"/>
          </a:xfrm>
        </p:spPr>
        <p:txBody>
          <a:bodyPr/>
          <a:lstStyle/>
          <a:p>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”是主键盘字母区左上角</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个字母的连写</a:t>
            </a:r>
          </a:p>
          <a:p>
            <a:r>
              <a:rPr lang="zh-CN" altLang="en-US" b="1" dirty="0">
                <a:latin typeface="楷体_GB2312" pitchFamily="49" charset="-122"/>
                <a:ea typeface="楷体_GB2312" pitchFamily="49" charset="-122"/>
              </a:rPr>
              <a:t>我们现在使用的键盘都称为</a:t>
            </a:r>
            <a:r>
              <a:rPr lang="en-US" altLang="zh-CN" b="1" i="1" dirty="0">
                <a:latin typeface="楷体_GB2312" pitchFamily="49" charset="-122"/>
                <a:ea typeface="楷体_GB2312" pitchFamily="49" charset="-122"/>
              </a:rPr>
              <a:t>QWERTY</a:t>
            </a:r>
            <a:r>
              <a:rPr lang="zh-CN" altLang="en-US" b="1" i="1" dirty="0">
                <a:latin typeface="楷体_GB2312" pitchFamily="49" charset="-122"/>
                <a:ea typeface="楷体_GB2312" pitchFamily="49" charset="-122"/>
              </a:rPr>
              <a:t>柯蒂键盘</a:t>
            </a:r>
            <a:r>
              <a:rPr lang="zh-CN" altLang="en-US" b="1" dirty="0">
                <a:latin typeface="楷体_GB2312" pitchFamily="49" charset="-122"/>
                <a:ea typeface="楷体_GB2312" pitchFamily="49" charset="-122"/>
              </a:rPr>
              <a:t>。</a:t>
            </a:r>
          </a:p>
          <a:p>
            <a:r>
              <a:rPr lang="zh-CN" altLang="en-US" b="1" dirty="0">
                <a:latin typeface="楷体_GB2312" pitchFamily="49" charset="-122"/>
                <a:ea typeface="楷体_GB2312" pitchFamily="49" charset="-122"/>
              </a:rPr>
              <a:t>最初</a:t>
            </a:r>
            <a:r>
              <a:rPr lang="zh-CN" altLang="en-US" b="1" dirty="0" smtClean="0">
                <a:latin typeface="楷体_GB2312" pitchFamily="49" charset="-122"/>
                <a:ea typeface="楷体_GB2312" pitchFamily="49" charset="-122"/>
              </a:rPr>
              <a:t>，打字机和键盘是</a:t>
            </a:r>
            <a:r>
              <a:rPr lang="zh-CN" altLang="en-US" b="1" dirty="0">
                <a:latin typeface="楷体_GB2312" pitchFamily="49" charset="-122"/>
                <a:ea typeface="楷体_GB2312" pitchFamily="49" charset="-122"/>
              </a:rPr>
              <a:t>按照字母顺序排列的，但如果打字速度过快，某些键的组合很容易出现卡键问题，于是克里斯多福</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萧尔斯（</a:t>
            </a:r>
            <a:r>
              <a:rPr lang="en-US" altLang="zh-CN" b="1" dirty="0">
                <a:latin typeface="楷体_GB2312" pitchFamily="49" charset="-122"/>
                <a:ea typeface="楷体_GB2312" pitchFamily="49" charset="-122"/>
              </a:rPr>
              <a:t>Christopher Sholes</a:t>
            </a:r>
            <a:r>
              <a:rPr lang="zh-CN" altLang="en-US" b="1" dirty="0">
                <a:latin typeface="楷体_GB2312" pitchFamily="49" charset="-122"/>
                <a:ea typeface="楷体_GB2312" pitchFamily="49" charset="-122"/>
              </a:rPr>
              <a:t>）发明了</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键盘布局，他将最常用的几个字母安置在相反方向，“在不至卡住的前提下尽量提高打字速度”</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萧尔斯在</a:t>
            </a:r>
            <a:r>
              <a:rPr lang="en-US" altLang="zh-CN" b="1" dirty="0">
                <a:latin typeface="楷体_GB2312" pitchFamily="49" charset="-122"/>
                <a:ea typeface="楷体_GB2312" pitchFamily="49" charset="-122"/>
              </a:rPr>
              <a:t>1868</a:t>
            </a:r>
            <a:r>
              <a:rPr lang="zh-CN" altLang="en-US" b="1" dirty="0">
                <a:latin typeface="楷体_GB2312" pitchFamily="49" charset="-122"/>
                <a:ea typeface="楷体_GB2312" pitchFamily="49" charset="-122"/>
              </a:rPr>
              <a:t>年申请专利，</a:t>
            </a:r>
            <a:r>
              <a:rPr lang="en-US" altLang="zh-CN" b="1" dirty="0">
                <a:latin typeface="楷体_GB2312" pitchFamily="49" charset="-122"/>
                <a:ea typeface="楷体_GB2312" pitchFamily="49" charset="-122"/>
              </a:rPr>
              <a:t>1873</a:t>
            </a:r>
            <a:r>
              <a:rPr lang="zh-CN" altLang="en-US" b="1" dirty="0">
                <a:latin typeface="楷体_GB2312" pitchFamily="49" charset="-122"/>
                <a:ea typeface="楷体_GB2312" pitchFamily="49" charset="-122"/>
              </a:rPr>
              <a:t>年使用此布局的第一台商用打字机成功投放市场。这就是为什么有今天键盘的排列方式</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4" name="AutoShape 2" descr="http://img2.imgtn.bdimg.com/it/u=3819515759,1777746895&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2966" y="5085184"/>
            <a:ext cx="4762500" cy="1568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2351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方正姚体" pitchFamily="2" charset="-122"/>
                <a:ea typeface="方正姚体" pitchFamily="2" charset="-122"/>
              </a:rPr>
              <a:t>案例：</a:t>
            </a:r>
            <a:r>
              <a:rPr lang="en-US" altLang="zh-CN" b="1" dirty="0" smtClean="0">
                <a:latin typeface="方正姚体" pitchFamily="2" charset="-122"/>
                <a:ea typeface="方正姚体" pitchFamily="2" charset="-122"/>
              </a:rPr>
              <a:t>QWERTY</a:t>
            </a:r>
            <a:r>
              <a:rPr lang="zh-CN" altLang="en-US" b="1" dirty="0" smtClean="0">
                <a:latin typeface="方正姚体" pitchFamily="2" charset="-122"/>
                <a:ea typeface="方正姚体" pitchFamily="2" charset="-122"/>
              </a:rPr>
              <a:t>键盘</a:t>
            </a:r>
            <a:endParaRPr lang="zh-CN" altLang="en-US" b="1" dirty="0">
              <a:latin typeface="方正姚体" pitchFamily="2" charset="-122"/>
              <a:ea typeface="方正姚体" pitchFamily="2" charset="-122"/>
            </a:endParaRPr>
          </a:p>
        </p:txBody>
      </p:sp>
      <p:sp>
        <p:nvSpPr>
          <p:cNvPr id="3" name="文本占位符 2"/>
          <p:cNvSpPr>
            <a:spLocks noGrp="1"/>
          </p:cNvSpPr>
          <p:nvPr>
            <p:ph type="body" idx="1"/>
          </p:nvPr>
        </p:nvSpPr>
        <p:spPr>
          <a:xfrm>
            <a:off x="251520" y="2172916"/>
            <a:ext cx="8583488" cy="4114800"/>
          </a:xfrm>
        </p:spPr>
        <p:txBody>
          <a:bodyPr/>
          <a:lstStyle/>
          <a:p>
            <a:r>
              <a:rPr lang="zh-CN" altLang="en-US" b="1" dirty="0" smtClean="0">
                <a:latin typeface="楷体_GB2312" pitchFamily="49" charset="-122"/>
                <a:ea typeface="楷体_GB2312" pitchFamily="49" charset="-122"/>
              </a:rPr>
              <a:t>但</a:t>
            </a:r>
            <a:r>
              <a:rPr lang="zh-CN" altLang="en-US" b="1" dirty="0">
                <a:latin typeface="楷体_GB2312" pitchFamily="49" charset="-122"/>
                <a:ea typeface="楷体_GB2312" pitchFamily="49" charset="-122"/>
              </a:rPr>
              <a:t>具有讽刺意味的是，这种</a:t>
            </a:r>
            <a:r>
              <a:rPr lang="en-US" altLang="zh-CN" b="1" dirty="0">
                <a:latin typeface="楷体_GB2312" pitchFamily="49" charset="-122"/>
                <a:ea typeface="楷体_GB2312" pitchFamily="49" charset="-122"/>
              </a:rPr>
              <a:t>129</a:t>
            </a:r>
            <a:r>
              <a:rPr lang="zh-CN" altLang="en-US" b="1" dirty="0">
                <a:latin typeface="楷体_GB2312" pitchFamily="49" charset="-122"/>
                <a:ea typeface="楷体_GB2312" pitchFamily="49" charset="-122"/>
              </a:rPr>
              <a:t>年前形成的、以放慢敲键速度为目的的键盘排列方式却延续至今</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1986</a:t>
            </a:r>
            <a:r>
              <a:rPr lang="zh-CN" altLang="en-US" b="1" dirty="0">
                <a:latin typeface="楷体_GB2312" pitchFamily="49" charset="-122"/>
                <a:ea typeface="楷体_GB2312" pitchFamily="49" charset="-122"/>
              </a:rPr>
              <a:t>年布鲁斯</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伯里文爵士曾在</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奇妙的书写机器</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一文中表示：“</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的安排方式非常没效率。”，比如：大多数打字员惯用右手，但使用</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，左手却负担了</a:t>
            </a:r>
            <a:r>
              <a:rPr lang="en-US" altLang="zh-CN" b="1" dirty="0">
                <a:latin typeface="楷体_GB2312" pitchFamily="49" charset="-122"/>
                <a:ea typeface="楷体_GB2312" pitchFamily="49" charset="-122"/>
              </a:rPr>
              <a:t>57%</a:t>
            </a:r>
            <a:r>
              <a:rPr lang="zh-CN" altLang="en-US" b="1" dirty="0">
                <a:latin typeface="楷体_GB2312" pitchFamily="49" charset="-122"/>
                <a:ea typeface="楷体_GB2312" pitchFamily="49" charset="-122"/>
              </a:rPr>
              <a:t>的工作。两小指及</a:t>
            </a:r>
            <a:r>
              <a:rPr lang="zh-CN" altLang="en-US" b="1" dirty="0" smtClean="0">
                <a:latin typeface="楷体_GB2312" pitchFamily="49" charset="-122"/>
                <a:ea typeface="楷体_GB2312" pitchFamily="49" charset="-122"/>
              </a:rPr>
              <a:t>左无名指是</a:t>
            </a:r>
            <a:r>
              <a:rPr lang="zh-CN" altLang="en-US" b="1" dirty="0">
                <a:latin typeface="楷体_GB2312" pitchFamily="49" charset="-122"/>
                <a:ea typeface="楷体_GB2312" pitchFamily="49" charset="-122"/>
              </a:rPr>
              <a:t>最没力气的指头，却频频要使用它们。排在中列的字母，其使用率仅占整个打字工作的</a:t>
            </a:r>
            <a:r>
              <a:rPr lang="en-US" altLang="zh-CN" b="1" dirty="0">
                <a:latin typeface="楷体_GB2312" pitchFamily="49" charset="-122"/>
                <a:ea typeface="楷体_GB2312" pitchFamily="49" charset="-122"/>
              </a:rPr>
              <a:t>30%</a:t>
            </a:r>
            <a:r>
              <a:rPr lang="zh-CN" altLang="en-US" b="1" dirty="0">
                <a:latin typeface="楷体_GB2312" pitchFamily="49" charset="-122"/>
                <a:ea typeface="楷体_GB2312" pitchFamily="49" charset="-122"/>
              </a:rPr>
              <a:t>左右，因此，为了打一个字，时常要上上下下移动指头</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44624"/>
            <a:ext cx="31908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88734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方正姚体" pitchFamily="2" charset="-122"/>
                <a:ea typeface="方正姚体" pitchFamily="2" charset="-122"/>
              </a:rPr>
              <a:t>案例：</a:t>
            </a:r>
            <a:r>
              <a:rPr lang="en-US" altLang="zh-CN" b="1" dirty="0" smtClean="0">
                <a:latin typeface="方正姚体" pitchFamily="2" charset="-122"/>
                <a:ea typeface="方正姚体" pitchFamily="2" charset="-122"/>
              </a:rPr>
              <a:t>QWERTY</a:t>
            </a:r>
            <a:r>
              <a:rPr lang="zh-CN" altLang="en-US" b="1" dirty="0" smtClean="0">
                <a:latin typeface="方正姚体" pitchFamily="2" charset="-122"/>
                <a:ea typeface="方正姚体" pitchFamily="2" charset="-122"/>
              </a:rPr>
              <a:t>键盘</a:t>
            </a:r>
            <a:endParaRPr lang="zh-CN" altLang="en-US" b="1" dirty="0">
              <a:latin typeface="方正姚体" pitchFamily="2" charset="-122"/>
              <a:ea typeface="方正姚体" pitchFamily="2" charset="-122"/>
            </a:endParaRPr>
          </a:p>
        </p:txBody>
      </p:sp>
      <p:sp>
        <p:nvSpPr>
          <p:cNvPr id="3" name="文本占位符 2"/>
          <p:cNvSpPr>
            <a:spLocks noGrp="1"/>
          </p:cNvSpPr>
          <p:nvPr>
            <p:ph type="body" idx="1"/>
          </p:nvPr>
        </p:nvSpPr>
        <p:spPr>
          <a:xfrm>
            <a:off x="381000" y="2060848"/>
            <a:ext cx="8305800" cy="3730352"/>
          </a:xfrm>
        </p:spPr>
        <p:txBody>
          <a:bodyPr/>
          <a:lstStyle/>
          <a:p>
            <a:r>
              <a:rPr lang="zh-CN" altLang="en-US" b="1" dirty="0" smtClean="0">
                <a:latin typeface="楷体_GB2312" pitchFamily="49" charset="-122"/>
                <a:ea typeface="楷体_GB2312" pitchFamily="49" charset="-122"/>
              </a:rPr>
              <a:t>现如今</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键盘已经不仅仅应用在电脑</a:t>
            </a:r>
            <a:r>
              <a:rPr lang="en-US" altLang="zh-CN" b="1" dirty="0">
                <a:latin typeface="楷体_GB2312" pitchFamily="49" charset="-122"/>
                <a:ea typeface="楷体_GB2312" pitchFamily="49" charset="-122"/>
              </a:rPr>
              <a:t>101</a:t>
            </a:r>
            <a:r>
              <a:rPr lang="zh-CN" altLang="en-US" b="1" dirty="0">
                <a:latin typeface="楷体_GB2312" pitchFamily="49" charset="-122"/>
                <a:ea typeface="楷体_GB2312" pitchFamily="49" charset="-122"/>
              </a:rPr>
              <a:t>标准键盘了，很多智能手机、</a:t>
            </a:r>
            <a:r>
              <a:rPr lang="en-US" altLang="zh-CN" b="1" dirty="0">
                <a:latin typeface="楷体_GB2312" pitchFamily="49" charset="-122"/>
                <a:ea typeface="楷体_GB2312" pitchFamily="49" charset="-122"/>
              </a:rPr>
              <a:t>PDA</a:t>
            </a:r>
            <a:r>
              <a:rPr lang="zh-CN" altLang="en-US" b="1" dirty="0">
                <a:latin typeface="楷体_GB2312" pitchFamily="49" charset="-122"/>
                <a:ea typeface="楷体_GB2312" pitchFamily="49" charset="-122"/>
              </a:rPr>
              <a:t>等便携设备也都采取了这种键盘。与最初打字机上</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键盘的初衷不同，在手机这样小体积的设备上，</a:t>
            </a:r>
            <a:r>
              <a:rPr lang="en-US" altLang="zh-CN" b="1" dirty="0">
                <a:latin typeface="楷体_GB2312" pitchFamily="49" charset="-122"/>
                <a:ea typeface="楷体_GB2312" pitchFamily="49" charset="-122"/>
              </a:rPr>
              <a:t>qwerty</a:t>
            </a:r>
            <a:r>
              <a:rPr lang="zh-CN" altLang="en-US" b="1" dirty="0">
                <a:latin typeface="楷体_GB2312" pitchFamily="49" charset="-122"/>
                <a:ea typeface="楷体_GB2312" pitchFamily="49" charset="-122"/>
              </a:rPr>
              <a:t>键盘的打字速度是远远超过传统的</a:t>
            </a:r>
            <a:r>
              <a:rPr lang="en-US" altLang="zh-CN" b="1" dirty="0">
                <a:latin typeface="楷体_GB2312" pitchFamily="49" charset="-122"/>
                <a:ea typeface="楷体_GB2312" pitchFamily="49" charset="-122"/>
              </a:rPr>
              <a:t>0-9</a:t>
            </a:r>
            <a:r>
              <a:rPr lang="zh-CN" altLang="en-US" b="1" dirty="0">
                <a:latin typeface="楷体_GB2312" pitchFamily="49" charset="-122"/>
                <a:ea typeface="楷体_GB2312" pitchFamily="49" charset="-122"/>
              </a:rPr>
              <a:t>数字键盘的。</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3933056"/>
            <a:ext cx="27908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06246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8367464" cy="936104"/>
          </a:xfrm>
          <a:solidFill>
            <a:srgbClr val="FFFF00"/>
          </a:solidFill>
        </p:spPr>
        <p:txBody>
          <a:bodyPr/>
          <a:lstStyle/>
          <a:p>
            <a:r>
              <a:rPr lang="zh-CN" altLang="en-US" sz="4800" b="1" dirty="0" smtClean="0">
                <a:latin typeface="黑体" pitchFamily="49" charset="-122"/>
                <a:ea typeface="黑体" pitchFamily="49" charset="-122"/>
              </a:rPr>
              <a:t>一、经济思想史中的创新理论</a:t>
            </a:r>
            <a:endParaRPr lang="zh-CN" altLang="en-US" sz="4800" b="1" dirty="0">
              <a:latin typeface="黑体" pitchFamily="49" charset="-122"/>
              <a:ea typeface="黑体" pitchFamily="49" charset="-122"/>
            </a:endParaRPr>
          </a:p>
        </p:txBody>
      </p:sp>
      <p:sp>
        <p:nvSpPr>
          <p:cNvPr id="3" name="文本占位符 2"/>
          <p:cNvSpPr>
            <a:spLocks noGrp="1"/>
          </p:cNvSpPr>
          <p:nvPr>
            <p:ph type="body" idx="1"/>
          </p:nvPr>
        </p:nvSpPr>
        <p:spPr>
          <a:xfrm>
            <a:off x="251520" y="1628800"/>
            <a:ext cx="8655496" cy="3096344"/>
          </a:xfrm>
        </p:spPr>
        <p:txBody>
          <a:bodyPr/>
          <a:lstStyle/>
          <a:p>
            <a:pPr>
              <a:lnSpc>
                <a:spcPct val="150000"/>
              </a:lnSpc>
            </a:pPr>
            <a:r>
              <a:rPr lang="zh-CN" altLang="en-US" b="1" dirty="0" smtClean="0"/>
              <a:t>约瑟夫</a:t>
            </a:r>
            <a:r>
              <a:rPr lang="en-US" altLang="zh-CN" b="1" dirty="0" smtClean="0"/>
              <a:t>·</a:t>
            </a:r>
            <a:r>
              <a:rPr lang="zh-CN" altLang="en-US" b="1" dirty="0" smtClean="0"/>
              <a:t>熊彼特：</a:t>
            </a:r>
            <a:r>
              <a:rPr lang="zh-CN" altLang="en-US" dirty="0" smtClean="0"/>
              <a:t>产业突变的过程</a:t>
            </a:r>
            <a:r>
              <a:rPr lang="en-US" altLang="zh-CN" dirty="0" smtClean="0"/>
              <a:t>……</a:t>
            </a:r>
            <a:r>
              <a:rPr lang="zh-CN" altLang="en-US" dirty="0" smtClean="0"/>
              <a:t>不断从内部对这个经济结构进行彻底变革，不断破坏旧有的结构和创造一个新的结构。这一</a:t>
            </a:r>
            <a:r>
              <a:rPr lang="zh-CN" altLang="en-US" b="1" dirty="0" smtClean="0"/>
              <a:t>创造性破坏</a:t>
            </a:r>
            <a:r>
              <a:rPr lang="zh-CN" altLang="en-US" dirty="0" smtClean="0"/>
              <a:t>的过程，就是资本主义的本质事实”。</a:t>
            </a:r>
            <a:endParaRPr lang="en-US" altLang="zh-CN" dirty="0" smtClean="0"/>
          </a:p>
          <a:p>
            <a:pPr>
              <a:lnSpc>
                <a:spcPct val="150000"/>
              </a:lnSpc>
            </a:pPr>
            <a:r>
              <a:rPr lang="zh-CN" altLang="en-US" dirty="0" smtClean="0"/>
              <a:t>创造性破坏是创新经济学领域最重要的概念。</a:t>
            </a:r>
            <a:endParaRPr lang="en-US" altLang="zh-CN" dirty="0" smtClean="0"/>
          </a:p>
          <a:p>
            <a:pPr>
              <a:lnSpc>
                <a:spcPct val="150000"/>
              </a:lnSpc>
            </a:pPr>
            <a:r>
              <a:rPr lang="zh-CN" altLang="en-US" dirty="0" smtClean="0"/>
              <a:t>本课程采用熊彼特关于创新的概念</a:t>
            </a:r>
            <a:endParaRPr lang="en-US" altLang="zh-CN" dirty="0" smtClean="0"/>
          </a:p>
          <a:p>
            <a:pPr marL="0" indent="0">
              <a:buNone/>
            </a:pP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3933056"/>
            <a:ext cx="2857500" cy="2924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4762500"/>
            <a:ext cx="15240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12641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4252" y="332656"/>
            <a:ext cx="8655496" cy="1143000"/>
          </a:xfrm>
          <a:solidFill>
            <a:srgbClr val="FFFF00"/>
          </a:solidFill>
        </p:spPr>
        <p:txBody>
          <a:bodyPr/>
          <a:lstStyle/>
          <a:p>
            <a:r>
              <a:rPr lang="zh-CN" altLang="en-US" b="1" dirty="0" smtClean="0">
                <a:latin typeface="黑体" pitchFamily="49" charset="-122"/>
                <a:ea typeface="黑体" pitchFamily="49" charset="-122"/>
              </a:rPr>
              <a:t>导入案例：微软</a:t>
            </a:r>
            <a:r>
              <a:rPr lang="en-US" altLang="zh-CN" b="1" dirty="0" smtClean="0">
                <a:latin typeface="黑体" pitchFamily="49" charset="-122"/>
                <a:ea typeface="黑体" pitchFamily="49" charset="-122"/>
              </a:rPr>
              <a:t>—</a:t>
            </a:r>
            <a:r>
              <a:rPr lang="zh-CN" altLang="en-US" b="1" dirty="0" smtClean="0">
                <a:latin typeface="黑体" pitchFamily="49" charset="-122"/>
                <a:ea typeface="黑体" pitchFamily="49" charset="-122"/>
              </a:rPr>
              <a:t>伟大的创新企业</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467544" y="2132856"/>
            <a:ext cx="3972972" cy="1944216"/>
          </a:xfrm>
        </p:spPr>
        <p:txBody>
          <a:bodyPr/>
          <a:lstStyle/>
          <a:p>
            <a:r>
              <a:rPr lang="en-US" altLang="zh-CN" b="1" dirty="0" smtClean="0">
                <a:latin typeface="楷体_GB2312" pitchFamily="49" charset="-122"/>
                <a:ea typeface="楷体_GB2312" pitchFamily="49" charset="-122"/>
              </a:rPr>
              <a:t>2015</a:t>
            </a:r>
            <a:r>
              <a:rPr lang="zh-CN" altLang="en-US" b="1" dirty="0" smtClean="0">
                <a:latin typeface="楷体_GB2312" pitchFamily="49" charset="-122"/>
                <a:ea typeface="楷体_GB2312" pitchFamily="49" charset="-122"/>
              </a:rPr>
              <a:t>年</a:t>
            </a:r>
            <a:r>
              <a:rPr lang="en-US" altLang="zh-CN" b="1" dirty="0" smtClean="0">
                <a:latin typeface="楷体_GB2312" pitchFamily="49" charset="-122"/>
                <a:ea typeface="楷体_GB2312" pitchFamily="49" charset="-122"/>
              </a:rPr>
              <a:t>4</a:t>
            </a:r>
            <a:r>
              <a:rPr lang="zh-CN" altLang="en-US" b="1" dirty="0" smtClean="0">
                <a:latin typeface="楷体_GB2312" pitchFamily="49" charset="-122"/>
                <a:ea typeface="楷体_GB2312" pitchFamily="49" charset="-122"/>
              </a:rPr>
              <a:t>月</a:t>
            </a:r>
            <a:r>
              <a:rPr lang="en-US" altLang="zh-CN" b="1" dirty="0" smtClean="0">
                <a:latin typeface="楷体_GB2312" pitchFamily="49" charset="-122"/>
                <a:ea typeface="楷体_GB2312" pitchFamily="49" charset="-122"/>
              </a:rPr>
              <a:t>4</a:t>
            </a:r>
            <a:r>
              <a:rPr lang="zh-CN" altLang="en-US" b="1" dirty="0" smtClean="0">
                <a:latin typeface="楷体_GB2312" pitchFamily="49" charset="-122"/>
                <a:ea typeface="楷体_GB2312" pitchFamily="49" charset="-122"/>
              </a:rPr>
              <a:t>日是微软成立</a:t>
            </a:r>
            <a:r>
              <a:rPr lang="en-US" altLang="zh-CN" b="1" dirty="0" smtClean="0">
                <a:latin typeface="楷体_GB2312" pitchFamily="49" charset="-122"/>
                <a:ea typeface="楷体_GB2312" pitchFamily="49" charset="-122"/>
              </a:rPr>
              <a:t>40</a:t>
            </a:r>
            <a:r>
              <a:rPr lang="zh-CN" altLang="en-US" b="1" dirty="0" smtClean="0">
                <a:latin typeface="楷体_GB2312" pitchFamily="49" charset="-122"/>
                <a:ea typeface="楷体_GB2312" pitchFamily="49" charset="-122"/>
              </a:rPr>
              <a:t>周年纪念日，美国科技网站</a:t>
            </a:r>
            <a:r>
              <a:rPr lang="en-US" altLang="zh-CN" b="1" dirty="0" err="1" smtClean="0">
                <a:latin typeface="楷体_GB2312" pitchFamily="49" charset="-122"/>
                <a:ea typeface="楷体_GB2312" pitchFamily="49" charset="-122"/>
              </a:rPr>
              <a:t>eWeek</a:t>
            </a:r>
            <a:r>
              <a:rPr lang="zh-CN" altLang="en-US" b="1" dirty="0" smtClean="0">
                <a:latin typeface="楷体_GB2312" pitchFamily="49" charset="-122"/>
                <a:ea typeface="楷体_GB2312" pitchFamily="49" charset="-122"/>
              </a:rPr>
              <a:t>撰文回顾了微软成立以来的</a:t>
            </a:r>
            <a:r>
              <a:rPr lang="en-US" altLang="zh-CN" b="1" dirty="0" smtClean="0">
                <a:latin typeface="楷体_GB2312" pitchFamily="49" charset="-122"/>
                <a:ea typeface="楷体_GB2312" pitchFamily="49" charset="-122"/>
              </a:rPr>
              <a:t>10</a:t>
            </a:r>
            <a:r>
              <a:rPr lang="zh-CN" altLang="en-US" b="1" dirty="0" smtClean="0">
                <a:latin typeface="楷体_GB2312" pitchFamily="49" charset="-122"/>
                <a:ea typeface="楷体_GB2312" pitchFamily="49" charset="-122"/>
              </a:rPr>
              <a:t>个重大事件。</a:t>
            </a:r>
            <a:endParaRPr lang="en-US" altLang="zh-CN" b="1" dirty="0" smtClean="0">
              <a:latin typeface="楷体_GB2312" pitchFamily="49" charset="-122"/>
              <a:ea typeface="楷体_GB2312"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132856"/>
            <a:ext cx="4392488" cy="365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2"/>
          <p:cNvSpPr txBox="1">
            <a:spLocks/>
          </p:cNvSpPr>
          <p:nvPr/>
        </p:nvSpPr>
        <p:spPr bwMode="auto">
          <a:xfrm>
            <a:off x="467544" y="4058816"/>
            <a:ext cx="3972972" cy="1728192"/>
          </a:xfrm>
          <a:prstGeom prst="rect">
            <a:avLst/>
          </a:prstGeom>
          <a:solidFill>
            <a:srgbClr val="FFFFCC"/>
          </a:solidFill>
          <a:ln>
            <a:noFill/>
          </a:ln>
          <a:effectLs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1</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1975</a:t>
            </a:r>
            <a:r>
              <a:rPr lang="zh-CN" altLang="en-US" b="1" dirty="0" smtClean="0">
                <a:latin typeface="楷体_GB2312" pitchFamily="49" charset="-122"/>
                <a:ea typeface="楷体_GB2312" pitchFamily="49" charset="-122"/>
              </a:rPr>
              <a:t>年，比尔</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盖茨</a:t>
            </a:r>
            <a:r>
              <a:rPr lang="en-US" altLang="zh-CN" b="1" dirty="0" smtClean="0">
                <a:latin typeface="楷体_GB2312" pitchFamily="49" charset="-122"/>
                <a:ea typeface="楷体_GB2312" pitchFamily="49" charset="-122"/>
              </a:rPr>
              <a:t>(Bill Gates)</a:t>
            </a:r>
            <a:r>
              <a:rPr lang="zh-CN" altLang="en-US" b="1" dirty="0" smtClean="0">
                <a:latin typeface="楷体_GB2312" pitchFamily="49" charset="-122"/>
                <a:ea typeface="楷体_GB2312" pitchFamily="49" charset="-122"/>
              </a:rPr>
              <a:t>和保罗</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艾伦</a:t>
            </a:r>
            <a:r>
              <a:rPr lang="en-US" altLang="zh-CN" b="1" dirty="0" smtClean="0">
                <a:latin typeface="楷体_GB2312" pitchFamily="49" charset="-122"/>
                <a:ea typeface="楷体_GB2312" pitchFamily="49" charset="-122"/>
              </a:rPr>
              <a:t>(Paul Allen)</a:t>
            </a:r>
            <a:r>
              <a:rPr lang="zh-CN" altLang="en-US" b="1" dirty="0" smtClean="0">
                <a:latin typeface="楷体_GB2312" pitchFamily="49" charset="-122"/>
                <a:ea typeface="楷体_GB2312" pitchFamily="49" charset="-122"/>
              </a:rPr>
              <a:t>联合创建了微软。</a:t>
            </a:r>
          </a:p>
          <a:p>
            <a:endParaRPr lang="zh-CN" altLang="en-US" b="1" dirty="0">
              <a:latin typeface="楷体_GB2312" pitchFamily="49" charset="-122"/>
              <a:ea typeface="楷体_GB2312" pitchFamily="49" charset="-122"/>
            </a:endParaRPr>
          </a:p>
        </p:txBody>
      </p:sp>
      <p:sp>
        <p:nvSpPr>
          <p:cNvPr id="4" name="矩形 3"/>
          <p:cNvSpPr/>
          <p:nvPr/>
        </p:nvSpPr>
        <p:spPr>
          <a:xfrm>
            <a:off x="323528" y="6187058"/>
            <a:ext cx="8359913" cy="523220"/>
          </a:xfrm>
          <a:prstGeom prst="rect">
            <a:avLst/>
          </a:prstGeom>
        </p:spPr>
        <p:txBody>
          <a:bodyPr wrap="square">
            <a:spAutoFit/>
          </a:bodyPr>
          <a:lstStyle/>
          <a:p>
            <a:r>
              <a:rPr lang="zh-CN" altLang="en-US" sz="1400" b="1" dirty="0" smtClean="0">
                <a:solidFill>
                  <a:srgbClr val="FFFFCC"/>
                </a:solidFill>
                <a:latin typeface="仿宋_GB2312" panose="02010609030101010101" pitchFamily="49" charset="-122"/>
                <a:ea typeface="仿宋_GB2312" panose="02010609030101010101" pitchFamily="49" charset="-122"/>
              </a:rPr>
              <a:t>链接</a:t>
            </a:r>
            <a:r>
              <a:rPr lang="en-US" altLang="zh-CN" sz="1400" b="1" dirty="0" smtClean="0">
                <a:solidFill>
                  <a:srgbClr val="FFFFCC"/>
                </a:solidFill>
                <a:latin typeface="仿宋_GB2312" panose="02010609030101010101" pitchFamily="49" charset="-122"/>
                <a:ea typeface="仿宋_GB2312" panose="02010609030101010101" pitchFamily="49" charset="-122"/>
              </a:rPr>
              <a:t>——</a:t>
            </a:r>
            <a:r>
              <a:rPr lang="zh-CN" altLang="en-US" sz="1400" b="1" dirty="0" smtClean="0">
                <a:solidFill>
                  <a:srgbClr val="FFFFCC"/>
                </a:solidFill>
                <a:latin typeface="仿宋_GB2312" panose="02010609030101010101" pitchFamily="49" charset="-122"/>
                <a:ea typeface="仿宋_GB2312" panose="02010609030101010101" pitchFamily="49" charset="-122"/>
              </a:rPr>
              <a:t>艾伦，</a:t>
            </a:r>
            <a:r>
              <a:rPr lang="en-US" altLang="zh-CN" sz="1400" b="1" dirty="0" smtClean="0">
                <a:solidFill>
                  <a:srgbClr val="FFFFCC"/>
                </a:solidFill>
                <a:latin typeface="仿宋_GB2312" panose="02010609030101010101" pitchFamily="49" charset="-122"/>
                <a:ea typeface="仿宋_GB2312" panose="02010609030101010101" pitchFamily="49" charset="-122"/>
              </a:rPr>
              <a:t>2018</a:t>
            </a:r>
            <a:r>
              <a:rPr lang="zh-CN" altLang="en-US" sz="1400" b="1" dirty="0" smtClean="0">
                <a:solidFill>
                  <a:srgbClr val="FFFFCC"/>
                </a:solidFill>
                <a:latin typeface="仿宋_GB2312" panose="02010609030101010101" pitchFamily="49" charset="-122"/>
                <a:ea typeface="仿宋_GB2312" panose="02010609030101010101" pitchFamily="49" charset="-122"/>
              </a:rPr>
              <a:t>年</a:t>
            </a:r>
            <a:r>
              <a:rPr lang="en-US" altLang="zh-CN" sz="1400" b="1" dirty="0" smtClean="0">
                <a:solidFill>
                  <a:srgbClr val="FFFFCC"/>
                </a:solidFill>
                <a:latin typeface="仿宋_GB2312" panose="02010609030101010101" pitchFamily="49" charset="-122"/>
                <a:ea typeface="仿宋_GB2312" panose="02010609030101010101" pitchFamily="49" charset="-122"/>
              </a:rPr>
              <a:t>10</a:t>
            </a:r>
            <a:r>
              <a:rPr lang="zh-CN" altLang="en-US" sz="1400" b="1" dirty="0" smtClean="0">
                <a:solidFill>
                  <a:srgbClr val="FFFFCC"/>
                </a:solidFill>
                <a:latin typeface="仿宋_GB2312" panose="02010609030101010101" pitchFamily="49" charset="-122"/>
                <a:ea typeface="仿宋_GB2312" panose="02010609030101010101" pitchFamily="49" charset="-122"/>
              </a:rPr>
              <a:t>月去世，拥有</a:t>
            </a:r>
            <a:r>
              <a:rPr lang="zh-CN" altLang="en-US" sz="1400" b="1" dirty="0">
                <a:solidFill>
                  <a:srgbClr val="FFFFCC"/>
                </a:solidFill>
                <a:latin typeface="仿宋_GB2312" panose="02010609030101010101" pitchFamily="49" charset="-122"/>
                <a:ea typeface="仿宋_GB2312" panose="02010609030101010101" pitchFamily="49" charset="-122"/>
              </a:rPr>
              <a:t>资产大约</a:t>
            </a:r>
            <a:r>
              <a:rPr lang="en-US" altLang="zh-CN" sz="1400" b="1" dirty="0">
                <a:solidFill>
                  <a:srgbClr val="FFFFCC"/>
                </a:solidFill>
                <a:latin typeface="仿宋_GB2312" panose="02010609030101010101" pitchFamily="49" charset="-122"/>
                <a:ea typeface="仿宋_GB2312" panose="02010609030101010101" pitchFamily="49" charset="-122"/>
              </a:rPr>
              <a:t>227</a:t>
            </a:r>
            <a:r>
              <a:rPr lang="zh-CN" altLang="en-US" sz="1400" b="1" dirty="0">
                <a:solidFill>
                  <a:srgbClr val="FFFFCC"/>
                </a:solidFill>
                <a:latin typeface="仿宋_GB2312" panose="02010609030101010101" pitchFamily="49" charset="-122"/>
                <a:ea typeface="仿宋_GB2312" panose="02010609030101010101" pitchFamily="49" charset="-122"/>
              </a:rPr>
              <a:t>亿美元，其中</a:t>
            </a:r>
            <a:r>
              <a:rPr lang="en-US" altLang="zh-CN" sz="1400" b="1" dirty="0">
                <a:solidFill>
                  <a:srgbClr val="FFFFCC"/>
                </a:solidFill>
                <a:latin typeface="仿宋_GB2312" panose="02010609030101010101" pitchFamily="49" charset="-122"/>
                <a:ea typeface="仿宋_GB2312" panose="02010609030101010101" pitchFamily="49" charset="-122"/>
              </a:rPr>
              <a:t>50</a:t>
            </a:r>
            <a:r>
              <a:rPr lang="zh-CN" altLang="en-US" sz="1400" b="1" dirty="0">
                <a:solidFill>
                  <a:srgbClr val="FFFFCC"/>
                </a:solidFill>
                <a:latin typeface="仿宋_GB2312" panose="02010609030101010101" pitchFamily="49" charset="-122"/>
                <a:ea typeface="仿宋_GB2312" panose="02010609030101010101" pitchFamily="49" charset="-122"/>
              </a:rPr>
              <a:t>亿是微软股票。同时他是</a:t>
            </a:r>
            <a:r>
              <a:rPr lang="en-US" altLang="zh-CN" sz="1400" b="1" dirty="0">
                <a:solidFill>
                  <a:srgbClr val="FFFFCC"/>
                </a:solidFill>
                <a:latin typeface="仿宋_GB2312" panose="02010609030101010101" pitchFamily="49" charset="-122"/>
                <a:ea typeface="仿宋_GB2312" panose="02010609030101010101" pitchFamily="49" charset="-122"/>
              </a:rPr>
              <a:t>Charter Communications</a:t>
            </a:r>
            <a:r>
              <a:rPr lang="zh-CN" altLang="en-US" sz="1400" b="1" dirty="0">
                <a:solidFill>
                  <a:srgbClr val="FFFFCC"/>
                </a:solidFill>
                <a:latin typeface="仿宋_GB2312" panose="02010609030101010101" pitchFamily="49" charset="-122"/>
                <a:ea typeface="仿宋_GB2312" panose="02010609030101010101" pitchFamily="49" charset="-122"/>
              </a:rPr>
              <a:t>主席，梦工厂股东，还拥有</a:t>
            </a:r>
            <a:r>
              <a:rPr lang="en-US" altLang="zh-CN" sz="1400" b="1" dirty="0">
                <a:solidFill>
                  <a:srgbClr val="FFFFCC"/>
                </a:solidFill>
                <a:latin typeface="仿宋_GB2312" panose="02010609030101010101" pitchFamily="49" charset="-122"/>
                <a:ea typeface="仿宋_GB2312" panose="02010609030101010101" pitchFamily="49" charset="-122"/>
              </a:rPr>
              <a:t>NFL</a:t>
            </a:r>
            <a:r>
              <a:rPr lang="zh-CN" altLang="en-US" sz="1400" b="1" dirty="0">
                <a:solidFill>
                  <a:srgbClr val="FFFFCC"/>
                </a:solidFill>
                <a:latin typeface="仿宋_GB2312" panose="02010609030101010101" pitchFamily="49" charset="-122"/>
                <a:ea typeface="仿宋_GB2312" panose="02010609030101010101" pitchFamily="49" charset="-122"/>
              </a:rPr>
              <a:t>的西雅图海鹰队和</a:t>
            </a:r>
            <a:r>
              <a:rPr lang="en-US" altLang="zh-CN" sz="1400" b="1" dirty="0">
                <a:solidFill>
                  <a:srgbClr val="FFFFCC"/>
                </a:solidFill>
                <a:latin typeface="仿宋_GB2312" panose="02010609030101010101" pitchFamily="49" charset="-122"/>
                <a:ea typeface="仿宋_GB2312" panose="02010609030101010101" pitchFamily="49" charset="-122"/>
              </a:rPr>
              <a:t>NBA</a:t>
            </a:r>
            <a:r>
              <a:rPr lang="zh-CN" altLang="en-US" sz="1400" b="1" dirty="0">
                <a:solidFill>
                  <a:srgbClr val="FFFFCC"/>
                </a:solidFill>
                <a:latin typeface="仿宋_GB2312" panose="02010609030101010101" pitchFamily="49" charset="-122"/>
                <a:ea typeface="仿宋_GB2312" panose="02010609030101010101" pitchFamily="49" charset="-122"/>
              </a:rPr>
              <a:t>的波特兰开拓者</a:t>
            </a:r>
            <a:r>
              <a:rPr lang="zh-CN" altLang="en-US" sz="1400" b="1" dirty="0" smtClean="0">
                <a:solidFill>
                  <a:srgbClr val="FFFFCC"/>
                </a:solidFill>
                <a:latin typeface="仿宋_GB2312" panose="02010609030101010101" pitchFamily="49" charset="-122"/>
                <a:ea typeface="仿宋_GB2312" panose="02010609030101010101" pitchFamily="49" charset="-122"/>
              </a:rPr>
              <a:t>队。</a:t>
            </a:r>
            <a:endParaRPr lang="zh-CN" altLang="en-US" sz="1400" b="1" dirty="0">
              <a:solidFill>
                <a:srgbClr val="FFFFCC"/>
              </a:solidFill>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17452771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785392"/>
            <a:ext cx="3758952" cy="4114800"/>
          </a:xfrm>
        </p:spPr>
        <p:txBody>
          <a:bodyPr/>
          <a:lstStyle/>
          <a:p>
            <a:pPr marL="0" indent="0">
              <a:buNone/>
            </a:pPr>
            <a:r>
              <a:rPr lang="en-US" altLang="zh-CN" b="1" dirty="0" smtClean="0">
                <a:latin typeface="楷体_GB2312" pitchFamily="49" charset="-122"/>
                <a:ea typeface="楷体_GB2312" pitchFamily="49" charset="-122"/>
              </a:rPr>
              <a:t>MS-DOS</a:t>
            </a:r>
            <a:r>
              <a:rPr lang="zh-CN" altLang="en-US" b="1" dirty="0" smtClean="0">
                <a:latin typeface="楷体_GB2312" pitchFamily="49" charset="-122"/>
                <a:ea typeface="楷体_GB2312" pitchFamily="49" charset="-122"/>
              </a:rPr>
              <a:t>是</a:t>
            </a:r>
            <a:r>
              <a:rPr lang="zh-CN" altLang="en-US" b="1" dirty="0">
                <a:latin typeface="楷体_GB2312" pitchFamily="49" charset="-122"/>
                <a:ea typeface="楷体_GB2312" pitchFamily="49" charset="-122"/>
              </a:rPr>
              <a:t>微软早期取得成功的最为重要的一项业务。该操作系统主要由微软开发，提供的命令行界面允许用户在一系列由</a:t>
            </a:r>
            <a:r>
              <a:rPr lang="en-US" altLang="zh-CN" b="1" dirty="0">
                <a:latin typeface="楷体_GB2312" pitchFamily="49" charset="-122"/>
                <a:ea typeface="楷体_GB2312" pitchFamily="49" charset="-122"/>
              </a:rPr>
              <a:t>IBM</a:t>
            </a:r>
            <a:r>
              <a:rPr lang="zh-CN" altLang="en-US" b="1" dirty="0">
                <a:latin typeface="楷体_GB2312" pitchFamily="49" charset="-122"/>
                <a:ea typeface="楷体_GB2312" pitchFamily="49" charset="-122"/>
              </a:rPr>
              <a:t>设计的</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上操作。</a:t>
            </a:r>
            <a:r>
              <a:rPr lang="en-US" altLang="zh-CN" b="1" dirty="0">
                <a:latin typeface="楷体_GB2312" pitchFamily="49" charset="-122"/>
                <a:ea typeface="楷体_GB2312" pitchFamily="49" charset="-122"/>
              </a:rPr>
              <a:t>MS-DOS</a:t>
            </a:r>
            <a:r>
              <a:rPr lang="zh-CN" altLang="en-US" b="1" dirty="0">
                <a:latin typeface="楷体_GB2312" pitchFamily="49" charset="-122"/>
                <a:ea typeface="楷体_GB2312" pitchFamily="49" charset="-122"/>
              </a:rPr>
              <a:t>为那些想要从他们的</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上获得更多功能的用户打开了一个新世界，也为</a:t>
            </a:r>
            <a:r>
              <a:rPr lang="en-US" altLang="zh-CN" b="1" dirty="0">
                <a:latin typeface="楷体_GB2312" pitchFamily="49" charset="-122"/>
                <a:ea typeface="楷体_GB2312" pitchFamily="49" charset="-122"/>
              </a:rPr>
              <a:t>IBM</a:t>
            </a:r>
            <a:r>
              <a:rPr lang="zh-CN" altLang="en-US" b="1" dirty="0">
                <a:latin typeface="楷体_GB2312" pitchFamily="49" charset="-122"/>
                <a:ea typeface="楷体_GB2312" pitchFamily="49" charset="-122"/>
              </a:rPr>
              <a:t>开发</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硬件业务提供了一个平台</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1556792"/>
            <a:ext cx="4968552"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a:spLocks noGrp="1"/>
          </p:cNvSpPr>
          <p:nvPr>
            <p:ph type="title"/>
          </p:nvPr>
        </p:nvSpPr>
        <p:spPr>
          <a:xfrm>
            <a:off x="395536" y="260648"/>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2</a:t>
            </a:r>
            <a:r>
              <a:rPr lang="zh-CN" altLang="en-US" b="1" dirty="0" smtClean="0">
                <a:latin typeface="黑体" pitchFamily="49" charset="-122"/>
                <a:ea typeface="黑体" pitchFamily="49" charset="-122"/>
              </a:rPr>
              <a:t>）成功开发</a:t>
            </a:r>
            <a:r>
              <a:rPr lang="en-US" altLang="zh-CN" b="1" dirty="0" smtClean="0">
                <a:latin typeface="黑体" pitchFamily="49" charset="-122"/>
                <a:ea typeface="黑体" pitchFamily="49" charset="-122"/>
              </a:rPr>
              <a:t>MS-DOS</a:t>
            </a:r>
            <a:r>
              <a:rPr lang="zh-CN" altLang="en-US" b="1" dirty="0" smtClean="0">
                <a:latin typeface="黑体" pitchFamily="49" charset="-122"/>
                <a:ea typeface="黑体" pitchFamily="49" charset="-122"/>
              </a:rPr>
              <a:t>系统</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9890335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2132856"/>
            <a:ext cx="4407024" cy="3658344"/>
          </a:xfrm>
        </p:spPr>
        <p:txBody>
          <a:bodyPr/>
          <a:lstStyle/>
          <a:p>
            <a:pPr marL="0" indent="0">
              <a:buNone/>
            </a:pPr>
            <a:r>
              <a:rPr lang="en-US" altLang="zh-CN" b="1" dirty="0" smtClean="0">
                <a:latin typeface="楷体_GB2312" pitchFamily="49" charset="-122"/>
                <a:ea typeface="楷体_GB2312" pitchFamily="49" charset="-122"/>
              </a:rPr>
              <a:t>20</a:t>
            </a:r>
            <a:r>
              <a:rPr lang="zh-CN" altLang="en-US" b="1" dirty="0" smtClean="0">
                <a:latin typeface="楷体_GB2312" pitchFamily="49" charset="-122"/>
                <a:ea typeface="楷体_GB2312" pitchFamily="49" charset="-122"/>
              </a:rPr>
              <a:t>世纪</a:t>
            </a:r>
            <a:r>
              <a:rPr lang="en-US" altLang="zh-CN" b="1" dirty="0" smtClean="0">
                <a:latin typeface="楷体_GB2312" pitchFamily="49" charset="-122"/>
                <a:ea typeface="楷体_GB2312" pitchFamily="49" charset="-122"/>
              </a:rPr>
              <a:t>80</a:t>
            </a:r>
            <a:r>
              <a:rPr lang="zh-CN" altLang="en-US" b="1" dirty="0" smtClean="0">
                <a:latin typeface="楷体_GB2312" pitchFamily="49" charset="-122"/>
                <a:ea typeface="楷体_GB2312" pitchFamily="49" charset="-122"/>
              </a:rPr>
              <a:t>年代，推出热门产品</a:t>
            </a:r>
            <a:r>
              <a:rPr lang="en-US" altLang="zh-CN" b="1" dirty="0" smtClean="0">
                <a:latin typeface="楷体_GB2312" pitchFamily="49" charset="-122"/>
                <a:ea typeface="楷体_GB2312" pitchFamily="49" charset="-122"/>
              </a:rPr>
              <a:t>Microsoft </a:t>
            </a:r>
            <a:r>
              <a:rPr lang="en-US" altLang="zh-CN" b="1" dirty="0">
                <a:latin typeface="楷体_GB2312" pitchFamily="49" charset="-122"/>
                <a:ea typeface="楷体_GB2312" pitchFamily="49" charset="-122"/>
              </a:rPr>
              <a:t>Works</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1989</a:t>
            </a:r>
            <a:r>
              <a:rPr lang="zh-CN" altLang="en-US" b="1" dirty="0">
                <a:latin typeface="楷体_GB2312" pitchFamily="49" charset="-122"/>
                <a:ea typeface="楷体_GB2312" pitchFamily="49" charset="-122"/>
              </a:rPr>
              <a:t>年推出</a:t>
            </a:r>
            <a:r>
              <a:rPr lang="en-US" altLang="zh-CN" b="1" dirty="0">
                <a:latin typeface="楷体_GB2312" pitchFamily="49" charset="-122"/>
                <a:ea typeface="楷体_GB2312" pitchFamily="49" charset="-122"/>
              </a:rPr>
              <a:t>Office</a:t>
            </a:r>
            <a:r>
              <a:rPr lang="zh-CN" altLang="en-US" b="1" dirty="0" smtClean="0">
                <a:latin typeface="楷体_GB2312" pitchFamily="49" charset="-122"/>
                <a:ea typeface="楷体_GB2312" pitchFamily="49" charset="-122"/>
              </a:rPr>
              <a:t>。包括</a:t>
            </a:r>
            <a:r>
              <a:rPr lang="en-US" altLang="zh-CN" b="1" dirty="0">
                <a:latin typeface="楷体_GB2312" pitchFamily="49" charset="-122"/>
                <a:ea typeface="楷体_GB2312" pitchFamily="49" charset="-122"/>
              </a:rPr>
              <a:t>Word</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Excel</a:t>
            </a:r>
            <a:r>
              <a:rPr lang="zh-CN" altLang="en-US" b="1" dirty="0">
                <a:latin typeface="楷体_GB2312" pitchFamily="49" charset="-122"/>
                <a:ea typeface="楷体_GB2312" pitchFamily="49" charset="-122"/>
              </a:rPr>
              <a:t>，为个人和企业提供了生产力解决方案。很快，</a:t>
            </a:r>
            <a:r>
              <a:rPr lang="en-US" altLang="zh-CN" b="1" dirty="0">
                <a:latin typeface="楷体_GB2312" pitchFamily="49" charset="-122"/>
                <a:ea typeface="楷体_GB2312" pitchFamily="49" charset="-122"/>
              </a:rPr>
              <a:t>Office</a:t>
            </a:r>
            <a:r>
              <a:rPr lang="zh-CN" altLang="en-US" b="1" dirty="0">
                <a:latin typeface="楷体_GB2312" pitchFamily="49" charset="-122"/>
                <a:ea typeface="楷体_GB2312" pitchFamily="49" charset="-122"/>
              </a:rPr>
              <a:t>开始受到市场追捧，并成为微软迄今为止利润最为丰厚的产品。</a:t>
            </a:r>
          </a:p>
        </p:txBody>
      </p:sp>
      <p:pic>
        <p:nvPicPr>
          <p:cNvPr id="3076" name="Picture 4" descr="http://img0.imgtn.bdimg.com/it/u=1269938373,1168899753&amp;fm=20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628800"/>
            <a:ext cx="3960440" cy="4392488"/>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1"/>
          <p:cNvSpPr>
            <a:spLocks noGrp="1"/>
          </p:cNvSpPr>
          <p:nvPr>
            <p:ph type="title"/>
          </p:nvPr>
        </p:nvSpPr>
        <p:spPr>
          <a:xfrm>
            <a:off x="251520" y="260648"/>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3</a:t>
            </a:r>
            <a:r>
              <a:rPr lang="zh-CN" altLang="en-US" b="1" dirty="0" smtClean="0">
                <a:latin typeface="黑体" pitchFamily="49" charset="-122"/>
                <a:ea typeface="黑体" pitchFamily="49" charset="-122"/>
              </a:rPr>
              <a:t>）成功开发</a:t>
            </a:r>
            <a:r>
              <a:rPr lang="en-US" altLang="zh-CN" b="1" dirty="0" smtClean="0">
                <a:latin typeface="黑体" pitchFamily="49" charset="-122"/>
                <a:ea typeface="黑体" pitchFamily="49" charset="-122"/>
              </a:rPr>
              <a:t>Office</a:t>
            </a:r>
            <a:r>
              <a:rPr lang="zh-CN" altLang="en-US" b="1" dirty="0" smtClean="0">
                <a:latin typeface="黑体" pitchFamily="49" charset="-122"/>
                <a:ea typeface="黑体" pitchFamily="49" charset="-122"/>
              </a:rPr>
              <a:t>软件系统</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26277953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07504" y="1837468"/>
            <a:ext cx="4248472" cy="4114800"/>
          </a:xfrm>
        </p:spPr>
        <p:txBody>
          <a:bodyPr/>
          <a:lstStyle/>
          <a:p>
            <a:pPr marL="0" indent="0">
              <a:buNone/>
            </a:pPr>
            <a:r>
              <a:rPr lang="en-US" altLang="zh-CN" b="1" dirty="0" smtClean="0">
                <a:latin typeface="楷体_GB2312" pitchFamily="49" charset="-122"/>
                <a:ea typeface="楷体_GB2312" pitchFamily="49" charset="-122"/>
              </a:rPr>
              <a:t>Windows</a:t>
            </a:r>
            <a:r>
              <a:rPr lang="zh-CN" altLang="en-US" b="1" dirty="0">
                <a:latin typeface="楷体_GB2312" pitchFamily="49" charset="-122"/>
                <a:ea typeface="楷体_GB2312" pitchFamily="49" charset="-122"/>
              </a:rPr>
              <a:t>提供了一个图形用户界面，允许用户更加容易地控制操作系统。该设计让</a:t>
            </a:r>
            <a:r>
              <a:rPr lang="zh-CN" altLang="en-US" b="1" dirty="0" smtClean="0">
                <a:latin typeface="楷体_GB2312" pitchFamily="49" charset="-122"/>
                <a:ea typeface="楷体_GB2312" pitchFamily="49" charset="-122"/>
              </a:rPr>
              <a:t>普通用户</a:t>
            </a:r>
            <a:r>
              <a:rPr lang="zh-CN" altLang="en-US" b="1" dirty="0">
                <a:latin typeface="楷体_GB2312" pitchFamily="49" charset="-122"/>
                <a:ea typeface="楷体_GB2312" pitchFamily="49" charset="-122"/>
              </a:rPr>
              <a:t>更加易于接受</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，也是戴尔等公司的</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产品在上世纪</a:t>
            </a:r>
            <a:r>
              <a:rPr lang="en-US" altLang="zh-CN" b="1" dirty="0">
                <a:latin typeface="楷体_GB2312" pitchFamily="49" charset="-122"/>
                <a:ea typeface="楷体_GB2312" pitchFamily="49" charset="-122"/>
              </a:rPr>
              <a:t>90</a:t>
            </a:r>
            <a:r>
              <a:rPr lang="zh-CN" altLang="en-US" b="1" dirty="0">
                <a:latin typeface="楷体_GB2312" pitchFamily="49" charset="-122"/>
                <a:ea typeface="楷体_GB2312" pitchFamily="49" charset="-122"/>
              </a:rPr>
              <a:t>年代备受欢迎的原因之一。</a:t>
            </a:r>
            <a:r>
              <a:rPr lang="en-US" altLang="zh-CN" b="1" dirty="0">
                <a:latin typeface="楷体_GB2312" pitchFamily="49" charset="-122"/>
                <a:ea typeface="楷体_GB2312" pitchFamily="49" charset="-122"/>
              </a:rPr>
              <a:t>Windows</a:t>
            </a:r>
            <a:r>
              <a:rPr lang="zh-CN" altLang="en-US" b="1" dirty="0">
                <a:latin typeface="楷体_GB2312" pitchFamily="49" charset="-122"/>
                <a:ea typeface="楷体_GB2312" pitchFamily="49" charset="-122"/>
              </a:rPr>
              <a:t>生态系统的爆炸性增长得益于</a:t>
            </a:r>
            <a:r>
              <a:rPr lang="en-US" altLang="zh-CN" b="1" dirty="0">
                <a:latin typeface="楷体_GB2312" pitchFamily="49" charset="-122"/>
                <a:ea typeface="楷体_GB2312" pitchFamily="49" charset="-122"/>
              </a:rPr>
              <a:t>Windows 95</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Windows</a:t>
            </a:r>
            <a:r>
              <a:rPr lang="zh-CN" altLang="en-US" b="1" dirty="0">
                <a:latin typeface="楷体_GB2312" pitchFamily="49" charset="-122"/>
                <a:ea typeface="楷体_GB2312" pitchFamily="49" charset="-122"/>
              </a:rPr>
              <a:t>一度控制着全球</a:t>
            </a:r>
            <a:r>
              <a:rPr lang="en-US" altLang="zh-CN" b="1" dirty="0">
                <a:latin typeface="楷体_GB2312" pitchFamily="49" charset="-122"/>
                <a:ea typeface="楷体_GB2312" pitchFamily="49" charset="-122"/>
              </a:rPr>
              <a:t>90%</a:t>
            </a:r>
            <a:r>
              <a:rPr lang="zh-CN" altLang="en-US" b="1" dirty="0">
                <a:latin typeface="楷体_GB2312" pitchFamily="49" charset="-122"/>
                <a:ea typeface="楷体_GB2312" pitchFamily="49" charset="-122"/>
              </a:rPr>
              <a:t>以上的</a:t>
            </a:r>
            <a:r>
              <a:rPr lang="en-US" altLang="zh-CN" b="1" dirty="0">
                <a:latin typeface="楷体_GB2312" pitchFamily="49" charset="-122"/>
                <a:ea typeface="楷体_GB2312" pitchFamily="49" charset="-122"/>
              </a:rPr>
              <a:t>PC</a:t>
            </a:r>
            <a:r>
              <a:rPr lang="zh-CN" altLang="en-US" b="1" dirty="0">
                <a:latin typeface="楷体_GB2312" pitchFamily="49" charset="-122"/>
                <a:ea typeface="楷体_GB2312" pitchFamily="49" charset="-122"/>
              </a:rPr>
              <a:t>市场。</a:t>
            </a:r>
          </a:p>
        </p:txBody>
      </p:sp>
      <p:pic>
        <p:nvPicPr>
          <p:cNvPr id="16386" name="Picture 2" descr="http://image.evget.com/images/article/2015/microsoft_40_anniversary_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436" y="1772815"/>
            <a:ext cx="4463380" cy="4244107"/>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p:cNvSpPr>
            <a:spLocks noGrp="1"/>
          </p:cNvSpPr>
          <p:nvPr>
            <p:ph type="title"/>
          </p:nvPr>
        </p:nvSpPr>
        <p:spPr>
          <a:xfrm>
            <a:off x="251520" y="260648"/>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4</a:t>
            </a:r>
            <a:r>
              <a:rPr lang="zh-CN" altLang="en-US" b="1" dirty="0" smtClean="0">
                <a:latin typeface="黑体" pitchFamily="49" charset="-122"/>
                <a:ea typeface="黑体" pitchFamily="49" charset="-122"/>
              </a:rPr>
              <a:t>）成功开发</a:t>
            </a:r>
            <a:r>
              <a:rPr lang="en-US" altLang="zh-CN" b="1" dirty="0" smtClean="0">
                <a:latin typeface="黑体" pitchFamily="49" charset="-122"/>
                <a:ea typeface="黑体" pitchFamily="49" charset="-122"/>
              </a:rPr>
              <a:t>Windows</a:t>
            </a:r>
            <a:r>
              <a:rPr lang="zh-CN" altLang="en-US" b="1" dirty="0" smtClean="0">
                <a:latin typeface="黑体" pitchFamily="49" charset="-122"/>
                <a:ea typeface="黑体" pitchFamily="49" charset="-122"/>
              </a:rPr>
              <a:t>系统</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9630197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2060848"/>
            <a:ext cx="4263008" cy="3730351"/>
          </a:xfrm>
        </p:spPr>
        <p:txBody>
          <a:bodyPr/>
          <a:lstStyle/>
          <a:p>
            <a:pPr marL="0" indent="0">
              <a:buNone/>
            </a:pPr>
            <a:r>
              <a:rPr lang="zh-CN" altLang="en-US" b="1" dirty="0" smtClean="0">
                <a:latin typeface="楷体_GB2312" pitchFamily="49" charset="-122"/>
                <a:ea typeface="楷体_GB2312" pitchFamily="49" charset="-122"/>
              </a:rPr>
              <a:t>随着</a:t>
            </a:r>
            <a:r>
              <a:rPr lang="zh-CN" altLang="en-US" b="1" dirty="0">
                <a:latin typeface="楷体_GB2312" pitchFamily="49" charset="-122"/>
                <a:ea typeface="楷体_GB2312" pitchFamily="49" charset="-122"/>
              </a:rPr>
              <a:t>互联网的逐步流行，微软开发了</a:t>
            </a:r>
            <a:r>
              <a:rPr lang="en-US" altLang="zh-CN" b="1" dirty="0">
                <a:latin typeface="楷体_GB2312" pitchFamily="49" charset="-122"/>
                <a:ea typeface="楷体_GB2312" pitchFamily="49" charset="-122"/>
              </a:rPr>
              <a:t>Internet Explorer</a:t>
            </a:r>
            <a:r>
              <a:rPr lang="zh-CN" altLang="en-US" b="1" dirty="0" smtClean="0">
                <a:latin typeface="楷体_GB2312" pitchFamily="49" charset="-122"/>
                <a:ea typeface="楷体_GB2312" pitchFamily="49" charset="-122"/>
              </a:rPr>
              <a:t>。并将</a:t>
            </a:r>
            <a:r>
              <a:rPr lang="en-US" altLang="zh-CN" b="1" dirty="0">
                <a:latin typeface="楷体_GB2312" pitchFamily="49" charset="-122"/>
                <a:ea typeface="楷体_GB2312" pitchFamily="49" charset="-122"/>
              </a:rPr>
              <a:t>IE</a:t>
            </a:r>
            <a:r>
              <a:rPr lang="zh-CN" altLang="en-US" b="1" dirty="0">
                <a:latin typeface="楷体_GB2312" pitchFamily="49" charset="-122"/>
                <a:ea typeface="楷体_GB2312" pitchFamily="49" charset="-122"/>
              </a:rPr>
              <a:t>与</a:t>
            </a:r>
            <a:r>
              <a:rPr lang="en-US" altLang="zh-CN" b="1" dirty="0">
                <a:latin typeface="楷体_GB2312" pitchFamily="49" charset="-122"/>
                <a:ea typeface="楷体_GB2312" pitchFamily="49" charset="-122"/>
              </a:rPr>
              <a:t>Windows</a:t>
            </a:r>
            <a:r>
              <a:rPr lang="zh-CN" altLang="en-US" b="1" dirty="0">
                <a:latin typeface="楷体_GB2312" pitchFamily="49" charset="-122"/>
                <a:ea typeface="楷体_GB2312" pitchFamily="49" charset="-122"/>
              </a:rPr>
              <a:t>相</a:t>
            </a:r>
            <a:r>
              <a:rPr lang="zh-CN" altLang="en-US" b="1" dirty="0" smtClean="0">
                <a:latin typeface="楷体_GB2312" pitchFamily="49" charset="-122"/>
                <a:ea typeface="楷体_GB2312" pitchFamily="49" charset="-122"/>
              </a:rPr>
              <a:t>绑定，从此，</a:t>
            </a:r>
            <a:r>
              <a:rPr lang="en-US" altLang="zh-CN" b="1" dirty="0" smtClean="0">
                <a:latin typeface="楷体_GB2312" pitchFamily="49" charset="-122"/>
                <a:ea typeface="楷体_GB2312" pitchFamily="49" charset="-122"/>
              </a:rPr>
              <a:t>IE</a:t>
            </a:r>
            <a:r>
              <a:rPr lang="zh-CN" altLang="en-US" b="1" dirty="0">
                <a:latin typeface="楷体_GB2312" pitchFamily="49" charset="-122"/>
                <a:ea typeface="楷体_GB2312" pitchFamily="49" charset="-122"/>
              </a:rPr>
              <a:t>一直统治着浏览器</a:t>
            </a:r>
            <a:r>
              <a:rPr lang="zh-CN" altLang="en-US" b="1" dirty="0" smtClean="0">
                <a:latin typeface="楷体_GB2312" pitchFamily="49" charset="-122"/>
                <a:ea typeface="楷体_GB2312" pitchFamily="49" charset="-122"/>
              </a:rPr>
              <a:t>市场。</a:t>
            </a:r>
            <a:r>
              <a:rPr lang="zh-CN" altLang="en-US" b="1" dirty="0">
                <a:latin typeface="楷体_GB2312" pitchFamily="49" charset="-122"/>
                <a:ea typeface="楷体_GB2312" pitchFamily="49" charset="-122"/>
              </a:rPr>
              <a:t>如今，</a:t>
            </a:r>
            <a:r>
              <a:rPr lang="en-US" altLang="zh-CN" b="1" dirty="0">
                <a:latin typeface="楷体_GB2312" pitchFamily="49" charset="-122"/>
                <a:ea typeface="楷体_GB2312" pitchFamily="49" charset="-122"/>
              </a:rPr>
              <a:t>IE</a:t>
            </a:r>
            <a:r>
              <a:rPr lang="zh-CN" altLang="en-US" b="1" dirty="0">
                <a:latin typeface="楷体_GB2312" pitchFamily="49" charset="-122"/>
                <a:ea typeface="楷体_GB2312" pitchFamily="49" charset="-122"/>
              </a:rPr>
              <a:t>即将在今年上市的</a:t>
            </a:r>
            <a:r>
              <a:rPr lang="en-US" altLang="zh-CN" b="1" dirty="0">
                <a:latin typeface="楷体_GB2312" pitchFamily="49" charset="-122"/>
                <a:ea typeface="楷体_GB2312" pitchFamily="49" charset="-122"/>
              </a:rPr>
              <a:t>Windows10</a:t>
            </a:r>
            <a:r>
              <a:rPr lang="zh-CN" altLang="en-US" b="1" dirty="0">
                <a:latin typeface="楷体_GB2312" pitchFamily="49" charset="-122"/>
                <a:ea typeface="楷体_GB2312" pitchFamily="49" charset="-122"/>
              </a:rPr>
              <a:t>中退休，被新款浏览器</a:t>
            </a:r>
            <a:r>
              <a:rPr lang="en-US" altLang="zh-CN" b="1" dirty="0">
                <a:latin typeface="楷体_GB2312" pitchFamily="49" charset="-122"/>
                <a:ea typeface="楷体_GB2312" pitchFamily="49" charset="-122"/>
              </a:rPr>
              <a:t>Spartan</a:t>
            </a:r>
            <a:r>
              <a:rPr lang="zh-CN" altLang="en-US" b="1" dirty="0">
                <a:latin typeface="楷体_GB2312" pitchFamily="49" charset="-122"/>
                <a:ea typeface="楷体_GB2312" pitchFamily="49" charset="-122"/>
              </a:rPr>
              <a:t>顶替</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17410" name="Picture 2" descr="http://image.evget.com/images/article/2015/microsoft_40_anniversary_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861417"/>
            <a:ext cx="4067944" cy="4283968"/>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p:cNvSpPr>
            <a:spLocks noGrp="1"/>
          </p:cNvSpPr>
          <p:nvPr>
            <p:ph type="title"/>
          </p:nvPr>
        </p:nvSpPr>
        <p:spPr>
          <a:xfrm>
            <a:off x="251520" y="260648"/>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5</a:t>
            </a:r>
            <a:r>
              <a:rPr lang="zh-CN" altLang="en-US" b="1" dirty="0" smtClean="0">
                <a:latin typeface="黑体" pitchFamily="49" charset="-122"/>
                <a:ea typeface="黑体" pitchFamily="49" charset="-122"/>
              </a:rPr>
              <a:t>）成功推出</a:t>
            </a:r>
            <a:r>
              <a:rPr lang="en-US" altLang="zh-CN" b="1" dirty="0" smtClean="0">
                <a:latin typeface="黑体" pitchFamily="49" charset="-122"/>
                <a:ea typeface="黑体" pitchFamily="49" charset="-122"/>
              </a:rPr>
              <a:t>IE</a:t>
            </a:r>
            <a:r>
              <a:rPr lang="zh-CN" altLang="en-US" b="1" dirty="0" smtClean="0">
                <a:latin typeface="黑体" pitchFamily="49" charset="-122"/>
                <a:ea typeface="黑体" pitchFamily="49" charset="-122"/>
              </a:rPr>
              <a:t>浏览器</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27002635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9552" y="1916832"/>
            <a:ext cx="4028431" cy="4114800"/>
          </a:xfrm>
        </p:spPr>
        <p:txBody>
          <a:bodyPr/>
          <a:lstStyle/>
          <a:p>
            <a:pPr marL="0" indent="0">
              <a:buNone/>
            </a:pPr>
            <a:r>
              <a:rPr lang="en-US" altLang="zh-CN" b="1" dirty="0" smtClean="0">
                <a:latin typeface="楷体_GB2312" pitchFamily="49" charset="-122"/>
                <a:ea typeface="楷体_GB2312" pitchFamily="49" charset="-122"/>
              </a:rPr>
              <a:t>2000</a:t>
            </a:r>
            <a:r>
              <a:rPr lang="zh-CN" altLang="en-US" b="1" dirty="0">
                <a:latin typeface="楷体_GB2312" pitchFamily="49" charset="-122"/>
                <a:ea typeface="楷体_GB2312" pitchFamily="49" charset="-122"/>
              </a:rPr>
              <a:t>年，微软在美国被指“滥用市场支配地位”，被勒令分拆为两家公司</a:t>
            </a:r>
            <a:r>
              <a:rPr lang="zh-CN" altLang="en-US" b="1" dirty="0" smtClean="0">
                <a:latin typeface="楷体_GB2312" pitchFamily="49" charset="-122"/>
                <a:ea typeface="楷体_GB2312" pitchFamily="49" charset="-122"/>
              </a:rPr>
              <a:t>。在</a:t>
            </a:r>
            <a:r>
              <a:rPr lang="zh-CN" altLang="en-US" b="1" dirty="0">
                <a:latin typeface="楷体_GB2312" pitchFamily="49" charset="-122"/>
                <a:ea typeface="楷体_GB2312" pitchFamily="49" charset="-122"/>
              </a:rPr>
              <a:t>欧盟，</a:t>
            </a:r>
            <a:r>
              <a:rPr lang="zh-CN" altLang="en-US" b="1" dirty="0" smtClean="0">
                <a:latin typeface="楷体_GB2312" pitchFamily="49" charset="-122"/>
                <a:ea typeface="楷体_GB2312" pitchFamily="49" charset="-122"/>
              </a:rPr>
              <a:t>微软被</a:t>
            </a:r>
            <a:r>
              <a:rPr lang="zh-CN" altLang="en-US" b="1" dirty="0">
                <a:latin typeface="楷体_GB2312" pitchFamily="49" charset="-122"/>
                <a:ea typeface="楷体_GB2312" pitchFamily="49" charset="-122"/>
              </a:rPr>
              <a:t>要求在系统中为用户提供多个浏览器选择。欧盟的这一要求使得微软在欧洲的浏览器份额迅速下滑，并产生了数亿美元的罚单。</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436" y="1556792"/>
            <a:ext cx="449064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a:spLocks noGrp="1"/>
          </p:cNvSpPr>
          <p:nvPr>
            <p:ph type="title"/>
          </p:nvPr>
        </p:nvSpPr>
        <p:spPr>
          <a:xfrm>
            <a:off x="251520" y="260648"/>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6</a:t>
            </a:r>
            <a:r>
              <a:rPr lang="zh-CN" altLang="en-US" b="1" dirty="0" smtClean="0">
                <a:latin typeface="黑体" pitchFamily="49" charset="-122"/>
                <a:ea typeface="黑体" pitchFamily="49" charset="-122"/>
              </a:rPr>
              <a:t>）被政府打压</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15842085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2121956"/>
            <a:ext cx="4320480" cy="3658344"/>
          </a:xfrm>
        </p:spPr>
        <p:txBody>
          <a:bodyPr/>
          <a:lstStyle/>
          <a:p>
            <a:pPr marL="0" indent="0">
              <a:buNone/>
            </a:pPr>
            <a:r>
              <a:rPr lang="zh-CN" altLang="en-US" b="1" dirty="0" smtClean="0">
                <a:latin typeface="楷体_GB2312" pitchFamily="49" charset="-122"/>
                <a:ea typeface="楷体_GB2312" pitchFamily="49" charset="-122"/>
              </a:rPr>
              <a:t>史蒂夫</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鲍尔默</a:t>
            </a:r>
            <a:r>
              <a:rPr lang="en-US" altLang="zh-CN" b="1" dirty="0" smtClean="0">
                <a:latin typeface="楷体_GB2312" pitchFamily="49" charset="-122"/>
                <a:ea typeface="楷体_GB2312" pitchFamily="49" charset="-122"/>
              </a:rPr>
              <a:t>(Steve </a:t>
            </a:r>
            <a:r>
              <a:rPr lang="en-US" altLang="zh-CN" b="1" dirty="0">
                <a:latin typeface="楷体_GB2312" pitchFamily="49" charset="-122"/>
                <a:ea typeface="楷体_GB2312" pitchFamily="49" charset="-122"/>
              </a:rPr>
              <a:t>Ballmer)</a:t>
            </a: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1980</a:t>
            </a:r>
            <a:r>
              <a:rPr lang="zh-CN" altLang="en-US" b="1" dirty="0">
                <a:latin typeface="楷体_GB2312" pitchFamily="49" charset="-122"/>
                <a:ea typeface="楷体_GB2312" pitchFamily="49" charset="-122"/>
              </a:rPr>
              <a:t>年加盟微软，在</a:t>
            </a:r>
            <a:r>
              <a:rPr lang="en-US" altLang="zh-CN" b="1" dirty="0">
                <a:latin typeface="楷体_GB2312" pitchFamily="49" charset="-122"/>
                <a:ea typeface="楷体_GB2312" pitchFamily="49" charset="-122"/>
              </a:rPr>
              <a:t>2000</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月被任命为</a:t>
            </a:r>
            <a:r>
              <a:rPr lang="en-US" altLang="zh-CN" b="1" dirty="0">
                <a:latin typeface="楷体_GB2312" pitchFamily="49" charset="-122"/>
                <a:ea typeface="楷体_GB2312" pitchFamily="49" charset="-122"/>
              </a:rPr>
              <a:t>CEO</a:t>
            </a:r>
            <a:r>
              <a:rPr lang="zh-CN" altLang="en-US" b="1" dirty="0" smtClean="0">
                <a:latin typeface="楷体_GB2312" pitchFamily="49" charset="-122"/>
                <a:ea typeface="楷体_GB2312" pitchFamily="49" charset="-122"/>
              </a:rPr>
              <a:t>。盖茨</a:t>
            </a: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2006</a:t>
            </a:r>
            <a:r>
              <a:rPr lang="zh-CN" altLang="en-US" b="1" dirty="0">
                <a:latin typeface="楷体_GB2312" pitchFamily="49" charset="-122"/>
                <a:ea typeface="楷体_GB2312" pitchFamily="49" charset="-122"/>
              </a:rPr>
              <a:t>年完全退出微软的日常</a:t>
            </a:r>
            <a:r>
              <a:rPr lang="zh-CN" altLang="en-US" b="1" dirty="0" smtClean="0">
                <a:latin typeface="楷体_GB2312" pitchFamily="49" charset="-122"/>
                <a:ea typeface="楷体_GB2312" pitchFamily="49" charset="-122"/>
              </a:rPr>
              <a:t>运营，在</a:t>
            </a:r>
            <a:r>
              <a:rPr lang="zh-CN" altLang="en-US" b="1" dirty="0">
                <a:latin typeface="楷体_GB2312" pitchFamily="49" charset="-122"/>
                <a:ea typeface="楷体_GB2312" pitchFamily="49" charset="-122"/>
              </a:rPr>
              <a:t>这之后不久，微软进行了重大管理层重组。</a:t>
            </a: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2852" y="1844824"/>
            <a:ext cx="4223792" cy="3923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a:spLocks noGrp="1"/>
          </p:cNvSpPr>
          <p:nvPr>
            <p:ph type="title"/>
          </p:nvPr>
        </p:nvSpPr>
        <p:spPr>
          <a:xfrm>
            <a:off x="323528" y="188640"/>
            <a:ext cx="8305800" cy="1143000"/>
          </a:xfr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7</a:t>
            </a:r>
            <a:r>
              <a:rPr lang="zh-CN" altLang="en-US" b="1" dirty="0" smtClean="0">
                <a:latin typeface="黑体" pitchFamily="49" charset="-122"/>
                <a:ea typeface="黑体" pitchFamily="49" charset="-122"/>
              </a:rPr>
              <a:t>）</a:t>
            </a:r>
            <a:r>
              <a:rPr lang="zh-CN" altLang="en-US" b="1" dirty="0">
                <a:latin typeface="黑体" pitchFamily="49" charset="-122"/>
                <a:ea typeface="黑体" pitchFamily="49" charset="-122"/>
              </a:rPr>
              <a:t>史蒂夫</a:t>
            </a:r>
            <a:r>
              <a:rPr lang="en-US" altLang="zh-CN" b="1" dirty="0">
                <a:latin typeface="黑体" pitchFamily="49" charset="-122"/>
                <a:ea typeface="黑体" pitchFamily="49" charset="-122"/>
              </a:rPr>
              <a:t>·</a:t>
            </a:r>
            <a:r>
              <a:rPr lang="zh-CN" altLang="en-US" b="1" dirty="0">
                <a:latin typeface="黑体" pitchFamily="49" charset="-122"/>
                <a:ea typeface="黑体" pitchFamily="49" charset="-122"/>
              </a:rPr>
              <a:t>鲍尔默接任</a:t>
            </a:r>
            <a:r>
              <a:rPr lang="en-US" altLang="zh-CN" b="1" dirty="0" smtClean="0">
                <a:latin typeface="黑体" pitchFamily="49" charset="-122"/>
                <a:ea typeface="黑体" pitchFamily="49" charset="-122"/>
              </a:rPr>
              <a:t>CEO</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33299957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403648"/>
            <a:ext cx="3974976" cy="4545632"/>
          </a:xfrm>
        </p:spPr>
        <p:txBody>
          <a:bodyPr/>
          <a:lstStyle/>
          <a:p>
            <a:pPr>
              <a:buClr>
                <a:srgbClr val="C00000"/>
              </a:buClr>
              <a:buFont typeface="Arial" panose="020B0604020202020204" pitchFamily="34" charset="0"/>
              <a:buChar char="•"/>
            </a:pPr>
            <a:r>
              <a:rPr lang="zh-CN" altLang="en-US" b="1" dirty="0">
                <a:latin typeface="楷体_GB2312" pitchFamily="49" charset="-122"/>
                <a:ea typeface="楷体_GB2312" pitchFamily="49" charset="-122"/>
              </a:rPr>
              <a:t>微软的最大错误很可能就是未能预见互联网的</a:t>
            </a:r>
            <a:r>
              <a:rPr lang="zh-CN" altLang="en-US" b="1" dirty="0" smtClean="0">
                <a:latin typeface="楷体_GB2312" pitchFamily="49" charset="-122"/>
                <a:ea typeface="楷体_GB2312" pitchFamily="49" charset="-122"/>
              </a:rPr>
              <a:t>增长。</a:t>
            </a:r>
            <a:endParaRPr lang="en-US" altLang="zh-CN" b="1" dirty="0" smtClean="0">
              <a:latin typeface="楷体_GB2312" pitchFamily="49" charset="-122"/>
              <a:ea typeface="楷体_GB2312" pitchFamily="49" charset="-122"/>
            </a:endParaRPr>
          </a:p>
          <a:p>
            <a:pPr>
              <a:buClr>
                <a:srgbClr val="C00000"/>
              </a:buClr>
              <a:buFont typeface="Arial" panose="020B0604020202020204" pitchFamily="34" charset="0"/>
              <a:buChar char="•"/>
            </a:pPr>
            <a:r>
              <a:rPr lang="en-US" altLang="zh-CN" b="1" dirty="0" smtClean="0">
                <a:latin typeface="楷体_GB2312" pitchFamily="49" charset="-122"/>
                <a:ea typeface="楷体_GB2312" pitchFamily="49" charset="-122"/>
              </a:rPr>
              <a:t>1999</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2000</a:t>
            </a:r>
            <a:r>
              <a:rPr lang="zh-CN" altLang="en-US" b="1" dirty="0" smtClean="0">
                <a:latin typeface="楷体_GB2312" pitchFamily="49" charset="-122"/>
                <a:ea typeface="楷体_GB2312" pitchFamily="49" charset="-122"/>
              </a:rPr>
              <a:t>年，微软</a:t>
            </a:r>
            <a:r>
              <a:rPr lang="zh-CN" altLang="en-US" b="1" dirty="0">
                <a:latin typeface="楷体_GB2312" pitchFamily="49" charset="-122"/>
                <a:ea typeface="楷体_GB2312" pitchFamily="49" charset="-122"/>
              </a:rPr>
              <a:t>坐拥超</a:t>
            </a:r>
            <a:r>
              <a:rPr lang="en-US" altLang="zh-CN" b="1" dirty="0">
                <a:latin typeface="楷体_GB2312" pitchFamily="49" charset="-122"/>
                <a:ea typeface="楷体_GB2312" pitchFamily="49" charset="-122"/>
              </a:rPr>
              <a:t>6000</a:t>
            </a:r>
            <a:r>
              <a:rPr lang="zh-CN" altLang="en-US" b="1" dirty="0">
                <a:latin typeface="楷体_GB2312" pitchFamily="49" charset="-122"/>
                <a:ea typeface="楷体_GB2312" pitchFamily="49" charset="-122"/>
              </a:rPr>
              <a:t>亿美元市值，为全球第一大市值公司。到了</a:t>
            </a:r>
            <a:r>
              <a:rPr lang="en-US" altLang="zh-CN" b="1" dirty="0" smtClean="0">
                <a:latin typeface="楷体_GB2312" pitchFamily="49" charset="-122"/>
                <a:ea typeface="楷体_GB2312" pitchFamily="49" charset="-122"/>
              </a:rPr>
              <a:t>2013</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2014</a:t>
            </a:r>
            <a:r>
              <a:rPr lang="zh-CN" altLang="en-US" b="1" dirty="0">
                <a:latin typeface="楷体_GB2312" pitchFamily="49" charset="-122"/>
                <a:ea typeface="楷体_GB2312" pitchFamily="49" charset="-122"/>
              </a:rPr>
              <a:t>年初，微软的市值已经不足</a:t>
            </a:r>
            <a:r>
              <a:rPr lang="en-US" altLang="zh-CN" b="1" dirty="0">
                <a:latin typeface="楷体_GB2312" pitchFamily="49" charset="-122"/>
                <a:ea typeface="楷体_GB2312" pitchFamily="49" charset="-122"/>
              </a:rPr>
              <a:t>3000</a:t>
            </a:r>
            <a:r>
              <a:rPr lang="zh-CN" altLang="en-US" b="1" dirty="0">
                <a:latin typeface="楷体_GB2312" pitchFamily="49" charset="-122"/>
                <a:ea typeface="楷体_GB2312" pitchFamily="49" charset="-122"/>
              </a:rPr>
              <a:t>亿美元，不到巅峰时期的一半。</a:t>
            </a:r>
          </a:p>
          <a:p>
            <a:pPr>
              <a:buClr>
                <a:srgbClr val="C00000"/>
              </a:buClr>
              <a:buFont typeface="Arial" panose="020B0604020202020204" pitchFamily="34" charset="0"/>
              <a:buChar char="•"/>
            </a:pPr>
            <a:r>
              <a:rPr lang="en-US" altLang="zh-CN" b="1" dirty="0" smtClean="0">
                <a:latin typeface="楷体_GB2312" pitchFamily="49" charset="-122"/>
                <a:ea typeface="楷体_GB2312" pitchFamily="49" charset="-122"/>
              </a:rPr>
              <a:t>14</a:t>
            </a:r>
            <a:r>
              <a:rPr lang="zh-CN" altLang="en-US" b="1" dirty="0">
                <a:latin typeface="楷体_GB2312" pitchFamily="49" charset="-122"/>
                <a:ea typeface="楷体_GB2312" pitchFamily="49" charset="-122"/>
              </a:rPr>
              <a:t>的时间，微软错过了</a:t>
            </a:r>
            <a:r>
              <a:rPr lang="zh-CN" altLang="en-US" b="1" dirty="0" smtClean="0">
                <a:latin typeface="楷体_GB2312" pitchFamily="49" charset="-122"/>
                <a:ea typeface="楷体_GB2312" pitchFamily="49" charset="-122"/>
              </a:rPr>
              <a:t>至少三波</a:t>
            </a:r>
            <a:r>
              <a:rPr lang="zh-CN" altLang="en-US" b="1" dirty="0">
                <a:latin typeface="楷体_GB2312" pitchFamily="49" charset="-122"/>
                <a:ea typeface="楷体_GB2312" pitchFamily="49" charset="-122"/>
              </a:rPr>
              <a:t>浪潮：互联网浪潮，移动互联网浪潮、社交</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251520" y="260648"/>
            <a:ext cx="8640960" cy="114300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8</a:t>
            </a:r>
            <a:r>
              <a:rPr lang="zh-CN" altLang="en-US" b="1" dirty="0" smtClean="0">
                <a:latin typeface="黑体" pitchFamily="49" charset="-122"/>
                <a:ea typeface="黑体" pitchFamily="49" charset="-122"/>
              </a:rPr>
              <a:t>）战略误判</a:t>
            </a:r>
            <a:endParaRPr lang="zh-CN" altLang="en-US" b="1" dirty="0">
              <a:latin typeface="黑体" pitchFamily="49" charset="-122"/>
              <a:ea typeface="黑体" pitchFamily="49" charset="-122"/>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556792"/>
            <a:ext cx="4392488"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378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80298" y="1628800"/>
            <a:ext cx="4046984" cy="4176464"/>
          </a:xfrm>
        </p:spPr>
        <p:txBody>
          <a:bodyPr/>
          <a:lstStyle/>
          <a:p>
            <a:pPr marL="0" indent="0">
              <a:buNone/>
            </a:pPr>
            <a:r>
              <a:rPr lang="zh-CN" altLang="en-US" b="1" dirty="0">
                <a:latin typeface="楷体_GB2312" pitchFamily="49" charset="-122"/>
                <a:ea typeface="楷体_GB2312" pitchFamily="49" charset="-122"/>
              </a:rPr>
              <a:t>微软在</a:t>
            </a:r>
            <a:r>
              <a:rPr lang="en-US" altLang="zh-CN" b="1" dirty="0">
                <a:latin typeface="楷体_GB2312" pitchFamily="49" charset="-122"/>
                <a:ea typeface="楷体_GB2312" pitchFamily="49" charset="-122"/>
              </a:rPr>
              <a:t>2013</a:t>
            </a:r>
            <a:r>
              <a:rPr lang="zh-CN" altLang="en-US" b="1" dirty="0">
                <a:latin typeface="楷体_GB2312" pitchFamily="49" charset="-122"/>
                <a:ea typeface="楷体_GB2312" pitchFamily="49" charset="-122"/>
              </a:rPr>
              <a:t>年出乎意料地宣布鲍尔默将辞去</a:t>
            </a:r>
            <a:r>
              <a:rPr lang="en-US" altLang="zh-CN" b="1" dirty="0">
                <a:latin typeface="楷体_GB2312" pitchFamily="49" charset="-122"/>
                <a:ea typeface="楷体_GB2312" pitchFamily="49" charset="-122"/>
              </a:rPr>
              <a:t>CEO</a:t>
            </a:r>
            <a:r>
              <a:rPr lang="zh-CN" altLang="en-US" b="1" dirty="0">
                <a:latin typeface="楷体_GB2312" pitchFamily="49" charset="-122"/>
                <a:ea typeface="楷体_GB2312" pitchFamily="49" charset="-122"/>
              </a:rPr>
              <a:t>一职</a:t>
            </a:r>
            <a:r>
              <a:rPr lang="zh-CN" altLang="en-US" b="1" dirty="0" smtClean="0">
                <a:latin typeface="楷体_GB2312" pitchFamily="49" charset="-122"/>
                <a:ea typeface="楷体_GB2312" pitchFamily="49" charset="-122"/>
              </a:rPr>
              <a:t>。在</a:t>
            </a:r>
            <a:r>
              <a:rPr lang="en-US" altLang="zh-CN" b="1" dirty="0">
                <a:latin typeface="楷体_GB2312" pitchFamily="49" charset="-122"/>
                <a:ea typeface="楷体_GB2312" pitchFamily="49" charset="-122"/>
              </a:rPr>
              <a:t>2014</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月任命萨蒂亚</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纳德拉</a:t>
            </a:r>
            <a:r>
              <a:rPr lang="en-US" altLang="zh-CN"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Satya</a:t>
            </a: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Nadella</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为公司第三任</a:t>
            </a:r>
            <a:r>
              <a:rPr lang="en-US" altLang="zh-CN" b="1" dirty="0">
                <a:latin typeface="楷体_GB2312" pitchFamily="49" charset="-122"/>
                <a:ea typeface="楷体_GB2312" pitchFamily="49" charset="-122"/>
              </a:rPr>
              <a:t>CEO</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pPr marL="0" indent="0">
              <a:buNone/>
            </a:pPr>
            <a:r>
              <a:rPr lang="zh-CN" altLang="en-US" b="1" dirty="0" smtClean="0">
                <a:latin typeface="楷体_GB2312" pitchFamily="49" charset="-122"/>
                <a:ea typeface="楷体_GB2312" pitchFamily="49" charset="-122"/>
              </a:rPr>
              <a:t>他大刀阔斧</a:t>
            </a:r>
            <a:r>
              <a:rPr lang="zh-CN" altLang="en-US" b="1" dirty="0">
                <a:latin typeface="楷体_GB2312" pitchFamily="49" charset="-122"/>
                <a:ea typeface="楷体_GB2312" pitchFamily="49" charset="-122"/>
              </a:rPr>
              <a:t>进行“自我革命”，砍掉手机业务，放弃</a:t>
            </a:r>
            <a:r>
              <a:rPr lang="en-US" altLang="zh-CN" b="1" dirty="0">
                <a:latin typeface="楷体_GB2312" pitchFamily="49" charset="-122"/>
                <a:ea typeface="楷体_GB2312" pitchFamily="49" charset="-122"/>
              </a:rPr>
              <a:t>Windows Phone</a:t>
            </a:r>
            <a:r>
              <a:rPr lang="zh-CN" altLang="en-US" b="1" dirty="0">
                <a:latin typeface="楷体_GB2312" pitchFamily="49" charset="-122"/>
                <a:ea typeface="楷体_GB2312" pitchFamily="49" charset="-122"/>
              </a:rPr>
              <a:t>，转身拥抱云服务与</a:t>
            </a:r>
            <a:r>
              <a:rPr lang="en-US" altLang="zh-CN" b="1" dirty="0" smtClean="0">
                <a:latin typeface="楷体_GB2312" pitchFamily="49" charset="-122"/>
                <a:ea typeface="楷体_GB2312" pitchFamily="49" charset="-122"/>
              </a:rPr>
              <a:t>AI</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251520" y="260648"/>
            <a:ext cx="8640960" cy="114300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9</a:t>
            </a:r>
            <a:r>
              <a:rPr lang="zh-CN" altLang="en-US" b="1" dirty="0" smtClean="0">
                <a:latin typeface="黑体" pitchFamily="49" charset="-122"/>
                <a:ea typeface="黑体" pitchFamily="49" charset="-122"/>
              </a:rPr>
              <a:t>）纳德拉开启云服务和</a:t>
            </a:r>
            <a:r>
              <a:rPr lang="en-US" altLang="zh-CN" b="1" dirty="0" smtClean="0">
                <a:latin typeface="黑体" pitchFamily="49" charset="-122"/>
                <a:ea typeface="黑体" pitchFamily="49" charset="-122"/>
              </a:rPr>
              <a:t>AI</a:t>
            </a:r>
            <a:endParaRPr lang="zh-CN" altLang="en-US" b="1" dirty="0">
              <a:latin typeface="黑体" pitchFamily="49" charset="-122"/>
              <a:ea typeface="黑体" pitchFamily="49" charset="-122"/>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2066" y="1844824"/>
            <a:ext cx="4258246" cy="3851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2113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81542" y="1484784"/>
            <a:ext cx="8610938" cy="1512168"/>
          </a:xfrm>
        </p:spPr>
        <p:txBody>
          <a:bodyPr/>
          <a:lstStyle/>
          <a:p>
            <a:pPr marL="0" indent="0">
              <a:buNone/>
            </a:pPr>
            <a:r>
              <a:rPr lang="zh-CN" altLang="en-US" b="1" dirty="0" smtClean="0">
                <a:latin typeface="楷体_GB2312" pitchFamily="49" charset="-122"/>
                <a:ea typeface="楷体_GB2312" pitchFamily="49" charset="-122"/>
              </a:rPr>
              <a:t>    在</a:t>
            </a:r>
            <a:r>
              <a:rPr lang="en-US" altLang="zh-CN" b="1" dirty="0">
                <a:latin typeface="楷体_GB2312" pitchFamily="49" charset="-122"/>
                <a:ea typeface="楷体_GB2312" pitchFamily="49" charset="-122"/>
              </a:rPr>
              <a:t>2017</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20</a:t>
            </a:r>
            <a:r>
              <a:rPr lang="zh-CN" altLang="en-US" b="1" dirty="0">
                <a:latin typeface="楷体_GB2312" pitchFamily="49" charset="-122"/>
                <a:ea typeface="楷体_GB2312" pitchFamily="49" charset="-122"/>
              </a:rPr>
              <a:t>日，微软市值再度回归巅峰时刻</a:t>
            </a:r>
            <a:r>
              <a:rPr lang="en-US" altLang="zh-CN" b="1" dirty="0">
                <a:latin typeface="楷体_GB2312" pitchFamily="49" charset="-122"/>
                <a:ea typeface="楷体_GB2312" pitchFamily="49" charset="-122"/>
              </a:rPr>
              <a:t>6000</a:t>
            </a:r>
            <a:r>
              <a:rPr lang="zh-CN" altLang="en-US" b="1" dirty="0">
                <a:latin typeface="楷体_GB2312" pitchFamily="49" charset="-122"/>
                <a:ea typeface="楷体_GB2312" pitchFamily="49" charset="-122"/>
              </a:rPr>
              <a:t>亿</a:t>
            </a:r>
            <a:r>
              <a:rPr lang="zh-CN" altLang="en-US" b="1" dirty="0" smtClean="0">
                <a:latin typeface="楷体_GB2312" pitchFamily="49" charset="-122"/>
                <a:ea typeface="楷体_GB2312" pitchFamily="49" charset="-122"/>
              </a:rPr>
              <a:t>美元；</a:t>
            </a:r>
            <a:r>
              <a:rPr lang="en-US" altLang="zh-CN" b="1" dirty="0" smtClean="0">
                <a:latin typeface="楷体_GB2312" pitchFamily="49" charset="-122"/>
                <a:ea typeface="楷体_GB2312" pitchFamily="49" charset="-122"/>
              </a:rPr>
              <a:t>2019</a:t>
            </a:r>
            <a:r>
              <a:rPr lang="zh-CN" altLang="en-US" b="1" dirty="0" smtClean="0">
                <a:latin typeface="楷体_GB2312" pitchFamily="49" charset="-122"/>
                <a:ea typeface="楷体_GB2312" pitchFamily="49" charset="-122"/>
              </a:rPr>
              <a:t>年</a:t>
            </a:r>
            <a:r>
              <a:rPr lang="en-US" altLang="zh-CN" b="1" dirty="0" smtClean="0">
                <a:latin typeface="楷体_GB2312" pitchFamily="49" charset="-122"/>
                <a:ea typeface="楷体_GB2312" pitchFamily="49" charset="-122"/>
              </a:rPr>
              <a:t>6</a:t>
            </a:r>
            <a:r>
              <a:rPr lang="zh-CN" altLang="en-US" b="1" dirty="0" smtClean="0">
                <a:latin typeface="楷体_GB2312" pitchFamily="49" charset="-122"/>
                <a:ea typeface="楷体_GB2312" pitchFamily="49" charset="-122"/>
              </a:rPr>
              <a:t>月</a:t>
            </a:r>
            <a:r>
              <a:rPr lang="en-US" altLang="zh-CN" b="1" dirty="0" smtClean="0">
                <a:latin typeface="楷体_GB2312" pitchFamily="49" charset="-122"/>
                <a:ea typeface="楷体_GB2312" pitchFamily="49" charset="-122"/>
              </a:rPr>
              <a:t>7</a:t>
            </a:r>
            <a:r>
              <a:rPr lang="zh-CN" altLang="en-US" b="1" dirty="0" smtClean="0">
                <a:latin typeface="楷体_GB2312" pitchFamily="49" charset="-122"/>
                <a:ea typeface="楷体_GB2312" pitchFamily="49" charset="-122"/>
              </a:rPr>
              <a:t>日至今，微软市值一直保持在万亿美元以上，是低谷时期市值的</a:t>
            </a:r>
            <a:r>
              <a:rPr lang="en-US" altLang="zh-CN" b="1" dirty="0" smtClean="0">
                <a:latin typeface="楷体_GB2312" pitchFamily="49" charset="-122"/>
                <a:ea typeface="楷体_GB2312" pitchFamily="49" charset="-122"/>
              </a:rPr>
              <a:t>3</a:t>
            </a:r>
            <a:r>
              <a:rPr lang="zh-CN" altLang="en-US" b="1" dirty="0">
                <a:latin typeface="楷体_GB2312" pitchFamily="49" charset="-122"/>
                <a:ea typeface="楷体_GB2312" pitchFamily="49" charset="-122"/>
              </a:rPr>
              <a:t>倍</a:t>
            </a:r>
            <a:r>
              <a:rPr lang="zh-CN" altLang="en-US" b="1" dirty="0" smtClean="0">
                <a:latin typeface="楷体_GB2312" pitchFamily="49" charset="-122"/>
                <a:ea typeface="楷体_GB2312" pitchFamily="49" charset="-122"/>
              </a:rPr>
              <a:t>。纳德拉</a:t>
            </a:r>
            <a:r>
              <a:rPr lang="zh-CN" altLang="en-US" b="1" dirty="0">
                <a:latin typeface="楷体_GB2312" pitchFamily="49" charset="-122"/>
                <a:ea typeface="楷体_GB2312" pitchFamily="49" charset="-122"/>
              </a:rPr>
              <a:t>也用</a:t>
            </a: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年时光，实现微软市值长达近</a:t>
            </a:r>
            <a:r>
              <a:rPr lang="en-US" altLang="zh-CN" b="1" dirty="0">
                <a:latin typeface="楷体_GB2312" pitchFamily="49" charset="-122"/>
                <a:ea typeface="楷体_GB2312" pitchFamily="49" charset="-122"/>
              </a:rPr>
              <a:t>20</a:t>
            </a:r>
            <a:r>
              <a:rPr lang="zh-CN" altLang="en-US" b="1" dirty="0">
                <a:latin typeface="楷体_GB2312" pitchFamily="49" charset="-122"/>
                <a:ea typeface="楷体_GB2312" pitchFamily="49" charset="-122"/>
              </a:rPr>
              <a:t>年的</a:t>
            </a:r>
            <a:r>
              <a:rPr lang="en-US" altLang="zh-CN" b="1" dirty="0">
                <a:latin typeface="楷体_GB2312" pitchFamily="49" charset="-122"/>
                <a:ea typeface="楷体_GB2312" pitchFamily="49" charset="-122"/>
              </a:rPr>
              <a:t>U</a:t>
            </a:r>
            <a:r>
              <a:rPr lang="zh-CN" altLang="en-US" b="1" dirty="0">
                <a:latin typeface="楷体_GB2312" pitchFamily="49" charset="-122"/>
                <a:ea typeface="楷体_GB2312" pitchFamily="49" charset="-122"/>
              </a:rPr>
              <a:t>型大</a:t>
            </a:r>
            <a:r>
              <a:rPr lang="zh-CN" altLang="en-US" b="1" dirty="0" smtClean="0">
                <a:latin typeface="楷体_GB2312" pitchFamily="49" charset="-122"/>
                <a:ea typeface="楷体_GB2312" pitchFamily="49" charset="-122"/>
              </a:rPr>
              <a:t>逆转，</a:t>
            </a:r>
            <a:r>
              <a:rPr lang="en-US" altLang="zh-CN" b="1" dirty="0" smtClean="0">
                <a:latin typeface="楷体_GB2312" pitchFamily="49" charset="-122"/>
                <a:ea typeface="楷体_GB2312" pitchFamily="49" charset="-122"/>
              </a:rPr>
              <a:t>2017</a:t>
            </a:r>
            <a:r>
              <a:rPr lang="zh-CN" altLang="en-US" b="1" dirty="0" smtClean="0">
                <a:latin typeface="楷体_GB2312" pitchFamily="49" charset="-122"/>
                <a:ea typeface="楷体_GB2312" pitchFamily="49" charset="-122"/>
              </a:rPr>
              <a:t>年，微软</a:t>
            </a:r>
            <a:r>
              <a:rPr lang="zh-CN" altLang="en-US" b="1" dirty="0">
                <a:latin typeface="楷体_GB2312" pitchFamily="49" charset="-122"/>
                <a:ea typeface="楷体_GB2312" pitchFamily="49" charset="-122"/>
              </a:rPr>
              <a:t>的股价飙升了</a:t>
            </a:r>
            <a:r>
              <a:rPr lang="en-US" altLang="zh-CN" b="1" dirty="0">
                <a:latin typeface="楷体_GB2312" pitchFamily="49" charset="-122"/>
                <a:ea typeface="楷体_GB2312" pitchFamily="49" charset="-122"/>
              </a:rPr>
              <a:t>40</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251520" y="260648"/>
            <a:ext cx="8640960" cy="114300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10</a:t>
            </a:r>
            <a:r>
              <a:rPr lang="zh-CN" altLang="en-US" b="1" dirty="0" smtClean="0">
                <a:latin typeface="黑体" pitchFamily="49" charset="-122"/>
                <a:ea typeface="黑体" pitchFamily="49" charset="-122"/>
              </a:rPr>
              <a:t>）微软重回巅峰</a:t>
            </a:r>
            <a:endParaRPr lang="en-US" altLang="zh-CN" b="1" dirty="0" smtClean="0">
              <a:latin typeface="黑体" pitchFamily="49" charset="-122"/>
              <a:ea typeface="黑体" pitchFamily="49" charset="-122"/>
            </a:endParaRPr>
          </a:p>
        </p:txBody>
      </p:sp>
      <p:pic>
        <p:nvPicPr>
          <p:cNvPr id="8194" name="Picture 2" descr="http://inews.gtimg.com/newsapp_bt/0/3840376284/6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314" y="3429000"/>
            <a:ext cx="8352928"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2906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620688"/>
            <a:ext cx="8305800" cy="5184576"/>
          </a:xfrm>
        </p:spPr>
        <p:txBody>
          <a:bodyPr/>
          <a:lstStyle/>
          <a:p>
            <a:pPr>
              <a:lnSpc>
                <a:spcPct val="150000"/>
              </a:lnSpc>
            </a:pPr>
            <a:r>
              <a:rPr lang="zh-CN" altLang="en-US" sz="4000" b="1" dirty="0" smtClean="0">
                <a:solidFill>
                  <a:srgbClr val="7030A0"/>
                </a:solidFill>
                <a:latin typeface="楷体_GB2312" pitchFamily="49" charset="-122"/>
                <a:ea typeface="楷体_GB2312" pitchFamily="49" charset="-122"/>
              </a:rPr>
              <a:t>微软是创新与市场机会相结合的成功典范！</a:t>
            </a:r>
            <a:endParaRPr lang="en-US" altLang="zh-CN" sz="4000" b="1" dirty="0" smtClean="0">
              <a:solidFill>
                <a:srgbClr val="7030A0"/>
              </a:solidFill>
              <a:latin typeface="楷体_GB2312" pitchFamily="49" charset="-122"/>
              <a:ea typeface="楷体_GB2312" pitchFamily="49" charset="-122"/>
            </a:endParaRPr>
          </a:p>
          <a:p>
            <a:pPr>
              <a:lnSpc>
                <a:spcPct val="150000"/>
              </a:lnSpc>
            </a:pPr>
            <a:r>
              <a:rPr lang="zh-CN" altLang="en-US" sz="4000" b="1" dirty="0" smtClean="0">
                <a:solidFill>
                  <a:srgbClr val="7030A0"/>
                </a:solidFill>
                <a:latin typeface="楷体_GB2312" pitchFamily="49" charset="-122"/>
                <a:ea typeface="楷体_GB2312" pitchFamily="49" charset="-122"/>
              </a:rPr>
              <a:t>类似伟大的企业还有很多：谷歌、惠普、思科、通用</a:t>
            </a:r>
            <a:r>
              <a:rPr lang="en-US" altLang="zh-CN" sz="4000" b="1" dirty="0" smtClean="0">
                <a:solidFill>
                  <a:srgbClr val="7030A0"/>
                </a:solidFill>
                <a:latin typeface="楷体_GB2312" pitchFamily="49" charset="-122"/>
                <a:ea typeface="楷体_GB2312" pitchFamily="49" charset="-122"/>
              </a:rPr>
              <a:t>……</a:t>
            </a:r>
          </a:p>
          <a:p>
            <a:pPr>
              <a:lnSpc>
                <a:spcPct val="150000"/>
              </a:lnSpc>
            </a:pPr>
            <a:r>
              <a:rPr lang="zh-CN" altLang="en-US" sz="4000" b="1" dirty="0" smtClean="0">
                <a:solidFill>
                  <a:srgbClr val="7030A0"/>
                </a:solidFill>
                <a:latin typeface="楷体_GB2312" pitchFamily="49" charset="-122"/>
                <a:ea typeface="楷体_GB2312" pitchFamily="49" charset="-122"/>
              </a:rPr>
              <a:t>创新</a:t>
            </a:r>
            <a:r>
              <a:rPr lang="zh-CN" altLang="en-US" sz="4000" b="1" dirty="0">
                <a:solidFill>
                  <a:srgbClr val="7030A0"/>
                </a:solidFill>
                <a:latin typeface="楷体_GB2312" pitchFamily="49" charset="-122"/>
                <a:ea typeface="楷体_GB2312" pitchFamily="49" charset="-122"/>
              </a:rPr>
              <a:t>的概念和内涵是什么？</a:t>
            </a:r>
            <a:endParaRPr lang="zh-CN" altLang="zh-CN" sz="4000" b="1" dirty="0">
              <a:solidFill>
                <a:srgbClr val="7030A0"/>
              </a:solidFill>
              <a:latin typeface="楷体_GB2312" pitchFamily="49" charset="-122"/>
              <a:ea typeface="楷体_GB2312" pitchFamily="49" charset="-122"/>
            </a:endParaRPr>
          </a:p>
          <a:p>
            <a:endParaRPr lang="zh-CN" altLang="en-US" sz="4000" dirty="0"/>
          </a:p>
        </p:txBody>
      </p:sp>
    </p:spTree>
    <p:extLst>
      <p:ext uri="{BB962C8B-B14F-4D97-AF65-F5344CB8AC3E}">
        <p14:creationId xmlns:p14="http://schemas.microsoft.com/office/powerpoint/2010/main" val="26842398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1916832"/>
            <a:ext cx="8305800" cy="3874368"/>
          </a:xfrm>
        </p:spPr>
        <p:txBody>
          <a:bodyPr/>
          <a:lstStyle/>
          <a:p>
            <a:r>
              <a:rPr lang="zh-CN" altLang="en-US" dirty="0" smtClean="0">
                <a:latin typeface="仿宋_GB2312" pitchFamily="49" charset="-122"/>
                <a:ea typeface="仿宋_GB2312" pitchFamily="49" charset="-122"/>
              </a:rPr>
              <a:t>所谓创新（</a:t>
            </a:r>
            <a:r>
              <a:rPr lang="en-US" altLang="zh-CN" dirty="0" smtClean="0">
                <a:latin typeface="仿宋_GB2312" pitchFamily="49" charset="-122"/>
                <a:ea typeface="仿宋_GB2312" pitchFamily="49" charset="-122"/>
              </a:rPr>
              <a:t>Innovation</a:t>
            </a:r>
            <a:r>
              <a:rPr lang="zh-CN" altLang="en-US" dirty="0" smtClean="0">
                <a:latin typeface="仿宋_GB2312" pitchFamily="49" charset="-122"/>
                <a:ea typeface="仿宋_GB2312" pitchFamily="49" charset="-122"/>
              </a:rPr>
              <a:t>）是指</a:t>
            </a:r>
            <a:r>
              <a:rPr lang="zh-CN" altLang="en-US" b="1" dirty="0" smtClean="0">
                <a:latin typeface="仿宋_GB2312" pitchFamily="49" charset="-122"/>
                <a:ea typeface="仿宋_GB2312" pitchFamily="49" charset="-122"/>
              </a:rPr>
              <a:t>把一种从来没有过的关于生产要素的“新组合”引入生产体系</a:t>
            </a:r>
            <a:r>
              <a:rPr lang="zh-CN" altLang="en-US" dirty="0" smtClean="0">
                <a:latin typeface="仿宋_GB2312" pitchFamily="49" charset="-122"/>
                <a:ea typeface="仿宋_GB2312" pitchFamily="49" charset="-122"/>
              </a:rPr>
              <a:t>。</a:t>
            </a:r>
            <a:endParaRPr lang="en-US" altLang="zh-CN" dirty="0" smtClean="0">
              <a:latin typeface="仿宋_GB2312" pitchFamily="49" charset="-122"/>
              <a:ea typeface="仿宋_GB2312" pitchFamily="49" charset="-122"/>
            </a:endParaRPr>
          </a:p>
          <a:p>
            <a:r>
              <a:rPr lang="zh-CN" altLang="en-US" dirty="0" smtClean="0">
                <a:latin typeface="仿宋_GB2312" pitchFamily="49" charset="-122"/>
                <a:ea typeface="仿宋_GB2312" pitchFamily="49" charset="-122"/>
              </a:rPr>
              <a:t>这种新组合包括以下内容</a:t>
            </a:r>
            <a:r>
              <a:rPr lang="zh-CN" altLang="en-US" dirty="0" smtClean="0">
                <a:latin typeface="仿宋_GB2312" pitchFamily="49" charset="-122"/>
                <a:ea typeface="仿宋_GB2312" pitchFamily="49" charset="-122"/>
                <a:sym typeface="Wingdings" pitchFamily="2" charset="2"/>
              </a:rPr>
              <a:t>：</a:t>
            </a:r>
            <a:r>
              <a:rPr lang="zh-CN" altLang="en-US" b="1" dirty="0" smtClean="0">
                <a:latin typeface="仿宋_GB2312" pitchFamily="49" charset="-122"/>
                <a:ea typeface="仿宋_GB2312" pitchFamily="49" charset="-122"/>
                <a:sym typeface="Wingdings" pitchFamily="2" charset="2"/>
              </a:rPr>
              <a:t>（</a:t>
            </a:r>
            <a:r>
              <a:rPr lang="en-US" altLang="zh-CN" b="1" dirty="0" smtClean="0">
                <a:latin typeface="仿宋_GB2312" pitchFamily="49" charset="-122"/>
                <a:ea typeface="仿宋_GB2312" pitchFamily="49" charset="-122"/>
                <a:sym typeface="Wingdings" pitchFamily="2" charset="2"/>
              </a:rPr>
              <a:t>1</a:t>
            </a:r>
            <a:r>
              <a:rPr lang="zh-CN" altLang="en-US" b="1" dirty="0" smtClean="0">
                <a:latin typeface="仿宋_GB2312" pitchFamily="49" charset="-122"/>
                <a:ea typeface="仿宋_GB2312" pitchFamily="49" charset="-122"/>
              </a:rPr>
              <a:t>）引进新产品；（</a:t>
            </a:r>
            <a:r>
              <a:rPr lang="en-US" altLang="zh-CN" b="1" dirty="0" smtClean="0">
                <a:latin typeface="仿宋_GB2312" pitchFamily="49" charset="-122"/>
                <a:ea typeface="仿宋_GB2312" pitchFamily="49" charset="-122"/>
              </a:rPr>
              <a:t>2</a:t>
            </a:r>
            <a:r>
              <a:rPr lang="zh-CN" altLang="en-US" b="1" dirty="0" smtClean="0">
                <a:latin typeface="仿宋_GB2312" pitchFamily="49" charset="-122"/>
                <a:ea typeface="仿宋_GB2312" pitchFamily="49" charset="-122"/>
              </a:rPr>
              <a:t>）引用新技术；（</a:t>
            </a:r>
            <a:r>
              <a:rPr lang="en-US" altLang="zh-CN" b="1" dirty="0" smtClean="0">
                <a:latin typeface="仿宋_GB2312" pitchFamily="49" charset="-122"/>
                <a:ea typeface="仿宋_GB2312" pitchFamily="49" charset="-122"/>
              </a:rPr>
              <a:t>3</a:t>
            </a:r>
            <a:r>
              <a:rPr lang="zh-CN" altLang="en-US" b="1" dirty="0" smtClean="0">
                <a:latin typeface="仿宋_GB2312" pitchFamily="49" charset="-122"/>
                <a:ea typeface="仿宋_GB2312" pitchFamily="49" charset="-122"/>
              </a:rPr>
              <a:t>）开辟新市场；（</a:t>
            </a:r>
            <a:r>
              <a:rPr lang="en-US" altLang="zh-CN" b="1" dirty="0" smtClean="0">
                <a:latin typeface="仿宋_GB2312" pitchFamily="49" charset="-122"/>
                <a:ea typeface="仿宋_GB2312" pitchFamily="49" charset="-122"/>
              </a:rPr>
              <a:t>4</a:t>
            </a:r>
            <a:r>
              <a:rPr lang="zh-CN" altLang="en-US" b="1" dirty="0" smtClean="0">
                <a:latin typeface="仿宋_GB2312" pitchFamily="49" charset="-122"/>
                <a:ea typeface="仿宋_GB2312" pitchFamily="49" charset="-122"/>
              </a:rPr>
              <a:t>）控制原材料新的供应来源；（</a:t>
            </a:r>
            <a:r>
              <a:rPr lang="en-US" altLang="zh-CN" b="1" dirty="0" smtClean="0">
                <a:latin typeface="仿宋_GB2312" pitchFamily="49" charset="-122"/>
                <a:ea typeface="仿宋_GB2312" pitchFamily="49" charset="-122"/>
              </a:rPr>
              <a:t>5</a:t>
            </a:r>
            <a:r>
              <a:rPr lang="zh-CN" altLang="en-US" b="1" dirty="0" smtClean="0">
                <a:latin typeface="仿宋_GB2312" pitchFamily="49" charset="-122"/>
                <a:ea typeface="仿宋_GB2312" pitchFamily="49" charset="-122"/>
              </a:rPr>
              <a:t>）实现工业的新组织</a:t>
            </a:r>
            <a:r>
              <a:rPr lang="zh-CN" altLang="en-US" dirty="0" smtClean="0">
                <a:latin typeface="仿宋_GB2312" pitchFamily="49" charset="-122"/>
                <a:ea typeface="仿宋_GB2312" pitchFamily="49" charset="-122"/>
              </a:rPr>
              <a:t>。</a:t>
            </a:r>
            <a:endParaRPr lang="en-US" altLang="zh-CN" dirty="0" smtClean="0">
              <a:latin typeface="仿宋_GB2312" pitchFamily="49" charset="-122"/>
              <a:ea typeface="仿宋_GB2312" pitchFamily="49" charset="-122"/>
            </a:endParaRPr>
          </a:p>
          <a:p>
            <a:r>
              <a:rPr lang="zh-CN" altLang="en-US" dirty="0">
                <a:latin typeface="仿宋_GB2312" pitchFamily="49" charset="-122"/>
                <a:ea typeface="仿宋_GB2312" pitchFamily="49" charset="-122"/>
              </a:rPr>
              <a:t>熊彼特</a:t>
            </a:r>
            <a:r>
              <a:rPr lang="zh-CN" altLang="en-US" dirty="0" smtClean="0">
                <a:latin typeface="仿宋_GB2312" pitchFamily="49" charset="-122"/>
                <a:ea typeface="仿宋_GB2312" pitchFamily="49" charset="-122"/>
              </a:rPr>
              <a:t>的创新概念，含义相当广泛，是指各种可提高资源配置效率的新活动，这些活动既有技术相关的，也有制度相关的，既有国家主导的，更多的是企业主导的。</a:t>
            </a:r>
            <a:endParaRPr lang="en-US" altLang="zh-CN" dirty="0" smtClean="0">
              <a:latin typeface="仿宋_GB2312" pitchFamily="49" charset="-122"/>
              <a:ea typeface="仿宋_GB2312" pitchFamily="49" charset="-122"/>
            </a:endParaRPr>
          </a:p>
          <a:p>
            <a:r>
              <a:rPr lang="zh-CN" altLang="en-US" b="1" dirty="0" smtClean="0">
                <a:latin typeface="仿宋_GB2312" pitchFamily="49" charset="-122"/>
                <a:ea typeface="仿宋_GB2312" pitchFamily="49" charset="-122"/>
              </a:rPr>
              <a:t>案例：吉利的汽车梦</a:t>
            </a:r>
            <a:endParaRPr lang="zh-CN" altLang="en-US" b="1" dirty="0">
              <a:latin typeface="仿宋_GB2312" pitchFamily="49" charset="-122"/>
              <a:ea typeface="仿宋_GB2312" pitchFamily="49" charset="-122"/>
            </a:endParaRPr>
          </a:p>
        </p:txBody>
      </p:sp>
      <p:sp>
        <p:nvSpPr>
          <p:cNvPr id="4" name="标题 1"/>
          <p:cNvSpPr>
            <a:spLocks noGrp="1"/>
          </p:cNvSpPr>
          <p:nvPr>
            <p:ph type="title"/>
          </p:nvPr>
        </p:nvSpPr>
        <p:spPr>
          <a:solidFill>
            <a:srgbClr val="FFFF00"/>
          </a:solidFill>
        </p:spPr>
        <p:txBody>
          <a:bodyPr/>
          <a:lstStyle/>
          <a:p>
            <a:r>
              <a:rPr lang="zh-CN" altLang="en-US" sz="4800" b="1" dirty="0" smtClean="0">
                <a:latin typeface="黑体" pitchFamily="49" charset="-122"/>
                <a:ea typeface="黑体" pitchFamily="49" charset="-122"/>
              </a:rPr>
              <a:t>二、创新的概念</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2729666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0286" y="1556792"/>
            <a:ext cx="8305800" cy="2232248"/>
          </a:xfrm>
        </p:spPr>
        <p:txBody>
          <a:bodyPr/>
          <a:lstStyle/>
          <a:p>
            <a:r>
              <a:rPr lang="zh-CN" altLang="en-US" b="1" dirty="0">
                <a:latin typeface="楷体_GB2312" pitchFamily="49" charset="-122"/>
                <a:ea typeface="楷体_GB2312" pitchFamily="49" charset="-122"/>
              </a:rPr>
              <a:t>浙江吉利控股集团始建于</a:t>
            </a:r>
            <a:r>
              <a:rPr lang="en-US" altLang="zh-CN" b="1" dirty="0">
                <a:latin typeface="楷体_GB2312" pitchFamily="49" charset="-122"/>
                <a:ea typeface="楷体_GB2312" pitchFamily="49" charset="-122"/>
              </a:rPr>
              <a:t>1986</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1997</a:t>
            </a:r>
            <a:r>
              <a:rPr lang="zh-CN" altLang="en-US" b="1" dirty="0">
                <a:latin typeface="楷体_GB2312" pitchFamily="49" charset="-122"/>
                <a:ea typeface="楷体_GB2312" pitchFamily="49" charset="-122"/>
              </a:rPr>
              <a:t>年进入汽车行业，多年来专注实业，专注技术创新和人才培养，取得了快速发展。现资产总值超过千亿元，连续五年进入世界</a:t>
            </a:r>
            <a:r>
              <a:rPr lang="en-US" altLang="zh-CN" b="1" dirty="0">
                <a:latin typeface="楷体_GB2312" pitchFamily="49" charset="-122"/>
                <a:ea typeface="楷体_GB2312" pitchFamily="49" charset="-122"/>
              </a:rPr>
              <a:t>500</a:t>
            </a:r>
            <a:r>
              <a:rPr lang="zh-CN" altLang="en-US" b="1" dirty="0">
                <a:latin typeface="楷体_GB2312" pitchFamily="49" charset="-122"/>
                <a:ea typeface="楷体_GB2312" pitchFamily="49" charset="-122"/>
              </a:rPr>
              <a:t>强，连续十二年进入中国企业</a:t>
            </a:r>
            <a:r>
              <a:rPr lang="en-US" altLang="zh-CN" b="1" dirty="0">
                <a:latin typeface="楷体_GB2312" pitchFamily="49" charset="-122"/>
                <a:ea typeface="楷体_GB2312" pitchFamily="49" charset="-122"/>
              </a:rPr>
              <a:t>500</a:t>
            </a:r>
            <a:r>
              <a:rPr lang="zh-CN" altLang="en-US" b="1" dirty="0">
                <a:latin typeface="楷体_GB2312" pitchFamily="49" charset="-122"/>
                <a:ea typeface="楷体_GB2312" pitchFamily="49" charset="-122"/>
              </a:rPr>
              <a:t>强，连续九年进入中国汽车行业十强，是国家“创新型企业”和“国家汽车整车出口基地企业”。</a:t>
            </a:r>
          </a:p>
        </p:txBody>
      </p:sp>
      <p:sp>
        <p:nvSpPr>
          <p:cNvPr id="5" name="标题 1"/>
          <p:cNvSpPr txBox="1">
            <a:spLocks/>
          </p:cNvSpPr>
          <p:nvPr/>
        </p:nvSpPr>
        <p:spPr bwMode="auto">
          <a:xfrm>
            <a:off x="539552" y="260648"/>
            <a:ext cx="8136904" cy="114300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81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案例：吉利的汽车梦</a:t>
            </a:r>
            <a:endParaRPr lang="zh-CN" altLang="en-US" b="1" dirty="0">
              <a:latin typeface="黑体" pitchFamily="49" charset="-122"/>
              <a:ea typeface="黑体"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176" y="3933056"/>
            <a:ext cx="3801398"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933056"/>
            <a:ext cx="3816424"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05990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305800" cy="1143000"/>
          </a:xfrm>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2</a:t>
            </a:r>
            <a:r>
              <a:rPr lang="zh-CN" altLang="en-US" b="1" dirty="0" smtClean="0">
                <a:latin typeface="黑体" pitchFamily="49" charset="-122"/>
                <a:ea typeface="黑体" pitchFamily="49" charset="-122"/>
              </a:rPr>
              <a:t>）艰难起步</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467544" y="1088740"/>
            <a:ext cx="4983088" cy="5112568"/>
          </a:xfrm>
        </p:spPr>
        <p:txBody>
          <a:bodyPr/>
          <a:lstStyle/>
          <a:p>
            <a:r>
              <a:rPr lang="zh-CN" altLang="en-US" b="1" dirty="0" smtClean="0">
                <a:latin typeface="楷体_GB2312" pitchFamily="49" charset="-122"/>
                <a:ea typeface="楷体_GB2312" pitchFamily="49" charset="-122"/>
              </a:rPr>
              <a:t>造摩托车淘到第一桶金</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汽车就是摩托车加两个轮子</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1</a:t>
            </a:r>
            <a:r>
              <a:rPr lang="zh-CN" altLang="en-US" b="1" dirty="0" smtClean="0">
                <a:latin typeface="楷体_GB2312" pitchFamily="49" charset="-122"/>
                <a:ea typeface="楷体_GB2312" pitchFamily="49" charset="-122"/>
              </a:rPr>
              <a:t>亿元资金仿制夏利</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汽车许可证来自四川德阳的监狱工厂</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造</a:t>
            </a:r>
            <a:r>
              <a:rPr lang="zh-CN" altLang="en-US" b="1" dirty="0" smtClean="0">
                <a:latin typeface="楷体_GB2312" pitchFamily="49" charset="-122"/>
                <a:ea typeface="楷体_GB2312" pitchFamily="49" charset="-122"/>
              </a:rPr>
              <a:t>出吉利“豪情”</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“做中国最便宜的轿车”</a:t>
            </a:r>
            <a:endParaRPr lang="en-US" altLang="zh-CN" b="1"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“请允许民营企业大胆尝试，允许民营企业家做轿车梦。”</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生死李书福</a:t>
            </a:r>
            <a:r>
              <a:rPr lang="en-US" altLang="zh-CN" b="1" dirty="0" smtClean="0">
                <a:latin typeface="楷体_GB2312" pitchFamily="49" charset="-122"/>
                <a:ea typeface="楷体_GB2312" pitchFamily="49" charset="-122"/>
              </a:rPr>
              <a:t>》</a:t>
            </a:r>
          </a:p>
          <a:p>
            <a:r>
              <a:rPr lang="en-US" altLang="zh-CN" b="1" dirty="0">
                <a:latin typeface="楷体_GB2312" pitchFamily="49" charset="-122"/>
                <a:ea typeface="楷体_GB2312" pitchFamily="49" charset="-122"/>
              </a:rPr>
              <a:t>11</a:t>
            </a:r>
            <a:r>
              <a:rPr lang="zh-CN" altLang="zh-CN"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9</a:t>
            </a:r>
            <a:r>
              <a:rPr lang="zh-CN" altLang="zh-CN" b="1" dirty="0">
                <a:latin typeface="楷体_GB2312" pitchFamily="49" charset="-122"/>
                <a:ea typeface="楷体_GB2312" pitchFamily="49" charset="-122"/>
              </a:rPr>
              <a:t>日，有关部门突然增发一批汽车许可公告，“吉利</a:t>
            </a:r>
            <a:r>
              <a:rPr lang="en-US" altLang="zh-CN" b="1" dirty="0">
                <a:latin typeface="楷体_GB2312" pitchFamily="49" charset="-122"/>
                <a:ea typeface="楷体_GB2312" pitchFamily="49" charset="-122"/>
              </a:rPr>
              <a:t>JL6360</a:t>
            </a:r>
            <a:r>
              <a:rPr lang="zh-CN" altLang="zh-CN" b="1" dirty="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endParaRPr lang="en-US" altLang="zh-CN" b="1" dirty="0" smtClean="0"/>
          </a:p>
          <a:p>
            <a:endParaRPr lang="zh-CN" alt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188640"/>
            <a:ext cx="3563888" cy="285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5892" y="3212976"/>
            <a:ext cx="2664296" cy="2852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51620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3</a:t>
            </a:r>
            <a:r>
              <a:rPr lang="zh-CN" altLang="en-US" b="1" dirty="0" smtClean="0">
                <a:latin typeface="黑体" pitchFamily="49" charset="-122"/>
                <a:ea typeface="黑体" pitchFamily="49" charset="-122"/>
              </a:rPr>
              <a:t>）科技创新</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395536" y="1628800"/>
            <a:ext cx="3816424" cy="4248472"/>
          </a:xfrm>
        </p:spPr>
        <p:txBody>
          <a:bodyPr/>
          <a:lstStyle/>
          <a:p>
            <a:r>
              <a:rPr lang="zh-CN" altLang="zh-CN" b="1" dirty="0">
                <a:latin typeface="楷体_GB2312" pitchFamily="49" charset="-122"/>
                <a:ea typeface="楷体_GB2312" pitchFamily="49" charset="-122"/>
              </a:rPr>
              <a:t>吉利熊猫、帝豪</a:t>
            </a:r>
            <a:r>
              <a:rPr lang="en-US" altLang="zh-CN" b="1" dirty="0">
                <a:latin typeface="楷体_GB2312" pitchFamily="49" charset="-122"/>
                <a:ea typeface="楷体_GB2312" pitchFamily="49" charset="-122"/>
              </a:rPr>
              <a:t>EC7</a:t>
            </a:r>
            <a:r>
              <a:rPr lang="zh-CN" altLang="zh-CN" b="1" dirty="0">
                <a:latin typeface="楷体_GB2312" pitchFamily="49" charset="-122"/>
                <a:ea typeface="楷体_GB2312" pitchFamily="49" charset="-122"/>
              </a:rPr>
              <a:t>、吉利</a:t>
            </a:r>
            <a:r>
              <a:rPr lang="en-US" altLang="zh-CN" b="1" dirty="0">
                <a:latin typeface="楷体_GB2312" pitchFamily="49" charset="-122"/>
                <a:ea typeface="楷体_GB2312" pitchFamily="49" charset="-122"/>
              </a:rPr>
              <a:t>GX7</a:t>
            </a:r>
            <a:r>
              <a:rPr lang="zh-CN" altLang="zh-CN" b="1" dirty="0">
                <a:latin typeface="楷体_GB2312" pitchFamily="49" charset="-122"/>
                <a:ea typeface="楷体_GB2312" pitchFamily="49" charset="-122"/>
              </a:rPr>
              <a:t>、吉利豪情</a:t>
            </a:r>
            <a:r>
              <a:rPr lang="en-US" altLang="zh-CN" b="1" dirty="0">
                <a:latin typeface="楷体_GB2312" pitchFamily="49" charset="-122"/>
                <a:ea typeface="楷体_GB2312" pitchFamily="49" charset="-122"/>
              </a:rPr>
              <a:t>SUV</a:t>
            </a:r>
            <a:r>
              <a:rPr lang="zh-CN" altLang="zh-CN" b="1" dirty="0">
                <a:latin typeface="楷体_GB2312" pitchFamily="49" charset="-122"/>
                <a:ea typeface="楷体_GB2312" pitchFamily="49" charset="-122"/>
              </a:rPr>
              <a:t>、吉利博瑞等先后获得</a:t>
            </a:r>
            <a:r>
              <a:rPr lang="en-US" altLang="zh-CN" b="1" dirty="0">
                <a:latin typeface="楷体_GB2312" pitchFamily="49" charset="-122"/>
                <a:ea typeface="楷体_GB2312" pitchFamily="49" charset="-122"/>
              </a:rPr>
              <a:t>C-NCAP</a:t>
            </a:r>
            <a:r>
              <a:rPr lang="zh-CN" altLang="zh-CN" b="1" dirty="0">
                <a:latin typeface="楷体_GB2312" pitchFamily="49" charset="-122"/>
                <a:ea typeface="楷体_GB2312" pitchFamily="49" charset="-122"/>
              </a:rPr>
              <a:t>五星安全评价</a:t>
            </a:r>
            <a:r>
              <a:rPr lang="zh-CN" altLang="zh-CN"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自主</a:t>
            </a:r>
            <a:r>
              <a:rPr lang="zh-CN" altLang="zh-CN" b="1" dirty="0">
                <a:latin typeface="楷体_GB2312" pitchFamily="49" charset="-122"/>
                <a:ea typeface="楷体_GB2312" pitchFamily="49" charset="-122"/>
              </a:rPr>
              <a:t>研发的</a:t>
            </a:r>
            <a:r>
              <a:rPr lang="en-US" altLang="zh-CN" b="1" dirty="0">
                <a:latin typeface="楷体_GB2312" pitchFamily="49" charset="-122"/>
                <a:ea typeface="楷体_GB2312" pitchFamily="49" charset="-122"/>
              </a:rPr>
              <a:t>1.3T</a:t>
            </a:r>
            <a:r>
              <a:rPr lang="zh-CN" altLang="zh-CN" b="1" dirty="0">
                <a:latin typeface="楷体_GB2312" pitchFamily="49" charset="-122"/>
                <a:ea typeface="楷体_GB2312" pitchFamily="49" charset="-122"/>
              </a:rPr>
              <a:t>涡轮增压发动机、</a:t>
            </a:r>
            <a:r>
              <a:rPr lang="en-US" altLang="zh-CN" b="1" dirty="0">
                <a:latin typeface="楷体_GB2312" pitchFamily="49" charset="-122"/>
                <a:ea typeface="楷体_GB2312" pitchFamily="49" charset="-122"/>
              </a:rPr>
              <a:t>1.8TD</a:t>
            </a:r>
            <a:r>
              <a:rPr lang="zh-CN" altLang="zh-CN" b="1" dirty="0">
                <a:latin typeface="楷体_GB2312" pitchFamily="49" charset="-122"/>
                <a:ea typeface="楷体_GB2312" pitchFamily="49" charset="-122"/>
              </a:rPr>
              <a:t>涡轮增压直喷发动机被评为“中国心”年度十佳发动机</a:t>
            </a:r>
            <a:r>
              <a:rPr lang="zh-CN" altLang="zh-CN"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p:txBody>
      </p:sp>
      <p:pic>
        <p:nvPicPr>
          <p:cNvPr id="1028" name="Picture 4" descr="http://admin.geely.com/upload/image/20130411/20130411050806_3248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332656"/>
            <a:ext cx="2190750" cy="145732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164" y="332657"/>
            <a:ext cx="21907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表格 3"/>
          <p:cNvGraphicFramePr>
            <a:graphicFrameLocks noGrp="1"/>
          </p:cNvGraphicFramePr>
          <p:nvPr>
            <p:extLst>
              <p:ext uri="{D42A27DB-BD31-4B8C-83A1-F6EECF244321}">
                <p14:modId xmlns:p14="http://schemas.microsoft.com/office/powerpoint/2010/main" val="2256091976"/>
              </p:ext>
            </p:extLst>
          </p:nvPr>
        </p:nvGraphicFramePr>
        <p:xfrm>
          <a:off x="4469868" y="1988840"/>
          <a:ext cx="4503143" cy="4199264"/>
        </p:xfrm>
        <a:graphic>
          <a:graphicData uri="http://schemas.openxmlformats.org/drawingml/2006/table">
            <a:tbl>
              <a:tblPr/>
              <a:tblGrid>
                <a:gridCol w="1350943"/>
                <a:gridCol w="1576100"/>
                <a:gridCol w="1576100"/>
              </a:tblGrid>
              <a:tr h="198304">
                <a:tc>
                  <a:txBody>
                    <a:bodyPr/>
                    <a:lstStyle/>
                    <a:p>
                      <a:pPr latinLnBrk="1"/>
                      <a:r>
                        <a:rPr lang="zh-CN" altLang="en-US" sz="1000" b="1" i="0" dirty="0">
                          <a:solidFill>
                            <a:srgbClr val="666666"/>
                          </a:solidFill>
                          <a:effectLst/>
                          <a:latin typeface="微软雅黑"/>
                        </a:rPr>
                        <a:t>发动机类型</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sz="1000" b="1" i="0">
                          <a:solidFill>
                            <a:srgbClr val="666666"/>
                          </a:solidFill>
                          <a:effectLst/>
                          <a:latin typeface="微软雅黑"/>
                        </a:rPr>
                        <a:t>JL</a:t>
                      </a:r>
                      <a:r>
                        <a:rPr lang="el-GR" sz="1000" b="1" i="0">
                          <a:solidFill>
                            <a:srgbClr val="666666"/>
                          </a:solidFill>
                          <a:effectLst/>
                          <a:latin typeface="微软雅黑"/>
                        </a:rPr>
                        <a:t>δ-4</a:t>
                      </a:r>
                      <a:r>
                        <a:rPr lang="en-US" sz="1000" b="1" i="0">
                          <a:solidFill>
                            <a:srgbClr val="666666"/>
                          </a:solidFill>
                          <a:effectLst/>
                          <a:latin typeface="微软雅黑"/>
                        </a:rPr>
                        <a:t>G20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sz="1000" b="1" i="0">
                          <a:solidFill>
                            <a:srgbClr val="666666"/>
                          </a:solidFill>
                          <a:effectLst/>
                          <a:latin typeface="微软雅黑"/>
                        </a:rPr>
                        <a:t>JL</a:t>
                      </a:r>
                      <a:r>
                        <a:rPr lang="el-GR" sz="1000" b="1" i="0">
                          <a:solidFill>
                            <a:srgbClr val="666666"/>
                          </a:solidFill>
                          <a:effectLst/>
                          <a:latin typeface="微软雅黑"/>
                        </a:rPr>
                        <a:t>δ-4</a:t>
                      </a:r>
                      <a:r>
                        <a:rPr lang="en-US" sz="1000" b="1" i="0">
                          <a:solidFill>
                            <a:srgbClr val="666666"/>
                          </a:solidFill>
                          <a:effectLst/>
                          <a:latin typeface="微软雅黑"/>
                        </a:rPr>
                        <a:t>G24</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dirty="0">
                          <a:solidFill>
                            <a:srgbClr val="666666"/>
                          </a:solidFill>
                          <a:effectLst/>
                          <a:latin typeface="微软雅黑"/>
                        </a:rPr>
                        <a:t>气缸数量</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4</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4</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dirty="0">
                          <a:solidFill>
                            <a:srgbClr val="666666"/>
                          </a:solidFill>
                          <a:effectLst/>
                          <a:latin typeface="微软雅黑"/>
                        </a:rPr>
                        <a:t>排量（</a:t>
                      </a:r>
                      <a:r>
                        <a:rPr lang="en-US" sz="1000" b="1" i="0" dirty="0">
                          <a:solidFill>
                            <a:srgbClr val="666666"/>
                          </a:solidFill>
                          <a:effectLst/>
                          <a:latin typeface="微软雅黑"/>
                        </a:rPr>
                        <a:t>L）  </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1.997</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2.378</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dirty="0">
                          <a:solidFill>
                            <a:srgbClr val="666666"/>
                          </a:solidFill>
                          <a:effectLst/>
                          <a:latin typeface="微软雅黑"/>
                        </a:rPr>
                        <a:t>缸径</a:t>
                      </a:r>
                      <a:r>
                        <a:rPr lang="en-US" altLang="zh-CN" sz="1000" b="1" i="0" dirty="0">
                          <a:solidFill>
                            <a:srgbClr val="666666"/>
                          </a:solidFill>
                          <a:effectLst/>
                          <a:latin typeface="微软雅黑"/>
                        </a:rPr>
                        <a:t>×</a:t>
                      </a:r>
                      <a:r>
                        <a:rPr lang="zh-CN" altLang="en-US" sz="1000" b="1" i="0" dirty="0">
                          <a:solidFill>
                            <a:srgbClr val="666666"/>
                          </a:solidFill>
                          <a:effectLst/>
                          <a:latin typeface="微软雅黑"/>
                        </a:rPr>
                        <a:t>冲程（</a:t>
                      </a:r>
                      <a:r>
                        <a:rPr lang="en-US" altLang="zh-CN" sz="1000" b="1" i="0" dirty="0">
                          <a:solidFill>
                            <a:srgbClr val="666666"/>
                          </a:solidFill>
                          <a:effectLst/>
                          <a:latin typeface="微软雅黑"/>
                        </a:rPr>
                        <a:t>mm</a:t>
                      </a:r>
                      <a:r>
                        <a:rPr lang="zh-CN" altLang="en-US" sz="1000" b="1" i="0" dirty="0">
                          <a:solidFill>
                            <a:srgbClr val="666666"/>
                          </a:solidFill>
                          <a:effectLst/>
                          <a:latin typeface="微软雅黑"/>
                        </a:rPr>
                        <a:t>）</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sz="1000" b="1" i="0" dirty="0">
                          <a:solidFill>
                            <a:srgbClr val="666666"/>
                          </a:solidFill>
                          <a:effectLst/>
                          <a:latin typeface="微软雅黑"/>
                        </a:rPr>
                        <a:t>85x88</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sz="1000" b="1" i="0">
                          <a:solidFill>
                            <a:srgbClr val="666666"/>
                          </a:solidFill>
                          <a:effectLst/>
                          <a:latin typeface="微软雅黑"/>
                        </a:rPr>
                        <a:t>88.7x96.2</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额定功率</a:t>
                      </a:r>
                      <a:r>
                        <a:rPr lang="en-US" altLang="zh-CN" sz="1000" b="1" i="0">
                          <a:solidFill>
                            <a:srgbClr val="666666"/>
                          </a:solidFill>
                          <a:effectLst/>
                          <a:latin typeface="微软雅黑"/>
                        </a:rPr>
                        <a:t>(</a:t>
                      </a:r>
                      <a:r>
                        <a:rPr lang="en-US" sz="1000" b="1" i="0">
                          <a:solidFill>
                            <a:srgbClr val="666666"/>
                          </a:solidFill>
                          <a:effectLst/>
                          <a:latin typeface="微软雅黑"/>
                        </a:rPr>
                        <a:t>Kw）</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104/6000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112/5700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最大扭矩</a:t>
                      </a:r>
                      <a:r>
                        <a:rPr lang="en-US" altLang="zh-CN" sz="1000" b="1" i="0">
                          <a:solidFill>
                            <a:srgbClr val="666666"/>
                          </a:solidFill>
                          <a:effectLst/>
                          <a:latin typeface="微软雅黑"/>
                        </a:rPr>
                        <a:t>(</a:t>
                      </a:r>
                      <a:r>
                        <a:rPr lang="en-US" sz="1000" b="1" i="0">
                          <a:solidFill>
                            <a:srgbClr val="666666"/>
                          </a:solidFill>
                          <a:effectLst/>
                          <a:latin typeface="微软雅黑"/>
                        </a:rPr>
                        <a:t>N·m）</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178/4000~4500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210/4000~4500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低速扭矩</a:t>
                      </a:r>
                      <a:r>
                        <a:rPr lang="en-US" altLang="zh-CN" sz="1000" b="1" i="0">
                          <a:solidFill>
                            <a:srgbClr val="666666"/>
                          </a:solidFill>
                          <a:effectLst/>
                          <a:latin typeface="微软雅黑"/>
                        </a:rPr>
                        <a:t>(</a:t>
                      </a:r>
                      <a:r>
                        <a:rPr lang="en-US" sz="1000" b="1" i="0">
                          <a:solidFill>
                            <a:srgbClr val="666666"/>
                          </a:solidFill>
                          <a:effectLst/>
                          <a:latin typeface="微软雅黑"/>
                        </a:rPr>
                        <a:t>N·m/rpm）</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153/2000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186/2000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升功率</a:t>
                      </a:r>
                      <a:r>
                        <a:rPr lang="en-US" altLang="zh-CN" sz="1000" b="1" i="0">
                          <a:solidFill>
                            <a:srgbClr val="666666"/>
                          </a:solidFill>
                          <a:effectLst/>
                          <a:latin typeface="微软雅黑"/>
                        </a:rPr>
                        <a:t>(</a:t>
                      </a:r>
                      <a:r>
                        <a:rPr lang="en-US" sz="1000" b="1" i="0">
                          <a:solidFill>
                            <a:srgbClr val="666666"/>
                          </a:solidFill>
                          <a:effectLst/>
                          <a:latin typeface="微软雅黑"/>
                        </a:rPr>
                        <a:t>Kw/L）</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52.1</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47.1</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47031">
                <a:tc>
                  <a:txBody>
                    <a:bodyPr/>
                    <a:lstStyle/>
                    <a:p>
                      <a:pPr latinLnBrk="1"/>
                      <a:r>
                        <a:rPr lang="zh-CN" altLang="en-US" sz="1000" b="1" i="0">
                          <a:solidFill>
                            <a:srgbClr val="666666"/>
                          </a:solidFill>
                          <a:effectLst/>
                          <a:latin typeface="微软雅黑"/>
                        </a:rPr>
                        <a:t>全负荷最低燃油消耗率</a:t>
                      </a:r>
                      <a:r>
                        <a:rPr lang="en-US" altLang="zh-CN" sz="1000" b="1" i="0">
                          <a:solidFill>
                            <a:srgbClr val="666666"/>
                          </a:solidFill>
                          <a:effectLst/>
                          <a:latin typeface="微软雅黑"/>
                        </a:rPr>
                        <a:t>(g/Kwh</a:t>
                      </a:r>
                      <a:r>
                        <a:rPr lang="zh-CN" altLang="en-US" sz="1000" b="1" i="0">
                          <a:solidFill>
                            <a:srgbClr val="666666"/>
                          </a:solidFill>
                          <a:effectLst/>
                          <a:latin typeface="微软雅黑"/>
                        </a:rPr>
                        <a:t>）</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260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260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47031">
                <a:tc>
                  <a:txBody>
                    <a:bodyPr/>
                    <a:lstStyle/>
                    <a:p>
                      <a:pPr latinLnBrk="1"/>
                      <a:r>
                        <a:rPr lang="zh-CN" altLang="en-US" sz="1000" b="1" i="0">
                          <a:solidFill>
                            <a:srgbClr val="666666"/>
                          </a:solidFill>
                          <a:effectLst/>
                          <a:latin typeface="微软雅黑"/>
                        </a:rPr>
                        <a:t>最低燃油消耗率</a:t>
                      </a:r>
                      <a:r>
                        <a:rPr lang="en-US" altLang="zh-CN" sz="1000" b="1" i="0">
                          <a:solidFill>
                            <a:srgbClr val="666666"/>
                          </a:solidFill>
                          <a:effectLst/>
                          <a:latin typeface="微软雅黑"/>
                        </a:rPr>
                        <a:t>(</a:t>
                      </a:r>
                      <a:r>
                        <a:rPr lang="en-US" sz="1000" b="1" i="0">
                          <a:solidFill>
                            <a:srgbClr val="666666"/>
                          </a:solidFill>
                          <a:effectLst/>
                          <a:latin typeface="微软雅黑"/>
                        </a:rPr>
                        <a:t>g/Kwh）</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250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250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47031">
                <a:tc>
                  <a:txBody>
                    <a:bodyPr/>
                    <a:lstStyle/>
                    <a:p>
                      <a:pPr latinLnBrk="1"/>
                      <a:r>
                        <a:rPr lang="en-US" sz="1000" b="1" i="0">
                          <a:solidFill>
                            <a:srgbClr val="666666"/>
                          </a:solidFill>
                          <a:effectLst/>
                          <a:latin typeface="微软雅黑"/>
                        </a:rPr>
                        <a:t>2000rpm/2bar</a:t>
                      </a:r>
                      <a:r>
                        <a:rPr lang="zh-CN" altLang="en-US" sz="1000" b="1" i="0">
                          <a:solidFill>
                            <a:srgbClr val="666666"/>
                          </a:solidFill>
                          <a:effectLst/>
                          <a:latin typeface="微软雅黑"/>
                        </a:rPr>
                        <a:t>燃油消耗率</a:t>
                      </a:r>
                      <a:r>
                        <a:rPr lang="en-US" altLang="zh-CN" sz="1000" b="1" i="0">
                          <a:solidFill>
                            <a:srgbClr val="666666"/>
                          </a:solidFill>
                          <a:effectLst/>
                          <a:latin typeface="微软雅黑"/>
                        </a:rPr>
                        <a:t>(</a:t>
                      </a:r>
                      <a:r>
                        <a:rPr lang="en-US" sz="1000" b="1" i="0">
                          <a:solidFill>
                            <a:srgbClr val="666666"/>
                          </a:solidFill>
                          <a:effectLst/>
                          <a:latin typeface="微软雅黑"/>
                        </a:rPr>
                        <a:t>g/Kwh）</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390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390</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环保指标</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zh-CN" altLang="en-US" sz="1000" b="1" i="0">
                          <a:solidFill>
                            <a:srgbClr val="666666"/>
                          </a:solidFill>
                          <a:effectLst/>
                          <a:latin typeface="微软雅黑"/>
                        </a:rPr>
                        <a:t>欧</a:t>
                      </a:r>
                      <a:r>
                        <a:rPr lang="en-US" sz="1000" b="1" i="0">
                          <a:solidFill>
                            <a:srgbClr val="666666"/>
                          </a:solidFill>
                          <a:effectLst/>
                          <a:latin typeface="微软雅黑"/>
                        </a:rPr>
                        <a:t>IV</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zh-CN" altLang="en-US" sz="1000" b="1" i="0" dirty="0">
                          <a:solidFill>
                            <a:srgbClr val="666666"/>
                          </a:solidFill>
                          <a:effectLst/>
                          <a:latin typeface="微软雅黑"/>
                        </a:rPr>
                        <a:t>欧</a:t>
                      </a:r>
                      <a:r>
                        <a:rPr lang="en-US" sz="1000" b="1" i="0" dirty="0">
                          <a:solidFill>
                            <a:srgbClr val="666666"/>
                          </a:solidFill>
                          <a:effectLst/>
                          <a:latin typeface="微软雅黑"/>
                        </a:rPr>
                        <a:t>IV</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98304">
                <a:tc>
                  <a:txBody>
                    <a:bodyPr/>
                    <a:lstStyle/>
                    <a:p>
                      <a:pPr latinLnBrk="1"/>
                      <a:r>
                        <a:rPr lang="zh-CN" altLang="en-US" sz="1000" b="1" i="0">
                          <a:solidFill>
                            <a:srgbClr val="666666"/>
                          </a:solidFill>
                          <a:effectLst/>
                          <a:latin typeface="微软雅黑"/>
                        </a:rPr>
                        <a:t>燃油牌号</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a:solidFill>
                            <a:srgbClr val="666666"/>
                          </a:solidFill>
                          <a:effectLst/>
                          <a:latin typeface="微软雅黑"/>
                        </a:rPr>
                        <a:t>93#</a:t>
                      </a:r>
                      <a:r>
                        <a:rPr lang="zh-CN" altLang="en-US" sz="1000" b="1" i="0">
                          <a:solidFill>
                            <a:srgbClr val="666666"/>
                          </a:solidFill>
                          <a:effectLst/>
                          <a:latin typeface="微软雅黑"/>
                        </a:rPr>
                        <a:t>汽油</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latinLnBrk="1"/>
                      <a:r>
                        <a:rPr lang="en-US" altLang="zh-CN" sz="1000" b="1" i="0" dirty="0">
                          <a:solidFill>
                            <a:srgbClr val="666666"/>
                          </a:solidFill>
                          <a:effectLst/>
                          <a:latin typeface="微软雅黑"/>
                        </a:rPr>
                        <a:t>93#</a:t>
                      </a:r>
                      <a:r>
                        <a:rPr lang="zh-CN" altLang="en-US" sz="1000" b="1" i="0" dirty="0">
                          <a:solidFill>
                            <a:srgbClr val="666666"/>
                          </a:solidFill>
                          <a:effectLst/>
                          <a:latin typeface="微软雅黑"/>
                        </a:rPr>
                        <a:t>汽油</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090670">
                <a:tc>
                  <a:txBody>
                    <a:bodyPr/>
                    <a:lstStyle/>
                    <a:p>
                      <a:pPr latinLnBrk="1"/>
                      <a:r>
                        <a:rPr lang="zh-CN" altLang="en-US" sz="1000" b="1" i="0">
                          <a:solidFill>
                            <a:srgbClr val="666666"/>
                          </a:solidFill>
                          <a:effectLst/>
                          <a:latin typeface="微软雅黑"/>
                        </a:rPr>
                        <a:t>主要技术特点</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latinLnBrk="1"/>
                      <a:r>
                        <a:rPr lang="en-US" altLang="zh-CN" sz="1000" b="1" i="0">
                          <a:solidFill>
                            <a:srgbClr val="666666"/>
                          </a:solidFill>
                          <a:effectLst/>
                          <a:latin typeface="宋体"/>
                        </a:rPr>
                        <a:t>·</a:t>
                      </a:r>
                      <a:r>
                        <a:rPr lang="zh-CN" altLang="en-US" sz="1000" b="1" i="0">
                          <a:solidFill>
                            <a:srgbClr val="666666"/>
                          </a:solidFill>
                          <a:effectLst/>
                          <a:latin typeface="微软雅黑"/>
                        </a:rPr>
                        <a:t>全铝发动机</a:t>
                      </a:r>
                      <a:br>
                        <a:rPr lang="zh-CN" altLang="en-US" sz="1000" b="1" i="0">
                          <a:solidFill>
                            <a:srgbClr val="666666"/>
                          </a:solidFill>
                          <a:effectLst/>
                          <a:latin typeface="微软雅黑"/>
                        </a:rPr>
                      </a:br>
                      <a:r>
                        <a:rPr lang="en-US" altLang="zh-CN" sz="1000" b="1" i="0">
                          <a:solidFill>
                            <a:srgbClr val="666666"/>
                          </a:solidFill>
                          <a:effectLst/>
                          <a:latin typeface="宋体"/>
                        </a:rPr>
                        <a:t>·</a:t>
                      </a:r>
                      <a:r>
                        <a:rPr lang="zh-CN" altLang="en-US" sz="1000" b="1" i="0">
                          <a:solidFill>
                            <a:srgbClr val="666666"/>
                          </a:solidFill>
                          <a:effectLst/>
                          <a:latin typeface="微软雅黑"/>
                        </a:rPr>
                        <a:t>进</a:t>
                      </a:r>
                      <a:r>
                        <a:rPr lang="en-US" altLang="zh-CN" sz="1000" b="1" i="0">
                          <a:solidFill>
                            <a:srgbClr val="666666"/>
                          </a:solidFill>
                          <a:effectLst/>
                          <a:latin typeface="微软雅黑"/>
                        </a:rPr>
                        <a:t>/</a:t>
                      </a:r>
                      <a:r>
                        <a:rPr lang="zh-CN" altLang="en-US" sz="1000" b="1" i="0">
                          <a:solidFill>
                            <a:srgbClr val="666666"/>
                          </a:solidFill>
                          <a:effectLst/>
                          <a:latin typeface="微软雅黑"/>
                        </a:rPr>
                        <a:t>排气双智能连续可变气门正时系统</a:t>
                      </a:r>
                      <a:br>
                        <a:rPr lang="zh-CN" altLang="en-US" sz="1000" b="1" i="0">
                          <a:solidFill>
                            <a:srgbClr val="666666"/>
                          </a:solidFill>
                          <a:effectLst/>
                          <a:latin typeface="微软雅黑"/>
                        </a:rPr>
                      </a:br>
                      <a:r>
                        <a:rPr lang="en-US" altLang="zh-CN" sz="1000" b="1" i="0">
                          <a:solidFill>
                            <a:srgbClr val="666666"/>
                          </a:solidFill>
                          <a:effectLst/>
                          <a:latin typeface="宋体"/>
                        </a:rPr>
                        <a:t>·</a:t>
                      </a:r>
                      <a:r>
                        <a:rPr lang="zh-CN" altLang="en-US" sz="1000" b="1" i="0">
                          <a:solidFill>
                            <a:srgbClr val="666666"/>
                          </a:solidFill>
                          <a:effectLst/>
                          <a:latin typeface="微软雅黑"/>
                        </a:rPr>
                        <a:t>全塑进气歧管 </a:t>
                      </a:r>
                      <a:br>
                        <a:rPr lang="zh-CN" altLang="en-US" sz="1000" b="1" i="0">
                          <a:solidFill>
                            <a:srgbClr val="666666"/>
                          </a:solidFill>
                          <a:effectLst/>
                          <a:latin typeface="微软雅黑"/>
                        </a:rPr>
                      </a:br>
                      <a:r>
                        <a:rPr lang="en-US" altLang="zh-CN" sz="1000" b="1" i="0">
                          <a:solidFill>
                            <a:srgbClr val="666666"/>
                          </a:solidFill>
                          <a:effectLst/>
                          <a:latin typeface="宋体"/>
                        </a:rPr>
                        <a:t>·</a:t>
                      </a:r>
                      <a:r>
                        <a:rPr lang="zh-CN" altLang="en-US" sz="1000" b="1" i="0">
                          <a:solidFill>
                            <a:srgbClr val="666666"/>
                          </a:solidFill>
                          <a:effectLst/>
                          <a:latin typeface="微软雅黑"/>
                        </a:rPr>
                        <a:t>双平衡轴</a:t>
                      </a:r>
                      <a:br>
                        <a:rPr lang="zh-CN" altLang="en-US" sz="1000" b="1" i="0">
                          <a:solidFill>
                            <a:srgbClr val="666666"/>
                          </a:solidFill>
                          <a:effectLst/>
                          <a:latin typeface="微软雅黑"/>
                        </a:rPr>
                      </a:br>
                      <a:r>
                        <a:rPr lang="en-US" altLang="zh-CN" sz="1000" b="1" i="0">
                          <a:solidFill>
                            <a:srgbClr val="666666"/>
                          </a:solidFill>
                          <a:effectLst/>
                          <a:latin typeface="宋体"/>
                        </a:rPr>
                        <a:t>·</a:t>
                      </a:r>
                      <a:r>
                        <a:rPr lang="zh-CN" altLang="en-US" sz="1000" b="1" i="0">
                          <a:solidFill>
                            <a:srgbClr val="666666"/>
                          </a:solidFill>
                          <a:effectLst/>
                          <a:latin typeface="微软雅黑"/>
                        </a:rPr>
                        <a:t>电子节气门</a:t>
                      </a:r>
                      <a:br>
                        <a:rPr lang="zh-CN" altLang="en-US" sz="1000" b="1" i="0">
                          <a:solidFill>
                            <a:srgbClr val="666666"/>
                          </a:solidFill>
                          <a:effectLst/>
                          <a:latin typeface="微软雅黑"/>
                        </a:rPr>
                      </a:br>
                      <a:r>
                        <a:rPr lang="en-US" altLang="zh-CN" sz="1000" b="1" i="0">
                          <a:solidFill>
                            <a:srgbClr val="666666"/>
                          </a:solidFill>
                          <a:effectLst/>
                          <a:latin typeface="宋体"/>
                        </a:rPr>
                        <a:t>·</a:t>
                      </a:r>
                      <a:r>
                        <a:rPr lang="zh-CN" altLang="en-US" sz="1000" b="1" i="0">
                          <a:solidFill>
                            <a:srgbClr val="666666"/>
                          </a:solidFill>
                          <a:effectLst/>
                          <a:latin typeface="微软雅黑"/>
                        </a:rPr>
                        <a:t>链齿正时驱动</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latinLnBrk="1"/>
                      <a:r>
                        <a:rPr lang="en-US" altLang="zh-CN" sz="1000" b="1" i="0" dirty="0">
                          <a:solidFill>
                            <a:srgbClr val="666666"/>
                          </a:solidFill>
                          <a:effectLst/>
                          <a:latin typeface="宋体"/>
                        </a:rPr>
                        <a:t>·</a:t>
                      </a:r>
                      <a:r>
                        <a:rPr lang="zh-CN" altLang="en-US" sz="1000" b="1" i="0" dirty="0">
                          <a:solidFill>
                            <a:srgbClr val="666666"/>
                          </a:solidFill>
                          <a:effectLst/>
                          <a:latin typeface="微软雅黑"/>
                        </a:rPr>
                        <a:t>全铝发动机</a:t>
                      </a:r>
                      <a:br>
                        <a:rPr lang="zh-CN" altLang="en-US" sz="1000" b="1" i="0" dirty="0">
                          <a:solidFill>
                            <a:srgbClr val="666666"/>
                          </a:solidFill>
                          <a:effectLst/>
                          <a:latin typeface="微软雅黑"/>
                        </a:rPr>
                      </a:br>
                      <a:r>
                        <a:rPr lang="en-US" altLang="zh-CN" sz="1000" b="1" i="0" dirty="0">
                          <a:solidFill>
                            <a:srgbClr val="666666"/>
                          </a:solidFill>
                          <a:effectLst/>
                          <a:latin typeface="宋体"/>
                        </a:rPr>
                        <a:t>·</a:t>
                      </a:r>
                      <a:r>
                        <a:rPr lang="zh-CN" altLang="en-US" sz="1000" b="1" i="0" dirty="0">
                          <a:solidFill>
                            <a:srgbClr val="666666"/>
                          </a:solidFill>
                          <a:effectLst/>
                          <a:latin typeface="微软雅黑"/>
                        </a:rPr>
                        <a:t>进</a:t>
                      </a:r>
                      <a:r>
                        <a:rPr lang="en-US" altLang="zh-CN" sz="1000" b="1" i="0" dirty="0">
                          <a:solidFill>
                            <a:srgbClr val="666666"/>
                          </a:solidFill>
                          <a:effectLst/>
                          <a:latin typeface="微软雅黑"/>
                        </a:rPr>
                        <a:t>/</a:t>
                      </a:r>
                      <a:r>
                        <a:rPr lang="zh-CN" altLang="en-US" sz="1000" b="1" i="0" dirty="0">
                          <a:solidFill>
                            <a:srgbClr val="666666"/>
                          </a:solidFill>
                          <a:effectLst/>
                          <a:latin typeface="微软雅黑"/>
                        </a:rPr>
                        <a:t>排气双智能连续可变气门正时系统</a:t>
                      </a:r>
                      <a:br>
                        <a:rPr lang="zh-CN" altLang="en-US" sz="1000" b="1" i="0" dirty="0">
                          <a:solidFill>
                            <a:srgbClr val="666666"/>
                          </a:solidFill>
                          <a:effectLst/>
                          <a:latin typeface="微软雅黑"/>
                        </a:rPr>
                      </a:br>
                      <a:r>
                        <a:rPr lang="en-US" altLang="zh-CN" sz="1000" b="1" i="0" dirty="0">
                          <a:solidFill>
                            <a:srgbClr val="666666"/>
                          </a:solidFill>
                          <a:effectLst/>
                          <a:latin typeface="宋体"/>
                        </a:rPr>
                        <a:t>·</a:t>
                      </a:r>
                      <a:r>
                        <a:rPr lang="zh-CN" altLang="en-US" sz="1000" b="1" i="0" dirty="0">
                          <a:solidFill>
                            <a:srgbClr val="666666"/>
                          </a:solidFill>
                          <a:effectLst/>
                          <a:latin typeface="微软雅黑"/>
                        </a:rPr>
                        <a:t>全塑进气歧管</a:t>
                      </a:r>
                      <a:br>
                        <a:rPr lang="zh-CN" altLang="en-US" sz="1000" b="1" i="0" dirty="0">
                          <a:solidFill>
                            <a:srgbClr val="666666"/>
                          </a:solidFill>
                          <a:effectLst/>
                          <a:latin typeface="微软雅黑"/>
                        </a:rPr>
                      </a:br>
                      <a:r>
                        <a:rPr lang="en-US" altLang="zh-CN" sz="1000" b="1" i="0" dirty="0">
                          <a:solidFill>
                            <a:srgbClr val="666666"/>
                          </a:solidFill>
                          <a:effectLst/>
                          <a:latin typeface="宋体"/>
                        </a:rPr>
                        <a:t>·</a:t>
                      </a:r>
                      <a:r>
                        <a:rPr lang="zh-CN" altLang="en-US" sz="1000" b="1" i="0" dirty="0">
                          <a:solidFill>
                            <a:srgbClr val="666666"/>
                          </a:solidFill>
                          <a:effectLst/>
                          <a:latin typeface="微软雅黑"/>
                        </a:rPr>
                        <a:t>双平衡轴</a:t>
                      </a:r>
                      <a:br>
                        <a:rPr lang="zh-CN" altLang="en-US" sz="1000" b="1" i="0" dirty="0">
                          <a:solidFill>
                            <a:srgbClr val="666666"/>
                          </a:solidFill>
                          <a:effectLst/>
                          <a:latin typeface="微软雅黑"/>
                        </a:rPr>
                      </a:br>
                      <a:r>
                        <a:rPr lang="en-US" altLang="zh-CN" sz="1000" b="1" i="0" dirty="0">
                          <a:solidFill>
                            <a:srgbClr val="666666"/>
                          </a:solidFill>
                          <a:effectLst/>
                          <a:latin typeface="宋体"/>
                        </a:rPr>
                        <a:t>·</a:t>
                      </a:r>
                      <a:r>
                        <a:rPr lang="zh-CN" altLang="en-US" sz="1000" b="1" i="0" dirty="0">
                          <a:solidFill>
                            <a:srgbClr val="666666"/>
                          </a:solidFill>
                          <a:effectLst/>
                          <a:latin typeface="微软雅黑"/>
                        </a:rPr>
                        <a:t>电子节气门</a:t>
                      </a:r>
                      <a:br>
                        <a:rPr lang="zh-CN" altLang="en-US" sz="1000" b="1" i="0" dirty="0">
                          <a:solidFill>
                            <a:srgbClr val="666666"/>
                          </a:solidFill>
                          <a:effectLst/>
                          <a:latin typeface="微软雅黑"/>
                        </a:rPr>
                      </a:br>
                      <a:r>
                        <a:rPr lang="en-US" altLang="zh-CN" sz="1000" b="1" i="0" dirty="0">
                          <a:solidFill>
                            <a:srgbClr val="666666"/>
                          </a:solidFill>
                          <a:effectLst/>
                          <a:latin typeface="宋体"/>
                        </a:rPr>
                        <a:t>·</a:t>
                      </a:r>
                      <a:r>
                        <a:rPr lang="zh-CN" altLang="en-US" sz="1000" b="1" i="0" dirty="0">
                          <a:solidFill>
                            <a:srgbClr val="666666"/>
                          </a:solidFill>
                          <a:effectLst/>
                          <a:latin typeface="微软雅黑"/>
                        </a:rPr>
                        <a:t>链齿正时驱动</a:t>
                      </a:r>
                    </a:p>
                  </a:txBody>
                  <a:tcPr marL="25821" marR="25821" marT="24788" marB="2478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706413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3</a:t>
            </a:r>
            <a:r>
              <a:rPr lang="zh-CN" altLang="en-US" b="1" dirty="0" smtClean="0">
                <a:latin typeface="黑体" pitchFamily="49" charset="-122"/>
                <a:ea typeface="黑体" pitchFamily="49" charset="-122"/>
              </a:rPr>
              <a:t>）科技创新</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395536" y="1628800"/>
            <a:ext cx="3816424" cy="4248472"/>
          </a:xfrm>
        </p:spPr>
        <p:txBody>
          <a:bodyPr/>
          <a:lstStyle/>
          <a:p>
            <a:r>
              <a:rPr lang="zh-CN" altLang="en-US" sz="1600" b="1" dirty="0">
                <a:latin typeface="楷体_GB2312" pitchFamily="49" charset="-122"/>
                <a:ea typeface="楷体_GB2312" pitchFamily="49" charset="-122"/>
              </a:rPr>
              <a:t>完全自主研发的先进双离合</a:t>
            </a:r>
            <a:r>
              <a:rPr lang="en-US" altLang="zh-CN" sz="1600" b="1" dirty="0">
                <a:latin typeface="楷体_GB2312" pitchFamily="49" charset="-122"/>
                <a:ea typeface="楷体_GB2312" pitchFamily="49" charset="-122"/>
              </a:rPr>
              <a:t>7</a:t>
            </a:r>
            <a:r>
              <a:rPr lang="zh-CN" altLang="en-US" sz="1600" b="1" dirty="0">
                <a:latin typeface="楷体_GB2312" pitchFamily="49" charset="-122"/>
                <a:ea typeface="楷体_GB2312" pitchFamily="49" charset="-122"/>
              </a:rPr>
              <a:t>速自动变速器平台，包括不同扭矩的多款机型；湿式双离合器式自动变速器，具有</a:t>
            </a:r>
            <a:r>
              <a:rPr lang="en-US" altLang="zh-CN" sz="1600" b="1" dirty="0">
                <a:latin typeface="楷体_GB2312" pitchFamily="49" charset="-122"/>
                <a:ea typeface="楷体_GB2312" pitchFamily="49" charset="-122"/>
              </a:rPr>
              <a:t>7</a:t>
            </a:r>
            <a:r>
              <a:rPr lang="zh-CN" altLang="en-US" sz="1600" b="1" dirty="0">
                <a:latin typeface="楷体_GB2312" pitchFamily="49" charset="-122"/>
                <a:ea typeface="楷体_GB2312" pitchFamily="49" charset="-122"/>
              </a:rPr>
              <a:t>个前进档，</a:t>
            </a:r>
            <a:r>
              <a:rPr lang="en-US" altLang="zh-CN" sz="1600" b="1" dirty="0">
                <a:latin typeface="楷体_GB2312" pitchFamily="49" charset="-122"/>
                <a:ea typeface="楷体_GB2312" pitchFamily="49" charset="-122"/>
              </a:rPr>
              <a:t>1</a:t>
            </a:r>
            <a:r>
              <a:rPr lang="zh-CN" altLang="en-US" sz="1600" b="1" dirty="0">
                <a:latin typeface="楷体_GB2312" pitchFamily="49" charset="-122"/>
                <a:ea typeface="楷体_GB2312" pitchFamily="49" charset="-122"/>
              </a:rPr>
              <a:t>个倒挡，速比范围更宽，整车动力性及经济性匹配更合理，采用多个共用齿轮，总体结构紧凑，整车搭载性较好，利用发动机扭矩控制和离合器精确闭环控制实现无动力中断和高换档舒适性，同时集成了十几种控制模式，以提高车辆在不同工况下的经济性和动力性，具备手自一体模式和运动模式以满足不同驾驶人群的驾驶要求。该离合器兼有手动和自动的特点，它能做到比手动还要省油和降低排放，又能增加驾驶舒适性和乐趣。</a:t>
            </a:r>
            <a:endParaRPr lang="en-US" altLang="zh-CN" sz="1600" b="1" dirty="0" smtClean="0">
              <a:latin typeface="楷体_GB2312" pitchFamily="49" charset="-122"/>
              <a:ea typeface="楷体_GB2312" pitchFamily="49"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4644" y="188640"/>
            <a:ext cx="447675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表格 4"/>
          <p:cNvGraphicFramePr>
            <a:graphicFrameLocks noGrp="1"/>
          </p:cNvGraphicFramePr>
          <p:nvPr>
            <p:extLst>
              <p:ext uri="{D42A27DB-BD31-4B8C-83A1-F6EECF244321}">
                <p14:modId xmlns:p14="http://schemas.microsoft.com/office/powerpoint/2010/main" val="489171773"/>
              </p:ext>
            </p:extLst>
          </p:nvPr>
        </p:nvGraphicFramePr>
        <p:xfrm>
          <a:off x="4408002" y="3284984"/>
          <a:ext cx="4633392" cy="2743200"/>
        </p:xfrm>
        <a:graphic>
          <a:graphicData uri="http://schemas.openxmlformats.org/drawingml/2006/table">
            <a:tbl>
              <a:tblPr/>
              <a:tblGrid>
                <a:gridCol w="1853357"/>
                <a:gridCol w="2780035"/>
              </a:tblGrid>
              <a:tr h="261748">
                <a:tc>
                  <a:txBody>
                    <a:bodyPr/>
                    <a:lstStyle/>
                    <a:p>
                      <a:pPr latinLnBrk="1"/>
                      <a:r>
                        <a:rPr lang="zh-CN" altLang="en-US" sz="1400" b="1" i="0" dirty="0">
                          <a:solidFill>
                            <a:schemeClr val="tx1"/>
                          </a:solidFill>
                          <a:effectLst/>
                          <a:latin typeface="楷体_GB2312" pitchFamily="49" charset="-122"/>
                          <a:ea typeface="楷体_GB2312" pitchFamily="49" charset="-122"/>
                        </a:rPr>
                        <a:t>变速器型号</a:t>
                      </a:r>
                    </a:p>
                  </a:txBody>
                  <a:tcPr marL="47625" marR="47625" anchor="ctr">
                    <a:lnL>
                      <a:noFill/>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tcPr>
                </a:tc>
                <a:tc>
                  <a:txBody>
                    <a:bodyPr/>
                    <a:lstStyle/>
                    <a:p>
                      <a:pPr algn="ctr" latinLnBrk="1"/>
                      <a:r>
                        <a:rPr lang="en-US" sz="1400" b="1" i="0">
                          <a:solidFill>
                            <a:schemeClr val="tx1"/>
                          </a:solidFill>
                          <a:effectLst/>
                          <a:latin typeface="楷体_GB2312" pitchFamily="49" charset="-122"/>
                          <a:ea typeface="楷体_GB2312" pitchFamily="49" charset="-122"/>
                        </a:rPr>
                        <a:t>JL-7DCT250F</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dirty="0">
                          <a:solidFill>
                            <a:schemeClr val="tx1"/>
                          </a:solidFill>
                          <a:effectLst/>
                          <a:latin typeface="楷体_GB2312" pitchFamily="49" charset="-122"/>
                          <a:ea typeface="楷体_GB2312" pitchFamily="49" charset="-122"/>
                        </a:rPr>
                        <a:t>变速器类型</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zh-CN" altLang="en-US" sz="1400" b="1" i="0">
                          <a:solidFill>
                            <a:schemeClr val="tx1"/>
                          </a:solidFill>
                          <a:effectLst/>
                          <a:latin typeface="楷体_GB2312" pitchFamily="49" charset="-122"/>
                          <a:ea typeface="楷体_GB2312" pitchFamily="49" charset="-122"/>
                        </a:rPr>
                        <a:t>双离合器自动变速器</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rowSpan="2">
                  <a:txBody>
                    <a:bodyPr/>
                    <a:lstStyle/>
                    <a:p>
                      <a:pPr latinLnBrk="1"/>
                      <a:r>
                        <a:rPr lang="zh-CN" altLang="en-US" sz="1400" b="1" i="0" dirty="0">
                          <a:solidFill>
                            <a:schemeClr val="tx1"/>
                          </a:solidFill>
                          <a:effectLst/>
                          <a:latin typeface="楷体_GB2312" pitchFamily="49" charset="-122"/>
                          <a:ea typeface="楷体_GB2312" pitchFamily="49" charset="-122"/>
                        </a:rPr>
                        <a:t>档位数 </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en-US" altLang="zh-CN" sz="1400" b="1" i="0" dirty="0">
                          <a:solidFill>
                            <a:schemeClr val="tx1"/>
                          </a:solidFill>
                          <a:effectLst/>
                          <a:latin typeface="楷体_GB2312" pitchFamily="49" charset="-122"/>
                          <a:ea typeface="楷体_GB2312" pitchFamily="49" charset="-122"/>
                        </a:rPr>
                        <a:t>7</a:t>
                      </a:r>
                      <a:r>
                        <a:rPr lang="zh-CN" altLang="en-US" sz="1400" b="1" i="0" dirty="0">
                          <a:solidFill>
                            <a:schemeClr val="tx1"/>
                          </a:solidFill>
                          <a:effectLst/>
                          <a:latin typeface="楷体_GB2312" pitchFamily="49" charset="-122"/>
                          <a:ea typeface="楷体_GB2312" pitchFamily="49" charset="-122"/>
                        </a:rPr>
                        <a:t>前进挡</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vMerge="1">
                  <a:txBody>
                    <a:bodyPr/>
                    <a:lstStyle/>
                    <a:p>
                      <a:endParaRPr lang="zh-CN" altLang="en-US"/>
                    </a:p>
                  </a:txBody>
                  <a:tcPr/>
                </a:tc>
                <a:tc>
                  <a:txBody>
                    <a:bodyPr/>
                    <a:lstStyle/>
                    <a:p>
                      <a:pPr algn="ctr" latinLnBrk="1"/>
                      <a:r>
                        <a:rPr lang="en-US" altLang="zh-CN" sz="1400" b="1" i="0" dirty="0">
                          <a:solidFill>
                            <a:schemeClr val="tx1"/>
                          </a:solidFill>
                          <a:effectLst/>
                          <a:latin typeface="楷体_GB2312" pitchFamily="49" charset="-122"/>
                          <a:ea typeface="楷体_GB2312" pitchFamily="49" charset="-122"/>
                        </a:rPr>
                        <a:t>1</a:t>
                      </a:r>
                      <a:r>
                        <a:rPr lang="zh-CN" altLang="en-US" sz="1400" b="1" i="0" dirty="0">
                          <a:solidFill>
                            <a:schemeClr val="tx1"/>
                          </a:solidFill>
                          <a:effectLst/>
                          <a:latin typeface="楷体_GB2312" pitchFamily="49" charset="-122"/>
                          <a:ea typeface="楷体_GB2312" pitchFamily="49" charset="-122"/>
                        </a:rPr>
                        <a:t>倒档</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a:solidFill>
                            <a:schemeClr val="tx1"/>
                          </a:solidFill>
                          <a:effectLst/>
                          <a:latin typeface="楷体_GB2312" pitchFamily="49" charset="-122"/>
                          <a:ea typeface="楷体_GB2312" pitchFamily="49" charset="-122"/>
                        </a:rPr>
                        <a:t>布置方式</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en-US" sz="1400" b="1" i="0" dirty="0">
                          <a:solidFill>
                            <a:schemeClr val="tx1"/>
                          </a:solidFill>
                          <a:effectLst/>
                          <a:latin typeface="楷体_GB2312" pitchFamily="49" charset="-122"/>
                          <a:ea typeface="楷体_GB2312" pitchFamily="49" charset="-122"/>
                        </a:rPr>
                        <a:t>FF</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a:solidFill>
                            <a:schemeClr val="tx1"/>
                          </a:solidFill>
                          <a:effectLst/>
                          <a:latin typeface="楷体_GB2312" pitchFamily="49" charset="-122"/>
                          <a:ea typeface="楷体_GB2312" pitchFamily="49" charset="-122"/>
                        </a:rPr>
                        <a:t>最大输入扭矩</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en-US" sz="1400" b="1" i="0" dirty="0">
                          <a:solidFill>
                            <a:schemeClr val="tx1"/>
                          </a:solidFill>
                          <a:effectLst/>
                          <a:latin typeface="楷体_GB2312" pitchFamily="49" charset="-122"/>
                          <a:ea typeface="楷体_GB2312" pitchFamily="49" charset="-122"/>
                        </a:rPr>
                        <a:t>250N·m</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a:solidFill>
                            <a:schemeClr val="tx1"/>
                          </a:solidFill>
                          <a:effectLst/>
                          <a:latin typeface="楷体_GB2312" pitchFamily="49" charset="-122"/>
                          <a:ea typeface="楷体_GB2312" pitchFamily="49" charset="-122"/>
                        </a:rPr>
                        <a:t>传动元件</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zh-CN" altLang="en-US" sz="1400" b="1" i="0" dirty="0">
                          <a:solidFill>
                            <a:schemeClr val="tx1"/>
                          </a:solidFill>
                          <a:effectLst/>
                          <a:latin typeface="楷体_GB2312" pitchFamily="49" charset="-122"/>
                          <a:ea typeface="楷体_GB2312" pitchFamily="49" charset="-122"/>
                        </a:rPr>
                        <a:t>双离合器</a:t>
                      </a:r>
                      <a:r>
                        <a:rPr lang="en-US" altLang="zh-CN" sz="1400" b="1" i="0" dirty="0">
                          <a:solidFill>
                            <a:schemeClr val="tx1"/>
                          </a:solidFill>
                          <a:effectLst/>
                          <a:latin typeface="楷体_GB2312" pitchFamily="49" charset="-122"/>
                          <a:ea typeface="楷体_GB2312" pitchFamily="49" charset="-122"/>
                        </a:rPr>
                        <a:t>+</a:t>
                      </a:r>
                      <a:r>
                        <a:rPr lang="zh-CN" altLang="en-US" sz="1400" b="1" i="0" dirty="0">
                          <a:solidFill>
                            <a:schemeClr val="tx1"/>
                          </a:solidFill>
                          <a:effectLst/>
                          <a:latin typeface="楷体_GB2312" pitchFamily="49" charset="-122"/>
                          <a:ea typeface="楷体_GB2312" pitchFamily="49" charset="-122"/>
                        </a:rPr>
                        <a:t>齿轮</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a:solidFill>
                            <a:schemeClr val="tx1"/>
                          </a:solidFill>
                          <a:effectLst/>
                          <a:latin typeface="楷体_GB2312" pitchFamily="49" charset="-122"/>
                          <a:ea typeface="楷体_GB2312" pitchFamily="49" charset="-122"/>
                        </a:rPr>
                        <a:t>最大速比     </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en-US" altLang="zh-CN" sz="1400" b="1" i="0" dirty="0">
                          <a:solidFill>
                            <a:schemeClr val="tx1"/>
                          </a:solidFill>
                          <a:effectLst/>
                          <a:latin typeface="楷体_GB2312" pitchFamily="49" charset="-122"/>
                          <a:ea typeface="楷体_GB2312" pitchFamily="49" charset="-122"/>
                        </a:rPr>
                        <a:t>14.86</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261748">
                <a:tc>
                  <a:txBody>
                    <a:bodyPr/>
                    <a:lstStyle/>
                    <a:p>
                      <a:pPr latinLnBrk="1"/>
                      <a:r>
                        <a:rPr lang="zh-CN" altLang="en-US" sz="1400" b="1" i="0">
                          <a:solidFill>
                            <a:schemeClr val="tx1"/>
                          </a:solidFill>
                          <a:effectLst/>
                          <a:latin typeface="楷体_GB2312" pitchFamily="49" charset="-122"/>
                          <a:ea typeface="楷体_GB2312" pitchFamily="49" charset="-122"/>
                        </a:rPr>
                        <a:t>最小速比</a:t>
                      </a:r>
                    </a:p>
                  </a:txBody>
                  <a:tcPr marL="47625" marR="47625" anchor="ctr">
                    <a:lnL>
                      <a:noFill/>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latinLnBrk="1"/>
                      <a:r>
                        <a:rPr lang="en-US" altLang="zh-CN" sz="1400" b="1" i="0" dirty="0">
                          <a:solidFill>
                            <a:schemeClr val="tx1"/>
                          </a:solidFill>
                          <a:effectLst/>
                          <a:latin typeface="楷体_GB2312" pitchFamily="49" charset="-122"/>
                          <a:ea typeface="楷体_GB2312" pitchFamily="49" charset="-122"/>
                        </a:rPr>
                        <a:t>2.65</a:t>
                      </a:r>
                    </a:p>
                  </a:txBody>
                  <a:tcPr marL="47625" marR="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212039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57200"/>
            <a:ext cx="3960440" cy="1143000"/>
          </a:xfrm>
        </p:spPr>
        <p:txBody>
          <a:bodyPr/>
          <a:lstStyle/>
          <a:p>
            <a:r>
              <a:rPr lang="zh-CN" altLang="en-US" sz="4000" b="1" dirty="0" smtClean="0">
                <a:latin typeface="黑体" pitchFamily="49" charset="-122"/>
                <a:ea typeface="黑体" pitchFamily="49" charset="-122"/>
              </a:rPr>
              <a:t>（</a:t>
            </a:r>
            <a:r>
              <a:rPr lang="en-US" altLang="zh-CN" sz="4000" b="1" dirty="0" smtClean="0">
                <a:latin typeface="黑体" pitchFamily="49" charset="-122"/>
                <a:ea typeface="黑体" pitchFamily="49" charset="-122"/>
              </a:rPr>
              <a:t>3</a:t>
            </a:r>
            <a:r>
              <a:rPr lang="zh-CN" altLang="en-US" sz="4000" b="1" dirty="0" smtClean="0">
                <a:latin typeface="黑体" pitchFamily="49" charset="-122"/>
                <a:ea typeface="黑体" pitchFamily="49" charset="-122"/>
              </a:rPr>
              <a:t>）科技创新</a:t>
            </a:r>
            <a:endParaRPr lang="zh-CN" altLang="en-US" sz="4000" b="1" dirty="0">
              <a:latin typeface="黑体" pitchFamily="49" charset="-122"/>
              <a:ea typeface="黑体" pitchFamily="49" charset="-122"/>
            </a:endParaRPr>
          </a:p>
        </p:txBody>
      </p:sp>
      <p:sp>
        <p:nvSpPr>
          <p:cNvPr id="3" name="文本占位符 2"/>
          <p:cNvSpPr>
            <a:spLocks noGrp="1"/>
          </p:cNvSpPr>
          <p:nvPr>
            <p:ph type="body" idx="1"/>
          </p:nvPr>
        </p:nvSpPr>
        <p:spPr>
          <a:xfrm>
            <a:off x="395536" y="1772816"/>
            <a:ext cx="8305800" cy="4032448"/>
          </a:xfrm>
        </p:spPr>
        <p:txBody>
          <a:bodyPr/>
          <a:lstStyle/>
          <a:p>
            <a:r>
              <a:rPr lang="zh-CN" altLang="zh-CN" b="1" dirty="0" smtClean="0"/>
              <a:t>目前</a:t>
            </a:r>
            <a:r>
              <a:rPr lang="zh-CN" altLang="zh-CN" b="1" dirty="0"/>
              <a:t>，吉利汽车专利申请和授权量分别达</a:t>
            </a:r>
            <a:r>
              <a:rPr lang="en-US" altLang="zh-CN" b="1" dirty="0"/>
              <a:t>13,000</a:t>
            </a:r>
            <a:r>
              <a:rPr lang="zh-CN" altLang="zh-CN" b="1" dirty="0"/>
              <a:t>余件和</a:t>
            </a:r>
            <a:r>
              <a:rPr lang="en-US" altLang="zh-CN" b="1" dirty="0"/>
              <a:t>6500</a:t>
            </a:r>
            <a:r>
              <a:rPr lang="zh-CN" altLang="zh-CN" b="1" dirty="0"/>
              <a:t>余件，其中发明专利申请和授权量分别达</a:t>
            </a:r>
            <a:r>
              <a:rPr lang="en-US" altLang="zh-CN" b="1" dirty="0"/>
              <a:t>2300</a:t>
            </a:r>
            <a:r>
              <a:rPr lang="zh-CN" altLang="zh-CN" b="1" dirty="0"/>
              <a:t>多件和</a:t>
            </a:r>
            <a:r>
              <a:rPr lang="en-US" altLang="zh-CN" b="1" dirty="0"/>
              <a:t>900</a:t>
            </a:r>
            <a:r>
              <a:rPr lang="zh-CN" altLang="zh-CN" b="1" dirty="0"/>
              <a:t>多件，被列为“中国企业知识产权自主创新十大品牌”，是国家级“企业技术中心”、“博士后工作站”、“高新技术企业”</a:t>
            </a:r>
            <a:r>
              <a:rPr lang="zh-CN" altLang="zh-CN" b="1" dirty="0" smtClean="0"/>
              <a:t>。</a:t>
            </a:r>
            <a:endParaRPr lang="en-US" altLang="zh-CN" b="1" dirty="0" smtClean="0"/>
          </a:p>
          <a:p>
            <a:r>
              <a:rPr lang="zh-CN" altLang="zh-CN" b="1" dirty="0" smtClean="0"/>
              <a:t>“</a:t>
            </a:r>
            <a:r>
              <a:rPr lang="zh-CN" altLang="zh-CN" b="1" dirty="0"/>
              <a:t>吉利战略转型的技术体系创新工程建设”荣获国家科技进步奖二等奖（一等奖空缺）；“吉利轿车安全技术的研发与产业化”荣获中国汽车工业科学技术一等奖</a:t>
            </a:r>
            <a:r>
              <a:rPr lang="zh-CN" altLang="zh-CN" b="1" dirty="0" smtClean="0"/>
              <a:t>。</a:t>
            </a:r>
            <a:endParaRPr lang="zh-CN" altLang="en-US" dirty="0"/>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4058987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57200"/>
            <a:ext cx="3960440" cy="1143000"/>
          </a:xfrm>
        </p:spPr>
        <p:txBody>
          <a:bodyPr/>
          <a:lstStyle/>
          <a:p>
            <a:r>
              <a:rPr lang="zh-CN" altLang="en-US" sz="4000" b="1" dirty="0" smtClean="0">
                <a:latin typeface="黑体" pitchFamily="49" charset="-122"/>
                <a:ea typeface="黑体" pitchFamily="49" charset="-122"/>
              </a:rPr>
              <a:t>（</a:t>
            </a:r>
            <a:r>
              <a:rPr lang="en-US" altLang="zh-CN" sz="4000" b="1" dirty="0" smtClean="0">
                <a:latin typeface="黑体" pitchFamily="49" charset="-122"/>
                <a:ea typeface="黑体" pitchFamily="49" charset="-122"/>
              </a:rPr>
              <a:t>3</a:t>
            </a:r>
            <a:r>
              <a:rPr lang="zh-CN" altLang="en-US" sz="4000" b="1" dirty="0" smtClean="0">
                <a:latin typeface="黑体" pitchFamily="49" charset="-122"/>
                <a:ea typeface="黑体" pitchFamily="49" charset="-122"/>
              </a:rPr>
              <a:t>）科技创新</a:t>
            </a:r>
            <a:endParaRPr lang="zh-CN" altLang="en-US" sz="4000" b="1" dirty="0">
              <a:latin typeface="黑体" pitchFamily="49" charset="-122"/>
              <a:ea typeface="黑体" pitchFamily="49" charset="-122"/>
            </a:endParaRPr>
          </a:p>
        </p:txBody>
      </p:sp>
      <p:sp>
        <p:nvSpPr>
          <p:cNvPr id="3" name="文本占位符 2"/>
          <p:cNvSpPr>
            <a:spLocks noGrp="1"/>
          </p:cNvSpPr>
          <p:nvPr>
            <p:ph type="body" idx="1"/>
          </p:nvPr>
        </p:nvSpPr>
        <p:spPr>
          <a:xfrm>
            <a:off x="395536" y="1628800"/>
            <a:ext cx="8496944" cy="1854514"/>
          </a:xfrm>
        </p:spPr>
        <p:txBody>
          <a:bodyPr/>
          <a:lstStyle/>
          <a:p>
            <a:r>
              <a:rPr lang="zh-CN" altLang="en-US" b="1" dirty="0" smtClean="0"/>
              <a:t>吉利新能源战略：</a:t>
            </a:r>
            <a:r>
              <a:rPr lang="en-US" altLang="zh-CN" b="1" dirty="0" smtClean="0"/>
              <a:t>GPEC </a:t>
            </a:r>
            <a:r>
              <a:rPr lang="en-US" altLang="zh-CN" b="1" dirty="0"/>
              <a:t>- </a:t>
            </a:r>
            <a:r>
              <a:rPr lang="zh-CN" altLang="en-US" b="1" dirty="0"/>
              <a:t>吉利插入式混合动力汽车</a:t>
            </a:r>
            <a:r>
              <a:rPr lang="zh-CN" altLang="en-US" b="1" dirty="0" smtClean="0"/>
              <a:t>技术、</a:t>
            </a:r>
            <a:r>
              <a:rPr lang="en-US" altLang="zh-CN" b="1" dirty="0"/>
              <a:t>EK-</a:t>
            </a:r>
            <a:r>
              <a:rPr lang="zh-CN" altLang="en-US" b="1" dirty="0"/>
              <a:t>吉利纯电动车</a:t>
            </a:r>
            <a:r>
              <a:rPr lang="zh-CN" altLang="en-US" b="1" dirty="0" smtClean="0"/>
              <a:t>技术、</a:t>
            </a:r>
            <a:r>
              <a:rPr lang="en-US" altLang="zh-CN" b="1" dirty="0"/>
              <a:t>GSG – </a:t>
            </a:r>
            <a:r>
              <a:rPr lang="zh-CN" altLang="en-US" b="1" dirty="0"/>
              <a:t>吉利智能启停</a:t>
            </a:r>
            <a:r>
              <a:rPr lang="zh-CN" altLang="en-US" b="1" dirty="0" smtClean="0"/>
              <a:t>系统</a:t>
            </a:r>
            <a:endParaRPr lang="en-US" altLang="zh-CN" b="1" dirty="0" smtClean="0"/>
          </a:p>
          <a:p>
            <a:r>
              <a:rPr lang="zh-CN" altLang="en-US" b="1" dirty="0" smtClean="0"/>
              <a:t>吉利汽车智能技术：</a:t>
            </a:r>
            <a:r>
              <a:rPr lang="zh-CN" altLang="en-US" b="1" dirty="0"/>
              <a:t>智能化技术</a:t>
            </a:r>
            <a:r>
              <a:rPr lang="zh-CN" altLang="en-US" b="1" dirty="0" smtClean="0"/>
              <a:t>平台、</a:t>
            </a:r>
            <a:r>
              <a:rPr lang="en-US" altLang="zh-CN" b="1" dirty="0"/>
              <a:t>G-</a:t>
            </a:r>
            <a:r>
              <a:rPr lang="en-US" altLang="zh-CN" b="1" dirty="0" err="1"/>
              <a:t>NetLink</a:t>
            </a:r>
            <a:r>
              <a:rPr lang="en-US" altLang="zh-CN" b="1" dirty="0"/>
              <a:t> System</a:t>
            </a:r>
            <a:r>
              <a:rPr lang="zh-CN" altLang="en-US" b="1" dirty="0"/>
              <a:t>系统</a:t>
            </a:r>
          </a:p>
          <a:p>
            <a:endParaRPr lang="zh-CN" altLang="en-US" dirty="0"/>
          </a:p>
          <a:p>
            <a:endParaRPr lang="zh-CN" altLang="en-US" dirty="0"/>
          </a:p>
          <a:p>
            <a:endParaRPr lang="zh-CN" altLang="en-US" dirty="0"/>
          </a:p>
          <a:p>
            <a:endParaRPr lang="zh-CN" altLang="en-US" dirty="0"/>
          </a:p>
          <a:p>
            <a:endParaRPr lang="zh-CN" altLang="en-US" dirty="0"/>
          </a:p>
        </p:txBody>
      </p:sp>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284984"/>
            <a:ext cx="8136904"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280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黑体" pitchFamily="49" charset="-122"/>
                <a:ea typeface="黑体" pitchFamily="49" charset="-122"/>
              </a:rPr>
              <a:t>（</a:t>
            </a:r>
            <a:r>
              <a:rPr lang="en-US" altLang="zh-CN" b="1" dirty="0" smtClean="0">
                <a:latin typeface="黑体" pitchFamily="49" charset="-122"/>
                <a:ea typeface="黑体" pitchFamily="49" charset="-122"/>
              </a:rPr>
              <a:t>4</a:t>
            </a:r>
            <a:r>
              <a:rPr lang="zh-CN" altLang="en-US" b="1" dirty="0" smtClean="0">
                <a:latin typeface="黑体" pitchFamily="49" charset="-122"/>
                <a:ea typeface="黑体" pitchFamily="49" charset="-122"/>
              </a:rPr>
              <a:t>）吉利的辉煌</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306152" y="1628800"/>
            <a:ext cx="8305800" cy="3312368"/>
          </a:xfrm>
        </p:spPr>
        <p:txBody>
          <a:bodyPr/>
          <a:lstStyle/>
          <a:p>
            <a:r>
              <a:rPr lang="zh-CN" altLang="en-US" b="1" dirty="0">
                <a:latin typeface="楷体_GB2312" pitchFamily="49" charset="-122"/>
                <a:ea typeface="楷体_GB2312" pitchFamily="49" charset="-122"/>
              </a:rPr>
              <a:t>“沃尔沃”，瑞典著名汽车品牌</a:t>
            </a:r>
            <a:r>
              <a:rPr lang="zh-CN" altLang="en-US" b="1" dirty="0" smtClean="0">
                <a:latin typeface="楷体_GB2312" pitchFamily="49" charset="-122"/>
                <a:ea typeface="楷体_GB2312" pitchFamily="49" charset="-122"/>
              </a:rPr>
              <a:t>，</a:t>
            </a:r>
            <a:r>
              <a:rPr lang="en-US" altLang="zh-CN" b="1" dirty="0" smtClean="0">
                <a:latin typeface="楷体_GB2312" pitchFamily="49" charset="-122"/>
                <a:ea typeface="楷体_GB2312" pitchFamily="49" charset="-122"/>
              </a:rPr>
              <a:t>1924</a:t>
            </a:r>
            <a:r>
              <a:rPr lang="zh-CN" altLang="en-US" b="1" dirty="0">
                <a:latin typeface="楷体_GB2312" pitchFamily="49" charset="-122"/>
                <a:ea typeface="楷体_GB2312" pitchFamily="49" charset="-122"/>
              </a:rPr>
              <a:t>年由阿萨尔</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加布里尔松和古斯塔夫</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拉尔松创建，该品牌汽车是目前世界上最安全的汽车</a:t>
            </a:r>
            <a:r>
              <a:rPr lang="zh-CN" altLang="en-US" b="1" dirty="0" smtClean="0">
                <a:latin typeface="楷体_GB2312" pitchFamily="49" charset="-122"/>
                <a:ea typeface="楷体_GB2312" pitchFamily="49" charset="-122"/>
              </a:rPr>
              <a:t>。沃尔沃</a:t>
            </a:r>
            <a:r>
              <a:rPr lang="zh-CN" altLang="en-US" b="1" dirty="0">
                <a:latin typeface="楷体_GB2312" pitchFamily="49" charset="-122"/>
                <a:ea typeface="楷体_GB2312" pitchFamily="49" charset="-122"/>
              </a:rPr>
              <a:t>汽车公司是北欧最大的汽车企业，也是瑞典最大的工业企业集团，世界</a:t>
            </a:r>
            <a:r>
              <a:rPr lang="en-US" altLang="zh-CN" b="1" dirty="0">
                <a:latin typeface="楷体_GB2312" pitchFamily="49" charset="-122"/>
                <a:ea typeface="楷体_GB2312" pitchFamily="49" charset="-122"/>
              </a:rPr>
              <a:t>20</a:t>
            </a:r>
            <a:r>
              <a:rPr lang="zh-CN" altLang="en-US" b="1" dirty="0">
                <a:latin typeface="楷体_GB2312" pitchFamily="49" charset="-122"/>
                <a:ea typeface="楷体_GB2312" pitchFamily="49" charset="-122"/>
              </a:rPr>
              <a:t>大汽车公司之一</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2010</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8</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日，吉利控股</a:t>
            </a:r>
            <a:r>
              <a:rPr lang="zh-CN" altLang="en-US" b="1" dirty="0" smtClean="0">
                <a:latin typeface="楷体_GB2312" pitchFamily="49" charset="-122"/>
                <a:ea typeface="楷体_GB2312" pitchFamily="49" charset="-122"/>
              </a:rPr>
              <a:t>集团以</a:t>
            </a:r>
            <a:r>
              <a:rPr lang="en-US" altLang="zh-CN" b="1" dirty="0">
                <a:latin typeface="楷体_GB2312" pitchFamily="49" charset="-122"/>
                <a:ea typeface="楷体_GB2312" pitchFamily="49" charset="-122"/>
              </a:rPr>
              <a:t>18</a:t>
            </a:r>
            <a:r>
              <a:rPr lang="zh-CN" altLang="en-US" b="1" dirty="0">
                <a:latin typeface="楷体_GB2312" pitchFamily="49" charset="-122"/>
                <a:ea typeface="楷体_GB2312" pitchFamily="49" charset="-122"/>
              </a:rPr>
              <a:t>亿美元收购沃尔沃</a:t>
            </a:r>
            <a:r>
              <a:rPr lang="en-US" altLang="zh-CN" b="1" dirty="0">
                <a:latin typeface="楷体_GB2312" pitchFamily="49" charset="-122"/>
                <a:ea typeface="楷体_GB2312" pitchFamily="49" charset="-122"/>
              </a:rPr>
              <a:t>100%</a:t>
            </a:r>
            <a:r>
              <a:rPr lang="zh-CN" altLang="en-US" b="1" dirty="0" smtClean="0">
                <a:latin typeface="楷体_GB2312" pitchFamily="49" charset="-122"/>
                <a:ea typeface="楷体_GB2312" pitchFamily="49" charset="-122"/>
              </a:rPr>
              <a:t>股权，包括</a:t>
            </a:r>
            <a:r>
              <a:rPr lang="zh-CN" altLang="zh-CN" b="1" dirty="0" smtClean="0">
                <a:latin typeface="楷体_GB2312" pitchFamily="49" charset="-122"/>
                <a:ea typeface="楷体_GB2312" pitchFamily="49" charset="-122"/>
              </a:rPr>
              <a:t>沃尔沃</a:t>
            </a:r>
            <a:r>
              <a:rPr lang="zh-CN" altLang="zh-CN" b="1" dirty="0">
                <a:latin typeface="楷体_GB2312" pitchFamily="49" charset="-122"/>
                <a:ea typeface="楷体_GB2312" pitchFamily="49" charset="-122"/>
              </a:rPr>
              <a:t>的全部资产（包括无形资产），包括</a:t>
            </a:r>
            <a:r>
              <a:rPr lang="en-US" altLang="zh-CN" b="1" dirty="0">
                <a:latin typeface="楷体_GB2312" pitchFamily="49" charset="-122"/>
                <a:ea typeface="楷体_GB2312" pitchFamily="49" charset="-122"/>
              </a:rPr>
              <a:t>3</a:t>
            </a:r>
            <a:r>
              <a:rPr lang="zh-CN" altLang="zh-CN" b="1" dirty="0">
                <a:latin typeface="楷体_GB2312" pitchFamily="49" charset="-122"/>
                <a:ea typeface="楷体_GB2312" pitchFamily="49" charset="-122"/>
              </a:rPr>
              <a:t>家工厂、</a:t>
            </a:r>
            <a:r>
              <a:rPr lang="en-US" altLang="zh-CN" b="1" dirty="0">
                <a:latin typeface="楷体_GB2312" pitchFamily="49" charset="-122"/>
                <a:ea typeface="楷体_GB2312" pitchFamily="49" charset="-122"/>
              </a:rPr>
              <a:t>1</a:t>
            </a:r>
            <a:r>
              <a:rPr lang="zh-CN" altLang="zh-CN" b="1" dirty="0">
                <a:latin typeface="楷体_GB2312" pitchFamily="49" charset="-122"/>
                <a:ea typeface="楷体_GB2312" pitchFamily="49" charset="-122"/>
              </a:rPr>
              <a:t>万多项专利权，完整的研发体系、员工体系、零部件供应链以及遍布全球的销售与服务网络等。</a:t>
            </a:r>
            <a:endParaRPr lang="zh-CN" altLang="en-US" b="1" dirty="0">
              <a:latin typeface="楷体_GB2312" pitchFamily="49" charset="-122"/>
              <a:ea typeface="楷体_GB2312"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868413"/>
            <a:ext cx="1656184" cy="1879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882" y="260648"/>
            <a:ext cx="3312368"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4678745"/>
            <a:ext cx="365187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6" y="4725143"/>
            <a:ext cx="3006849" cy="2022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43857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对比：</a:t>
            </a:r>
            <a:r>
              <a:rPr lang="zh-CN" altLang="en-US" b="1" dirty="0" smtClean="0"/>
              <a:t>夏利的窘境</a:t>
            </a:r>
            <a:endParaRPr lang="zh-CN" altLang="en-US" b="1" dirty="0"/>
          </a:p>
        </p:txBody>
      </p:sp>
      <p:sp>
        <p:nvSpPr>
          <p:cNvPr id="3" name="文本占位符 2"/>
          <p:cNvSpPr>
            <a:spLocks noGrp="1"/>
          </p:cNvSpPr>
          <p:nvPr>
            <p:ph type="body" idx="1"/>
          </p:nvPr>
        </p:nvSpPr>
        <p:spPr>
          <a:xfrm>
            <a:off x="381000" y="1916832"/>
            <a:ext cx="8151440" cy="4104456"/>
          </a:xfrm>
        </p:spPr>
        <p:txBody>
          <a:bodyPr/>
          <a:lstStyle/>
          <a:p>
            <a:r>
              <a:rPr lang="zh-CN" altLang="zh-CN" sz="1800" b="1" dirty="0">
                <a:latin typeface="宋体" pitchFamily="2" charset="-122"/>
                <a:ea typeface="宋体" pitchFamily="2" charset="-122"/>
              </a:rPr>
              <a:t>汽夏利一直面临亏损的困扰。</a:t>
            </a:r>
            <a:r>
              <a:rPr lang="en-US" altLang="zh-CN" sz="1800" b="1" dirty="0">
                <a:latin typeface="宋体" pitchFamily="2" charset="-122"/>
                <a:ea typeface="宋体" pitchFamily="2" charset="-122"/>
              </a:rPr>
              <a:t>2013</a:t>
            </a:r>
            <a:r>
              <a:rPr lang="zh-CN" altLang="zh-CN" sz="1800" b="1" dirty="0">
                <a:latin typeface="宋体" pitchFamily="2" charset="-122"/>
                <a:ea typeface="宋体" pitchFamily="2" charset="-122"/>
              </a:rPr>
              <a:t>年、</a:t>
            </a:r>
            <a:r>
              <a:rPr lang="en-US" altLang="zh-CN" sz="1800" b="1" dirty="0">
                <a:latin typeface="宋体" pitchFamily="2" charset="-122"/>
                <a:ea typeface="宋体" pitchFamily="2" charset="-122"/>
              </a:rPr>
              <a:t>2014</a:t>
            </a:r>
            <a:r>
              <a:rPr lang="zh-CN" altLang="zh-CN" sz="1800" b="1" dirty="0">
                <a:latin typeface="宋体" pitchFamily="2" charset="-122"/>
                <a:ea typeface="宋体" pitchFamily="2" charset="-122"/>
              </a:rPr>
              <a:t>年连续亏损，一汽夏利股票曾面临“摘牌”风险，</a:t>
            </a:r>
            <a:r>
              <a:rPr lang="en-US" altLang="zh-CN" sz="1800" b="1" dirty="0">
                <a:latin typeface="宋体" pitchFamily="2" charset="-122"/>
                <a:ea typeface="宋体" pitchFamily="2" charset="-122"/>
              </a:rPr>
              <a:t>2015</a:t>
            </a:r>
            <a:r>
              <a:rPr lang="zh-CN" altLang="zh-CN" sz="1800" b="1" dirty="0">
                <a:latin typeface="宋体" pitchFamily="2" charset="-122"/>
                <a:ea typeface="宋体" pitchFamily="2" charset="-122"/>
              </a:rPr>
              <a:t>年一汽夏利向母公司一汽股份转让旗下内燃机制造分公司和变速器分公司、产品开发中心，获得</a:t>
            </a:r>
            <a:r>
              <a:rPr lang="en-US" altLang="zh-CN" sz="1800" b="1" dirty="0">
                <a:latin typeface="宋体" pitchFamily="2" charset="-122"/>
                <a:ea typeface="宋体" pitchFamily="2" charset="-122"/>
              </a:rPr>
              <a:t>12</a:t>
            </a:r>
            <a:r>
              <a:rPr lang="zh-CN" altLang="zh-CN" sz="1800" b="1" dirty="0">
                <a:latin typeface="宋体" pitchFamily="2" charset="-122"/>
                <a:ea typeface="宋体" pitchFamily="2" charset="-122"/>
              </a:rPr>
              <a:t>亿元，从亏损</a:t>
            </a:r>
            <a:r>
              <a:rPr lang="en-US" altLang="zh-CN" sz="1800" b="1" dirty="0">
                <a:latin typeface="宋体" pitchFamily="2" charset="-122"/>
                <a:ea typeface="宋体" pitchFamily="2" charset="-122"/>
              </a:rPr>
              <a:t>11.82</a:t>
            </a:r>
            <a:r>
              <a:rPr lang="zh-CN" altLang="zh-CN" sz="1800" b="1" dirty="0">
                <a:latin typeface="宋体" pitchFamily="2" charset="-122"/>
                <a:ea typeface="宋体" pitchFamily="2" charset="-122"/>
              </a:rPr>
              <a:t>亿元变为“盈利”</a:t>
            </a:r>
            <a:r>
              <a:rPr lang="en-US" altLang="zh-CN" sz="1800" b="1" dirty="0">
                <a:latin typeface="宋体" pitchFamily="2" charset="-122"/>
                <a:ea typeface="宋体" pitchFamily="2" charset="-122"/>
              </a:rPr>
              <a:t>0.18</a:t>
            </a:r>
            <a:r>
              <a:rPr lang="zh-CN" altLang="zh-CN" sz="1800" b="1" dirty="0">
                <a:latin typeface="宋体" pitchFamily="2" charset="-122"/>
                <a:ea typeface="宋体" pitchFamily="2" charset="-122"/>
              </a:rPr>
              <a:t>亿元，暂时摆脱了“摘牌”的危险</a:t>
            </a:r>
            <a:r>
              <a:rPr lang="zh-CN" altLang="zh-CN" sz="1800" b="1" dirty="0" smtClean="0">
                <a:latin typeface="宋体" pitchFamily="2" charset="-122"/>
                <a:ea typeface="宋体" pitchFamily="2" charset="-122"/>
              </a:rPr>
              <a:t>。</a:t>
            </a:r>
            <a:endParaRPr lang="en-US" altLang="zh-CN" sz="1800" b="1" dirty="0" smtClean="0">
              <a:latin typeface="宋体" pitchFamily="2" charset="-122"/>
              <a:ea typeface="宋体" pitchFamily="2" charset="-122"/>
            </a:endParaRPr>
          </a:p>
          <a:p>
            <a:r>
              <a:rPr lang="zh-CN" altLang="en-US" sz="1800" b="1" dirty="0" smtClean="0">
                <a:latin typeface="宋体" pitchFamily="2" charset="-122"/>
                <a:ea typeface="宋体" pitchFamily="2" charset="-122"/>
              </a:rPr>
              <a:t>按照</a:t>
            </a:r>
            <a:r>
              <a:rPr lang="zh-CN" altLang="en-US" sz="1800" b="1" dirty="0">
                <a:latin typeface="宋体" pitchFamily="2" charset="-122"/>
                <a:ea typeface="宋体" pitchFamily="2" charset="-122"/>
              </a:rPr>
              <a:t>一汽夏利公布的数据</a:t>
            </a:r>
            <a:r>
              <a:rPr lang="zh-CN" altLang="en-US" sz="1800" b="1" dirty="0" smtClean="0">
                <a:latin typeface="宋体" pitchFamily="2" charset="-122"/>
                <a:ea typeface="宋体" pitchFamily="2" charset="-122"/>
              </a:rPr>
              <a:t>，</a:t>
            </a:r>
            <a:r>
              <a:rPr lang="en-US" altLang="zh-CN" sz="1800" b="1" dirty="0" smtClean="0">
                <a:latin typeface="宋体" pitchFamily="2" charset="-122"/>
                <a:ea typeface="宋体" pitchFamily="2" charset="-122"/>
              </a:rPr>
              <a:t>2019</a:t>
            </a:r>
            <a:r>
              <a:rPr lang="zh-CN" altLang="en-US" sz="1800" b="1" dirty="0" smtClean="0">
                <a:latin typeface="宋体" pitchFamily="2" charset="-122"/>
                <a:ea typeface="宋体" pitchFamily="2" charset="-122"/>
              </a:rPr>
              <a:t>年上半年</a:t>
            </a:r>
            <a:r>
              <a:rPr lang="zh-CN" altLang="en-US" sz="1800" b="1" dirty="0">
                <a:latin typeface="宋体" pitchFamily="2" charset="-122"/>
                <a:ea typeface="宋体" pitchFamily="2" charset="-122"/>
              </a:rPr>
              <a:t>，一汽夏利的营业收入约为</a:t>
            </a:r>
            <a:r>
              <a:rPr lang="en-US" altLang="zh-CN" sz="1800" b="1" dirty="0">
                <a:latin typeface="宋体" pitchFamily="2" charset="-122"/>
                <a:ea typeface="宋体" pitchFamily="2" charset="-122"/>
              </a:rPr>
              <a:t>2.68</a:t>
            </a:r>
            <a:r>
              <a:rPr lang="zh-CN" altLang="en-US" sz="1800" b="1" dirty="0">
                <a:latin typeface="宋体" pitchFamily="2" charset="-122"/>
                <a:ea typeface="宋体" pitchFamily="2" charset="-122"/>
              </a:rPr>
              <a:t>亿元，同比下滑</a:t>
            </a:r>
            <a:r>
              <a:rPr lang="en-US" altLang="zh-CN" sz="1800" b="1" dirty="0">
                <a:latin typeface="宋体" pitchFamily="2" charset="-122"/>
                <a:ea typeface="宋体" pitchFamily="2" charset="-122"/>
              </a:rPr>
              <a:t>62.45%</a:t>
            </a:r>
            <a:r>
              <a:rPr lang="zh-CN" altLang="en-US" sz="1800" b="1" dirty="0">
                <a:latin typeface="宋体" pitchFamily="2" charset="-122"/>
                <a:ea typeface="宋体" pitchFamily="2" charset="-122"/>
              </a:rPr>
              <a:t>；归属于上市公司股东的净利润约为</a:t>
            </a:r>
            <a:r>
              <a:rPr lang="en-US" altLang="zh-CN" sz="1800" b="1" dirty="0">
                <a:latin typeface="宋体" pitchFamily="2" charset="-122"/>
                <a:ea typeface="宋体" pitchFamily="2" charset="-122"/>
              </a:rPr>
              <a:t>-5.51</a:t>
            </a:r>
            <a:r>
              <a:rPr lang="zh-CN" altLang="en-US" sz="1800" b="1" dirty="0">
                <a:latin typeface="宋体" pitchFamily="2" charset="-122"/>
                <a:ea typeface="宋体" pitchFamily="2" charset="-122"/>
              </a:rPr>
              <a:t>亿元，比去年同期的亏损额度有所减少</a:t>
            </a:r>
            <a:r>
              <a:rPr lang="zh-CN" altLang="en-US" sz="1800" b="1" dirty="0" smtClean="0">
                <a:latin typeface="宋体" pitchFamily="2" charset="-122"/>
                <a:ea typeface="宋体" pitchFamily="2" charset="-122"/>
              </a:rPr>
              <a:t>。</a:t>
            </a:r>
            <a:endParaRPr lang="zh-CN" altLang="en-US" sz="1800" b="1" dirty="0">
              <a:latin typeface="宋体" pitchFamily="2" charset="-122"/>
              <a:ea typeface="宋体" pitchFamily="2" charset="-122"/>
            </a:endParaRPr>
          </a:p>
          <a:p>
            <a:r>
              <a:rPr lang="zh-CN" altLang="en-US" sz="1800" b="1" dirty="0">
                <a:latin typeface="宋体" pitchFamily="2" charset="-122"/>
                <a:ea typeface="宋体" pitchFamily="2" charset="-122"/>
              </a:rPr>
              <a:t>另外，根据一汽夏利公布的销量数据显示</a:t>
            </a:r>
            <a:r>
              <a:rPr lang="zh-CN" altLang="en-US" sz="1800" b="1" dirty="0" smtClean="0">
                <a:latin typeface="宋体" pitchFamily="2" charset="-122"/>
                <a:ea typeface="宋体" pitchFamily="2" charset="-122"/>
              </a:rPr>
              <a:t>，</a:t>
            </a:r>
            <a:r>
              <a:rPr lang="en-US" altLang="zh-CN" sz="1800" b="1" dirty="0" smtClean="0">
                <a:latin typeface="宋体" pitchFamily="2" charset="-122"/>
                <a:ea typeface="宋体" pitchFamily="2" charset="-122"/>
              </a:rPr>
              <a:t>2019</a:t>
            </a:r>
            <a:r>
              <a:rPr lang="zh-CN" altLang="en-US" sz="1800" b="1" dirty="0" smtClean="0">
                <a:latin typeface="宋体" pitchFamily="2" charset="-122"/>
                <a:ea typeface="宋体" pitchFamily="2" charset="-122"/>
              </a:rPr>
              <a:t>年上半年</a:t>
            </a:r>
            <a:r>
              <a:rPr lang="zh-CN" altLang="en-US" sz="1800" b="1" dirty="0">
                <a:latin typeface="宋体" pitchFamily="2" charset="-122"/>
                <a:ea typeface="宋体" pitchFamily="2" charset="-122"/>
              </a:rPr>
              <a:t>，一汽夏利共生产威志和骏派品牌轿车</a:t>
            </a:r>
            <a:r>
              <a:rPr lang="en-US" altLang="zh-CN" sz="1800" b="1" dirty="0">
                <a:latin typeface="宋体" pitchFamily="2" charset="-122"/>
                <a:ea typeface="宋体" pitchFamily="2" charset="-122"/>
              </a:rPr>
              <a:t>1126</a:t>
            </a:r>
            <a:r>
              <a:rPr lang="zh-CN" altLang="en-US" sz="1800" b="1" dirty="0">
                <a:latin typeface="宋体" pitchFamily="2" charset="-122"/>
                <a:ea typeface="宋体" pitchFamily="2" charset="-122"/>
              </a:rPr>
              <a:t>辆，同比下降</a:t>
            </a:r>
            <a:r>
              <a:rPr lang="en-US" altLang="zh-CN" sz="1800" b="1" dirty="0">
                <a:latin typeface="宋体" pitchFamily="2" charset="-122"/>
                <a:ea typeface="宋体" pitchFamily="2" charset="-122"/>
              </a:rPr>
              <a:t>93.34%</a:t>
            </a:r>
            <a:r>
              <a:rPr lang="zh-CN" altLang="en-US" sz="1800" b="1" dirty="0">
                <a:latin typeface="宋体" pitchFamily="2" charset="-122"/>
                <a:ea typeface="宋体" pitchFamily="2" charset="-122"/>
              </a:rPr>
              <a:t>；累计销量为</a:t>
            </a:r>
            <a:r>
              <a:rPr lang="en-US" altLang="zh-CN" sz="1800" b="1" dirty="0">
                <a:latin typeface="宋体" pitchFamily="2" charset="-122"/>
                <a:ea typeface="宋体" pitchFamily="2" charset="-122"/>
              </a:rPr>
              <a:t>3920</a:t>
            </a:r>
            <a:r>
              <a:rPr lang="zh-CN" altLang="en-US" sz="1800" b="1" dirty="0">
                <a:latin typeface="宋体" pitchFamily="2" charset="-122"/>
                <a:ea typeface="宋体" pitchFamily="2" charset="-122"/>
              </a:rPr>
              <a:t>辆，同比下滑</a:t>
            </a:r>
            <a:r>
              <a:rPr lang="en-US" altLang="zh-CN" sz="1800" b="1" dirty="0">
                <a:latin typeface="宋体" pitchFamily="2" charset="-122"/>
                <a:ea typeface="宋体" pitchFamily="2" charset="-122"/>
              </a:rPr>
              <a:t>69.86%</a:t>
            </a:r>
            <a:r>
              <a:rPr lang="zh-CN" altLang="en-US" sz="1800" b="1" dirty="0">
                <a:latin typeface="宋体" pitchFamily="2" charset="-122"/>
                <a:ea typeface="宋体" pitchFamily="2" charset="-122"/>
              </a:rPr>
              <a:t>。</a:t>
            </a:r>
          </a:p>
          <a:p>
            <a:endParaRPr lang="zh-CN" altLang="en-US" b="1" dirty="0">
              <a:latin typeface="宋体" pitchFamily="2" charset="-122"/>
              <a:ea typeface="宋体" pitchFamily="2" charset="-122"/>
            </a:endParaRPr>
          </a:p>
          <a:p>
            <a:endParaRPr lang="zh-CN" altLang="zh-CN" b="1" dirty="0">
              <a:latin typeface="宋体" pitchFamily="2" charset="-122"/>
              <a:ea typeface="宋体" pitchFamily="2" charset="-122"/>
            </a:endParaRPr>
          </a:p>
          <a:p>
            <a:endParaRPr lang="zh-CN" altLang="zh-CN" dirty="0"/>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9025" y="28558"/>
            <a:ext cx="2974975" cy="1700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4653136"/>
            <a:ext cx="3215680" cy="2060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6828" y="4653136"/>
            <a:ext cx="3384376" cy="2060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27579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305800" cy="1143000"/>
          </a:xfrm>
        </p:spPr>
        <p:txBody>
          <a:bodyPr/>
          <a:lstStyle/>
          <a:p>
            <a:r>
              <a:rPr lang="zh-CN" altLang="en-US" b="1" dirty="0" smtClean="0"/>
              <a:t>问题的回顾：</a:t>
            </a:r>
            <a:endParaRPr lang="zh-CN" altLang="en-US" b="1" dirty="0"/>
          </a:p>
        </p:txBody>
      </p:sp>
      <p:sp>
        <p:nvSpPr>
          <p:cNvPr id="3" name="文本占位符 2"/>
          <p:cNvSpPr>
            <a:spLocks noGrp="1"/>
          </p:cNvSpPr>
          <p:nvPr>
            <p:ph type="body" idx="1"/>
          </p:nvPr>
        </p:nvSpPr>
        <p:spPr>
          <a:xfrm>
            <a:off x="395536" y="1340768"/>
            <a:ext cx="8305800" cy="4752528"/>
          </a:xfrm>
        </p:spPr>
        <p:txBody>
          <a:bodyPr/>
          <a:lstStyle/>
          <a:p>
            <a:pPr marL="0" indent="0">
              <a:buNone/>
            </a:pPr>
            <a:r>
              <a:rPr lang="zh-CN" altLang="en-US" sz="4000" dirty="0" smtClean="0"/>
              <a:t>我国的创新能力如何？</a:t>
            </a:r>
            <a:endParaRPr lang="en-US" altLang="zh-CN" sz="4000" dirty="0" smtClean="0"/>
          </a:p>
          <a:p>
            <a:pPr marL="0" indent="0">
              <a:buNone/>
            </a:pPr>
            <a:r>
              <a:rPr lang="en-US" altLang="zh-CN" dirty="0" smtClean="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我国创新能力不强，科技发展水平总体不高，科技对经济社会发展的支撑能力不足，科技对经济增长的贡献率远低于发达国家水平，这是我国这个经济大个头的“阿喀琉斯之踵”</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marL="0" indent="0">
              <a:buNone/>
            </a:pPr>
            <a:r>
              <a:rPr lang="zh-CN" altLang="en-US" dirty="0" smtClean="0">
                <a:latin typeface="楷体_GB2312" panose="02010609030101010101" pitchFamily="49" charset="-122"/>
                <a:ea typeface="楷体_GB2312" panose="02010609030101010101" pitchFamily="49" charset="-122"/>
              </a:rPr>
              <a:t>    新</a:t>
            </a:r>
            <a:r>
              <a:rPr lang="zh-CN" altLang="en-US" dirty="0">
                <a:latin typeface="楷体_GB2312" panose="02010609030101010101" pitchFamily="49" charset="-122"/>
                <a:ea typeface="楷体_GB2312" panose="02010609030101010101" pitchFamily="49" charset="-122"/>
              </a:rPr>
              <a:t>一轮科技革命带来的是更加激烈的科技竞争，如果科技创新搞不上去，发展动力就不可能实现转换，我们在全球经济竞争中就会处于下风</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marL="0" indent="0">
              <a:buNone/>
            </a:pPr>
            <a:r>
              <a:rPr lang="zh-CN" altLang="en-US" dirty="0" smtClean="0">
                <a:latin typeface="楷体_GB2312" panose="02010609030101010101" pitchFamily="49" charset="-122"/>
                <a:ea typeface="楷体_GB2312" panose="02010609030101010101" pitchFamily="49" charset="-122"/>
              </a:rPr>
              <a:t>    （</a:t>
            </a:r>
            <a:r>
              <a:rPr lang="en-US" altLang="zh-CN" dirty="0">
                <a:latin typeface="楷体_GB2312" panose="02010609030101010101" pitchFamily="49" charset="-122"/>
                <a:ea typeface="楷体_GB2312" panose="02010609030101010101" pitchFamily="49" charset="-122"/>
              </a:rPr>
              <a:t>2015</a:t>
            </a:r>
            <a:r>
              <a:rPr lang="zh-CN" altLang="en-US" dirty="0">
                <a:latin typeface="楷体_GB2312" panose="02010609030101010101" pitchFamily="49" charset="-122"/>
                <a:ea typeface="楷体_GB2312" panose="02010609030101010101" pitchFamily="49" charset="-122"/>
              </a:rPr>
              <a:t>年</a:t>
            </a:r>
            <a:r>
              <a:rPr lang="en-US" altLang="zh-CN" dirty="0">
                <a:latin typeface="楷体_GB2312" panose="02010609030101010101" pitchFamily="49" charset="-122"/>
                <a:ea typeface="楷体_GB2312" panose="02010609030101010101" pitchFamily="49" charset="-122"/>
              </a:rPr>
              <a:t>10</a:t>
            </a:r>
            <a:r>
              <a:rPr lang="zh-CN" altLang="en-US" dirty="0">
                <a:latin typeface="楷体_GB2312" panose="02010609030101010101" pitchFamily="49" charset="-122"/>
                <a:ea typeface="楷体_GB2312" panose="02010609030101010101" pitchFamily="49" charset="-122"/>
              </a:rPr>
              <a:t>月</a:t>
            </a:r>
            <a:r>
              <a:rPr lang="en-US" altLang="zh-CN" dirty="0">
                <a:latin typeface="楷体_GB2312" panose="02010609030101010101" pitchFamily="49" charset="-122"/>
                <a:ea typeface="楷体_GB2312" panose="02010609030101010101" pitchFamily="49" charset="-122"/>
              </a:rPr>
              <a:t>29</a:t>
            </a:r>
            <a:r>
              <a:rPr lang="zh-CN" altLang="en-US" dirty="0">
                <a:latin typeface="楷体_GB2312" panose="02010609030101010101" pitchFamily="49" charset="-122"/>
                <a:ea typeface="楷体_GB2312" panose="02010609030101010101" pitchFamily="49" charset="-122"/>
              </a:rPr>
              <a:t>日，习近平在党的十八届五中全会第二次全体会议上的讲话中指出</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marL="0" indent="0">
              <a:buNone/>
            </a:pPr>
            <a:endParaRPr lang="zh-CN" altLang="en-US" sz="20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41620034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424936" cy="1143000"/>
          </a:xfrm>
          <a:solidFill>
            <a:srgbClr val="FFFF00"/>
          </a:solidFill>
          <a:ln>
            <a:solidFill>
              <a:srgbClr val="FFFF00"/>
            </a:solidFill>
          </a:ln>
        </p:spPr>
        <p:txBody>
          <a:bodyPr/>
          <a:lstStyle/>
          <a:p>
            <a:r>
              <a:rPr lang="zh-CN" altLang="en-US" sz="3600" b="1" dirty="0" smtClean="0">
                <a:latin typeface="黑体" pitchFamily="49" charset="-122"/>
                <a:ea typeface="黑体" pitchFamily="49" charset="-122"/>
              </a:rPr>
              <a:t>三、创新对我国经济发展的作用和意义</a:t>
            </a:r>
            <a:endParaRPr lang="zh-CN" altLang="en-US" sz="3600" b="1" dirty="0">
              <a:latin typeface="黑体" pitchFamily="49" charset="-122"/>
              <a:ea typeface="黑体" pitchFamily="49" charset="-122"/>
            </a:endParaRPr>
          </a:p>
        </p:txBody>
      </p:sp>
      <p:sp>
        <p:nvSpPr>
          <p:cNvPr id="3" name="文本占位符 2"/>
          <p:cNvSpPr>
            <a:spLocks noGrp="1"/>
          </p:cNvSpPr>
          <p:nvPr>
            <p:ph type="body" idx="1"/>
          </p:nvPr>
        </p:nvSpPr>
        <p:spPr>
          <a:xfrm>
            <a:off x="395536" y="1844824"/>
            <a:ext cx="8640960" cy="3888432"/>
          </a:xfrm>
        </p:spPr>
        <p:txBody>
          <a:bodyPr/>
          <a:lstStyle/>
          <a:p>
            <a:pPr>
              <a:lnSpc>
                <a:spcPct val="150000"/>
              </a:lnSpc>
            </a:pPr>
            <a:r>
              <a:rPr lang="zh-CN" altLang="zh-CN" sz="3200" b="1" dirty="0">
                <a:latin typeface="楷体_GB2312" pitchFamily="49" charset="-122"/>
                <a:ea typeface="楷体_GB2312" pitchFamily="49" charset="-122"/>
              </a:rPr>
              <a:t>创新是经济社会发展主要驱动力量</a:t>
            </a:r>
            <a:endParaRPr lang="en-US" altLang="zh-CN" sz="3200" b="1" dirty="0">
              <a:latin typeface="楷体_GB2312" pitchFamily="49" charset="-122"/>
              <a:ea typeface="楷体_GB2312" pitchFamily="49" charset="-122"/>
            </a:endParaRPr>
          </a:p>
          <a:p>
            <a:pPr>
              <a:lnSpc>
                <a:spcPct val="150000"/>
              </a:lnSpc>
            </a:pPr>
            <a:r>
              <a:rPr lang="zh-CN" altLang="zh-CN" sz="3200" b="1" dirty="0">
                <a:latin typeface="楷体_GB2312" pitchFamily="49" charset="-122"/>
                <a:ea typeface="楷体_GB2312" pitchFamily="49" charset="-122"/>
              </a:rPr>
              <a:t>创新是中华民族实现伟大复兴的必然</a:t>
            </a:r>
            <a:r>
              <a:rPr lang="zh-CN" altLang="zh-CN" sz="3200" b="1" dirty="0" smtClean="0">
                <a:latin typeface="楷体_GB2312" pitchFamily="49" charset="-122"/>
                <a:ea typeface="楷体_GB2312" pitchFamily="49" charset="-122"/>
              </a:rPr>
              <a:t>路径</a:t>
            </a:r>
            <a:endParaRPr lang="en-US" altLang="zh-CN" sz="3200" b="1" dirty="0" smtClean="0">
              <a:latin typeface="楷体_GB2312" pitchFamily="49" charset="-122"/>
              <a:ea typeface="楷体_GB2312" pitchFamily="49" charset="-122"/>
            </a:endParaRPr>
          </a:p>
          <a:p>
            <a:pPr>
              <a:lnSpc>
                <a:spcPct val="150000"/>
              </a:lnSpc>
            </a:pPr>
            <a:r>
              <a:rPr lang="zh-CN" altLang="en-US" sz="3200" b="1" dirty="0">
                <a:latin typeface="楷体_GB2312" panose="02010609030101010101" pitchFamily="49" charset="-122"/>
                <a:ea typeface="楷体_GB2312" panose="02010609030101010101" pitchFamily="49" charset="-122"/>
              </a:rPr>
              <a:t>创新是引领发展的第一</a:t>
            </a:r>
            <a:r>
              <a:rPr lang="zh-CN" altLang="en-US" sz="3200" b="1" dirty="0" smtClean="0">
                <a:latin typeface="楷体_GB2312" panose="02010609030101010101" pitchFamily="49" charset="-122"/>
                <a:ea typeface="楷体_GB2312" panose="02010609030101010101" pitchFamily="49" charset="-122"/>
              </a:rPr>
              <a:t>动力</a:t>
            </a:r>
            <a:endParaRPr lang="en-US" altLang="zh-CN" sz="3200" b="1" dirty="0" smtClean="0">
              <a:latin typeface="楷体_GB2312" panose="02010609030101010101" pitchFamily="49" charset="-122"/>
              <a:ea typeface="楷体_GB2312" panose="02010609030101010101" pitchFamily="49" charset="-122"/>
            </a:endParaRPr>
          </a:p>
          <a:p>
            <a:pPr>
              <a:lnSpc>
                <a:spcPct val="150000"/>
              </a:lnSpc>
            </a:pPr>
            <a:r>
              <a:rPr lang="zh-CN" altLang="en-US" sz="3200" b="1" dirty="0" smtClean="0">
                <a:latin typeface="楷体_GB2312" pitchFamily="49" charset="-122"/>
                <a:ea typeface="楷体_GB2312" pitchFamily="49" charset="-122"/>
              </a:rPr>
              <a:t>创新是未来竞争力的不竭源泉</a:t>
            </a:r>
            <a:endParaRPr lang="en-US" altLang="zh-CN" sz="3200" b="1" dirty="0">
              <a:latin typeface="楷体_GB2312" pitchFamily="49" charset="-122"/>
              <a:ea typeface="楷体_GB2312" pitchFamily="49" charset="-122"/>
            </a:endParaRPr>
          </a:p>
        </p:txBody>
      </p:sp>
    </p:spTree>
    <p:extLst>
      <p:ext uri="{BB962C8B-B14F-4D97-AF65-F5344CB8AC3E}">
        <p14:creationId xmlns:p14="http://schemas.microsoft.com/office/powerpoint/2010/main" val="35152946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p:spPr>
        <p:txBody>
          <a:bodyPr/>
          <a:lstStyle/>
          <a:p>
            <a:r>
              <a:rPr lang="zh-CN" altLang="zh-CN" sz="4000" b="1" dirty="0" smtClean="0">
                <a:latin typeface="方正姚体" pitchFamily="2" charset="-122"/>
                <a:ea typeface="方正姚体" pitchFamily="2" charset="-122"/>
              </a:rPr>
              <a:t>创新是经济社会发展主要驱动力量</a:t>
            </a:r>
            <a:endParaRPr lang="zh-CN" altLang="en-US" dirty="0"/>
          </a:p>
        </p:txBody>
      </p:sp>
      <p:sp>
        <p:nvSpPr>
          <p:cNvPr id="3" name="文本占位符 2"/>
          <p:cNvSpPr>
            <a:spLocks noGrp="1"/>
          </p:cNvSpPr>
          <p:nvPr>
            <p:ph type="body" idx="1"/>
          </p:nvPr>
        </p:nvSpPr>
        <p:spPr>
          <a:xfrm>
            <a:off x="381000" y="1196752"/>
            <a:ext cx="8305800" cy="5184576"/>
          </a:xfrm>
        </p:spPr>
        <p:txBody>
          <a:bodyPr/>
          <a:lstStyle/>
          <a:p>
            <a:r>
              <a:rPr lang="zh-CN" altLang="en-US" b="1" dirty="0" smtClean="0"/>
              <a:t>资料</a:t>
            </a:r>
            <a:r>
              <a:rPr lang="en-US" altLang="zh-CN" b="1" dirty="0" smtClean="0"/>
              <a:t>1</a:t>
            </a:r>
            <a:r>
              <a:rPr lang="zh-CN" altLang="en-US" b="1" dirty="0" smtClean="0"/>
              <a:t>：</a:t>
            </a:r>
            <a:r>
              <a:rPr lang="en-US" altLang="zh-CN" b="1" dirty="0" smtClean="0"/>
              <a:t>2019</a:t>
            </a:r>
            <a:r>
              <a:rPr lang="zh-CN" altLang="en-US" b="1" dirty="0" smtClean="0"/>
              <a:t>年</a:t>
            </a:r>
            <a:r>
              <a:rPr lang="zh-CN" altLang="en-US" b="1" dirty="0" smtClean="0"/>
              <a:t>世界</a:t>
            </a:r>
            <a:r>
              <a:rPr lang="en-US" altLang="zh-CN" b="1" dirty="0" smtClean="0"/>
              <a:t>GDP</a:t>
            </a:r>
            <a:r>
              <a:rPr lang="zh-CN" altLang="en-US" b="1" dirty="0" smtClean="0"/>
              <a:t>总量前十位的国家</a:t>
            </a:r>
            <a:endParaRPr lang="en-US" altLang="zh-CN" b="1" dirty="0" smtClean="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07973262"/>
              </p:ext>
            </p:extLst>
          </p:nvPr>
        </p:nvGraphicFramePr>
        <p:xfrm>
          <a:off x="1331640" y="1844824"/>
          <a:ext cx="4572000" cy="4079240"/>
        </p:xfrm>
        <a:graphic>
          <a:graphicData uri="http://schemas.openxmlformats.org/drawingml/2006/table">
            <a:tbl>
              <a:tblPr firstRow="1" bandRow="1">
                <a:tableStyleId>{5C22544A-7EE6-4342-B048-85BDC9FD1C3A}</a:tableStyleId>
              </a:tblPr>
              <a:tblGrid>
                <a:gridCol w="1008112"/>
                <a:gridCol w="1440160"/>
                <a:gridCol w="2123728"/>
              </a:tblGrid>
              <a:tr h="370840">
                <a:tc>
                  <a:txBody>
                    <a:bodyPr/>
                    <a:lstStyle/>
                    <a:p>
                      <a:pPr algn="ctr"/>
                      <a:r>
                        <a:rPr lang="zh-CN" altLang="en-US" b="1" dirty="0">
                          <a:solidFill>
                            <a:srgbClr val="FFFFFF"/>
                          </a:solidFill>
                          <a:effectLst/>
                        </a:rPr>
                        <a:t>排名</a:t>
                      </a:r>
                    </a:p>
                  </a:txBody>
                  <a:tcPr marL="47625" marR="47625" marT="38100" marB="38100" anchor="ctr"/>
                </a:tc>
                <a:tc>
                  <a:txBody>
                    <a:bodyPr/>
                    <a:lstStyle/>
                    <a:p>
                      <a:pPr algn="ctr"/>
                      <a:r>
                        <a:rPr lang="zh-CN" altLang="en-US" b="1" dirty="0">
                          <a:solidFill>
                            <a:srgbClr val="FFFFFF"/>
                          </a:solidFill>
                          <a:effectLst/>
                        </a:rPr>
                        <a:t>国家或地区</a:t>
                      </a:r>
                    </a:p>
                  </a:txBody>
                  <a:tcPr marL="47625" marR="47625" marT="38100" marB="38100" anchor="ctr"/>
                </a:tc>
                <a:tc>
                  <a:txBody>
                    <a:bodyPr/>
                    <a:lstStyle/>
                    <a:p>
                      <a:pPr algn="ctr"/>
                      <a:r>
                        <a:rPr lang="en-US" altLang="zh-CN" b="1" dirty="0">
                          <a:solidFill>
                            <a:srgbClr val="FFFFFF"/>
                          </a:solidFill>
                          <a:effectLst/>
                        </a:rPr>
                        <a:t>GDP</a:t>
                      </a:r>
                      <a:r>
                        <a:rPr lang="zh-CN" altLang="en-US" b="1" dirty="0">
                          <a:solidFill>
                            <a:srgbClr val="FFFFFF"/>
                          </a:solidFill>
                          <a:effectLst/>
                        </a:rPr>
                        <a:t>总量</a:t>
                      </a:r>
                      <a:r>
                        <a:rPr lang="en-US" altLang="zh-CN" b="1" dirty="0">
                          <a:solidFill>
                            <a:srgbClr val="FFFFFF"/>
                          </a:solidFill>
                          <a:effectLst/>
                        </a:rPr>
                        <a:t>(</a:t>
                      </a:r>
                      <a:r>
                        <a:rPr lang="zh-CN" altLang="en-US" b="1" dirty="0">
                          <a:solidFill>
                            <a:srgbClr val="FFFFFF"/>
                          </a:solidFill>
                          <a:effectLst/>
                        </a:rPr>
                        <a:t>十亿美元</a:t>
                      </a:r>
                      <a:r>
                        <a:rPr lang="en-US" altLang="zh-CN" b="1" dirty="0">
                          <a:solidFill>
                            <a:srgbClr val="FFFFFF"/>
                          </a:solidFill>
                          <a:effectLst/>
                        </a:rPr>
                        <a:t>)</a:t>
                      </a:r>
                    </a:p>
                  </a:txBody>
                  <a:tcPr marL="47625" marR="47625" marT="38100" marB="38100" anchor="ctr"/>
                </a:tc>
              </a:tr>
              <a:tr h="370840">
                <a:tc>
                  <a:txBody>
                    <a:bodyPr/>
                    <a:lstStyle/>
                    <a:p>
                      <a:pPr algn="ctr"/>
                      <a:r>
                        <a:rPr lang="en-US" altLang="zh-CN" b="1">
                          <a:effectLst/>
                        </a:rPr>
                        <a:t>1</a:t>
                      </a:r>
                    </a:p>
                  </a:txBody>
                  <a:tcPr marL="57150" marR="57150" marT="28575" marB="28575" anchor="ctr"/>
                </a:tc>
                <a:tc>
                  <a:txBody>
                    <a:bodyPr/>
                    <a:lstStyle/>
                    <a:p>
                      <a:pPr algn="ctr"/>
                      <a:r>
                        <a:rPr lang="zh-CN" altLang="en-US" b="1" dirty="0">
                          <a:effectLst/>
                        </a:rPr>
                        <a:t>美国</a:t>
                      </a:r>
                    </a:p>
                  </a:txBody>
                  <a:tcPr marL="57150" marR="57150" marT="28575" marB="28575" anchor="ctr"/>
                </a:tc>
                <a:tc>
                  <a:txBody>
                    <a:bodyPr/>
                    <a:lstStyle/>
                    <a:p>
                      <a:pPr algn="ctr"/>
                      <a:r>
                        <a:rPr lang="en-US" altLang="zh-CN" b="1" dirty="0" smtClean="0">
                          <a:effectLst/>
                        </a:rPr>
                        <a:t>205130</a:t>
                      </a:r>
                      <a:endParaRPr lang="en-US" altLang="zh-CN" b="1" dirty="0">
                        <a:effectLst/>
                      </a:endParaRPr>
                    </a:p>
                  </a:txBody>
                  <a:tcPr marL="57150" marR="57150" marT="28575" marB="28575" anchor="ctr"/>
                </a:tc>
              </a:tr>
              <a:tr h="370840">
                <a:tc>
                  <a:txBody>
                    <a:bodyPr/>
                    <a:lstStyle/>
                    <a:p>
                      <a:pPr algn="ctr"/>
                      <a:r>
                        <a:rPr lang="en-US" altLang="zh-CN" b="1">
                          <a:effectLst/>
                        </a:rPr>
                        <a:t>2</a:t>
                      </a:r>
                    </a:p>
                  </a:txBody>
                  <a:tcPr marL="57150" marR="57150" marT="28575" marB="28575" anchor="ctr"/>
                </a:tc>
                <a:tc>
                  <a:txBody>
                    <a:bodyPr/>
                    <a:lstStyle/>
                    <a:p>
                      <a:pPr algn="ctr"/>
                      <a:r>
                        <a:rPr lang="zh-CN" altLang="en-US" b="1" dirty="0">
                          <a:effectLst/>
                        </a:rPr>
                        <a:t>中国</a:t>
                      </a:r>
                    </a:p>
                  </a:txBody>
                  <a:tcPr marL="57150" marR="57150" marT="28575" marB="28575" anchor="ctr"/>
                </a:tc>
                <a:tc>
                  <a:txBody>
                    <a:bodyPr/>
                    <a:lstStyle/>
                    <a:p>
                      <a:pPr algn="ctr"/>
                      <a:r>
                        <a:rPr lang="en-US" altLang="zh-CN" b="1" dirty="0" smtClean="0">
                          <a:effectLst/>
                        </a:rPr>
                        <a:t>134572</a:t>
                      </a:r>
                      <a:endParaRPr lang="en-US" altLang="zh-CN" b="1" dirty="0">
                        <a:effectLst/>
                      </a:endParaRPr>
                    </a:p>
                  </a:txBody>
                  <a:tcPr marL="57150" marR="57150" marT="28575" marB="28575" anchor="ctr"/>
                </a:tc>
              </a:tr>
              <a:tr h="370840">
                <a:tc>
                  <a:txBody>
                    <a:bodyPr/>
                    <a:lstStyle/>
                    <a:p>
                      <a:pPr algn="ctr"/>
                      <a:r>
                        <a:rPr lang="en-US" altLang="zh-CN" b="1">
                          <a:effectLst/>
                        </a:rPr>
                        <a:t>3</a:t>
                      </a:r>
                    </a:p>
                  </a:txBody>
                  <a:tcPr marL="57150" marR="57150" marT="28575" marB="28575" anchor="ctr"/>
                </a:tc>
                <a:tc>
                  <a:txBody>
                    <a:bodyPr/>
                    <a:lstStyle/>
                    <a:p>
                      <a:pPr algn="ctr"/>
                      <a:r>
                        <a:rPr lang="zh-CN" altLang="en-US" b="1">
                          <a:effectLst/>
                        </a:rPr>
                        <a:t>日本</a:t>
                      </a:r>
                    </a:p>
                  </a:txBody>
                  <a:tcPr marL="57150" marR="57150" marT="28575" marB="28575" anchor="ctr"/>
                </a:tc>
                <a:tc>
                  <a:txBody>
                    <a:bodyPr/>
                    <a:lstStyle/>
                    <a:p>
                      <a:pPr algn="ctr"/>
                      <a:r>
                        <a:rPr lang="en-US" altLang="zh-CN" b="1" dirty="0" smtClean="0">
                          <a:effectLst/>
                        </a:rPr>
                        <a:t>50706</a:t>
                      </a:r>
                      <a:endParaRPr lang="en-US" altLang="zh-CN" b="1" dirty="0">
                        <a:effectLst/>
                      </a:endParaRPr>
                    </a:p>
                  </a:txBody>
                  <a:tcPr marL="57150" marR="57150" marT="28575" marB="28575" anchor="ctr"/>
                </a:tc>
              </a:tr>
              <a:tr h="370840">
                <a:tc>
                  <a:txBody>
                    <a:bodyPr/>
                    <a:lstStyle/>
                    <a:p>
                      <a:pPr algn="ctr"/>
                      <a:r>
                        <a:rPr lang="en-US" altLang="zh-CN" b="1">
                          <a:effectLst/>
                        </a:rPr>
                        <a:t>4</a:t>
                      </a:r>
                    </a:p>
                  </a:txBody>
                  <a:tcPr marL="57150" marR="57150" marT="28575" marB="28575" anchor="ctr"/>
                </a:tc>
                <a:tc>
                  <a:txBody>
                    <a:bodyPr/>
                    <a:lstStyle/>
                    <a:p>
                      <a:pPr algn="ctr"/>
                      <a:r>
                        <a:rPr lang="zh-CN" altLang="en-US" b="1">
                          <a:effectLst/>
                        </a:rPr>
                        <a:t>德国</a:t>
                      </a:r>
                    </a:p>
                  </a:txBody>
                  <a:tcPr marL="57150" marR="57150" marT="28575" marB="28575" anchor="ctr"/>
                </a:tc>
                <a:tc>
                  <a:txBody>
                    <a:bodyPr/>
                    <a:lstStyle/>
                    <a:p>
                      <a:pPr algn="ctr"/>
                      <a:r>
                        <a:rPr lang="en-US" altLang="zh-CN" b="1" dirty="0" smtClean="0">
                          <a:effectLst/>
                        </a:rPr>
                        <a:t>40291</a:t>
                      </a:r>
                      <a:endParaRPr lang="en-US" altLang="zh-CN" b="1" dirty="0">
                        <a:effectLst/>
                      </a:endParaRPr>
                    </a:p>
                  </a:txBody>
                  <a:tcPr marL="57150" marR="57150" marT="28575" marB="28575" anchor="ctr"/>
                </a:tc>
              </a:tr>
              <a:tr h="370840">
                <a:tc>
                  <a:txBody>
                    <a:bodyPr/>
                    <a:lstStyle/>
                    <a:p>
                      <a:pPr algn="ctr"/>
                      <a:r>
                        <a:rPr lang="en-US" altLang="zh-CN" b="1">
                          <a:effectLst/>
                        </a:rPr>
                        <a:t>5</a:t>
                      </a:r>
                    </a:p>
                  </a:txBody>
                  <a:tcPr marL="57150" marR="57150" marT="28575" marB="28575" anchor="ctr"/>
                </a:tc>
                <a:tc>
                  <a:txBody>
                    <a:bodyPr/>
                    <a:lstStyle/>
                    <a:p>
                      <a:pPr algn="ctr"/>
                      <a:r>
                        <a:rPr lang="zh-CN" altLang="en-US" b="1" dirty="0" smtClean="0">
                          <a:effectLst/>
                        </a:rPr>
                        <a:t>英国</a:t>
                      </a:r>
                      <a:endParaRPr lang="zh-CN" altLang="en-US" b="1" dirty="0">
                        <a:effectLst/>
                      </a:endParaRPr>
                    </a:p>
                  </a:txBody>
                  <a:tcPr marL="57150" marR="57150" marT="28575" marB="28575" anchor="ctr"/>
                </a:tc>
                <a:tc>
                  <a:txBody>
                    <a:bodyPr/>
                    <a:lstStyle/>
                    <a:p>
                      <a:pPr algn="ctr"/>
                      <a:r>
                        <a:rPr lang="en-US" altLang="zh-CN" b="1" dirty="0" smtClean="0">
                          <a:effectLst/>
                        </a:rPr>
                        <a:t>28089</a:t>
                      </a:r>
                      <a:endParaRPr lang="en-US" altLang="zh-CN" b="1" dirty="0">
                        <a:effectLst/>
                      </a:endParaRPr>
                    </a:p>
                  </a:txBody>
                  <a:tcPr marL="57150" marR="57150" marT="28575" marB="28575" anchor="ctr"/>
                </a:tc>
              </a:tr>
              <a:tr h="370840">
                <a:tc>
                  <a:txBody>
                    <a:bodyPr/>
                    <a:lstStyle/>
                    <a:p>
                      <a:pPr algn="ctr"/>
                      <a:r>
                        <a:rPr lang="en-US" altLang="zh-CN" b="1">
                          <a:effectLst/>
                        </a:rPr>
                        <a:t>6</a:t>
                      </a:r>
                    </a:p>
                  </a:txBody>
                  <a:tcPr marL="57150" marR="57150" marT="28575" marB="28575" anchor="ctr"/>
                </a:tc>
                <a:tc>
                  <a:txBody>
                    <a:bodyPr/>
                    <a:lstStyle/>
                    <a:p>
                      <a:pPr algn="ctr"/>
                      <a:r>
                        <a:rPr lang="zh-CN" altLang="en-US" b="1" dirty="0" smtClean="0">
                          <a:effectLst/>
                        </a:rPr>
                        <a:t>法国</a:t>
                      </a:r>
                      <a:endParaRPr lang="zh-CN" altLang="en-US" b="1" dirty="0">
                        <a:effectLst/>
                      </a:endParaRPr>
                    </a:p>
                  </a:txBody>
                  <a:tcPr marL="57150" marR="57150" marT="28575" marB="28575" anchor="ctr"/>
                </a:tc>
                <a:tc>
                  <a:txBody>
                    <a:bodyPr/>
                    <a:lstStyle/>
                    <a:p>
                      <a:pPr algn="ctr"/>
                      <a:r>
                        <a:rPr lang="en-US" altLang="zh-CN" b="1" dirty="0" smtClean="0">
                          <a:effectLst/>
                        </a:rPr>
                        <a:t>27947</a:t>
                      </a:r>
                      <a:endParaRPr lang="en-US" altLang="zh-CN" b="1" dirty="0">
                        <a:effectLst/>
                      </a:endParaRPr>
                    </a:p>
                  </a:txBody>
                  <a:tcPr marL="57150" marR="57150" marT="28575" marB="28575" anchor="ctr"/>
                </a:tc>
              </a:tr>
              <a:tr h="370840">
                <a:tc>
                  <a:txBody>
                    <a:bodyPr/>
                    <a:lstStyle/>
                    <a:p>
                      <a:pPr algn="ctr"/>
                      <a:r>
                        <a:rPr lang="en-US" altLang="zh-CN" b="1">
                          <a:effectLst/>
                        </a:rPr>
                        <a:t>7</a:t>
                      </a:r>
                    </a:p>
                  </a:txBody>
                  <a:tcPr marL="57150" marR="57150" marT="28575" marB="28575" anchor="ctr"/>
                </a:tc>
                <a:tc>
                  <a:txBody>
                    <a:bodyPr/>
                    <a:lstStyle/>
                    <a:p>
                      <a:pPr algn="ctr"/>
                      <a:r>
                        <a:rPr lang="zh-CN" altLang="en-US" b="1" dirty="0" smtClean="0">
                          <a:effectLst/>
                        </a:rPr>
                        <a:t>印度</a:t>
                      </a:r>
                      <a:endParaRPr lang="zh-CN" altLang="en-US" b="1" dirty="0">
                        <a:effectLst/>
                      </a:endParaRPr>
                    </a:p>
                  </a:txBody>
                  <a:tcPr marL="57150" marR="57150" marT="28575" marB="28575" anchor="ctr"/>
                </a:tc>
                <a:tc>
                  <a:txBody>
                    <a:bodyPr/>
                    <a:lstStyle/>
                    <a:p>
                      <a:pPr algn="ctr"/>
                      <a:r>
                        <a:rPr lang="en-US" altLang="zh-CN" b="1" dirty="0" smtClean="0">
                          <a:effectLst/>
                        </a:rPr>
                        <a:t>26900</a:t>
                      </a:r>
                      <a:endParaRPr lang="en-US" altLang="zh-CN" b="1" dirty="0">
                        <a:effectLst/>
                      </a:endParaRPr>
                    </a:p>
                  </a:txBody>
                  <a:tcPr marL="57150" marR="57150" marT="28575" marB="28575" anchor="ctr"/>
                </a:tc>
              </a:tr>
              <a:tr h="370840">
                <a:tc>
                  <a:txBody>
                    <a:bodyPr/>
                    <a:lstStyle/>
                    <a:p>
                      <a:pPr algn="ctr"/>
                      <a:r>
                        <a:rPr lang="en-US" altLang="zh-CN" b="1">
                          <a:effectLst/>
                        </a:rPr>
                        <a:t>8</a:t>
                      </a:r>
                    </a:p>
                  </a:txBody>
                  <a:tcPr marL="57150" marR="57150" marT="28575" marB="28575" anchor="ctr"/>
                </a:tc>
                <a:tc>
                  <a:txBody>
                    <a:bodyPr/>
                    <a:lstStyle/>
                    <a:p>
                      <a:pPr algn="ctr"/>
                      <a:r>
                        <a:rPr lang="zh-CN" altLang="en-US" b="1" dirty="0" smtClean="0">
                          <a:effectLst/>
                        </a:rPr>
                        <a:t>意大利</a:t>
                      </a:r>
                      <a:endParaRPr lang="zh-CN" altLang="en-US" b="1" dirty="0">
                        <a:effectLst/>
                      </a:endParaRPr>
                    </a:p>
                  </a:txBody>
                  <a:tcPr marL="57150" marR="57150" marT="28575" marB="28575" anchor="ctr"/>
                </a:tc>
                <a:tc>
                  <a:txBody>
                    <a:bodyPr/>
                    <a:lstStyle/>
                    <a:p>
                      <a:pPr algn="ctr"/>
                      <a:r>
                        <a:rPr lang="en-US" altLang="zh-CN" b="1" dirty="0" smtClean="0">
                          <a:effectLst/>
                        </a:rPr>
                        <a:t>20870</a:t>
                      </a:r>
                      <a:endParaRPr lang="en-US" altLang="zh-CN" b="1" dirty="0">
                        <a:effectLst/>
                      </a:endParaRPr>
                    </a:p>
                  </a:txBody>
                  <a:tcPr marL="57150" marR="57150" marT="28575" marB="28575" anchor="ctr"/>
                </a:tc>
              </a:tr>
              <a:tr h="370840">
                <a:tc>
                  <a:txBody>
                    <a:bodyPr/>
                    <a:lstStyle/>
                    <a:p>
                      <a:pPr algn="ctr"/>
                      <a:r>
                        <a:rPr lang="en-US" altLang="zh-CN" b="1">
                          <a:effectLst/>
                        </a:rPr>
                        <a:t>9</a:t>
                      </a:r>
                    </a:p>
                  </a:txBody>
                  <a:tcPr marL="57150" marR="57150" marT="28575" marB="28575" anchor="ctr"/>
                </a:tc>
                <a:tc>
                  <a:txBody>
                    <a:bodyPr/>
                    <a:lstStyle/>
                    <a:p>
                      <a:pPr algn="ctr"/>
                      <a:r>
                        <a:rPr lang="zh-CN" altLang="en-US" b="1" dirty="0" smtClean="0">
                          <a:effectLst/>
                        </a:rPr>
                        <a:t>巴西</a:t>
                      </a:r>
                      <a:endParaRPr lang="zh-CN" altLang="en-US" b="1" dirty="0">
                        <a:effectLst/>
                      </a:endParaRPr>
                    </a:p>
                  </a:txBody>
                  <a:tcPr marL="57150" marR="57150" marT="28575" marB="28575" anchor="ctr"/>
                </a:tc>
                <a:tc>
                  <a:txBody>
                    <a:bodyPr/>
                    <a:lstStyle/>
                    <a:p>
                      <a:pPr algn="ctr"/>
                      <a:r>
                        <a:rPr lang="en-US" altLang="zh-CN" b="1" dirty="0" smtClean="0">
                          <a:effectLst/>
                        </a:rPr>
                        <a:t>19094</a:t>
                      </a:r>
                      <a:endParaRPr lang="en-US" altLang="zh-CN" b="1" dirty="0">
                        <a:effectLst/>
                      </a:endParaRPr>
                    </a:p>
                  </a:txBody>
                  <a:tcPr marL="57150" marR="57150" marT="28575" marB="28575" anchor="ctr"/>
                </a:tc>
              </a:tr>
              <a:tr h="370840">
                <a:tc>
                  <a:txBody>
                    <a:bodyPr/>
                    <a:lstStyle/>
                    <a:p>
                      <a:pPr algn="ctr"/>
                      <a:r>
                        <a:rPr lang="en-US" altLang="zh-CN" b="1">
                          <a:effectLst/>
                        </a:rPr>
                        <a:t>10</a:t>
                      </a:r>
                    </a:p>
                  </a:txBody>
                  <a:tcPr marL="57150" marR="57150" marT="28575" marB="28575" anchor="ctr"/>
                </a:tc>
                <a:tc>
                  <a:txBody>
                    <a:bodyPr/>
                    <a:lstStyle/>
                    <a:p>
                      <a:pPr algn="ctr"/>
                      <a:r>
                        <a:rPr lang="zh-CN" altLang="en-US" b="1" dirty="0" smtClean="0">
                          <a:effectLst/>
                        </a:rPr>
                        <a:t>加拿大</a:t>
                      </a:r>
                      <a:endParaRPr lang="zh-CN" altLang="en-US" b="1" dirty="0">
                        <a:effectLst/>
                      </a:endParaRPr>
                    </a:p>
                  </a:txBody>
                  <a:tcPr marL="57150" marR="57150" marT="28575" marB="28575" anchor="ctr"/>
                </a:tc>
                <a:tc>
                  <a:txBody>
                    <a:bodyPr/>
                    <a:lstStyle/>
                    <a:p>
                      <a:pPr algn="ctr"/>
                      <a:r>
                        <a:rPr lang="en-US" altLang="zh-CN" b="1" dirty="0" smtClean="0">
                          <a:effectLst/>
                        </a:rPr>
                        <a:t>17337</a:t>
                      </a:r>
                      <a:endParaRPr lang="en-US" altLang="zh-CN" b="1" dirty="0">
                        <a:effectLst/>
                      </a:endParaRPr>
                    </a:p>
                  </a:txBody>
                  <a:tcPr marL="57150" marR="57150" marT="28575" marB="28575" anchor="ctr"/>
                </a:tc>
              </a:tr>
            </a:tbl>
          </a:graphicData>
        </a:graphic>
      </p:graphicFrame>
    </p:spTree>
    <p:extLst>
      <p:ext uri="{BB962C8B-B14F-4D97-AF65-F5344CB8AC3E}">
        <p14:creationId xmlns:p14="http://schemas.microsoft.com/office/powerpoint/2010/main" val="42595629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65266" y="1547664"/>
            <a:ext cx="8518793" cy="4018384"/>
          </a:xfrm>
        </p:spPr>
        <p:txBody>
          <a:bodyPr/>
          <a:lstStyle/>
          <a:p>
            <a:pPr>
              <a:lnSpc>
                <a:spcPct val="150000"/>
              </a:lnSpc>
            </a:pPr>
            <a:r>
              <a:rPr lang="zh-CN" altLang="en-US" sz="2800" b="1" dirty="0" smtClean="0">
                <a:latin typeface="楷体_GB2312" pitchFamily="49" charset="-122"/>
                <a:ea typeface="楷体_GB2312" pitchFamily="49" charset="-122"/>
              </a:rPr>
              <a:t>资料</a:t>
            </a:r>
            <a:r>
              <a:rPr lang="en-US" altLang="zh-CN" sz="2800" b="1" dirty="0" smtClean="0">
                <a:latin typeface="楷体_GB2312" pitchFamily="49" charset="-122"/>
                <a:ea typeface="楷体_GB2312" pitchFamily="49" charset="-122"/>
              </a:rPr>
              <a:t>2</a:t>
            </a:r>
            <a:r>
              <a:rPr lang="zh-CN" altLang="en-US" sz="2800" b="1" dirty="0" smtClean="0">
                <a:latin typeface="楷体_GB2312" pitchFamily="49" charset="-122"/>
                <a:ea typeface="楷体_GB2312" pitchFamily="49" charset="-122"/>
              </a:rPr>
              <a:t>：根据对</a:t>
            </a:r>
            <a:r>
              <a:rPr lang="en-US" altLang="zh-CN" sz="2800" b="1" dirty="0" smtClean="0">
                <a:latin typeface="楷体_GB2312" pitchFamily="49" charset="-122"/>
                <a:ea typeface="楷体_GB2312" pitchFamily="49" charset="-122"/>
              </a:rPr>
              <a:t>1992</a:t>
            </a:r>
            <a:r>
              <a:rPr lang="zh-CN" altLang="en-US" sz="2800" b="1" dirty="0" smtClean="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2012</a:t>
            </a:r>
            <a:r>
              <a:rPr lang="zh-CN" altLang="en-US" sz="2800" b="1" dirty="0" smtClean="0">
                <a:latin typeface="楷体_GB2312" pitchFamily="49" charset="-122"/>
                <a:ea typeface="楷体_GB2312" pitchFamily="49" charset="-122"/>
              </a:rPr>
              <a:t>年的统计表明，美国、日本的科技进步贡献率平均超过</a:t>
            </a:r>
            <a:r>
              <a:rPr lang="en-US" altLang="zh-CN" sz="2800" b="1" dirty="0" smtClean="0">
                <a:latin typeface="楷体_GB2312" pitchFamily="49" charset="-122"/>
                <a:ea typeface="楷体_GB2312" pitchFamily="49" charset="-122"/>
              </a:rPr>
              <a:t>70%</a:t>
            </a:r>
            <a:r>
              <a:rPr lang="zh-CN" altLang="en-US" sz="2800" b="1" dirty="0" smtClean="0">
                <a:latin typeface="楷体_GB2312" pitchFamily="49" charset="-122"/>
                <a:ea typeface="楷体_GB2312" pitchFamily="49" charset="-122"/>
              </a:rPr>
              <a:t>，我国约为</a:t>
            </a:r>
            <a:r>
              <a:rPr lang="en-US" altLang="zh-CN" sz="2800" b="1" dirty="0" smtClean="0">
                <a:latin typeface="楷体_GB2312" pitchFamily="49" charset="-122"/>
                <a:ea typeface="楷体_GB2312" pitchFamily="49" charset="-122"/>
              </a:rPr>
              <a:t>40%</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pPr>
              <a:lnSpc>
                <a:spcPct val="150000"/>
              </a:lnSpc>
            </a:pPr>
            <a:r>
              <a:rPr lang="zh-CN" altLang="en-US" sz="2800" b="1" dirty="0" smtClean="0">
                <a:latin typeface="楷体_GB2312" pitchFamily="49" charset="-122"/>
                <a:ea typeface="楷体_GB2312" pitchFamily="49" charset="-122"/>
              </a:rPr>
              <a:t>资料</a:t>
            </a:r>
            <a:r>
              <a:rPr lang="en-US" altLang="zh-CN" sz="2800" b="1" dirty="0" smtClean="0">
                <a:latin typeface="楷体_GB2312" pitchFamily="49" charset="-122"/>
                <a:ea typeface="楷体_GB2312" pitchFamily="49" charset="-122"/>
              </a:rPr>
              <a:t>3</a:t>
            </a:r>
            <a:r>
              <a:rPr lang="zh-CN" altLang="en-US" sz="2800" b="1" dirty="0" smtClean="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2016</a:t>
            </a:r>
            <a:r>
              <a:rPr lang="zh-CN" altLang="en-US" sz="2800" b="1" dirty="0" smtClean="0">
                <a:latin typeface="楷体_GB2312" pitchFamily="49" charset="-122"/>
                <a:ea typeface="楷体_GB2312" pitchFamily="49" charset="-122"/>
              </a:rPr>
              <a:t>年，比尔</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盖茨的个人财富超过</a:t>
            </a:r>
            <a:r>
              <a:rPr lang="en-US" altLang="zh-CN" sz="2800" b="1" dirty="0" smtClean="0">
                <a:latin typeface="楷体_GB2312" pitchFamily="49" charset="-122"/>
                <a:ea typeface="楷体_GB2312" pitchFamily="49" charset="-122"/>
              </a:rPr>
              <a:t>900</a:t>
            </a:r>
            <a:r>
              <a:rPr lang="zh-CN" altLang="en-US" sz="2800" b="1" dirty="0" smtClean="0">
                <a:latin typeface="楷体_GB2312" pitchFamily="49" charset="-122"/>
                <a:ea typeface="楷体_GB2312" pitchFamily="49" charset="-122"/>
              </a:rPr>
              <a:t>亿美元，相当于美国</a:t>
            </a:r>
            <a:r>
              <a:rPr lang="en-US" altLang="zh-CN" sz="2800" b="1" dirty="0" smtClean="0">
                <a:latin typeface="楷体_GB2312" pitchFamily="49" charset="-122"/>
                <a:ea typeface="楷体_GB2312" pitchFamily="49" charset="-122"/>
              </a:rPr>
              <a:t>GDP</a:t>
            </a:r>
            <a:r>
              <a:rPr lang="zh-CN" altLang="en-US" sz="2800" b="1" dirty="0" smtClean="0">
                <a:latin typeface="楷体_GB2312" pitchFamily="49" charset="-122"/>
                <a:ea typeface="楷体_GB2312" pitchFamily="49" charset="-122"/>
              </a:rPr>
              <a:t>的</a:t>
            </a:r>
            <a:r>
              <a:rPr lang="en-US" altLang="zh-CN" sz="2800" b="1" dirty="0" smtClean="0">
                <a:latin typeface="楷体_GB2312" pitchFamily="49" charset="-122"/>
                <a:ea typeface="楷体_GB2312" pitchFamily="49" charset="-122"/>
              </a:rPr>
              <a:t>0.5%</a:t>
            </a:r>
            <a:r>
              <a:rPr lang="zh-CN" altLang="en-US" sz="2800" b="1" dirty="0" smtClean="0">
                <a:latin typeface="楷体_GB2312" pitchFamily="49" charset="-122"/>
                <a:ea typeface="楷体_GB2312" pitchFamily="49" charset="-122"/>
              </a:rPr>
              <a:t>，与世界排名</a:t>
            </a:r>
            <a:r>
              <a:rPr lang="en-US" altLang="zh-CN" sz="2800" b="1" dirty="0" smtClean="0">
                <a:latin typeface="楷体_GB2312" pitchFamily="49" charset="-122"/>
                <a:ea typeface="楷体_GB2312" pitchFamily="49" charset="-122"/>
              </a:rPr>
              <a:t>61</a:t>
            </a:r>
            <a:r>
              <a:rPr lang="zh-CN" altLang="en-US" sz="2800" b="1" dirty="0" smtClean="0">
                <a:latin typeface="楷体_GB2312" pitchFamily="49" charset="-122"/>
                <a:ea typeface="楷体_GB2312" pitchFamily="49" charset="-122"/>
              </a:rPr>
              <a:t>位的乌克兰的</a:t>
            </a:r>
            <a:r>
              <a:rPr lang="en-US" altLang="zh-CN" sz="2800" b="1" dirty="0" smtClean="0">
                <a:latin typeface="楷体_GB2312" pitchFamily="49" charset="-122"/>
                <a:ea typeface="楷体_GB2312" pitchFamily="49" charset="-122"/>
              </a:rPr>
              <a:t>GDP</a:t>
            </a:r>
            <a:r>
              <a:rPr lang="zh-CN" altLang="en-US" sz="2800" b="1" dirty="0" smtClean="0">
                <a:latin typeface="楷体_GB2312" pitchFamily="49" charset="-122"/>
                <a:ea typeface="楷体_GB2312" pitchFamily="49" charset="-122"/>
              </a:rPr>
              <a:t>基本相当，堪称富可敌国。</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95536" y="404664"/>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zh-CN" sz="4000" b="1" smtClean="0">
                <a:latin typeface="方正姚体" pitchFamily="2" charset="-122"/>
                <a:ea typeface="方正姚体" pitchFamily="2" charset="-122"/>
              </a:rPr>
              <a:t>创新是经济社会发展主要驱动力量</a:t>
            </a:r>
            <a:endParaRPr lang="zh-CN" altLang="en-US" dirty="0"/>
          </a:p>
        </p:txBody>
      </p:sp>
    </p:spTree>
    <p:extLst>
      <p:ext uri="{BB962C8B-B14F-4D97-AF65-F5344CB8AC3E}">
        <p14:creationId xmlns:p14="http://schemas.microsoft.com/office/powerpoint/2010/main" val="43071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16632"/>
            <a:ext cx="8305800" cy="926976"/>
          </a:xfrm>
        </p:spPr>
        <p:txBody>
          <a:bodyPr/>
          <a:lstStyle/>
          <a:p>
            <a:r>
              <a:rPr lang="zh-CN" altLang="zh-CN" sz="3200" b="1" dirty="0" smtClean="0">
                <a:latin typeface="楷体_GB2312" pitchFamily="49" charset="-122"/>
                <a:ea typeface="楷体_GB2312" pitchFamily="49" charset="-122"/>
              </a:rPr>
              <a:t>创新是中华民族实现伟大复兴的必然路径</a:t>
            </a:r>
            <a:endParaRPr lang="zh-CN" altLang="en-US" sz="3200" dirty="0"/>
          </a:p>
        </p:txBody>
      </p:sp>
      <p:sp>
        <p:nvSpPr>
          <p:cNvPr id="3" name="文本占位符 2"/>
          <p:cNvSpPr>
            <a:spLocks noGrp="1"/>
          </p:cNvSpPr>
          <p:nvPr>
            <p:ph type="body" idx="1"/>
          </p:nvPr>
        </p:nvSpPr>
        <p:spPr>
          <a:xfrm>
            <a:off x="323528" y="980728"/>
            <a:ext cx="8305800" cy="4114800"/>
          </a:xfrm>
        </p:spPr>
        <p:txBody>
          <a:bodyPr/>
          <a:lstStyle/>
          <a:p>
            <a:r>
              <a:rPr lang="zh-CN" altLang="zh-CN" b="1" dirty="0">
                <a:latin typeface="楷体_GB2312" pitchFamily="49" charset="-122"/>
                <a:ea typeface="楷体_GB2312" pitchFamily="49" charset="-122"/>
              </a:rPr>
              <a:t>习近平总书记指出：“创新是一个民族进步的灵魂，是一个国家兴旺发达的不竭源泉，也是中华民族最鲜明的民族禀赋”</a:t>
            </a:r>
            <a:r>
              <a:rPr lang="zh-CN" altLang="zh-CN"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中国</a:t>
            </a:r>
            <a:r>
              <a:rPr lang="zh-CN" altLang="zh-CN" b="1" dirty="0">
                <a:latin typeface="楷体_GB2312" pitchFamily="49" charset="-122"/>
                <a:ea typeface="楷体_GB2312" pitchFamily="49" charset="-122"/>
              </a:rPr>
              <a:t>改革开放以来，经济建设取得了巨大成就，但是创新能力不强、创新效率较低仍然是我国经济发展的主要瓶颈因素</a:t>
            </a:r>
            <a:r>
              <a:rPr lang="zh-CN" altLang="zh-CN" b="1" dirty="0" smtClean="0">
                <a:latin typeface="楷体_GB2312" pitchFamily="49" charset="-122"/>
                <a:ea typeface="楷体_GB2312" pitchFamily="49" charset="-122"/>
              </a:rPr>
              <a:t>。</a:t>
            </a:r>
            <a:r>
              <a:rPr lang="zh-CN" altLang="en-US" sz="1600" b="1" dirty="0" smtClean="0">
                <a:solidFill>
                  <a:srgbClr val="002060"/>
                </a:solidFill>
                <a:effectLst>
                  <a:outerShdw blurRad="38100" dist="38100" dir="2700000" algn="tl">
                    <a:srgbClr val="000000">
                      <a:alpha val="43137"/>
                    </a:srgbClr>
                  </a:outerShdw>
                </a:effectLst>
                <a:latin typeface="楷体_GB2312" pitchFamily="49" charset="-122"/>
                <a:ea typeface="楷体_GB2312" pitchFamily="49" charset="-122"/>
              </a:rPr>
              <a:t>（习惯跟随和集成创新，缺乏原始创新；</a:t>
            </a:r>
            <a:r>
              <a:rPr lang="en-US" altLang="zh-CN" sz="1600" b="1" dirty="0" smtClean="0">
                <a:solidFill>
                  <a:srgbClr val="002060"/>
                </a:solidFill>
                <a:effectLst>
                  <a:outerShdw blurRad="38100" dist="38100" dir="2700000" algn="tl">
                    <a:srgbClr val="000000">
                      <a:alpha val="43137"/>
                    </a:srgbClr>
                  </a:outerShdw>
                </a:effectLst>
                <a:latin typeface="楷体_GB2312" pitchFamily="49" charset="-122"/>
                <a:ea typeface="楷体_GB2312" pitchFamily="49" charset="-122"/>
              </a:rPr>
              <a:t>70%</a:t>
            </a:r>
            <a:r>
              <a:rPr lang="zh-CN" altLang="en-US" sz="1600" b="1" dirty="0" smtClean="0">
                <a:solidFill>
                  <a:srgbClr val="002060"/>
                </a:solidFill>
                <a:effectLst>
                  <a:outerShdw blurRad="38100" dist="38100" dir="2700000" algn="tl">
                    <a:srgbClr val="000000">
                      <a:alpha val="43137"/>
                    </a:srgbClr>
                  </a:outerShdw>
                </a:effectLst>
                <a:latin typeface="楷体_GB2312" pitchFamily="49" charset="-122"/>
                <a:ea typeface="楷体_GB2312" pitchFamily="49" charset="-122"/>
              </a:rPr>
              <a:t>以上的专利成果束之高阁，产业升级转型困难重重。）</a:t>
            </a:r>
            <a:endParaRPr lang="en-US" altLang="zh-CN" sz="1600" b="1" dirty="0" smtClean="0">
              <a:solidFill>
                <a:srgbClr val="002060"/>
              </a:solidFill>
              <a:effectLst>
                <a:outerShdw blurRad="38100" dist="38100" dir="2700000" algn="tl">
                  <a:srgbClr val="000000">
                    <a:alpha val="43137"/>
                  </a:srgbClr>
                </a:outerShdw>
              </a:effectLst>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党</a:t>
            </a:r>
            <a:r>
              <a:rPr lang="zh-CN" altLang="zh-CN" b="1" dirty="0">
                <a:latin typeface="楷体_GB2312" pitchFamily="49" charset="-122"/>
                <a:ea typeface="楷体_GB2312" pitchFamily="49" charset="-122"/>
              </a:rPr>
              <a:t>的十八大明确</a:t>
            </a:r>
            <a:r>
              <a:rPr lang="zh-CN" altLang="zh-CN" b="1" dirty="0" smtClean="0">
                <a:latin typeface="楷体_GB2312" pitchFamily="49" charset="-122"/>
                <a:ea typeface="楷体_GB2312" pitchFamily="49" charset="-122"/>
              </a:rPr>
              <a:t>提出</a:t>
            </a:r>
            <a:r>
              <a:rPr lang="zh-CN" altLang="en-US" b="1" dirty="0" smtClean="0">
                <a:latin typeface="楷体_GB2312" pitchFamily="49" charset="-122"/>
                <a:ea typeface="楷体_GB2312" pitchFamily="49" charset="-122"/>
              </a:rPr>
              <a:t>“科技创新”</a:t>
            </a:r>
            <a:r>
              <a:rPr lang="zh-CN" altLang="zh-CN" b="1" dirty="0" smtClean="0">
                <a:latin typeface="楷体_GB2312" pitchFamily="49" charset="-122"/>
                <a:ea typeface="楷体_GB2312" pitchFamily="49" charset="-122"/>
              </a:rPr>
              <a:t>是</a:t>
            </a:r>
            <a:r>
              <a:rPr lang="zh-CN" altLang="zh-CN" b="1" dirty="0">
                <a:latin typeface="楷体_GB2312" pitchFamily="49" charset="-122"/>
                <a:ea typeface="楷体_GB2312" pitchFamily="49" charset="-122"/>
              </a:rPr>
              <a:t>提高社会生产力和综合国力的战略支撑，必须摆在国家发展全局的核心位置</a:t>
            </a:r>
            <a:r>
              <a:rPr lang="en-US" altLang="zh-CN" b="1" dirty="0">
                <a:latin typeface="楷体_GB2312" pitchFamily="49" charset="-122"/>
                <a:ea typeface="楷体_GB2312" pitchFamily="49" charset="-122"/>
              </a:rPr>
              <a:t>”</a:t>
            </a:r>
            <a:r>
              <a:rPr lang="zh-CN" altLang="zh-CN" b="1" dirty="0">
                <a:latin typeface="楷体_GB2312" pitchFamily="49" charset="-122"/>
                <a:ea typeface="楷体_GB2312" pitchFamily="49" charset="-122"/>
              </a:rPr>
              <a:t>；强调要坚持</a:t>
            </a:r>
            <a:r>
              <a:rPr lang="zh-CN" altLang="zh-CN" b="1" dirty="0" smtClean="0">
                <a:latin typeface="楷体_GB2312" pitchFamily="49" charset="-122"/>
                <a:ea typeface="楷体_GB2312" pitchFamily="49" charset="-122"/>
              </a:rPr>
              <a:t>走</a:t>
            </a:r>
            <a:r>
              <a:rPr lang="zh-CN" altLang="en-US" b="1" dirty="0" smtClean="0">
                <a:latin typeface="楷体_GB2312" pitchFamily="49" charset="-122"/>
                <a:ea typeface="楷体_GB2312" pitchFamily="49" charset="-122"/>
              </a:rPr>
              <a:t>中国</a:t>
            </a:r>
            <a:r>
              <a:rPr lang="zh-CN" altLang="zh-CN" b="1" dirty="0" smtClean="0">
                <a:latin typeface="楷体_GB2312" pitchFamily="49" charset="-122"/>
                <a:ea typeface="楷体_GB2312" pitchFamily="49" charset="-122"/>
              </a:rPr>
              <a:t>特色</a:t>
            </a:r>
            <a:r>
              <a:rPr lang="zh-CN" altLang="zh-CN" b="1" dirty="0">
                <a:latin typeface="楷体_GB2312" pitchFamily="49" charset="-122"/>
                <a:ea typeface="楷体_GB2312" pitchFamily="49" charset="-122"/>
              </a:rPr>
              <a:t>自主创新道路、实施创新驱动发展战略</a:t>
            </a:r>
            <a:r>
              <a:rPr lang="zh-CN" altLang="zh-CN"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4744770"/>
            <a:ext cx="291465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32407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19494"/>
            <a:ext cx="8305800" cy="4114800"/>
          </a:xfrm>
        </p:spPr>
        <p:txBody>
          <a:bodyPr/>
          <a:lstStyle/>
          <a:p>
            <a:r>
              <a:rPr lang="zh-CN" altLang="en-US" b="1" dirty="0"/>
              <a:t>中兴通讯</a:t>
            </a:r>
            <a:r>
              <a:rPr lang="zh-CN" altLang="en-US" b="1" dirty="0" smtClean="0"/>
              <a:t>股份有限公司，简称</a:t>
            </a:r>
            <a:r>
              <a:rPr lang="zh-CN" altLang="en-US" b="1" dirty="0"/>
              <a:t>中兴通讯（</a:t>
            </a:r>
            <a:r>
              <a:rPr lang="en-US" altLang="zh-CN" b="1" dirty="0"/>
              <a:t>ZTE</a:t>
            </a:r>
            <a:r>
              <a:rPr lang="zh-CN" altLang="en-US" b="1" dirty="0"/>
              <a:t>）</a:t>
            </a:r>
            <a:r>
              <a:rPr lang="zh-CN" altLang="en-US" b="1" dirty="0" smtClean="0"/>
              <a:t>。</a:t>
            </a:r>
            <a:endParaRPr lang="en-US" altLang="zh-CN" b="1" dirty="0" smtClean="0"/>
          </a:p>
          <a:p>
            <a:r>
              <a:rPr lang="zh-CN" altLang="en-US" b="1" dirty="0" smtClean="0"/>
              <a:t>全球</a:t>
            </a:r>
            <a:r>
              <a:rPr lang="zh-CN" altLang="en-US" b="1" dirty="0"/>
              <a:t>领先的综合通信解决方案提供商，中国最大的通信设备上市公司</a:t>
            </a:r>
            <a:r>
              <a:rPr lang="zh-CN" altLang="en-US" b="1" dirty="0" smtClean="0"/>
              <a:t>。</a:t>
            </a:r>
            <a:endParaRPr lang="en-US" altLang="zh-CN" b="1" dirty="0" smtClean="0"/>
          </a:p>
          <a:p>
            <a:r>
              <a:rPr lang="zh-CN" altLang="en-US" b="1" dirty="0" smtClean="0"/>
              <a:t>主要</a:t>
            </a:r>
            <a:r>
              <a:rPr lang="zh-CN" altLang="en-US" b="1" dirty="0"/>
              <a:t>产品包括：</a:t>
            </a:r>
            <a:r>
              <a:rPr lang="en-US" altLang="zh-CN" b="1" dirty="0"/>
              <a:t>2G/3G/4G/5G</a:t>
            </a:r>
            <a:r>
              <a:rPr lang="zh-CN" altLang="en-US" b="1" dirty="0"/>
              <a:t>无线基站与核心网、</a:t>
            </a:r>
            <a:r>
              <a:rPr lang="en-US" altLang="zh-CN" b="1" dirty="0"/>
              <a:t>IMS</a:t>
            </a:r>
            <a:r>
              <a:rPr lang="zh-CN" altLang="en-US" b="1" dirty="0"/>
              <a:t>、固网接入与承载、光网络、芯片、高端路由器、智能交换机、政企网、大数据、云计算、数据中心、手机及家庭终端、智慧城市、</a:t>
            </a:r>
            <a:r>
              <a:rPr lang="en-US" altLang="zh-CN" b="1" dirty="0"/>
              <a:t>ICT</a:t>
            </a:r>
            <a:r>
              <a:rPr lang="zh-CN" altLang="en-US" b="1" dirty="0"/>
              <a:t>业务，以及航空、铁路与城市轨道交通信号传输设备</a:t>
            </a:r>
            <a:r>
              <a:rPr lang="zh-CN" altLang="en-US" b="1" dirty="0" smtClean="0"/>
              <a:t>。</a:t>
            </a:r>
            <a:endParaRPr lang="zh-CN" altLang="en-US" b="1" dirty="0"/>
          </a:p>
        </p:txBody>
      </p:sp>
      <p:sp>
        <p:nvSpPr>
          <p:cNvPr id="4" name="标题 1"/>
          <p:cNvSpPr txBox="1">
            <a:spLocks/>
          </p:cNvSpPr>
          <p:nvPr/>
        </p:nvSpPr>
        <p:spPr bwMode="auto">
          <a:xfrm>
            <a:off x="323528" y="260648"/>
            <a:ext cx="8305800" cy="864096"/>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200" b="1" kern="0" dirty="0" smtClean="0">
                <a:latin typeface="黑体" pitchFamily="49" charset="-122"/>
                <a:ea typeface="黑体" pitchFamily="49" charset="-122"/>
              </a:rPr>
              <a:t>创新是引领发展的第一动力</a:t>
            </a:r>
            <a:r>
              <a:rPr lang="en-US" altLang="zh-CN" sz="3200" b="1" kern="0" dirty="0" smtClean="0">
                <a:latin typeface="黑体" pitchFamily="49" charset="-122"/>
                <a:ea typeface="黑体" pitchFamily="49" charset="-122"/>
              </a:rPr>
              <a:t>——</a:t>
            </a:r>
            <a:r>
              <a:rPr lang="zh-CN" altLang="en-US" sz="3200" b="1" kern="0" dirty="0" smtClean="0">
                <a:latin typeface="黑体" pitchFamily="49" charset="-122"/>
                <a:ea typeface="黑体" pitchFamily="49" charset="-122"/>
              </a:rPr>
              <a:t>中兴之痛</a:t>
            </a:r>
            <a:endParaRPr lang="zh-CN" altLang="en-US" sz="3200" b="1" kern="0" dirty="0">
              <a:latin typeface="黑体" pitchFamily="49" charset="-122"/>
              <a:ea typeface="黑体"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4437112"/>
            <a:ext cx="411480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23868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16632"/>
            <a:ext cx="8496944" cy="6048672"/>
          </a:xfrm>
        </p:spPr>
        <p:txBody>
          <a:bodyPr/>
          <a:lstStyle/>
          <a:p>
            <a:r>
              <a:rPr lang="en-US" altLang="zh-CN" b="1" dirty="0" smtClean="0"/>
              <a:t>1985</a:t>
            </a:r>
            <a:r>
              <a:rPr lang="zh-CN" altLang="en-US" b="1" dirty="0" smtClean="0"/>
              <a:t>年，中兴</a:t>
            </a:r>
            <a:r>
              <a:rPr lang="zh-CN" altLang="en-US" b="1" dirty="0"/>
              <a:t>通讯前身深圳市中兴半导体有限公司</a:t>
            </a:r>
            <a:r>
              <a:rPr lang="zh-CN" altLang="en-US" b="1" dirty="0" smtClean="0"/>
              <a:t>成立。</a:t>
            </a:r>
            <a:endParaRPr lang="en-US" altLang="zh-CN" b="1" dirty="0" smtClean="0"/>
          </a:p>
          <a:p>
            <a:r>
              <a:rPr lang="en-US" altLang="zh-CN" b="1" dirty="0" smtClean="0"/>
              <a:t>1986</a:t>
            </a:r>
            <a:r>
              <a:rPr lang="zh-CN" altLang="en-US" b="1" dirty="0" smtClean="0"/>
              <a:t>年，深圳研究所</a:t>
            </a:r>
            <a:r>
              <a:rPr lang="zh-CN" altLang="en-US" b="1" dirty="0"/>
              <a:t>成立，中兴通讯开始自主研发。</a:t>
            </a:r>
          </a:p>
          <a:p>
            <a:r>
              <a:rPr lang="en-US" altLang="zh-CN" b="1" dirty="0"/>
              <a:t>1990</a:t>
            </a:r>
            <a:r>
              <a:rPr lang="zh-CN" altLang="en-US" b="1" dirty="0"/>
              <a:t>年自主研发的第一台数据数字用户交换机</a:t>
            </a:r>
            <a:r>
              <a:rPr lang="en-US" altLang="zh-CN" b="1" dirty="0"/>
              <a:t>ZX500</a:t>
            </a:r>
            <a:r>
              <a:rPr lang="zh-CN" altLang="en-US" b="1" dirty="0"/>
              <a:t>，成功面市</a:t>
            </a:r>
            <a:r>
              <a:rPr lang="zh-CN" altLang="en-US" b="1" dirty="0" smtClean="0"/>
              <a:t>。</a:t>
            </a:r>
            <a:endParaRPr lang="en-US" altLang="zh-CN" b="1" dirty="0" smtClean="0"/>
          </a:p>
          <a:p>
            <a:r>
              <a:rPr lang="en-US" altLang="zh-CN" b="1" dirty="0"/>
              <a:t>1997</a:t>
            </a:r>
            <a:r>
              <a:rPr lang="zh-CN" altLang="en-US" b="1" dirty="0"/>
              <a:t>年，深交所</a:t>
            </a:r>
            <a:r>
              <a:rPr lang="en-US" altLang="zh-CN" b="1" dirty="0"/>
              <a:t>A</a:t>
            </a:r>
            <a:r>
              <a:rPr lang="zh-CN" altLang="en-US" b="1" dirty="0"/>
              <a:t>股上市</a:t>
            </a:r>
            <a:r>
              <a:rPr lang="zh-CN" altLang="en-US" b="1" dirty="0" smtClean="0"/>
              <a:t>。</a:t>
            </a:r>
            <a:endParaRPr lang="en-US" altLang="zh-CN" b="1" dirty="0" smtClean="0"/>
          </a:p>
          <a:p>
            <a:r>
              <a:rPr lang="en-US" altLang="zh-CN" b="1" dirty="0"/>
              <a:t>1998</a:t>
            </a:r>
            <a:r>
              <a:rPr lang="zh-CN" altLang="en-US" b="1" dirty="0"/>
              <a:t>年设立美国研究所（新泽西、圣地亚哥、硅谷</a:t>
            </a:r>
            <a:r>
              <a:rPr lang="en-US" altLang="zh-CN" b="1" dirty="0"/>
              <a:t>3</a:t>
            </a:r>
            <a:r>
              <a:rPr lang="zh-CN" altLang="en-US" b="1" dirty="0"/>
              <a:t>家），获巴基斯坦交换总承包项目，金额为</a:t>
            </a:r>
            <a:r>
              <a:rPr lang="en-US" altLang="zh-CN" b="1" dirty="0"/>
              <a:t>9700</a:t>
            </a:r>
            <a:r>
              <a:rPr lang="zh-CN" altLang="en-US" b="1" dirty="0"/>
              <a:t>万美元，是当时中国通信制造企业在海外获得的最大一个通信“交钥匙”</a:t>
            </a:r>
            <a:r>
              <a:rPr lang="zh-CN" altLang="en-US" b="1" dirty="0" smtClean="0"/>
              <a:t>工程项目。</a:t>
            </a:r>
            <a:endParaRPr lang="en-US" altLang="zh-CN" b="1" dirty="0" smtClean="0"/>
          </a:p>
          <a:p>
            <a:r>
              <a:rPr lang="en-US" altLang="zh-CN" b="1" dirty="0" smtClean="0"/>
              <a:t>1999</a:t>
            </a:r>
            <a:r>
              <a:rPr lang="zh-CN" altLang="en-US" b="1" dirty="0"/>
              <a:t>年推出</a:t>
            </a:r>
            <a:r>
              <a:rPr lang="en-US" altLang="zh-CN" b="1" dirty="0"/>
              <a:t>ZTE189</a:t>
            </a:r>
            <a:r>
              <a:rPr lang="zh-CN" altLang="en-US" b="1" dirty="0"/>
              <a:t>全中文双频手机</a:t>
            </a:r>
            <a:r>
              <a:rPr lang="zh-CN" altLang="en-US" b="1" dirty="0" smtClean="0"/>
              <a:t>。</a:t>
            </a:r>
            <a:endParaRPr lang="en-US" altLang="zh-CN" b="1" dirty="0" smtClean="0"/>
          </a:p>
          <a:p>
            <a:r>
              <a:rPr lang="en-US" altLang="zh-CN" b="1" dirty="0" smtClean="0"/>
              <a:t>1999</a:t>
            </a:r>
            <a:r>
              <a:rPr lang="zh-CN" altLang="en-US" b="1" dirty="0"/>
              <a:t>年中兴自主研发的全套</a:t>
            </a:r>
            <a:r>
              <a:rPr lang="en-US" altLang="zh-CN" b="1" dirty="0"/>
              <a:t>GSM900/1800</a:t>
            </a:r>
            <a:r>
              <a:rPr lang="zh-CN" altLang="en-US" b="1" dirty="0"/>
              <a:t>双频移动通信系统获得信息产业部颁发的六张电信设备进网许可证</a:t>
            </a:r>
            <a:r>
              <a:rPr lang="zh-CN" altLang="en-US" b="1" dirty="0" smtClean="0"/>
              <a:t>，中国</a:t>
            </a:r>
            <a:r>
              <a:rPr lang="zh-CN" altLang="en-US" b="1" dirty="0"/>
              <a:t>拥有自主知识产权的</a:t>
            </a:r>
            <a:r>
              <a:rPr lang="en-US" altLang="zh-CN" b="1" dirty="0"/>
              <a:t>GSM</a:t>
            </a:r>
            <a:r>
              <a:rPr lang="zh-CN" altLang="en-US" b="1" dirty="0"/>
              <a:t>移动通信产品首次</a:t>
            </a:r>
            <a:r>
              <a:rPr lang="zh-CN" altLang="en-US" b="1" dirty="0" smtClean="0"/>
              <a:t>出口。</a:t>
            </a:r>
            <a:endParaRPr lang="en-US" altLang="zh-CN" b="1" dirty="0" smtClean="0"/>
          </a:p>
          <a:p>
            <a:r>
              <a:rPr lang="en-US" altLang="zh-CN" b="1" dirty="0"/>
              <a:t>2000</a:t>
            </a:r>
            <a:r>
              <a:rPr lang="zh-CN" altLang="en-US" b="1" dirty="0"/>
              <a:t>年中兴通讯销售额突破</a:t>
            </a:r>
            <a:r>
              <a:rPr lang="en-US" altLang="zh-CN" b="1" dirty="0"/>
              <a:t>100</a:t>
            </a:r>
            <a:r>
              <a:rPr lang="zh-CN" altLang="en-US" b="1" dirty="0"/>
              <a:t>亿元人民币，成立韩国研究所，致力于</a:t>
            </a:r>
            <a:r>
              <a:rPr lang="en-US" altLang="zh-CN" b="1" dirty="0"/>
              <a:t>CDMA</a:t>
            </a:r>
            <a:r>
              <a:rPr lang="zh-CN" altLang="en-US" b="1" dirty="0"/>
              <a:t>产品</a:t>
            </a:r>
            <a:r>
              <a:rPr lang="zh-CN" altLang="en-US" b="1" dirty="0" smtClean="0"/>
              <a:t>研发</a:t>
            </a:r>
            <a:r>
              <a:rPr lang="zh-CN" altLang="en-US" b="1" dirty="0"/>
              <a:t>。</a:t>
            </a:r>
            <a:endParaRPr lang="en-US" altLang="zh-CN" b="1" dirty="0" smtClean="0"/>
          </a:p>
        </p:txBody>
      </p:sp>
    </p:spTree>
    <p:extLst>
      <p:ext uri="{BB962C8B-B14F-4D97-AF65-F5344CB8AC3E}">
        <p14:creationId xmlns:p14="http://schemas.microsoft.com/office/powerpoint/2010/main" val="37787303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58874" y="476672"/>
            <a:ext cx="8305800" cy="3106688"/>
          </a:xfrm>
        </p:spPr>
        <p:txBody>
          <a:bodyPr/>
          <a:lstStyle/>
          <a:p>
            <a:pPr>
              <a:lnSpc>
                <a:spcPct val="120000"/>
              </a:lnSpc>
            </a:pPr>
            <a:r>
              <a:rPr lang="en-US" altLang="zh-CN" sz="2000" b="1" dirty="0" smtClean="0"/>
              <a:t>2001</a:t>
            </a:r>
            <a:r>
              <a:rPr lang="zh-CN" altLang="en-US" sz="2000" b="1" dirty="0"/>
              <a:t>年中兴通讯香港公司成立</a:t>
            </a:r>
            <a:r>
              <a:rPr lang="zh-CN" altLang="en-US" sz="2000" b="1" dirty="0" smtClean="0"/>
              <a:t>，中兴</a:t>
            </a:r>
            <a:r>
              <a:rPr lang="zh-CN" altLang="en-US" sz="2000" b="1" dirty="0"/>
              <a:t>通讯</a:t>
            </a:r>
            <a:r>
              <a:rPr lang="en-US" altLang="zh-CN" sz="2000" b="1" dirty="0"/>
              <a:t>CDMA</a:t>
            </a:r>
            <a:r>
              <a:rPr lang="zh-CN" altLang="en-US" sz="2000" b="1" dirty="0"/>
              <a:t>服务中国联通，中国自主知识产权的通信设备厂商获得的首个大规模移动通信网络建设项目。 </a:t>
            </a:r>
            <a:endParaRPr lang="en-US" altLang="zh-CN" sz="2000" b="1" dirty="0" smtClean="0"/>
          </a:p>
          <a:p>
            <a:pPr>
              <a:lnSpc>
                <a:spcPct val="120000"/>
              </a:lnSpc>
            </a:pPr>
            <a:r>
              <a:rPr lang="en-US" altLang="zh-CN" sz="2000" b="1" dirty="0" smtClean="0"/>
              <a:t>2004</a:t>
            </a:r>
            <a:r>
              <a:rPr lang="zh-CN" altLang="en-US" sz="2000" b="1" dirty="0"/>
              <a:t>年独家为雅典奥运会提供宽带互联网设备支持，港交所</a:t>
            </a:r>
            <a:r>
              <a:rPr lang="en-US" altLang="zh-CN" sz="2000" b="1" dirty="0"/>
              <a:t>H</a:t>
            </a:r>
            <a:r>
              <a:rPr lang="zh-CN" altLang="en-US" sz="2000" b="1" dirty="0"/>
              <a:t>股</a:t>
            </a:r>
            <a:r>
              <a:rPr lang="zh-CN" altLang="en-US" sz="2000" b="1" dirty="0" smtClean="0"/>
              <a:t>上市。</a:t>
            </a:r>
            <a:endParaRPr lang="en-US" altLang="zh-CN" sz="2000" b="1" dirty="0"/>
          </a:p>
          <a:p>
            <a:pPr>
              <a:lnSpc>
                <a:spcPct val="120000"/>
              </a:lnSpc>
            </a:pPr>
            <a:r>
              <a:rPr lang="en-US" altLang="zh-CN" sz="2000" b="1" dirty="0" smtClean="0"/>
              <a:t>2007</a:t>
            </a:r>
            <a:r>
              <a:rPr lang="zh-CN" altLang="en-US" sz="2000" b="1" dirty="0"/>
              <a:t>年</a:t>
            </a:r>
            <a:r>
              <a:rPr lang="zh-CN" altLang="en-US" sz="2000" b="1" dirty="0" smtClean="0"/>
              <a:t>，公司</a:t>
            </a:r>
            <a:r>
              <a:rPr lang="zh-CN" altLang="en-US" sz="2000" b="1" dirty="0"/>
              <a:t>国际营收额占公司总收入额的六成</a:t>
            </a:r>
            <a:r>
              <a:rPr lang="zh-CN" altLang="en-US" sz="2000" b="1" dirty="0" smtClean="0"/>
              <a:t>左右，获得</a:t>
            </a:r>
            <a:r>
              <a:rPr lang="zh-CN" altLang="en-US" sz="2000" b="1" dirty="0"/>
              <a:t>中国移动</a:t>
            </a:r>
            <a:r>
              <a:rPr lang="en-US" altLang="zh-CN" sz="2000" b="1" dirty="0"/>
              <a:t>TD-SCDMA</a:t>
            </a:r>
            <a:r>
              <a:rPr lang="zh-CN" altLang="en-US" sz="2000" b="1" dirty="0"/>
              <a:t>首次设备采购</a:t>
            </a:r>
            <a:r>
              <a:rPr lang="en-US" altLang="zh-CN" sz="2000" b="1" dirty="0"/>
              <a:t>51%</a:t>
            </a:r>
            <a:r>
              <a:rPr lang="zh-CN" altLang="en-US" sz="2000" b="1" dirty="0"/>
              <a:t>份额，</a:t>
            </a:r>
            <a:r>
              <a:rPr lang="en-US" altLang="zh-CN" sz="2000" b="1" dirty="0"/>
              <a:t>CDMA</a:t>
            </a:r>
            <a:r>
              <a:rPr lang="zh-CN" altLang="en-US" sz="2000" b="1" dirty="0"/>
              <a:t>出货量连续两年位居全球第一</a:t>
            </a:r>
            <a:r>
              <a:rPr lang="zh-CN" altLang="en-US" sz="2000" b="1" dirty="0" smtClean="0"/>
              <a:t>，进入</a:t>
            </a:r>
            <a:r>
              <a:rPr lang="zh-CN" altLang="en-US" sz="2000" b="1" dirty="0"/>
              <a:t>全球前四大设备供应商行</a:t>
            </a:r>
            <a:r>
              <a:rPr lang="zh-CN" altLang="en-US" sz="2000" b="1" dirty="0" smtClean="0"/>
              <a:t>列</a:t>
            </a:r>
            <a:r>
              <a:rPr lang="zh-CN" altLang="en-US" sz="2000" b="1" dirty="0"/>
              <a:t>。</a:t>
            </a:r>
            <a:endParaRPr lang="en-US" altLang="zh-CN" sz="2000" b="1" dirty="0" smtClean="0"/>
          </a:p>
          <a:p>
            <a:pPr>
              <a:lnSpc>
                <a:spcPct val="120000"/>
              </a:lnSpc>
            </a:pPr>
            <a:r>
              <a:rPr lang="en-US" altLang="zh-CN" sz="2000" b="1" dirty="0" smtClean="0"/>
              <a:t>2008</a:t>
            </a:r>
            <a:r>
              <a:rPr lang="zh-CN" altLang="en-US" sz="2000" b="1" dirty="0"/>
              <a:t>年，入选全球</a:t>
            </a:r>
            <a:r>
              <a:rPr lang="en-US" altLang="zh-CN" sz="2000" b="1" dirty="0"/>
              <a:t>IT</a:t>
            </a:r>
            <a:r>
              <a:rPr lang="zh-CN" altLang="en-US" sz="2000" b="1" dirty="0"/>
              <a:t>企业百</a:t>
            </a:r>
            <a:r>
              <a:rPr lang="zh-CN" altLang="en-US" sz="2000" b="1" dirty="0" smtClean="0"/>
              <a:t>强。</a:t>
            </a:r>
            <a:endParaRPr lang="en-US" altLang="zh-CN" sz="2000" b="1"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2780928"/>
            <a:ext cx="2857500" cy="3305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占位符 2"/>
          <p:cNvSpPr txBox="1">
            <a:spLocks/>
          </p:cNvSpPr>
          <p:nvPr/>
        </p:nvSpPr>
        <p:spPr bwMode="auto">
          <a:xfrm>
            <a:off x="168437" y="3429000"/>
            <a:ext cx="5832648"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a:lnSpc>
                <a:spcPct val="120000"/>
              </a:lnSpc>
            </a:pPr>
            <a:r>
              <a:rPr lang="en-US" altLang="zh-CN" sz="2000" b="1" kern="0" dirty="0" smtClean="0"/>
              <a:t>2010</a:t>
            </a:r>
            <a:r>
              <a:rPr lang="zh-CN" altLang="en-US" sz="2000" b="1" kern="0" dirty="0" smtClean="0"/>
              <a:t>年，获中国专利方面的最高奖项“中国专利奖”两项金奖。获世界产权组织和中国国家专利局共同评定的中国专利方面的最高奖项“中国专利奖”两项金奖，累积专利申请数量超过</a:t>
            </a:r>
            <a:r>
              <a:rPr lang="en-US" altLang="zh-CN" sz="2000" b="1" kern="0" dirty="0" smtClean="0"/>
              <a:t>30000</a:t>
            </a:r>
            <a:r>
              <a:rPr lang="zh-CN" altLang="en-US" sz="2000" b="1" kern="0" dirty="0" smtClean="0"/>
              <a:t>件</a:t>
            </a:r>
            <a:endParaRPr lang="en-US" altLang="zh-CN" sz="2000" b="1" kern="0" dirty="0" smtClean="0"/>
          </a:p>
          <a:p>
            <a:pPr>
              <a:lnSpc>
                <a:spcPct val="120000"/>
              </a:lnSpc>
            </a:pPr>
            <a:r>
              <a:rPr lang="en-US" altLang="zh-CN" sz="2000" b="1" kern="0" dirty="0" smtClean="0"/>
              <a:t>2011</a:t>
            </a:r>
            <a:r>
              <a:rPr lang="zh-CN" altLang="en-US" sz="2000" b="1" kern="0" dirty="0" smtClean="0"/>
              <a:t>年，中兴入选首批“国家技术创新示范企业”。</a:t>
            </a:r>
            <a:r>
              <a:rPr lang="zh-CN" altLang="en-US" b="1" kern="0" dirty="0" smtClean="0"/>
              <a:t> </a:t>
            </a:r>
            <a:endParaRPr lang="zh-CN" altLang="en-US" b="1" kern="0" dirty="0"/>
          </a:p>
        </p:txBody>
      </p:sp>
    </p:spTree>
    <p:extLst>
      <p:ext uri="{BB962C8B-B14F-4D97-AF65-F5344CB8AC3E}">
        <p14:creationId xmlns:p14="http://schemas.microsoft.com/office/powerpoint/2010/main" val="22224634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404664"/>
            <a:ext cx="8305800" cy="6120680"/>
          </a:xfrm>
        </p:spPr>
        <p:txBody>
          <a:bodyPr/>
          <a:lstStyle/>
          <a:p>
            <a:r>
              <a:rPr lang="en-US" altLang="zh-CN" b="1" dirty="0"/>
              <a:t>2012</a:t>
            </a:r>
            <a:r>
              <a:rPr lang="zh-CN" altLang="en-US" b="1" dirty="0"/>
              <a:t>年，中兴通讯携手中国移动香港，正式推出中兴全球首款单芯片</a:t>
            </a:r>
            <a:r>
              <a:rPr lang="en-US" altLang="zh-CN" b="1" dirty="0"/>
              <a:t>4GLTE</a:t>
            </a:r>
            <a:r>
              <a:rPr lang="zh-CN" altLang="en-US" b="1" dirty="0"/>
              <a:t>智能手机</a:t>
            </a:r>
            <a:r>
              <a:rPr lang="en-US" altLang="zh-CN" b="1" dirty="0"/>
              <a:t>——</a:t>
            </a:r>
            <a:r>
              <a:rPr lang="en-US" altLang="zh-CN" b="1" dirty="0" err="1"/>
              <a:t>GrandXLTE</a:t>
            </a:r>
            <a:r>
              <a:rPr lang="zh-CN" altLang="en-US" b="1" dirty="0"/>
              <a:t>（</a:t>
            </a:r>
            <a:r>
              <a:rPr lang="en-US" altLang="zh-CN" b="1" dirty="0"/>
              <a:t>T82</a:t>
            </a:r>
            <a:r>
              <a:rPr lang="zh-CN" altLang="en-US" b="1" dirty="0" smtClean="0"/>
              <a:t>），中兴</a:t>
            </a:r>
            <a:r>
              <a:rPr lang="zh-CN" altLang="en-US" b="1" dirty="0"/>
              <a:t>通讯也因此成为国内第一家正式推出</a:t>
            </a:r>
            <a:r>
              <a:rPr lang="en-US" altLang="zh-CN" b="1" dirty="0"/>
              <a:t>4GLTE</a:t>
            </a:r>
            <a:r>
              <a:rPr lang="zh-CN" altLang="en-US" b="1" dirty="0"/>
              <a:t>智能手机的手机生产商。</a:t>
            </a:r>
            <a:r>
              <a:rPr lang="zh-CN" altLang="en-US" dirty="0"/>
              <a:t>中兴</a:t>
            </a:r>
            <a:r>
              <a:rPr lang="en-US" altLang="zh-CN" dirty="0" err="1"/>
              <a:t>GrandXLTE</a:t>
            </a:r>
            <a:r>
              <a:rPr lang="zh-CN" altLang="en-US" dirty="0"/>
              <a:t>（</a:t>
            </a:r>
            <a:r>
              <a:rPr lang="en-US" altLang="zh-CN" dirty="0"/>
              <a:t>T82</a:t>
            </a:r>
            <a:r>
              <a:rPr lang="zh-CN" altLang="en-US" dirty="0" smtClean="0"/>
              <a:t>）拥有</a:t>
            </a:r>
            <a:r>
              <a:rPr lang="zh-CN" altLang="en-US" dirty="0"/>
              <a:t>一块</a:t>
            </a:r>
            <a:r>
              <a:rPr lang="en-US" altLang="zh-CN" dirty="0"/>
              <a:t>4.3</a:t>
            </a:r>
            <a:r>
              <a:rPr lang="zh-CN" altLang="en-US" dirty="0"/>
              <a:t>英寸</a:t>
            </a:r>
            <a:r>
              <a:rPr lang="en-US" altLang="zh-CN" dirty="0" err="1"/>
              <a:t>qHD</a:t>
            </a:r>
            <a:r>
              <a:rPr lang="zh-CN" altLang="en-US" dirty="0"/>
              <a:t>（</a:t>
            </a:r>
            <a:r>
              <a:rPr lang="en-US" altLang="zh-CN" dirty="0"/>
              <a:t>540×960</a:t>
            </a:r>
            <a:r>
              <a:rPr lang="zh-CN" altLang="en-US" dirty="0"/>
              <a:t>像素）显示屏，</a:t>
            </a:r>
            <a:r>
              <a:rPr lang="zh-CN" altLang="en-US" b="1" dirty="0"/>
              <a:t>搭载</a:t>
            </a:r>
            <a:r>
              <a:rPr lang="en-US" altLang="zh-CN" b="1" dirty="0"/>
              <a:t>1.5GHz</a:t>
            </a:r>
            <a:r>
              <a:rPr lang="zh-CN" altLang="en-US" b="1" dirty="0"/>
              <a:t>主频的高通骁龙</a:t>
            </a:r>
            <a:r>
              <a:rPr lang="en-US" altLang="zh-CN" b="1" dirty="0"/>
              <a:t>S4</a:t>
            </a:r>
            <a:r>
              <a:rPr lang="zh-CN" altLang="en-US" b="1" dirty="0"/>
              <a:t>配备</a:t>
            </a:r>
            <a:r>
              <a:rPr lang="en-US" altLang="zh-CN" b="1" dirty="0"/>
              <a:t>MSM8960</a:t>
            </a:r>
            <a:r>
              <a:rPr lang="zh-CN" altLang="en-US" b="1" dirty="0"/>
              <a:t>双核处理器，</a:t>
            </a:r>
            <a:r>
              <a:rPr lang="zh-CN" altLang="en-US" dirty="0"/>
              <a:t>拥有</a:t>
            </a:r>
            <a:r>
              <a:rPr lang="en-US" altLang="zh-CN" dirty="0"/>
              <a:t>4GBROM</a:t>
            </a:r>
            <a:r>
              <a:rPr lang="zh-CN" altLang="en-US" dirty="0"/>
              <a:t>和</a:t>
            </a:r>
            <a:r>
              <a:rPr lang="en-US" altLang="zh-CN" dirty="0"/>
              <a:t>1GBRAM</a:t>
            </a:r>
            <a:r>
              <a:rPr lang="zh-CN" altLang="en-US" dirty="0"/>
              <a:t>；在软件方面，搭载</a:t>
            </a:r>
            <a:r>
              <a:rPr lang="en-US" altLang="zh-CN" dirty="0"/>
              <a:t>Android4.0</a:t>
            </a:r>
            <a:r>
              <a:rPr lang="zh-CN" altLang="en-US" dirty="0"/>
              <a:t>操作系统，同时还支持</a:t>
            </a:r>
            <a:r>
              <a:rPr lang="en-US" altLang="zh-CN" dirty="0"/>
              <a:t>1080p</a:t>
            </a:r>
            <a:r>
              <a:rPr lang="zh-CN" altLang="en-US" dirty="0"/>
              <a:t>高清视频拍摄的</a:t>
            </a:r>
            <a:r>
              <a:rPr lang="en-US" altLang="zh-CN" dirty="0"/>
              <a:t>800</a:t>
            </a:r>
            <a:r>
              <a:rPr lang="zh-CN" altLang="en-US" dirty="0"/>
              <a:t>万像素后置摄像头。</a:t>
            </a:r>
          </a:p>
          <a:p>
            <a:r>
              <a:rPr lang="en-US" altLang="zh-CN" b="1" dirty="0"/>
              <a:t>2013</a:t>
            </a:r>
            <a:r>
              <a:rPr lang="zh-CN" altLang="en-US" b="1" dirty="0"/>
              <a:t>年，荣获</a:t>
            </a:r>
            <a:r>
              <a:rPr lang="en-US" altLang="zh-CN" b="1" dirty="0"/>
              <a:t>2013</a:t>
            </a:r>
            <a:r>
              <a:rPr lang="zh-CN" altLang="en-US" b="1" dirty="0"/>
              <a:t>年度中国品牌</a:t>
            </a:r>
            <a:r>
              <a:rPr lang="en-US" altLang="zh-CN" b="1" dirty="0"/>
              <a:t>500</a:t>
            </a:r>
            <a:r>
              <a:rPr lang="zh-CN" altLang="en-US" b="1" dirty="0" smtClean="0"/>
              <a:t>强。</a:t>
            </a:r>
            <a:endParaRPr lang="en-US" altLang="zh-CN" b="1" dirty="0" smtClean="0"/>
          </a:p>
          <a:p>
            <a:r>
              <a:rPr lang="en-US" altLang="zh-CN" b="1" dirty="0" smtClean="0"/>
              <a:t>2015</a:t>
            </a:r>
            <a:r>
              <a:rPr lang="zh-CN" altLang="en-US" b="1" dirty="0"/>
              <a:t>年，中兴通讯营业收入超过</a:t>
            </a:r>
            <a:r>
              <a:rPr lang="en-US" altLang="zh-CN" b="1" dirty="0"/>
              <a:t>1000</a:t>
            </a:r>
            <a:r>
              <a:rPr lang="zh-CN" altLang="en-US" b="1" dirty="0"/>
              <a:t>亿</a:t>
            </a:r>
            <a:r>
              <a:rPr lang="zh-CN" altLang="en-US" b="1" dirty="0" smtClean="0"/>
              <a:t>。</a:t>
            </a:r>
            <a:endParaRPr lang="en-US" altLang="zh-CN" b="1" dirty="0" smtClean="0"/>
          </a:p>
          <a:p>
            <a:r>
              <a:rPr lang="en-US" altLang="zh-CN" b="1" dirty="0" smtClean="0"/>
              <a:t>2016</a:t>
            </a:r>
            <a:r>
              <a:rPr lang="zh-CN" altLang="en-US" b="1" dirty="0"/>
              <a:t>年</a:t>
            </a:r>
            <a:r>
              <a:rPr lang="en-US" altLang="zh-CN" b="1" dirty="0"/>
              <a:t>8</a:t>
            </a:r>
            <a:r>
              <a:rPr lang="zh-CN" altLang="en-US" b="1" dirty="0"/>
              <a:t>月，中兴通讯在“</a:t>
            </a:r>
            <a:r>
              <a:rPr lang="en-US" altLang="zh-CN" b="1" dirty="0"/>
              <a:t>2016</a:t>
            </a:r>
            <a:r>
              <a:rPr lang="zh-CN" altLang="en-US" b="1" dirty="0"/>
              <a:t>中国企业</a:t>
            </a:r>
            <a:r>
              <a:rPr lang="en-US" altLang="zh-CN" b="1" dirty="0"/>
              <a:t>500</a:t>
            </a:r>
            <a:r>
              <a:rPr lang="zh-CN" altLang="en-US" b="1" dirty="0"/>
              <a:t>强”中排名第</a:t>
            </a:r>
            <a:r>
              <a:rPr lang="en-US" altLang="zh-CN" b="1" dirty="0"/>
              <a:t>150</a:t>
            </a:r>
            <a:r>
              <a:rPr lang="zh-CN" altLang="en-US" b="1" dirty="0"/>
              <a:t>位。</a:t>
            </a:r>
            <a:r>
              <a:rPr lang="en-US" altLang="zh-CN" b="1" dirty="0"/>
              <a:t>2017</a:t>
            </a:r>
            <a:r>
              <a:rPr lang="zh-CN" altLang="en-US" b="1" dirty="0"/>
              <a:t>年</a:t>
            </a:r>
            <a:r>
              <a:rPr lang="en-US" altLang="zh-CN" b="1" dirty="0"/>
              <a:t>11</a:t>
            </a:r>
            <a:r>
              <a:rPr lang="zh-CN" altLang="en-US" b="1" dirty="0"/>
              <a:t>月，在“</a:t>
            </a:r>
            <a:r>
              <a:rPr lang="en-US" altLang="zh-CN" b="1" dirty="0"/>
              <a:t>2017</a:t>
            </a:r>
            <a:r>
              <a:rPr lang="zh-CN" altLang="en-US" b="1" dirty="0"/>
              <a:t>年中国大陆创新企业百强榜单”中位列梯级</a:t>
            </a:r>
            <a:r>
              <a:rPr lang="en-US" altLang="zh-CN" b="1" dirty="0"/>
              <a:t>I</a:t>
            </a:r>
            <a:r>
              <a:rPr lang="zh-CN" altLang="en-US" b="1" dirty="0"/>
              <a:t>。</a:t>
            </a:r>
          </a:p>
          <a:p>
            <a:endParaRPr lang="zh-CN" altLang="en-US" dirty="0"/>
          </a:p>
          <a:p>
            <a:endParaRPr lang="zh-CN" altLang="en-US" dirty="0"/>
          </a:p>
        </p:txBody>
      </p:sp>
    </p:spTree>
    <p:extLst>
      <p:ext uri="{BB962C8B-B14F-4D97-AF65-F5344CB8AC3E}">
        <p14:creationId xmlns:p14="http://schemas.microsoft.com/office/powerpoint/2010/main" val="856409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305800" cy="811560"/>
          </a:xfrm>
        </p:spPr>
        <p:txBody>
          <a:bodyPr/>
          <a:lstStyle/>
          <a:p>
            <a:r>
              <a:rPr lang="en-US" altLang="zh-CN" b="1" dirty="0" smtClean="0"/>
              <a:t>2018</a:t>
            </a:r>
            <a:r>
              <a:rPr lang="zh-CN" altLang="en-US" b="1" dirty="0" smtClean="0"/>
              <a:t>：痛定思痛</a:t>
            </a:r>
            <a:endParaRPr lang="zh-CN" altLang="en-US" b="1" dirty="0"/>
          </a:p>
        </p:txBody>
      </p:sp>
      <p:sp>
        <p:nvSpPr>
          <p:cNvPr id="3" name="文本占位符 2"/>
          <p:cNvSpPr>
            <a:spLocks noGrp="1"/>
          </p:cNvSpPr>
          <p:nvPr>
            <p:ph type="body" idx="1"/>
          </p:nvPr>
        </p:nvSpPr>
        <p:spPr>
          <a:xfrm>
            <a:off x="395536" y="1124744"/>
            <a:ext cx="8305800" cy="4896544"/>
          </a:xfrm>
        </p:spPr>
        <p:txBody>
          <a:bodyPr/>
          <a:lstStyle/>
          <a:p>
            <a:r>
              <a:rPr lang="en-US" altLang="zh-CN" sz="2000" b="1" dirty="0"/>
              <a:t>4</a:t>
            </a:r>
            <a:r>
              <a:rPr lang="zh-CN" altLang="en-US" sz="2000" b="1" dirty="0"/>
              <a:t>月</a:t>
            </a:r>
            <a:r>
              <a:rPr lang="en-US" altLang="zh-CN" sz="2000" b="1" dirty="0"/>
              <a:t>16</a:t>
            </a:r>
            <a:r>
              <a:rPr lang="zh-CN" altLang="en-US" sz="2000" b="1" dirty="0"/>
              <a:t>日，美国商务部宣布，将禁止美国企业向中兴出售零部件，期限为</a:t>
            </a:r>
            <a:r>
              <a:rPr lang="en-US" altLang="zh-CN" sz="2000" b="1" dirty="0"/>
              <a:t>7</a:t>
            </a:r>
            <a:r>
              <a:rPr lang="zh-CN" altLang="en-US" sz="2000" b="1" dirty="0"/>
              <a:t>年，原因是中兴违反美国的制裁禁令。</a:t>
            </a:r>
          </a:p>
          <a:p>
            <a:r>
              <a:rPr lang="en-US" altLang="zh-CN" sz="2000" b="1" dirty="0"/>
              <a:t>4</a:t>
            </a:r>
            <a:r>
              <a:rPr lang="zh-CN" altLang="en-US" sz="2000" b="1" dirty="0"/>
              <a:t>月</a:t>
            </a:r>
            <a:r>
              <a:rPr lang="en-US" altLang="zh-CN" sz="2000" b="1" dirty="0"/>
              <a:t>17</a:t>
            </a:r>
            <a:r>
              <a:rPr lang="zh-CN" altLang="en-US" sz="2000" b="1" dirty="0"/>
              <a:t>日，中兴通讯在其官网发布声明称，中兴通讯已获悉美国商务部对公司激活拒绝令。公司正在全面评估此事件对公司可能产生的影响，与各方面积极沟通及应对，同时宣布股票停牌。</a:t>
            </a:r>
          </a:p>
          <a:p>
            <a:r>
              <a:rPr lang="en-US" altLang="zh-CN" sz="2000" b="1" dirty="0"/>
              <a:t>4</a:t>
            </a:r>
            <a:r>
              <a:rPr lang="zh-CN" altLang="en-US" sz="2000" b="1" dirty="0"/>
              <a:t>月</a:t>
            </a:r>
            <a:r>
              <a:rPr lang="en-US" altLang="zh-CN" sz="2000" b="1" dirty="0"/>
              <a:t>20</a:t>
            </a:r>
            <a:r>
              <a:rPr lang="zh-CN" altLang="en-US" sz="2000" b="1" dirty="0"/>
              <a:t>日，中兴在深圳总部针对被禁事件举行新闻发布会。中兴通讯董事长殷一民表示</a:t>
            </a:r>
            <a:r>
              <a:rPr lang="zh-CN" altLang="en-US" sz="2000" b="1" dirty="0" smtClean="0"/>
              <a:t>，“坚决</a:t>
            </a:r>
            <a:r>
              <a:rPr lang="zh-CN" altLang="en-US" sz="2000" b="1" dirty="0"/>
              <a:t>反对美国商务部做出这样的决定，坚决反对不公平、不合理的处罚，更反对把贸易问题政治化。美方将细微的问题无限扩大化，对企业造成极大影响，对此公司高度关注，公司将通过一切法律允许的手段来解决问题。殷一民表示，公司上下也在认真反思，接下来将加大研发投入，求人不如求己。有信心应对挑战。”</a:t>
            </a:r>
          </a:p>
          <a:p>
            <a:r>
              <a:rPr lang="zh-CN" altLang="en-US" sz="2000" b="1" dirty="0"/>
              <a:t>同日，中兴通讯在其官方网站发布声明，称美国商务部工业与安全局在相关调查尚未结束之前，执意对公司施以最严厉的制裁，对中兴通讯极不公平，中兴不能接受。</a:t>
            </a:r>
          </a:p>
          <a:p>
            <a:endParaRPr lang="zh-CN" altLang="en-US" dirty="0"/>
          </a:p>
        </p:txBody>
      </p:sp>
    </p:spTree>
    <p:extLst>
      <p:ext uri="{BB962C8B-B14F-4D97-AF65-F5344CB8AC3E}">
        <p14:creationId xmlns:p14="http://schemas.microsoft.com/office/powerpoint/2010/main" val="3035002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04664"/>
            <a:ext cx="8305800" cy="5386536"/>
          </a:xfrm>
        </p:spPr>
        <p:txBody>
          <a:bodyPr/>
          <a:lstStyle/>
          <a:p>
            <a:r>
              <a:rPr lang="en-US" altLang="zh-CN" b="1" dirty="0" smtClean="0"/>
              <a:t>5</a:t>
            </a:r>
            <a:r>
              <a:rPr lang="zh-CN" altLang="en-US" b="1" dirty="0"/>
              <a:t>月</a:t>
            </a:r>
            <a:r>
              <a:rPr lang="en-US" altLang="zh-CN" b="1" dirty="0"/>
              <a:t>13</a:t>
            </a:r>
            <a:r>
              <a:rPr lang="zh-CN" altLang="en-US" b="1" dirty="0"/>
              <a:t>日，特朗普发推文称：“习主席和我正在合作，将为中兴提供一种很快恢复业务的途径。（中兴事件造成）中国很多工作岗位丢失了。商务部已被指示去完成这件事。”</a:t>
            </a:r>
          </a:p>
          <a:p>
            <a:r>
              <a:rPr lang="en-US" altLang="zh-CN" b="1" dirty="0"/>
              <a:t>2018</a:t>
            </a:r>
            <a:r>
              <a:rPr lang="zh-CN" altLang="en-US" b="1" dirty="0"/>
              <a:t>年</a:t>
            </a:r>
            <a:r>
              <a:rPr lang="en-US" altLang="zh-CN" b="1" dirty="0"/>
              <a:t>6</a:t>
            </a:r>
            <a:r>
              <a:rPr lang="zh-CN" altLang="en-US" b="1" dirty="0"/>
              <a:t>月</a:t>
            </a:r>
            <a:r>
              <a:rPr lang="en-US" altLang="zh-CN" b="1" dirty="0"/>
              <a:t>7</a:t>
            </a:r>
            <a:r>
              <a:rPr lang="zh-CN" altLang="en-US" b="1" dirty="0"/>
              <a:t>日， 美国商务部与中兴公司达成新和解协议，中兴事件迎来了大结局，不过据美国商务部长罗斯（</a:t>
            </a:r>
            <a:r>
              <a:rPr lang="en-US" altLang="zh-CN" b="1" dirty="0"/>
              <a:t>Wilbur Ross</a:t>
            </a:r>
            <a:r>
              <a:rPr lang="zh-CN" altLang="en-US" b="1" dirty="0"/>
              <a:t>）透露，这份“最终协议”的内容包括，中兴通讯需要额外支付</a:t>
            </a:r>
            <a:r>
              <a:rPr lang="en-US" altLang="zh-CN" b="1" dirty="0"/>
              <a:t>10</a:t>
            </a:r>
            <a:r>
              <a:rPr lang="zh-CN" altLang="en-US" b="1" dirty="0"/>
              <a:t>亿美元罚款。至此，中兴通讯被美国商务部处罚的罚金总额已达到</a:t>
            </a:r>
            <a:r>
              <a:rPr lang="en-US" altLang="zh-CN" b="1" dirty="0"/>
              <a:t>22.9</a:t>
            </a:r>
            <a:r>
              <a:rPr lang="zh-CN" altLang="en-US" b="1" dirty="0"/>
              <a:t>亿美元。</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988" y="4000500"/>
            <a:ext cx="5143500"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4" y="4000500"/>
            <a:ext cx="3863794"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5044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98" y="301924"/>
            <a:ext cx="8748464" cy="6048671"/>
          </a:xfrm>
          <a:prstGeom prst="rect">
            <a:avLst/>
          </a:prstGeom>
        </p:spPr>
      </p:pic>
    </p:spTree>
    <p:extLst>
      <p:ext uri="{BB962C8B-B14F-4D97-AF65-F5344CB8AC3E}">
        <p14:creationId xmlns:p14="http://schemas.microsoft.com/office/powerpoint/2010/main" val="2047603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196752"/>
            <a:ext cx="8305800" cy="4752528"/>
          </a:xfrm>
        </p:spPr>
        <p:txBody>
          <a:bodyPr/>
          <a:lstStyle/>
          <a:p>
            <a:pPr>
              <a:buClr>
                <a:srgbClr val="C00000"/>
              </a:buClr>
              <a:buFont typeface="Wingdings" panose="05000000000000000000" pitchFamily="2" charset="2"/>
              <a:buChar char="Ø"/>
            </a:pPr>
            <a:r>
              <a:rPr lang="en-US" altLang="zh-CN" b="1" dirty="0" smtClean="0">
                <a:latin typeface="楷体_GB2312" panose="02010609030101010101" pitchFamily="49" charset="-122"/>
                <a:ea typeface="楷体_GB2312" panose="02010609030101010101" pitchFamily="49" charset="-122"/>
              </a:rPr>
              <a:t>2019</a:t>
            </a:r>
            <a:r>
              <a:rPr lang="zh-CN" altLang="en-US" b="1" dirty="0" smtClean="0">
                <a:latin typeface="楷体_GB2312" panose="02010609030101010101" pitchFamily="49" charset="-122"/>
                <a:ea typeface="楷体_GB2312" panose="02010609030101010101" pitchFamily="49" charset="-122"/>
              </a:rPr>
              <a:t>年</a:t>
            </a:r>
            <a:r>
              <a:rPr lang="en-US" altLang="zh-CN" b="1" dirty="0" smtClean="0">
                <a:latin typeface="楷体_GB2312" panose="02010609030101010101" pitchFamily="49" charset="-122"/>
                <a:ea typeface="楷体_GB2312" panose="02010609030101010101" pitchFamily="49" charset="-122"/>
              </a:rPr>
              <a:t>5</a:t>
            </a:r>
            <a:r>
              <a:rPr lang="zh-CN" altLang="en-US" b="1" dirty="0" smtClean="0">
                <a:latin typeface="楷体_GB2312" panose="02010609030101010101" pitchFamily="49" charset="-122"/>
                <a:ea typeface="楷体_GB2312" panose="02010609030101010101" pitchFamily="49" charset="-122"/>
              </a:rPr>
              <a:t>月</a:t>
            </a:r>
            <a:r>
              <a:rPr lang="en-US" altLang="zh-CN" b="1" dirty="0" smtClean="0">
                <a:latin typeface="楷体_GB2312" panose="02010609030101010101" pitchFamily="49" charset="-122"/>
                <a:ea typeface="楷体_GB2312" panose="02010609030101010101" pitchFamily="49" charset="-122"/>
              </a:rPr>
              <a:t>15</a:t>
            </a:r>
            <a:r>
              <a:rPr lang="zh-CN" altLang="en-US" b="1" dirty="0" smtClean="0">
                <a:latin typeface="楷体_GB2312" panose="02010609030101010101" pitchFamily="49" charset="-122"/>
                <a:ea typeface="楷体_GB2312" panose="02010609030101010101" pitchFamily="49" charset="-122"/>
              </a:rPr>
              <a:t>日，特朗普签发行政令，宣布国家紧急状况，授予美国政府机构禁止他国通信网络设备和服务的权力。</a:t>
            </a:r>
            <a:endParaRPr lang="en-US" altLang="zh-CN" b="1" dirty="0" smtClean="0">
              <a:latin typeface="楷体_GB2312" panose="02010609030101010101" pitchFamily="49" charset="-122"/>
              <a:ea typeface="楷体_GB2312" panose="02010609030101010101" pitchFamily="49" charset="-122"/>
            </a:endParaRPr>
          </a:p>
          <a:p>
            <a:pPr>
              <a:buClr>
                <a:srgbClr val="C00000"/>
              </a:buClr>
              <a:buFont typeface="Wingdings" panose="05000000000000000000" pitchFamily="2" charset="2"/>
              <a:buChar char="Ø"/>
            </a:pPr>
            <a:r>
              <a:rPr lang="zh-CN" altLang="en-US" b="1" dirty="0" smtClean="0">
                <a:latin typeface="楷体_GB2312" panose="02010609030101010101" pitchFamily="49" charset="-122"/>
                <a:ea typeface="楷体_GB2312" panose="02010609030101010101" pitchFamily="49" charset="-122"/>
              </a:rPr>
              <a:t>美国商务部随后发布公告，称华为公司参与了有违美国利益的行为，已将华为公司及其</a:t>
            </a:r>
            <a:r>
              <a:rPr lang="en-US" altLang="zh-CN" b="1" dirty="0" smtClean="0">
                <a:latin typeface="楷体_GB2312" panose="02010609030101010101" pitchFamily="49" charset="-122"/>
                <a:ea typeface="楷体_GB2312" panose="02010609030101010101" pitchFamily="49" charset="-122"/>
              </a:rPr>
              <a:t>70</a:t>
            </a:r>
            <a:r>
              <a:rPr lang="zh-CN" altLang="en-US" b="1" dirty="0" smtClean="0">
                <a:latin typeface="楷体_GB2312" panose="02010609030101010101" pitchFamily="49" charset="-122"/>
                <a:ea typeface="楷体_GB2312" panose="02010609030101010101" pitchFamily="49" charset="-122"/>
              </a:rPr>
              <a:t>家附属公司纳入实体清单。</a:t>
            </a:r>
            <a:endParaRPr lang="en-US" altLang="zh-CN" b="1" dirty="0" smtClean="0">
              <a:latin typeface="楷体_GB2312" panose="02010609030101010101" pitchFamily="49" charset="-122"/>
              <a:ea typeface="楷体_GB2312" panose="02010609030101010101" pitchFamily="49" charset="-122"/>
            </a:endParaRPr>
          </a:p>
          <a:p>
            <a:pPr>
              <a:buClr>
                <a:srgbClr val="C00000"/>
              </a:buClr>
              <a:buFont typeface="Wingdings" panose="05000000000000000000" pitchFamily="2" charset="2"/>
              <a:buChar char="Ø"/>
            </a:pPr>
            <a:r>
              <a:rPr lang="zh-CN" altLang="en-US" b="1" dirty="0">
                <a:latin typeface="楷体_GB2312" panose="02010609030101010101" pitchFamily="49" charset="-122"/>
                <a:ea typeface="楷体_GB2312" panose="02010609030101010101" pitchFamily="49" charset="-122"/>
              </a:rPr>
              <a:t>这</a:t>
            </a:r>
            <a:r>
              <a:rPr lang="zh-CN" altLang="en-US" b="1" dirty="0" smtClean="0">
                <a:latin typeface="楷体_GB2312" panose="02010609030101010101" pitchFamily="49" charset="-122"/>
                <a:ea typeface="楷体_GB2312" panose="02010609030101010101" pitchFamily="49" charset="-122"/>
              </a:rPr>
              <a:t>意味着：没有产业安全局（</a:t>
            </a:r>
            <a:r>
              <a:rPr lang="en-US" altLang="zh-CN" b="1" dirty="0" smtClean="0">
                <a:latin typeface="楷体_GB2312" panose="02010609030101010101" pitchFamily="49" charset="-122"/>
                <a:ea typeface="楷体_GB2312" panose="02010609030101010101" pitchFamily="49" charset="-122"/>
              </a:rPr>
              <a:t>BIS</a:t>
            </a:r>
            <a:r>
              <a:rPr lang="zh-CN" altLang="en-US" b="1" dirty="0" smtClean="0">
                <a:latin typeface="楷体_GB2312" panose="02010609030101010101" pitchFamily="49" charset="-122"/>
                <a:ea typeface="楷体_GB2312" panose="02010609030101010101" pitchFamily="49" charset="-122"/>
              </a:rPr>
              <a:t>）的许可，美国企业不得给清单中实体供货（产品</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技术转移），有损美国国家安全或外交利益的情况下，美国将拒绝办法出口许可证。</a:t>
            </a:r>
            <a:endParaRPr lang="en-US" altLang="zh-CN" b="1" dirty="0" smtClean="0">
              <a:latin typeface="楷体_GB2312" panose="02010609030101010101" pitchFamily="49" charset="-122"/>
              <a:ea typeface="楷体_GB2312" panose="02010609030101010101" pitchFamily="49" charset="-122"/>
            </a:endParaRPr>
          </a:p>
          <a:p>
            <a:pPr>
              <a:buClr>
                <a:srgbClr val="C00000"/>
              </a:buClr>
              <a:buFont typeface="Wingdings" panose="05000000000000000000" pitchFamily="2" charset="2"/>
              <a:buChar char="Ø"/>
            </a:pPr>
            <a:r>
              <a:rPr lang="zh-CN" altLang="en-US" b="1" dirty="0">
                <a:latin typeface="楷体_GB2312" panose="02010609030101010101" pitchFamily="49" charset="-122"/>
                <a:ea typeface="楷体_GB2312" panose="02010609030101010101" pitchFamily="49" charset="-122"/>
              </a:rPr>
              <a:t>谷</a:t>
            </a:r>
            <a:r>
              <a:rPr lang="zh-CN" altLang="en-US" b="1" dirty="0" smtClean="0">
                <a:latin typeface="楷体_GB2312" panose="02010609030101010101" pitchFamily="49" charset="-122"/>
                <a:ea typeface="楷体_GB2312" panose="02010609030101010101" pitchFamily="49" charset="-122"/>
              </a:rPr>
              <a:t>歌、高通、美光等科技巨头开始暂停对华为供货，从芯片到蓝牙，华为产业链面临极限施压。</a:t>
            </a:r>
            <a:endParaRPr lang="zh-CN" altLang="en-US" b="1" dirty="0">
              <a:latin typeface="楷体_GB2312" panose="02010609030101010101" pitchFamily="49" charset="-122"/>
              <a:ea typeface="楷体_GB2312" panose="02010609030101010101" pitchFamily="49" charset="-122"/>
            </a:endParaRPr>
          </a:p>
        </p:txBody>
      </p:sp>
      <p:sp>
        <p:nvSpPr>
          <p:cNvPr id="4" name="标题 1"/>
          <p:cNvSpPr txBox="1">
            <a:spLocks/>
          </p:cNvSpPr>
          <p:nvPr/>
        </p:nvSpPr>
        <p:spPr bwMode="auto">
          <a:xfrm>
            <a:off x="323528" y="116632"/>
            <a:ext cx="8305800" cy="100811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2800" b="1" kern="0" dirty="0" smtClean="0">
                <a:latin typeface="黑体" pitchFamily="49" charset="-122"/>
                <a:ea typeface="黑体" pitchFamily="49" charset="-122"/>
              </a:rPr>
              <a:t>创新是未来竞争力的不竭源泉</a:t>
            </a:r>
            <a:r>
              <a:rPr lang="en-US" altLang="zh-CN" sz="2800" b="1" kern="0" dirty="0" smtClean="0">
                <a:latin typeface="黑体" pitchFamily="49" charset="-122"/>
                <a:ea typeface="黑体" pitchFamily="49" charset="-122"/>
              </a:rPr>
              <a:t>——</a:t>
            </a:r>
            <a:r>
              <a:rPr lang="zh-CN" altLang="en-US" sz="2800" b="1" kern="0" dirty="0" smtClean="0">
                <a:latin typeface="黑体" pitchFamily="49" charset="-122"/>
                <a:ea typeface="黑体" pitchFamily="49" charset="-122"/>
              </a:rPr>
              <a:t>华为的极限生存</a:t>
            </a:r>
            <a:endParaRPr lang="zh-CN" altLang="en-US" sz="2800" b="1" kern="0" dirty="0">
              <a:latin typeface="黑体" pitchFamily="49" charset="-122"/>
              <a:ea typeface="黑体"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4830108"/>
            <a:ext cx="5095875" cy="2059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971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792088"/>
          </a:xfrm>
        </p:spPr>
        <p:txBody>
          <a:bodyPr/>
          <a:lstStyle/>
          <a:p>
            <a:r>
              <a:rPr lang="zh-CN" altLang="en-US" b="1" dirty="0"/>
              <a:t>不再有换胎机会，必当科技自立</a:t>
            </a:r>
            <a:r>
              <a:rPr lang="zh-CN" altLang="en-US" b="1" dirty="0" smtClean="0"/>
              <a:t>！</a:t>
            </a:r>
            <a:endParaRPr lang="zh-CN" alt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196752"/>
            <a:ext cx="4591050" cy="563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114" y="1052736"/>
            <a:ext cx="4415486"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114" y="3140968"/>
            <a:ext cx="4391024" cy="1800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114" y="5085273"/>
            <a:ext cx="4391024" cy="1678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07998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332656"/>
            <a:ext cx="8305800" cy="4114800"/>
          </a:xfrm>
        </p:spPr>
        <p:txBody>
          <a:bodyPr/>
          <a:lstStyle/>
          <a:p>
            <a:r>
              <a:rPr lang="zh-CN" altLang="en-US" sz="1600" dirty="0">
                <a:latin typeface="楷体_GB2312" panose="02010609030101010101" pitchFamily="49" charset="-122"/>
                <a:ea typeface="楷体_GB2312" panose="02010609030101010101" pitchFamily="49" charset="-122"/>
              </a:rPr>
              <a:t>我们研究已经不需要</a:t>
            </a:r>
            <a:r>
              <a:rPr lang="en-US" altLang="zh-CN" sz="1600" dirty="0">
                <a:latin typeface="楷体_GB2312" panose="02010609030101010101" pitchFamily="49" charset="-122"/>
                <a:ea typeface="楷体_GB2312" panose="02010609030101010101" pitchFamily="49" charset="-122"/>
              </a:rPr>
              <a:t>90</a:t>
            </a:r>
            <a:r>
              <a:rPr lang="zh-CN" altLang="en-US" sz="1600" dirty="0">
                <a:latin typeface="楷体_GB2312" panose="02010609030101010101" pitchFamily="49" charset="-122"/>
                <a:ea typeface="楷体_GB2312" panose="02010609030101010101" pitchFamily="49" charset="-122"/>
              </a:rPr>
              <a:t>天</a:t>
            </a:r>
            <a:r>
              <a:rPr lang="zh-CN" altLang="en-US" sz="1600" dirty="0" smtClean="0">
                <a:latin typeface="楷体_GB2312" panose="02010609030101010101" pitchFamily="49" charset="-122"/>
                <a:ea typeface="楷体_GB2312" panose="02010609030101010101" pitchFamily="49" charset="-122"/>
              </a:rPr>
              <a:t>。我</a:t>
            </a:r>
            <a:r>
              <a:rPr lang="zh-CN" altLang="en-US" sz="1600" dirty="0">
                <a:latin typeface="楷体_GB2312" panose="02010609030101010101" pitchFamily="49" charset="-122"/>
                <a:ea typeface="楷体_GB2312" panose="02010609030101010101" pitchFamily="49" charset="-122"/>
              </a:rPr>
              <a:t>非常</a:t>
            </a:r>
            <a:r>
              <a:rPr lang="zh-CN" altLang="en-US" sz="1600" b="1" dirty="0">
                <a:latin typeface="楷体_GB2312" panose="02010609030101010101" pitchFamily="49" charset="-122"/>
                <a:ea typeface="楷体_GB2312" panose="02010609030101010101" pitchFamily="49" charset="-122"/>
              </a:rPr>
              <a:t>感谢美国公司</a:t>
            </a:r>
            <a:r>
              <a:rPr lang="zh-CN" altLang="en-US" sz="1600" dirty="0">
                <a:latin typeface="楷体_GB2312" panose="02010609030101010101" pitchFamily="49" charset="-122"/>
                <a:ea typeface="楷体_GB2312" panose="02010609030101010101" pitchFamily="49" charset="-122"/>
              </a:rPr>
              <a:t>，这三十年来，美国公司伴随着我们公司的成长。教会了我们怎么去走路，大家知道我们绝大多数服务的公司都是美国的公司。第二，美国大量的零部件、器件厂家，给我们很大的支持。特别是在今天危机时代，真的体现了美国企业的良心</a:t>
            </a:r>
            <a:r>
              <a:rPr lang="zh-CN" altLang="en-US" sz="1600" dirty="0" smtClean="0">
                <a:latin typeface="楷体_GB2312" panose="02010609030101010101" pitchFamily="49" charset="-122"/>
                <a:ea typeface="楷体_GB2312" panose="02010609030101010101" pitchFamily="49" charset="-122"/>
              </a:rPr>
              <a:t>。</a:t>
            </a:r>
            <a:endParaRPr lang="en-US" altLang="zh-CN" sz="1600" dirty="0" smtClean="0">
              <a:latin typeface="楷体_GB2312" panose="02010609030101010101" pitchFamily="49" charset="-122"/>
              <a:ea typeface="楷体_GB2312" panose="02010609030101010101" pitchFamily="49" charset="-122"/>
            </a:endParaRPr>
          </a:p>
          <a:p>
            <a:r>
              <a:rPr lang="zh-CN" altLang="en-US" sz="1600" dirty="0" smtClean="0">
                <a:latin typeface="楷体_GB2312" panose="02010609030101010101" pitchFamily="49" charset="-122"/>
                <a:ea typeface="楷体_GB2312" panose="02010609030101010101" pitchFamily="49" charset="-122"/>
              </a:rPr>
              <a:t>美国</a:t>
            </a:r>
            <a:r>
              <a:rPr lang="zh-CN" altLang="en-US" sz="1600" dirty="0">
                <a:latin typeface="楷体_GB2312" panose="02010609030101010101" pitchFamily="49" charset="-122"/>
                <a:ea typeface="楷体_GB2312" panose="02010609030101010101" pitchFamily="49" charset="-122"/>
              </a:rPr>
              <a:t>这些政客们可能低估了我们的能量，我也不多说了</a:t>
            </a:r>
            <a:r>
              <a:rPr lang="en-US" altLang="zh-CN" sz="1600" dirty="0">
                <a:latin typeface="楷体_GB2312" panose="02010609030101010101" pitchFamily="49" charset="-122"/>
                <a:ea typeface="楷体_GB2312" panose="02010609030101010101" pitchFamily="49" charset="-122"/>
              </a:rPr>
              <a:t>……</a:t>
            </a:r>
            <a:r>
              <a:rPr lang="zh-CN" altLang="en-US" sz="1600" dirty="0">
                <a:latin typeface="楷体_GB2312" panose="02010609030101010101" pitchFamily="49" charset="-122"/>
                <a:ea typeface="楷体_GB2312" panose="02010609030101010101" pitchFamily="49" charset="-122"/>
              </a:rPr>
              <a:t>在最先进的领域，至少</a:t>
            </a:r>
            <a:r>
              <a:rPr lang="en-US" altLang="zh-CN" sz="1600" dirty="0">
                <a:latin typeface="楷体_GB2312" panose="02010609030101010101" pitchFamily="49" charset="-122"/>
                <a:ea typeface="楷体_GB2312" panose="02010609030101010101" pitchFamily="49" charset="-122"/>
              </a:rPr>
              <a:t>5G</a:t>
            </a:r>
            <a:r>
              <a:rPr lang="zh-CN" altLang="en-US" sz="1600" dirty="0">
                <a:latin typeface="楷体_GB2312" panose="02010609030101010101" pitchFamily="49" charset="-122"/>
                <a:ea typeface="楷体_GB2312" panose="02010609030101010101" pitchFamily="49" charset="-122"/>
              </a:rPr>
              <a:t>是绝对不能影响，而且不仅不影响，别人两三年追不上我。我们还是具有优势的，但是这个时候</a:t>
            </a:r>
            <a:r>
              <a:rPr lang="zh-CN" altLang="en-US" sz="1600" b="1" dirty="0">
                <a:latin typeface="楷体_GB2312" panose="02010609030101010101" pitchFamily="49" charset="-122"/>
                <a:ea typeface="楷体_GB2312" panose="02010609030101010101" pitchFamily="49" charset="-122"/>
              </a:rPr>
              <a:t>我们要谦虚一点</a:t>
            </a:r>
            <a:r>
              <a:rPr lang="zh-CN" altLang="en-US" sz="1600" dirty="0" smtClean="0">
                <a:latin typeface="楷体_GB2312" panose="02010609030101010101" pitchFamily="49" charset="-122"/>
                <a:ea typeface="楷体_GB2312" panose="02010609030101010101" pitchFamily="49" charset="-122"/>
              </a:rPr>
              <a:t>。</a:t>
            </a:r>
            <a:endParaRPr lang="en-US" altLang="zh-CN" sz="1600" dirty="0" smtClean="0">
              <a:latin typeface="楷体_GB2312" panose="02010609030101010101" pitchFamily="49" charset="-122"/>
              <a:ea typeface="楷体_GB2312" panose="02010609030101010101" pitchFamily="49" charset="-122"/>
            </a:endParaRPr>
          </a:p>
          <a:p>
            <a:r>
              <a:rPr lang="zh-CN" altLang="en-US" sz="1600" dirty="0">
                <a:latin typeface="楷体_GB2312" panose="02010609030101010101" pitchFamily="49" charset="-122"/>
                <a:ea typeface="楷体_GB2312" panose="02010609030101010101" pitchFamily="49" charset="-122"/>
              </a:rPr>
              <a:t>我们永远需要美国芯片，审批完了以后，我们还是要购买它，卖给它，我们不光是买它的，也可能会卖给它，会使它更先进，因此</a:t>
            </a:r>
            <a:r>
              <a:rPr lang="zh-CN" altLang="en-US" sz="1600" b="1" dirty="0">
                <a:latin typeface="楷体_GB2312" panose="02010609030101010101" pitchFamily="49" charset="-122"/>
                <a:ea typeface="楷体_GB2312" panose="02010609030101010101" pitchFamily="49" charset="-122"/>
              </a:rPr>
              <a:t>我们不会去排斥美国</a:t>
            </a:r>
            <a:r>
              <a:rPr lang="zh-CN" altLang="en-US" sz="1600" dirty="0">
                <a:latin typeface="楷体_GB2312" panose="02010609030101010101" pitchFamily="49" charset="-122"/>
                <a:ea typeface="楷体_GB2312" panose="02010609030101010101" pitchFamily="49" charset="-122"/>
              </a:rPr>
              <a:t>，这是狭隘的，我们还是要共同成长</a:t>
            </a:r>
            <a:r>
              <a:rPr lang="zh-CN" altLang="en-US" sz="1600" dirty="0" smtClean="0">
                <a:latin typeface="楷体_GB2312" panose="02010609030101010101" pitchFamily="49" charset="-122"/>
                <a:ea typeface="楷体_GB2312" panose="02010609030101010101" pitchFamily="49" charset="-122"/>
              </a:rPr>
              <a:t>。</a:t>
            </a:r>
            <a:endParaRPr lang="en-US" altLang="zh-CN" sz="1600" dirty="0" smtClean="0">
              <a:latin typeface="楷体_GB2312" panose="02010609030101010101" pitchFamily="49" charset="-122"/>
              <a:ea typeface="楷体_GB2312" panose="02010609030101010101" pitchFamily="49" charset="-122"/>
            </a:endParaRPr>
          </a:p>
          <a:p>
            <a:r>
              <a:rPr lang="zh-CN" altLang="en-US" sz="1600" b="1" dirty="0">
                <a:latin typeface="楷体_GB2312" panose="02010609030101010101" pitchFamily="49" charset="-122"/>
                <a:ea typeface="楷体_GB2312" panose="02010609030101010101" pitchFamily="49" charset="-122"/>
              </a:rPr>
              <a:t>我关心教育不是关心华为，是关心我们国家。</a:t>
            </a:r>
            <a:r>
              <a:rPr lang="zh-CN" altLang="en-US" sz="1600" dirty="0">
                <a:latin typeface="楷体_GB2312" panose="02010609030101010101" pitchFamily="49" charset="-122"/>
                <a:ea typeface="楷体_GB2312" panose="02010609030101010101" pitchFamily="49" charset="-122"/>
              </a:rPr>
              <a:t>如果不重视教育，实际上我们会重返贫穷的。因为这个社会最终要走向人工智能的，因为你可以参观一下我们的生产线，</a:t>
            </a:r>
            <a:r>
              <a:rPr lang="en-US" altLang="zh-CN" sz="1600" dirty="0">
                <a:latin typeface="楷体_GB2312" panose="02010609030101010101" pitchFamily="49" charset="-122"/>
                <a:ea typeface="楷体_GB2312" panose="02010609030101010101" pitchFamily="49" charset="-122"/>
              </a:rPr>
              <a:t>20</a:t>
            </a:r>
            <a:r>
              <a:rPr lang="zh-CN" altLang="en-US" sz="1600" dirty="0">
                <a:latin typeface="楷体_GB2312" panose="02010609030101010101" pitchFamily="49" charset="-122"/>
                <a:ea typeface="楷体_GB2312" panose="02010609030101010101" pitchFamily="49" charset="-122"/>
              </a:rPr>
              <a:t>秒钟一部手机从无到有，基本上没有什么人。未来我们几百条上千条的生产线完全是自动化的，所以我们的人的文化素质不够，至少你没受过大专或者大学以上的教育，你的英文也不好，计算机也不好，做工人的机会都不存在。从我们公司的缩影就要看到国家，放大来看国家，国家也要走向这一步，否则国家是没有竞争力的</a:t>
            </a:r>
            <a:r>
              <a:rPr lang="zh-CN" altLang="en-US" sz="1600" dirty="0" smtClean="0">
                <a:latin typeface="楷体_GB2312" panose="02010609030101010101" pitchFamily="49" charset="-122"/>
                <a:ea typeface="楷体_GB2312" panose="02010609030101010101" pitchFamily="49" charset="-122"/>
              </a:rPr>
              <a:t>。</a:t>
            </a:r>
            <a:endParaRPr lang="en-US" altLang="zh-CN" sz="1600" dirty="0" smtClean="0">
              <a:latin typeface="楷体_GB2312" panose="02010609030101010101" pitchFamily="49" charset="-122"/>
              <a:ea typeface="楷体_GB2312" panose="02010609030101010101"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4581226"/>
            <a:ext cx="3275856" cy="2076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占位符 2"/>
          <p:cNvSpPr txBox="1">
            <a:spLocks/>
          </p:cNvSpPr>
          <p:nvPr/>
        </p:nvSpPr>
        <p:spPr bwMode="auto">
          <a:xfrm>
            <a:off x="395536" y="4581128"/>
            <a:ext cx="53285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sz="1600" kern="0" dirty="0" smtClean="0">
                <a:latin typeface="楷体_GB2312" panose="02010609030101010101" pitchFamily="49" charset="-122"/>
                <a:ea typeface="楷体_GB2312" panose="02010609030101010101" pitchFamily="49" charset="-122"/>
              </a:rPr>
              <a:t>我们从来没觉得我们会死亡，我们已经做了两万枚金牌奖章，上面题词是</a:t>
            </a:r>
            <a:r>
              <a:rPr lang="zh-CN" altLang="en-US" sz="1600" b="1" kern="0" dirty="0" smtClean="0">
                <a:latin typeface="楷体_GB2312" panose="02010609030101010101" pitchFamily="49" charset="-122"/>
                <a:ea typeface="楷体_GB2312" panose="02010609030101010101" pitchFamily="49" charset="-122"/>
              </a:rPr>
              <a:t>不死的华为</a:t>
            </a:r>
            <a:r>
              <a:rPr lang="zh-CN" altLang="en-US" sz="1600" kern="0" dirty="0" smtClean="0">
                <a:latin typeface="楷体_GB2312" panose="02010609030101010101" pitchFamily="49" charset="-122"/>
                <a:ea typeface="楷体_GB2312" panose="02010609030101010101" pitchFamily="49" charset="-122"/>
              </a:rPr>
              <a:t>。我们根本不认为我们会死，我们为什么把死看得那么重，所以我们认为我们梳理一下我们存在的问题，哪些问题去掉，哪些问题加强，</a:t>
            </a:r>
            <a:r>
              <a:rPr lang="zh-CN" altLang="en-US" sz="1600" b="1" kern="0" dirty="0" smtClean="0">
                <a:latin typeface="楷体_GB2312" panose="02010609030101010101" pitchFamily="49" charset="-122"/>
                <a:ea typeface="楷体_GB2312" panose="02010609030101010101" pitchFamily="49" charset="-122"/>
              </a:rPr>
              <a:t>胜利一定是属于我们的</a:t>
            </a:r>
            <a:r>
              <a:rPr lang="zh-CN" altLang="en-US" sz="1600" kern="0" dirty="0" smtClean="0">
                <a:latin typeface="楷体_GB2312" panose="02010609030101010101" pitchFamily="49" charset="-122"/>
                <a:ea typeface="楷体_GB2312" panose="02010609030101010101" pitchFamily="49" charset="-122"/>
              </a:rPr>
              <a:t>。</a:t>
            </a:r>
            <a:endParaRPr lang="en-US" altLang="zh-CN" sz="1600" kern="0" dirty="0" smtClean="0">
              <a:latin typeface="楷体_GB2312" panose="02010609030101010101" pitchFamily="49" charset="-122"/>
              <a:ea typeface="楷体_GB2312" panose="02010609030101010101" pitchFamily="49" charset="-122"/>
            </a:endParaRPr>
          </a:p>
          <a:p>
            <a:r>
              <a:rPr lang="zh-CN" altLang="en-US" sz="1600" b="1" kern="0" dirty="0" smtClean="0">
                <a:latin typeface="楷体_GB2312" panose="02010609030101010101" pitchFamily="49" charset="-122"/>
                <a:ea typeface="楷体_GB2312" panose="02010609030101010101" pitchFamily="49" charset="-122"/>
              </a:rPr>
              <a:t>推荐：任正非访谈实录</a:t>
            </a:r>
            <a:endParaRPr lang="zh-CN" altLang="en-US" sz="1600" b="1" kern="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4101698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916832"/>
            <a:ext cx="7848872" cy="1143000"/>
          </a:xfrm>
        </p:spPr>
        <p:txBody>
          <a:bodyPr/>
          <a:lstStyle/>
          <a:p>
            <a:r>
              <a:rPr lang="zh-CN" altLang="en-US" sz="3600" b="1" dirty="0" smtClean="0">
                <a:latin typeface="仿宋_GB2312" pitchFamily="49" charset="-122"/>
                <a:ea typeface="仿宋_GB2312" pitchFamily="49" charset="-122"/>
              </a:rPr>
              <a:t>思考题：请谈谈您对万众创新的认识？</a:t>
            </a:r>
            <a:endParaRPr lang="zh-CN" altLang="en-US" sz="3600" b="1" dirty="0">
              <a:latin typeface="仿宋_GB2312" pitchFamily="49" charset="-122"/>
              <a:ea typeface="仿宋_GB2312" pitchFamily="49" charset="-122"/>
            </a:endParaRPr>
          </a:p>
        </p:txBody>
      </p:sp>
      <p:sp>
        <p:nvSpPr>
          <p:cNvPr id="4" name="矩形 3"/>
          <p:cNvSpPr/>
          <p:nvPr/>
        </p:nvSpPr>
        <p:spPr>
          <a:xfrm>
            <a:off x="3131840" y="3501008"/>
            <a:ext cx="3892412" cy="156966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9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谢谢！</a:t>
            </a:r>
            <a:endParaRPr lang="zh-CN" altLang="en-US" sz="9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2644099866"/>
      </p:ext>
    </p:extLst>
  </p:cSld>
  <p:clrMapOvr>
    <a:masterClrMapping/>
  </p:clrMapOvr>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봄IIB"/>
        <a:ea typeface="-봄IIB"/>
        <a:cs typeface=""/>
      </a:majorFont>
      <a:minorFont>
        <a:latin typeface="-봄IIM"/>
        <a:ea typeface="-봄I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PPT助手_模板_756</Template>
  <TotalTime>886</TotalTime>
  <Words>4605</Words>
  <Application>Microsoft Office PowerPoint</Application>
  <PresentationFormat>全屏显示(4:3)</PresentationFormat>
  <Paragraphs>252</Paragraphs>
  <Slides>44</Slides>
  <Notes>0</Notes>
  <HiddenSlides>0</HiddenSlides>
  <MMClips>0</MMClips>
  <ScaleCrop>false</ScaleCrop>
  <HeadingPairs>
    <vt:vector size="4" baseType="variant">
      <vt:variant>
        <vt:lpstr>主题</vt:lpstr>
      </vt:variant>
      <vt:variant>
        <vt:i4>1</vt:i4>
      </vt:variant>
      <vt:variant>
        <vt:lpstr>幻灯片标题</vt:lpstr>
      </vt:variant>
      <vt:variant>
        <vt:i4>44</vt:i4>
      </vt:variant>
    </vt:vector>
  </HeadingPairs>
  <TitlesOfParts>
    <vt:vector size="45" baseType="lpstr">
      <vt:lpstr>기본 디자인</vt:lpstr>
      <vt:lpstr>创新经济学</vt:lpstr>
      <vt:lpstr>第一章 创新的概念</vt:lpstr>
      <vt:lpstr>一、经济思想史中的创新理论</vt:lpstr>
      <vt:lpstr>一、经济思想史中的创新理论</vt:lpstr>
      <vt:lpstr>案例：QWERTY键盘</vt:lpstr>
      <vt:lpstr>案例：QWERTY键盘</vt:lpstr>
      <vt:lpstr>案例：QWERTY键盘</vt:lpstr>
      <vt:lpstr>一、经济思想史中的创新理论</vt:lpstr>
      <vt:lpstr>导入案例：微软—伟大的创新企业</vt:lpstr>
      <vt:lpstr>（2）成功开发MS-DOS系统</vt:lpstr>
      <vt:lpstr>（3）成功开发Office软件系统</vt:lpstr>
      <vt:lpstr>（4）成功开发Windows系统</vt:lpstr>
      <vt:lpstr>（5）成功推出IE浏览器</vt:lpstr>
      <vt:lpstr>（6）被政府打压</vt:lpstr>
      <vt:lpstr>（7）史蒂夫·鲍尔默接任CEO</vt:lpstr>
      <vt:lpstr>PowerPoint 演示文稿</vt:lpstr>
      <vt:lpstr>PowerPoint 演示文稿</vt:lpstr>
      <vt:lpstr>PowerPoint 演示文稿</vt:lpstr>
      <vt:lpstr>PowerPoint 演示文稿</vt:lpstr>
      <vt:lpstr>二、创新的概念</vt:lpstr>
      <vt:lpstr>PowerPoint 演示文稿</vt:lpstr>
      <vt:lpstr>（2）艰难起步</vt:lpstr>
      <vt:lpstr>（3）科技创新</vt:lpstr>
      <vt:lpstr>（3）科技创新</vt:lpstr>
      <vt:lpstr>（3）科技创新</vt:lpstr>
      <vt:lpstr>（3）科技创新</vt:lpstr>
      <vt:lpstr>（4）吉利的辉煌</vt:lpstr>
      <vt:lpstr>对比：夏利的窘境</vt:lpstr>
      <vt:lpstr>问题的回顾：</vt:lpstr>
      <vt:lpstr>三、创新对我国经济发展的作用和意义</vt:lpstr>
      <vt:lpstr>创新是经济社会发展主要驱动力量</vt:lpstr>
      <vt:lpstr>PowerPoint 演示文稿</vt:lpstr>
      <vt:lpstr>创新是中华民族实现伟大复兴的必然路径</vt:lpstr>
      <vt:lpstr>PowerPoint 演示文稿</vt:lpstr>
      <vt:lpstr>PowerPoint 演示文稿</vt:lpstr>
      <vt:lpstr>PowerPoint 演示文稿</vt:lpstr>
      <vt:lpstr>PowerPoint 演示文稿</vt:lpstr>
      <vt:lpstr>2018：痛定思痛</vt:lpstr>
      <vt:lpstr>PowerPoint 演示文稿</vt:lpstr>
      <vt:lpstr>PowerPoint 演示文稿</vt:lpstr>
      <vt:lpstr>PowerPoint 演示文稿</vt:lpstr>
      <vt:lpstr>不再有换胎机会，必当科技自立！</vt:lpstr>
      <vt:lpstr>PowerPoint 演示文稿</vt:lpstr>
      <vt:lpstr>思考题：请谈谈您对万众创新的认识？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创新经济学</dc:title>
  <dc:creator>zc</dc:creator>
  <cp:lastModifiedBy>zc</cp:lastModifiedBy>
  <cp:revision>122</cp:revision>
  <dcterms:created xsi:type="dcterms:W3CDTF">2016-08-24T00:56:32Z</dcterms:created>
  <dcterms:modified xsi:type="dcterms:W3CDTF">2019-09-03T07:52:24Z</dcterms:modified>
</cp:coreProperties>
</file>