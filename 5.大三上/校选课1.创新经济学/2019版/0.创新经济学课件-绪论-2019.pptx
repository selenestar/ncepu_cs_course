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8" r:id="rId3"/>
    <p:sldId id="257" r:id="rId4"/>
    <p:sldId id="324" r:id="rId5"/>
    <p:sldId id="325" r:id="rId6"/>
    <p:sldId id="323" r:id="rId7"/>
    <p:sldId id="326" r:id="rId8"/>
    <p:sldId id="327" r:id="rId9"/>
    <p:sldId id="329" r:id="rId10"/>
    <p:sldId id="330" r:id="rId11"/>
    <p:sldId id="331" r:id="rId12"/>
    <p:sldId id="333" r:id="rId13"/>
    <p:sldId id="334" r:id="rId14"/>
    <p:sldId id="335" r:id="rId15"/>
    <p:sldId id="336" r:id="rId16"/>
    <p:sldId id="332" r:id="rId17"/>
    <p:sldId id="342" r:id="rId18"/>
    <p:sldId id="340" r:id="rId19"/>
    <p:sldId id="337" r:id="rId20"/>
    <p:sldId id="306" r:id="rId21"/>
    <p:sldId id="307" r:id="rId22"/>
    <p:sldId id="341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E4265-6E92-4C77-B69C-DB9302A515BA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3F285-1635-4301-95F1-6ACCA906C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763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EE589-DDF6-4A7C-9EFC-C66DFCD4DCC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FFB66-EBF6-4C90-92E6-1213CF9D79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04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3FFB66-EBF6-4C90-92E6-1213CF9D798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983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3FFB66-EBF6-4C90-92E6-1213CF9D798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520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3FFB66-EBF6-4C90-92E6-1213CF9D798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06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38" descr="배경화면6 copy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0" y="3352800"/>
            <a:ext cx="7315200" cy="1219200"/>
          </a:xfrm>
        </p:spPr>
        <p:txBody>
          <a:bodyPr/>
          <a:lstStyle>
            <a:lvl1pPr algn="r">
              <a:defRPr sz="60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ko-KR" altLang="en-US" noProof="0" smtClean="0"/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588" y="4654550"/>
            <a:ext cx="7315200" cy="755650"/>
          </a:xfrm>
        </p:spPr>
        <p:txBody>
          <a:bodyPr/>
          <a:lstStyle>
            <a:lvl1pPr marL="0" indent="0" algn="r">
              <a:spcBef>
                <a:spcPct val="50000"/>
              </a:spcBef>
              <a:buFontTx/>
              <a:buNone/>
              <a:defRPr sz="3600" b="1">
                <a:solidFill>
                  <a:srgbClr val="660033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ko-KR" altLang="en-US" noProof="0" smtClean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28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4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7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2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44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5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86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25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7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9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533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533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637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18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배경화면6(셋트2) copy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4572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05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1">
              <a:defRPr sz="1400">
                <a:solidFill>
                  <a:srgbClr val="660033"/>
                </a:solidFill>
                <a:latin typeface="+mn-lt"/>
                <a:ea typeface="+mn-ea"/>
              </a:defRPr>
            </a:lvl1pPr>
          </a:lstStyle>
          <a:p>
            <a:fld id="{530820CF-B880-4189-942D-D702A7CBA730}" type="datetimeFigureOut">
              <a:rPr lang="zh-CN" altLang="en-US" smtClean="0"/>
              <a:t>2019/8/26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1">
              <a:defRPr sz="1400">
                <a:solidFill>
                  <a:srgbClr val="660033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1">
              <a:defRPr sz="1400">
                <a:solidFill>
                  <a:srgbClr val="660033"/>
                </a:solidFill>
                <a:latin typeface="+mn-lt"/>
                <a:ea typeface="+mn-ea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rgbClr val="333399"/>
          </a:solidFill>
          <a:latin typeface="-봄IIB" pitchFamily="18" charset="-127"/>
          <a:ea typeface="-봄IIB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980728"/>
            <a:ext cx="7315200" cy="2160240"/>
          </a:xfrm>
        </p:spPr>
        <p:txBody>
          <a:bodyPr/>
          <a:lstStyle/>
          <a:p>
            <a:pPr algn="l"/>
            <a:r>
              <a:rPr lang="zh-CN" altLang="en-US" sz="8000" b="1" dirty="0" smtClean="0">
                <a:latin typeface="黑体" pitchFamily="49" charset="-122"/>
                <a:ea typeface="黑体" pitchFamily="49" charset="-122"/>
              </a:rPr>
              <a:t>创新经济学</a:t>
            </a:r>
            <a:endParaRPr lang="zh-CN" altLang="en-US" sz="80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1560" y="4365104"/>
            <a:ext cx="5976664" cy="1584176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檀勤良、张充</a:t>
            </a:r>
            <a:endParaRPr lang="zh-CN" altLang="en-US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24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2966864" cy="1143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教师简介</a:t>
            </a: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496944" cy="367240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檀勤良：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经济管理学院，教授、博士生导师；主持国家自然科学基金、北京市社科基金重大项目等科研项目，在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《Energy》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中国软科学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等国内外权威期刊发表学术论文多篇。主要研究方向：管理科学与工程、能源经济、创新管理。</a:t>
            </a:r>
            <a:endParaRPr lang="en-US" altLang="zh-CN" sz="28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张  充：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科学技术研究院，讲师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工学博士，主要研究方向：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管理科学与工程、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技术经济、创新管理。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157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3384376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章 绪论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3568" y="1844824"/>
            <a:ext cx="7503368" cy="3754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创新问题的提出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经济学的基础知识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考察创新的四个维度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本课程的主要内容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625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5616624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一、创新问题的提出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7584" y="1988840"/>
            <a:ext cx="7503368" cy="3754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什么是创新？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为什么要创新？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为什么要学习创新经济学？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75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5616624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、什么是创新？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544" y="1628800"/>
            <a:ext cx="8496944" cy="4392488"/>
          </a:xfrm>
        </p:spPr>
        <p:txBody>
          <a:bodyPr/>
          <a:lstStyle/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创新</a:t>
            </a:r>
            <a:r>
              <a:rPr lang="en-US" altLang="zh-CN" sz="36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“对新想法的成功利用”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G.M.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彼得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斯旺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创新经济学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创新的全貌：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新想法</a:t>
            </a:r>
            <a:r>
              <a:rPr lang="en-US" altLang="zh-CN" sz="36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试错</a:t>
            </a:r>
            <a:r>
              <a:rPr lang="en-US" altLang="zh-CN" sz="36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成功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利用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引领时代的创新：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看到未来</a:t>
            </a:r>
            <a:r>
              <a:rPr lang="en-US" altLang="zh-CN" sz="36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想人未想</a:t>
            </a:r>
            <a:r>
              <a:rPr lang="en-US" altLang="zh-CN" sz="36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前所未有</a:t>
            </a:r>
            <a:r>
              <a:rPr lang="en-US" altLang="zh-CN" sz="36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成就未来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案例</a:t>
            </a:r>
            <a:r>
              <a:rPr lang="en-US" altLang="zh-CN" sz="3600" b="1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历次工业革命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13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5603" y="1263959"/>
            <a:ext cx="5055096" cy="4896544"/>
          </a:xfrm>
        </p:spPr>
        <p:txBody>
          <a:bodyPr/>
          <a:lstStyle/>
          <a:p>
            <a:pPr>
              <a:lnSpc>
                <a:spcPts val="2600"/>
              </a:lnSpc>
            </a:pP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18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世纪</a:t>
            </a: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60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年代中期，从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英国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发起的技术革命是技术发展史上的一次巨大变革，它开创了以机器代替手工工具的时代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这场革命是以发明、改进和使用机器开始的，以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蒸汽机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作为动力机被广泛使用为标志的。这一次技术革命和与之相关的社会关系的变革，被称为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第一次工业革命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或者产业革命。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从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生产技术方面来说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工厂代替了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手工工场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，机器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代替了手工劳动；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从社会关系来说，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工业革命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使工业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资产阶级和工业无产阶级形成和壮大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起来，从而深刻地改变了世界的政治经济格局。</a:t>
            </a:r>
            <a:endParaRPr lang="en-US" altLang="zh-CN" sz="20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请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关注：</a:t>
            </a:r>
            <a:r>
              <a:rPr lang="en-US" altLang="zh-CN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1840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年</a:t>
            </a:r>
            <a:endParaRPr lang="zh-CN" altLang="en-US" sz="20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zh-CN" altLang="en-US" sz="2000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539552" y="116632"/>
            <a:ext cx="4248472" cy="1143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9pPr>
          </a:lstStyle>
          <a:p>
            <a:r>
              <a:rPr lang="zh-CN" altLang="en-US" sz="3200" b="1" kern="0" dirty="0" smtClean="0">
                <a:latin typeface="黑体" pitchFamily="49" charset="-122"/>
                <a:ea typeface="黑体" pitchFamily="49" charset="-122"/>
              </a:rPr>
              <a:t>案例</a:t>
            </a:r>
            <a:r>
              <a:rPr lang="en-US" altLang="zh-CN" sz="3200" b="1" kern="0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200" b="1" kern="0" dirty="0" smtClean="0">
                <a:latin typeface="黑体" pitchFamily="49" charset="-122"/>
                <a:ea typeface="黑体" pitchFamily="49" charset="-122"/>
              </a:rPr>
              <a:t>：历次工业革命</a:t>
            </a:r>
            <a:endParaRPr lang="zh-CN" altLang="en-US" sz="3200" b="1" kern="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700" y="260648"/>
            <a:ext cx="3961300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7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61905"/>
            <a:ext cx="4176464" cy="530791"/>
          </a:xfrm>
          <a:solidFill>
            <a:srgbClr val="FFFF00"/>
          </a:solidFill>
        </p:spPr>
        <p:txBody>
          <a:bodyPr/>
          <a:lstStyle/>
          <a:p>
            <a:r>
              <a:rPr lang="zh-CN" altLang="en-US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第二次工业革命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496" y="836712"/>
            <a:ext cx="4824536" cy="5328592"/>
          </a:xfrm>
        </p:spPr>
        <p:txBody>
          <a:bodyPr/>
          <a:lstStyle/>
          <a:p>
            <a:r>
              <a:rPr lang="en-US" altLang="zh-CN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19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世纪最后</a:t>
            </a:r>
            <a:r>
              <a:rPr lang="en-US" altLang="zh-CN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30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年和</a:t>
            </a:r>
            <a:r>
              <a:rPr lang="en-US" altLang="zh-CN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20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世纪初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，被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称为近代历史上的第二次工业革命。世界由“蒸汽时代”进入</a:t>
            </a:r>
            <a:r>
              <a:rPr lang="zh-CN" altLang="en-US" sz="1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“电气时代”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endParaRPr lang="en-US" altLang="zh-CN" sz="18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在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这一时期里，一些发达资本主义国家的</a:t>
            </a:r>
            <a:r>
              <a:rPr lang="zh-CN" altLang="en-US" sz="1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工业总产值超过了农业总产值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</a:p>
          <a:p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工业重心由轻纺工业</a:t>
            </a:r>
            <a:r>
              <a:rPr lang="zh-CN" altLang="en-US" sz="1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转为重工业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出现电气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、化学、石油等新兴工业部门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endParaRPr lang="en-US" altLang="zh-CN" sz="18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发电机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、电动机相继发明，远距离输电技术的出现，</a:t>
            </a:r>
            <a:r>
              <a:rPr lang="zh-CN" altLang="en-US" sz="1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电气工业迅速</a:t>
            </a:r>
            <a:r>
              <a:rPr lang="zh-CN" altLang="en-US" sz="1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发展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，电力广泛应用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</a:p>
          <a:p>
            <a:r>
              <a:rPr lang="zh-CN" altLang="en-US" sz="1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内燃机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的出现和应用，推动了汽车、飞机和石油产业的发展。</a:t>
            </a:r>
            <a:endParaRPr lang="zh-CN" altLang="en-US" sz="1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化学工业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是新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出现的工业部门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，人们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开始从煤炭中提炼氨、苯、人造燃料等化学产品，塑料、绝缘物质、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人造纤维相继发明和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使用。原有</a:t>
            </a:r>
            <a:r>
              <a:rPr lang="zh-CN" altLang="en-US" sz="18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的冶金</a:t>
            </a:r>
            <a:r>
              <a:rPr lang="zh-CN" altLang="en-US" sz="1800" dirty="0">
                <a:latin typeface="华文仿宋" panose="02010600040101010101" pitchFamily="2" charset="-122"/>
                <a:ea typeface="华文仿宋" panose="02010600040101010101" pitchFamily="2" charset="-122"/>
              </a:rPr>
              <a:t>、造船、机器制造以及交通运输、电讯等部门的技术革新加速进行。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88640"/>
            <a:ext cx="4104456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5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61905"/>
            <a:ext cx="4176464" cy="602799"/>
          </a:xfrm>
          <a:solidFill>
            <a:srgbClr val="FFFF00"/>
          </a:solidFill>
        </p:spPr>
        <p:txBody>
          <a:bodyPr/>
          <a:lstStyle/>
          <a:p>
            <a:r>
              <a:rPr lang="zh-CN" altLang="en-US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第三次工业革命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496" y="836712"/>
            <a:ext cx="4824536" cy="5328592"/>
          </a:xfrm>
        </p:spPr>
        <p:txBody>
          <a:bodyPr/>
          <a:lstStyle/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从</a:t>
            </a: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20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世纪四五十年代以来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，人类在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原子能、电子计算机、微电子技术、航天技术、分子生物学和遗传工程等领域取得重大突破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，这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次科技革命被称为第三次科技革命。</a:t>
            </a:r>
          </a:p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第三次科技革命标志是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自动化和信息化。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一大批新兴产业和生态涌现，并快速发展。其中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最具划时代意义的是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电子计算机（电脑）的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迅速发展和广泛运用，开辟了信息时代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。知识经济应运而生，并成为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各国综合国力竞争中成败的关键所在。</a:t>
            </a:r>
          </a:p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这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次科技革命不仅极大地推动了人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类社会变革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，而且也影响了人类生活方式和思维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方式。（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手机革命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32971"/>
            <a:ext cx="4104200" cy="666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61905"/>
            <a:ext cx="4176464" cy="602799"/>
          </a:xfrm>
          <a:solidFill>
            <a:srgbClr val="FFFF00"/>
          </a:solidFill>
        </p:spPr>
        <p:txBody>
          <a:bodyPr/>
          <a:lstStyle/>
          <a:p>
            <a:r>
              <a:rPr lang="zh-CN" altLang="en-US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第四次工业革命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909409"/>
            <a:ext cx="4824536" cy="5328592"/>
          </a:xfrm>
        </p:spPr>
        <p:txBody>
          <a:bodyPr/>
          <a:lstStyle/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第四次科技革命（</a:t>
            </a: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20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世纪后期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）是啥？</a:t>
            </a:r>
            <a:endParaRPr lang="en-US" altLang="zh-CN" sz="20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信息化为基础的智能生态！</a:t>
            </a:r>
            <a:endParaRPr lang="en-US" altLang="zh-CN" sz="2000" b="1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系统科学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、计算机科学、纳米科学与生命科学的理论与技术整合，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形成系统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生物学与合成生物学、系统遗传学与系统生物工程、系统医学与系统生物技术等学科体系，将导致的是转化医学、生物工业的产业革命。</a:t>
            </a:r>
          </a:p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发展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新能源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被看成是第四次科技革命的核心任务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endParaRPr lang="en-US" altLang="zh-CN" sz="20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生物技术发展会令人惊叹：塑料</a:t>
            </a:r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将不以石油为原料而完全以玉米替代；建筑材料将由洋麻等纤维类作物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替代</a:t>
            </a:r>
            <a:r>
              <a:rPr lang="en-US" altLang="zh-CN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……</a:t>
            </a:r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（施一公、颜宁发论文容易？）</a:t>
            </a:r>
            <a:endParaRPr lang="en-US" altLang="zh-CN" sz="20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未来到底会走向哪里？推荐威尔史密斯主演的</a:t>
            </a:r>
            <a:r>
              <a:rPr lang="en-US" altLang="zh-CN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《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机械公敌</a:t>
            </a:r>
            <a:r>
              <a:rPr lang="en-US" altLang="zh-CN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》</a:t>
            </a:r>
            <a:r>
              <a:rPr lang="zh-CN" altLang="en-US" sz="20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！</a:t>
            </a:r>
            <a:endParaRPr lang="zh-CN" altLang="en-US" sz="20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028" name="Picture 4" descr="https://inews.gtimg.com/newsapp_match/0/4635573383/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32656"/>
            <a:ext cx="4211960" cy="5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46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99" y="188640"/>
            <a:ext cx="5616624" cy="936104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、为什么要创新？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6693" y="1311951"/>
            <a:ext cx="5904656" cy="2808312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创新从根本上推动人类社会进步</a:t>
            </a:r>
            <a:endParaRPr lang="en-US" altLang="zh-CN" sz="28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创新极大地提高了人民生活水平</a:t>
            </a:r>
            <a:endParaRPr lang="en-US" altLang="zh-CN" sz="28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创新滞后的后果很可怕！</a:t>
            </a:r>
            <a:endParaRPr lang="en-US" altLang="zh-CN" sz="28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案例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：鸦片战争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4293096"/>
            <a:ext cx="3004324" cy="25649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293096"/>
            <a:ext cx="2716292" cy="25649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4293096"/>
            <a:ext cx="3096344" cy="256490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132" y="1311951"/>
            <a:ext cx="3295867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2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5" y="14077"/>
            <a:ext cx="4694961" cy="19426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9" y="1956703"/>
            <a:ext cx="4686768" cy="2264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5" y="4244719"/>
            <a:ext cx="4686768" cy="250452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210" y="14076"/>
            <a:ext cx="4405606" cy="19426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4616" y="4244720"/>
            <a:ext cx="4419006" cy="250452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822" y="1956703"/>
            <a:ext cx="4436177" cy="226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2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992888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、为什么要学习创新经济学？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93127" y="1628800"/>
            <a:ext cx="8496944" cy="4536504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了解创新的基础理论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掌握创新的基本规律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熟悉创新研究的经济学方法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思考创新创业的基本路径与战略对策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（倪光南、柳传志、任正非、马云？）</a:t>
            </a:r>
            <a:endParaRPr lang="en-US" altLang="zh-CN" sz="2800" dirty="0" smtClean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66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5832648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二、经济学的基础知识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7584" y="1988840"/>
            <a:ext cx="7503368" cy="3754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经济学研究什么？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经济学基本假设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经济学的基本研究思路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13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5976664" cy="1008112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、经济学研究什么？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1268760"/>
            <a:ext cx="8676964" cy="5697759"/>
          </a:xfrm>
        </p:spPr>
        <p:txBody>
          <a:bodyPr/>
          <a:lstStyle/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经济系统的资源优化配置！</a:t>
            </a:r>
            <a:endParaRPr lang="en-US" altLang="zh-CN" sz="32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微观经济学：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均衡价格理论、消费者行为理论、生产者行为理论（包括生产理论、成本理论和市场均衡理论）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、要素价格与收入分配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理论、一般均衡理论与福利经济学、市场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失灵与信息经济等。</a:t>
            </a:r>
            <a:endParaRPr lang="en-US" altLang="zh-CN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宏观经济学：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国民收入核算（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GDP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）、宏观经济模型、货币理论、经济周期、经济增长、国际贸易、就业理论等。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推荐书籍：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萨缪尔森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经济学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、平狄克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微观经济学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、曼昆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宏观经济学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、高鸿业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经济学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endParaRPr lang="en-US" altLang="zh-CN" dirty="0" smtClean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144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5976664" cy="1008112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、经济学基本假设？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1340768"/>
            <a:ext cx="8676964" cy="5040560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理性经济人：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人在经济生活中总是受个人利益或利己心的动机所驱使，人在做出一项经济决策时，总是深思熟虑地对各种可能的抉择权衡比较，以便找出一个方案，能够使他耗费给定的劳动或金钱，带来最大限度的利益。因此，也可表述为：理性经济人总是产生最优化的行为。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（高鸿业</a:t>
            </a: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微观经济学</a:t>
            </a: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0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rgbClr val="C00000"/>
              </a:buClr>
            </a:pP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资源总是稀缺的，边际效用或收益总是递减的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rgbClr val="C00000"/>
              </a:buClr>
            </a:pP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经济系统是单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（企业家精神、知识信息等很多因素未能充分考虑）</a:t>
            </a: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纯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（几乎不受政治、不受法律、不受情感因素的影响）</a:t>
            </a: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>的。</a:t>
            </a:r>
            <a:endParaRPr lang="en-US" altLang="zh-CN" dirty="0" smtClean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295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98" y="4096825"/>
            <a:ext cx="8267700" cy="26207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4" y="1036523"/>
            <a:ext cx="4276410" cy="29551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420" y="1003534"/>
            <a:ext cx="4552950" cy="2972576"/>
          </a:xfrm>
          <a:prstGeom prst="rect">
            <a:avLst/>
          </a:prstGeom>
        </p:spPr>
      </p:pic>
      <p:sp>
        <p:nvSpPr>
          <p:cNvPr id="10" name="标题 1"/>
          <p:cNvSpPr txBox="1">
            <a:spLocks/>
          </p:cNvSpPr>
          <p:nvPr/>
        </p:nvSpPr>
        <p:spPr bwMode="auto">
          <a:xfrm>
            <a:off x="179512" y="186304"/>
            <a:ext cx="6768752" cy="66854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9pPr>
          </a:lstStyle>
          <a:p>
            <a:r>
              <a:rPr lang="en-US" altLang="zh-CN" b="1" kern="0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b="1" kern="0" dirty="0" smtClean="0">
                <a:latin typeface="黑体" pitchFamily="49" charset="-122"/>
                <a:ea typeface="黑体" pitchFamily="49" charset="-122"/>
              </a:rPr>
              <a:t>、经济学的基本研究思路</a:t>
            </a: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885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4968552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zh-CN" altLang="en-US" sz="4000" b="1" dirty="0" smtClean="0">
                <a:latin typeface="黑体" pitchFamily="49" charset="-122"/>
                <a:ea typeface="黑体" pitchFamily="49" charset="-122"/>
              </a:rPr>
              <a:t>案例</a:t>
            </a:r>
            <a:r>
              <a:rPr lang="en-US" altLang="zh-CN" sz="4000" b="1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4000" b="1" dirty="0" smtClean="0">
                <a:latin typeface="黑体" pitchFamily="49" charset="-122"/>
                <a:ea typeface="黑体" pitchFamily="49" charset="-122"/>
              </a:rPr>
              <a:t>：凯恩斯革命</a:t>
            </a:r>
            <a:endParaRPr lang="zh-CN" altLang="en-US" sz="40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552" y="1700808"/>
            <a:ext cx="7992888" cy="208823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凯恩斯是谁？</a:t>
            </a:r>
            <a:endParaRPr lang="en-US" altLang="zh-CN" sz="32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凯恩斯为什么伟大？</a:t>
            </a:r>
            <a:endParaRPr lang="en-US" altLang="zh-CN" sz="32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凯恩斯的有效需求理论正确吗？</a:t>
            </a:r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19" y="4005064"/>
            <a:ext cx="3387367" cy="2679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05064"/>
            <a:ext cx="3096344" cy="2679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933056"/>
            <a:ext cx="1872208" cy="2751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3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2664296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课堂讨论：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552" y="1988840"/>
            <a:ext cx="7992888" cy="3754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美国</a:t>
            </a: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为什么要将华为列入“实体名单”？</a:t>
            </a:r>
            <a:endParaRPr lang="en-US" altLang="zh-CN" sz="32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美国为什么要对我国发起贸易战</a:t>
            </a:r>
            <a:r>
              <a:rPr lang="zh-CN" altLang="en-US" sz="32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？</a:t>
            </a:r>
            <a:endParaRPr lang="en-US" altLang="zh-CN" sz="32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我国为什么要提出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《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中国制造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2025》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计划？</a:t>
            </a:r>
          </a:p>
          <a:p>
            <a:pPr>
              <a:lnSpc>
                <a:spcPct val="150000"/>
              </a:lnSpc>
            </a:pPr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254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200800" cy="1143000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三、考察创新的四个维度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5616" y="1916832"/>
            <a:ext cx="5040560" cy="3754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技术创新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制度创新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国家创新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 smtClean="0">
                <a:latin typeface="楷体_GB2312" pitchFamily="49" charset="-122"/>
                <a:ea typeface="楷体_GB2312" pitchFamily="49" charset="-122"/>
              </a:rPr>
              <a:t>企业创新</a:t>
            </a:r>
            <a:endParaRPr lang="en-US" altLang="zh-CN" sz="3600" dirty="0" smtClean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496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 bwMode="auto">
          <a:xfrm>
            <a:off x="323527" y="188640"/>
            <a:ext cx="6264697" cy="936104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333399"/>
                </a:solidFill>
                <a:latin typeface="-봄IIB" pitchFamily="18" charset="-127"/>
                <a:ea typeface="-봄IIB" pitchFamily="18" charset="-127"/>
              </a:defRPr>
            </a:lvl9pPr>
          </a:lstStyle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四、本课程的主要内容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362292"/>
              </p:ext>
            </p:extLst>
          </p:nvPr>
        </p:nvGraphicFramePr>
        <p:xfrm>
          <a:off x="467544" y="1403648"/>
          <a:ext cx="8017767" cy="4721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89"/>
                <a:gridCol w="1863915"/>
                <a:gridCol w="3481263"/>
              </a:tblGrid>
              <a:tr h="713899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 smtClean="0">
                          <a:effectLst/>
                          <a:latin typeface="宋体"/>
                          <a:ea typeface="宋体"/>
                          <a:cs typeface="宋体"/>
                        </a:rPr>
                        <a:t>课程</a:t>
                      </a:r>
                      <a:r>
                        <a:rPr lang="zh-CN" sz="1800" b="1" kern="100" dirty="0">
                          <a:effectLst/>
                          <a:latin typeface="宋体"/>
                          <a:ea typeface="宋体"/>
                          <a:cs typeface="宋体"/>
                        </a:rPr>
                        <a:t>内容</a:t>
                      </a:r>
                      <a:endParaRPr lang="zh-CN" sz="1800" b="1" kern="100" dirty="0">
                        <a:effectLst/>
                        <a:latin typeface="Calibri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b="1" kern="100" dirty="0" smtClean="0">
                          <a:effectLst/>
                          <a:latin typeface="宋体"/>
                          <a:ea typeface="宋体"/>
                          <a:cs typeface="宋体"/>
                        </a:rPr>
                        <a:t>课时</a:t>
                      </a:r>
                      <a:endParaRPr lang="zh-CN" sz="1800" b="1" kern="100" dirty="0">
                        <a:effectLst/>
                        <a:latin typeface="Calibri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宋体"/>
                          <a:ea typeface="宋体"/>
                          <a:cs typeface="宋体"/>
                        </a:rPr>
                        <a:t>实验内容</a:t>
                      </a:r>
                      <a:endParaRPr lang="zh-CN" sz="1800" b="1" kern="100">
                        <a:effectLst/>
                        <a:latin typeface="Calibri"/>
                        <a:cs typeface="宋体"/>
                      </a:endParaRP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b="1" kern="100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绪论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1" kern="100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2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创新的概念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2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 </a:t>
                      </a:r>
                      <a:endParaRPr lang="zh-CN" sz="1800" b="1" kern="10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创新的要素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2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 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技术创新原理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4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技术创新案例分析</a:t>
                      </a: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制度创新原理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4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制度创新案例分析</a:t>
                      </a: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国家创新体系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4</a:t>
                      </a:r>
                      <a:endParaRPr lang="zh-CN" sz="1800" b="1" kern="100" dirty="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创新绩效评价的方法应用</a:t>
                      </a: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企业创新体系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4</a:t>
                      </a:r>
                      <a:endParaRPr lang="zh-CN" sz="1800" b="1" kern="10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企业创新案例分析</a:t>
                      </a: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创新与创业路径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6</a:t>
                      </a:r>
                      <a:endParaRPr lang="zh-CN" sz="1800" b="1" kern="10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创新战略仿真设计</a:t>
                      </a: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创新与创业风险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4</a:t>
                      </a:r>
                      <a:endParaRPr lang="zh-CN" sz="1800" b="1" kern="100"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宋体"/>
                        </a:rPr>
                        <a:t>创业辅导与模拟</a:t>
                      </a:r>
                    </a:p>
                  </a:txBody>
                  <a:tcPr marL="68580" marR="68580" marT="0" marB="0" anchor="ctr"/>
                </a:tc>
              </a:tr>
              <a:tr h="4007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宋体"/>
                          <a:ea typeface="宋体"/>
                          <a:cs typeface="宋体"/>
                        </a:rPr>
                        <a:t>合计</a:t>
                      </a:r>
                      <a:endParaRPr lang="zh-CN" sz="1800" b="1" kern="100">
                        <a:effectLst/>
                        <a:latin typeface="Calibri"/>
                        <a:cs typeface="宋体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 smtClean="0">
                          <a:effectLst/>
                          <a:latin typeface="宋体"/>
                          <a:ea typeface="宋体"/>
                          <a:cs typeface="宋体"/>
                        </a:rPr>
                        <a:t>32</a:t>
                      </a:r>
                      <a:r>
                        <a:rPr lang="en-US" sz="1800" b="1" kern="100" dirty="0">
                          <a:effectLst/>
                          <a:latin typeface="宋体"/>
                          <a:ea typeface="宋体"/>
                          <a:cs typeface="宋体"/>
                        </a:rPr>
                        <a:t> </a:t>
                      </a:r>
                      <a:endParaRPr lang="zh-CN" sz="1800" b="1" kern="100" dirty="0">
                        <a:effectLst/>
                        <a:latin typeface="Calibri"/>
                        <a:cs typeface="宋体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1050" kern="100" dirty="0">
                        <a:effectLst/>
                        <a:latin typeface="Calibri"/>
                        <a:cs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33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96752"/>
            <a:ext cx="7848872" cy="338437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5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思考题：</a:t>
            </a:r>
            <a:r>
              <a:rPr lang="en-US" altLang="zh-CN" sz="5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/>
            </a:r>
            <a:br>
              <a:rPr lang="en-US" altLang="zh-CN" sz="5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5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    </a:t>
            </a:r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、您如何看待林毅夫教授和张维迎教授的辩论？</a:t>
            </a:r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/>
            </a:r>
            <a:b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    2</a:t>
            </a:r>
            <a:r>
              <a:rPr lang="zh-CN" altLang="en-US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、您认为我国创新能力如何？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409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9792" y="1916832"/>
            <a:ext cx="389241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9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谢谢！</a:t>
            </a:r>
            <a:endParaRPr lang="zh-CN" altLang="en-US" sz="9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505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-봄IIB"/>
        <a:ea typeface="-봄IIB"/>
        <a:cs typeface=""/>
      </a:majorFont>
      <a:minorFont>
        <a:latin typeface="-봄IIM"/>
        <a:ea typeface="-봄I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PPT助手_模板_756</Template>
  <TotalTime>936</TotalTime>
  <Words>1252</Words>
  <Application>Microsoft Office PowerPoint</Application>
  <PresentationFormat>全屏显示(4:3)</PresentationFormat>
  <Paragraphs>122</Paragraphs>
  <Slides>22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기본 디자인</vt:lpstr>
      <vt:lpstr>创新经济学</vt:lpstr>
      <vt:lpstr>教师简介</vt:lpstr>
      <vt:lpstr>第0章 绪论</vt:lpstr>
      <vt:lpstr>一、创新问题的提出</vt:lpstr>
      <vt:lpstr>1、什么是创新？</vt:lpstr>
      <vt:lpstr>PowerPoint 演示文稿</vt:lpstr>
      <vt:lpstr>第二次工业革命</vt:lpstr>
      <vt:lpstr>第三次工业革命</vt:lpstr>
      <vt:lpstr>第四次工业革命</vt:lpstr>
      <vt:lpstr>2、为什么要创新？</vt:lpstr>
      <vt:lpstr>PowerPoint 演示文稿</vt:lpstr>
      <vt:lpstr>3、为什么要学习创新经济学？</vt:lpstr>
      <vt:lpstr>二、经济学的基础知识</vt:lpstr>
      <vt:lpstr>1、经济学研究什么？</vt:lpstr>
      <vt:lpstr>2、经济学基本假设？</vt:lpstr>
      <vt:lpstr>PowerPoint 演示文稿</vt:lpstr>
      <vt:lpstr>案例3：凯恩斯革命</vt:lpstr>
      <vt:lpstr>课堂讨论：</vt:lpstr>
      <vt:lpstr>三、考察创新的四个维度</vt:lpstr>
      <vt:lpstr>PowerPoint 演示文稿</vt:lpstr>
      <vt:lpstr>思考题：     1、您如何看待林毅夫教授和张维迎教授的辩论？     2、您认为我国创新能力如何？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创新经济学</dc:title>
  <dc:creator>zc</dc:creator>
  <cp:lastModifiedBy>zc</cp:lastModifiedBy>
  <cp:revision>155</cp:revision>
  <dcterms:created xsi:type="dcterms:W3CDTF">2016-08-24T00:56:32Z</dcterms:created>
  <dcterms:modified xsi:type="dcterms:W3CDTF">2019-08-26T03:44:03Z</dcterms:modified>
</cp:coreProperties>
</file>