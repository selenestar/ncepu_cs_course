
<file path=[Content_Types].xml><?xml version="1.0" encoding="utf-8"?>
<Types xmlns="http://schemas.openxmlformats.org/package/2006/content-types">
  <Default Extension="jpeg" ContentType="image/jpeg"/>
  <Default Extension="png" ContentType="image/png"/>
  <Default Extension="mp3" ContentType="audio/mp3"/>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61" r:id="rId6"/>
    <p:sldId id="262" r:id="rId7"/>
    <p:sldId id="265" r:id="rId8"/>
    <p:sldId id="303" r:id="rId9"/>
    <p:sldId id="304" r:id="rId10"/>
    <p:sldId id="305" r:id="rId11"/>
    <p:sldId id="306" r:id="rId12"/>
    <p:sldId id="307" r:id="rId13"/>
    <p:sldId id="309" r:id="rId14"/>
    <p:sldId id="310" r:id="rId15"/>
    <p:sldId id="312" r:id="rId16"/>
    <p:sldId id="311" r:id="rId17"/>
    <p:sldId id="308" r:id="rId18"/>
    <p:sldId id="313" r:id="rId19"/>
    <p:sldId id="314" r:id="rId20"/>
    <p:sldId id="315" r:id="rId21"/>
    <p:sldId id="277"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CA7"/>
    <a:srgbClr val="004176"/>
    <a:srgbClr val="F2F2F2"/>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515" autoAdjust="0"/>
    <p:restoredTop sz="95317" autoAdjust="0"/>
  </p:normalViewPr>
  <p:slideViewPr>
    <p:cSldViewPr snapToGrid="0">
      <p:cViewPr varScale="1">
        <p:scale>
          <a:sx n="110" d="100"/>
          <a:sy n="110" d="100"/>
        </p:scale>
        <p:origin x="-852" y="-96"/>
      </p:cViewPr>
      <p:guideLst>
        <p:guide orient="horz" pos="2160"/>
        <p:guide pos="3829"/>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smtClean="0"/>
              <a:t>亮亮图文旗舰店</a:t>
            </a:r>
            <a:endParaRPr lang="zh-CN" altLang="en-US" dirty="0" smtClean="0"/>
          </a:p>
          <a:p>
            <a:r>
              <a:rPr lang="en-US" altLang="zh-CN" dirty="0" smtClean="0"/>
              <a:t>https://liangliangtuwen.tmall.com</a:t>
            </a:r>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91413BF1-1F79-4000-807B-6827F352B93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0F8369B-F710-4CE9-A0B8-9F511945CEE2}"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1413BF1-1F79-4000-807B-6827F352B93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0F8369B-F710-4CE9-A0B8-9F511945CEE2}"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91413BF1-1F79-4000-807B-6827F352B93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0F8369B-F710-4CE9-A0B8-9F511945CEE2}"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91413BF1-1F79-4000-807B-6827F352B93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0F8369B-F710-4CE9-A0B8-9F511945CEE2}"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91413BF1-1F79-4000-807B-6827F352B93F}"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0F8369B-F710-4CE9-A0B8-9F511945CEE2}"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91413BF1-1F79-4000-807B-6827F352B93F}"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0F8369B-F710-4CE9-A0B8-9F511945CEE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1413BF1-1F79-4000-807B-6827F352B93F}"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0F8369B-F710-4CE9-A0B8-9F511945CEE2}"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91413BF1-1F79-4000-807B-6827F352B93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0F8369B-F710-4CE9-A0B8-9F511945CEE2}"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91413BF1-1F79-4000-807B-6827F352B93F}"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0F8369B-F710-4CE9-A0B8-9F511945CEE2}"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1413BF1-1F79-4000-807B-6827F352B93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0F8369B-F710-4CE9-A0B8-9F511945CEE2}"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91413BF1-1F79-4000-807B-6827F352B93F}"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0F8369B-F710-4CE9-A0B8-9F511945CEE2}"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cstate="print">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413BF1-1F79-4000-807B-6827F352B93F}"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F8369B-F710-4CE9-A0B8-9F511945CEE2}"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image" Target="../media/image2.png"/><Relationship Id="rId2" Type="http://schemas.microsoft.com/office/2007/relationships/media" Target="../media/media1.mp3"/><Relationship Id="rId1" Type="http://schemas.openxmlformats.org/officeDocument/2006/relationships/audio" Target="../media/media1.mp3"/></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110158" y="1118058"/>
            <a:ext cx="4390181" cy="4454171"/>
            <a:chOff x="1295511" y="1384930"/>
            <a:chExt cx="4015043" cy="4073566"/>
          </a:xfrm>
        </p:grpSpPr>
        <p:sp>
          <p:nvSpPr>
            <p:cNvPr id="5" name="椭圆 4"/>
            <p:cNvSpPr/>
            <p:nvPr/>
          </p:nvSpPr>
          <p:spPr>
            <a:xfrm>
              <a:off x="2970313" y="2646146"/>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3440438" y="3027324"/>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3372764" y="3149064"/>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2560697" y="2984358"/>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2259614" y="3084635"/>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2653075" y="3365686"/>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2720748" y="3593409"/>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2468319" y="3479547"/>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2426571" y="3682563"/>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1976353" y="3796703"/>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1773336" y="3945762"/>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1841008" y="366108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2044025" y="343658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1477941" y="3658138"/>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1664130" y="3866271"/>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1980868" y="402796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1628047" y="3501029"/>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1299630" y="3298013"/>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1367302" y="289198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1646212" y="3232101"/>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1456457" y="2985267"/>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2044025" y="2985267"/>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2307671" y="288306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1841007" y="2870496"/>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1440872" y="266911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1926122" y="2418274"/>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1965677" y="1915051"/>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2147983" y="2079758"/>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2291207" y="1673879"/>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2434430" y="1581986"/>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2635460" y="1725209"/>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a:off x="2439135" y="1958017"/>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2635460" y="2232679"/>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2791392" y="1427896"/>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3080592" y="1652396"/>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3304023" y="1672572"/>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3390462" y="1892297"/>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3364357" y="138493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nvSpPr>
          <p:spPr>
            <a:xfrm>
              <a:off x="3458047" y="1695362"/>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3234169" y="2015308"/>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3246912" y="2307636"/>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2970313" y="2264669"/>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2684998" y="2684947"/>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2320814" y="2660814"/>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3169748" y="3127581"/>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3371905" y="3323093"/>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3592314" y="2896026"/>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3364356" y="270643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3981815" y="266911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3914142" y="2372485"/>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762135" y="1672571"/>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3912407" y="1793192"/>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4612348" y="2079758"/>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4523193" y="1888461"/>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4480227" y="2485946"/>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4437036" y="2824308"/>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nvSpPr>
          <p:spPr>
            <a:xfrm>
              <a:off x="4477093" y="2912153"/>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p:nvSpPr>
          <p:spPr>
            <a:xfrm>
              <a:off x="5086054" y="3018694"/>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p:nvPr/>
          </p:nvSpPr>
          <p:spPr>
            <a:xfrm>
              <a:off x="5267588" y="319629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a:off x="5199916" y="3659538"/>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a:off x="5156949" y="3816652"/>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4477093" y="3571925"/>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a:off x="4922569" y="4185826"/>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nvSpPr>
          <p:spPr>
            <a:xfrm>
              <a:off x="4996899" y="4048855"/>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nvSpPr>
          <p:spPr>
            <a:xfrm>
              <a:off x="5199916" y="3968321"/>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a:off x="5135466" y="4364911"/>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4658537" y="4377442"/>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4964440" y="4616454"/>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a:off x="4523407" y="5082724"/>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4320175" y="4808286"/>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p:cNvSpPr/>
            <p:nvPr/>
          </p:nvSpPr>
          <p:spPr>
            <a:xfrm>
              <a:off x="4226860" y="436491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a:off x="4520059" y="4150703"/>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nvSpPr>
          <p:spPr>
            <a:xfrm>
              <a:off x="4182950" y="4113988"/>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nvSpPr>
          <p:spPr>
            <a:xfrm>
              <a:off x="4117159" y="4516114"/>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nvSpPr>
          <p:spPr>
            <a:xfrm>
              <a:off x="3738565" y="4702304"/>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p:cNvSpPr/>
            <p:nvPr/>
          </p:nvSpPr>
          <p:spPr>
            <a:xfrm>
              <a:off x="3621597" y="4593355"/>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a:off x="3345302" y="4362011"/>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a:off x="3526467" y="5038006"/>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nvSpPr>
          <p:spPr>
            <a:xfrm>
              <a:off x="2943458" y="541553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nvSpPr>
          <p:spPr>
            <a:xfrm>
              <a:off x="2405087" y="5214319"/>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p:cNvSpPr/>
            <p:nvPr/>
          </p:nvSpPr>
          <p:spPr>
            <a:xfrm>
              <a:off x="2699264" y="5113323"/>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p:nvSpPr>
          <p:spPr>
            <a:xfrm>
              <a:off x="2383603" y="4723661"/>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a:off x="2631021" y="476492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a:off x="2269724" y="4473148"/>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p:cNvSpPr/>
            <p:nvPr/>
          </p:nvSpPr>
          <p:spPr>
            <a:xfrm>
              <a:off x="2673988" y="4245425"/>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p:cNvSpPr/>
            <p:nvPr/>
          </p:nvSpPr>
          <p:spPr>
            <a:xfrm>
              <a:off x="1707097" y="4266908"/>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p:cNvSpPr/>
            <p:nvPr/>
          </p:nvSpPr>
          <p:spPr>
            <a:xfrm>
              <a:off x="2086359" y="4494631"/>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p:cNvSpPr/>
            <p:nvPr/>
          </p:nvSpPr>
          <p:spPr>
            <a:xfrm>
              <a:off x="1987159" y="4933596"/>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p:cNvSpPr/>
            <p:nvPr/>
          </p:nvSpPr>
          <p:spPr>
            <a:xfrm>
              <a:off x="2698762" y="4594971"/>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p:cNvSpPr/>
            <p:nvPr/>
          </p:nvSpPr>
          <p:spPr>
            <a:xfrm>
              <a:off x="3167854" y="4579293"/>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椭圆 94"/>
            <p:cNvSpPr/>
            <p:nvPr/>
          </p:nvSpPr>
          <p:spPr>
            <a:xfrm>
              <a:off x="2923539" y="438077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p:cNvSpPr/>
            <p:nvPr/>
          </p:nvSpPr>
          <p:spPr>
            <a:xfrm>
              <a:off x="2652504" y="3863471"/>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p:cNvSpPr/>
            <p:nvPr/>
          </p:nvSpPr>
          <p:spPr>
            <a:xfrm>
              <a:off x="3383994" y="3795169"/>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椭圆 97"/>
            <p:cNvSpPr/>
            <p:nvPr/>
          </p:nvSpPr>
          <p:spPr>
            <a:xfrm>
              <a:off x="3686856" y="4319045"/>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椭圆 98"/>
            <p:cNvSpPr/>
            <p:nvPr/>
          </p:nvSpPr>
          <p:spPr>
            <a:xfrm>
              <a:off x="3740151" y="3723117"/>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椭圆 99"/>
            <p:cNvSpPr/>
            <p:nvPr/>
          </p:nvSpPr>
          <p:spPr>
            <a:xfrm>
              <a:off x="4117159" y="3515183"/>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4483050" y="310766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4898116" y="3232101"/>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4701504" y="2901857"/>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3828018" y="2789612"/>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p:cNvSpPr/>
            <p:nvPr/>
          </p:nvSpPr>
          <p:spPr>
            <a:xfrm>
              <a:off x="3849501" y="3867691"/>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p:cNvSpPr/>
            <p:nvPr/>
          </p:nvSpPr>
          <p:spPr>
            <a:xfrm>
              <a:off x="2748330" y="4724668"/>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椭圆 106"/>
            <p:cNvSpPr/>
            <p:nvPr/>
          </p:nvSpPr>
          <p:spPr>
            <a:xfrm>
              <a:off x="2248049" y="3710711"/>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椭圆 107"/>
            <p:cNvSpPr/>
            <p:nvPr/>
          </p:nvSpPr>
          <p:spPr>
            <a:xfrm>
              <a:off x="1319473" y="3084423"/>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椭圆 108"/>
            <p:cNvSpPr/>
            <p:nvPr/>
          </p:nvSpPr>
          <p:spPr>
            <a:xfrm>
              <a:off x="1816302" y="3107564"/>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椭圆 109"/>
            <p:cNvSpPr/>
            <p:nvPr/>
          </p:nvSpPr>
          <p:spPr>
            <a:xfrm>
              <a:off x="1456361" y="4136756"/>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椭圆 110"/>
            <p:cNvSpPr/>
            <p:nvPr/>
          </p:nvSpPr>
          <p:spPr>
            <a:xfrm>
              <a:off x="2391652" y="3950075"/>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p:cNvSpPr/>
            <p:nvPr/>
          </p:nvSpPr>
          <p:spPr>
            <a:xfrm>
              <a:off x="3255652" y="4070926"/>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p:cNvSpPr/>
            <p:nvPr/>
          </p:nvSpPr>
          <p:spPr>
            <a:xfrm>
              <a:off x="3126685" y="4933596"/>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p:cNvSpPr/>
            <p:nvPr/>
          </p:nvSpPr>
          <p:spPr>
            <a:xfrm>
              <a:off x="2194973" y="5033758"/>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椭圆 114"/>
            <p:cNvSpPr/>
            <p:nvPr/>
          </p:nvSpPr>
          <p:spPr>
            <a:xfrm>
              <a:off x="4679924" y="4722162"/>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椭圆 115"/>
            <p:cNvSpPr/>
            <p:nvPr/>
          </p:nvSpPr>
          <p:spPr>
            <a:xfrm>
              <a:off x="4919598" y="3721055"/>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椭圆 116"/>
            <p:cNvSpPr/>
            <p:nvPr/>
          </p:nvSpPr>
          <p:spPr>
            <a:xfrm>
              <a:off x="4008635" y="3048807"/>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椭圆 117"/>
            <p:cNvSpPr/>
            <p:nvPr/>
          </p:nvSpPr>
          <p:spPr>
            <a:xfrm>
              <a:off x="3805102" y="3258451"/>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椭圆 118"/>
            <p:cNvSpPr/>
            <p:nvPr/>
          </p:nvSpPr>
          <p:spPr>
            <a:xfrm>
              <a:off x="3527672" y="3098450"/>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4298596" y="2880278"/>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椭圆 120"/>
            <p:cNvSpPr/>
            <p:nvPr/>
          </p:nvSpPr>
          <p:spPr>
            <a:xfrm>
              <a:off x="5124549" y="2641885"/>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椭圆 121"/>
            <p:cNvSpPr/>
            <p:nvPr/>
          </p:nvSpPr>
          <p:spPr>
            <a:xfrm>
              <a:off x="4051697" y="1624952"/>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椭圆 122"/>
            <p:cNvSpPr/>
            <p:nvPr/>
          </p:nvSpPr>
          <p:spPr>
            <a:xfrm>
              <a:off x="3764925" y="1853109"/>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椭圆 123"/>
            <p:cNvSpPr/>
            <p:nvPr/>
          </p:nvSpPr>
          <p:spPr>
            <a:xfrm>
              <a:off x="3105106" y="1470862"/>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椭圆 124"/>
            <p:cNvSpPr/>
            <p:nvPr/>
          </p:nvSpPr>
          <p:spPr>
            <a:xfrm>
              <a:off x="3600017" y="1419775"/>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椭圆 125"/>
            <p:cNvSpPr/>
            <p:nvPr/>
          </p:nvSpPr>
          <p:spPr>
            <a:xfrm>
              <a:off x="2684902" y="2393967"/>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椭圆 126"/>
            <p:cNvSpPr/>
            <p:nvPr/>
          </p:nvSpPr>
          <p:spPr>
            <a:xfrm>
              <a:off x="2446739" y="2579782"/>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矩形 127"/>
            <p:cNvSpPr/>
            <p:nvPr/>
          </p:nvSpPr>
          <p:spPr>
            <a:xfrm>
              <a:off x="2190950" y="3910753"/>
              <a:ext cx="47085" cy="47085"/>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矩形 128"/>
            <p:cNvSpPr/>
            <p:nvPr/>
          </p:nvSpPr>
          <p:spPr>
            <a:xfrm>
              <a:off x="2387629" y="4420408"/>
              <a:ext cx="47085" cy="47085"/>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p:cNvSpPr/>
            <p:nvPr/>
          </p:nvSpPr>
          <p:spPr>
            <a:xfrm>
              <a:off x="1520907" y="4449605"/>
              <a:ext cx="47085" cy="47085"/>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矩形 130"/>
            <p:cNvSpPr/>
            <p:nvPr/>
          </p:nvSpPr>
          <p:spPr>
            <a:xfrm>
              <a:off x="1295511" y="3766083"/>
              <a:ext cx="47085" cy="47085"/>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矩形 131"/>
            <p:cNvSpPr/>
            <p:nvPr/>
          </p:nvSpPr>
          <p:spPr>
            <a:xfrm>
              <a:off x="2444776" y="3170146"/>
              <a:ext cx="47085" cy="47085"/>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矩形 132"/>
            <p:cNvSpPr/>
            <p:nvPr/>
          </p:nvSpPr>
          <p:spPr>
            <a:xfrm>
              <a:off x="2129325" y="2509665"/>
              <a:ext cx="47085" cy="47085"/>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矩形 133"/>
            <p:cNvSpPr/>
            <p:nvPr/>
          </p:nvSpPr>
          <p:spPr>
            <a:xfrm>
              <a:off x="2171430" y="2268966"/>
              <a:ext cx="47085" cy="47085"/>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矩形 134"/>
            <p:cNvSpPr/>
            <p:nvPr/>
          </p:nvSpPr>
          <p:spPr>
            <a:xfrm>
              <a:off x="2771026" y="2075639"/>
              <a:ext cx="47085" cy="47085"/>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矩形 135"/>
            <p:cNvSpPr/>
            <p:nvPr/>
          </p:nvSpPr>
          <p:spPr>
            <a:xfrm>
              <a:off x="3436318" y="2368366"/>
              <a:ext cx="47085" cy="47085"/>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矩形 136"/>
            <p:cNvSpPr/>
            <p:nvPr/>
          </p:nvSpPr>
          <p:spPr>
            <a:xfrm>
              <a:off x="3483404" y="2581608"/>
              <a:ext cx="47085" cy="47085"/>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矩形 137"/>
            <p:cNvSpPr/>
            <p:nvPr/>
          </p:nvSpPr>
          <p:spPr>
            <a:xfrm>
              <a:off x="3892563" y="2147585"/>
              <a:ext cx="47085" cy="47085"/>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矩形 138"/>
            <p:cNvSpPr/>
            <p:nvPr/>
          </p:nvSpPr>
          <p:spPr>
            <a:xfrm>
              <a:off x="3970325" y="1955418"/>
              <a:ext cx="81373" cy="81372"/>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矩形 139"/>
            <p:cNvSpPr/>
            <p:nvPr/>
          </p:nvSpPr>
          <p:spPr>
            <a:xfrm>
              <a:off x="4430007" y="2171128"/>
              <a:ext cx="47085" cy="47085"/>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矩形 140"/>
            <p:cNvSpPr/>
            <p:nvPr/>
          </p:nvSpPr>
          <p:spPr>
            <a:xfrm>
              <a:off x="4382922" y="2372484"/>
              <a:ext cx="45898" cy="45898"/>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矩形 141"/>
            <p:cNvSpPr/>
            <p:nvPr/>
          </p:nvSpPr>
          <p:spPr>
            <a:xfrm>
              <a:off x="5003133" y="3107660"/>
              <a:ext cx="45898" cy="45898"/>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矩形 142"/>
            <p:cNvSpPr/>
            <p:nvPr/>
          </p:nvSpPr>
          <p:spPr>
            <a:xfrm>
              <a:off x="4876671" y="3492234"/>
              <a:ext cx="45898" cy="45898"/>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矩形 143"/>
            <p:cNvSpPr/>
            <p:nvPr/>
          </p:nvSpPr>
          <p:spPr>
            <a:xfrm>
              <a:off x="4718720" y="3337909"/>
              <a:ext cx="45898" cy="45898"/>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矩形 144"/>
            <p:cNvSpPr/>
            <p:nvPr/>
          </p:nvSpPr>
          <p:spPr>
            <a:xfrm>
              <a:off x="4204433" y="3229169"/>
              <a:ext cx="45898" cy="45898"/>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矩形 145"/>
            <p:cNvSpPr/>
            <p:nvPr/>
          </p:nvSpPr>
          <p:spPr>
            <a:xfrm>
              <a:off x="3641613" y="3446335"/>
              <a:ext cx="45898" cy="45898"/>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a:off x="4052964" y="3970764"/>
              <a:ext cx="45898" cy="45898"/>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a:off x="3802265" y="4188709"/>
              <a:ext cx="45898" cy="45898"/>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a:off x="4020323" y="5079791"/>
              <a:ext cx="45898" cy="45898"/>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a:off x="2834454" y="4904516"/>
              <a:ext cx="45898" cy="45898"/>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a:off x="3023576" y="5107553"/>
              <a:ext cx="45898" cy="45898"/>
            </a:xfrm>
            <a:prstGeom prst="rect">
              <a:avLst/>
            </a:prstGeom>
            <a:solidFill>
              <a:srgbClr val="005CA7"/>
            </a:solidFill>
            <a:ln w="127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a:off x="3691717" y="4036199"/>
              <a:ext cx="45898" cy="45898"/>
            </a:xfrm>
            <a:prstGeom prst="rect">
              <a:avLst/>
            </a:prstGeom>
            <a:solidFill>
              <a:srgbClr val="005CA7"/>
            </a:solidFill>
            <a:ln w="127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矩形 152"/>
            <p:cNvSpPr/>
            <p:nvPr/>
          </p:nvSpPr>
          <p:spPr>
            <a:xfrm>
              <a:off x="2585123" y="4064133"/>
              <a:ext cx="45898" cy="45898"/>
            </a:xfrm>
            <a:prstGeom prst="rect">
              <a:avLst/>
            </a:prstGeom>
            <a:solidFill>
              <a:srgbClr val="005CA7"/>
            </a:solidFill>
            <a:ln w="127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矩形 153"/>
            <p:cNvSpPr/>
            <p:nvPr/>
          </p:nvSpPr>
          <p:spPr>
            <a:xfrm>
              <a:off x="1300970" y="3966854"/>
              <a:ext cx="45898" cy="45898"/>
            </a:xfrm>
            <a:prstGeom prst="rect">
              <a:avLst/>
            </a:prstGeom>
            <a:solidFill>
              <a:srgbClr val="005CA7"/>
            </a:solidFill>
            <a:ln w="127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矩形 154"/>
            <p:cNvSpPr/>
            <p:nvPr/>
          </p:nvSpPr>
          <p:spPr>
            <a:xfrm>
              <a:off x="2772213" y="3032167"/>
              <a:ext cx="45898" cy="45898"/>
            </a:xfrm>
            <a:prstGeom prst="rect">
              <a:avLst/>
            </a:prstGeom>
            <a:solidFill>
              <a:srgbClr val="005CA7"/>
            </a:solidFill>
            <a:ln w="127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a:off x="1484061" y="3345355"/>
              <a:ext cx="45898" cy="45898"/>
            </a:xfrm>
            <a:prstGeom prst="rect">
              <a:avLst/>
            </a:prstGeom>
            <a:solidFill>
              <a:srgbClr val="005CA7"/>
            </a:solidFill>
            <a:ln w="127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a:off x="2940526" y="2525824"/>
              <a:ext cx="45898" cy="45898"/>
            </a:xfrm>
            <a:prstGeom prst="rect">
              <a:avLst/>
            </a:prstGeom>
            <a:solidFill>
              <a:srgbClr val="005CA7"/>
            </a:solidFill>
            <a:ln w="127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a:off x="3846665" y="2548773"/>
              <a:ext cx="45898" cy="45898"/>
            </a:xfrm>
            <a:prstGeom prst="rect">
              <a:avLst/>
            </a:prstGeom>
            <a:solidFill>
              <a:srgbClr val="005CA7"/>
            </a:solidFill>
            <a:ln w="127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a:off x="5101600" y="2809724"/>
              <a:ext cx="45898" cy="45898"/>
            </a:xfrm>
            <a:prstGeom prst="rect">
              <a:avLst/>
            </a:prstGeom>
            <a:solidFill>
              <a:srgbClr val="005CA7"/>
            </a:solidFill>
            <a:ln w="127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0" name="直接连接符 159"/>
            <p:cNvCxnSpPr>
              <a:stCxn id="73" idx="7"/>
              <a:endCxn id="115" idx="4"/>
            </p:cNvCxnSpPr>
            <p:nvPr/>
          </p:nvCxnSpPr>
          <p:spPr>
            <a:xfrm flipV="1">
              <a:off x="4560081" y="4808286"/>
              <a:ext cx="162905" cy="280730"/>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61" name="直接连接符 160"/>
            <p:cNvCxnSpPr>
              <a:endCxn id="74" idx="1"/>
            </p:cNvCxnSpPr>
            <p:nvPr/>
          </p:nvCxnSpPr>
          <p:spPr>
            <a:xfrm>
              <a:off x="4248342" y="4407877"/>
              <a:ext cx="78125" cy="406701"/>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62" name="直接连接符 161"/>
            <p:cNvCxnSpPr>
              <a:stCxn id="75" idx="5"/>
              <a:endCxn id="115" idx="1"/>
            </p:cNvCxnSpPr>
            <p:nvPr/>
          </p:nvCxnSpPr>
          <p:spPr>
            <a:xfrm>
              <a:off x="4263534" y="4401584"/>
              <a:ext cx="429003" cy="333191"/>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63" name="直接连接符 162"/>
            <p:cNvCxnSpPr>
              <a:stCxn id="75" idx="7"/>
              <a:endCxn id="76" idx="2"/>
            </p:cNvCxnSpPr>
            <p:nvPr/>
          </p:nvCxnSpPr>
          <p:spPr>
            <a:xfrm flipV="1">
              <a:off x="4263534" y="4172186"/>
              <a:ext cx="256525" cy="199015"/>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a:stCxn id="71" idx="6"/>
              <a:endCxn id="70" idx="6"/>
            </p:cNvCxnSpPr>
            <p:nvPr/>
          </p:nvCxnSpPr>
          <p:spPr>
            <a:xfrm flipV="1">
              <a:off x="4701504" y="4386394"/>
              <a:ext cx="476928" cy="12531"/>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65" name="直接连接符 164"/>
            <p:cNvCxnSpPr>
              <a:stCxn id="69" idx="4"/>
              <a:endCxn id="70" idx="7"/>
            </p:cNvCxnSpPr>
            <p:nvPr/>
          </p:nvCxnSpPr>
          <p:spPr>
            <a:xfrm flipH="1">
              <a:off x="5172140" y="4011287"/>
              <a:ext cx="49259" cy="359915"/>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66" name="直接连接符 165"/>
            <p:cNvCxnSpPr>
              <a:stCxn id="116" idx="4"/>
              <a:endCxn id="67" idx="0"/>
            </p:cNvCxnSpPr>
            <p:nvPr/>
          </p:nvCxnSpPr>
          <p:spPr>
            <a:xfrm flipH="1">
              <a:off x="4944053" y="3807179"/>
              <a:ext cx="18608" cy="378646"/>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67" name="直接连接符 166"/>
            <p:cNvCxnSpPr>
              <a:endCxn id="116" idx="2"/>
            </p:cNvCxnSpPr>
            <p:nvPr/>
          </p:nvCxnSpPr>
          <p:spPr>
            <a:xfrm>
              <a:off x="4520059" y="3593409"/>
              <a:ext cx="399540" cy="170709"/>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68" name="直接连接符 167"/>
            <p:cNvCxnSpPr>
              <a:stCxn id="116" idx="6"/>
              <a:endCxn id="64" idx="2"/>
            </p:cNvCxnSpPr>
            <p:nvPr/>
          </p:nvCxnSpPr>
          <p:spPr>
            <a:xfrm flipV="1">
              <a:off x="5005722" y="3681021"/>
              <a:ext cx="194193" cy="83096"/>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69" name="直接连接符 168"/>
            <p:cNvCxnSpPr>
              <a:stCxn id="116" idx="7"/>
              <a:endCxn id="63" idx="3"/>
            </p:cNvCxnSpPr>
            <p:nvPr/>
          </p:nvCxnSpPr>
          <p:spPr>
            <a:xfrm flipV="1">
              <a:off x="4993110" y="3232964"/>
              <a:ext cx="280770" cy="50070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70" name="直接连接符 169"/>
            <p:cNvCxnSpPr>
              <a:stCxn id="103" idx="4"/>
            </p:cNvCxnSpPr>
            <p:nvPr/>
          </p:nvCxnSpPr>
          <p:spPr>
            <a:xfrm>
              <a:off x="4722987" y="2944823"/>
              <a:ext cx="175129" cy="284346"/>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71" name="直接连接符 170"/>
            <p:cNvCxnSpPr>
              <a:stCxn id="103" idx="7"/>
              <a:endCxn id="121" idx="3"/>
            </p:cNvCxnSpPr>
            <p:nvPr/>
          </p:nvCxnSpPr>
          <p:spPr>
            <a:xfrm flipV="1">
              <a:off x="4738178" y="2715396"/>
              <a:ext cx="398984" cy="192752"/>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72" name="直接连接符 171"/>
            <p:cNvCxnSpPr>
              <a:stCxn id="122" idx="4"/>
            </p:cNvCxnSpPr>
            <p:nvPr/>
          </p:nvCxnSpPr>
          <p:spPr>
            <a:xfrm>
              <a:off x="4094759" y="1711076"/>
              <a:ext cx="175067" cy="99270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sp>
          <p:nvSpPr>
            <p:cNvPr id="173" name="椭圆 172"/>
            <p:cNvSpPr/>
            <p:nvPr/>
          </p:nvSpPr>
          <p:spPr>
            <a:xfrm>
              <a:off x="4255630" y="2682296"/>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4" name="直接连接符 173"/>
            <p:cNvCxnSpPr>
              <a:stCxn id="173" idx="7"/>
              <a:endCxn id="59" idx="3"/>
            </p:cNvCxnSpPr>
            <p:nvPr/>
          </p:nvCxnSpPr>
          <p:spPr>
            <a:xfrm flipV="1">
              <a:off x="4292304" y="2522621"/>
              <a:ext cx="194215" cy="165968"/>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75" name="直接连接符 174"/>
            <p:cNvCxnSpPr>
              <a:stCxn id="122" idx="5"/>
              <a:endCxn id="57" idx="1"/>
            </p:cNvCxnSpPr>
            <p:nvPr/>
          </p:nvCxnSpPr>
          <p:spPr>
            <a:xfrm>
              <a:off x="4125209" y="1698463"/>
              <a:ext cx="493431" cy="387586"/>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76" name="直接连接符 175"/>
            <p:cNvCxnSpPr>
              <a:stCxn id="123" idx="4"/>
              <a:endCxn id="51" idx="7"/>
            </p:cNvCxnSpPr>
            <p:nvPr/>
          </p:nvCxnSpPr>
          <p:spPr>
            <a:xfrm flipH="1">
              <a:off x="3628988" y="1939233"/>
              <a:ext cx="178999" cy="963085"/>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a:stCxn id="52" idx="5"/>
              <a:endCxn id="51" idx="2"/>
            </p:cNvCxnSpPr>
            <p:nvPr/>
          </p:nvCxnSpPr>
          <p:spPr>
            <a:xfrm>
              <a:off x="3401030" y="2743104"/>
              <a:ext cx="191284" cy="174405"/>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78" name="直接连接符 177"/>
            <p:cNvCxnSpPr>
              <a:stCxn id="45" idx="7"/>
            </p:cNvCxnSpPr>
            <p:nvPr/>
          </p:nvCxnSpPr>
          <p:spPr>
            <a:xfrm flipV="1">
              <a:off x="3283586" y="1909944"/>
              <a:ext cx="497945" cy="40398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a:stCxn id="41" idx="6"/>
              <a:endCxn id="123" idx="1"/>
            </p:cNvCxnSpPr>
            <p:nvPr/>
          </p:nvCxnSpPr>
          <p:spPr>
            <a:xfrm flipV="1">
              <a:off x="3433429" y="1865722"/>
              <a:ext cx="344109" cy="48059"/>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80" name="直接连接符 179"/>
            <p:cNvCxnSpPr>
              <a:stCxn id="43" idx="7"/>
              <a:endCxn id="125" idx="3"/>
            </p:cNvCxnSpPr>
            <p:nvPr/>
          </p:nvCxnSpPr>
          <p:spPr>
            <a:xfrm flipV="1">
              <a:off x="3494722" y="1493286"/>
              <a:ext cx="117909" cy="208368"/>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81" name="直接连接符 180"/>
            <p:cNvCxnSpPr>
              <a:stCxn id="42" idx="6"/>
              <a:endCxn id="125" idx="1"/>
            </p:cNvCxnSpPr>
            <p:nvPr/>
          </p:nvCxnSpPr>
          <p:spPr>
            <a:xfrm>
              <a:off x="3407323" y="1406414"/>
              <a:ext cx="205307" cy="2597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82" name="直接连接符 181"/>
            <p:cNvCxnSpPr>
              <a:stCxn id="38" idx="3"/>
              <a:endCxn id="35" idx="7"/>
            </p:cNvCxnSpPr>
            <p:nvPr/>
          </p:nvCxnSpPr>
          <p:spPr>
            <a:xfrm flipH="1">
              <a:off x="2672134" y="1464570"/>
              <a:ext cx="125549" cy="266931"/>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83" name="直接连接符 182"/>
            <p:cNvCxnSpPr>
              <a:stCxn id="34" idx="5"/>
              <a:endCxn id="35" idx="1"/>
            </p:cNvCxnSpPr>
            <p:nvPr/>
          </p:nvCxnSpPr>
          <p:spPr>
            <a:xfrm>
              <a:off x="2471104" y="1618660"/>
              <a:ext cx="170648" cy="112841"/>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84" name="直接连接符 183"/>
            <p:cNvCxnSpPr>
              <a:endCxn id="39" idx="3"/>
            </p:cNvCxnSpPr>
            <p:nvPr/>
          </p:nvCxnSpPr>
          <p:spPr>
            <a:xfrm flipV="1">
              <a:off x="2678426" y="1689070"/>
              <a:ext cx="408457" cy="49258"/>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85" name="直接连接符 184"/>
            <p:cNvCxnSpPr>
              <a:stCxn id="31" idx="6"/>
              <a:endCxn id="35" idx="2"/>
            </p:cNvCxnSpPr>
            <p:nvPr/>
          </p:nvCxnSpPr>
          <p:spPr>
            <a:xfrm flipV="1">
              <a:off x="2008643" y="1746693"/>
              <a:ext cx="626817" cy="189842"/>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86" name="直接连接符 185"/>
            <p:cNvCxnSpPr>
              <a:stCxn id="31" idx="7"/>
              <a:endCxn id="33" idx="2"/>
            </p:cNvCxnSpPr>
            <p:nvPr/>
          </p:nvCxnSpPr>
          <p:spPr>
            <a:xfrm flipV="1">
              <a:off x="2002351" y="1695363"/>
              <a:ext cx="288856" cy="225981"/>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87" name="直接连接符 186"/>
            <p:cNvCxnSpPr>
              <a:stCxn id="35" idx="4"/>
              <a:endCxn id="36" idx="7"/>
            </p:cNvCxnSpPr>
            <p:nvPr/>
          </p:nvCxnSpPr>
          <p:spPr>
            <a:xfrm flipH="1">
              <a:off x="2475810" y="1768176"/>
              <a:ext cx="181134" cy="19613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88" name="直接连接符 187"/>
            <p:cNvCxnSpPr>
              <a:endCxn id="37" idx="0"/>
            </p:cNvCxnSpPr>
            <p:nvPr/>
          </p:nvCxnSpPr>
          <p:spPr>
            <a:xfrm>
              <a:off x="2656944" y="1768176"/>
              <a:ext cx="0" cy="464503"/>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89" name="直接连接符 188"/>
            <p:cNvCxnSpPr>
              <a:stCxn id="44" idx="4"/>
              <a:endCxn id="45" idx="0"/>
            </p:cNvCxnSpPr>
            <p:nvPr/>
          </p:nvCxnSpPr>
          <p:spPr>
            <a:xfrm>
              <a:off x="3255653" y="2058274"/>
              <a:ext cx="12743" cy="249361"/>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sp>
          <p:nvSpPr>
            <p:cNvPr id="190" name="椭圆 189"/>
            <p:cNvSpPr/>
            <p:nvPr/>
          </p:nvSpPr>
          <p:spPr>
            <a:xfrm>
              <a:off x="2328031" y="2437029"/>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1" name="直接连接符 190"/>
            <p:cNvCxnSpPr>
              <a:stCxn id="190" idx="7"/>
              <a:endCxn id="37" idx="3"/>
            </p:cNvCxnSpPr>
            <p:nvPr/>
          </p:nvCxnSpPr>
          <p:spPr>
            <a:xfrm flipV="1">
              <a:off x="2364705" y="2269353"/>
              <a:ext cx="277047" cy="173968"/>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92" name="直接连接符 191"/>
            <p:cNvCxnSpPr>
              <a:endCxn id="45" idx="2"/>
            </p:cNvCxnSpPr>
            <p:nvPr/>
          </p:nvCxnSpPr>
          <p:spPr>
            <a:xfrm>
              <a:off x="3013279" y="2286152"/>
              <a:ext cx="233632" cy="42967"/>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93" name="直接连接符 192"/>
            <p:cNvCxnSpPr>
              <a:stCxn id="45" idx="4"/>
              <a:endCxn id="49" idx="0"/>
            </p:cNvCxnSpPr>
            <p:nvPr/>
          </p:nvCxnSpPr>
          <p:spPr>
            <a:xfrm flipH="1">
              <a:off x="3191231" y="2350602"/>
              <a:ext cx="77164" cy="776979"/>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94" name="直接连接符 193"/>
            <p:cNvCxnSpPr>
              <a:stCxn id="47" idx="5"/>
              <a:endCxn id="49" idx="1"/>
            </p:cNvCxnSpPr>
            <p:nvPr/>
          </p:nvCxnSpPr>
          <p:spPr>
            <a:xfrm>
              <a:off x="2721672" y="2721622"/>
              <a:ext cx="454367" cy="412251"/>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95" name="直接连接符 194"/>
            <p:cNvCxnSpPr>
              <a:stCxn id="28" idx="4"/>
              <a:endCxn id="109" idx="0"/>
            </p:cNvCxnSpPr>
            <p:nvPr/>
          </p:nvCxnSpPr>
          <p:spPr>
            <a:xfrm flipH="1">
              <a:off x="1859364" y="2913462"/>
              <a:ext cx="3127" cy="194102"/>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96" name="直接连接符 195"/>
            <p:cNvCxnSpPr>
              <a:stCxn id="29" idx="5"/>
              <a:endCxn id="109" idx="1"/>
            </p:cNvCxnSpPr>
            <p:nvPr/>
          </p:nvCxnSpPr>
          <p:spPr>
            <a:xfrm>
              <a:off x="1477546" y="2705784"/>
              <a:ext cx="351369" cy="414393"/>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97" name="直接连接符 196"/>
            <p:cNvCxnSpPr>
              <a:stCxn id="25" idx="5"/>
              <a:endCxn id="24" idx="2"/>
            </p:cNvCxnSpPr>
            <p:nvPr/>
          </p:nvCxnSpPr>
          <p:spPr>
            <a:xfrm>
              <a:off x="1493132" y="3021941"/>
              <a:ext cx="153080" cy="23164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98" name="直接连接符 197"/>
            <p:cNvCxnSpPr>
              <a:stCxn id="24" idx="6"/>
              <a:endCxn id="109" idx="2"/>
            </p:cNvCxnSpPr>
            <p:nvPr/>
          </p:nvCxnSpPr>
          <p:spPr>
            <a:xfrm flipV="1">
              <a:off x="1689178" y="3150626"/>
              <a:ext cx="127124" cy="102958"/>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99" name="直接连接符 198"/>
            <p:cNvCxnSpPr>
              <a:stCxn id="21" idx="7"/>
              <a:endCxn id="109" idx="3"/>
            </p:cNvCxnSpPr>
            <p:nvPr/>
          </p:nvCxnSpPr>
          <p:spPr>
            <a:xfrm flipV="1">
              <a:off x="1664721" y="3181076"/>
              <a:ext cx="164194" cy="326246"/>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00" name="直接连接符 199"/>
            <p:cNvCxnSpPr>
              <a:stCxn id="109" idx="4"/>
              <a:endCxn id="14" idx="0"/>
            </p:cNvCxnSpPr>
            <p:nvPr/>
          </p:nvCxnSpPr>
          <p:spPr>
            <a:xfrm>
              <a:off x="1859364" y="3193688"/>
              <a:ext cx="138472" cy="603015"/>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01" name="直接连接符 200"/>
            <p:cNvCxnSpPr>
              <a:endCxn id="27" idx="2"/>
            </p:cNvCxnSpPr>
            <p:nvPr/>
          </p:nvCxnSpPr>
          <p:spPr>
            <a:xfrm>
              <a:off x="1883974" y="2891980"/>
              <a:ext cx="423697" cy="1256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02" name="直接连接符 201"/>
            <p:cNvCxnSpPr>
              <a:stCxn id="30" idx="5"/>
              <a:endCxn id="27" idx="1"/>
            </p:cNvCxnSpPr>
            <p:nvPr/>
          </p:nvCxnSpPr>
          <p:spPr>
            <a:xfrm>
              <a:off x="1962796" y="2454948"/>
              <a:ext cx="351167" cy="43440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03" name="直接连接符 202"/>
            <p:cNvCxnSpPr>
              <a:stCxn id="31" idx="4"/>
            </p:cNvCxnSpPr>
            <p:nvPr/>
          </p:nvCxnSpPr>
          <p:spPr>
            <a:xfrm flipH="1">
              <a:off x="1947605" y="1958017"/>
              <a:ext cx="39556" cy="457433"/>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04" name="直接连接符 203"/>
            <p:cNvCxnSpPr>
              <a:stCxn id="31" idx="5"/>
              <a:endCxn id="32" idx="1"/>
            </p:cNvCxnSpPr>
            <p:nvPr/>
          </p:nvCxnSpPr>
          <p:spPr>
            <a:xfrm>
              <a:off x="2002351" y="1951726"/>
              <a:ext cx="151924" cy="13432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05" name="直接连接符 204"/>
            <p:cNvCxnSpPr>
              <a:stCxn id="109" idx="5"/>
              <a:endCxn id="10" idx="2"/>
            </p:cNvCxnSpPr>
            <p:nvPr/>
          </p:nvCxnSpPr>
          <p:spPr>
            <a:xfrm>
              <a:off x="1889813" y="3181076"/>
              <a:ext cx="763262" cy="20609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06" name="直接连接符 205"/>
            <p:cNvCxnSpPr>
              <a:stCxn id="109" idx="5"/>
              <a:endCxn id="17" idx="0"/>
            </p:cNvCxnSpPr>
            <p:nvPr/>
          </p:nvCxnSpPr>
          <p:spPr>
            <a:xfrm>
              <a:off x="1889813" y="3181076"/>
              <a:ext cx="175695" cy="255505"/>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07" name="直接连接符 206"/>
            <p:cNvCxnSpPr>
              <a:stCxn id="22" idx="4"/>
              <a:endCxn id="110" idx="1"/>
            </p:cNvCxnSpPr>
            <p:nvPr/>
          </p:nvCxnSpPr>
          <p:spPr>
            <a:xfrm>
              <a:off x="1321114" y="3340980"/>
              <a:ext cx="147861" cy="808390"/>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08" name="直接连接符 207"/>
            <p:cNvCxnSpPr>
              <a:stCxn id="18" idx="4"/>
              <a:endCxn id="110" idx="0"/>
            </p:cNvCxnSpPr>
            <p:nvPr/>
          </p:nvCxnSpPr>
          <p:spPr>
            <a:xfrm flipH="1">
              <a:off x="1499423" y="3701104"/>
              <a:ext cx="1" cy="435652"/>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09" name="直接连接符 208"/>
            <p:cNvCxnSpPr>
              <a:stCxn id="19" idx="3"/>
              <a:endCxn id="110" idx="7"/>
            </p:cNvCxnSpPr>
            <p:nvPr/>
          </p:nvCxnSpPr>
          <p:spPr>
            <a:xfrm flipH="1">
              <a:off x="1529873" y="3902946"/>
              <a:ext cx="140549" cy="24642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10" name="直接连接符 209"/>
            <p:cNvCxnSpPr>
              <a:stCxn id="110" idx="6"/>
              <a:endCxn id="20" idx="3"/>
            </p:cNvCxnSpPr>
            <p:nvPr/>
          </p:nvCxnSpPr>
          <p:spPr>
            <a:xfrm flipV="1">
              <a:off x="1542485" y="4064634"/>
              <a:ext cx="444674" cy="11518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11" name="直接连接符 210"/>
            <p:cNvCxnSpPr>
              <a:stCxn id="110" idx="5"/>
              <a:endCxn id="90" idx="2"/>
            </p:cNvCxnSpPr>
            <p:nvPr/>
          </p:nvCxnSpPr>
          <p:spPr>
            <a:xfrm>
              <a:off x="1529873" y="4210268"/>
              <a:ext cx="177224" cy="7812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12" name="直接连接符 211"/>
            <p:cNvCxnSpPr>
              <a:stCxn id="91" idx="4"/>
              <a:endCxn id="114" idx="0"/>
            </p:cNvCxnSpPr>
            <p:nvPr/>
          </p:nvCxnSpPr>
          <p:spPr>
            <a:xfrm>
              <a:off x="2107842" y="4537597"/>
              <a:ext cx="130193" cy="496161"/>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13" name="直接连接符 212"/>
            <p:cNvCxnSpPr>
              <a:stCxn id="88" idx="5"/>
              <a:endCxn id="86" idx="0"/>
            </p:cNvCxnSpPr>
            <p:nvPr/>
          </p:nvCxnSpPr>
          <p:spPr>
            <a:xfrm>
              <a:off x="2306398" y="4509822"/>
              <a:ext cx="98689" cy="213838"/>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14" name="直接连接符 213"/>
            <p:cNvCxnSpPr>
              <a:stCxn id="86" idx="7"/>
              <a:endCxn id="89" idx="3"/>
            </p:cNvCxnSpPr>
            <p:nvPr/>
          </p:nvCxnSpPr>
          <p:spPr>
            <a:xfrm flipV="1">
              <a:off x="2420278" y="4282099"/>
              <a:ext cx="260002" cy="447853"/>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15" name="直接连接符 214"/>
            <p:cNvCxnSpPr>
              <a:stCxn id="86" idx="6"/>
              <a:endCxn id="87" idx="2"/>
            </p:cNvCxnSpPr>
            <p:nvPr/>
          </p:nvCxnSpPr>
          <p:spPr>
            <a:xfrm>
              <a:off x="2426570" y="4745144"/>
              <a:ext cx="204452" cy="41260"/>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16" name="直接连接符 215"/>
            <p:cNvCxnSpPr>
              <a:endCxn id="84" idx="0"/>
            </p:cNvCxnSpPr>
            <p:nvPr/>
          </p:nvCxnSpPr>
          <p:spPr>
            <a:xfrm>
              <a:off x="2411171" y="4767730"/>
              <a:ext cx="15399" cy="446589"/>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17" name="直接连接符 216"/>
            <p:cNvCxnSpPr>
              <a:stCxn id="86" idx="5"/>
              <a:endCxn id="85" idx="1"/>
            </p:cNvCxnSpPr>
            <p:nvPr/>
          </p:nvCxnSpPr>
          <p:spPr>
            <a:xfrm>
              <a:off x="2420278" y="4760335"/>
              <a:ext cx="285278" cy="359280"/>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18" name="直接连接符 217"/>
            <p:cNvCxnSpPr>
              <a:stCxn id="84" idx="6"/>
              <a:endCxn id="83" idx="2"/>
            </p:cNvCxnSpPr>
            <p:nvPr/>
          </p:nvCxnSpPr>
          <p:spPr>
            <a:xfrm>
              <a:off x="2448053" y="5235803"/>
              <a:ext cx="495405" cy="201211"/>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19" name="直接连接符 218"/>
            <p:cNvCxnSpPr>
              <a:stCxn id="93" idx="6"/>
              <a:endCxn id="94" idx="2"/>
            </p:cNvCxnSpPr>
            <p:nvPr/>
          </p:nvCxnSpPr>
          <p:spPr>
            <a:xfrm flipV="1">
              <a:off x="2741728" y="4600777"/>
              <a:ext cx="426125" cy="15678"/>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20" name="直接连接符 219"/>
            <p:cNvCxnSpPr>
              <a:stCxn id="81" idx="5"/>
              <a:endCxn id="80" idx="1"/>
            </p:cNvCxnSpPr>
            <p:nvPr/>
          </p:nvCxnSpPr>
          <p:spPr>
            <a:xfrm>
              <a:off x="3381976" y="4398686"/>
              <a:ext cx="245912" cy="200961"/>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21" name="直接连接符 220"/>
            <p:cNvCxnSpPr>
              <a:stCxn id="113" idx="7"/>
              <a:endCxn id="80" idx="3"/>
            </p:cNvCxnSpPr>
            <p:nvPr/>
          </p:nvCxnSpPr>
          <p:spPr>
            <a:xfrm flipV="1">
              <a:off x="3200197" y="4630030"/>
              <a:ext cx="427692" cy="316179"/>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22" name="直接连接符 221"/>
            <p:cNvCxnSpPr>
              <a:stCxn id="80" idx="4"/>
              <a:endCxn id="82" idx="0"/>
            </p:cNvCxnSpPr>
            <p:nvPr/>
          </p:nvCxnSpPr>
          <p:spPr>
            <a:xfrm flipH="1">
              <a:off x="3547950" y="4636321"/>
              <a:ext cx="95130" cy="40168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sp>
          <p:nvSpPr>
            <p:cNvPr id="223" name="椭圆 222"/>
            <p:cNvSpPr/>
            <p:nvPr/>
          </p:nvSpPr>
          <p:spPr>
            <a:xfrm>
              <a:off x="2884189" y="3935296"/>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4" name="直接连接符 223"/>
            <p:cNvCxnSpPr>
              <a:stCxn id="96" idx="6"/>
              <a:endCxn id="223" idx="2"/>
            </p:cNvCxnSpPr>
            <p:nvPr/>
          </p:nvCxnSpPr>
          <p:spPr>
            <a:xfrm>
              <a:off x="2695470" y="3884954"/>
              <a:ext cx="188719" cy="9340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25" name="直接连接符 224"/>
            <p:cNvCxnSpPr>
              <a:stCxn id="223" idx="4"/>
              <a:endCxn id="95" idx="0"/>
            </p:cNvCxnSpPr>
            <p:nvPr/>
          </p:nvCxnSpPr>
          <p:spPr>
            <a:xfrm>
              <a:off x="2927251" y="4021420"/>
              <a:ext cx="17771" cy="359350"/>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26" name="直接连接符 225"/>
            <p:cNvCxnSpPr>
              <a:stCxn id="223" idx="6"/>
              <a:endCxn id="97" idx="2"/>
            </p:cNvCxnSpPr>
            <p:nvPr/>
          </p:nvCxnSpPr>
          <p:spPr>
            <a:xfrm flipV="1">
              <a:off x="2970313" y="3816652"/>
              <a:ext cx="413681" cy="161706"/>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27" name="直接连接符 226"/>
            <p:cNvCxnSpPr>
              <a:stCxn id="12" idx="5"/>
              <a:endCxn id="223" idx="1"/>
            </p:cNvCxnSpPr>
            <p:nvPr/>
          </p:nvCxnSpPr>
          <p:spPr>
            <a:xfrm>
              <a:off x="2504993" y="3516221"/>
              <a:ext cx="391809" cy="431688"/>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28" name="直接连接符 227"/>
            <p:cNvCxnSpPr>
              <a:stCxn id="50" idx="6"/>
              <a:endCxn id="118" idx="2"/>
            </p:cNvCxnSpPr>
            <p:nvPr/>
          </p:nvCxnSpPr>
          <p:spPr>
            <a:xfrm flipV="1">
              <a:off x="3414872" y="3301513"/>
              <a:ext cx="390230" cy="43063"/>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29" name="直接连接符 228"/>
            <p:cNvCxnSpPr>
              <a:stCxn id="118" idx="4"/>
              <a:endCxn id="99" idx="7"/>
            </p:cNvCxnSpPr>
            <p:nvPr/>
          </p:nvCxnSpPr>
          <p:spPr>
            <a:xfrm flipH="1">
              <a:off x="3776825" y="3344575"/>
              <a:ext cx="71338" cy="38483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30" name="直接连接符 229"/>
            <p:cNvCxnSpPr>
              <a:stCxn id="117" idx="4"/>
              <a:endCxn id="100" idx="0"/>
            </p:cNvCxnSpPr>
            <p:nvPr/>
          </p:nvCxnSpPr>
          <p:spPr>
            <a:xfrm>
              <a:off x="4051697" y="3134931"/>
              <a:ext cx="86945" cy="380252"/>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31" name="直接连接符 230"/>
            <p:cNvCxnSpPr>
              <a:stCxn id="117" idx="6"/>
              <a:endCxn id="101" idx="3"/>
            </p:cNvCxnSpPr>
            <p:nvPr/>
          </p:nvCxnSpPr>
          <p:spPr>
            <a:xfrm>
              <a:off x="4094759" y="3091869"/>
              <a:ext cx="394582" cy="52466"/>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sp>
          <p:nvSpPr>
            <p:cNvPr id="232" name="Freeform 34"/>
            <p:cNvSpPr>
              <a:spLocks noEditPoints="1"/>
            </p:cNvSpPr>
            <p:nvPr/>
          </p:nvSpPr>
          <p:spPr bwMode="auto">
            <a:xfrm>
              <a:off x="3867786" y="4631608"/>
              <a:ext cx="268544" cy="270037"/>
            </a:xfrm>
            <a:custGeom>
              <a:avLst/>
              <a:gdLst>
                <a:gd name="T0" fmla="*/ 180 w 199"/>
                <a:gd name="T1" fmla="*/ 80 h 199"/>
                <a:gd name="T2" fmla="*/ 118 w 199"/>
                <a:gd name="T3" fmla="*/ 19 h 199"/>
                <a:gd name="T4" fmla="*/ 137 w 199"/>
                <a:gd name="T5" fmla="*/ 0 h 199"/>
                <a:gd name="T6" fmla="*/ 199 w 199"/>
                <a:gd name="T7" fmla="*/ 62 h 199"/>
                <a:gd name="T8" fmla="*/ 180 w 199"/>
                <a:gd name="T9" fmla="*/ 80 h 199"/>
                <a:gd name="T10" fmla="*/ 162 w 199"/>
                <a:gd name="T11" fmla="*/ 98 h 199"/>
                <a:gd name="T12" fmla="*/ 160 w 199"/>
                <a:gd name="T13" fmla="*/ 99 h 199"/>
                <a:gd name="T14" fmla="*/ 149 w 199"/>
                <a:gd name="T15" fmla="*/ 99 h 199"/>
                <a:gd name="T16" fmla="*/ 137 w 199"/>
                <a:gd name="T17" fmla="*/ 99 h 199"/>
                <a:gd name="T18" fmla="*/ 124 w 199"/>
                <a:gd name="T19" fmla="*/ 149 h 199"/>
                <a:gd name="T20" fmla="*/ 25 w 199"/>
                <a:gd name="T21" fmla="*/ 199 h 199"/>
                <a:gd name="T22" fmla="*/ 13 w 199"/>
                <a:gd name="T23" fmla="*/ 199 h 199"/>
                <a:gd name="T24" fmla="*/ 52 w 199"/>
                <a:gd name="T25" fmla="*/ 159 h 199"/>
                <a:gd name="T26" fmla="*/ 62 w 199"/>
                <a:gd name="T27" fmla="*/ 161 h 199"/>
                <a:gd name="T28" fmla="*/ 87 w 199"/>
                <a:gd name="T29" fmla="*/ 137 h 199"/>
                <a:gd name="T30" fmla="*/ 62 w 199"/>
                <a:gd name="T31" fmla="*/ 112 h 199"/>
                <a:gd name="T32" fmla="*/ 37 w 199"/>
                <a:gd name="T33" fmla="*/ 137 h 199"/>
                <a:gd name="T34" fmla="*/ 40 w 199"/>
                <a:gd name="T35" fmla="*/ 147 h 199"/>
                <a:gd name="T36" fmla="*/ 0 w 199"/>
                <a:gd name="T37" fmla="*/ 186 h 199"/>
                <a:gd name="T38" fmla="*/ 0 w 199"/>
                <a:gd name="T39" fmla="*/ 174 h 199"/>
                <a:gd name="T40" fmla="*/ 50 w 199"/>
                <a:gd name="T41" fmla="*/ 75 h 199"/>
                <a:gd name="T42" fmla="*/ 100 w 199"/>
                <a:gd name="T43" fmla="*/ 62 h 199"/>
                <a:gd name="T44" fmla="*/ 100 w 199"/>
                <a:gd name="T45" fmla="*/ 50 h 199"/>
                <a:gd name="T46" fmla="*/ 100 w 199"/>
                <a:gd name="T47" fmla="*/ 38 h 199"/>
                <a:gd name="T48" fmla="*/ 100 w 199"/>
                <a:gd name="T49" fmla="*/ 37 h 199"/>
                <a:gd name="T50" fmla="*/ 106 w 199"/>
                <a:gd name="T51" fmla="*/ 31 h 199"/>
                <a:gd name="T52" fmla="*/ 167 w 199"/>
                <a:gd name="T53" fmla="*/ 93 h 199"/>
                <a:gd name="T54" fmla="*/ 162 w 199"/>
                <a:gd name="T55" fmla="*/ 98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9" h="199">
                  <a:moveTo>
                    <a:pt x="180" y="80"/>
                  </a:moveTo>
                  <a:cubicBezTo>
                    <a:pt x="118" y="19"/>
                    <a:pt x="118" y="19"/>
                    <a:pt x="118" y="19"/>
                  </a:cubicBezTo>
                  <a:cubicBezTo>
                    <a:pt x="137" y="0"/>
                    <a:pt x="137" y="0"/>
                    <a:pt x="137" y="0"/>
                  </a:cubicBezTo>
                  <a:cubicBezTo>
                    <a:pt x="199" y="62"/>
                    <a:pt x="199" y="62"/>
                    <a:pt x="199" y="62"/>
                  </a:cubicBezTo>
                  <a:lnTo>
                    <a:pt x="180" y="80"/>
                  </a:lnTo>
                  <a:close/>
                  <a:moveTo>
                    <a:pt x="162" y="98"/>
                  </a:moveTo>
                  <a:cubicBezTo>
                    <a:pt x="161" y="99"/>
                    <a:pt x="161" y="99"/>
                    <a:pt x="160" y="99"/>
                  </a:cubicBezTo>
                  <a:cubicBezTo>
                    <a:pt x="149" y="99"/>
                    <a:pt x="149" y="99"/>
                    <a:pt x="149" y="99"/>
                  </a:cubicBezTo>
                  <a:cubicBezTo>
                    <a:pt x="137" y="99"/>
                    <a:pt x="137" y="99"/>
                    <a:pt x="137" y="99"/>
                  </a:cubicBezTo>
                  <a:cubicBezTo>
                    <a:pt x="124" y="149"/>
                    <a:pt x="124" y="149"/>
                    <a:pt x="124" y="149"/>
                  </a:cubicBezTo>
                  <a:cubicBezTo>
                    <a:pt x="25" y="199"/>
                    <a:pt x="25" y="199"/>
                    <a:pt x="25" y="199"/>
                  </a:cubicBezTo>
                  <a:cubicBezTo>
                    <a:pt x="13" y="199"/>
                    <a:pt x="13" y="199"/>
                    <a:pt x="13" y="199"/>
                  </a:cubicBezTo>
                  <a:cubicBezTo>
                    <a:pt x="52" y="159"/>
                    <a:pt x="52" y="159"/>
                    <a:pt x="52" y="159"/>
                  </a:cubicBezTo>
                  <a:cubicBezTo>
                    <a:pt x="55" y="161"/>
                    <a:pt x="59" y="161"/>
                    <a:pt x="62" y="161"/>
                  </a:cubicBezTo>
                  <a:cubicBezTo>
                    <a:pt x="76" y="161"/>
                    <a:pt x="87" y="150"/>
                    <a:pt x="87" y="137"/>
                  </a:cubicBezTo>
                  <a:cubicBezTo>
                    <a:pt x="87" y="123"/>
                    <a:pt x="76" y="112"/>
                    <a:pt x="62" y="112"/>
                  </a:cubicBezTo>
                  <a:cubicBezTo>
                    <a:pt x="49" y="112"/>
                    <a:pt x="37" y="123"/>
                    <a:pt x="37" y="137"/>
                  </a:cubicBezTo>
                  <a:cubicBezTo>
                    <a:pt x="37" y="140"/>
                    <a:pt x="38" y="144"/>
                    <a:pt x="40" y="147"/>
                  </a:cubicBezTo>
                  <a:cubicBezTo>
                    <a:pt x="0" y="186"/>
                    <a:pt x="0" y="186"/>
                    <a:pt x="0" y="186"/>
                  </a:cubicBezTo>
                  <a:cubicBezTo>
                    <a:pt x="0" y="174"/>
                    <a:pt x="0" y="174"/>
                    <a:pt x="0" y="174"/>
                  </a:cubicBezTo>
                  <a:cubicBezTo>
                    <a:pt x="50" y="75"/>
                    <a:pt x="50" y="75"/>
                    <a:pt x="50" y="75"/>
                  </a:cubicBezTo>
                  <a:cubicBezTo>
                    <a:pt x="100" y="62"/>
                    <a:pt x="100" y="62"/>
                    <a:pt x="100" y="62"/>
                  </a:cubicBezTo>
                  <a:cubicBezTo>
                    <a:pt x="100" y="50"/>
                    <a:pt x="100" y="50"/>
                    <a:pt x="100" y="50"/>
                  </a:cubicBezTo>
                  <a:cubicBezTo>
                    <a:pt x="100" y="38"/>
                    <a:pt x="100" y="38"/>
                    <a:pt x="100" y="38"/>
                  </a:cubicBezTo>
                  <a:cubicBezTo>
                    <a:pt x="100" y="37"/>
                    <a:pt x="100" y="37"/>
                    <a:pt x="100" y="37"/>
                  </a:cubicBezTo>
                  <a:cubicBezTo>
                    <a:pt x="106" y="31"/>
                    <a:pt x="106" y="31"/>
                    <a:pt x="106" y="31"/>
                  </a:cubicBezTo>
                  <a:cubicBezTo>
                    <a:pt x="167" y="93"/>
                    <a:pt x="167" y="93"/>
                    <a:pt x="167" y="93"/>
                  </a:cubicBezTo>
                  <a:lnTo>
                    <a:pt x="162" y="98"/>
                  </a:lnTo>
                  <a:close/>
                </a:path>
              </a:pathLst>
            </a:custGeom>
            <a:solidFill>
              <a:schemeClr val="bg1">
                <a:lumMod val="50000"/>
              </a:schemeClr>
            </a:solidFill>
            <a:ln>
              <a:noFill/>
            </a:ln>
          </p:spPr>
          <p:txBody>
            <a:bodyPr vert="horz" wrap="square" lIns="91440" tIns="45720" rIns="91440" bIns="45720" numCol="1" anchor="t" anchorCtr="0" compatLnSpc="1"/>
            <a:lstStyle/>
            <a:p>
              <a:endParaRPr lang="zh-CN" altLang="en-US"/>
            </a:p>
          </p:txBody>
        </p:sp>
        <p:sp>
          <p:nvSpPr>
            <p:cNvPr id="233" name="Freeform 66"/>
            <p:cNvSpPr>
              <a:spLocks noEditPoints="1"/>
            </p:cNvSpPr>
            <p:nvPr/>
          </p:nvSpPr>
          <p:spPr bwMode="auto">
            <a:xfrm>
              <a:off x="2944495" y="3315893"/>
              <a:ext cx="270037" cy="237215"/>
            </a:xfrm>
            <a:custGeom>
              <a:avLst/>
              <a:gdLst>
                <a:gd name="T0" fmla="*/ 180 w 200"/>
                <a:gd name="T1" fmla="*/ 176 h 176"/>
                <a:gd name="T2" fmla="*/ 20 w 200"/>
                <a:gd name="T3" fmla="*/ 176 h 176"/>
                <a:gd name="T4" fmla="*/ 0 w 200"/>
                <a:gd name="T5" fmla="*/ 156 h 176"/>
                <a:gd name="T6" fmla="*/ 0 w 200"/>
                <a:gd name="T7" fmla="*/ 20 h 176"/>
                <a:gd name="T8" fmla="*/ 20 w 200"/>
                <a:gd name="T9" fmla="*/ 0 h 176"/>
                <a:gd name="T10" fmla="*/ 180 w 200"/>
                <a:gd name="T11" fmla="*/ 0 h 176"/>
                <a:gd name="T12" fmla="*/ 200 w 200"/>
                <a:gd name="T13" fmla="*/ 20 h 176"/>
                <a:gd name="T14" fmla="*/ 200 w 200"/>
                <a:gd name="T15" fmla="*/ 156 h 176"/>
                <a:gd name="T16" fmla="*/ 180 w 200"/>
                <a:gd name="T17" fmla="*/ 176 h 176"/>
                <a:gd name="T18" fmla="*/ 36 w 200"/>
                <a:gd name="T19" fmla="*/ 160 h 176"/>
                <a:gd name="T20" fmla="*/ 164 w 200"/>
                <a:gd name="T21" fmla="*/ 160 h 176"/>
                <a:gd name="T22" fmla="*/ 182 w 200"/>
                <a:gd name="T23" fmla="*/ 147 h 176"/>
                <a:gd name="T24" fmla="*/ 131 w 200"/>
                <a:gd name="T25" fmla="*/ 103 h 176"/>
                <a:gd name="T26" fmla="*/ 100 w 200"/>
                <a:gd name="T27" fmla="*/ 129 h 176"/>
                <a:gd name="T28" fmla="*/ 69 w 200"/>
                <a:gd name="T29" fmla="*/ 103 h 176"/>
                <a:gd name="T30" fmla="*/ 18 w 200"/>
                <a:gd name="T31" fmla="*/ 148 h 176"/>
                <a:gd name="T32" fmla="*/ 36 w 200"/>
                <a:gd name="T33" fmla="*/ 160 h 176"/>
                <a:gd name="T34" fmla="*/ 145 w 200"/>
                <a:gd name="T35" fmla="*/ 90 h 176"/>
                <a:gd name="T36" fmla="*/ 184 w 200"/>
                <a:gd name="T37" fmla="*/ 125 h 176"/>
                <a:gd name="T38" fmla="*/ 184 w 200"/>
                <a:gd name="T39" fmla="*/ 56 h 176"/>
                <a:gd name="T40" fmla="*/ 145 w 200"/>
                <a:gd name="T41" fmla="*/ 90 h 176"/>
                <a:gd name="T42" fmla="*/ 55 w 200"/>
                <a:gd name="T43" fmla="*/ 90 h 176"/>
                <a:gd name="T44" fmla="*/ 16 w 200"/>
                <a:gd name="T45" fmla="*/ 55 h 176"/>
                <a:gd name="T46" fmla="*/ 16 w 200"/>
                <a:gd name="T47" fmla="*/ 126 h 176"/>
                <a:gd name="T48" fmla="*/ 55 w 200"/>
                <a:gd name="T49" fmla="*/ 90 h 176"/>
                <a:gd name="T50" fmla="*/ 164 w 200"/>
                <a:gd name="T51" fmla="*/ 16 h 176"/>
                <a:gd name="T52" fmla="*/ 36 w 200"/>
                <a:gd name="T53" fmla="*/ 16 h 176"/>
                <a:gd name="T54" fmla="*/ 16 w 200"/>
                <a:gd name="T55" fmla="*/ 31 h 176"/>
                <a:gd name="T56" fmla="*/ 100 w 200"/>
                <a:gd name="T57" fmla="*/ 106 h 176"/>
                <a:gd name="T58" fmla="*/ 183 w 200"/>
                <a:gd name="T59" fmla="*/ 33 h 176"/>
                <a:gd name="T60" fmla="*/ 164 w 200"/>
                <a:gd name="T61" fmla="*/ 1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00" h="176">
                  <a:moveTo>
                    <a:pt x="180" y="176"/>
                  </a:moveTo>
                  <a:cubicBezTo>
                    <a:pt x="20" y="176"/>
                    <a:pt x="20" y="176"/>
                    <a:pt x="20" y="176"/>
                  </a:cubicBezTo>
                  <a:cubicBezTo>
                    <a:pt x="8" y="176"/>
                    <a:pt x="0" y="167"/>
                    <a:pt x="0" y="156"/>
                  </a:cubicBezTo>
                  <a:cubicBezTo>
                    <a:pt x="0" y="20"/>
                    <a:pt x="0" y="20"/>
                    <a:pt x="0" y="20"/>
                  </a:cubicBezTo>
                  <a:cubicBezTo>
                    <a:pt x="0" y="9"/>
                    <a:pt x="8" y="0"/>
                    <a:pt x="20" y="0"/>
                  </a:cubicBezTo>
                  <a:cubicBezTo>
                    <a:pt x="180" y="0"/>
                    <a:pt x="180" y="0"/>
                    <a:pt x="180" y="0"/>
                  </a:cubicBezTo>
                  <a:cubicBezTo>
                    <a:pt x="191" y="0"/>
                    <a:pt x="200" y="9"/>
                    <a:pt x="200" y="20"/>
                  </a:cubicBezTo>
                  <a:cubicBezTo>
                    <a:pt x="200" y="156"/>
                    <a:pt x="200" y="156"/>
                    <a:pt x="200" y="156"/>
                  </a:cubicBezTo>
                  <a:cubicBezTo>
                    <a:pt x="200" y="167"/>
                    <a:pt x="191" y="176"/>
                    <a:pt x="180" y="176"/>
                  </a:cubicBezTo>
                  <a:close/>
                  <a:moveTo>
                    <a:pt x="36" y="160"/>
                  </a:moveTo>
                  <a:cubicBezTo>
                    <a:pt x="164" y="160"/>
                    <a:pt x="164" y="160"/>
                    <a:pt x="164" y="160"/>
                  </a:cubicBezTo>
                  <a:cubicBezTo>
                    <a:pt x="172" y="160"/>
                    <a:pt x="179" y="154"/>
                    <a:pt x="182" y="147"/>
                  </a:cubicBezTo>
                  <a:cubicBezTo>
                    <a:pt x="131" y="103"/>
                    <a:pt x="131" y="103"/>
                    <a:pt x="131" y="103"/>
                  </a:cubicBezTo>
                  <a:cubicBezTo>
                    <a:pt x="100" y="129"/>
                    <a:pt x="100" y="129"/>
                    <a:pt x="100" y="129"/>
                  </a:cubicBezTo>
                  <a:cubicBezTo>
                    <a:pt x="69" y="103"/>
                    <a:pt x="69" y="103"/>
                    <a:pt x="69" y="103"/>
                  </a:cubicBezTo>
                  <a:cubicBezTo>
                    <a:pt x="18" y="148"/>
                    <a:pt x="18" y="148"/>
                    <a:pt x="18" y="148"/>
                  </a:cubicBezTo>
                  <a:cubicBezTo>
                    <a:pt x="21" y="155"/>
                    <a:pt x="28" y="160"/>
                    <a:pt x="36" y="160"/>
                  </a:cubicBezTo>
                  <a:close/>
                  <a:moveTo>
                    <a:pt x="145" y="90"/>
                  </a:moveTo>
                  <a:cubicBezTo>
                    <a:pt x="184" y="125"/>
                    <a:pt x="184" y="125"/>
                    <a:pt x="184" y="125"/>
                  </a:cubicBezTo>
                  <a:cubicBezTo>
                    <a:pt x="184" y="56"/>
                    <a:pt x="184" y="56"/>
                    <a:pt x="184" y="56"/>
                  </a:cubicBezTo>
                  <a:lnTo>
                    <a:pt x="145" y="90"/>
                  </a:lnTo>
                  <a:close/>
                  <a:moveTo>
                    <a:pt x="55" y="90"/>
                  </a:moveTo>
                  <a:cubicBezTo>
                    <a:pt x="16" y="55"/>
                    <a:pt x="16" y="55"/>
                    <a:pt x="16" y="55"/>
                  </a:cubicBezTo>
                  <a:cubicBezTo>
                    <a:pt x="16" y="126"/>
                    <a:pt x="16" y="126"/>
                    <a:pt x="16" y="126"/>
                  </a:cubicBezTo>
                  <a:lnTo>
                    <a:pt x="55" y="90"/>
                  </a:lnTo>
                  <a:close/>
                  <a:moveTo>
                    <a:pt x="164" y="16"/>
                  </a:moveTo>
                  <a:cubicBezTo>
                    <a:pt x="36" y="16"/>
                    <a:pt x="36" y="16"/>
                    <a:pt x="36" y="16"/>
                  </a:cubicBezTo>
                  <a:cubicBezTo>
                    <a:pt x="26" y="16"/>
                    <a:pt x="18" y="22"/>
                    <a:pt x="16" y="31"/>
                  </a:cubicBezTo>
                  <a:cubicBezTo>
                    <a:pt x="100" y="106"/>
                    <a:pt x="100" y="106"/>
                    <a:pt x="100" y="106"/>
                  </a:cubicBezTo>
                  <a:cubicBezTo>
                    <a:pt x="183" y="33"/>
                    <a:pt x="183" y="33"/>
                    <a:pt x="183" y="33"/>
                  </a:cubicBezTo>
                  <a:cubicBezTo>
                    <a:pt x="182" y="23"/>
                    <a:pt x="174" y="16"/>
                    <a:pt x="164" y="16"/>
                  </a:cubicBezTo>
                  <a:close/>
                </a:path>
              </a:pathLst>
            </a:custGeom>
            <a:solidFill>
              <a:schemeClr val="bg1">
                <a:lumMod val="50000"/>
              </a:schemeClr>
            </a:solidFill>
            <a:ln>
              <a:noFill/>
            </a:ln>
          </p:spPr>
          <p:txBody>
            <a:bodyPr vert="horz" wrap="square" lIns="91440" tIns="45720" rIns="91440" bIns="45720" numCol="1" anchor="t" anchorCtr="0" compatLnSpc="1"/>
            <a:lstStyle/>
            <a:p>
              <a:endParaRPr lang="zh-CN" altLang="en-US"/>
            </a:p>
          </p:txBody>
        </p:sp>
        <p:sp>
          <p:nvSpPr>
            <p:cNvPr id="234" name="Freeform 26"/>
            <p:cNvSpPr>
              <a:spLocks noEditPoints="1"/>
            </p:cNvSpPr>
            <p:nvPr/>
          </p:nvSpPr>
          <p:spPr bwMode="auto">
            <a:xfrm>
              <a:off x="4265281" y="3733419"/>
              <a:ext cx="241690" cy="268544"/>
            </a:xfrm>
            <a:custGeom>
              <a:avLst/>
              <a:gdLst>
                <a:gd name="T0" fmla="*/ 147 w 179"/>
                <a:gd name="T1" fmla="*/ 117 h 199"/>
                <a:gd name="T2" fmla="*/ 147 w 179"/>
                <a:gd name="T3" fmla="*/ 61 h 199"/>
                <a:gd name="T4" fmla="*/ 179 w 179"/>
                <a:gd name="T5" fmla="*/ 66 h 199"/>
                <a:gd name="T6" fmla="*/ 179 w 179"/>
                <a:gd name="T7" fmla="*/ 112 h 199"/>
                <a:gd name="T8" fmla="*/ 147 w 179"/>
                <a:gd name="T9" fmla="*/ 117 h 199"/>
                <a:gd name="T10" fmla="*/ 23 w 179"/>
                <a:gd name="T11" fmla="*/ 35 h 199"/>
                <a:gd name="T12" fmla="*/ 23 w 179"/>
                <a:gd name="T13" fmla="*/ 199 h 199"/>
                <a:gd name="T14" fmla="*/ 11 w 179"/>
                <a:gd name="T15" fmla="*/ 199 h 199"/>
                <a:gd name="T16" fmla="*/ 11 w 179"/>
                <a:gd name="T17" fmla="*/ 35 h 199"/>
                <a:gd name="T18" fmla="*/ 0 w 179"/>
                <a:gd name="T19" fmla="*/ 18 h 199"/>
                <a:gd name="T20" fmla="*/ 18 w 179"/>
                <a:gd name="T21" fmla="*/ 0 h 199"/>
                <a:gd name="T22" fmla="*/ 36 w 179"/>
                <a:gd name="T23" fmla="*/ 18 h 199"/>
                <a:gd name="T24" fmla="*/ 23 w 179"/>
                <a:gd name="T25" fmla="*/ 35 h 199"/>
                <a:gd name="T26" fmla="*/ 67 w 179"/>
                <a:gd name="T27" fmla="*/ 130 h 199"/>
                <a:gd name="T28" fmla="*/ 31 w 179"/>
                <a:gd name="T29" fmla="*/ 135 h 199"/>
                <a:gd name="T30" fmla="*/ 31 w 179"/>
                <a:gd name="T31" fmla="*/ 43 h 199"/>
                <a:gd name="T32" fmla="*/ 67 w 179"/>
                <a:gd name="T33" fmla="*/ 49 h 199"/>
                <a:gd name="T34" fmla="*/ 67 w 179"/>
                <a:gd name="T35" fmla="*/ 130 h 199"/>
                <a:gd name="T36" fmla="*/ 91 w 179"/>
                <a:gd name="T37" fmla="*/ 52 h 199"/>
                <a:gd name="T38" fmla="*/ 123 w 179"/>
                <a:gd name="T39" fmla="*/ 57 h 199"/>
                <a:gd name="T40" fmla="*/ 123 w 179"/>
                <a:gd name="T41" fmla="*/ 121 h 199"/>
                <a:gd name="T42" fmla="*/ 91 w 179"/>
                <a:gd name="T43" fmla="*/ 126 h 199"/>
                <a:gd name="T44" fmla="*/ 91 w 179"/>
                <a:gd name="T45" fmla="*/ 52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9" h="199">
                  <a:moveTo>
                    <a:pt x="147" y="117"/>
                  </a:moveTo>
                  <a:cubicBezTo>
                    <a:pt x="147" y="61"/>
                    <a:pt x="147" y="61"/>
                    <a:pt x="147" y="61"/>
                  </a:cubicBezTo>
                  <a:cubicBezTo>
                    <a:pt x="179" y="66"/>
                    <a:pt x="179" y="66"/>
                    <a:pt x="179" y="66"/>
                  </a:cubicBezTo>
                  <a:cubicBezTo>
                    <a:pt x="179" y="112"/>
                    <a:pt x="179" y="112"/>
                    <a:pt x="179" y="112"/>
                  </a:cubicBezTo>
                  <a:lnTo>
                    <a:pt x="147" y="117"/>
                  </a:lnTo>
                  <a:close/>
                  <a:moveTo>
                    <a:pt x="23" y="35"/>
                  </a:moveTo>
                  <a:cubicBezTo>
                    <a:pt x="23" y="199"/>
                    <a:pt x="23" y="199"/>
                    <a:pt x="23" y="199"/>
                  </a:cubicBezTo>
                  <a:cubicBezTo>
                    <a:pt x="11" y="199"/>
                    <a:pt x="11" y="199"/>
                    <a:pt x="11" y="199"/>
                  </a:cubicBezTo>
                  <a:cubicBezTo>
                    <a:pt x="11" y="35"/>
                    <a:pt x="11" y="35"/>
                    <a:pt x="11" y="35"/>
                  </a:cubicBezTo>
                  <a:cubicBezTo>
                    <a:pt x="5" y="32"/>
                    <a:pt x="0" y="25"/>
                    <a:pt x="0" y="18"/>
                  </a:cubicBezTo>
                  <a:cubicBezTo>
                    <a:pt x="0" y="8"/>
                    <a:pt x="8" y="0"/>
                    <a:pt x="18" y="0"/>
                  </a:cubicBezTo>
                  <a:cubicBezTo>
                    <a:pt x="28" y="0"/>
                    <a:pt x="36" y="8"/>
                    <a:pt x="36" y="18"/>
                  </a:cubicBezTo>
                  <a:cubicBezTo>
                    <a:pt x="36" y="26"/>
                    <a:pt x="31" y="33"/>
                    <a:pt x="23" y="35"/>
                  </a:cubicBezTo>
                  <a:close/>
                  <a:moveTo>
                    <a:pt x="67" y="130"/>
                  </a:moveTo>
                  <a:cubicBezTo>
                    <a:pt x="31" y="135"/>
                    <a:pt x="31" y="135"/>
                    <a:pt x="31" y="135"/>
                  </a:cubicBezTo>
                  <a:cubicBezTo>
                    <a:pt x="31" y="43"/>
                    <a:pt x="31" y="43"/>
                    <a:pt x="31" y="43"/>
                  </a:cubicBezTo>
                  <a:cubicBezTo>
                    <a:pt x="67" y="49"/>
                    <a:pt x="67" y="49"/>
                    <a:pt x="67" y="49"/>
                  </a:cubicBezTo>
                  <a:lnTo>
                    <a:pt x="67" y="130"/>
                  </a:lnTo>
                  <a:close/>
                  <a:moveTo>
                    <a:pt x="91" y="52"/>
                  </a:moveTo>
                  <a:cubicBezTo>
                    <a:pt x="123" y="57"/>
                    <a:pt x="123" y="57"/>
                    <a:pt x="123" y="57"/>
                  </a:cubicBezTo>
                  <a:cubicBezTo>
                    <a:pt x="123" y="121"/>
                    <a:pt x="123" y="121"/>
                    <a:pt x="123" y="121"/>
                  </a:cubicBezTo>
                  <a:cubicBezTo>
                    <a:pt x="91" y="126"/>
                    <a:pt x="91" y="126"/>
                    <a:pt x="91" y="126"/>
                  </a:cubicBezTo>
                  <a:lnTo>
                    <a:pt x="91" y="52"/>
                  </a:lnTo>
                  <a:close/>
                </a:path>
              </a:pathLst>
            </a:custGeom>
            <a:solidFill>
              <a:schemeClr val="bg1">
                <a:lumMod val="50000"/>
              </a:schemeClr>
            </a:solidFill>
            <a:ln>
              <a:noFill/>
            </a:ln>
          </p:spPr>
          <p:txBody>
            <a:bodyPr vert="horz" wrap="square" lIns="91440" tIns="45720" rIns="91440" bIns="45720" numCol="1" anchor="t" anchorCtr="0" compatLnSpc="1"/>
            <a:lstStyle/>
            <a:p>
              <a:endParaRPr lang="zh-CN" altLang="en-US"/>
            </a:p>
          </p:txBody>
        </p:sp>
        <p:sp>
          <p:nvSpPr>
            <p:cNvPr id="235" name="Freeform 143"/>
            <p:cNvSpPr>
              <a:spLocks noEditPoints="1"/>
            </p:cNvSpPr>
            <p:nvPr/>
          </p:nvSpPr>
          <p:spPr bwMode="auto">
            <a:xfrm>
              <a:off x="1744999" y="4588078"/>
              <a:ext cx="268544" cy="241690"/>
            </a:xfrm>
            <a:custGeom>
              <a:avLst/>
              <a:gdLst>
                <a:gd name="T0" fmla="*/ 180 w 198"/>
                <a:gd name="T1" fmla="*/ 73 h 179"/>
                <a:gd name="T2" fmla="*/ 18 w 198"/>
                <a:gd name="T3" fmla="*/ 73 h 179"/>
                <a:gd name="T4" fmla="*/ 0 w 198"/>
                <a:gd name="T5" fmla="*/ 55 h 179"/>
                <a:gd name="T6" fmla="*/ 198 w 198"/>
                <a:gd name="T7" fmla="*/ 55 h 179"/>
                <a:gd name="T8" fmla="*/ 180 w 198"/>
                <a:gd name="T9" fmla="*/ 73 h 179"/>
                <a:gd name="T10" fmla="*/ 171 w 198"/>
                <a:gd name="T11" fmla="*/ 82 h 179"/>
                <a:gd name="T12" fmla="*/ 153 w 198"/>
                <a:gd name="T13" fmla="*/ 100 h 179"/>
                <a:gd name="T14" fmla="*/ 45 w 198"/>
                <a:gd name="T15" fmla="*/ 100 h 179"/>
                <a:gd name="T16" fmla="*/ 27 w 198"/>
                <a:gd name="T17" fmla="*/ 82 h 179"/>
                <a:gd name="T18" fmla="*/ 171 w 198"/>
                <a:gd name="T19" fmla="*/ 82 h 179"/>
                <a:gd name="T20" fmla="*/ 144 w 198"/>
                <a:gd name="T21" fmla="*/ 109 h 179"/>
                <a:gd name="T22" fmla="*/ 126 w 198"/>
                <a:gd name="T23" fmla="*/ 127 h 179"/>
                <a:gd name="T24" fmla="*/ 72 w 198"/>
                <a:gd name="T25" fmla="*/ 127 h 179"/>
                <a:gd name="T26" fmla="*/ 54 w 198"/>
                <a:gd name="T27" fmla="*/ 109 h 179"/>
                <a:gd name="T28" fmla="*/ 144 w 198"/>
                <a:gd name="T29" fmla="*/ 109 h 179"/>
                <a:gd name="T30" fmla="*/ 99 w 198"/>
                <a:gd name="T31" fmla="*/ 129 h 179"/>
                <a:gd name="T32" fmla="*/ 124 w 198"/>
                <a:gd name="T33" fmla="*/ 154 h 179"/>
                <a:gd name="T34" fmla="*/ 99 w 198"/>
                <a:gd name="T35" fmla="*/ 179 h 179"/>
                <a:gd name="T36" fmla="*/ 73 w 198"/>
                <a:gd name="T37" fmla="*/ 154 h 179"/>
                <a:gd name="T38" fmla="*/ 99 w 198"/>
                <a:gd name="T39" fmla="*/ 12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8" h="179">
                  <a:moveTo>
                    <a:pt x="180" y="73"/>
                  </a:moveTo>
                  <a:cubicBezTo>
                    <a:pt x="135" y="28"/>
                    <a:pt x="63" y="28"/>
                    <a:pt x="18" y="73"/>
                  </a:cubicBezTo>
                  <a:cubicBezTo>
                    <a:pt x="0" y="55"/>
                    <a:pt x="0" y="55"/>
                    <a:pt x="0" y="55"/>
                  </a:cubicBezTo>
                  <a:cubicBezTo>
                    <a:pt x="55" y="0"/>
                    <a:pt x="143" y="0"/>
                    <a:pt x="198" y="55"/>
                  </a:cubicBezTo>
                  <a:lnTo>
                    <a:pt x="180" y="73"/>
                  </a:lnTo>
                  <a:close/>
                  <a:moveTo>
                    <a:pt x="171" y="82"/>
                  </a:moveTo>
                  <a:cubicBezTo>
                    <a:pt x="153" y="100"/>
                    <a:pt x="153" y="100"/>
                    <a:pt x="153" y="100"/>
                  </a:cubicBezTo>
                  <a:cubicBezTo>
                    <a:pt x="123" y="70"/>
                    <a:pt x="75" y="70"/>
                    <a:pt x="45" y="100"/>
                  </a:cubicBezTo>
                  <a:cubicBezTo>
                    <a:pt x="27" y="82"/>
                    <a:pt x="27" y="82"/>
                    <a:pt x="27" y="82"/>
                  </a:cubicBezTo>
                  <a:cubicBezTo>
                    <a:pt x="67" y="42"/>
                    <a:pt x="131" y="42"/>
                    <a:pt x="171" y="82"/>
                  </a:cubicBezTo>
                  <a:close/>
                  <a:moveTo>
                    <a:pt x="144" y="109"/>
                  </a:moveTo>
                  <a:cubicBezTo>
                    <a:pt x="126" y="127"/>
                    <a:pt x="126" y="127"/>
                    <a:pt x="126" y="127"/>
                  </a:cubicBezTo>
                  <a:cubicBezTo>
                    <a:pt x="111" y="112"/>
                    <a:pt x="87" y="112"/>
                    <a:pt x="72" y="127"/>
                  </a:cubicBezTo>
                  <a:cubicBezTo>
                    <a:pt x="54" y="109"/>
                    <a:pt x="54" y="109"/>
                    <a:pt x="54" y="109"/>
                  </a:cubicBezTo>
                  <a:cubicBezTo>
                    <a:pt x="79" y="84"/>
                    <a:pt x="119" y="84"/>
                    <a:pt x="144" y="109"/>
                  </a:cubicBezTo>
                  <a:close/>
                  <a:moveTo>
                    <a:pt x="99" y="129"/>
                  </a:moveTo>
                  <a:cubicBezTo>
                    <a:pt x="113" y="129"/>
                    <a:pt x="124" y="140"/>
                    <a:pt x="124" y="154"/>
                  </a:cubicBezTo>
                  <a:cubicBezTo>
                    <a:pt x="124" y="168"/>
                    <a:pt x="113" y="179"/>
                    <a:pt x="99" y="179"/>
                  </a:cubicBezTo>
                  <a:cubicBezTo>
                    <a:pt x="85" y="179"/>
                    <a:pt x="73" y="168"/>
                    <a:pt x="73" y="154"/>
                  </a:cubicBezTo>
                  <a:cubicBezTo>
                    <a:pt x="73" y="140"/>
                    <a:pt x="85" y="129"/>
                    <a:pt x="99" y="129"/>
                  </a:cubicBezTo>
                  <a:close/>
                </a:path>
              </a:pathLst>
            </a:custGeom>
            <a:solidFill>
              <a:schemeClr val="bg1">
                <a:lumMod val="50000"/>
              </a:schemeClr>
            </a:solidFill>
            <a:ln>
              <a:noFill/>
            </a:ln>
          </p:spPr>
          <p:txBody>
            <a:bodyPr vert="horz" wrap="square" lIns="91440" tIns="45720" rIns="91440" bIns="45720" numCol="1" anchor="t" anchorCtr="0" compatLnSpc="1"/>
            <a:lstStyle/>
            <a:p>
              <a:endParaRPr lang="zh-CN" altLang="en-US"/>
            </a:p>
          </p:txBody>
        </p:sp>
        <p:sp>
          <p:nvSpPr>
            <p:cNvPr id="236" name="Freeform 239"/>
            <p:cNvSpPr>
              <a:spLocks noEditPoints="1"/>
            </p:cNvSpPr>
            <p:nvPr/>
          </p:nvSpPr>
          <p:spPr bwMode="auto">
            <a:xfrm>
              <a:off x="1527877" y="2325282"/>
              <a:ext cx="259593" cy="253625"/>
            </a:xfrm>
            <a:custGeom>
              <a:avLst/>
              <a:gdLst>
                <a:gd name="T0" fmla="*/ 123 w 192"/>
                <a:gd name="T1" fmla="*/ 175 h 188"/>
                <a:gd name="T2" fmla="*/ 123 w 192"/>
                <a:gd name="T3" fmla="*/ 148 h 188"/>
                <a:gd name="T4" fmla="*/ 68 w 192"/>
                <a:gd name="T5" fmla="*/ 149 h 188"/>
                <a:gd name="T6" fmla="*/ 68 w 192"/>
                <a:gd name="T7" fmla="*/ 176 h 188"/>
                <a:gd name="T8" fmla="*/ 56 w 192"/>
                <a:gd name="T9" fmla="*/ 182 h 188"/>
                <a:gd name="T10" fmla="*/ 60 w 192"/>
                <a:gd name="T11" fmla="*/ 188 h 188"/>
                <a:gd name="T12" fmla="*/ 130 w 192"/>
                <a:gd name="T13" fmla="*/ 188 h 188"/>
                <a:gd name="T14" fmla="*/ 135 w 192"/>
                <a:gd name="T15" fmla="*/ 183 h 188"/>
                <a:gd name="T16" fmla="*/ 123 w 192"/>
                <a:gd name="T17" fmla="*/ 175 h 188"/>
                <a:gd name="T18" fmla="*/ 173 w 192"/>
                <a:gd name="T19" fmla="*/ 0 h 188"/>
                <a:gd name="T20" fmla="*/ 18 w 192"/>
                <a:gd name="T21" fmla="*/ 0 h 188"/>
                <a:gd name="T22" fmla="*/ 0 w 192"/>
                <a:gd name="T23" fmla="*/ 19 h 188"/>
                <a:gd name="T24" fmla="*/ 0 w 192"/>
                <a:gd name="T25" fmla="*/ 126 h 188"/>
                <a:gd name="T26" fmla="*/ 18 w 192"/>
                <a:gd name="T27" fmla="*/ 144 h 188"/>
                <a:gd name="T28" fmla="*/ 173 w 192"/>
                <a:gd name="T29" fmla="*/ 144 h 188"/>
                <a:gd name="T30" fmla="*/ 192 w 192"/>
                <a:gd name="T31" fmla="*/ 126 h 188"/>
                <a:gd name="T32" fmla="*/ 192 w 192"/>
                <a:gd name="T33" fmla="*/ 19 h 188"/>
                <a:gd name="T34" fmla="*/ 173 w 192"/>
                <a:gd name="T35" fmla="*/ 0 h 188"/>
                <a:gd name="T36" fmla="*/ 180 w 192"/>
                <a:gd name="T37" fmla="*/ 100 h 188"/>
                <a:gd name="T38" fmla="*/ 167 w 192"/>
                <a:gd name="T39" fmla="*/ 112 h 188"/>
                <a:gd name="T40" fmla="*/ 24 w 192"/>
                <a:gd name="T41" fmla="*/ 112 h 188"/>
                <a:gd name="T42" fmla="*/ 11 w 192"/>
                <a:gd name="T43" fmla="*/ 100 h 188"/>
                <a:gd name="T44" fmla="*/ 11 w 192"/>
                <a:gd name="T45" fmla="*/ 25 h 188"/>
                <a:gd name="T46" fmla="*/ 24 w 192"/>
                <a:gd name="T47" fmla="*/ 12 h 188"/>
                <a:gd name="T48" fmla="*/ 167 w 192"/>
                <a:gd name="T49" fmla="*/ 12 h 188"/>
                <a:gd name="T50" fmla="*/ 180 w 192"/>
                <a:gd name="T51" fmla="*/ 25 h 188"/>
                <a:gd name="T52" fmla="*/ 180 w 192"/>
                <a:gd name="T53" fmla="*/ 100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2" h="188">
                  <a:moveTo>
                    <a:pt x="123" y="175"/>
                  </a:moveTo>
                  <a:cubicBezTo>
                    <a:pt x="123" y="148"/>
                    <a:pt x="123" y="148"/>
                    <a:pt x="123" y="148"/>
                  </a:cubicBezTo>
                  <a:cubicBezTo>
                    <a:pt x="68" y="149"/>
                    <a:pt x="68" y="149"/>
                    <a:pt x="68" y="149"/>
                  </a:cubicBezTo>
                  <a:cubicBezTo>
                    <a:pt x="68" y="176"/>
                    <a:pt x="68" y="176"/>
                    <a:pt x="68" y="176"/>
                  </a:cubicBezTo>
                  <a:cubicBezTo>
                    <a:pt x="56" y="182"/>
                    <a:pt x="56" y="182"/>
                    <a:pt x="56" y="182"/>
                  </a:cubicBezTo>
                  <a:cubicBezTo>
                    <a:pt x="56" y="182"/>
                    <a:pt x="53" y="188"/>
                    <a:pt x="60" y="188"/>
                  </a:cubicBezTo>
                  <a:cubicBezTo>
                    <a:pt x="130" y="188"/>
                    <a:pt x="130" y="188"/>
                    <a:pt x="130" y="188"/>
                  </a:cubicBezTo>
                  <a:cubicBezTo>
                    <a:pt x="130" y="188"/>
                    <a:pt x="138" y="185"/>
                    <a:pt x="135" y="183"/>
                  </a:cubicBezTo>
                  <a:cubicBezTo>
                    <a:pt x="133" y="180"/>
                    <a:pt x="123" y="175"/>
                    <a:pt x="123" y="175"/>
                  </a:cubicBezTo>
                  <a:close/>
                  <a:moveTo>
                    <a:pt x="173" y="0"/>
                  </a:moveTo>
                  <a:cubicBezTo>
                    <a:pt x="18" y="0"/>
                    <a:pt x="18" y="0"/>
                    <a:pt x="18" y="0"/>
                  </a:cubicBezTo>
                  <a:cubicBezTo>
                    <a:pt x="8" y="0"/>
                    <a:pt x="0" y="9"/>
                    <a:pt x="0" y="19"/>
                  </a:cubicBezTo>
                  <a:cubicBezTo>
                    <a:pt x="0" y="126"/>
                    <a:pt x="0" y="126"/>
                    <a:pt x="0" y="126"/>
                  </a:cubicBezTo>
                  <a:cubicBezTo>
                    <a:pt x="0" y="136"/>
                    <a:pt x="8" y="144"/>
                    <a:pt x="18" y="144"/>
                  </a:cubicBezTo>
                  <a:cubicBezTo>
                    <a:pt x="173" y="144"/>
                    <a:pt x="173" y="144"/>
                    <a:pt x="173" y="144"/>
                  </a:cubicBezTo>
                  <a:cubicBezTo>
                    <a:pt x="183" y="144"/>
                    <a:pt x="192" y="136"/>
                    <a:pt x="192" y="126"/>
                  </a:cubicBezTo>
                  <a:cubicBezTo>
                    <a:pt x="192" y="19"/>
                    <a:pt x="192" y="19"/>
                    <a:pt x="192" y="19"/>
                  </a:cubicBezTo>
                  <a:cubicBezTo>
                    <a:pt x="192" y="9"/>
                    <a:pt x="183" y="0"/>
                    <a:pt x="173" y="0"/>
                  </a:cubicBezTo>
                  <a:close/>
                  <a:moveTo>
                    <a:pt x="180" y="100"/>
                  </a:moveTo>
                  <a:cubicBezTo>
                    <a:pt x="180" y="107"/>
                    <a:pt x="174" y="112"/>
                    <a:pt x="167" y="112"/>
                  </a:cubicBezTo>
                  <a:cubicBezTo>
                    <a:pt x="24" y="112"/>
                    <a:pt x="24" y="112"/>
                    <a:pt x="24" y="112"/>
                  </a:cubicBezTo>
                  <a:cubicBezTo>
                    <a:pt x="17" y="112"/>
                    <a:pt x="11" y="107"/>
                    <a:pt x="11" y="100"/>
                  </a:cubicBezTo>
                  <a:cubicBezTo>
                    <a:pt x="11" y="25"/>
                    <a:pt x="11" y="25"/>
                    <a:pt x="11" y="25"/>
                  </a:cubicBezTo>
                  <a:cubicBezTo>
                    <a:pt x="11" y="18"/>
                    <a:pt x="17" y="12"/>
                    <a:pt x="24" y="12"/>
                  </a:cubicBezTo>
                  <a:cubicBezTo>
                    <a:pt x="167" y="12"/>
                    <a:pt x="167" y="12"/>
                    <a:pt x="167" y="12"/>
                  </a:cubicBezTo>
                  <a:cubicBezTo>
                    <a:pt x="174" y="12"/>
                    <a:pt x="180" y="18"/>
                    <a:pt x="180" y="25"/>
                  </a:cubicBezTo>
                  <a:lnTo>
                    <a:pt x="180" y="100"/>
                  </a:lnTo>
                  <a:close/>
                </a:path>
              </a:pathLst>
            </a:custGeom>
            <a:solidFill>
              <a:schemeClr val="bg1">
                <a:lumMod val="50000"/>
              </a:schemeClr>
            </a:solidFill>
            <a:ln>
              <a:noFill/>
            </a:ln>
          </p:spPr>
          <p:txBody>
            <a:bodyPr vert="horz" wrap="square" lIns="91440" tIns="45720" rIns="91440" bIns="45720" numCol="1" anchor="t" anchorCtr="0" compatLnSpc="1"/>
            <a:lstStyle/>
            <a:p>
              <a:endParaRPr lang="zh-CN" altLang="en-US"/>
            </a:p>
          </p:txBody>
        </p:sp>
        <p:sp>
          <p:nvSpPr>
            <p:cNvPr id="237" name="Freeform 54"/>
            <p:cNvSpPr>
              <a:spLocks noEditPoints="1"/>
            </p:cNvSpPr>
            <p:nvPr/>
          </p:nvSpPr>
          <p:spPr bwMode="auto">
            <a:xfrm>
              <a:off x="4760280" y="2207983"/>
              <a:ext cx="258102" cy="256609"/>
            </a:xfrm>
            <a:custGeom>
              <a:avLst/>
              <a:gdLst>
                <a:gd name="T0" fmla="*/ 0 w 191"/>
                <a:gd name="T1" fmla="*/ 95 h 190"/>
                <a:gd name="T2" fmla="*/ 2 w 191"/>
                <a:gd name="T3" fmla="*/ 78 h 190"/>
                <a:gd name="T4" fmla="*/ 96 w 191"/>
                <a:gd name="T5" fmla="*/ 0 h 190"/>
                <a:gd name="T6" fmla="*/ 96 w 191"/>
                <a:gd name="T7" fmla="*/ 190 h 190"/>
                <a:gd name="T8" fmla="*/ 146 w 191"/>
                <a:gd name="T9" fmla="*/ 72 h 190"/>
                <a:gd name="T10" fmla="*/ 175 w 191"/>
                <a:gd name="T11" fmla="*/ 66 h 190"/>
                <a:gd name="T12" fmla="*/ 139 w 191"/>
                <a:gd name="T13" fmla="*/ 55 h 190"/>
                <a:gd name="T14" fmla="*/ 154 w 191"/>
                <a:gd name="T15" fmla="*/ 34 h 190"/>
                <a:gd name="T16" fmla="*/ 82 w 191"/>
                <a:gd name="T17" fmla="*/ 34 h 190"/>
                <a:gd name="T18" fmla="*/ 106 w 191"/>
                <a:gd name="T19" fmla="*/ 51 h 190"/>
                <a:gd name="T20" fmla="*/ 81 w 191"/>
                <a:gd name="T21" fmla="*/ 43 h 190"/>
                <a:gd name="T22" fmla="*/ 66 w 191"/>
                <a:gd name="T23" fmla="*/ 45 h 190"/>
                <a:gd name="T24" fmla="*/ 36 w 191"/>
                <a:gd name="T25" fmla="*/ 96 h 190"/>
                <a:gd name="T26" fmla="*/ 47 w 191"/>
                <a:gd name="T27" fmla="*/ 107 h 190"/>
                <a:gd name="T28" fmla="*/ 59 w 191"/>
                <a:gd name="T29" fmla="*/ 104 h 190"/>
                <a:gd name="T30" fmla="*/ 101 w 191"/>
                <a:gd name="T31" fmla="*/ 87 h 190"/>
                <a:gd name="T32" fmla="*/ 69 w 191"/>
                <a:gd name="T33" fmla="*/ 115 h 190"/>
                <a:gd name="T34" fmla="*/ 108 w 191"/>
                <a:gd name="T35" fmla="*/ 93 h 190"/>
                <a:gd name="T36" fmla="*/ 110 w 191"/>
                <a:gd name="T37" fmla="*/ 124 h 190"/>
                <a:gd name="T38" fmla="*/ 141 w 191"/>
                <a:gd name="T39" fmla="*/ 117 h 190"/>
                <a:gd name="T40" fmla="*/ 140 w 191"/>
                <a:gd name="T41" fmla="*/ 87 h 190"/>
                <a:gd name="T42" fmla="*/ 157 w 191"/>
                <a:gd name="T43" fmla="*/ 123 h 190"/>
                <a:gd name="T44" fmla="*/ 181 w 191"/>
                <a:gd name="T45" fmla="*/ 95 h 190"/>
                <a:gd name="T46" fmla="*/ 145 w 191"/>
                <a:gd name="T47" fmla="*/ 75 h 190"/>
                <a:gd name="T48" fmla="*/ 30 w 191"/>
                <a:gd name="T49" fmla="*/ 106 h 190"/>
                <a:gd name="T50" fmla="*/ 26 w 191"/>
                <a:gd name="T51" fmla="*/ 107 h 190"/>
                <a:gd name="T52" fmla="*/ 28 w 191"/>
                <a:gd name="T53" fmla="*/ 146 h 190"/>
                <a:gd name="T54" fmla="*/ 43 w 191"/>
                <a:gd name="T55" fmla="*/ 116 h 190"/>
                <a:gd name="T56" fmla="*/ 119 w 191"/>
                <a:gd name="T57" fmla="*/ 166 h 190"/>
                <a:gd name="T58" fmla="*/ 118 w 191"/>
                <a:gd name="T59" fmla="*/ 177 h 190"/>
                <a:gd name="T60" fmla="*/ 143 w 191"/>
                <a:gd name="T61" fmla="*/ 142 h 190"/>
                <a:gd name="T62" fmla="*/ 110 w 191"/>
                <a:gd name="T63" fmla="*/ 131 h 190"/>
                <a:gd name="T64" fmla="*/ 119 w 191"/>
                <a:gd name="T65" fmla="*/ 166 h 190"/>
                <a:gd name="T66" fmla="*/ 159 w 191"/>
                <a:gd name="T67" fmla="*/ 129 h 190"/>
                <a:gd name="T68" fmla="*/ 151 w 191"/>
                <a:gd name="T69" fmla="*/ 141 h 190"/>
                <a:gd name="T70" fmla="*/ 175 w 191"/>
                <a:gd name="T71" fmla="*/ 126 h 190"/>
                <a:gd name="T72" fmla="*/ 112 w 191"/>
                <a:gd name="T73" fmla="*/ 178 h 190"/>
                <a:gd name="T74" fmla="*/ 110 w 191"/>
                <a:gd name="T75" fmla="*/ 173 h 190"/>
                <a:gd name="T76" fmla="*/ 107 w 191"/>
                <a:gd name="T77" fmla="*/ 160 h 190"/>
                <a:gd name="T78" fmla="*/ 67 w 191"/>
                <a:gd name="T79" fmla="*/ 123 h 190"/>
                <a:gd name="T80" fmla="*/ 48 w 191"/>
                <a:gd name="T81" fmla="*/ 127 h 190"/>
                <a:gd name="T82" fmla="*/ 96 w 191"/>
                <a:gd name="T83" fmla="*/ 180 h 190"/>
                <a:gd name="T84" fmla="*/ 19 w 191"/>
                <a:gd name="T85" fmla="*/ 104 h 190"/>
                <a:gd name="T86" fmla="*/ 11 w 191"/>
                <a:gd name="T87" fmla="*/ 92 h 190"/>
                <a:gd name="T88" fmla="*/ 15 w 191"/>
                <a:gd name="T89" fmla="*/ 121 h 190"/>
                <a:gd name="T90" fmla="*/ 18 w 191"/>
                <a:gd name="T91" fmla="*/ 90 h 190"/>
                <a:gd name="T92" fmla="*/ 26 w 191"/>
                <a:gd name="T93" fmla="*/ 86 h 190"/>
                <a:gd name="T94" fmla="*/ 62 w 191"/>
                <a:gd name="T95" fmla="*/ 37 h 190"/>
                <a:gd name="T96" fmla="*/ 42 w 191"/>
                <a:gd name="T97" fmla="*/ 29 h 190"/>
                <a:gd name="T98" fmla="*/ 49 w 191"/>
                <a:gd name="T99" fmla="*/ 24 h 190"/>
                <a:gd name="T100" fmla="*/ 72 w 191"/>
                <a:gd name="T101" fmla="*/ 27 h 190"/>
                <a:gd name="T102" fmla="*/ 121 w 191"/>
                <a:gd name="T103" fmla="*/ 14 h 190"/>
                <a:gd name="T104" fmla="*/ 49 w 191"/>
                <a:gd name="T105" fmla="*/ 24 h 190"/>
                <a:gd name="T106" fmla="*/ 102 w 191"/>
                <a:gd name="T107" fmla="*/ 71 h 190"/>
                <a:gd name="T108" fmla="*/ 138 w 191"/>
                <a:gd name="T109" fmla="*/ 71 h 190"/>
                <a:gd name="T110" fmla="*/ 120 w 191"/>
                <a:gd name="T111" fmla="*/ 60 h 190"/>
                <a:gd name="T112" fmla="*/ 120 w 191"/>
                <a:gd name="T113" fmla="*/ 83 h 190"/>
                <a:gd name="T114" fmla="*/ 120 w 191"/>
                <a:gd name="T115" fmla="*/ 60 h 190"/>
                <a:gd name="T116" fmla="*/ 115 w 191"/>
                <a:gd name="T117" fmla="*/ 71 h 190"/>
                <a:gd name="T118" fmla="*/ 126 w 191"/>
                <a:gd name="T119" fmla="*/ 71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1" h="190">
                  <a:moveTo>
                    <a:pt x="96" y="190"/>
                  </a:moveTo>
                  <a:cubicBezTo>
                    <a:pt x="43" y="190"/>
                    <a:pt x="0" y="147"/>
                    <a:pt x="0" y="95"/>
                  </a:cubicBezTo>
                  <a:cubicBezTo>
                    <a:pt x="0" y="90"/>
                    <a:pt x="1" y="85"/>
                    <a:pt x="2" y="80"/>
                  </a:cubicBezTo>
                  <a:cubicBezTo>
                    <a:pt x="2" y="78"/>
                    <a:pt x="2" y="78"/>
                    <a:pt x="2" y="78"/>
                  </a:cubicBezTo>
                  <a:cubicBezTo>
                    <a:pt x="2" y="78"/>
                    <a:pt x="2" y="78"/>
                    <a:pt x="2" y="78"/>
                  </a:cubicBezTo>
                  <a:cubicBezTo>
                    <a:pt x="10" y="34"/>
                    <a:pt x="49" y="0"/>
                    <a:pt x="96" y="0"/>
                  </a:cubicBezTo>
                  <a:cubicBezTo>
                    <a:pt x="148" y="0"/>
                    <a:pt x="191" y="42"/>
                    <a:pt x="191" y="95"/>
                  </a:cubicBezTo>
                  <a:cubicBezTo>
                    <a:pt x="191" y="147"/>
                    <a:pt x="148" y="190"/>
                    <a:pt x="96" y="190"/>
                  </a:cubicBezTo>
                  <a:close/>
                  <a:moveTo>
                    <a:pt x="145" y="75"/>
                  </a:moveTo>
                  <a:cubicBezTo>
                    <a:pt x="145" y="74"/>
                    <a:pt x="146" y="73"/>
                    <a:pt x="146" y="72"/>
                  </a:cubicBezTo>
                  <a:cubicBezTo>
                    <a:pt x="146" y="70"/>
                    <a:pt x="145" y="68"/>
                    <a:pt x="145" y="67"/>
                  </a:cubicBezTo>
                  <a:cubicBezTo>
                    <a:pt x="154" y="66"/>
                    <a:pt x="164" y="65"/>
                    <a:pt x="175" y="66"/>
                  </a:cubicBezTo>
                  <a:cubicBezTo>
                    <a:pt x="172" y="56"/>
                    <a:pt x="167" y="47"/>
                    <a:pt x="160" y="40"/>
                  </a:cubicBezTo>
                  <a:cubicBezTo>
                    <a:pt x="155" y="42"/>
                    <a:pt x="147" y="47"/>
                    <a:pt x="139" y="55"/>
                  </a:cubicBezTo>
                  <a:cubicBezTo>
                    <a:pt x="138" y="53"/>
                    <a:pt x="136" y="52"/>
                    <a:pt x="134" y="50"/>
                  </a:cubicBezTo>
                  <a:cubicBezTo>
                    <a:pt x="142" y="42"/>
                    <a:pt x="150" y="36"/>
                    <a:pt x="154" y="34"/>
                  </a:cubicBezTo>
                  <a:cubicBezTo>
                    <a:pt x="147" y="27"/>
                    <a:pt x="139" y="22"/>
                    <a:pt x="131" y="18"/>
                  </a:cubicBezTo>
                  <a:cubicBezTo>
                    <a:pt x="123" y="19"/>
                    <a:pt x="103" y="22"/>
                    <a:pt x="82" y="34"/>
                  </a:cubicBezTo>
                  <a:cubicBezTo>
                    <a:pt x="82" y="35"/>
                    <a:pt x="82" y="36"/>
                    <a:pt x="82" y="37"/>
                  </a:cubicBezTo>
                  <a:cubicBezTo>
                    <a:pt x="90" y="40"/>
                    <a:pt x="99" y="45"/>
                    <a:pt x="106" y="51"/>
                  </a:cubicBezTo>
                  <a:cubicBezTo>
                    <a:pt x="105" y="52"/>
                    <a:pt x="103" y="53"/>
                    <a:pt x="102" y="55"/>
                  </a:cubicBezTo>
                  <a:cubicBezTo>
                    <a:pt x="96" y="51"/>
                    <a:pt x="89" y="46"/>
                    <a:pt x="81" y="43"/>
                  </a:cubicBezTo>
                  <a:cubicBezTo>
                    <a:pt x="79" y="45"/>
                    <a:pt x="76" y="47"/>
                    <a:pt x="72" y="47"/>
                  </a:cubicBezTo>
                  <a:cubicBezTo>
                    <a:pt x="70" y="47"/>
                    <a:pt x="68" y="46"/>
                    <a:pt x="66" y="45"/>
                  </a:cubicBezTo>
                  <a:cubicBezTo>
                    <a:pt x="54" y="55"/>
                    <a:pt x="42" y="69"/>
                    <a:pt x="33" y="89"/>
                  </a:cubicBezTo>
                  <a:cubicBezTo>
                    <a:pt x="35" y="91"/>
                    <a:pt x="36" y="93"/>
                    <a:pt x="36" y="96"/>
                  </a:cubicBezTo>
                  <a:cubicBezTo>
                    <a:pt x="36" y="98"/>
                    <a:pt x="36" y="100"/>
                    <a:pt x="35" y="101"/>
                  </a:cubicBezTo>
                  <a:cubicBezTo>
                    <a:pt x="39" y="103"/>
                    <a:pt x="43" y="105"/>
                    <a:pt x="47" y="107"/>
                  </a:cubicBezTo>
                  <a:cubicBezTo>
                    <a:pt x="49" y="105"/>
                    <a:pt x="52" y="103"/>
                    <a:pt x="56" y="103"/>
                  </a:cubicBezTo>
                  <a:cubicBezTo>
                    <a:pt x="57" y="103"/>
                    <a:pt x="58" y="103"/>
                    <a:pt x="59" y="104"/>
                  </a:cubicBezTo>
                  <a:cubicBezTo>
                    <a:pt x="69" y="95"/>
                    <a:pt x="81" y="86"/>
                    <a:pt x="97" y="79"/>
                  </a:cubicBezTo>
                  <a:cubicBezTo>
                    <a:pt x="98" y="82"/>
                    <a:pt x="99" y="85"/>
                    <a:pt x="101" y="87"/>
                  </a:cubicBezTo>
                  <a:cubicBezTo>
                    <a:pt x="89" y="92"/>
                    <a:pt x="77" y="99"/>
                    <a:pt x="66" y="108"/>
                  </a:cubicBezTo>
                  <a:cubicBezTo>
                    <a:pt x="67" y="110"/>
                    <a:pt x="68" y="113"/>
                    <a:pt x="69" y="115"/>
                  </a:cubicBezTo>
                  <a:cubicBezTo>
                    <a:pt x="79" y="119"/>
                    <a:pt x="90" y="121"/>
                    <a:pt x="103" y="123"/>
                  </a:cubicBezTo>
                  <a:cubicBezTo>
                    <a:pt x="103" y="112"/>
                    <a:pt x="105" y="102"/>
                    <a:pt x="108" y="93"/>
                  </a:cubicBezTo>
                  <a:cubicBezTo>
                    <a:pt x="110" y="95"/>
                    <a:pt x="112" y="96"/>
                    <a:pt x="115" y="96"/>
                  </a:cubicBezTo>
                  <a:cubicBezTo>
                    <a:pt x="112" y="104"/>
                    <a:pt x="111" y="114"/>
                    <a:pt x="110" y="124"/>
                  </a:cubicBezTo>
                  <a:cubicBezTo>
                    <a:pt x="118" y="125"/>
                    <a:pt x="126" y="125"/>
                    <a:pt x="134" y="125"/>
                  </a:cubicBezTo>
                  <a:cubicBezTo>
                    <a:pt x="136" y="122"/>
                    <a:pt x="138" y="119"/>
                    <a:pt x="141" y="117"/>
                  </a:cubicBezTo>
                  <a:cubicBezTo>
                    <a:pt x="140" y="109"/>
                    <a:pt x="137" y="101"/>
                    <a:pt x="134" y="93"/>
                  </a:cubicBezTo>
                  <a:cubicBezTo>
                    <a:pt x="136" y="91"/>
                    <a:pt x="138" y="90"/>
                    <a:pt x="140" y="87"/>
                  </a:cubicBezTo>
                  <a:cubicBezTo>
                    <a:pt x="145" y="96"/>
                    <a:pt x="148" y="106"/>
                    <a:pt x="150" y="117"/>
                  </a:cubicBezTo>
                  <a:cubicBezTo>
                    <a:pt x="153" y="118"/>
                    <a:pt x="156" y="120"/>
                    <a:pt x="157" y="123"/>
                  </a:cubicBezTo>
                  <a:cubicBezTo>
                    <a:pt x="164" y="122"/>
                    <a:pt x="170" y="120"/>
                    <a:pt x="177" y="119"/>
                  </a:cubicBezTo>
                  <a:cubicBezTo>
                    <a:pt x="179" y="111"/>
                    <a:pt x="181" y="103"/>
                    <a:pt x="181" y="95"/>
                  </a:cubicBezTo>
                  <a:cubicBezTo>
                    <a:pt x="181" y="87"/>
                    <a:pt x="179" y="80"/>
                    <a:pt x="177" y="73"/>
                  </a:cubicBezTo>
                  <a:cubicBezTo>
                    <a:pt x="172" y="73"/>
                    <a:pt x="160" y="73"/>
                    <a:pt x="145" y="75"/>
                  </a:cubicBezTo>
                  <a:close/>
                  <a:moveTo>
                    <a:pt x="43" y="113"/>
                  </a:moveTo>
                  <a:cubicBezTo>
                    <a:pt x="39" y="111"/>
                    <a:pt x="34" y="108"/>
                    <a:pt x="30" y="106"/>
                  </a:cubicBezTo>
                  <a:cubicBezTo>
                    <a:pt x="29" y="106"/>
                    <a:pt x="28" y="107"/>
                    <a:pt x="26" y="107"/>
                  </a:cubicBezTo>
                  <a:cubicBezTo>
                    <a:pt x="26" y="107"/>
                    <a:pt x="26" y="107"/>
                    <a:pt x="26" y="107"/>
                  </a:cubicBezTo>
                  <a:cubicBezTo>
                    <a:pt x="24" y="115"/>
                    <a:pt x="22" y="124"/>
                    <a:pt x="20" y="134"/>
                  </a:cubicBezTo>
                  <a:cubicBezTo>
                    <a:pt x="22" y="138"/>
                    <a:pt x="25" y="142"/>
                    <a:pt x="28" y="146"/>
                  </a:cubicBezTo>
                  <a:cubicBezTo>
                    <a:pt x="30" y="141"/>
                    <a:pt x="35" y="131"/>
                    <a:pt x="44" y="120"/>
                  </a:cubicBezTo>
                  <a:cubicBezTo>
                    <a:pt x="43" y="119"/>
                    <a:pt x="43" y="117"/>
                    <a:pt x="43" y="116"/>
                  </a:cubicBezTo>
                  <a:cubicBezTo>
                    <a:pt x="43" y="115"/>
                    <a:pt x="43" y="114"/>
                    <a:pt x="43" y="113"/>
                  </a:cubicBezTo>
                  <a:close/>
                  <a:moveTo>
                    <a:pt x="119" y="166"/>
                  </a:moveTo>
                  <a:cubicBezTo>
                    <a:pt x="119" y="167"/>
                    <a:pt x="117" y="171"/>
                    <a:pt x="116" y="172"/>
                  </a:cubicBezTo>
                  <a:cubicBezTo>
                    <a:pt x="117" y="174"/>
                    <a:pt x="117" y="174"/>
                    <a:pt x="118" y="177"/>
                  </a:cubicBezTo>
                  <a:cubicBezTo>
                    <a:pt x="126" y="175"/>
                    <a:pt x="133" y="172"/>
                    <a:pt x="139" y="168"/>
                  </a:cubicBezTo>
                  <a:cubicBezTo>
                    <a:pt x="141" y="162"/>
                    <a:pt x="143" y="153"/>
                    <a:pt x="143" y="142"/>
                  </a:cubicBezTo>
                  <a:cubicBezTo>
                    <a:pt x="138" y="140"/>
                    <a:pt x="135" y="136"/>
                    <a:pt x="134" y="132"/>
                  </a:cubicBezTo>
                  <a:cubicBezTo>
                    <a:pt x="126" y="132"/>
                    <a:pt x="118" y="132"/>
                    <a:pt x="110" y="131"/>
                  </a:cubicBezTo>
                  <a:cubicBezTo>
                    <a:pt x="110" y="140"/>
                    <a:pt x="112" y="149"/>
                    <a:pt x="114" y="160"/>
                  </a:cubicBezTo>
                  <a:cubicBezTo>
                    <a:pt x="116" y="161"/>
                    <a:pt x="119" y="163"/>
                    <a:pt x="119" y="166"/>
                  </a:cubicBezTo>
                  <a:close/>
                  <a:moveTo>
                    <a:pt x="175" y="126"/>
                  </a:moveTo>
                  <a:cubicBezTo>
                    <a:pt x="169" y="127"/>
                    <a:pt x="164" y="128"/>
                    <a:pt x="159" y="129"/>
                  </a:cubicBezTo>
                  <a:cubicBezTo>
                    <a:pt x="159" y="129"/>
                    <a:pt x="159" y="129"/>
                    <a:pt x="159" y="129"/>
                  </a:cubicBezTo>
                  <a:cubicBezTo>
                    <a:pt x="159" y="135"/>
                    <a:pt x="156" y="140"/>
                    <a:pt x="151" y="141"/>
                  </a:cubicBezTo>
                  <a:cubicBezTo>
                    <a:pt x="150" y="148"/>
                    <a:pt x="149" y="155"/>
                    <a:pt x="147" y="162"/>
                  </a:cubicBezTo>
                  <a:cubicBezTo>
                    <a:pt x="159" y="153"/>
                    <a:pt x="169" y="140"/>
                    <a:pt x="175" y="126"/>
                  </a:cubicBezTo>
                  <a:close/>
                  <a:moveTo>
                    <a:pt x="96" y="180"/>
                  </a:moveTo>
                  <a:cubicBezTo>
                    <a:pt x="101" y="180"/>
                    <a:pt x="106" y="179"/>
                    <a:pt x="112" y="178"/>
                  </a:cubicBezTo>
                  <a:cubicBezTo>
                    <a:pt x="111" y="177"/>
                    <a:pt x="111" y="175"/>
                    <a:pt x="110" y="173"/>
                  </a:cubicBezTo>
                  <a:cubicBezTo>
                    <a:pt x="110" y="173"/>
                    <a:pt x="110" y="173"/>
                    <a:pt x="110" y="173"/>
                  </a:cubicBezTo>
                  <a:cubicBezTo>
                    <a:pt x="106" y="173"/>
                    <a:pt x="103" y="170"/>
                    <a:pt x="103" y="166"/>
                  </a:cubicBezTo>
                  <a:cubicBezTo>
                    <a:pt x="103" y="164"/>
                    <a:pt x="104" y="162"/>
                    <a:pt x="107" y="160"/>
                  </a:cubicBezTo>
                  <a:cubicBezTo>
                    <a:pt x="104" y="150"/>
                    <a:pt x="103" y="140"/>
                    <a:pt x="103" y="131"/>
                  </a:cubicBezTo>
                  <a:cubicBezTo>
                    <a:pt x="90" y="129"/>
                    <a:pt x="78" y="126"/>
                    <a:pt x="67" y="123"/>
                  </a:cubicBezTo>
                  <a:cubicBezTo>
                    <a:pt x="65" y="126"/>
                    <a:pt x="61" y="129"/>
                    <a:pt x="56" y="129"/>
                  </a:cubicBezTo>
                  <a:cubicBezTo>
                    <a:pt x="53" y="129"/>
                    <a:pt x="51" y="128"/>
                    <a:pt x="48" y="127"/>
                  </a:cubicBezTo>
                  <a:cubicBezTo>
                    <a:pt x="43" y="134"/>
                    <a:pt x="38" y="143"/>
                    <a:pt x="34" y="154"/>
                  </a:cubicBezTo>
                  <a:cubicBezTo>
                    <a:pt x="50" y="170"/>
                    <a:pt x="71" y="180"/>
                    <a:pt x="96" y="180"/>
                  </a:cubicBezTo>
                  <a:close/>
                  <a:moveTo>
                    <a:pt x="15" y="121"/>
                  </a:moveTo>
                  <a:cubicBezTo>
                    <a:pt x="16" y="117"/>
                    <a:pt x="17" y="111"/>
                    <a:pt x="19" y="104"/>
                  </a:cubicBezTo>
                  <a:cubicBezTo>
                    <a:pt x="17" y="102"/>
                    <a:pt x="16" y="99"/>
                    <a:pt x="16" y="97"/>
                  </a:cubicBezTo>
                  <a:cubicBezTo>
                    <a:pt x="14" y="95"/>
                    <a:pt x="12" y="94"/>
                    <a:pt x="11" y="92"/>
                  </a:cubicBezTo>
                  <a:cubicBezTo>
                    <a:pt x="11" y="93"/>
                    <a:pt x="11" y="94"/>
                    <a:pt x="11" y="95"/>
                  </a:cubicBezTo>
                  <a:cubicBezTo>
                    <a:pt x="11" y="104"/>
                    <a:pt x="12" y="113"/>
                    <a:pt x="15" y="121"/>
                  </a:cubicBezTo>
                  <a:close/>
                  <a:moveTo>
                    <a:pt x="11" y="86"/>
                  </a:moveTo>
                  <a:cubicBezTo>
                    <a:pt x="13" y="87"/>
                    <a:pt x="15" y="89"/>
                    <a:pt x="18" y="90"/>
                  </a:cubicBezTo>
                  <a:cubicBezTo>
                    <a:pt x="20" y="88"/>
                    <a:pt x="23" y="86"/>
                    <a:pt x="26" y="86"/>
                  </a:cubicBezTo>
                  <a:cubicBezTo>
                    <a:pt x="26" y="86"/>
                    <a:pt x="26" y="86"/>
                    <a:pt x="26" y="86"/>
                  </a:cubicBezTo>
                  <a:cubicBezTo>
                    <a:pt x="34" y="71"/>
                    <a:pt x="45" y="54"/>
                    <a:pt x="62" y="40"/>
                  </a:cubicBezTo>
                  <a:cubicBezTo>
                    <a:pt x="62" y="39"/>
                    <a:pt x="62" y="38"/>
                    <a:pt x="62" y="37"/>
                  </a:cubicBezTo>
                  <a:cubicBezTo>
                    <a:pt x="62" y="36"/>
                    <a:pt x="62" y="36"/>
                    <a:pt x="62" y="35"/>
                  </a:cubicBezTo>
                  <a:cubicBezTo>
                    <a:pt x="56" y="33"/>
                    <a:pt x="49" y="31"/>
                    <a:pt x="42" y="29"/>
                  </a:cubicBezTo>
                  <a:cubicBezTo>
                    <a:pt x="25" y="43"/>
                    <a:pt x="14" y="63"/>
                    <a:pt x="11" y="86"/>
                  </a:cubicBezTo>
                  <a:close/>
                  <a:moveTo>
                    <a:pt x="49" y="24"/>
                  </a:moveTo>
                  <a:cubicBezTo>
                    <a:pt x="52" y="25"/>
                    <a:pt x="58" y="27"/>
                    <a:pt x="66" y="29"/>
                  </a:cubicBezTo>
                  <a:cubicBezTo>
                    <a:pt x="67" y="28"/>
                    <a:pt x="70" y="27"/>
                    <a:pt x="72" y="27"/>
                  </a:cubicBezTo>
                  <a:cubicBezTo>
                    <a:pt x="75" y="27"/>
                    <a:pt x="77" y="28"/>
                    <a:pt x="78" y="29"/>
                  </a:cubicBezTo>
                  <a:cubicBezTo>
                    <a:pt x="90" y="22"/>
                    <a:pt x="104" y="17"/>
                    <a:pt x="121" y="14"/>
                  </a:cubicBezTo>
                  <a:cubicBezTo>
                    <a:pt x="113" y="11"/>
                    <a:pt x="104" y="10"/>
                    <a:pt x="96" y="10"/>
                  </a:cubicBezTo>
                  <a:cubicBezTo>
                    <a:pt x="78" y="10"/>
                    <a:pt x="62" y="15"/>
                    <a:pt x="49" y="24"/>
                  </a:cubicBezTo>
                  <a:close/>
                  <a:moveTo>
                    <a:pt x="120" y="89"/>
                  </a:moveTo>
                  <a:cubicBezTo>
                    <a:pt x="110" y="89"/>
                    <a:pt x="102" y="81"/>
                    <a:pt x="102" y="71"/>
                  </a:cubicBezTo>
                  <a:cubicBezTo>
                    <a:pt x="102" y="62"/>
                    <a:pt x="110" y="54"/>
                    <a:pt x="120" y="54"/>
                  </a:cubicBezTo>
                  <a:cubicBezTo>
                    <a:pt x="130" y="54"/>
                    <a:pt x="138" y="62"/>
                    <a:pt x="138" y="71"/>
                  </a:cubicBezTo>
                  <a:cubicBezTo>
                    <a:pt x="138" y="81"/>
                    <a:pt x="130" y="89"/>
                    <a:pt x="120" y="89"/>
                  </a:cubicBezTo>
                  <a:close/>
                  <a:moveTo>
                    <a:pt x="120" y="60"/>
                  </a:moveTo>
                  <a:cubicBezTo>
                    <a:pt x="114" y="60"/>
                    <a:pt x="109" y="65"/>
                    <a:pt x="109" y="71"/>
                  </a:cubicBezTo>
                  <a:cubicBezTo>
                    <a:pt x="109" y="78"/>
                    <a:pt x="114" y="83"/>
                    <a:pt x="120" y="83"/>
                  </a:cubicBezTo>
                  <a:cubicBezTo>
                    <a:pt x="127" y="83"/>
                    <a:pt x="132" y="78"/>
                    <a:pt x="132" y="71"/>
                  </a:cubicBezTo>
                  <a:cubicBezTo>
                    <a:pt x="132" y="65"/>
                    <a:pt x="127" y="60"/>
                    <a:pt x="120" y="60"/>
                  </a:cubicBezTo>
                  <a:close/>
                  <a:moveTo>
                    <a:pt x="120" y="76"/>
                  </a:moveTo>
                  <a:cubicBezTo>
                    <a:pt x="117" y="76"/>
                    <a:pt x="115" y="74"/>
                    <a:pt x="115" y="71"/>
                  </a:cubicBezTo>
                  <a:cubicBezTo>
                    <a:pt x="115" y="67"/>
                    <a:pt x="117" y="65"/>
                    <a:pt x="120" y="65"/>
                  </a:cubicBezTo>
                  <a:cubicBezTo>
                    <a:pt x="123" y="65"/>
                    <a:pt x="126" y="67"/>
                    <a:pt x="126" y="71"/>
                  </a:cubicBezTo>
                  <a:cubicBezTo>
                    <a:pt x="126" y="74"/>
                    <a:pt x="123" y="76"/>
                    <a:pt x="120" y="76"/>
                  </a:cubicBezTo>
                  <a:close/>
                </a:path>
              </a:pathLst>
            </a:custGeom>
            <a:solidFill>
              <a:schemeClr val="bg1">
                <a:lumMod val="50000"/>
              </a:schemeClr>
            </a:solidFill>
            <a:ln>
              <a:noFill/>
            </a:ln>
          </p:spPr>
          <p:txBody>
            <a:bodyPr vert="horz" wrap="square" lIns="91440" tIns="45720" rIns="91440" bIns="45720" numCol="1" anchor="t" anchorCtr="0" compatLnSpc="1"/>
            <a:lstStyle/>
            <a:p>
              <a:endParaRPr lang="zh-CN" altLang="en-US"/>
            </a:p>
          </p:txBody>
        </p:sp>
        <p:sp>
          <p:nvSpPr>
            <p:cNvPr id="238" name="Freeform 145"/>
            <p:cNvSpPr>
              <a:spLocks noEditPoints="1"/>
            </p:cNvSpPr>
            <p:nvPr/>
          </p:nvSpPr>
          <p:spPr bwMode="auto">
            <a:xfrm>
              <a:off x="2970637" y="1829144"/>
              <a:ext cx="162619" cy="270037"/>
            </a:xfrm>
            <a:custGeom>
              <a:avLst/>
              <a:gdLst>
                <a:gd name="T0" fmla="*/ 76 w 109"/>
                <a:gd name="T1" fmla="*/ 127 h 181"/>
                <a:gd name="T2" fmla="*/ 65 w 109"/>
                <a:gd name="T3" fmla="*/ 116 h 181"/>
                <a:gd name="T4" fmla="*/ 76 w 109"/>
                <a:gd name="T5" fmla="*/ 105 h 181"/>
                <a:gd name="T6" fmla="*/ 98 w 109"/>
                <a:gd name="T7" fmla="*/ 94 h 181"/>
                <a:gd name="T8" fmla="*/ 109 w 109"/>
                <a:gd name="T9" fmla="*/ 105 h 181"/>
                <a:gd name="T10" fmla="*/ 76 w 109"/>
                <a:gd name="T11" fmla="*/ 116 h 181"/>
                <a:gd name="T12" fmla="*/ 87 w 109"/>
                <a:gd name="T13" fmla="*/ 149 h 181"/>
                <a:gd name="T14" fmla="*/ 76 w 109"/>
                <a:gd name="T15" fmla="*/ 138 h 181"/>
                <a:gd name="T16" fmla="*/ 87 w 109"/>
                <a:gd name="T17" fmla="*/ 127 h 181"/>
                <a:gd name="T18" fmla="*/ 98 w 109"/>
                <a:gd name="T19" fmla="*/ 159 h 181"/>
                <a:gd name="T20" fmla="*/ 87 w 109"/>
                <a:gd name="T21" fmla="*/ 170 h 181"/>
                <a:gd name="T22" fmla="*/ 87 w 109"/>
                <a:gd name="T23" fmla="*/ 149 h 181"/>
                <a:gd name="T24" fmla="*/ 98 w 109"/>
                <a:gd name="T25" fmla="*/ 159 h 181"/>
                <a:gd name="T26" fmla="*/ 65 w 109"/>
                <a:gd name="T27" fmla="*/ 181 h 181"/>
                <a:gd name="T28" fmla="*/ 76 w 109"/>
                <a:gd name="T29" fmla="*/ 170 h 181"/>
                <a:gd name="T30" fmla="*/ 87 w 109"/>
                <a:gd name="T31" fmla="*/ 181 h 181"/>
                <a:gd name="T32" fmla="*/ 54 w 109"/>
                <a:gd name="T33" fmla="*/ 159 h 181"/>
                <a:gd name="T34" fmla="*/ 65 w 109"/>
                <a:gd name="T35" fmla="*/ 149 h 181"/>
                <a:gd name="T36" fmla="*/ 65 w 109"/>
                <a:gd name="T37" fmla="*/ 170 h 181"/>
                <a:gd name="T38" fmla="*/ 54 w 109"/>
                <a:gd name="T39" fmla="*/ 159 h 181"/>
                <a:gd name="T40" fmla="*/ 44 w 109"/>
                <a:gd name="T41" fmla="*/ 127 h 181"/>
                <a:gd name="T42" fmla="*/ 54 w 109"/>
                <a:gd name="T43" fmla="*/ 138 h 181"/>
                <a:gd name="T44" fmla="*/ 44 w 109"/>
                <a:gd name="T45" fmla="*/ 149 h 181"/>
                <a:gd name="T46" fmla="*/ 22 w 109"/>
                <a:gd name="T47" fmla="*/ 138 h 181"/>
                <a:gd name="T48" fmla="*/ 11 w 109"/>
                <a:gd name="T49" fmla="*/ 149 h 181"/>
                <a:gd name="T50" fmla="*/ 0 w 109"/>
                <a:gd name="T51" fmla="*/ 159 h 181"/>
                <a:gd name="T52" fmla="*/ 11 w 109"/>
                <a:gd name="T53" fmla="*/ 0 h 181"/>
                <a:gd name="T54" fmla="*/ 22 w 109"/>
                <a:gd name="T55" fmla="*/ 7 h 181"/>
                <a:gd name="T56" fmla="*/ 11 w 109"/>
                <a:gd name="T57" fmla="*/ 17 h 181"/>
                <a:gd name="T58" fmla="*/ 22 w 109"/>
                <a:gd name="T59" fmla="*/ 138 h 181"/>
                <a:gd name="T60" fmla="*/ 33 w 109"/>
                <a:gd name="T61" fmla="*/ 127 h 181"/>
                <a:gd name="T62" fmla="*/ 22 w 109"/>
                <a:gd name="T63" fmla="*/ 138 h 181"/>
                <a:gd name="T64" fmla="*/ 22 w 109"/>
                <a:gd name="T65" fmla="*/ 28 h 181"/>
                <a:gd name="T66" fmla="*/ 33 w 109"/>
                <a:gd name="T67" fmla="*/ 17 h 181"/>
                <a:gd name="T68" fmla="*/ 44 w 109"/>
                <a:gd name="T69" fmla="*/ 39 h 181"/>
                <a:gd name="T70" fmla="*/ 33 w 109"/>
                <a:gd name="T71" fmla="*/ 28 h 181"/>
                <a:gd name="T72" fmla="*/ 44 w 109"/>
                <a:gd name="T73" fmla="*/ 39 h 181"/>
                <a:gd name="T74" fmla="*/ 44 w 109"/>
                <a:gd name="T75" fmla="*/ 116 h 181"/>
                <a:gd name="T76" fmla="*/ 33 w 109"/>
                <a:gd name="T77" fmla="*/ 127 h 181"/>
                <a:gd name="T78" fmla="*/ 87 w 109"/>
                <a:gd name="T79" fmla="*/ 83 h 181"/>
                <a:gd name="T80" fmla="*/ 98 w 109"/>
                <a:gd name="T81" fmla="*/ 94 h 181"/>
                <a:gd name="T82" fmla="*/ 87 w 109"/>
                <a:gd name="T83" fmla="*/ 83 h 181"/>
                <a:gd name="T84" fmla="*/ 87 w 109"/>
                <a:gd name="T85" fmla="*/ 73 h 181"/>
                <a:gd name="T86" fmla="*/ 76 w 109"/>
                <a:gd name="T87" fmla="*/ 83 h 181"/>
                <a:gd name="T88" fmla="*/ 65 w 109"/>
                <a:gd name="T89" fmla="*/ 62 h 181"/>
                <a:gd name="T90" fmla="*/ 76 w 109"/>
                <a:gd name="T91" fmla="*/ 73 h 181"/>
                <a:gd name="T92" fmla="*/ 65 w 109"/>
                <a:gd name="T93" fmla="*/ 62 h 181"/>
                <a:gd name="T94" fmla="*/ 44 w 109"/>
                <a:gd name="T95" fmla="*/ 51 h 181"/>
                <a:gd name="T96" fmla="*/ 54 w 109"/>
                <a:gd name="T97" fmla="*/ 40 h 181"/>
                <a:gd name="T98" fmla="*/ 65 w 109"/>
                <a:gd name="T99" fmla="*/ 51 h 181"/>
                <a:gd name="T100" fmla="*/ 54 w 109"/>
                <a:gd name="T101" fmla="*/ 62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09" h="181">
                  <a:moveTo>
                    <a:pt x="76" y="116"/>
                  </a:moveTo>
                  <a:lnTo>
                    <a:pt x="76" y="127"/>
                  </a:lnTo>
                  <a:lnTo>
                    <a:pt x="65" y="127"/>
                  </a:lnTo>
                  <a:lnTo>
                    <a:pt x="65" y="116"/>
                  </a:lnTo>
                  <a:lnTo>
                    <a:pt x="65" y="105"/>
                  </a:lnTo>
                  <a:lnTo>
                    <a:pt x="76" y="105"/>
                  </a:lnTo>
                  <a:lnTo>
                    <a:pt x="98" y="105"/>
                  </a:lnTo>
                  <a:lnTo>
                    <a:pt x="98" y="94"/>
                  </a:lnTo>
                  <a:lnTo>
                    <a:pt x="109" y="94"/>
                  </a:lnTo>
                  <a:lnTo>
                    <a:pt x="109" y="105"/>
                  </a:lnTo>
                  <a:lnTo>
                    <a:pt x="109" y="116"/>
                  </a:lnTo>
                  <a:lnTo>
                    <a:pt x="76" y="116"/>
                  </a:lnTo>
                  <a:close/>
                  <a:moveTo>
                    <a:pt x="87" y="138"/>
                  </a:moveTo>
                  <a:lnTo>
                    <a:pt x="87" y="149"/>
                  </a:lnTo>
                  <a:lnTo>
                    <a:pt x="76" y="149"/>
                  </a:lnTo>
                  <a:lnTo>
                    <a:pt x="76" y="138"/>
                  </a:lnTo>
                  <a:lnTo>
                    <a:pt x="76" y="127"/>
                  </a:lnTo>
                  <a:lnTo>
                    <a:pt x="87" y="127"/>
                  </a:lnTo>
                  <a:lnTo>
                    <a:pt x="87" y="138"/>
                  </a:lnTo>
                  <a:close/>
                  <a:moveTo>
                    <a:pt x="98" y="159"/>
                  </a:moveTo>
                  <a:lnTo>
                    <a:pt x="98" y="170"/>
                  </a:lnTo>
                  <a:lnTo>
                    <a:pt x="87" y="170"/>
                  </a:lnTo>
                  <a:lnTo>
                    <a:pt x="87" y="159"/>
                  </a:lnTo>
                  <a:lnTo>
                    <a:pt x="87" y="149"/>
                  </a:lnTo>
                  <a:lnTo>
                    <a:pt x="98" y="149"/>
                  </a:lnTo>
                  <a:lnTo>
                    <a:pt x="98" y="159"/>
                  </a:lnTo>
                  <a:close/>
                  <a:moveTo>
                    <a:pt x="76" y="181"/>
                  </a:moveTo>
                  <a:lnTo>
                    <a:pt x="65" y="181"/>
                  </a:lnTo>
                  <a:lnTo>
                    <a:pt x="65" y="170"/>
                  </a:lnTo>
                  <a:lnTo>
                    <a:pt x="76" y="170"/>
                  </a:lnTo>
                  <a:lnTo>
                    <a:pt x="87" y="170"/>
                  </a:lnTo>
                  <a:lnTo>
                    <a:pt x="87" y="181"/>
                  </a:lnTo>
                  <a:lnTo>
                    <a:pt x="76" y="181"/>
                  </a:lnTo>
                  <a:close/>
                  <a:moveTo>
                    <a:pt x="54" y="159"/>
                  </a:moveTo>
                  <a:lnTo>
                    <a:pt x="54" y="149"/>
                  </a:lnTo>
                  <a:lnTo>
                    <a:pt x="65" y="149"/>
                  </a:lnTo>
                  <a:lnTo>
                    <a:pt x="65" y="159"/>
                  </a:lnTo>
                  <a:lnTo>
                    <a:pt x="65" y="170"/>
                  </a:lnTo>
                  <a:lnTo>
                    <a:pt x="54" y="170"/>
                  </a:lnTo>
                  <a:lnTo>
                    <a:pt x="54" y="159"/>
                  </a:lnTo>
                  <a:close/>
                  <a:moveTo>
                    <a:pt x="44" y="138"/>
                  </a:moveTo>
                  <a:lnTo>
                    <a:pt x="44" y="127"/>
                  </a:lnTo>
                  <a:lnTo>
                    <a:pt x="54" y="127"/>
                  </a:lnTo>
                  <a:lnTo>
                    <a:pt x="54" y="138"/>
                  </a:lnTo>
                  <a:lnTo>
                    <a:pt x="54" y="149"/>
                  </a:lnTo>
                  <a:lnTo>
                    <a:pt x="44" y="149"/>
                  </a:lnTo>
                  <a:lnTo>
                    <a:pt x="44" y="138"/>
                  </a:lnTo>
                  <a:close/>
                  <a:moveTo>
                    <a:pt x="22" y="138"/>
                  </a:moveTo>
                  <a:lnTo>
                    <a:pt x="22" y="149"/>
                  </a:lnTo>
                  <a:lnTo>
                    <a:pt x="11" y="149"/>
                  </a:lnTo>
                  <a:lnTo>
                    <a:pt x="11" y="159"/>
                  </a:lnTo>
                  <a:lnTo>
                    <a:pt x="0" y="159"/>
                  </a:lnTo>
                  <a:lnTo>
                    <a:pt x="0" y="0"/>
                  </a:lnTo>
                  <a:lnTo>
                    <a:pt x="11" y="0"/>
                  </a:lnTo>
                  <a:lnTo>
                    <a:pt x="11" y="7"/>
                  </a:lnTo>
                  <a:lnTo>
                    <a:pt x="22" y="7"/>
                  </a:lnTo>
                  <a:lnTo>
                    <a:pt x="22" y="17"/>
                  </a:lnTo>
                  <a:lnTo>
                    <a:pt x="11" y="17"/>
                  </a:lnTo>
                  <a:lnTo>
                    <a:pt x="11" y="138"/>
                  </a:lnTo>
                  <a:lnTo>
                    <a:pt x="22" y="138"/>
                  </a:lnTo>
                  <a:lnTo>
                    <a:pt x="22" y="127"/>
                  </a:lnTo>
                  <a:lnTo>
                    <a:pt x="33" y="127"/>
                  </a:lnTo>
                  <a:lnTo>
                    <a:pt x="33" y="138"/>
                  </a:lnTo>
                  <a:lnTo>
                    <a:pt x="22" y="138"/>
                  </a:lnTo>
                  <a:close/>
                  <a:moveTo>
                    <a:pt x="33" y="28"/>
                  </a:moveTo>
                  <a:lnTo>
                    <a:pt x="22" y="28"/>
                  </a:lnTo>
                  <a:lnTo>
                    <a:pt x="22" y="17"/>
                  </a:lnTo>
                  <a:lnTo>
                    <a:pt x="33" y="17"/>
                  </a:lnTo>
                  <a:lnTo>
                    <a:pt x="33" y="28"/>
                  </a:lnTo>
                  <a:close/>
                  <a:moveTo>
                    <a:pt x="44" y="39"/>
                  </a:moveTo>
                  <a:lnTo>
                    <a:pt x="33" y="39"/>
                  </a:lnTo>
                  <a:lnTo>
                    <a:pt x="33" y="28"/>
                  </a:lnTo>
                  <a:lnTo>
                    <a:pt x="44" y="28"/>
                  </a:lnTo>
                  <a:lnTo>
                    <a:pt x="44" y="39"/>
                  </a:lnTo>
                  <a:close/>
                  <a:moveTo>
                    <a:pt x="33" y="116"/>
                  </a:moveTo>
                  <a:lnTo>
                    <a:pt x="44" y="116"/>
                  </a:lnTo>
                  <a:lnTo>
                    <a:pt x="44" y="127"/>
                  </a:lnTo>
                  <a:lnTo>
                    <a:pt x="33" y="127"/>
                  </a:lnTo>
                  <a:lnTo>
                    <a:pt x="33" y="116"/>
                  </a:lnTo>
                  <a:close/>
                  <a:moveTo>
                    <a:pt x="87" y="83"/>
                  </a:moveTo>
                  <a:lnTo>
                    <a:pt x="98" y="83"/>
                  </a:lnTo>
                  <a:lnTo>
                    <a:pt x="98" y="94"/>
                  </a:lnTo>
                  <a:lnTo>
                    <a:pt x="87" y="94"/>
                  </a:lnTo>
                  <a:lnTo>
                    <a:pt x="87" y="83"/>
                  </a:lnTo>
                  <a:close/>
                  <a:moveTo>
                    <a:pt x="76" y="73"/>
                  </a:moveTo>
                  <a:lnTo>
                    <a:pt x="87" y="73"/>
                  </a:lnTo>
                  <a:lnTo>
                    <a:pt x="87" y="83"/>
                  </a:lnTo>
                  <a:lnTo>
                    <a:pt x="76" y="83"/>
                  </a:lnTo>
                  <a:lnTo>
                    <a:pt x="76" y="73"/>
                  </a:lnTo>
                  <a:close/>
                  <a:moveTo>
                    <a:pt x="65" y="62"/>
                  </a:moveTo>
                  <a:lnTo>
                    <a:pt x="76" y="62"/>
                  </a:lnTo>
                  <a:lnTo>
                    <a:pt x="76" y="73"/>
                  </a:lnTo>
                  <a:lnTo>
                    <a:pt x="65" y="73"/>
                  </a:lnTo>
                  <a:lnTo>
                    <a:pt x="65" y="62"/>
                  </a:lnTo>
                  <a:close/>
                  <a:moveTo>
                    <a:pt x="54" y="51"/>
                  </a:moveTo>
                  <a:lnTo>
                    <a:pt x="44" y="51"/>
                  </a:lnTo>
                  <a:lnTo>
                    <a:pt x="44" y="40"/>
                  </a:lnTo>
                  <a:lnTo>
                    <a:pt x="54" y="40"/>
                  </a:lnTo>
                  <a:lnTo>
                    <a:pt x="54" y="51"/>
                  </a:lnTo>
                  <a:lnTo>
                    <a:pt x="65" y="51"/>
                  </a:lnTo>
                  <a:lnTo>
                    <a:pt x="65" y="62"/>
                  </a:lnTo>
                  <a:lnTo>
                    <a:pt x="54" y="62"/>
                  </a:lnTo>
                  <a:lnTo>
                    <a:pt x="54" y="51"/>
                  </a:lnTo>
                  <a:close/>
                </a:path>
              </a:pathLst>
            </a:custGeom>
            <a:solidFill>
              <a:schemeClr val="bg1">
                <a:lumMod val="50000"/>
              </a:schemeClr>
            </a:solidFill>
            <a:ln>
              <a:noFill/>
            </a:ln>
          </p:spPr>
          <p:txBody>
            <a:bodyPr vert="horz" wrap="square" lIns="91440" tIns="45720" rIns="91440" bIns="45720" numCol="1" anchor="t" anchorCtr="0" compatLnSpc="1"/>
            <a:lstStyle/>
            <a:p>
              <a:endParaRPr lang="zh-CN" altLang="en-US"/>
            </a:p>
          </p:txBody>
        </p:sp>
      </p:grpSp>
      <p:sp>
        <p:nvSpPr>
          <p:cNvPr id="239" name="TextBox 42"/>
          <p:cNvSpPr txBox="1"/>
          <p:nvPr/>
        </p:nvSpPr>
        <p:spPr>
          <a:xfrm>
            <a:off x="395680" y="2441048"/>
            <a:ext cx="6275419" cy="1753235"/>
          </a:xfrm>
          <a:prstGeom prst="rect">
            <a:avLst/>
          </a:prstGeom>
          <a:noFill/>
        </p:spPr>
        <p:txBody>
          <a:bodyPr wrap="square" rtlCol="0">
            <a:spAutoFit/>
          </a:bodyPr>
          <a:lstStyle/>
          <a:p>
            <a:r>
              <a:rPr sz="5400" b="1" spc="300" dirty="0" smtClean="0">
                <a:solidFill>
                  <a:srgbClr val="005CA7"/>
                </a:solidFill>
                <a:latin typeface="微软雅黑" panose="020B0503020204020204" pitchFamily="34" charset="-122"/>
                <a:ea typeface="微软雅黑" panose="020B0503020204020204" pitchFamily="34" charset="-122"/>
              </a:rPr>
              <a:t>第10章 让子弹飞一会儿——写回 </a:t>
            </a:r>
            <a:endParaRPr sz="5400" b="1" spc="300" dirty="0" smtClean="0">
              <a:solidFill>
                <a:srgbClr val="005CA7"/>
              </a:solidFill>
              <a:latin typeface="微软雅黑" panose="020B0503020204020204" pitchFamily="34" charset="-122"/>
              <a:ea typeface="微软雅黑" panose="020B0503020204020204" pitchFamily="34" charset="-122"/>
            </a:endParaRPr>
          </a:p>
        </p:txBody>
      </p:sp>
      <p:pic>
        <p:nvPicPr>
          <p:cNvPr id="3" name="[.que] - Decide">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cstate="print"/>
          <a:stretch>
            <a:fillRect/>
          </a:stretch>
        </p:blipFill>
        <p:spPr>
          <a:xfrm>
            <a:off x="-899886" y="-417285"/>
            <a:ext cx="609600" cy="609600"/>
          </a:xfrm>
          <a:prstGeom prst="rect">
            <a:avLst/>
          </a:prstGeom>
        </p:spPr>
      </p:pic>
      <p:sp>
        <p:nvSpPr>
          <p:cNvPr id="240" name="文本框 239"/>
          <p:cNvSpPr txBox="1"/>
          <p:nvPr/>
        </p:nvSpPr>
        <p:spPr>
          <a:xfrm>
            <a:off x="572135" y="4345940"/>
            <a:ext cx="4131310" cy="368300"/>
          </a:xfrm>
          <a:prstGeom prst="rect">
            <a:avLst/>
          </a:prstGeom>
          <a:noFill/>
        </p:spPr>
        <p:txBody>
          <a:bodyPr wrap="square" rtlCol="0">
            <a:spAutoFit/>
          </a:bodyPr>
          <a:p>
            <a:r>
              <a:rPr lang="zh-CN" altLang="en-US"/>
              <a:t>小组成员：王炳祺，陈一鸣，栾全中</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0"/>
    </mc:Choice>
    <mc:Fallback>
      <p:transition spd="slow"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par>
                          <p:cTn id="7" fill="hold">
                            <p:stCondLst>
                              <p:cond delay="0"/>
                            </p:stCondLst>
                            <p:childTnLst>
                              <p:par>
                                <p:cTn id="8" presetID="23" presetClass="entr" presetSubtype="36" fill="hold" nodeType="after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p:cTn id="10" dur="500" fill="hold"/>
                                        <p:tgtEl>
                                          <p:spTgt spid="4"/>
                                        </p:tgtEl>
                                        <p:attrNameLst>
                                          <p:attrName>ppt_w</p:attrName>
                                        </p:attrNameLst>
                                      </p:cBhvr>
                                      <p:tavLst>
                                        <p:tav tm="0">
                                          <p:val>
                                            <p:strVal val="(6*min(max(#ppt_w*#ppt_h,.3),1)-7.4)/-.7*#ppt_w"/>
                                          </p:val>
                                        </p:tav>
                                        <p:tav tm="100000">
                                          <p:val>
                                            <p:strVal val="#ppt_w"/>
                                          </p:val>
                                        </p:tav>
                                      </p:tavLst>
                                    </p:anim>
                                    <p:anim calcmode="lin" valueType="num">
                                      <p:cBhvr>
                                        <p:cTn id="11" dur="500" fill="hold"/>
                                        <p:tgtEl>
                                          <p:spTgt spid="4"/>
                                        </p:tgtEl>
                                        <p:attrNameLst>
                                          <p:attrName>ppt_h</p:attrName>
                                        </p:attrNameLst>
                                      </p:cBhvr>
                                      <p:tavLst>
                                        <p:tav tm="0">
                                          <p:val>
                                            <p:strVal val="(6*min(max(#ppt_w*#ppt_h,.3),1)-7.4)/-.7*#ppt_h"/>
                                          </p:val>
                                        </p:tav>
                                        <p:tav tm="100000">
                                          <p:val>
                                            <p:strVal val="#ppt_h"/>
                                          </p:val>
                                        </p:tav>
                                      </p:tavLst>
                                    </p:anim>
                                    <p:anim calcmode="lin" valueType="num">
                                      <p:cBhvr>
                                        <p:cTn id="12" dur="500" fill="hold"/>
                                        <p:tgtEl>
                                          <p:spTgt spid="4"/>
                                        </p:tgtEl>
                                        <p:attrNameLst>
                                          <p:attrName>ppt_x</p:attrName>
                                        </p:attrNameLst>
                                      </p:cBhvr>
                                      <p:tavLst>
                                        <p:tav tm="0">
                                          <p:val>
                                            <p:fltVal val="0.5"/>
                                          </p:val>
                                        </p:tav>
                                        <p:tav tm="100000">
                                          <p:val>
                                            <p:strVal val="#ppt_x"/>
                                          </p:val>
                                        </p:tav>
                                      </p:tavLst>
                                    </p:anim>
                                    <p:anim calcmode="lin" valueType="num">
                                      <p:cBhvr>
                                        <p:cTn id="13" dur="500" fill="hold"/>
                                        <p:tgtEl>
                                          <p:spTgt spid="4"/>
                                        </p:tgtEl>
                                        <p:attrNameLst>
                                          <p:attrName>ppt_y</p:attrName>
                                        </p:attrNameLst>
                                      </p:cBhvr>
                                      <p:tavLst>
                                        <p:tav tm="0">
                                          <p:val>
                                            <p:strVal val="1+(6*min(max(#ppt_w*#ppt_h,.3),1)-7.4)/-.7*#ppt_h/2"/>
                                          </p:val>
                                        </p:tav>
                                        <p:tav tm="100000">
                                          <p:val>
                                            <p:strVal val="#ppt_y"/>
                                          </p:val>
                                        </p:tav>
                                      </p:tavLst>
                                    </p:anim>
                                  </p:childTnLst>
                                </p:cTn>
                              </p:par>
                            </p:childTnLst>
                          </p:cTn>
                        </p:par>
                        <p:par>
                          <p:cTn id="14" fill="hold">
                            <p:stCondLst>
                              <p:cond delay="500"/>
                            </p:stCondLst>
                            <p:childTnLst>
                              <p:par>
                                <p:cTn id="15" presetID="41" presetClass="entr" presetSubtype="0" fill="hold" grpId="0" nodeType="afterEffect">
                                  <p:stCondLst>
                                    <p:cond delay="0"/>
                                  </p:stCondLst>
                                  <p:iterate type="lt">
                                    <p:tmPct val="10000"/>
                                  </p:iterate>
                                  <p:childTnLst>
                                    <p:set>
                                      <p:cBhvr>
                                        <p:cTn id="16" dur="1" fill="hold">
                                          <p:stCondLst>
                                            <p:cond delay="0"/>
                                          </p:stCondLst>
                                        </p:cTn>
                                        <p:tgtEl>
                                          <p:spTgt spid="239"/>
                                        </p:tgtEl>
                                        <p:attrNameLst>
                                          <p:attrName>style.visibility</p:attrName>
                                        </p:attrNameLst>
                                      </p:cBhvr>
                                      <p:to>
                                        <p:strVal val="visible"/>
                                      </p:to>
                                    </p:set>
                                    <p:anim calcmode="lin" valueType="num">
                                      <p:cBhvr>
                                        <p:cTn id="17" dur="500" fill="hold"/>
                                        <p:tgtEl>
                                          <p:spTgt spid="239"/>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239"/>
                                        </p:tgtEl>
                                        <p:attrNameLst>
                                          <p:attrName>ppt_y</p:attrName>
                                        </p:attrNameLst>
                                      </p:cBhvr>
                                      <p:tavLst>
                                        <p:tav tm="0">
                                          <p:val>
                                            <p:strVal val="#ppt_y"/>
                                          </p:val>
                                        </p:tav>
                                        <p:tav tm="100000">
                                          <p:val>
                                            <p:strVal val="#ppt_y"/>
                                          </p:val>
                                        </p:tav>
                                      </p:tavLst>
                                    </p:anim>
                                    <p:anim calcmode="lin" valueType="num">
                                      <p:cBhvr>
                                        <p:cTn id="19" dur="500" fill="hold"/>
                                        <p:tgtEl>
                                          <p:spTgt spid="239"/>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239"/>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239"/>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numSld="999" showWhenStopped="0">
                <p:cTn id="22" repeatCount="indefinite" fill="remove" display="0">
                  <p:stCondLst>
                    <p:cond delay="indefinite"/>
                  </p:stCondLst>
                  <p:endCondLst>
                    <p:cond evt="onStopAudio" delay="0">
                      <p:tgtEl>
                        <p:sldTgt/>
                      </p:tgtEl>
                    </p:cond>
                  </p:endCondLst>
                </p:cTn>
                <p:tgtEl>
                  <p:spTgt spid="3"/>
                </p:tgtEl>
              </p:cMediaNode>
            </p:video>
          </p:childTnLst>
        </p:cTn>
      </p:par>
    </p:tnLst>
    <p:bldLst>
      <p:bldP spid="23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p:cNvGrpSpPr/>
          <p:nvPr/>
        </p:nvGrpSpPr>
        <p:grpSpPr>
          <a:xfrm flipH="1" flipV="1">
            <a:off x="1565229" y="1066061"/>
            <a:ext cx="1141287" cy="0"/>
            <a:chOff x="7568477" y="2641879"/>
            <a:chExt cx="1575523" cy="0"/>
          </a:xfrm>
        </p:grpSpPr>
        <p:cxnSp>
          <p:nvCxnSpPr>
            <p:cNvPr id="34" name="直接连接符 33"/>
            <p:cNvCxnSpPr/>
            <p:nvPr/>
          </p:nvCxnSpPr>
          <p:spPr>
            <a:xfrm flipV="1">
              <a:off x="7568477" y="2641879"/>
              <a:ext cx="466385" cy="0"/>
            </a:xfrm>
            <a:prstGeom prst="line">
              <a:avLst/>
            </a:prstGeom>
            <a:ln w="762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8103924" y="2641879"/>
              <a:ext cx="754055" cy="0"/>
            </a:xfrm>
            <a:prstGeom prst="line">
              <a:avLst/>
            </a:prstGeom>
            <a:ln w="7620">
              <a:solidFill>
                <a:schemeClr val="tx1">
                  <a:lumMod val="50000"/>
                  <a:lumOff val="50000"/>
                </a:schemeClr>
              </a:solidFill>
              <a:prstDash val="dash"/>
              <a:tailEnd type="diamond"/>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8948986" y="2641879"/>
              <a:ext cx="195014" cy="0"/>
            </a:xfrm>
            <a:prstGeom prst="line">
              <a:avLst/>
            </a:prstGeom>
            <a:ln w="762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42" name="TextBox 42"/>
          <p:cNvSpPr txBox="1"/>
          <p:nvPr/>
        </p:nvSpPr>
        <p:spPr>
          <a:xfrm>
            <a:off x="1330448" y="1098763"/>
            <a:ext cx="1674698" cy="707886"/>
          </a:xfrm>
          <a:prstGeom prst="rect">
            <a:avLst/>
          </a:prstGeom>
          <a:noFill/>
        </p:spPr>
        <p:txBody>
          <a:bodyPr wrap="square" rtlCol="0">
            <a:spAutoFit/>
          </a:bodyPr>
          <a:lstStyle/>
          <a:p>
            <a:pPr algn="ctr"/>
            <a:r>
              <a:rPr lang="zh-CN" altLang="en-US" sz="4000" b="1" spc="300" dirty="0">
                <a:solidFill>
                  <a:srgbClr val="005CA7"/>
                </a:solidFill>
                <a:latin typeface="微软雅黑" panose="020B0503020204020204" pitchFamily="34" charset="-122"/>
                <a:ea typeface="微软雅黑" panose="020B0503020204020204" pitchFamily="34" charset="-122"/>
              </a:rPr>
              <a:t>目录</a:t>
            </a:r>
            <a:endParaRPr lang="zh-CN" altLang="zh-CN" sz="4000" b="1" spc="300" dirty="0">
              <a:solidFill>
                <a:srgbClr val="005CA7"/>
              </a:solidFill>
              <a:latin typeface="微软雅黑" panose="020B0503020204020204" pitchFamily="34" charset="-122"/>
              <a:ea typeface="微软雅黑" panose="020B0503020204020204" pitchFamily="34" charset="-122"/>
            </a:endParaRPr>
          </a:p>
        </p:txBody>
      </p:sp>
      <p:grpSp>
        <p:nvGrpSpPr>
          <p:cNvPr id="45" name="组合 44"/>
          <p:cNvGrpSpPr/>
          <p:nvPr/>
        </p:nvGrpSpPr>
        <p:grpSpPr>
          <a:xfrm flipV="1">
            <a:off x="1565229" y="1806649"/>
            <a:ext cx="1141287" cy="0"/>
            <a:chOff x="7568477" y="2641879"/>
            <a:chExt cx="1575523" cy="0"/>
          </a:xfrm>
        </p:grpSpPr>
        <p:cxnSp>
          <p:nvCxnSpPr>
            <p:cNvPr id="46" name="直接连接符 45"/>
            <p:cNvCxnSpPr/>
            <p:nvPr/>
          </p:nvCxnSpPr>
          <p:spPr>
            <a:xfrm flipV="1">
              <a:off x="7568477" y="2641879"/>
              <a:ext cx="466385" cy="0"/>
            </a:xfrm>
            <a:prstGeom prst="line">
              <a:avLst/>
            </a:prstGeom>
            <a:ln w="762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8103924" y="2641879"/>
              <a:ext cx="754055" cy="0"/>
            </a:xfrm>
            <a:prstGeom prst="line">
              <a:avLst/>
            </a:prstGeom>
            <a:ln w="7620">
              <a:solidFill>
                <a:schemeClr val="tx1">
                  <a:lumMod val="50000"/>
                  <a:lumOff val="50000"/>
                </a:schemeClr>
              </a:solidFill>
              <a:prstDash val="dash"/>
              <a:tailEnd type="diamond"/>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8948986" y="2641879"/>
              <a:ext cx="195014" cy="0"/>
            </a:xfrm>
            <a:prstGeom prst="line">
              <a:avLst/>
            </a:prstGeom>
            <a:ln w="762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50" name="文本框 1"/>
          <p:cNvSpPr>
            <a:spLocks noChangeArrowheads="1"/>
          </p:cNvSpPr>
          <p:nvPr/>
        </p:nvSpPr>
        <p:spPr bwMode="auto">
          <a:xfrm>
            <a:off x="1519293" y="727507"/>
            <a:ext cx="1247548" cy="338554"/>
          </a:xfrm>
          <a:prstGeom prst="rect">
            <a:avLst/>
          </a:prstGeom>
          <a:noFill/>
        </p:spPr>
        <p:txBody>
          <a:bodyPr wrap="square" rtlCol="0">
            <a:spAutoFit/>
          </a:bodyPr>
          <a:lstStyle/>
          <a:p>
            <a:pPr algn="dist"/>
            <a:r>
              <a:rPr lang="en-US" altLang="zh-CN" sz="1600" b="1" dirty="0" smtClean="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rPr>
              <a:t>CONTENT</a:t>
            </a:r>
            <a:endParaRPr lang="zh-CN" altLang="en-US" sz="1600" b="1" dirty="0">
              <a:solidFill>
                <a:schemeClr val="bg1">
                  <a:lumMod val="50000"/>
                </a:schemeClr>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308" name="组合 307"/>
          <p:cNvGrpSpPr/>
          <p:nvPr/>
        </p:nvGrpSpPr>
        <p:grpSpPr>
          <a:xfrm>
            <a:off x="5955376" y="2226507"/>
            <a:ext cx="2315210" cy="735240"/>
            <a:chOff x="2285474" y="2459367"/>
            <a:chExt cx="2315210" cy="735240"/>
          </a:xfrm>
        </p:grpSpPr>
        <p:sp>
          <p:nvSpPr>
            <p:cNvPr id="296" name="文本框 295"/>
            <p:cNvSpPr txBox="1"/>
            <p:nvPr/>
          </p:nvSpPr>
          <p:spPr>
            <a:xfrm>
              <a:off x="2285474" y="2459367"/>
              <a:ext cx="2315210" cy="520700"/>
            </a:xfrm>
            <a:prstGeom prst="rect">
              <a:avLst/>
            </a:prstGeom>
            <a:noFill/>
          </p:spPr>
          <p:txBody>
            <a:bodyPr wrap="none" lIns="91436" tIns="45718" rIns="91436" bIns="45718" rtlCol="0">
              <a:spAutoFit/>
            </a:bodyPr>
            <a:lstStyle>
              <a:defPPr>
                <a:defRPr lang="zh-CN"/>
              </a:defPPr>
              <a:lvl1pPr>
                <a:defRPr sz="28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gn="l"/>
              <a:r>
                <a:rPr lang="zh-CN" altLang="en-US" dirty="0"/>
                <a:t>处理器的写回</a:t>
              </a:r>
              <a:endParaRPr lang="zh-CN" altLang="en-US" dirty="0"/>
            </a:p>
          </p:txBody>
        </p:sp>
        <p:sp>
          <p:nvSpPr>
            <p:cNvPr id="302" name="矩形 301"/>
            <p:cNvSpPr/>
            <p:nvPr/>
          </p:nvSpPr>
          <p:spPr>
            <a:xfrm>
              <a:off x="2288679" y="2943147"/>
              <a:ext cx="308610" cy="251460"/>
            </a:xfrm>
            <a:prstGeom prst="rect">
              <a:avLst/>
            </a:prstGeom>
          </p:spPr>
          <p:txBody>
            <a:bodyPr wrap="none" lIns="91436" tIns="45718" rIns="91436" bIns="45718">
              <a:spAutoFit/>
            </a:bodyPr>
            <a:lstStyle/>
            <a:p>
              <a:endParaRPr lang="en-US" altLang="zh-CN" sz="105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sp>
        <p:nvSpPr>
          <p:cNvPr id="297" name="文本框 296"/>
          <p:cNvSpPr txBox="1"/>
          <p:nvPr/>
        </p:nvSpPr>
        <p:spPr>
          <a:xfrm>
            <a:off x="5958840" y="3707765"/>
            <a:ext cx="5374640" cy="520700"/>
          </a:xfrm>
          <a:prstGeom prst="rect">
            <a:avLst/>
          </a:prstGeom>
          <a:noFill/>
        </p:spPr>
        <p:txBody>
          <a:bodyPr wrap="none" lIns="91436" tIns="45718" rIns="91436" bIns="45718" rtlCol="0">
            <a:spAutoFit/>
          </a:bodyPr>
          <a:lstStyle>
            <a:defPPr>
              <a:defRPr lang="zh-CN"/>
            </a:defPPr>
            <a:lvl1pPr>
              <a:defRPr sz="28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gn="l"/>
            <a:r>
              <a:rPr lang="zh-CN" altLang="en-US" dirty="0"/>
              <a:t>蜂鸟E2</a:t>
            </a:r>
            <a:r>
              <a:rPr lang="en-US" altLang="zh-CN" dirty="0"/>
              <a:t>00</a:t>
            </a:r>
            <a:r>
              <a:rPr lang="zh-CN" altLang="en-US" dirty="0"/>
              <a:t> 处理器的写回硬件实现</a:t>
            </a:r>
            <a:endParaRPr lang="zh-CN" altLang="en-US" dirty="0"/>
          </a:p>
        </p:txBody>
      </p:sp>
      <p:grpSp>
        <p:nvGrpSpPr>
          <p:cNvPr id="2" name="组合 1"/>
          <p:cNvGrpSpPr/>
          <p:nvPr/>
        </p:nvGrpSpPr>
        <p:grpSpPr>
          <a:xfrm>
            <a:off x="5185740" y="2257599"/>
            <a:ext cx="457200" cy="457200"/>
            <a:chOff x="4473270" y="2468419"/>
            <a:chExt cx="457200" cy="457200"/>
          </a:xfrm>
        </p:grpSpPr>
        <p:sp>
          <p:nvSpPr>
            <p:cNvPr id="287" name="椭圆 286"/>
            <p:cNvSpPr/>
            <p:nvPr/>
          </p:nvSpPr>
          <p:spPr>
            <a:xfrm>
              <a:off x="4473270" y="2468419"/>
              <a:ext cx="457200" cy="457200"/>
            </a:xfrm>
            <a:prstGeom prst="ellipse">
              <a:avLst/>
            </a:prstGeom>
            <a:solidFill>
              <a:srgbClr val="005C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5" name="文本框 1"/>
            <p:cNvSpPr>
              <a:spLocks noChangeArrowheads="1"/>
            </p:cNvSpPr>
            <p:nvPr/>
          </p:nvSpPr>
          <p:spPr bwMode="auto">
            <a:xfrm>
              <a:off x="4490843" y="2512554"/>
              <a:ext cx="389097" cy="369332"/>
            </a:xfrm>
            <a:prstGeom prst="rect">
              <a:avLst/>
            </a:prstGeom>
            <a:noFill/>
          </p:spPr>
          <p:txBody>
            <a:bodyPr wrap="square" rtlCol="0">
              <a:spAutoFit/>
            </a:bodyPr>
            <a:lstStyle/>
            <a:p>
              <a:pPr algn="dist"/>
              <a:r>
                <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一</a:t>
              </a:r>
              <a:endPar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5" name="组合 4"/>
          <p:cNvGrpSpPr/>
          <p:nvPr/>
        </p:nvGrpSpPr>
        <p:grpSpPr>
          <a:xfrm>
            <a:off x="5202886" y="3739548"/>
            <a:ext cx="457200" cy="457200"/>
            <a:chOff x="8413446" y="2472723"/>
            <a:chExt cx="457200" cy="457200"/>
          </a:xfrm>
        </p:grpSpPr>
        <p:sp>
          <p:nvSpPr>
            <p:cNvPr id="292" name="椭圆 291"/>
            <p:cNvSpPr/>
            <p:nvPr/>
          </p:nvSpPr>
          <p:spPr>
            <a:xfrm>
              <a:off x="8413446" y="2472723"/>
              <a:ext cx="457200" cy="457200"/>
            </a:xfrm>
            <a:prstGeom prst="ellipse">
              <a:avLst/>
            </a:prstGeom>
            <a:solidFill>
              <a:srgbClr val="005C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7" name="文本框 1"/>
            <p:cNvSpPr>
              <a:spLocks noChangeArrowheads="1"/>
            </p:cNvSpPr>
            <p:nvPr/>
          </p:nvSpPr>
          <p:spPr bwMode="auto">
            <a:xfrm>
              <a:off x="8436526" y="2518187"/>
              <a:ext cx="389097" cy="369332"/>
            </a:xfrm>
            <a:prstGeom prst="rect">
              <a:avLst/>
            </a:prstGeom>
            <a:noFill/>
          </p:spPr>
          <p:txBody>
            <a:bodyPr wrap="square" rtlCol="0">
              <a:spAutoFit/>
            </a:bodyPr>
            <a:lstStyle/>
            <a:p>
              <a:pPr algn="dist"/>
              <a:r>
                <a:rPr lang="zh-CN" altLang="en-US" b="1" dirty="0" smtClean="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二</a:t>
              </a:r>
              <a:endPar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grpSp>
        <p:nvGrpSpPr>
          <p:cNvPr id="324" name="组合 323"/>
          <p:cNvGrpSpPr/>
          <p:nvPr/>
        </p:nvGrpSpPr>
        <p:grpSpPr>
          <a:xfrm>
            <a:off x="160829" y="2815220"/>
            <a:ext cx="3482406" cy="3485973"/>
            <a:chOff x="-265115" y="3698415"/>
            <a:chExt cx="4351968" cy="4356426"/>
          </a:xfrm>
        </p:grpSpPr>
        <p:sp>
          <p:nvSpPr>
            <p:cNvPr id="322" name="Freeform 5"/>
            <p:cNvSpPr>
              <a:spLocks noEditPoints="1"/>
            </p:cNvSpPr>
            <p:nvPr/>
          </p:nvSpPr>
          <p:spPr bwMode="auto">
            <a:xfrm rot="363427">
              <a:off x="-265115" y="3698415"/>
              <a:ext cx="4351968" cy="4356426"/>
            </a:xfrm>
            <a:custGeom>
              <a:avLst/>
              <a:gdLst>
                <a:gd name="T0" fmla="*/ 50 w 4280"/>
                <a:gd name="T1" fmla="*/ 3831 h 4280"/>
                <a:gd name="T2" fmla="*/ 59 w 4280"/>
                <a:gd name="T3" fmla="*/ 4021 h 4280"/>
                <a:gd name="T4" fmla="*/ 259 w 4280"/>
                <a:gd name="T5" fmla="*/ 4221 h 4280"/>
                <a:gd name="T6" fmla="*/ 449 w 4280"/>
                <a:gd name="T7" fmla="*/ 4230 h 4280"/>
                <a:gd name="T8" fmla="*/ 1047 w 4280"/>
                <a:gd name="T9" fmla="*/ 3632 h 4280"/>
                <a:gd name="T10" fmla="*/ 1038 w 4280"/>
                <a:gd name="T11" fmla="*/ 3443 h 4280"/>
                <a:gd name="T12" fmla="*/ 837 w 4280"/>
                <a:gd name="T13" fmla="*/ 3242 h 4280"/>
                <a:gd name="T14" fmla="*/ 648 w 4280"/>
                <a:gd name="T15" fmla="*/ 3233 h 4280"/>
                <a:gd name="T16" fmla="*/ 50 w 4280"/>
                <a:gd name="T17" fmla="*/ 3831 h 4280"/>
                <a:gd name="T18" fmla="*/ 2717 w 4280"/>
                <a:gd name="T19" fmla="*/ 3126 h 4280"/>
                <a:gd name="T20" fmla="*/ 3822 w 4280"/>
                <a:gd name="T21" fmla="*/ 2669 h 4280"/>
                <a:gd name="T22" fmla="*/ 4280 w 4280"/>
                <a:gd name="T23" fmla="*/ 1563 h 4280"/>
                <a:gd name="T24" fmla="*/ 3822 w 4280"/>
                <a:gd name="T25" fmla="*/ 458 h 4280"/>
                <a:gd name="T26" fmla="*/ 2717 w 4280"/>
                <a:gd name="T27" fmla="*/ 0 h 4280"/>
                <a:gd name="T28" fmla="*/ 1611 w 4280"/>
                <a:gd name="T29" fmla="*/ 458 h 4280"/>
                <a:gd name="T30" fmla="*/ 1417 w 4280"/>
                <a:gd name="T31" fmla="*/ 2431 h 4280"/>
                <a:gd name="T32" fmla="*/ 1369 w 4280"/>
                <a:gd name="T33" fmla="*/ 2462 h 4280"/>
                <a:gd name="T34" fmla="*/ 1360 w 4280"/>
                <a:gd name="T35" fmla="*/ 2472 h 4280"/>
                <a:gd name="T36" fmla="*/ 1360 w 4280"/>
                <a:gd name="T37" fmla="*/ 2670 h 4280"/>
                <a:gd name="T38" fmla="*/ 1610 w 4280"/>
                <a:gd name="T39" fmla="*/ 2920 h 4280"/>
                <a:gd name="T40" fmla="*/ 1808 w 4280"/>
                <a:gd name="T41" fmla="*/ 2920 h 4280"/>
                <a:gd name="T42" fmla="*/ 1818 w 4280"/>
                <a:gd name="T43" fmla="*/ 2911 h 4280"/>
                <a:gd name="T44" fmla="*/ 1849 w 4280"/>
                <a:gd name="T45" fmla="*/ 2864 h 4280"/>
                <a:gd name="T46" fmla="*/ 2717 w 4280"/>
                <a:gd name="T47" fmla="*/ 3126 h 4280"/>
                <a:gd name="T48" fmla="*/ 2717 w 4280"/>
                <a:gd name="T49" fmla="*/ 291 h 4280"/>
                <a:gd name="T50" fmla="*/ 3617 w 4280"/>
                <a:gd name="T51" fmla="*/ 663 h 4280"/>
                <a:gd name="T52" fmla="*/ 3989 w 4280"/>
                <a:gd name="T53" fmla="*/ 1563 h 4280"/>
                <a:gd name="T54" fmla="*/ 3617 w 4280"/>
                <a:gd name="T55" fmla="*/ 2463 h 4280"/>
                <a:gd name="T56" fmla="*/ 2717 w 4280"/>
                <a:gd name="T57" fmla="*/ 2836 h 4280"/>
                <a:gd name="T58" fmla="*/ 1817 w 4280"/>
                <a:gd name="T59" fmla="*/ 2463 h 4280"/>
                <a:gd name="T60" fmla="*/ 1817 w 4280"/>
                <a:gd name="T61" fmla="*/ 663 h 4280"/>
                <a:gd name="T62" fmla="*/ 2717 w 4280"/>
                <a:gd name="T63" fmla="*/ 291 h 4280"/>
                <a:gd name="T64" fmla="*/ 1036 w 4280"/>
                <a:gd name="T65" fmla="*/ 2894 h 4280"/>
                <a:gd name="T66" fmla="*/ 1036 w 4280"/>
                <a:gd name="T67" fmla="*/ 3244 h 4280"/>
                <a:gd name="T68" fmla="*/ 1386 w 4280"/>
                <a:gd name="T69" fmla="*/ 3244 h 4280"/>
                <a:gd name="T70" fmla="*/ 1386 w 4280"/>
                <a:gd name="T71" fmla="*/ 2894 h 4280"/>
                <a:gd name="T72" fmla="*/ 1036 w 4280"/>
                <a:gd name="T73" fmla="*/ 2894 h 4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280" h="4280">
                  <a:moveTo>
                    <a:pt x="50" y="3831"/>
                  </a:moveTo>
                  <a:cubicBezTo>
                    <a:pt x="0" y="3881"/>
                    <a:pt x="4" y="3966"/>
                    <a:pt x="59" y="4021"/>
                  </a:cubicBezTo>
                  <a:lnTo>
                    <a:pt x="259" y="4221"/>
                  </a:lnTo>
                  <a:cubicBezTo>
                    <a:pt x="314" y="4276"/>
                    <a:pt x="399" y="4280"/>
                    <a:pt x="449" y="4230"/>
                  </a:cubicBezTo>
                  <a:lnTo>
                    <a:pt x="1047" y="3632"/>
                  </a:lnTo>
                  <a:cubicBezTo>
                    <a:pt x="1096" y="3583"/>
                    <a:pt x="1092" y="3498"/>
                    <a:pt x="1038" y="3443"/>
                  </a:cubicBezTo>
                  <a:lnTo>
                    <a:pt x="837" y="3242"/>
                  </a:lnTo>
                  <a:cubicBezTo>
                    <a:pt x="782" y="3188"/>
                    <a:pt x="697" y="3184"/>
                    <a:pt x="648" y="3233"/>
                  </a:cubicBezTo>
                  <a:lnTo>
                    <a:pt x="50" y="3831"/>
                  </a:lnTo>
                  <a:close/>
                  <a:moveTo>
                    <a:pt x="2717" y="3126"/>
                  </a:moveTo>
                  <a:cubicBezTo>
                    <a:pt x="3134" y="3126"/>
                    <a:pt x="3527" y="2964"/>
                    <a:pt x="3822" y="2669"/>
                  </a:cubicBezTo>
                  <a:cubicBezTo>
                    <a:pt x="4117" y="2373"/>
                    <a:pt x="4280" y="1981"/>
                    <a:pt x="4280" y="1563"/>
                  </a:cubicBezTo>
                  <a:cubicBezTo>
                    <a:pt x="4280" y="1146"/>
                    <a:pt x="4117" y="753"/>
                    <a:pt x="3822" y="458"/>
                  </a:cubicBezTo>
                  <a:cubicBezTo>
                    <a:pt x="3527" y="163"/>
                    <a:pt x="3134" y="0"/>
                    <a:pt x="2717" y="0"/>
                  </a:cubicBezTo>
                  <a:cubicBezTo>
                    <a:pt x="2299" y="0"/>
                    <a:pt x="1907" y="163"/>
                    <a:pt x="1611" y="458"/>
                  </a:cubicBezTo>
                  <a:cubicBezTo>
                    <a:pt x="1076" y="993"/>
                    <a:pt x="1011" y="1824"/>
                    <a:pt x="1417" y="2431"/>
                  </a:cubicBezTo>
                  <a:cubicBezTo>
                    <a:pt x="1399" y="2438"/>
                    <a:pt x="1383" y="2448"/>
                    <a:pt x="1369" y="2462"/>
                  </a:cubicBezTo>
                  <a:lnTo>
                    <a:pt x="1360" y="2472"/>
                  </a:lnTo>
                  <a:cubicBezTo>
                    <a:pt x="1305" y="2526"/>
                    <a:pt x="1305" y="2615"/>
                    <a:pt x="1360" y="2670"/>
                  </a:cubicBezTo>
                  <a:lnTo>
                    <a:pt x="1610" y="2920"/>
                  </a:lnTo>
                  <a:cubicBezTo>
                    <a:pt x="1665" y="2975"/>
                    <a:pt x="1754" y="2975"/>
                    <a:pt x="1808" y="2920"/>
                  </a:cubicBezTo>
                  <a:lnTo>
                    <a:pt x="1818" y="2911"/>
                  </a:lnTo>
                  <a:cubicBezTo>
                    <a:pt x="1832" y="2897"/>
                    <a:pt x="1842" y="2881"/>
                    <a:pt x="1849" y="2864"/>
                  </a:cubicBezTo>
                  <a:cubicBezTo>
                    <a:pt x="2104" y="3035"/>
                    <a:pt x="2403" y="3126"/>
                    <a:pt x="2717" y="3126"/>
                  </a:cubicBezTo>
                  <a:close/>
                  <a:moveTo>
                    <a:pt x="2717" y="291"/>
                  </a:moveTo>
                  <a:cubicBezTo>
                    <a:pt x="3057" y="291"/>
                    <a:pt x="3376" y="423"/>
                    <a:pt x="3617" y="663"/>
                  </a:cubicBezTo>
                  <a:cubicBezTo>
                    <a:pt x="3857" y="904"/>
                    <a:pt x="3989" y="1223"/>
                    <a:pt x="3989" y="1563"/>
                  </a:cubicBezTo>
                  <a:cubicBezTo>
                    <a:pt x="3989" y="1903"/>
                    <a:pt x="3857" y="2223"/>
                    <a:pt x="3617" y="2463"/>
                  </a:cubicBezTo>
                  <a:cubicBezTo>
                    <a:pt x="3376" y="2703"/>
                    <a:pt x="3057" y="2836"/>
                    <a:pt x="2717" y="2836"/>
                  </a:cubicBezTo>
                  <a:cubicBezTo>
                    <a:pt x="2377" y="2836"/>
                    <a:pt x="2057" y="2703"/>
                    <a:pt x="1817" y="2463"/>
                  </a:cubicBezTo>
                  <a:cubicBezTo>
                    <a:pt x="1321" y="1967"/>
                    <a:pt x="1321" y="1160"/>
                    <a:pt x="1817" y="663"/>
                  </a:cubicBezTo>
                  <a:cubicBezTo>
                    <a:pt x="2057" y="423"/>
                    <a:pt x="2377" y="291"/>
                    <a:pt x="2717" y="291"/>
                  </a:cubicBezTo>
                  <a:close/>
                  <a:moveTo>
                    <a:pt x="1036" y="2894"/>
                  </a:moveTo>
                  <a:cubicBezTo>
                    <a:pt x="940" y="2991"/>
                    <a:pt x="940" y="3147"/>
                    <a:pt x="1036" y="3244"/>
                  </a:cubicBezTo>
                  <a:cubicBezTo>
                    <a:pt x="1133" y="3340"/>
                    <a:pt x="1289" y="3340"/>
                    <a:pt x="1386" y="3244"/>
                  </a:cubicBezTo>
                  <a:cubicBezTo>
                    <a:pt x="1482" y="3147"/>
                    <a:pt x="1482" y="2991"/>
                    <a:pt x="1386" y="2894"/>
                  </a:cubicBezTo>
                  <a:cubicBezTo>
                    <a:pt x="1289" y="2798"/>
                    <a:pt x="1133" y="2798"/>
                    <a:pt x="1036" y="2894"/>
                  </a:cubicBezTo>
                  <a:close/>
                </a:path>
              </a:pathLst>
            </a:custGeom>
            <a:solidFill>
              <a:srgbClr val="005CA7"/>
            </a:solidFill>
            <a:ln w="38100" cap="flat">
              <a:solidFill>
                <a:schemeClr val="bg2"/>
              </a:solidFill>
              <a:prstDash val="solid"/>
              <a:miter lim="800000"/>
            </a:ln>
            <a:effectLst>
              <a:outerShdw blurRad="63500" sx="102000" sy="102000" algn="ctr" rotWithShape="0">
                <a:prstClr val="black">
                  <a:alpha val="40000"/>
                </a:prstClr>
              </a:outerShdw>
            </a:effectLst>
          </p:spPr>
          <p:txBody>
            <a:bodyPr vert="horz" wrap="square" lIns="91392" tIns="45696" rIns="91392" bIns="45696" numCol="1" anchor="t" anchorCtr="0" compatLnSpc="1"/>
            <a:lstStyle/>
            <a:p>
              <a:endParaRPr lang="zh-CN" altLang="en-US" sz="1800"/>
            </a:p>
          </p:txBody>
        </p:sp>
        <p:sp>
          <p:nvSpPr>
            <p:cNvPr id="323" name="Freeform 26"/>
            <p:cNvSpPr>
              <a:spLocks noEditPoints="1"/>
            </p:cNvSpPr>
            <p:nvPr/>
          </p:nvSpPr>
          <p:spPr bwMode="auto">
            <a:xfrm>
              <a:off x="1701375" y="4457942"/>
              <a:ext cx="1632150" cy="1515569"/>
            </a:xfrm>
            <a:custGeom>
              <a:avLst/>
              <a:gdLst>
                <a:gd name="T0" fmla="*/ 373 w 678"/>
                <a:gd name="T1" fmla="*/ 551 h 630"/>
                <a:gd name="T2" fmla="*/ 280 w 678"/>
                <a:gd name="T3" fmla="*/ 593 h 630"/>
                <a:gd name="T4" fmla="*/ 190 w 678"/>
                <a:gd name="T5" fmla="*/ 21 h 630"/>
                <a:gd name="T6" fmla="*/ 210 w 678"/>
                <a:gd name="T7" fmla="*/ 34 h 630"/>
                <a:gd name="T8" fmla="*/ 342 w 678"/>
                <a:gd name="T9" fmla="*/ 1 h 630"/>
                <a:gd name="T10" fmla="*/ 169 w 678"/>
                <a:gd name="T11" fmla="*/ 25 h 630"/>
                <a:gd name="T12" fmla="*/ 207 w 678"/>
                <a:gd name="T13" fmla="*/ 62 h 630"/>
                <a:gd name="T14" fmla="*/ 199 w 678"/>
                <a:gd name="T15" fmla="*/ 340 h 630"/>
                <a:gd name="T16" fmla="*/ 161 w 678"/>
                <a:gd name="T17" fmla="*/ 304 h 630"/>
                <a:gd name="T18" fmla="*/ 169 w 678"/>
                <a:gd name="T19" fmla="*/ 25 h 630"/>
                <a:gd name="T20" fmla="*/ 309 w 678"/>
                <a:gd name="T21" fmla="*/ 120 h 630"/>
                <a:gd name="T22" fmla="*/ 467 w 678"/>
                <a:gd name="T23" fmla="*/ 102 h 630"/>
                <a:gd name="T24" fmla="*/ 291 w 678"/>
                <a:gd name="T25" fmla="*/ 109 h 630"/>
                <a:gd name="T26" fmla="*/ 300 w 678"/>
                <a:gd name="T27" fmla="*/ 133 h 630"/>
                <a:gd name="T28" fmla="*/ 308 w 678"/>
                <a:gd name="T29" fmla="*/ 422 h 630"/>
                <a:gd name="T30" fmla="*/ 270 w 678"/>
                <a:gd name="T31" fmla="*/ 410 h 630"/>
                <a:gd name="T32" fmla="*/ 263 w 678"/>
                <a:gd name="T33" fmla="*/ 122 h 630"/>
                <a:gd name="T34" fmla="*/ 322 w 678"/>
                <a:gd name="T35" fmla="*/ 145 h 630"/>
                <a:gd name="T36" fmla="*/ 511 w 678"/>
                <a:gd name="T37" fmla="*/ 145 h 630"/>
                <a:gd name="T38" fmla="*/ 486 w 678"/>
                <a:gd name="T39" fmla="*/ 406 h 630"/>
                <a:gd name="T40" fmla="*/ 322 w 678"/>
                <a:gd name="T41" fmla="*/ 145 h 630"/>
                <a:gd name="T42" fmla="*/ 481 w 678"/>
                <a:gd name="T43" fmla="*/ 166 h 630"/>
                <a:gd name="T44" fmla="*/ 354 w 678"/>
                <a:gd name="T45" fmla="*/ 240 h 630"/>
                <a:gd name="T46" fmla="*/ 221 w 678"/>
                <a:gd name="T47" fmla="*/ 56 h 630"/>
                <a:gd name="T48" fmla="*/ 410 w 678"/>
                <a:gd name="T49" fmla="*/ 56 h 630"/>
                <a:gd name="T50" fmla="*/ 255 w 678"/>
                <a:gd name="T51" fmla="*/ 83 h 630"/>
                <a:gd name="T52" fmla="*/ 240 w 678"/>
                <a:gd name="T53" fmla="*/ 335 h 630"/>
                <a:gd name="T54" fmla="*/ 221 w 678"/>
                <a:gd name="T55" fmla="*/ 56 h 630"/>
                <a:gd name="T56" fmla="*/ 134 w 678"/>
                <a:gd name="T57" fmla="*/ 188 h 630"/>
                <a:gd name="T58" fmla="*/ 104 w 678"/>
                <a:gd name="T59" fmla="*/ 135 h 630"/>
                <a:gd name="T60" fmla="*/ 54 w 678"/>
                <a:gd name="T61" fmla="*/ 467 h 630"/>
                <a:gd name="T62" fmla="*/ 90 w 678"/>
                <a:gd name="T63" fmla="*/ 515 h 630"/>
                <a:gd name="T64" fmla="*/ 0 w 678"/>
                <a:gd name="T65" fmla="*/ 630 h 630"/>
                <a:gd name="T66" fmla="*/ 678 w 678"/>
                <a:gd name="T67" fmla="*/ 586 h 630"/>
                <a:gd name="T68" fmla="*/ 621 w 678"/>
                <a:gd name="T69" fmla="*/ 467 h 630"/>
                <a:gd name="T70" fmla="*/ 571 w 678"/>
                <a:gd name="T71" fmla="*/ 135 h 630"/>
                <a:gd name="T72" fmla="*/ 541 w 678"/>
                <a:gd name="T73" fmla="*/ 188 h 630"/>
                <a:gd name="T74" fmla="*/ 573 w 678"/>
                <a:gd name="T75" fmla="*/ 474 h 630"/>
                <a:gd name="T76" fmla="*/ 101 w 678"/>
                <a:gd name="T77" fmla="*/ 188 h 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78" h="630">
                  <a:moveTo>
                    <a:pt x="301" y="551"/>
                  </a:moveTo>
                  <a:lnTo>
                    <a:pt x="373" y="551"/>
                  </a:lnTo>
                  <a:lnTo>
                    <a:pt x="398" y="593"/>
                  </a:lnTo>
                  <a:lnTo>
                    <a:pt x="280" y="593"/>
                  </a:lnTo>
                  <a:lnTo>
                    <a:pt x="301" y="551"/>
                  </a:lnTo>
                  <a:close/>
                  <a:moveTo>
                    <a:pt x="190" y="21"/>
                  </a:moveTo>
                  <a:lnTo>
                    <a:pt x="207" y="32"/>
                  </a:lnTo>
                  <a:cubicBezTo>
                    <a:pt x="208" y="32"/>
                    <a:pt x="209" y="33"/>
                    <a:pt x="210" y="34"/>
                  </a:cubicBezTo>
                  <a:lnTo>
                    <a:pt x="366" y="14"/>
                  </a:lnTo>
                  <a:cubicBezTo>
                    <a:pt x="362" y="5"/>
                    <a:pt x="353" y="0"/>
                    <a:pt x="342" y="1"/>
                  </a:cubicBezTo>
                  <a:lnTo>
                    <a:pt x="190" y="21"/>
                  </a:lnTo>
                  <a:close/>
                  <a:moveTo>
                    <a:pt x="169" y="25"/>
                  </a:moveTo>
                  <a:lnTo>
                    <a:pt x="199" y="44"/>
                  </a:lnTo>
                  <a:cubicBezTo>
                    <a:pt x="203" y="47"/>
                    <a:pt x="207" y="55"/>
                    <a:pt x="207" y="62"/>
                  </a:cubicBezTo>
                  <a:lnTo>
                    <a:pt x="207" y="333"/>
                  </a:lnTo>
                  <a:cubicBezTo>
                    <a:pt x="207" y="340"/>
                    <a:pt x="203" y="343"/>
                    <a:pt x="199" y="340"/>
                  </a:cubicBezTo>
                  <a:lnTo>
                    <a:pt x="169" y="322"/>
                  </a:lnTo>
                  <a:cubicBezTo>
                    <a:pt x="165" y="319"/>
                    <a:pt x="161" y="311"/>
                    <a:pt x="161" y="304"/>
                  </a:cubicBezTo>
                  <a:lnTo>
                    <a:pt x="161" y="33"/>
                  </a:lnTo>
                  <a:cubicBezTo>
                    <a:pt x="161" y="26"/>
                    <a:pt x="165" y="23"/>
                    <a:pt x="169" y="25"/>
                  </a:cubicBezTo>
                  <a:close/>
                  <a:moveTo>
                    <a:pt x="291" y="109"/>
                  </a:moveTo>
                  <a:lnTo>
                    <a:pt x="309" y="120"/>
                  </a:lnTo>
                  <a:cubicBezTo>
                    <a:pt x="310" y="121"/>
                    <a:pt x="310" y="122"/>
                    <a:pt x="311" y="122"/>
                  </a:cubicBezTo>
                  <a:lnTo>
                    <a:pt x="467" y="102"/>
                  </a:lnTo>
                  <a:cubicBezTo>
                    <a:pt x="464" y="94"/>
                    <a:pt x="454" y="88"/>
                    <a:pt x="443" y="90"/>
                  </a:cubicBezTo>
                  <a:lnTo>
                    <a:pt x="291" y="109"/>
                  </a:lnTo>
                  <a:close/>
                  <a:moveTo>
                    <a:pt x="270" y="114"/>
                  </a:moveTo>
                  <a:lnTo>
                    <a:pt x="300" y="133"/>
                  </a:lnTo>
                  <a:cubicBezTo>
                    <a:pt x="304" y="136"/>
                    <a:pt x="308" y="144"/>
                    <a:pt x="308" y="151"/>
                  </a:cubicBezTo>
                  <a:lnTo>
                    <a:pt x="308" y="422"/>
                  </a:lnTo>
                  <a:cubicBezTo>
                    <a:pt x="308" y="428"/>
                    <a:pt x="304" y="432"/>
                    <a:pt x="300" y="429"/>
                  </a:cubicBezTo>
                  <a:lnTo>
                    <a:pt x="270" y="410"/>
                  </a:lnTo>
                  <a:cubicBezTo>
                    <a:pt x="266" y="407"/>
                    <a:pt x="263" y="400"/>
                    <a:pt x="263" y="393"/>
                  </a:cubicBezTo>
                  <a:lnTo>
                    <a:pt x="263" y="122"/>
                  </a:lnTo>
                  <a:cubicBezTo>
                    <a:pt x="263" y="115"/>
                    <a:pt x="266" y="111"/>
                    <a:pt x="270" y="114"/>
                  </a:cubicBezTo>
                  <a:close/>
                  <a:moveTo>
                    <a:pt x="322" y="145"/>
                  </a:moveTo>
                  <a:lnTo>
                    <a:pt x="486" y="124"/>
                  </a:lnTo>
                  <a:cubicBezTo>
                    <a:pt x="500" y="122"/>
                    <a:pt x="511" y="131"/>
                    <a:pt x="511" y="145"/>
                  </a:cubicBezTo>
                  <a:lnTo>
                    <a:pt x="511" y="378"/>
                  </a:lnTo>
                  <a:cubicBezTo>
                    <a:pt x="511" y="391"/>
                    <a:pt x="500" y="404"/>
                    <a:pt x="486" y="406"/>
                  </a:cubicBezTo>
                  <a:lnTo>
                    <a:pt x="322" y="426"/>
                  </a:lnTo>
                  <a:lnTo>
                    <a:pt x="322" y="145"/>
                  </a:lnTo>
                  <a:close/>
                  <a:moveTo>
                    <a:pt x="354" y="183"/>
                  </a:moveTo>
                  <a:lnTo>
                    <a:pt x="481" y="166"/>
                  </a:lnTo>
                  <a:lnTo>
                    <a:pt x="481" y="224"/>
                  </a:lnTo>
                  <a:lnTo>
                    <a:pt x="354" y="240"/>
                  </a:lnTo>
                  <a:lnTo>
                    <a:pt x="354" y="183"/>
                  </a:lnTo>
                  <a:close/>
                  <a:moveTo>
                    <a:pt x="221" y="56"/>
                  </a:moveTo>
                  <a:lnTo>
                    <a:pt x="384" y="35"/>
                  </a:lnTo>
                  <a:cubicBezTo>
                    <a:pt x="398" y="33"/>
                    <a:pt x="410" y="43"/>
                    <a:pt x="410" y="56"/>
                  </a:cubicBezTo>
                  <a:lnTo>
                    <a:pt x="410" y="63"/>
                  </a:lnTo>
                  <a:lnTo>
                    <a:pt x="255" y="83"/>
                  </a:lnTo>
                  <a:cubicBezTo>
                    <a:pt x="244" y="86"/>
                    <a:pt x="240" y="93"/>
                    <a:pt x="240" y="107"/>
                  </a:cubicBezTo>
                  <a:lnTo>
                    <a:pt x="240" y="335"/>
                  </a:lnTo>
                  <a:lnTo>
                    <a:pt x="221" y="338"/>
                  </a:lnTo>
                  <a:lnTo>
                    <a:pt x="221" y="56"/>
                  </a:lnTo>
                  <a:close/>
                  <a:moveTo>
                    <a:pt x="101" y="188"/>
                  </a:moveTo>
                  <a:lnTo>
                    <a:pt x="134" y="188"/>
                  </a:lnTo>
                  <a:lnTo>
                    <a:pt x="134" y="135"/>
                  </a:lnTo>
                  <a:lnTo>
                    <a:pt x="104" y="135"/>
                  </a:lnTo>
                  <a:cubicBezTo>
                    <a:pt x="76" y="135"/>
                    <a:pt x="54" y="158"/>
                    <a:pt x="54" y="186"/>
                  </a:cubicBezTo>
                  <a:lnTo>
                    <a:pt x="54" y="467"/>
                  </a:lnTo>
                  <a:cubicBezTo>
                    <a:pt x="54" y="490"/>
                    <a:pt x="69" y="509"/>
                    <a:pt x="90" y="515"/>
                  </a:cubicBezTo>
                  <a:lnTo>
                    <a:pt x="90" y="515"/>
                  </a:lnTo>
                  <a:lnTo>
                    <a:pt x="0" y="586"/>
                  </a:lnTo>
                  <a:lnTo>
                    <a:pt x="0" y="630"/>
                  </a:lnTo>
                  <a:lnTo>
                    <a:pt x="678" y="630"/>
                  </a:lnTo>
                  <a:lnTo>
                    <a:pt x="678" y="586"/>
                  </a:lnTo>
                  <a:lnTo>
                    <a:pt x="582" y="516"/>
                  </a:lnTo>
                  <a:cubicBezTo>
                    <a:pt x="604" y="511"/>
                    <a:pt x="621" y="491"/>
                    <a:pt x="621" y="467"/>
                  </a:cubicBezTo>
                  <a:lnTo>
                    <a:pt x="621" y="186"/>
                  </a:lnTo>
                  <a:cubicBezTo>
                    <a:pt x="621" y="158"/>
                    <a:pt x="598" y="135"/>
                    <a:pt x="571" y="135"/>
                  </a:cubicBezTo>
                  <a:lnTo>
                    <a:pt x="541" y="135"/>
                  </a:lnTo>
                  <a:lnTo>
                    <a:pt x="541" y="188"/>
                  </a:lnTo>
                  <a:lnTo>
                    <a:pt x="573" y="188"/>
                  </a:lnTo>
                  <a:lnTo>
                    <a:pt x="573" y="474"/>
                  </a:lnTo>
                  <a:lnTo>
                    <a:pt x="101" y="474"/>
                  </a:lnTo>
                  <a:lnTo>
                    <a:pt x="101" y="188"/>
                  </a:lnTo>
                  <a:close/>
                </a:path>
              </a:pathLst>
            </a:custGeom>
            <a:solidFill>
              <a:schemeClr val="bg1">
                <a:lumMod val="50000"/>
              </a:schemeClr>
            </a:solidFill>
            <a:ln>
              <a:noFill/>
            </a:ln>
          </p:spPr>
          <p:txBody>
            <a:bodyPr vert="horz" wrap="square" lIns="91392" tIns="45696" rIns="91392" bIns="45696" numCol="1" anchor="t" anchorCtr="0" compatLnSpc="1"/>
            <a:lstStyle/>
            <a:p>
              <a:endParaRPr lang="zh-CN" altLang="en-US" sz="1800">
                <a:solidFill>
                  <a:schemeClr val="accent1"/>
                </a:solidFill>
              </a:endParaRPr>
            </a:p>
          </p:txBody>
        </p:sp>
      </p:grpSp>
      <p:grpSp>
        <p:nvGrpSpPr>
          <p:cNvPr id="8" name="组合 7"/>
          <p:cNvGrpSpPr/>
          <p:nvPr/>
        </p:nvGrpSpPr>
        <p:grpSpPr>
          <a:xfrm>
            <a:off x="5202886" y="5140993"/>
            <a:ext cx="457200" cy="457200"/>
            <a:chOff x="8413446" y="2472723"/>
            <a:chExt cx="457200" cy="457200"/>
          </a:xfrm>
        </p:grpSpPr>
        <p:sp>
          <p:nvSpPr>
            <p:cNvPr id="9" name="椭圆 8"/>
            <p:cNvSpPr/>
            <p:nvPr/>
          </p:nvSpPr>
          <p:spPr>
            <a:xfrm>
              <a:off x="8413446" y="2472723"/>
              <a:ext cx="457200" cy="457200"/>
            </a:xfrm>
            <a:prstGeom prst="ellipse">
              <a:avLst/>
            </a:prstGeom>
            <a:solidFill>
              <a:srgbClr val="005C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0" name="文本框 1"/>
            <p:cNvSpPr>
              <a:spLocks noChangeArrowheads="1"/>
            </p:cNvSpPr>
            <p:nvPr/>
          </p:nvSpPr>
          <p:spPr bwMode="auto">
            <a:xfrm>
              <a:off x="8436526" y="2518187"/>
              <a:ext cx="389097" cy="368300"/>
            </a:xfrm>
            <a:prstGeom prst="rect">
              <a:avLst/>
            </a:prstGeom>
            <a:noFill/>
          </p:spPr>
          <p:txBody>
            <a:bodyPr wrap="square" rtlCol="0">
              <a:spAutoFit/>
            </a:bodyPr>
            <a:p>
              <a:pPr algn="dist"/>
              <a:r>
                <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三</a:t>
              </a:r>
              <a:endParaRPr lang="zh-CN" altLang="en-US"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11" name="文本框 10"/>
          <p:cNvSpPr txBox="1"/>
          <p:nvPr/>
        </p:nvSpPr>
        <p:spPr>
          <a:xfrm>
            <a:off x="5937250" y="5140960"/>
            <a:ext cx="5396230" cy="368300"/>
          </a:xfrm>
          <a:prstGeom prst="rect">
            <a:avLst/>
          </a:prstGeom>
          <a:noFill/>
        </p:spPr>
        <p:txBody>
          <a:bodyPr wrap="square" rtlCol="0">
            <a:spAutoFit/>
          </a:bodyPr>
          <a:p>
            <a:r>
              <a:rPr lang="zh-CN" altLang="en-US" sz="2800" dirty="0">
                <a:solidFill>
                  <a:schemeClr val="tx1">
                    <a:lumMod val="65000"/>
                    <a:lumOff val="35000"/>
                  </a:schemeClr>
                </a:solidFill>
                <a:latin typeface="微软雅黑" panose="020B0503020204020204" pitchFamily="34" charset="-122"/>
                <a:ea typeface="微软雅黑" panose="020B0503020204020204" pitchFamily="34" charset="-122"/>
              </a:rPr>
              <a:t>小结</a:t>
            </a:r>
            <a:endParaRPr lang="zh-CN" altLang="en-US"/>
          </a:p>
        </p:txBody>
      </p:sp>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6" fill="hold" nodeType="afterEffect">
                                  <p:stCondLst>
                                    <p:cond delay="0"/>
                                  </p:stCondLst>
                                  <p:childTnLst>
                                    <p:set>
                                      <p:cBhvr>
                                        <p:cTn id="6" dur="1" fill="hold">
                                          <p:stCondLst>
                                            <p:cond delay="0"/>
                                          </p:stCondLst>
                                        </p:cTn>
                                        <p:tgtEl>
                                          <p:spTgt spid="324"/>
                                        </p:tgtEl>
                                        <p:attrNameLst>
                                          <p:attrName>style.visibility</p:attrName>
                                        </p:attrNameLst>
                                      </p:cBhvr>
                                      <p:to>
                                        <p:strVal val="visible"/>
                                      </p:to>
                                    </p:set>
                                    <p:anim calcmode="lin" valueType="num">
                                      <p:cBhvr>
                                        <p:cTn id="7" dur="500" fill="hold"/>
                                        <p:tgtEl>
                                          <p:spTgt spid="324"/>
                                        </p:tgtEl>
                                        <p:attrNameLst>
                                          <p:attrName>ppt_w</p:attrName>
                                        </p:attrNameLst>
                                      </p:cBhvr>
                                      <p:tavLst>
                                        <p:tav tm="0">
                                          <p:val>
                                            <p:strVal val="(6*min(max(#ppt_w*#ppt_h,.3),1)-7.4)/-.7*#ppt_w"/>
                                          </p:val>
                                        </p:tav>
                                        <p:tav tm="100000">
                                          <p:val>
                                            <p:strVal val="#ppt_w"/>
                                          </p:val>
                                        </p:tav>
                                      </p:tavLst>
                                    </p:anim>
                                    <p:anim calcmode="lin" valueType="num">
                                      <p:cBhvr>
                                        <p:cTn id="8" dur="500" fill="hold"/>
                                        <p:tgtEl>
                                          <p:spTgt spid="324"/>
                                        </p:tgtEl>
                                        <p:attrNameLst>
                                          <p:attrName>ppt_h</p:attrName>
                                        </p:attrNameLst>
                                      </p:cBhvr>
                                      <p:tavLst>
                                        <p:tav tm="0">
                                          <p:val>
                                            <p:strVal val="(6*min(max(#ppt_w*#ppt_h,.3),1)-7.4)/-.7*#ppt_h"/>
                                          </p:val>
                                        </p:tav>
                                        <p:tav tm="100000">
                                          <p:val>
                                            <p:strVal val="#ppt_h"/>
                                          </p:val>
                                        </p:tav>
                                      </p:tavLst>
                                    </p:anim>
                                    <p:anim calcmode="lin" valueType="num">
                                      <p:cBhvr>
                                        <p:cTn id="9" dur="500" fill="hold"/>
                                        <p:tgtEl>
                                          <p:spTgt spid="324"/>
                                        </p:tgtEl>
                                        <p:attrNameLst>
                                          <p:attrName>ppt_x</p:attrName>
                                        </p:attrNameLst>
                                      </p:cBhvr>
                                      <p:tavLst>
                                        <p:tav tm="0">
                                          <p:val>
                                            <p:fltVal val="0.5"/>
                                          </p:val>
                                        </p:tav>
                                        <p:tav tm="100000">
                                          <p:val>
                                            <p:strVal val="#ppt_x"/>
                                          </p:val>
                                        </p:tav>
                                      </p:tavLst>
                                    </p:anim>
                                    <p:anim calcmode="lin" valueType="num">
                                      <p:cBhvr>
                                        <p:cTn id="10" dur="500" fill="hold"/>
                                        <p:tgtEl>
                                          <p:spTgt spid="324"/>
                                        </p:tgtEl>
                                        <p:attrNameLst>
                                          <p:attrName>ppt_y</p:attrName>
                                        </p:attrNameLst>
                                      </p:cBhvr>
                                      <p:tavLst>
                                        <p:tav tm="0">
                                          <p:val>
                                            <p:strVal val="1+(6*min(max(#ppt_w*#ppt_h,.3),1)-7.4)/-.7*#ppt_h/2"/>
                                          </p:val>
                                        </p:tav>
                                        <p:tav tm="100000">
                                          <p:val>
                                            <p:strVal val="#ppt_y"/>
                                          </p:val>
                                        </p:tav>
                                      </p:tavLst>
                                    </p:anim>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42"/>
                                        </p:tgtEl>
                                        <p:attrNameLst>
                                          <p:attrName>style.visibility</p:attrName>
                                        </p:attrNameLst>
                                      </p:cBhvr>
                                      <p:to>
                                        <p:strVal val="visible"/>
                                      </p:to>
                                    </p:set>
                                    <p:anim calcmode="lin" valueType="num">
                                      <p:cBhvr>
                                        <p:cTn id="14" dur="500" fill="hold"/>
                                        <p:tgtEl>
                                          <p:spTgt spid="42"/>
                                        </p:tgtEl>
                                        <p:attrNameLst>
                                          <p:attrName>ppt_x</p:attrName>
                                        </p:attrNameLst>
                                      </p:cBhvr>
                                      <p:tavLst>
                                        <p:tav tm="0">
                                          <p:val>
                                            <p:strVal val="#ppt_x"/>
                                          </p:val>
                                        </p:tav>
                                        <p:tav tm="50000">
                                          <p:val>
                                            <p:strVal val="#ppt_x+.1"/>
                                          </p:val>
                                        </p:tav>
                                        <p:tav tm="100000">
                                          <p:val>
                                            <p:strVal val="#ppt_x"/>
                                          </p:val>
                                        </p:tav>
                                      </p:tavLst>
                                    </p:anim>
                                    <p:anim calcmode="lin" valueType="num">
                                      <p:cBhvr>
                                        <p:cTn id="15" dur="500" fill="hold"/>
                                        <p:tgtEl>
                                          <p:spTgt spid="42"/>
                                        </p:tgtEl>
                                        <p:attrNameLst>
                                          <p:attrName>ppt_y</p:attrName>
                                        </p:attrNameLst>
                                      </p:cBhvr>
                                      <p:tavLst>
                                        <p:tav tm="0">
                                          <p:val>
                                            <p:strVal val="#ppt_y"/>
                                          </p:val>
                                        </p:tav>
                                        <p:tav tm="100000">
                                          <p:val>
                                            <p:strVal val="#ppt_y"/>
                                          </p:val>
                                        </p:tav>
                                      </p:tavLst>
                                    </p:anim>
                                    <p:anim calcmode="lin" valueType="num">
                                      <p:cBhvr>
                                        <p:cTn id="16" dur="500" fill="hold"/>
                                        <p:tgtEl>
                                          <p:spTgt spid="42"/>
                                        </p:tgtEl>
                                        <p:attrNameLst>
                                          <p:attrName>ppt_h</p:attrName>
                                        </p:attrNameLst>
                                      </p:cBhvr>
                                      <p:tavLst>
                                        <p:tav tm="0">
                                          <p:val>
                                            <p:strVal val="#ppt_h/10"/>
                                          </p:val>
                                        </p:tav>
                                        <p:tav tm="50000">
                                          <p:val>
                                            <p:strVal val="#ppt_h+.01"/>
                                          </p:val>
                                        </p:tav>
                                        <p:tav tm="100000">
                                          <p:val>
                                            <p:strVal val="#ppt_h"/>
                                          </p:val>
                                        </p:tav>
                                      </p:tavLst>
                                    </p:anim>
                                    <p:anim calcmode="lin" valueType="num">
                                      <p:cBhvr>
                                        <p:cTn id="17" dur="500" fill="hold"/>
                                        <p:tgtEl>
                                          <p:spTgt spid="42"/>
                                        </p:tgtEl>
                                        <p:attrNameLst>
                                          <p:attrName>ppt_w</p:attrName>
                                        </p:attrNameLst>
                                      </p:cBhvr>
                                      <p:tavLst>
                                        <p:tav tm="0">
                                          <p:val>
                                            <p:strVal val="#ppt_w/10"/>
                                          </p:val>
                                        </p:tav>
                                        <p:tav tm="50000">
                                          <p:val>
                                            <p:strVal val="#ppt_w+.01"/>
                                          </p:val>
                                        </p:tav>
                                        <p:tav tm="100000">
                                          <p:val>
                                            <p:strVal val="#ppt_w"/>
                                          </p:val>
                                        </p:tav>
                                      </p:tavLst>
                                    </p:anim>
                                    <p:animEffect transition="in" filter="fade">
                                      <p:cBhvr>
                                        <p:cTn id="18" dur="500" tmFilter="0,0; .5, 1; 1, 1"/>
                                        <p:tgtEl>
                                          <p:spTgt spid="42"/>
                                        </p:tgtEl>
                                      </p:cBhvr>
                                    </p:animEffect>
                                  </p:childTnLst>
                                </p:cTn>
                              </p:par>
                            </p:childTnLst>
                          </p:cTn>
                        </p:par>
                        <p:par>
                          <p:cTn id="19" fill="hold">
                            <p:stCondLst>
                              <p:cond delay="1049"/>
                            </p:stCondLst>
                            <p:childTnLst>
                              <p:par>
                                <p:cTn id="20" presetID="22" presetClass="entr" presetSubtype="8" fill="hold" nodeType="after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left)">
                                      <p:cBhvr>
                                        <p:cTn id="22" dur="500"/>
                                        <p:tgtEl>
                                          <p:spTgt spid="33"/>
                                        </p:tgtEl>
                                      </p:cBhvr>
                                    </p:animEffect>
                                  </p:childTnLst>
                                </p:cTn>
                              </p:par>
                              <p:par>
                                <p:cTn id="23" presetID="22" presetClass="entr" presetSubtype="2" fill="hold" nodeType="withEffect">
                                  <p:stCondLst>
                                    <p:cond delay="0"/>
                                  </p:stCondLst>
                                  <p:childTnLst>
                                    <p:set>
                                      <p:cBhvr>
                                        <p:cTn id="24" dur="1" fill="hold">
                                          <p:stCondLst>
                                            <p:cond delay="0"/>
                                          </p:stCondLst>
                                        </p:cTn>
                                        <p:tgtEl>
                                          <p:spTgt spid="45"/>
                                        </p:tgtEl>
                                        <p:attrNameLst>
                                          <p:attrName>style.visibility</p:attrName>
                                        </p:attrNameLst>
                                      </p:cBhvr>
                                      <p:to>
                                        <p:strVal val="visible"/>
                                      </p:to>
                                    </p:set>
                                    <p:animEffect transition="in" filter="wipe(right)">
                                      <p:cBhvr>
                                        <p:cTn id="25" dur="500"/>
                                        <p:tgtEl>
                                          <p:spTgt spid="45"/>
                                        </p:tgtEl>
                                      </p:cBhvr>
                                    </p:animEffect>
                                  </p:childTnLst>
                                </p:cTn>
                              </p:par>
                              <p:par>
                                <p:cTn id="26" presetID="22" presetClass="entr" presetSubtype="8" fill="hold" grpId="0" nodeType="with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wipe(left)">
                                      <p:cBhvr>
                                        <p:cTn id="28" dur="500"/>
                                        <p:tgtEl>
                                          <p:spTgt spid="50"/>
                                        </p:tgtEl>
                                      </p:cBhvr>
                                    </p:animEffect>
                                  </p:childTnLst>
                                </p:cTn>
                              </p:par>
                            </p:childTnLst>
                          </p:cTn>
                        </p:par>
                        <p:par>
                          <p:cTn id="29" fill="hold">
                            <p:stCondLst>
                              <p:cond delay="1549"/>
                            </p:stCondLst>
                            <p:childTnLst>
                              <p:par>
                                <p:cTn id="30" presetID="49" presetClass="entr" presetSubtype="0" decel="100000" fill="hold" nodeType="after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p:cTn id="32" dur="500" fill="hold"/>
                                        <p:tgtEl>
                                          <p:spTgt spid="2"/>
                                        </p:tgtEl>
                                        <p:attrNameLst>
                                          <p:attrName>ppt_w</p:attrName>
                                        </p:attrNameLst>
                                      </p:cBhvr>
                                      <p:tavLst>
                                        <p:tav tm="0">
                                          <p:val>
                                            <p:fltVal val="0"/>
                                          </p:val>
                                        </p:tav>
                                        <p:tav tm="100000">
                                          <p:val>
                                            <p:strVal val="#ppt_w"/>
                                          </p:val>
                                        </p:tav>
                                      </p:tavLst>
                                    </p:anim>
                                    <p:anim calcmode="lin" valueType="num">
                                      <p:cBhvr>
                                        <p:cTn id="33" dur="500" fill="hold"/>
                                        <p:tgtEl>
                                          <p:spTgt spid="2"/>
                                        </p:tgtEl>
                                        <p:attrNameLst>
                                          <p:attrName>ppt_h</p:attrName>
                                        </p:attrNameLst>
                                      </p:cBhvr>
                                      <p:tavLst>
                                        <p:tav tm="0">
                                          <p:val>
                                            <p:fltVal val="0"/>
                                          </p:val>
                                        </p:tav>
                                        <p:tav tm="100000">
                                          <p:val>
                                            <p:strVal val="#ppt_h"/>
                                          </p:val>
                                        </p:tav>
                                      </p:tavLst>
                                    </p:anim>
                                    <p:anim calcmode="lin" valueType="num">
                                      <p:cBhvr>
                                        <p:cTn id="34" dur="500" fill="hold"/>
                                        <p:tgtEl>
                                          <p:spTgt spid="2"/>
                                        </p:tgtEl>
                                        <p:attrNameLst>
                                          <p:attrName>style.rotation</p:attrName>
                                        </p:attrNameLst>
                                      </p:cBhvr>
                                      <p:tavLst>
                                        <p:tav tm="0">
                                          <p:val>
                                            <p:fltVal val="360"/>
                                          </p:val>
                                        </p:tav>
                                        <p:tav tm="100000">
                                          <p:val>
                                            <p:fltVal val="0"/>
                                          </p:val>
                                        </p:tav>
                                      </p:tavLst>
                                    </p:anim>
                                    <p:animEffect transition="in" filter="fade">
                                      <p:cBhvr>
                                        <p:cTn id="35" dur="500"/>
                                        <p:tgtEl>
                                          <p:spTgt spid="2"/>
                                        </p:tgtEl>
                                      </p:cBhvr>
                                    </p:animEffect>
                                  </p:childTnLst>
                                </p:cTn>
                              </p:par>
                            </p:childTnLst>
                          </p:cTn>
                        </p:par>
                        <p:par>
                          <p:cTn id="36" fill="hold">
                            <p:stCondLst>
                              <p:cond delay="2049"/>
                            </p:stCondLst>
                            <p:childTnLst>
                              <p:par>
                                <p:cTn id="37" presetID="12" presetClass="entr" presetSubtype="2" fill="hold" nodeType="afterEffect">
                                  <p:stCondLst>
                                    <p:cond delay="0"/>
                                  </p:stCondLst>
                                  <p:childTnLst>
                                    <p:set>
                                      <p:cBhvr>
                                        <p:cTn id="38" dur="1" fill="hold">
                                          <p:stCondLst>
                                            <p:cond delay="0"/>
                                          </p:stCondLst>
                                        </p:cTn>
                                        <p:tgtEl>
                                          <p:spTgt spid="308"/>
                                        </p:tgtEl>
                                        <p:attrNameLst>
                                          <p:attrName>style.visibility</p:attrName>
                                        </p:attrNameLst>
                                      </p:cBhvr>
                                      <p:to>
                                        <p:strVal val="visible"/>
                                      </p:to>
                                    </p:set>
                                    <p:anim calcmode="lin" valueType="num">
                                      <p:cBhvr additive="base">
                                        <p:cTn id="39" dur="500"/>
                                        <p:tgtEl>
                                          <p:spTgt spid="308"/>
                                        </p:tgtEl>
                                        <p:attrNameLst>
                                          <p:attrName>ppt_x</p:attrName>
                                        </p:attrNameLst>
                                      </p:cBhvr>
                                      <p:tavLst>
                                        <p:tav tm="0">
                                          <p:val>
                                            <p:strVal val="#ppt_x+#ppt_w*1.125000"/>
                                          </p:val>
                                        </p:tav>
                                        <p:tav tm="100000">
                                          <p:val>
                                            <p:strVal val="#ppt_x"/>
                                          </p:val>
                                        </p:tav>
                                      </p:tavLst>
                                    </p:anim>
                                    <p:animEffect transition="in" filter="wipe(left)">
                                      <p:cBhvr>
                                        <p:cTn id="40" dur="500"/>
                                        <p:tgtEl>
                                          <p:spTgt spid="308"/>
                                        </p:tgtEl>
                                      </p:cBhvr>
                                    </p:animEffect>
                                  </p:childTnLst>
                                </p:cTn>
                              </p:par>
                            </p:childTnLst>
                          </p:cTn>
                        </p:par>
                        <p:par>
                          <p:cTn id="41" fill="hold">
                            <p:stCondLst>
                              <p:cond delay="2549"/>
                            </p:stCondLst>
                            <p:childTnLst>
                              <p:par>
                                <p:cTn id="42" presetID="49" presetClass="entr" presetSubtype="0" decel="100000" fill="hold" nodeType="afterEffect">
                                  <p:stCondLst>
                                    <p:cond delay="0"/>
                                  </p:stCondLst>
                                  <p:childTnLst>
                                    <p:set>
                                      <p:cBhvr>
                                        <p:cTn id="43" dur="1" fill="hold">
                                          <p:stCondLst>
                                            <p:cond delay="0"/>
                                          </p:stCondLst>
                                        </p:cTn>
                                        <p:tgtEl>
                                          <p:spTgt spid="5"/>
                                        </p:tgtEl>
                                        <p:attrNameLst>
                                          <p:attrName>style.visibility</p:attrName>
                                        </p:attrNameLst>
                                      </p:cBhvr>
                                      <p:to>
                                        <p:strVal val="visible"/>
                                      </p:to>
                                    </p:set>
                                    <p:anim calcmode="lin" valueType="num">
                                      <p:cBhvr>
                                        <p:cTn id="44" dur="500" fill="hold"/>
                                        <p:tgtEl>
                                          <p:spTgt spid="5"/>
                                        </p:tgtEl>
                                        <p:attrNameLst>
                                          <p:attrName>ppt_w</p:attrName>
                                        </p:attrNameLst>
                                      </p:cBhvr>
                                      <p:tavLst>
                                        <p:tav tm="0">
                                          <p:val>
                                            <p:fltVal val="0"/>
                                          </p:val>
                                        </p:tav>
                                        <p:tav tm="100000">
                                          <p:val>
                                            <p:strVal val="#ppt_w"/>
                                          </p:val>
                                        </p:tav>
                                      </p:tavLst>
                                    </p:anim>
                                    <p:anim calcmode="lin" valueType="num">
                                      <p:cBhvr>
                                        <p:cTn id="45" dur="500" fill="hold"/>
                                        <p:tgtEl>
                                          <p:spTgt spid="5"/>
                                        </p:tgtEl>
                                        <p:attrNameLst>
                                          <p:attrName>ppt_h</p:attrName>
                                        </p:attrNameLst>
                                      </p:cBhvr>
                                      <p:tavLst>
                                        <p:tav tm="0">
                                          <p:val>
                                            <p:fltVal val="0"/>
                                          </p:val>
                                        </p:tav>
                                        <p:tav tm="100000">
                                          <p:val>
                                            <p:strVal val="#ppt_h"/>
                                          </p:val>
                                        </p:tav>
                                      </p:tavLst>
                                    </p:anim>
                                    <p:anim calcmode="lin" valueType="num">
                                      <p:cBhvr>
                                        <p:cTn id="46" dur="500" fill="hold"/>
                                        <p:tgtEl>
                                          <p:spTgt spid="5"/>
                                        </p:tgtEl>
                                        <p:attrNameLst>
                                          <p:attrName>style.rotation</p:attrName>
                                        </p:attrNameLst>
                                      </p:cBhvr>
                                      <p:tavLst>
                                        <p:tav tm="0">
                                          <p:val>
                                            <p:fltVal val="360"/>
                                          </p:val>
                                        </p:tav>
                                        <p:tav tm="100000">
                                          <p:val>
                                            <p:fltVal val="0"/>
                                          </p:val>
                                        </p:tav>
                                      </p:tavLst>
                                    </p:anim>
                                    <p:animEffect transition="in" filter="fade">
                                      <p:cBhvr>
                                        <p:cTn id="47" dur="500"/>
                                        <p:tgtEl>
                                          <p:spTgt spid="5"/>
                                        </p:tgtEl>
                                      </p:cBhvr>
                                    </p:animEffect>
                                  </p:childTnLst>
                                </p:cTn>
                              </p:par>
                            </p:childTnLst>
                          </p:cTn>
                        </p:par>
                        <p:par>
                          <p:cTn id="48" fill="hold">
                            <p:stCondLst>
                              <p:cond delay="3049"/>
                            </p:stCondLst>
                            <p:childTnLst>
                              <p:par>
                                <p:cTn id="49" presetID="49" presetClass="entr" presetSubtype="0" decel="100000" fill="hold" nodeType="afterEffect">
                                  <p:stCondLst>
                                    <p:cond delay="0"/>
                                  </p:stCondLst>
                                  <p:childTnLst>
                                    <p:set>
                                      <p:cBhvr>
                                        <p:cTn id="50" dur="1" fill="hold">
                                          <p:stCondLst>
                                            <p:cond delay="0"/>
                                          </p:stCondLst>
                                        </p:cTn>
                                        <p:tgtEl>
                                          <p:spTgt spid="8"/>
                                        </p:tgtEl>
                                        <p:attrNameLst>
                                          <p:attrName>style.visibility</p:attrName>
                                        </p:attrNameLst>
                                      </p:cBhvr>
                                      <p:to>
                                        <p:strVal val="visible"/>
                                      </p:to>
                                    </p:set>
                                    <p:anim calcmode="lin" valueType="num">
                                      <p:cBhvr>
                                        <p:cTn id="51" dur="500" fill="hold"/>
                                        <p:tgtEl>
                                          <p:spTgt spid="8"/>
                                        </p:tgtEl>
                                        <p:attrNameLst>
                                          <p:attrName>ppt_w</p:attrName>
                                        </p:attrNameLst>
                                      </p:cBhvr>
                                      <p:tavLst>
                                        <p:tav tm="0">
                                          <p:val>
                                            <p:fltVal val="0"/>
                                          </p:val>
                                        </p:tav>
                                        <p:tav tm="100000">
                                          <p:val>
                                            <p:strVal val="#ppt_w"/>
                                          </p:val>
                                        </p:tav>
                                      </p:tavLst>
                                    </p:anim>
                                    <p:anim calcmode="lin" valueType="num">
                                      <p:cBhvr>
                                        <p:cTn id="52" dur="500" fill="hold"/>
                                        <p:tgtEl>
                                          <p:spTgt spid="8"/>
                                        </p:tgtEl>
                                        <p:attrNameLst>
                                          <p:attrName>ppt_h</p:attrName>
                                        </p:attrNameLst>
                                      </p:cBhvr>
                                      <p:tavLst>
                                        <p:tav tm="0">
                                          <p:val>
                                            <p:fltVal val="0"/>
                                          </p:val>
                                        </p:tav>
                                        <p:tav tm="100000">
                                          <p:val>
                                            <p:strVal val="#ppt_h"/>
                                          </p:val>
                                        </p:tav>
                                      </p:tavLst>
                                    </p:anim>
                                    <p:anim calcmode="lin" valueType="num">
                                      <p:cBhvr>
                                        <p:cTn id="53" dur="500" fill="hold"/>
                                        <p:tgtEl>
                                          <p:spTgt spid="8"/>
                                        </p:tgtEl>
                                        <p:attrNameLst>
                                          <p:attrName>style.rotation</p:attrName>
                                        </p:attrNameLst>
                                      </p:cBhvr>
                                      <p:tavLst>
                                        <p:tav tm="0">
                                          <p:val>
                                            <p:fltVal val="360"/>
                                          </p:val>
                                        </p:tav>
                                        <p:tav tm="100000">
                                          <p:val>
                                            <p:fltVal val="0"/>
                                          </p:val>
                                        </p:tav>
                                      </p:tavLst>
                                    </p:anim>
                                    <p:animEffect transition="in" filter="fade">
                                      <p:cBhvr>
                                        <p:cTn id="5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5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3359309" y="444978"/>
            <a:ext cx="1372552" cy="1243875"/>
            <a:chOff x="5500688" y="1608138"/>
            <a:chExt cx="508000" cy="460375"/>
          </a:xfrm>
        </p:grpSpPr>
        <p:sp>
          <p:nvSpPr>
            <p:cNvPr id="6" name="Freeform 5"/>
            <p:cNvSpPr>
              <a:spLocks noEditPoints="1"/>
            </p:cNvSpPr>
            <p:nvPr/>
          </p:nvSpPr>
          <p:spPr bwMode="auto">
            <a:xfrm>
              <a:off x="5500688" y="1608138"/>
              <a:ext cx="508000" cy="460375"/>
            </a:xfrm>
            <a:custGeom>
              <a:avLst/>
              <a:gdLst>
                <a:gd name="T0" fmla="*/ 115 w 133"/>
                <a:gd name="T1" fmla="*/ 36 h 120"/>
                <a:gd name="T2" fmla="*/ 67 w 133"/>
                <a:gd name="T3" fmla="*/ 1 h 120"/>
                <a:gd name="T4" fmla="*/ 47 w 133"/>
                <a:gd name="T5" fmla="*/ 2 h 120"/>
                <a:gd name="T6" fmla="*/ 4 w 133"/>
                <a:gd name="T7" fmla="*/ 39 h 120"/>
                <a:gd name="T8" fmla="*/ 24 w 133"/>
                <a:gd name="T9" fmla="*/ 108 h 120"/>
                <a:gd name="T10" fmla="*/ 60 w 133"/>
                <a:gd name="T11" fmla="*/ 120 h 120"/>
                <a:gd name="T12" fmla="*/ 93 w 133"/>
                <a:gd name="T13" fmla="*/ 110 h 120"/>
                <a:gd name="T14" fmla="*/ 42 w 133"/>
                <a:gd name="T15" fmla="*/ 9 h 120"/>
                <a:gd name="T16" fmla="*/ 38 w 133"/>
                <a:gd name="T17" fmla="*/ 14 h 120"/>
                <a:gd name="T18" fmla="*/ 33 w 133"/>
                <a:gd name="T19" fmla="*/ 16 h 120"/>
                <a:gd name="T20" fmla="*/ 33 w 133"/>
                <a:gd name="T21" fmla="*/ 24 h 120"/>
                <a:gd name="T22" fmla="*/ 9 w 133"/>
                <a:gd name="T23" fmla="*/ 36 h 120"/>
                <a:gd name="T24" fmla="*/ 25 w 133"/>
                <a:gd name="T25" fmla="*/ 48 h 120"/>
                <a:gd name="T26" fmla="*/ 4 w 133"/>
                <a:gd name="T27" fmla="*/ 63 h 120"/>
                <a:gd name="T28" fmla="*/ 25 w 133"/>
                <a:gd name="T29" fmla="*/ 76 h 120"/>
                <a:gd name="T30" fmla="*/ 28 w 133"/>
                <a:gd name="T31" fmla="*/ 106 h 120"/>
                <a:gd name="T32" fmla="*/ 32 w 133"/>
                <a:gd name="T33" fmla="*/ 96 h 120"/>
                <a:gd name="T34" fmla="*/ 35 w 133"/>
                <a:gd name="T35" fmla="*/ 104 h 120"/>
                <a:gd name="T36" fmla="*/ 38 w 133"/>
                <a:gd name="T37" fmla="*/ 107 h 120"/>
                <a:gd name="T38" fmla="*/ 42 w 133"/>
                <a:gd name="T39" fmla="*/ 112 h 120"/>
                <a:gd name="T40" fmla="*/ 48 w 133"/>
                <a:gd name="T41" fmla="*/ 114 h 120"/>
                <a:gd name="T42" fmla="*/ 42 w 133"/>
                <a:gd name="T43" fmla="*/ 107 h 120"/>
                <a:gd name="T44" fmla="*/ 51 w 133"/>
                <a:gd name="T45" fmla="*/ 100 h 120"/>
                <a:gd name="T46" fmla="*/ 38 w 133"/>
                <a:gd name="T47" fmla="*/ 101 h 120"/>
                <a:gd name="T48" fmla="*/ 32 w 133"/>
                <a:gd name="T49" fmla="*/ 87 h 120"/>
                <a:gd name="T50" fmla="*/ 29 w 133"/>
                <a:gd name="T51" fmla="*/ 76 h 120"/>
                <a:gd name="T52" fmla="*/ 58 w 133"/>
                <a:gd name="T53" fmla="*/ 63 h 120"/>
                <a:gd name="T54" fmla="*/ 28 w 133"/>
                <a:gd name="T55" fmla="*/ 49 h 120"/>
                <a:gd name="T56" fmla="*/ 58 w 133"/>
                <a:gd name="T57" fmla="*/ 36 h 120"/>
                <a:gd name="T58" fmla="*/ 36 w 133"/>
                <a:gd name="T59" fmla="*/ 25 h 120"/>
                <a:gd name="T60" fmla="*/ 47 w 133"/>
                <a:gd name="T61" fmla="*/ 21 h 120"/>
                <a:gd name="T62" fmla="*/ 58 w 133"/>
                <a:gd name="T63" fmla="*/ 19 h 120"/>
                <a:gd name="T64" fmla="*/ 44 w 133"/>
                <a:gd name="T65" fmla="*/ 17 h 120"/>
                <a:gd name="T66" fmla="*/ 44 w 133"/>
                <a:gd name="T67" fmla="*/ 11 h 120"/>
                <a:gd name="T68" fmla="*/ 48 w 133"/>
                <a:gd name="T69" fmla="*/ 7 h 120"/>
                <a:gd name="T70" fmla="*/ 92 w 133"/>
                <a:gd name="T71" fmla="*/ 36 h 120"/>
                <a:gd name="T72" fmla="*/ 86 w 133"/>
                <a:gd name="T73" fmla="*/ 23 h 120"/>
                <a:gd name="T74" fmla="*/ 87 w 133"/>
                <a:gd name="T75" fmla="*/ 16 h 120"/>
                <a:gd name="T76" fmla="*/ 80 w 133"/>
                <a:gd name="T77" fmla="*/ 12 h 120"/>
                <a:gd name="T78" fmla="*/ 76 w 133"/>
                <a:gd name="T79" fmla="*/ 6 h 120"/>
                <a:gd name="T80" fmla="*/ 75 w 133"/>
                <a:gd name="T81" fmla="*/ 12 h 120"/>
                <a:gd name="T82" fmla="*/ 74 w 133"/>
                <a:gd name="T83" fmla="*/ 17 h 120"/>
                <a:gd name="T84" fmla="*/ 62 w 133"/>
                <a:gd name="T85" fmla="*/ 19 h 120"/>
                <a:gd name="T86" fmla="*/ 71 w 133"/>
                <a:gd name="T87" fmla="*/ 21 h 120"/>
                <a:gd name="T88" fmla="*/ 82 w 133"/>
                <a:gd name="T89" fmla="*/ 23 h 120"/>
                <a:gd name="T90" fmla="*/ 88 w 133"/>
                <a:gd name="T91" fmla="*/ 36 h 120"/>
                <a:gd name="T92" fmla="*/ 62 w 133"/>
                <a:gd name="T93" fmla="*/ 60 h 120"/>
                <a:gd name="T94" fmla="*/ 84 w 133"/>
                <a:gd name="T95" fmla="*/ 93 h 120"/>
                <a:gd name="T96" fmla="*/ 76 w 133"/>
                <a:gd name="T97" fmla="*/ 101 h 120"/>
                <a:gd name="T98" fmla="*/ 62 w 133"/>
                <a:gd name="T99" fmla="*/ 100 h 120"/>
                <a:gd name="T100" fmla="*/ 72 w 133"/>
                <a:gd name="T101" fmla="*/ 113 h 120"/>
                <a:gd name="T102" fmla="*/ 70 w 133"/>
                <a:gd name="T103" fmla="*/ 104 h 120"/>
                <a:gd name="T104" fmla="*/ 76 w 133"/>
                <a:gd name="T105" fmla="*/ 107 h 120"/>
                <a:gd name="T106" fmla="*/ 79 w 133"/>
                <a:gd name="T107" fmla="*/ 109 h 120"/>
                <a:gd name="T108" fmla="*/ 90 w 133"/>
                <a:gd name="T109" fmla="*/ 106 h 120"/>
                <a:gd name="T110" fmla="*/ 84 w 133"/>
                <a:gd name="T111" fmla="*/ 100 h 120"/>
                <a:gd name="T112" fmla="*/ 110 w 133"/>
                <a:gd name="T113" fmla="*/ 82 h 120"/>
                <a:gd name="T114" fmla="*/ 79 w 133"/>
                <a:gd name="T115" fmla="*/ 85 h 120"/>
                <a:gd name="T116" fmla="*/ 112 w 133"/>
                <a:gd name="T117" fmla="*/ 60 h 120"/>
                <a:gd name="T118" fmla="*/ 93 w 133"/>
                <a:gd name="T119" fmla="*/ 39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33" h="120">
                  <a:moveTo>
                    <a:pt x="117" y="83"/>
                  </a:moveTo>
                  <a:cubicBezTo>
                    <a:pt x="116" y="83"/>
                    <a:pt x="116" y="82"/>
                    <a:pt x="116" y="82"/>
                  </a:cubicBezTo>
                  <a:cubicBezTo>
                    <a:pt x="118" y="76"/>
                    <a:pt x="120" y="70"/>
                    <a:pt x="120" y="63"/>
                  </a:cubicBezTo>
                  <a:cubicBezTo>
                    <a:pt x="120" y="63"/>
                    <a:pt x="120" y="63"/>
                    <a:pt x="120" y="63"/>
                  </a:cubicBezTo>
                  <a:cubicBezTo>
                    <a:pt x="120" y="61"/>
                    <a:pt x="120" y="61"/>
                    <a:pt x="120" y="61"/>
                  </a:cubicBezTo>
                  <a:cubicBezTo>
                    <a:pt x="120" y="61"/>
                    <a:pt x="120" y="60"/>
                    <a:pt x="120" y="60"/>
                  </a:cubicBezTo>
                  <a:cubicBezTo>
                    <a:pt x="120" y="53"/>
                    <a:pt x="119" y="46"/>
                    <a:pt x="116" y="39"/>
                  </a:cubicBezTo>
                  <a:cubicBezTo>
                    <a:pt x="116" y="39"/>
                    <a:pt x="116" y="39"/>
                    <a:pt x="116" y="39"/>
                  </a:cubicBezTo>
                  <a:cubicBezTo>
                    <a:pt x="115" y="37"/>
                    <a:pt x="115" y="37"/>
                    <a:pt x="115" y="37"/>
                  </a:cubicBezTo>
                  <a:cubicBezTo>
                    <a:pt x="115" y="36"/>
                    <a:pt x="115" y="36"/>
                    <a:pt x="115" y="36"/>
                  </a:cubicBezTo>
                  <a:cubicBezTo>
                    <a:pt x="115" y="36"/>
                    <a:pt x="115" y="36"/>
                    <a:pt x="115" y="36"/>
                  </a:cubicBezTo>
                  <a:cubicBezTo>
                    <a:pt x="111" y="26"/>
                    <a:pt x="104" y="18"/>
                    <a:pt x="96" y="12"/>
                  </a:cubicBezTo>
                  <a:cubicBezTo>
                    <a:pt x="96" y="12"/>
                    <a:pt x="96" y="12"/>
                    <a:pt x="96" y="12"/>
                  </a:cubicBezTo>
                  <a:cubicBezTo>
                    <a:pt x="93" y="10"/>
                    <a:pt x="93" y="10"/>
                    <a:pt x="93" y="10"/>
                  </a:cubicBezTo>
                  <a:cubicBezTo>
                    <a:pt x="93" y="10"/>
                    <a:pt x="93" y="10"/>
                    <a:pt x="93" y="10"/>
                  </a:cubicBezTo>
                  <a:cubicBezTo>
                    <a:pt x="92" y="10"/>
                    <a:pt x="92" y="10"/>
                    <a:pt x="92" y="10"/>
                  </a:cubicBezTo>
                  <a:cubicBezTo>
                    <a:pt x="86" y="6"/>
                    <a:pt x="79" y="3"/>
                    <a:pt x="72" y="1"/>
                  </a:cubicBezTo>
                  <a:cubicBezTo>
                    <a:pt x="72" y="1"/>
                    <a:pt x="72" y="1"/>
                    <a:pt x="72" y="1"/>
                  </a:cubicBezTo>
                  <a:cubicBezTo>
                    <a:pt x="71" y="1"/>
                    <a:pt x="71" y="1"/>
                    <a:pt x="71" y="1"/>
                  </a:cubicBezTo>
                  <a:cubicBezTo>
                    <a:pt x="71" y="1"/>
                    <a:pt x="71" y="1"/>
                    <a:pt x="71" y="1"/>
                  </a:cubicBezTo>
                  <a:cubicBezTo>
                    <a:pt x="67" y="0"/>
                    <a:pt x="67" y="0"/>
                    <a:pt x="67" y="0"/>
                  </a:cubicBezTo>
                  <a:cubicBezTo>
                    <a:pt x="67" y="1"/>
                    <a:pt x="67" y="1"/>
                    <a:pt x="67" y="1"/>
                  </a:cubicBezTo>
                  <a:cubicBezTo>
                    <a:pt x="65" y="0"/>
                    <a:pt x="64" y="0"/>
                    <a:pt x="62" y="0"/>
                  </a:cubicBezTo>
                  <a:cubicBezTo>
                    <a:pt x="62" y="0"/>
                    <a:pt x="62" y="0"/>
                    <a:pt x="62" y="0"/>
                  </a:cubicBezTo>
                  <a:cubicBezTo>
                    <a:pt x="60" y="0"/>
                    <a:pt x="60" y="0"/>
                    <a:pt x="60" y="0"/>
                  </a:cubicBezTo>
                  <a:cubicBezTo>
                    <a:pt x="58" y="0"/>
                    <a:pt x="58" y="0"/>
                    <a:pt x="58" y="0"/>
                  </a:cubicBezTo>
                  <a:cubicBezTo>
                    <a:pt x="58" y="0"/>
                    <a:pt x="58" y="0"/>
                    <a:pt x="58" y="0"/>
                  </a:cubicBezTo>
                  <a:cubicBezTo>
                    <a:pt x="57" y="0"/>
                    <a:pt x="55" y="0"/>
                    <a:pt x="53" y="1"/>
                  </a:cubicBezTo>
                  <a:cubicBezTo>
                    <a:pt x="53" y="0"/>
                    <a:pt x="53" y="0"/>
                    <a:pt x="53" y="0"/>
                  </a:cubicBezTo>
                  <a:cubicBezTo>
                    <a:pt x="48" y="1"/>
                    <a:pt x="48" y="1"/>
                    <a:pt x="48" y="1"/>
                  </a:cubicBezTo>
                  <a:cubicBezTo>
                    <a:pt x="48" y="1"/>
                    <a:pt x="48" y="1"/>
                    <a:pt x="48" y="1"/>
                  </a:cubicBezTo>
                  <a:cubicBezTo>
                    <a:pt x="47" y="2"/>
                    <a:pt x="47" y="2"/>
                    <a:pt x="47" y="2"/>
                  </a:cubicBezTo>
                  <a:cubicBezTo>
                    <a:pt x="47" y="2"/>
                    <a:pt x="47" y="2"/>
                    <a:pt x="47" y="2"/>
                  </a:cubicBezTo>
                  <a:cubicBezTo>
                    <a:pt x="40" y="3"/>
                    <a:pt x="34" y="6"/>
                    <a:pt x="28" y="10"/>
                  </a:cubicBezTo>
                  <a:cubicBezTo>
                    <a:pt x="28" y="10"/>
                    <a:pt x="28" y="10"/>
                    <a:pt x="28" y="10"/>
                  </a:cubicBezTo>
                  <a:cubicBezTo>
                    <a:pt x="27" y="10"/>
                    <a:pt x="27" y="10"/>
                    <a:pt x="27" y="10"/>
                  </a:cubicBezTo>
                  <a:cubicBezTo>
                    <a:pt x="27" y="10"/>
                    <a:pt x="27" y="10"/>
                    <a:pt x="27" y="10"/>
                  </a:cubicBezTo>
                  <a:cubicBezTo>
                    <a:pt x="24" y="12"/>
                    <a:pt x="24" y="12"/>
                    <a:pt x="24" y="12"/>
                  </a:cubicBezTo>
                  <a:cubicBezTo>
                    <a:pt x="24" y="12"/>
                    <a:pt x="24" y="12"/>
                    <a:pt x="24" y="12"/>
                  </a:cubicBezTo>
                  <a:cubicBezTo>
                    <a:pt x="16" y="18"/>
                    <a:pt x="10" y="26"/>
                    <a:pt x="5" y="36"/>
                  </a:cubicBezTo>
                  <a:cubicBezTo>
                    <a:pt x="5" y="36"/>
                    <a:pt x="5" y="36"/>
                    <a:pt x="5" y="36"/>
                  </a:cubicBezTo>
                  <a:cubicBezTo>
                    <a:pt x="5" y="37"/>
                    <a:pt x="5" y="37"/>
                    <a:pt x="5" y="37"/>
                  </a:cubicBezTo>
                  <a:cubicBezTo>
                    <a:pt x="4" y="39"/>
                    <a:pt x="4" y="39"/>
                    <a:pt x="4" y="39"/>
                  </a:cubicBezTo>
                  <a:cubicBezTo>
                    <a:pt x="4" y="39"/>
                    <a:pt x="4" y="39"/>
                    <a:pt x="4" y="39"/>
                  </a:cubicBezTo>
                  <a:cubicBezTo>
                    <a:pt x="2" y="46"/>
                    <a:pt x="0" y="53"/>
                    <a:pt x="0" y="60"/>
                  </a:cubicBezTo>
                  <a:cubicBezTo>
                    <a:pt x="0" y="60"/>
                    <a:pt x="0" y="61"/>
                    <a:pt x="0" y="61"/>
                  </a:cubicBezTo>
                  <a:cubicBezTo>
                    <a:pt x="0" y="63"/>
                    <a:pt x="0" y="63"/>
                    <a:pt x="0" y="63"/>
                  </a:cubicBezTo>
                  <a:cubicBezTo>
                    <a:pt x="0" y="63"/>
                    <a:pt x="0" y="63"/>
                    <a:pt x="0" y="63"/>
                  </a:cubicBezTo>
                  <a:cubicBezTo>
                    <a:pt x="1" y="70"/>
                    <a:pt x="2" y="77"/>
                    <a:pt x="5" y="83"/>
                  </a:cubicBezTo>
                  <a:cubicBezTo>
                    <a:pt x="5" y="83"/>
                    <a:pt x="5" y="83"/>
                    <a:pt x="5" y="83"/>
                  </a:cubicBezTo>
                  <a:cubicBezTo>
                    <a:pt x="6" y="85"/>
                    <a:pt x="6" y="85"/>
                    <a:pt x="6" y="85"/>
                  </a:cubicBezTo>
                  <a:cubicBezTo>
                    <a:pt x="6" y="86"/>
                    <a:pt x="6" y="86"/>
                    <a:pt x="6" y="86"/>
                  </a:cubicBezTo>
                  <a:cubicBezTo>
                    <a:pt x="6" y="86"/>
                    <a:pt x="6" y="86"/>
                    <a:pt x="6" y="86"/>
                  </a:cubicBezTo>
                  <a:cubicBezTo>
                    <a:pt x="11" y="95"/>
                    <a:pt x="17" y="102"/>
                    <a:pt x="24" y="108"/>
                  </a:cubicBezTo>
                  <a:cubicBezTo>
                    <a:pt x="24" y="108"/>
                    <a:pt x="24" y="108"/>
                    <a:pt x="24" y="108"/>
                  </a:cubicBezTo>
                  <a:cubicBezTo>
                    <a:pt x="27" y="110"/>
                    <a:pt x="27" y="110"/>
                    <a:pt x="27" y="110"/>
                  </a:cubicBezTo>
                  <a:cubicBezTo>
                    <a:pt x="27" y="110"/>
                    <a:pt x="27" y="110"/>
                    <a:pt x="27" y="110"/>
                  </a:cubicBezTo>
                  <a:cubicBezTo>
                    <a:pt x="27" y="110"/>
                    <a:pt x="27" y="110"/>
                    <a:pt x="27" y="110"/>
                  </a:cubicBezTo>
                  <a:cubicBezTo>
                    <a:pt x="33" y="114"/>
                    <a:pt x="40" y="117"/>
                    <a:pt x="47" y="119"/>
                  </a:cubicBezTo>
                  <a:cubicBezTo>
                    <a:pt x="47" y="119"/>
                    <a:pt x="47" y="119"/>
                    <a:pt x="47" y="119"/>
                  </a:cubicBezTo>
                  <a:cubicBezTo>
                    <a:pt x="48" y="119"/>
                    <a:pt x="48" y="119"/>
                    <a:pt x="48" y="119"/>
                  </a:cubicBezTo>
                  <a:cubicBezTo>
                    <a:pt x="53" y="120"/>
                    <a:pt x="53" y="120"/>
                    <a:pt x="53" y="120"/>
                  </a:cubicBezTo>
                  <a:cubicBezTo>
                    <a:pt x="53" y="120"/>
                    <a:pt x="53" y="120"/>
                    <a:pt x="53" y="120"/>
                  </a:cubicBezTo>
                  <a:cubicBezTo>
                    <a:pt x="55" y="120"/>
                    <a:pt x="57" y="120"/>
                    <a:pt x="58" y="120"/>
                  </a:cubicBezTo>
                  <a:cubicBezTo>
                    <a:pt x="58" y="120"/>
                    <a:pt x="58" y="120"/>
                    <a:pt x="58" y="120"/>
                  </a:cubicBezTo>
                  <a:cubicBezTo>
                    <a:pt x="60" y="120"/>
                    <a:pt x="60" y="120"/>
                    <a:pt x="60" y="120"/>
                  </a:cubicBezTo>
                  <a:cubicBezTo>
                    <a:pt x="62" y="120"/>
                    <a:pt x="62" y="120"/>
                    <a:pt x="62" y="120"/>
                  </a:cubicBezTo>
                  <a:cubicBezTo>
                    <a:pt x="62" y="120"/>
                    <a:pt x="62" y="120"/>
                    <a:pt x="62" y="120"/>
                  </a:cubicBezTo>
                  <a:cubicBezTo>
                    <a:pt x="63" y="120"/>
                    <a:pt x="65" y="120"/>
                    <a:pt x="66" y="120"/>
                  </a:cubicBezTo>
                  <a:cubicBezTo>
                    <a:pt x="66" y="120"/>
                    <a:pt x="66" y="120"/>
                    <a:pt x="66" y="120"/>
                  </a:cubicBezTo>
                  <a:cubicBezTo>
                    <a:pt x="71" y="119"/>
                    <a:pt x="71" y="119"/>
                    <a:pt x="71" y="119"/>
                  </a:cubicBezTo>
                  <a:cubicBezTo>
                    <a:pt x="71" y="119"/>
                    <a:pt x="71" y="119"/>
                    <a:pt x="71" y="119"/>
                  </a:cubicBezTo>
                  <a:cubicBezTo>
                    <a:pt x="71" y="119"/>
                    <a:pt x="71" y="119"/>
                    <a:pt x="71" y="119"/>
                  </a:cubicBezTo>
                  <a:cubicBezTo>
                    <a:pt x="79" y="117"/>
                    <a:pt x="86" y="115"/>
                    <a:pt x="92" y="110"/>
                  </a:cubicBezTo>
                  <a:cubicBezTo>
                    <a:pt x="92" y="111"/>
                    <a:pt x="92" y="111"/>
                    <a:pt x="92" y="111"/>
                  </a:cubicBezTo>
                  <a:cubicBezTo>
                    <a:pt x="93" y="110"/>
                    <a:pt x="93" y="110"/>
                    <a:pt x="93" y="110"/>
                  </a:cubicBezTo>
                  <a:cubicBezTo>
                    <a:pt x="93" y="110"/>
                    <a:pt x="93" y="110"/>
                    <a:pt x="93" y="110"/>
                  </a:cubicBezTo>
                  <a:cubicBezTo>
                    <a:pt x="96" y="108"/>
                    <a:pt x="96" y="108"/>
                    <a:pt x="96" y="108"/>
                  </a:cubicBezTo>
                  <a:cubicBezTo>
                    <a:pt x="96" y="108"/>
                    <a:pt x="96" y="108"/>
                    <a:pt x="96" y="108"/>
                  </a:cubicBezTo>
                  <a:cubicBezTo>
                    <a:pt x="101" y="104"/>
                    <a:pt x="106" y="99"/>
                    <a:pt x="110" y="94"/>
                  </a:cubicBezTo>
                  <a:cubicBezTo>
                    <a:pt x="122" y="107"/>
                    <a:pt x="122" y="107"/>
                    <a:pt x="122" y="107"/>
                  </a:cubicBezTo>
                  <a:cubicBezTo>
                    <a:pt x="124" y="109"/>
                    <a:pt x="128" y="109"/>
                    <a:pt x="131" y="106"/>
                  </a:cubicBezTo>
                  <a:cubicBezTo>
                    <a:pt x="133" y="104"/>
                    <a:pt x="133" y="100"/>
                    <a:pt x="131" y="98"/>
                  </a:cubicBezTo>
                  <a:lnTo>
                    <a:pt x="117" y="83"/>
                  </a:lnTo>
                  <a:close/>
                  <a:moveTo>
                    <a:pt x="44" y="6"/>
                  </a:moveTo>
                  <a:cubicBezTo>
                    <a:pt x="43" y="7"/>
                    <a:pt x="43" y="7"/>
                    <a:pt x="42" y="8"/>
                  </a:cubicBezTo>
                  <a:cubicBezTo>
                    <a:pt x="42" y="8"/>
                    <a:pt x="42" y="8"/>
                    <a:pt x="42" y="8"/>
                  </a:cubicBezTo>
                  <a:cubicBezTo>
                    <a:pt x="42" y="8"/>
                    <a:pt x="42" y="8"/>
                    <a:pt x="42" y="9"/>
                  </a:cubicBezTo>
                  <a:cubicBezTo>
                    <a:pt x="42" y="9"/>
                    <a:pt x="42" y="9"/>
                    <a:pt x="41" y="9"/>
                  </a:cubicBezTo>
                  <a:cubicBezTo>
                    <a:pt x="41" y="9"/>
                    <a:pt x="41" y="9"/>
                    <a:pt x="41" y="10"/>
                  </a:cubicBezTo>
                  <a:cubicBezTo>
                    <a:pt x="41" y="10"/>
                    <a:pt x="41" y="10"/>
                    <a:pt x="41" y="10"/>
                  </a:cubicBezTo>
                  <a:cubicBezTo>
                    <a:pt x="40" y="10"/>
                    <a:pt x="40" y="11"/>
                    <a:pt x="40" y="11"/>
                  </a:cubicBezTo>
                  <a:cubicBezTo>
                    <a:pt x="40" y="11"/>
                    <a:pt x="40" y="11"/>
                    <a:pt x="40" y="11"/>
                  </a:cubicBezTo>
                  <a:cubicBezTo>
                    <a:pt x="40" y="12"/>
                    <a:pt x="40" y="12"/>
                    <a:pt x="39" y="12"/>
                  </a:cubicBezTo>
                  <a:cubicBezTo>
                    <a:pt x="39" y="12"/>
                    <a:pt x="39" y="12"/>
                    <a:pt x="39" y="13"/>
                  </a:cubicBezTo>
                  <a:cubicBezTo>
                    <a:pt x="39" y="13"/>
                    <a:pt x="39" y="13"/>
                    <a:pt x="39" y="13"/>
                  </a:cubicBezTo>
                  <a:cubicBezTo>
                    <a:pt x="38" y="13"/>
                    <a:pt x="38" y="14"/>
                    <a:pt x="38" y="14"/>
                  </a:cubicBezTo>
                  <a:cubicBezTo>
                    <a:pt x="38" y="14"/>
                    <a:pt x="38" y="14"/>
                    <a:pt x="38" y="14"/>
                  </a:cubicBezTo>
                  <a:cubicBezTo>
                    <a:pt x="38" y="14"/>
                    <a:pt x="38" y="14"/>
                    <a:pt x="38" y="14"/>
                  </a:cubicBezTo>
                  <a:cubicBezTo>
                    <a:pt x="37" y="14"/>
                    <a:pt x="37" y="14"/>
                    <a:pt x="37" y="14"/>
                  </a:cubicBezTo>
                  <a:cubicBezTo>
                    <a:pt x="37" y="14"/>
                    <a:pt x="37" y="14"/>
                    <a:pt x="36" y="14"/>
                  </a:cubicBezTo>
                  <a:cubicBezTo>
                    <a:pt x="36" y="14"/>
                    <a:pt x="35" y="13"/>
                    <a:pt x="34" y="13"/>
                  </a:cubicBezTo>
                  <a:cubicBezTo>
                    <a:pt x="34" y="13"/>
                    <a:pt x="34" y="13"/>
                    <a:pt x="34" y="13"/>
                  </a:cubicBezTo>
                  <a:cubicBezTo>
                    <a:pt x="33" y="12"/>
                    <a:pt x="32" y="12"/>
                    <a:pt x="31" y="12"/>
                  </a:cubicBezTo>
                  <a:cubicBezTo>
                    <a:pt x="35" y="9"/>
                    <a:pt x="39" y="7"/>
                    <a:pt x="44" y="6"/>
                  </a:cubicBezTo>
                  <a:close/>
                  <a:moveTo>
                    <a:pt x="28" y="14"/>
                  </a:moveTo>
                  <a:cubicBezTo>
                    <a:pt x="28" y="14"/>
                    <a:pt x="29" y="14"/>
                    <a:pt x="29" y="15"/>
                  </a:cubicBezTo>
                  <a:cubicBezTo>
                    <a:pt x="30" y="15"/>
                    <a:pt x="30" y="15"/>
                    <a:pt x="30" y="15"/>
                  </a:cubicBezTo>
                  <a:cubicBezTo>
                    <a:pt x="31" y="15"/>
                    <a:pt x="31" y="16"/>
                    <a:pt x="32" y="16"/>
                  </a:cubicBezTo>
                  <a:cubicBezTo>
                    <a:pt x="33" y="16"/>
                    <a:pt x="33" y="16"/>
                    <a:pt x="33" y="16"/>
                  </a:cubicBezTo>
                  <a:cubicBezTo>
                    <a:pt x="34" y="16"/>
                    <a:pt x="34" y="17"/>
                    <a:pt x="35" y="17"/>
                  </a:cubicBezTo>
                  <a:cubicBezTo>
                    <a:pt x="35" y="17"/>
                    <a:pt x="35" y="17"/>
                    <a:pt x="36" y="17"/>
                  </a:cubicBezTo>
                  <a:cubicBezTo>
                    <a:pt x="36" y="17"/>
                    <a:pt x="36" y="17"/>
                    <a:pt x="36" y="17"/>
                  </a:cubicBezTo>
                  <a:cubicBezTo>
                    <a:pt x="36" y="17"/>
                    <a:pt x="36" y="17"/>
                    <a:pt x="36" y="17"/>
                  </a:cubicBezTo>
                  <a:cubicBezTo>
                    <a:pt x="36" y="17"/>
                    <a:pt x="36" y="17"/>
                    <a:pt x="36" y="17"/>
                  </a:cubicBezTo>
                  <a:cubicBezTo>
                    <a:pt x="36" y="18"/>
                    <a:pt x="36" y="18"/>
                    <a:pt x="36" y="18"/>
                  </a:cubicBezTo>
                  <a:cubicBezTo>
                    <a:pt x="36" y="18"/>
                    <a:pt x="35" y="19"/>
                    <a:pt x="35" y="19"/>
                  </a:cubicBezTo>
                  <a:cubicBezTo>
                    <a:pt x="35" y="19"/>
                    <a:pt x="35" y="20"/>
                    <a:pt x="34" y="20"/>
                  </a:cubicBezTo>
                  <a:cubicBezTo>
                    <a:pt x="34" y="21"/>
                    <a:pt x="34" y="21"/>
                    <a:pt x="34" y="21"/>
                  </a:cubicBezTo>
                  <a:cubicBezTo>
                    <a:pt x="34" y="22"/>
                    <a:pt x="33" y="22"/>
                    <a:pt x="33" y="23"/>
                  </a:cubicBezTo>
                  <a:cubicBezTo>
                    <a:pt x="33" y="23"/>
                    <a:pt x="33" y="23"/>
                    <a:pt x="33" y="24"/>
                  </a:cubicBezTo>
                  <a:cubicBezTo>
                    <a:pt x="32" y="24"/>
                    <a:pt x="32" y="25"/>
                    <a:pt x="32" y="26"/>
                  </a:cubicBezTo>
                  <a:cubicBezTo>
                    <a:pt x="32" y="26"/>
                    <a:pt x="32" y="26"/>
                    <a:pt x="31" y="26"/>
                  </a:cubicBezTo>
                  <a:cubicBezTo>
                    <a:pt x="31" y="27"/>
                    <a:pt x="31" y="28"/>
                    <a:pt x="30" y="29"/>
                  </a:cubicBezTo>
                  <a:cubicBezTo>
                    <a:pt x="30" y="29"/>
                    <a:pt x="30" y="29"/>
                    <a:pt x="30" y="29"/>
                  </a:cubicBezTo>
                  <a:cubicBezTo>
                    <a:pt x="30" y="30"/>
                    <a:pt x="30" y="30"/>
                    <a:pt x="29" y="31"/>
                  </a:cubicBezTo>
                  <a:cubicBezTo>
                    <a:pt x="29" y="32"/>
                    <a:pt x="29" y="32"/>
                    <a:pt x="29" y="32"/>
                  </a:cubicBezTo>
                  <a:cubicBezTo>
                    <a:pt x="29" y="33"/>
                    <a:pt x="29" y="33"/>
                    <a:pt x="28" y="34"/>
                  </a:cubicBezTo>
                  <a:cubicBezTo>
                    <a:pt x="28" y="34"/>
                    <a:pt x="28" y="34"/>
                    <a:pt x="28" y="35"/>
                  </a:cubicBezTo>
                  <a:cubicBezTo>
                    <a:pt x="28" y="35"/>
                    <a:pt x="28" y="35"/>
                    <a:pt x="28" y="36"/>
                  </a:cubicBezTo>
                  <a:cubicBezTo>
                    <a:pt x="28" y="36"/>
                    <a:pt x="28" y="36"/>
                    <a:pt x="28" y="36"/>
                  </a:cubicBezTo>
                  <a:cubicBezTo>
                    <a:pt x="9" y="36"/>
                    <a:pt x="9" y="36"/>
                    <a:pt x="9" y="36"/>
                  </a:cubicBezTo>
                  <a:cubicBezTo>
                    <a:pt x="13" y="27"/>
                    <a:pt x="20" y="19"/>
                    <a:pt x="28" y="14"/>
                  </a:cubicBezTo>
                  <a:close/>
                  <a:moveTo>
                    <a:pt x="8" y="39"/>
                  </a:moveTo>
                  <a:cubicBezTo>
                    <a:pt x="27" y="39"/>
                    <a:pt x="27" y="39"/>
                    <a:pt x="27" y="39"/>
                  </a:cubicBezTo>
                  <a:cubicBezTo>
                    <a:pt x="27" y="39"/>
                    <a:pt x="27" y="39"/>
                    <a:pt x="27" y="39"/>
                  </a:cubicBezTo>
                  <a:cubicBezTo>
                    <a:pt x="27" y="39"/>
                    <a:pt x="27" y="39"/>
                    <a:pt x="27" y="39"/>
                  </a:cubicBezTo>
                  <a:cubicBezTo>
                    <a:pt x="26" y="40"/>
                    <a:pt x="26" y="40"/>
                    <a:pt x="26" y="41"/>
                  </a:cubicBezTo>
                  <a:cubicBezTo>
                    <a:pt x="26" y="41"/>
                    <a:pt x="26" y="42"/>
                    <a:pt x="26" y="42"/>
                  </a:cubicBezTo>
                  <a:cubicBezTo>
                    <a:pt x="26" y="43"/>
                    <a:pt x="26" y="43"/>
                    <a:pt x="26" y="43"/>
                  </a:cubicBezTo>
                  <a:cubicBezTo>
                    <a:pt x="25" y="44"/>
                    <a:pt x="25" y="45"/>
                    <a:pt x="25" y="45"/>
                  </a:cubicBezTo>
                  <a:cubicBezTo>
                    <a:pt x="25" y="46"/>
                    <a:pt x="25" y="46"/>
                    <a:pt x="25" y="46"/>
                  </a:cubicBezTo>
                  <a:cubicBezTo>
                    <a:pt x="25" y="47"/>
                    <a:pt x="25" y="48"/>
                    <a:pt x="25" y="48"/>
                  </a:cubicBezTo>
                  <a:cubicBezTo>
                    <a:pt x="25" y="48"/>
                    <a:pt x="25" y="49"/>
                    <a:pt x="24" y="49"/>
                  </a:cubicBezTo>
                  <a:cubicBezTo>
                    <a:pt x="24" y="50"/>
                    <a:pt x="24" y="50"/>
                    <a:pt x="24" y="51"/>
                  </a:cubicBezTo>
                  <a:cubicBezTo>
                    <a:pt x="24" y="51"/>
                    <a:pt x="24" y="52"/>
                    <a:pt x="24" y="52"/>
                  </a:cubicBezTo>
                  <a:cubicBezTo>
                    <a:pt x="24" y="53"/>
                    <a:pt x="24" y="54"/>
                    <a:pt x="24" y="55"/>
                  </a:cubicBezTo>
                  <a:cubicBezTo>
                    <a:pt x="24" y="55"/>
                    <a:pt x="24" y="55"/>
                    <a:pt x="24" y="56"/>
                  </a:cubicBezTo>
                  <a:cubicBezTo>
                    <a:pt x="24" y="56"/>
                    <a:pt x="24" y="57"/>
                    <a:pt x="24" y="58"/>
                  </a:cubicBezTo>
                  <a:cubicBezTo>
                    <a:pt x="24" y="58"/>
                    <a:pt x="24" y="58"/>
                    <a:pt x="24" y="59"/>
                  </a:cubicBezTo>
                  <a:cubicBezTo>
                    <a:pt x="24" y="59"/>
                    <a:pt x="24" y="60"/>
                    <a:pt x="24" y="60"/>
                  </a:cubicBezTo>
                  <a:cubicBezTo>
                    <a:pt x="4" y="60"/>
                    <a:pt x="4" y="60"/>
                    <a:pt x="4" y="60"/>
                  </a:cubicBezTo>
                  <a:cubicBezTo>
                    <a:pt x="4" y="53"/>
                    <a:pt x="5" y="46"/>
                    <a:pt x="8" y="39"/>
                  </a:cubicBezTo>
                  <a:close/>
                  <a:moveTo>
                    <a:pt x="4" y="63"/>
                  </a:moveTo>
                  <a:cubicBezTo>
                    <a:pt x="24" y="63"/>
                    <a:pt x="24" y="63"/>
                    <a:pt x="24" y="63"/>
                  </a:cubicBezTo>
                  <a:cubicBezTo>
                    <a:pt x="24" y="63"/>
                    <a:pt x="24" y="63"/>
                    <a:pt x="24" y="63"/>
                  </a:cubicBezTo>
                  <a:cubicBezTo>
                    <a:pt x="24" y="64"/>
                    <a:pt x="24" y="64"/>
                    <a:pt x="24" y="64"/>
                  </a:cubicBezTo>
                  <a:cubicBezTo>
                    <a:pt x="24" y="65"/>
                    <a:pt x="24" y="65"/>
                    <a:pt x="24" y="65"/>
                  </a:cubicBezTo>
                  <a:cubicBezTo>
                    <a:pt x="24" y="66"/>
                    <a:pt x="24" y="66"/>
                    <a:pt x="24" y="67"/>
                  </a:cubicBezTo>
                  <a:cubicBezTo>
                    <a:pt x="24" y="67"/>
                    <a:pt x="24" y="68"/>
                    <a:pt x="24" y="68"/>
                  </a:cubicBezTo>
                  <a:cubicBezTo>
                    <a:pt x="24" y="69"/>
                    <a:pt x="24" y="69"/>
                    <a:pt x="24" y="70"/>
                  </a:cubicBezTo>
                  <a:cubicBezTo>
                    <a:pt x="24" y="70"/>
                    <a:pt x="24" y="71"/>
                    <a:pt x="24" y="71"/>
                  </a:cubicBezTo>
                  <a:cubicBezTo>
                    <a:pt x="24" y="72"/>
                    <a:pt x="24" y="73"/>
                    <a:pt x="25" y="73"/>
                  </a:cubicBezTo>
                  <a:cubicBezTo>
                    <a:pt x="25" y="74"/>
                    <a:pt x="25" y="74"/>
                    <a:pt x="25" y="74"/>
                  </a:cubicBezTo>
                  <a:cubicBezTo>
                    <a:pt x="25" y="75"/>
                    <a:pt x="25" y="75"/>
                    <a:pt x="25" y="76"/>
                  </a:cubicBezTo>
                  <a:cubicBezTo>
                    <a:pt x="25" y="76"/>
                    <a:pt x="25" y="77"/>
                    <a:pt x="25" y="77"/>
                  </a:cubicBezTo>
                  <a:cubicBezTo>
                    <a:pt x="25" y="78"/>
                    <a:pt x="26" y="78"/>
                    <a:pt x="26" y="79"/>
                  </a:cubicBezTo>
                  <a:cubicBezTo>
                    <a:pt x="26" y="79"/>
                    <a:pt x="26" y="79"/>
                    <a:pt x="26" y="80"/>
                  </a:cubicBezTo>
                  <a:cubicBezTo>
                    <a:pt x="26" y="80"/>
                    <a:pt x="26" y="81"/>
                    <a:pt x="26" y="81"/>
                  </a:cubicBezTo>
                  <a:cubicBezTo>
                    <a:pt x="26" y="82"/>
                    <a:pt x="27" y="82"/>
                    <a:pt x="27" y="83"/>
                  </a:cubicBezTo>
                  <a:cubicBezTo>
                    <a:pt x="27" y="83"/>
                    <a:pt x="27" y="83"/>
                    <a:pt x="27" y="83"/>
                  </a:cubicBezTo>
                  <a:cubicBezTo>
                    <a:pt x="27" y="83"/>
                    <a:pt x="27" y="83"/>
                    <a:pt x="27" y="83"/>
                  </a:cubicBezTo>
                  <a:cubicBezTo>
                    <a:pt x="9" y="83"/>
                    <a:pt x="9" y="83"/>
                    <a:pt x="9" y="83"/>
                  </a:cubicBezTo>
                  <a:cubicBezTo>
                    <a:pt x="6" y="77"/>
                    <a:pt x="4" y="70"/>
                    <a:pt x="4" y="63"/>
                  </a:cubicBezTo>
                  <a:close/>
                  <a:moveTo>
                    <a:pt x="29" y="106"/>
                  </a:moveTo>
                  <a:cubicBezTo>
                    <a:pt x="29" y="106"/>
                    <a:pt x="28" y="106"/>
                    <a:pt x="28" y="106"/>
                  </a:cubicBezTo>
                  <a:cubicBezTo>
                    <a:pt x="20" y="101"/>
                    <a:pt x="14" y="94"/>
                    <a:pt x="10" y="86"/>
                  </a:cubicBezTo>
                  <a:cubicBezTo>
                    <a:pt x="28" y="86"/>
                    <a:pt x="28" y="86"/>
                    <a:pt x="28" y="86"/>
                  </a:cubicBezTo>
                  <a:cubicBezTo>
                    <a:pt x="28" y="86"/>
                    <a:pt x="28" y="86"/>
                    <a:pt x="28" y="86"/>
                  </a:cubicBezTo>
                  <a:cubicBezTo>
                    <a:pt x="28" y="87"/>
                    <a:pt x="28" y="87"/>
                    <a:pt x="28" y="87"/>
                  </a:cubicBezTo>
                  <a:cubicBezTo>
                    <a:pt x="28" y="87"/>
                    <a:pt x="28" y="88"/>
                    <a:pt x="28" y="88"/>
                  </a:cubicBezTo>
                  <a:cubicBezTo>
                    <a:pt x="29" y="89"/>
                    <a:pt x="29" y="89"/>
                    <a:pt x="29" y="90"/>
                  </a:cubicBezTo>
                  <a:cubicBezTo>
                    <a:pt x="29" y="90"/>
                    <a:pt x="29" y="90"/>
                    <a:pt x="29" y="90"/>
                  </a:cubicBezTo>
                  <a:cubicBezTo>
                    <a:pt x="30" y="91"/>
                    <a:pt x="30" y="92"/>
                    <a:pt x="30" y="93"/>
                  </a:cubicBezTo>
                  <a:cubicBezTo>
                    <a:pt x="30" y="93"/>
                    <a:pt x="30" y="93"/>
                    <a:pt x="30" y="93"/>
                  </a:cubicBezTo>
                  <a:cubicBezTo>
                    <a:pt x="31" y="94"/>
                    <a:pt x="31" y="94"/>
                    <a:pt x="31" y="95"/>
                  </a:cubicBezTo>
                  <a:cubicBezTo>
                    <a:pt x="32" y="95"/>
                    <a:pt x="32" y="96"/>
                    <a:pt x="32" y="96"/>
                  </a:cubicBezTo>
                  <a:cubicBezTo>
                    <a:pt x="32" y="96"/>
                    <a:pt x="32" y="97"/>
                    <a:pt x="33" y="98"/>
                  </a:cubicBezTo>
                  <a:cubicBezTo>
                    <a:pt x="33" y="98"/>
                    <a:pt x="33" y="98"/>
                    <a:pt x="33" y="98"/>
                  </a:cubicBezTo>
                  <a:cubicBezTo>
                    <a:pt x="33" y="99"/>
                    <a:pt x="34" y="99"/>
                    <a:pt x="34" y="100"/>
                  </a:cubicBezTo>
                  <a:cubicBezTo>
                    <a:pt x="34" y="100"/>
                    <a:pt x="34" y="100"/>
                    <a:pt x="34" y="101"/>
                  </a:cubicBezTo>
                  <a:cubicBezTo>
                    <a:pt x="35" y="101"/>
                    <a:pt x="35" y="102"/>
                    <a:pt x="35" y="102"/>
                  </a:cubicBezTo>
                  <a:cubicBezTo>
                    <a:pt x="35" y="103"/>
                    <a:pt x="35" y="103"/>
                    <a:pt x="36" y="103"/>
                  </a:cubicBezTo>
                  <a:cubicBezTo>
                    <a:pt x="36" y="103"/>
                    <a:pt x="36" y="103"/>
                    <a:pt x="36" y="103"/>
                  </a:cubicBezTo>
                  <a:cubicBezTo>
                    <a:pt x="36" y="103"/>
                    <a:pt x="36" y="103"/>
                    <a:pt x="36" y="103"/>
                  </a:cubicBezTo>
                  <a:cubicBezTo>
                    <a:pt x="36" y="103"/>
                    <a:pt x="36" y="103"/>
                    <a:pt x="36" y="103"/>
                  </a:cubicBezTo>
                  <a:cubicBezTo>
                    <a:pt x="36" y="103"/>
                    <a:pt x="36" y="103"/>
                    <a:pt x="35" y="103"/>
                  </a:cubicBezTo>
                  <a:cubicBezTo>
                    <a:pt x="35" y="104"/>
                    <a:pt x="35" y="104"/>
                    <a:pt x="35" y="104"/>
                  </a:cubicBezTo>
                  <a:cubicBezTo>
                    <a:pt x="34" y="104"/>
                    <a:pt x="33" y="104"/>
                    <a:pt x="33" y="104"/>
                  </a:cubicBezTo>
                  <a:cubicBezTo>
                    <a:pt x="33" y="104"/>
                    <a:pt x="32" y="104"/>
                    <a:pt x="32" y="105"/>
                  </a:cubicBezTo>
                  <a:cubicBezTo>
                    <a:pt x="31" y="105"/>
                    <a:pt x="30" y="105"/>
                    <a:pt x="30" y="106"/>
                  </a:cubicBezTo>
                  <a:cubicBezTo>
                    <a:pt x="30" y="106"/>
                    <a:pt x="30" y="106"/>
                    <a:pt x="29" y="106"/>
                  </a:cubicBezTo>
                  <a:close/>
                  <a:moveTo>
                    <a:pt x="31" y="109"/>
                  </a:moveTo>
                  <a:cubicBezTo>
                    <a:pt x="32" y="108"/>
                    <a:pt x="32" y="108"/>
                    <a:pt x="32" y="108"/>
                  </a:cubicBezTo>
                  <a:cubicBezTo>
                    <a:pt x="33" y="108"/>
                    <a:pt x="33" y="108"/>
                    <a:pt x="34" y="108"/>
                  </a:cubicBezTo>
                  <a:cubicBezTo>
                    <a:pt x="34" y="107"/>
                    <a:pt x="35" y="107"/>
                    <a:pt x="35" y="107"/>
                  </a:cubicBezTo>
                  <a:cubicBezTo>
                    <a:pt x="36" y="107"/>
                    <a:pt x="36" y="107"/>
                    <a:pt x="37" y="107"/>
                  </a:cubicBezTo>
                  <a:cubicBezTo>
                    <a:pt x="37" y="106"/>
                    <a:pt x="37" y="106"/>
                    <a:pt x="38" y="106"/>
                  </a:cubicBezTo>
                  <a:cubicBezTo>
                    <a:pt x="38" y="107"/>
                    <a:pt x="38" y="107"/>
                    <a:pt x="38" y="107"/>
                  </a:cubicBezTo>
                  <a:cubicBezTo>
                    <a:pt x="38" y="107"/>
                    <a:pt x="38" y="107"/>
                    <a:pt x="38" y="107"/>
                  </a:cubicBezTo>
                  <a:cubicBezTo>
                    <a:pt x="39" y="108"/>
                    <a:pt x="39" y="108"/>
                    <a:pt x="39" y="108"/>
                  </a:cubicBezTo>
                  <a:cubicBezTo>
                    <a:pt x="39" y="108"/>
                    <a:pt x="39" y="108"/>
                    <a:pt x="39" y="109"/>
                  </a:cubicBezTo>
                  <a:cubicBezTo>
                    <a:pt x="39" y="109"/>
                    <a:pt x="39" y="109"/>
                    <a:pt x="40" y="109"/>
                  </a:cubicBezTo>
                  <a:cubicBezTo>
                    <a:pt x="40" y="109"/>
                    <a:pt x="40" y="109"/>
                    <a:pt x="40" y="110"/>
                  </a:cubicBezTo>
                  <a:cubicBezTo>
                    <a:pt x="40" y="110"/>
                    <a:pt x="40" y="110"/>
                    <a:pt x="40" y="110"/>
                  </a:cubicBezTo>
                  <a:cubicBezTo>
                    <a:pt x="40" y="110"/>
                    <a:pt x="41" y="110"/>
                    <a:pt x="41" y="111"/>
                  </a:cubicBezTo>
                  <a:cubicBezTo>
                    <a:pt x="41" y="111"/>
                    <a:pt x="41" y="111"/>
                    <a:pt x="41" y="111"/>
                  </a:cubicBezTo>
                  <a:cubicBezTo>
                    <a:pt x="41" y="111"/>
                    <a:pt x="41" y="111"/>
                    <a:pt x="41" y="112"/>
                  </a:cubicBezTo>
                  <a:cubicBezTo>
                    <a:pt x="41" y="112"/>
                    <a:pt x="42" y="112"/>
                    <a:pt x="42" y="112"/>
                  </a:cubicBezTo>
                  <a:cubicBezTo>
                    <a:pt x="42" y="112"/>
                    <a:pt x="42" y="112"/>
                    <a:pt x="42" y="112"/>
                  </a:cubicBezTo>
                  <a:cubicBezTo>
                    <a:pt x="42" y="113"/>
                    <a:pt x="42" y="113"/>
                    <a:pt x="42" y="113"/>
                  </a:cubicBezTo>
                  <a:cubicBezTo>
                    <a:pt x="42" y="113"/>
                    <a:pt x="43" y="113"/>
                    <a:pt x="43" y="113"/>
                  </a:cubicBezTo>
                  <a:cubicBezTo>
                    <a:pt x="43" y="113"/>
                    <a:pt x="43" y="114"/>
                    <a:pt x="43" y="114"/>
                  </a:cubicBezTo>
                  <a:cubicBezTo>
                    <a:pt x="43" y="114"/>
                    <a:pt x="43" y="114"/>
                    <a:pt x="43" y="114"/>
                  </a:cubicBezTo>
                  <a:cubicBezTo>
                    <a:pt x="39" y="113"/>
                    <a:pt x="35" y="111"/>
                    <a:pt x="31" y="109"/>
                  </a:cubicBezTo>
                  <a:close/>
                  <a:moveTo>
                    <a:pt x="58" y="116"/>
                  </a:moveTo>
                  <a:cubicBezTo>
                    <a:pt x="55" y="116"/>
                    <a:pt x="52" y="116"/>
                    <a:pt x="49" y="115"/>
                  </a:cubicBezTo>
                  <a:cubicBezTo>
                    <a:pt x="49" y="115"/>
                    <a:pt x="49" y="115"/>
                    <a:pt x="49" y="115"/>
                  </a:cubicBezTo>
                  <a:cubicBezTo>
                    <a:pt x="49" y="115"/>
                    <a:pt x="49" y="115"/>
                    <a:pt x="48" y="115"/>
                  </a:cubicBezTo>
                  <a:cubicBezTo>
                    <a:pt x="48" y="115"/>
                    <a:pt x="48" y="115"/>
                    <a:pt x="48" y="115"/>
                  </a:cubicBezTo>
                  <a:cubicBezTo>
                    <a:pt x="48" y="114"/>
                    <a:pt x="48" y="114"/>
                    <a:pt x="48" y="114"/>
                  </a:cubicBezTo>
                  <a:cubicBezTo>
                    <a:pt x="48" y="114"/>
                    <a:pt x="47" y="114"/>
                    <a:pt x="47" y="114"/>
                  </a:cubicBezTo>
                  <a:cubicBezTo>
                    <a:pt x="47" y="113"/>
                    <a:pt x="47" y="113"/>
                    <a:pt x="47" y="113"/>
                  </a:cubicBezTo>
                  <a:cubicBezTo>
                    <a:pt x="47" y="113"/>
                    <a:pt x="47" y="113"/>
                    <a:pt x="47" y="113"/>
                  </a:cubicBezTo>
                  <a:cubicBezTo>
                    <a:pt x="46" y="112"/>
                    <a:pt x="46" y="112"/>
                    <a:pt x="46" y="112"/>
                  </a:cubicBezTo>
                  <a:cubicBezTo>
                    <a:pt x="46" y="112"/>
                    <a:pt x="46" y="111"/>
                    <a:pt x="46" y="111"/>
                  </a:cubicBezTo>
                  <a:cubicBezTo>
                    <a:pt x="45" y="111"/>
                    <a:pt x="45" y="111"/>
                    <a:pt x="45" y="110"/>
                  </a:cubicBezTo>
                  <a:cubicBezTo>
                    <a:pt x="45" y="110"/>
                    <a:pt x="45" y="110"/>
                    <a:pt x="44" y="110"/>
                  </a:cubicBezTo>
                  <a:cubicBezTo>
                    <a:pt x="44" y="110"/>
                    <a:pt x="44" y="109"/>
                    <a:pt x="44" y="109"/>
                  </a:cubicBezTo>
                  <a:cubicBezTo>
                    <a:pt x="44" y="109"/>
                    <a:pt x="44" y="109"/>
                    <a:pt x="43" y="109"/>
                  </a:cubicBezTo>
                  <a:cubicBezTo>
                    <a:pt x="43" y="108"/>
                    <a:pt x="43" y="108"/>
                    <a:pt x="43" y="107"/>
                  </a:cubicBezTo>
                  <a:cubicBezTo>
                    <a:pt x="42" y="107"/>
                    <a:pt x="42" y="107"/>
                    <a:pt x="42" y="107"/>
                  </a:cubicBezTo>
                  <a:cubicBezTo>
                    <a:pt x="42" y="106"/>
                    <a:pt x="42" y="106"/>
                    <a:pt x="41" y="106"/>
                  </a:cubicBezTo>
                  <a:cubicBezTo>
                    <a:pt x="41" y="105"/>
                    <a:pt x="41" y="105"/>
                    <a:pt x="41" y="105"/>
                  </a:cubicBezTo>
                  <a:cubicBezTo>
                    <a:pt x="47" y="104"/>
                    <a:pt x="53" y="103"/>
                    <a:pt x="58" y="103"/>
                  </a:cubicBezTo>
                  <a:lnTo>
                    <a:pt x="58" y="116"/>
                  </a:lnTo>
                  <a:close/>
                  <a:moveTo>
                    <a:pt x="58" y="100"/>
                  </a:moveTo>
                  <a:cubicBezTo>
                    <a:pt x="58" y="100"/>
                    <a:pt x="58" y="100"/>
                    <a:pt x="57" y="100"/>
                  </a:cubicBezTo>
                  <a:cubicBezTo>
                    <a:pt x="57" y="100"/>
                    <a:pt x="57" y="100"/>
                    <a:pt x="56" y="100"/>
                  </a:cubicBezTo>
                  <a:cubicBezTo>
                    <a:pt x="56" y="100"/>
                    <a:pt x="55" y="100"/>
                    <a:pt x="55" y="100"/>
                  </a:cubicBezTo>
                  <a:cubicBezTo>
                    <a:pt x="54" y="100"/>
                    <a:pt x="54" y="100"/>
                    <a:pt x="54" y="100"/>
                  </a:cubicBezTo>
                  <a:cubicBezTo>
                    <a:pt x="53" y="100"/>
                    <a:pt x="53" y="100"/>
                    <a:pt x="52" y="100"/>
                  </a:cubicBezTo>
                  <a:cubicBezTo>
                    <a:pt x="52" y="100"/>
                    <a:pt x="52" y="100"/>
                    <a:pt x="51" y="100"/>
                  </a:cubicBezTo>
                  <a:cubicBezTo>
                    <a:pt x="50" y="100"/>
                    <a:pt x="50" y="100"/>
                    <a:pt x="49" y="100"/>
                  </a:cubicBezTo>
                  <a:cubicBezTo>
                    <a:pt x="49" y="100"/>
                    <a:pt x="48" y="100"/>
                    <a:pt x="48" y="100"/>
                  </a:cubicBezTo>
                  <a:cubicBezTo>
                    <a:pt x="48" y="101"/>
                    <a:pt x="47" y="101"/>
                    <a:pt x="46" y="101"/>
                  </a:cubicBezTo>
                  <a:cubicBezTo>
                    <a:pt x="46" y="101"/>
                    <a:pt x="46" y="101"/>
                    <a:pt x="45" y="101"/>
                  </a:cubicBezTo>
                  <a:cubicBezTo>
                    <a:pt x="45" y="101"/>
                    <a:pt x="44" y="101"/>
                    <a:pt x="44" y="101"/>
                  </a:cubicBezTo>
                  <a:cubicBezTo>
                    <a:pt x="43" y="101"/>
                    <a:pt x="43" y="101"/>
                    <a:pt x="43" y="102"/>
                  </a:cubicBezTo>
                  <a:cubicBezTo>
                    <a:pt x="42" y="102"/>
                    <a:pt x="42" y="102"/>
                    <a:pt x="41" y="102"/>
                  </a:cubicBezTo>
                  <a:cubicBezTo>
                    <a:pt x="41" y="102"/>
                    <a:pt x="40" y="102"/>
                    <a:pt x="40" y="102"/>
                  </a:cubicBezTo>
                  <a:cubicBezTo>
                    <a:pt x="40" y="102"/>
                    <a:pt x="39" y="102"/>
                    <a:pt x="39" y="102"/>
                  </a:cubicBezTo>
                  <a:cubicBezTo>
                    <a:pt x="39" y="102"/>
                    <a:pt x="39" y="102"/>
                    <a:pt x="39" y="101"/>
                  </a:cubicBezTo>
                  <a:cubicBezTo>
                    <a:pt x="39" y="101"/>
                    <a:pt x="38" y="101"/>
                    <a:pt x="38" y="101"/>
                  </a:cubicBezTo>
                  <a:cubicBezTo>
                    <a:pt x="38" y="100"/>
                    <a:pt x="38" y="100"/>
                    <a:pt x="37" y="99"/>
                  </a:cubicBezTo>
                  <a:cubicBezTo>
                    <a:pt x="37" y="99"/>
                    <a:pt x="37" y="99"/>
                    <a:pt x="37" y="99"/>
                  </a:cubicBezTo>
                  <a:cubicBezTo>
                    <a:pt x="37" y="98"/>
                    <a:pt x="36" y="97"/>
                    <a:pt x="36" y="96"/>
                  </a:cubicBezTo>
                  <a:cubicBezTo>
                    <a:pt x="36" y="96"/>
                    <a:pt x="36" y="96"/>
                    <a:pt x="36" y="96"/>
                  </a:cubicBezTo>
                  <a:cubicBezTo>
                    <a:pt x="35" y="95"/>
                    <a:pt x="35" y="95"/>
                    <a:pt x="35" y="94"/>
                  </a:cubicBezTo>
                  <a:cubicBezTo>
                    <a:pt x="35" y="94"/>
                    <a:pt x="35" y="94"/>
                    <a:pt x="34" y="93"/>
                  </a:cubicBezTo>
                  <a:cubicBezTo>
                    <a:pt x="34" y="93"/>
                    <a:pt x="34" y="92"/>
                    <a:pt x="34" y="92"/>
                  </a:cubicBezTo>
                  <a:cubicBezTo>
                    <a:pt x="34" y="92"/>
                    <a:pt x="33" y="91"/>
                    <a:pt x="33" y="91"/>
                  </a:cubicBezTo>
                  <a:cubicBezTo>
                    <a:pt x="33" y="91"/>
                    <a:pt x="33" y="90"/>
                    <a:pt x="33" y="90"/>
                  </a:cubicBezTo>
                  <a:cubicBezTo>
                    <a:pt x="33" y="89"/>
                    <a:pt x="33" y="89"/>
                    <a:pt x="32" y="89"/>
                  </a:cubicBezTo>
                  <a:cubicBezTo>
                    <a:pt x="32" y="88"/>
                    <a:pt x="32" y="88"/>
                    <a:pt x="32" y="87"/>
                  </a:cubicBezTo>
                  <a:cubicBezTo>
                    <a:pt x="32" y="87"/>
                    <a:pt x="32" y="87"/>
                    <a:pt x="32" y="86"/>
                  </a:cubicBezTo>
                  <a:cubicBezTo>
                    <a:pt x="32" y="86"/>
                    <a:pt x="32" y="86"/>
                    <a:pt x="32" y="86"/>
                  </a:cubicBezTo>
                  <a:cubicBezTo>
                    <a:pt x="58" y="86"/>
                    <a:pt x="58" y="86"/>
                    <a:pt x="58" y="86"/>
                  </a:cubicBezTo>
                  <a:lnTo>
                    <a:pt x="58" y="100"/>
                  </a:lnTo>
                  <a:close/>
                  <a:moveTo>
                    <a:pt x="58" y="83"/>
                  </a:moveTo>
                  <a:cubicBezTo>
                    <a:pt x="30" y="83"/>
                    <a:pt x="30" y="83"/>
                    <a:pt x="30" y="83"/>
                  </a:cubicBezTo>
                  <a:cubicBezTo>
                    <a:pt x="30" y="82"/>
                    <a:pt x="30" y="82"/>
                    <a:pt x="30" y="82"/>
                  </a:cubicBezTo>
                  <a:cubicBezTo>
                    <a:pt x="30" y="82"/>
                    <a:pt x="30" y="81"/>
                    <a:pt x="30" y="81"/>
                  </a:cubicBezTo>
                  <a:cubicBezTo>
                    <a:pt x="30" y="80"/>
                    <a:pt x="29" y="80"/>
                    <a:pt x="29" y="79"/>
                  </a:cubicBezTo>
                  <a:cubicBezTo>
                    <a:pt x="29" y="79"/>
                    <a:pt x="29" y="79"/>
                    <a:pt x="29" y="78"/>
                  </a:cubicBezTo>
                  <a:cubicBezTo>
                    <a:pt x="29" y="78"/>
                    <a:pt x="29" y="77"/>
                    <a:pt x="29" y="76"/>
                  </a:cubicBezTo>
                  <a:cubicBezTo>
                    <a:pt x="29" y="76"/>
                    <a:pt x="29" y="76"/>
                    <a:pt x="29" y="76"/>
                  </a:cubicBezTo>
                  <a:cubicBezTo>
                    <a:pt x="28" y="75"/>
                    <a:pt x="28" y="74"/>
                    <a:pt x="28" y="73"/>
                  </a:cubicBezTo>
                  <a:cubicBezTo>
                    <a:pt x="28" y="73"/>
                    <a:pt x="28" y="73"/>
                    <a:pt x="28" y="72"/>
                  </a:cubicBezTo>
                  <a:cubicBezTo>
                    <a:pt x="28" y="72"/>
                    <a:pt x="28" y="71"/>
                    <a:pt x="28" y="70"/>
                  </a:cubicBezTo>
                  <a:cubicBezTo>
                    <a:pt x="28" y="70"/>
                    <a:pt x="28" y="70"/>
                    <a:pt x="28" y="69"/>
                  </a:cubicBezTo>
                  <a:cubicBezTo>
                    <a:pt x="28" y="69"/>
                    <a:pt x="27" y="68"/>
                    <a:pt x="27" y="68"/>
                  </a:cubicBezTo>
                  <a:cubicBezTo>
                    <a:pt x="27" y="67"/>
                    <a:pt x="27" y="67"/>
                    <a:pt x="27" y="67"/>
                  </a:cubicBezTo>
                  <a:cubicBezTo>
                    <a:pt x="27" y="66"/>
                    <a:pt x="27" y="66"/>
                    <a:pt x="27" y="65"/>
                  </a:cubicBezTo>
                  <a:cubicBezTo>
                    <a:pt x="27" y="65"/>
                    <a:pt x="27" y="64"/>
                    <a:pt x="27" y="64"/>
                  </a:cubicBezTo>
                  <a:cubicBezTo>
                    <a:pt x="27" y="64"/>
                    <a:pt x="27" y="64"/>
                    <a:pt x="27" y="63"/>
                  </a:cubicBezTo>
                  <a:cubicBezTo>
                    <a:pt x="58" y="63"/>
                    <a:pt x="58" y="63"/>
                    <a:pt x="58" y="63"/>
                  </a:cubicBezTo>
                  <a:lnTo>
                    <a:pt x="58" y="83"/>
                  </a:lnTo>
                  <a:close/>
                  <a:moveTo>
                    <a:pt x="58" y="60"/>
                  </a:moveTo>
                  <a:cubicBezTo>
                    <a:pt x="27" y="60"/>
                    <a:pt x="27" y="60"/>
                    <a:pt x="27" y="60"/>
                  </a:cubicBezTo>
                  <a:cubicBezTo>
                    <a:pt x="27" y="60"/>
                    <a:pt x="27" y="59"/>
                    <a:pt x="27" y="59"/>
                  </a:cubicBezTo>
                  <a:cubicBezTo>
                    <a:pt x="27" y="59"/>
                    <a:pt x="27" y="58"/>
                    <a:pt x="27" y="58"/>
                  </a:cubicBezTo>
                  <a:cubicBezTo>
                    <a:pt x="27" y="57"/>
                    <a:pt x="27" y="57"/>
                    <a:pt x="27" y="56"/>
                  </a:cubicBezTo>
                  <a:cubicBezTo>
                    <a:pt x="27" y="56"/>
                    <a:pt x="27" y="55"/>
                    <a:pt x="27" y="55"/>
                  </a:cubicBezTo>
                  <a:cubicBezTo>
                    <a:pt x="27" y="54"/>
                    <a:pt x="27" y="54"/>
                    <a:pt x="27" y="53"/>
                  </a:cubicBezTo>
                  <a:cubicBezTo>
                    <a:pt x="28" y="53"/>
                    <a:pt x="28" y="53"/>
                    <a:pt x="28" y="52"/>
                  </a:cubicBezTo>
                  <a:cubicBezTo>
                    <a:pt x="28" y="51"/>
                    <a:pt x="28" y="50"/>
                    <a:pt x="28" y="49"/>
                  </a:cubicBezTo>
                  <a:cubicBezTo>
                    <a:pt x="28" y="49"/>
                    <a:pt x="28" y="49"/>
                    <a:pt x="28" y="49"/>
                  </a:cubicBezTo>
                  <a:cubicBezTo>
                    <a:pt x="28" y="48"/>
                    <a:pt x="28" y="47"/>
                    <a:pt x="28" y="47"/>
                  </a:cubicBezTo>
                  <a:cubicBezTo>
                    <a:pt x="29" y="46"/>
                    <a:pt x="29" y="46"/>
                    <a:pt x="29" y="46"/>
                  </a:cubicBezTo>
                  <a:cubicBezTo>
                    <a:pt x="29" y="45"/>
                    <a:pt x="29" y="45"/>
                    <a:pt x="29" y="44"/>
                  </a:cubicBezTo>
                  <a:cubicBezTo>
                    <a:pt x="29" y="44"/>
                    <a:pt x="29" y="43"/>
                    <a:pt x="29" y="43"/>
                  </a:cubicBezTo>
                  <a:cubicBezTo>
                    <a:pt x="29" y="42"/>
                    <a:pt x="30" y="42"/>
                    <a:pt x="30" y="41"/>
                  </a:cubicBezTo>
                  <a:cubicBezTo>
                    <a:pt x="30" y="41"/>
                    <a:pt x="30" y="40"/>
                    <a:pt x="30" y="40"/>
                  </a:cubicBezTo>
                  <a:cubicBezTo>
                    <a:pt x="30" y="40"/>
                    <a:pt x="30" y="39"/>
                    <a:pt x="30" y="39"/>
                  </a:cubicBezTo>
                  <a:cubicBezTo>
                    <a:pt x="58" y="39"/>
                    <a:pt x="58" y="39"/>
                    <a:pt x="58" y="39"/>
                  </a:cubicBezTo>
                  <a:lnTo>
                    <a:pt x="58" y="60"/>
                  </a:lnTo>
                  <a:close/>
                  <a:moveTo>
                    <a:pt x="58" y="22"/>
                  </a:moveTo>
                  <a:cubicBezTo>
                    <a:pt x="58" y="36"/>
                    <a:pt x="58" y="36"/>
                    <a:pt x="58" y="36"/>
                  </a:cubicBezTo>
                  <a:cubicBezTo>
                    <a:pt x="31" y="36"/>
                    <a:pt x="31" y="36"/>
                    <a:pt x="31" y="36"/>
                  </a:cubicBezTo>
                  <a:cubicBezTo>
                    <a:pt x="31" y="36"/>
                    <a:pt x="31" y="35"/>
                    <a:pt x="31" y="35"/>
                  </a:cubicBezTo>
                  <a:cubicBezTo>
                    <a:pt x="32" y="35"/>
                    <a:pt x="32" y="35"/>
                    <a:pt x="32" y="35"/>
                  </a:cubicBezTo>
                  <a:cubicBezTo>
                    <a:pt x="32" y="34"/>
                    <a:pt x="32" y="34"/>
                    <a:pt x="32" y="33"/>
                  </a:cubicBezTo>
                  <a:cubicBezTo>
                    <a:pt x="32" y="33"/>
                    <a:pt x="33" y="32"/>
                    <a:pt x="33" y="32"/>
                  </a:cubicBezTo>
                  <a:cubicBezTo>
                    <a:pt x="33" y="32"/>
                    <a:pt x="33" y="31"/>
                    <a:pt x="33" y="31"/>
                  </a:cubicBezTo>
                  <a:cubicBezTo>
                    <a:pt x="33" y="30"/>
                    <a:pt x="34" y="30"/>
                    <a:pt x="34" y="30"/>
                  </a:cubicBezTo>
                  <a:cubicBezTo>
                    <a:pt x="34" y="29"/>
                    <a:pt x="34" y="29"/>
                    <a:pt x="34" y="28"/>
                  </a:cubicBezTo>
                  <a:cubicBezTo>
                    <a:pt x="35" y="28"/>
                    <a:pt x="35" y="28"/>
                    <a:pt x="35" y="27"/>
                  </a:cubicBezTo>
                  <a:cubicBezTo>
                    <a:pt x="35" y="27"/>
                    <a:pt x="35" y="26"/>
                    <a:pt x="36" y="25"/>
                  </a:cubicBezTo>
                  <a:cubicBezTo>
                    <a:pt x="36" y="25"/>
                    <a:pt x="36" y="25"/>
                    <a:pt x="36" y="25"/>
                  </a:cubicBezTo>
                  <a:cubicBezTo>
                    <a:pt x="36" y="24"/>
                    <a:pt x="37" y="23"/>
                    <a:pt x="37" y="23"/>
                  </a:cubicBezTo>
                  <a:cubicBezTo>
                    <a:pt x="37" y="22"/>
                    <a:pt x="37" y="22"/>
                    <a:pt x="37" y="22"/>
                  </a:cubicBezTo>
                  <a:cubicBezTo>
                    <a:pt x="38" y="21"/>
                    <a:pt x="38" y="21"/>
                    <a:pt x="38" y="20"/>
                  </a:cubicBezTo>
                  <a:cubicBezTo>
                    <a:pt x="39" y="20"/>
                    <a:pt x="39" y="20"/>
                    <a:pt x="39" y="20"/>
                  </a:cubicBezTo>
                  <a:cubicBezTo>
                    <a:pt x="39" y="19"/>
                    <a:pt x="39" y="19"/>
                    <a:pt x="39" y="19"/>
                  </a:cubicBezTo>
                  <a:cubicBezTo>
                    <a:pt x="40" y="19"/>
                    <a:pt x="40" y="19"/>
                    <a:pt x="40" y="19"/>
                  </a:cubicBezTo>
                  <a:cubicBezTo>
                    <a:pt x="40" y="19"/>
                    <a:pt x="41" y="19"/>
                    <a:pt x="41" y="19"/>
                  </a:cubicBezTo>
                  <a:cubicBezTo>
                    <a:pt x="42" y="19"/>
                    <a:pt x="42" y="20"/>
                    <a:pt x="43" y="20"/>
                  </a:cubicBezTo>
                  <a:cubicBezTo>
                    <a:pt x="43" y="20"/>
                    <a:pt x="44" y="20"/>
                    <a:pt x="44" y="20"/>
                  </a:cubicBezTo>
                  <a:cubicBezTo>
                    <a:pt x="45" y="20"/>
                    <a:pt x="45" y="20"/>
                    <a:pt x="46" y="21"/>
                  </a:cubicBezTo>
                  <a:cubicBezTo>
                    <a:pt x="46" y="21"/>
                    <a:pt x="46" y="21"/>
                    <a:pt x="47" y="21"/>
                  </a:cubicBezTo>
                  <a:cubicBezTo>
                    <a:pt x="47" y="21"/>
                    <a:pt x="48" y="21"/>
                    <a:pt x="49" y="21"/>
                  </a:cubicBezTo>
                  <a:cubicBezTo>
                    <a:pt x="49" y="21"/>
                    <a:pt x="49" y="21"/>
                    <a:pt x="49" y="21"/>
                  </a:cubicBezTo>
                  <a:cubicBezTo>
                    <a:pt x="50" y="21"/>
                    <a:pt x="51" y="22"/>
                    <a:pt x="52" y="22"/>
                  </a:cubicBezTo>
                  <a:cubicBezTo>
                    <a:pt x="52" y="22"/>
                    <a:pt x="52" y="22"/>
                    <a:pt x="52" y="22"/>
                  </a:cubicBezTo>
                  <a:cubicBezTo>
                    <a:pt x="53" y="22"/>
                    <a:pt x="54" y="22"/>
                    <a:pt x="54" y="22"/>
                  </a:cubicBezTo>
                  <a:cubicBezTo>
                    <a:pt x="55" y="22"/>
                    <a:pt x="55" y="22"/>
                    <a:pt x="55" y="22"/>
                  </a:cubicBezTo>
                  <a:cubicBezTo>
                    <a:pt x="56" y="22"/>
                    <a:pt x="56" y="22"/>
                    <a:pt x="57" y="22"/>
                  </a:cubicBezTo>
                  <a:cubicBezTo>
                    <a:pt x="57" y="22"/>
                    <a:pt x="57" y="22"/>
                    <a:pt x="58" y="22"/>
                  </a:cubicBezTo>
                  <a:cubicBezTo>
                    <a:pt x="58" y="22"/>
                    <a:pt x="58" y="22"/>
                    <a:pt x="58" y="22"/>
                  </a:cubicBezTo>
                  <a:close/>
                  <a:moveTo>
                    <a:pt x="58" y="19"/>
                  </a:moveTo>
                  <a:cubicBezTo>
                    <a:pt x="58" y="19"/>
                    <a:pt x="58" y="19"/>
                    <a:pt x="58" y="19"/>
                  </a:cubicBezTo>
                  <a:cubicBezTo>
                    <a:pt x="57" y="19"/>
                    <a:pt x="57" y="19"/>
                    <a:pt x="57" y="19"/>
                  </a:cubicBezTo>
                  <a:cubicBezTo>
                    <a:pt x="56" y="19"/>
                    <a:pt x="56" y="19"/>
                    <a:pt x="55" y="19"/>
                  </a:cubicBezTo>
                  <a:cubicBezTo>
                    <a:pt x="55" y="19"/>
                    <a:pt x="55" y="19"/>
                    <a:pt x="55" y="19"/>
                  </a:cubicBezTo>
                  <a:cubicBezTo>
                    <a:pt x="54" y="19"/>
                    <a:pt x="53" y="18"/>
                    <a:pt x="53" y="18"/>
                  </a:cubicBezTo>
                  <a:cubicBezTo>
                    <a:pt x="53" y="18"/>
                    <a:pt x="52" y="18"/>
                    <a:pt x="52" y="18"/>
                  </a:cubicBezTo>
                  <a:cubicBezTo>
                    <a:pt x="52" y="18"/>
                    <a:pt x="51" y="18"/>
                    <a:pt x="50" y="18"/>
                  </a:cubicBezTo>
                  <a:cubicBezTo>
                    <a:pt x="50" y="18"/>
                    <a:pt x="49" y="18"/>
                    <a:pt x="49" y="18"/>
                  </a:cubicBezTo>
                  <a:cubicBezTo>
                    <a:pt x="49" y="18"/>
                    <a:pt x="48" y="18"/>
                    <a:pt x="47" y="17"/>
                  </a:cubicBezTo>
                  <a:cubicBezTo>
                    <a:pt x="47" y="17"/>
                    <a:pt x="47" y="17"/>
                    <a:pt x="47" y="17"/>
                  </a:cubicBezTo>
                  <a:cubicBezTo>
                    <a:pt x="46" y="17"/>
                    <a:pt x="46" y="17"/>
                    <a:pt x="45" y="17"/>
                  </a:cubicBezTo>
                  <a:cubicBezTo>
                    <a:pt x="45" y="17"/>
                    <a:pt x="44" y="17"/>
                    <a:pt x="44" y="17"/>
                  </a:cubicBezTo>
                  <a:cubicBezTo>
                    <a:pt x="44" y="16"/>
                    <a:pt x="43" y="16"/>
                    <a:pt x="42" y="16"/>
                  </a:cubicBezTo>
                  <a:cubicBezTo>
                    <a:pt x="42" y="16"/>
                    <a:pt x="42" y="16"/>
                    <a:pt x="42" y="16"/>
                  </a:cubicBezTo>
                  <a:cubicBezTo>
                    <a:pt x="41" y="16"/>
                    <a:pt x="41" y="16"/>
                    <a:pt x="41" y="16"/>
                  </a:cubicBezTo>
                  <a:cubicBezTo>
                    <a:pt x="41" y="15"/>
                    <a:pt x="41" y="15"/>
                    <a:pt x="41" y="15"/>
                  </a:cubicBezTo>
                  <a:cubicBezTo>
                    <a:pt x="42" y="15"/>
                    <a:pt x="42" y="15"/>
                    <a:pt x="42" y="15"/>
                  </a:cubicBezTo>
                  <a:cubicBezTo>
                    <a:pt x="42" y="15"/>
                    <a:pt x="42" y="14"/>
                    <a:pt x="42" y="14"/>
                  </a:cubicBezTo>
                  <a:cubicBezTo>
                    <a:pt x="42" y="14"/>
                    <a:pt x="42" y="14"/>
                    <a:pt x="42" y="14"/>
                  </a:cubicBezTo>
                  <a:cubicBezTo>
                    <a:pt x="43" y="13"/>
                    <a:pt x="43" y="13"/>
                    <a:pt x="43" y="13"/>
                  </a:cubicBezTo>
                  <a:cubicBezTo>
                    <a:pt x="43" y="13"/>
                    <a:pt x="43" y="13"/>
                    <a:pt x="43" y="13"/>
                  </a:cubicBezTo>
                  <a:cubicBezTo>
                    <a:pt x="43" y="12"/>
                    <a:pt x="44" y="12"/>
                    <a:pt x="44" y="12"/>
                  </a:cubicBezTo>
                  <a:cubicBezTo>
                    <a:pt x="44" y="12"/>
                    <a:pt x="44" y="12"/>
                    <a:pt x="44" y="11"/>
                  </a:cubicBezTo>
                  <a:cubicBezTo>
                    <a:pt x="44" y="11"/>
                    <a:pt x="44" y="11"/>
                    <a:pt x="44" y="11"/>
                  </a:cubicBezTo>
                  <a:cubicBezTo>
                    <a:pt x="44" y="11"/>
                    <a:pt x="45" y="11"/>
                    <a:pt x="45" y="10"/>
                  </a:cubicBezTo>
                  <a:cubicBezTo>
                    <a:pt x="45" y="10"/>
                    <a:pt x="45" y="10"/>
                    <a:pt x="45" y="10"/>
                  </a:cubicBezTo>
                  <a:cubicBezTo>
                    <a:pt x="45" y="10"/>
                    <a:pt x="45" y="10"/>
                    <a:pt x="45" y="10"/>
                  </a:cubicBezTo>
                  <a:cubicBezTo>
                    <a:pt x="45" y="9"/>
                    <a:pt x="46" y="9"/>
                    <a:pt x="46" y="9"/>
                  </a:cubicBezTo>
                  <a:cubicBezTo>
                    <a:pt x="46" y="9"/>
                    <a:pt x="46" y="9"/>
                    <a:pt x="46" y="9"/>
                  </a:cubicBezTo>
                  <a:cubicBezTo>
                    <a:pt x="46" y="9"/>
                    <a:pt x="46" y="8"/>
                    <a:pt x="46" y="8"/>
                  </a:cubicBezTo>
                  <a:cubicBezTo>
                    <a:pt x="47" y="8"/>
                    <a:pt x="47" y="8"/>
                    <a:pt x="47" y="8"/>
                  </a:cubicBezTo>
                  <a:cubicBezTo>
                    <a:pt x="47" y="8"/>
                    <a:pt x="47" y="8"/>
                    <a:pt x="47" y="7"/>
                  </a:cubicBezTo>
                  <a:cubicBezTo>
                    <a:pt x="47" y="7"/>
                    <a:pt x="47" y="7"/>
                    <a:pt x="47" y="7"/>
                  </a:cubicBezTo>
                  <a:cubicBezTo>
                    <a:pt x="47" y="7"/>
                    <a:pt x="47" y="7"/>
                    <a:pt x="48" y="7"/>
                  </a:cubicBezTo>
                  <a:cubicBezTo>
                    <a:pt x="48" y="7"/>
                    <a:pt x="48" y="7"/>
                    <a:pt x="48" y="7"/>
                  </a:cubicBezTo>
                  <a:cubicBezTo>
                    <a:pt x="48" y="6"/>
                    <a:pt x="48" y="6"/>
                    <a:pt x="48" y="6"/>
                  </a:cubicBezTo>
                  <a:cubicBezTo>
                    <a:pt x="48" y="6"/>
                    <a:pt x="48" y="6"/>
                    <a:pt x="48" y="6"/>
                  </a:cubicBezTo>
                  <a:cubicBezTo>
                    <a:pt x="49" y="5"/>
                    <a:pt x="49" y="5"/>
                    <a:pt x="49" y="5"/>
                  </a:cubicBezTo>
                  <a:cubicBezTo>
                    <a:pt x="52" y="4"/>
                    <a:pt x="55" y="4"/>
                    <a:pt x="58" y="4"/>
                  </a:cubicBezTo>
                  <a:lnTo>
                    <a:pt x="58" y="19"/>
                  </a:lnTo>
                  <a:close/>
                  <a:moveTo>
                    <a:pt x="90" y="15"/>
                  </a:moveTo>
                  <a:cubicBezTo>
                    <a:pt x="91" y="14"/>
                    <a:pt x="91" y="14"/>
                    <a:pt x="92" y="14"/>
                  </a:cubicBezTo>
                  <a:cubicBezTo>
                    <a:pt x="92" y="14"/>
                    <a:pt x="92" y="14"/>
                    <a:pt x="92" y="14"/>
                  </a:cubicBezTo>
                  <a:cubicBezTo>
                    <a:pt x="100" y="19"/>
                    <a:pt x="107" y="27"/>
                    <a:pt x="111" y="36"/>
                  </a:cubicBezTo>
                  <a:cubicBezTo>
                    <a:pt x="92" y="36"/>
                    <a:pt x="92" y="36"/>
                    <a:pt x="92" y="36"/>
                  </a:cubicBezTo>
                  <a:cubicBezTo>
                    <a:pt x="92" y="36"/>
                    <a:pt x="92" y="36"/>
                    <a:pt x="92" y="36"/>
                  </a:cubicBezTo>
                  <a:cubicBezTo>
                    <a:pt x="92" y="35"/>
                    <a:pt x="92" y="35"/>
                    <a:pt x="92" y="35"/>
                  </a:cubicBezTo>
                  <a:cubicBezTo>
                    <a:pt x="92" y="34"/>
                    <a:pt x="92" y="34"/>
                    <a:pt x="91" y="34"/>
                  </a:cubicBezTo>
                  <a:cubicBezTo>
                    <a:pt x="91" y="33"/>
                    <a:pt x="91" y="33"/>
                    <a:pt x="91" y="32"/>
                  </a:cubicBezTo>
                  <a:cubicBezTo>
                    <a:pt x="91" y="32"/>
                    <a:pt x="90" y="32"/>
                    <a:pt x="90" y="31"/>
                  </a:cubicBezTo>
                  <a:cubicBezTo>
                    <a:pt x="90" y="31"/>
                    <a:pt x="90" y="30"/>
                    <a:pt x="90" y="30"/>
                  </a:cubicBezTo>
                  <a:cubicBezTo>
                    <a:pt x="89" y="29"/>
                    <a:pt x="89" y="29"/>
                    <a:pt x="89" y="28"/>
                  </a:cubicBezTo>
                  <a:cubicBezTo>
                    <a:pt x="89" y="28"/>
                    <a:pt x="88" y="27"/>
                    <a:pt x="88" y="27"/>
                  </a:cubicBezTo>
                  <a:cubicBezTo>
                    <a:pt x="88" y="26"/>
                    <a:pt x="88" y="26"/>
                    <a:pt x="88" y="25"/>
                  </a:cubicBezTo>
                  <a:cubicBezTo>
                    <a:pt x="87" y="25"/>
                    <a:pt x="87" y="25"/>
                    <a:pt x="87" y="24"/>
                  </a:cubicBezTo>
                  <a:cubicBezTo>
                    <a:pt x="87" y="24"/>
                    <a:pt x="86" y="23"/>
                    <a:pt x="86" y="23"/>
                  </a:cubicBezTo>
                  <a:cubicBezTo>
                    <a:pt x="86" y="22"/>
                    <a:pt x="86" y="22"/>
                    <a:pt x="86" y="22"/>
                  </a:cubicBezTo>
                  <a:cubicBezTo>
                    <a:pt x="85" y="21"/>
                    <a:pt x="85" y="21"/>
                    <a:pt x="85" y="20"/>
                  </a:cubicBezTo>
                  <a:cubicBezTo>
                    <a:pt x="85" y="20"/>
                    <a:pt x="84" y="20"/>
                    <a:pt x="84" y="19"/>
                  </a:cubicBezTo>
                  <a:cubicBezTo>
                    <a:pt x="84" y="19"/>
                    <a:pt x="84" y="18"/>
                    <a:pt x="83" y="18"/>
                  </a:cubicBezTo>
                  <a:cubicBezTo>
                    <a:pt x="83" y="18"/>
                    <a:pt x="83" y="18"/>
                    <a:pt x="83" y="18"/>
                  </a:cubicBezTo>
                  <a:cubicBezTo>
                    <a:pt x="83" y="18"/>
                    <a:pt x="83" y="18"/>
                    <a:pt x="83" y="18"/>
                  </a:cubicBezTo>
                  <a:cubicBezTo>
                    <a:pt x="83" y="18"/>
                    <a:pt x="83" y="18"/>
                    <a:pt x="83" y="18"/>
                  </a:cubicBezTo>
                  <a:cubicBezTo>
                    <a:pt x="83" y="18"/>
                    <a:pt x="84" y="17"/>
                    <a:pt x="84" y="17"/>
                  </a:cubicBezTo>
                  <a:cubicBezTo>
                    <a:pt x="84" y="17"/>
                    <a:pt x="84" y="17"/>
                    <a:pt x="85" y="17"/>
                  </a:cubicBezTo>
                  <a:cubicBezTo>
                    <a:pt x="85" y="17"/>
                    <a:pt x="86" y="17"/>
                    <a:pt x="87" y="16"/>
                  </a:cubicBezTo>
                  <a:cubicBezTo>
                    <a:pt x="87" y="16"/>
                    <a:pt x="87" y="16"/>
                    <a:pt x="87" y="16"/>
                  </a:cubicBezTo>
                  <a:cubicBezTo>
                    <a:pt x="88" y="16"/>
                    <a:pt x="89" y="15"/>
                    <a:pt x="90" y="15"/>
                  </a:cubicBezTo>
                  <a:cubicBezTo>
                    <a:pt x="90" y="15"/>
                    <a:pt x="90" y="15"/>
                    <a:pt x="90" y="15"/>
                  </a:cubicBezTo>
                  <a:close/>
                  <a:moveTo>
                    <a:pt x="89" y="11"/>
                  </a:moveTo>
                  <a:cubicBezTo>
                    <a:pt x="89" y="11"/>
                    <a:pt x="89" y="12"/>
                    <a:pt x="89" y="12"/>
                  </a:cubicBezTo>
                  <a:cubicBezTo>
                    <a:pt x="89" y="12"/>
                    <a:pt x="88" y="12"/>
                    <a:pt x="88" y="12"/>
                  </a:cubicBezTo>
                  <a:cubicBezTo>
                    <a:pt x="88" y="12"/>
                    <a:pt x="87" y="12"/>
                    <a:pt x="86" y="13"/>
                  </a:cubicBezTo>
                  <a:cubicBezTo>
                    <a:pt x="86" y="13"/>
                    <a:pt x="86" y="13"/>
                    <a:pt x="85" y="13"/>
                  </a:cubicBezTo>
                  <a:cubicBezTo>
                    <a:pt x="85" y="13"/>
                    <a:pt x="84" y="14"/>
                    <a:pt x="83" y="14"/>
                  </a:cubicBezTo>
                  <a:cubicBezTo>
                    <a:pt x="83" y="14"/>
                    <a:pt x="83" y="14"/>
                    <a:pt x="83" y="14"/>
                  </a:cubicBezTo>
                  <a:cubicBezTo>
                    <a:pt x="82" y="14"/>
                    <a:pt x="82" y="14"/>
                    <a:pt x="81" y="15"/>
                  </a:cubicBezTo>
                  <a:cubicBezTo>
                    <a:pt x="81" y="14"/>
                    <a:pt x="80" y="13"/>
                    <a:pt x="80" y="12"/>
                  </a:cubicBezTo>
                  <a:cubicBezTo>
                    <a:pt x="80" y="12"/>
                    <a:pt x="80" y="12"/>
                    <a:pt x="80" y="12"/>
                  </a:cubicBezTo>
                  <a:cubicBezTo>
                    <a:pt x="79" y="11"/>
                    <a:pt x="79" y="11"/>
                    <a:pt x="79" y="11"/>
                  </a:cubicBezTo>
                  <a:cubicBezTo>
                    <a:pt x="79" y="11"/>
                    <a:pt x="79" y="10"/>
                    <a:pt x="79" y="10"/>
                  </a:cubicBezTo>
                  <a:cubicBezTo>
                    <a:pt x="78" y="10"/>
                    <a:pt x="78" y="10"/>
                    <a:pt x="78" y="10"/>
                  </a:cubicBezTo>
                  <a:cubicBezTo>
                    <a:pt x="78" y="10"/>
                    <a:pt x="78" y="9"/>
                    <a:pt x="78" y="9"/>
                  </a:cubicBezTo>
                  <a:cubicBezTo>
                    <a:pt x="78" y="9"/>
                    <a:pt x="78" y="9"/>
                    <a:pt x="78" y="9"/>
                  </a:cubicBezTo>
                  <a:cubicBezTo>
                    <a:pt x="77" y="9"/>
                    <a:pt x="77" y="8"/>
                    <a:pt x="77" y="8"/>
                  </a:cubicBezTo>
                  <a:cubicBezTo>
                    <a:pt x="77" y="8"/>
                    <a:pt x="77" y="8"/>
                    <a:pt x="77" y="8"/>
                  </a:cubicBezTo>
                  <a:cubicBezTo>
                    <a:pt x="77" y="8"/>
                    <a:pt x="77" y="7"/>
                    <a:pt x="76" y="7"/>
                  </a:cubicBezTo>
                  <a:cubicBezTo>
                    <a:pt x="76" y="7"/>
                    <a:pt x="76" y="7"/>
                    <a:pt x="76" y="7"/>
                  </a:cubicBezTo>
                  <a:cubicBezTo>
                    <a:pt x="76" y="7"/>
                    <a:pt x="76" y="6"/>
                    <a:pt x="76" y="6"/>
                  </a:cubicBezTo>
                  <a:cubicBezTo>
                    <a:pt x="76" y="6"/>
                    <a:pt x="76" y="6"/>
                    <a:pt x="76" y="6"/>
                  </a:cubicBezTo>
                  <a:cubicBezTo>
                    <a:pt x="75" y="6"/>
                    <a:pt x="75" y="6"/>
                    <a:pt x="75" y="6"/>
                  </a:cubicBezTo>
                  <a:cubicBezTo>
                    <a:pt x="80" y="7"/>
                    <a:pt x="85" y="9"/>
                    <a:pt x="89" y="11"/>
                  </a:cubicBezTo>
                  <a:close/>
                  <a:moveTo>
                    <a:pt x="62" y="4"/>
                  </a:moveTo>
                  <a:cubicBezTo>
                    <a:pt x="65" y="4"/>
                    <a:pt x="67" y="4"/>
                    <a:pt x="70" y="5"/>
                  </a:cubicBezTo>
                  <a:cubicBezTo>
                    <a:pt x="71" y="6"/>
                    <a:pt x="72" y="7"/>
                    <a:pt x="74" y="10"/>
                  </a:cubicBezTo>
                  <a:cubicBezTo>
                    <a:pt x="74" y="10"/>
                    <a:pt x="74" y="10"/>
                    <a:pt x="74" y="10"/>
                  </a:cubicBezTo>
                  <a:cubicBezTo>
                    <a:pt x="74" y="10"/>
                    <a:pt x="74" y="10"/>
                    <a:pt x="75" y="11"/>
                  </a:cubicBezTo>
                  <a:cubicBezTo>
                    <a:pt x="75" y="11"/>
                    <a:pt x="75" y="11"/>
                    <a:pt x="75" y="11"/>
                  </a:cubicBezTo>
                  <a:cubicBezTo>
                    <a:pt x="75" y="11"/>
                    <a:pt x="75" y="11"/>
                    <a:pt x="75" y="12"/>
                  </a:cubicBezTo>
                  <a:cubicBezTo>
                    <a:pt x="75" y="12"/>
                    <a:pt x="75" y="12"/>
                    <a:pt x="75" y="12"/>
                  </a:cubicBezTo>
                  <a:cubicBezTo>
                    <a:pt x="76" y="12"/>
                    <a:pt x="76" y="12"/>
                    <a:pt x="76" y="13"/>
                  </a:cubicBezTo>
                  <a:cubicBezTo>
                    <a:pt x="76" y="13"/>
                    <a:pt x="76" y="13"/>
                    <a:pt x="76" y="13"/>
                  </a:cubicBezTo>
                  <a:cubicBezTo>
                    <a:pt x="76" y="13"/>
                    <a:pt x="77" y="14"/>
                    <a:pt x="77" y="14"/>
                  </a:cubicBezTo>
                  <a:cubicBezTo>
                    <a:pt x="77" y="14"/>
                    <a:pt x="77" y="14"/>
                    <a:pt x="77" y="14"/>
                  </a:cubicBezTo>
                  <a:cubicBezTo>
                    <a:pt x="77" y="15"/>
                    <a:pt x="77" y="15"/>
                    <a:pt x="77" y="15"/>
                  </a:cubicBezTo>
                  <a:cubicBezTo>
                    <a:pt x="78" y="15"/>
                    <a:pt x="78" y="15"/>
                    <a:pt x="78" y="15"/>
                  </a:cubicBezTo>
                  <a:cubicBezTo>
                    <a:pt x="78" y="16"/>
                    <a:pt x="78" y="16"/>
                    <a:pt x="78" y="16"/>
                  </a:cubicBezTo>
                  <a:cubicBezTo>
                    <a:pt x="78" y="16"/>
                    <a:pt x="78" y="16"/>
                    <a:pt x="78" y="16"/>
                  </a:cubicBezTo>
                  <a:cubicBezTo>
                    <a:pt x="77" y="16"/>
                    <a:pt x="77" y="16"/>
                    <a:pt x="77" y="16"/>
                  </a:cubicBezTo>
                  <a:cubicBezTo>
                    <a:pt x="76" y="16"/>
                    <a:pt x="76" y="16"/>
                    <a:pt x="75" y="17"/>
                  </a:cubicBezTo>
                  <a:cubicBezTo>
                    <a:pt x="75" y="17"/>
                    <a:pt x="75" y="17"/>
                    <a:pt x="74" y="17"/>
                  </a:cubicBezTo>
                  <a:cubicBezTo>
                    <a:pt x="74" y="17"/>
                    <a:pt x="73" y="17"/>
                    <a:pt x="73" y="17"/>
                  </a:cubicBezTo>
                  <a:cubicBezTo>
                    <a:pt x="73" y="17"/>
                    <a:pt x="72" y="17"/>
                    <a:pt x="72" y="17"/>
                  </a:cubicBezTo>
                  <a:cubicBezTo>
                    <a:pt x="71" y="18"/>
                    <a:pt x="71" y="18"/>
                    <a:pt x="70" y="18"/>
                  </a:cubicBezTo>
                  <a:cubicBezTo>
                    <a:pt x="70" y="18"/>
                    <a:pt x="70" y="18"/>
                    <a:pt x="70" y="18"/>
                  </a:cubicBezTo>
                  <a:cubicBezTo>
                    <a:pt x="69" y="18"/>
                    <a:pt x="68" y="18"/>
                    <a:pt x="67" y="18"/>
                  </a:cubicBezTo>
                  <a:cubicBezTo>
                    <a:pt x="67" y="18"/>
                    <a:pt x="67" y="18"/>
                    <a:pt x="67" y="18"/>
                  </a:cubicBezTo>
                  <a:cubicBezTo>
                    <a:pt x="66" y="18"/>
                    <a:pt x="66" y="18"/>
                    <a:pt x="65" y="19"/>
                  </a:cubicBezTo>
                  <a:cubicBezTo>
                    <a:pt x="65" y="19"/>
                    <a:pt x="65" y="19"/>
                    <a:pt x="64" y="19"/>
                  </a:cubicBezTo>
                  <a:cubicBezTo>
                    <a:pt x="64" y="19"/>
                    <a:pt x="63" y="19"/>
                    <a:pt x="63" y="19"/>
                  </a:cubicBezTo>
                  <a:cubicBezTo>
                    <a:pt x="63" y="19"/>
                    <a:pt x="62" y="19"/>
                    <a:pt x="62" y="19"/>
                  </a:cubicBezTo>
                  <a:cubicBezTo>
                    <a:pt x="62" y="19"/>
                    <a:pt x="62" y="19"/>
                    <a:pt x="62" y="19"/>
                  </a:cubicBezTo>
                  <a:lnTo>
                    <a:pt x="62" y="4"/>
                  </a:lnTo>
                  <a:close/>
                  <a:moveTo>
                    <a:pt x="62" y="22"/>
                  </a:moveTo>
                  <a:cubicBezTo>
                    <a:pt x="62" y="22"/>
                    <a:pt x="62" y="22"/>
                    <a:pt x="62" y="22"/>
                  </a:cubicBezTo>
                  <a:cubicBezTo>
                    <a:pt x="62" y="22"/>
                    <a:pt x="62" y="22"/>
                    <a:pt x="62" y="22"/>
                  </a:cubicBezTo>
                  <a:cubicBezTo>
                    <a:pt x="63" y="22"/>
                    <a:pt x="63" y="22"/>
                    <a:pt x="63" y="22"/>
                  </a:cubicBezTo>
                  <a:cubicBezTo>
                    <a:pt x="64" y="22"/>
                    <a:pt x="64" y="22"/>
                    <a:pt x="65" y="22"/>
                  </a:cubicBezTo>
                  <a:cubicBezTo>
                    <a:pt x="65" y="22"/>
                    <a:pt x="65" y="22"/>
                    <a:pt x="66" y="22"/>
                  </a:cubicBezTo>
                  <a:cubicBezTo>
                    <a:pt x="66" y="22"/>
                    <a:pt x="67" y="22"/>
                    <a:pt x="67" y="22"/>
                  </a:cubicBezTo>
                  <a:cubicBezTo>
                    <a:pt x="67" y="22"/>
                    <a:pt x="68" y="22"/>
                    <a:pt x="68" y="22"/>
                  </a:cubicBezTo>
                  <a:cubicBezTo>
                    <a:pt x="69" y="22"/>
                    <a:pt x="69" y="21"/>
                    <a:pt x="70" y="21"/>
                  </a:cubicBezTo>
                  <a:cubicBezTo>
                    <a:pt x="70" y="21"/>
                    <a:pt x="70" y="21"/>
                    <a:pt x="71" y="21"/>
                  </a:cubicBezTo>
                  <a:cubicBezTo>
                    <a:pt x="71" y="21"/>
                    <a:pt x="72" y="21"/>
                    <a:pt x="73" y="21"/>
                  </a:cubicBezTo>
                  <a:cubicBezTo>
                    <a:pt x="73" y="21"/>
                    <a:pt x="73" y="21"/>
                    <a:pt x="73" y="21"/>
                  </a:cubicBezTo>
                  <a:cubicBezTo>
                    <a:pt x="74" y="20"/>
                    <a:pt x="75" y="20"/>
                    <a:pt x="75" y="20"/>
                  </a:cubicBezTo>
                  <a:cubicBezTo>
                    <a:pt x="76" y="20"/>
                    <a:pt x="76" y="20"/>
                    <a:pt x="76" y="20"/>
                  </a:cubicBezTo>
                  <a:cubicBezTo>
                    <a:pt x="77" y="20"/>
                    <a:pt x="78" y="20"/>
                    <a:pt x="78" y="19"/>
                  </a:cubicBezTo>
                  <a:cubicBezTo>
                    <a:pt x="78" y="19"/>
                    <a:pt x="79" y="19"/>
                    <a:pt x="79" y="19"/>
                  </a:cubicBezTo>
                  <a:cubicBezTo>
                    <a:pt x="79" y="19"/>
                    <a:pt x="80" y="19"/>
                    <a:pt x="80" y="19"/>
                  </a:cubicBezTo>
                  <a:cubicBezTo>
                    <a:pt x="80" y="19"/>
                    <a:pt x="80" y="19"/>
                    <a:pt x="80" y="19"/>
                  </a:cubicBezTo>
                  <a:cubicBezTo>
                    <a:pt x="81" y="20"/>
                    <a:pt x="81" y="20"/>
                    <a:pt x="81" y="21"/>
                  </a:cubicBezTo>
                  <a:cubicBezTo>
                    <a:pt x="81" y="21"/>
                    <a:pt x="82" y="21"/>
                    <a:pt x="82" y="22"/>
                  </a:cubicBezTo>
                  <a:cubicBezTo>
                    <a:pt x="82" y="22"/>
                    <a:pt x="82" y="23"/>
                    <a:pt x="82" y="23"/>
                  </a:cubicBezTo>
                  <a:cubicBezTo>
                    <a:pt x="83" y="24"/>
                    <a:pt x="83" y="24"/>
                    <a:pt x="84" y="25"/>
                  </a:cubicBezTo>
                  <a:cubicBezTo>
                    <a:pt x="84" y="25"/>
                    <a:pt x="84" y="26"/>
                    <a:pt x="84" y="26"/>
                  </a:cubicBezTo>
                  <a:cubicBezTo>
                    <a:pt x="84" y="26"/>
                    <a:pt x="84" y="27"/>
                    <a:pt x="85" y="28"/>
                  </a:cubicBezTo>
                  <a:cubicBezTo>
                    <a:pt x="85" y="28"/>
                    <a:pt x="85" y="28"/>
                    <a:pt x="85" y="29"/>
                  </a:cubicBezTo>
                  <a:cubicBezTo>
                    <a:pt x="85" y="29"/>
                    <a:pt x="86" y="29"/>
                    <a:pt x="86" y="30"/>
                  </a:cubicBezTo>
                  <a:cubicBezTo>
                    <a:pt x="86" y="30"/>
                    <a:pt x="86" y="31"/>
                    <a:pt x="86" y="31"/>
                  </a:cubicBezTo>
                  <a:cubicBezTo>
                    <a:pt x="87" y="31"/>
                    <a:pt x="87" y="32"/>
                    <a:pt x="87" y="32"/>
                  </a:cubicBezTo>
                  <a:cubicBezTo>
                    <a:pt x="87" y="33"/>
                    <a:pt x="87" y="33"/>
                    <a:pt x="87" y="33"/>
                  </a:cubicBezTo>
                  <a:cubicBezTo>
                    <a:pt x="88" y="34"/>
                    <a:pt x="88" y="34"/>
                    <a:pt x="88" y="35"/>
                  </a:cubicBezTo>
                  <a:cubicBezTo>
                    <a:pt x="88" y="35"/>
                    <a:pt x="88" y="35"/>
                    <a:pt x="88" y="36"/>
                  </a:cubicBezTo>
                  <a:cubicBezTo>
                    <a:pt x="88" y="36"/>
                    <a:pt x="88" y="36"/>
                    <a:pt x="88" y="36"/>
                  </a:cubicBezTo>
                  <a:cubicBezTo>
                    <a:pt x="62" y="36"/>
                    <a:pt x="62" y="36"/>
                    <a:pt x="62" y="36"/>
                  </a:cubicBezTo>
                  <a:lnTo>
                    <a:pt x="62" y="22"/>
                  </a:lnTo>
                  <a:close/>
                  <a:moveTo>
                    <a:pt x="62" y="39"/>
                  </a:moveTo>
                  <a:cubicBezTo>
                    <a:pt x="90" y="39"/>
                    <a:pt x="90" y="39"/>
                    <a:pt x="90" y="39"/>
                  </a:cubicBezTo>
                  <a:cubicBezTo>
                    <a:pt x="90" y="39"/>
                    <a:pt x="90" y="40"/>
                    <a:pt x="90" y="40"/>
                  </a:cubicBezTo>
                  <a:cubicBezTo>
                    <a:pt x="90" y="41"/>
                    <a:pt x="90" y="41"/>
                    <a:pt x="91" y="41"/>
                  </a:cubicBezTo>
                  <a:cubicBezTo>
                    <a:pt x="91" y="42"/>
                    <a:pt x="91" y="42"/>
                    <a:pt x="91" y="43"/>
                  </a:cubicBezTo>
                  <a:cubicBezTo>
                    <a:pt x="91" y="43"/>
                    <a:pt x="91" y="44"/>
                    <a:pt x="91" y="44"/>
                  </a:cubicBezTo>
                  <a:cubicBezTo>
                    <a:pt x="91" y="45"/>
                    <a:pt x="92" y="45"/>
                    <a:pt x="92" y="45"/>
                  </a:cubicBezTo>
                  <a:cubicBezTo>
                    <a:pt x="82" y="46"/>
                    <a:pt x="74" y="52"/>
                    <a:pt x="71" y="60"/>
                  </a:cubicBezTo>
                  <a:cubicBezTo>
                    <a:pt x="62" y="60"/>
                    <a:pt x="62" y="60"/>
                    <a:pt x="62" y="60"/>
                  </a:cubicBezTo>
                  <a:lnTo>
                    <a:pt x="62" y="39"/>
                  </a:lnTo>
                  <a:close/>
                  <a:moveTo>
                    <a:pt x="62" y="63"/>
                  </a:moveTo>
                  <a:cubicBezTo>
                    <a:pt x="70" y="63"/>
                    <a:pt x="70" y="63"/>
                    <a:pt x="70" y="63"/>
                  </a:cubicBezTo>
                  <a:cubicBezTo>
                    <a:pt x="69" y="65"/>
                    <a:pt x="69" y="68"/>
                    <a:pt x="69" y="70"/>
                  </a:cubicBezTo>
                  <a:cubicBezTo>
                    <a:pt x="69" y="75"/>
                    <a:pt x="70" y="79"/>
                    <a:pt x="73" y="83"/>
                  </a:cubicBezTo>
                  <a:cubicBezTo>
                    <a:pt x="62" y="83"/>
                    <a:pt x="62" y="83"/>
                    <a:pt x="62" y="83"/>
                  </a:cubicBezTo>
                  <a:lnTo>
                    <a:pt x="62" y="63"/>
                  </a:lnTo>
                  <a:close/>
                  <a:moveTo>
                    <a:pt x="62" y="86"/>
                  </a:moveTo>
                  <a:cubicBezTo>
                    <a:pt x="75" y="86"/>
                    <a:pt x="75" y="86"/>
                    <a:pt x="75" y="86"/>
                  </a:cubicBezTo>
                  <a:cubicBezTo>
                    <a:pt x="78" y="89"/>
                    <a:pt x="81" y="91"/>
                    <a:pt x="85" y="93"/>
                  </a:cubicBezTo>
                  <a:cubicBezTo>
                    <a:pt x="85" y="93"/>
                    <a:pt x="85" y="93"/>
                    <a:pt x="84" y="93"/>
                  </a:cubicBezTo>
                  <a:cubicBezTo>
                    <a:pt x="84" y="93"/>
                    <a:pt x="84" y="94"/>
                    <a:pt x="84" y="94"/>
                  </a:cubicBezTo>
                  <a:cubicBezTo>
                    <a:pt x="84" y="94"/>
                    <a:pt x="83" y="95"/>
                    <a:pt x="83" y="96"/>
                  </a:cubicBezTo>
                  <a:cubicBezTo>
                    <a:pt x="83" y="96"/>
                    <a:pt x="83" y="96"/>
                    <a:pt x="83" y="96"/>
                  </a:cubicBezTo>
                  <a:cubicBezTo>
                    <a:pt x="82" y="97"/>
                    <a:pt x="82" y="98"/>
                    <a:pt x="82" y="98"/>
                  </a:cubicBezTo>
                  <a:cubicBezTo>
                    <a:pt x="81" y="98"/>
                    <a:pt x="81" y="99"/>
                    <a:pt x="81" y="99"/>
                  </a:cubicBezTo>
                  <a:cubicBezTo>
                    <a:pt x="81" y="99"/>
                    <a:pt x="81" y="100"/>
                    <a:pt x="80" y="101"/>
                  </a:cubicBezTo>
                  <a:cubicBezTo>
                    <a:pt x="80" y="101"/>
                    <a:pt x="80" y="101"/>
                    <a:pt x="80" y="101"/>
                  </a:cubicBezTo>
                  <a:cubicBezTo>
                    <a:pt x="80" y="101"/>
                    <a:pt x="79" y="102"/>
                    <a:pt x="79" y="102"/>
                  </a:cubicBezTo>
                  <a:cubicBezTo>
                    <a:pt x="79" y="102"/>
                    <a:pt x="79" y="102"/>
                    <a:pt x="79" y="102"/>
                  </a:cubicBezTo>
                  <a:cubicBezTo>
                    <a:pt x="78" y="102"/>
                    <a:pt x="78" y="102"/>
                    <a:pt x="77" y="102"/>
                  </a:cubicBezTo>
                  <a:cubicBezTo>
                    <a:pt x="77" y="102"/>
                    <a:pt x="77" y="102"/>
                    <a:pt x="76" y="101"/>
                  </a:cubicBezTo>
                  <a:cubicBezTo>
                    <a:pt x="76" y="101"/>
                    <a:pt x="75" y="101"/>
                    <a:pt x="75" y="101"/>
                  </a:cubicBezTo>
                  <a:cubicBezTo>
                    <a:pt x="75" y="101"/>
                    <a:pt x="74" y="101"/>
                    <a:pt x="73" y="101"/>
                  </a:cubicBezTo>
                  <a:cubicBezTo>
                    <a:pt x="73" y="101"/>
                    <a:pt x="73" y="101"/>
                    <a:pt x="73" y="101"/>
                  </a:cubicBezTo>
                  <a:cubicBezTo>
                    <a:pt x="72" y="101"/>
                    <a:pt x="71" y="101"/>
                    <a:pt x="70" y="100"/>
                  </a:cubicBezTo>
                  <a:cubicBezTo>
                    <a:pt x="70" y="100"/>
                    <a:pt x="70" y="100"/>
                    <a:pt x="70" y="100"/>
                  </a:cubicBezTo>
                  <a:cubicBezTo>
                    <a:pt x="69" y="100"/>
                    <a:pt x="69" y="100"/>
                    <a:pt x="68" y="100"/>
                  </a:cubicBezTo>
                  <a:cubicBezTo>
                    <a:pt x="68" y="100"/>
                    <a:pt x="67" y="100"/>
                    <a:pt x="67" y="100"/>
                  </a:cubicBezTo>
                  <a:cubicBezTo>
                    <a:pt x="67" y="100"/>
                    <a:pt x="66" y="100"/>
                    <a:pt x="66" y="100"/>
                  </a:cubicBezTo>
                  <a:cubicBezTo>
                    <a:pt x="65" y="100"/>
                    <a:pt x="65" y="100"/>
                    <a:pt x="65" y="100"/>
                  </a:cubicBezTo>
                  <a:cubicBezTo>
                    <a:pt x="64" y="100"/>
                    <a:pt x="64" y="100"/>
                    <a:pt x="63" y="100"/>
                  </a:cubicBezTo>
                  <a:cubicBezTo>
                    <a:pt x="63" y="100"/>
                    <a:pt x="63" y="100"/>
                    <a:pt x="62" y="100"/>
                  </a:cubicBezTo>
                  <a:cubicBezTo>
                    <a:pt x="62" y="100"/>
                    <a:pt x="62" y="100"/>
                    <a:pt x="62" y="100"/>
                  </a:cubicBezTo>
                  <a:lnTo>
                    <a:pt x="62" y="86"/>
                  </a:lnTo>
                  <a:close/>
                  <a:moveTo>
                    <a:pt x="74" y="109"/>
                  </a:moveTo>
                  <a:cubicBezTo>
                    <a:pt x="74" y="109"/>
                    <a:pt x="74" y="110"/>
                    <a:pt x="74" y="110"/>
                  </a:cubicBezTo>
                  <a:cubicBezTo>
                    <a:pt x="74" y="110"/>
                    <a:pt x="74" y="110"/>
                    <a:pt x="74" y="110"/>
                  </a:cubicBezTo>
                  <a:cubicBezTo>
                    <a:pt x="74" y="110"/>
                    <a:pt x="73" y="111"/>
                    <a:pt x="73" y="111"/>
                  </a:cubicBezTo>
                  <a:cubicBezTo>
                    <a:pt x="73" y="111"/>
                    <a:pt x="73" y="111"/>
                    <a:pt x="73" y="111"/>
                  </a:cubicBezTo>
                  <a:cubicBezTo>
                    <a:pt x="73" y="111"/>
                    <a:pt x="73" y="112"/>
                    <a:pt x="73" y="112"/>
                  </a:cubicBezTo>
                  <a:cubicBezTo>
                    <a:pt x="72" y="112"/>
                    <a:pt x="72" y="112"/>
                    <a:pt x="72" y="112"/>
                  </a:cubicBezTo>
                  <a:cubicBezTo>
                    <a:pt x="72" y="112"/>
                    <a:pt x="72" y="112"/>
                    <a:pt x="72" y="113"/>
                  </a:cubicBezTo>
                  <a:cubicBezTo>
                    <a:pt x="72" y="113"/>
                    <a:pt x="72" y="113"/>
                    <a:pt x="72" y="113"/>
                  </a:cubicBezTo>
                  <a:cubicBezTo>
                    <a:pt x="72" y="113"/>
                    <a:pt x="72" y="113"/>
                    <a:pt x="71" y="113"/>
                  </a:cubicBezTo>
                  <a:cubicBezTo>
                    <a:pt x="71" y="114"/>
                    <a:pt x="70" y="115"/>
                    <a:pt x="69" y="116"/>
                  </a:cubicBezTo>
                  <a:cubicBezTo>
                    <a:pt x="67" y="116"/>
                    <a:pt x="64" y="116"/>
                    <a:pt x="62" y="116"/>
                  </a:cubicBezTo>
                  <a:cubicBezTo>
                    <a:pt x="62" y="103"/>
                    <a:pt x="62" y="103"/>
                    <a:pt x="62" y="103"/>
                  </a:cubicBezTo>
                  <a:cubicBezTo>
                    <a:pt x="62" y="103"/>
                    <a:pt x="62" y="103"/>
                    <a:pt x="62" y="103"/>
                  </a:cubicBezTo>
                  <a:cubicBezTo>
                    <a:pt x="63" y="103"/>
                    <a:pt x="63" y="103"/>
                    <a:pt x="63" y="103"/>
                  </a:cubicBezTo>
                  <a:cubicBezTo>
                    <a:pt x="63" y="103"/>
                    <a:pt x="64" y="103"/>
                    <a:pt x="65" y="103"/>
                  </a:cubicBezTo>
                  <a:cubicBezTo>
                    <a:pt x="65" y="103"/>
                    <a:pt x="65" y="103"/>
                    <a:pt x="65" y="103"/>
                  </a:cubicBezTo>
                  <a:cubicBezTo>
                    <a:pt x="66" y="103"/>
                    <a:pt x="66" y="103"/>
                    <a:pt x="67" y="104"/>
                  </a:cubicBezTo>
                  <a:cubicBezTo>
                    <a:pt x="67" y="104"/>
                    <a:pt x="67" y="104"/>
                    <a:pt x="67" y="104"/>
                  </a:cubicBezTo>
                  <a:cubicBezTo>
                    <a:pt x="68" y="104"/>
                    <a:pt x="69" y="104"/>
                    <a:pt x="70" y="104"/>
                  </a:cubicBezTo>
                  <a:cubicBezTo>
                    <a:pt x="70" y="104"/>
                    <a:pt x="70" y="104"/>
                    <a:pt x="70" y="104"/>
                  </a:cubicBezTo>
                  <a:cubicBezTo>
                    <a:pt x="71" y="104"/>
                    <a:pt x="71" y="104"/>
                    <a:pt x="72" y="104"/>
                  </a:cubicBezTo>
                  <a:cubicBezTo>
                    <a:pt x="72" y="104"/>
                    <a:pt x="72" y="104"/>
                    <a:pt x="73" y="104"/>
                  </a:cubicBezTo>
                  <a:cubicBezTo>
                    <a:pt x="73" y="104"/>
                    <a:pt x="74" y="104"/>
                    <a:pt x="74" y="105"/>
                  </a:cubicBezTo>
                  <a:cubicBezTo>
                    <a:pt x="74" y="105"/>
                    <a:pt x="75" y="105"/>
                    <a:pt x="75" y="105"/>
                  </a:cubicBezTo>
                  <a:cubicBezTo>
                    <a:pt x="76" y="105"/>
                    <a:pt x="76" y="105"/>
                    <a:pt x="77" y="105"/>
                  </a:cubicBezTo>
                  <a:cubicBezTo>
                    <a:pt x="77" y="105"/>
                    <a:pt x="77" y="105"/>
                    <a:pt x="77" y="105"/>
                  </a:cubicBezTo>
                  <a:cubicBezTo>
                    <a:pt x="77" y="105"/>
                    <a:pt x="77" y="105"/>
                    <a:pt x="77" y="105"/>
                  </a:cubicBezTo>
                  <a:cubicBezTo>
                    <a:pt x="77" y="105"/>
                    <a:pt x="77" y="105"/>
                    <a:pt x="77" y="106"/>
                  </a:cubicBezTo>
                  <a:cubicBezTo>
                    <a:pt x="77" y="106"/>
                    <a:pt x="77" y="106"/>
                    <a:pt x="77" y="106"/>
                  </a:cubicBezTo>
                  <a:cubicBezTo>
                    <a:pt x="76" y="106"/>
                    <a:pt x="76" y="107"/>
                    <a:pt x="76" y="107"/>
                  </a:cubicBezTo>
                  <a:cubicBezTo>
                    <a:pt x="76" y="107"/>
                    <a:pt x="76" y="107"/>
                    <a:pt x="76" y="108"/>
                  </a:cubicBezTo>
                  <a:cubicBezTo>
                    <a:pt x="75" y="108"/>
                    <a:pt x="75" y="108"/>
                    <a:pt x="75" y="108"/>
                  </a:cubicBezTo>
                  <a:cubicBezTo>
                    <a:pt x="75" y="108"/>
                    <a:pt x="75" y="109"/>
                    <a:pt x="75" y="109"/>
                  </a:cubicBezTo>
                  <a:cubicBezTo>
                    <a:pt x="75" y="109"/>
                    <a:pt x="75" y="109"/>
                    <a:pt x="74" y="109"/>
                  </a:cubicBezTo>
                  <a:close/>
                  <a:moveTo>
                    <a:pt x="75" y="115"/>
                  </a:moveTo>
                  <a:cubicBezTo>
                    <a:pt x="75" y="114"/>
                    <a:pt x="76" y="113"/>
                    <a:pt x="77" y="112"/>
                  </a:cubicBezTo>
                  <a:cubicBezTo>
                    <a:pt x="77" y="112"/>
                    <a:pt x="77" y="111"/>
                    <a:pt x="77" y="111"/>
                  </a:cubicBezTo>
                  <a:cubicBezTo>
                    <a:pt x="77" y="111"/>
                    <a:pt x="78" y="111"/>
                    <a:pt x="78" y="110"/>
                  </a:cubicBezTo>
                  <a:cubicBezTo>
                    <a:pt x="78" y="110"/>
                    <a:pt x="78" y="110"/>
                    <a:pt x="78" y="110"/>
                  </a:cubicBezTo>
                  <a:cubicBezTo>
                    <a:pt x="78" y="110"/>
                    <a:pt x="78" y="110"/>
                    <a:pt x="79" y="109"/>
                  </a:cubicBezTo>
                  <a:cubicBezTo>
                    <a:pt x="79" y="109"/>
                    <a:pt x="79" y="109"/>
                    <a:pt x="79" y="109"/>
                  </a:cubicBezTo>
                  <a:cubicBezTo>
                    <a:pt x="79" y="109"/>
                    <a:pt x="79" y="108"/>
                    <a:pt x="80" y="108"/>
                  </a:cubicBezTo>
                  <a:cubicBezTo>
                    <a:pt x="80" y="108"/>
                    <a:pt x="80" y="108"/>
                    <a:pt x="80" y="108"/>
                  </a:cubicBezTo>
                  <a:cubicBezTo>
                    <a:pt x="80" y="107"/>
                    <a:pt x="80" y="107"/>
                    <a:pt x="81" y="106"/>
                  </a:cubicBezTo>
                  <a:cubicBezTo>
                    <a:pt x="81" y="106"/>
                    <a:pt x="82" y="107"/>
                    <a:pt x="82" y="107"/>
                  </a:cubicBezTo>
                  <a:cubicBezTo>
                    <a:pt x="83" y="107"/>
                    <a:pt x="83" y="107"/>
                    <a:pt x="83" y="107"/>
                  </a:cubicBezTo>
                  <a:cubicBezTo>
                    <a:pt x="84" y="107"/>
                    <a:pt x="84" y="107"/>
                    <a:pt x="85" y="108"/>
                  </a:cubicBezTo>
                  <a:cubicBezTo>
                    <a:pt x="86" y="108"/>
                    <a:pt x="86" y="108"/>
                    <a:pt x="86" y="108"/>
                  </a:cubicBezTo>
                  <a:cubicBezTo>
                    <a:pt x="87" y="108"/>
                    <a:pt x="88" y="109"/>
                    <a:pt x="89" y="109"/>
                  </a:cubicBezTo>
                  <a:cubicBezTo>
                    <a:pt x="84" y="111"/>
                    <a:pt x="80" y="113"/>
                    <a:pt x="75" y="115"/>
                  </a:cubicBezTo>
                  <a:close/>
                  <a:moveTo>
                    <a:pt x="92" y="107"/>
                  </a:moveTo>
                  <a:cubicBezTo>
                    <a:pt x="91" y="106"/>
                    <a:pt x="91" y="106"/>
                    <a:pt x="90" y="106"/>
                  </a:cubicBezTo>
                  <a:cubicBezTo>
                    <a:pt x="90" y="106"/>
                    <a:pt x="90" y="106"/>
                    <a:pt x="90" y="106"/>
                  </a:cubicBezTo>
                  <a:cubicBezTo>
                    <a:pt x="89" y="105"/>
                    <a:pt x="88" y="105"/>
                    <a:pt x="87" y="105"/>
                  </a:cubicBezTo>
                  <a:cubicBezTo>
                    <a:pt x="87" y="105"/>
                    <a:pt x="87" y="104"/>
                    <a:pt x="86" y="104"/>
                  </a:cubicBezTo>
                  <a:cubicBezTo>
                    <a:pt x="86" y="104"/>
                    <a:pt x="85" y="104"/>
                    <a:pt x="84" y="104"/>
                  </a:cubicBezTo>
                  <a:cubicBezTo>
                    <a:pt x="84" y="104"/>
                    <a:pt x="84" y="103"/>
                    <a:pt x="83" y="103"/>
                  </a:cubicBezTo>
                  <a:cubicBezTo>
                    <a:pt x="83" y="103"/>
                    <a:pt x="83" y="103"/>
                    <a:pt x="83" y="103"/>
                  </a:cubicBezTo>
                  <a:cubicBezTo>
                    <a:pt x="83" y="103"/>
                    <a:pt x="83" y="103"/>
                    <a:pt x="83" y="103"/>
                  </a:cubicBezTo>
                  <a:cubicBezTo>
                    <a:pt x="83" y="103"/>
                    <a:pt x="83" y="103"/>
                    <a:pt x="83" y="103"/>
                  </a:cubicBezTo>
                  <a:cubicBezTo>
                    <a:pt x="83" y="103"/>
                    <a:pt x="83" y="103"/>
                    <a:pt x="83" y="103"/>
                  </a:cubicBezTo>
                  <a:cubicBezTo>
                    <a:pt x="83" y="103"/>
                    <a:pt x="83" y="102"/>
                    <a:pt x="83" y="102"/>
                  </a:cubicBezTo>
                  <a:cubicBezTo>
                    <a:pt x="84" y="102"/>
                    <a:pt x="84" y="101"/>
                    <a:pt x="84" y="100"/>
                  </a:cubicBezTo>
                  <a:cubicBezTo>
                    <a:pt x="84" y="100"/>
                    <a:pt x="85" y="100"/>
                    <a:pt x="85" y="100"/>
                  </a:cubicBezTo>
                  <a:cubicBezTo>
                    <a:pt x="85" y="99"/>
                    <a:pt x="85" y="99"/>
                    <a:pt x="86" y="98"/>
                  </a:cubicBezTo>
                  <a:cubicBezTo>
                    <a:pt x="86" y="98"/>
                    <a:pt x="86" y="98"/>
                    <a:pt x="86" y="97"/>
                  </a:cubicBezTo>
                  <a:cubicBezTo>
                    <a:pt x="86" y="97"/>
                    <a:pt x="87" y="96"/>
                    <a:pt x="87" y="96"/>
                  </a:cubicBezTo>
                  <a:cubicBezTo>
                    <a:pt x="87" y="95"/>
                    <a:pt x="87" y="95"/>
                    <a:pt x="87" y="95"/>
                  </a:cubicBezTo>
                  <a:cubicBezTo>
                    <a:pt x="88" y="94"/>
                    <a:pt x="88" y="94"/>
                    <a:pt x="88" y="94"/>
                  </a:cubicBezTo>
                  <a:cubicBezTo>
                    <a:pt x="90" y="94"/>
                    <a:pt x="91" y="94"/>
                    <a:pt x="93" y="94"/>
                  </a:cubicBezTo>
                  <a:cubicBezTo>
                    <a:pt x="98" y="94"/>
                    <a:pt x="103" y="93"/>
                    <a:pt x="106" y="90"/>
                  </a:cubicBezTo>
                  <a:cubicBezTo>
                    <a:pt x="107" y="91"/>
                    <a:pt x="107" y="91"/>
                    <a:pt x="107" y="91"/>
                  </a:cubicBezTo>
                  <a:cubicBezTo>
                    <a:pt x="103" y="97"/>
                    <a:pt x="98" y="103"/>
                    <a:pt x="92" y="107"/>
                  </a:cubicBezTo>
                  <a:close/>
                  <a:moveTo>
                    <a:pt x="110" y="82"/>
                  </a:moveTo>
                  <a:cubicBezTo>
                    <a:pt x="110" y="82"/>
                    <a:pt x="109" y="83"/>
                    <a:pt x="109" y="83"/>
                  </a:cubicBezTo>
                  <a:cubicBezTo>
                    <a:pt x="109" y="83"/>
                    <a:pt x="108" y="83"/>
                    <a:pt x="108" y="84"/>
                  </a:cubicBezTo>
                  <a:cubicBezTo>
                    <a:pt x="108" y="84"/>
                    <a:pt x="108" y="84"/>
                    <a:pt x="107" y="85"/>
                  </a:cubicBezTo>
                  <a:cubicBezTo>
                    <a:pt x="107" y="85"/>
                    <a:pt x="107" y="85"/>
                    <a:pt x="107" y="86"/>
                  </a:cubicBezTo>
                  <a:cubicBezTo>
                    <a:pt x="106" y="86"/>
                    <a:pt x="106" y="86"/>
                    <a:pt x="106" y="86"/>
                  </a:cubicBezTo>
                  <a:cubicBezTo>
                    <a:pt x="102" y="89"/>
                    <a:pt x="98" y="91"/>
                    <a:pt x="93" y="91"/>
                  </a:cubicBezTo>
                  <a:cubicBezTo>
                    <a:pt x="92" y="91"/>
                    <a:pt x="91" y="91"/>
                    <a:pt x="90" y="90"/>
                  </a:cubicBezTo>
                  <a:cubicBezTo>
                    <a:pt x="89" y="90"/>
                    <a:pt x="88" y="90"/>
                    <a:pt x="88" y="90"/>
                  </a:cubicBezTo>
                  <a:cubicBezTo>
                    <a:pt x="87" y="90"/>
                    <a:pt x="87" y="90"/>
                    <a:pt x="86" y="89"/>
                  </a:cubicBezTo>
                  <a:cubicBezTo>
                    <a:pt x="84" y="89"/>
                    <a:pt x="82" y="88"/>
                    <a:pt x="80" y="86"/>
                  </a:cubicBezTo>
                  <a:cubicBezTo>
                    <a:pt x="80" y="86"/>
                    <a:pt x="79" y="85"/>
                    <a:pt x="79" y="85"/>
                  </a:cubicBezTo>
                  <a:cubicBezTo>
                    <a:pt x="78" y="84"/>
                    <a:pt x="77" y="83"/>
                    <a:pt x="77" y="83"/>
                  </a:cubicBezTo>
                  <a:cubicBezTo>
                    <a:pt x="74" y="79"/>
                    <a:pt x="72" y="75"/>
                    <a:pt x="72" y="70"/>
                  </a:cubicBezTo>
                  <a:cubicBezTo>
                    <a:pt x="72" y="68"/>
                    <a:pt x="73" y="65"/>
                    <a:pt x="73" y="63"/>
                  </a:cubicBezTo>
                  <a:cubicBezTo>
                    <a:pt x="73" y="63"/>
                    <a:pt x="74" y="62"/>
                    <a:pt x="74" y="62"/>
                  </a:cubicBezTo>
                  <a:cubicBezTo>
                    <a:pt x="74" y="61"/>
                    <a:pt x="74" y="61"/>
                    <a:pt x="75" y="60"/>
                  </a:cubicBezTo>
                  <a:cubicBezTo>
                    <a:pt x="78" y="54"/>
                    <a:pt x="85" y="49"/>
                    <a:pt x="93" y="49"/>
                  </a:cubicBezTo>
                  <a:cubicBezTo>
                    <a:pt x="93" y="49"/>
                    <a:pt x="93" y="49"/>
                    <a:pt x="93" y="49"/>
                  </a:cubicBezTo>
                  <a:cubicBezTo>
                    <a:pt x="94" y="49"/>
                    <a:pt x="94" y="49"/>
                    <a:pt x="94" y="49"/>
                  </a:cubicBezTo>
                  <a:cubicBezTo>
                    <a:pt x="95" y="49"/>
                    <a:pt x="96" y="49"/>
                    <a:pt x="96" y="49"/>
                  </a:cubicBezTo>
                  <a:cubicBezTo>
                    <a:pt x="96" y="49"/>
                    <a:pt x="96" y="49"/>
                    <a:pt x="96" y="49"/>
                  </a:cubicBezTo>
                  <a:cubicBezTo>
                    <a:pt x="103" y="50"/>
                    <a:pt x="109" y="54"/>
                    <a:pt x="112" y="60"/>
                  </a:cubicBezTo>
                  <a:cubicBezTo>
                    <a:pt x="112" y="61"/>
                    <a:pt x="112" y="61"/>
                    <a:pt x="113" y="62"/>
                  </a:cubicBezTo>
                  <a:cubicBezTo>
                    <a:pt x="113" y="62"/>
                    <a:pt x="113" y="63"/>
                    <a:pt x="113" y="63"/>
                  </a:cubicBezTo>
                  <a:cubicBezTo>
                    <a:pt x="114" y="65"/>
                    <a:pt x="114" y="68"/>
                    <a:pt x="114" y="70"/>
                  </a:cubicBezTo>
                  <a:cubicBezTo>
                    <a:pt x="114" y="74"/>
                    <a:pt x="113" y="79"/>
                    <a:pt x="110" y="82"/>
                  </a:cubicBezTo>
                  <a:close/>
                  <a:moveTo>
                    <a:pt x="95" y="45"/>
                  </a:moveTo>
                  <a:cubicBezTo>
                    <a:pt x="95" y="45"/>
                    <a:pt x="95" y="45"/>
                    <a:pt x="95" y="45"/>
                  </a:cubicBezTo>
                  <a:cubicBezTo>
                    <a:pt x="95" y="45"/>
                    <a:pt x="95" y="44"/>
                    <a:pt x="95" y="44"/>
                  </a:cubicBezTo>
                  <a:cubicBezTo>
                    <a:pt x="95" y="43"/>
                    <a:pt x="95" y="43"/>
                    <a:pt x="94" y="42"/>
                  </a:cubicBezTo>
                  <a:cubicBezTo>
                    <a:pt x="94" y="42"/>
                    <a:pt x="94" y="41"/>
                    <a:pt x="94" y="41"/>
                  </a:cubicBezTo>
                  <a:cubicBezTo>
                    <a:pt x="94" y="40"/>
                    <a:pt x="94" y="40"/>
                    <a:pt x="94" y="39"/>
                  </a:cubicBezTo>
                  <a:cubicBezTo>
                    <a:pt x="93" y="39"/>
                    <a:pt x="93" y="39"/>
                    <a:pt x="93" y="39"/>
                  </a:cubicBezTo>
                  <a:cubicBezTo>
                    <a:pt x="93" y="39"/>
                    <a:pt x="93" y="39"/>
                    <a:pt x="93" y="39"/>
                  </a:cubicBezTo>
                  <a:cubicBezTo>
                    <a:pt x="113" y="39"/>
                    <a:pt x="113" y="39"/>
                    <a:pt x="113" y="39"/>
                  </a:cubicBezTo>
                  <a:cubicBezTo>
                    <a:pt x="115" y="46"/>
                    <a:pt x="117" y="53"/>
                    <a:pt x="117" y="60"/>
                  </a:cubicBezTo>
                  <a:cubicBezTo>
                    <a:pt x="116" y="60"/>
                    <a:pt x="116" y="60"/>
                    <a:pt x="116" y="60"/>
                  </a:cubicBezTo>
                  <a:cubicBezTo>
                    <a:pt x="112" y="52"/>
                    <a:pt x="104" y="46"/>
                    <a:pt x="95" y="45"/>
                  </a:cubicBezTo>
                  <a:close/>
                </a:path>
              </a:pathLst>
            </a:custGeom>
            <a:solidFill>
              <a:srgbClr val="005CA7"/>
            </a:solidFill>
            <a:ln>
              <a:noFill/>
            </a:ln>
          </p:spPr>
          <p:txBody>
            <a:bodyPr vert="horz" wrap="square" lIns="91440" tIns="45720" rIns="91440" bIns="45720" numCol="1" anchor="t" anchorCtr="0" compatLnSpc="1"/>
            <a:lstStyle/>
            <a:p>
              <a:endParaRPr lang="zh-CN" altLang="en-US"/>
            </a:p>
          </p:txBody>
        </p:sp>
        <p:sp>
          <p:nvSpPr>
            <p:cNvPr id="7" name="Freeform 6"/>
            <p:cNvSpPr/>
            <p:nvPr/>
          </p:nvSpPr>
          <p:spPr bwMode="auto">
            <a:xfrm>
              <a:off x="5799138" y="1819276"/>
              <a:ext cx="114300" cy="114300"/>
            </a:xfrm>
            <a:custGeom>
              <a:avLst/>
              <a:gdLst>
                <a:gd name="T0" fmla="*/ 27 w 30"/>
                <a:gd name="T1" fmla="*/ 7 h 30"/>
                <a:gd name="T2" fmla="*/ 26 w 30"/>
                <a:gd name="T3" fmla="*/ 5 h 30"/>
                <a:gd name="T4" fmla="*/ 19 w 30"/>
                <a:gd name="T5" fmla="*/ 1 h 30"/>
                <a:gd name="T6" fmla="*/ 19 w 30"/>
                <a:gd name="T7" fmla="*/ 1 h 30"/>
                <a:gd name="T8" fmla="*/ 17 w 30"/>
                <a:gd name="T9" fmla="*/ 0 h 30"/>
                <a:gd name="T10" fmla="*/ 16 w 30"/>
                <a:gd name="T11" fmla="*/ 0 h 30"/>
                <a:gd name="T12" fmla="*/ 16 w 30"/>
                <a:gd name="T13" fmla="*/ 0 h 30"/>
                <a:gd name="T14" fmla="*/ 16 w 30"/>
                <a:gd name="T15" fmla="*/ 0 h 30"/>
                <a:gd name="T16" fmla="*/ 15 w 30"/>
                <a:gd name="T17" fmla="*/ 0 h 30"/>
                <a:gd name="T18" fmla="*/ 4 w 30"/>
                <a:gd name="T19" fmla="*/ 5 h 30"/>
                <a:gd name="T20" fmla="*/ 3 w 30"/>
                <a:gd name="T21" fmla="*/ 7 h 30"/>
                <a:gd name="T22" fmla="*/ 2 w 30"/>
                <a:gd name="T23" fmla="*/ 8 h 30"/>
                <a:gd name="T24" fmla="*/ 0 w 30"/>
                <a:gd name="T25" fmla="*/ 15 h 30"/>
                <a:gd name="T26" fmla="*/ 8 w 30"/>
                <a:gd name="T27" fmla="*/ 28 h 30"/>
                <a:gd name="T28" fmla="*/ 11 w 30"/>
                <a:gd name="T29" fmla="*/ 29 h 30"/>
                <a:gd name="T30" fmla="*/ 12 w 30"/>
                <a:gd name="T31" fmla="*/ 30 h 30"/>
                <a:gd name="T32" fmla="*/ 14 w 30"/>
                <a:gd name="T33" fmla="*/ 30 h 30"/>
                <a:gd name="T34" fmla="*/ 14 w 30"/>
                <a:gd name="T35" fmla="*/ 30 h 30"/>
                <a:gd name="T36" fmla="*/ 15 w 30"/>
                <a:gd name="T37" fmla="*/ 30 h 30"/>
                <a:gd name="T38" fmla="*/ 15 w 30"/>
                <a:gd name="T39" fmla="*/ 30 h 30"/>
                <a:gd name="T40" fmla="*/ 15 w 30"/>
                <a:gd name="T41" fmla="*/ 30 h 30"/>
                <a:gd name="T42" fmla="*/ 22 w 30"/>
                <a:gd name="T43" fmla="*/ 28 h 30"/>
                <a:gd name="T44" fmla="*/ 30 w 30"/>
                <a:gd name="T45" fmla="*/ 15 h 30"/>
                <a:gd name="T46" fmla="*/ 28 w 30"/>
                <a:gd name="T47" fmla="*/ 8 h 30"/>
                <a:gd name="T48" fmla="*/ 27 w 30"/>
                <a:gd name="T49" fmla="*/ 7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0" h="30">
                  <a:moveTo>
                    <a:pt x="27" y="7"/>
                  </a:moveTo>
                  <a:cubicBezTo>
                    <a:pt x="27" y="6"/>
                    <a:pt x="26" y="6"/>
                    <a:pt x="26" y="5"/>
                  </a:cubicBezTo>
                  <a:cubicBezTo>
                    <a:pt x="24" y="3"/>
                    <a:pt x="22" y="2"/>
                    <a:pt x="19" y="1"/>
                  </a:cubicBezTo>
                  <a:cubicBezTo>
                    <a:pt x="19" y="0"/>
                    <a:pt x="19" y="0"/>
                    <a:pt x="19" y="1"/>
                  </a:cubicBezTo>
                  <a:cubicBezTo>
                    <a:pt x="19" y="1"/>
                    <a:pt x="18" y="1"/>
                    <a:pt x="17" y="0"/>
                  </a:cubicBezTo>
                  <a:cubicBezTo>
                    <a:pt x="17" y="0"/>
                    <a:pt x="16" y="0"/>
                    <a:pt x="16" y="0"/>
                  </a:cubicBezTo>
                  <a:cubicBezTo>
                    <a:pt x="16" y="0"/>
                    <a:pt x="16" y="0"/>
                    <a:pt x="16" y="0"/>
                  </a:cubicBezTo>
                  <a:cubicBezTo>
                    <a:pt x="16" y="0"/>
                    <a:pt x="16" y="0"/>
                    <a:pt x="16" y="0"/>
                  </a:cubicBezTo>
                  <a:cubicBezTo>
                    <a:pt x="15" y="0"/>
                    <a:pt x="15" y="0"/>
                    <a:pt x="15" y="0"/>
                  </a:cubicBezTo>
                  <a:cubicBezTo>
                    <a:pt x="11" y="0"/>
                    <a:pt x="7" y="2"/>
                    <a:pt x="4" y="5"/>
                  </a:cubicBezTo>
                  <a:cubicBezTo>
                    <a:pt x="4" y="6"/>
                    <a:pt x="3" y="6"/>
                    <a:pt x="3" y="7"/>
                  </a:cubicBezTo>
                  <a:cubicBezTo>
                    <a:pt x="2" y="7"/>
                    <a:pt x="2" y="8"/>
                    <a:pt x="2" y="8"/>
                  </a:cubicBezTo>
                  <a:cubicBezTo>
                    <a:pt x="1" y="10"/>
                    <a:pt x="0" y="13"/>
                    <a:pt x="0" y="15"/>
                  </a:cubicBezTo>
                  <a:cubicBezTo>
                    <a:pt x="0" y="20"/>
                    <a:pt x="3" y="25"/>
                    <a:pt x="8" y="28"/>
                  </a:cubicBezTo>
                  <a:cubicBezTo>
                    <a:pt x="9" y="28"/>
                    <a:pt x="10" y="29"/>
                    <a:pt x="11" y="29"/>
                  </a:cubicBezTo>
                  <a:cubicBezTo>
                    <a:pt x="11" y="29"/>
                    <a:pt x="12" y="30"/>
                    <a:pt x="12" y="30"/>
                  </a:cubicBezTo>
                  <a:cubicBezTo>
                    <a:pt x="14" y="30"/>
                    <a:pt x="14" y="30"/>
                    <a:pt x="14" y="30"/>
                  </a:cubicBezTo>
                  <a:cubicBezTo>
                    <a:pt x="14" y="30"/>
                    <a:pt x="14" y="30"/>
                    <a:pt x="14" y="30"/>
                  </a:cubicBezTo>
                  <a:cubicBezTo>
                    <a:pt x="15" y="30"/>
                    <a:pt x="15" y="30"/>
                    <a:pt x="15" y="30"/>
                  </a:cubicBezTo>
                  <a:cubicBezTo>
                    <a:pt x="15" y="30"/>
                    <a:pt x="15" y="30"/>
                    <a:pt x="15" y="30"/>
                  </a:cubicBezTo>
                  <a:cubicBezTo>
                    <a:pt x="15" y="30"/>
                    <a:pt x="15" y="30"/>
                    <a:pt x="15" y="30"/>
                  </a:cubicBezTo>
                  <a:cubicBezTo>
                    <a:pt x="18" y="30"/>
                    <a:pt x="20" y="29"/>
                    <a:pt x="22" y="28"/>
                  </a:cubicBezTo>
                  <a:cubicBezTo>
                    <a:pt x="27" y="25"/>
                    <a:pt x="30" y="20"/>
                    <a:pt x="30" y="15"/>
                  </a:cubicBezTo>
                  <a:cubicBezTo>
                    <a:pt x="30" y="13"/>
                    <a:pt x="29" y="10"/>
                    <a:pt x="28" y="8"/>
                  </a:cubicBezTo>
                  <a:cubicBezTo>
                    <a:pt x="28" y="8"/>
                    <a:pt x="28" y="7"/>
                    <a:pt x="27" y="7"/>
                  </a:cubicBezTo>
                  <a:close/>
                </a:path>
              </a:pathLst>
            </a:custGeom>
            <a:solidFill>
              <a:srgbClr val="005CA7"/>
            </a:solidFill>
            <a:ln>
              <a:noFill/>
            </a:ln>
          </p:spPr>
          <p:txBody>
            <a:bodyPr vert="horz" wrap="square" lIns="91440" tIns="45720" rIns="91440" bIns="45720" numCol="1" anchor="t" anchorCtr="0" compatLnSpc="1"/>
            <a:lstStyle/>
            <a:p>
              <a:endParaRPr lang="zh-CN" altLang="en-US"/>
            </a:p>
          </p:txBody>
        </p:sp>
      </p:grpSp>
      <p:sp>
        <p:nvSpPr>
          <p:cNvPr id="2" name="文本框 1"/>
          <p:cNvSpPr txBox="1"/>
          <p:nvPr/>
        </p:nvSpPr>
        <p:spPr>
          <a:xfrm>
            <a:off x="395605" y="1929130"/>
            <a:ext cx="11247755" cy="4030980"/>
          </a:xfrm>
          <a:prstGeom prst="rect">
            <a:avLst/>
          </a:prstGeom>
          <a:noFill/>
        </p:spPr>
        <p:txBody>
          <a:bodyPr wrap="none" rtlCol="0">
            <a:spAutoFit/>
          </a:bodyPr>
          <a:p>
            <a:pPr algn="l"/>
            <a:r>
              <a:rPr lang="zh-CN" altLang="en-US" sz="3200"/>
              <a:t>如第</a:t>
            </a:r>
            <a:r>
              <a:rPr lang="en-US" altLang="zh-CN" sz="3200"/>
              <a:t>8</a:t>
            </a:r>
            <a:r>
              <a:rPr lang="zh-CN" altLang="en-US" sz="3200"/>
              <a:t>章中所述，指令在蜂鸟 E200 流水线中的派遣点被派遣到</a:t>
            </a:r>
            <a:endParaRPr lang="zh-CN" altLang="en-US" sz="3200"/>
          </a:p>
          <a:p>
            <a:pPr algn="l"/>
            <a:r>
              <a:rPr lang="zh-CN" altLang="en-US" sz="3200"/>
              <a:t>不同运算单元执行，就像从枪膛中射 的子弹一样。让子弹飞一</a:t>
            </a:r>
            <a:endParaRPr lang="zh-CN" altLang="en-US" sz="3200"/>
          </a:p>
          <a:p>
            <a:pPr algn="l"/>
            <a:r>
              <a:rPr lang="zh-CN" altLang="en-US" sz="3200"/>
              <a:t>会 ，直到它落地的那一刻，从不同的运算单元执行完毕后的指</a:t>
            </a:r>
            <a:endParaRPr lang="zh-CN" altLang="en-US" sz="3200"/>
          </a:p>
          <a:p>
            <a:pPr algn="l"/>
            <a:r>
              <a:rPr lang="zh-CN" altLang="en-US" sz="3200"/>
              <a:t>令 最终都会将其计算结果写回（</a:t>
            </a:r>
            <a:r>
              <a:rPr lang="en-US" altLang="zh-CN" sz="3200"/>
              <a:t>W</a:t>
            </a:r>
            <a:r>
              <a:rPr lang="zh-CN" altLang="en-US" sz="3200"/>
              <a:t>rit</a:t>
            </a:r>
            <a:r>
              <a:rPr lang="en-US" altLang="zh-CN" sz="3200"/>
              <a:t>e</a:t>
            </a:r>
            <a:r>
              <a:rPr lang="zh-CN" altLang="en-US" sz="3200"/>
              <a:t> -Back ）通用寄存器组</a:t>
            </a:r>
            <a:endParaRPr lang="zh-CN" altLang="en-US" sz="3200"/>
          </a:p>
          <a:p>
            <a:pPr algn="l"/>
            <a:r>
              <a:rPr lang="zh-CN" altLang="en-US" sz="3200"/>
              <a:t>（ </a:t>
            </a:r>
            <a:r>
              <a:rPr lang="en-US" altLang="zh-CN" sz="3200"/>
              <a:t>R</a:t>
            </a:r>
            <a:r>
              <a:rPr lang="zh-CN" altLang="en-US" sz="3200"/>
              <a:t>egfile ）。</a:t>
            </a:r>
            <a:endParaRPr lang="zh-CN" altLang="en-US" sz="3200"/>
          </a:p>
          <a:p>
            <a:pPr algn="l"/>
            <a:endParaRPr lang="zh-CN" altLang="en-US" sz="3200"/>
          </a:p>
          <a:p>
            <a:pPr algn="l"/>
            <a:r>
              <a:rPr lang="zh-CN" altLang="en-US" sz="3200"/>
              <a:t>本章将简要介绍处理器的“写回”功能和常见的策略，并介绍</a:t>
            </a:r>
            <a:endParaRPr lang="zh-CN" altLang="en-US" sz="3200"/>
          </a:p>
          <a:p>
            <a:pPr algn="l"/>
            <a:r>
              <a:rPr lang="zh-CN" altLang="en-US" sz="3200"/>
              <a:t>蜂乌 E200 处理器核的“写回”硬件实现微架构和源码分析。</a:t>
            </a:r>
            <a:endParaRPr lang="zh-CN" altLang="en-US" sz="3200"/>
          </a:p>
        </p:txBody>
      </p:sp>
      <p:sp>
        <p:nvSpPr>
          <p:cNvPr id="3" name="文本框 2"/>
          <p:cNvSpPr txBox="1"/>
          <p:nvPr/>
        </p:nvSpPr>
        <p:spPr>
          <a:xfrm>
            <a:off x="4959985" y="785495"/>
            <a:ext cx="2520950" cy="768350"/>
          </a:xfrm>
          <a:prstGeom prst="rect">
            <a:avLst/>
          </a:prstGeom>
          <a:noFill/>
        </p:spPr>
        <p:txBody>
          <a:bodyPr wrap="square" rtlCol="0">
            <a:spAutoFit/>
          </a:bodyPr>
          <a:p>
            <a:r>
              <a:rPr lang="zh-CN" altLang="en-US" sz="4400"/>
              <a:t>内容概述</a:t>
            </a:r>
            <a:endParaRPr lang="zh-CN" altLang="en-US" sz="4400"/>
          </a:p>
        </p:txBody>
      </p:sp>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6"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strVal val="(6*min(max(#ppt_w*#ppt_h,.3),1)-7.4)/-.7*#ppt_w"/>
                                          </p:val>
                                        </p:tav>
                                        <p:tav tm="100000">
                                          <p:val>
                                            <p:strVal val="#ppt_w"/>
                                          </p:val>
                                        </p:tav>
                                      </p:tavLst>
                                    </p:anim>
                                    <p:anim calcmode="lin" valueType="num">
                                      <p:cBhvr>
                                        <p:cTn id="8" dur="500" fill="hold"/>
                                        <p:tgtEl>
                                          <p:spTgt spid="8"/>
                                        </p:tgtEl>
                                        <p:attrNameLst>
                                          <p:attrName>ppt_h</p:attrName>
                                        </p:attrNameLst>
                                      </p:cBhvr>
                                      <p:tavLst>
                                        <p:tav tm="0">
                                          <p:val>
                                            <p:strVal val="(6*min(max(#ppt_w*#ppt_h,.3),1)-7.4)/-.7*#ppt_h"/>
                                          </p:val>
                                        </p:tav>
                                        <p:tav tm="100000">
                                          <p:val>
                                            <p:strVal val="#ppt_h"/>
                                          </p:val>
                                        </p:tav>
                                      </p:tavLst>
                                    </p:anim>
                                    <p:anim calcmode="lin" valueType="num">
                                      <p:cBhvr>
                                        <p:cTn id="9" dur="500" fill="hold"/>
                                        <p:tgtEl>
                                          <p:spTgt spid="8"/>
                                        </p:tgtEl>
                                        <p:attrNameLst>
                                          <p:attrName>ppt_x</p:attrName>
                                        </p:attrNameLst>
                                      </p:cBhvr>
                                      <p:tavLst>
                                        <p:tav tm="0">
                                          <p:val>
                                            <p:fltVal val="0.5"/>
                                          </p:val>
                                        </p:tav>
                                        <p:tav tm="100000">
                                          <p:val>
                                            <p:strVal val="#ppt_x"/>
                                          </p:val>
                                        </p:tav>
                                      </p:tavLst>
                                    </p:anim>
                                    <p:anim calcmode="lin" valueType="num">
                                      <p:cBhvr>
                                        <p:cTn id="10" dur="500" fill="hold"/>
                                        <p:tgtEl>
                                          <p:spTgt spid="8"/>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9" name="直接连接符 38"/>
          <p:cNvCxnSpPr>
            <a:stCxn id="35" idx="3"/>
          </p:cNvCxnSpPr>
          <p:nvPr/>
        </p:nvCxnSpPr>
        <p:spPr>
          <a:xfrm flipV="1">
            <a:off x="4575810" y="571500"/>
            <a:ext cx="7832090" cy="3175"/>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193573" y="571500"/>
            <a:ext cx="1052155" cy="0"/>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666750" y="300355"/>
            <a:ext cx="3909060" cy="523240"/>
            <a:chOff x="666819" y="300264"/>
            <a:chExt cx="3257149" cy="523220"/>
          </a:xfrm>
        </p:grpSpPr>
        <p:sp>
          <p:nvSpPr>
            <p:cNvPr id="35" name="圆角矩形 34"/>
            <p:cNvSpPr/>
            <p:nvPr/>
          </p:nvSpPr>
          <p:spPr>
            <a:xfrm>
              <a:off x="858582" y="325576"/>
              <a:ext cx="3065386" cy="497908"/>
            </a:xfrm>
            <a:prstGeom prst="roundRect">
              <a:avLst>
                <a:gd name="adj" fmla="val 50000"/>
              </a:avLst>
            </a:prstGeom>
            <a:noFill/>
            <a:ln w="381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1"/>
            <p:cNvSpPr>
              <a:spLocks noChangeArrowheads="1"/>
            </p:cNvSpPr>
            <p:nvPr/>
          </p:nvSpPr>
          <p:spPr bwMode="auto">
            <a:xfrm>
              <a:off x="666819" y="300264"/>
              <a:ext cx="3092049" cy="521950"/>
            </a:xfrm>
            <a:prstGeom prst="rect">
              <a:avLst/>
            </a:prstGeom>
            <a:noFill/>
          </p:spPr>
          <p:txBody>
            <a:bodyPr wrap="square" rtlCol="0">
              <a:spAutoFit/>
            </a:bodyPr>
            <a:lstStyle/>
            <a:p>
              <a:pPr algn="ctr"/>
              <a:r>
                <a:rPr lang="zh-CN" altLang="en-US"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rPr>
                <a:t>一、处理器的写回</a:t>
              </a:r>
              <a:endParaRPr lang="zh-CN" altLang="en-US" sz="2800" b="1" dirty="0">
                <a:solidFill>
                  <a:srgbClr val="005CA7"/>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10" name="文本框 9"/>
          <p:cNvSpPr txBox="1"/>
          <p:nvPr/>
        </p:nvSpPr>
        <p:spPr>
          <a:xfrm>
            <a:off x="381635" y="932815"/>
            <a:ext cx="6623685" cy="983615"/>
          </a:xfrm>
          <a:prstGeom prst="rect">
            <a:avLst/>
          </a:prstGeom>
          <a:noFill/>
        </p:spPr>
        <p:txBody>
          <a:bodyPr wrap="square" rtlCol="0">
            <a:spAutoFit/>
          </a:bodyPr>
          <a:p>
            <a:r>
              <a:rPr lang="zh-CN" altLang="en-US" sz="4000"/>
              <a:t>10.1.1 处理器写回功能简介</a:t>
            </a:r>
            <a:endParaRPr lang="zh-CN" altLang="en-US" sz="4000"/>
          </a:p>
          <a:p>
            <a:endParaRPr lang="zh-CN" altLang="en-US"/>
          </a:p>
        </p:txBody>
      </p:sp>
      <p:sp>
        <p:nvSpPr>
          <p:cNvPr id="14" name="文本框 13"/>
          <p:cNvSpPr txBox="1"/>
          <p:nvPr/>
        </p:nvSpPr>
        <p:spPr>
          <a:xfrm>
            <a:off x="231775" y="2551430"/>
            <a:ext cx="3326130" cy="2030095"/>
          </a:xfrm>
          <a:prstGeom prst="rect">
            <a:avLst/>
          </a:prstGeom>
          <a:noFill/>
        </p:spPr>
        <p:txBody>
          <a:bodyPr wrap="square" rtlCol="0">
            <a:spAutoFit/>
          </a:bodyPr>
          <a:p>
            <a:r>
              <a:rPr lang="zh-CN" altLang="en-US"/>
              <a:t>如第</a:t>
            </a:r>
            <a:r>
              <a:rPr lang="en-US" altLang="zh-CN"/>
              <a:t>6</a:t>
            </a:r>
            <a:r>
              <a:rPr lang="zh-CN" altLang="en-US"/>
              <a:t>章中所述，在经典的五级流水线模型中，处理器的流水线分为取指、译码、执行、访存以及写回。写回是流水线的最后一级，主要的作用是将指令的运算结果写回到通用寄存器组。</a:t>
            </a:r>
            <a:endParaRPr lang="zh-CN" altLang="en-US"/>
          </a:p>
        </p:txBody>
      </p:sp>
      <p:pic>
        <p:nvPicPr>
          <p:cNvPr id="15" name="图片 14"/>
          <p:cNvPicPr>
            <a:picLocks noChangeAspect="1"/>
          </p:cNvPicPr>
          <p:nvPr>
            <p:custDataLst>
              <p:tags r:id="rId1"/>
            </p:custDataLst>
          </p:nvPr>
        </p:nvPicPr>
        <p:blipFill>
          <a:blip r:embed="rId2"/>
          <a:stretch>
            <a:fillRect/>
          </a:stretch>
        </p:blipFill>
        <p:spPr>
          <a:xfrm>
            <a:off x="3902710" y="1684655"/>
            <a:ext cx="8220075" cy="4638675"/>
          </a:xfrm>
          <a:prstGeom prst="rect">
            <a:avLst/>
          </a:prstGeom>
        </p:spPr>
      </p:pic>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par>
                                <p:cTn id="8" presetID="22" presetClass="entr" presetSubtype="8" fill="hold" nodeType="withEffect">
                                  <p:stCondLst>
                                    <p:cond delay="500"/>
                                  </p:stCondLst>
                                  <p:childTnLst>
                                    <p:set>
                                      <p:cBhvr>
                                        <p:cTn id="9" dur="1" fill="hold">
                                          <p:stCondLst>
                                            <p:cond delay="0"/>
                                          </p:stCondLst>
                                        </p:cTn>
                                        <p:tgtEl>
                                          <p:spTgt spid="39"/>
                                        </p:tgtEl>
                                        <p:attrNameLst>
                                          <p:attrName>style.visibility</p:attrName>
                                        </p:attrNameLst>
                                      </p:cBhvr>
                                      <p:to>
                                        <p:strVal val="visible"/>
                                      </p:to>
                                    </p:set>
                                    <p:animEffect transition="in" filter="wipe(left)">
                                      <p:cBhvr>
                                        <p:cTn id="10" dur="500"/>
                                        <p:tgtEl>
                                          <p:spTgt spid="39"/>
                                        </p:tgtEl>
                                      </p:cBhvr>
                                    </p:animEffect>
                                  </p:childTnLst>
                                </p:cTn>
                              </p:par>
                              <p:par>
                                <p:cTn id="11" presetID="22" presetClass="entr" presetSubtype="2" fill="hold" nodeType="withEffect">
                                  <p:stCondLst>
                                    <p:cond delay="500"/>
                                  </p:stCondLst>
                                  <p:childTnLst>
                                    <p:set>
                                      <p:cBhvr>
                                        <p:cTn id="12" dur="1" fill="hold">
                                          <p:stCondLst>
                                            <p:cond delay="0"/>
                                          </p:stCondLst>
                                        </p:cTn>
                                        <p:tgtEl>
                                          <p:spTgt spid="40"/>
                                        </p:tgtEl>
                                        <p:attrNameLst>
                                          <p:attrName>style.visibility</p:attrName>
                                        </p:attrNameLst>
                                      </p:cBhvr>
                                      <p:to>
                                        <p:strVal val="visible"/>
                                      </p:to>
                                    </p:set>
                                    <p:animEffect transition="in" filter="wipe(right)">
                                      <p:cBhvr>
                                        <p:cTn id="13"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6737148" y="1829469"/>
            <a:ext cx="4598035" cy="1336675"/>
            <a:chOff x="6737148" y="1277654"/>
            <a:chExt cx="4598035" cy="1336675"/>
          </a:xfrm>
        </p:grpSpPr>
        <p:sp>
          <p:nvSpPr>
            <p:cNvPr id="16" name="Rectangle: Top Corners Rounded 11"/>
            <p:cNvSpPr/>
            <p:nvPr/>
          </p:nvSpPr>
          <p:spPr>
            <a:xfrm rot="10800000" flipH="1">
              <a:off x="7357542" y="1573962"/>
              <a:ext cx="61528" cy="743490"/>
            </a:xfrm>
            <a:prstGeom prst="round2SameRect">
              <a:avLst>
                <a:gd name="adj1" fmla="val 50000"/>
                <a:gd name="adj2" fmla="val 50000"/>
              </a:avLst>
            </a:prstGeom>
            <a:solidFill>
              <a:srgbClr val="005CA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grpSp>
          <p:nvGrpSpPr>
            <p:cNvPr id="11" name="组合 10"/>
            <p:cNvGrpSpPr/>
            <p:nvPr/>
          </p:nvGrpSpPr>
          <p:grpSpPr>
            <a:xfrm>
              <a:off x="6737148" y="1277654"/>
              <a:ext cx="4598035" cy="1336675"/>
              <a:chOff x="6737148" y="1277654"/>
              <a:chExt cx="4598035" cy="1336675"/>
            </a:xfrm>
          </p:grpSpPr>
          <p:sp>
            <p:nvSpPr>
              <p:cNvPr id="49" name="矩形 48"/>
              <p:cNvSpPr/>
              <p:nvPr/>
            </p:nvSpPr>
            <p:spPr>
              <a:xfrm>
                <a:off x="7692823" y="1277654"/>
                <a:ext cx="3642360" cy="1336675"/>
              </a:xfrm>
              <a:prstGeom prst="rect">
                <a:avLst/>
              </a:prstGeom>
            </p:spPr>
            <p:txBody>
              <a:bodyPr wrap="square" lIns="91436" tIns="45718" rIns="91436" bIns="45718">
                <a:spAutoFit/>
              </a:bodyPr>
              <a:lstStyle/>
              <a:p>
                <a:pPr>
                  <a:lnSpc>
                    <a:spcPct val="150000"/>
                  </a:lnSpc>
                </a:pPr>
                <a:r>
                  <a:rPr lang="zh-CN" altLang="en-US" dirty="0">
                    <a:solidFill>
                      <a:schemeClr val="bg2">
                        <a:lumMod val="50000"/>
                      </a:schemeClr>
                    </a:solidFill>
                    <a:latin typeface="微软雅黑" panose="020B0503020204020204" pitchFamily="34" charset="-122"/>
                    <a:ea typeface="微软雅黑" panose="020B0503020204020204" pitchFamily="34" charset="-122"/>
                  </a:rPr>
                  <a:t>将指令分为单周期指令和长指令两大类，参见第 8.3.7 节了解有关单周期指令和长指令的分类信息</a:t>
                </a:r>
                <a:endParaRPr lang="zh-CN" altLang="en-US" dirty="0">
                  <a:solidFill>
                    <a:schemeClr val="bg2">
                      <a:lumMod val="50000"/>
                    </a:schemeClr>
                  </a:solidFill>
                  <a:latin typeface="微软雅黑" panose="020B0503020204020204" pitchFamily="34" charset="-122"/>
                  <a:ea typeface="微软雅黑" panose="020B0503020204020204" pitchFamily="34" charset="-122"/>
                </a:endParaRPr>
              </a:p>
            </p:txBody>
          </p:sp>
          <p:sp>
            <p:nvSpPr>
              <p:cNvPr id="61" name="TextBox 76"/>
              <p:cNvSpPr txBox="1"/>
              <p:nvPr/>
            </p:nvSpPr>
            <p:spPr>
              <a:xfrm>
                <a:off x="6737148" y="1644684"/>
                <a:ext cx="437932" cy="584771"/>
              </a:xfrm>
              <a:prstGeom prst="rect">
                <a:avLst/>
              </a:prstGeom>
              <a:noFill/>
            </p:spPr>
            <p:txBody>
              <a:bodyPr wrap="none" lIns="91436" tIns="45718" rIns="91436" bIns="45718" rtlCol="0">
                <a:spAutoFit/>
              </a:bodyPr>
              <a:lstStyle>
                <a:defPPr>
                  <a:defRPr lang="zh-CN"/>
                </a:defPPr>
                <a:lvl1pPr>
                  <a:defRPr sz="1600" b="1">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sz="3200" dirty="0" smtClean="0">
                    <a:solidFill>
                      <a:srgbClr val="005CA7"/>
                    </a:solidFill>
                  </a:rPr>
                  <a:t>1</a:t>
                </a:r>
                <a:endParaRPr lang="zh-CN" altLang="en-US" sz="3200" dirty="0">
                  <a:solidFill>
                    <a:srgbClr val="005CA7"/>
                  </a:solidFill>
                </a:endParaRPr>
              </a:p>
            </p:txBody>
          </p:sp>
        </p:grpSp>
      </p:grpSp>
      <p:grpSp>
        <p:nvGrpSpPr>
          <p:cNvPr id="13" name="组合 12"/>
          <p:cNvGrpSpPr/>
          <p:nvPr/>
        </p:nvGrpSpPr>
        <p:grpSpPr>
          <a:xfrm>
            <a:off x="6737148" y="4036687"/>
            <a:ext cx="4598035" cy="2167255"/>
            <a:chOff x="6737148" y="2502527"/>
            <a:chExt cx="4598035" cy="2167255"/>
          </a:xfrm>
        </p:grpSpPr>
        <p:sp>
          <p:nvSpPr>
            <p:cNvPr id="18" name="Rectangle: Top Corners Rounded 13"/>
            <p:cNvSpPr/>
            <p:nvPr/>
          </p:nvSpPr>
          <p:spPr>
            <a:xfrm rot="10800000" flipH="1">
              <a:off x="7357542" y="2722872"/>
              <a:ext cx="61528" cy="743490"/>
            </a:xfrm>
            <a:prstGeom prst="round2SameRect">
              <a:avLst>
                <a:gd name="adj1" fmla="val 50000"/>
                <a:gd name="adj2" fmla="val 50000"/>
              </a:avLst>
            </a:prstGeom>
            <a:solidFill>
              <a:srgbClr val="005CA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53" name="矩形 52"/>
            <p:cNvSpPr/>
            <p:nvPr/>
          </p:nvSpPr>
          <p:spPr>
            <a:xfrm>
              <a:off x="7692823" y="2502527"/>
              <a:ext cx="3642360" cy="2167255"/>
            </a:xfrm>
            <a:prstGeom prst="rect">
              <a:avLst/>
            </a:prstGeom>
          </p:spPr>
          <p:txBody>
            <a:bodyPr wrap="square" lIns="91436" tIns="45718" rIns="91436" bIns="45718">
              <a:spAutoFit/>
            </a:bodyPr>
            <a:lstStyle/>
            <a:p>
              <a:pPr>
                <a:lnSpc>
                  <a:spcPct val="150000"/>
                </a:lnSpc>
              </a:pPr>
              <a:r>
                <a:rPr lang="zh-CN" altLang="en-US" dirty="0">
                  <a:solidFill>
                    <a:schemeClr val="bg2">
                      <a:lumMod val="50000"/>
                    </a:schemeClr>
                  </a:solidFill>
                  <a:latin typeface="微软雅黑" panose="020B0503020204020204" pitchFamily="34" charset="-122"/>
                  <a:ea typeface="微软雅黑" panose="020B0503020204020204" pitchFamily="34" charset="-122"/>
                </a:rPr>
                <a:t>将长指令的“交付”和“写回”分开，使得即便执行了多周期长指令，仍然不会阻塞流水线，让后续的单周期指令仍然能够顺利地写回和交付。</a:t>
              </a:r>
              <a:endParaRPr lang="zh-CN" altLang="en-US" dirty="0">
                <a:solidFill>
                  <a:schemeClr val="bg2">
                    <a:lumMod val="50000"/>
                  </a:schemeClr>
                </a:solidFill>
                <a:latin typeface="微软雅黑" panose="020B0503020204020204" pitchFamily="34" charset="-122"/>
                <a:ea typeface="微软雅黑" panose="020B0503020204020204" pitchFamily="34" charset="-122"/>
              </a:endParaRPr>
            </a:p>
          </p:txBody>
        </p:sp>
        <p:sp>
          <p:nvSpPr>
            <p:cNvPr id="62" name="TextBox 76"/>
            <p:cNvSpPr txBox="1"/>
            <p:nvPr/>
          </p:nvSpPr>
          <p:spPr>
            <a:xfrm>
              <a:off x="6737148" y="2802231"/>
              <a:ext cx="437932" cy="584771"/>
            </a:xfrm>
            <a:prstGeom prst="rect">
              <a:avLst/>
            </a:prstGeom>
            <a:noFill/>
          </p:spPr>
          <p:txBody>
            <a:bodyPr wrap="none" lIns="91436" tIns="45718" rIns="91436" bIns="45718" rtlCol="0">
              <a:spAutoFit/>
            </a:bodyPr>
            <a:lstStyle>
              <a:defPPr>
                <a:defRPr lang="zh-CN"/>
              </a:defPPr>
              <a:lvl1pPr>
                <a:defRPr sz="1600" b="1">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sz="3200" dirty="0" smtClean="0">
                  <a:solidFill>
                    <a:srgbClr val="005CA7"/>
                  </a:solidFill>
                </a:rPr>
                <a:t>2</a:t>
              </a:r>
              <a:endParaRPr lang="zh-CN" altLang="en-US" sz="3200" dirty="0">
                <a:solidFill>
                  <a:srgbClr val="005CA7"/>
                </a:solidFill>
              </a:endParaRPr>
            </a:p>
          </p:txBody>
        </p:sp>
      </p:grpSp>
      <p:cxnSp>
        <p:nvCxnSpPr>
          <p:cNvPr id="44" name="直接连接符 43"/>
          <p:cNvCxnSpPr>
            <a:stCxn id="48" idx="3"/>
          </p:cNvCxnSpPr>
          <p:nvPr/>
        </p:nvCxnSpPr>
        <p:spPr>
          <a:xfrm flipV="1">
            <a:off x="7872095" y="571500"/>
            <a:ext cx="4535805" cy="3175"/>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193573" y="571500"/>
            <a:ext cx="1052155" cy="0"/>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532765" y="300355"/>
            <a:ext cx="7339330" cy="523240"/>
            <a:chOff x="666819" y="300264"/>
            <a:chExt cx="3257149" cy="523220"/>
          </a:xfrm>
        </p:grpSpPr>
        <p:sp>
          <p:nvSpPr>
            <p:cNvPr id="48" name="圆角矩形 47"/>
            <p:cNvSpPr/>
            <p:nvPr/>
          </p:nvSpPr>
          <p:spPr>
            <a:xfrm>
              <a:off x="858582" y="325576"/>
              <a:ext cx="3065386" cy="497908"/>
            </a:xfrm>
            <a:prstGeom prst="roundRect">
              <a:avLst>
                <a:gd name="adj" fmla="val 50000"/>
              </a:avLst>
            </a:prstGeom>
            <a:noFill/>
            <a:ln w="381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1"/>
            <p:cNvSpPr>
              <a:spLocks noChangeArrowheads="1"/>
            </p:cNvSpPr>
            <p:nvPr/>
          </p:nvSpPr>
          <p:spPr bwMode="auto">
            <a:xfrm>
              <a:off x="666819" y="300264"/>
              <a:ext cx="3092049" cy="521950"/>
            </a:xfrm>
            <a:prstGeom prst="rect">
              <a:avLst/>
            </a:prstGeom>
            <a:noFill/>
          </p:spPr>
          <p:txBody>
            <a:bodyPr wrap="square" rtlCol="0">
              <a:spAutoFit/>
            </a:bodyPr>
            <a:lstStyle/>
            <a:p>
              <a:pPr algn="ctr">
                <a:buClrTx/>
                <a:buSzTx/>
                <a:buFontTx/>
              </a:pPr>
              <a:r>
                <a:rPr lang="zh-CN" altLang="en-US"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rPr>
                <a:t>二、</a:t>
              </a:r>
              <a:r>
                <a:rPr lang="zh-CN" altLang="en-US" sz="2800" b="1" dirty="0" smtClean="0">
                  <a:solidFill>
                    <a:srgbClr val="005CA7"/>
                  </a:solidFill>
                  <a:latin typeface="微软雅黑" panose="020B0503020204020204" pitchFamily="34" charset="-122"/>
                  <a:ea typeface="微软雅黑" panose="020B0503020204020204" pitchFamily="34" charset="-122"/>
                  <a:sym typeface="+mn-ea"/>
                </a:rPr>
                <a:t>蜂鸟E200 处理器的写回硬件实现</a:t>
              </a:r>
              <a:endParaRPr lang="zh-CN" altLang="en-US"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10" name="文本框 9"/>
          <p:cNvSpPr txBox="1"/>
          <p:nvPr/>
        </p:nvSpPr>
        <p:spPr>
          <a:xfrm>
            <a:off x="745490" y="2196465"/>
            <a:ext cx="4466590" cy="2676525"/>
          </a:xfrm>
          <a:prstGeom prst="rect">
            <a:avLst/>
          </a:prstGeom>
          <a:noFill/>
        </p:spPr>
        <p:txBody>
          <a:bodyPr wrap="square" rtlCol="0">
            <a:spAutoFit/>
          </a:bodyPr>
          <a:p>
            <a:r>
              <a:rPr lang="zh-CN" altLang="en-US" sz="2800"/>
              <a:t>蜂鸟 E200 处理器的写回策略是一种因地制宜的混合策略，蜂鸟 E200 处理器核的写回硬件实现不仅保持面积最小化的原则，还能取得不错的性能，其核心思想如下。</a:t>
            </a:r>
            <a:endParaRPr lang="zh-CN" altLang="en-US" sz="2800"/>
          </a:p>
        </p:txBody>
      </p:sp>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outVertical)">
                                      <p:cBhvr>
                                        <p:cTn id="7" dur="500"/>
                                        <p:tgtEl>
                                          <p:spTgt spid="46"/>
                                        </p:tgtEl>
                                      </p:cBhvr>
                                    </p:animEffect>
                                  </p:childTnLst>
                                </p:cTn>
                              </p:par>
                              <p:par>
                                <p:cTn id="8" presetID="22" presetClass="entr" presetSubtype="8" fill="hold" nodeType="withEffect">
                                  <p:stCondLst>
                                    <p:cond delay="500"/>
                                  </p:stCondLst>
                                  <p:childTnLst>
                                    <p:set>
                                      <p:cBhvr>
                                        <p:cTn id="9" dur="1" fill="hold">
                                          <p:stCondLst>
                                            <p:cond delay="0"/>
                                          </p:stCondLst>
                                        </p:cTn>
                                        <p:tgtEl>
                                          <p:spTgt spid="44"/>
                                        </p:tgtEl>
                                        <p:attrNameLst>
                                          <p:attrName>style.visibility</p:attrName>
                                        </p:attrNameLst>
                                      </p:cBhvr>
                                      <p:to>
                                        <p:strVal val="visible"/>
                                      </p:to>
                                    </p:set>
                                    <p:animEffect transition="in" filter="wipe(left)">
                                      <p:cBhvr>
                                        <p:cTn id="10" dur="500"/>
                                        <p:tgtEl>
                                          <p:spTgt spid="44"/>
                                        </p:tgtEl>
                                      </p:cBhvr>
                                    </p:animEffect>
                                  </p:childTnLst>
                                </p:cTn>
                              </p:par>
                              <p:par>
                                <p:cTn id="11" presetID="22" presetClass="entr" presetSubtype="2" fill="hold" nodeType="withEffect">
                                  <p:stCondLst>
                                    <p:cond delay="500"/>
                                  </p:stCondLst>
                                  <p:childTnLst>
                                    <p:set>
                                      <p:cBhvr>
                                        <p:cTn id="12" dur="1" fill="hold">
                                          <p:stCondLst>
                                            <p:cond delay="0"/>
                                          </p:stCondLst>
                                        </p:cTn>
                                        <p:tgtEl>
                                          <p:spTgt spid="45"/>
                                        </p:tgtEl>
                                        <p:attrNameLst>
                                          <p:attrName>style.visibility</p:attrName>
                                        </p:attrNameLst>
                                      </p:cBhvr>
                                      <p:to>
                                        <p:strVal val="visible"/>
                                      </p:to>
                                    </p:set>
                                    <p:animEffect transition="in" filter="wipe(right)">
                                      <p:cBhvr>
                                        <p:cTn id="13" dur="500"/>
                                        <p:tgtEl>
                                          <p:spTgt spid="45"/>
                                        </p:tgtEl>
                                      </p:cBhvr>
                                    </p:animEffect>
                                  </p:childTnLst>
                                </p:cTn>
                              </p:par>
                            </p:childTnLst>
                          </p:cTn>
                        </p:par>
                        <p:par>
                          <p:cTn id="14" fill="hold">
                            <p:stCondLst>
                              <p:cond delay="500"/>
                            </p:stCondLst>
                            <p:childTnLst>
                              <p:par>
                                <p:cTn id="15" presetID="12" presetClass="entr" presetSubtype="2" fill="hold" nodeType="after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additive="base">
                                        <p:cTn id="17" dur="500"/>
                                        <p:tgtEl>
                                          <p:spTgt spid="21"/>
                                        </p:tgtEl>
                                        <p:attrNameLst>
                                          <p:attrName>ppt_x</p:attrName>
                                        </p:attrNameLst>
                                      </p:cBhvr>
                                      <p:tavLst>
                                        <p:tav tm="0">
                                          <p:val>
                                            <p:strVal val="#ppt_x+#ppt_w*1.125000"/>
                                          </p:val>
                                        </p:tav>
                                        <p:tav tm="100000">
                                          <p:val>
                                            <p:strVal val="#ppt_x"/>
                                          </p:val>
                                        </p:tav>
                                      </p:tavLst>
                                    </p:anim>
                                    <p:animEffect transition="in" filter="wipe(left)">
                                      <p:cBhvr>
                                        <p:cTn id="18" dur="500"/>
                                        <p:tgtEl>
                                          <p:spTgt spid="21"/>
                                        </p:tgtEl>
                                      </p:cBhvr>
                                    </p:animEffect>
                                  </p:childTnLst>
                                </p:cTn>
                              </p:par>
                            </p:childTnLst>
                          </p:cTn>
                        </p:par>
                        <p:par>
                          <p:cTn id="19" fill="hold">
                            <p:stCondLst>
                              <p:cond delay="1000"/>
                            </p:stCondLst>
                            <p:childTnLst>
                              <p:par>
                                <p:cTn id="20" presetID="12" presetClass="entr" presetSubtype="2" fill="hold" nodeType="after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p:tgtEl>
                                          <p:spTgt spid="13"/>
                                        </p:tgtEl>
                                        <p:attrNameLst>
                                          <p:attrName>ppt_x</p:attrName>
                                        </p:attrNameLst>
                                      </p:cBhvr>
                                      <p:tavLst>
                                        <p:tav tm="0">
                                          <p:val>
                                            <p:strVal val="#ppt_x+#ppt_w*1.125000"/>
                                          </p:val>
                                        </p:tav>
                                        <p:tav tm="100000">
                                          <p:val>
                                            <p:strVal val="#ppt_x"/>
                                          </p:val>
                                        </p:tav>
                                      </p:tavLst>
                                    </p:anim>
                                    <p:animEffect transition="in" filter="wipe(left)">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4" name="直接连接符 43"/>
          <p:cNvCxnSpPr>
            <a:stCxn id="48" idx="3"/>
          </p:cNvCxnSpPr>
          <p:nvPr/>
        </p:nvCxnSpPr>
        <p:spPr>
          <a:xfrm flipV="1">
            <a:off x="7872095" y="571500"/>
            <a:ext cx="4535805" cy="3175"/>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193573" y="571500"/>
            <a:ext cx="1052155" cy="0"/>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532765" y="300355"/>
            <a:ext cx="7339330" cy="523240"/>
            <a:chOff x="666819" y="300264"/>
            <a:chExt cx="3257149" cy="523220"/>
          </a:xfrm>
        </p:grpSpPr>
        <p:sp>
          <p:nvSpPr>
            <p:cNvPr id="48" name="圆角矩形 47"/>
            <p:cNvSpPr/>
            <p:nvPr/>
          </p:nvSpPr>
          <p:spPr>
            <a:xfrm>
              <a:off x="858582" y="325576"/>
              <a:ext cx="3065386" cy="497908"/>
            </a:xfrm>
            <a:prstGeom prst="roundRect">
              <a:avLst>
                <a:gd name="adj" fmla="val 50000"/>
              </a:avLst>
            </a:prstGeom>
            <a:noFill/>
            <a:ln w="381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1"/>
            <p:cNvSpPr>
              <a:spLocks noChangeArrowheads="1"/>
            </p:cNvSpPr>
            <p:nvPr/>
          </p:nvSpPr>
          <p:spPr bwMode="auto">
            <a:xfrm>
              <a:off x="666819" y="300264"/>
              <a:ext cx="3092049" cy="521950"/>
            </a:xfrm>
            <a:prstGeom prst="rect">
              <a:avLst/>
            </a:prstGeom>
            <a:noFill/>
          </p:spPr>
          <p:txBody>
            <a:bodyPr wrap="square" rtlCol="0">
              <a:spAutoFit/>
            </a:bodyPr>
            <a:lstStyle/>
            <a:p>
              <a:pPr algn="ctr">
                <a:buClrTx/>
                <a:buSzTx/>
                <a:buFontTx/>
              </a:pPr>
              <a:r>
                <a:rPr lang="zh-CN" altLang="en-US"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rPr>
                <a:t>二、</a:t>
              </a:r>
              <a:r>
                <a:rPr lang="zh-CN" altLang="en-US" sz="2800" b="1" dirty="0" smtClean="0">
                  <a:solidFill>
                    <a:srgbClr val="005CA7"/>
                  </a:solidFill>
                  <a:latin typeface="微软雅黑" panose="020B0503020204020204" pitchFamily="34" charset="-122"/>
                  <a:ea typeface="微软雅黑" panose="020B0503020204020204" pitchFamily="34" charset="-122"/>
                  <a:sym typeface="+mn-ea"/>
                </a:rPr>
                <a:t>蜂鸟E200 处理器的写回硬件实现</a:t>
              </a:r>
              <a:endParaRPr lang="zh-CN" altLang="en-US"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10" name="文本框 9"/>
          <p:cNvSpPr txBox="1"/>
          <p:nvPr/>
        </p:nvSpPr>
        <p:spPr>
          <a:xfrm>
            <a:off x="532765" y="1746250"/>
            <a:ext cx="4954905" cy="3969385"/>
          </a:xfrm>
          <a:prstGeom prst="rect">
            <a:avLst/>
          </a:prstGeom>
          <a:noFill/>
        </p:spPr>
        <p:txBody>
          <a:bodyPr wrap="square" rtlCol="0">
            <a:spAutoFit/>
          </a:bodyPr>
          <a:p>
            <a:r>
              <a:rPr lang="zh-CN" altLang="en-US" sz="2800"/>
              <a:t>涉及的模块如图 10-1 中的圆圈区域所示，主要包含如下几个组件 最终写回仲裁（ Fin</a:t>
            </a:r>
            <a:r>
              <a:rPr lang="en-US" altLang="zh-CN" sz="2800"/>
              <a:t>al </a:t>
            </a:r>
            <a:r>
              <a:rPr lang="zh-CN" altLang="en-US" sz="2800"/>
              <a:t>Write-Back Arbitr tion ）、长指令写回仲裁（Long Pipes Instructions Write-Back Arb tration ）和OITF ( Outstanding Instruction Track FIFO ）下文将分别予以介绍</a:t>
            </a:r>
            <a:endParaRPr lang="zh-CN" altLang="en-US" sz="2800"/>
          </a:p>
        </p:txBody>
      </p:sp>
      <p:pic>
        <p:nvPicPr>
          <p:cNvPr id="2" name="图片 1"/>
          <p:cNvPicPr>
            <a:picLocks noChangeAspect="1"/>
          </p:cNvPicPr>
          <p:nvPr>
            <p:custDataLst>
              <p:tags r:id="rId1"/>
            </p:custDataLst>
          </p:nvPr>
        </p:nvPicPr>
        <p:blipFill>
          <a:blip r:embed="rId2"/>
          <a:stretch>
            <a:fillRect/>
          </a:stretch>
        </p:blipFill>
        <p:spPr>
          <a:xfrm>
            <a:off x="5545455" y="1405890"/>
            <a:ext cx="6381115" cy="4650105"/>
          </a:xfrm>
          <a:prstGeom prst="rect">
            <a:avLst/>
          </a:prstGeom>
        </p:spPr>
      </p:pic>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outVertical)">
                                      <p:cBhvr>
                                        <p:cTn id="7" dur="500"/>
                                        <p:tgtEl>
                                          <p:spTgt spid="46"/>
                                        </p:tgtEl>
                                      </p:cBhvr>
                                    </p:animEffect>
                                  </p:childTnLst>
                                </p:cTn>
                              </p:par>
                              <p:par>
                                <p:cTn id="8" presetID="22" presetClass="entr" presetSubtype="8" fill="hold" nodeType="withEffect">
                                  <p:stCondLst>
                                    <p:cond delay="500"/>
                                  </p:stCondLst>
                                  <p:childTnLst>
                                    <p:set>
                                      <p:cBhvr>
                                        <p:cTn id="9" dur="1" fill="hold">
                                          <p:stCondLst>
                                            <p:cond delay="0"/>
                                          </p:stCondLst>
                                        </p:cTn>
                                        <p:tgtEl>
                                          <p:spTgt spid="44"/>
                                        </p:tgtEl>
                                        <p:attrNameLst>
                                          <p:attrName>style.visibility</p:attrName>
                                        </p:attrNameLst>
                                      </p:cBhvr>
                                      <p:to>
                                        <p:strVal val="visible"/>
                                      </p:to>
                                    </p:set>
                                    <p:animEffect transition="in" filter="wipe(left)">
                                      <p:cBhvr>
                                        <p:cTn id="10" dur="500"/>
                                        <p:tgtEl>
                                          <p:spTgt spid="44"/>
                                        </p:tgtEl>
                                      </p:cBhvr>
                                    </p:animEffect>
                                  </p:childTnLst>
                                </p:cTn>
                              </p:par>
                              <p:par>
                                <p:cTn id="11" presetID="22" presetClass="entr" presetSubtype="2" fill="hold" nodeType="withEffect">
                                  <p:stCondLst>
                                    <p:cond delay="500"/>
                                  </p:stCondLst>
                                  <p:childTnLst>
                                    <p:set>
                                      <p:cBhvr>
                                        <p:cTn id="12" dur="1" fill="hold">
                                          <p:stCondLst>
                                            <p:cond delay="0"/>
                                          </p:stCondLst>
                                        </p:cTn>
                                        <p:tgtEl>
                                          <p:spTgt spid="45"/>
                                        </p:tgtEl>
                                        <p:attrNameLst>
                                          <p:attrName>style.visibility</p:attrName>
                                        </p:attrNameLst>
                                      </p:cBhvr>
                                      <p:to>
                                        <p:strVal val="visible"/>
                                      </p:to>
                                    </p:set>
                                    <p:animEffect transition="in" filter="wipe(right)">
                                      <p:cBhvr>
                                        <p:cTn id="13"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5299508" y="1541814"/>
            <a:ext cx="6677660" cy="5076190"/>
            <a:chOff x="6737148" y="1277654"/>
            <a:chExt cx="6677660" cy="5076190"/>
          </a:xfrm>
        </p:grpSpPr>
        <p:sp>
          <p:nvSpPr>
            <p:cNvPr id="16" name="Rectangle: Top Corners Rounded 11"/>
            <p:cNvSpPr/>
            <p:nvPr/>
          </p:nvSpPr>
          <p:spPr>
            <a:xfrm rot="10800000" flipH="1">
              <a:off x="7357542" y="1573962"/>
              <a:ext cx="61528" cy="743490"/>
            </a:xfrm>
            <a:prstGeom prst="round2SameRect">
              <a:avLst>
                <a:gd name="adj1" fmla="val 50000"/>
                <a:gd name="adj2" fmla="val 50000"/>
              </a:avLst>
            </a:prstGeom>
            <a:solidFill>
              <a:srgbClr val="005CA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grpSp>
          <p:nvGrpSpPr>
            <p:cNvPr id="11" name="组合 10"/>
            <p:cNvGrpSpPr/>
            <p:nvPr/>
          </p:nvGrpSpPr>
          <p:grpSpPr>
            <a:xfrm>
              <a:off x="6737148" y="1277654"/>
              <a:ext cx="6677660" cy="5076190"/>
              <a:chOff x="6737148" y="1277654"/>
              <a:chExt cx="6677660" cy="5076190"/>
            </a:xfrm>
          </p:grpSpPr>
          <p:sp>
            <p:nvSpPr>
              <p:cNvPr id="49" name="矩形 48"/>
              <p:cNvSpPr/>
              <p:nvPr/>
            </p:nvSpPr>
            <p:spPr>
              <a:xfrm>
                <a:off x="7692823" y="1277654"/>
                <a:ext cx="5721985" cy="5076190"/>
              </a:xfrm>
              <a:prstGeom prst="rect">
                <a:avLst/>
              </a:prstGeom>
            </p:spPr>
            <p:txBody>
              <a:bodyPr wrap="square" lIns="91436" tIns="45718" rIns="91436" bIns="45718">
                <a:spAutoFit/>
              </a:bodyPr>
              <a:lstStyle/>
              <a:p>
                <a:pPr>
                  <a:lnSpc>
                    <a:spcPct val="150000"/>
                  </a:lnSpc>
                </a:pPr>
                <a:r>
                  <a:rPr lang="zh-CN" altLang="en-US" dirty="0">
                    <a:solidFill>
                      <a:schemeClr val="bg2">
                        <a:lumMod val="50000"/>
                      </a:schemeClr>
                    </a:solidFill>
                    <a:latin typeface="微软雅黑" panose="020B0503020204020204" pitchFamily="34" charset="-122"/>
                    <a:ea typeface="微软雅黑" panose="020B0503020204020204" pitchFamily="34" charset="-122"/>
                  </a:rPr>
                  <a:t> “最终写回仲裁”主要用于</a:t>
                </a:r>
                <a:r>
                  <a:rPr lang="zh-CN" altLang="en-US" dirty="0">
                    <a:solidFill>
                      <a:schemeClr val="bg2">
                        <a:lumMod val="50000"/>
                      </a:schemeClr>
                    </a:solidFill>
                    <a:latin typeface="微软雅黑" panose="020B0503020204020204" pitchFamily="34" charset="-122"/>
                    <a:ea typeface="微软雅黑" panose="020B0503020204020204" pitchFamily="34" charset="-122"/>
                    <a:sym typeface="+mn-ea"/>
                  </a:rPr>
                  <a:t>仲</a:t>
                </a:r>
                <a:r>
                  <a:rPr lang="zh-CN" altLang="en-US" dirty="0">
                    <a:solidFill>
                      <a:schemeClr val="bg2">
                        <a:lumMod val="50000"/>
                      </a:schemeClr>
                    </a:solidFill>
                    <a:latin typeface="微软雅黑" panose="020B0503020204020204" pitchFamily="34" charset="-122"/>
                    <a:ea typeface="微软雅黑" panose="020B0503020204020204" pitchFamily="34" charset="-122"/>
                  </a:rPr>
                  <a:t>裁所有单周期指令的写 （来自于 ALU模块）和所有长指令的写回（来自于“长指令写回仲裁”模块）仲裁采用优先级仲裁的方式。由于长指令的执行周期比较长，因此其明显比正在写回的 ALU 指令在程序流中处于更早的位置，所以长指令的写回比单周期指令的写回具有更高的优先级。</a:t>
                </a:r>
                <a:endParaRPr lang="zh-CN" altLang="en-US"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pPr>
                <a:endParaRPr lang="zh-CN" altLang="en-US"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pPr>
                <a:r>
                  <a:rPr lang="zh-CN" altLang="en-US" dirty="0">
                    <a:solidFill>
                      <a:schemeClr val="bg2">
                        <a:lumMod val="50000"/>
                      </a:schemeClr>
                    </a:solidFill>
                    <a:latin typeface="微软雅黑" panose="020B0503020204020204" pitchFamily="34" charset="-122"/>
                    <a:ea typeface="微软雅黑" panose="020B0503020204020204" pitchFamily="34" charset="-122"/>
                  </a:rPr>
                  <a:t> 如果在没有长指令写回的空 闲周期 来自</a:t>
                </a:r>
                <a:r>
                  <a:rPr lang="en-US" altLang="zh-CN" dirty="0">
                    <a:solidFill>
                      <a:schemeClr val="bg2">
                        <a:lumMod val="50000"/>
                      </a:schemeClr>
                    </a:solidFill>
                    <a:latin typeface="微软雅黑" panose="020B0503020204020204" pitchFamily="34" charset="-122"/>
                    <a:ea typeface="微软雅黑" panose="020B0503020204020204" pitchFamily="34" charset="-122"/>
                  </a:rPr>
                  <a:t>A</a:t>
                </a:r>
                <a:r>
                  <a:rPr lang="zh-CN" altLang="en-US" dirty="0">
                    <a:solidFill>
                      <a:schemeClr val="bg2">
                        <a:lumMod val="50000"/>
                      </a:schemeClr>
                    </a:solidFill>
                    <a:latin typeface="微软雅黑" panose="020B0503020204020204" pitchFamily="34" charset="-122"/>
                    <a:ea typeface="微软雅黑" panose="020B0503020204020204" pitchFamily="34" charset="-122"/>
                  </a:rPr>
                  <a:t>LU的单周期指令则可以随便写回，这也就意味着，在程序流中处于更迟位置的单周期指令可以比更早位置的长指令先写回Regfile （如果没有数据相关性〉，所以说蜂鸟 </a:t>
                </a:r>
                <a:r>
                  <a:rPr lang="en-US" altLang="zh-CN" dirty="0">
                    <a:solidFill>
                      <a:schemeClr val="bg2">
                        <a:lumMod val="50000"/>
                      </a:schemeClr>
                    </a:solidFill>
                    <a:latin typeface="微软雅黑" panose="020B0503020204020204" pitchFamily="34" charset="-122"/>
                    <a:ea typeface="微软雅黑" panose="020B0503020204020204" pitchFamily="34" charset="-122"/>
                  </a:rPr>
                  <a:t>E</a:t>
                </a:r>
                <a:r>
                  <a:rPr lang="zh-CN" altLang="en-US" dirty="0">
                    <a:solidFill>
                      <a:schemeClr val="bg2">
                        <a:lumMod val="50000"/>
                      </a:schemeClr>
                    </a:solidFill>
                    <a:latin typeface="微软雅黑" panose="020B0503020204020204" pitchFamily="34" charset="-122"/>
                    <a:ea typeface="微软雅黑" panose="020B0503020204020204" pitchFamily="34" charset="-122"/>
                  </a:rPr>
                  <a:t>200 理器具备乱序写回的能力。</a:t>
                </a:r>
                <a:endParaRPr lang="zh-CN" altLang="en-US" dirty="0">
                  <a:solidFill>
                    <a:schemeClr val="bg2">
                      <a:lumMod val="50000"/>
                    </a:schemeClr>
                  </a:solidFill>
                  <a:latin typeface="微软雅黑" panose="020B0503020204020204" pitchFamily="34" charset="-122"/>
                  <a:ea typeface="微软雅黑" panose="020B0503020204020204" pitchFamily="34" charset="-122"/>
                </a:endParaRPr>
              </a:p>
            </p:txBody>
          </p:sp>
          <p:sp>
            <p:nvSpPr>
              <p:cNvPr id="61" name="TextBox 76"/>
              <p:cNvSpPr txBox="1"/>
              <p:nvPr/>
            </p:nvSpPr>
            <p:spPr>
              <a:xfrm>
                <a:off x="6737148" y="1644684"/>
                <a:ext cx="437932" cy="584771"/>
              </a:xfrm>
              <a:prstGeom prst="rect">
                <a:avLst/>
              </a:prstGeom>
              <a:noFill/>
            </p:spPr>
            <p:txBody>
              <a:bodyPr wrap="none" lIns="91436" tIns="45718" rIns="91436" bIns="45718" rtlCol="0">
                <a:spAutoFit/>
              </a:bodyPr>
              <a:lstStyle>
                <a:defPPr>
                  <a:defRPr lang="zh-CN"/>
                </a:defPPr>
                <a:lvl1pPr>
                  <a:defRPr sz="1600" b="1">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sz="3200" dirty="0" smtClean="0">
                    <a:solidFill>
                      <a:srgbClr val="005CA7"/>
                    </a:solidFill>
                  </a:rPr>
                  <a:t>1</a:t>
                </a:r>
                <a:endParaRPr lang="zh-CN" altLang="en-US" sz="3200" dirty="0">
                  <a:solidFill>
                    <a:srgbClr val="005CA7"/>
                  </a:solidFill>
                </a:endParaRPr>
              </a:p>
            </p:txBody>
          </p:sp>
        </p:grpSp>
      </p:grpSp>
      <p:grpSp>
        <p:nvGrpSpPr>
          <p:cNvPr id="13" name="组合 12"/>
          <p:cNvGrpSpPr/>
          <p:nvPr/>
        </p:nvGrpSpPr>
        <p:grpSpPr>
          <a:xfrm>
            <a:off x="1119303" y="4257032"/>
            <a:ext cx="4923722" cy="967740"/>
            <a:chOff x="6578398" y="2040247"/>
            <a:chExt cx="4923722" cy="967740"/>
          </a:xfrm>
        </p:grpSpPr>
        <p:sp>
          <p:nvSpPr>
            <p:cNvPr id="18" name="Rectangle: Top Corners Rounded 13"/>
            <p:cNvSpPr/>
            <p:nvPr/>
          </p:nvSpPr>
          <p:spPr>
            <a:xfrm rot="10800000" flipH="1">
              <a:off x="11440592" y="2040247"/>
              <a:ext cx="61528" cy="743490"/>
            </a:xfrm>
            <a:prstGeom prst="round2SameRect">
              <a:avLst>
                <a:gd name="adj1" fmla="val 50000"/>
                <a:gd name="adj2" fmla="val 50000"/>
              </a:avLst>
            </a:prstGeom>
            <a:solidFill>
              <a:srgbClr val="005CA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53" name="矩形 52"/>
            <p:cNvSpPr/>
            <p:nvPr/>
          </p:nvSpPr>
          <p:spPr>
            <a:xfrm>
              <a:off x="6578398" y="2502527"/>
              <a:ext cx="3642360" cy="505460"/>
            </a:xfrm>
            <a:prstGeom prst="rect">
              <a:avLst/>
            </a:prstGeom>
          </p:spPr>
          <p:txBody>
            <a:bodyPr wrap="square" lIns="91436" tIns="45718" rIns="91436" bIns="45718">
              <a:spAutoFit/>
            </a:bodyPr>
            <a:lstStyle/>
            <a:p>
              <a:pPr>
                <a:lnSpc>
                  <a:spcPct val="150000"/>
                </a:lnSpc>
              </a:pPr>
              <a:endParaRPr lang="zh-CN" altLang="en-US" dirty="0">
                <a:solidFill>
                  <a:schemeClr val="bg2">
                    <a:lumMod val="50000"/>
                  </a:schemeClr>
                </a:solidFill>
                <a:latin typeface="微软雅黑" panose="020B0503020204020204" pitchFamily="34" charset="-122"/>
                <a:ea typeface="微软雅黑" panose="020B0503020204020204" pitchFamily="34" charset="-122"/>
              </a:endParaRPr>
            </a:p>
          </p:txBody>
        </p:sp>
        <p:sp>
          <p:nvSpPr>
            <p:cNvPr id="62" name="TextBox 76"/>
            <p:cNvSpPr txBox="1"/>
            <p:nvPr/>
          </p:nvSpPr>
          <p:spPr>
            <a:xfrm>
              <a:off x="10881793" y="2119606"/>
              <a:ext cx="437932" cy="584771"/>
            </a:xfrm>
            <a:prstGeom prst="rect">
              <a:avLst/>
            </a:prstGeom>
            <a:noFill/>
          </p:spPr>
          <p:txBody>
            <a:bodyPr wrap="none" lIns="91436" tIns="45718" rIns="91436" bIns="45718" rtlCol="0">
              <a:spAutoFit/>
            </a:bodyPr>
            <a:lstStyle>
              <a:defPPr>
                <a:defRPr lang="zh-CN"/>
              </a:defPPr>
              <a:lvl1pPr>
                <a:defRPr sz="1600" b="1">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sz="3200" dirty="0" smtClean="0">
                  <a:solidFill>
                    <a:srgbClr val="005CA7"/>
                  </a:solidFill>
                </a:rPr>
                <a:t>2</a:t>
              </a:r>
              <a:endParaRPr lang="zh-CN" altLang="en-US" sz="3200" dirty="0">
                <a:solidFill>
                  <a:srgbClr val="005CA7"/>
                </a:solidFill>
              </a:endParaRPr>
            </a:p>
          </p:txBody>
        </p:sp>
      </p:grpSp>
      <p:cxnSp>
        <p:nvCxnSpPr>
          <p:cNvPr id="44" name="直接连接符 43"/>
          <p:cNvCxnSpPr>
            <a:stCxn id="48" idx="3"/>
          </p:cNvCxnSpPr>
          <p:nvPr/>
        </p:nvCxnSpPr>
        <p:spPr>
          <a:xfrm flipV="1">
            <a:off x="7872095" y="571500"/>
            <a:ext cx="4535805" cy="3175"/>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193573" y="571500"/>
            <a:ext cx="1052155" cy="0"/>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532765" y="300355"/>
            <a:ext cx="7339330" cy="523240"/>
            <a:chOff x="666819" y="300264"/>
            <a:chExt cx="3257149" cy="523220"/>
          </a:xfrm>
        </p:grpSpPr>
        <p:sp>
          <p:nvSpPr>
            <p:cNvPr id="48" name="圆角矩形 47"/>
            <p:cNvSpPr/>
            <p:nvPr/>
          </p:nvSpPr>
          <p:spPr>
            <a:xfrm>
              <a:off x="858582" y="325576"/>
              <a:ext cx="3065386" cy="497908"/>
            </a:xfrm>
            <a:prstGeom prst="roundRect">
              <a:avLst>
                <a:gd name="adj" fmla="val 50000"/>
              </a:avLst>
            </a:prstGeom>
            <a:noFill/>
            <a:ln w="381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1"/>
            <p:cNvSpPr>
              <a:spLocks noChangeArrowheads="1"/>
            </p:cNvSpPr>
            <p:nvPr/>
          </p:nvSpPr>
          <p:spPr bwMode="auto">
            <a:xfrm>
              <a:off x="666819" y="300264"/>
              <a:ext cx="3092049" cy="521950"/>
            </a:xfrm>
            <a:prstGeom prst="rect">
              <a:avLst/>
            </a:prstGeom>
            <a:noFill/>
          </p:spPr>
          <p:txBody>
            <a:bodyPr wrap="square" rtlCol="0">
              <a:spAutoFit/>
            </a:bodyPr>
            <a:lstStyle/>
            <a:p>
              <a:pPr algn="ctr">
                <a:buClrTx/>
                <a:buSzTx/>
                <a:buFontTx/>
              </a:pPr>
              <a:r>
                <a:rPr lang="zh-CN" altLang="en-US"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rPr>
                <a:t>二、</a:t>
              </a:r>
              <a:r>
                <a:rPr lang="zh-CN" altLang="en-US" sz="2800" b="1" dirty="0" smtClean="0">
                  <a:solidFill>
                    <a:srgbClr val="005CA7"/>
                  </a:solidFill>
                  <a:latin typeface="微软雅黑" panose="020B0503020204020204" pitchFamily="34" charset="-122"/>
                  <a:ea typeface="微软雅黑" panose="020B0503020204020204" pitchFamily="34" charset="-122"/>
                  <a:sym typeface="+mn-ea"/>
                </a:rPr>
                <a:t>蜂鸟E200 处理器的写回硬件实现</a:t>
              </a:r>
              <a:endParaRPr lang="zh-CN" altLang="en-US"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10" name="文本框 9"/>
          <p:cNvSpPr txBox="1"/>
          <p:nvPr/>
        </p:nvSpPr>
        <p:spPr>
          <a:xfrm>
            <a:off x="668655" y="2442210"/>
            <a:ext cx="4466590" cy="1814830"/>
          </a:xfrm>
          <a:prstGeom prst="rect">
            <a:avLst/>
          </a:prstGeom>
          <a:noFill/>
        </p:spPr>
        <p:txBody>
          <a:bodyPr wrap="square" rtlCol="0">
            <a:spAutoFit/>
          </a:bodyPr>
          <a:p>
            <a:r>
              <a:rPr lang="zh-CN" altLang="en-US" sz="2800"/>
              <a:t>蜂鸟 </a:t>
            </a:r>
            <a:r>
              <a:rPr lang="en-US" altLang="zh-CN" sz="2800"/>
              <a:t>E</a:t>
            </a:r>
            <a:r>
              <a:rPr lang="zh-CN" altLang="en-US" sz="2800"/>
              <a:t>200 处理器有两级写回 （WB</a:t>
            </a:r>
            <a:r>
              <a:rPr lang="en-US" altLang="zh-CN" sz="2800"/>
              <a:t>-</a:t>
            </a:r>
            <a:r>
              <a:rPr lang="zh-CN" altLang="en-US" sz="2800"/>
              <a:t>Ar</a:t>
            </a:r>
            <a:r>
              <a:rPr lang="en-US" altLang="zh-CN" sz="2800"/>
              <a:t>b</a:t>
            </a:r>
            <a:r>
              <a:rPr lang="zh-CN" altLang="en-US" sz="2800"/>
              <a:t> ）模块，其中之一是最终写回仲裁模块</a:t>
            </a:r>
            <a:endParaRPr lang="zh-CN" altLang="en-US" sz="2800"/>
          </a:p>
          <a:p>
            <a:r>
              <a:rPr lang="zh-CN" altLang="en-US" sz="2800"/>
              <a:t>要点如下。</a:t>
            </a:r>
            <a:endParaRPr lang="zh-CN" altLang="en-US" sz="2800"/>
          </a:p>
        </p:txBody>
      </p:sp>
      <p:sp>
        <p:nvSpPr>
          <p:cNvPr id="2" name="文本框 1"/>
          <p:cNvSpPr txBox="1"/>
          <p:nvPr/>
        </p:nvSpPr>
        <p:spPr>
          <a:xfrm>
            <a:off x="668655" y="1199515"/>
            <a:ext cx="4754245" cy="706755"/>
          </a:xfrm>
          <a:prstGeom prst="rect">
            <a:avLst/>
          </a:prstGeom>
          <a:noFill/>
        </p:spPr>
        <p:txBody>
          <a:bodyPr wrap="square" rtlCol="0">
            <a:spAutoFit/>
          </a:bodyPr>
          <a:p>
            <a:r>
              <a:rPr lang="zh-CN" altLang="en-US" sz="4000"/>
              <a:t>10.2.1 最终写回仲裁</a:t>
            </a:r>
            <a:endParaRPr lang="zh-CN" altLang="en-US" sz="4000"/>
          </a:p>
        </p:txBody>
      </p:sp>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outVertical)">
                                      <p:cBhvr>
                                        <p:cTn id="7" dur="500"/>
                                        <p:tgtEl>
                                          <p:spTgt spid="46"/>
                                        </p:tgtEl>
                                      </p:cBhvr>
                                    </p:animEffect>
                                  </p:childTnLst>
                                </p:cTn>
                              </p:par>
                              <p:par>
                                <p:cTn id="8" presetID="22" presetClass="entr" presetSubtype="8" fill="hold" nodeType="withEffect">
                                  <p:stCondLst>
                                    <p:cond delay="500"/>
                                  </p:stCondLst>
                                  <p:childTnLst>
                                    <p:set>
                                      <p:cBhvr>
                                        <p:cTn id="9" dur="1" fill="hold">
                                          <p:stCondLst>
                                            <p:cond delay="0"/>
                                          </p:stCondLst>
                                        </p:cTn>
                                        <p:tgtEl>
                                          <p:spTgt spid="44"/>
                                        </p:tgtEl>
                                        <p:attrNameLst>
                                          <p:attrName>style.visibility</p:attrName>
                                        </p:attrNameLst>
                                      </p:cBhvr>
                                      <p:to>
                                        <p:strVal val="visible"/>
                                      </p:to>
                                    </p:set>
                                    <p:animEffect transition="in" filter="wipe(left)">
                                      <p:cBhvr>
                                        <p:cTn id="10" dur="500"/>
                                        <p:tgtEl>
                                          <p:spTgt spid="44"/>
                                        </p:tgtEl>
                                      </p:cBhvr>
                                    </p:animEffect>
                                  </p:childTnLst>
                                </p:cTn>
                              </p:par>
                              <p:par>
                                <p:cTn id="11" presetID="22" presetClass="entr" presetSubtype="2" fill="hold" nodeType="withEffect">
                                  <p:stCondLst>
                                    <p:cond delay="500"/>
                                  </p:stCondLst>
                                  <p:childTnLst>
                                    <p:set>
                                      <p:cBhvr>
                                        <p:cTn id="12" dur="1" fill="hold">
                                          <p:stCondLst>
                                            <p:cond delay="0"/>
                                          </p:stCondLst>
                                        </p:cTn>
                                        <p:tgtEl>
                                          <p:spTgt spid="45"/>
                                        </p:tgtEl>
                                        <p:attrNameLst>
                                          <p:attrName>style.visibility</p:attrName>
                                        </p:attrNameLst>
                                      </p:cBhvr>
                                      <p:to>
                                        <p:strVal val="visible"/>
                                      </p:to>
                                    </p:set>
                                    <p:animEffect transition="in" filter="wipe(right)">
                                      <p:cBhvr>
                                        <p:cTn id="13" dur="500"/>
                                        <p:tgtEl>
                                          <p:spTgt spid="45"/>
                                        </p:tgtEl>
                                      </p:cBhvr>
                                    </p:animEffect>
                                  </p:childTnLst>
                                </p:cTn>
                              </p:par>
                            </p:childTnLst>
                          </p:cTn>
                        </p:par>
                        <p:par>
                          <p:cTn id="14" fill="hold">
                            <p:stCondLst>
                              <p:cond delay="500"/>
                            </p:stCondLst>
                            <p:childTnLst>
                              <p:par>
                                <p:cTn id="15" presetID="12" presetClass="entr" presetSubtype="2" fill="hold" nodeType="after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additive="base">
                                        <p:cTn id="17" dur="500"/>
                                        <p:tgtEl>
                                          <p:spTgt spid="21"/>
                                        </p:tgtEl>
                                        <p:attrNameLst>
                                          <p:attrName>ppt_x</p:attrName>
                                        </p:attrNameLst>
                                      </p:cBhvr>
                                      <p:tavLst>
                                        <p:tav tm="0">
                                          <p:val>
                                            <p:strVal val="#ppt_x+#ppt_w*1.125000"/>
                                          </p:val>
                                        </p:tav>
                                        <p:tav tm="100000">
                                          <p:val>
                                            <p:strVal val="#ppt_x"/>
                                          </p:val>
                                        </p:tav>
                                      </p:tavLst>
                                    </p:anim>
                                    <p:animEffect transition="in" filter="wipe(left)">
                                      <p:cBhvr>
                                        <p:cTn id="18" dur="500"/>
                                        <p:tgtEl>
                                          <p:spTgt spid="21"/>
                                        </p:tgtEl>
                                      </p:cBhvr>
                                    </p:animEffect>
                                  </p:childTnLst>
                                </p:cTn>
                              </p:par>
                            </p:childTnLst>
                          </p:cTn>
                        </p:par>
                        <p:par>
                          <p:cTn id="19" fill="hold">
                            <p:stCondLst>
                              <p:cond delay="1000"/>
                            </p:stCondLst>
                            <p:childTnLst>
                              <p:par>
                                <p:cTn id="20" presetID="12" presetClass="entr" presetSubtype="2" fill="hold" nodeType="after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p:tgtEl>
                                          <p:spTgt spid="13"/>
                                        </p:tgtEl>
                                        <p:attrNameLst>
                                          <p:attrName>ppt_x</p:attrName>
                                        </p:attrNameLst>
                                      </p:cBhvr>
                                      <p:tavLst>
                                        <p:tav tm="0">
                                          <p:val>
                                            <p:strVal val="#ppt_x+#ppt_w*1.125000"/>
                                          </p:val>
                                        </p:tav>
                                        <p:tav tm="100000">
                                          <p:val>
                                            <p:strVal val="#ppt_x"/>
                                          </p:val>
                                        </p:tav>
                                      </p:tavLst>
                                    </p:anim>
                                    <p:animEffect transition="in" filter="wipe(left)">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2738553" y="1388779"/>
            <a:ext cx="4904105" cy="1039798"/>
            <a:chOff x="6737148" y="1277654"/>
            <a:chExt cx="4904105" cy="1039798"/>
          </a:xfrm>
        </p:grpSpPr>
        <p:sp>
          <p:nvSpPr>
            <p:cNvPr id="16" name="Rectangle: Top Corners Rounded 11"/>
            <p:cNvSpPr/>
            <p:nvPr/>
          </p:nvSpPr>
          <p:spPr>
            <a:xfrm rot="10800000" flipH="1">
              <a:off x="7357542" y="1573962"/>
              <a:ext cx="61528" cy="743490"/>
            </a:xfrm>
            <a:prstGeom prst="round2SameRect">
              <a:avLst>
                <a:gd name="adj1" fmla="val 50000"/>
                <a:gd name="adj2" fmla="val 50000"/>
              </a:avLst>
            </a:prstGeom>
            <a:solidFill>
              <a:srgbClr val="005CA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grpSp>
          <p:nvGrpSpPr>
            <p:cNvPr id="11" name="组合 10"/>
            <p:cNvGrpSpPr/>
            <p:nvPr/>
          </p:nvGrpSpPr>
          <p:grpSpPr>
            <a:xfrm>
              <a:off x="6737148" y="1277654"/>
              <a:ext cx="4904105" cy="949325"/>
              <a:chOff x="6737148" y="1277654"/>
              <a:chExt cx="4904105" cy="949325"/>
            </a:xfrm>
          </p:grpSpPr>
          <p:sp>
            <p:nvSpPr>
              <p:cNvPr id="49" name="矩形 48"/>
              <p:cNvSpPr/>
              <p:nvPr/>
            </p:nvSpPr>
            <p:spPr>
              <a:xfrm>
                <a:off x="7692823" y="1277654"/>
                <a:ext cx="3948430" cy="920750"/>
              </a:xfrm>
              <a:prstGeom prst="rect">
                <a:avLst/>
              </a:prstGeom>
            </p:spPr>
            <p:txBody>
              <a:bodyPr wrap="square" lIns="91436" tIns="45718" rIns="91436" bIns="45718">
                <a:spAutoFit/>
              </a:bodyPr>
              <a:lstStyle/>
              <a:p>
                <a:pPr>
                  <a:lnSpc>
                    <a:spcPct val="150000"/>
                  </a:lnSpc>
                </a:pPr>
                <a:r>
                  <a:rPr lang="zh-CN" altLang="en-US" dirty="0">
                    <a:solidFill>
                      <a:schemeClr val="bg2">
                        <a:lumMod val="50000"/>
                      </a:schemeClr>
                    </a:solidFill>
                    <a:latin typeface="微软雅黑" panose="020B0503020204020204" pitchFamily="34" charset="-122"/>
                    <a:ea typeface="微软雅黑" panose="020B0503020204020204" pitchFamily="34" charset="-122"/>
                  </a:rPr>
                  <a:t>“最终写回仲裁”模块相关源代码在 e200</a:t>
                </a:r>
                <a:r>
                  <a:rPr lang="en-US" altLang="zh-CN" dirty="0">
                    <a:solidFill>
                      <a:schemeClr val="bg2">
                        <a:lumMod val="50000"/>
                      </a:schemeClr>
                    </a:solidFill>
                    <a:latin typeface="微软雅黑" panose="020B0503020204020204" pitchFamily="34" charset="-122"/>
                    <a:ea typeface="微软雅黑" panose="020B0503020204020204" pitchFamily="34" charset="-122"/>
                  </a:rPr>
                  <a:t>_o</a:t>
                </a:r>
                <a:r>
                  <a:rPr lang="zh-CN" altLang="en-US" dirty="0">
                    <a:solidFill>
                      <a:schemeClr val="bg2">
                        <a:lumMod val="50000"/>
                      </a:schemeClr>
                    </a:solidFill>
                    <a:latin typeface="微软雅黑" panose="020B0503020204020204" pitchFamily="34" charset="-122"/>
                    <a:ea typeface="微软雅黑" panose="020B0503020204020204" pitchFamily="34" charset="-122"/>
                  </a:rPr>
                  <a:t>pen</a:t>
                </a:r>
                <a:r>
                  <a:rPr lang="en-US" altLang="zh-CN" dirty="0">
                    <a:solidFill>
                      <a:schemeClr val="bg2">
                        <a:lumMod val="50000"/>
                      </a:schemeClr>
                    </a:solidFill>
                    <a:latin typeface="微软雅黑" panose="020B0503020204020204" pitchFamily="34" charset="-122"/>
                    <a:ea typeface="微软雅黑" panose="020B0503020204020204" pitchFamily="34" charset="-122"/>
                  </a:rPr>
                  <a:t>s</a:t>
                </a:r>
                <a:r>
                  <a:rPr lang="zh-CN" altLang="en-US" dirty="0">
                    <a:solidFill>
                      <a:schemeClr val="bg2">
                        <a:lumMod val="50000"/>
                      </a:schemeClr>
                    </a:solidFill>
                    <a:latin typeface="微软雅黑" panose="020B0503020204020204" pitchFamily="34" charset="-122"/>
                    <a:ea typeface="微软雅黑" panose="020B0503020204020204" pitchFamily="34" charset="-122"/>
                  </a:rPr>
                  <a:t>ourc</a:t>
                </a:r>
                <a:r>
                  <a:rPr lang="en-US" altLang="zh-CN" dirty="0">
                    <a:solidFill>
                      <a:schemeClr val="bg2">
                        <a:lumMod val="50000"/>
                      </a:schemeClr>
                    </a:solidFill>
                    <a:latin typeface="微软雅黑" panose="020B0503020204020204" pitchFamily="34" charset="-122"/>
                    <a:ea typeface="微软雅黑" panose="020B0503020204020204" pitchFamily="34" charset="-122"/>
                  </a:rPr>
                  <a:t>e</a:t>
                </a:r>
                <a:r>
                  <a:rPr lang="zh-CN" altLang="en-US" dirty="0">
                    <a:solidFill>
                      <a:schemeClr val="bg2">
                        <a:lumMod val="50000"/>
                      </a:schemeClr>
                    </a:solidFill>
                    <a:latin typeface="微软雅黑" panose="020B0503020204020204" pitchFamily="34" charset="-122"/>
                    <a:ea typeface="微软雅黑" panose="020B0503020204020204" pitchFamily="34" charset="-122"/>
                  </a:rPr>
                  <a:t> 目录结构如下。</a:t>
                </a:r>
                <a:endParaRPr lang="zh-CN" altLang="en-US" dirty="0">
                  <a:solidFill>
                    <a:schemeClr val="bg2">
                      <a:lumMod val="50000"/>
                    </a:schemeClr>
                  </a:solidFill>
                  <a:latin typeface="微软雅黑" panose="020B0503020204020204" pitchFamily="34" charset="-122"/>
                  <a:ea typeface="微软雅黑" panose="020B0503020204020204" pitchFamily="34" charset="-122"/>
                </a:endParaRPr>
              </a:p>
            </p:txBody>
          </p:sp>
          <p:sp>
            <p:nvSpPr>
              <p:cNvPr id="61" name="TextBox 76"/>
              <p:cNvSpPr txBox="1"/>
              <p:nvPr/>
            </p:nvSpPr>
            <p:spPr>
              <a:xfrm>
                <a:off x="6737148" y="1644684"/>
                <a:ext cx="432435" cy="582295"/>
              </a:xfrm>
              <a:prstGeom prst="rect">
                <a:avLst/>
              </a:prstGeom>
              <a:noFill/>
            </p:spPr>
            <p:txBody>
              <a:bodyPr wrap="none" lIns="91436" tIns="45718" rIns="91436" bIns="45718" rtlCol="0">
                <a:spAutoFit/>
              </a:bodyPr>
              <a:lstStyle>
                <a:defPPr>
                  <a:defRPr lang="zh-CN"/>
                </a:defPPr>
                <a:lvl1pPr>
                  <a:defRPr sz="1600" b="1">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sz="3200" dirty="0">
                    <a:solidFill>
                      <a:srgbClr val="005CA7"/>
                    </a:solidFill>
                  </a:rPr>
                  <a:t>3</a:t>
                </a:r>
                <a:endParaRPr lang="en-US" altLang="zh-CN" sz="3200" dirty="0">
                  <a:solidFill>
                    <a:srgbClr val="005CA7"/>
                  </a:solidFill>
                </a:endParaRPr>
              </a:p>
            </p:txBody>
          </p:sp>
        </p:grpSp>
      </p:grpSp>
      <p:cxnSp>
        <p:nvCxnSpPr>
          <p:cNvPr id="44" name="直接连接符 43"/>
          <p:cNvCxnSpPr>
            <a:stCxn id="48" idx="3"/>
          </p:cNvCxnSpPr>
          <p:nvPr/>
        </p:nvCxnSpPr>
        <p:spPr>
          <a:xfrm flipV="1">
            <a:off x="7872095" y="571500"/>
            <a:ext cx="4535805" cy="3175"/>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193573" y="571500"/>
            <a:ext cx="1052155" cy="0"/>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532765" y="300355"/>
            <a:ext cx="7339330" cy="523240"/>
            <a:chOff x="666819" y="300264"/>
            <a:chExt cx="3257149" cy="523220"/>
          </a:xfrm>
        </p:grpSpPr>
        <p:sp>
          <p:nvSpPr>
            <p:cNvPr id="48" name="圆角矩形 47"/>
            <p:cNvSpPr/>
            <p:nvPr/>
          </p:nvSpPr>
          <p:spPr>
            <a:xfrm>
              <a:off x="858582" y="325576"/>
              <a:ext cx="3065386" cy="497908"/>
            </a:xfrm>
            <a:prstGeom prst="roundRect">
              <a:avLst>
                <a:gd name="adj" fmla="val 50000"/>
              </a:avLst>
            </a:prstGeom>
            <a:noFill/>
            <a:ln w="381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1"/>
            <p:cNvSpPr>
              <a:spLocks noChangeArrowheads="1"/>
            </p:cNvSpPr>
            <p:nvPr/>
          </p:nvSpPr>
          <p:spPr bwMode="auto">
            <a:xfrm>
              <a:off x="666819" y="300264"/>
              <a:ext cx="3092049" cy="521950"/>
            </a:xfrm>
            <a:prstGeom prst="rect">
              <a:avLst/>
            </a:prstGeom>
            <a:noFill/>
          </p:spPr>
          <p:txBody>
            <a:bodyPr wrap="square" rtlCol="0">
              <a:spAutoFit/>
            </a:bodyPr>
            <a:lstStyle/>
            <a:p>
              <a:pPr algn="ctr">
                <a:buClrTx/>
                <a:buSzTx/>
                <a:buFontTx/>
              </a:pPr>
              <a:r>
                <a:rPr lang="zh-CN" altLang="en-US"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rPr>
                <a:t>二、</a:t>
              </a:r>
              <a:r>
                <a:rPr lang="zh-CN" altLang="en-US" sz="2800" b="1" dirty="0" smtClean="0">
                  <a:solidFill>
                    <a:srgbClr val="005CA7"/>
                  </a:solidFill>
                  <a:latin typeface="微软雅黑" panose="020B0503020204020204" pitchFamily="34" charset="-122"/>
                  <a:ea typeface="微软雅黑" panose="020B0503020204020204" pitchFamily="34" charset="-122"/>
                  <a:sym typeface="+mn-ea"/>
                </a:rPr>
                <a:t>蜂鸟E200 处理器的写回硬件实现</a:t>
              </a:r>
              <a:endParaRPr lang="zh-CN" altLang="en-US"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a:picLocks noChangeAspect="1"/>
          </p:cNvPicPr>
          <p:nvPr/>
        </p:nvPicPr>
        <p:blipFill>
          <a:blip r:embed="rId1"/>
          <a:stretch>
            <a:fillRect/>
          </a:stretch>
        </p:blipFill>
        <p:spPr>
          <a:xfrm>
            <a:off x="1892300" y="2871470"/>
            <a:ext cx="7553325" cy="1552575"/>
          </a:xfrm>
          <a:prstGeom prst="rect">
            <a:avLst/>
          </a:prstGeom>
        </p:spPr>
      </p:pic>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outVertical)">
                                      <p:cBhvr>
                                        <p:cTn id="7" dur="500"/>
                                        <p:tgtEl>
                                          <p:spTgt spid="46"/>
                                        </p:tgtEl>
                                      </p:cBhvr>
                                    </p:animEffect>
                                  </p:childTnLst>
                                </p:cTn>
                              </p:par>
                              <p:par>
                                <p:cTn id="8" presetID="22" presetClass="entr" presetSubtype="8" fill="hold" nodeType="withEffect">
                                  <p:stCondLst>
                                    <p:cond delay="500"/>
                                  </p:stCondLst>
                                  <p:childTnLst>
                                    <p:set>
                                      <p:cBhvr>
                                        <p:cTn id="9" dur="1" fill="hold">
                                          <p:stCondLst>
                                            <p:cond delay="0"/>
                                          </p:stCondLst>
                                        </p:cTn>
                                        <p:tgtEl>
                                          <p:spTgt spid="44"/>
                                        </p:tgtEl>
                                        <p:attrNameLst>
                                          <p:attrName>style.visibility</p:attrName>
                                        </p:attrNameLst>
                                      </p:cBhvr>
                                      <p:to>
                                        <p:strVal val="visible"/>
                                      </p:to>
                                    </p:set>
                                    <p:animEffect transition="in" filter="wipe(left)">
                                      <p:cBhvr>
                                        <p:cTn id="10" dur="500"/>
                                        <p:tgtEl>
                                          <p:spTgt spid="44"/>
                                        </p:tgtEl>
                                      </p:cBhvr>
                                    </p:animEffect>
                                  </p:childTnLst>
                                </p:cTn>
                              </p:par>
                              <p:par>
                                <p:cTn id="11" presetID="22" presetClass="entr" presetSubtype="2" fill="hold" nodeType="withEffect">
                                  <p:stCondLst>
                                    <p:cond delay="500"/>
                                  </p:stCondLst>
                                  <p:childTnLst>
                                    <p:set>
                                      <p:cBhvr>
                                        <p:cTn id="12" dur="1" fill="hold">
                                          <p:stCondLst>
                                            <p:cond delay="0"/>
                                          </p:stCondLst>
                                        </p:cTn>
                                        <p:tgtEl>
                                          <p:spTgt spid="45"/>
                                        </p:tgtEl>
                                        <p:attrNameLst>
                                          <p:attrName>style.visibility</p:attrName>
                                        </p:attrNameLst>
                                      </p:cBhvr>
                                      <p:to>
                                        <p:strVal val="visible"/>
                                      </p:to>
                                    </p:set>
                                    <p:animEffect transition="in" filter="wipe(right)">
                                      <p:cBhvr>
                                        <p:cTn id="13" dur="500"/>
                                        <p:tgtEl>
                                          <p:spTgt spid="45"/>
                                        </p:tgtEl>
                                      </p:cBhvr>
                                    </p:animEffect>
                                  </p:childTnLst>
                                </p:cTn>
                              </p:par>
                            </p:childTnLst>
                          </p:cTn>
                        </p:par>
                        <p:par>
                          <p:cTn id="14" fill="hold">
                            <p:stCondLst>
                              <p:cond delay="500"/>
                            </p:stCondLst>
                            <p:childTnLst>
                              <p:par>
                                <p:cTn id="15" presetID="12" presetClass="entr" presetSubtype="2" fill="hold" nodeType="after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additive="base">
                                        <p:cTn id="17" dur="500"/>
                                        <p:tgtEl>
                                          <p:spTgt spid="21"/>
                                        </p:tgtEl>
                                        <p:attrNameLst>
                                          <p:attrName>ppt_x</p:attrName>
                                        </p:attrNameLst>
                                      </p:cBhvr>
                                      <p:tavLst>
                                        <p:tav tm="0">
                                          <p:val>
                                            <p:strVal val="#ppt_x+#ppt_w*1.125000"/>
                                          </p:val>
                                        </p:tav>
                                        <p:tav tm="100000">
                                          <p:val>
                                            <p:strVal val="#ppt_x"/>
                                          </p:val>
                                        </p:tav>
                                      </p:tavLst>
                                    </p:anim>
                                    <p:animEffect transition="in" filter="wipe(left)">
                                      <p:cBhvr>
                                        <p:cTn id="1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378893" y="1257334"/>
            <a:ext cx="4598035" cy="1039798"/>
            <a:chOff x="6737148" y="1277654"/>
            <a:chExt cx="4598035" cy="1039798"/>
          </a:xfrm>
        </p:grpSpPr>
        <p:sp>
          <p:nvSpPr>
            <p:cNvPr id="16" name="Rectangle: Top Corners Rounded 11"/>
            <p:cNvSpPr/>
            <p:nvPr/>
          </p:nvSpPr>
          <p:spPr>
            <a:xfrm rot="10800000" flipH="1">
              <a:off x="7357542" y="1573962"/>
              <a:ext cx="61528" cy="743490"/>
            </a:xfrm>
            <a:prstGeom prst="round2SameRect">
              <a:avLst>
                <a:gd name="adj1" fmla="val 50000"/>
                <a:gd name="adj2" fmla="val 50000"/>
              </a:avLst>
            </a:prstGeom>
            <a:solidFill>
              <a:srgbClr val="005CA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grpSp>
          <p:nvGrpSpPr>
            <p:cNvPr id="11" name="组合 10"/>
            <p:cNvGrpSpPr/>
            <p:nvPr/>
          </p:nvGrpSpPr>
          <p:grpSpPr>
            <a:xfrm>
              <a:off x="6737148" y="1277654"/>
              <a:ext cx="4598035" cy="949325"/>
              <a:chOff x="6737148" y="1277654"/>
              <a:chExt cx="4598035" cy="949325"/>
            </a:xfrm>
          </p:grpSpPr>
          <p:sp>
            <p:nvSpPr>
              <p:cNvPr id="49" name="矩形 48"/>
              <p:cNvSpPr/>
              <p:nvPr/>
            </p:nvSpPr>
            <p:spPr>
              <a:xfrm>
                <a:off x="7692823" y="1277654"/>
                <a:ext cx="3642360" cy="920750"/>
              </a:xfrm>
              <a:prstGeom prst="rect">
                <a:avLst/>
              </a:prstGeom>
            </p:spPr>
            <p:txBody>
              <a:bodyPr wrap="square" lIns="91436" tIns="45718" rIns="91436" bIns="45718">
                <a:spAutoFit/>
              </a:bodyPr>
              <a:lstStyle/>
              <a:p>
                <a:pPr>
                  <a:lnSpc>
                    <a:spcPct val="150000"/>
                  </a:lnSpc>
                </a:pPr>
                <a:r>
                  <a:rPr lang="en-US" altLang="zh-CN" dirty="0">
                    <a:solidFill>
                      <a:schemeClr val="bg2">
                        <a:lumMod val="50000"/>
                      </a:schemeClr>
                    </a:solidFill>
                    <a:latin typeface="微软雅黑" panose="020B0503020204020204" pitchFamily="34" charset="-122"/>
                    <a:ea typeface="微软雅黑" panose="020B0503020204020204" pitchFamily="34" charset="-122"/>
                  </a:rPr>
                  <a:t>”</a:t>
                </a:r>
                <a:r>
                  <a:rPr lang="zh-CN" altLang="en-US" dirty="0">
                    <a:solidFill>
                      <a:schemeClr val="bg2">
                        <a:lumMod val="50000"/>
                      </a:schemeClr>
                    </a:solidFill>
                    <a:latin typeface="微软雅黑" panose="020B0503020204020204" pitchFamily="34" charset="-122"/>
                    <a:ea typeface="微软雅黑" panose="020B0503020204020204" pitchFamily="34" charset="-122"/>
                  </a:rPr>
                  <a:t>最终写回仲裁</a:t>
                </a:r>
                <a:r>
                  <a:rPr lang="en-US" altLang="zh-CN" dirty="0">
                    <a:solidFill>
                      <a:schemeClr val="bg2">
                        <a:lumMod val="50000"/>
                      </a:schemeClr>
                    </a:solidFill>
                    <a:latin typeface="微软雅黑" panose="020B0503020204020204" pitchFamily="34" charset="-122"/>
                    <a:ea typeface="微软雅黑" panose="020B0503020204020204" pitchFamily="34" charset="-122"/>
                  </a:rPr>
                  <a:t>“</a:t>
                </a:r>
                <a:r>
                  <a:rPr lang="zh-CN" altLang="en-US" dirty="0">
                    <a:solidFill>
                      <a:schemeClr val="bg2">
                        <a:lumMod val="50000"/>
                      </a:schemeClr>
                    </a:solidFill>
                    <a:latin typeface="微软雅黑" panose="020B0503020204020204" pitchFamily="34" charset="-122"/>
                    <a:ea typeface="微软雅黑" panose="020B0503020204020204" pitchFamily="34" charset="-122"/>
                  </a:rPr>
                  <a:t>模块的源代码片段如下所示。</a:t>
                </a:r>
                <a:endParaRPr lang="zh-CN" altLang="en-US" dirty="0">
                  <a:solidFill>
                    <a:schemeClr val="bg2">
                      <a:lumMod val="50000"/>
                    </a:schemeClr>
                  </a:solidFill>
                  <a:latin typeface="微软雅黑" panose="020B0503020204020204" pitchFamily="34" charset="-122"/>
                  <a:ea typeface="微软雅黑" panose="020B0503020204020204" pitchFamily="34" charset="-122"/>
                </a:endParaRPr>
              </a:p>
            </p:txBody>
          </p:sp>
          <p:sp>
            <p:nvSpPr>
              <p:cNvPr id="61" name="TextBox 76"/>
              <p:cNvSpPr txBox="1"/>
              <p:nvPr/>
            </p:nvSpPr>
            <p:spPr>
              <a:xfrm>
                <a:off x="6737148" y="1644684"/>
                <a:ext cx="432435" cy="582295"/>
              </a:xfrm>
              <a:prstGeom prst="rect">
                <a:avLst/>
              </a:prstGeom>
              <a:noFill/>
            </p:spPr>
            <p:txBody>
              <a:bodyPr wrap="none" lIns="91436" tIns="45718" rIns="91436" bIns="45718" rtlCol="0">
                <a:spAutoFit/>
              </a:bodyPr>
              <a:lstStyle>
                <a:defPPr>
                  <a:defRPr lang="zh-CN"/>
                </a:defPPr>
                <a:lvl1pPr>
                  <a:defRPr sz="1600" b="1">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sz="3200" dirty="0">
                    <a:solidFill>
                      <a:srgbClr val="005CA7"/>
                    </a:solidFill>
                  </a:rPr>
                  <a:t>4</a:t>
                </a:r>
                <a:endParaRPr lang="en-US" altLang="zh-CN" sz="3200" dirty="0">
                  <a:solidFill>
                    <a:srgbClr val="005CA7"/>
                  </a:solidFill>
                </a:endParaRPr>
              </a:p>
            </p:txBody>
          </p:sp>
        </p:grpSp>
      </p:grpSp>
      <p:cxnSp>
        <p:nvCxnSpPr>
          <p:cNvPr id="44" name="直接连接符 43"/>
          <p:cNvCxnSpPr>
            <a:stCxn id="48" idx="3"/>
          </p:cNvCxnSpPr>
          <p:nvPr/>
        </p:nvCxnSpPr>
        <p:spPr>
          <a:xfrm flipV="1">
            <a:off x="7872095" y="571500"/>
            <a:ext cx="4535805" cy="3175"/>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193573" y="571500"/>
            <a:ext cx="1052155" cy="0"/>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532765" y="300355"/>
            <a:ext cx="7339330" cy="523240"/>
            <a:chOff x="666819" y="300264"/>
            <a:chExt cx="3257149" cy="523220"/>
          </a:xfrm>
        </p:grpSpPr>
        <p:sp>
          <p:nvSpPr>
            <p:cNvPr id="48" name="圆角矩形 47"/>
            <p:cNvSpPr/>
            <p:nvPr/>
          </p:nvSpPr>
          <p:spPr>
            <a:xfrm>
              <a:off x="858582" y="325576"/>
              <a:ext cx="3065386" cy="497908"/>
            </a:xfrm>
            <a:prstGeom prst="roundRect">
              <a:avLst>
                <a:gd name="adj" fmla="val 50000"/>
              </a:avLst>
            </a:prstGeom>
            <a:noFill/>
            <a:ln w="381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1"/>
            <p:cNvSpPr>
              <a:spLocks noChangeArrowheads="1"/>
            </p:cNvSpPr>
            <p:nvPr/>
          </p:nvSpPr>
          <p:spPr bwMode="auto">
            <a:xfrm>
              <a:off x="666819" y="300264"/>
              <a:ext cx="3092049" cy="521950"/>
            </a:xfrm>
            <a:prstGeom prst="rect">
              <a:avLst/>
            </a:prstGeom>
            <a:noFill/>
          </p:spPr>
          <p:txBody>
            <a:bodyPr wrap="square" rtlCol="0">
              <a:spAutoFit/>
            </a:bodyPr>
            <a:lstStyle/>
            <a:p>
              <a:pPr algn="ctr">
                <a:buClrTx/>
                <a:buSzTx/>
                <a:buFontTx/>
              </a:pPr>
              <a:r>
                <a:rPr lang="zh-CN" altLang="en-US"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rPr>
                <a:t>二、</a:t>
              </a:r>
              <a:r>
                <a:rPr lang="zh-CN" altLang="en-US" sz="2800" b="1" dirty="0" smtClean="0">
                  <a:solidFill>
                    <a:srgbClr val="005CA7"/>
                  </a:solidFill>
                  <a:latin typeface="微软雅黑" panose="020B0503020204020204" pitchFamily="34" charset="-122"/>
                  <a:ea typeface="微软雅黑" panose="020B0503020204020204" pitchFamily="34" charset="-122"/>
                  <a:sym typeface="+mn-ea"/>
                </a:rPr>
                <a:t>蜂鸟E200 处理器的写回硬件实现</a:t>
              </a:r>
              <a:endParaRPr lang="zh-CN" altLang="en-US"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a:picLocks noChangeAspect="1"/>
          </p:cNvPicPr>
          <p:nvPr/>
        </p:nvPicPr>
        <p:blipFill>
          <a:blip r:embed="rId1"/>
          <a:stretch>
            <a:fillRect/>
          </a:stretch>
        </p:blipFill>
        <p:spPr>
          <a:xfrm>
            <a:off x="6012815" y="1257300"/>
            <a:ext cx="6179185" cy="5140960"/>
          </a:xfrm>
          <a:prstGeom prst="rect">
            <a:avLst/>
          </a:prstGeom>
        </p:spPr>
      </p:pic>
      <p:pic>
        <p:nvPicPr>
          <p:cNvPr id="3" name="图片 2"/>
          <p:cNvPicPr>
            <a:picLocks noChangeAspect="1"/>
          </p:cNvPicPr>
          <p:nvPr/>
        </p:nvPicPr>
        <p:blipFill>
          <a:blip r:embed="rId2"/>
          <a:stretch>
            <a:fillRect/>
          </a:stretch>
        </p:blipFill>
        <p:spPr>
          <a:xfrm>
            <a:off x="191135" y="2693035"/>
            <a:ext cx="5662930" cy="3599815"/>
          </a:xfrm>
          <a:prstGeom prst="rect">
            <a:avLst/>
          </a:prstGeom>
        </p:spPr>
      </p:pic>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outVertical)">
                                      <p:cBhvr>
                                        <p:cTn id="7" dur="500"/>
                                        <p:tgtEl>
                                          <p:spTgt spid="46"/>
                                        </p:tgtEl>
                                      </p:cBhvr>
                                    </p:animEffect>
                                  </p:childTnLst>
                                </p:cTn>
                              </p:par>
                              <p:par>
                                <p:cTn id="8" presetID="22" presetClass="entr" presetSubtype="8" fill="hold" nodeType="withEffect">
                                  <p:stCondLst>
                                    <p:cond delay="500"/>
                                  </p:stCondLst>
                                  <p:childTnLst>
                                    <p:set>
                                      <p:cBhvr>
                                        <p:cTn id="9" dur="1" fill="hold">
                                          <p:stCondLst>
                                            <p:cond delay="0"/>
                                          </p:stCondLst>
                                        </p:cTn>
                                        <p:tgtEl>
                                          <p:spTgt spid="44"/>
                                        </p:tgtEl>
                                        <p:attrNameLst>
                                          <p:attrName>style.visibility</p:attrName>
                                        </p:attrNameLst>
                                      </p:cBhvr>
                                      <p:to>
                                        <p:strVal val="visible"/>
                                      </p:to>
                                    </p:set>
                                    <p:animEffect transition="in" filter="wipe(left)">
                                      <p:cBhvr>
                                        <p:cTn id="10" dur="500"/>
                                        <p:tgtEl>
                                          <p:spTgt spid="44"/>
                                        </p:tgtEl>
                                      </p:cBhvr>
                                    </p:animEffect>
                                  </p:childTnLst>
                                </p:cTn>
                              </p:par>
                              <p:par>
                                <p:cTn id="11" presetID="22" presetClass="entr" presetSubtype="2" fill="hold" nodeType="withEffect">
                                  <p:stCondLst>
                                    <p:cond delay="500"/>
                                  </p:stCondLst>
                                  <p:childTnLst>
                                    <p:set>
                                      <p:cBhvr>
                                        <p:cTn id="12" dur="1" fill="hold">
                                          <p:stCondLst>
                                            <p:cond delay="0"/>
                                          </p:stCondLst>
                                        </p:cTn>
                                        <p:tgtEl>
                                          <p:spTgt spid="45"/>
                                        </p:tgtEl>
                                        <p:attrNameLst>
                                          <p:attrName>style.visibility</p:attrName>
                                        </p:attrNameLst>
                                      </p:cBhvr>
                                      <p:to>
                                        <p:strVal val="visible"/>
                                      </p:to>
                                    </p:set>
                                    <p:animEffect transition="in" filter="wipe(right)">
                                      <p:cBhvr>
                                        <p:cTn id="13" dur="500"/>
                                        <p:tgtEl>
                                          <p:spTgt spid="45"/>
                                        </p:tgtEl>
                                      </p:cBhvr>
                                    </p:animEffect>
                                  </p:childTnLst>
                                </p:cTn>
                              </p:par>
                            </p:childTnLst>
                          </p:cTn>
                        </p:par>
                        <p:par>
                          <p:cTn id="14" fill="hold">
                            <p:stCondLst>
                              <p:cond delay="500"/>
                            </p:stCondLst>
                            <p:childTnLst>
                              <p:par>
                                <p:cTn id="15" presetID="12" presetClass="entr" presetSubtype="2" fill="hold" nodeType="after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additive="base">
                                        <p:cTn id="17" dur="500"/>
                                        <p:tgtEl>
                                          <p:spTgt spid="21"/>
                                        </p:tgtEl>
                                        <p:attrNameLst>
                                          <p:attrName>ppt_x</p:attrName>
                                        </p:attrNameLst>
                                      </p:cBhvr>
                                      <p:tavLst>
                                        <p:tav tm="0">
                                          <p:val>
                                            <p:strVal val="#ppt_x+#ppt_w*1.125000"/>
                                          </p:val>
                                        </p:tav>
                                        <p:tav tm="100000">
                                          <p:val>
                                            <p:strVal val="#ppt_x"/>
                                          </p:val>
                                        </p:tav>
                                      </p:tavLst>
                                    </p:anim>
                                    <p:animEffect transition="in" filter="wipe(left)">
                                      <p:cBhvr>
                                        <p:cTn id="1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5106670" y="1673860"/>
            <a:ext cx="6812280" cy="2583180"/>
            <a:chOff x="6737148" y="1277654"/>
            <a:chExt cx="6744970" cy="2583180"/>
          </a:xfrm>
        </p:grpSpPr>
        <p:sp>
          <p:nvSpPr>
            <p:cNvPr id="16" name="Rectangle: Top Corners Rounded 11"/>
            <p:cNvSpPr/>
            <p:nvPr/>
          </p:nvSpPr>
          <p:spPr>
            <a:xfrm rot="10800000" flipH="1">
              <a:off x="7357542" y="1573962"/>
              <a:ext cx="61528" cy="743490"/>
            </a:xfrm>
            <a:prstGeom prst="round2SameRect">
              <a:avLst>
                <a:gd name="adj1" fmla="val 50000"/>
                <a:gd name="adj2" fmla="val 50000"/>
              </a:avLst>
            </a:prstGeom>
            <a:solidFill>
              <a:srgbClr val="005CA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grpSp>
          <p:nvGrpSpPr>
            <p:cNvPr id="11" name="组合 10"/>
            <p:cNvGrpSpPr/>
            <p:nvPr/>
          </p:nvGrpSpPr>
          <p:grpSpPr>
            <a:xfrm>
              <a:off x="6737148" y="1277654"/>
              <a:ext cx="6744970" cy="2583180"/>
              <a:chOff x="6737148" y="1277654"/>
              <a:chExt cx="6744970" cy="2583180"/>
            </a:xfrm>
          </p:grpSpPr>
          <p:sp>
            <p:nvSpPr>
              <p:cNvPr id="49" name="矩形 48"/>
              <p:cNvSpPr/>
              <p:nvPr/>
            </p:nvSpPr>
            <p:spPr>
              <a:xfrm>
                <a:off x="7692823" y="1277654"/>
                <a:ext cx="5789295" cy="2583180"/>
              </a:xfrm>
              <a:prstGeom prst="rect">
                <a:avLst/>
              </a:prstGeom>
            </p:spPr>
            <p:txBody>
              <a:bodyPr wrap="square" lIns="91436" tIns="45718" rIns="91436" bIns="45718">
                <a:spAutoFit/>
              </a:bodyPr>
              <a:lstStyle/>
              <a:p>
                <a:pPr>
                  <a:lnSpc>
                    <a:spcPct val="150000"/>
                  </a:lnSpc>
                </a:pPr>
                <a:r>
                  <a:rPr lang="zh-CN" altLang="en-US" dirty="0">
                    <a:solidFill>
                      <a:schemeClr val="bg2">
                        <a:lumMod val="50000"/>
                      </a:schemeClr>
                    </a:solidFill>
                    <a:latin typeface="微软雅黑" panose="020B0503020204020204" pitchFamily="34" charset="-122"/>
                    <a:ea typeface="微软雅黑" panose="020B0503020204020204" pitchFamily="34" charset="-122"/>
                  </a:rPr>
                  <a:t>如图 10-1 所示，“长指令写回仲裁”主要用于仲裁不同的长指令之间的写回，譬如来自于 LSU 、乘除法器 FPU和EAI 协处理器等的写回。由于这些不 同的长指令执行的周期数各不相同，甚至有的执行周期数是动态的，因此无法轻易判断这些指令的先后关系，所以需要记录这些指令的先后关系</a:t>
                </a:r>
                <a:endParaRPr lang="zh-CN" altLang="en-US" dirty="0">
                  <a:solidFill>
                    <a:schemeClr val="bg2">
                      <a:lumMod val="50000"/>
                    </a:schemeClr>
                  </a:solidFill>
                  <a:latin typeface="微软雅黑" panose="020B0503020204020204" pitchFamily="34" charset="-122"/>
                  <a:ea typeface="微软雅黑" panose="020B0503020204020204" pitchFamily="34" charset="-122"/>
                </a:endParaRPr>
              </a:p>
            </p:txBody>
          </p:sp>
          <p:sp>
            <p:nvSpPr>
              <p:cNvPr id="61" name="TextBox 76"/>
              <p:cNvSpPr txBox="1"/>
              <p:nvPr/>
            </p:nvSpPr>
            <p:spPr>
              <a:xfrm>
                <a:off x="6737148" y="1644684"/>
                <a:ext cx="437932" cy="582295"/>
              </a:xfrm>
              <a:prstGeom prst="rect">
                <a:avLst/>
              </a:prstGeom>
              <a:noFill/>
            </p:spPr>
            <p:txBody>
              <a:bodyPr wrap="square" lIns="91436" tIns="45718" rIns="91436" bIns="45718" rtlCol="0">
                <a:spAutoFit/>
              </a:bodyPr>
              <a:lstStyle>
                <a:defPPr>
                  <a:defRPr lang="zh-CN"/>
                </a:defPPr>
                <a:lvl1pPr>
                  <a:defRPr sz="1600" b="1">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sz="3200" dirty="0" smtClean="0">
                    <a:solidFill>
                      <a:srgbClr val="005CA7"/>
                    </a:solidFill>
                  </a:rPr>
                  <a:t>1</a:t>
                </a:r>
                <a:endParaRPr lang="zh-CN" altLang="en-US" sz="3200" dirty="0">
                  <a:solidFill>
                    <a:srgbClr val="005CA7"/>
                  </a:solidFill>
                </a:endParaRPr>
              </a:p>
            </p:txBody>
          </p:sp>
        </p:grpSp>
      </p:grpSp>
      <p:grpSp>
        <p:nvGrpSpPr>
          <p:cNvPr id="13" name="组合 12"/>
          <p:cNvGrpSpPr/>
          <p:nvPr/>
        </p:nvGrpSpPr>
        <p:grpSpPr>
          <a:xfrm>
            <a:off x="1132840" y="4257040"/>
            <a:ext cx="10786110" cy="2583180"/>
            <a:chOff x="6737148" y="2502527"/>
            <a:chExt cx="9926955" cy="2583180"/>
          </a:xfrm>
        </p:grpSpPr>
        <p:sp>
          <p:nvSpPr>
            <p:cNvPr id="18" name="Rectangle: Top Corners Rounded 13"/>
            <p:cNvSpPr/>
            <p:nvPr/>
          </p:nvSpPr>
          <p:spPr>
            <a:xfrm rot="10800000" flipH="1">
              <a:off x="7357542" y="2722872"/>
              <a:ext cx="61528" cy="743490"/>
            </a:xfrm>
            <a:prstGeom prst="round2SameRect">
              <a:avLst>
                <a:gd name="adj1" fmla="val 50000"/>
                <a:gd name="adj2" fmla="val 50000"/>
              </a:avLst>
            </a:prstGeom>
            <a:solidFill>
              <a:srgbClr val="005CA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sp>
          <p:nvSpPr>
            <p:cNvPr id="53" name="矩形 52"/>
            <p:cNvSpPr/>
            <p:nvPr/>
          </p:nvSpPr>
          <p:spPr>
            <a:xfrm>
              <a:off x="7692823" y="2502527"/>
              <a:ext cx="8971280" cy="2583180"/>
            </a:xfrm>
            <a:prstGeom prst="rect">
              <a:avLst/>
            </a:prstGeom>
          </p:spPr>
          <p:txBody>
            <a:bodyPr wrap="square" lIns="91436" tIns="45718" rIns="91436" bIns="45718">
              <a:spAutoFit/>
            </a:bodyPr>
            <a:lstStyle/>
            <a:p>
              <a:pPr>
                <a:lnSpc>
                  <a:spcPct val="150000"/>
                </a:lnSpc>
              </a:pPr>
              <a:r>
                <a:rPr lang="zh-CN" altLang="en-US" dirty="0">
                  <a:solidFill>
                    <a:schemeClr val="bg2">
                      <a:lumMod val="50000"/>
                    </a:schemeClr>
                  </a:solidFill>
                  <a:latin typeface="微软雅黑" panose="020B0503020204020204" pitchFamily="34" charset="-122"/>
                  <a:ea typeface="微软雅黑" panose="020B0503020204020204" pitchFamily="34" charset="-122"/>
                </a:rPr>
                <a:t> OITF (Outstanding Instruction Track FIFO ）即用于记录这些长指令的信息</a:t>
              </a:r>
              <a:endParaRPr lang="zh-CN" altLang="en-US"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pPr>
              <a:r>
                <a:rPr lang="zh-CN" altLang="en-US" dirty="0">
                  <a:solidFill>
                    <a:schemeClr val="bg2">
                      <a:lumMod val="50000"/>
                    </a:schemeClr>
                  </a:solidFill>
                  <a:latin typeface="微软雅黑" panose="020B0503020204020204" pitchFamily="34" charset="-122"/>
                  <a:ea typeface="微软雅黑" panose="020B0503020204020204" pitchFamily="34" charset="-122"/>
                </a:rPr>
                <a:t>OITF 本质上是一个先入先出的 </a:t>
              </a:r>
              <a:r>
                <a:rPr lang="en-US" altLang="zh-CN" dirty="0">
                  <a:solidFill>
                    <a:schemeClr val="bg2">
                      <a:lumMod val="50000"/>
                    </a:schemeClr>
                  </a:solidFill>
                  <a:latin typeface="微软雅黑" panose="020B0503020204020204" pitchFamily="34" charset="-122"/>
                  <a:ea typeface="微软雅黑" panose="020B0503020204020204" pitchFamily="34" charset="-122"/>
                </a:rPr>
                <a:t>F</a:t>
              </a:r>
              <a:r>
                <a:rPr lang="zh-CN" altLang="en-US" dirty="0">
                  <a:solidFill>
                    <a:schemeClr val="bg2">
                      <a:lumMod val="50000"/>
                    </a:schemeClr>
                  </a:solidFill>
                  <a:latin typeface="微软雅黑" panose="020B0503020204020204" pitchFamily="34" charset="-122"/>
                  <a:ea typeface="微软雅黑" panose="020B0503020204020204" pitchFamily="34" charset="-122"/>
                </a:rPr>
                <a:t>IFO， 在流水线的派遣点，每次派遣一个长指令，会在 OITF 分配一个表项 （Ent</a:t>
              </a:r>
              <a:r>
                <a:rPr lang="en-US" altLang="zh-CN" dirty="0">
                  <a:solidFill>
                    <a:schemeClr val="bg2">
                      <a:lumMod val="50000"/>
                    </a:schemeClr>
                  </a:solidFill>
                  <a:latin typeface="微软雅黑" panose="020B0503020204020204" pitchFamily="34" charset="-122"/>
                  <a:ea typeface="微软雅黑" panose="020B0503020204020204" pitchFamily="34" charset="-122"/>
                </a:rPr>
                <a:t>ry</a:t>
              </a:r>
              <a:r>
                <a:rPr lang="zh-CN" altLang="en-US" dirty="0">
                  <a:solidFill>
                    <a:schemeClr val="bg2">
                      <a:lumMod val="50000"/>
                    </a:schemeClr>
                  </a:solidFill>
                  <a:latin typeface="微软雅黑" panose="020B0503020204020204" pitchFamily="34" charset="-122"/>
                  <a:ea typeface="微软雅黑" panose="020B0503020204020204" pitchFamily="34" charset="-122"/>
                </a:rPr>
                <a:t>），这个表项 FIFO 指针（ Pointer） 便作为这个长指令的 ITAG （lnstruction Tag ）。</a:t>
              </a:r>
              <a:endParaRPr lang="zh-CN" altLang="en-US"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pPr>
              <a:r>
                <a:rPr lang="zh-CN" altLang="en-US" dirty="0">
                  <a:solidFill>
                    <a:schemeClr val="bg2">
                      <a:lumMod val="50000"/>
                    </a:schemeClr>
                  </a:solidFill>
                  <a:latin typeface="微软雅黑" panose="020B0503020204020204" pitchFamily="34" charset="-122"/>
                  <a:ea typeface="微软雅黑" panose="020B0503020204020204" pitchFamily="34" charset="-122"/>
                </a:rPr>
                <a:t>派遣的长指令不管被派遣到任何运算单元，都会携带者这个 ITAG ，长指令的运算单元在完成了运算后将结果写回之时， 要携带其对应的 ITAG</a:t>
              </a:r>
              <a:endParaRPr lang="zh-CN" altLang="en-US" dirty="0">
                <a:solidFill>
                  <a:schemeClr val="bg2">
                    <a:lumMod val="50000"/>
                  </a:schemeClr>
                </a:solidFill>
                <a:latin typeface="微软雅黑" panose="020B0503020204020204" pitchFamily="34" charset="-122"/>
                <a:ea typeface="微软雅黑" panose="020B0503020204020204" pitchFamily="34" charset="-122"/>
              </a:endParaRPr>
            </a:p>
          </p:txBody>
        </p:sp>
        <p:sp>
          <p:nvSpPr>
            <p:cNvPr id="62" name="TextBox 76"/>
            <p:cNvSpPr txBox="1"/>
            <p:nvPr/>
          </p:nvSpPr>
          <p:spPr>
            <a:xfrm>
              <a:off x="6737148" y="2802231"/>
              <a:ext cx="437932" cy="582295"/>
            </a:xfrm>
            <a:prstGeom prst="rect">
              <a:avLst/>
            </a:prstGeom>
            <a:noFill/>
          </p:spPr>
          <p:txBody>
            <a:bodyPr wrap="square" lIns="91436" tIns="45718" rIns="91436" bIns="45718" rtlCol="0">
              <a:spAutoFit/>
            </a:bodyPr>
            <a:lstStyle>
              <a:defPPr>
                <a:defRPr lang="zh-CN"/>
              </a:defPPr>
              <a:lvl1pPr>
                <a:defRPr sz="1600" b="1">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sz="3200" dirty="0" smtClean="0">
                  <a:solidFill>
                    <a:srgbClr val="005CA7"/>
                  </a:solidFill>
                </a:rPr>
                <a:t>2</a:t>
              </a:r>
              <a:endParaRPr lang="zh-CN" altLang="en-US" sz="3200" dirty="0">
                <a:solidFill>
                  <a:srgbClr val="005CA7"/>
                </a:solidFill>
              </a:endParaRPr>
            </a:p>
          </p:txBody>
        </p:sp>
      </p:grpSp>
      <p:cxnSp>
        <p:nvCxnSpPr>
          <p:cNvPr id="44" name="直接连接符 43"/>
          <p:cNvCxnSpPr>
            <a:stCxn id="48" idx="3"/>
          </p:cNvCxnSpPr>
          <p:nvPr/>
        </p:nvCxnSpPr>
        <p:spPr>
          <a:xfrm flipV="1">
            <a:off x="7872095" y="571500"/>
            <a:ext cx="4535805" cy="3175"/>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193573" y="571500"/>
            <a:ext cx="1052155" cy="0"/>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532765" y="300355"/>
            <a:ext cx="7339330" cy="523240"/>
            <a:chOff x="666819" y="300264"/>
            <a:chExt cx="3257149" cy="523220"/>
          </a:xfrm>
        </p:grpSpPr>
        <p:sp>
          <p:nvSpPr>
            <p:cNvPr id="48" name="圆角矩形 47"/>
            <p:cNvSpPr/>
            <p:nvPr/>
          </p:nvSpPr>
          <p:spPr>
            <a:xfrm>
              <a:off x="858582" y="325576"/>
              <a:ext cx="3065386" cy="497908"/>
            </a:xfrm>
            <a:prstGeom prst="roundRect">
              <a:avLst>
                <a:gd name="adj" fmla="val 50000"/>
              </a:avLst>
            </a:prstGeom>
            <a:noFill/>
            <a:ln w="381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1"/>
            <p:cNvSpPr>
              <a:spLocks noChangeArrowheads="1"/>
            </p:cNvSpPr>
            <p:nvPr/>
          </p:nvSpPr>
          <p:spPr bwMode="auto">
            <a:xfrm>
              <a:off x="666819" y="300264"/>
              <a:ext cx="3092049" cy="521950"/>
            </a:xfrm>
            <a:prstGeom prst="rect">
              <a:avLst/>
            </a:prstGeom>
            <a:noFill/>
          </p:spPr>
          <p:txBody>
            <a:bodyPr wrap="square" rtlCol="0">
              <a:spAutoFit/>
            </a:bodyPr>
            <a:lstStyle/>
            <a:p>
              <a:pPr algn="ctr">
                <a:buClrTx/>
                <a:buSzTx/>
                <a:buFontTx/>
              </a:pPr>
              <a:r>
                <a:rPr lang="zh-CN" altLang="en-US"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rPr>
                <a:t>二、</a:t>
              </a:r>
              <a:r>
                <a:rPr lang="zh-CN" altLang="en-US" sz="2800" b="1" dirty="0" smtClean="0">
                  <a:solidFill>
                    <a:srgbClr val="005CA7"/>
                  </a:solidFill>
                  <a:latin typeface="微软雅黑" panose="020B0503020204020204" pitchFamily="34" charset="-122"/>
                  <a:ea typeface="微软雅黑" panose="020B0503020204020204" pitchFamily="34" charset="-122"/>
                  <a:sym typeface="+mn-ea"/>
                </a:rPr>
                <a:t>蜂鸟E200 处理器的写回硬件实现</a:t>
              </a:r>
              <a:endParaRPr lang="zh-CN" altLang="en-US"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10" name="文本框 9"/>
          <p:cNvSpPr txBox="1"/>
          <p:nvPr/>
        </p:nvSpPr>
        <p:spPr>
          <a:xfrm>
            <a:off x="745490" y="2196465"/>
            <a:ext cx="4466590" cy="1383665"/>
          </a:xfrm>
          <a:prstGeom prst="rect">
            <a:avLst/>
          </a:prstGeom>
          <a:noFill/>
        </p:spPr>
        <p:txBody>
          <a:bodyPr wrap="square" rtlCol="0">
            <a:spAutoFit/>
          </a:bodyPr>
          <a:p>
            <a:r>
              <a:rPr lang="zh-CN" altLang="en-US" sz="2800"/>
              <a:t>OITF 和长指令写回仲裁模块协同合作完成所有长指令 写回操作，其要点如下</a:t>
            </a:r>
            <a:endParaRPr lang="zh-CN" altLang="en-US" sz="2800"/>
          </a:p>
        </p:txBody>
      </p:sp>
      <p:sp>
        <p:nvSpPr>
          <p:cNvPr id="2" name="文本框 1"/>
          <p:cNvSpPr txBox="1"/>
          <p:nvPr/>
        </p:nvSpPr>
        <p:spPr>
          <a:xfrm>
            <a:off x="745490" y="1160780"/>
            <a:ext cx="6673850" cy="645160"/>
          </a:xfrm>
          <a:prstGeom prst="rect">
            <a:avLst/>
          </a:prstGeom>
          <a:noFill/>
        </p:spPr>
        <p:txBody>
          <a:bodyPr wrap="square" rtlCol="0">
            <a:spAutoFit/>
          </a:bodyPr>
          <a:p>
            <a:r>
              <a:rPr lang="zh-CN" altLang="en-US" sz="3600"/>
              <a:t>10.2.2 OITF 和长指令写回仲裁</a:t>
            </a:r>
            <a:endParaRPr lang="zh-CN" altLang="en-US" sz="3600"/>
          </a:p>
        </p:txBody>
      </p:sp>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outVertical)">
                                      <p:cBhvr>
                                        <p:cTn id="7" dur="500"/>
                                        <p:tgtEl>
                                          <p:spTgt spid="46"/>
                                        </p:tgtEl>
                                      </p:cBhvr>
                                    </p:animEffect>
                                  </p:childTnLst>
                                </p:cTn>
                              </p:par>
                              <p:par>
                                <p:cTn id="8" presetID="22" presetClass="entr" presetSubtype="8" fill="hold" nodeType="withEffect">
                                  <p:stCondLst>
                                    <p:cond delay="500"/>
                                  </p:stCondLst>
                                  <p:childTnLst>
                                    <p:set>
                                      <p:cBhvr>
                                        <p:cTn id="9" dur="1" fill="hold">
                                          <p:stCondLst>
                                            <p:cond delay="0"/>
                                          </p:stCondLst>
                                        </p:cTn>
                                        <p:tgtEl>
                                          <p:spTgt spid="44"/>
                                        </p:tgtEl>
                                        <p:attrNameLst>
                                          <p:attrName>style.visibility</p:attrName>
                                        </p:attrNameLst>
                                      </p:cBhvr>
                                      <p:to>
                                        <p:strVal val="visible"/>
                                      </p:to>
                                    </p:set>
                                    <p:animEffect transition="in" filter="wipe(left)">
                                      <p:cBhvr>
                                        <p:cTn id="10" dur="500"/>
                                        <p:tgtEl>
                                          <p:spTgt spid="44"/>
                                        </p:tgtEl>
                                      </p:cBhvr>
                                    </p:animEffect>
                                  </p:childTnLst>
                                </p:cTn>
                              </p:par>
                              <p:par>
                                <p:cTn id="11" presetID="22" presetClass="entr" presetSubtype="2" fill="hold" nodeType="withEffect">
                                  <p:stCondLst>
                                    <p:cond delay="500"/>
                                  </p:stCondLst>
                                  <p:childTnLst>
                                    <p:set>
                                      <p:cBhvr>
                                        <p:cTn id="12" dur="1" fill="hold">
                                          <p:stCondLst>
                                            <p:cond delay="0"/>
                                          </p:stCondLst>
                                        </p:cTn>
                                        <p:tgtEl>
                                          <p:spTgt spid="45"/>
                                        </p:tgtEl>
                                        <p:attrNameLst>
                                          <p:attrName>style.visibility</p:attrName>
                                        </p:attrNameLst>
                                      </p:cBhvr>
                                      <p:to>
                                        <p:strVal val="visible"/>
                                      </p:to>
                                    </p:set>
                                    <p:animEffect transition="in" filter="wipe(right)">
                                      <p:cBhvr>
                                        <p:cTn id="13" dur="500"/>
                                        <p:tgtEl>
                                          <p:spTgt spid="45"/>
                                        </p:tgtEl>
                                      </p:cBhvr>
                                    </p:animEffect>
                                  </p:childTnLst>
                                </p:cTn>
                              </p:par>
                            </p:childTnLst>
                          </p:cTn>
                        </p:par>
                        <p:par>
                          <p:cTn id="14" fill="hold">
                            <p:stCondLst>
                              <p:cond delay="500"/>
                            </p:stCondLst>
                            <p:childTnLst>
                              <p:par>
                                <p:cTn id="15" presetID="12" presetClass="entr" presetSubtype="2" fill="hold" nodeType="after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additive="base">
                                        <p:cTn id="17" dur="500"/>
                                        <p:tgtEl>
                                          <p:spTgt spid="21"/>
                                        </p:tgtEl>
                                        <p:attrNameLst>
                                          <p:attrName>ppt_x</p:attrName>
                                        </p:attrNameLst>
                                      </p:cBhvr>
                                      <p:tavLst>
                                        <p:tav tm="0">
                                          <p:val>
                                            <p:strVal val="#ppt_x+#ppt_w*1.125000"/>
                                          </p:val>
                                        </p:tav>
                                        <p:tav tm="100000">
                                          <p:val>
                                            <p:strVal val="#ppt_x"/>
                                          </p:val>
                                        </p:tav>
                                      </p:tavLst>
                                    </p:anim>
                                    <p:animEffect transition="in" filter="wipe(left)">
                                      <p:cBhvr>
                                        <p:cTn id="18" dur="500"/>
                                        <p:tgtEl>
                                          <p:spTgt spid="21"/>
                                        </p:tgtEl>
                                      </p:cBhvr>
                                    </p:animEffect>
                                  </p:childTnLst>
                                </p:cTn>
                              </p:par>
                            </p:childTnLst>
                          </p:cTn>
                        </p:par>
                        <p:par>
                          <p:cTn id="19" fill="hold">
                            <p:stCondLst>
                              <p:cond delay="1000"/>
                            </p:stCondLst>
                            <p:childTnLst>
                              <p:par>
                                <p:cTn id="20" presetID="12" presetClass="entr" presetSubtype="2" fill="hold" nodeType="after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p:tgtEl>
                                          <p:spTgt spid="13"/>
                                        </p:tgtEl>
                                        <p:attrNameLst>
                                          <p:attrName>ppt_x</p:attrName>
                                        </p:attrNameLst>
                                      </p:cBhvr>
                                      <p:tavLst>
                                        <p:tav tm="0">
                                          <p:val>
                                            <p:strVal val="#ppt_x+#ppt_w*1.125000"/>
                                          </p:val>
                                        </p:tav>
                                        <p:tav tm="100000">
                                          <p:val>
                                            <p:strVal val="#ppt_x"/>
                                          </p:val>
                                        </p:tav>
                                      </p:tavLst>
                                    </p:anim>
                                    <p:animEffect transition="in" filter="wipe(left)">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401118" y="1321469"/>
            <a:ext cx="11393170" cy="4148758"/>
            <a:chOff x="6737148" y="1277654"/>
            <a:chExt cx="11393170" cy="4148758"/>
          </a:xfrm>
        </p:grpSpPr>
        <p:sp>
          <p:nvSpPr>
            <p:cNvPr id="16" name="Rectangle: Top Corners Rounded 11"/>
            <p:cNvSpPr/>
            <p:nvPr/>
          </p:nvSpPr>
          <p:spPr>
            <a:xfrm rot="10800000" flipH="1">
              <a:off x="7357542" y="1573962"/>
              <a:ext cx="61528" cy="743490"/>
            </a:xfrm>
            <a:prstGeom prst="round2SameRect">
              <a:avLst>
                <a:gd name="adj1" fmla="val 50000"/>
                <a:gd name="adj2" fmla="val 50000"/>
              </a:avLst>
            </a:prstGeom>
            <a:solidFill>
              <a:srgbClr val="005CA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grpSp>
          <p:nvGrpSpPr>
            <p:cNvPr id="11" name="组合 10"/>
            <p:cNvGrpSpPr/>
            <p:nvPr/>
          </p:nvGrpSpPr>
          <p:grpSpPr>
            <a:xfrm>
              <a:off x="6737148" y="1277654"/>
              <a:ext cx="11393170" cy="4068445"/>
              <a:chOff x="6737148" y="1277654"/>
              <a:chExt cx="11393170" cy="4068445"/>
            </a:xfrm>
          </p:grpSpPr>
          <p:sp>
            <p:nvSpPr>
              <p:cNvPr id="49" name="矩形 48"/>
              <p:cNvSpPr/>
              <p:nvPr/>
            </p:nvSpPr>
            <p:spPr>
              <a:xfrm>
                <a:off x="7692823" y="1277654"/>
                <a:ext cx="10437495" cy="2998470"/>
              </a:xfrm>
              <a:prstGeom prst="rect">
                <a:avLst/>
              </a:prstGeom>
            </p:spPr>
            <p:txBody>
              <a:bodyPr wrap="square" lIns="91436" tIns="45718" rIns="91436" bIns="45718">
                <a:spAutoFit/>
              </a:bodyPr>
              <a:lstStyle/>
              <a:p>
                <a:pPr>
                  <a:lnSpc>
                    <a:spcPct val="150000"/>
                  </a:lnSpc>
                </a:pPr>
                <a:r>
                  <a:rPr lang="zh-CN" altLang="en-US" dirty="0">
                    <a:solidFill>
                      <a:schemeClr val="bg2">
                        <a:lumMod val="50000"/>
                      </a:schemeClr>
                    </a:solidFill>
                    <a:latin typeface="微软雅黑" panose="020B0503020204020204" pitchFamily="34" charset="-122"/>
                    <a:ea typeface="微软雅黑" panose="020B0503020204020204" pitchFamily="34" charset="-122"/>
                  </a:rPr>
                  <a:t>OITF 深度便决定了能够派遣的滞外 （Outstanding ）长指令的个数。这些长指令写回时，理论上其实无须严格地按照其派遣顺序，只需要在有寄存器冲突的情形时才严格遵循顺序即可，其他情形时可以乱序写回。但是为了硬件实现的简洁，蜂鸟</a:t>
                </a:r>
                <a:r>
                  <a:rPr lang="en-US" altLang="zh-CN" dirty="0">
                    <a:solidFill>
                      <a:schemeClr val="bg2">
                        <a:lumMod val="50000"/>
                      </a:schemeClr>
                    </a:solidFill>
                    <a:latin typeface="微软雅黑" panose="020B0503020204020204" pitchFamily="34" charset="-122"/>
                    <a:ea typeface="微软雅黑" panose="020B0503020204020204" pitchFamily="34" charset="-122"/>
                  </a:rPr>
                  <a:t>E</a:t>
                </a:r>
                <a:r>
                  <a:rPr lang="zh-CN" altLang="en-US" dirty="0">
                    <a:solidFill>
                      <a:schemeClr val="bg2">
                        <a:lumMod val="50000"/>
                      </a:schemeClr>
                    </a:solidFill>
                    <a:latin typeface="微软雅黑" panose="020B0503020204020204" pitchFamily="34" charset="-122"/>
                    <a:ea typeface="微软雅黑" panose="020B0503020204020204" pitchFamily="34" charset="-122"/>
                  </a:rPr>
                  <a:t>200选择了简单的严格参照 OITF 的顺序写回。</a:t>
                </a:r>
                <a:endParaRPr lang="zh-CN" altLang="en-US"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pPr>
                <a:r>
                  <a:rPr lang="zh-CN" altLang="en-US" dirty="0">
                    <a:solidFill>
                      <a:schemeClr val="bg2">
                        <a:lumMod val="50000"/>
                      </a:schemeClr>
                    </a:solidFill>
                    <a:latin typeface="微软雅黑" panose="020B0503020204020204" pitchFamily="34" charset="-122"/>
                    <a:ea typeface="微软雅黑" panose="020B0503020204020204" pitchFamily="34" charset="-122"/>
                  </a:rPr>
                  <a:t>由于 OITF 是一个先入先出的 FIFO ，因此 FIFO 的读指针（ Read Pointer ）会指向最先进入此 FIFO 的表项，通过使用此“读指针”作为长指令写回仲裁的选择参考，就可以保证不同长指令的写回顺序和派遣顺序严格一致。每次从“长指令写回 裁”模块成功地写回一个长指令之后，便将此指令在 OITF</a:t>
                </a:r>
                <a:endParaRPr lang="zh-CN" altLang="en-US" dirty="0">
                  <a:solidFill>
                    <a:schemeClr val="bg2">
                      <a:lumMod val="50000"/>
                    </a:schemeClr>
                  </a:solidFill>
                  <a:latin typeface="微软雅黑" panose="020B0503020204020204" pitchFamily="34" charset="-122"/>
                  <a:ea typeface="微软雅黑" panose="020B0503020204020204" pitchFamily="34" charset="-122"/>
                </a:endParaRPr>
              </a:p>
              <a:p>
                <a:pPr>
                  <a:lnSpc>
                    <a:spcPct val="150000"/>
                  </a:lnSpc>
                </a:pPr>
                <a:r>
                  <a:rPr lang="zh-CN" altLang="en-US" dirty="0">
                    <a:solidFill>
                      <a:schemeClr val="bg2">
                        <a:lumMod val="50000"/>
                      </a:schemeClr>
                    </a:solidFill>
                    <a:latin typeface="微软雅黑" panose="020B0503020204020204" pitchFamily="34" charset="-122"/>
                    <a:ea typeface="微软雅黑" panose="020B0503020204020204" pitchFamily="34" charset="-122"/>
                  </a:rPr>
                  <a:t>中的表项去除，即从 FIFO 退出 （先入先出）完成其历史使命。</a:t>
                </a:r>
                <a:endParaRPr lang="zh-CN" altLang="en-US" dirty="0">
                  <a:solidFill>
                    <a:schemeClr val="bg2">
                      <a:lumMod val="50000"/>
                    </a:schemeClr>
                  </a:solidFill>
                  <a:latin typeface="微软雅黑" panose="020B0503020204020204" pitchFamily="34" charset="-122"/>
                  <a:ea typeface="微软雅黑" panose="020B0503020204020204" pitchFamily="34" charset="-122"/>
                </a:endParaRPr>
              </a:p>
            </p:txBody>
          </p:sp>
          <p:sp>
            <p:nvSpPr>
              <p:cNvPr id="61" name="TextBox 76"/>
              <p:cNvSpPr txBox="1"/>
              <p:nvPr/>
            </p:nvSpPr>
            <p:spPr>
              <a:xfrm>
                <a:off x="6737148" y="1644684"/>
                <a:ext cx="432435" cy="582295"/>
              </a:xfrm>
              <a:prstGeom prst="rect">
                <a:avLst/>
              </a:prstGeom>
              <a:noFill/>
            </p:spPr>
            <p:txBody>
              <a:bodyPr wrap="none" lIns="91436" tIns="45718" rIns="91436" bIns="45718" rtlCol="0">
                <a:spAutoFit/>
              </a:bodyPr>
              <a:lstStyle>
                <a:defPPr>
                  <a:defRPr lang="zh-CN"/>
                </a:defPPr>
                <a:lvl1pPr>
                  <a:defRPr sz="1600" b="1">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sz="3200" dirty="0">
                    <a:solidFill>
                      <a:srgbClr val="005CA7"/>
                    </a:solidFill>
                  </a:rPr>
                  <a:t>3</a:t>
                </a:r>
                <a:endParaRPr lang="en-US" altLang="zh-CN" sz="3200" dirty="0">
                  <a:solidFill>
                    <a:srgbClr val="005CA7"/>
                  </a:solidFill>
                </a:endParaRPr>
              </a:p>
            </p:txBody>
          </p:sp>
          <p:sp>
            <p:nvSpPr>
              <p:cNvPr id="4" name="TextBox 76"/>
              <p:cNvSpPr txBox="1"/>
              <p:nvPr/>
            </p:nvSpPr>
            <p:spPr>
              <a:xfrm>
                <a:off x="6761913" y="4763804"/>
                <a:ext cx="432435" cy="582295"/>
              </a:xfrm>
              <a:prstGeom prst="rect">
                <a:avLst/>
              </a:prstGeom>
              <a:noFill/>
            </p:spPr>
            <p:txBody>
              <a:bodyPr wrap="none" lIns="91436" tIns="45718" rIns="91436" bIns="45718" rtlCol="0">
                <a:spAutoFit/>
              </a:bodyPr>
              <a:lstStyle>
                <a:defPPr>
                  <a:defRPr lang="zh-CN"/>
                </a:defPPr>
                <a:lvl1pPr>
                  <a:defRPr sz="1600" b="1">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sz="3200" dirty="0">
                    <a:solidFill>
                      <a:srgbClr val="005CA7"/>
                    </a:solidFill>
                  </a:rPr>
                  <a:t>4</a:t>
                </a:r>
                <a:endParaRPr lang="en-US" altLang="zh-CN" sz="3200" dirty="0">
                  <a:solidFill>
                    <a:srgbClr val="005CA7"/>
                  </a:solidFill>
                </a:endParaRPr>
              </a:p>
            </p:txBody>
          </p:sp>
        </p:grpSp>
        <p:sp>
          <p:nvSpPr>
            <p:cNvPr id="3" name="Rectangle: Top Corners Rounded 11"/>
            <p:cNvSpPr/>
            <p:nvPr/>
          </p:nvSpPr>
          <p:spPr>
            <a:xfrm rot="10800000" flipH="1">
              <a:off x="7419137" y="4682922"/>
              <a:ext cx="61528" cy="743490"/>
            </a:xfrm>
            <a:prstGeom prst="round2SameRect">
              <a:avLst>
                <a:gd name="adj1" fmla="val 50000"/>
                <a:gd name="adj2" fmla="val 50000"/>
              </a:avLst>
            </a:prstGeom>
            <a:solidFill>
              <a:srgbClr val="005CA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p>
              <a:pPr algn="ctr"/>
            </a:p>
          </p:txBody>
        </p:sp>
      </p:grpSp>
      <p:cxnSp>
        <p:nvCxnSpPr>
          <p:cNvPr id="44" name="直接连接符 43"/>
          <p:cNvCxnSpPr>
            <a:stCxn id="48" idx="3"/>
          </p:cNvCxnSpPr>
          <p:nvPr/>
        </p:nvCxnSpPr>
        <p:spPr>
          <a:xfrm flipV="1">
            <a:off x="7872095" y="571500"/>
            <a:ext cx="4535805" cy="3175"/>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193573" y="571500"/>
            <a:ext cx="1052155" cy="0"/>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532765" y="300355"/>
            <a:ext cx="7339330" cy="523240"/>
            <a:chOff x="666819" y="300264"/>
            <a:chExt cx="3257149" cy="523220"/>
          </a:xfrm>
        </p:grpSpPr>
        <p:sp>
          <p:nvSpPr>
            <p:cNvPr id="48" name="圆角矩形 47"/>
            <p:cNvSpPr/>
            <p:nvPr/>
          </p:nvSpPr>
          <p:spPr>
            <a:xfrm>
              <a:off x="858582" y="325576"/>
              <a:ext cx="3065386" cy="497908"/>
            </a:xfrm>
            <a:prstGeom prst="roundRect">
              <a:avLst>
                <a:gd name="adj" fmla="val 50000"/>
              </a:avLst>
            </a:prstGeom>
            <a:noFill/>
            <a:ln w="381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1"/>
            <p:cNvSpPr>
              <a:spLocks noChangeArrowheads="1"/>
            </p:cNvSpPr>
            <p:nvPr/>
          </p:nvSpPr>
          <p:spPr bwMode="auto">
            <a:xfrm>
              <a:off x="666819" y="300264"/>
              <a:ext cx="3092049" cy="521950"/>
            </a:xfrm>
            <a:prstGeom prst="rect">
              <a:avLst/>
            </a:prstGeom>
            <a:noFill/>
          </p:spPr>
          <p:txBody>
            <a:bodyPr wrap="square" rtlCol="0">
              <a:spAutoFit/>
            </a:bodyPr>
            <a:lstStyle/>
            <a:p>
              <a:pPr algn="ctr">
                <a:buClrTx/>
                <a:buSzTx/>
                <a:buFontTx/>
              </a:pPr>
              <a:r>
                <a:rPr lang="zh-CN" altLang="en-US"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rPr>
                <a:t>二、</a:t>
              </a:r>
              <a:r>
                <a:rPr lang="zh-CN" altLang="en-US" sz="2800" b="1" dirty="0" smtClean="0">
                  <a:solidFill>
                    <a:srgbClr val="005CA7"/>
                  </a:solidFill>
                  <a:latin typeface="微软雅黑" panose="020B0503020204020204" pitchFamily="34" charset="-122"/>
                  <a:ea typeface="微软雅黑" panose="020B0503020204020204" pitchFamily="34" charset="-122"/>
                  <a:sym typeface="+mn-ea"/>
                </a:rPr>
                <a:t>蜂鸟E200 处理器的写回硬件实现</a:t>
              </a:r>
              <a:endParaRPr lang="zh-CN" altLang="en-US"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5" name="文本框 4"/>
          <p:cNvSpPr txBox="1"/>
          <p:nvPr/>
        </p:nvSpPr>
        <p:spPr>
          <a:xfrm>
            <a:off x="1356995" y="4548505"/>
            <a:ext cx="9748520" cy="1337945"/>
          </a:xfrm>
          <a:prstGeom prst="rect">
            <a:avLst/>
          </a:prstGeom>
          <a:noFill/>
        </p:spPr>
        <p:txBody>
          <a:bodyPr wrap="square" rtlCol="0">
            <a:spAutoFit/>
          </a:bodyPr>
          <a:p>
            <a:pPr algn="l">
              <a:lnSpc>
                <a:spcPct val="150000"/>
              </a:lnSpc>
              <a:buClrTx/>
              <a:buSzTx/>
              <a:buNone/>
            </a:pPr>
            <a:r>
              <a:rPr lang="zh-CN" altLang="en-US" dirty="0">
                <a:solidFill>
                  <a:schemeClr val="bg2">
                    <a:lumMod val="50000"/>
                  </a:schemeClr>
                </a:solidFill>
                <a:latin typeface="微软雅黑" panose="020B0503020204020204" pitchFamily="34" charset="-122"/>
                <a:ea typeface="微软雅黑" panose="020B0503020204020204" pitchFamily="34" charset="-122"/>
              </a:rPr>
              <a:t>由于有的长指令可能发生执行错误，因此需要产生异常，所以“长指令写回仲裁</a:t>
            </a:r>
            <a:r>
              <a:rPr lang="en-US" altLang="zh-CN" dirty="0">
                <a:solidFill>
                  <a:schemeClr val="bg2">
                    <a:lumMod val="50000"/>
                  </a:schemeClr>
                </a:solidFill>
                <a:latin typeface="微软雅黑" panose="020B0503020204020204" pitchFamily="34" charset="-122"/>
                <a:ea typeface="微软雅黑" panose="020B0503020204020204" pitchFamily="34" charset="-122"/>
              </a:rPr>
              <a:t>“</a:t>
            </a:r>
            <a:r>
              <a:rPr lang="zh-CN" altLang="en-US" dirty="0">
                <a:solidFill>
                  <a:schemeClr val="bg2">
                    <a:lumMod val="50000"/>
                  </a:schemeClr>
                </a:solidFill>
                <a:latin typeface="微软雅黑" panose="020B0503020204020204" pitchFamily="34" charset="-122"/>
                <a:ea typeface="微软雅黑" panose="020B0503020204020204" pitchFamily="34" charset="-122"/>
              </a:rPr>
              <a:t>模块需要和“交付”模块进行接口触发异常。如果长指令产生了异常，则不会真的写回 Regfile 。有关蜂鸟 E200 的异常处理实现请参见第 13 章。</a:t>
            </a:r>
            <a:endParaRPr lang="zh-CN" altLang="en-US" dirty="0">
              <a:solidFill>
                <a:schemeClr val="bg2">
                  <a:lumMod val="50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outVertical)">
                                      <p:cBhvr>
                                        <p:cTn id="7" dur="500"/>
                                        <p:tgtEl>
                                          <p:spTgt spid="46"/>
                                        </p:tgtEl>
                                      </p:cBhvr>
                                    </p:animEffect>
                                  </p:childTnLst>
                                </p:cTn>
                              </p:par>
                              <p:par>
                                <p:cTn id="8" presetID="22" presetClass="entr" presetSubtype="8" fill="hold" nodeType="withEffect">
                                  <p:stCondLst>
                                    <p:cond delay="500"/>
                                  </p:stCondLst>
                                  <p:childTnLst>
                                    <p:set>
                                      <p:cBhvr>
                                        <p:cTn id="9" dur="1" fill="hold">
                                          <p:stCondLst>
                                            <p:cond delay="0"/>
                                          </p:stCondLst>
                                        </p:cTn>
                                        <p:tgtEl>
                                          <p:spTgt spid="44"/>
                                        </p:tgtEl>
                                        <p:attrNameLst>
                                          <p:attrName>style.visibility</p:attrName>
                                        </p:attrNameLst>
                                      </p:cBhvr>
                                      <p:to>
                                        <p:strVal val="visible"/>
                                      </p:to>
                                    </p:set>
                                    <p:animEffect transition="in" filter="wipe(left)">
                                      <p:cBhvr>
                                        <p:cTn id="10" dur="500"/>
                                        <p:tgtEl>
                                          <p:spTgt spid="44"/>
                                        </p:tgtEl>
                                      </p:cBhvr>
                                    </p:animEffect>
                                  </p:childTnLst>
                                </p:cTn>
                              </p:par>
                              <p:par>
                                <p:cTn id="11" presetID="22" presetClass="entr" presetSubtype="2" fill="hold" nodeType="withEffect">
                                  <p:stCondLst>
                                    <p:cond delay="500"/>
                                  </p:stCondLst>
                                  <p:childTnLst>
                                    <p:set>
                                      <p:cBhvr>
                                        <p:cTn id="12" dur="1" fill="hold">
                                          <p:stCondLst>
                                            <p:cond delay="0"/>
                                          </p:stCondLst>
                                        </p:cTn>
                                        <p:tgtEl>
                                          <p:spTgt spid="45"/>
                                        </p:tgtEl>
                                        <p:attrNameLst>
                                          <p:attrName>style.visibility</p:attrName>
                                        </p:attrNameLst>
                                      </p:cBhvr>
                                      <p:to>
                                        <p:strVal val="visible"/>
                                      </p:to>
                                    </p:set>
                                    <p:animEffect transition="in" filter="wipe(right)">
                                      <p:cBhvr>
                                        <p:cTn id="13" dur="500"/>
                                        <p:tgtEl>
                                          <p:spTgt spid="45"/>
                                        </p:tgtEl>
                                      </p:cBhvr>
                                    </p:animEffect>
                                  </p:childTnLst>
                                </p:cTn>
                              </p:par>
                            </p:childTnLst>
                          </p:cTn>
                        </p:par>
                        <p:par>
                          <p:cTn id="14" fill="hold">
                            <p:stCondLst>
                              <p:cond delay="500"/>
                            </p:stCondLst>
                            <p:childTnLst>
                              <p:par>
                                <p:cTn id="15" presetID="12" presetClass="entr" presetSubtype="2" fill="hold" nodeType="after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additive="base">
                                        <p:cTn id="17" dur="500"/>
                                        <p:tgtEl>
                                          <p:spTgt spid="21"/>
                                        </p:tgtEl>
                                        <p:attrNameLst>
                                          <p:attrName>ppt_x</p:attrName>
                                        </p:attrNameLst>
                                      </p:cBhvr>
                                      <p:tavLst>
                                        <p:tav tm="0">
                                          <p:val>
                                            <p:strVal val="#ppt_x+#ppt_w*1.125000"/>
                                          </p:val>
                                        </p:tav>
                                        <p:tav tm="100000">
                                          <p:val>
                                            <p:strVal val="#ppt_x"/>
                                          </p:val>
                                        </p:tav>
                                      </p:tavLst>
                                    </p:anim>
                                    <p:animEffect transition="in" filter="wipe(left)">
                                      <p:cBhvr>
                                        <p:cTn id="1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420370" y="1235075"/>
            <a:ext cx="7079616" cy="1039798"/>
            <a:chOff x="6737148" y="1277654"/>
            <a:chExt cx="7021435" cy="1039798"/>
          </a:xfrm>
        </p:grpSpPr>
        <p:sp>
          <p:nvSpPr>
            <p:cNvPr id="16" name="Rectangle: Top Corners Rounded 11"/>
            <p:cNvSpPr/>
            <p:nvPr/>
          </p:nvSpPr>
          <p:spPr>
            <a:xfrm rot="10800000" flipH="1">
              <a:off x="7357542" y="1573962"/>
              <a:ext cx="61528" cy="743490"/>
            </a:xfrm>
            <a:prstGeom prst="round2SameRect">
              <a:avLst>
                <a:gd name="adj1" fmla="val 50000"/>
                <a:gd name="adj2" fmla="val 50000"/>
              </a:avLst>
            </a:prstGeom>
            <a:solidFill>
              <a:srgbClr val="005CA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grpSp>
          <p:nvGrpSpPr>
            <p:cNvPr id="11" name="组合 10"/>
            <p:cNvGrpSpPr/>
            <p:nvPr/>
          </p:nvGrpSpPr>
          <p:grpSpPr>
            <a:xfrm>
              <a:off x="6737148" y="1277654"/>
              <a:ext cx="7021435" cy="949325"/>
              <a:chOff x="6737148" y="1277654"/>
              <a:chExt cx="7021435" cy="949325"/>
            </a:xfrm>
          </p:grpSpPr>
          <p:sp>
            <p:nvSpPr>
              <p:cNvPr id="49" name="矩形 48"/>
              <p:cNvSpPr/>
              <p:nvPr/>
            </p:nvSpPr>
            <p:spPr>
              <a:xfrm>
                <a:off x="7692527" y="1277654"/>
                <a:ext cx="6066056" cy="920750"/>
              </a:xfrm>
              <a:prstGeom prst="rect">
                <a:avLst/>
              </a:prstGeom>
            </p:spPr>
            <p:txBody>
              <a:bodyPr wrap="square" lIns="91436" tIns="45718" rIns="91436" bIns="45718">
                <a:spAutoFit/>
              </a:bodyPr>
              <a:lstStyle/>
              <a:p>
                <a:pPr>
                  <a:lnSpc>
                    <a:spcPct val="150000"/>
                  </a:lnSpc>
                </a:pPr>
                <a:r>
                  <a:rPr lang="zh-CN" altLang="en-US" dirty="0">
                    <a:solidFill>
                      <a:schemeClr val="bg2">
                        <a:lumMod val="50000"/>
                      </a:schemeClr>
                    </a:solidFill>
                    <a:latin typeface="微软雅黑" panose="020B0503020204020204" pitchFamily="34" charset="-122"/>
                    <a:ea typeface="微软雅黑" panose="020B0503020204020204" pitchFamily="34" charset="-122"/>
                  </a:rPr>
                  <a:t>OITF 和“长指令写回 裁”模块 关源代码在 e200 opensource 目录的结构如下</a:t>
                </a:r>
                <a:endParaRPr lang="zh-CN" altLang="en-US" dirty="0">
                  <a:solidFill>
                    <a:schemeClr val="bg2">
                      <a:lumMod val="50000"/>
                    </a:schemeClr>
                  </a:solidFill>
                  <a:latin typeface="微软雅黑" panose="020B0503020204020204" pitchFamily="34" charset="-122"/>
                  <a:ea typeface="微软雅黑" panose="020B0503020204020204" pitchFamily="34" charset="-122"/>
                </a:endParaRPr>
              </a:p>
            </p:txBody>
          </p:sp>
          <p:sp>
            <p:nvSpPr>
              <p:cNvPr id="61" name="TextBox 76"/>
              <p:cNvSpPr txBox="1"/>
              <p:nvPr/>
            </p:nvSpPr>
            <p:spPr>
              <a:xfrm>
                <a:off x="6737148" y="1644684"/>
                <a:ext cx="432435" cy="582295"/>
              </a:xfrm>
              <a:prstGeom prst="rect">
                <a:avLst/>
              </a:prstGeom>
              <a:noFill/>
            </p:spPr>
            <p:txBody>
              <a:bodyPr wrap="square" lIns="91436" tIns="45718" rIns="91436" bIns="45718" rtlCol="0">
                <a:spAutoFit/>
              </a:bodyPr>
              <a:lstStyle>
                <a:defPPr>
                  <a:defRPr lang="zh-CN"/>
                </a:defPPr>
                <a:lvl1pPr>
                  <a:defRPr sz="1600" b="1">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sz="3200" dirty="0">
                    <a:solidFill>
                      <a:srgbClr val="005CA7"/>
                    </a:solidFill>
                  </a:rPr>
                  <a:t>5</a:t>
                </a:r>
                <a:endParaRPr lang="en-US" altLang="zh-CN" sz="3200" dirty="0">
                  <a:solidFill>
                    <a:srgbClr val="005CA7"/>
                  </a:solidFill>
                </a:endParaRPr>
              </a:p>
            </p:txBody>
          </p:sp>
        </p:grpSp>
      </p:grpSp>
      <p:cxnSp>
        <p:nvCxnSpPr>
          <p:cNvPr id="44" name="直接连接符 43"/>
          <p:cNvCxnSpPr>
            <a:stCxn id="48" idx="3"/>
          </p:cNvCxnSpPr>
          <p:nvPr/>
        </p:nvCxnSpPr>
        <p:spPr>
          <a:xfrm flipV="1">
            <a:off x="7872095" y="571500"/>
            <a:ext cx="4535805" cy="3175"/>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193573" y="571500"/>
            <a:ext cx="1052155" cy="0"/>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532765" y="300355"/>
            <a:ext cx="7339330" cy="523240"/>
            <a:chOff x="666819" y="300264"/>
            <a:chExt cx="3257149" cy="523220"/>
          </a:xfrm>
        </p:grpSpPr>
        <p:sp>
          <p:nvSpPr>
            <p:cNvPr id="48" name="圆角矩形 47"/>
            <p:cNvSpPr/>
            <p:nvPr/>
          </p:nvSpPr>
          <p:spPr>
            <a:xfrm>
              <a:off x="858582" y="325576"/>
              <a:ext cx="3065386" cy="497908"/>
            </a:xfrm>
            <a:prstGeom prst="roundRect">
              <a:avLst>
                <a:gd name="adj" fmla="val 50000"/>
              </a:avLst>
            </a:prstGeom>
            <a:noFill/>
            <a:ln w="381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1"/>
            <p:cNvSpPr>
              <a:spLocks noChangeArrowheads="1"/>
            </p:cNvSpPr>
            <p:nvPr/>
          </p:nvSpPr>
          <p:spPr bwMode="auto">
            <a:xfrm>
              <a:off x="666819" y="300264"/>
              <a:ext cx="3092049" cy="521950"/>
            </a:xfrm>
            <a:prstGeom prst="rect">
              <a:avLst/>
            </a:prstGeom>
            <a:noFill/>
          </p:spPr>
          <p:txBody>
            <a:bodyPr wrap="square" rtlCol="0">
              <a:spAutoFit/>
            </a:bodyPr>
            <a:lstStyle/>
            <a:p>
              <a:pPr algn="ctr">
                <a:buClrTx/>
                <a:buSzTx/>
                <a:buFontTx/>
              </a:pPr>
              <a:r>
                <a:rPr lang="zh-CN" altLang="en-US"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rPr>
                <a:t>二、</a:t>
              </a:r>
              <a:r>
                <a:rPr lang="zh-CN" altLang="en-US" sz="2800" b="1" dirty="0" smtClean="0">
                  <a:solidFill>
                    <a:srgbClr val="005CA7"/>
                  </a:solidFill>
                  <a:latin typeface="微软雅黑" panose="020B0503020204020204" pitchFamily="34" charset="-122"/>
                  <a:ea typeface="微软雅黑" panose="020B0503020204020204" pitchFamily="34" charset="-122"/>
                  <a:sym typeface="+mn-ea"/>
                </a:rPr>
                <a:t>蜂鸟E200 处理器的写回硬件实现</a:t>
              </a:r>
              <a:endParaRPr lang="zh-CN" altLang="en-US"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a:picLocks noChangeAspect="1"/>
          </p:cNvPicPr>
          <p:nvPr/>
        </p:nvPicPr>
        <p:blipFill>
          <a:blip r:embed="rId1"/>
          <a:stretch>
            <a:fillRect/>
          </a:stretch>
        </p:blipFill>
        <p:spPr>
          <a:xfrm>
            <a:off x="617855" y="2542540"/>
            <a:ext cx="7600950" cy="1581150"/>
          </a:xfrm>
          <a:prstGeom prst="rect">
            <a:avLst/>
          </a:prstGeom>
        </p:spPr>
      </p:pic>
      <p:pic>
        <p:nvPicPr>
          <p:cNvPr id="3" name="图片 2"/>
          <p:cNvPicPr>
            <a:picLocks noChangeAspect="1"/>
          </p:cNvPicPr>
          <p:nvPr/>
        </p:nvPicPr>
        <p:blipFill>
          <a:blip r:embed="rId2"/>
          <a:srcRect r="-4846"/>
          <a:stretch>
            <a:fillRect/>
          </a:stretch>
        </p:blipFill>
        <p:spPr>
          <a:xfrm>
            <a:off x="1978660" y="4123690"/>
            <a:ext cx="7048500" cy="1190625"/>
          </a:xfrm>
          <a:prstGeom prst="rect">
            <a:avLst/>
          </a:prstGeom>
        </p:spPr>
      </p:pic>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outVertical)">
                                      <p:cBhvr>
                                        <p:cTn id="7" dur="500"/>
                                        <p:tgtEl>
                                          <p:spTgt spid="46"/>
                                        </p:tgtEl>
                                      </p:cBhvr>
                                    </p:animEffect>
                                  </p:childTnLst>
                                </p:cTn>
                              </p:par>
                              <p:par>
                                <p:cTn id="8" presetID="22" presetClass="entr" presetSubtype="8" fill="hold" nodeType="withEffect">
                                  <p:stCondLst>
                                    <p:cond delay="500"/>
                                  </p:stCondLst>
                                  <p:childTnLst>
                                    <p:set>
                                      <p:cBhvr>
                                        <p:cTn id="9" dur="1" fill="hold">
                                          <p:stCondLst>
                                            <p:cond delay="0"/>
                                          </p:stCondLst>
                                        </p:cTn>
                                        <p:tgtEl>
                                          <p:spTgt spid="44"/>
                                        </p:tgtEl>
                                        <p:attrNameLst>
                                          <p:attrName>style.visibility</p:attrName>
                                        </p:attrNameLst>
                                      </p:cBhvr>
                                      <p:to>
                                        <p:strVal val="visible"/>
                                      </p:to>
                                    </p:set>
                                    <p:animEffect transition="in" filter="wipe(left)">
                                      <p:cBhvr>
                                        <p:cTn id="10" dur="500"/>
                                        <p:tgtEl>
                                          <p:spTgt spid="44"/>
                                        </p:tgtEl>
                                      </p:cBhvr>
                                    </p:animEffect>
                                  </p:childTnLst>
                                </p:cTn>
                              </p:par>
                              <p:par>
                                <p:cTn id="11" presetID="22" presetClass="entr" presetSubtype="2" fill="hold" nodeType="withEffect">
                                  <p:stCondLst>
                                    <p:cond delay="500"/>
                                  </p:stCondLst>
                                  <p:childTnLst>
                                    <p:set>
                                      <p:cBhvr>
                                        <p:cTn id="12" dur="1" fill="hold">
                                          <p:stCondLst>
                                            <p:cond delay="0"/>
                                          </p:stCondLst>
                                        </p:cTn>
                                        <p:tgtEl>
                                          <p:spTgt spid="45"/>
                                        </p:tgtEl>
                                        <p:attrNameLst>
                                          <p:attrName>style.visibility</p:attrName>
                                        </p:attrNameLst>
                                      </p:cBhvr>
                                      <p:to>
                                        <p:strVal val="visible"/>
                                      </p:to>
                                    </p:set>
                                    <p:animEffect transition="in" filter="wipe(right)">
                                      <p:cBhvr>
                                        <p:cTn id="13" dur="500"/>
                                        <p:tgtEl>
                                          <p:spTgt spid="45"/>
                                        </p:tgtEl>
                                      </p:cBhvr>
                                    </p:animEffect>
                                  </p:childTnLst>
                                </p:cTn>
                              </p:par>
                            </p:childTnLst>
                          </p:cTn>
                        </p:par>
                        <p:par>
                          <p:cTn id="14" fill="hold">
                            <p:stCondLst>
                              <p:cond delay="500"/>
                            </p:stCondLst>
                            <p:childTnLst>
                              <p:par>
                                <p:cTn id="15" presetID="12" presetClass="entr" presetSubtype="2" fill="hold" nodeType="after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additive="base">
                                        <p:cTn id="17" dur="500"/>
                                        <p:tgtEl>
                                          <p:spTgt spid="21"/>
                                        </p:tgtEl>
                                        <p:attrNameLst>
                                          <p:attrName>ppt_x</p:attrName>
                                        </p:attrNameLst>
                                      </p:cBhvr>
                                      <p:tavLst>
                                        <p:tav tm="0">
                                          <p:val>
                                            <p:strVal val="#ppt_x+#ppt_w*1.125000"/>
                                          </p:val>
                                        </p:tav>
                                        <p:tav tm="100000">
                                          <p:val>
                                            <p:strVal val="#ppt_x"/>
                                          </p:val>
                                        </p:tav>
                                      </p:tavLst>
                                    </p:anim>
                                    <p:animEffect transition="in" filter="wipe(left)">
                                      <p:cBhvr>
                                        <p:cTn id="1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420370" y="1235075"/>
            <a:ext cx="4981575" cy="1039798"/>
            <a:chOff x="6737148" y="1277654"/>
            <a:chExt cx="4940636" cy="1039798"/>
          </a:xfrm>
        </p:grpSpPr>
        <p:sp>
          <p:nvSpPr>
            <p:cNvPr id="16" name="Rectangle: Top Corners Rounded 11"/>
            <p:cNvSpPr/>
            <p:nvPr/>
          </p:nvSpPr>
          <p:spPr>
            <a:xfrm rot="10800000" flipH="1">
              <a:off x="7357542" y="1573962"/>
              <a:ext cx="61528" cy="743490"/>
            </a:xfrm>
            <a:prstGeom prst="round2SameRect">
              <a:avLst>
                <a:gd name="adj1" fmla="val 50000"/>
                <a:gd name="adj2" fmla="val 50000"/>
              </a:avLst>
            </a:prstGeom>
            <a:solidFill>
              <a:srgbClr val="005CA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p>
          </p:txBody>
        </p:sp>
        <p:grpSp>
          <p:nvGrpSpPr>
            <p:cNvPr id="11" name="组合 10"/>
            <p:cNvGrpSpPr/>
            <p:nvPr/>
          </p:nvGrpSpPr>
          <p:grpSpPr>
            <a:xfrm>
              <a:off x="6737148" y="1277654"/>
              <a:ext cx="4940636" cy="949325"/>
              <a:chOff x="6737148" y="1277654"/>
              <a:chExt cx="4940636" cy="949325"/>
            </a:xfrm>
          </p:grpSpPr>
          <p:sp>
            <p:nvSpPr>
              <p:cNvPr id="49" name="矩形 48"/>
              <p:cNvSpPr/>
              <p:nvPr/>
            </p:nvSpPr>
            <p:spPr>
              <a:xfrm>
                <a:off x="7692527" y="1277654"/>
                <a:ext cx="3985257" cy="920750"/>
              </a:xfrm>
              <a:prstGeom prst="rect">
                <a:avLst/>
              </a:prstGeom>
            </p:spPr>
            <p:txBody>
              <a:bodyPr wrap="square" lIns="91436" tIns="45718" rIns="91436" bIns="45718">
                <a:spAutoFit/>
              </a:bodyPr>
              <a:lstStyle/>
              <a:p>
                <a:pPr>
                  <a:lnSpc>
                    <a:spcPct val="150000"/>
                  </a:lnSpc>
                </a:pPr>
                <a:r>
                  <a:rPr lang="zh-CN" altLang="en-US" dirty="0">
                    <a:solidFill>
                      <a:schemeClr val="bg2">
                        <a:lumMod val="50000"/>
                      </a:schemeClr>
                    </a:solidFill>
                    <a:latin typeface="微软雅黑" panose="020B0503020204020204" pitchFamily="34" charset="-122"/>
                    <a:ea typeface="微软雅黑" panose="020B0503020204020204" pitchFamily="34" charset="-122"/>
                  </a:rPr>
                  <a:t>派遣模块和“长指令写回仲裁”模块的相关源代码片段如下所示。</a:t>
                </a:r>
                <a:endParaRPr lang="zh-CN" altLang="en-US" dirty="0">
                  <a:solidFill>
                    <a:schemeClr val="bg2">
                      <a:lumMod val="50000"/>
                    </a:schemeClr>
                  </a:solidFill>
                  <a:latin typeface="微软雅黑" panose="020B0503020204020204" pitchFamily="34" charset="-122"/>
                  <a:ea typeface="微软雅黑" panose="020B0503020204020204" pitchFamily="34" charset="-122"/>
                </a:endParaRPr>
              </a:p>
            </p:txBody>
          </p:sp>
          <p:sp>
            <p:nvSpPr>
              <p:cNvPr id="61" name="TextBox 76"/>
              <p:cNvSpPr txBox="1"/>
              <p:nvPr/>
            </p:nvSpPr>
            <p:spPr>
              <a:xfrm>
                <a:off x="6737148" y="1644684"/>
                <a:ext cx="432435" cy="582295"/>
              </a:xfrm>
              <a:prstGeom prst="rect">
                <a:avLst/>
              </a:prstGeom>
              <a:noFill/>
            </p:spPr>
            <p:txBody>
              <a:bodyPr wrap="square" lIns="91436" tIns="45718" rIns="91436" bIns="45718" rtlCol="0">
                <a:spAutoFit/>
              </a:bodyPr>
              <a:lstStyle>
                <a:defPPr>
                  <a:defRPr lang="zh-CN"/>
                </a:defPPr>
                <a:lvl1pPr>
                  <a:defRPr sz="1600" b="1">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sz="3200" dirty="0">
                    <a:solidFill>
                      <a:srgbClr val="005CA7"/>
                    </a:solidFill>
                  </a:rPr>
                  <a:t>6</a:t>
                </a:r>
                <a:endParaRPr lang="en-US" altLang="zh-CN" sz="3200" dirty="0">
                  <a:solidFill>
                    <a:srgbClr val="005CA7"/>
                  </a:solidFill>
                </a:endParaRPr>
              </a:p>
            </p:txBody>
          </p:sp>
        </p:grpSp>
      </p:grpSp>
      <p:cxnSp>
        <p:nvCxnSpPr>
          <p:cNvPr id="44" name="直接连接符 43"/>
          <p:cNvCxnSpPr>
            <a:stCxn id="48" idx="3"/>
          </p:cNvCxnSpPr>
          <p:nvPr/>
        </p:nvCxnSpPr>
        <p:spPr>
          <a:xfrm flipV="1">
            <a:off x="7872095" y="571500"/>
            <a:ext cx="4535805" cy="3175"/>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193573" y="571500"/>
            <a:ext cx="1052155" cy="0"/>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532765" y="300355"/>
            <a:ext cx="7339330" cy="523240"/>
            <a:chOff x="666819" y="300264"/>
            <a:chExt cx="3257149" cy="523220"/>
          </a:xfrm>
        </p:grpSpPr>
        <p:sp>
          <p:nvSpPr>
            <p:cNvPr id="48" name="圆角矩形 47"/>
            <p:cNvSpPr/>
            <p:nvPr/>
          </p:nvSpPr>
          <p:spPr>
            <a:xfrm>
              <a:off x="858582" y="325576"/>
              <a:ext cx="3065386" cy="497908"/>
            </a:xfrm>
            <a:prstGeom prst="roundRect">
              <a:avLst>
                <a:gd name="adj" fmla="val 50000"/>
              </a:avLst>
            </a:prstGeom>
            <a:noFill/>
            <a:ln w="381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1"/>
            <p:cNvSpPr>
              <a:spLocks noChangeArrowheads="1"/>
            </p:cNvSpPr>
            <p:nvPr/>
          </p:nvSpPr>
          <p:spPr bwMode="auto">
            <a:xfrm>
              <a:off x="666819" y="300264"/>
              <a:ext cx="3092049" cy="521950"/>
            </a:xfrm>
            <a:prstGeom prst="rect">
              <a:avLst/>
            </a:prstGeom>
            <a:noFill/>
          </p:spPr>
          <p:txBody>
            <a:bodyPr wrap="square" rtlCol="0">
              <a:spAutoFit/>
            </a:bodyPr>
            <a:lstStyle/>
            <a:p>
              <a:pPr algn="ctr">
                <a:buClrTx/>
                <a:buSzTx/>
                <a:buFontTx/>
              </a:pPr>
              <a:r>
                <a:rPr lang="zh-CN" altLang="en-US"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rPr>
                <a:t>二、</a:t>
              </a:r>
              <a:r>
                <a:rPr lang="zh-CN" altLang="en-US" sz="2800" b="1" dirty="0" smtClean="0">
                  <a:solidFill>
                    <a:srgbClr val="005CA7"/>
                  </a:solidFill>
                  <a:latin typeface="微软雅黑" panose="020B0503020204020204" pitchFamily="34" charset="-122"/>
                  <a:ea typeface="微软雅黑" panose="020B0503020204020204" pitchFamily="34" charset="-122"/>
                  <a:sym typeface="+mn-ea"/>
                </a:rPr>
                <a:t>蜂鸟E200 处理器的写回硬件实现</a:t>
              </a:r>
              <a:endParaRPr lang="zh-CN" altLang="en-US"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4" name="图片 3"/>
          <p:cNvPicPr>
            <a:picLocks noChangeAspect="1"/>
          </p:cNvPicPr>
          <p:nvPr/>
        </p:nvPicPr>
        <p:blipFill>
          <a:blip r:embed="rId1"/>
          <a:stretch>
            <a:fillRect/>
          </a:stretch>
        </p:blipFill>
        <p:spPr>
          <a:xfrm>
            <a:off x="220345" y="4088765"/>
            <a:ext cx="9467850" cy="2305050"/>
          </a:xfrm>
          <a:prstGeom prst="rect">
            <a:avLst/>
          </a:prstGeom>
        </p:spPr>
      </p:pic>
      <p:pic>
        <p:nvPicPr>
          <p:cNvPr id="5" name="图片 4"/>
          <p:cNvPicPr>
            <a:picLocks noChangeAspect="1"/>
          </p:cNvPicPr>
          <p:nvPr/>
        </p:nvPicPr>
        <p:blipFill>
          <a:blip r:embed="rId2"/>
          <a:stretch>
            <a:fillRect/>
          </a:stretch>
        </p:blipFill>
        <p:spPr>
          <a:xfrm>
            <a:off x="5287010" y="823595"/>
            <a:ext cx="7336155" cy="3390900"/>
          </a:xfrm>
          <a:prstGeom prst="rect">
            <a:avLst/>
          </a:prstGeom>
        </p:spPr>
      </p:pic>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outVertical)">
                                      <p:cBhvr>
                                        <p:cTn id="7" dur="500"/>
                                        <p:tgtEl>
                                          <p:spTgt spid="46"/>
                                        </p:tgtEl>
                                      </p:cBhvr>
                                    </p:animEffect>
                                  </p:childTnLst>
                                </p:cTn>
                              </p:par>
                              <p:par>
                                <p:cTn id="8" presetID="22" presetClass="entr" presetSubtype="8" fill="hold" nodeType="withEffect">
                                  <p:stCondLst>
                                    <p:cond delay="500"/>
                                  </p:stCondLst>
                                  <p:childTnLst>
                                    <p:set>
                                      <p:cBhvr>
                                        <p:cTn id="9" dur="1" fill="hold">
                                          <p:stCondLst>
                                            <p:cond delay="0"/>
                                          </p:stCondLst>
                                        </p:cTn>
                                        <p:tgtEl>
                                          <p:spTgt spid="44"/>
                                        </p:tgtEl>
                                        <p:attrNameLst>
                                          <p:attrName>style.visibility</p:attrName>
                                        </p:attrNameLst>
                                      </p:cBhvr>
                                      <p:to>
                                        <p:strVal val="visible"/>
                                      </p:to>
                                    </p:set>
                                    <p:animEffect transition="in" filter="wipe(left)">
                                      <p:cBhvr>
                                        <p:cTn id="10" dur="500"/>
                                        <p:tgtEl>
                                          <p:spTgt spid="44"/>
                                        </p:tgtEl>
                                      </p:cBhvr>
                                    </p:animEffect>
                                  </p:childTnLst>
                                </p:cTn>
                              </p:par>
                              <p:par>
                                <p:cTn id="11" presetID="22" presetClass="entr" presetSubtype="2" fill="hold" nodeType="withEffect">
                                  <p:stCondLst>
                                    <p:cond delay="500"/>
                                  </p:stCondLst>
                                  <p:childTnLst>
                                    <p:set>
                                      <p:cBhvr>
                                        <p:cTn id="12" dur="1" fill="hold">
                                          <p:stCondLst>
                                            <p:cond delay="0"/>
                                          </p:stCondLst>
                                        </p:cTn>
                                        <p:tgtEl>
                                          <p:spTgt spid="45"/>
                                        </p:tgtEl>
                                        <p:attrNameLst>
                                          <p:attrName>style.visibility</p:attrName>
                                        </p:attrNameLst>
                                      </p:cBhvr>
                                      <p:to>
                                        <p:strVal val="visible"/>
                                      </p:to>
                                    </p:set>
                                    <p:animEffect transition="in" filter="wipe(right)">
                                      <p:cBhvr>
                                        <p:cTn id="13" dur="500"/>
                                        <p:tgtEl>
                                          <p:spTgt spid="45"/>
                                        </p:tgtEl>
                                      </p:cBhvr>
                                    </p:animEffect>
                                  </p:childTnLst>
                                </p:cTn>
                              </p:par>
                            </p:childTnLst>
                          </p:cTn>
                        </p:par>
                        <p:par>
                          <p:cTn id="14" fill="hold">
                            <p:stCondLst>
                              <p:cond delay="500"/>
                            </p:stCondLst>
                            <p:childTnLst>
                              <p:par>
                                <p:cTn id="15" presetID="12" presetClass="entr" presetSubtype="2" fill="hold" nodeType="after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additive="base">
                                        <p:cTn id="17" dur="500"/>
                                        <p:tgtEl>
                                          <p:spTgt spid="21"/>
                                        </p:tgtEl>
                                        <p:attrNameLst>
                                          <p:attrName>ppt_x</p:attrName>
                                        </p:attrNameLst>
                                      </p:cBhvr>
                                      <p:tavLst>
                                        <p:tav tm="0">
                                          <p:val>
                                            <p:strVal val="#ppt_x+#ppt_w*1.125000"/>
                                          </p:val>
                                        </p:tav>
                                        <p:tav tm="100000">
                                          <p:val>
                                            <p:strVal val="#ppt_x"/>
                                          </p:val>
                                        </p:tav>
                                      </p:tavLst>
                                    </p:anim>
                                    <p:animEffect transition="in" filter="wipe(left)">
                                      <p:cBhvr>
                                        <p:cTn id="18"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4" name="直接连接符 43"/>
          <p:cNvCxnSpPr>
            <a:stCxn id="48" idx="3"/>
          </p:cNvCxnSpPr>
          <p:nvPr/>
        </p:nvCxnSpPr>
        <p:spPr>
          <a:xfrm flipV="1">
            <a:off x="7872095" y="571500"/>
            <a:ext cx="4535805" cy="3175"/>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193573" y="571500"/>
            <a:ext cx="1052155" cy="0"/>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532765" y="300355"/>
            <a:ext cx="7339330" cy="523240"/>
            <a:chOff x="666819" y="300264"/>
            <a:chExt cx="3257149" cy="523220"/>
          </a:xfrm>
        </p:grpSpPr>
        <p:sp>
          <p:nvSpPr>
            <p:cNvPr id="48" name="圆角矩形 47"/>
            <p:cNvSpPr/>
            <p:nvPr/>
          </p:nvSpPr>
          <p:spPr>
            <a:xfrm>
              <a:off x="858582" y="325576"/>
              <a:ext cx="3065386" cy="497908"/>
            </a:xfrm>
            <a:prstGeom prst="roundRect">
              <a:avLst>
                <a:gd name="adj" fmla="val 50000"/>
              </a:avLst>
            </a:prstGeom>
            <a:noFill/>
            <a:ln w="381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1"/>
            <p:cNvSpPr>
              <a:spLocks noChangeArrowheads="1"/>
            </p:cNvSpPr>
            <p:nvPr/>
          </p:nvSpPr>
          <p:spPr bwMode="auto">
            <a:xfrm>
              <a:off x="666819" y="300264"/>
              <a:ext cx="3092049" cy="521950"/>
            </a:xfrm>
            <a:prstGeom prst="rect">
              <a:avLst/>
            </a:prstGeom>
            <a:noFill/>
          </p:spPr>
          <p:txBody>
            <a:bodyPr wrap="square" rtlCol="0">
              <a:spAutoFit/>
            </a:bodyPr>
            <a:lstStyle/>
            <a:p>
              <a:pPr algn="ctr">
                <a:buClrTx/>
                <a:buSzTx/>
                <a:buFontTx/>
              </a:pPr>
              <a:r>
                <a:rPr lang="zh-CN" altLang="en-US"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rPr>
                <a:t>二、</a:t>
              </a:r>
              <a:r>
                <a:rPr lang="zh-CN" altLang="en-US" sz="2800" b="1" dirty="0" smtClean="0">
                  <a:solidFill>
                    <a:srgbClr val="005CA7"/>
                  </a:solidFill>
                  <a:latin typeface="微软雅黑" panose="020B0503020204020204" pitchFamily="34" charset="-122"/>
                  <a:ea typeface="微软雅黑" panose="020B0503020204020204" pitchFamily="34" charset="-122"/>
                  <a:sym typeface="+mn-ea"/>
                </a:rPr>
                <a:t>蜂鸟E200 处理器的写回硬件实现</a:t>
              </a:r>
              <a:endParaRPr lang="zh-CN" altLang="en-US"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a:picLocks noChangeAspect="1"/>
          </p:cNvPicPr>
          <p:nvPr/>
        </p:nvPicPr>
        <p:blipFill>
          <a:blip r:embed="rId1"/>
          <a:stretch>
            <a:fillRect/>
          </a:stretch>
        </p:blipFill>
        <p:spPr>
          <a:xfrm>
            <a:off x="765810" y="1119505"/>
            <a:ext cx="8915400" cy="3200400"/>
          </a:xfrm>
          <a:prstGeom prst="rect">
            <a:avLst/>
          </a:prstGeom>
        </p:spPr>
      </p:pic>
      <p:pic>
        <p:nvPicPr>
          <p:cNvPr id="3" name="图片 2"/>
          <p:cNvPicPr>
            <a:picLocks noChangeAspect="1"/>
          </p:cNvPicPr>
          <p:nvPr/>
        </p:nvPicPr>
        <p:blipFill>
          <a:blip r:embed="rId2"/>
          <a:stretch>
            <a:fillRect/>
          </a:stretch>
        </p:blipFill>
        <p:spPr>
          <a:xfrm>
            <a:off x="858520" y="4476750"/>
            <a:ext cx="8058150" cy="1066800"/>
          </a:xfrm>
          <a:prstGeom prst="rect">
            <a:avLst/>
          </a:prstGeom>
        </p:spPr>
      </p:pic>
      <p:pic>
        <p:nvPicPr>
          <p:cNvPr id="4" name="图片 3"/>
          <p:cNvPicPr>
            <a:picLocks noChangeAspect="1"/>
          </p:cNvPicPr>
          <p:nvPr/>
        </p:nvPicPr>
        <p:blipFill>
          <a:blip r:embed="rId3"/>
          <a:stretch>
            <a:fillRect/>
          </a:stretch>
        </p:blipFill>
        <p:spPr>
          <a:xfrm>
            <a:off x="858520" y="5543550"/>
            <a:ext cx="6886575" cy="952500"/>
          </a:xfrm>
          <a:prstGeom prst="rect">
            <a:avLst/>
          </a:prstGeom>
        </p:spPr>
      </p:pic>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outVertical)">
                                      <p:cBhvr>
                                        <p:cTn id="7" dur="500"/>
                                        <p:tgtEl>
                                          <p:spTgt spid="46"/>
                                        </p:tgtEl>
                                      </p:cBhvr>
                                    </p:animEffect>
                                  </p:childTnLst>
                                </p:cTn>
                              </p:par>
                              <p:par>
                                <p:cTn id="8" presetID="22" presetClass="entr" presetSubtype="8" fill="hold" nodeType="withEffect">
                                  <p:stCondLst>
                                    <p:cond delay="500"/>
                                  </p:stCondLst>
                                  <p:childTnLst>
                                    <p:set>
                                      <p:cBhvr>
                                        <p:cTn id="9" dur="1" fill="hold">
                                          <p:stCondLst>
                                            <p:cond delay="0"/>
                                          </p:stCondLst>
                                        </p:cTn>
                                        <p:tgtEl>
                                          <p:spTgt spid="44"/>
                                        </p:tgtEl>
                                        <p:attrNameLst>
                                          <p:attrName>style.visibility</p:attrName>
                                        </p:attrNameLst>
                                      </p:cBhvr>
                                      <p:to>
                                        <p:strVal val="visible"/>
                                      </p:to>
                                    </p:set>
                                    <p:animEffect transition="in" filter="wipe(left)">
                                      <p:cBhvr>
                                        <p:cTn id="10" dur="500"/>
                                        <p:tgtEl>
                                          <p:spTgt spid="44"/>
                                        </p:tgtEl>
                                      </p:cBhvr>
                                    </p:animEffect>
                                  </p:childTnLst>
                                </p:cTn>
                              </p:par>
                              <p:par>
                                <p:cTn id="11" presetID="22" presetClass="entr" presetSubtype="2" fill="hold" nodeType="withEffect">
                                  <p:stCondLst>
                                    <p:cond delay="500"/>
                                  </p:stCondLst>
                                  <p:childTnLst>
                                    <p:set>
                                      <p:cBhvr>
                                        <p:cTn id="12" dur="1" fill="hold">
                                          <p:stCondLst>
                                            <p:cond delay="0"/>
                                          </p:stCondLst>
                                        </p:cTn>
                                        <p:tgtEl>
                                          <p:spTgt spid="45"/>
                                        </p:tgtEl>
                                        <p:attrNameLst>
                                          <p:attrName>style.visibility</p:attrName>
                                        </p:attrNameLst>
                                      </p:cBhvr>
                                      <p:to>
                                        <p:strVal val="visible"/>
                                      </p:to>
                                    </p:set>
                                    <p:animEffect transition="in" filter="wipe(right)">
                                      <p:cBhvr>
                                        <p:cTn id="13"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4" name="直接连接符 43"/>
          <p:cNvCxnSpPr>
            <a:stCxn id="48" idx="3"/>
          </p:cNvCxnSpPr>
          <p:nvPr/>
        </p:nvCxnSpPr>
        <p:spPr>
          <a:xfrm flipV="1">
            <a:off x="7872095" y="571500"/>
            <a:ext cx="4535805" cy="3175"/>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193573" y="571500"/>
            <a:ext cx="1052155" cy="0"/>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532765" y="300355"/>
            <a:ext cx="7339330" cy="523240"/>
            <a:chOff x="666819" y="300264"/>
            <a:chExt cx="3257149" cy="523220"/>
          </a:xfrm>
        </p:grpSpPr>
        <p:sp>
          <p:nvSpPr>
            <p:cNvPr id="48" name="圆角矩形 47"/>
            <p:cNvSpPr/>
            <p:nvPr/>
          </p:nvSpPr>
          <p:spPr>
            <a:xfrm>
              <a:off x="858582" y="325576"/>
              <a:ext cx="3065386" cy="497908"/>
            </a:xfrm>
            <a:prstGeom prst="roundRect">
              <a:avLst>
                <a:gd name="adj" fmla="val 50000"/>
              </a:avLst>
            </a:prstGeom>
            <a:noFill/>
            <a:ln w="381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1"/>
            <p:cNvSpPr>
              <a:spLocks noChangeArrowheads="1"/>
            </p:cNvSpPr>
            <p:nvPr/>
          </p:nvSpPr>
          <p:spPr bwMode="auto">
            <a:xfrm>
              <a:off x="666819" y="300264"/>
              <a:ext cx="3092049" cy="521950"/>
            </a:xfrm>
            <a:prstGeom prst="rect">
              <a:avLst/>
            </a:prstGeom>
            <a:noFill/>
          </p:spPr>
          <p:txBody>
            <a:bodyPr wrap="square" rtlCol="0">
              <a:spAutoFit/>
            </a:bodyPr>
            <a:lstStyle/>
            <a:p>
              <a:pPr algn="ctr">
                <a:buClrTx/>
                <a:buSzTx/>
                <a:buFontTx/>
              </a:pPr>
              <a:r>
                <a:rPr lang="zh-CN" altLang="en-US"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rPr>
                <a:t>二、</a:t>
              </a:r>
              <a:r>
                <a:rPr lang="zh-CN" altLang="en-US" sz="2800" b="1" dirty="0" smtClean="0">
                  <a:solidFill>
                    <a:srgbClr val="005CA7"/>
                  </a:solidFill>
                  <a:latin typeface="微软雅黑" panose="020B0503020204020204" pitchFamily="34" charset="-122"/>
                  <a:ea typeface="微软雅黑" panose="020B0503020204020204" pitchFamily="34" charset="-122"/>
                  <a:sym typeface="+mn-ea"/>
                </a:rPr>
                <a:t>蜂鸟E200 处理器的写回硬件实现</a:t>
              </a:r>
              <a:endParaRPr lang="zh-CN" altLang="en-US"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a:picLocks noChangeAspect="1"/>
          </p:cNvPicPr>
          <p:nvPr/>
        </p:nvPicPr>
        <p:blipFill>
          <a:blip r:embed="rId1"/>
          <a:stretch>
            <a:fillRect/>
          </a:stretch>
        </p:blipFill>
        <p:spPr>
          <a:xfrm>
            <a:off x="641350" y="962025"/>
            <a:ext cx="8915400" cy="4933950"/>
          </a:xfrm>
          <a:prstGeom prst="rect">
            <a:avLst/>
          </a:prstGeom>
        </p:spPr>
      </p:pic>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outVertical)">
                                      <p:cBhvr>
                                        <p:cTn id="7" dur="500"/>
                                        <p:tgtEl>
                                          <p:spTgt spid="46"/>
                                        </p:tgtEl>
                                      </p:cBhvr>
                                    </p:animEffect>
                                  </p:childTnLst>
                                </p:cTn>
                              </p:par>
                              <p:par>
                                <p:cTn id="8" presetID="22" presetClass="entr" presetSubtype="8" fill="hold" nodeType="withEffect">
                                  <p:stCondLst>
                                    <p:cond delay="500"/>
                                  </p:stCondLst>
                                  <p:childTnLst>
                                    <p:set>
                                      <p:cBhvr>
                                        <p:cTn id="9" dur="1" fill="hold">
                                          <p:stCondLst>
                                            <p:cond delay="0"/>
                                          </p:stCondLst>
                                        </p:cTn>
                                        <p:tgtEl>
                                          <p:spTgt spid="44"/>
                                        </p:tgtEl>
                                        <p:attrNameLst>
                                          <p:attrName>style.visibility</p:attrName>
                                        </p:attrNameLst>
                                      </p:cBhvr>
                                      <p:to>
                                        <p:strVal val="visible"/>
                                      </p:to>
                                    </p:set>
                                    <p:animEffect transition="in" filter="wipe(left)">
                                      <p:cBhvr>
                                        <p:cTn id="10" dur="500"/>
                                        <p:tgtEl>
                                          <p:spTgt spid="44"/>
                                        </p:tgtEl>
                                      </p:cBhvr>
                                    </p:animEffect>
                                  </p:childTnLst>
                                </p:cTn>
                              </p:par>
                              <p:par>
                                <p:cTn id="11" presetID="22" presetClass="entr" presetSubtype="2" fill="hold" nodeType="withEffect">
                                  <p:stCondLst>
                                    <p:cond delay="500"/>
                                  </p:stCondLst>
                                  <p:childTnLst>
                                    <p:set>
                                      <p:cBhvr>
                                        <p:cTn id="12" dur="1" fill="hold">
                                          <p:stCondLst>
                                            <p:cond delay="0"/>
                                          </p:stCondLst>
                                        </p:cTn>
                                        <p:tgtEl>
                                          <p:spTgt spid="45"/>
                                        </p:tgtEl>
                                        <p:attrNameLst>
                                          <p:attrName>style.visibility</p:attrName>
                                        </p:attrNameLst>
                                      </p:cBhvr>
                                      <p:to>
                                        <p:strVal val="visible"/>
                                      </p:to>
                                    </p:set>
                                    <p:animEffect transition="in" filter="wipe(right)">
                                      <p:cBhvr>
                                        <p:cTn id="13"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4" name="直接连接符 43"/>
          <p:cNvCxnSpPr>
            <a:stCxn id="48" idx="3"/>
          </p:cNvCxnSpPr>
          <p:nvPr/>
        </p:nvCxnSpPr>
        <p:spPr>
          <a:xfrm flipV="1">
            <a:off x="7872095" y="571500"/>
            <a:ext cx="4535805" cy="3175"/>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193573" y="571500"/>
            <a:ext cx="1052155" cy="0"/>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532765" y="300355"/>
            <a:ext cx="7339330" cy="523240"/>
            <a:chOff x="666819" y="300264"/>
            <a:chExt cx="3257149" cy="523220"/>
          </a:xfrm>
        </p:grpSpPr>
        <p:sp>
          <p:nvSpPr>
            <p:cNvPr id="48" name="圆角矩形 47"/>
            <p:cNvSpPr/>
            <p:nvPr/>
          </p:nvSpPr>
          <p:spPr>
            <a:xfrm>
              <a:off x="858582" y="325576"/>
              <a:ext cx="3065386" cy="497908"/>
            </a:xfrm>
            <a:prstGeom prst="roundRect">
              <a:avLst>
                <a:gd name="adj" fmla="val 50000"/>
              </a:avLst>
            </a:prstGeom>
            <a:noFill/>
            <a:ln w="381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1"/>
            <p:cNvSpPr>
              <a:spLocks noChangeArrowheads="1"/>
            </p:cNvSpPr>
            <p:nvPr/>
          </p:nvSpPr>
          <p:spPr bwMode="auto">
            <a:xfrm>
              <a:off x="666819" y="300264"/>
              <a:ext cx="3092049" cy="521950"/>
            </a:xfrm>
            <a:prstGeom prst="rect">
              <a:avLst/>
            </a:prstGeom>
            <a:noFill/>
          </p:spPr>
          <p:txBody>
            <a:bodyPr wrap="square" rtlCol="0">
              <a:spAutoFit/>
            </a:bodyPr>
            <a:lstStyle/>
            <a:p>
              <a:pPr algn="ctr">
                <a:buClrTx/>
                <a:buSzTx/>
                <a:buFontTx/>
              </a:pPr>
              <a:r>
                <a:rPr lang="zh-CN" altLang="en-US"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rPr>
                <a:t>二、</a:t>
              </a:r>
              <a:r>
                <a:rPr lang="zh-CN" altLang="en-US" sz="2800" b="1" dirty="0" smtClean="0">
                  <a:solidFill>
                    <a:srgbClr val="005CA7"/>
                  </a:solidFill>
                  <a:latin typeface="微软雅黑" panose="020B0503020204020204" pitchFamily="34" charset="-122"/>
                  <a:ea typeface="微软雅黑" panose="020B0503020204020204" pitchFamily="34" charset="-122"/>
                  <a:sym typeface="+mn-ea"/>
                </a:rPr>
                <a:t>蜂鸟E200 处理器的写回硬件实现</a:t>
              </a:r>
              <a:endParaRPr lang="zh-CN" altLang="en-US"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a:picLocks noChangeAspect="1"/>
          </p:cNvPicPr>
          <p:nvPr/>
        </p:nvPicPr>
        <p:blipFill>
          <a:blip r:embed="rId1"/>
          <a:stretch>
            <a:fillRect/>
          </a:stretch>
        </p:blipFill>
        <p:spPr>
          <a:xfrm>
            <a:off x="532765" y="1083945"/>
            <a:ext cx="9105900" cy="4038600"/>
          </a:xfrm>
          <a:prstGeom prst="rect">
            <a:avLst/>
          </a:prstGeom>
        </p:spPr>
      </p:pic>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outVertical)">
                                      <p:cBhvr>
                                        <p:cTn id="7" dur="500"/>
                                        <p:tgtEl>
                                          <p:spTgt spid="46"/>
                                        </p:tgtEl>
                                      </p:cBhvr>
                                    </p:animEffect>
                                  </p:childTnLst>
                                </p:cTn>
                              </p:par>
                              <p:par>
                                <p:cTn id="8" presetID="22" presetClass="entr" presetSubtype="8" fill="hold" nodeType="withEffect">
                                  <p:stCondLst>
                                    <p:cond delay="500"/>
                                  </p:stCondLst>
                                  <p:childTnLst>
                                    <p:set>
                                      <p:cBhvr>
                                        <p:cTn id="9" dur="1" fill="hold">
                                          <p:stCondLst>
                                            <p:cond delay="0"/>
                                          </p:stCondLst>
                                        </p:cTn>
                                        <p:tgtEl>
                                          <p:spTgt spid="44"/>
                                        </p:tgtEl>
                                        <p:attrNameLst>
                                          <p:attrName>style.visibility</p:attrName>
                                        </p:attrNameLst>
                                      </p:cBhvr>
                                      <p:to>
                                        <p:strVal val="visible"/>
                                      </p:to>
                                    </p:set>
                                    <p:animEffect transition="in" filter="wipe(left)">
                                      <p:cBhvr>
                                        <p:cTn id="10" dur="500"/>
                                        <p:tgtEl>
                                          <p:spTgt spid="44"/>
                                        </p:tgtEl>
                                      </p:cBhvr>
                                    </p:animEffect>
                                  </p:childTnLst>
                                </p:cTn>
                              </p:par>
                              <p:par>
                                <p:cTn id="11" presetID="22" presetClass="entr" presetSubtype="2" fill="hold" nodeType="withEffect">
                                  <p:stCondLst>
                                    <p:cond delay="500"/>
                                  </p:stCondLst>
                                  <p:childTnLst>
                                    <p:set>
                                      <p:cBhvr>
                                        <p:cTn id="12" dur="1" fill="hold">
                                          <p:stCondLst>
                                            <p:cond delay="0"/>
                                          </p:stCondLst>
                                        </p:cTn>
                                        <p:tgtEl>
                                          <p:spTgt spid="45"/>
                                        </p:tgtEl>
                                        <p:attrNameLst>
                                          <p:attrName>style.visibility</p:attrName>
                                        </p:attrNameLst>
                                      </p:cBhvr>
                                      <p:to>
                                        <p:strVal val="visible"/>
                                      </p:to>
                                    </p:set>
                                    <p:animEffect transition="in" filter="wipe(right)">
                                      <p:cBhvr>
                                        <p:cTn id="13"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4" name="直接连接符 43"/>
          <p:cNvCxnSpPr>
            <a:stCxn id="48" idx="3"/>
          </p:cNvCxnSpPr>
          <p:nvPr/>
        </p:nvCxnSpPr>
        <p:spPr>
          <a:xfrm flipV="1">
            <a:off x="7872095" y="571500"/>
            <a:ext cx="4535805" cy="3175"/>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193573" y="571500"/>
            <a:ext cx="1052155" cy="0"/>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532765" y="300355"/>
            <a:ext cx="7339330" cy="523240"/>
            <a:chOff x="666819" y="300264"/>
            <a:chExt cx="3257149" cy="523220"/>
          </a:xfrm>
        </p:grpSpPr>
        <p:sp>
          <p:nvSpPr>
            <p:cNvPr id="48" name="圆角矩形 47"/>
            <p:cNvSpPr/>
            <p:nvPr/>
          </p:nvSpPr>
          <p:spPr>
            <a:xfrm>
              <a:off x="858582" y="325576"/>
              <a:ext cx="3065386" cy="497908"/>
            </a:xfrm>
            <a:prstGeom prst="roundRect">
              <a:avLst>
                <a:gd name="adj" fmla="val 50000"/>
              </a:avLst>
            </a:prstGeom>
            <a:noFill/>
            <a:ln w="381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1"/>
            <p:cNvSpPr>
              <a:spLocks noChangeArrowheads="1"/>
            </p:cNvSpPr>
            <p:nvPr/>
          </p:nvSpPr>
          <p:spPr bwMode="auto">
            <a:xfrm>
              <a:off x="666819" y="300264"/>
              <a:ext cx="3092049" cy="521950"/>
            </a:xfrm>
            <a:prstGeom prst="rect">
              <a:avLst/>
            </a:prstGeom>
            <a:noFill/>
          </p:spPr>
          <p:txBody>
            <a:bodyPr wrap="square" rtlCol="0">
              <a:spAutoFit/>
            </a:bodyPr>
            <a:lstStyle/>
            <a:p>
              <a:pPr algn="ctr">
                <a:buClrTx/>
                <a:buSzTx/>
                <a:buFontTx/>
              </a:pPr>
              <a:r>
                <a:rPr lang="zh-CN" altLang="en-US"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rPr>
                <a:t>二、</a:t>
              </a:r>
              <a:r>
                <a:rPr lang="zh-CN" altLang="en-US" sz="2800" b="1" dirty="0" smtClean="0">
                  <a:solidFill>
                    <a:srgbClr val="005CA7"/>
                  </a:solidFill>
                  <a:latin typeface="微软雅黑" panose="020B0503020204020204" pitchFamily="34" charset="-122"/>
                  <a:ea typeface="微软雅黑" panose="020B0503020204020204" pitchFamily="34" charset="-122"/>
                  <a:sym typeface="+mn-ea"/>
                </a:rPr>
                <a:t>蜂鸟E200 处理器的写回硬件实现</a:t>
              </a:r>
              <a:endParaRPr lang="zh-CN" altLang="en-US"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2" name="图片 1"/>
          <p:cNvPicPr>
            <a:picLocks noChangeAspect="1"/>
          </p:cNvPicPr>
          <p:nvPr/>
        </p:nvPicPr>
        <p:blipFill>
          <a:blip r:embed="rId1"/>
          <a:stretch>
            <a:fillRect/>
          </a:stretch>
        </p:blipFill>
        <p:spPr>
          <a:xfrm>
            <a:off x="964565" y="1574800"/>
            <a:ext cx="9344025" cy="1809750"/>
          </a:xfrm>
          <a:prstGeom prst="rect">
            <a:avLst/>
          </a:prstGeom>
        </p:spPr>
      </p:pic>
      <p:pic>
        <p:nvPicPr>
          <p:cNvPr id="3" name="图片 2"/>
          <p:cNvPicPr>
            <a:picLocks noChangeAspect="1"/>
          </p:cNvPicPr>
          <p:nvPr/>
        </p:nvPicPr>
        <p:blipFill>
          <a:blip r:embed="rId2"/>
          <a:stretch>
            <a:fillRect/>
          </a:stretch>
        </p:blipFill>
        <p:spPr>
          <a:xfrm>
            <a:off x="964565" y="3237865"/>
            <a:ext cx="9201150" cy="1990725"/>
          </a:xfrm>
          <a:prstGeom prst="rect">
            <a:avLst/>
          </a:prstGeom>
        </p:spPr>
      </p:pic>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outVertical)">
                                      <p:cBhvr>
                                        <p:cTn id="7" dur="500"/>
                                        <p:tgtEl>
                                          <p:spTgt spid="46"/>
                                        </p:tgtEl>
                                      </p:cBhvr>
                                    </p:animEffect>
                                  </p:childTnLst>
                                </p:cTn>
                              </p:par>
                              <p:par>
                                <p:cTn id="8" presetID="22" presetClass="entr" presetSubtype="8" fill="hold" nodeType="withEffect">
                                  <p:stCondLst>
                                    <p:cond delay="500"/>
                                  </p:stCondLst>
                                  <p:childTnLst>
                                    <p:set>
                                      <p:cBhvr>
                                        <p:cTn id="9" dur="1" fill="hold">
                                          <p:stCondLst>
                                            <p:cond delay="0"/>
                                          </p:stCondLst>
                                        </p:cTn>
                                        <p:tgtEl>
                                          <p:spTgt spid="44"/>
                                        </p:tgtEl>
                                        <p:attrNameLst>
                                          <p:attrName>style.visibility</p:attrName>
                                        </p:attrNameLst>
                                      </p:cBhvr>
                                      <p:to>
                                        <p:strVal val="visible"/>
                                      </p:to>
                                    </p:set>
                                    <p:animEffect transition="in" filter="wipe(left)">
                                      <p:cBhvr>
                                        <p:cTn id="10" dur="500"/>
                                        <p:tgtEl>
                                          <p:spTgt spid="44"/>
                                        </p:tgtEl>
                                      </p:cBhvr>
                                    </p:animEffect>
                                  </p:childTnLst>
                                </p:cTn>
                              </p:par>
                              <p:par>
                                <p:cTn id="11" presetID="22" presetClass="entr" presetSubtype="2" fill="hold" nodeType="withEffect">
                                  <p:stCondLst>
                                    <p:cond delay="500"/>
                                  </p:stCondLst>
                                  <p:childTnLst>
                                    <p:set>
                                      <p:cBhvr>
                                        <p:cTn id="12" dur="1" fill="hold">
                                          <p:stCondLst>
                                            <p:cond delay="0"/>
                                          </p:stCondLst>
                                        </p:cTn>
                                        <p:tgtEl>
                                          <p:spTgt spid="45"/>
                                        </p:tgtEl>
                                        <p:attrNameLst>
                                          <p:attrName>style.visibility</p:attrName>
                                        </p:attrNameLst>
                                      </p:cBhvr>
                                      <p:to>
                                        <p:strVal val="visible"/>
                                      </p:to>
                                    </p:set>
                                    <p:animEffect transition="in" filter="wipe(right)">
                                      <p:cBhvr>
                                        <p:cTn id="13"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4" name="直接连接符 43"/>
          <p:cNvCxnSpPr>
            <a:stCxn id="48" idx="3"/>
          </p:cNvCxnSpPr>
          <p:nvPr/>
        </p:nvCxnSpPr>
        <p:spPr>
          <a:xfrm>
            <a:off x="3061335" y="574675"/>
            <a:ext cx="9088755" cy="6350"/>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a:endCxn id="48" idx="1"/>
          </p:cNvCxnSpPr>
          <p:nvPr/>
        </p:nvCxnSpPr>
        <p:spPr>
          <a:xfrm>
            <a:off x="-193675" y="561340"/>
            <a:ext cx="875030" cy="13335"/>
          </a:xfrm>
          <a:prstGeom prst="line">
            <a:avLst/>
          </a:prstGeom>
          <a:ln w="38100">
            <a:solidFill>
              <a:srgbClr val="005CA7"/>
            </a:solidFill>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532765" y="300355"/>
            <a:ext cx="2528570" cy="523240"/>
            <a:chOff x="666819" y="300264"/>
            <a:chExt cx="3257149" cy="523220"/>
          </a:xfrm>
        </p:grpSpPr>
        <p:sp>
          <p:nvSpPr>
            <p:cNvPr id="48" name="圆角矩形 47"/>
            <p:cNvSpPr/>
            <p:nvPr/>
          </p:nvSpPr>
          <p:spPr>
            <a:xfrm>
              <a:off x="858582" y="325576"/>
              <a:ext cx="3065386" cy="497908"/>
            </a:xfrm>
            <a:prstGeom prst="roundRect">
              <a:avLst>
                <a:gd name="adj" fmla="val 50000"/>
              </a:avLst>
            </a:prstGeom>
            <a:noFill/>
            <a:ln w="381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文本框 1"/>
            <p:cNvSpPr>
              <a:spLocks noChangeArrowheads="1"/>
            </p:cNvSpPr>
            <p:nvPr/>
          </p:nvSpPr>
          <p:spPr bwMode="auto">
            <a:xfrm>
              <a:off x="666819" y="300264"/>
              <a:ext cx="3092049" cy="521950"/>
            </a:xfrm>
            <a:prstGeom prst="rect">
              <a:avLst/>
            </a:prstGeom>
            <a:noFill/>
          </p:spPr>
          <p:txBody>
            <a:bodyPr wrap="square" rtlCol="0">
              <a:spAutoFit/>
            </a:bodyPr>
            <a:lstStyle/>
            <a:p>
              <a:pPr algn="ctr">
                <a:buClrTx/>
                <a:buSzTx/>
                <a:buFontTx/>
              </a:pPr>
              <a:r>
                <a:rPr lang="zh-CN" altLang="en-US"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rPr>
                <a:t>三、小结</a:t>
              </a:r>
              <a:endParaRPr lang="en-US" altLang="zh-CN" sz="2800" b="1" dirty="0" smtClean="0">
                <a:solidFill>
                  <a:srgbClr val="005CA7"/>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sp>
        <p:nvSpPr>
          <p:cNvPr id="2" name="文本框 1"/>
          <p:cNvSpPr txBox="1"/>
          <p:nvPr/>
        </p:nvSpPr>
        <p:spPr>
          <a:xfrm>
            <a:off x="1261110" y="1470660"/>
            <a:ext cx="9335135" cy="3692525"/>
          </a:xfrm>
          <a:prstGeom prst="rect">
            <a:avLst/>
          </a:prstGeom>
          <a:noFill/>
        </p:spPr>
        <p:txBody>
          <a:bodyPr wrap="square" rtlCol="0" anchor="t">
            <a:spAutoFit/>
          </a:bodyPr>
          <a:p>
            <a:r>
              <a:rPr lang="zh-CN" altLang="en-US"/>
              <a:t>从上述的阐述中，我们可以看出蜂鸟 E200 处理器的写回是一种混合策略，体现在如下方面。</a:t>
            </a:r>
            <a:endParaRPr lang="zh-CN" altLang="en-US"/>
          </a:p>
          <a:p>
            <a:r>
              <a:rPr lang="zh-CN" altLang="en-US"/>
              <a:t>如果仅讨论单周期指令，蜂鸟 E200 的策略属于“顺序发射，顺序执行，顺序写回”。</a:t>
            </a:r>
            <a:endParaRPr lang="zh-CN" altLang="en-US"/>
          </a:p>
          <a:p>
            <a:r>
              <a:rPr lang="zh-CN" altLang="en-US"/>
              <a:t>如果仅讨论长指令（由不同的长指令运算单元执行），蜂鸟 E200 的策略属于“顺序</a:t>
            </a:r>
            <a:endParaRPr lang="zh-CN" altLang="en-US"/>
          </a:p>
          <a:p>
            <a:r>
              <a:rPr lang="zh-CN" altLang="en-US"/>
              <a:t>发射，乱序执行，顺序写回”。</a:t>
            </a:r>
            <a:endParaRPr lang="zh-CN" altLang="en-US"/>
          </a:p>
          <a:p>
            <a:r>
              <a:rPr lang="zh-CN" altLang="en-US"/>
              <a:t>如果将单周期指令和长指令统 考虑，蜂鸟 E200 的策略则属于“顺序发射，乱序执</a:t>
            </a:r>
            <a:endParaRPr lang="zh-CN" altLang="en-US"/>
          </a:p>
          <a:p>
            <a:r>
              <a:rPr lang="zh-CN" altLang="en-US"/>
              <a:t>行，乱序写回”。</a:t>
            </a:r>
            <a:endParaRPr lang="zh-CN" altLang="en-US"/>
          </a:p>
          <a:p>
            <a:r>
              <a:rPr lang="zh-CN" altLang="en-US"/>
              <a:t>所谓“法无长势，运用之妙，存乎一心”，体系结构设计本来就是一种非常灵活和创新</a:t>
            </a:r>
            <a:endParaRPr lang="zh-CN" altLang="en-US"/>
          </a:p>
          <a:p>
            <a:r>
              <a:rPr lang="zh-CN" altLang="en-US"/>
              <a:t>的学问，因此无须太过拘泥于固定的分类。蜂鸟 E200 处理器作为超低功耗处理器核，按道</a:t>
            </a:r>
            <a:endParaRPr lang="zh-CN" altLang="en-US"/>
          </a:p>
          <a:p>
            <a:r>
              <a:rPr lang="zh-CN" altLang="en-US"/>
              <a:t>理可以选择最简单的顺序执行、顺序写回的策略，但是我们却选择追求极小面积的同时，也</a:t>
            </a:r>
            <a:endParaRPr lang="zh-CN" altLang="en-US"/>
          </a:p>
          <a:p>
            <a:r>
              <a:rPr lang="zh-CN" altLang="en-US"/>
              <a:t>兼顾性能。通过将指令划分为单周期指令和长指令两大类，并且将“交付”和“写回”分开</a:t>
            </a:r>
            <a:endParaRPr lang="zh-CN" altLang="en-US"/>
          </a:p>
          <a:p>
            <a:r>
              <a:rPr lang="zh-CN" altLang="en-US"/>
              <a:t>的方式，使得即便执行了多周期长指令，仍然不会阻塞流水线。后续的大多数单周期指令仍</a:t>
            </a:r>
            <a:endParaRPr lang="zh-CN" altLang="en-US"/>
          </a:p>
          <a:p>
            <a:r>
              <a:rPr lang="zh-CN" altLang="en-US"/>
              <a:t>然能够顺利地“写回”和“交付”，并且通过 OITF 记录的顺序将长指令的写回单独处理。</a:t>
            </a:r>
            <a:endParaRPr lang="zh-CN" altLang="en-US"/>
          </a:p>
          <a:p>
            <a:r>
              <a:rPr lang="zh-CN" altLang="en-US"/>
              <a:t>硬件实现既简洁，而又不失性能，这便是“运用之妙，存乎一心”的体现。</a:t>
            </a:r>
            <a:endParaRPr lang="zh-CN" altLang="en-US"/>
          </a:p>
        </p:txBody>
      </p:sp>
    </p:spTree>
  </p:cSld>
  <p:clrMapOvr>
    <a:masterClrMapping/>
  </p:clrMapOvr>
  <p:transition spd="slow"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barn(outVertical)">
                                      <p:cBhvr>
                                        <p:cTn id="7" dur="500"/>
                                        <p:tgtEl>
                                          <p:spTgt spid="46"/>
                                        </p:tgtEl>
                                      </p:cBhvr>
                                    </p:animEffect>
                                  </p:childTnLst>
                                </p:cTn>
                              </p:par>
                              <p:par>
                                <p:cTn id="8" presetID="22" presetClass="entr" presetSubtype="8" fill="hold" nodeType="withEffect">
                                  <p:stCondLst>
                                    <p:cond delay="500"/>
                                  </p:stCondLst>
                                  <p:childTnLst>
                                    <p:set>
                                      <p:cBhvr>
                                        <p:cTn id="9" dur="1" fill="hold">
                                          <p:stCondLst>
                                            <p:cond delay="0"/>
                                          </p:stCondLst>
                                        </p:cTn>
                                        <p:tgtEl>
                                          <p:spTgt spid="44"/>
                                        </p:tgtEl>
                                        <p:attrNameLst>
                                          <p:attrName>style.visibility</p:attrName>
                                        </p:attrNameLst>
                                      </p:cBhvr>
                                      <p:to>
                                        <p:strVal val="visible"/>
                                      </p:to>
                                    </p:set>
                                    <p:animEffect transition="in" filter="wipe(left)">
                                      <p:cBhvr>
                                        <p:cTn id="10" dur="500"/>
                                        <p:tgtEl>
                                          <p:spTgt spid="44"/>
                                        </p:tgtEl>
                                      </p:cBhvr>
                                    </p:animEffect>
                                  </p:childTnLst>
                                </p:cTn>
                              </p:par>
                              <p:par>
                                <p:cTn id="11" presetID="22" presetClass="entr" presetSubtype="2" fill="hold" nodeType="withEffect">
                                  <p:stCondLst>
                                    <p:cond delay="500"/>
                                  </p:stCondLst>
                                  <p:childTnLst>
                                    <p:set>
                                      <p:cBhvr>
                                        <p:cTn id="12" dur="1" fill="hold">
                                          <p:stCondLst>
                                            <p:cond delay="0"/>
                                          </p:stCondLst>
                                        </p:cTn>
                                        <p:tgtEl>
                                          <p:spTgt spid="45"/>
                                        </p:tgtEl>
                                        <p:attrNameLst>
                                          <p:attrName>style.visibility</p:attrName>
                                        </p:attrNameLst>
                                      </p:cBhvr>
                                      <p:to>
                                        <p:strVal val="visible"/>
                                      </p:to>
                                    </p:set>
                                    <p:animEffect transition="in" filter="wipe(right)">
                                      <p:cBhvr>
                                        <p:cTn id="13"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7589129" y="1519004"/>
            <a:ext cx="3514299" cy="3565522"/>
            <a:chOff x="1295511" y="1384930"/>
            <a:chExt cx="4015043" cy="4073566"/>
          </a:xfrm>
        </p:grpSpPr>
        <p:sp>
          <p:nvSpPr>
            <p:cNvPr id="5" name="椭圆 4"/>
            <p:cNvSpPr/>
            <p:nvPr/>
          </p:nvSpPr>
          <p:spPr>
            <a:xfrm>
              <a:off x="2970313" y="2646146"/>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3440438" y="3027324"/>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3372764" y="3149064"/>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2560697" y="2984358"/>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2259614" y="3084635"/>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2653075" y="3365686"/>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2720748" y="3593409"/>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2468319" y="3479547"/>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2426571" y="3682563"/>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1976353" y="3796703"/>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1773336" y="3945762"/>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1841008" y="366108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2044025" y="343658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1477941" y="3658138"/>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1664130" y="3866271"/>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p:cNvSpPr/>
            <p:nvPr/>
          </p:nvSpPr>
          <p:spPr>
            <a:xfrm>
              <a:off x="1980868" y="402796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1628047" y="3501029"/>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1299630" y="3298013"/>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椭圆 22"/>
            <p:cNvSpPr/>
            <p:nvPr/>
          </p:nvSpPr>
          <p:spPr>
            <a:xfrm>
              <a:off x="1367302" y="289198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1646212" y="3232101"/>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1456457" y="2985267"/>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2044025" y="2985267"/>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椭圆 26"/>
            <p:cNvSpPr/>
            <p:nvPr/>
          </p:nvSpPr>
          <p:spPr>
            <a:xfrm>
              <a:off x="2307671" y="288306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1841007" y="2870496"/>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1440872" y="266911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1926122" y="2418274"/>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1965677" y="1915051"/>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2147983" y="2079758"/>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2291207" y="1673879"/>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2434430" y="1581986"/>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2635460" y="1725209"/>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a:off x="2439135" y="1958017"/>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2635460" y="2232679"/>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2791392" y="1427896"/>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椭圆 38"/>
            <p:cNvSpPr/>
            <p:nvPr/>
          </p:nvSpPr>
          <p:spPr>
            <a:xfrm>
              <a:off x="3080592" y="1652396"/>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3304023" y="1672572"/>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3390462" y="1892297"/>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3364357" y="138493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nvSpPr>
          <p:spPr>
            <a:xfrm>
              <a:off x="3458047" y="1695362"/>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3234169" y="2015308"/>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3246912" y="2307636"/>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2970313" y="2264669"/>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p:cNvSpPr/>
            <p:nvPr/>
          </p:nvSpPr>
          <p:spPr>
            <a:xfrm>
              <a:off x="2684998" y="2684947"/>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a:xfrm>
              <a:off x="2320814" y="2660814"/>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3169748" y="3127581"/>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p:cNvSpPr/>
            <p:nvPr/>
          </p:nvSpPr>
          <p:spPr>
            <a:xfrm>
              <a:off x="3371905" y="3323093"/>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p:cNvSpPr/>
            <p:nvPr/>
          </p:nvSpPr>
          <p:spPr>
            <a:xfrm>
              <a:off x="3592314" y="2896026"/>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3364356" y="270643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p:cNvSpPr/>
            <p:nvPr/>
          </p:nvSpPr>
          <p:spPr>
            <a:xfrm>
              <a:off x="3981815" y="266911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椭圆 53"/>
            <p:cNvSpPr/>
            <p:nvPr/>
          </p:nvSpPr>
          <p:spPr>
            <a:xfrm>
              <a:off x="3914142" y="2372485"/>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3762135" y="1672571"/>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3912407" y="1793192"/>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椭圆 56"/>
            <p:cNvSpPr/>
            <p:nvPr/>
          </p:nvSpPr>
          <p:spPr>
            <a:xfrm>
              <a:off x="4612348" y="2079758"/>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4523193" y="1888461"/>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椭圆 58"/>
            <p:cNvSpPr/>
            <p:nvPr/>
          </p:nvSpPr>
          <p:spPr>
            <a:xfrm>
              <a:off x="4480227" y="2485946"/>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椭圆 59"/>
            <p:cNvSpPr/>
            <p:nvPr/>
          </p:nvSpPr>
          <p:spPr>
            <a:xfrm>
              <a:off x="4437036" y="2824308"/>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nvSpPr>
          <p:spPr>
            <a:xfrm>
              <a:off x="4477093" y="2912153"/>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椭圆 61"/>
            <p:cNvSpPr/>
            <p:nvPr/>
          </p:nvSpPr>
          <p:spPr>
            <a:xfrm>
              <a:off x="5086054" y="3018694"/>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椭圆 62"/>
            <p:cNvSpPr/>
            <p:nvPr/>
          </p:nvSpPr>
          <p:spPr>
            <a:xfrm>
              <a:off x="5267588" y="319629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椭圆 63"/>
            <p:cNvSpPr/>
            <p:nvPr/>
          </p:nvSpPr>
          <p:spPr>
            <a:xfrm>
              <a:off x="5199916" y="3659538"/>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a:off x="5156949" y="3816652"/>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p:cNvSpPr/>
            <p:nvPr/>
          </p:nvSpPr>
          <p:spPr>
            <a:xfrm>
              <a:off x="4477093" y="3571925"/>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椭圆 66"/>
            <p:cNvSpPr/>
            <p:nvPr/>
          </p:nvSpPr>
          <p:spPr>
            <a:xfrm>
              <a:off x="4922569" y="4185826"/>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nvSpPr>
          <p:spPr>
            <a:xfrm>
              <a:off x="4996899" y="4048855"/>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p:cNvSpPr/>
            <p:nvPr/>
          </p:nvSpPr>
          <p:spPr>
            <a:xfrm>
              <a:off x="5199916" y="3968321"/>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p:cNvSpPr/>
            <p:nvPr/>
          </p:nvSpPr>
          <p:spPr>
            <a:xfrm>
              <a:off x="5135466" y="4364911"/>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椭圆 70"/>
            <p:cNvSpPr/>
            <p:nvPr/>
          </p:nvSpPr>
          <p:spPr>
            <a:xfrm>
              <a:off x="4658537" y="4377442"/>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椭圆 71"/>
            <p:cNvSpPr/>
            <p:nvPr/>
          </p:nvSpPr>
          <p:spPr>
            <a:xfrm>
              <a:off x="4964440" y="4616454"/>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椭圆 72"/>
            <p:cNvSpPr/>
            <p:nvPr/>
          </p:nvSpPr>
          <p:spPr>
            <a:xfrm>
              <a:off x="4523407" y="5082724"/>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椭圆 73"/>
            <p:cNvSpPr/>
            <p:nvPr/>
          </p:nvSpPr>
          <p:spPr>
            <a:xfrm>
              <a:off x="4320175" y="4808286"/>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椭圆 74"/>
            <p:cNvSpPr/>
            <p:nvPr/>
          </p:nvSpPr>
          <p:spPr>
            <a:xfrm>
              <a:off x="4226860" y="436491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a:off x="4520059" y="4150703"/>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椭圆 76"/>
            <p:cNvSpPr/>
            <p:nvPr/>
          </p:nvSpPr>
          <p:spPr>
            <a:xfrm>
              <a:off x="4182950" y="4113988"/>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p:cNvSpPr/>
            <p:nvPr/>
          </p:nvSpPr>
          <p:spPr>
            <a:xfrm>
              <a:off x="4117159" y="4516114"/>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nvSpPr>
          <p:spPr>
            <a:xfrm>
              <a:off x="3738565" y="4702304"/>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p:cNvSpPr/>
            <p:nvPr/>
          </p:nvSpPr>
          <p:spPr>
            <a:xfrm>
              <a:off x="3621597" y="4593355"/>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a:off x="3345302" y="4362011"/>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a:off x="3526467" y="5038006"/>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nvSpPr>
          <p:spPr>
            <a:xfrm>
              <a:off x="2943458" y="541553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nvSpPr>
          <p:spPr>
            <a:xfrm>
              <a:off x="2405087" y="5214319"/>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p:cNvSpPr/>
            <p:nvPr/>
          </p:nvSpPr>
          <p:spPr>
            <a:xfrm>
              <a:off x="2699264" y="5113323"/>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p:cNvSpPr/>
            <p:nvPr/>
          </p:nvSpPr>
          <p:spPr>
            <a:xfrm>
              <a:off x="2383603" y="4723661"/>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p:cNvSpPr/>
            <p:nvPr/>
          </p:nvSpPr>
          <p:spPr>
            <a:xfrm>
              <a:off x="2631021" y="476492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p:cNvSpPr/>
            <p:nvPr/>
          </p:nvSpPr>
          <p:spPr>
            <a:xfrm>
              <a:off x="2269724" y="4473148"/>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椭圆 88"/>
            <p:cNvSpPr/>
            <p:nvPr/>
          </p:nvSpPr>
          <p:spPr>
            <a:xfrm>
              <a:off x="2673988" y="4245425"/>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椭圆 89"/>
            <p:cNvSpPr/>
            <p:nvPr/>
          </p:nvSpPr>
          <p:spPr>
            <a:xfrm>
              <a:off x="1707097" y="4266908"/>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椭圆 90"/>
            <p:cNvSpPr/>
            <p:nvPr/>
          </p:nvSpPr>
          <p:spPr>
            <a:xfrm>
              <a:off x="2086359" y="4494631"/>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p:cNvSpPr/>
            <p:nvPr/>
          </p:nvSpPr>
          <p:spPr>
            <a:xfrm>
              <a:off x="1987159" y="4933596"/>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p:cNvSpPr/>
            <p:nvPr/>
          </p:nvSpPr>
          <p:spPr>
            <a:xfrm>
              <a:off x="2698762" y="4594971"/>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p:cNvSpPr/>
            <p:nvPr/>
          </p:nvSpPr>
          <p:spPr>
            <a:xfrm>
              <a:off x="3167854" y="4579293"/>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椭圆 94"/>
            <p:cNvSpPr/>
            <p:nvPr/>
          </p:nvSpPr>
          <p:spPr>
            <a:xfrm>
              <a:off x="2923539" y="438077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p:cNvSpPr/>
            <p:nvPr/>
          </p:nvSpPr>
          <p:spPr>
            <a:xfrm>
              <a:off x="2652504" y="3863471"/>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p:cNvSpPr/>
            <p:nvPr/>
          </p:nvSpPr>
          <p:spPr>
            <a:xfrm>
              <a:off x="3383994" y="3795169"/>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椭圆 97"/>
            <p:cNvSpPr/>
            <p:nvPr/>
          </p:nvSpPr>
          <p:spPr>
            <a:xfrm>
              <a:off x="3686856" y="4319045"/>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椭圆 98"/>
            <p:cNvSpPr/>
            <p:nvPr/>
          </p:nvSpPr>
          <p:spPr>
            <a:xfrm>
              <a:off x="3740151" y="3723117"/>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椭圆 99"/>
            <p:cNvSpPr/>
            <p:nvPr/>
          </p:nvSpPr>
          <p:spPr>
            <a:xfrm>
              <a:off x="4117159" y="3515183"/>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1" name="椭圆 100"/>
            <p:cNvSpPr/>
            <p:nvPr/>
          </p:nvSpPr>
          <p:spPr>
            <a:xfrm>
              <a:off x="4483050" y="3107660"/>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p:cNvSpPr/>
            <p:nvPr/>
          </p:nvSpPr>
          <p:spPr>
            <a:xfrm>
              <a:off x="4898116" y="3232101"/>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p:cNvSpPr/>
            <p:nvPr/>
          </p:nvSpPr>
          <p:spPr>
            <a:xfrm>
              <a:off x="4701504" y="2901857"/>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p:cNvSpPr/>
            <p:nvPr/>
          </p:nvSpPr>
          <p:spPr>
            <a:xfrm>
              <a:off x="3828018" y="2789612"/>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p:cNvSpPr/>
            <p:nvPr/>
          </p:nvSpPr>
          <p:spPr>
            <a:xfrm>
              <a:off x="3849501" y="3867691"/>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p:cNvSpPr/>
            <p:nvPr/>
          </p:nvSpPr>
          <p:spPr>
            <a:xfrm>
              <a:off x="2748330" y="4724668"/>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椭圆 106"/>
            <p:cNvSpPr/>
            <p:nvPr/>
          </p:nvSpPr>
          <p:spPr>
            <a:xfrm>
              <a:off x="2248049" y="3710711"/>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椭圆 107"/>
            <p:cNvSpPr/>
            <p:nvPr/>
          </p:nvSpPr>
          <p:spPr>
            <a:xfrm>
              <a:off x="1319473" y="3084423"/>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椭圆 108"/>
            <p:cNvSpPr/>
            <p:nvPr/>
          </p:nvSpPr>
          <p:spPr>
            <a:xfrm>
              <a:off x="1816302" y="3107564"/>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椭圆 109"/>
            <p:cNvSpPr/>
            <p:nvPr/>
          </p:nvSpPr>
          <p:spPr>
            <a:xfrm>
              <a:off x="1456361" y="4136756"/>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椭圆 110"/>
            <p:cNvSpPr/>
            <p:nvPr/>
          </p:nvSpPr>
          <p:spPr>
            <a:xfrm>
              <a:off x="2391652" y="3950075"/>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椭圆 111"/>
            <p:cNvSpPr/>
            <p:nvPr/>
          </p:nvSpPr>
          <p:spPr>
            <a:xfrm>
              <a:off x="3255652" y="4070926"/>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p:cNvSpPr/>
            <p:nvPr/>
          </p:nvSpPr>
          <p:spPr>
            <a:xfrm>
              <a:off x="3126685" y="4933596"/>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p:cNvSpPr/>
            <p:nvPr/>
          </p:nvSpPr>
          <p:spPr>
            <a:xfrm>
              <a:off x="2194973" y="5033758"/>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椭圆 114"/>
            <p:cNvSpPr/>
            <p:nvPr/>
          </p:nvSpPr>
          <p:spPr>
            <a:xfrm>
              <a:off x="4679924" y="4722162"/>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 name="椭圆 115"/>
            <p:cNvSpPr/>
            <p:nvPr/>
          </p:nvSpPr>
          <p:spPr>
            <a:xfrm>
              <a:off x="4919598" y="3721055"/>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椭圆 116"/>
            <p:cNvSpPr/>
            <p:nvPr/>
          </p:nvSpPr>
          <p:spPr>
            <a:xfrm>
              <a:off x="4008635" y="3048807"/>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椭圆 117"/>
            <p:cNvSpPr/>
            <p:nvPr/>
          </p:nvSpPr>
          <p:spPr>
            <a:xfrm>
              <a:off x="3805102" y="3258451"/>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椭圆 118"/>
            <p:cNvSpPr/>
            <p:nvPr/>
          </p:nvSpPr>
          <p:spPr>
            <a:xfrm>
              <a:off x="3527672" y="3098450"/>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椭圆 119"/>
            <p:cNvSpPr/>
            <p:nvPr/>
          </p:nvSpPr>
          <p:spPr>
            <a:xfrm>
              <a:off x="4298596" y="2880278"/>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1" name="椭圆 120"/>
            <p:cNvSpPr/>
            <p:nvPr/>
          </p:nvSpPr>
          <p:spPr>
            <a:xfrm>
              <a:off x="5124549" y="2641885"/>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2" name="椭圆 121"/>
            <p:cNvSpPr/>
            <p:nvPr/>
          </p:nvSpPr>
          <p:spPr>
            <a:xfrm>
              <a:off x="4051697" y="1624952"/>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3" name="椭圆 122"/>
            <p:cNvSpPr/>
            <p:nvPr/>
          </p:nvSpPr>
          <p:spPr>
            <a:xfrm>
              <a:off x="3764925" y="1853109"/>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椭圆 123"/>
            <p:cNvSpPr/>
            <p:nvPr/>
          </p:nvSpPr>
          <p:spPr>
            <a:xfrm>
              <a:off x="3105106" y="1470862"/>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椭圆 124"/>
            <p:cNvSpPr/>
            <p:nvPr/>
          </p:nvSpPr>
          <p:spPr>
            <a:xfrm>
              <a:off x="3600017" y="1419775"/>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椭圆 125"/>
            <p:cNvSpPr/>
            <p:nvPr/>
          </p:nvSpPr>
          <p:spPr>
            <a:xfrm>
              <a:off x="2684902" y="2393967"/>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椭圆 126"/>
            <p:cNvSpPr/>
            <p:nvPr/>
          </p:nvSpPr>
          <p:spPr>
            <a:xfrm>
              <a:off x="2446739" y="2579782"/>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8" name="矩形 127"/>
            <p:cNvSpPr/>
            <p:nvPr/>
          </p:nvSpPr>
          <p:spPr>
            <a:xfrm>
              <a:off x="2190950" y="3910753"/>
              <a:ext cx="47085" cy="47085"/>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矩形 128"/>
            <p:cNvSpPr/>
            <p:nvPr/>
          </p:nvSpPr>
          <p:spPr>
            <a:xfrm>
              <a:off x="2387629" y="4420408"/>
              <a:ext cx="47085" cy="47085"/>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p:cNvSpPr/>
            <p:nvPr/>
          </p:nvSpPr>
          <p:spPr>
            <a:xfrm>
              <a:off x="1520907" y="4449605"/>
              <a:ext cx="47085" cy="47085"/>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1" name="矩形 130"/>
            <p:cNvSpPr/>
            <p:nvPr/>
          </p:nvSpPr>
          <p:spPr>
            <a:xfrm>
              <a:off x="1295511" y="3766083"/>
              <a:ext cx="47085" cy="47085"/>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2" name="矩形 131"/>
            <p:cNvSpPr/>
            <p:nvPr/>
          </p:nvSpPr>
          <p:spPr>
            <a:xfrm>
              <a:off x="2444776" y="3170146"/>
              <a:ext cx="47085" cy="47085"/>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矩形 132"/>
            <p:cNvSpPr/>
            <p:nvPr/>
          </p:nvSpPr>
          <p:spPr>
            <a:xfrm>
              <a:off x="2129325" y="2509665"/>
              <a:ext cx="47085" cy="47085"/>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4" name="矩形 133"/>
            <p:cNvSpPr/>
            <p:nvPr/>
          </p:nvSpPr>
          <p:spPr>
            <a:xfrm>
              <a:off x="2171430" y="2268966"/>
              <a:ext cx="47085" cy="47085"/>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矩形 134"/>
            <p:cNvSpPr/>
            <p:nvPr/>
          </p:nvSpPr>
          <p:spPr>
            <a:xfrm>
              <a:off x="2771026" y="2075639"/>
              <a:ext cx="47085" cy="47085"/>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矩形 135"/>
            <p:cNvSpPr/>
            <p:nvPr/>
          </p:nvSpPr>
          <p:spPr>
            <a:xfrm>
              <a:off x="3436318" y="2368366"/>
              <a:ext cx="47085" cy="47085"/>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7" name="矩形 136"/>
            <p:cNvSpPr/>
            <p:nvPr/>
          </p:nvSpPr>
          <p:spPr>
            <a:xfrm>
              <a:off x="3483404" y="2581608"/>
              <a:ext cx="47085" cy="47085"/>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8" name="矩形 137"/>
            <p:cNvSpPr/>
            <p:nvPr/>
          </p:nvSpPr>
          <p:spPr>
            <a:xfrm>
              <a:off x="3892563" y="2147585"/>
              <a:ext cx="47085" cy="47085"/>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9" name="矩形 138"/>
            <p:cNvSpPr/>
            <p:nvPr/>
          </p:nvSpPr>
          <p:spPr>
            <a:xfrm>
              <a:off x="3970325" y="1955418"/>
              <a:ext cx="81373" cy="81372"/>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矩形 139"/>
            <p:cNvSpPr/>
            <p:nvPr/>
          </p:nvSpPr>
          <p:spPr>
            <a:xfrm>
              <a:off x="4430007" y="2171128"/>
              <a:ext cx="47085" cy="47085"/>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1" name="矩形 140"/>
            <p:cNvSpPr/>
            <p:nvPr/>
          </p:nvSpPr>
          <p:spPr>
            <a:xfrm>
              <a:off x="4382922" y="2372484"/>
              <a:ext cx="45898" cy="45898"/>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矩形 141"/>
            <p:cNvSpPr/>
            <p:nvPr/>
          </p:nvSpPr>
          <p:spPr>
            <a:xfrm>
              <a:off x="5003133" y="3107660"/>
              <a:ext cx="45898" cy="45898"/>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3" name="矩形 142"/>
            <p:cNvSpPr/>
            <p:nvPr/>
          </p:nvSpPr>
          <p:spPr>
            <a:xfrm>
              <a:off x="4876671" y="3492234"/>
              <a:ext cx="45898" cy="45898"/>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矩形 143"/>
            <p:cNvSpPr/>
            <p:nvPr/>
          </p:nvSpPr>
          <p:spPr>
            <a:xfrm>
              <a:off x="4718720" y="3337909"/>
              <a:ext cx="45898" cy="45898"/>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5" name="矩形 144"/>
            <p:cNvSpPr/>
            <p:nvPr/>
          </p:nvSpPr>
          <p:spPr>
            <a:xfrm>
              <a:off x="4204433" y="3229169"/>
              <a:ext cx="45898" cy="45898"/>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矩形 145"/>
            <p:cNvSpPr/>
            <p:nvPr/>
          </p:nvSpPr>
          <p:spPr>
            <a:xfrm>
              <a:off x="3641613" y="3446335"/>
              <a:ext cx="45898" cy="45898"/>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p:cNvSpPr/>
            <p:nvPr/>
          </p:nvSpPr>
          <p:spPr>
            <a:xfrm>
              <a:off x="4052964" y="3970764"/>
              <a:ext cx="45898" cy="45898"/>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矩形 147"/>
            <p:cNvSpPr/>
            <p:nvPr/>
          </p:nvSpPr>
          <p:spPr>
            <a:xfrm>
              <a:off x="3802265" y="4188709"/>
              <a:ext cx="45898" cy="45898"/>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矩形 148"/>
            <p:cNvSpPr/>
            <p:nvPr/>
          </p:nvSpPr>
          <p:spPr>
            <a:xfrm>
              <a:off x="4020323" y="5079791"/>
              <a:ext cx="45898" cy="45898"/>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a:off x="2834454" y="4904516"/>
              <a:ext cx="45898" cy="45898"/>
            </a:xfrm>
            <a:prstGeom prst="rect">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a:off x="3023576" y="5107553"/>
              <a:ext cx="45898" cy="45898"/>
            </a:xfrm>
            <a:prstGeom prst="rect">
              <a:avLst/>
            </a:prstGeom>
            <a:solidFill>
              <a:srgbClr val="005CA7"/>
            </a:solidFill>
            <a:ln w="127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a:off x="3691717" y="4036199"/>
              <a:ext cx="45898" cy="45898"/>
            </a:xfrm>
            <a:prstGeom prst="rect">
              <a:avLst/>
            </a:prstGeom>
            <a:solidFill>
              <a:srgbClr val="005CA7"/>
            </a:solidFill>
            <a:ln w="127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3" name="矩形 152"/>
            <p:cNvSpPr/>
            <p:nvPr/>
          </p:nvSpPr>
          <p:spPr>
            <a:xfrm>
              <a:off x="2585123" y="4064133"/>
              <a:ext cx="45898" cy="45898"/>
            </a:xfrm>
            <a:prstGeom prst="rect">
              <a:avLst/>
            </a:prstGeom>
            <a:solidFill>
              <a:srgbClr val="005CA7"/>
            </a:solidFill>
            <a:ln w="127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 name="矩形 153"/>
            <p:cNvSpPr/>
            <p:nvPr/>
          </p:nvSpPr>
          <p:spPr>
            <a:xfrm>
              <a:off x="1300970" y="3966854"/>
              <a:ext cx="45898" cy="45898"/>
            </a:xfrm>
            <a:prstGeom prst="rect">
              <a:avLst/>
            </a:prstGeom>
            <a:solidFill>
              <a:srgbClr val="005CA7"/>
            </a:solidFill>
            <a:ln w="127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矩形 154"/>
            <p:cNvSpPr/>
            <p:nvPr/>
          </p:nvSpPr>
          <p:spPr>
            <a:xfrm>
              <a:off x="2772213" y="3032167"/>
              <a:ext cx="45898" cy="45898"/>
            </a:xfrm>
            <a:prstGeom prst="rect">
              <a:avLst/>
            </a:prstGeom>
            <a:solidFill>
              <a:srgbClr val="005CA7"/>
            </a:solidFill>
            <a:ln w="127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矩形 155"/>
            <p:cNvSpPr/>
            <p:nvPr/>
          </p:nvSpPr>
          <p:spPr>
            <a:xfrm>
              <a:off x="1484061" y="3345355"/>
              <a:ext cx="45898" cy="45898"/>
            </a:xfrm>
            <a:prstGeom prst="rect">
              <a:avLst/>
            </a:prstGeom>
            <a:solidFill>
              <a:srgbClr val="005CA7"/>
            </a:solidFill>
            <a:ln w="127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矩形 156"/>
            <p:cNvSpPr/>
            <p:nvPr/>
          </p:nvSpPr>
          <p:spPr>
            <a:xfrm>
              <a:off x="2940526" y="2525824"/>
              <a:ext cx="45898" cy="45898"/>
            </a:xfrm>
            <a:prstGeom prst="rect">
              <a:avLst/>
            </a:prstGeom>
            <a:solidFill>
              <a:srgbClr val="005CA7"/>
            </a:solidFill>
            <a:ln w="127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矩形 157"/>
            <p:cNvSpPr/>
            <p:nvPr/>
          </p:nvSpPr>
          <p:spPr>
            <a:xfrm>
              <a:off x="3846665" y="2548773"/>
              <a:ext cx="45898" cy="45898"/>
            </a:xfrm>
            <a:prstGeom prst="rect">
              <a:avLst/>
            </a:prstGeom>
            <a:solidFill>
              <a:srgbClr val="005CA7"/>
            </a:solidFill>
            <a:ln w="127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矩形 158"/>
            <p:cNvSpPr/>
            <p:nvPr/>
          </p:nvSpPr>
          <p:spPr>
            <a:xfrm>
              <a:off x="5101600" y="2809724"/>
              <a:ext cx="45898" cy="45898"/>
            </a:xfrm>
            <a:prstGeom prst="rect">
              <a:avLst/>
            </a:prstGeom>
            <a:solidFill>
              <a:srgbClr val="005CA7"/>
            </a:solidFill>
            <a:ln w="12700">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0" name="直接连接符 159"/>
            <p:cNvCxnSpPr>
              <a:stCxn id="73" idx="7"/>
              <a:endCxn id="115" idx="4"/>
            </p:cNvCxnSpPr>
            <p:nvPr/>
          </p:nvCxnSpPr>
          <p:spPr>
            <a:xfrm flipV="1">
              <a:off x="4560081" y="4808286"/>
              <a:ext cx="162905" cy="280730"/>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61" name="直接连接符 160"/>
            <p:cNvCxnSpPr>
              <a:endCxn id="74" idx="1"/>
            </p:cNvCxnSpPr>
            <p:nvPr/>
          </p:nvCxnSpPr>
          <p:spPr>
            <a:xfrm>
              <a:off x="4248342" y="4407877"/>
              <a:ext cx="78125" cy="406701"/>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62" name="直接连接符 161"/>
            <p:cNvCxnSpPr>
              <a:stCxn id="75" idx="5"/>
              <a:endCxn id="115" idx="1"/>
            </p:cNvCxnSpPr>
            <p:nvPr/>
          </p:nvCxnSpPr>
          <p:spPr>
            <a:xfrm>
              <a:off x="4263534" y="4401584"/>
              <a:ext cx="429003" cy="333191"/>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63" name="直接连接符 162"/>
            <p:cNvCxnSpPr>
              <a:stCxn id="75" idx="7"/>
              <a:endCxn id="76" idx="2"/>
            </p:cNvCxnSpPr>
            <p:nvPr/>
          </p:nvCxnSpPr>
          <p:spPr>
            <a:xfrm flipV="1">
              <a:off x="4263534" y="4172186"/>
              <a:ext cx="256525" cy="199015"/>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a:stCxn id="71" idx="6"/>
              <a:endCxn id="70" idx="6"/>
            </p:cNvCxnSpPr>
            <p:nvPr/>
          </p:nvCxnSpPr>
          <p:spPr>
            <a:xfrm flipV="1">
              <a:off x="4701504" y="4386394"/>
              <a:ext cx="476928" cy="12531"/>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65" name="直接连接符 164"/>
            <p:cNvCxnSpPr>
              <a:stCxn id="69" idx="4"/>
              <a:endCxn id="70" idx="7"/>
            </p:cNvCxnSpPr>
            <p:nvPr/>
          </p:nvCxnSpPr>
          <p:spPr>
            <a:xfrm flipH="1">
              <a:off x="5172140" y="4011287"/>
              <a:ext cx="49259" cy="359915"/>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66" name="直接连接符 165"/>
            <p:cNvCxnSpPr>
              <a:stCxn id="116" idx="4"/>
              <a:endCxn id="67" idx="0"/>
            </p:cNvCxnSpPr>
            <p:nvPr/>
          </p:nvCxnSpPr>
          <p:spPr>
            <a:xfrm flipH="1">
              <a:off x="4944053" y="3807179"/>
              <a:ext cx="18608" cy="378646"/>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67" name="直接连接符 166"/>
            <p:cNvCxnSpPr>
              <a:endCxn id="116" idx="2"/>
            </p:cNvCxnSpPr>
            <p:nvPr/>
          </p:nvCxnSpPr>
          <p:spPr>
            <a:xfrm>
              <a:off x="4520059" y="3593409"/>
              <a:ext cx="399540" cy="170709"/>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68" name="直接连接符 167"/>
            <p:cNvCxnSpPr>
              <a:stCxn id="116" idx="6"/>
              <a:endCxn id="64" idx="2"/>
            </p:cNvCxnSpPr>
            <p:nvPr/>
          </p:nvCxnSpPr>
          <p:spPr>
            <a:xfrm flipV="1">
              <a:off x="5005722" y="3681021"/>
              <a:ext cx="194193" cy="83096"/>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69" name="直接连接符 168"/>
            <p:cNvCxnSpPr>
              <a:stCxn id="116" idx="7"/>
              <a:endCxn id="63" idx="3"/>
            </p:cNvCxnSpPr>
            <p:nvPr/>
          </p:nvCxnSpPr>
          <p:spPr>
            <a:xfrm flipV="1">
              <a:off x="4993110" y="3232964"/>
              <a:ext cx="280770" cy="50070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70" name="直接连接符 169"/>
            <p:cNvCxnSpPr>
              <a:stCxn id="103" idx="4"/>
            </p:cNvCxnSpPr>
            <p:nvPr/>
          </p:nvCxnSpPr>
          <p:spPr>
            <a:xfrm>
              <a:off x="4722987" y="2944823"/>
              <a:ext cx="175129" cy="284346"/>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71" name="直接连接符 170"/>
            <p:cNvCxnSpPr>
              <a:stCxn id="103" idx="7"/>
              <a:endCxn id="121" idx="3"/>
            </p:cNvCxnSpPr>
            <p:nvPr/>
          </p:nvCxnSpPr>
          <p:spPr>
            <a:xfrm flipV="1">
              <a:off x="4738178" y="2715396"/>
              <a:ext cx="398984" cy="192752"/>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72" name="直接连接符 171"/>
            <p:cNvCxnSpPr>
              <a:stCxn id="122" idx="4"/>
            </p:cNvCxnSpPr>
            <p:nvPr/>
          </p:nvCxnSpPr>
          <p:spPr>
            <a:xfrm>
              <a:off x="4094759" y="1711076"/>
              <a:ext cx="175067" cy="99270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sp>
          <p:nvSpPr>
            <p:cNvPr id="173" name="椭圆 172"/>
            <p:cNvSpPr/>
            <p:nvPr/>
          </p:nvSpPr>
          <p:spPr>
            <a:xfrm>
              <a:off x="4255630" y="2682296"/>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4" name="直接连接符 173"/>
            <p:cNvCxnSpPr>
              <a:stCxn id="173" idx="7"/>
              <a:endCxn id="59" idx="3"/>
            </p:cNvCxnSpPr>
            <p:nvPr/>
          </p:nvCxnSpPr>
          <p:spPr>
            <a:xfrm flipV="1">
              <a:off x="4292304" y="2522621"/>
              <a:ext cx="194215" cy="165968"/>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75" name="直接连接符 174"/>
            <p:cNvCxnSpPr>
              <a:stCxn id="122" idx="5"/>
              <a:endCxn id="57" idx="1"/>
            </p:cNvCxnSpPr>
            <p:nvPr/>
          </p:nvCxnSpPr>
          <p:spPr>
            <a:xfrm>
              <a:off x="4125209" y="1698463"/>
              <a:ext cx="493431" cy="387586"/>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76" name="直接连接符 175"/>
            <p:cNvCxnSpPr>
              <a:stCxn id="123" idx="4"/>
              <a:endCxn id="51" idx="7"/>
            </p:cNvCxnSpPr>
            <p:nvPr/>
          </p:nvCxnSpPr>
          <p:spPr>
            <a:xfrm flipH="1">
              <a:off x="3628988" y="1939233"/>
              <a:ext cx="178999" cy="963085"/>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a:stCxn id="52" idx="5"/>
              <a:endCxn id="51" idx="2"/>
            </p:cNvCxnSpPr>
            <p:nvPr/>
          </p:nvCxnSpPr>
          <p:spPr>
            <a:xfrm>
              <a:off x="3401030" y="2743104"/>
              <a:ext cx="191284" cy="174405"/>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78" name="直接连接符 177"/>
            <p:cNvCxnSpPr>
              <a:stCxn id="45" idx="7"/>
            </p:cNvCxnSpPr>
            <p:nvPr/>
          </p:nvCxnSpPr>
          <p:spPr>
            <a:xfrm flipV="1">
              <a:off x="3283586" y="1909944"/>
              <a:ext cx="497945" cy="40398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a:stCxn id="41" idx="6"/>
              <a:endCxn id="123" idx="1"/>
            </p:cNvCxnSpPr>
            <p:nvPr/>
          </p:nvCxnSpPr>
          <p:spPr>
            <a:xfrm flipV="1">
              <a:off x="3433429" y="1865722"/>
              <a:ext cx="344109" cy="48059"/>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80" name="直接连接符 179"/>
            <p:cNvCxnSpPr>
              <a:stCxn id="43" idx="7"/>
              <a:endCxn id="125" idx="3"/>
            </p:cNvCxnSpPr>
            <p:nvPr/>
          </p:nvCxnSpPr>
          <p:spPr>
            <a:xfrm flipV="1">
              <a:off x="3494722" y="1493286"/>
              <a:ext cx="117909" cy="208368"/>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81" name="直接连接符 180"/>
            <p:cNvCxnSpPr>
              <a:stCxn id="42" idx="6"/>
              <a:endCxn id="125" idx="1"/>
            </p:cNvCxnSpPr>
            <p:nvPr/>
          </p:nvCxnSpPr>
          <p:spPr>
            <a:xfrm>
              <a:off x="3407323" y="1406414"/>
              <a:ext cx="205307" cy="2597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82" name="直接连接符 181"/>
            <p:cNvCxnSpPr>
              <a:stCxn id="38" idx="3"/>
              <a:endCxn id="35" idx="7"/>
            </p:cNvCxnSpPr>
            <p:nvPr/>
          </p:nvCxnSpPr>
          <p:spPr>
            <a:xfrm flipH="1">
              <a:off x="2672134" y="1464570"/>
              <a:ext cx="125549" cy="266931"/>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83" name="直接连接符 182"/>
            <p:cNvCxnSpPr>
              <a:stCxn id="34" idx="5"/>
              <a:endCxn id="35" idx="1"/>
            </p:cNvCxnSpPr>
            <p:nvPr/>
          </p:nvCxnSpPr>
          <p:spPr>
            <a:xfrm>
              <a:off x="2471104" y="1618660"/>
              <a:ext cx="170648" cy="112841"/>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84" name="直接连接符 183"/>
            <p:cNvCxnSpPr>
              <a:endCxn id="39" idx="3"/>
            </p:cNvCxnSpPr>
            <p:nvPr/>
          </p:nvCxnSpPr>
          <p:spPr>
            <a:xfrm flipV="1">
              <a:off x="2678426" y="1689070"/>
              <a:ext cx="408457" cy="49258"/>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85" name="直接连接符 184"/>
            <p:cNvCxnSpPr>
              <a:stCxn id="31" idx="6"/>
              <a:endCxn id="35" idx="2"/>
            </p:cNvCxnSpPr>
            <p:nvPr/>
          </p:nvCxnSpPr>
          <p:spPr>
            <a:xfrm flipV="1">
              <a:off x="2008643" y="1746693"/>
              <a:ext cx="626817" cy="189842"/>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86" name="直接连接符 185"/>
            <p:cNvCxnSpPr>
              <a:stCxn id="31" idx="7"/>
              <a:endCxn id="33" idx="2"/>
            </p:cNvCxnSpPr>
            <p:nvPr/>
          </p:nvCxnSpPr>
          <p:spPr>
            <a:xfrm flipV="1">
              <a:off x="2002351" y="1695363"/>
              <a:ext cx="288856" cy="225981"/>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87" name="直接连接符 186"/>
            <p:cNvCxnSpPr>
              <a:stCxn id="35" idx="4"/>
              <a:endCxn id="36" idx="7"/>
            </p:cNvCxnSpPr>
            <p:nvPr/>
          </p:nvCxnSpPr>
          <p:spPr>
            <a:xfrm flipH="1">
              <a:off x="2475810" y="1768176"/>
              <a:ext cx="181134" cy="19613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88" name="直接连接符 187"/>
            <p:cNvCxnSpPr>
              <a:endCxn id="37" idx="0"/>
            </p:cNvCxnSpPr>
            <p:nvPr/>
          </p:nvCxnSpPr>
          <p:spPr>
            <a:xfrm>
              <a:off x="2656944" y="1768176"/>
              <a:ext cx="0" cy="464503"/>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89" name="直接连接符 188"/>
            <p:cNvCxnSpPr>
              <a:stCxn id="44" idx="4"/>
              <a:endCxn id="45" idx="0"/>
            </p:cNvCxnSpPr>
            <p:nvPr/>
          </p:nvCxnSpPr>
          <p:spPr>
            <a:xfrm>
              <a:off x="3255653" y="2058274"/>
              <a:ext cx="12743" cy="249361"/>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sp>
          <p:nvSpPr>
            <p:cNvPr id="190" name="椭圆 189"/>
            <p:cNvSpPr/>
            <p:nvPr/>
          </p:nvSpPr>
          <p:spPr>
            <a:xfrm>
              <a:off x="2328031" y="2437029"/>
              <a:ext cx="42966" cy="42966"/>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91" name="直接连接符 190"/>
            <p:cNvCxnSpPr>
              <a:stCxn id="190" idx="7"/>
              <a:endCxn id="37" idx="3"/>
            </p:cNvCxnSpPr>
            <p:nvPr/>
          </p:nvCxnSpPr>
          <p:spPr>
            <a:xfrm flipV="1">
              <a:off x="2364705" y="2269353"/>
              <a:ext cx="277047" cy="173968"/>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92" name="直接连接符 191"/>
            <p:cNvCxnSpPr>
              <a:endCxn id="45" idx="2"/>
            </p:cNvCxnSpPr>
            <p:nvPr/>
          </p:nvCxnSpPr>
          <p:spPr>
            <a:xfrm>
              <a:off x="3013279" y="2286152"/>
              <a:ext cx="233632" cy="42967"/>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93" name="直接连接符 192"/>
            <p:cNvCxnSpPr>
              <a:stCxn id="45" idx="4"/>
              <a:endCxn id="49" idx="0"/>
            </p:cNvCxnSpPr>
            <p:nvPr/>
          </p:nvCxnSpPr>
          <p:spPr>
            <a:xfrm flipH="1">
              <a:off x="3191231" y="2350602"/>
              <a:ext cx="77164" cy="776979"/>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94" name="直接连接符 193"/>
            <p:cNvCxnSpPr>
              <a:stCxn id="47" idx="5"/>
              <a:endCxn id="49" idx="1"/>
            </p:cNvCxnSpPr>
            <p:nvPr/>
          </p:nvCxnSpPr>
          <p:spPr>
            <a:xfrm>
              <a:off x="2721672" y="2721622"/>
              <a:ext cx="454367" cy="412251"/>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95" name="直接连接符 194"/>
            <p:cNvCxnSpPr>
              <a:stCxn id="28" idx="4"/>
              <a:endCxn id="109" idx="0"/>
            </p:cNvCxnSpPr>
            <p:nvPr/>
          </p:nvCxnSpPr>
          <p:spPr>
            <a:xfrm flipH="1">
              <a:off x="1859364" y="2913462"/>
              <a:ext cx="3127" cy="194102"/>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96" name="直接连接符 195"/>
            <p:cNvCxnSpPr>
              <a:stCxn id="29" idx="5"/>
              <a:endCxn id="109" idx="1"/>
            </p:cNvCxnSpPr>
            <p:nvPr/>
          </p:nvCxnSpPr>
          <p:spPr>
            <a:xfrm>
              <a:off x="1477546" y="2705784"/>
              <a:ext cx="351369" cy="414393"/>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97" name="直接连接符 196"/>
            <p:cNvCxnSpPr>
              <a:stCxn id="25" idx="5"/>
              <a:endCxn id="24" idx="2"/>
            </p:cNvCxnSpPr>
            <p:nvPr/>
          </p:nvCxnSpPr>
          <p:spPr>
            <a:xfrm>
              <a:off x="1493132" y="3021941"/>
              <a:ext cx="153080" cy="23164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98" name="直接连接符 197"/>
            <p:cNvCxnSpPr>
              <a:stCxn id="24" idx="6"/>
              <a:endCxn id="109" idx="2"/>
            </p:cNvCxnSpPr>
            <p:nvPr/>
          </p:nvCxnSpPr>
          <p:spPr>
            <a:xfrm flipV="1">
              <a:off x="1689178" y="3150626"/>
              <a:ext cx="127124" cy="102958"/>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199" name="直接连接符 198"/>
            <p:cNvCxnSpPr>
              <a:stCxn id="21" idx="7"/>
              <a:endCxn id="109" idx="3"/>
            </p:cNvCxnSpPr>
            <p:nvPr/>
          </p:nvCxnSpPr>
          <p:spPr>
            <a:xfrm flipV="1">
              <a:off x="1664721" y="3181076"/>
              <a:ext cx="164194" cy="326246"/>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00" name="直接连接符 199"/>
            <p:cNvCxnSpPr>
              <a:stCxn id="109" idx="4"/>
              <a:endCxn id="14" idx="0"/>
            </p:cNvCxnSpPr>
            <p:nvPr/>
          </p:nvCxnSpPr>
          <p:spPr>
            <a:xfrm>
              <a:off x="1859364" y="3193688"/>
              <a:ext cx="138472" cy="603015"/>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01" name="直接连接符 200"/>
            <p:cNvCxnSpPr>
              <a:endCxn id="27" idx="2"/>
            </p:cNvCxnSpPr>
            <p:nvPr/>
          </p:nvCxnSpPr>
          <p:spPr>
            <a:xfrm>
              <a:off x="1883974" y="2891980"/>
              <a:ext cx="423697" cy="1256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02" name="直接连接符 201"/>
            <p:cNvCxnSpPr>
              <a:stCxn id="30" idx="5"/>
              <a:endCxn id="27" idx="1"/>
            </p:cNvCxnSpPr>
            <p:nvPr/>
          </p:nvCxnSpPr>
          <p:spPr>
            <a:xfrm>
              <a:off x="1962796" y="2454948"/>
              <a:ext cx="351167" cy="43440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03" name="直接连接符 202"/>
            <p:cNvCxnSpPr>
              <a:stCxn id="31" idx="4"/>
            </p:cNvCxnSpPr>
            <p:nvPr/>
          </p:nvCxnSpPr>
          <p:spPr>
            <a:xfrm flipH="1">
              <a:off x="1947605" y="1958017"/>
              <a:ext cx="39556" cy="457433"/>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04" name="直接连接符 203"/>
            <p:cNvCxnSpPr>
              <a:stCxn id="31" idx="5"/>
              <a:endCxn id="32" idx="1"/>
            </p:cNvCxnSpPr>
            <p:nvPr/>
          </p:nvCxnSpPr>
          <p:spPr>
            <a:xfrm>
              <a:off x="2002351" y="1951726"/>
              <a:ext cx="151924" cy="13432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05" name="直接连接符 204"/>
            <p:cNvCxnSpPr>
              <a:stCxn id="109" idx="5"/>
              <a:endCxn id="10" idx="2"/>
            </p:cNvCxnSpPr>
            <p:nvPr/>
          </p:nvCxnSpPr>
          <p:spPr>
            <a:xfrm>
              <a:off x="1889813" y="3181076"/>
              <a:ext cx="763262" cy="20609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06" name="直接连接符 205"/>
            <p:cNvCxnSpPr>
              <a:stCxn id="109" idx="5"/>
              <a:endCxn id="17" idx="0"/>
            </p:cNvCxnSpPr>
            <p:nvPr/>
          </p:nvCxnSpPr>
          <p:spPr>
            <a:xfrm>
              <a:off x="1889813" y="3181076"/>
              <a:ext cx="175695" cy="255505"/>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07" name="直接连接符 206"/>
            <p:cNvCxnSpPr>
              <a:stCxn id="22" idx="4"/>
              <a:endCxn id="110" idx="1"/>
            </p:cNvCxnSpPr>
            <p:nvPr/>
          </p:nvCxnSpPr>
          <p:spPr>
            <a:xfrm>
              <a:off x="1321114" y="3340980"/>
              <a:ext cx="147861" cy="808390"/>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08" name="直接连接符 207"/>
            <p:cNvCxnSpPr>
              <a:stCxn id="18" idx="4"/>
              <a:endCxn id="110" idx="0"/>
            </p:cNvCxnSpPr>
            <p:nvPr/>
          </p:nvCxnSpPr>
          <p:spPr>
            <a:xfrm flipH="1">
              <a:off x="1499423" y="3701104"/>
              <a:ext cx="1" cy="435652"/>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09" name="直接连接符 208"/>
            <p:cNvCxnSpPr>
              <a:stCxn id="19" idx="3"/>
              <a:endCxn id="110" idx="7"/>
            </p:cNvCxnSpPr>
            <p:nvPr/>
          </p:nvCxnSpPr>
          <p:spPr>
            <a:xfrm flipH="1">
              <a:off x="1529873" y="3902946"/>
              <a:ext cx="140549" cy="24642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10" name="直接连接符 209"/>
            <p:cNvCxnSpPr>
              <a:stCxn id="110" idx="6"/>
              <a:endCxn id="20" idx="3"/>
            </p:cNvCxnSpPr>
            <p:nvPr/>
          </p:nvCxnSpPr>
          <p:spPr>
            <a:xfrm flipV="1">
              <a:off x="1542485" y="4064634"/>
              <a:ext cx="444674" cy="11518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11" name="直接连接符 210"/>
            <p:cNvCxnSpPr>
              <a:stCxn id="110" idx="5"/>
              <a:endCxn id="90" idx="2"/>
            </p:cNvCxnSpPr>
            <p:nvPr/>
          </p:nvCxnSpPr>
          <p:spPr>
            <a:xfrm>
              <a:off x="1529873" y="4210268"/>
              <a:ext cx="177224" cy="7812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12" name="直接连接符 211"/>
            <p:cNvCxnSpPr>
              <a:stCxn id="91" idx="4"/>
              <a:endCxn id="114" idx="0"/>
            </p:cNvCxnSpPr>
            <p:nvPr/>
          </p:nvCxnSpPr>
          <p:spPr>
            <a:xfrm>
              <a:off x="2107842" y="4537597"/>
              <a:ext cx="130193" cy="496161"/>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13" name="直接连接符 212"/>
            <p:cNvCxnSpPr>
              <a:stCxn id="88" idx="5"/>
              <a:endCxn id="86" idx="0"/>
            </p:cNvCxnSpPr>
            <p:nvPr/>
          </p:nvCxnSpPr>
          <p:spPr>
            <a:xfrm>
              <a:off x="2306398" y="4509822"/>
              <a:ext cx="98689" cy="213838"/>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14" name="直接连接符 213"/>
            <p:cNvCxnSpPr>
              <a:stCxn id="86" idx="7"/>
              <a:endCxn id="89" idx="3"/>
            </p:cNvCxnSpPr>
            <p:nvPr/>
          </p:nvCxnSpPr>
          <p:spPr>
            <a:xfrm flipV="1">
              <a:off x="2420278" y="4282099"/>
              <a:ext cx="260002" cy="447853"/>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15" name="直接连接符 214"/>
            <p:cNvCxnSpPr>
              <a:stCxn id="86" idx="6"/>
              <a:endCxn id="87" idx="2"/>
            </p:cNvCxnSpPr>
            <p:nvPr/>
          </p:nvCxnSpPr>
          <p:spPr>
            <a:xfrm>
              <a:off x="2426570" y="4745144"/>
              <a:ext cx="204452" cy="41260"/>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16" name="直接连接符 215"/>
            <p:cNvCxnSpPr>
              <a:endCxn id="84" idx="0"/>
            </p:cNvCxnSpPr>
            <p:nvPr/>
          </p:nvCxnSpPr>
          <p:spPr>
            <a:xfrm>
              <a:off x="2411171" y="4767730"/>
              <a:ext cx="15399" cy="446589"/>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17" name="直接连接符 216"/>
            <p:cNvCxnSpPr>
              <a:stCxn id="86" idx="5"/>
              <a:endCxn id="85" idx="1"/>
            </p:cNvCxnSpPr>
            <p:nvPr/>
          </p:nvCxnSpPr>
          <p:spPr>
            <a:xfrm>
              <a:off x="2420278" y="4760335"/>
              <a:ext cx="285278" cy="359280"/>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18" name="直接连接符 217"/>
            <p:cNvCxnSpPr>
              <a:stCxn id="84" idx="6"/>
              <a:endCxn id="83" idx="2"/>
            </p:cNvCxnSpPr>
            <p:nvPr/>
          </p:nvCxnSpPr>
          <p:spPr>
            <a:xfrm>
              <a:off x="2448053" y="5235803"/>
              <a:ext cx="495405" cy="201211"/>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19" name="直接连接符 218"/>
            <p:cNvCxnSpPr>
              <a:stCxn id="93" idx="6"/>
              <a:endCxn id="94" idx="2"/>
            </p:cNvCxnSpPr>
            <p:nvPr/>
          </p:nvCxnSpPr>
          <p:spPr>
            <a:xfrm flipV="1">
              <a:off x="2741728" y="4600777"/>
              <a:ext cx="426125" cy="15678"/>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20" name="直接连接符 219"/>
            <p:cNvCxnSpPr>
              <a:stCxn id="81" idx="5"/>
              <a:endCxn id="80" idx="1"/>
            </p:cNvCxnSpPr>
            <p:nvPr/>
          </p:nvCxnSpPr>
          <p:spPr>
            <a:xfrm>
              <a:off x="3381976" y="4398686"/>
              <a:ext cx="245912" cy="200961"/>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21" name="直接连接符 220"/>
            <p:cNvCxnSpPr>
              <a:stCxn id="113" idx="7"/>
              <a:endCxn id="80" idx="3"/>
            </p:cNvCxnSpPr>
            <p:nvPr/>
          </p:nvCxnSpPr>
          <p:spPr>
            <a:xfrm flipV="1">
              <a:off x="3200197" y="4630030"/>
              <a:ext cx="427692" cy="316179"/>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22" name="直接连接符 221"/>
            <p:cNvCxnSpPr>
              <a:stCxn id="80" idx="4"/>
              <a:endCxn id="82" idx="0"/>
            </p:cNvCxnSpPr>
            <p:nvPr/>
          </p:nvCxnSpPr>
          <p:spPr>
            <a:xfrm flipH="1">
              <a:off x="3547950" y="4636321"/>
              <a:ext cx="95130" cy="40168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sp>
          <p:nvSpPr>
            <p:cNvPr id="223" name="椭圆 222"/>
            <p:cNvSpPr/>
            <p:nvPr/>
          </p:nvSpPr>
          <p:spPr>
            <a:xfrm>
              <a:off x="2884189" y="3935296"/>
              <a:ext cx="86124" cy="86124"/>
            </a:xfrm>
            <a:prstGeom prst="ellipse">
              <a:avLst/>
            </a:prstGeom>
            <a:solidFill>
              <a:srgbClr val="005CA7"/>
            </a:solidFill>
            <a:ln>
              <a:solidFill>
                <a:srgbClr val="005CA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4" name="直接连接符 223"/>
            <p:cNvCxnSpPr>
              <a:stCxn id="96" idx="6"/>
              <a:endCxn id="223" idx="2"/>
            </p:cNvCxnSpPr>
            <p:nvPr/>
          </p:nvCxnSpPr>
          <p:spPr>
            <a:xfrm>
              <a:off x="2695470" y="3884954"/>
              <a:ext cx="188719" cy="9340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25" name="直接连接符 224"/>
            <p:cNvCxnSpPr>
              <a:stCxn id="223" idx="4"/>
              <a:endCxn id="95" idx="0"/>
            </p:cNvCxnSpPr>
            <p:nvPr/>
          </p:nvCxnSpPr>
          <p:spPr>
            <a:xfrm>
              <a:off x="2927251" y="4021420"/>
              <a:ext cx="17771" cy="359350"/>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26" name="直接连接符 225"/>
            <p:cNvCxnSpPr>
              <a:stCxn id="223" idx="6"/>
              <a:endCxn id="97" idx="2"/>
            </p:cNvCxnSpPr>
            <p:nvPr/>
          </p:nvCxnSpPr>
          <p:spPr>
            <a:xfrm flipV="1">
              <a:off x="2970313" y="3816652"/>
              <a:ext cx="413681" cy="161706"/>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27" name="直接连接符 226"/>
            <p:cNvCxnSpPr>
              <a:stCxn id="12" idx="5"/>
              <a:endCxn id="223" idx="1"/>
            </p:cNvCxnSpPr>
            <p:nvPr/>
          </p:nvCxnSpPr>
          <p:spPr>
            <a:xfrm>
              <a:off x="2504993" y="3516221"/>
              <a:ext cx="391809" cy="431688"/>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28" name="直接连接符 227"/>
            <p:cNvCxnSpPr>
              <a:stCxn id="50" idx="6"/>
              <a:endCxn id="118" idx="2"/>
            </p:cNvCxnSpPr>
            <p:nvPr/>
          </p:nvCxnSpPr>
          <p:spPr>
            <a:xfrm flipV="1">
              <a:off x="3414872" y="3301513"/>
              <a:ext cx="390230" cy="43063"/>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29" name="直接连接符 228"/>
            <p:cNvCxnSpPr>
              <a:stCxn id="118" idx="4"/>
              <a:endCxn id="99" idx="7"/>
            </p:cNvCxnSpPr>
            <p:nvPr/>
          </p:nvCxnSpPr>
          <p:spPr>
            <a:xfrm flipH="1">
              <a:off x="3776825" y="3344575"/>
              <a:ext cx="71338" cy="384834"/>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30" name="直接连接符 229"/>
            <p:cNvCxnSpPr>
              <a:stCxn id="117" idx="4"/>
              <a:endCxn id="100" idx="0"/>
            </p:cNvCxnSpPr>
            <p:nvPr/>
          </p:nvCxnSpPr>
          <p:spPr>
            <a:xfrm>
              <a:off x="4051697" y="3134931"/>
              <a:ext cx="86945" cy="380252"/>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cxnSp>
          <p:nvCxnSpPr>
            <p:cNvPr id="231" name="直接连接符 230"/>
            <p:cNvCxnSpPr>
              <a:stCxn id="117" idx="6"/>
              <a:endCxn id="101" idx="3"/>
            </p:cNvCxnSpPr>
            <p:nvPr/>
          </p:nvCxnSpPr>
          <p:spPr>
            <a:xfrm>
              <a:off x="4094759" y="3091869"/>
              <a:ext cx="394582" cy="52466"/>
            </a:xfrm>
            <a:prstGeom prst="line">
              <a:avLst/>
            </a:prstGeom>
            <a:ln>
              <a:solidFill>
                <a:srgbClr val="005CA7"/>
              </a:solidFill>
            </a:ln>
          </p:spPr>
          <p:style>
            <a:lnRef idx="1">
              <a:schemeClr val="accent1"/>
            </a:lnRef>
            <a:fillRef idx="0">
              <a:schemeClr val="accent1"/>
            </a:fillRef>
            <a:effectRef idx="0">
              <a:schemeClr val="accent1"/>
            </a:effectRef>
            <a:fontRef idx="minor">
              <a:schemeClr val="tx1"/>
            </a:fontRef>
          </p:style>
        </p:cxnSp>
        <p:sp>
          <p:nvSpPr>
            <p:cNvPr id="232" name="Freeform 34"/>
            <p:cNvSpPr>
              <a:spLocks noEditPoints="1"/>
            </p:cNvSpPr>
            <p:nvPr/>
          </p:nvSpPr>
          <p:spPr bwMode="auto">
            <a:xfrm>
              <a:off x="3867786" y="4631608"/>
              <a:ext cx="268544" cy="270037"/>
            </a:xfrm>
            <a:custGeom>
              <a:avLst/>
              <a:gdLst>
                <a:gd name="T0" fmla="*/ 180 w 199"/>
                <a:gd name="T1" fmla="*/ 80 h 199"/>
                <a:gd name="T2" fmla="*/ 118 w 199"/>
                <a:gd name="T3" fmla="*/ 19 h 199"/>
                <a:gd name="T4" fmla="*/ 137 w 199"/>
                <a:gd name="T5" fmla="*/ 0 h 199"/>
                <a:gd name="T6" fmla="*/ 199 w 199"/>
                <a:gd name="T7" fmla="*/ 62 h 199"/>
                <a:gd name="T8" fmla="*/ 180 w 199"/>
                <a:gd name="T9" fmla="*/ 80 h 199"/>
                <a:gd name="T10" fmla="*/ 162 w 199"/>
                <a:gd name="T11" fmla="*/ 98 h 199"/>
                <a:gd name="T12" fmla="*/ 160 w 199"/>
                <a:gd name="T13" fmla="*/ 99 h 199"/>
                <a:gd name="T14" fmla="*/ 149 w 199"/>
                <a:gd name="T15" fmla="*/ 99 h 199"/>
                <a:gd name="T16" fmla="*/ 137 w 199"/>
                <a:gd name="T17" fmla="*/ 99 h 199"/>
                <a:gd name="T18" fmla="*/ 124 w 199"/>
                <a:gd name="T19" fmla="*/ 149 h 199"/>
                <a:gd name="T20" fmla="*/ 25 w 199"/>
                <a:gd name="T21" fmla="*/ 199 h 199"/>
                <a:gd name="T22" fmla="*/ 13 w 199"/>
                <a:gd name="T23" fmla="*/ 199 h 199"/>
                <a:gd name="T24" fmla="*/ 52 w 199"/>
                <a:gd name="T25" fmla="*/ 159 h 199"/>
                <a:gd name="T26" fmla="*/ 62 w 199"/>
                <a:gd name="T27" fmla="*/ 161 h 199"/>
                <a:gd name="T28" fmla="*/ 87 w 199"/>
                <a:gd name="T29" fmla="*/ 137 h 199"/>
                <a:gd name="T30" fmla="*/ 62 w 199"/>
                <a:gd name="T31" fmla="*/ 112 h 199"/>
                <a:gd name="T32" fmla="*/ 37 w 199"/>
                <a:gd name="T33" fmla="*/ 137 h 199"/>
                <a:gd name="T34" fmla="*/ 40 w 199"/>
                <a:gd name="T35" fmla="*/ 147 h 199"/>
                <a:gd name="T36" fmla="*/ 0 w 199"/>
                <a:gd name="T37" fmla="*/ 186 h 199"/>
                <a:gd name="T38" fmla="*/ 0 w 199"/>
                <a:gd name="T39" fmla="*/ 174 h 199"/>
                <a:gd name="T40" fmla="*/ 50 w 199"/>
                <a:gd name="T41" fmla="*/ 75 h 199"/>
                <a:gd name="T42" fmla="*/ 100 w 199"/>
                <a:gd name="T43" fmla="*/ 62 h 199"/>
                <a:gd name="T44" fmla="*/ 100 w 199"/>
                <a:gd name="T45" fmla="*/ 50 h 199"/>
                <a:gd name="T46" fmla="*/ 100 w 199"/>
                <a:gd name="T47" fmla="*/ 38 h 199"/>
                <a:gd name="T48" fmla="*/ 100 w 199"/>
                <a:gd name="T49" fmla="*/ 37 h 199"/>
                <a:gd name="T50" fmla="*/ 106 w 199"/>
                <a:gd name="T51" fmla="*/ 31 h 199"/>
                <a:gd name="T52" fmla="*/ 167 w 199"/>
                <a:gd name="T53" fmla="*/ 93 h 199"/>
                <a:gd name="T54" fmla="*/ 162 w 199"/>
                <a:gd name="T55" fmla="*/ 98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9" h="199">
                  <a:moveTo>
                    <a:pt x="180" y="80"/>
                  </a:moveTo>
                  <a:cubicBezTo>
                    <a:pt x="118" y="19"/>
                    <a:pt x="118" y="19"/>
                    <a:pt x="118" y="19"/>
                  </a:cubicBezTo>
                  <a:cubicBezTo>
                    <a:pt x="137" y="0"/>
                    <a:pt x="137" y="0"/>
                    <a:pt x="137" y="0"/>
                  </a:cubicBezTo>
                  <a:cubicBezTo>
                    <a:pt x="199" y="62"/>
                    <a:pt x="199" y="62"/>
                    <a:pt x="199" y="62"/>
                  </a:cubicBezTo>
                  <a:lnTo>
                    <a:pt x="180" y="80"/>
                  </a:lnTo>
                  <a:close/>
                  <a:moveTo>
                    <a:pt x="162" y="98"/>
                  </a:moveTo>
                  <a:cubicBezTo>
                    <a:pt x="161" y="99"/>
                    <a:pt x="161" y="99"/>
                    <a:pt x="160" y="99"/>
                  </a:cubicBezTo>
                  <a:cubicBezTo>
                    <a:pt x="149" y="99"/>
                    <a:pt x="149" y="99"/>
                    <a:pt x="149" y="99"/>
                  </a:cubicBezTo>
                  <a:cubicBezTo>
                    <a:pt x="137" y="99"/>
                    <a:pt x="137" y="99"/>
                    <a:pt x="137" y="99"/>
                  </a:cubicBezTo>
                  <a:cubicBezTo>
                    <a:pt x="124" y="149"/>
                    <a:pt x="124" y="149"/>
                    <a:pt x="124" y="149"/>
                  </a:cubicBezTo>
                  <a:cubicBezTo>
                    <a:pt x="25" y="199"/>
                    <a:pt x="25" y="199"/>
                    <a:pt x="25" y="199"/>
                  </a:cubicBezTo>
                  <a:cubicBezTo>
                    <a:pt x="13" y="199"/>
                    <a:pt x="13" y="199"/>
                    <a:pt x="13" y="199"/>
                  </a:cubicBezTo>
                  <a:cubicBezTo>
                    <a:pt x="52" y="159"/>
                    <a:pt x="52" y="159"/>
                    <a:pt x="52" y="159"/>
                  </a:cubicBezTo>
                  <a:cubicBezTo>
                    <a:pt x="55" y="161"/>
                    <a:pt x="59" y="161"/>
                    <a:pt x="62" y="161"/>
                  </a:cubicBezTo>
                  <a:cubicBezTo>
                    <a:pt x="76" y="161"/>
                    <a:pt x="87" y="150"/>
                    <a:pt x="87" y="137"/>
                  </a:cubicBezTo>
                  <a:cubicBezTo>
                    <a:pt x="87" y="123"/>
                    <a:pt x="76" y="112"/>
                    <a:pt x="62" y="112"/>
                  </a:cubicBezTo>
                  <a:cubicBezTo>
                    <a:pt x="49" y="112"/>
                    <a:pt x="37" y="123"/>
                    <a:pt x="37" y="137"/>
                  </a:cubicBezTo>
                  <a:cubicBezTo>
                    <a:pt x="37" y="140"/>
                    <a:pt x="38" y="144"/>
                    <a:pt x="40" y="147"/>
                  </a:cubicBezTo>
                  <a:cubicBezTo>
                    <a:pt x="0" y="186"/>
                    <a:pt x="0" y="186"/>
                    <a:pt x="0" y="186"/>
                  </a:cubicBezTo>
                  <a:cubicBezTo>
                    <a:pt x="0" y="174"/>
                    <a:pt x="0" y="174"/>
                    <a:pt x="0" y="174"/>
                  </a:cubicBezTo>
                  <a:cubicBezTo>
                    <a:pt x="50" y="75"/>
                    <a:pt x="50" y="75"/>
                    <a:pt x="50" y="75"/>
                  </a:cubicBezTo>
                  <a:cubicBezTo>
                    <a:pt x="100" y="62"/>
                    <a:pt x="100" y="62"/>
                    <a:pt x="100" y="62"/>
                  </a:cubicBezTo>
                  <a:cubicBezTo>
                    <a:pt x="100" y="50"/>
                    <a:pt x="100" y="50"/>
                    <a:pt x="100" y="50"/>
                  </a:cubicBezTo>
                  <a:cubicBezTo>
                    <a:pt x="100" y="38"/>
                    <a:pt x="100" y="38"/>
                    <a:pt x="100" y="38"/>
                  </a:cubicBezTo>
                  <a:cubicBezTo>
                    <a:pt x="100" y="37"/>
                    <a:pt x="100" y="37"/>
                    <a:pt x="100" y="37"/>
                  </a:cubicBezTo>
                  <a:cubicBezTo>
                    <a:pt x="106" y="31"/>
                    <a:pt x="106" y="31"/>
                    <a:pt x="106" y="31"/>
                  </a:cubicBezTo>
                  <a:cubicBezTo>
                    <a:pt x="167" y="93"/>
                    <a:pt x="167" y="93"/>
                    <a:pt x="167" y="93"/>
                  </a:cubicBezTo>
                  <a:lnTo>
                    <a:pt x="162" y="98"/>
                  </a:lnTo>
                  <a:close/>
                </a:path>
              </a:pathLst>
            </a:custGeom>
            <a:solidFill>
              <a:schemeClr val="bg1">
                <a:lumMod val="50000"/>
              </a:schemeClr>
            </a:solidFill>
            <a:ln>
              <a:noFill/>
            </a:ln>
          </p:spPr>
          <p:txBody>
            <a:bodyPr vert="horz" wrap="square" lIns="91440" tIns="45720" rIns="91440" bIns="45720" numCol="1" anchor="t" anchorCtr="0" compatLnSpc="1"/>
            <a:lstStyle/>
            <a:p>
              <a:endParaRPr lang="zh-CN" altLang="en-US"/>
            </a:p>
          </p:txBody>
        </p:sp>
        <p:sp>
          <p:nvSpPr>
            <p:cNvPr id="233" name="Freeform 66"/>
            <p:cNvSpPr>
              <a:spLocks noEditPoints="1"/>
            </p:cNvSpPr>
            <p:nvPr/>
          </p:nvSpPr>
          <p:spPr bwMode="auto">
            <a:xfrm>
              <a:off x="2944495" y="3315893"/>
              <a:ext cx="270037" cy="237215"/>
            </a:xfrm>
            <a:custGeom>
              <a:avLst/>
              <a:gdLst>
                <a:gd name="T0" fmla="*/ 180 w 200"/>
                <a:gd name="T1" fmla="*/ 176 h 176"/>
                <a:gd name="T2" fmla="*/ 20 w 200"/>
                <a:gd name="T3" fmla="*/ 176 h 176"/>
                <a:gd name="T4" fmla="*/ 0 w 200"/>
                <a:gd name="T5" fmla="*/ 156 h 176"/>
                <a:gd name="T6" fmla="*/ 0 w 200"/>
                <a:gd name="T7" fmla="*/ 20 h 176"/>
                <a:gd name="T8" fmla="*/ 20 w 200"/>
                <a:gd name="T9" fmla="*/ 0 h 176"/>
                <a:gd name="T10" fmla="*/ 180 w 200"/>
                <a:gd name="T11" fmla="*/ 0 h 176"/>
                <a:gd name="T12" fmla="*/ 200 w 200"/>
                <a:gd name="T13" fmla="*/ 20 h 176"/>
                <a:gd name="T14" fmla="*/ 200 w 200"/>
                <a:gd name="T15" fmla="*/ 156 h 176"/>
                <a:gd name="T16" fmla="*/ 180 w 200"/>
                <a:gd name="T17" fmla="*/ 176 h 176"/>
                <a:gd name="T18" fmla="*/ 36 w 200"/>
                <a:gd name="T19" fmla="*/ 160 h 176"/>
                <a:gd name="T20" fmla="*/ 164 w 200"/>
                <a:gd name="T21" fmla="*/ 160 h 176"/>
                <a:gd name="T22" fmla="*/ 182 w 200"/>
                <a:gd name="T23" fmla="*/ 147 h 176"/>
                <a:gd name="T24" fmla="*/ 131 w 200"/>
                <a:gd name="T25" fmla="*/ 103 h 176"/>
                <a:gd name="T26" fmla="*/ 100 w 200"/>
                <a:gd name="T27" fmla="*/ 129 h 176"/>
                <a:gd name="T28" fmla="*/ 69 w 200"/>
                <a:gd name="T29" fmla="*/ 103 h 176"/>
                <a:gd name="T30" fmla="*/ 18 w 200"/>
                <a:gd name="T31" fmla="*/ 148 h 176"/>
                <a:gd name="T32" fmla="*/ 36 w 200"/>
                <a:gd name="T33" fmla="*/ 160 h 176"/>
                <a:gd name="T34" fmla="*/ 145 w 200"/>
                <a:gd name="T35" fmla="*/ 90 h 176"/>
                <a:gd name="T36" fmla="*/ 184 w 200"/>
                <a:gd name="T37" fmla="*/ 125 h 176"/>
                <a:gd name="T38" fmla="*/ 184 w 200"/>
                <a:gd name="T39" fmla="*/ 56 h 176"/>
                <a:gd name="T40" fmla="*/ 145 w 200"/>
                <a:gd name="T41" fmla="*/ 90 h 176"/>
                <a:gd name="T42" fmla="*/ 55 w 200"/>
                <a:gd name="T43" fmla="*/ 90 h 176"/>
                <a:gd name="T44" fmla="*/ 16 w 200"/>
                <a:gd name="T45" fmla="*/ 55 h 176"/>
                <a:gd name="T46" fmla="*/ 16 w 200"/>
                <a:gd name="T47" fmla="*/ 126 h 176"/>
                <a:gd name="T48" fmla="*/ 55 w 200"/>
                <a:gd name="T49" fmla="*/ 90 h 176"/>
                <a:gd name="T50" fmla="*/ 164 w 200"/>
                <a:gd name="T51" fmla="*/ 16 h 176"/>
                <a:gd name="T52" fmla="*/ 36 w 200"/>
                <a:gd name="T53" fmla="*/ 16 h 176"/>
                <a:gd name="T54" fmla="*/ 16 w 200"/>
                <a:gd name="T55" fmla="*/ 31 h 176"/>
                <a:gd name="T56" fmla="*/ 100 w 200"/>
                <a:gd name="T57" fmla="*/ 106 h 176"/>
                <a:gd name="T58" fmla="*/ 183 w 200"/>
                <a:gd name="T59" fmla="*/ 33 h 176"/>
                <a:gd name="T60" fmla="*/ 164 w 200"/>
                <a:gd name="T61" fmla="*/ 1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00" h="176">
                  <a:moveTo>
                    <a:pt x="180" y="176"/>
                  </a:moveTo>
                  <a:cubicBezTo>
                    <a:pt x="20" y="176"/>
                    <a:pt x="20" y="176"/>
                    <a:pt x="20" y="176"/>
                  </a:cubicBezTo>
                  <a:cubicBezTo>
                    <a:pt x="8" y="176"/>
                    <a:pt x="0" y="167"/>
                    <a:pt x="0" y="156"/>
                  </a:cubicBezTo>
                  <a:cubicBezTo>
                    <a:pt x="0" y="20"/>
                    <a:pt x="0" y="20"/>
                    <a:pt x="0" y="20"/>
                  </a:cubicBezTo>
                  <a:cubicBezTo>
                    <a:pt x="0" y="9"/>
                    <a:pt x="8" y="0"/>
                    <a:pt x="20" y="0"/>
                  </a:cubicBezTo>
                  <a:cubicBezTo>
                    <a:pt x="180" y="0"/>
                    <a:pt x="180" y="0"/>
                    <a:pt x="180" y="0"/>
                  </a:cubicBezTo>
                  <a:cubicBezTo>
                    <a:pt x="191" y="0"/>
                    <a:pt x="200" y="9"/>
                    <a:pt x="200" y="20"/>
                  </a:cubicBezTo>
                  <a:cubicBezTo>
                    <a:pt x="200" y="156"/>
                    <a:pt x="200" y="156"/>
                    <a:pt x="200" y="156"/>
                  </a:cubicBezTo>
                  <a:cubicBezTo>
                    <a:pt x="200" y="167"/>
                    <a:pt x="191" y="176"/>
                    <a:pt x="180" y="176"/>
                  </a:cubicBezTo>
                  <a:close/>
                  <a:moveTo>
                    <a:pt x="36" y="160"/>
                  </a:moveTo>
                  <a:cubicBezTo>
                    <a:pt x="164" y="160"/>
                    <a:pt x="164" y="160"/>
                    <a:pt x="164" y="160"/>
                  </a:cubicBezTo>
                  <a:cubicBezTo>
                    <a:pt x="172" y="160"/>
                    <a:pt x="179" y="154"/>
                    <a:pt x="182" y="147"/>
                  </a:cubicBezTo>
                  <a:cubicBezTo>
                    <a:pt x="131" y="103"/>
                    <a:pt x="131" y="103"/>
                    <a:pt x="131" y="103"/>
                  </a:cubicBezTo>
                  <a:cubicBezTo>
                    <a:pt x="100" y="129"/>
                    <a:pt x="100" y="129"/>
                    <a:pt x="100" y="129"/>
                  </a:cubicBezTo>
                  <a:cubicBezTo>
                    <a:pt x="69" y="103"/>
                    <a:pt x="69" y="103"/>
                    <a:pt x="69" y="103"/>
                  </a:cubicBezTo>
                  <a:cubicBezTo>
                    <a:pt x="18" y="148"/>
                    <a:pt x="18" y="148"/>
                    <a:pt x="18" y="148"/>
                  </a:cubicBezTo>
                  <a:cubicBezTo>
                    <a:pt x="21" y="155"/>
                    <a:pt x="28" y="160"/>
                    <a:pt x="36" y="160"/>
                  </a:cubicBezTo>
                  <a:close/>
                  <a:moveTo>
                    <a:pt x="145" y="90"/>
                  </a:moveTo>
                  <a:cubicBezTo>
                    <a:pt x="184" y="125"/>
                    <a:pt x="184" y="125"/>
                    <a:pt x="184" y="125"/>
                  </a:cubicBezTo>
                  <a:cubicBezTo>
                    <a:pt x="184" y="56"/>
                    <a:pt x="184" y="56"/>
                    <a:pt x="184" y="56"/>
                  </a:cubicBezTo>
                  <a:lnTo>
                    <a:pt x="145" y="90"/>
                  </a:lnTo>
                  <a:close/>
                  <a:moveTo>
                    <a:pt x="55" y="90"/>
                  </a:moveTo>
                  <a:cubicBezTo>
                    <a:pt x="16" y="55"/>
                    <a:pt x="16" y="55"/>
                    <a:pt x="16" y="55"/>
                  </a:cubicBezTo>
                  <a:cubicBezTo>
                    <a:pt x="16" y="126"/>
                    <a:pt x="16" y="126"/>
                    <a:pt x="16" y="126"/>
                  </a:cubicBezTo>
                  <a:lnTo>
                    <a:pt x="55" y="90"/>
                  </a:lnTo>
                  <a:close/>
                  <a:moveTo>
                    <a:pt x="164" y="16"/>
                  </a:moveTo>
                  <a:cubicBezTo>
                    <a:pt x="36" y="16"/>
                    <a:pt x="36" y="16"/>
                    <a:pt x="36" y="16"/>
                  </a:cubicBezTo>
                  <a:cubicBezTo>
                    <a:pt x="26" y="16"/>
                    <a:pt x="18" y="22"/>
                    <a:pt x="16" y="31"/>
                  </a:cubicBezTo>
                  <a:cubicBezTo>
                    <a:pt x="100" y="106"/>
                    <a:pt x="100" y="106"/>
                    <a:pt x="100" y="106"/>
                  </a:cubicBezTo>
                  <a:cubicBezTo>
                    <a:pt x="183" y="33"/>
                    <a:pt x="183" y="33"/>
                    <a:pt x="183" y="33"/>
                  </a:cubicBezTo>
                  <a:cubicBezTo>
                    <a:pt x="182" y="23"/>
                    <a:pt x="174" y="16"/>
                    <a:pt x="164" y="16"/>
                  </a:cubicBezTo>
                  <a:close/>
                </a:path>
              </a:pathLst>
            </a:custGeom>
            <a:solidFill>
              <a:schemeClr val="bg1">
                <a:lumMod val="50000"/>
              </a:schemeClr>
            </a:solidFill>
            <a:ln>
              <a:noFill/>
            </a:ln>
          </p:spPr>
          <p:txBody>
            <a:bodyPr vert="horz" wrap="square" lIns="91440" tIns="45720" rIns="91440" bIns="45720" numCol="1" anchor="t" anchorCtr="0" compatLnSpc="1"/>
            <a:lstStyle/>
            <a:p>
              <a:endParaRPr lang="zh-CN" altLang="en-US"/>
            </a:p>
          </p:txBody>
        </p:sp>
        <p:sp>
          <p:nvSpPr>
            <p:cNvPr id="234" name="Freeform 26"/>
            <p:cNvSpPr>
              <a:spLocks noEditPoints="1"/>
            </p:cNvSpPr>
            <p:nvPr/>
          </p:nvSpPr>
          <p:spPr bwMode="auto">
            <a:xfrm>
              <a:off x="4265281" y="3733419"/>
              <a:ext cx="241690" cy="268544"/>
            </a:xfrm>
            <a:custGeom>
              <a:avLst/>
              <a:gdLst>
                <a:gd name="T0" fmla="*/ 147 w 179"/>
                <a:gd name="T1" fmla="*/ 117 h 199"/>
                <a:gd name="T2" fmla="*/ 147 w 179"/>
                <a:gd name="T3" fmla="*/ 61 h 199"/>
                <a:gd name="T4" fmla="*/ 179 w 179"/>
                <a:gd name="T5" fmla="*/ 66 h 199"/>
                <a:gd name="T6" fmla="*/ 179 w 179"/>
                <a:gd name="T7" fmla="*/ 112 h 199"/>
                <a:gd name="T8" fmla="*/ 147 w 179"/>
                <a:gd name="T9" fmla="*/ 117 h 199"/>
                <a:gd name="T10" fmla="*/ 23 w 179"/>
                <a:gd name="T11" fmla="*/ 35 h 199"/>
                <a:gd name="T12" fmla="*/ 23 w 179"/>
                <a:gd name="T13" fmla="*/ 199 h 199"/>
                <a:gd name="T14" fmla="*/ 11 w 179"/>
                <a:gd name="T15" fmla="*/ 199 h 199"/>
                <a:gd name="T16" fmla="*/ 11 w 179"/>
                <a:gd name="T17" fmla="*/ 35 h 199"/>
                <a:gd name="T18" fmla="*/ 0 w 179"/>
                <a:gd name="T19" fmla="*/ 18 h 199"/>
                <a:gd name="T20" fmla="*/ 18 w 179"/>
                <a:gd name="T21" fmla="*/ 0 h 199"/>
                <a:gd name="T22" fmla="*/ 36 w 179"/>
                <a:gd name="T23" fmla="*/ 18 h 199"/>
                <a:gd name="T24" fmla="*/ 23 w 179"/>
                <a:gd name="T25" fmla="*/ 35 h 199"/>
                <a:gd name="T26" fmla="*/ 67 w 179"/>
                <a:gd name="T27" fmla="*/ 130 h 199"/>
                <a:gd name="T28" fmla="*/ 31 w 179"/>
                <a:gd name="T29" fmla="*/ 135 h 199"/>
                <a:gd name="T30" fmla="*/ 31 w 179"/>
                <a:gd name="T31" fmla="*/ 43 h 199"/>
                <a:gd name="T32" fmla="*/ 67 w 179"/>
                <a:gd name="T33" fmla="*/ 49 h 199"/>
                <a:gd name="T34" fmla="*/ 67 w 179"/>
                <a:gd name="T35" fmla="*/ 130 h 199"/>
                <a:gd name="T36" fmla="*/ 91 w 179"/>
                <a:gd name="T37" fmla="*/ 52 h 199"/>
                <a:gd name="T38" fmla="*/ 123 w 179"/>
                <a:gd name="T39" fmla="*/ 57 h 199"/>
                <a:gd name="T40" fmla="*/ 123 w 179"/>
                <a:gd name="T41" fmla="*/ 121 h 199"/>
                <a:gd name="T42" fmla="*/ 91 w 179"/>
                <a:gd name="T43" fmla="*/ 126 h 199"/>
                <a:gd name="T44" fmla="*/ 91 w 179"/>
                <a:gd name="T45" fmla="*/ 52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79" h="199">
                  <a:moveTo>
                    <a:pt x="147" y="117"/>
                  </a:moveTo>
                  <a:cubicBezTo>
                    <a:pt x="147" y="61"/>
                    <a:pt x="147" y="61"/>
                    <a:pt x="147" y="61"/>
                  </a:cubicBezTo>
                  <a:cubicBezTo>
                    <a:pt x="179" y="66"/>
                    <a:pt x="179" y="66"/>
                    <a:pt x="179" y="66"/>
                  </a:cubicBezTo>
                  <a:cubicBezTo>
                    <a:pt x="179" y="112"/>
                    <a:pt x="179" y="112"/>
                    <a:pt x="179" y="112"/>
                  </a:cubicBezTo>
                  <a:lnTo>
                    <a:pt x="147" y="117"/>
                  </a:lnTo>
                  <a:close/>
                  <a:moveTo>
                    <a:pt x="23" y="35"/>
                  </a:moveTo>
                  <a:cubicBezTo>
                    <a:pt x="23" y="199"/>
                    <a:pt x="23" y="199"/>
                    <a:pt x="23" y="199"/>
                  </a:cubicBezTo>
                  <a:cubicBezTo>
                    <a:pt x="11" y="199"/>
                    <a:pt x="11" y="199"/>
                    <a:pt x="11" y="199"/>
                  </a:cubicBezTo>
                  <a:cubicBezTo>
                    <a:pt x="11" y="35"/>
                    <a:pt x="11" y="35"/>
                    <a:pt x="11" y="35"/>
                  </a:cubicBezTo>
                  <a:cubicBezTo>
                    <a:pt x="5" y="32"/>
                    <a:pt x="0" y="25"/>
                    <a:pt x="0" y="18"/>
                  </a:cubicBezTo>
                  <a:cubicBezTo>
                    <a:pt x="0" y="8"/>
                    <a:pt x="8" y="0"/>
                    <a:pt x="18" y="0"/>
                  </a:cubicBezTo>
                  <a:cubicBezTo>
                    <a:pt x="28" y="0"/>
                    <a:pt x="36" y="8"/>
                    <a:pt x="36" y="18"/>
                  </a:cubicBezTo>
                  <a:cubicBezTo>
                    <a:pt x="36" y="26"/>
                    <a:pt x="31" y="33"/>
                    <a:pt x="23" y="35"/>
                  </a:cubicBezTo>
                  <a:close/>
                  <a:moveTo>
                    <a:pt x="67" y="130"/>
                  </a:moveTo>
                  <a:cubicBezTo>
                    <a:pt x="31" y="135"/>
                    <a:pt x="31" y="135"/>
                    <a:pt x="31" y="135"/>
                  </a:cubicBezTo>
                  <a:cubicBezTo>
                    <a:pt x="31" y="43"/>
                    <a:pt x="31" y="43"/>
                    <a:pt x="31" y="43"/>
                  </a:cubicBezTo>
                  <a:cubicBezTo>
                    <a:pt x="67" y="49"/>
                    <a:pt x="67" y="49"/>
                    <a:pt x="67" y="49"/>
                  </a:cubicBezTo>
                  <a:lnTo>
                    <a:pt x="67" y="130"/>
                  </a:lnTo>
                  <a:close/>
                  <a:moveTo>
                    <a:pt x="91" y="52"/>
                  </a:moveTo>
                  <a:cubicBezTo>
                    <a:pt x="123" y="57"/>
                    <a:pt x="123" y="57"/>
                    <a:pt x="123" y="57"/>
                  </a:cubicBezTo>
                  <a:cubicBezTo>
                    <a:pt x="123" y="121"/>
                    <a:pt x="123" y="121"/>
                    <a:pt x="123" y="121"/>
                  </a:cubicBezTo>
                  <a:cubicBezTo>
                    <a:pt x="91" y="126"/>
                    <a:pt x="91" y="126"/>
                    <a:pt x="91" y="126"/>
                  </a:cubicBezTo>
                  <a:lnTo>
                    <a:pt x="91" y="52"/>
                  </a:lnTo>
                  <a:close/>
                </a:path>
              </a:pathLst>
            </a:custGeom>
            <a:solidFill>
              <a:schemeClr val="bg1">
                <a:lumMod val="50000"/>
              </a:schemeClr>
            </a:solidFill>
            <a:ln>
              <a:noFill/>
            </a:ln>
          </p:spPr>
          <p:txBody>
            <a:bodyPr vert="horz" wrap="square" lIns="91440" tIns="45720" rIns="91440" bIns="45720" numCol="1" anchor="t" anchorCtr="0" compatLnSpc="1"/>
            <a:lstStyle/>
            <a:p>
              <a:endParaRPr lang="zh-CN" altLang="en-US"/>
            </a:p>
          </p:txBody>
        </p:sp>
        <p:sp>
          <p:nvSpPr>
            <p:cNvPr id="235" name="Freeform 143"/>
            <p:cNvSpPr>
              <a:spLocks noEditPoints="1"/>
            </p:cNvSpPr>
            <p:nvPr/>
          </p:nvSpPr>
          <p:spPr bwMode="auto">
            <a:xfrm>
              <a:off x="1744999" y="4588078"/>
              <a:ext cx="268544" cy="241690"/>
            </a:xfrm>
            <a:custGeom>
              <a:avLst/>
              <a:gdLst>
                <a:gd name="T0" fmla="*/ 180 w 198"/>
                <a:gd name="T1" fmla="*/ 73 h 179"/>
                <a:gd name="T2" fmla="*/ 18 w 198"/>
                <a:gd name="T3" fmla="*/ 73 h 179"/>
                <a:gd name="T4" fmla="*/ 0 w 198"/>
                <a:gd name="T5" fmla="*/ 55 h 179"/>
                <a:gd name="T6" fmla="*/ 198 w 198"/>
                <a:gd name="T7" fmla="*/ 55 h 179"/>
                <a:gd name="T8" fmla="*/ 180 w 198"/>
                <a:gd name="T9" fmla="*/ 73 h 179"/>
                <a:gd name="T10" fmla="*/ 171 w 198"/>
                <a:gd name="T11" fmla="*/ 82 h 179"/>
                <a:gd name="T12" fmla="*/ 153 w 198"/>
                <a:gd name="T13" fmla="*/ 100 h 179"/>
                <a:gd name="T14" fmla="*/ 45 w 198"/>
                <a:gd name="T15" fmla="*/ 100 h 179"/>
                <a:gd name="T16" fmla="*/ 27 w 198"/>
                <a:gd name="T17" fmla="*/ 82 h 179"/>
                <a:gd name="T18" fmla="*/ 171 w 198"/>
                <a:gd name="T19" fmla="*/ 82 h 179"/>
                <a:gd name="T20" fmla="*/ 144 w 198"/>
                <a:gd name="T21" fmla="*/ 109 h 179"/>
                <a:gd name="T22" fmla="*/ 126 w 198"/>
                <a:gd name="T23" fmla="*/ 127 h 179"/>
                <a:gd name="T24" fmla="*/ 72 w 198"/>
                <a:gd name="T25" fmla="*/ 127 h 179"/>
                <a:gd name="T26" fmla="*/ 54 w 198"/>
                <a:gd name="T27" fmla="*/ 109 h 179"/>
                <a:gd name="T28" fmla="*/ 144 w 198"/>
                <a:gd name="T29" fmla="*/ 109 h 179"/>
                <a:gd name="T30" fmla="*/ 99 w 198"/>
                <a:gd name="T31" fmla="*/ 129 h 179"/>
                <a:gd name="T32" fmla="*/ 124 w 198"/>
                <a:gd name="T33" fmla="*/ 154 h 179"/>
                <a:gd name="T34" fmla="*/ 99 w 198"/>
                <a:gd name="T35" fmla="*/ 179 h 179"/>
                <a:gd name="T36" fmla="*/ 73 w 198"/>
                <a:gd name="T37" fmla="*/ 154 h 179"/>
                <a:gd name="T38" fmla="*/ 99 w 198"/>
                <a:gd name="T39" fmla="*/ 129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8" h="179">
                  <a:moveTo>
                    <a:pt x="180" y="73"/>
                  </a:moveTo>
                  <a:cubicBezTo>
                    <a:pt x="135" y="28"/>
                    <a:pt x="63" y="28"/>
                    <a:pt x="18" y="73"/>
                  </a:cubicBezTo>
                  <a:cubicBezTo>
                    <a:pt x="0" y="55"/>
                    <a:pt x="0" y="55"/>
                    <a:pt x="0" y="55"/>
                  </a:cubicBezTo>
                  <a:cubicBezTo>
                    <a:pt x="55" y="0"/>
                    <a:pt x="143" y="0"/>
                    <a:pt x="198" y="55"/>
                  </a:cubicBezTo>
                  <a:lnTo>
                    <a:pt x="180" y="73"/>
                  </a:lnTo>
                  <a:close/>
                  <a:moveTo>
                    <a:pt x="171" y="82"/>
                  </a:moveTo>
                  <a:cubicBezTo>
                    <a:pt x="153" y="100"/>
                    <a:pt x="153" y="100"/>
                    <a:pt x="153" y="100"/>
                  </a:cubicBezTo>
                  <a:cubicBezTo>
                    <a:pt x="123" y="70"/>
                    <a:pt x="75" y="70"/>
                    <a:pt x="45" y="100"/>
                  </a:cubicBezTo>
                  <a:cubicBezTo>
                    <a:pt x="27" y="82"/>
                    <a:pt x="27" y="82"/>
                    <a:pt x="27" y="82"/>
                  </a:cubicBezTo>
                  <a:cubicBezTo>
                    <a:pt x="67" y="42"/>
                    <a:pt x="131" y="42"/>
                    <a:pt x="171" y="82"/>
                  </a:cubicBezTo>
                  <a:close/>
                  <a:moveTo>
                    <a:pt x="144" y="109"/>
                  </a:moveTo>
                  <a:cubicBezTo>
                    <a:pt x="126" y="127"/>
                    <a:pt x="126" y="127"/>
                    <a:pt x="126" y="127"/>
                  </a:cubicBezTo>
                  <a:cubicBezTo>
                    <a:pt x="111" y="112"/>
                    <a:pt x="87" y="112"/>
                    <a:pt x="72" y="127"/>
                  </a:cubicBezTo>
                  <a:cubicBezTo>
                    <a:pt x="54" y="109"/>
                    <a:pt x="54" y="109"/>
                    <a:pt x="54" y="109"/>
                  </a:cubicBezTo>
                  <a:cubicBezTo>
                    <a:pt x="79" y="84"/>
                    <a:pt x="119" y="84"/>
                    <a:pt x="144" y="109"/>
                  </a:cubicBezTo>
                  <a:close/>
                  <a:moveTo>
                    <a:pt x="99" y="129"/>
                  </a:moveTo>
                  <a:cubicBezTo>
                    <a:pt x="113" y="129"/>
                    <a:pt x="124" y="140"/>
                    <a:pt x="124" y="154"/>
                  </a:cubicBezTo>
                  <a:cubicBezTo>
                    <a:pt x="124" y="168"/>
                    <a:pt x="113" y="179"/>
                    <a:pt x="99" y="179"/>
                  </a:cubicBezTo>
                  <a:cubicBezTo>
                    <a:pt x="85" y="179"/>
                    <a:pt x="73" y="168"/>
                    <a:pt x="73" y="154"/>
                  </a:cubicBezTo>
                  <a:cubicBezTo>
                    <a:pt x="73" y="140"/>
                    <a:pt x="85" y="129"/>
                    <a:pt x="99" y="129"/>
                  </a:cubicBezTo>
                  <a:close/>
                </a:path>
              </a:pathLst>
            </a:custGeom>
            <a:solidFill>
              <a:schemeClr val="bg1">
                <a:lumMod val="50000"/>
              </a:schemeClr>
            </a:solidFill>
            <a:ln>
              <a:noFill/>
            </a:ln>
          </p:spPr>
          <p:txBody>
            <a:bodyPr vert="horz" wrap="square" lIns="91440" tIns="45720" rIns="91440" bIns="45720" numCol="1" anchor="t" anchorCtr="0" compatLnSpc="1"/>
            <a:lstStyle/>
            <a:p>
              <a:endParaRPr lang="zh-CN" altLang="en-US"/>
            </a:p>
          </p:txBody>
        </p:sp>
        <p:sp>
          <p:nvSpPr>
            <p:cNvPr id="236" name="Freeform 239"/>
            <p:cNvSpPr>
              <a:spLocks noEditPoints="1"/>
            </p:cNvSpPr>
            <p:nvPr/>
          </p:nvSpPr>
          <p:spPr bwMode="auto">
            <a:xfrm>
              <a:off x="1527877" y="2325282"/>
              <a:ext cx="259593" cy="253625"/>
            </a:xfrm>
            <a:custGeom>
              <a:avLst/>
              <a:gdLst>
                <a:gd name="T0" fmla="*/ 123 w 192"/>
                <a:gd name="T1" fmla="*/ 175 h 188"/>
                <a:gd name="T2" fmla="*/ 123 w 192"/>
                <a:gd name="T3" fmla="*/ 148 h 188"/>
                <a:gd name="T4" fmla="*/ 68 w 192"/>
                <a:gd name="T5" fmla="*/ 149 h 188"/>
                <a:gd name="T6" fmla="*/ 68 w 192"/>
                <a:gd name="T7" fmla="*/ 176 h 188"/>
                <a:gd name="T8" fmla="*/ 56 w 192"/>
                <a:gd name="T9" fmla="*/ 182 h 188"/>
                <a:gd name="T10" fmla="*/ 60 w 192"/>
                <a:gd name="T11" fmla="*/ 188 h 188"/>
                <a:gd name="T12" fmla="*/ 130 w 192"/>
                <a:gd name="T13" fmla="*/ 188 h 188"/>
                <a:gd name="T14" fmla="*/ 135 w 192"/>
                <a:gd name="T15" fmla="*/ 183 h 188"/>
                <a:gd name="T16" fmla="*/ 123 w 192"/>
                <a:gd name="T17" fmla="*/ 175 h 188"/>
                <a:gd name="T18" fmla="*/ 173 w 192"/>
                <a:gd name="T19" fmla="*/ 0 h 188"/>
                <a:gd name="T20" fmla="*/ 18 w 192"/>
                <a:gd name="T21" fmla="*/ 0 h 188"/>
                <a:gd name="T22" fmla="*/ 0 w 192"/>
                <a:gd name="T23" fmla="*/ 19 h 188"/>
                <a:gd name="T24" fmla="*/ 0 w 192"/>
                <a:gd name="T25" fmla="*/ 126 h 188"/>
                <a:gd name="T26" fmla="*/ 18 w 192"/>
                <a:gd name="T27" fmla="*/ 144 h 188"/>
                <a:gd name="T28" fmla="*/ 173 w 192"/>
                <a:gd name="T29" fmla="*/ 144 h 188"/>
                <a:gd name="T30" fmla="*/ 192 w 192"/>
                <a:gd name="T31" fmla="*/ 126 h 188"/>
                <a:gd name="T32" fmla="*/ 192 w 192"/>
                <a:gd name="T33" fmla="*/ 19 h 188"/>
                <a:gd name="T34" fmla="*/ 173 w 192"/>
                <a:gd name="T35" fmla="*/ 0 h 188"/>
                <a:gd name="T36" fmla="*/ 180 w 192"/>
                <a:gd name="T37" fmla="*/ 100 h 188"/>
                <a:gd name="T38" fmla="*/ 167 w 192"/>
                <a:gd name="T39" fmla="*/ 112 h 188"/>
                <a:gd name="T40" fmla="*/ 24 w 192"/>
                <a:gd name="T41" fmla="*/ 112 h 188"/>
                <a:gd name="T42" fmla="*/ 11 w 192"/>
                <a:gd name="T43" fmla="*/ 100 h 188"/>
                <a:gd name="T44" fmla="*/ 11 w 192"/>
                <a:gd name="T45" fmla="*/ 25 h 188"/>
                <a:gd name="T46" fmla="*/ 24 w 192"/>
                <a:gd name="T47" fmla="*/ 12 h 188"/>
                <a:gd name="T48" fmla="*/ 167 w 192"/>
                <a:gd name="T49" fmla="*/ 12 h 188"/>
                <a:gd name="T50" fmla="*/ 180 w 192"/>
                <a:gd name="T51" fmla="*/ 25 h 188"/>
                <a:gd name="T52" fmla="*/ 180 w 192"/>
                <a:gd name="T53" fmla="*/ 100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92" h="188">
                  <a:moveTo>
                    <a:pt x="123" y="175"/>
                  </a:moveTo>
                  <a:cubicBezTo>
                    <a:pt x="123" y="148"/>
                    <a:pt x="123" y="148"/>
                    <a:pt x="123" y="148"/>
                  </a:cubicBezTo>
                  <a:cubicBezTo>
                    <a:pt x="68" y="149"/>
                    <a:pt x="68" y="149"/>
                    <a:pt x="68" y="149"/>
                  </a:cubicBezTo>
                  <a:cubicBezTo>
                    <a:pt x="68" y="176"/>
                    <a:pt x="68" y="176"/>
                    <a:pt x="68" y="176"/>
                  </a:cubicBezTo>
                  <a:cubicBezTo>
                    <a:pt x="56" y="182"/>
                    <a:pt x="56" y="182"/>
                    <a:pt x="56" y="182"/>
                  </a:cubicBezTo>
                  <a:cubicBezTo>
                    <a:pt x="56" y="182"/>
                    <a:pt x="53" y="188"/>
                    <a:pt x="60" y="188"/>
                  </a:cubicBezTo>
                  <a:cubicBezTo>
                    <a:pt x="130" y="188"/>
                    <a:pt x="130" y="188"/>
                    <a:pt x="130" y="188"/>
                  </a:cubicBezTo>
                  <a:cubicBezTo>
                    <a:pt x="130" y="188"/>
                    <a:pt x="138" y="185"/>
                    <a:pt x="135" y="183"/>
                  </a:cubicBezTo>
                  <a:cubicBezTo>
                    <a:pt x="133" y="180"/>
                    <a:pt x="123" y="175"/>
                    <a:pt x="123" y="175"/>
                  </a:cubicBezTo>
                  <a:close/>
                  <a:moveTo>
                    <a:pt x="173" y="0"/>
                  </a:moveTo>
                  <a:cubicBezTo>
                    <a:pt x="18" y="0"/>
                    <a:pt x="18" y="0"/>
                    <a:pt x="18" y="0"/>
                  </a:cubicBezTo>
                  <a:cubicBezTo>
                    <a:pt x="8" y="0"/>
                    <a:pt x="0" y="9"/>
                    <a:pt x="0" y="19"/>
                  </a:cubicBezTo>
                  <a:cubicBezTo>
                    <a:pt x="0" y="126"/>
                    <a:pt x="0" y="126"/>
                    <a:pt x="0" y="126"/>
                  </a:cubicBezTo>
                  <a:cubicBezTo>
                    <a:pt x="0" y="136"/>
                    <a:pt x="8" y="144"/>
                    <a:pt x="18" y="144"/>
                  </a:cubicBezTo>
                  <a:cubicBezTo>
                    <a:pt x="173" y="144"/>
                    <a:pt x="173" y="144"/>
                    <a:pt x="173" y="144"/>
                  </a:cubicBezTo>
                  <a:cubicBezTo>
                    <a:pt x="183" y="144"/>
                    <a:pt x="192" y="136"/>
                    <a:pt x="192" y="126"/>
                  </a:cubicBezTo>
                  <a:cubicBezTo>
                    <a:pt x="192" y="19"/>
                    <a:pt x="192" y="19"/>
                    <a:pt x="192" y="19"/>
                  </a:cubicBezTo>
                  <a:cubicBezTo>
                    <a:pt x="192" y="9"/>
                    <a:pt x="183" y="0"/>
                    <a:pt x="173" y="0"/>
                  </a:cubicBezTo>
                  <a:close/>
                  <a:moveTo>
                    <a:pt x="180" y="100"/>
                  </a:moveTo>
                  <a:cubicBezTo>
                    <a:pt x="180" y="107"/>
                    <a:pt x="174" y="112"/>
                    <a:pt x="167" y="112"/>
                  </a:cubicBezTo>
                  <a:cubicBezTo>
                    <a:pt x="24" y="112"/>
                    <a:pt x="24" y="112"/>
                    <a:pt x="24" y="112"/>
                  </a:cubicBezTo>
                  <a:cubicBezTo>
                    <a:pt x="17" y="112"/>
                    <a:pt x="11" y="107"/>
                    <a:pt x="11" y="100"/>
                  </a:cubicBezTo>
                  <a:cubicBezTo>
                    <a:pt x="11" y="25"/>
                    <a:pt x="11" y="25"/>
                    <a:pt x="11" y="25"/>
                  </a:cubicBezTo>
                  <a:cubicBezTo>
                    <a:pt x="11" y="18"/>
                    <a:pt x="17" y="12"/>
                    <a:pt x="24" y="12"/>
                  </a:cubicBezTo>
                  <a:cubicBezTo>
                    <a:pt x="167" y="12"/>
                    <a:pt x="167" y="12"/>
                    <a:pt x="167" y="12"/>
                  </a:cubicBezTo>
                  <a:cubicBezTo>
                    <a:pt x="174" y="12"/>
                    <a:pt x="180" y="18"/>
                    <a:pt x="180" y="25"/>
                  </a:cubicBezTo>
                  <a:lnTo>
                    <a:pt x="180" y="100"/>
                  </a:lnTo>
                  <a:close/>
                </a:path>
              </a:pathLst>
            </a:custGeom>
            <a:solidFill>
              <a:schemeClr val="bg1">
                <a:lumMod val="50000"/>
              </a:schemeClr>
            </a:solidFill>
            <a:ln>
              <a:noFill/>
            </a:ln>
          </p:spPr>
          <p:txBody>
            <a:bodyPr vert="horz" wrap="square" lIns="91440" tIns="45720" rIns="91440" bIns="45720" numCol="1" anchor="t" anchorCtr="0" compatLnSpc="1"/>
            <a:lstStyle/>
            <a:p>
              <a:endParaRPr lang="zh-CN" altLang="en-US"/>
            </a:p>
          </p:txBody>
        </p:sp>
        <p:sp>
          <p:nvSpPr>
            <p:cNvPr id="237" name="Freeform 54"/>
            <p:cNvSpPr>
              <a:spLocks noEditPoints="1"/>
            </p:cNvSpPr>
            <p:nvPr/>
          </p:nvSpPr>
          <p:spPr bwMode="auto">
            <a:xfrm>
              <a:off x="4760280" y="2207983"/>
              <a:ext cx="258102" cy="256609"/>
            </a:xfrm>
            <a:custGeom>
              <a:avLst/>
              <a:gdLst>
                <a:gd name="T0" fmla="*/ 0 w 191"/>
                <a:gd name="T1" fmla="*/ 95 h 190"/>
                <a:gd name="T2" fmla="*/ 2 w 191"/>
                <a:gd name="T3" fmla="*/ 78 h 190"/>
                <a:gd name="T4" fmla="*/ 96 w 191"/>
                <a:gd name="T5" fmla="*/ 0 h 190"/>
                <a:gd name="T6" fmla="*/ 96 w 191"/>
                <a:gd name="T7" fmla="*/ 190 h 190"/>
                <a:gd name="T8" fmla="*/ 146 w 191"/>
                <a:gd name="T9" fmla="*/ 72 h 190"/>
                <a:gd name="T10" fmla="*/ 175 w 191"/>
                <a:gd name="T11" fmla="*/ 66 h 190"/>
                <a:gd name="T12" fmla="*/ 139 w 191"/>
                <a:gd name="T13" fmla="*/ 55 h 190"/>
                <a:gd name="T14" fmla="*/ 154 w 191"/>
                <a:gd name="T15" fmla="*/ 34 h 190"/>
                <a:gd name="T16" fmla="*/ 82 w 191"/>
                <a:gd name="T17" fmla="*/ 34 h 190"/>
                <a:gd name="T18" fmla="*/ 106 w 191"/>
                <a:gd name="T19" fmla="*/ 51 h 190"/>
                <a:gd name="T20" fmla="*/ 81 w 191"/>
                <a:gd name="T21" fmla="*/ 43 h 190"/>
                <a:gd name="T22" fmla="*/ 66 w 191"/>
                <a:gd name="T23" fmla="*/ 45 h 190"/>
                <a:gd name="T24" fmla="*/ 36 w 191"/>
                <a:gd name="T25" fmla="*/ 96 h 190"/>
                <a:gd name="T26" fmla="*/ 47 w 191"/>
                <a:gd name="T27" fmla="*/ 107 h 190"/>
                <a:gd name="T28" fmla="*/ 59 w 191"/>
                <a:gd name="T29" fmla="*/ 104 h 190"/>
                <a:gd name="T30" fmla="*/ 101 w 191"/>
                <a:gd name="T31" fmla="*/ 87 h 190"/>
                <a:gd name="T32" fmla="*/ 69 w 191"/>
                <a:gd name="T33" fmla="*/ 115 h 190"/>
                <a:gd name="T34" fmla="*/ 108 w 191"/>
                <a:gd name="T35" fmla="*/ 93 h 190"/>
                <a:gd name="T36" fmla="*/ 110 w 191"/>
                <a:gd name="T37" fmla="*/ 124 h 190"/>
                <a:gd name="T38" fmla="*/ 141 w 191"/>
                <a:gd name="T39" fmla="*/ 117 h 190"/>
                <a:gd name="T40" fmla="*/ 140 w 191"/>
                <a:gd name="T41" fmla="*/ 87 h 190"/>
                <a:gd name="T42" fmla="*/ 157 w 191"/>
                <a:gd name="T43" fmla="*/ 123 h 190"/>
                <a:gd name="T44" fmla="*/ 181 w 191"/>
                <a:gd name="T45" fmla="*/ 95 h 190"/>
                <a:gd name="T46" fmla="*/ 145 w 191"/>
                <a:gd name="T47" fmla="*/ 75 h 190"/>
                <a:gd name="T48" fmla="*/ 30 w 191"/>
                <a:gd name="T49" fmla="*/ 106 h 190"/>
                <a:gd name="T50" fmla="*/ 26 w 191"/>
                <a:gd name="T51" fmla="*/ 107 h 190"/>
                <a:gd name="T52" fmla="*/ 28 w 191"/>
                <a:gd name="T53" fmla="*/ 146 h 190"/>
                <a:gd name="T54" fmla="*/ 43 w 191"/>
                <a:gd name="T55" fmla="*/ 116 h 190"/>
                <a:gd name="T56" fmla="*/ 119 w 191"/>
                <a:gd name="T57" fmla="*/ 166 h 190"/>
                <a:gd name="T58" fmla="*/ 118 w 191"/>
                <a:gd name="T59" fmla="*/ 177 h 190"/>
                <a:gd name="T60" fmla="*/ 143 w 191"/>
                <a:gd name="T61" fmla="*/ 142 h 190"/>
                <a:gd name="T62" fmla="*/ 110 w 191"/>
                <a:gd name="T63" fmla="*/ 131 h 190"/>
                <a:gd name="T64" fmla="*/ 119 w 191"/>
                <a:gd name="T65" fmla="*/ 166 h 190"/>
                <a:gd name="T66" fmla="*/ 159 w 191"/>
                <a:gd name="T67" fmla="*/ 129 h 190"/>
                <a:gd name="T68" fmla="*/ 151 w 191"/>
                <a:gd name="T69" fmla="*/ 141 h 190"/>
                <a:gd name="T70" fmla="*/ 175 w 191"/>
                <a:gd name="T71" fmla="*/ 126 h 190"/>
                <a:gd name="T72" fmla="*/ 112 w 191"/>
                <a:gd name="T73" fmla="*/ 178 h 190"/>
                <a:gd name="T74" fmla="*/ 110 w 191"/>
                <a:gd name="T75" fmla="*/ 173 h 190"/>
                <a:gd name="T76" fmla="*/ 107 w 191"/>
                <a:gd name="T77" fmla="*/ 160 h 190"/>
                <a:gd name="T78" fmla="*/ 67 w 191"/>
                <a:gd name="T79" fmla="*/ 123 h 190"/>
                <a:gd name="T80" fmla="*/ 48 w 191"/>
                <a:gd name="T81" fmla="*/ 127 h 190"/>
                <a:gd name="T82" fmla="*/ 96 w 191"/>
                <a:gd name="T83" fmla="*/ 180 h 190"/>
                <a:gd name="T84" fmla="*/ 19 w 191"/>
                <a:gd name="T85" fmla="*/ 104 h 190"/>
                <a:gd name="T86" fmla="*/ 11 w 191"/>
                <a:gd name="T87" fmla="*/ 92 h 190"/>
                <a:gd name="T88" fmla="*/ 15 w 191"/>
                <a:gd name="T89" fmla="*/ 121 h 190"/>
                <a:gd name="T90" fmla="*/ 18 w 191"/>
                <a:gd name="T91" fmla="*/ 90 h 190"/>
                <a:gd name="T92" fmla="*/ 26 w 191"/>
                <a:gd name="T93" fmla="*/ 86 h 190"/>
                <a:gd name="T94" fmla="*/ 62 w 191"/>
                <a:gd name="T95" fmla="*/ 37 h 190"/>
                <a:gd name="T96" fmla="*/ 42 w 191"/>
                <a:gd name="T97" fmla="*/ 29 h 190"/>
                <a:gd name="T98" fmla="*/ 49 w 191"/>
                <a:gd name="T99" fmla="*/ 24 h 190"/>
                <a:gd name="T100" fmla="*/ 72 w 191"/>
                <a:gd name="T101" fmla="*/ 27 h 190"/>
                <a:gd name="T102" fmla="*/ 121 w 191"/>
                <a:gd name="T103" fmla="*/ 14 h 190"/>
                <a:gd name="T104" fmla="*/ 49 w 191"/>
                <a:gd name="T105" fmla="*/ 24 h 190"/>
                <a:gd name="T106" fmla="*/ 102 w 191"/>
                <a:gd name="T107" fmla="*/ 71 h 190"/>
                <a:gd name="T108" fmla="*/ 138 w 191"/>
                <a:gd name="T109" fmla="*/ 71 h 190"/>
                <a:gd name="T110" fmla="*/ 120 w 191"/>
                <a:gd name="T111" fmla="*/ 60 h 190"/>
                <a:gd name="T112" fmla="*/ 120 w 191"/>
                <a:gd name="T113" fmla="*/ 83 h 190"/>
                <a:gd name="T114" fmla="*/ 120 w 191"/>
                <a:gd name="T115" fmla="*/ 60 h 190"/>
                <a:gd name="T116" fmla="*/ 115 w 191"/>
                <a:gd name="T117" fmla="*/ 71 h 190"/>
                <a:gd name="T118" fmla="*/ 126 w 191"/>
                <a:gd name="T119" fmla="*/ 71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91" h="190">
                  <a:moveTo>
                    <a:pt x="96" y="190"/>
                  </a:moveTo>
                  <a:cubicBezTo>
                    <a:pt x="43" y="190"/>
                    <a:pt x="0" y="147"/>
                    <a:pt x="0" y="95"/>
                  </a:cubicBezTo>
                  <a:cubicBezTo>
                    <a:pt x="0" y="90"/>
                    <a:pt x="1" y="85"/>
                    <a:pt x="2" y="80"/>
                  </a:cubicBezTo>
                  <a:cubicBezTo>
                    <a:pt x="2" y="78"/>
                    <a:pt x="2" y="78"/>
                    <a:pt x="2" y="78"/>
                  </a:cubicBezTo>
                  <a:cubicBezTo>
                    <a:pt x="2" y="78"/>
                    <a:pt x="2" y="78"/>
                    <a:pt x="2" y="78"/>
                  </a:cubicBezTo>
                  <a:cubicBezTo>
                    <a:pt x="10" y="34"/>
                    <a:pt x="49" y="0"/>
                    <a:pt x="96" y="0"/>
                  </a:cubicBezTo>
                  <a:cubicBezTo>
                    <a:pt x="148" y="0"/>
                    <a:pt x="191" y="42"/>
                    <a:pt x="191" y="95"/>
                  </a:cubicBezTo>
                  <a:cubicBezTo>
                    <a:pt x="191" y="147"/>
                    <a:pt x="148" y="190"/>
                    <a:pt x="96" y="190"/>
                  </a:cubicBezTo>
                  <a:close/>
                  <a:moveTo>
                    <a:pt x="145" y="75"/>
                  </a:moveTo>
                  <a:cubicBezTo>
                    <a:pt x="145" y="74"/>
                    <a:pt x="146" y="73"/>
                    <a:pt x="146" y="72"/>
                  </a:cubicBezTo>
                  <a:cubicBezTo>
                    <a:pt x="146" y="70"/>
                    <a:pt x="145" y="68"/>
                    <a:pt x="145" y="67"/>
                  </a:cubicBezTo>
                  <a:cubicBezTo>
                    <a:pt x="154" y="66"/>
                    <a:pt x="164" y="65"/>
                    <a:pt x="175" y="66"/>
                  </a:cubicBezTo>
                  <a:cubicBezTo>
                    <a:pt x="172" y="56"/>
                    <a:pt x="167" y="47"/>
                    <a:pt x="160" y="40"/>
                  </a:cubicBezTo>
                  <a:cubicBezTo>
                    <a:pt x="155" y="42"/>
                    <a:pt x="147" y="47"/>
                    <a:pt x="139" y="55"/>
                  </a:cubicBezTo>
                  <a:cubicBezTo>
                    <a:pt x="138" y="53"/>
                    <a:pt x="136" y="52"/>
                    <a:pt x="134" y="50"/>
                  </a:cubicBezTo>
                  <a:cubicBezTo>
                    <a:pt x="142" y="42"/>
                    <a:pt x="150" y="36"/>
                    <a:pt x="154" y="34"/>
                  </a:cubicBezTo>
                  <a:cubicBezTo>
                    <a:pt x="147" y="27"/>
                    <a:pt x="139" y="22"/>
                    <a:pt x="131" y="18"/>
                  </a:cubicBezTo>
                  <a:cubicBezTo>
                    <a:pt x="123" y="19"/>
                    <a:pt x="103" y="22"/>
                    <a:pt x="82" y="34"/>
                  </a:cubicBezTo>
                  <a:cubicBezTo>
                    <a:pt x="82" y="35"/>
                    <a:pt x="82" y="36"/>
                    <a:pt x="82" y="37"/>
                  </a:cubicBezTo>
                  <a:cubicBezTo>
                    <a:pt x="90" y="40"/>
                    <a:pt x="99" y="45"/>
                    <a:pt x="106" y="51"/>
                  </a:cubicBezTo>
                  <a:cubicBezTo>
                    <a:pt x="105" y="52"/>
                    <a:pt x="103" y="53"/>
                    <a:pt x="102" y="55"/>
                  </a:cubicBezTo>
                  <a:cubicBezTo>
                    <a:pt x="96" y="51"/>
                    <a:pt x="89" y="46"/>
                    <a:pt x="81" y="43"/>
                  </a:cubicBezTo>
                  <a:cubicBezTo>
                    <a:pt x="79" y="45"/>
                    <a:pt x="76" y="47"/>
                    <a:pt x="72" y="47"/>
                  </a:cubicBezTo>
                  <a:cubicBezTo>
                    <a:pt x="70" y="47"/>
                    <a:pt x="68" y="46"/>
                    <a:pt x="66" y="45"/>
                  </a:cubicBezTo>
                  <a:cubicBezTo>
                    <a:pt x="54" y="55"/>
                    <a:pt x="42" y="69"/>
                    <a:pt x="33" y="89"/>
                  </a:cubicBezTo>
                  <a:cubicBezTo>
                    <a:pt x="35" y="91"/>
                    <a:pt x="36" y="93"/>
                    <a:pt x="36" y="96"/>
                  </a:cubicBezTo>
                  <a:cubicBezTo>
                    <a:pt x="36" y="98"/>
                    <a:pt x="36" y="100"/>
                    <a:pt x="35" y="101"/>
                  </a:cubicBezTo>
                  <a:cubicBezTo>
                    <a:pt x="39" y="103"/>
                    <a:pt x="43" y="105"/>
                    <a:pt x="47" y="107"/>
                  </a:cubicBezTo>
                  <a:cubicBezTo>
                    <a:pt x="49" y="105"/>
                    <a:pt x="52" y="103"/>
                    <a:pt x="56" y="103"/>
                  </a:cubicBezTo>
                  <a:cubicBezTo>
                    <a:pt x="57" y="103"/>
                    <a:pt x="58" y="103"/>
                    <a:pt x="59" y="104"/>
                  </a:cubicBezTo>
                  <a:cubicBezTo>
                    <a:pt x="69" y="95"/>
                    <a:pt x="81" y="86"/>
                    <a:pt x="97" y="79"/>
                  </a:cubicBezTo>
                  <a:cubicBezTo>
                    <a:pt x="98" y="82"/>
                    <a:pt x="99" y="85"/>
                    <a:pt x="101" y="87"/>
                  </a:cubicBezTo>
                  <a:cubicBezTo>
                    <a:pt x="89" y="92"/>
                    <a:pt x="77" y="99"/>
                    <a:pt x="66" y="108"/>
                  </a:cubicBezTo>
                  <a:cubicBezTo>
                    <a:pt x="67" y="110"/>
                    <a:pt x="68" y="113"/>
                    <a:pt x="69" y="115"/>
                  </a:cubicBezTo>
                  <a:cubicBezTo>
                    <a:pt x="79" y="119"/>
                    <a:pt x="90" y="121"/>
                    <a:pt x="103" y="123"/>
                  </a:cubicBezTo>
                  <a:cubicBezTo>
                    <a:pt x="103" y="112"/>
                    <a:pt x="105" y="102"/>
                    <a:pt x="108" y="93"/>
                  </a:cubicBezTo>
                  <a:cubicBezTo>
                    <a:pt x="110" y="95"/>
                    <a:pt x="112" y="96"/>
                    <a:pt x="115" y="96"/>
                  </a:cubicBezTo>
                  <a:cubicBezTo>
                    <a:pt x="112" y="104"/>
                    <a:pt x="111" y="114"/>
                    <a:pt x="110" y="124"/>
                  </a:cubicBezTo>
                  <a:cubicBezTo>
                    <a:pt x="118" y="125"/>
                    <a:pt x="126" y="125"/>
                    <a:pt x="134" y="125"/>
                  </a:cubicBezTo>
                  <a:cubicBezTo>
                    <a:pt x="136" y="122"/>
                    <a:pt x="138" y="119"/>
                    <a:pt x="141" y="117"/>
                  </a:cubicBezTo>
                  <a:cubicBezTo>
                    <a:pt x="140" y="109"/>
                    <a:pt x="137" y="101"/>
                    <a:pt x="134" y="93"/>
                  </a:cubicBezTo>
                  <a:cubicBezTo>
                    <a:pt x="136" y="91"/>
                    <a:pt x="138" y="90"/>
                    <a:pt x="140" y="87"/>
                  </a:cubicBezTo>
                  <a:cubicBezTo>
                    <a:pt x="145" y="96"/>
                    <a:pt x="148" y="106"/>
                    <a:pt x="150" y="117"/>
                  </a:cubicBezTo>
                  <a:cubicBezTo>
                    <a:pt x="153" y="118"/>
                    <a:pt x="156" y="120"/>
                    <a:pt x="157" y="123"/>
                  </a:cubicBezTo>
                  <a:cubicBezTo>
                    <a:pt x="164" y="122"/>
                    <a:pt x="170" y="120"/>
                    <a:pt x="177" y="119"/>
                  </a:cubicBezTo>
                  <a:cubicBezTo>
                    <a:pt x="179" y="111"/>
                    <a:pt x="181" y="103"/>
                    <a:pt x="181" y="95"/>
                  </a:cubicBezTo>
                  <a:cubicBezTo>
                    <a:pt x="181" y="87"/>
                    <a:pt x="179" y="80"/>
                    <a:pt x="177" y="73"/>
                  </a:cubicBezTo>
                  <a:cubicBezTo>
                    <a:pt x="172" y="73"/>
                    <a:pt x="160" y="73"/>
                    <a:pt x="145" y="75"/>
                  </a:cubicBezTo>
                  <a:close/>
                  <a:moveTo>
                    <a:pt x="43" y="113"/>
                  </a:moveTo>
                  <a:cubicBezTo>
                    <a:pt x="39" y="111"/>
                    <a:pt x="34" y="108"/>
                    <a:pt x="30" y="106"/>
                  </a:cubicBezTo>
                  <a:cubicBezTo>
                    <a:pt x="29" y="106"/>
                    <a:pt x="28" y="107"/>
                    <a:pt x="26" y="107"/>
                  </a:cubicBezTo>
                  <a:cubicBezTo>
                    <a:pt x="26" y="107"/>
                    <a:pt x="26" y="107"/>
                    <a:pt x="26" y="107"/>
                  </a:cubicBezTo>
                  <a:cubicBezTo>
                    <a:pt x="24" y="115"/>
                    <a:pt x="22" y="124"/>
                    <a:pt x="20" y="134"/>
                  </a:cubicBezTo>
                  <a:cubicBezTo>
                    <a:pt x="22" y="138"/>
                    <a:pt x="25" y="142"/>
                    <a:pt x="28" y="146"/>
                  </a:cubicBezTo>
                  <a:cubicBezTo>
                    <a:pt x="30" y="141"/>
                    <a:pt x="35" y="131"/>
                    <a:pt x="44" y="120"/>
                  </a:cubicBezTo>
                  <a:cubicBezTo>
                    <a:pt x="43" y="119"/>
                    <a:pt x="43" y="117"/>
                    <a:pt x="43" y="116"/>
                  </a:cubicBezTo>
                  <a:cubicBezTo>
                    <a:pt x="43" y="115"/>
                    <a:pt x="43" y="114"/>
                    <a:pt x="43" y="113"/>
                  </a:cubicBezTo>
                  <a:close/>
                  <a:moveTo>
                    <a:pt x="119" y="166"/>
                  </a:moveTo>
                  <a:cubicBezTo>
                    <a:pt x="119" y="167"/>
                    <a:pt x="117" y="171"/>
                    <a:pt x="116" y="172"/>
                  </a:cubicBezTo>
                  <a:cubicBezTo>
                    <a:pt x="117" y="174"/>
                    <a:pt x="117" y="174"/>
                    <a:pt x="118" y="177"/>
                  </a:cubicBezTo>
                  <a:cubicBezTo>
                    <a:pt x="126" y="175"/>
                    <a:pt x="133" y="172"/>
                    <a:pt x="139" y="168"/>
                  </a:cubicBezTo>
                  <a:cubicBezTo>
                    <a:pt x="141" y="162"/>
                    <a:pt x="143" y="153"/>
                    <a:pt x="143" y="142"/>
                  </a:cubicBezTo>
                  <a:cubicBezTo>
                    <a:pt x="138" y="140"/>
                    <a:pt x="135" y="136"/>
                    <a:pt x="134" y="132"/>
                  </a:cubicBezTo>
                  <a:cubicBezTo>
                    <a:pt x="126" y="132"/>
                    <a:pt x="118" y="132"/>
                    <a:pt x="110" y="131"/>
                  </a:cubicBezTo>
                  <a:cubicBezTo>
                    <a:pt x="110" y="140"/>
                    <a:pt x="112" y="149"/>
                    <a:pt x="114" y="160"/>
                  </a:cubicBezTo>
                  <a:cubicBezTo>
                    <a:pt x="116" y="161"/>
                    <a:pt x="119" y="163"/>
                    <a:pt x="119" y="166"/>
                  </a:cubicBezTo>
                  <a:close/>
                  <a:moveTo>
                    <a:pt x="175" y="126"/>
                  </a:moveTo>
                  <a:cubicBezTo>
                    <a:pt x="169" y="127"/>
                    <a:pt x="164" y="128"/>
                    <a:pt x="159" y="129"/>
                  </a:cubicBezTo>
                  <a:cubicBezTo>
                    <a:pt x="159" y="129"/>
                    <a:pt x="159" y="129"/>
                    <a:pt x="159" y="129"/>
                  </a:cubicBezTo>
                  <a:cubicBezTo>
                    <a:pt x="159" y="135"/>
                    <a:pt x="156" y="140"/>
                    <a:pt x="151" y="141"/>
                  </a:cubicBezTo>
                  <a:cubicBezTo>
                    <a:pt x="150" y="148"/>
                    <a:pt x="149" y="155"/>
                    <a:pt x="147" y="162"/>
                  </a:cubicBezTo>
                  <a:cubicBezTo>
                    <a:pt x="159" y="153"/>
                    <a:pt x="169" y="140"/>
                    <a:pt x="175" y="126"/>
                  </a:cubicBezTo>
                  <a:close/>
                  <a:moveTo>
                    <a:pt x="96" y="180"/>
                  </a:moveTo>
                  <a:cubicBezTo>
                    <a:pt x="101" y="180"/>
                    <a:pt x="106" y="179"/>
                    <a:pt x="112" y="178"/>
                  </a:cubicBezTo>
                  <a:cubicBezTo>
                    <a:pt x="111" y="177"/>
                    <a:pt x="111" y="175"/>
                    <a:pt x="110" y="173"/>
                  </a:cubicBezTo>
                  <a:cubicBezTo>
                    <a:pt x="110" y="173"/>
                    <a:pt x="110" y="173"/>
                    <a:pt x="110" y="173"/>
                  </a:cubicBezTo>
                  <a:cubicBezTo>
                    <a:pt x="106" y="173"/>
                    <a:pt x="103" y="170"/>
                    <a:pt x="103" y="166"/>
                  </a:cubicBezTo>
                  <a:cubicBezTo>
                    <a:pt x="103" y="164"/>
                    <a:pt x="104" y="162"/>
                    <a:pt x="107" y="160"/>
                  </a:cubicBezTo>
                  <a:cubicBezTo>
                    <a:pt x="104" y="150"/>
                    <a:pt x="103" y="140"/>
                    <a:pt x="103" y="131"/>
                  </a:cubicBezTo>
                  <a:cubicBezTo>
                    <a:pt x="90" y="129"/>
                    <a:pt x="78" y="126"/>
                    <a:pt x="67" y="123"/>
                  </a:cubicBezTo>
                  <a:cubicBezTo>
                    <a:pt x="65" y="126"/>
                    <a:pt x="61" y="129"/>
                    <a:pt x="56" y="129"/>
                  </a:cubicBezTo>
                  <a:cubicBezTo>
                    <a:pt x="53" y="129"/>
                    <a:pt x="51" y="128"/>
                    <a:pt x="48" y="127"/>
                  </a:cubicBezTo>
                  <a:cubicBezTo>
                    <a:pt x="43" y="134"/>
                    <a:pt x="38" y="143"/>
                    <a:pt x="34" y="154"/>
                  </a:cubicBezTo>
                  <a:cubicBezTo>
                    <a:pt x="50" y="170"/>
                    <a:pt x="71" y="180"/>
                    <a:pt x="96" y="180"/>
                  </a:cubicBezTo>
                  <a:close/>
                  <a:moveTo>
                    <a:pt x="15" y="121"/>
                  </a:moveTo>
                  <a:cubicBezTo>
                    <a:pt x="16" y="117"/>
                    <a:pt x="17" y="111"/>
                    <a:pt x="19" y="104"/>
                  </a:cubicBezTo>
                  <a:cubicBezTo>
                    <a:pt x="17" y="102"/>
                    <a:pt x="16" y="99"/>
                    <a:pt x="16" y="97"/>
                  </a:cubicBezTo>
                  <a:cubicBezTo>
                    <a:pt x="14" y="95"/>
                    <a:pt x="12" y="94"/>
                    <a:pt x="11" y="92"/>
                  </a:cubicBezTo>
                  <a:cubicBezTo>
                    <a:pt x="11" y="93"/>
                    <a:pt x="11" y="94"/>
                    <a:pt x="11" y="95"/>
                  </a:cubicBezTo>
                  <a:cubicBezTo>
                    <a:pt x="11" y="104"/>
                    <a:pt x="12" y="113"/>
                    <a:pt x="15" y="121"/>
                  </a:cubicBezTo>
                  <a:close/>
                  <a:moveTo>
                    <a:pt x="11" y="86"/>
                  </a:moveTo>
                  <a:cubicBezTo>
                    <a:pt x="13" y="87"/>
                    <a:pt x="15" y="89"/>
                    <a:pt x="18" y="90"/>
                  </a:cubicBezTo>
                  <a:cubicBezTo>
                    <a:pt x="20" y="88"/>
                    <a:pt x="23" y="86"/>
                    <a:pt x="26" y="86"/>
                  </a:cubicBezTo>
                  <a:cubicBezTo>
                    <a:pt x="26" y="86"/>
                    <a:pt x="26" y="86"/>
                    <a:pt x="26" y="86"/>
                  </a:cubicBezTo>
                  <a:cubicBezTo>
                    <a:pt x="34" y="71"/>
                    <a:pt x="45" y="54"/>
                    <a:pt x="62" y="40"/>
                  </a:cubicBezTo>
                  <a:cubicBezTo>
                    <a:pt x="62" y="39"/>
                    <a:pt x="62" y="38"/>
                    <a:pt x="62" y="37"/>
                  </a:cubicBezTo>
                  <a:cubicBezTo>
                    <a:pt x="62" y="36"/>
                    <a:pt x="62" y="36"/>
                    <a:pt x="62" y="35"/>
                  </a:cubicBezTo>
                  <a:cubicBezTo>
                    <a:pt x="56" y="33"/>
                    <a:pt x="49" y="31"/>
                    <a:pt x="42" y="29"/>
                  </a:cubicBezTo>
                  <a:cubicBezTo>
                    <a:pt x="25" y="43"/>
                    <a:pt x="14" y="63"/>
                    <a:pt x="11" y="86"/>
                  </a:cubicBezTo>
                  <a:close/>
                  <a:moveTo>
                    <a:pt x="49" y="24"/>
                  </a:moveTo>
                  <a:cubicBezTo>
                    <a:pt x="52" y="25"/>
                    <a:pt x="58" y="27"/>
                    <a:pt x="66" y="29"/>
                  </a:cubicBezTo>
                  <a:cubicBezTo>
                    <a:pt x="67" y="28"/>
                    <a:pt x="70" y="27"/>
                    <a:pt x="72" y="27"/>
                  </a:cubicBezTo>
                  <a:cubicBezTo>
                    <a:pt x="75" y="27"/>
                    <a:pt x="77" y="28"/>
                    <a:pt x="78" y="29"/>
                  </a:cubicBezTo>
                  <a:cubicBezTo>
                    <a:pt x="90" y="22"/>
                    <a:pt x="104" y="17"/>
                    <a:pt x="121" y="14"/>
                  </a:cubicBezTo>
                  <a:cubicBezTo>
                    <a:pt x="113" y="11"/>
                    <a:pt x="104" y="10"/>
                    <a:pt x="96" y="10"/>
                  </a:cubicBezTo>
                  <a:cubicBezTo>
                    <a:pt x="78" y="10"/>
                    <a:pt x="62" y="15"/>
                    <a:pt x="49" y="24"/>
                  </a:cubicBezTo>
                  <a:close/>
                  <a:moveTo>
                    <a:pt x="120" y="89"/>
                  </a:moveTo>
                  <a:cubicBezTo>
                    <a:pt x="110" y="89"/>
                    <a:pt x="102" y="81"/>
                    <a:pt x="102" y="71"/>
                  </a:cubicBezTo>
                  <a:cubicBezTo>
                    <a:pt x="102" y="62"/>
                    <a:pt x="110" y="54"/>
                    <a:pt x="120" y="54"/>
                  </a:cubicBezTo>
                  <a:cubicBezTo>
                    <a:pt x="130" y="54"/>
                    <a:pt x="138" y="62"/>
                    <a:pt x="138" y="71"/>
                  </a:cubicBezTo>
                  <a:cubicBezTo>
                    <a:pt x="138" y="81"/>
                    <a:pt x="130" y="89"/>
                    <a:pt x="120" y="89"/>
                  </a:cubicBezTo>
                  <a:close/>
                  <a:moveTo>
                    <a:pt x="120" y="60"/>
                  </a:moveTo>
                  <a:cubicBezTo>
                    <a:pt x="114" y="60"/>
                    <a:pt x="109" y="65"/>
                    <a:pt x="109" y="71"/>
                  </a:cubicBezTo>
                  <a:cubicBezTo>
                    <a:pt x="109" y="78"/>
                    <a:pt x="114" y="83"/>
                    <a:pt x="120" y="83"/>
                  </a:cubicBezTo>
                  <a:cubicBezTo>
                    <a:pt x="127" y="83"/>
                    <a:pt x="132" y="78"/>
                    <a:pt x="132" y="71"/>
                  </a:cubicBezTo>
                  <a:cubicBezTo>
                    <a:pt x="132" y="65"/>
                    <a:pt x="127" y="60"/>
                    <a:pt x="120" y="60"/>
                  </a:cubicBezTo>
                  <a:close/>
                  <a:moveTo>
                    <a:pt x="120" y="76"/>
                  </a:moveTo>
                  <a:cubicBezTo>
                    <a:pt x="117" y="76"/>
                    <a:pt x="115" y="74"/>
                    <a:pt x="115" y="71"/>
                  </a:cubicBezTo>
                  <a:cubicBezTo>
                    <a:pt x="115" y="67"/>
                    <a:pt x="117" y="65"/>
                    <a:pt x="120" y="65"/>
                  </a:cubicBezTo>
                  <a:cubicBezTo>
                    <a:pt x="123" y="65"/>
                    <a:pt x="126" y="67"/>
                    <a:pt x="126" y="71"/>
                  </a:cubicBezTo>
                  <a:cubicBezTo>
                    <a:pt x="126" y="74"/>
                    <a:pt x="123" y="76"/>
                    <a:pt x="120" y="76"/>
                  </a:cubicBezTo>
                  <a:close/>
                </a:path>
              </a:pathLst>
            </a:custGeom>
            <a:solidFill>
              <a:schemeClr val="bg1">
                <a:lumMod val="50000"/>
              </a:schemeClr>
            </a:solidFill>
            <a:ln>
              <a:noFill/>
            </a:ln>
          </p:spPr>
          <p:txBody>
            <a:bodyPr vert="horz" wrap="square" lIns="91440" tIns="45720" rIns="91440" bIns="45720" numCol="1" anchor="t" anchorCtr="0" compatLnSpc="1"/>
            <a:lstStyle/>
            <a:p>
              <a:endParaRPr lang="zh-CN" altLang="en-US"/>
            </a:p>
          </p:txBody>
        </p:sp>
        <p:sp>
          <p:nvSpPr>
            <p:cNvPr id="238" name="Freeform 145"/>
            <p:cNvSpPr>
              <a:spLocks noEditPoints="1"/>
            </p:cNvSpPr>
            <p:nvPr/>
          </p:nvSpPr>
          <p:spPr bwMode="auto">
            <a:xfrm>
              <a:off x="2970637" y="1829144"/>
              <a:ext cx="162619" cy="270037"/>
            </a:xfrm>
            <a:custGeom>
              <a:avLst/>
              <a:gdLst>
                <a:gd name="T0" fmla="*/ 76 w 109"/>
                <a:gd name="T1" fmla="*/ 127 h 181"/>
                <a:gd name="T2" fmla="*/ 65 w 109"/>
                <a:gd name="T3" fmla="*/ 116 h 181"/>
                <a:gd name="T4" fmla="*/ 76 w 109"/>
                <a:gd name="T5" fmla="*/ 105 h 181"/>
                <a:gd name="T6" fmla="*/ 98 w 109"/>
                <a:gd name="T7" fmla="*/ 94 h 181"/>
                <a:gd name="T8" fmla="*/ 109 w 109"/>
                <a:gd name="T9" fmla="*/ 105 h 181"/>
                <a:gd name="T10" fmla="*/ 76 w 109"/>
                <a:gd name="T11" fmla="*/ 116 h 181"/>
                <a:gd name="T12" fmla="*/ 87 w 109"/>
                <a:gd name="T13" fmla="*/ 149 h 181"/>
                <a:gd name="T14" fmla="*/ 76 w 109"/>
                <a:gd name="T15" fmla="*/ 138 h 181"/>
                <a:gd name="T16" fmla="*/ 87 w 109"/>
                <a:gd name="T17" fmla="*/ 127 h 181"/>
                <a:gd name="T18" fmla="*/ 98 w 109"/>
                <a:gd name="T19" fmla="*/ 159 h 181"/>
                <a:gd name="T20" fmla="*/ 87 w 109"/>
                <a:gd name="T21" fmla="*/ 170 h 181"/>
                <a:gd name="T22" fmla="*/ 87 w 109"/>
                <a:gd name="T23" fmla="*/ 149 h 181"/>
                <a:gd name="T24" fmla="*/ 98 w 109"/>
                <a:gd name="T25" fmla="*/ 159 h 181"/>
                <a:gd name="T26" fmla="*/ 65 w 109"/>
                <a:gd name="T27" fmla="*/ 181 h 181"/>
                <a:gd name="T28" fmla="*/ 76 w 109"/>
                <a:gd name="T29" fmla="*/ 170 h 181"/>
                <a:gd name="T30" fmla="*/ 87 w 109"/>
                <a:gd name="T31" fmla="*/ 181 h 181"/>
                <a:gd name="T32" fmla="*/ 54 w 109"/>
                <a:gd name="T33" fmla="*/ 159 h 181"/>
                <a:gd name="T34" fmla="*/ 65 w 109"/>
                <a:gd name="T35" fmla="*/ 149 h 181"/>
                <a:gd name="T36" fmla="*/ 65 w 109"/>
                <a:gd name="T37" fmla="*/ 170 h 181"/>
                <a:gd name="T38" fmla="*/ 54 w 109"/>
                <a:gd name="T39" fmla="*/ 159 h 181"/>
                <a:gd name="T40" fmla="*/ 44 w 109"/>
                <a:gd name="T41" fmla="*/ 127 h 181"/>
                <a:gd name="T42" fmla="*/ 54 w 109"/>
                <a:gd name="T43" fmla="*/ 138 h 181"/>
                <a:gd name="T44" fmla="*/ 44 w 109"/>
                <a:gd name="T45" fmla="*/ 149 h 181"/>
                <a:gd name="T46" fmla="*/ 22 w 109"/>
                <a:gd name="T47" fmla="*/ 138 h 181"/>
                <a:gd name="T48" fmla="*/ 11 w 109"/>
                <a:gd name="T49" fmla="*/ 149 h 181"/>
                <a:gd name="T50" fmla="*/ 0 w 109"/>
                <a:gd name="T51" fmla="*/ 159 h 181"/>
                <a:gd name="T52" fmla="*/ 11 w 109"/>
                <a:gd name="T53" fmla="*/ 0 h 181"/>
                <a:gd name="T54" fmla="*/ 22 w 109"/>
                <a:gd name="T55" fmla="*/ 7 h 181"/>
                <a:gd name="T56" fmla="*/ 11 w 109"/>
                <a:gd name="T57" fmla="*/ 17 h 181"/>
                <a:gd name="T58" fmla="*/ 22 w 109"/>
                <a:gd name="T59" fmla="*/ 138 h 181"/>
                <a:gd name="T60" fmla="*/ 33 w 109"/>
                <a:gd name="T61" fmla="*/ 127 h 181"/>
                <a:gd name="T62" fmla="*/ 22 w 109"/>
                <a:gd name="T63" fmla="*/ 138 h 181"/>
                <a:gd name="T64" fmla="*/ 22 w 109"/>
                <a:gd name="T65" fmla="*/ 28 h 181"/>
                <a:gd name="T66" fmla="*/ 33 w 109"/>
                <a:gd name="T67" fmla="*/ 17 h 181"/>
                <a:gd name="T68" fmla="*/ 44 w 109"/>
                <a:gd name="T69" fmla="*/ 39 h 181"/>
                <a:gd name="T70" fmla="*/ 33 w 109"/>
                <a:gd name="T71" fmla="*/ 28 h 181"/>
                <a:gd name="T72" fmla="*/ 44 w 109"/>
                <a:gd name="T73" fmla="*/ 39 h 181"/>
                <a:gd name="T74" fmla="*/ 44 w 109"/>
                <a:gd name="T75" fmla="*/ 116 h 181"/>
                <a:gd name="T76" fmla="*/ 33 w 109"/>
                <a:gd name="T77" fmla="*/ 127 h 181"/>
                <a:gd name="T78" fmla="*/ 87 w 109"/>
                <a:gd name="T79" fmla="*/ 83 h 181"/>
                <a:gd name="T80" fmla="*/ 98 w 109"/>
                <a:gd name="T81" fmla="*/ 94 h 181"/>
                <a:gd name="T82" fmla="*/ 87 w 109"/>
                <a:gd name="T83" fmla="*/ 83 h 181"/>
                <a:gd name="T84" fmla="*/ 87 w 109"/>
                <a:gd name="T85" fmla="*/ 73 h 181"/>
                <a:gd name="T86" fmla="*/ 76 w 109"/>
                <a:gd name="T87" fmla="*/ 83 h 181"/>
                <a:gd name="T88" fmla="*/ 65 w 109"/>
                <a:gd name="T89" fmla="*/ 62 h 181"/>
                <a:gd name="T90" fmla="*/ 76 w 109"/>
                <a:gd name="T91" fmla="*/ 73 h 181"/>
                <a:gd name="T92" fmla="*/ 65 w 109"/>
                <a:gd name="T93" fmla="*/ 62 h 181"/>
                <a:gd name="T94" fmla="*/ 44 w 109"/>
                <a:gd name="T95" fmla="*/ 51 h 181"/>
                <a:gd name="T96" fmla="*/ 54 w 109"/>
                <a:gd name="T97" fmla="*/ 40 h 181"/>
                <a:gd name="T98" fmla="*/ 65 w 109"/>
                <a:gd name="T99" fmla="*/ 51 h 181"/>
                <a:gd name="T100" fmla="*/ 54 w 109"/>
                <a:gd name="T101" fmla="*/ 62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09" h="181">
                  <a:moveTo>
                    <a:pt x="76" y="116"/>
                  </a:moveTo>
                  <a:lnTo>
                    <a:pt x="76" y="127"/>
                  </a:lnTo>
                  <a:lnTo>
                    <a:pt x="65" y="127"/>
                  </a:lnTo>
                  <a:lnTo>
                    <a:pt x="65" y="116"/>
                  </a:lnTo>
                  <a:lnTo>
                    <a:pt x="65" y="105"/>
                  </a:lnTo>
                  <a:lnTo>
                    <a:pt x="76" y="105"/>
                  </a:lnTo>
                  <a:lnTo>
                    <a:pt x="98" y="105"/>
                  </a:lnTo>
                  <a:lnTo>
                    <a:pt x="98" y="94"/>
                  </a:lnTo>
                  <a:lnTo>
                    <a:pt x="109" y="94"/>
                  </a:lnTo>
                  <a:lnTo>
                    <a:pt x="109" y="105"/>
                  </a:lnTo>
                  <a:lnTo>
                    <a:pt x="109" y="116"/>
                  </a:lnTo>
                  <a:lnTo>
                    <a:pt x="76" y="116"/>
                  </a:lnTo>
                  <a:close/>
                  <a:moveTo>
                    <a:pt x="87" y="138"/>
                  </a:moveTo>
                  <a:lnTo>
                    <a:pt x="87" y="149"/>
                  </a:lnTo>
                  <a:lnTo>
                    <a:pt x="76" y="149"/>
                  </a:lnTo>
                  <a:lnTo>
                    <a:pt x="76" y="138"/>
                  </a:lnTo>
                  <a:lnTo>
                    <a:pt x="76" y="127"/>
                  </a:lnTo>
                  <a:lnTo>
                    <a:pt x="87" y="127"/>
                  </a:lnTo>
                  <a:lnTo>
                    <a:pt x="87" y="138"/>
                  </a:lnTo>
                  <a:close/>
                  <a:moveTo>
                    <a:pt x="98" y="159"/>
                  </a:moveTo>
                  <a:lnTo>
                    <a:pt x="98" y="170"/>
                  </a:lnTo>
                  <a:lnTo>
                    <a:pt x="87" y="170"/>
                  </a:lnTo>
                  <a:lnTo>
                    <a:pt x="87" y="159"/>
                  </a:lnTo>
                  <a:lnTo>
                    <a:pt x="87" y="149"/>
                  </a:lnTo>
                  <a:lnTo>
                    <a:pt x="98" y="149"/>
                  </a:lnTo>
                  <a:lnTo>
                    <a:pt x="98" y="159"/>
                  </a:lnTo>
                  <a:close/>
                  <a:moveTo>
                    <a:pt x="76" y="181"/>
                  </a:moveTo>
                  <a:lnTo>
                    <a:pt x="65" y="181"/>
                  </a:lnTo>
                  <a:lnTo>
                    <a:pt x="65" y="170"/>
                  </a:lnTo>
                  <a:lnTo>
                    <a:pt x="76" y="170"/>
                  </a:lnTo>
                  <a:lnTo>
                    <a:pt x="87" y="170"/>
                  </a:lnTo>
                  <a:lnTo>
                    <a:pt x="87" y="181"/>
                  </a:lnTo>
                  <a:lnTo>
                    <a:pt x="76" y="181"/>
                  </a:lnTo>
                  <a:close/>
                  <a:moveTo>
                    <a:pt x="54" y="159"/>
                  </a:moveTo>
                  <a:lnTo>
                    <a:pt x="54" y="149"/>
                  </a:lnTo>
                  <a:lnTo>
                    <a:pt x="65" y="149"/>
                  </a:lnTo>
                  <a:lnTo>
                    <a:pt x="65" y="159"/>
                  </a:lnTo>
                  <a:lnTo>
                    <a:pt x="65" y="170"/>
                  </a:lnTo>
                  <a:lnTo>
                    <a:pt x="54" y="170"/>
                  </a:lnTo>
                  <a:lnTo>
                    <a:pt x="54" y="159"/>
                  </a:lnTo>
                  <a:close/>
                  <a:moveTo>
                    <a:pt x="44" y="138"/>
                  </a:moveTo>
                  <a:lnTo>
                    <a:pt x="44" y="127"/>
                  </a:lnTo>
                  <a:lnTo>
                    <a:pt x="54" y="127"/>
                  </a:lnTo>
                  <a:lnTo>
                    <a:pt x="54" y="138"/>
                  </a:lnTo>
                  <a:lnTo>
                    <a:pt x="54" y="149"/>
                  </a:lnTo>
                  <a:lnTo>
                    <a:pt x="44" y="149"/>
                  </a:lnTo>
                  <a:lnTo>
                    <a:pt x="44" y="138"/>
                  </a:lnTo>
                  <a:close/>
                  <a:moveTo>
                    <a:pt x="22" y="138"/>
                  </a:moveTo>
                  <a:lnTo>
                    <a:pt x="22" y="149"/>
                  </a:lnTo>
                  <a:lnTo>
                    <a:pt x="11" y="149"/>
                  </a:lnTo>
                  <a:lnTo>
                    <a:pt x="11" y="159"/>
                  </a:lnTo>
                  <a:lnTo>
                    <a:pt x="0" y="159"/>
                  </a:lnTo>
                  <a:lnTo>
                    <a:pt x="0" y="0"/>
                  </a:lnTo>
                  <a:lnTo>
                    <a:pt x="11" y="0"/>
                  </a:lnTo>
                  <a:lnTo>
                    <a:pt x="11" y="7"/>
                  </a:lnTo>
                  <a:lnTo>
                    <a:pt x="22" y="7"/>
                  </a:lnTo>
                  <a:lnTo>
                    <a:pt x="22" y="17"/>
                  </a:lnTo>
                  <a:lnTo>
                    <a:pt x="11" y="17"/>
                  </a:lnTo>
                  <a:lnTo>
                    <a:pt x="11" y="138"/>
                  </a:lnTo>
                  <a:lnTo>
                    <a:pt x="22" y="138"/>
                  </a:lnTo>
                  <a:lnTo>
                    <a:pt x="22" y="127"/>
                  </a:lnTo>
                  <a:lnTo>
                    <a:pt x="33" y="127"/>
                  </a:lnTo>
                  <a:lnTo>
                    <a:pt x="33" y="138"/>
                  </a:lnTo>
                  <a:lnTo>
                    <a:pt x="22" y="138"/>
                  </a:lnTo>
                  <a:close/>
                  <a:moveTo>
                    <a:pt x="33" y="28"/>
                  </a:moveTo>
                  <a:lnTo>
                    <a:pt x="22" y="28"/>
                  </a:lnTo>
                  <a:lnTo>
                    <a:pt x="22" y="17"/>
                  </a:lnTo>
                  <a:lnTo>
                    <a:pt x="33" y="17"/>
                  </a:lnTo>
                  <a:lnTo>
                    <a:pt x="33" y="28"/>
                  </a:lnTo>
                  <a:close/>
                  <a:moveTo>
                    <a:pt x="44" y="39"/>
                  </a:moveTo>
                  <a:lnTo>
                    <a:pt x="33" y="39"/>
                  </a:lnTo>
                  <a:lnTo>
                    <a:pt x="33" y="28"/>
                  </a:lnTo>
                  <a:lnTo>
                    <a:pt x="44" y="28"/>
                  </a:lnTo>
                  <a:lnTo>
                    <a:pt x="44" y="39"/>
                  </a:lnTo>
                  <a:close/>
                  <a:moveTo>
                    <a:pt x="33" y="116"/>
                  </a:moveTo>
                  <a:lnTo>
                    <a:pt x="44" y="116"/>
                  </a:lnTo>
                  <a:lnTo>
                    <a:pt x="44" y="127"/>
                  </a:lnTo>
                  <a:lnTo>
                    <a:pt x="33" y="127"/>
                  </a:lnTo>
                  <a:lnTo>
                    <a:pt x="33" y="116"/>
                  </a:lnTo>
                  <a:close/>
                  <a:moveTo>
                    <a:pt x="87" y="83"/>
                  </a:moveTo>
                  <a:lnTo>
                    <a:pt x="98" y="83"/>
                  </a:lnTo>
                  <a:lnTo>
                    <a:pt x="98" y="94"/>
                  </a:lnTo>
                  <a:lnTo>
                    <a:pt x="87" y="94"/>
                  </a:lnTo>
                  <a:lnTo>
                    <a:pt x="87" y="83"/>
                  </a:lnTo>
                  <a:close/>
                  <a:moveTo>
                    <a:pt x="76" y="73"/>
                  </a:moveTo>
                  <a:lnTo>
                    <a:pt x="87" y="73"/>
                  </a:lnTo>
                  <a:lnTo>
                    <a:pt x="87" y="83"/>
                  </a:lnTo>
                  <a:lnTo>
                    <a:pt x="76" y="83"/>
                  </a:lnTo>
                  <a:lnTo>
                    <a:pt x="76" y="73"/>
                  </a:lnTo>
                  <a:close/>
                  <a:moveTo>
                    <a:pt x="65" y="62"/>
                  </a:moveTo>
                  <a:lnTo>
                    <a:pt x="76" y="62"/>
                  </a:lnTo>
                  <a:lnTo>
                    <a:pt x="76" y="73"/>
                  </a:lnTo>
                  <a:lnTo>
                    <a:pt x="65" y="73"/>
                  </a:lnTo>
                  <a:lnTo>
                    <a:pt x="65" y="62"/>
                  </a:lnTo>
                  <a:close/>
                  <a:moveTo>
                    <a:pt x="54" y="51"/>
                  </a:moveTo>
                  <a:lnTo>
                    <a:pt x="44" y="51"/>
                  </a:lnTo>
                  <a:lnTo>
                    <a:pt x="44" y="40"/>
                  </a:lnTo>
                  <a:lnTo>
                    <a:pt x="54" y="40"/>
                  </a:lnTo>
                  <a:lnTo>
                    <a:pt x="54" y="51"/>
                  </a:lnTo>
                  <a:lnTo>
                    <a:pt x="65" y="51"/>
                  </a:lnTo>
                  <a:lnTo>
                    <a:pt x="65" y="62"/>
                  </a:lnTo>
                  <a:lnTo>
                    <a:pt x="54" y="62"/>
                  </a:lnTo>
                  <a:lnTo>
                    <a:pt x="54" y="51"/>
                  </a:lnTo>
                  <a:close/>
                </a:path>
              </a:pathLst>
            </a:custGeom>
            <a:solidFill>
              <a:schemeClr val="bg1">
                <a:lumMod val="50000"/>
              </a:schemeClr>
            </a:solidFill>
            <a:ln>
              <a:noFill/>
            </a:ln>
          </p:spPr>
          <p:txBody>
            <a:bodyPr vert="horz" wrap="square" lIns="91440" tIns="45720" rIns="91440" bIns="45720" numCol="1" anchor="t" anchorCtr="0" compatLnSpc="1"/>
            <a:lstStyle/>
            <a:p>
              <a:endParaRPr lang="zh-CN" altLang="en-US"/>
            </a:p>
          </p:txBody>
        </p:sp>
      </p:grpSp>
      <p:sp>
        <p:nvSpPr>
          <p:cNvPr id="239" name="TextBox 42"/>
          <p:cNvSpPr txBox="1"/>
          <p:nvPr/>
        </p:nvSpPr>
        <p:spPr>
          <a:xfrm>
            <a:off x="881156" y="2785242"/>
            <a:ext cx="6275419" cy="923330"/>
          </a:xfrm>
          <a:prstGeom prst="rect">
            <a:avLst/>
          </a:prstGeom>
          <a:noFill/>
        </p:spPr>
        <p:txBody>
          <a:bodyPr wrap="square" rtlCol="0">
            <a:spAutoFit/>
          </a:bodyPr>
          <a:lstStyle/>
          <a:p>
            <a:r>
              <a:rPr lang="zh-CN" altLang="en-US" sz="5400" b="1" spc="300" dirty="0" smtClean="0">
                <a:solidFill>
                  <a:srgbClr val="005CA7"/>
                </a:solidFill>
                <a:latin typeface="微软雅黑" panose="020B0503020204020204" pitchFamily="34" charset="-122"/>
                <a:ea typeface="微软雅黑" panose="020B0503020204020204" pitchFamily="34" charset="-122"/>
              </a:rPr>
              <a:t>感谢聆听及指导！</a:t>
            </a:r>
            <a:endParaRPr lang="zh-CN" altLang="zh-CN" sz="5400" b="1" spc="300" dirty="0">
              <a:solidFill>
                <a:srgbClr val="005CA7"/>
              </a:solidFill>
              <a:latin typeface="微软雅黑" panose="020B0503020204020204" pitchFamily="34" charset="-122"/>
              <a:ea typeface="微软雅黑" panose="020B0503020204020204" pitchFamily="34" charset="-122"/>
            </a:endParaRPr>
          </a:p>
        </p:txBody>
      </p:sp>
      <p:grpSp>
        <p:nvGrpSpPr>
          <p:cNvPr id="240" name="组合 239"/>
          <p:cNvGrpSpPr/>
          <p:nvPr/>
        </p:nvGrpSpPr>
        <p:grpSpPr>
          <a:xfrm flipH="1" flipV="1">
            <a:off x="961464" y="2676534"/>
            <a:ext cx="5761439" cy="0"/>
            <a:chOff x="1190453" y="2641879"/>
            <a:chExt cx="7953547" cy="0"/>
          </a:xfrm>
        </p:grpSpPr>
        <p:cxnSp>
          <p:nvCxnSpPr>
            <p:cNvPr id="241" name="直接连接符 240"/>
            <p:cNvCxnSpPr/>
            <p:nvPr/>
          </p:nvCxnSpPr>
          <p:spPr>
            <a:xfrm flipV="1">
              <a:off x="1190453" y="2641879"/>
              <a:ext cx="6844412" cy="0"/>
            </a:xfrm>
            <a:prstGeom prst="line">
              <a:avLst/>
            </a:prstGeom>
            <a:ln w="762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nvCxnSpPr>
          <p:spPr>
            <a:xfrm>
              <a:off x="8103924" y="2641879"/>
              <a:ext cx="754055" cy="0"/>
            </a:xfrm>
            <a:prstGeom prst="line">
              <a:avLst/>
            </a:prstGeom>
            <a:ln w="7620">
              <a:solidFill>
                <a:schemeClr val="tx1">
                  <a:lumMod val="50000"/>
                  <a:lumOff val="50000"/>
                </a:schemeClr>
              </a:solidFill>
              <a:prstDash val="dash"/>
              <a:tailEnd type="diamond"/>
            </a:ln>
          </p:spPr>
          <p:style>
            <a:lnRef idx="1">
              <a:schemeClr val="accent1"/>
            </a:lnRef>
            <a:fillRef idx="0">
              <a:schemeClr val="accent1"/>
            </a:fillRef>
            <a:effectRef idx="0">
              <a:schemeClr val="accent1"/>
            </a:effectRef>
            <a:fontRef idx="minor">
              <a:schemeClr val="tx1"/>
            </a:fontRef>
          </p:style>
        </p:cxnSp>
        <p:cxnSp>
          <p:nvCxnSpPr>
            <p:cNvPr id="243" name="直接连接符 242"/>
            <p:cNvCxnSpPr/>
            <p:nvPr/>
          </p:nvCxnSpPr>
          <p:spPr>
            <a:xfrm>
              <a:off x="8948986" y="2641879"/>
              <a:ext cx="195014" cy="0"/>
            </a:xfrm>
            <a:prstGeom prst="line">
              <a:avLst/>
            </a:prstGeom>
            <a:ln w="762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244" name="组合 243"/>
          <p:cNvGrpSpPr/>
          <p:nvPr/>
        </p:nvGrpSpPr>
        <p:grpSpPr>
          <a:xfrm flipV="1">
            <a:off x="961464" y="3747766"/>
            <a:ext cx="5776149" cy="0"/>
            <a:chOff x="1170147" y="2641879"/>
            <a:chExt cx="7973853" cy="0"/>
          </a:xfrm>
        </p:grpSpPr>
        <p:cxnSp>
          <p:nvCxnSpPr>
            <p:cNvPr id="245" name="直接连接符 244"/>
            <p:cNvCxnSpPr/>
            <p:nvPr/>
          </p:nvCxnSpPr>
          <p:spPr>
            <a:xfrm flipV="1">
              <a:off x="1170147" y="2641879"/>
              <a:ext cx="6864719" cy="0"/>
            </a:xfrm>
            <a:prstGeom prst="line">
              <a:avLst/>
            </a:prstGeom>
            <a:ln w="762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46" name="直接连接符 245"/>
            <p:cNvCxnSpPr/>
            <p:nvPr/>
          </p:nvCxnSpPr>
          <p:spPr>
            <a:xfrm>
              <a:off x="8103924" y="2641879"/>
              <a:ext cx="754055" cy="0"/>
            </a:xfrm>
            <a:prstGeom prst="line">
              <a:avLst/>
            </a:prstGeom>
            <a:ln w="7620">
              <a:solidFill>
                <a:schemeClr val="tx1">
                  <a:lumMod val="50000"/>
                  <a:lumOff val="50000"/>
                </a:schemeClr>
              </a:solidFill>
              <a:prstDash val="dash"/>
              <a:tailEnd type="diamond"/>
            </a:ln>
          </p:spPr>
          <p:style>
            <a:lnRef idx="1">
              <a:schemeClr val="accent1"/>
            </a:lnRef>
            <a:fillRef idx="0">
              <a:schemeClr val="accent1"/>
            </a:fillRef>
            <a:effectRef idx="0">
              <a:schemeClr val="accent1"/>
            </a:effectRef>
            <a:fontRef idx="minor">
              <a:schemeClr val="tx1"/>
            </a:fontRef>
          </p:style>
        </p:cxnSp>
        <p:cxnSp>
          <p:nvCxnSpPr>
            <p:cNvPr id="247" name="直接连接符 246"/>
            <p:cNvCxnSpPr/>
            <p:nvPr/>
          </p:nvCxnSpPr>
          <p:spPr>
            <a:xfrm>
              <a:off x="8948986" y="2641879"/>
              <a:ext cx="195014" cy="0"/>
            </a:xfrm>
            <a:prstGeom prst="line">
              <a:avLst/>
            </a:prstGeom>
            <a:ln w="762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advTm="400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strVal val="(6*min(max(#ppt_w*#ppt_h,.3),1)-7.4)/-.7*#ppt_w"/>
                                          </p:val>
                                        </p:tav>
                                        <p:tav tm="100000">
                                          <p:val>
                                            <p:strVal val="#ppt_w"/>
                                          </p:val>
                                        </p:tav>
                                      </p:tavLst>
                                    </p:anim>
                                    <p:anim calcmode="lin" valueType="num">
                                      <p:cBhvr>
                                        <p:cTn id="8" dur="500" fill="hold"/>
                                        <p:tgtEl>
                                          <p:spTgt spid="4"/>
                                        </p:tgtEl>
                                        <p:attrNameLst>
                                          <p:attrName>ppt_h</p:attrName>
                                        </p:attrNameLst>
                                      </p:cBhvr>
                                      <p:tavLst>
                                        <p:tav tm="0">
                                          <p:val>
                                            <p:strVal val="(6*min(max(#ppt_w*#ppt_h,.3),1)-7.4)/-.7*#ppt_h"/>
                                          </p:val>
                                        </p:tav>
                                        <p:tav tm="100000">
                                          <p:val>
                                            <p:strVal val="#ppt_h"/>
                                          </p:val>
                                        </p:tav>
                                      </p:tavLst>
                                    </p:anim>
                                    <p:anim calcmode="lin" valueType="num">
                                      <p:cBhvr>
                                        <p:cTn id="9" dur="500" fill="hold"/>
                                        <p:tgtEl>
                                          <p:spTgt spid="4"/>
                                        </p:tgtEl>
                                        <p:attrNameLst>
                                          <p:attrName>ppt_x</p:attrName>
                                        </p:attrNameLst>
                                      </p:cBhvr>
                                      <p:tavLst>
                                        <p:tav tm="0">
                                          <p:val>
                                            <p:fltVal val="0.5"/>
                                          </p:val>
                                        </p:tav>
                                        <p:tav tm="100000">
                                          <p:val>
                                            <p:strVal val="#ppt_x"/>
                                          </p:val>
                                        </p:tav>
                                      </p:tavLst>
                                    </p:anim>
                                    <p:anim calcmode="lin" valueType="num">
                                      <p:cBhvr>
                                        <p:cTn id="10" dur="500" fill="hold"/>
                                        <p:tgtEl>
                                          <p:spTgt spid="4"/>
                                        </p:tgtEl>
                                        <p:attrNameLst>
                                          <p:attrName>ppt_y</p:attrName>
                                        </p:attrNameLst>
                                      </p:cBhvr>
                                      <p:tavLst>
                                        <p:tav tm="0">
                                          <p:val>
                                            <p:strVal val="1+(6*min(max(#ppt_w*#ppt_h,.3),1)-7.4)/-.7*#ppt_h/2"/>
                                          </p:val>
                                        </p:tav>
                                        <p:tav tm="100000">
                                          <p:val>
                                            <p:strVal val="#ppt_y"/>
                                          </p:val>
                                        </p:tav>
                                      </p:tavLst>
                                    </p:anim>
                                  </p:childTnLst>
                                </p:cTn>
                              </p:par>
                            </p:childTnLst>
                          </p:cTn>
                        </p:par>
                        <p:par>
                          <p:cTn id="11" fill="hold">
                            <p:stCondLst>
                              <p:cond delay="500"/>
                            </p:stCondLst>
                            <p:childTnLst>
                              <p:par>
                                <p:cTn id="12" presetID="41" presetClass="entr" presetSubtype="0" fill="hold" grpId="0" nodeType="afterEffect">
                                  <p:stCondLst>
                                    <p:cond delay="0"/>
                                  </p:stCondLst>
                                  <p:iterate type="lt">
                                    <p:tmPct val="10000"/>
                                  </p:iterate>
                                  <p:childTnLst>
                                    <p:set>
                                      <p:cBhvr>
                                        <p:cTn id="13" dur="1" fill="hold">
                                          <p:stCondLst>
                                            <p:cond delay="0"/>
                                          </p:stCondLst>
                                        </p:cTn>
                                        <p:tgtEl>
                                          <p:spTgt spid="239"/>
                                        </p:tgtEl>
                                        <p:attrNameLst>
                                          <p:attrName>style.visibility</p:attrName>
                                        </p:attrNameLst>
                                      </p:cBhvr>
                                      <p:to>
                                        <p:strVal val="visible"/>
                                      </p:to>
                                    </p:set>
                                    <p:anim calcmode="lin" valueType="num">
                                      <p:cBhvr>
                                        <p:cTn id="14" dur="500" fill="hold"/>
                                        <p:tgtEl>
                                          <p:spTgt spid="239"/>
                                        </p:tgtEl>
                                        <p:attrNameLst>
                                          <p:attrName>ppt_x</p:attrName>
                                        </p:attrNameLst>
                                      </p:cBhvr>
                                      <p:tavLst>
                                        <p:tav tm="0">
                                          <p:val>
                                            <p:strVal val="#ppt_x"/>
                                          </p:val>
                                        </p:tav>
                                        <p:tav tm="50000">
                                          <p:val>
                                            <p:strVal val="#ppt_x+.1"/>
                                          </p:val>
                                        </p:tav>
                                        <p:tav tm="100000">
                                          <p:val>
                                            <p:strVal val="#ppt_x"/>
                                          </p:val>
                                        </p:tav>
                                      </p:tavLst>
                                    </p:anim>
                                    <p:anim calcmode="lin" valueType="num">
                                      <p:cBhvr>
                                        <p:cTn id="15" dur="500" fill="hold"/>
                                        <p:tgtEl>
                                          <p:spTgt spid="239"/>
                                        </p:tgtEl>
                                        <p:attrNameLst>
                                          <p:attrName>ppt_y</p:attrName>
                                        </p:attrNameLst>
                                      </p:cBhvr>
                                      <p:tavLst>
                                        <p:tav tm="0">
                                          <p:val>
                                            <p:strVal val="#ppt_y"/>
                                          </p:val>
                                        </p:tav>
                                        <p:tav tm="100000">
                                          <p:val>
                                            <p:strVal val="#ppt_y"/>
                                          </p:val>
                                        </p:tav>
                                      </p:tavLst>
                                    </p:anim>
                                    <p:anim calcmode="lin" valueType="num">
                                      <p:cBhvr>
                                        <p:cTn id="16" dur="500" fill="hold"/>
                                        <p:tgtEl>
                                          <p:spTgt spid="239"/>
                                        </p:tgtEl>
                                        <p:attrNameLst>
                                          <p:attrName>ppt_h</p:attrName>
                                        </p:attrNameLst>
                                      </p:cBhvr>
                                      <p:tavLst>
                                        <p:tav tm="0">
                                          <p:val>
                                            <p:strVal val="#ppt_h/10"/>
                                          </p:val>
                                        </p:tav>
                                        <p:tav tm="50000">
                                          <p:val>
                                            <p:strVal val="#ppt_h+.01"/>
                                          </p:val>
                                        </p:tav>
                                        <p:tav tm="100000">
                                          <p:val>
                                            <p:strVal val="#ppt_h"/>
                                          </p:val>
                                        </p:tav>
                                      </p:tavLst>
                                    </p:anim>
                                    <p:anim calcmode="lin" valueType="num">
                                      <p:cBhvr>
                                        <p:cTn id="17" dur="500" fill="hold"/>
                                        <p:tgtEl>
                                          <p:spTgt spid="239"/>
                                        </p:tgtEl>
                                        <p:attrNameLst>
                                          <p:attrName>ppt_w</p:attrName>
                                        </p:attrNameLst>
                                      </p:cBhvr>
                                      <p:tavLst>
                                        <p:tav tm="0">
                                          <p:val>
                                            <p:strVal val="#ppt_w/10"/>
                                          </p:val>
                                        </p:tav>
                                        <p:tav tm="50000">
                                          <p:val>
                                            <p:strVal val="#ppt_w+.01"/>
                                          </p:val>
                                        </p:tav>
                                        <p:tav tm="100000">
                                          <p:val>
                                            <p:strVal val="#ppt_w"/>
                                          </p:val>
                                        </p:tav>
                                      </p:tavLst>
                                    </p:anim>
                                    <p:animEffect transition="in" filter="fade">
                                      <p:cBhvr>
                                        <p:cTn id="18" dur="500" tmFilter="0,0; .5, 1; 1, 1"/>
                                        <p:tgtEl>
                                          <p:spTgt spid="239"/>
                                        </p:tgtEl>
                                      </p:cBhvr>
                                    </p:animEffect>
                                  </p:childTnLst>
                                </p:cTn>
                              </p:par>
                            </p:childTnLst>
                          </p:cTn>
                        </p:par>
                        <p:par>
                          <p:cTn id="19" fill="hold">
                            <p:stCondLst>
                              <p:cond delay="1350"/>
                            </p:stCondLst>
                            <p:childTnLst>
                              <p:par>
                                <p:cTn id="20" presetID="22" presetClass="entr" presetSubtype="8" fill="hold" nodeType="afterEffect">
                                  <p:stCondLst>
                                    <p:cond delay="0"/>
                                  </p:stCondLst>
                                  <p:childTnLst>
                                    <p:set>
                                      <p:cBhvr>
                                        <p:cTn id="21" dur="1" fill="hold">
                                          <p:stCondLst>
                                            <p:cond delay="0"/>
                                          </p:stCondLst>
                                        </p:cTn>
                                        <p:tgtEl>
                                          <p:spTgt spid="240"/>
                                        </p:tgtEl>
                                        <p:attrNameLst>
                                          <p:attrName>style.visibility</p:attrName>
                                        </p:attrNameLst>
                                      </p:cBhvr>
                                      <p:to>
                                        <p:strVal val="visible"/>
                                      </p:to>
                                    </p:set>
                                    <p:animEffect transition="in" filter="wipe(left)">
                                      <p:cBhvr>
                                        <p:cTn id="22" dur="500"/>
                                        <p:tgtEl>
                                          <p:spTgt spid="240"/>
                                        </p:tgtEl>
                                      </p:cBhvr>
                                    </p:animEffect>
                                  </p:childTnLst>
                                </p:cTn>
                              </p:par>
                              <p:par>
                                <p:cTn id="23" presetID="22" presetClass="entr" presetSubtype="2" fill="hold" nodeType="withEffect">
                                  <p:stCondLst>
                                    <p:cond delay="0"/>
                                  </p:stCondLst>
                                  <p:childTnLst>
                                    <p:set>
                                      <p:cBhvr>
                                        <p:cTn id="24" dur="1" fill="hold">
                                          <p:stCondLst>
                                            <p:cond delay="0"/>
                                          </p:stCondLst>
                                        </p:cTn>
                                        <p:tgtEl>
                                          <p:spTgt spid="244"/>
                                        </p:tgtEl>
                                        <p:attrNameLst>
                                          <p:attrName>style.visibility</p:attrName>
                                        </p:attrNameLst>
                                      </p:cBhvr>
                                      <p:to>
                                        <p:strVal val="visible"/>
                                      </p:to>
                                    </p:set>
                                    <p:animEffect transition="in" filter="wipe(right)">
                                      <p:cBhvr>
                                        <p:cTn id="25" dur="500"/>
                                        <p:tgtEl>
                                          <p:spTgt spid="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 grpId="0"/>
    </p:bldLst>
  </p:timing>
</p:sld>
</file>

<file path=ppt/tags/tag1.xml><?xml version="1.0" encoding="utf-8"?>
<p:tagLst xmlns:p="http://schemas.openxmlformats.org/presentationml/2006/main">
  <p:tag name="KSO_WM_UNIT_PLACING_PICTURE_USER_VIEWPORT" val="{&quot;height&quot;:7305,&quot;width&quot;:12945}"/>
</p:tagLst>
</file>

<file path=ppt/tags/tag2.xml><?xml version="1.0" encoding="utf-8"?>
<p:tagLst xmlns:p="http://schemas.openxmlformats.org/presentationml/2006/main">
  <p:tag name="KSO_WM_UNIT_PLACING_PICTURE_USER_VIEWPORT" val="{&quot;height&quot;:9345,&quot;width&quot;:12825}"/>
</p:tagLst>
</file>

<file path=ppt/theme/theme1.xml><?xml version="1.0" encoding="utf-8"?>
<a:theme xmlns:a="http://schemas.openxmlformats.org/drawingml/2006/main" name="爱给ppt www.aigei.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2822</Words>
  <Application>WPS 演示</Application>
  <PresentationFormat>自定义</PresentationFormat>
  <Paragraphs>147</Paragraphs>
  <Slides>19</Slides>
  <Notes>1</Notes>
  <HiddenSlides>0</HiddenSlides>
  <MMClips>1</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19</vt:i4>
      </vt:variant>
    </vt:vector>
  </HeadingPairs>
  <TitlesOfParts>
    <vt:vector size="35" baseType="lpstr">
      <vt:lpstr>Arial</vt:lpstr>
      <vt:lpstr>宋体</vt:lpstr>
      <vt:lpstr>Wingdings</vt:lpstr>
      <vt:lpstr>微软雅黑</vt:lpstr>
      <vt:lpstr>Calibri</vt:lpstr>
      <vt:lpstr>Arial Unicode MS</vt:lpstr>
      <vt:lpstr>Calibri Light</vt:lpstr>
      <vt:lpstr>华文细黑</vt:lpstr>
      <vt:lpstr>Lifeline JL</vt:lpstr>
      <vt:lpstr>Iskoola Pota</vt:lpstr>
      <vt:lpstr>Segoe UI Symbol</vt:lpstr>
      <vt:lpstr>幼圆</vt:lpstr>
      <vt:lpstr>Kartika</vt:lpstr>
      <vt:lpstr>PMingLiU-ExtB</vt:lpstr>
      <vt:lpstr>★日文毛笔</vt:lpstr>
      <vt:lpstr>爱给ppt www.aigei.com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基础架构处</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ZK</dc:creator>
  <cp:lastModifiedBy>嘟嘟</cp:lastModifiedBy>
  <cp:revision>107</cp:revision>
  <dcterms:created xsi:type="dcterms:W3CDTF">2017-05-22T03:54:00Z</dcterms:created>
  <dcterms:modified xsi:type="dcterms:W3CDTF">2020-09-28T11:39:21Z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