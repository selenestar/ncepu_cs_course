
<file path=[Content_Types].xml><?xml version="1.0" encoding="utf-8"?>
<Types xmlns="http://schemas.openxmlformats.org/package/2006/content-types">
  <Default Extension="jpeg" ContentType="image/jpeg"/>
  <Default Extension="png" ContentType="image/png"/>
  <Default Extension="mp3" ContentType="audio/mp3"/>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300" r:id="rId5"/>
    <p:sldId id="260" r:id="rId6"/>
    <p:sldId id="302" r:id="rId7"/>
    <p:sldId id="303" r:id="rId8"/>
    <p:sldId id="304" r:id="rId9"/>
    <p:sldId id="262" r:id="rId10"/>
    <p:sldId id="306" r:id="rId11"/>
    <p:sldId id="279" r:id="rId12"/>
    <p:sldId id="289" r:id="rId13"/>
    <p:sldId id="263" r:id="rId14"/>
    <p:sldId id="270" r:id="rId15"/>
    <p:sldId id="280" r:id="rId16"/>
    <p:sldId id="288" r:id="rId17"/>
    <p:sldId id="287" r:id="rId18"/>
    <p:sldId id="290" r:id="rId19"/>
    <p:sldId id="291" r:id="rId20"/>
    <p:sldId id="292" r:id="rId21"/>
    <p:sldId id="296" r:id="rId22"/>
    <p:sldId id="297" r:id="rId23"/>
    <p:sldId id="293" r:id="rId24"/>
    <p:sldId id="298" r:id="rId25"/>
    <p:sldId id="294" r:id="rId26"/>
    <p:sldId id="299" r:id="rId27"/>
    <p:sldId id="264" r:id="rId28"/>
    <p:sldId id="308" r:id="rId29"/>
    <p:sldId id="309" r:id="rId30"/>
    <p:sldId id="310" r:id="rId31"/>
    <p:sldId id="311" r:id="rId32"/>
    <p:sldId id="312" r:id="rId33"/>
    <p:sldId id="313" r:id="rId34"/>
    <p:sldId id="314" r:id="rId35"/>
    <p:sldId id="315" r:id="rId36"/>
    <p:sldId id="316" r:id="rId37"/>
    <p:sldId id="257"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2C3A0E"/>
    <a:srgbClr val="6269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69" d="100"/>
          <a:sy n="69" d="100"/>
        </p:scale>
        <p:origin x="-768" y="-114"/>
      </p:cViewPr>
      <p:guideLst>
        <p:guide orient="horz" pos="2183"/>
        <p:guide pos="3837"/>
      </p:guideLst>
    </p:cSldViewPr>
  </p:slideViewPr>
  <p:notesTextViewPr>
    <p:cViewPr>
      <p:scale>
        <a:sx n="1" d="1"/>
        <a:sy n="1" d="1"/>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notesMaster" Target="notesMasters/notesMaster1.xml"/><Relationship Id="rId39" Type="http://schemas.openxmlformats.org/officeDocument/2006/relationships/presProps" Target="presProps.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4A5EBB-10F6-463D-A1C9-2FF04F725E4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611CF7-5005-43FE-83F8-F59B6FC0F0A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39351B01-D27C-44B9-86C4-6069CF4A3737}"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920C2D7C-0779-45E4-815E-D57472C69401}"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838200" y="1825625"/>
            <a:ext cx="10515600" cy="43513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39351B01-D27C-44B9-86C4-6069CF4A3737}"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920C2D7C-0779-45E4-815E-D57472C69401}"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39351B01-D27C-44B9-86C4-6069CF4A3737}"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920C2D7C-0779-45E4-815E-D57472C69401}"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39351B01-D27C-44B9-86C4-6069CF4A3737}"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920C2D7C-0779-45E4-815E-D57472C6940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39351B01-D27C-44B9-86C4-6069CF4A3737}" type="datetimeFigureOut">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920C2D7C-0779-45E4-815E-D57472C6940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39351B01-D27C-44B9-86C4-6069CF4A373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920C2D7C-0779-45E4-815E-D57472C6940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39351B01-D27C-44B9-86C4-6069CF4A3737}"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920C2D7C-0779-45E4-815E-D57472C6940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39351B01-D27C-44B9-86C4-6069CF4A3737}"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920C2D7C-0779-45E4-815E-D57472C6940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39351B01-D27C-44B9-86C4-6069CF4A3737}"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920C2D7C-0779-45E4-815E-D57472C6940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1825625"/>
            <a:ext cx="10515600" cy="43513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39351B01-D27C-44B9-86C4-6069CF4A3737}"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920C2D7C-0779-45E4-815E-D57472C6940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39351B01-D27C-44B9-86C4-6069CF4A3737}"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920C2D7C-0779-45E4-815E-D57472C69401}"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文本框 2"/>
          <p:cNvSpPr txBox="1"/>
          <p:nvPr userDrawn="1"/>
        </p:nvSpPr>
        <p:spPr>
          <a:xfrm>
            <a:off x="1909192" y="2652141"/>
            <a:ext cx="7406640" cy="230832"/>
          </a:xfrm>
          <a:prstGeom prst="rect">
            <a:avLst/>
          </a:prstGeom>
          <a:noFill/>
        </p:spPr>
        <p:txBody>
          <a:bodyPr wrap="square" rtlCol="0">
            <a:spAutoFit/>
          </a:bodyPr>
          <a:lstStyle/>
          <a:p>
            <a:r>
              <a:rPr lang="zh-CN" altLang="en-US"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雷锋</a:t>
            </a:r>
            <a:r>
              <a:rPr lang="en-US" altLang="zh-CN"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PPT</a:t>
            </a:r>
            <a:r>
              <a:rPr lang="zh-CN" altLang="en-US"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网</a:t>
            </a:r>
            <a:r>
              <a:rPr lang="en-US" altLang="zh-CN"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-WWW.LFPPT.COM</a:t>
            </a:r>
            <a:r>
              <a:rPr lang="zh-CN" altLang="en-US"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平台上提供的</a:t>
            </a:r>
            <a:r>
              <a:rPr lang="en-US" altLang="zh-CN"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PPT</a:t>
            </a:r>
            <a:r>
              <a:rPr lang="zh-CN" altLang="en-US"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作品，雷锋</a:t>
            </a:r>
            <a:r>
              <a:rPr lang="en-US" altLang="zh-CN"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PPT</a:t>
            </a:r>
            <a:r>
              <a:rPr lang="zh-CN" altLang="en-US"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网</a:t>
            </a:r>
            <a:r>
              <a:rPr lang="en-US" altLang="zh-CN"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-WWW.LFPPT.COM</a:t>
            </a:r>
            <a:r>
              <a:rPr lang="zh-CN" altLang="en-US"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每天更新</a:t>
            </a:r>
            <a:r>
              <a:rPr lang="en-US" altLang="zh-CN"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PPT</a:t>
            </a:r>
            <a:r>
              <a:rPr lang="zh-CN" altLang="en-US"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模板</a:t>
            </a:r>
            <a:endParaRPr lang="zh-CN" altLang="en-US" sz="900" dirty="0">
              <a:noFill/>
              <a:latin typeface="微软雅黑" panose="020B0503020204020204" pitchFamily="34" charset="-122"/>
              <a:ea typeface="微软雅黑" panose="020B0503020204020204" pitchFamily="34" charset="-122"/>
              <a:sym typeface="+mn-ea"/>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hemeOverride" Target="../theme/themeOverride1.xml"/><Relationship Id="rId7" Type="http://schemas.openxmlformats.org/officeDocument/2006/relationships/tags" Target="../tags/tag2.xml"/><Relationship Id="rId6" Type="http://schemas.openxmlformats.org/officeDocument/2006/relationships/image" Target="../media/image3.png"/><Relationship Id="rId5" Type="http://schemas.microsoft.com/office/2007/relationships/media" Target="../media/media1.mp3"/><Relationship Id="rId4" Type="http://schemas.openxmlformats.org/officeDocument/2006/relationships/audio" Target="../media/media1.mp3"/><Relationship Id="rId3" Type="http://schemas.openxmlformats.org/officeDocument/2006/relationships/tags" Target="../tags/tag1.xml"/><Relationship Id="rId2" Type="http://schemas.openxmlformats.org/officeDocument/2006/relationships/image" Target="../media/image2.jpeg"/><Relationship Id="rId10" Type="http://schemas.openxmlformats.org/officeDocument/2006/relationships/notesSlide" Target="../notesSlides/notesSlide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7.xml"/><Relationship Id="rId3" Type="http://schemas.openxmlformats.org/officeDocument/2006/relationships/themeOverride" Target="../theme/themeOverride2.xml"/><Relationship Id="rId2" Type="http://schemas.openxmlformats.org/officeDocument/2006/relationships/tags" Target="../tags/tag3.xml"/><Relationship Id="rId1" Type="http://schemas.openxmlformats.org/officeDocument/2006/relationships/image" Target="../media/image5.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image" Target="../media/image7.jpeg"/><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7.xml"/><Relationship Id="rId2" Type="http://schemas.openxmlformats.org/officeDocument/2006/relationships/image" Target="../media/image9.jpeg"/><Relationship Id="rId1" Type="http://schemas.openxmlformats.org/officeDocument/2006/relationships/image" Target="../media/image8.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7.xml"/><Relationship Id="rId2" Type="http://schemas.openxmlformats.org/officeDocument/2006/relationships/themeOverride" Target="../theme/themeOverride3.xml"/><Relationship Id="rId1"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10.jpe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7.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7.xml"/><Relationship Id="rId4" Type="http://schemas.openxmlformats.org/officeDocument/2006/relationships/image" Target="../media/image14.png"/><Relationship Id="rId3" Type="http://schemas.openxmlformats.org/officeDocument/2006/relationships/tags" Target="../tags/tag8.xml"/><Relationship Id="rId2" Type="http://schemas.openxmlformats.org/officeDocument/2006/relationships/image" Target="../media/image10.jpeg"/><Relationship Id="rId1" Type="http://schemas.openxmlformats.org/officeDocument/2006/relationships/tags" Target="../tags/tag7.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7.xml"/><Relationship Id="rId2" Type="http://schemas.openxmlformats.org/officeDocument/2006/relationships/themeOverride" Target="../theme/themeOverride4.xml"/><Relationship Id="rId1" Type="http://schemas.openxmlformats.org/officeDocument/2006/relationships/image" Target="../media/image5.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image" Target="../media/image15.jpe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7.xml"/><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image" Target="../media/image16.jpe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tags" Target="../tags/tag9.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7.xml"/><Relationship Id="rId2" Type="http://schemas.openxmlformats.org/officeDocument/2006/relationships/image" Target="../media/image17.jpeg"/><Relationship Id="rId1" Type="http://schemas.openxmlformats.org/officeDocument/2006/relationships/image" Target="../media/image16.jpe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7.xml"/><Relationship Id="rId2" Type="http://schemas.openxmlformats.org/officeDocument/2006/relationships/image" Target="../media/image17.jpeg"/><Relationship Id="rId1" Type="http://schemas.openxmlformats.org/officeDocument/2006/relationships/image" Target="../media/image16.jpe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7.xml"/><Relationship Id="rId2" Type="http://schemas.openxmlformats.org/officeDocument/2006/relationships/image" Target="../media/image17.jpeg"/><Relationship Id="rId1" Type="http://schemas.openxmlformats.org/officeDocument/2006/relationships/image" Target="../media/image16.jpe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7.xml"/><Relationship Id="rId3" Type="http://schemas.openxmlformats.org/officeDocument/2006/relationships/image" Target="../media/image21.png"/><Relationship Id="rId2" Type="http://schemas.openxmlformats.org/officeDocument/2006/relationships/image" Target="../media/image17.jpeg"/><Relationship Id="rId1" Type="http://schemas.openxmlformats.org/officeDocument/2006/relationships/image" Target="../media/image16.jpe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7.xml"/><Relationship Id="rId3" Type="http://schemas.openxmlformats.org/officeDocument/2006/relationships/image" Target="../media/image22.png"/><Relationship Id="rId2" Type="http://schemas.openxmlformats.org/officeDocument/2006/relationships/image" Target="../media/image17.jpeg"/><Relationship Id="rId1" Type="http://schemas.openxmlformats.org/officeDocument/2006/relationships/image" Target="../media/image16.jpe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7.xml"/><Relationship Id="rId3" Type="http://schemas.openxmlformats.org/officeDocument/2006/relationships/image" Target="../media/image23.png"/><Relationship Id="rId2" Type="http://schemas.openxmlformats.org/officeDocument/2006/relationships/image" Target="../media/image17.jpeg"/><Relationship Id="rId1" Type="http://schemas.openxmlformats.org/officeDocument/2006/relationships/image" Target="../media/image16.jpe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7.xml"/><Relationship Id="rId3" Type="http://schemas.openxmlformats.org/officeDocument/2006/relationships/image" Target="../media/image24.png"/><Relationship Id="rId2" Type="http://schemas.openxmlformats.org/officeDocument/2006/relationships/image" Target="../media/image17.jpeg"/><Relationship Id="rId1" Type="http://schemas.openxmlformats.org/officeDocument/2006/relationships/image" Target="../media/image16.jpe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7.xml"/><Relationship Id="rId3" Type="http://schemas.openxmlformats.org/officeDocument/2006/relationships/image" Target="../media/image25.png"/><Relationship Id="rId2" Type="http://schemas.openxmlformats.org/officeDocument/2006/relationships/image" Target="../media/image17.jpeg"/><Relationship Id="rId1" Type="http://schemas.openxmlformats.org/officeDocument/2006/relationships/image" Target="../media/image16.jpe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7.xml"/><Relationship Id="rId3" Type="http://schemas.openxmlformats.org/officeDocument/2006/relationships/image" Target="../media/image26.png"/><Relationship Id="rId2" Type="http://schemas.openxmlformats.org/officeDocument/2006/relationships/image" Target="../media/image17.jpeg"/><Relationship Id="rId1" Type="http://schemas.openxmlformats.org/officeDocument/2006/relationships/image" Target="../media/image16.jpe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7.xml"/><Relationship Id="rId3" Type="http://schemas.openxmlformats.org/officeDocument/2006/relationships/image" Target="../media/image27.png"/><Relationship Id="rId2" Type="http://schemas.openxmlformats.org/officeDocument/2006/relationships/image" Target="../media/image17.jpeg"/><Relationship Id="rId1" Type="http://schemas.openxmlformats.org/officeDocument/2006/relationships/image" Target="../media/image16.jpe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7.xml"/><Relationship Id="rId2" Type="http://schemas.openxmlformats.org/officeDocument/2006/relationships/themeOverride" Target="../theme/themeOverride5.xml"/><Relationship Id="rId1" Type="http://schemas.openxmlformats.org/officeDocument/2006/relationships/image" Target="../media/image5.jpe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7.xml"/><Relationship Id="rId2" Type="http://schemas.openxmlformats.org/officeDocument/2006/relationships/image" Target="../media/image29.jpeg"/><Relationship Id="rId1"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image" Target="../media/image30.jpe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image" Target="../media/image31.jpe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image" Target="../media/image31.jpe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image" Target="../media/image33.jpe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7.xml"/><Relationship Id="rId1" Type="http://schemas.openxmlformats.org/officeDocument/2006/relationships/image" Target="../media/image35.png"/></Relationships>
</file>

<file path=ppt/slides/_rels/slide35.xml.rels><?xml version="1.0" encoding="UTF-8" standalone="yes"?>
<Relationships xmlns="http://schemas.openxmlformats.org/package/2006/relationships"><Relationship Id="rId6" Type="http://schemas.openxmlformats.org/officeDocument/2006/relationships/notesSlide" Target="../notesSlides/notesSlide34.xml"/><Relationship Id="rId5" Type="http://schemas.openxmlformats.org/officeDocument/2006/relationships/slideLayout" Target="../slideLayouts/slideLayout7.xml"/><Relationship Id="rId4" Type="http://schemas.openxmlformats.org/officeDocument/2006/relationships/themeOverride" Target="../theme/themeOverride6.xml"/><Relationship Id="rId3" Type="http://schemas.openxmlformats.org/officeDocument/2006/relationships/tags" Target="../tags/tag10.xml"/><Relationship Id="rId2" Type="http://schemas.openxmlformats.org/officeDocument/2006/relationships/image" Target="../media/image37.jpeg"/><Relationship Id="rId1" Type="http://schemas.openxmlformats.org/officeDocument/2006/relationships/image" Target="../media/image36.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t="-5000" b="-11000"/>
          </a:stretch>
        </a:blipFill>
        <a:effectLst/>
      </p:bgPr>
    </p:bg>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2">
            <a:extLst>
              <a:ext uri="{28A0092B-C50C-407E-A947-70E740481C1C}">
                <a14:useLocalDpi xmlns:a14="http://schemas.microsoft.com/office/drawing/2010/main" val="0"/>
              </a:ext>
            </a:extLst>
          </a:blip>
          <a:srcRect l="8707" r="8754"/>
          <a:stretch>
            <a:fillRect/>
          </a:stretch>
        </p:blipFill>
        <p:spPr>
          <a:xfrm>
            <a:off x="-1" y="0"/>
            <a:ext cx="12192001" cy="6857999"/>
          </a:xfrm>
          <a:prstGeom prst="rect">
            <a:avLst/>
          </a:prstGeom>
        </p:spPr>
      </p:pic>
      <p:sp>
        <p:nvSpPr>
          <p:cNvPr id="4" name="雷锋PPT网www.lfppt.com"/>
          <p:cNvSpPr/>
          <p:nvPr/>
        </p:nvSpPr>
        <p:spPr>
          <a:xfrm>
            <a:off x="0" y="-8140"/>
            <a:ext cx="12192000" cy="6852692"/>
          </a:xfrm>
          <a:prstGeom prst="rect">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1413420" y="1630680"/>
            <a:ext cx="9802455" cy="3596640"/>
          </a:xfrm>
          <a:prstGeom prst="rect">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413420" y="1622208"/>
            <a:ext cx="2406740" cy="359664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447866" y="2225040"/>
            <a:ext cx="9663869" cy="1014730"/>
          </a:xfrm>
          <a:prstGeom prst="rect">
            <a:avLst/>
          </a:prstGeom>
          <a:noFill/>
        </p:spPr>
        <p:txBody>
          <a:bodyPr wrap="square" rtlCol="0">
            <a:spAutoFit/>
          </a:bodyPr>
          <a:lstStyle/>
          <a:p>
            <a:pPr algn="ctr"/>
            <a:r>
              <a:rPr lang="en-US" altLang="zh-CN" sz="6000" b="1" spc="600" dirty="0" smtClean="0">
                <a:solidFill>
                  <a:schemeClr val="bg1"/>
                </a:solidFill>
                <a:latin typeface="迷你简汉真广标" panose="02010609000101010101" charset="-122"/>
                <a:ea typeface="迷你简汉真广标" panose="02010609000101010101" charset="-122"/>
              </a:rPr>
              <a:t>RISC-V</a:t>
            </a:r>
            <a:r>
              <a:rPr lang="zh-CN" altLang="en-US" sz="6000" b="1" spc="600" dirty="0" smtClean="0">
                <a:solidFill>
                  <a:schemeClr val="bg1"/>
                </a:solidFill>
                <a:latin typeface="迷你简汉真广标" panose="02010609000101010101" charset="-122"/>
                <a:ea typeface="迷你简汉真广标" panose="02010609000101010101" charset="-122"/>
              </a:rPr>
              <a:t>可拓展协处理器</a:t>
            </a:r>
            <a:endParaRPr lang="zh-CN" altLang="en-US" sz="6000" b="1" spc="600" dirty="0" smtClean="0">
              <a:solidFill>
                <a:schemeClr val="bg1"/>
              </a:solidFill>
              <a:latin typeface="迷你简汉真广标" panose="02010609000101010101" charset="-122"/>
              <a:ea typeface="迷你简汉真广标" panose="02010609000101010101" charset="-122"/>
            </a:endParaRPr>
          </a:p>
        </p:txBody>
      </p:sp>
      <p:sp>
        <p:nvSpPr>
          <p:cNvPr id="9" name="文本框 8"/>
          <p:cNvSpPr txBox="1"/>
          <p:nvPr/>
        </p:nvSpPr>
        <p:spPr>
          <a:xfrm>
            <a:off x="1425389" y="3240068"/>
            <a:ext cx="9870141" cy="1425390"/>
          </a:xfrm>
          <a:prstGeom prst="rect">
            <a:avLst/>
          </a:prstGeom>
          <a:noFill/>
        </p:spPr>
        <p:txBody>
          <a:bodyPr wrap="square" rtlCol="0">
            <a:spAutoFit/>
          </a:bodyPr>
          <a:lstStyle/>
          <a:p>
            <a:pPr algn="ctr">
              <a:lnSpc>
                <a:spcPct val="150000"/>
              </a:lnSpc>
            </a:pPr>
            <a:r>
              <a:rPr lang="en-US" altLang="zh-CN" sz="2400" b="1" spc="600" dirty="0">
                <a:solidFill>
                  <a:schemeClr val="bg1"/>
                </a:solidFill>
                <a:latin typeface="造字工房力黑（非商用）常规体" pitchFamily="50" charset="-122"/>
                <a:ea typeface="造字工房力黑（非商用）常规体" pitchFamily="50" charset="-122"/>
              </a:rPr>
              <a:t>North China Electric Power </a:t>
            </a:r>
            <a:r>
              <a:rPr lang="en-US" altLang="zh-CN" sz="2400" b="1" spc="600" dirty="0" smtClean="0">
                <a:solidFill>
                  <a:schemeClr val="bg1"/>
                </a:solidFill>
                <a:latin typeface="造字工房力黑（非商用）常规体" pitchFamily="50" charset="-122"/>
                <a:ea typeface="造字工房力黑（非商用）常规体" pitchFamily="50" charset="-122"/>
              </a:rPr>
              <a:t>University</a:t>
            </a:r>
            <a:endParaRPr lang="en-US" altLang="zh-CN" sz="2400" b="1" spc="600" dirty="0" smtClean="0">
              <a:solidFill>
                <a:schemeClr val="bg1"/>
              </a:solidFill>
              <a:latin typeface="造字工房力黑（非商用）常规体" pitchFamily="50" charset="-122"/>
              <a:ea typeface="造字工房力黑（非商用）常规体" pitchFamily="50" charset="-122"/>
            </a:endParaRPr>
          </a:p>
          <a:p>
            <a:pPr algn="ctr">
              <a:lnSpc>
                <a:spcPct val="150000"/>
              </a:lnSpc>
            </a:pPr>
            <a:r>
              <a:rPr lang="en-US" altLang="zh-CN" sz="4000" b="1" spc="600" dirty="0" smtClean="0">
                <a:solidFill>
                  <a:schemeClr val="bg1"/>
                </a:solidFill>
                <a:latin typeface="造字工房力黑（非商用）常规体" pitchFamily="50" charset="-122"/>
                <a:ea typeface="造字工房力黑（非商用）常规体" pitchFamily="50" charset="-122"/>
              </a:rPr>
              <a:t>REPORT</a:t>
            </a:r>
            <a:endParaRPr lang="zh-CN" altLang="en-US" sz="4000" b="1" spc="600" dirty="0">
              <a:solidFill>
                <a:schemeClr val="bg1"/>
              </a:solidFill>
              <a:latin typeface="造字工房力黑（非商用）常规体" pitchFamily="50" charset="-122"/>
              <a:ea typeface="造字工房力黑（非商用）常规体" pitchFamily="50" charset="-122"/>
            </a:endParaRPr>
          </a:p>
        </p:txBody>
      </p:sp>
      <p:grpSp>
        <p:nvGrpSpPr>
          <p:cNvPr id="11" name="组合 12" descr="e7d195523061f1c0d318120d6aeaf1b6ccceb6ba3da59c0775C5DE19DDDEBC09ED96DBD9900D9848D623ECAD1D4904B78047D0015C22C8BE97228BE8B5BFF08FE7A3AE04126DA07312A96C0F69F9BAB7B8762A2F02ECB167EB1D3D935132D44A03185F23F8625673A228DA0C7DA620D0616217B810CE4DCA0BDC2CD812D5F48220C6184BA351E466"/>
          <p:cNvGrpSpPr/>
          <p:nvPr/>
        </p:nvGrpSpPr>
        <p:grpSpPr>
          <a:xfrm flipH="1" flipV="1">
            <a:off x="9122464" y="1218411"/>
            <a:ext cx="552396" cy="498797"/>
            <a:chOff x="5934075" y="857250"/>
            <a:chExt cx="801688" cy="723900"/>
          </a:xfrm>
          <a:solidFill>
            <a:schemeClr val="bg1"/>
          </a:solidFill>
        </p:grpSpPr>
        <p:sp>
          <p:nvSpPr>
            <p:cNvPr id="12" name="Freeform 5"/>
            <p:cNvSpPr/>
            <p:nvPr/>
          </p:nvSpPr>
          <p:spPr bwMode="auto">
            <a:xfrm>
              <a:off x="5934075" y="857250"/>
              <a:ext cx="322263" cy="723900"/>
            </a:xfrm>
            <a:custGeom>
              <a:avLst/>
              <a:gdLst>
                <a:gd name="T0" fmla="*/ 1 w 198"/>
                <a:gd name="T1" fmla="*/ 444 h 444"/>
                <a:gd name="T2" fmla="*/ 1 w 198"/>
                <a:gd name="T3" fmla="*/ 232 h 444"/>
                <a:gd name="T4" fmla="*/ 14 w 198"/>
                <a:gd name="T5" fmla="*/ 146 h 444"/>
                <a:gd name="T6" fmla="*/ 55 w 198"/>
                <a:gd name="T7" fmla="*/ 76 h 444"/>
                <a:gd name="T8" fmla="*/ 118 w 198"/>
                <a:gd name="T9" fmla="*/ 25 h 444"/>
                <a:gd name="T10" fmla="*/ 198 w 198"/>
                <a:gd name="T11" fmla="*/ 0 h 444"/>
                <a:gd name="T12" fmla="*/ 198 w 198"/>
                <a:gd name="T13" fmla="*/ 91 h 444"/>
                <a:gd name="T14" fmla="*/ 126 w 198"/>
                <a:gd name="T15" fmla="*/ 144 h 444"/>
                <a:gd name="T16" fmla="*/ 106 w 198"/>
                <a:gd name="T17" fmla="*/ 231 h 444"/>
                <a:gd name="T18" fmla="*/ 198 w 198"/>
                <a:gd name="T19" fmla="*/ 231 h 444"/>
                <a:gd name="T20" fmla="*/ 198 w 198"/>
                <a:gd name="T21" fmla="*/ 444 h 444"/>
                <a:gd name="T22" fmla="*/ 1 w 198"/>
                <a:gd name="T23" fmla="*/ 444 h 4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8" h="444">
                  <a:moveTo>
                    <a:pt x="1" y="444"/>
                  </a:moveTo>
                  <a:cubicBezTo>
                    <a:pt x="1" y="232"/>
                    <a:pt x="1" y="232"/>
                    <a:pt x="1" y="232"/>
                  </a:cubicBezTo>
                  <a:cubicBezTo>
                    <a:pt x="0" y="202"/>
                    <a:pt x="5" y="173"/>
                    <a:pt x="14" y="146"/>
                  </a:cubicBezTo>
                  <a:cubicBezTo>
                    <a:pt x="24" y="120"/>
                    <a:pt x="38" y="96"/>
                    <a:pt x="55" y="76"/>
                  </a:cubicBezTo>
                  <a:cubicBezTo>
                    <a:pt x="73" y="55"/>
                    <a:pt x="94" y="39"/>
                    <a:pt x="118" y="25"/>
                  </a:cubicBezTo>
                  <a:cubicBezTo>
                    <a:pt x="143" y="12"/>
                    <a:pt x="169" y="3"/>
                    <a:pt x="198" y="0"/>
                  </a:cubicBezTo>
                  <a:cubicBezTo>
                    <a:pt x="198" y="91"/>
                    <a:pt x="198" y="91"/>
                    <a:pt x="198" y="91"/>
                  </a:cubicBezTo>
                  <a:cubicBezTo>
                    <a:pt x="163" y="103"/>
                    <a:pt x="139" y="121"/>
                    <a:pt x="126" y="144"/>
                  </a:cubicBezTo>
                  <a:cubicBezTo>
                    <a:pt x="113" y="168"/>
                    <a:pt x="106" y="197"/>
                    <a:pt x="106" y="231"/>
                  </a:cubicBezTo>
                  <a:cubicBezTo>
                    <a:pt x="198" y="231"/>
                    <a:pt x="198" y="231"/>
                    <a:pt x="198" y="231"/>
                  </a:cubicBezTo>
                  <a:cubicBezTo>
                    <a:pt x="198" y="444"/>
                    <a:pt x="198" y="444"/>
                    <a:pt x="198" y="444"/>
                  </a:cubicBezTo>
                  <a:cubicBezTo>
                    <a:pt x="1" y="444"/>
                    <a:pt x="1" y="444"/>
                    <a:pt x="1" y="4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Script" panose="030B0504020000000003" pitchFamily="66" charset="0"/>
                <a:ea typeface="WenYue GuDianMingChaoTi (Non-Commercial Use)" pitchFamily="50" charset="-122"/>
                <a:sym typeface="Segoe Script" panose="030B0504020000000003" pitchFamily="66" charset="0"/>
              </a:endParaRPr>
            </a:p>
          </p:txBody>
        </p:sp>
        <p:sp>
          <p:nvSpPr>
            <p:cNvPr id="13" name="Freeform 6"/>
            <p:cNvSpPr/>
            <p:nvPr/>
          </p:nvSpPr>
          <p:spPr bwMode="auto">
            <a:xfrm>
              <a:off x="6413500" y="857250"/>
              <a:ext cx="322263" cy="723900"/>
            </a:xfrm>
            <a:custGeom>
              <a:avLst/>
              <a:gdLst>
                <a:gd name="T0" fmla="*/ 1 w 198"/>
                <a:gd name="T1" fmla="*/ 444 h 444"/>
                <a:gd name="T2" fmla="*/ 1 w 198"/>
                <a:gd name="T3" fmla="*/ 232 h 444"/>
                <a:gd name="T4" fmla="*/ 14 w 198"/>
                <a:gd name="T5" fmla="*/ 146 h 444"/>
                <a:gd name="T6" fmla="*/ 55 w 198"/>
                <a:gd name="T7" fmla="*/ 76 h 444"/>
                <a:gd name="T8" fmla="*/ 118 w 198"/>
                <a:gd name="T9" fmla="*/ 25 h 444"/>
                <a:gd name="T10" fmla="*/ 198 w 198"/>
                <a:gd name="T11" fmla="*/ 0 h 444"/>
                <a:gd name="T12" fmla="*/ 198 w 198"/>
                <a:gd name="T13" fmla="*/ 91 h 444"/>
                <a:gd name="T14" fmla="*/ 126 w 198"/>
                <a:gd name="T15" fmla="*/ 144 h 444"/>
                <a:gd name="T16" fmla="*/ 107 w 198"/>
                <a:gd name="T17" fmla="*/ 231 h 444"/>
                <a:gd name="T18" fmla="*/ 198 w 198"/>
                <a:gd name="T19" fmla="*/ 231 h 444"/>
                <a:gd name="T20" fmla="*/ 198 w 198"/>
                <a:gd name="T21" fmla="*/ 444 h 444"/>
                <a:gd name="T22" fmla="*/ 1 w 198"/>
                <a:gd name="T23" fmla="*/ 444 h 4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8" h="444">
                  <a:moveTo>
                    <a:pt x="1" y="444"/>
                  </a:moveTo>
                  <a:cubicBezTo>
                    <a:pt x="1" y="232"/>
                    <a:pt x="1" y="232"/>
                    <a:pt x="1" y="232"/>
                  </a:cubicBezTo>
                  <a:cubicBezTo>
                    <a:pt x="0" y="202"/>
                    <a:pt x="5" y="173"/>
                    <a:pt x="14" y="146"/>
                  </a:cubicBezTo>
                  <a:cubicBezTo>
                    <a:pt x="24" y="120"/>
                    <a:pt x="38" y="96"/>
                    <a:pt x="55" y="76"/>
                  </a:cubicBezTo>
                  <a:cubicBezTo>
                    <a:pt x="73" y="55"/>
                    <a:pt x="94" y="39"/>
                    <a:pt x="118" y="25"/>
                  </a:cubicBezTo>
                  <a:cubicBezTo>
                    <a:pt x="143" y="12"/>
                    <a:pt x="169" y="3"/>
                    <a:pt x="198" y="0"/>
                  </a:cubicBezTo>
                  <a:cubicBezTo>
                    <a:pt x="198" y="91"/>
                    <a:pt x="198" y="91"/>
                    <a:pt x="198" y="91"/>
                  </a:cubicBezTo>
                  <a:cubicBezTo>
                    <a:pt x="163" y="103"/>
                    <a:pt x="139" y="121"/>
                    <a:pt x="126" y="144"/>
                  </a:cubicBezTo>
                  <a:cubicBezTo>
                    <a:pt x="113" y="168"/>
                    <a:pt x="107" y="197"/>
                    <a:pt x="107" y="231"/>
                  </a:cubicBezTo>
                  <a:cubicBezTo>
                    <a:pt x="198" y="231"/>
                    <a:pt x="198" y="231"/>
                    <a:pt x="198" y="231"/>
                  </a:cubicBezTo>
                  <a:cubicBezTo>
                    <a:pt x="198" y="444"/>
                    <a:pt x="198" y="444"/>
                    <a:pt x="198" y="444"/>
                  </a:cubicBezTo>
                  <a:cubicBezTo>
                    <a:pt x="1" y="444"/>
                    <a:pt x="1" y="444"/>
                    <a:pt x="1" y="4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Script" panose="030B0504020000000003" pitchFamily="66" charset="0"/>
                <a:ea typeface="WenYue GuDianMingChaoTi (Non-Commercial Use)" pitchFamily="50" charset="-122"/>
                <a:sym typeface="Segoe Script" panose="030B0504020000000003" pitchFamily="66" charset="0"/>
              </a:endParaRPr>
            </a:p>
          </p:txBody>
        </p:sp>
        <p:sp>
          <p:nvSpPr>
            <p:cNvPr id="14" name="Line 7"/>
            <p:cNvSpPr>
              <a:spLocks noChangeShapeType="1"/>
            </p:cNvSpPr>
            <p:nvPr/>
          </p:nvSpPr>
          <p:spPr bwMode="auto">
            <a:xfrm>
              <a:off x="6415088" y="1581150"/>
              <a:ext cx="0" cy="0"/>
            </a:xfrm>
            <a:prstGeom prst="lin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Script" panose="030B0504020000000003" pitchFamily="66" charset="0"/>
                <a:ea typeface="WenYue GuDianMingChaoTi (Non-Commercial Use)" pitchFamily="50" charset="-122"/>
                <a:sym typeface="Segoe Script" panose="030B0504020000000003" pitchFamily="66" charset="0"/>
              </a:endParaRPr>
            </a:p>
          </p:txBody>
        </p:sp>
        <p:sp>
          <p:nvSpPr>
            <p:cNvPr id="15" name="Line 8"/>
            <p:cNvSpPr>
              <a:spLocks noChangeShapeType="1"/>
            </p:cNvSpPr>
            <p:nvPr/>
          </p:nvSpPr>
          <p:spPr bwMode="auto">
            <a:xfrm>
              <a:off x="6415088" y="1581150"/>
              <a:ext cx="0" cy="0"/>
            </a:xfrm>
            <a:prstGeom prst="lin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Script" panose="030B0504020000000003" pitchFamily="66" charset="0"/>
                <a:ea typeface="WenYue GuDianMingChaoTi (Non-Commercial Use)" pitchFamily="50" charset="-122"/>
                <a:sym typeface="Segoe Script" panose="030B0504020000000003" pitchFamily="66" charset="0"/>
              </a:endParaRPr>
            </a:p>
          </p:txBody>
        </p:sp>
      </p:grpSp>
      <p:grpSp>
        <p:nvGrpSpPr>
          <p:cNvPr id="16" name="PA_组 15" descr="e7d195523061f1c0d318120d6aeaf1b6ccceb6ba3da59c0775C5DE19DDDEBC09ED96DBD9900D9848D623ECAD1D4904B78047D0015C22C8BE97228BE8B5BFF08FE7A3AE04126DA07312A96C0F69F9BAB7B8762A2F02ECB167EB1D3D935132D44A03185F23F8625673A228DA0C7DA620D0616217B810CE4DCA0BDC2CD812D5F48220C6184BA351E466"/>
          <p:cNvGrpSpPr/>
          <p:nvPr>
            <p:custDataLst>
              <p:tags r:id="rId3"/>
            </p:custDataLst>
          </p:nvPr>
        </p:nvGrpSpPr>
        <p:grpSpPr>
          <a:xfrm>
            <a:off x="10698480" y="6010692"/>
            <a:ext cx="539487" cy="91226"/>
            <a:chOff x="989510" y="6337738"/>
            <a:chExt cx="683708" cy="115614"/>
          </a:xfrm>
        </p:grpSpPr>
        <p:sp>
          <p:nvSpPr>
            <p:cNvPr id="17" name="椭圆 16"/>
            <p:cNvSpPr/>
            <p:nvPr/>
          </p:nvSpPr>
          <p:spPr>
            <a:xfrm>
              <a:off x="989510" y="6337738"/>
              <a:ext cx="115614" cy="115614"/>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Segoe Script" panose="030B0504020000000003" pitchFamily="66" charset="0"/>
                <a:ea typeface="WenYue GuDianMingChaoTi (Non-Commercial Use)" pitchFamily="50" charset="-122"/>
                <a:sym typeface="Segoe Script" panose="030B0504020000000003" pitchFamily="66" charset="0"/>
              </a:endParaRPr>
            </a:p>
          </p:txBody>
        </p:sp>
        <p:sp>
          <p:nvSpPr>
            <p:cNvPr id="18" name="椭圆 17"/>
            <p:cNvSpPr/>
            <p:nvPr/>
          </p:nvSpPr>
          <p:spPr>
            <a:xfrm>
              <a:off x="1273557" y="6337738"/>
              <a:ext cx="115614" cy="11561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Segoe Script" panose="030B0504020000000003" pitchFamily="66" charset="0"/>
                <a:ea typeface="WenYue GuDianMingChaoTi (Non-Commercial Use)" pitchFamily="50" charset="-122"/>
                <a:sym typeface="Segoe Script" panose="030B0504020000000003" pitchFamily="66" charset="0"/>
              </a:endParaRPr>
            </a:p>
          </p:txBody>
        </p:sp>
        <p:sp>
          <p:nvSpPr>
            <p:cNvPr id="19" name="椭圆 18"/>
            <p:cNvSpPr/>
            <p:nvPr/>
          </p:nvSpPr>
          <p:spPr>
            <a:xfrm>
              <a:off x="1557604" y="6337738"/>
              <a:ext cx="115614" cy="11561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Segoe Script" panose="030B0504020000000003" pitchFamily="66" charset="0"/>
                <a:ea typeface="WenYue GuDianMingChaoTi (Non-Commercial Use)" pitchFamily="50" charset="-122"/>
                <a:sym typeface="Segoe Script" panose="030B0504020000000003" pitchFamily="66" charset="0"/>
              </a:endParaRPr>
            </a:p>
          </p:txBody>
        </p:sp>
      </p:grpSp>
      <p:grpSp>
        <p:nvGrpSpPr>
          <p:cNvPr id="30" name="组合 29"/>
          <p:cNvGrpSpPr/>
          <p:nvPr/>
        </p:nvGrpSpPr>
        <p:grpSpPr>
          <a:xfrm>
            <a:off x="11610800" y="-162560"/>
            <a:ext cx="346249" cy="7228840"/>
            <a:chOff x="11610800" y="-71120"/>
            <a:chExt cx="346249" cy="7228840"/>
          </a:xfrm>
        </p:grpSpPr>
        <p:sp>
          <p:nvSpPr>
            <p:cNvPr id="20" name="文本框 19"/>
            <p:cNvSpPr txBox="1"/>
            <p:nvPr/>
          </p:nvSpPr>
          <p:spPr>
            <a:xfrm>
              <a:off x="11610800" y="1559560"/>
              <a:ext cx="346249" cy="3749040"/>
            </a:xfrm>
            <a:prstGeom prst="rect">
              <a:avLst/>
            </a:prstGeom>
            <a:noFill/>
          </p:spPr>
          <p:txBody>
            <a:bodyPr vert="eaVert" wrap="square" rtlCol="0">
              <a:spAutoFit/>
            </a:bodyPr>
            <a:lstStyle/>
            <a:p>
              <a:pPr algn="ctr"/>
              <a:r>
                <a:rPr lang="en-US" altLang="zh-CN" sz="1050" spc="600" dirty="0">
                  <a:solidFill>
                    <a:schemeClr val="bg1"/>
                  </a:solidFill>
                  <a:latin typeface="造字工房力黑（非商用）常规体" pitchFamily="50" charset="-122"/>
                  <a:ea typeface="造字工房力黑（非商用）常规体" pitchFamily="50" charset="-122"/>
                </a:rPr>
                <a:t>ADD YOUR TITLE HERE</a:t>
              </a:r>
              <a:endParaRPr lang="zh-CN" altLang="en-US" sz="1050" spc="600" dirty="0">
                <a:solidFill>
                  <a:schemeClr val="bg1"/>
                </a:solidFill>
                <a:latin typeface="造字工房力黑（非商用）常规体" pitchFamily="50" charset="-122"/>
                <a:ea typeface="造字工房力黑（非商用）常规体" pitchFamily="50" charset="-122"/>
              </a:endParaRPr>
            </a:p>
          </p:txBody>
        </p:sp>
        <p:cxnSp>
          <p:nvCxnSpPr>
            <p:cNvPr id="22" name="直接连接符 21"/>
            <p:cNvCxnSpPr>
              <a:stCxn id="20" idx="0"/>
            </p:cNvCxnSpPr>
            <p:nvPr/>
          </p:nvCxnSpPr>
          <p:spPr>
            <a:xfrm flipV="1">
              <a:off x="11783925" y="-71120"/>
              <a:ext cx="0" cy="1630680"/>
            </a:xfrm>
            <a:prstGeom prst="line">
              <a:avLst/>
            </a:prstGeom>
            <a:ln w="25400">
              <a:solidFill>
                <a:schemeClr val="bg1">
                  <a:lumMod val="95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20" idx="2"/>
            </p:cNvCxnSpPr>
            <p:nvPr/>
          </p:nvCxnSpPr>
          <p:spPr>
            <a:xfrm>
              <a:off x="11783925" y="5308600"/>
              <a:ext cx="21995" cy="1849120"/>
            </a:xfrm>
            <a:prstGeom prst="line">
              <a:avLst/>
            </a:prstGeom>
            <a:ln w="25400">
              <a:solidFill>
                <a:schemeClr val="bg1">
                  <a:lumMod val="95000"/>
                  <a:alpha val="50000"/>
                </a:schemeClr>
              </a:solidFill>
            </a:ln>
          </p:spPr>
          <p:style>
            <a:lnRef idx="1">
              <a:schemeClr val="accent1"/>
            </a:lnRef>
            <a:fillRef idx="0">
              <a:schemeClr val="accent1"/>
            </a:fillRef>
            <a:effectRef idx="0">
              <a:schemeClr val="accent1"/>
            </a:effectRef>
            <a:fontRef idx="minor">
              <a:schemeClr val="tx1"/>
            </a:fontRef>
          </p:style>
        </p:cxnSp>
      </p:grpSp>
      <p:pic>
        <p:nvPicPr>
          <p:cNvPr id="2" name="Thomas Greenberg - The Right Path">
            <a:hlinkClick r:id="" action="ppaction://media"/>
          </p:cNvPr>
          <p:cNvPicPr>
            <a:picLocks noChangeAspect="1"/>
          </p:cNvPicPr>
          <p:nvPr>
            <a:audioFile r:link="rId4"/>
            <p:extLst>
              <p:ext uri="{DAA4B4D4-6D71-4841-9C94-3DE7FCFB9230}">
                <p14:media xmlns:p14="http://schemas.microsoft.com/office/powerpoint/2010/main" r:embed="rId5">
                  <p14:fade in="5000.000000" out="5000.000000"/>
                </p14:media>
              </p:ext>
            </p:extLst>
          </p:nvPr>
        </p:nvPicPr>
        <p:blipFill>
          <a:blip r:embed="rId6"/>
          <a:stretch>
            <a:fillRect/>
          </a:stretch>
        </p:blipFill>
        <p:spPr>
          <a:xfrm>
            <a:off x="256772" y="6970926"/>
            <a:ext cx="406400" cy="406400"/>
          </a:xfrm>
          <a:prstGeom prst="rect">
            <a:avLst/>
          </a:prstGeom>
        </p:spPr>
      </p:pic>
    </p:spTree>
    <p:custDataLst>
      <p:tags r:id="rId7"/>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par>
                          <p:cTn id="7" fill="hold">
                            <p:stCondLst>
                              <p:cond delay="0"/>
                            </p:stCondLst>
                            <p:childTnLst>
                              <p:par>
                                <p:cTn id="8" presetID="10" presetClass="entr" presetSubtype="0" fill="hold" nodeType="after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750"/>
                                        <p:tgtEl>
                                          <p:spTgt spid="11"/>
                                        </p:tgtEl>
                                      </p:cBhvr>
                                    </p:animEffect>
                                  </p:childTnLst>
                                </p:cTn>
                              </p:par>
                              <p:par>
                                <p:cTn id="11" presetID="22" presetClass="entr" presetSubtype="8"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left)">
                                      <p:cBhvr>
                                        <p:cTn id="13" dur="7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14" repeatCount="indefinite" fill="hold" display="0">
                  <p:stCondLst>
                    <p:cond delay="indefinite"/>
                  </p:stCondLst>
                  <p:endCondLst>
                    <p:cond evt="onStopAudio" delay="0">
                      <p:tgtEl>
                        <p:sldTgt/>
                      </p:tgtEl>
                    </p:cond>
                  </p:endCondLst>
                </p:cTn>
                <p:tgtEl>
                  <p:spTgt spid="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0" y="0"/>
            <a:ext cx="8178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gency FB" panose="020B0503020202020204" pitchFamily="34" charset="0"/>
              <a:ea typeface="微软雅黑 Light" panose="020B0502040204020203" pitchFamily="34" charset="-122"/>
              <a:sym typeface="Agency FB" panose="020B0503020202020204" pitchFamily="34" charset="0"/>
            </a:endParaRPr>
          </a:p>
        </p:txBody>
      </p:sp>
      <p:grpSp>
        <p:nvGrpSpPr>
          <p:cNvPr id="15" name="组合 14"/>
          <p:cNvGrpSpPr/>
          <p:nvPr/>
        </p:nvGrpSpPr>
        <p:grpSpPr>
          <a:xfrm>
            <a:off x="7498080" y="2702560"/>
            <a:ext cx="4043680" cy="1737360"/>
            <a:chOff x="7498080" y="2702560"/>
            <a:chExt cx="4043680" cy="1737360"/>
          </a:xfrm>
        </p:grpSpPr>
        <p:sp>
          <p:nvSpPr>
            <p:cNvPr id="16" name="矩形 15"/>
            <p:cNvSpPr/>
            <p:nvPr/>
          </p:nvSpPr>
          <p:spPr>
            <a:xfrm>
              <a:off x="7498080" y="2702560"/>
              <a:ext cx="3759200" cy="1452880"/>
            </a:xfrm>
            <a:prstGeom prst="rect">
              <a:avLst/>
            </a:prstGeom>
            <a:solidFill>
              <a:schemeClr val="accent1">
                <a:alpha val="75000"/>
              </a:schemeClr>
            </a:solidFill>
            <a:ln>
              <a:noFill/>
            </a:ln>
            <a:effectLst>
              <a:outerShdw blurRad="508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造字工房力黑（非商用）常规体" pitchFamily="50" charset="-122"/>
                <a:ea typeface="造字工房力黑（非商用）常规体" pitchFamily="50" charset="-122"/>
                <a:sym typeface="Agency FB" panose="020B0503020202020204" pitchFamily="34" charset="0"/>
              </a:endParaRPr>
            </a:p>
          </p:txBody>
        </p:sp>
        <p:sp>
          <p:nvSpPr>
            <p:cNvPr id="17" name="矩形 16"/>
            <p:cNvSpPr/>
            <p:nvPr/>
          </p:nvSpPr>
          <p:spPr>
            <a:xfrm>
              <a:off x="10754360" y="3652520"/>
              <a:ext cx="787400" cy="787400"/>
            </a:xfrm>
            <a:prstGeom prst="rect">
              <a:avLst/>
            </a:prstGeom>
            <a:noFill/>
            <a:ln w="38100">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造字工房力黑（非商用）常规体" pitchFamily="50" charset="-122"/>
                <a:ea typeface="造字工房力黑（非商用）常规体" pitchFamily="50" charset="-122"/>
                <a:sym typeface="Agency FB" panose="020B0503020202020204" pitchFamily="34" charset="0"/>
              </a:endParaRPr>
            </a:p>
          </p:txBody>
        </p:sp>
        <p:sp>
          <p:nvSpPr>
            <p:cNvPr id="18" name="文本框 17"/>
            <p:cNvSpPr txBox="1"/>
            <p:nvPr/>
          </p:nvSpPr>
          <p:spPr>
            <a:xfrm>
              <a:off x="7675418" y="3059668"/>
              <a:ext cx="3353262" cy="584775"/>
            </a:xfrm>
            <a:prstGeom prst="rect">
              <a:avLst/>
            </a:prstGeom>
            <a:noFill/>
          </p:spPr>
          <p:txBody>
            <a:bodyPr wrap="square" rtlCol="0">
              <a:spAutoFit/>
            </a:bodyPr>
            <a:lstStyle/>
            <a:p>
              <a:r>
                <a:rPr lang="en-US" altLang="zh-CN" sz="3200" spc="300" dirty="0">
                  <a:solidFill>
                    <a:schemeClr val="bg1"/>
                  </a:solidFill>
                  <a:latin typeface="造字工房力黑（非商用）常规体" pitchFamily="50" charset="-122"/>
                  <a:ea typeface="造字工房力黑（非商用）常规体" pitchFamily="50" charset="-122"/>
                  <a:sym typeface="Agency FB" panose="020B0503020202020204" pitchFamily="34" charset="0"/>
                </a:rPr>
                <a:t>CONTENTS</a:t>
              </a:r>
              <a:endParaRPr lang="zh-CN" altLang="en-US" sz="3200" spc="300" dirty="0">
                <a:solidFill>
                  <a:schemeClr val="bg1"/>
                </a:solidFill>
                <a:latin typeface="造字工房力黑（非商用）常规体" pitchFamily="50" charset="-122"/>
                <a:ea typeface="造字工房力黑（非商用）常规体" pitchFamily="50" charset="-122"/>
                <a:sym typeface="Agency FB" panose="020B0503020202020204" pitchFamily="34" charset="0"/>
              </a:endParaRPr>
            </a:p>
          </p:txBody>
        </p:sp>
      </p:grpSp>
      <p:grpSp>
        <p:nvGrpSpPr>
          <p:cNvPr id="19" name="Group 283"/>
          <p:cNvGrpSpPr/>
          <p:nvPr/>
        </p:nvGrpSpPr>
        <p:grpSpPr>
          <a:xfrm>
            <a:off x="1380463" y="1445038"/>
            <a:ext cx="5390745" cy="3967009"/>
            <a:chOff x="6792409" y="1649954"/>
            <a:chExt cx="4430099" cy="3260077"/>
          </a:xfrm>
        </p:grpSpPr>
        <p:sp>
          <p:nvSpPr>
            <p:cNvPr id="20" name="Diamond 286"/>
            <p:cNvSpPr/>
            <p:nvPr/>
          </p:nvSpPr>
          <p:spPr>
            <a:xfrm>
              <a:off x="6792409" y="4285682"/>
              <a:ext cx="624349" cy="624349"/>
            </a:xfrm>
            <a:prstGeom prst="diamond">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lstStyle/>
            <a:p>
              <a:pPr algn="ctr"/>
              <a:r>
                <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rPr>
                <a:t>04</a:t>
              </a:r>
              <a:endPar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endParaRPr>
            </a:p>
          </p:txBody>
        </p:sp>
        <p:sp>
          <p:nvSpPr>
            <p:cNvPr id="46" name="TextBox 300"/>
            <p:cNvSpPr txBox="1"/>
            <p:nvPr/>
          </p:nvSpPr>
          <p:spPr>
            <a:xfrm>
              <a:off x="7259934" y="4445073"/>
              <a:ext cx="3962574" cy="303981"/>
            </a:xfrm>
            <a:prstGeom prst="rect">
              <a:avLst/>
            </a:prstGeom>
            <a:noFill/>
          </p:spPr>
          <p:txBody>
            <a:bodyPr wrap="none" lIns="360000" tIns="0" rIns="0" bIns="0" anchor="b" anchorCtr="0">
              <a:noAutofit/>
            </a:bodyPr>
            <a:lstStyle/>
            <a:p>
              <a:pPr>
                <a:lnSpc>
                  <a:spcPct val="150000"/>
                </a:lnSpc>
              </a:pPr>
              <a:r>
                <a:rPr lang="zh-CN" altLang="en-US" sz="2400" dirty="0">
                  <a:solidFill>
                    <a:schemeClr val="bg1"/>
                  </a:solidFill>
                  <a:latin typeface="造字工房力黑（非商用）常规体" pitchFamily="50" charset="-122"/>
                  <a:ea typeface="造字工房力黑（非商用）常规体" pitchFamily="50" charset="-122"/>
                  <a:cs typeface="+mn-ea"/>
                  <a:sym typeface="+mn-lt"/>
                </a:rPr>
                <a:t>蜂鸟</a:t>
              </a:r>
              <a:r>
                <a:rPr lang="en-US" altLang="zh-CN" sz="2400" dirty="0">
                  <a:solidFill>
                    <a:schemeClr val="bg1"/>
                  </a:solidFill>
                  <a:latin typeface="造字工房力黑（非商用）常规体" pitchFamily="50" charset="-122"/>
                  <a:ea typeface="造字工房力黑（非商用）常规体" pitchFamily="50" charset="-122"/>
                  <a:cs typeface="+mn-ea"/>
                  <a:sym typeface="+mn-lt"/>
                </a:rPr>
                <a:t>E200</a:t>
              </a:r>
              <a:endParaRPr lang="en-US" altLang="zh-CN" sz="2400" dirty="0">
                <a:solidFill>
                  <a:schemeClr val="bg1"/>
                </a:solidFill>
                <a:latin typeface="造字工房力黑（非商用）常规体" pitchFamily="50" charset="-122"/>
                <a:ea typeface="造字工房力黑（非商用）常规体" pitchFamily="50" charset="-122"/>
                <a:cs typeface="+mn-ea"/>
                <a:sym typeface="+mn-lt"/>
              </a:endParaRPr>
            </a:p>
            <a:p>
              <a:pPr>
                <a:lnSpc>
                  <a:spcPct val="150000"/>
                </a:lnSpc>
              </a:pPr>
              <a:r>
                <a:rPr lang="zh-CN" altLang="en-US" sz="2400" dirty="0">
                  <a:solidFill>
                    <a:schemeClr val="bg1"/>
                  </a:solidFill>
                  <a:latin typeface="造字工房力黑（非商用）常规体" pitchFamily="50" charset="-122"/>
                  <a:ea typeface="造字工房力黑（非商用）常规体" pitchFamily="50" charset="-122"/>
                  <a:cs typeface="+mn-ea"/>
                  <a:sym typeface="+mn-lt"/>
                </a:rPr>
                <a:t>协处理器</a:t>
              </a:r>
              <a:endParaRPr lang="en-US" altLang="zh-CN" sz="2400" dirty="0">
                <a:solidFill>
                  <a:schemeClr val="bg1"/>
                </a:solidFill>
                <a:latin typeface="造字工房力黑（非商用）常规体" pitchFamily="50" charset="-122"/>
                <a:ea typeface="造字工房力黑（非商用）常规体" pitchFamily="50" charset="-122"/>
                <a:cs typeface="+mn-ea"/>
                <a:sym typeface="+mn-lt"/>
              </a:endParaRPr>
            </a:p>
            <a:p>
              <a:pPr>
                <a:lnSpc>
                  <a:spcPct val="150000"/>
                </a:lnSpc>
              </a:pPr>
              <a:r>
                <a:rPr lang="zh-CN" altLang="en-US" sz="2400" dirty="0">
                  <a:solidFill>
                    <a:schemeClr val="bg1"/>
                  </a:solidFill>
                  <a:latin typeface="造字工房力黑（非商用）常规体" pitchFamily="50" charset="-122"/>
                  <a:ea typeface="造字工房力黑（非商用）常规体" pitchFamily="50" charset="-122"/>
                  <a:cs typeface="+mn-ea"/>
                  <a:sym typeface="+mn-lt"/>
                </a:rPr>
                <a:t>参考示例</a:t>
              </a:r>
              <a:endParaRPr lang="zh-CN" altLang="en-US" sz="2400" dirty="0">
                <a:solidFill>
                  <a:schemeClr val="bg1"/>
                </a:solidFill>
                <a:latin typeface="造字工房力黑（非商用）常规体" pitchFamily="50" charset="-122"/>
                <a:ea typeface="造字工房力黑（非商用）常规体" pitchFamily="50" charset="-122"/>
                <a:cs typeface="+mn-ea"/>
                <a:sym typeface="+mn-lt"/>
              </a:endParaRPr>
            </a:p>
            <a:p>
              <a:r>
                <a:rPr lang="zh-CN" altLang="en-US" sz="2400" spc="600" dirty="0">
                  <a:solidFill>
                    <a:schemeClr val="accent4">
                      <a:lumMod val="100000"/>
                    </a:schemeClr>
                  </a:solidFill>
                  <a:latin typeface="造字工房力黑（非商用）常规体" pitchFamily="50" charset="-122"/>
                  <a:ea typeface="造字工房力黑（非商用）常规体" pitchFamily="50" charset="-122"/>
                  <a:cs typeface="+mn-ea"/>
                  <a:sym typeface="Agency FB" panose="020B0503020202020204" pitchFamily="34" charset="0"/>
                </a:rPr>
                <a:t>蜂鸟</a:t>
              </a:r>
              <a:r>
                <a:rPr lang="en-US" altLang="zh-CN" sz="2400" spc="600" dirty="0">
                  <a:solidFill>
                    <a:schemeClr val="accent4">
                      <a:lumMod val="100000"/>
                    </a:schemeClr>
                  </a:solidFill>
                  <a:latin typeface="造字工房力黑（非商用）常规体" pitchFamily="50" charset="-122"/>
                  <a:ea typeface="造字工房力黑（非商用）常规体" pitchFamily="50" charset="-122"/>
                  <a:cs typeface="+mn-ea"/>
                  <a:sym typeface="Agency FB" panose="020B0503020202020204" pitchFamily="34" charset="0"/>
                </a:rPr>
                <a:t>E200</a:t>
              </a:r>
              <a:r>
                <a:rPr lang="zh-CN" altLang="en-US" sz="2400" spc="600" dirty="0">
                  <a:solidFill>
                    <a:schemeClr val="accent4">
                      <a:lumMod val="100000"/>
                    </a:schemeClr>
                  </a:solidFill>
                  <a:latin typeface="造字工房力黑（非商用）常规体" pitchFamily="50" charset="-122"/>
                  <a:ea typeface="造字工房力黑（非商用）常规体" pitchFamily="50" charset="-122"/>
                  <a:cs typeface="+mn-ea"/>
                  <a:sym typeface="Agency FB" panose="020B0503020202020204" pitchFamily="34" charset="0"/>
                </a:rPr>
                <a:t>的协处理器参考示例</a:t>
              </a:r>
              <a:endParaRPr lang="zh-CN" altLang="en-US" sz="2400" spc="600" dirty="0">
                <a:solidFill>
                  <a:schemeClr val="accent4">
                    <a:lumMod val="100000"/>
                  </a:schemeClr>
                </a:solidFill>
                <a:latin typeface="造字工房力黑（非商用）常规体" pitchFamily="50" charset="-122"/>
                <a:ea typeface="造字工房力黑（非商用）常规体" pitchFamily="50" charset="-122"/>
                <a:cs typeface="+mn-ea"/>
                <a:sym typeface="Agency FB" panose="020B0503020202020204" pitchFamily="34" charset="0"/>
              </a:endParaRPr>
            </a:p>
          </p:txBody>
        </p:sp>
        <p:sp>
          <p:nvSpPr>
            <p:cNvPr id="24" name="Diamond 288"/>
            <p:cNvSpPr/>
            <p:nvPr/>
          </p:nvSpPr>
          <p:spPr>
            <a:xfrm>
              <a:off x="6792409" y="3407106"/>
              <a:ext cx="624349" cy="624349"/>
            </a:xfrm>
            <a:prstGeom prst="diamond">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lstStyle/>
            <a:p>
              <a:pPr algn="ctr"/>
              <a:r>
                <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rPr>
                <a:t>03</a:t>
              </a:r>
              <a:endPar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endParaRPr>
            </a:p>
          </p:txBody>
        </p:sp>
        <p:sp>
          <p:nvSpPr>
            <p:cNvPr id="44" name="TextBox 298"/>
            <p:cNvSpPr txBox="1"/>
            <p:nvPr/>
          </p:nvSpPr>
          <p:spPr>
            <a:xfrm>
              <a:off x="7259934" y="3567019"/>
              <a:ext cx="3962574" cy="303981"/>
            </a:xfrm>
            <a:prstGeom prst="rect">
              <a:avLst/>
            </a:prstGeom>
            <a:noFill/>
          </p:spPr>
          <p:txBody>
            <a:bodyPr wrap="none" lIns="360000" tIns="0" rIns="0" bIns="0" anchor="b" anchorCtr="0">
              <a:noAutofit/>
            </a:bodyPr>
            <a:lstStyle/>
            <a:p>
              <a:r>
                <a:rPr lang="zh-CN" altLang="en-US" sz="2400" spc="600" dirty="0">
                  <a:solidFill>
                    <a:schemeClr val="accent3">
                      <a:lumMod val="100000"/>
                    </a:schemeClr>
                  </a:solidFill>
                  <a:latin typeface="造字工房力黑（非商用）常规体" pitchFamily="50" charset="-122"/>
                  <a:ea typeface="造字工房力黑（非商用）常规体" pitchFamily="50" charset="-122"/>
                  <a:cs typeface="+mn-ea"/>
                  <a:sym typeface="Agency FB" panose="020B0503020202020204" pitchFamily="34" charset="0"/>
                </a:rPr>
                <a:t>蜂鸟</a:t>
              </a:r>
              <a:r>
                <a:rPr lang="en-US" altLang="zh-CN" sz="2400" spc="600" dirty="0">
                  <a:solidFill>
                    <a:schemeClr val="accent3">
                      <a:lumMod val="100000"/>
                    </a:schemeClr>
                  </a:solidFill>
                  <a:latin typeface="造字工房力黑（非商用）常规体" pitchFamily="50" charset="-122"/>
                  <a:ea typeface="造字工房力黑（非商用）常规体" pitchFamily="50" charset="-122"/>
                  <a:cs typeface="+mn-ea"/>
                  <a:sym typeface="Agency FB" panose="020B0503020202020204" pitchFamily="34" charset="0"/>
                </a:rPr>
                <a:t>E200</a:t>
              </a:r>
              <a:r>
                <a:rPr lang="zh-CN" altLang="en-US" sz="2400" spc="600" dirty="0">
                  <a:solidFill>
                    <a:schemeClr val="accent3">
                      <a:lumMod val="100000"/>
                    </a:schemeClr>
                  </a:solidFill>
                  <a:latin typeface="造字工房力黑（非商用）常规体" pitchFamily="50" charset="-122"/>
                  <a:ea typeface="造字工房力黑（非商用）常规体" pitchFamily="50" charset="-122"/>
                  <a:cs typeface="+mn-ea"/>
                  <a:sym typeface="Agency FB" panose="020B0503020202020204" pitchFamily="34" charset="0"/>
                </a:rPr>
                <a:t>的协处理器接口</a:t>
              </a:r>
              <a:r>
                <a:rPr lang="en-US" altLang="zh-CN" sz="2400" spc="600" dirty="0">
                  <a:solidFill>
                    <a:schemeClr val="accent3">
                      <a:lumMod val="100000"/>
                    </a:schemeClr>
                  </a:solidFill>
                  <a:latin typeface="造字工房力黑（非商用）常规体" pitchFamily="50" charset="-122"/>
                  <a:ea typeface="造字工房力黑（非商用）常规体" pitchFamily="50" charset="-122"/>
                  <a:cs typeface="+mn-ea"/>
                  <a:sym typeface="Agency FB" panose="020B0503020202020204" pitchFamily="34" charset="0"/>
                </a:rPr>
                <a:t>EAI</a:t>
              </a:r>
              <a:endParaRPr lang="en-US" altLang="zh-CN" sz="2400" spc="600" dirty="0">
                <a:solidFill>
                  <a:schemeClr val="accent3">
                    <a:lumMod val="100000"/>
                  </a:schemeClr>
                </a:solidFill>
                <a:latin typeface="造字工房力黑（非商用）常规体" pitchFamily="50" charset="-122"/>
                <a:ea typeface="造字工房力黑（非商用）常规体" pitchFamily="50" charset="-122"/>
                <a:cs typeface="+mn-ea"/>
                <a:sym typeface="Agency FB" panose="020B0503020202020204" pitchFamily="34" charset="0"/>
              </a:endParaRPr>
            </a:p>
          </p:txBody>
        </p:sp>
        <p:sp>
          <p:nvSpPr>
            <p:cNvPr id="36" name="Diamond 290"/>
            <p:cNvSpPr/>
            <p:nvPr/>
          </p:nvSpPr>
          <p:spPr>
            <a:xfrm>
              <a:off x="6792409" y="2528530"/>
              <a:ext cx="624349" cy="624349"/>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lstStyle/>
            <a:p>
              <a:pPr algn="ctr"/>
              <a:r>
                <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rPr>
                <a:t>02</a:t>
              </a:r>
              <a:endPar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endParaRPr>
            </a:p>
          </p:txBody>
        </p:sp>
        <p:sp>
          <p:nvSpPr>
            <p:cNvPr id="42" name="TextBox 296"/>
            <p:cNvSpPr txBox="1"/>
            <p:nvPr/>
          </p:nvSpPr>
          <p:spPr>
            <a:xfrm>
              <a:off x="7259934" y="2672266"/>
              <a:ext cx="3962574" cy="303981"/>
            </a:xfrm>
            <a:prstGeom prst="rect">
              <a:avLst/>
            </a:prstGeom>
            <a:noFill/>
          </p:spPr>
          <p:txBody>
            <a:bodyPr wrap="none" lIns="360000" tIns="0" rIns="0" bIns="0" anchor="b" anchorCtr="0">
              <a:noAutofit/>
            </a:bodyPr>
            <a:lstStyle/>
            <a:p>
              <a:r>
                <a:rPr lang="en-US" altLang="zh-CN" sz="2400" spc="600" dirty="0">
                  <a:solidFill>
                    <a:schemeClr val="accent2">
                      <a:lumMod val="100000"/>
                    </a:schemeClr>
                  </a:solidFill>
                  <a:latin typeface="造字工房力黑（非商用）常规体" pitchFamily="50" charset="-122"/>
                  <a:ea typeface="造字工房力黑（非商用）常规体" pitchFamily="50" charset="-122"/>
                  <a:cs typeface="+mn-ea"/>
                  <a:sym typeface="Agency FB" panose="020B0503020202020204" pitchFamily="34" charset="0"/>
                </a:rPr>
                <a:t>RISC-V</a:t>
              </a:r>
              <a:r>
                <a:rPr lang="zh-CN" altLang="en-US" sz="2400" spc="600" dirty="0">
                  <a:solidFill>
                    <a:schemeClr val="accent2">
                      <a:lumMod val="100000"/>
                    </a:schemeClr>
                  </a:solidFill>
                  <a:latin typeface="造字工房力黑（非商用）常规体" pitchFamily="50" charset="-122"/>
                  <a:ea typeface="造字工房力黑（非商用）常规体" pitchFamily="50" charset="-122"/>
                  <a:cs typeface="+mn-ea"/>
                  <a:sym typeface="Agency FB" panose="020B0503020202020204" pitchFamily="34" charset="0"/>
                </a:rPr>
                <a:t>可扩展性</a:t>
              </a:r>
              <a:endParaRPr lang="zh-CN" altLang="en-US" sz="2400" spc="600" dirty="0">
                <a:solidFill>
                  <a:schemeClr val="accent2">
                    <a:lumMod val="100000"/>
                  </a:schemeClr>
                </a:solidFill>
                <a:latin typeface="造字工房力黑（非商用）常规体" pitchFamily="50" charset="-122"/>
                <a:ea typeface="造字工房力黑（非商用）常规体" pitchFamily="50" charset="-122"/>
                <a:cs typeface="+mn-ea"/>
                <a:sym typeface="Agency FB" panose="020B0503020202020204" pitchFamily="34" charset="0"/>
              </a:endParaRPr>
            </a:p>
          </p:txBody>
        </p:sp>
        <p:sp>
          <p:nvSpPr>
            <p:cNvPr id="38" name="Diamond 292"/>
            <p:cNvSpPr/>
            <p:nvPr/>
          </p:nvSpPr>
          <p:spPr>
            <a:xfrm>
              <a:off x="6792411" y="1649954"/>
              <a:ext cx="624349" cy="624349"/>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lstStyle/>
            <a:p>
              <a:pPr algn="ctr"/>
              <a:r>
                <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rPr>
                <a:t>01</a:t>
              </a:r>
              <a:endPar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endParaRPr>
            </a:p>
          </p:txBody>
        </p:sp>
        <p:sp>
          <p:nvSpPr>
            <p:cNvPr id="40" name="TextBox 294"/>
            <p:cNvSpPr txBox="1"/>
            <p:nvPr/>
          </p:nvSpPr>
          <p:spPr>
            <a:xfrm>
              <a:off x="7259934" y="1809867"/>
              <a:ext cx="3962574" cy="303981"/>
            </a:xfrm>
            <a:prstGeom prst="rect">
              <a:avLst/>
            </a:prstGeom>
            <a:noFill/>
          </p:spPr>
          <p:txBody>
            <a:bodyPr wrap="none" lIns="360000" tIns="0" rIns="0" bIns="0" anchor="b" anchorCtr="0">
              <a:noAutofit/>
            </a:bodyPr>
            <a:lstStyle/>
            <a:p>
              <a:r>
                <a:rPr lang="en-US" altLang="zh-CN" sz="2400" spc="600" dirty="0">
                  <a:solidFill>
                    <a:schemeClr val="accent1">
                      <a:lumMod val="100000"/>
                    </a:schemeClr>
                  </a:solidFill>
                  <a:latin typeface="造字工房力黑（非商用）常规体" pitchFamily="50" charset="-122"/>
                  <a:ea typeface="造字工房力黑（非商用）常规体" pitchFamily="50" charset="-122"/>
                  <a:cs typeface="+mn-ea"/>
                  <a:sym typeface="Agency FB" panose="020B0503020202020204" pitchFamily="34" charset="0"/>
                </a:rPr>
                <a:t>DSA</a:t>
              </a:r>
              <a:r>
                <a:rPr lang="zh-CN" altLang="en-US" sz="2400" spc="600" dirty="0">
                  <a:solidFill>
                    <a:schemeClr val="accent1">
                      <a:lumMod val="100000"/>
                    </a:schemeClr>
                  </a:solidFill>
                  <a:latin typeface="造字工房力黑（非商用）常规体" pitchFamily="50" charset="-122"/>
                  <a:ea typeface="造字工房力黑（非商用）常规体" pitchFamily="50" charset="-122"/>
                  <a:cs typeface="+mn-ea"/>
                  <a:sym typeface="Agency FB" panose="020B0503020202020204" pitchFamily="34" charset="0"/>
                </a:rPr>
                <a:t>专用领域架构</a:t>
              </a:r>
              <a:endParaRPr lang="zh-CN" altLang="en-US" sz="2400" spc="600" dirty="0">
                <a:solidFill>
                  <a:schemeClr val="accent1">
                    <a:lumMod val="100000"/>
                  </a:schemeClr>
                </a:solidFill>
                <a:latin typeface="造字工房力黑（非商用）常规体" pitchFamily="50" charset="-122"/>
                <a:ea typeface="造字工房力黑（非商用）常规体" pitchFamily="50" charset="-122"/>
                <a:cs typeface="+mn-ea"/>
                <a:sym typeface="Agency FB" panose="020B0503020202020204" pitchFamily="34" charset="0"/>
              </a:endParaRPr>
            </a:p>
          </p:txBody>
        </p:sp>
      </p:gr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96000" y="786948"/>
            <a:ext cx="6096000" cy="2857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cstate="screen">
            <a:lum/>
          </a:blip>
          <a:srcRect/>
          <a:stretch>
            <a:fillRect/>
          </a:stretch>
        </a:blipFill>
        <a:effectLst/>
      </p:bgPr>
    </p:bg>
    <p:spTree>
      <p:nvGrpSpPr>
        <p:cNvPr id="1" name=""/>
        <p:cNvGrpSpPr/>
        <p:nvPr/>
      </p:nvGrpSpPr>
      <p:grpSpPr>
        <a:xfrm>
          <a:off x="0" y="0"/>
          <a:ext cx="0" cy="0"/>
          <a:chOff x="0" y="0"/>
          <a:chExt cx="0" cy="0"/>
        </a:xfrm>
      </p:grpSpPr>
      <p:sp>
        <p:nvSpPr>
          <p:cNvPr id="21" name="矩形 20"/>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3" name="组合 22"/>
          <p:cNvGrpSpPr/>
          <p:nvPr/>
        </p:nvGrpSpPr>
        <p:grpSpPr>
          <a:xfrm>
            <a:off x="0" y="713740"/>
            <a:ext cx="12192001" cy="4737100"/>
            <a:chOff x="0" y="713740"/>
            <a:chExt cx="12192001" cy="4737100"/>
          </a:xfrm>
        </p:grpSpPr>
        <p:sp useBgFill="1">
          <p:nvSpPr>
            <p:cNvPr id="25" name="矩形 24"/>
            <p:cNvSpPr/>
            <p:nvPr/>
          </p:nvSpPr>
          <p:spPr>
            <a:xfrm>
              <a:off x="4196080" y="1407160"/>
              <a:ext cx="7995920" cy="40436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grpSp>
          <p:nvGrpSpPr>
            <p:cNvPr id="26" name="组合 25"/>
            <p:cNvGrpSpPr/>
            <p:nvPr/>
          </p:nvGrpSpPr>
          <p:grpSpPr>
            <a:xfrm>
              <a:off x="0" y="1407160"/>
              <a:ext cx="4064000" cy="4043680"/>
              <a:chOff x="0" y="1407160"/>
              <a:chExt cx="4064000" cy="4043680"/>
            </a:xfrm>
          </p:grpSpPr>
          <p:sp>
            <p:nvSpPr>
              <p:cNvPr id="32" name="矩形 31"/>
              <p:cNvSpPr/>
              <p:nvPr/>
            </p:nvSpPr>
            <p:spPr>
              <a:xfrm>
                <a:off x="0" y="1407160"/>
                <a:ext cx="4064000" cy="40436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grpSp>
            <p:nvGrpSpPr>
              <p:cNvPr id="33" name="组合 32"/>
              <p:cNvGrpSpPr/>
              <p:nvPr/>
            </p:nvGrpSpPr>
            <p:grpSpPr>
              <a:xfrm>
                <a:off x="127000" y="2317929"/>
                <a:ext cx="3810000" cy="2186087"/>
                <a:chOff x="76200" y="2381955"/>
                <a:chExt cx="3810000" cy="2186087"/>
              </a:xfrm>
            </p:grpSpPr>
            <p:sp>
              <p:nvSpPr>
                <p:cNvPr id="34" name="文本框 33"/>
                <p:cNvSpPr txBox="1"/>
                <p:nvPr/>
              </p:nvSpPr>
              <p:spPr>
                <a:xfrm>
                  <a:off x="76200" y="2381955"/>
                  <a:ext cx="3810000" cy="829945"/>
                </a:xfrm>
                <a:prstGeom prst="rect">
                  <a:avLst/>
                </a:prstGeom>
                <a:noFill/>
              </p:spPr>
              <p:txBody>
                <a:bodyPr wrap="square" rtlCol="0">
                  <a:spAutoFit/>
                </a:bodyPr>
                <a:lstStyle/>
                <a:p>
                  <a:pPr algn="ctr"/>
                  <a:r>
                    <a:rPr lang="en-US" altLang="zh-CN" sz="4800" dirty="0">
                      <a:solidFill>
                        <a:schemeClr val="bg1"/>
                      </a:solidFill>
                      <a:latin typeface="造字工房力黑（非商用）常规体" pitchFamily="50" charset="-122"/>
                      <a:ea typeface="造字工房力黑（非商用）常规体" pitchFamily="50" charset="-122"/>
                      <a:cs typeface="+mn-ea"/>
                      <a:sym typeface="+mn-lt"/>
                    </a:rPr>
                    <a:t>DSA</a:t>
                  </a:r>
                  <a:endParaRPr lang="zh-CN" altLang="en-US" sz="4800" dirty="0">
                    <a:solidFill>
                      <a:schemeClr val="bg1"/>
                    </a:solidFill>
                    <a:latin typeface="造字工房力黑（非商用）常规体" pitchFamily="50" charset="-122"/>
                    <a:ea typeface="造字工房力黑（非商用）常规体" pitchFamily="50" charset="-122"/>
                    <a:cs typeface="+mn-ea"/>
                    <a:sym typeface="+mn-lt"/>
                  </a:endParaRPr>
                </a:p>
              </p:txBody>
            </p:sp>
            <p:sp>
              <p:nvSpPr>
                <p:cNvPr id="35" name="MH_Title"/>
                <p:cNvSpPr txBox="1">
                  <a:spLocks noChangeArrowheads="1"/>
                </p:cNvSpPr>
                <p:nvPr>
                  <p:custDataLst>
                    <p:tags r:id="rId2"/>
                  </p:custDataLst>
                </p:nvPr>
              </p:nvSpPr>
              <p:spPr bwMode="auto">
                <a:xfrm>
                  <a:off x="536560" y="3394919"/>
                  <a:ext cx="2889280" cy="1173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normAutofit/>
                </a:bodyPr>
                <a:lstStyle>
                  <a:defPPr>
                    <a:defRPr lang="zh-CN"/>
                  </a:defPPr>
                  <a:lvl1pPr>
                    <a:defRPr>
                      <a:latin typeface="华文细黑" panose="02010600040101010101" pitchFamily="2" charset="-122"/>
                      <a:ea typeface="华文细黑" panose="02010600040101010101" pitchFamily="2" charset="-122"/>
                    </a:defRPr>
                  </a:lvl1pPr>
                  <a:lvl2pPr marL="742950" indent="-285750">
                    <a:defRPr>
                      <a:latin typeface="Arial Narrow" panose="020B0606020202030204" pitchFamily="34" charset="0"/>
                      <a:ea typeface="宋体" panose="02010600030101010101" pitchFamily="2" charset="-122"/>
                    </a:defRPr>
                  </a:lvl2pPr>
                  <a:lvl3pPr marL="1143000" indent="-228600">
                    <a:defRPr>
                      <a:latin typeface="Arial Narrow" panose="020B0606020202030204" pitchFamily="34" charset="0"/>
                      <a:ea typeface="宋体" panose="02010600030101010101" pitchFamily="2" charset="-122"/>
                    </a:defRPr>
                  </a:lvl3pPr>
                  <a:lvl4pPr marL="1600200" indent="-228600">
                    <a:defRPr>
                      <a:latin typeface="Arial Narrow" panose="020B0606020202030204" pitchFamily="34" charset="0"/>
                      <a:ea typeface="宋体" panose="02010600030101010101" pitchFamily="2" charset="-122"/>
                    </a:defRPr>
                  </a:lvl4pPr>
                  <a:lvl5pPr marL="2057400" indent="-228600">
                    <a:defRPr>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latin typeface="Arial Narrow" panose="020B0606020202030204" pitchFamily="34" charset="0"/>
                      <a:ea typeface="宋体" panose="02010600030101010101" pitchFamily="2" charset="-122"/>
                    </a:defRPr>
                  </a:lvl9pPr>
                </a:lstStyle>
                <a:p>
                  <a:pPr algn="ctr">
                    <a:lnSpc>
                      <a:spcPct val="150000"/>
                    </a:lnSpc>
                  </a:pPr>
                  <a:r>
                    <a:rPr lang="zh-CN" altLang="en-US" sz="3600" dirty="0">
                      <a:solidFill>
                        <a:schemeClr val="bg1"/>
                      </a:solidFill>
                      <a:latin typeface="造字工房力黑（非商用）常规体" pitchFamily="50" charset="-122"/>
                      <a:ea typeface="造字工房力黑（非商用）常规体" pitchFamily="50" charset="-122"/>
                      <a:cs typeface="+mn-ea"/>
                      <a:sym typeface="+mn-lt"/>
                    </a:rPr>
                    <a:t>专用领域架构</a:t>
                  </a:r>
                  <a:endParaRPr lang="zh-CN" altLang="en-US" sz="3600" dirty="0">
                    <a:solidFill>
                      <a:schemeClr val="bg1"/>
                    </a:solidFill>
                    <a:latin typeface="造字工房力黑（非商用）常规体" pitchFamily="50" charset="-122"/>
                    <a:ea typeface="造字工房力黑（非商用）常规体" pitchFamily="50" charset="-122"/>
                    <a:cs typeface="+mn-ea"/>
                    <a:sym typeface="+mn-lt"/>
                  </a:endParaRPr>
                </a:p>
              </p:txBody>
            </p:sp>
          </p:grpSp>
        </p:grpSp>
        <p:grpSp>
          <p:nvGrpSpPr>
            <p:cNvPr id="27" name="组合 26"/>
            <p:cNvGrpSpPr/>
            <p:nvPr/>
          </p:nvGrpSpPr>
          <p:grpSpPr>
            <a:xfrm>
              <a:off x="7564229" y="713740"/>
              <a:ext cx="4627772" cy="1386840"/>
              <a:chOff x="7564229" y="713740"/>
              <a:chExt cx="4627772" cy="1386840"/>
            </a:xfrm>
          </p:grpSpPr>
          <p:sp>
            <p:nvSpPr>
              <p:cNvPr id="29" name="任意多边形 28"/>
              <p:cNvSpPr/>
              <p:nvPr/>
            </p:nvSpPr>
            <p:spPr>
              <a:xfrm flipH="1" flipV="1">
                <a:off x="7564229" y="713740"/>
                <a:ext cx="4627771" cy="1386840"/>
              </a:xfrm>
              <a:custGeom>
                <a:avLst/>
                <a:gdLst>
                  <a:gd name="connsiteX0" fmla="*/ 0 w 7147560"/>
                  <a:gd name="connsiteY0" fmla="*/ 0 h 2814320"/>
                  <a:gd name="connsiteX1" fmla="*/ 6443980 w 7147560"/>
                  <a:gd name="connsiteY1" fmla="*/ 0 h 2814320"/>
                  <a:gd name="connsiteX2" fmla="*/ 7147560 w 7147560"/>
                  <a:gd name="connsiteY2" fmla="*/ 2814320 h 2814320"/>
                  <a:gd name="connsiteX3" fmla="*/ 0 w 7147560"/>
                  <a:gd name="connsiteY3" fmla="*/ 2814320 h 2814320"/>
                  <a:gd name="connsiteX0-1" fmla="*/ 0 w 8689506"/>
                  <a:gd name="connsiteY0-2" fmla="*/ 0 h 2814320"/>
                  <a:gd name="connsiteX1-3" fmla="*/ 6443980 w 8689506"/>
                  <a:gd name="connsiteY1-4" fmla="*/ 0 h 2814320"/>
                  <a:gd name="connsiteX2-5" fmla="*/ 8689506 w 8689506"/>
                  <a:gd name="connsiteY2-6" fmla="*/ 2814320 h 2814320"/>
                  <a:gd name="connsiteX3-7" fmla="*/ 0 w 8689506"/>
                  <a:gd name="connsiteY3-8" fmla="*/ 2814320 h 2814320"/>
                  <a:gd name="connsiteX4" fmla="*/ 0 w 8689506"/>
                  <a:gd name="connsiteY4" fmla="*/ 0 h 2814320"/>
                  <a:gd name="connsiteX0-9" fmla="*/ 0 w 9235080"/>
                  <a:gd name="connsiteY0-10" fmla="*/ 0 h 2834640"/>
                  <a:gd name="connsiteX1-11" fmla="*/ 6443980 w 9235080"/>
                  <a:gd name="connsiteY1-12" fmla="*/ 0 h 2834640"/>
                  <a:gd name="connsiteX2-13" fmla="*/ 9235080 w 9235080"/>
                  <a:gd name="connsiteY2-14" fmla="*/ 2834640 h 2834640"/>
                  <a:gd name="connsiteX3-15" fmla="*/ 0 w 9235080"/>
                  <a:gd name="connsiteY3-16" fmla="*/ 2814320 h 2834640"/>
                  <a:gd name="connsiteX4-17" fmla="*/ 0 w 9235080"/>
                  <a:gd name="connsiteY4-18" fmla="*/ 0 h 2834640"/>
                </a:gdLst>
                <a:ahLst/>
                <a:cxnLst>
                  <a:cxn ang="0">
                    <a:pos x="connsiteX0-1" y="connsiteY0-2"/>
                  </a:cxn>
                  <a:cxn ang="0">
                    <a:pos x="connsiteX1-3" y="connsiteY1-4"/>
                  </a:cxn>
                  <a:cxn ang="0">
                    <a:pos x="connsiteX2-5" y="connsiteY2-6"/>
                  </a:cxn>
                  <a:cxn ang="0">
                    <a:pos x="connsiteX3-7" y="connsiteY3-8"/>
                  </a:cxn>
                  <a:cxn ang="0">
                    <a:pos x="connsiteX4-17" y="connsiteY4-18"/>
                  </a:cxn>
                </a:cxnLst>
                <a:rect l="l" t="t" r="r" b="b"/>
                <a:pathLst>
                  <a:path w="9235080" h="2834640">
                    <a:moveTo>
                      <a:pt x="0" y="0"/>
                    </a:moveTo>
                    <a:lnTo>
                      <a:pt x="6443980" y="0"/>
                    </a:lnTo>
                    <a:lnTo>
                      <a:pt x="9235080" y="2834640"/>
                    </a:lnTo>
                    <a:lnTo>
                      <a:pt x="0" y="2814320"/>
                    </a:lnTo>
                    <a:lnTo>
                      <a:pt x="0" y="0"/>
                    </a:lnTo>
                    <a:close/>
                  </a:path>
                </a:pathLst>
              </a:cu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31" name="文本框 30"/>
              <p:cNvSpPr txBox="1"/>
              <p:nvPr/>
            </p:nvSpPr>
            <p:spPr>
              <a:xfrm>
                <a:off x="7712365" y="991661"/>
                <a:ext cx="4479636" cy="707886"/>
              </a:xfrm>
              <a:prstGeom prst="rect">
                <a:avLst/>
              </a:prstGeom>
              <a:noFill/>
            </p:spPr>
            <p:txBody>
              <a:bodyPr wrap="square" rtlCol="0">
                <a:spAutoFit/>
              </a:bodyPr>
              <a:lstStyle/>
              <a:p>
                <a:pPr algn="r"/>
                <a:r>
                  <a:rPr lang="en-US" altLang="zh-CN" sz="4000" spc="300" dirty="0">
                    <a:solidFill>
                      <a:schemeClr val="bg1"/>
                    </a:solidFill>
                    <a:latin typeface="造字工房力黑（非商用）常规体" pitchFamily="50" charset="-122"/>
                    <a:ea typeface="造字工房力黑（非商用）常规体" pitchFamily="50" charset="-122"/>
                    <a:cs typeface="+mn-ea"/>
                    <a:sym typeface="+mn-lt"/>
                  </a:rPr>
                  <a:t>PART ONE</a:t>
                </a:r>
                <a:endParaRPr lang="zh-CN" altLang="en-US" sz="4000" spc="300" dirty="0">
                  <a:solidFill>
                    <a:schemeClr val="bg1"/>
                  </a:solidFill>
                  <a:latin typeface="造字工房力黑（非商用）常规体" pitchFamily="50" charset="-122"/>
                  <a:ea typeface="造字工房力黑（非商用）常规体" pitchFamily="50" charset="-122"/>
                  <a:cs typeface="+mn-ea"/>
                  <a:sym typeface="+mn-lt"/>
                </a:endParaRPr>
              </a:p>
            </p:txBody>
          </p:sp>
        </p:grpSp>
        <p:sp>
          <p:nvSpPr>
            <p:cNvPr id="28" name="文本框 27"/>
            <p:cNvSpPr txBox="1"/>
            <p:nvPr/>
          </p:nvSpPr>
          <p:spPr>
            <a:xfrm>
              <a:off x="9550399" y="3052435"/>
              <a:ext cx="2349194" cy="1446550"/>
            </a:xfrm>
            <a:prstGeom prst="rect">
              <a:avLst/>
            </a:prstGeom>
            <a:noFill/>
            <a:ln>
              <a:solidFill>
                <a:schemeClr val="bg1"/>
              </a:solidFill>
            </a:ln>
          </p:spPr>
          <p:txBody>
            <a:bodyPr wrap="square" rtlCol="0">
              <a:spAutoFit/>
            </a:bodyPr>
            <a:lstStyle/>
            <a:p>
              <a:pPr algn="ctr"/>
              <a:r>
                <a:rPr lang="en-US" altLang="zh-CN" sz="8800" spc="600" dirty="0">
                  <a:solidFill>
                    <a:schemeClr val="bg1"/>
                  </a:solidFill>
                  <a:latin typeface="造字工房力黑（非商用）常规体" pitchFamily="50" charset="-122"/>
                  <a:ea typeface="造字工房力黑（非商用）常规体" pitchFamily="50" charset="-122"/>
                  <a:cs typeface="+mn-ea"/>
                  <a:sym typeface="+mn-lt"/>
                </a:rPr>
                <a:t>01</a:t>
              </a:r>
              <a:endParaRPr lang="zh-CN" altLang="en-US" sz="8800" spc="600" dirty="0">
                <a:solidFill>
                  <a:schemeClr val="bg1"/>
                </a:solidFill>
                <a:latin typeface="造字工房力黑（非商用）常规体" pitchFamily="50" charset="-122"/>
                <a:ea typeface="造字工房力黑（非商用）常规体" pitchFamily="50"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right)">
                                      <p:cBhvr>
                                        <p:cTn id="7"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609600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Segoe Script" panose="030B0504020000000003" pitchFamily="66" charset="0"/>
              <a:ea typeface="WenYue GuDianMingChaoTi (Non-Commercial Use)" pitchFamily="50" charset="-122"/>
              <a:sym typeface="Segoe Script" panose="030B0504020000000003" pitchFamily="66" charset="0"/>
            </a:endParaRPr>
          </a:p>
        </p:txBody>
      </p:sp>
      <p:grpSp>
        <p:nvGrpSpPr>
          <p:cNvPr id="16" name="组合 15"/>
          <p:cNvGrpSpPr/>
          <p:nvPr/>
        </p:nvGrpSpPr>
        <p:grpSpPr>
          <a:xfrm>
            <a:off x="589280" y="218705"/>
            <a:ext cx="4947443" cy="6209931"/>
            <a:chOff x="589280" y="196563"/>
            <a:chExt cx="4947443" cy="6251610"/>
          </a:xfrm>
        </p:grpSpPr>
        <p:sp>
          <p:nvSpPr>
            <p:cNvPr id="17" name="矩形 16"/>
            <p:cNvSpPr/>
            <p:nvPr/>
          </p:nvSpPr>
          <p:spPr>
            <a:xfrm>
              <a:off x="589280" y="196563"/>
              <a:ext cx="4886960" cy="62516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sp>
          <p:nvSpPr>
            <p:cNvPr id="18" name="文本框 17"/>
            <p:cNvSpPr txBox="1"/>
            <p:nvPr/>
          </p:nvSpPr>
          <p:spPr>
            <a:xfrm>
              <a:off x="649763" y="4552592"/>
              <a:ext cx="4886960" cy="588700"/>
            </a:xfrm>
            <a:prstGeom prst="rect">
              <a:avLst/>
            </a:prstGeom>
            <a:noFill/>
          </p:spPr>
          <p:txBody>
            <a:bodyPr wrap="square" rtlCol="0">
              <a:spAutoFit/>
            </a:bodyPr>
            <a:lstStyle/>
            <a:p>
              <a:pPr algn="ctr"/>
              <a:r>
                <a:rPr lang="en-US" altLang="zh-CN" sz="3200" b="1" spc="600" dirty="0">
                  <a:solidFill>
                    <a:schemeClr val="bg1"/>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CPU+GPU</a:t>
              </a:r>
              <a:endParaRPr lang="zh-CN" altLang="en-US" sz="3200" b="1" spc="600" dirty="0">
                <a:solidFill>
                  <a:schemeClr val="bg1"/>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sp>
          <p:nvSpPr>
            <p:cNvPr id="19" name="矩形 18"/>
            <p:cNvSpPr/>
            <p:nvPr/>
          </p:nvSpPr>
          <p:spPr>
            <a:xfrm>
              <a:off x="831636" y="593061"/>
              <a:ext cx="4402248" cy="5746653"/>
            </a:xfrm>
            <a:prstGeom prst="rect">
              <a:avLst/>
            </a:prstGeom>
            <a:noFill/>
            <a:ln>
              <a:solidFill>
                <a:schemeClr val="bg1">
                  <a:lumMod val="9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sp>
          <p:nvSpPr>
            <p:cNvPr id="20" name="文本框 19"/>
            <p:cNvSpPr txBox="1"/>
            <p:nvPr/>
          </p:nvSpPr>
          <p:spPr>
            <a:xfrm>
              <a:off x="952603" y="939358"/>
              <a:ext cx="4281281" cy="464764"/>
            </a:xfrm>
            <a:prstGeom prst="rect">
              <a:avLst/>
            </a:prstGeom>
            <a:noFill/>
          </p:spPr>
          <p:txBody>
            <a:bodyPr wrap="square" rtlCol="0">
              <a:spAutoFit/>
            </a:bodyPr>
            <a:lstStyle/>
            <a:p>
              <a:r>
                <a:rPr lang="en-US" altLang="zh-CN" sz="2400" b="1" dirty="0">
                  <a:solidFill>
                    <a:schemeClr val="bg1"/>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CPU</a:t>
              </a:r>
              <a:r>
                <a:rPr lang="zh-CN" altLang="en-US" sz="2400" b="1" dirty="0">
                  <a:solidFill>
                    <a:schemeClr val="bg1"/>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侧重通用的控制和计算</a:t>
              </a:r>
              <a:endParaRPr lang="zh-CN" altLang="en-US" sz="2400" b="1" dirty="0">
                <a:solidFill>
                  <a:schemeClr val="bg1"/>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grpSp>
          <p:nvGrpSpPr>
            <p:cNvPr id="21" name="PA_组 15" descr="e7d195523061f1c0d318120d6aeaf1b6ccceb6ba3da59c0775C5DE19DDDEBC09ED96DBD9900D9848D623ECAD1D4904B78047D0015C22C8BE97228BE8B5BFF08FE7A3AE04126DA07312A96C0F69F9BAB7B8762A2F02ECB167EB1D3D935132D44A03185F23F8625673A228DA0C7DA620D0616217B810CE4DCA0BDC2CD812D5F48220C6184BA351E466"/>
            <p:cNvGrpSpPr/>
            <p:nvPr>
              <p:custDataLst>
                <p:tags r:id="rId1"/>
              </p:custDataLst>
            </p:nvPr>
          </p:nvGrpSpPr>
          <p:grpSpPr>
            <a:xfrm>
              <a:off x="840452" y="324943"/>
              <a:ext cx="663228" cy="112150"/>
              <a:chOff x="989510" y="6337738"/>
              <a:chExt cx="683708" cy="115614"/>
            </a:xfrm>
          </p:grpSpPr>
          <p:sp>
            <p:nvSpPr>
              <p:cNvPr id="22" name="椭圆 21"/>
              <p:cNvSpPr/>
              <p:nvPr/>
            </p:nvSpPr>
            <p:spPr>
              <a:xfrm>
                <a:off x="989510" y="6337738"/>
                <a:ext cx="115614" cy="115614"/>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1" i="0" u="none" strike="noStrike" kern="1200" cap="none" spc="0" normalizeH="0" baseline="0" noProof="0">
                  <a:ln>
                    <a:noFill/>
                  </a:ln>
                  <a:solidFill>
                    <a:prstClr val="white"/>
                  </a:solidFill>
                  <a:effectLst/>
                  <a:uLnTx/>
                  <a:uFillTx/>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sp>
            <p:nvSpPr>
              <p:cNvPr id="23" name="椭圆 22"/>
              <p:cNvSpPr/>
              <p:nvPr/>
            </p:nvSpPr>
            <p:spPr>
              <a:xfrm>
                <a:off x="1273557" y="6337738"/>
                <a:ext cx="115614" cy="11561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1" i="0" u="none" strike="noStrike" kern="1200" cap="none" spc="0" normalizeH="0" baseline="0" noProof="0">
                  <a:ln>
                    <a:noFill/>
                  </a:ln>
                  <a:solidFill>
                    <a:prstClr val="white"/>
                  </a:solidFill>
                  <a:effectLst/>
                  <a:uLnTx/>
                  <a:uFillTx/>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sp>
            <p:nvSpPr>
              <p:cNvPr id="24" name="椭圆 23"/>
              <p:cNvSpPr/>
              <p:nvPr/>
            </p:nvSpPr>
            <p:spPr>
              <a:xfrm>
                <a:off x="1557604" y="6337738"/>
                <a:ext cx="115614" cy="11561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1" i="0" u="none" strike="noStrike" kern="1200" cap="none" spc="0" normalizeH="0" baseline="0" noProof="0">
                  <a:ln>
                    <a:noFill/>
                  </a:ln>
                  <a:solidFill>
                    <a:prstClr val="white"/>
                  </a:solidFill>
                  <a:effectLst/>
                  <a:uLnTx/>
                  <a:uFillTx/>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grpSp>
      </p:grpSp>
      <p:sp>
        <p:nvSpPr>
          <p:cNvPr id="27" name="文本框 26"/>
          <p:cNvSpPr txBox="1"/>
          <p:nvPr/>
        </p:nvSpPr>
        <p:spPr>
          <a:xfrm>
            <a:off x="6858000" y="218480"/>
            <a:ext cx="4368800" cy="1200329"/>
          </a:xfrm>
          <a:prstGeom prst="rect">
            <a:avLst/>
          </a:prstGeom>
          <a:noFill/>
        </p:spPr>
        <p:txBody>
          <a:bodyPr wrap="square" rtlCol="0">
            <a:spAutoFit/>
          </a:bodyPr>
          <a:lstStyle/>
          <a:p>
            <a:r>
              <a:rPr lang="zh-CN" altLang="en-US" sz="7200" b="1" spc="600" dirty="0">
                <a:solidFill>
                  <a:schemeClr val="accent1">
                    <a:lumMod val="75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异构计算</a:t>
            </a:r>
            <a:endParaRPr lang="zh-CN" altLang="en-US" sz="7200" b="1" spc="600" dirty="0">
              <a:solidFill>
                <a:schemeClr val="accent1">
                  <a:lumMod val="75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sp>
        <p:nvSpPr>
          <p:cNvPr id="28" name="文本框 27"/>
          <p:cNvSpPr txBox="1"/>
          <p:nvPr/>
        </p:nvSpPr>
        <p:spPr>
          <a:xfrm>
            <a:off x="6858000" y="2065205"/>
            <a:ext cx="4759960" cy="1569660"/>
          </a:xfrm>
          <a:prstGeom prst="rect">
            <a:avLst/>
          </a:prstGeom>
          <a:noFill/>
        </p:spPr>
        <p:txBody>
          <a:bodyPr wrap="square" rtlCol="0">
            <a:spAutoFit/>
          </a:bodyPr>
          <a:lstStyle/>
          <a:p>
            <a:r>
              <a:rPr lang="zh-CN" altLang="en-US" sz="3200" b="1" spc="600" dirty="0">
                <a:solidFill>
                  <a:schemeClr val="accent3">
                    <a:lumMod val="50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不同指令集架构的几种处理器组合在一起进行计算。</a:t>
            </a:r>
            <a:endParaRPr lang="zh-CN" altLang="en-US" sz="3200" b="1" spc="600" dirty="0">
              <a:solidFill>
                <a:schemeClr val="accent3">
                  <a:lumMod val="50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sp>
        <p:nvSpPr>
          <p:cNvPr id="29" name="文本框 28"/>
          <p:cNvSpPr txBox="1"/>
          <p:nvPr/>
        </p:nvSpPr>
        <p:spPr>
          <a:xfrm>
            <a:off x="6858000" y="4465927"/>
            <a:ext cx="4759960" cy="1077218"/>
          </a:xfrm>
          <a:prstGeom prst="rect">
            <a:avLst/>
          </a:prstGeom>
          <a:noFill/>
        </p:spPr>
        <p:txBody>
          <a:bodyPr wrap="square" rtlCol="0">
            <a:spAutoFit/>
          </a:bodyPr>
          <a:lstStyle/>
          <a:p>
            <a:r>
              <a:rPr lang="zh-CN" altLang="en-US" sz="3200" b="1" spc="600" dirty="0">
                <a:solidFill>
                  <a:schemeClr val="accent3">
                    <a:lumMod val="50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精髓在于使用专业的硬件做专业的事情。</a:t>
            </a:r>
            <a:endParaRPr lang="zh-CN" altLang="en-US" sz="3200" b="1" spc="600" dirty="0">
              <a:solidFill>
                <a:schemeClr val="accent3">
                  <a:lumMod val="50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pic>
        <p:nvPicPr>
          <p:cNvPr id="307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0452" y="2185391"/>
            <a:ext cx="4393432" cy="2014072"/>
          </a:xfrm>
          <a:prstGeom prst="rect">
            <a:avLst/>
          </a:prstGeom>
          <a:noFill/>
          <a:extLst>
            <a:ext uri="{909E8E84-426E-40DD-AFC4-6F175D3DCCD1}">
              <a14:hiddenFill xmlns:a14="http://schemas.microsoft.com/office/drawing/2010/main">
                <a:solidFill>
                  <a:srgbClr val="FFFFFF"/>
                </a:solidFill>
              </a14:hiddenFill>
            </a:ext>
          </a:extLst>
        </p:spPr>
      </p:pic>
      <p:sp>
        <p:nvSpPr>
          <p:cNvPr id="30" name="文本框 29"/>
          <p:cNvSpPr txBox="1"/>
          <p:nvPr/>
        </p:nvSpPr>
        <p:spPr>
          <a:xfrm>
            <a:off x="-1280718" y="5351345"/>
            <a:ext cx="6094520" cy="461665"/>
          </a:xfrm>
          <a:prstGeom prst="rect">
            <a:avLst/>
          </a:prstGeom>
          <a:noFill/>
        </p:spPr>
        <p:txBody>
          <a:bodyPr wrap="square">
            <a:spAutoFit/>
          </a:bodyPr>
          <a:lstStyle/>
          <a:p>
            <a:pPr algn="r"/>
            <a:r>
              <a:rPr lang="zh-CN" altLang="en-US" sz="2400" b="1" dirty="0">
                <a:solidFill>
                  <a:schemeClr val="bg1"/>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更高的性能，更少的功耗</a:t>
            </a:r>
            <a:endParaRPr lang="zh-CN" altLang="en-US" sz="2400" b="1" dirty="0">
              <a:solidFill>
                <a:schemeClr val="bg1"/>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sp>
        <p:nvSpPr>
          <p:cNvPr id="4" name="文本框 3"/>
          <p:cNvSpPr txBox="1"/>
          <p:nvPr/>
        </p:nvSpPr>
        <p:spPr>
          <a:xfrm>
            <a:off x="952603" y="1453865"/>
            <a:ext cx="3861199" cy="461665"/>
          </a:xfrm>
          <a:prstGeom prst="rect">
            <a:avLst/>
          </a:prstGeom>
          <a:noFill/>
        </p:spPr>
        <p:txBody>
          <a:bodyPr wrap="square" rtlCol="0">
            <a:spAutoFit/>
          </a:bodyPr>
          <a:lstStyle/>
          <a:p>
            <a:r>
              <a:rPr lang="en-US" altLang="zh-CN" sz="2400" b="1" dirty="0">
                <a:solidFill>
                  <a:schemeClr val="bg1"/>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GPU</a:t>
            </a:r>
            <a:r>
              <a:rPr lang="zh-CN" altLang="en-US" sz="2400" b="1" dirty="0">
                <a:solidFill>
                  <a:schemeClr val="bg1"/>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侧重专用的图像处理</a:t>
            </a:r>
            <a:endParaRPr lang="zh-CN" altLang="en-US" sz="2400" b="1" dirty="0">
              <a:solidFill>
                <a:schemeClr val="bg1"/>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250"/>
                                        <p:tgtEl>
                                          <p:spTgt spid="16"/>
                                        </p:tgtEl>
                                      </p:cBhvr>
                                    </p:animEffect>
                                  </p:childTnLst>
                                </p:cTn>
                              </p:par>
                            </p:childTnLst>
                          </p:cTn>
                        </p:par>
                        <p:par>
                          <p:cTn id="8" fill="hold">
                            <p:stCondLst>
                              <p:cond delay="1500"/>
                            </p:stCondLst>
                            <p:childTnLst>
                              <p:par>
                                <p:cTn id="9" presetID="22" presetClass="entr" presetSubtype="8"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wipe(left)">
                                      <p:cBhvr>
                                        <p:cTn id="11" dur="1000"/>
                                        <p:tgtEl>
                                          <p:spTgt spid="27"/>
                                        </p:tgtEl>
                                      </p:cBhvr>
                                    </p:animEffect>
                                  </p:childTnLst>
                                </p:cTn>
                              </p:par>
                            </p:childTnLst>
                          </p:cTn>
                        </p:par>
                        <p:par>
                          <p:cTn id="12" fill="hold">
                            <p:stCondLst>
                              <p:cond delay="2500"/>
                            </p:stCondLst>
                            <p:childTnLst>
                              <p:par>
                                <p:cTn id="13" presetID="22" presetClass="entr" presetSubtype="8" fill="hold" grpId="0"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wipe(left)">
                                      <p:cBhvr>
                                        <p:cTn id="15" dur="1000"/>
                                        <p:tgtEl>
                                          <p:spTgt spid="28"/>
                                        </p:tgtEl>
                                      </p:cBhvr>
                                    </p:animEffect>
                                  </p:childTnLst>
                                </p:cTn>
                              </p:par>
                            </p:childTnLst>
                          </p:cTn>
                        </p:par>
                        <p:par>
                          <p:cTn id="16" fill="hold">
                            <p:stCondLst>
                              <p:cond delay="3500"/>
                            </p:stCondLst>
                            <p:childTnLst>
                              <p:par>
                                <p:cTn id="17" presetID="22" presetClass="entr" presetSubtype="8" fill="hold" grpId="0" nodeType="after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wipe(left)">
                                      <p:cBhvr>
                                        <p:cTn id="19"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83943533-02ec-424e-a2f7-e21ba11e061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0399" y="1130300"/>
            <a:ext cx="10858501" cy="5003800"/>
            <a:chOff x="660399" y="1130300"/>
            <a:chExt cx="10858501" cy="5003800"/>
          </a:xfrm>
        </p:grpSpPr>
        <p:grpSp>
          <p:nvGrpSpPr>
            <p:cNvPr id="16" name="îśľïḑé"/>
            <p:cNvGrpSpPr/>
            <p:nvPr/>
          </p:nvGrpSpPr>
          <p:grpSpPr>
            <a:xfrm>
              <a:off x="4036815" y="1549400"/>
              <a:ext cx="4118370" cy="4165600"/>
              <a:chOff x="3916000" y="1427200"/>
              <a:chExt cx="4360000" cy="4410000"/>
            </a:xfrm>
          </p:grpSpPr>
          <p:sp>
            <p:nvSpPr>
              <p:cNvPr id="40" name="iṥ1íḋé"/>
              <p:cNvSpPr/>
              <p:nvPr/>
            </p:nvSpPr>
            <p:spPr bwMode="auto">
              <a:xfrm rot="4244657">
                <a:off x="4229195" y="1578341"/>
                <a:ext cx="3880032" cy="4213578"/>
              </a:xfrm>
              <a:custGeom>
                <a:avLst/>
                <a:gdLst>
                  <a:gd name="T0" fmla="*/ 661 w 1707"/>
                  <a:gd name="T1" fmla="*/ 275 h 1851"/>
                  <a:gd name="T2" fmla="*/ 1615 w 1707"/>
                  <a:gd name="T3" fmla="*/ 692 h 1851"/>
                  <a:gd name="T4" fmla="*/ 1635 w 1707"/>
                  <a:gd name="T5" fmla="*/ 870 h 1851"/>
                  <a:gd name="T6" fmla="*/ 1655 w 1707"/>
                  <a:gd name="T7" fmla="*/ 1048 h 1851"/>
                  <a:gd name="T8" fmla="*/ 817 w 1707"/>
                  <a:gd name="T9" fmla="*/ 1666 h 1851"/>
                  <a:gd name="T10" fmla="*/ 653 w 1707"/>
                  <a:gd name="T11" fmla="*/ 1594 h 1851"/>
                  <a:gd name="T12" fmla="*/ 489 w 1707"/>
                  <a:gd name="T13" fmla="*/ 1522 h 1851"/>
                  <a:gd name="T14" fmla="*/ 373 w 1707"/>
                  <a:gd name="T15" fmla="*/ 487 h 1851"/>
                  <a:gd name="T16" fmla="*/ 517 w 1707"/>
                  <a:gd name="T17" fmla="*/ 381 h 1851"/>
                  <a:gd name="T18" fmla="*/ 661 w 1707"/>
                  <a:gd name="T19" fmla="*/ 275 h 18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7" h="1851">
                    <a:moveTo>
                      <a:pt x="661" y="275"/>
                    </a:moveTo>
                    <a:cubicBezTo>
                      <a:pt x="1034" y="0"/>
                      <a:pt x="1564" y="232"/>
                      <a:pt x="1615" y="692"/>
                    </a:cubicBezTo>
                    <a:cubicBezTo>
                      <a:pt x="1635" y="870"/>
                      <a:pt x="1635" y="870"/>
                      <a:pt x="1635" y="870"/>
                    </a:cubicBezTo>
                    <a:cubicBezTo>
                      <a:pt x="1655" y="1048"/>
                      <a:pt x="1655" y="1048"/>
                      <a:pt x="1655" y="1048"/>
                    </a:cubicBezTo>
                    <a:cubicBezTo>
                      <a:pt x="1707" y="1508"/>
                      <a:pt x="1241" y="1851"/>
                      <a:pt x="817" y="1666"/>
                    </a:cubicBezTo>
                    <a:cubicBezTo>
                      <a:pt x="653" y="1594"/>
                      <a:pt x="653" y="1594"/>
                      <a:pt x="653" y="1594"/>
                    </a:cubicBezTo>
                    <a:cubicBezTo>
                      <a:pt x="489" y="1522"/>
                      <a:pt x="489" y="1522"/>
                      <a:pt x="489" y="1522"/>
                    </a:cubicBezTo>
                    <a:cubicBezTo>
                      <a:pt x="64" y="1337"/>
                      <a:pt x="0" y="762"/>
                      <a:pt x="373" y="487"/>
                    </a:cubicBezTo>
                    <a:cubicBezTo>
                      <a:pt x="517" y="381"/>
                      <a:pt x="517" y="381"/>
                      <a:pt x="517" y="381"/>
                    </a:cubicBezTo>
                    <a:lnTo>
                      <a:pt x="661" y="275"/>
                    </a:lnTo>
                    <a:close/>
                  </a:path>
                </a:pathLst>
              </a:custGeom>
              <a:solidFill>
                <a:schemeClr val="accent1"/>
              </a:solidFill>
              <a:ln>
                <a:noFill/>
              </a:ln>
            </p:spPr>
            <p:txBody>
              <a:bodyPr vert="horz" wrap="square" lIns="91440" tIns="45720" rIns="91440" bIns="45720" numCol="1" anchor="t" anchorCtr="0" compatLnSpc="1">
                <a:normAutofit/>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id-ID" sz="1800" b="0" i="0" u="none" strike="noStrike" kern="1200" cap="none" spc="0" normalizeH="0" baseline="0" noProof="0" dirty="0">
                  <a:ln>
                    <a:noFill/>
                  </a:ln>
                  <a:solidFill>
                    <a:srgbClr val="000000"/>
                  </a:solidFill>
                  <a:effectLst/>
                  <a:uLnTx/>
                  <a:uFillTx/>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grpSp>
            <p:nvGrpSpPr>
              <p:cNvPr id="41" name="ïşḷidé"/>
              <p:cNvGrpSpPr/>
              <p:nvPr/>
            </p:nvGrpSpPr>
            <p:grpSpPr>
              <a:xfrm>
                <a:off x="3916000" y="1427200"/>
                <a:ext cx="4088947" cy="4410000"/>
                <a:chOff x="3916000" y="1427200"/>
                <a:chExt cx="4088947" cy="4410000"/>
              </a:xfrm>
            </p:grpSpPr>
            <p:sp>
              <p:nvSpPr>
                <p:cNvPr id="42" name="îṣľiḑê"/>
                <p:cNvSpPr/>
                <p:nvPr/>
              </p:nvSpPr>
              <p:spPr bwMode="auto">
                <a:xfrm>
                  <a:off x="3916000" y="1427200"/>
                  <a:ext cx="4060904" cy="4410000"/>
                </a:xfrm>
                <a:custGeom>
                  <a:avLst/>
                  <a:gdLst>
                    <a:gd name="T0" fmla="*/ 661 w 1707"/>
                    <a:gd name="T1" fmla="*/ 275 h 1851"/>
                    <a:gd name="T2" fmla="*/ 1615 w 1707"/>
                    <a:gd name="T3" fmla="*/ 692 h 1851"/>
                    <a:gd name="T4" fmla="*/ 1635 w 1707"/>
                    <a:gd name="T5" fmla="*/ 870 h 1851"/>
                    <a:gd name="T6" fmla="*/ 1655 w 1707"/>
                    <a:gd name="T7" fmla="*/ 1048 h 1851"/>
                    <a:gd name="T8" fmla="*/ 817 w 1707"/>
                    <a:gd name="T9" fmla="*/ 1666 h 1851"/>
                    <a:gd name="T10" fmla="*/ 653 w 1707"/>
                    <a:gd name="T11" fmla="*/ 1594 h 1851"/>
                    <a:gd name="T12" fmla="*/ 489 w 1707"/>
                    <a:gd name="T13" fmla="*/ 1522 h 1851"/>
                    <a:gd name="T14" fmla="*/ 373 w 1707"/>
                    <a:gd name="T15" fmla="*/ 487 h 1851"/>
                    <a:gd name="T16" fmla="*/ 517 w 1707"/>
                    <a:gd name="T17" fmla="*/ 381 h 1851"/>
                    <a:gd name="T18" fmla="*/ 661 w 1707"/>
                    <a:gd name="T19" fmla="*/ 275 h 18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7" h="1851">
                      <a:moveTo>
                        <a:pt x="661" y="275"/>
                      </a:moveTo>
                      <a:cubicBezTo>
                        <a:pt x="1034" y="0"/>
                        <a:pt x="1564" y="232"/>
                        <a:pt x="1615" y="692"/>
                      </a:cubicBezTo>
                      <a:cubicBezTo>
                        <a:pt x="1635" y="870"/>
                        <a:pt x="1635" y="870"/>
                        <a:pt x="1635" y="870"/>
                      </a:cubicBezTo>
                      <a:cubicBezTo>
                        <a:pt x="1655" y="1048"/>
                        <a:pt x="1655" y="1048"/>
                        <a:pt x="1655" y="1048"/>
                      </a:cubicBezTo>
                      <a:cubicBezTo>
                        <a:pt x="1707" y="1508"/>
                        <a:pt x="1241" y="1851"/>
                        <a:pt x="817" y="1666"/>
                      </a:cubicBezTo>
                      <a:cubicBezTo>
                        <a:pt x="653" y="1594"/>
                        <a:pt x="653" y="1594"/>
                        <a:pt x="653" y="1594"/>
                      </a:cubicBezTo>
                      <a:cubicBezTo>
                        <a:pt x="489" y="1522"/>
                        <a:pt x="489" y="1522"/>
                        <a:pt x="489" y="1522"/>
                      </a:cubicBezTo>
                      <a:cubicBezTo>
                        <a:pt x="64" y="1337"/>
                        <a:pt x="0" y="762"/>
                        <a:pt x="373" y="487"/>
                      </a:cubicBezTo>
                      <a:cubicBezTo>
                        <a:pt x="517" y="381"/>
                        <a:pt x="517" y="381"/>
                        <a:pt x="517" y="381"/>
                      </a:cubicBezTo>
                      <a:lnTo>
                        <a:pt x="661" y="275"/>
                      </a:lnTo>
                      <a:close/>
                    </a:path>
                  </a:pathLst>
                </a:custGeom>
                <a:solidFill>
                  <a:schemeClr val="bg1">
                    <a:lumMod val="95000"/>
                  </a:schemeClr>
                </a:solidFill>
                <a:ln>
                  <a:noFill/>
                </a:ln>
              </p:spPr>
              <p:txBody>
                <a:bodyPr vert="horz" wrap="square" lIns="91440" tIns="45720" rIns="91440" bIns="45720" numCol="1" anchor="t" anchorCtr="0" compatLnSpc="1">
                  <a:normAutofit/>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id-ID" sz="1800" b="0" i="0" u="none" strike="noStrike" kern="1200" cap="none" spc="0" normalizeH="0" baseline="0" noProof="0" dirty="0">
                    <a:ln>
                      <a:noFill/>
                    </a:ln>
                    <a:solidFill>
                      <a:srgbClr val="000000"/>
                    </a:solidFill>
                    <a:effectLst/>
                    <a:uLnTx/>
                    <a:uFillTx/>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sp>
              <p:nvSpPr>
                <p:cNvPr id="43" name="ïSliḑè"/>
                <p:cNvSpPr/>
                <p:nvPr/>
              </p:nvSpPr>
              <p:spPr bwMode="auto">
                <a:xfrm>
                  <a:off x="4208984" y="1617025"/>
                  <a:ext cx="3795963" cy="3626091"/>
                </a:xfrm>
                <a:custGeom>
                  <a:avLst/>
                  <a:gdLst>
                    <a:gd name="connsiteX0" fmla="*/ 1898462 w 3795963"/>
                    <a:gd name="connsiteY0" fmla="*/ 0 h 3626091"/>
                    <a:gd name="connsiteX1" fmla="*/ 2576443 w 3795963"/>
                    <a:gd name="connsiteY1" fmla="*/ 298451 h 3626091"/>
                    <a:gd name="connsiteX2" fmla="*/ 3749231 w 3795963"/>
                    <a:gd name="connsiteY2" fmla="*/ 2326246 h 3626091"/>
                    <a:gd name="connsiteX3" fmla="*/ 3751610 w 3795963"/>
                    <a:gd name="connsiteY3" fmla="*/ 2338160 h 3626091"/>
                    <a:gd name="connsiteX4" fmla="*/ 3140237 w 3795963"/>
                    <a:gd name="connsiteY4" fmla="*/ 3498603 h 3626091"/>
                    <a:gd name="connsiteX5" fmla="*/ 3137859 w 3795963"/>
                    <a:gd name="connsiteY5" fmla="*/ 3503368 h 3626091"/>
                    <a:gd name="connsiteX6" fmla="*/ 689991 w 3795963"/>
                    <a:gd name="connsiteY6" fmla="*/ 3512900 h 3626091"/>
                    <a:gd name="connsiteX7" fmla="*/ 687613 w 3795963"/>
                    <a:gd name="connsiteY7" fmla="*/ 3505751 h 3626091"/>
                    <a:gd name="connsiteX8" fmla="*/ 42936 w 3795963"/>
                    <a:gd name="connsiteY8" fmla="*/ 2338160 h 3626091"/>
                    <a:gd name="connsiteX9" fmla="*/ 1220481 w 3795963"/>
                    <a:gd name="connsiteY9" fmla="*/ 298451 h 3626091"/>
                    <a:gd name="connsiteX10" fmla="*/ 1898462 w 3795963"/>
                    <a:gd name="connsiteY10" fmla="*/ 0 h 3626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5963" h="3626091">
                      <a:moveTo>
                        <a:pt x="1898462" y="0"/>
                      </a:moveTo>
                      <a:cubicBezTo>
                        <a:pt x="2147650" y="0"/>
                        <a:pt x="2396837" y="99484"/>
                        <a:pt x="2576443" y="298451"/>
                      </a:cubicBezTo>
                      <a:cubicBezTo>
                        <a:pt x="3068871" y="820292"/>
                        <a:pt x="3523237" y="1642371"/>
                        <a:pt x="3749231" y="2326246"/>
                      </a:cubicBezTo>
                      <a:cubicBezTo>
                        <a:pt x="3749231" y="2331012"/>
                        <a:pt x="3751610" y="2335778"/>
                        <a:pt x="3751610" y="2338160"/>
                      </a:cubicBezTo>
                      <a:cubicBezTo>
                        <a:pt x="3910995" y="2826642"/>
                        <a:pt x="3625529" y="3355632"/>
                        <a:pt x="3140237" y="3498603"/>
                      </a:cubicBezTo>
                      <a:cubicBezTo>
                        <a:pt x="3137859" y="3503368"/>
                        <a:pt x="3137859" y="3503368"/>
                        <a:pt x="3137859" y="3503368"/>
                      </a:cubicBezTo>
                      <a:cubicBezTo>
                        <a:pt x="2436089" y="3672550"/>
                        <a:pt x="1398898" y="3658253"/>
                        <a:pt x="689991" y="3512900"/>
                      </a:cubicBezTo>
                      <a:cubicBezTo>
                        <a:pt x="687613" y="3505751"/>
                        <a:pt x="687613" y="3505751"/>
                        <a:pt x="687613" y="3505751"/>
                      </a:cubicBezTo>
                      <a:cubicBezTo>
                        <a:pt x="183290" y="3377078"/>
                        <a:pt x="-116449" y="2838556"/>
                        <a:pt x="42936" y="2338160"/>
                      </a:cubicBezTo>
                      <a:cubicBezTo>
                        <a:pt x="268930" y="1651903"/>
                        <a:pt x="725674" y="822675"/>
                        <a:pt x="1220481" y="298451"/>
                      </a:cubicBezTo>
                      <a:cubicBezTo>
                        <a:pt x="1400087" y="99484"/>
                        <a:pt x="1649274" y="0"/>
                        <a:pt x="1898462" y="0"/>
                      </a:cubicBezTo>
                      <a:close/>
                    </a:path>
                  </a:pathLst>
                </a:custGeom>
                <a:blipFill>
                  <a:blip r:embed="rId2" cstate="screen"/>
                  <a:stretch>
                    <a:fillRect/>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grpSp>
        </p:grpSp>
        <p:sp>
          <p:nvSpPr>
            <p:cNvPr id="18" name="îṣḻiḍè"/>
            <p:cNvSpPr txBox="1"/>
            <p:nvPr/>
          </p:nvSpPr>
          <p:spPr>
            <a:xfrm>
              <a:off x="660399" y="5034358"/>
              <a:ext cx="4297257" cy="1001963"/>
            </a:xfrm>
            <a:prstGeom prst="rect">
              <a:avLst/>
            </a:prstGeom>
            <a:noFill/>
            <a:ln>
              <a:noFill/>
            </a:ln>
          </p:spPr>
          <p:txBody>
            <a:bodyPr wrap="square" lIns="91440" tIns="45720" rIns="91440" bIns="45720" anchor="t" anchorCtr="0">
              <a:noAutofit/>
            </a:bodyPr>
            <a:lstStyle/>
            <a:p>
              <a:pPr lvl="0" defTabSz="913765">
                <a:lnSpc>
                  <a:spcPct val="150000"/>
                </a:lnSpc>
                <a:buSzPct val="25000"/>
                <a:defRPr/>
              </a:pPr>
              <a:r>
                <a:rPr lang="zh-CN" altLang="en-US" sz="3200" b="0" i="0" dirty="0">
                  <a:solidFill>
                    <a:srgbClr val="333333"/>
                  </a:solidFill>
                  <a:effectLst/>
                  <a:latin typeface="-apple-system-font"/>
                </a:rPr>
                <a:t>三个方面已经接近极限</a:t>
              </a:r>
              <a:endParaRPr lang="zh-CN" altLang="en-US" sz="3200" spc="300" dirty="0">
                <a:solidFill>
                  <a:schemeClr val="accent2">
                    <a:lumMod val="50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grpSp>
          <p:nvGrpSpPr>
            <p:cNvPr id="19" name="iṩ1iḓê"/>
            <p:cNvGrpSpPr/>
            <p:nvPr/>
          </p:nvGrpSpPr>
          <p:grpSpPr>
            <a:xfrm>
              <a:off x="8084974" y="1130300"/>
              <a:ext cx="3433926" cy="1308761"/>
              <a:chOff x="8084974" y="1130300"/>
              <a:chExt cx="3433926" cy="1308761"/>
            </a:xfrm>
          </p:grpSpPr>
          <p:grpSp>
            <p:nvGrpSpPr>
              <p:cNvPr id="34" name="îS1iḓè"/>
              <p:cNvGrpSpPr/>
              <p:nvPr/>
            </p:nvGrpSpPr>
            <p:grpSpPr>
              <a:xfrm>
                <a:off x="8084974" y="1266924"/>
                <a:ext cx="836894" cy="836894"/>
                <a:chOff x="7043444" y="1148015"/>
                <a:chExt cx="1297072" cy="1297072"/>
              </a:xfrm>
            </p:grpSpPr>
            <p:sp>
              <p:nvSpPr>
                <p:cNvPr id="38" name="ïṧḷïďê"/>
                <p:cNvSpPr/>
                <p:nvPr/>
              </p:nvSpPr>
              <p:spPr bwMode="auto">
                <a:xfrm>
                  <a:off x="7043444" y="1148015"/>
                  <a:ext cx="1297072" cy="1297072"/>
                </a:xfrm>
                <a:prstGeom prst="ellipse">
                  <a:avLst/>
                </a:prstGeom>
                <a:solidFill>
                  <a:schemeClr val="tx1">
                    <a:lumMod val="50000"/>
                    <a:lumOff val="50000"/>
                  </a:schemeClr>
                </a:solidFill>
                <a:ln>
                  <a:solidFill>
                    <a:schemeClr val="bg1">
                      <a:lumMod val="95000"/>
                    </a:schemeClr>
                  </a:solidFill>
                </a:ln>
                <a:effectLst>
                  <a:outerShdw sx="110000" sy="110000" algn="ctr" rotWithShape="0">
                    <a:schemeClr val="tx2">
                      <a:alpha val="19000"/>
                    </a:schemeClr>
                  </a:outerShdw>
                </a:effectLst>
              </p:spPr>
              <p:txBody>
                <a:bodyPr wrap="square" lIns="91440" tIns="45720" rIns="91440" bIns="4572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a:ln>
                      <a:noFill/>
                    </a:ln>
                    <a:solidFill>
                      <a:srgbClr val="000000"/>
                    </a:solidFill>
                    <a:effectLst/>
                    <a:uLnTx/>
                    <a:uFillTx/>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sp>
              <p:nvSpPr>
                <p:cNvPr id="39" name="isļîďe"/>
                <p:cNvSpPr/>
                <p:nvPr/>
              </p:nvSpPr>
              <p:spPr bwMode="auto">
                <a:xfrm>
                  <a:off x="7442649" y="1556431"/>
                  <a:ext cx="498672" cy="480241"/>
                </a:xfrm>
                <a:custGeom>
                  <a:avLst/>
                  <a:gdLst>
                    <a:gd name="connsiteX0" fmla="*/ 216243 w 609050"/>
                    <a:gd name="connsiteY0" fmla="*/ 412730 h 586540"/>
                    <a:gd name="connsiteX1" fmla="*/ 216243 w 609050"/>
                    <a:gd name="connsiteY1" fmla="*/ 456594 h 586540"/>
                    <a:gd name="connsiteX2" fmla="*/ 293953 w 609050"/>
                    <a:gd name="connsiteY2" fmla="*/ 456594 h 586540"/>
                    <a:gd name="connsiteX3" fmla="*/ 293953 w 609050"/>
                    <a:gd name="connsiteY3" fmla="*/ 412730 h 586540"/>
                    <a:gd name="connsiteX4" fmla="*/ 69884 w 609050"/>
                    <a:gd name="connsiteY4" fmla="*/ 412730 h 586540"/>
                    <a:gd name="connsiteX5" fmla="*/ 69884 w 609050"/>
                    <a:gd name="connsiteY5" fmla="*/ 456594 h 586540"/>
                    <a:gd name="connsiteX6" fmla="*/ 147595 w 609050"/>
                    <a:gd name="connsiteY6" fmla="*/ 456594 h 586540"/>
                    <a:gd name="connsiteX7" fmla="*/ 147595 w 609050"/>
                    <a:gd name="connsiteY7" fmla="*/ 412730 h 586540"/>
                    <a:gd name="connsiteX8" fmla="*/ 460769 w 609050"/>
                    <a:gd name="connsiteY8" fmla="*/ 376268 h 586540"/>
                    <a:gd name="connsiteX9" fmla="*/ 460769 w 609050"/>
                    <a:gd name="connsiteY9" fmla="*/ 414786 h 586540"/>
                    <a:gd name="connsiteX10" fmla="*/ 555916 w 609050"/>
                    <a:gd name="connsiteY10" fmla="*/ 414786 h 586540"/>
                    <a:gd name="connsiteX11" fmla="*/ 555916 w 609050"/>
                    <a:gd name="connsiteY11" fmla="*/ 376268 h 586540"/>
                    <a:gd name="connsiteX12" fmla="*/ 216243 w 609050"/>
                    <a:gd name="connsiteY12" fmla="*/ 339670 h 586540"/>
                    <a:gd name="connsiteX13" fmla="*/ 216243 w 609050"/>
                    <a:gd name="connsiteY13" fmla="*/ 383533 h 586540"/>
                    <a:gd name="connsiteX14" fmla="*/ 293953 w 609050"/>
                    <a:gd name="connsiteY14" fmla="*/ 383533 h 586540"/>
                    <a:gd name="connsiteX15" fmla="*/ 293953 w 609050"/>
                    <a:gd name="connsiteY15" fmla="*/ 339670 h 586540"/>
                    <a:gd name="connsiteX16" fmla="*/ 69884 w 609050"/>
                    <a:gd name="connsiteY16" fmla="*/ 339670 h 586540"/>
                    <a:gd name="connsiteX17" fmla="*/ 69884 w 609050"/>
                    <a:gd name="connsiteY17" fmla="*/ 383533 h 586540"/>
                    <a:gd name="connsiteX18" fmla="*/ 147595 w 609050"/>
                    <a:gd name="connsiteY18" fmla="*/ 383533 h 586540"/>
                    <a:gd name="connsiteX19" fmla="*/ 147595 w 609050"/>
                    <a:gd name="connsiteY19" fmla="*/ 339670 h 586540"/>
                    <a:gd name="connsiteX20" fmla="*/ 460769 w 609050"/>
                    <a:gd name="connsiteY20" fmla="*/ 303071 h 586540"/>
                    <a:gd name="connsiteX21" fmla="*/ 460769 w 609050"/>
                    <a:gd name="connsiteY21" fmla="*/ 341726 h 586540"/>
                    <a:gd name="connsiteX22" fmla="*/ 555916 w 609050"/>
                    <a:gd name="connsiteY22" fmla="*/ 341726 h 586540"/>
                    <a:gd name="connsiteX23" fmla="*/ 555916 w 609050"/>
                    <a:gd name="connsiteY23" fmla="*/ 303071 h 586540"/>
                    <a:gd name="connsiteX24" fmla="*/ 216243 w 609050"/>
                    <a:gd name="connsiteY24" fmla="*/ 266609 h 586540"/>
                    <a:gd name="connsiteX25" fmla="*/ 216243 w 609050"/>
                    <a:gd name="connsiteY25" fmla="*/ 310473 h 586540"/>
                    <a:gd name="connsiteX26" fmla="*/ 293953 w 609050"/>
                    <a:gd name="connsiteY26" fmla="*/ 310473 h 586540"/>
                    <a:gd name="connsiteX27" fmla="*/ 293953 w 609050"/>
                    <a:gd name="connsiteY27" fmla="*/ 266609 h 586540"/>
                    <a:gd name="connsiteX28" fmla="*/ 69884 w 609050"/>
                    <a:gd name="connsiteY28" fmla="*/ 266609 h 586540"/>
                    <a:gd name="connsiteX29" fmla="*/ 69884 w 609050"/>
                    <a:gd name="connsiteY29" fmla="*/ 310473 h 586540"/>
                    <a:gd name="connsiteX30" fmla="*/ 147595 w 609050"/>
                    <a:gd name="connsiteY30" fmla="*/ 310473 h 586540"/>
                    <a:gd name="connsiteX31" fmla="*/ 147595 w 609050"/>
                    <a:gd name="connsiteY31" fmla="*/ 266609 h 586540"/>
                    <a:gd name="connsiteX32" fmla="*/ 460769 w 609050"/>
                    <a:gd name="connsiteY32" fmla="*/ 230010 h 586540"/>
                    <a:gd name="connsiteX33" fmla="*/ 460769 w 609050"/>
                    <a:gd name="connsiteY33" fmla="*/ 268528 h 586540"/>
                    <a:gd name="connsiteX34" fmla="*/ 555916 w 609050"/>
                    <a:gd name="connsiteY34" fmla="*/ 268528 h 586540"/>
                    <a:gd name="connsiteX35" fmla="*/ 555916 w 609050"/>
                    <a:gd name="connsiteY35" fmla="*/ 230010 h 586540"/>
                    <a:gd name="connsiteX36" fmla="*/ 216243 w 609050"/>
                    <a:gd name="connsiteY36" fmla="*/ 193549 h 586540"/>
                    <a:gd name="connsiteX37" fmla="*/ 216243 w 609050"/>
                    <a:gd name="connsiteY37" fmla="*/ 237412 h 586540"/>
                    <a:gd name="connsiteX38" fmla="*/ 293953 w 609050"/>
                    <a:gd name="connsiteY38" fmla="*/ 237412 h 586540"/>
                    <a:gd name="connsiteX39" fmla="*/ 293953 w 609050"/>
                    <a:gd name="connsiteY39" fmla="*/ 193549 h 586540"/>
                    <a:gd name="connsiteX40" fmla="*/ 69884 w 609050"/>
                    <a:gd name="connsiteY40" fmla="*/ 193549 h 586540"/>
                    <a:gd name="connsiteX41" fmla="*/ 69884 w 609050"/>
                    <a:gd name="connsiteY41" fmla="*/ 237412 h 586540"/>
                    <a:gd name="connsiteX42" fmla="*/ 147595 w 609050"/>
                    <a:gd name="connsiteY42" fmla="*/ 237412 h 586540"/>
                    <a:gd name="connsiteX43" fmla="*/ 147595 w 609050"/>
                    <a:gd name="connsiteY43" fmla="*/ 193549 h 586540"/>
                    <a:gd name="connsiteX44" fmla="*/ 460769 w 609050"/>
                    <a:gd name="connsiteY44" fmla="*/ 156950 h 586540"/>
                    <a:gd name="connsiteX45" fmla="*/ 460769 w 609050"/>
                    <a:gd name="connsiteY45" fmla="*/ 195468 h 586540"/>
                    <a:gd name="connsiteX46" fmla="*/ 555916 w 609050"/>
                    <a:gd name="connsiteY46" fmla="*/ 195468 h 586540"/>
                    <a:gd name="connsiteX47" fmla="*/ 555916 w 609050"/>
                    <a:gd name="connsiteY47" fmla="*/ 156950 h 586540"/>
                    <a:gd name="connsiteX48" fmla="*/ 192926 w 609050"/>
                    <a:gd name="connsiteY48" fmla="*/ 96251 h 586540"/>
                    <a:gd name="connsiteX49" fmla="*/ 361366 w 609050"/>
                    <a:gd name="connsiteY49" fmla="*/ 96251 h 586540"/>
                    <a:gd name="connsiteX50" fmla="*/ 361366 w 609050"/>
                    <a:gd name="connsiteY50" fmla="*/ 114880 h 586540"/>
                    <a:gd name="connsiteX51" fmla="*/ 192926 w 609050"/>
                    <a:gd name="connsiteY51" fmla="*/ 114880 h 586540"/>
                    <a:gd name="connsiteX52" fmla="*/ 192926 w 609050"/>
                    <a:gd name="connsiteY52" fmla="*/ 49819 h 586540"/>
                    <a:gd name="connsiteX53" fmla="*/ 361366 w 609050"/>
                    <a:gd name="connsiteY53" fmla="*/ 49819 h 586540"/>
                    <a:gd name="connsiteX54" fmla="*/ 361366 w 609050"/>
                    <a:gd name="connsiteY54" fmla="*/ 68307 h 586540"/>
                    <a:gd name="connsiteX55" fmla="*/ 192926 w 609050"/>
                    <a:gd name="connsiteY55" fmla="*/ 68307 h 586540"/>
                    <a:gd name="connsiteX56" fmla="*/ 166130 w 609050"/>
                    <a:gd name="connsiteY56" fmla="*/ 25222 h 586540"/>
                    <a:gd name="connsiteX57" fmla="*/ 166130 w 609050"/>
                    <a:gd name="connsiteY57" fmla="*/ 155716 h 586540"/>
                    <a:gd name="connsiteX58" fmla="*/ 338987 w 609050"/>
                    <a:gd name="connsiteY58" fmla="*/ 155716 h 586540"/>
                    <a:gd name="connsiteX59" fmla="*/ 338987 w 609050"/>
                    <a:gd name="connsiteY59" fmla="*/ 341040 h 586540"/>
                    <a:gd name="connsiteX60" fmla="*/ 338987 w 609050"/>
                    <a:gd name="connsiteY60" fmla="*/ 531710 h 586540"/>
                    <a:gd name="connsiteX61" fmla="*/ 366721 w 609050"/>
                    <a:gd name="connsiteY61" fmla="*/ 531710 h 586540"/>
                    <a:gd name="connsiteX62" fmla="*/ 366721 w 609050"/>
                    <a:gd name="connsiteY62" fmla="*/ 341040 h 586540"/>
                    <a:gd name="connsiteX63" fmla="*/ 366721 w 609050"/>
                    <a:gd name="connsiteY63" fmla="*/ 155305 h 586540"/>
                    <a:gd name="connsiteX64" fmla="*/ 388002 w 609050"/>
                    <a:gd name="connsiteY64" fmla="*/ 143517 h 586540"/>
                    <a:gd name="connsiteX65" fmla="*/ 388002 w 609050"/>
                    <a:gd name="connsiteY65" fmla="*/ 25222 h 586540"/>
                    <a:gd name="connsiteX66" fmla="*/ 140867 w 609050"/>
                    <a:gd name="connsiteY66" fmla="*/ 0 h 586540"/>
                    <a:gd name="connsiteX67" fmla="*/ 413402 w 609050"/>
                    <a:gd name="connsiteY67" fmla="*/ 0 h 586540"/>
                    <a:gd name="connsiteX68" fmla="*/ 413402 w 609050"/>
                    <a:gd name="connsiteY68" fmla="*/ 129398 h 586540"/>
                    <a:gd name="connsiteX69" fmla="*/ 432486 w 609050"/>
                    <a:gd name="connsiteY69" fmla="*/ 118843 h 586540"/>
                    <a:gd name="connsiteX70" fmla="*/ 584199 w 609050"/>
                    <a:gd name="connsiteY70" fmla="*/ 118843 h 586540"/>
                    <a:gd name="connsiteX71" fmla="*/ 584199 w 609050"/>
                    <a:gd name="connsiteY71" fmla="*/ 531710 h 586540"/>
                    <a:gd name="connsiteX72" fmla="*/ 609050 w 609050"/>
                    <a:gd name="connsiteY72" fmla="*/ 531710 h 586540"/>
                    <a:gd name="connsiteX73" fmla="*/ 609050 w 609050"/>
                    <a:gd name="connsiteY73" fmla="*/ 586540 h 586540"/>
                    <a:gd name="connsiteX74" fmla="*/ 0 w 609050"/>
                    <a:gd name="connsiteY74" fmla="*/ 586540 h 586540"/>
                    <a:gd name="connsiteX75" fmla="*/ 0 w 609050"/>
                    <a:gd name="connsiteY75" fmla="*/ 531710 h 586540"/>
                    <a:gd name="connsiteX76" fmla="*/ 24851 w 609050"/>
                    <a:gd name="connsiteY76" fmla="*/ 531710 h 586540"/>
                    <a:gd name="connsiteX77" fmla="*/ 24851 w 609050"/>
                    <a:gd name="connsiteY77" fmla="*/ 155716 h 586540"/>
                    <a:gd name="connsiteX78" fmla="*/ 140867 w 609050"/>
                    <a:gd name="connsiteY78" fmla="*/ 155716 h 586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609050" h="586540">
                      <a:moveTo>
                        <a:pt x="216243" y="412730"/>
                      </a:moveTo>
                      <a:lnTo>
                        <a:pt x="216243" y="456594"/>
                      </a:lnTo>
                      <a:lnTo>
                        <a:pt x="293953" y="456594"/>
                      </a:lnTo>
                      <a:lnTo>
                        <a:pt x="293953" y="412730"/>
                      </a:lnTo>
                      <a:close/>
                      <a:moveTo>
                        <a:pt x="69884" y="412730"/>
                      </a:moveTo>
                      <a:lnTo>
                        <a:pt x="69884" y="456594"/>
                      </a:lnTo>
                      <a:lnTo>
                        <a:pt x="147595" y="456594"/>
                      </a:lnTo>
                      <a:lnTo>
                        <a:pt x="147595" y="412730"/>
                      </a:lnTo>
                      <a:close/>
                      <a:moveTo>
                        <a:pt x="460769" y="376268"/>
                      </a:moveTo>
                      <a:lnTo>
                        <a:pt x="460769" y="414786"/>
                      </a:lnTo>
                      <a:lnTo>
                        <a:pt x="555916" y="414786"/>
                      </a:lnTo>
                      <a:lnTo>
                        <a:pt x="555916" y="376268"/>
                      </a:lnTo>
                      <a:close/>
                      <a:moveTo>
                        <a:pt x="216243" y="339670"/>
                      </a:moveTo>
                      <a:lnTo>
                        <a:pt x="216243" y="383533"/>
                      </a:lnTo>
                      <a:lnTo>
                        <a:pt x="293953" y="383533"/>
                      </a:lnTo>
                      <a:lnTo>
                        <a:pt x="293953" y="339670"/>
                      </a:lnTo>
                      <a:close/>
                      <a:moveTo>
                        <a:pt x="69884" y="339670"/>
                      </a:moveTo>
                      <a:lnTo>
                        <a:pt x="69884" y="383533"/>
                      </a:lnTo>
                      <a:lnTo>
                        <a:pt x="147595" y="383533"/>
                      </a:lnTo>
                      <a:lnTo>
                        <a:pt x="147595" y="339670"/>
                      </a:lnTo>
                      <a:close/>
                      <a:moveTo>
                        <a:pt x="460769" y="303071"/>
                      </a:moveTo>
                      <a:lnTo>
                        <a:pt x="460769" y="341726"/>
                      </a:lnTo>
                      <a:lnTo>
                        <a:pt x="555916" y="341726"/>
                      </a:lnTo>
                      <a:lnTo>
                        <a:pt x="555916" y="303071"/>
                      </a:lnTo>
                      <a:close/>
                      <a:moveTo>
                        <a:pt x="216243" y="266609"/>
                      </a:moveTo>
                      <a:lnTo>
                        <a:pt x="216243" y="310473"/>
                      </a:lnTo>
                      <a:lnTo>
                        <a:pt x="293953" y="310473"/>
                      </a:lnTo>
                      <a:lnTo>
                        <a:pt x="293953" y="266609"/>
                      </a:lnTo>
                      <a:close/>
                      <a:moveTo>
                        <a:pt x="69884" y="266609"/>
                      </a:moveTo>
                      <a:lnTo>
                        <a:pt x="69884" y="310473"/>
                      </a:lnTo>
                      <a:lnTo>
                        <a:pt x="147595" y="310473"/>
                      </a:lnTo>
                      <a:lnTo>
                        <a:pt x="147595" y="266609"/>
                      </a:lnTo>
                      <a:close/>
                      <a:moveTo>
                        <a:pt x="460769" y="230010"/>
                      </a:moveTo>
                      <a:lnTo>
                        <a:pt x="460769" y="268528"/>
                      </a:lnTo>
                      <a:lnTo>
                        <a:pt x="555916" y="268528"/>
                      </a:lnTo>
                      <a:lnTo>
                        <a:pt x="555916" y="230010"/>
                      </a:lnTo>
                      <a:close/>
                      <a:moveTo>
                        <a:pt x="216243" y="193549"/>
                      </a:moveTo>
                      <a:lnTo>
                        <a:pt x="216243" y="237412"/>
                      </a:lnTo>
                      <a:lnTo>
                        <a:pt x="293953" y="237412"/>
                      </a:lnTo>
                      <a:lnTo>
                        <a:pt x="293953" y="193549"/>
                      </a:lnTo>
                      <a:close/>
                      <a:moveTo>
                        <a:pt x="69884" y="193549"/>
                      </a:moveTo>
                      <a:lnTo>
                        <a:pt x="69884" y="237412"/>
                      </a:lnTo>
                      <a:lnTo>
                        <a:pt x="147595" y="237412"/>
                      </a:lnTo>
                      <a:lnTo>
                        <a:pt x="147595" y="193549"/>
                      </a:lnTo>
                      <a:close/>
                      <a:moveTo>
                        <a:pt x="460769" y="156950"/>
                      </a:moveTo>
                      <a:lnTo>
                        <a:pt x="460769" y="195468"/>
                      </a:lnTo>
                      <a:lnTo>
                        <a:pt x="555916" y="195468"/>
                      </a:lnTo>
                      <a:lnTo>
                        <a:pt x="555916" y="156950"/>
                      </a:lnTo>
                      <a:close/>
                      <a:moveTo>
                        <a:pt x="192926" y="96251"/>
                      </a:moveTo>
                      <a:lnTo>
                        <a:pt x="361366" y="96251"/>
                      </a:lnTo>
                      <a:lnTo>
                        <a:pt x="361366" y="114880"/>
                      </a:lnTo>
                      <a:lnTo>
                        <a:pt x="192926" y="114880"/>
                      </a:lnTo>
                      <a:close/>
                      <a:moveTo>
                        <a:pt x="192926" y="49819"/>
                      </a:moveTo>
                      <a:lnTo>
                        <a:pt x="361366" y="49819"/>
                      </a:lnTo>
                      <a:lnTo>
                        <a:pt x="361366" y="68307"/>
                      </a:lnTo>
                      <a:lnTo>
                        <a:pt x="192926" y="68307"/>
                      </a:lnTo>
                      <a:close/>
                      <a:moveTo>
                        <a:pt x="166130" y="25222"/>
                      </a:moveTo>
                      <a:lnTo>
                        <a:pt x="166130" y="155716"/>
                      </a:lnTo>
                      <a:lnTo>
                        <a:pt x="338987" y="155716"/>
                      </a:lnTo>
                      <a:lnTo>
                        <a:pt x="338987" y="341040"/>
                      </a:lnTo>
                      <a:lnTo>
                        <a:pt x="338987" y="531710"/>
                      </a:lnTo>
                      <a:lnTo>
                        <a:pt x="366721" y="531710"/>
                      </a:lnTo>
                      <a:lnTo>
                        <a:pt x="366721" y="341040"/>
                      </a:lnTo>
                      <a:lnTo>
                        <a:pt x="366721" y="155305"/>
                      </a:lnTo>
                      <a:lnTo>
                        <a:pt x="388002" y="143517"/>
                      </a:lnTo>
                      <a:lnTo>
                        <a:pt x="388002" y="25222"/>
                      </a:lnTo>
                      <a:close/>
                      <a:moveTo>
                        <a:pt x="140867" y="0"/>
                      </a:moveTo>
                      <a:lnTo>
                        <a:pt x="413402" y="0"/>
                      </a:lnTo>
                      <a:lnTo>
                        <a:pt x="413402" y="129398"/>
                      </a:lnTo>
                      <a:lnTo>
                        <a:pt x="432486" y="118843"/>
                      </a:lnTo>
                      <a:lnTo>
                        <a:pt x="584199" y="118843"/>
                      </a:lnTo>
                      <a:lnTo>
                        <a:pt x="584199" y="531710"/>
                      </a:lnTo>
                      <a:lnTo>
                        <a:pt x="609050" y="531710"/>
                      </a:lnTo>
                      <a:lnTo>
                        <a:pt x="609050" y="586540"/>
                      </a:lnTo>
                      <a:lnTo>
                        <a:pt x="0" y="586540"/>
                      </a:lnTo>
                      <a:lnTo>
                        <a:pt x="0" y="531710"/>
                      </a:lnTo>
                      <a:lnTo>
                        <a:pt x="24851" y="531710"/>
                      </a:lnTo>
                      <a:lnTo>
                        <a:pt x="24851" y="155716"/>
                      </a:lnTo>
                      <a:lnTo>
                        <a:pt x="140867" y="155716"/>
                      </a:lnTo>
                      <a:close/>
                    </a:path>
                  </a:pathLst>
                </a:custGeom>
                <a:solidFill>
                  <a:schemeClr val="bg1"/>
                </a:solidFill>
                <a:ln>
                  <a:noFill/>
                </a:ln>
              </p:spPr>
              <p:txBody>
                <a:bodyPr wrap="square" lIns="91440" tIns="45720" rIns="91440" bIns="45720">
                  <a:normAutofit fontScale="92500" lnSpcReduction="20000"/>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grpSp>
          <p:grpSp>
            <p:nvGrpSpPr>
              <p:cNvPr id="35" name="išḻídê"/>
              <p:cNvGrpSpPr/>
              <p:nvPr/>
            </p:nvGrpSpPr>
            <p:grpSpPr>
              <a:xfrm>
                <a:off x="9131300" y="1130300"/>
                <a:ext cx="2387600" cy="1308761"/>
                <a:chOff x="673099" y="2252632"/>
                <a:chExt cx="3589337" cy="1308761"/>
              </a:xfrm>
            </p:grpSpPr>
            <p:sp>
              <p:nvSpPr>
                <p:cNvPr id="36" name="iṥḻiḋé"/>
                <p:cNvSpPr txBox="1"/>
                <p:nvPr/>
              </p:nvSpPr>
              <p:spPr bwMode="auto">
                <a:xfrm>
                  <a:off x="673099" y="2252632"/>
                  <a:ext cx="3589337"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marR="0" lvl="0" indent="0" algn="l" defTabSz="913765"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锐字工房云字库细圆GBK" panose="02010604000000000000" pitchFamily="2" charset="-122"/>
                      <a:ea typeface="锐字工房云字库细圆GBK" panose="02010604000000000000" pitchFamily="2" charset="-122"/>
                      <a:sym typeface="Segoe Script" panose="030B0504020000000003" pitchFamily="66" charset="0"/>
                    </a:rPr>
                    <a:t>单核指令并行度</a:t>
                  </a:r>
                  <a:endParaRPr kumimoji="0" lang="en-US" altLang="zh-CN" sz="2400" b="1" i="0" u="none" strike="noStrike" kern="1200" cap="none" spc="0" normalizeH="0" baseline="0" noProof="0" dirty="0">
                    <a:ln>
                      <a:noFill/>
                    </a:ln>
                    <a:solidFill>
                      <a:srgbClr val="000000"/>
                    </a:solidFill>
                    <a:effectLst/>
                    <a:uLnTx/>
                    <a:uFillTx/>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sp>
              <p:nvSpPr>
                <p:cNvPr id="37" name="îṡlíḑé"/>
                <p:cNvSpPr/>
                <p:nvPr/>
              </p:nvSpPr>
              <p:spPr bwMode="auto">
                <a:xfrm>
                  <a:off x="673099" y="2694438"/>
                  <a:ext cx="3589337" cy="86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marR="0" lvl="0" indent="-171450" algn="l" defTabSz="913765"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en-US" altLang="zh-CN" sz="1400" b="0" i="0" u="none" strike="noStrike" kern="1200" cap="none" spc="0" normalizeH="0" baseline="0" noProof="0" dirty="0">
                      <a:ln>
                        <a:noFill/>
                      </a:ln>
                      <a:solidFill>
                        <a:srgbClr val="000000"/>
                      </a:solidFill>
                      <a:effectLst/>
                      <a:uLnTx/>
                      <a:uFillTx/>
                      <a:latin typeface="锐字工房云字库细圆GBK" panose="02010604000000000000" pitchFamily="2" charset="-122"/>
                      <a:ea typeface="锐字工房云字库细圆GBK" panose="02010604000000000000" pitchFamily="2" charset="-122"/>
                      <a:sym typeface="Segoe Script" panose="030B0504020000000003" pitchFamily="66" charset="0"/>
                    </a:rPr>
                    <a:t>4</a:t>
                  </a:r>
                  <a:r>
                    <a:rPr lang="en-US" altLang="zh-CN" sz="1400" dirty="0">
                      <a:solidFill>
                        <a:srgbClr val="000000"/>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~10</a:t>
                  </a:r>
                  <a:r>
                    <a:rPr lang="zh-CN" altLang="en-US" sz="1400" dirty="0">
                      <a:solidFill>
                        <a:srgbClr val="000000"/>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周期完成</a:t>
                  </a:r>
                  <a:r>
                    <a:rPr lang="en-US" altLang="zh-CN" sz="1400" dirty="0">
                      <a:solidFill>
                        <a:srgbClr val="000000"/>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1</a:t>
                  </a:r>
                  <a:r>
                    <a:rPr lang="zh-CN" altLang="en-US" sz="1400" dirty="0">
                      <a:solidFill>
                        <a:srgbClr val="000000"/>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条指令</a:t>
                  </a:r>
                  <a:endParaRPr lang="en-US" altLang="zh-CN" sz="1400" dirty="0">
                    <a:solidFill>
                      <a:srgbClr val="000000"/>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a:p>
                  <a:pPr marL="171450" marR="0" lvl="0" indent="-171450" algn="l" defTabSz="913765"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400" b="0" i="0" u="none" strike="noStrike" kern="1200" cap="none" spc="0" normalizeH="0" baseline="0" noProof="0" dirty="0">
                      <a:ln>
                        <a:noFill/>
                      </a:ln>
                      <a:solidFill>
                        <a:srgbClr val="000000"/>
                      </a:solidFill>
                      <a:effectLst/>
                      <a:uLnTx/>
                      <a:uFillTx/>
                      <a:latin typeface="锐字工房云字库细圆GBK" panose="02010604000000000000" pitchFamily="2" charset="-122"/>
                      <a:ea typeface="锐字工房云字库细圆GBK" panose="02010604000000000000" pitchFamily="2" charset="-122"/>
                      <a:sym typeface="Segoe Script" panose="030B0504020000000003" pitchFamily="66" charset="0"/>
                    </a:rPr>
                    <a:t>               ↓</a:t>
                  </a:r>
                  <a:endParaRPr kumimoji="0" lang="en-US" altLang="zh-CN" sz="1400" b="0" i="0" u="none" strike="noStrike" kern="1200" cap="none" spc="0" normalizeH="0" baseline="0" noProof="0" dirty="0">
                    <a:ln>
                      <a:noFill/>
                    </a:ln>
                    <a:solidFill>
                      <a:srgbClr val="000000"/>
                    </a:solidFill>
                    <a:effectLst/>
                    <a:uLnTx/>
                    <a:uFillTx/>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a:p>
                  <a:pPr marL="171450" marR="0" lvl="0" indent="-171450" algn="l" defTabSz="913765" rtl="0" eaLnBrk="1" fontAlgn="auto" latinLnBrk="0" hangingPunct="1">
                    <a:lnSpc>
                      <a:spcPct val="150000"/>
                    </a:lnSpc>
                    <a:spcBef>
                      <a:spcPts val="0"/>
                    </a:spcBef>
                    <a:spcAft>
                      <a:spcPts val="0"/>
                    </a:spcAft>
                    <a:buClrTx/>
                    <a:buSzTx/>
                    <a:buFont typeface="Arial" panose="020B0604020202020204" pitchFamily="34" charset="0"/>
                    <a:buChar char="•"/>
                    <a:defRPr/>
                  </a:pPr>
                  <a:r>
                    <a:rPr lang="en-US" altLang="zh-CN" sz="1400" dirty="0">
                      <a:solidFill>
                        <a:srgbClr val="000000"/>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1</a:t>
                  </a:r>
                  <a:r>
                    <a:rPr kumimoji="0" lang="zh-CN" altLang="en-US" sz="1400" b="0" i="0" u="none" strike="noStrike" kern="1200" cap="none" spc="0" normalizeH="0" baseline="0" noProof="0" dirty="0">
                      <a:ln>
                        <a:noFill/>
                      </a:ln>
                      <a:solidFill>
                        <a:srgbClr val="000000"/>
                      </a:solidFill>
                      <a:effectLst/>
                      <a:uLnTx/>
                      <a:uFillTx/>
                      <a:latin typeface="锐字工房云字库细圆GBK" panose="02010604000000000000" pitchFamily="2" charset="-122"/>
                      <a:ea typeface="锐字工房云字库细圆GBK" panose="02010604000000000000" pitchFamily="2" charset="-122"/>
                      <a:sym typeface="Segoe Script" panose="030B0504020000000003" pitchFamily="66" charset="0"/>
                    </a:rPr>
                    <a:t>周期完成超过</a:t>
                  </a:r>
                  <a:r>
                    <a:rPr kumimoji="0" lang="en-US" altLang="zh-CN" sz="1400" b="0" i="0" u="none" strike="noStrike" kern="1200" cap="none" spc="0" normalizeH="0" baseline="0" noProof="0" dirty="0">
                      <a:ln>
                        <a:noFill/>
                      </a:ln>
                      <a:solidFill>
                        <a:srgbClr val="000000"/>
                      </a:solidFill>
                      <a:effectLst/>
                      <a:uLnTx/>
                      <a:uFillTx/>
                      <a:latin typeface="锐字工房云字库细圆GBK" panose="02010604000000000000" pitchFamily="2" charset="-122"/>
                      <a:ea typeface="锐字工房云字库细圆GBK" panose="02010604000000000000" pitchFamily="2" charset="-122"/>
                      <a:sym typeface="Segoe Script" panose="030B0504020000000003" pitchFamily="66" charset="0"/>
                    </a:rPr>
                    <a:t>4</a:t>
                  </a:r>
                  <a:r>
                    <a:rPr lang="zh-CN" altLang="en-US" sz="1400" dirty="0">
                      <a:solidFill>
                        <a:srgbClr val="000000"/>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条指令</a:t>
                  </a:r>
                  <a:endParaRPr kumimoji="0" lang="en-US" altLang="zh-CN" sz="1400" b="0" i="0" u="none" strike="noStrike" kern="1200" cap="none" spc="0" normalizeH="0" baseline="0" noProof="0" dirty="0">
                    <a:ln>
                      <a:noFill/>
                    </a:ln>
                    <a:solidFill>
                      <a:srgbClr val="000000"/>
                    </a:solidFill>
                    <a:effectLst/>
                    <a:uLnTx/>
                    <a:uFillTx/>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grpSp>
        </p:grpSp>
        <p:grpSp>
          <p:nvGrpSpPr>
            <p:cNvPr id="20" name="îṥlíḓe"/>
            <p:cNvGrpSpPr/>
            <p:nvPr/>
          </p:nvGrpSpPr>
          <p:grpSpPr>
            <a:xfrm>
              <a:off x="8084974" y="2977820"/>
              <a:ext cx="3433926" cy="1308761"/>
              <a:chOff x="8084974" y="1130300"/>
              <a:chExt cx="3433926" cy="1308761"/>
            </a:xfrm>
          </p:grpSpPr>
          <p:grpSp>
            <p:nvGrpSpPr>
              <p:cNvPr id="28" name="ïśḷîḋe"/>
              <p:cNvGrpSpPr/>
              <p:nvPr/>
            </p:nvGrpSpPr>
            <p:grpSpPr>
              <a:xfrm>
                <a:off x="8084974" y="1266924"/>
                <a:ext cx="836894" cy="836894"/>
                <a:chOff x="7043444" y="1148015"/>
                <a:chExt cx="1297072" cy="1297072"/>
              </a:xfrm>
            </p:grpSpPr>
            <p:sp>
              <p:nvSpPr>
                <p:cNvPr id="32" name="ïš1îďé"/>
                <p:cNvSpPr/>
                <p:nvPr/>
              </p:nvSpPr>
              <p:spPr bwMode="auto">
                <a:xfrm>
                  <a:off x="7043444" y="1148015"/>
                  <a:ext cx="1297072" cy="1297072"/>
                </a:xfrm>
                <a:prstGeom prst="ellipse">
                  <a:avLst/>
                </a:prstGeom>
                <a:solidFill>
                  <a:schemeClr val="accent1"/>
                </a:solidFill>
                <a:ln>
                  <a:solidFill>
                    <a:schemeClr val="bg1">
                      <a:lumMod val="95000"/>
                    </a:schemeClr>
                  </a:solidFill>
                </a:ln>
                <a:effectLst>
                  <a:outerShdw sx="110000" sy="110000" algn="ctr" rotWithShape="0">
                    <a:schemeClr val="tx2">
                      <a:alpha val="19000"/>
                    </a:schemeClr>
                  </a:outerShdw>
                </a:effectLst>
              </p:spPr>
              <p:txBody>
                <a:bodyPr wrap="square" lIns="91440" tIns="45720" rIns="91440" bIns="4572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a:ln>
                      <a:noFill/>
                    </a:ln>
                    <a:solidFill>
                      <a:srgbClr val="000000"/>
                    </a:solidFill>
                    <a:effectLst/>
                    <a:uLnTx/>
                    <a:uFillTx/>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sp>
              <p:nvSpPr>
                <p:cNvPr id="33" name="îṩ1ïḋê"/>
                <p:cNvSpPr/>
                <p:nvPr/>
              </p:nvSpPr>
              <p:spPr bwMode="auto">
                <a:xfrm>
                  <a:off x="7442648" y="1556431"/>
                  <a:ext cx="498672" cy="480241"/>
                </a:xfrm>
                <a:custGeom>
                  <a:avLst/>
                  <a:gdLst>
                    <a:gd name="connsiteX0" fmla="*/ 216243 w 609050"/>
                    <a:gd name="connsiteY0" fmla="*/ 412730 h 586540"/>
                    <a:gd name="connsiteX1" fmla="*/ 216243 w 609050"/>
                    <a:gd name="connsiteY1" fmla="*/ 456594 h 586540"/>
                    <a:gd name="connsiteX2" fmla="*/ 293953 w 609050"/>
                    <a:gd name="connsiteY2" fmla="*/ 456594 h 586540"/>
                    <a:gd name="connsiteX3" fmla="*/ 293953 w 609050"/>
                    <a:gd name="connsiteY3" fmla="*/ 412730 h 586540"/>
                    <a:gd name="connsiteX4" fmla="*/ 69884 w 609050"/>
                    <a:gd name="connsiteY4" fmla="*/ 412730 h 586540"/>
                    <a:gd name="connsiteX5" fmla="*/ 69884 w 609050"/>
                    <a:gd name="connsiteY5" fmla="*/ 456594 h 586540"/>
                    <a:gd name="connsiteX6" fmla="*/ 147595 w 609050"/>
                    <a:gd name="connsiteY6" fmla="*/ 456594 h 586540"/>
                    <a:gd name="connsiteX7" fmla="*/ 147595 w 609050"/>
                    <a:gd name="connsiteY7" fmla="*/ 412730 h 586540"/>
                    <a:gd name="connsiteX8" fmla="*/ 460769 w 609050"/>
                    <a:gd name="connsiteY8" fmla="*/ 376268 h 586540"/>
                    <a:gd name="connsiteX9" fmla="*/ 460769 w 609050"/>
                    <a:gd name="connsiteY9" fmla="*/ 414786 h 586540"/>
                    <a:gd name="connsiteX10" fmla="*/ 555916 w 609050"/>
                    <a:gd name="connsiteY10" fmla="*/ 414786 h 586540"/>
                    <a:gd name="connsiteX11" fmla="*/ 555916 w 609050"/>
                    <a:gd name="connsiteY11" fmla="*/ 376268 h 586540"/>
                    <a:gd name="connsiteX12" fmla="*/ 216243 w 609050"/>
                    <a:gd name="connsiteY12" fmla="*/ 339670 h 586540"/>
                    <a:gd name="connsiteX13" fmla="*/ 216243 w 609050"/>
                    <a:gd name="connsiteY13" fmla="*/ 383533 h 586540"/>
                    <a:gd name="connsiteX14" fmla="*/ 293953 w 609050"/>
                    <a:gd name="connsiteY14" fmla="*/ 383533 h 586540"/>
                    <a:gd name="connsiteX15" fmla="*/ 293953 w 609050"/>
                    <a:gd name="connsiteY15" fmla="*/ 339670 h 586540"/>
                    <a:gd name="connsiteX16" fmla="*/ 69884 w 609050"/>
                    <a:gd name="connsiteY16" fmla="*/ 339670 h 586540"/>
                    <a:gd name="connsiteX17" fmla="*/ 69884 w 609050"/>
                    <a:gd name="connsiteY17" fmla="*/ 383533 h 586540"/>
                    <a:gd name="connsiteX18" fmla="*/ 147595 w 609050"/>
                    <a:gd name="connsiteY18" fmla="*/ 383533 h 586540"/>
                    <a:gd name="connsiteX19" fmla="*/ 147595 w 609050"/>
                    <a:gd name="connsiteY19" fmla="*/ 339670 h 586540"/>
                    <a:gd name="connsiteX20" fmla="*/ 460769 w 609050"/>
                    <a:gd name="connsiteY20" fmla="*/ 303071 h 586540"/>
                    <a:gd name="connsiteX21" fmla="*/ 460769 w 609050"/>
                    <a:gd name="connsiteY21" fmla="*/ 341726 h 586540"/>
                    <a:gd name="connsiteX22" fmla="*/ 555916 w 609050"/>
                    <a:gd name="connsiteY22" fmla="*/ 341726 h 586540"/>
                    <a:gd name="connsiteX23" fmla="*/ 555916 w 609050"/>
                    <a:gd name="connsiteY23" fmla="*/ 303071 h 586540"/>
                    <a:gd name="connsiteX24" fmla="*/ 216243 w 609050"/>
                    <a:gd name="connsiteY24" fmla="*/ 266609 h 586540"/>
                    <a:gd name="connsiteX25" fmla="*/ 216243 w 609050"/>
                    <a:gd name="connsiteY25" fmla="*/ 310473 h 586540"/>
                    <a:gd name="connsiteX26" fmla="*/ 293953 w 609050"/>
                    <a:gd name="connsiteY26" fmla="*/ 310473 h 586540"/>
                    <a:gd name="connsiteX27" fmla="*/ 293953 w 609050"/>
                    <a:gd name="connsiteY27" fmla="*/ 266609 h 586540"/>
                    <a:gd name="connsiteX28" fmla="*/ 69884 w 609050"/>
                    <a:gd name="connsiteY28" fmla="*/ 266609 h 586540"/>
                    <a:gd name="connsiteX29" fmla="*/ 69884 w 609050"/>
                    <a:gd name="connsiteY29" fmla="*/ 310473 h 586540"/>
                    <a:gd name="connsiteX30" fmla="*/ 147595 w 609050"/>
                    <a:gd name="connsiteY30" fmla="*/ 310473 h 586540"/>
                    <a:gd name="connsiteX31" fmla="*/ 147595 w 609050"/>
                    <a:gd name="connsiteY31" fmla="*/ 266609 h 586540"/>
                    <a:gd name="connsiteX32" fmla="*/ 460769 w 609050"/>
                    <a:gd name="connsiteY32" fmla="*/ 230010 h 586540"/>
                    <a:gd name="connsiteX33" fmla="*/ 460769 w 609050"/>
                    <a:gd name="connsiteY33" fmla="*/ 268528 h 586540"/>
                    <a:gd name="connsiteX34" fmla="*/ 555916 w 609050"/>
                    <a:gd name="connsiteY34" fmla="*/ 268528 h 586540"/>
                    <a:gd name="connsiteX35" fmla="*/ 555916 w 609050"/>
                    <a:gd name="connsiteY35" fmla="*/ 230010 h 586540"/>
                    <a:gd name="connsiteX36" fmla="*/ 216243 w 609050"/>
                    <a:gd name="connsiteY36" fmla="*/ 193549 h 586540"/>
                    <a:gd name="connsiteX37" fmla="*/ 216243 w 609050"/>
                    <a:gd name="connsiteY37" fmla="*/ 237412 h 586540"/>
                    <a:gd name="connsiteX38" fmla="*/ 293953 w 609050"/>
                    <a:gd name="connsiteY38" fmla="*/ 237412 h 586540"/>
                    <a:gd name="connsiteX39" fmla="*/ 293953 w 609050"/>
                    <a:gd name="connsiteY39" fmla="*/ 193549 h 586540"/>
                    <a:gd name="connsiteX40" fmla="*/ 69884 w 609050"/>
                    <a:gd name="connsiteY40" fmla="*/ 193549 h 586540"/>
                    <a:gd name="connsiteX41" fmla="*/ 69884 w 609050"/>
                    <a:gd name="connsiteY41" fmla="*/ 237412 h 586540"/>
                    <a:gd name="connsiteX42" fmla="*/ 147595 w 609050"/>
                    <a:gd name="connsiteY42" fmla="*/ 237412 h 586540"/>
                    <a:gd name="connsiteX43" fmla="*/ 147595 w 609050"/>
                    <a:gd name="connsiteY43" fmla="*/ 193549 h 586540"/>
                    <a:gd name="connsiteX44" fmla="*/ 460769 w 609050"/>
                    <a:gd name="connsiteY44" fmla="*/ 156950 h 586540"/>
                    <a:gd name="connsiteX45" fmla="*/ 460769 w 609050"/>
                    <a:gd name="connsiteY45" fmla="*/ 195468 h 586540"/>
                    <a:gd name="connsiteX46" fmla="*/ 555916 w 609050"/>
                    <a:gd name="connsiteY46" fmla="*/ 195468 h 586540"/>
                    <a:gd name="connsiteX47" fmla="*/ 555916 w 609050"/>
                    <a:gd name="connsiteY47" fmla="*/ 156950 h 586540"/>
                    <a:gd name="connsiteX48" fmla="*/ 192926 w 609050"/>
                    <a:gd name="connsiteY48" fmla="*/ 96251 h 586540"/>
                    <a:gd name="connsiteX49" fmla="*/ 361366 w 609050"/>
                    <a:gd name="connsiteY49" fmla="*/ 96251 h 586540"/>
                    <a:gd name="connsiteX50" fmla="*/ 361366 w 609050"/>
                    <a:gd name="connsiteY50" fmla="*/ 114880 h 586540"/>
                    <a:gd name="connsiteX51" fmla="*/ 192926 w 609050"/>
                    <a:gd name="connsiteY51" fmla="*/ 114880 h 586540"/>
                    <a:gd name="connsiteX52" fmla="*/ 192926 w 609050"/>
                    <a:gd name="connsiteY52" fmla="*/ 49819 h 586540"/>
                    <a:gd name="connsiteX53" fmla="*/ 361366 w 609050"/>
                    <a:gd name="connsiteY53" fmla="*/ 49819 h 586540"/>
                    <a:gd name="connsiteX54" fmla="*/ 361366 w 609050"/>
                    <a:gd name="connsiteY54" fmla="*/ 68307 h 586540"/>
                    <a:gd name="connsiteX55" fmla="*/ 192926 w 609050"/>
                    <a:gd name="connsiteY55" fmla="*/ 68307 h 586540"/>
                    <a:gd name="connsiteX56" fmla="*/ 166130 w 609050"/>
                    <a:gd name="connsiteY56" fmla="*/ 25222 h 586540"/>
                    <a:gd name="connsiteX57" fmla="*/ 166130 w 609050"/>
                    <a:gd name="connsiteY57" fmla="*/ 155716 h 586540"/>
                    <a:gd name="connsiteX58" fmla="*/ 338987 w 609050"/>
                    <a:gd name="connsiteY58" fmla="*/ 155716 h 586540"/>
                    <a:gd name="connsiteX59" fmla="*/ 338987 w 609050"/>
                    <a:gd name="connsiteY59" fmla="*/ 341040 h 586540"/>
                    <a:gd name="connsiteX60" fmla="*/ 338987 w 609050"/>
                    <a:gd name="connsiteY60" fmla="*/ 531710 h 586540"/>
                    <a:gd name="connsiteX61" fmla="*/ 366721 w 609050"/>
                    <a:gd name="connsiteY61" fmla="*/ 531710 h 586540"/>
                    <a:gd name="connsiteX62" fmla="*/ 366721 w 609050"/>
                    <a:gd name="connsiteY62" fmla="*/ 341040 h 586540"/>
                    <a:gd name="connsiteX63" fmla="*/ 366721 w 609050"/>
                    <a:gd name="connsiteY63" fmla="*/ 155305 h 586540"/>
                    <a:gd name="connsiteX64" fmla="*/ 388002 w 609050"/>
                    <a:gd name="connsiteY64" fmla="*/ 143517 h 586540"/>
                    <a:gd name="connsiteX65" fmla="*/ 388002 w 609050"/>
                    <a:gd name="connsiteY65" fmla="*/ 25222 h 586540"/>
                    <a:gd name="connsiteX66" fmla="*/ 140867 w 609050"/>
                    <a:gd name="connsiteY66" fmla="*/ 0 h 586540"/>
                    <a:gd name="connsiteX67" fmla="*/ 413402 w 609050"/>
                    <a:gd name="connsiteY67" fmla="*/ 0 h 586540"/>
                    <a:gd name="connsiteX68" fmla="*/ 413402 w 609050"/>
                    <a:gd name="connsiteY68" fmla="*/ 129398 h 586540"/>
                    <a:gd name="connsiteX69" fmla="*/ 432486 w 609050"/>
                    <a:gd name="connsiteY69" fmla="*/ 118843 h 586540"/>
                    <a:gd name="connsiteX70" fmla="*/ 584199 w 609050"/>
                    <a:gd name="connsiteY70" fmla="*/ 118843 h 586540"/>
                    <a:gd name="connsiteX71" fmla="*/ 584199 w 609050"/>
                    <a:gd name="connsiteY71" fmla="*/ 531710 h 586540"/>
                    <a:gd name="connsiteX72" fmla="*/ 609050 w 609050"/>
                    <a:gd name="connsiteY72" fmla="*/ 531710 h 586540"/>
                    <a:gd name="connsiteX73" fmla="*/ 609050 w 609050"/>
                    <a:gd name="connsiteY73" fmla="*/ 586540 h 586540"/>
                    <a:gd name="connsiteX74" fmla="*/ 0 w 609050"/>
                    <a:gd name="connsiteY74" fmla="*/ 586540 h 586540"/>
                    <a:gd name="connsiteX75" fmla="*/ 0 w 609050"/>
                    <a:gd name="connsiteY75" fmla="*/ 531710 h 586540"/>
                    <a:gd name="connsiteX76" fmla="*/ 24851 w 609050"/>
                    <a:gd name="connsiteY76" fmla="*/ 531710 h 586540"/>
                    <a:gd name="connsiteX77" fmla="*/ 24851 w 609050"/>
                    <a:gd name="connsiteY77" fmla="*/ 155716 h 586540"/>
                    <a:gd name="connsiteX78" fmla="*/ 140867 w 609050"/>
                    <a:gd name="connsiteY78" fmla="*/ 155716 h 586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609050" h="586540">
                      <a:moveTo>
                        <a:pt x="216243" y="412730"/>
                      </a:moveTo>
                      <a:lnTo>
                        <a:pt x="216243" y="456594"/>
                      </a:lnTo>
                      <a:lnTo>
                        <a:pt x="293953" y="456594"/>
                      </a:lnTo>
                      <a:lnTo>
                        <a:pt x="293953" y="412730"/>
                      </a:lnTo>
                      <a:close/>
                      <a:moveTo>
                        <a:pt x="69884" y="412730"/>
                      </a:moveTo>
                      <a:lnTo>
                        <a:pt x="69884" y="456594"/>
                      </a:lnTo>
                      <a:lnTo>
                        <a:pt x="147595" y="456594"/>
                      </a:lnTo>
                      <a:lnTo>
                        <a:pt x="147595" y="412730"/>
                      </a:lnTo>
                      <a:close/>
                      <a:moveTo>
                        <a:pt x="460769" y="376268"/>
                      </a:moveTo>
                      <a:lnTo>
                        <a:pt x="460769" y="414786"/>
                      </a:lnTo>
                      <a:lnTo>
                        <a:pt x="555916" y="414786"/>
                      </a:lnTo>
                      <a:lnTo>
                        <a:pt x="555916" y="376268"/>
                      </a:lnTo>
                      <a:close/>
                      <a:moveTo>
                        <a:pt x="216243" y="339670"/>
                      </a:moveTo>
                      <a:lnTo>
                        <a:pt x="216243" y="383533"/>
                      </a:lnTo>
                      <a:lnTo>
                        <a:pt x="293953" y="383533"/>
                      </a:lnTo>
                      <a:lnTo>
                        <a:pt x="293953" y="339670"/>
                      </a:lnTo>
                      <a:close/>
                      <a:moveTo>
                        <a:pt x="69884" y="339670"/>
                      </a:moveTo>
                      <a:lnTo>
                        <a:pt x="69884" y="383533"/>
                      </a:lnTo>
                      <a:lnTo>
                        <a:pt x="147595" y="383533"/>
                      </a:lnTo>
                      <a:lnTo>
                        <a:pt x="147595" y="339670"/>
                      </a:lnTo>
                      <a:close/>
                      <a:moveTo>
                        <a:pt x="460769" y="303071"/>
                      </a:moveTo>
                      <a:lnTo>
                        <a:pt x="460769" y="341726"/>
                      </a:lnTo>
                      <a:lnTo>
                        <a:pt x="555916" y="341726"/>
                      </a:lnTo>
                      <a:lnTo>
                        <a:pt x="555916" y="303071"/>
                      </a:lnTo>
                      <a:close/>
                      <a:moveTo>
                        <a:pt x="216243" y="266609"/>
                      </a:moveTo>
                      <a:lnTo>
                        <a:pt x="216243" y="310473"/>
                      </a:lnTo>
                      <a:lnTo>
                        <a:pt x="293953" y="310473"/>
                      </a:lnTo>
                      <a:lnTo>
                        <a:pt x="293953" y="266609"/>
                      </a:lnTo>
                      <a:close/>
                      <a:moveTo>
                        <a:pt x="69884" y="266609"/>
                      </a:moveTo>
                      <a:lnTo>
                        <a:pt x="69884" y="310473"/>
                      </a:lnTo>
                      <a:lnTo>
                        <a:pt x="147595" y="310473"/>
                      </a:lnTo>
                      <a:lnTo>
                        <a:pt x="147595" y="266609"/>
                      </a:lnTo>
                      <a:close/>
                      <a:moveTo>
                        <a:pt x="460769" y="230010"/>
                      </a:moveTo>
                      <a:lnTo>
                        <a:pt x="460769" y="268528"/>
                      </a:lnTo>
                      <a:lnTo>
                        <a:pt x="555916" y="268528"/>
                      </a:lnTo>
                      <a:lnTo>
                        <a:pt x="555916" y="230010"/>
                      </a:lnTo>
                      <a:close/>
                      <a:moveTo>
                        <a:pt x="216243" y="193549"/>
                      </a:moveTo>
                      <a:lnTo>
                        <a:pt x="216243" y="237412"/>
                      </a:lnTo>
                      <a:lnTo>
                        <a:pt x="293953" y="237412"/>
                      </a:lnTo>
                      <a:lnTo>
                        <a:pt x="293953" y="193549"/>
                      </a:lnTo>
                      <a:close/>
                      <a:moveTo>
                        <a:pt x="69884" y="193549"/>
                      </a:moveTo>
                      <a:lnTo>
                        <a:pt x="69884" y="237412"/>
                      </a:lnTo>
                      <a:lnTo>
                        <a:pt x="147595" y="237412"/>
                      </a:lnTo>
                      <a:lnTo>
                        <a:pt x="147595" y="193549"/>
                      </a:lnTo>
                      <a:close/>
                      <a:moveTo>
                        <a:pt x="460769" y="156950"/>
                      </a:moveTo>
                      <a:lnTo>
                        <a:pt x="460769" y="195468"/>
                      </a:lnTo>
                      <a:lnTo>
                        <a:pt x="555916" y="195468"/>
                      </a:lnTo>
                      <a:lnTo>
                        <a:pt x="555916" y="156950"/>
                      </a:lnTo>
                      <a:close/>
                      <a:moveTo>
                        <a:pt x="192926" y="96251"/>
                      </a:moveTo>
                      <a:lnTo>
                        <a:pt x="361366" y="96251"/>
                      </a:lnTo>
                      <a:lnTo>
                        <a:pt x="361366" y="114880"/>
                      </a:lnTo>
                      <a:lnTo>
                        <a:pt x="192926" y="114880"/>
                      </a:lnTo>
                      <a:close/>
                      <a:moveTo>
                        <a:pt x="192926" y="49819"/>
                      </a:moveTo>
                      <a:lnTo>
                        <a:pt x="361366" y="49819"/>
                      </a:lnTo>
                      <a:lnTo>
                        <a:pt x="361366" y="68307"/>
                      </a:lnTo>
                      <a:lnTo>
                        <a:pt x="192926" y="68307"/>
                      </a:lnTo>
                      <a:close/>
                      <a:moveTo>
                        <a:pt x="166130" y="25222"/>
                      </a:moveTo>
                      <a:lnTo>
                        <a:pt x="166130" y="155716"/>
                      </a:lnTo>
                      <a:lnTo>
                        <a:pt x="338987" y="155716"/>
                      </a:lnTo>
                      <a:lnTo>
                        <a:pt x="338987" y="341040"/>
                      </a:lnTo>
                      <a:lnTo>
                        <a:pt x="338987" y="531710"/>
                      </a:lnTo>
                      <a:lnTo>
                        <a:pt x="366721" y="531710"/>
                      </a:lnTo>
                      <a:lnTo>
                        <a:pt x="366721" y="341040"/>
                      </a:lnTo>
                      <a:lnTo>
                        <a:pt x="366721" y="155305"/>
                      </a:lnTo>
                      <a:lnTo>
                        <a:pt x="388002" y="143517"/>
                      </a:lnTo>
                      <a:lnTo>
                        <a:pt x="388002" y="25222"/>
                      </a:lnTo>
                      <a:close/>
                      <a:moveTo>
                        <a:pt x="140867" y="0"/>
                      </a:moveTo>
                      <a:lnTo>
                        <a:pt x="413402" y="0"/>
                      </a:lnTo>
                      <a:lnTo>
                        <a:pt x="413402" y="129398"/>
                      </a:lnTo>
                      <a:lnTo>
                        <a:pt x="432486" y="118843"/>
                      </a:lnTo>
                      <a:lnTo>
                        <a:pt x="584199" y="118843"/>
                      </a:lnTo>
                      <a:lnTo>
                        <a:pt x="584199" y="531710"/>
                      </a:lnTo>
                      <a:lnTo>
                        <a:pt x="609050" y="531710"/>
                      </a:lnTo>
                      <a:lnTo>
                        <a:pt x="609050" y="586540"/>
                      </a:lnTo>
                      <a:lnTo>
                        <a:pt x="0" y="586540"/>
                      </a:lnTo>
                      <a:lnTo>
                        <a:pt x="0" y="531710"/>
                      </a:lnTo>
                      <a:lnTo>
                        <a:pt x="24851" y="531710"/>
                      </a:lnTo>
                      <a:lnTo>
                        <a:pt x="24851" y="155716"/>
                      </a:lnTo>
                      <a:lnTo>
                        <a:pt x="140867" y="155716"/>
                      </a:lnTo>
                      <a:close/>
                    </a:path>
                  </a:pathLst>
                </a:custGeom>
                <a:solidFill>
                  <a:schemeClr val="bg1"/>
                </a:solidFill>
                <a:ln>
                  <a:noFill/>
                </a:ln>
              </p:spPr>
              <p:txBody>
                <a:bodyPr wrap="square" lIns="91440" tIns="45720" rIns="91440" bIns="45720">
                  <a:normAutofit fontScale="92500" lnSpcReduction="20000"/>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grpSp>
          <p:grpSp>
            <p:nvGrpSpPr>
              <p:cNvPr id="29" name="iṩļîḓè"/>
              <p:cNvGrpSpPr/>
              <p:nvPr/>
            </p:nvGrpSpPr>
            <p:grpSpPr>
              <a:xfrm>
                <a:off x="9131300" y="1130300"/>
                <a:ext cx="2387600" cy="1308761"/>
                <a:chOff x="673099" y="2252632"/>
                <a:chExt cx="3589337" cy="1308761"/>
              </a:xfrm>
            </p:grpSpPr>
            <p:sp>
              <p:nvSpPr>
                <p:cNvPr id="30" name="iSlíďè"/>
                <p:cNvSpPr txBox="1"/>
                <p:nvPr/>
              </p:nvSpPr>
              <p:spPr bwMode="auto">
                <a:xfrm>
                  <a:off x="673099" y="2252632"/>
                  <a:ext cx="3589337"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marR="0" lvl="0" indent="0" algn="l" defTabSz="913765"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锐字工房云字库细圆GBK" panose="02010604000000000000" pitchFamily="2" charset="-122"/>
                      <a:ea typeface="锐字工房云字库细圆GBK" panose="02010604000000000000" pitchFamily="2" charset="-122"/>
                      <a:sym typeface="Segoe Script" panose="030B0504020000000003" pitchFamily="66" charset="0"/>
                    </a:rPr>
                    <a:t>时钟频率</a:t>
                  </a:r>
                  <a:endParaRPr kumimoji="0" lang="en-US" altLang="zh-CN" sz="2400" b="1" i="0" u="none" strike="noStrike" kern="1200" cap="none" spc="0" normalizeH="0" baseline="0" noProof="0" dirty="0">
                    <a:ln>
                      <a:noFill/>
                    </a:ln>
                    <a:solidFill>
                      <a:srgbClr val="000000"/>
                    </a:solidFill>
                    <a:effectLst/>
                    <a:uLnTx/>
                    <a:uFillTx/>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sp>
              <p:nvSpPr>
                <p:cNvPr id="31" name="ïšḻïdê"/>
                <p:cNvSpPr/>
                <p:nvPr/>
              </p:nvSpPr>
              <p:spPr bwMode="auto">
                <a:xfrm>
                  <a:off x="673099" y="2694438"/>
                  <a:ext cx="3589337" cy="86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fontScale="92500" lnSpcReduction="2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marR="0" lvl="0" indent="-171450" algn="l" defTabSz="913765" rtl="0" eaLnBrk="1" fontAlgn="auto" latinLnBrk="0" hangingPunct="1">
                    <a:lnSpc>
                      <a:spcPct val="150000"/>
                    </a:lnSpc>
                    <a:spcBef>
                      <a:spcPts val="0"/>
                    </a:spcBef>
                    <a:spcAft>
                      <a:spcPts val="0"/>
                    </a:spcAft>
                    <a:buClrTx/>
                    <a:buSzTx/>
                    <a:buFont typeface="Arial" panose="020B0604020202020204" pitchFamily="34" charset="0"/>
                    <a:buChar char="•"/>
                    <a:defRPr/>
                  </a:pPr>
                  <a:r>
                    <a:rPr lang="en-US" altLang="zh-CN" sz="1400" dirty="0">
                      <a:solidFill>
                        <a:srgbClr val="000000"/>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3MHZ</a:t>
                  </a:r>
                  <a:endParaRPr lang="en-US" altLang="zh-CN" sz="1400" dirty="0">
                    <a:solidFill>
                      <a:srgbClr val="000000"/>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a:p>
                  <a:pPr marL="171450" marR="0" lvl="0" indent="-171450" algn="l" defTabSz="913765"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400" b="0" i="0" u="none" strike="noStrike" kern="1200" cap="none" spc="0" normalizeH="0" baseline="0" noProof="0" dirty="0">
                      <a:ln>
                        <a:noFill/>
                      </a:ln>
                      <a:solidFill>
                        <a:srgbClr val="000000"/>
                      </a:solidFill>
                      <a:effectLst/>
                      <a:uLnTx/>
                      <a:uFillTx/>
                      <a:latin typeface="锐字工房云字库细圆GBK" panose="02010604000000000000" pitchFamily="2" charset="-122"/>
                      <a:ea typeface="锐字工房云字库细圆GBK" panose="02010604000000000000" pitchFamily="2" charset="-122"/>
                      <a:sym typeface="Segoe Script" panose="030B0504020000000003" pitchFamily="66" charset="0"/>
                    </a:rPr>
                    <a:t>    ↓</a:t>
                  </a:r>
                  <a:endParaRPr kumimoji="0" lang="en-US" altLang="zh-CN" sz="1400" b="0" i="0" u="none" strike="noStrike" kern="1200" cap="none" spc="0" normalizeH="0" baseline="0" noProof="0" dirty="0">
                    <a:ln>
                      <a:noFill/>
                    </a:ln>
                    <a:solidFill>
                      <a:srgbClr val="000000"/>
                    </a:solidFill>
                    <a:effectLst/>
                    <a:uLnTx/>
                    <a:uFillTx/>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a:p>
                  <a:pPr marL="171450" marR="0" lvl="0" indent="-171450" algn="l" defTabSz="913765" rtl="0" eaLnBrk="1" fontAlgn="auto" latinLnBrk="0" hangingPunct="1">
                    <a:lnSpc>
                      <a:spcPct val="150000"/>
                    </a:lnSpc>
                    <a:spcBef>
                      <a:spcPts val="0"/>
                    </a:spcBef>
                    <a:spcAft>
                      <a:spcPts val="0"/>
                    </a:spcAft>
                    <a:buClrTx/>
                    <a:buSzTx/>
                    <a:buFont typeface="Arial" panose="020B0604020202020204" pitchFamily="34" charset="0"/>
                    <a:buChar char="•"/>
                    <a:defRPr/>
                  </a:pPr>
                  <a:r>
                    <a:rPr lang="en-US" altLang="zh-CN" sz="1400" dirty="0">
                      <a:solidFill>
                        <a:srgbClr val="000000"/>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4GHZ</a:t>
                  </a:r>
                  <a:endParaRPr kumimoji="0" lang="en-US" altLang="zh-CN" sz="1400" b="0" i="0" u="none" strike="noStrike" kern="1200" cap="none" spc="0" normalizeH="0" baseline="0" noProof="0" dirty="0">
                    <a:ln>
                      <a:noFill/>
                    </a:ln>
                    <a:solidFill>
                      <a:srgbClr val="000000"/>
                    </a:solidFill>
                    <a:effectLst/>
                    <a:uLnTx/>
                    <a:uFillTx/>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grpSp>
        </p:grpSp>
        <p:grpSp>
          <p:nvGrpSpPr>
            <p:cNvPr id="21" name="íṧļíḑe"/>
            <p:cNvGrpSpPr/>
            <p:nvPr/>
          </p:nvGrpSpPr>
          <p:grpSpPr>
            <a:xfrm>
              <a:off x="8084974" y="4825339"/>
              <a:ext cx="3433926" cy="1308761"/>
              <a:chOff x="8084974" y="1130300"/>
              <a:chExt cx="3433926" cy="1308761"/>
            </a:xfrm>
          </p:grpSpPr>
          <p:grpSp>
            <p:nvGrpSpPr>
              <p:cNvPr id="22" name="iśļïḑé"/>
              <p:cNvGrpSpPr/>
              <p:nvPr/>
            </p:nvGrpSpPr>
            <p:grpSpPr>
              <a:xfrm>
                <a:off x="8084974" y="1266924"/>
                <a:ext cx="836894" cy="836894"/>
                <a:chOff x="7043444" y="1148015"/>
                <a:chExt cx="1297072" cy="1297072"/>
              </a:xfrm>
            </p:grpSpPr>
            <p:sp>
              <p:nvSpPr>
                <p:cNvPr id="26" name="îṡľíḍe"/>
                <p:cNvSpPr/>
                <p:nvPr/>
              </p:nvSpPr>
              <p:spPr bwMode="auto">
                <a:xfrm>
                  <a:off x="7043444" y="1148015"/>
                  <a:ext cx="1297072" cy="1297072"/>
                </a:xfrm>
                <a:prstGeom prst="ellipse">
                  <a:avLst/>
                </a:prstGeom>
                <a:solidFill>
                  <a:schemeClr val="tx1">
                    <a:lumMod val="50000"/>
                    <a:lumOff val="50000"/>
                  </a:schemeClr>
                </a:solidFill>
                <a:ln>
                  <a:solidFill>
                    <a:schemeClr val="bg1">
                      <a:lumMod val="95000"/>
                    </a:schemeClr>
                  </a:solidFill>
                </a:ln>
                <a:effectLst>
                  <a:outerShdw sx="110000" sy="110000" algn="ctr" rotWithShape="0">
                    <a:schemeClr val="tx2">
                      <a:alpha val="19000"/>
                    </a:schemeClr>
                  </a:outerShdw>
                </a:effectLst>
              </p:spPr>
              <p:txBody>
                <a:bodyPr wrap="square" lIns="91440" tIns="45720" rIns="91440" bIns="4572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a:ln>
                      <a:noFill/>
                    </a:ln>
                    <a:solidFill>
                      <a:srgbClr val="000000"/>
                    </a:solidFill>
                    <a:effectLst/>
                    <a:uLnTx/>
                    <a:uFillTx/>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sp>
              <p:nvSpPr>
                <p:cNvPr id="27" name="iṡliďê"/>
                <p:cNvSpPr/>
                <p:nvPr/>
              </p:nvSpPr>
              <p:spPr bwMode="auto">
                <a:xfrm>
                  <a:off x="7442648" y="1556431"/>
                  <a:ext cx="498672" cy="480241"/>
                </a:xfrm>
                <a:custGeom>
                  <a:avLst/>
                  <a:gdLst>
                    <a:gd name="connsiteX0" fmla="*/ 216243 w 609050"/>
                    <a:gd name="connsiteY0" fmla="*/ 412730 h 586540"/>
                    <a:gd name="connsiteX1" fmla="*/ 216243 w 609050"/>
                    <a:gd name="connsiteY1" fmla="*/ 456594 h 586540"/>
                    <a:gd name="connsiteX2" fmla="*/ 293953 w 609050"/>
                    <a:gd name="connsiteY2" fmla="*/ 456594 h 586540"/>
                    <a:gd name="connsiteX3" fmla="*/ 293953 w 609050"/>
                    <a:gd name="connsiteY3" fmla="*/ 412730 h 586540"/>
                    <a:gd name="connsiteX4" fmla="*/ 69884 w 609050"/>
                    <a:gd name="connsiteY4" fmla="*/ 412730 h 586540"/>
                    <a:gd name="connsiteX5" fmla="*/ 69884 w 609050"/>
                    <a:gd name="connsiteY5" fmla="*/ 456594 h 586540"/>
                    <a:gd name="connsiteX6" fmla="*/ 147595 w 609050"/>
                    <a:gd name="connsiteY6" fmla="*/ 456594 h 586540"/>
                    <a:gd name="connsiteX7" fmla="*/ 147595 w 609050"/>
                    <a:gd name="connsiteY7" fmla="*/ 412730 h 586540"/>
                    <a:gd name="connsiteX8" fmla="*/ 460769 w 609050"/>
                    <a:gd name="connsiteY8" fmla="*/ 376268 h 586540"/>
                    <a:gd name="connsiteX9" fmla="*/ 460769 w 609050"/>
                    <a:gd name="connsiteY9" fmla="*/ 414786 h 586540"/>
                    <a:gd name="connsiteX10" fmla="*/ 555916 w 609050"/>
                    <a:gd name="connsiteY10" fmla="*/ 414786 h 586540"/>
                    <a:gd name="connsiteX11" fmla="*/ 555916 w 609050"/>
                    <a:gd name="connsiteY11" fmla="*/ 376268 h 586540"/>
                    <a:gd name="connsiteX12" fmla="*/ 216243 w 609050"/>
                    <a:gd name="connsiteY12" fmla="*/ 339670 h 586540"/>
                    <a:gd name="connsiteX13" fmla="*/ 216243 w 609050"/>
                    <a:gd name="connsiteY13" fmla="*/ 383533 h 586540"/>
                    <a:gd name="connsiteX14" fmla="*/ 293953 w 609050"/>
                    <a:gd name="connsiteY14" fmla="*/ 383533 h 586540"/>
                    <a:gd name="connsiteX15" fmla="*/ 293953 w 609050"/>
                    <a:gd name="connsiteY15" fmla="*/ 339670 h 586540"/>
                    <a:gd name="connsiteX16" fmla="*/ 69884 w 609050"/>
                    <a:gd name="connsiteY16" fmla="*/ 339670 h 586540"/>
                    <a:gd name="connsiteX17" fmla="*/ 69884 w 609050"/>
                    <a:gd name="connsiteY17" fmla="*/ 383533 h 586540"/>
                    <a:gd name="connsiteX18" fmla="*/ 147595 w 609050"/>
                    <a:gd name="connsiteY18" fmla="*/ 383533 h 586540"/>
                    <a:gd name="connsiteX19" fmla="*/ 147595 w 609050"/>
                    <a:gd name="connsiteY19" fmla="*/ 339670 h 586540"/>
                    <a:gd name="connsiteX20" fmla="*/ 460769 w 609050"/>
                    <a:gd name="connsiteY20" fmla="*/ 303071 h 586540"/>
                    <a:gd name="connsiteX21" fmla="*/ 460769 w 609050"/>
                    <a:gd name="connsiteY21" fmla="*/ 341726 h 586540"/>
                    <a:gd name="connsiteX22" fmla="*/ 555916 w 609050"/>
                    <a:gd name="connsiteY22" fmla="*/ 341726 h 586540"/>
                    <a:gd name="connsiteX23" fmla="*/ 555916 w 609050"/>
                    <a:gd name="connsiteY23" fmla="*/ 303071 h 586540"/>
                    <a:gd name="connsiteX24" fmla="*/ 216243 w 609050"/>
                    <a:gd name="connsiteY24" fmla="*/ 266609 h 586540"/>
                    <a:gd name="connsiteX25" fmla="*/ 216243 w 609050"/>
                    <a:gd name="connsiteY25" fmla="*/ 310473 h 586540"/>
                    <a:gd name="connsiteX26" fmla="*/ 293953 w 609050"/>
                    <a:gd name="connsiteY26" fmla="*/ 310473 h 586540"/>
                    <a:gd name="connsiteX27" fmla="*/ 293953 w 609050"/>
                    <a:gd name="connsiteY27" fmla="*/ 266609 h 586540"/>
                    <a:gd name="connsiteX28" fmla="*/ 69884 w 609050"/>
                    <a:gd name="connsiteY28" fmla="*/ 266609 h 586540"/>
                    <a:gd name="connsiteX29" fmla="*/ 69884 w 609050"/>
                    <a:gd name="connsiteY29" fmla="*/ 310473 h 586540"/>
                    <a:gd name="connsiteX30" fmla="*/ 147595 w 609050"/>
                    <a:gd name="connsiteY30" fmla="*/ 310473 h 586540"/>
                    <a:gd name="connsiteX31" fmla="*/ 147595 w 609050"/>
                    <a:gd name="connsiteY31" fmla="*/ 266609 h 586540"/>
                    <a:gd name="connsiteX32" fmla="*/ 460769 w 609050"/>
                    <a:gd name="connsiteY32" fmla="*/ 230010 h 586540"/>
                    <a:gd name="connsiteX33" fmla="*/ 460769 w 609050"/>
                    <a:gd name="connsiteY33" fmla="*/ 268528 h 586540"/>
                    <a:gd name="connsiteX34" fmla="*/ 555916 w 609050"/>
                    <a:gd name="connsiteY34" fmla="*/ 268528 h 586540"/>
                    <a:gd name="connsiteX35" fmla="*/ 555916 w 609050"/>
                    <a:gd name="connsiteY35" fmla="*/ 230010 h 586540"/>
                    <a:gd name="connsiteX36" fmla="*/ 216243 w 609050"/>
                    <a:gd name="connsiteY36" fmla="*/ 193549 h 586540"/>
                    <a:gd name="connsiteX37" fmla="*/ 216243 w 609050"/>
                    <a:gd name="connsiteY37" fmla="*/ 237412 h 586540"/>
                    <a:gd name="connsiteX38" fmla="*/ 293953 w 609050"/>
                    <a:gd name="connsiteY38" fmla="*/ 237412 h 586540"/>
                    <a:gd name="connsiteX39" fmla="*/ 293953 w 609050"/>
                    <a:gd name="connsiteY39" fmla="*/ 193549 h 586540"/>
                    <a:gd name="connsiteX40" fmla="*/ 69884 w 609050"/>
                    <a:gd name="connsiteY40" fmla="*/ 193549 h 586540"/>
                    <a:gd name="connsiteX41" fmla="*/ 69884 w 609050"/>
                    <a:gd name="connsiteY41" fmla="*/ 237412 h 586540"/>
                    <a:gd name="connsiteX42" fmla="*/ 147595 w 609050"/>
                    <a:gd name="connsiteY42" fmla="*/ 237412 h 586540"/>
                    <a:gd name="connsiteX43" fmla="*/ 147595 w 609050"/>
                    <a:gd name="connsiteY43" fmla="*/ 193549 h 586540"/>
                    <a:gd name="connsiteX44" fmla="*/ 460769 w 609050"/>
                    <a:gd name="connsiteY44" fmla="*/ 156950 h 586540"/>
                    <a:gd name="connsiteX45" fmla="*/ 460769 w 609050"/>
                    <a:gd name="connsiteY45" fmla="*/ 195468 h 586540"/>
                    <a:gd name="connsiteX46" fmla="*/ 555916 w 609050"/>
                    <a:gd name="connsiteY46" fmla="*/ 195468 h 586540"/>
                    <a:gd name="connsiteX47" fmla="*/ 555916 w 609050"/>
                    <a:gd name="connsiteY47" fmla="*/ 156950 h 586540"/>
                    <a:gd name="connsiteX48" fmla="*/ 192926 w 609050"/>
                    <a:gd name="connsiteY48" fmla="*/ 96251 h 586540"/>
                    <a:gd name="connsiteX49" fmla="*/ 361366 w 609050"/>
                    <a:gd name="connsiteY49" fmla="*/ 96251 h 586540"/>
                    <a:gd name="connsiteX50" fmla="*/ 361366 w 609050"/>
                    <a:gd name="connsiteY50" fmla="*/ 114880 h 586540"/>
                    <a:gd name="connsiteX51" fmla="*/ 192926 w 609050"/>
                    <a:gd name="connsiteY51" fmla="*/ 114880 h 586540"/>
                    <a:gd name="connsiteX52" fmla="*/ 192926 w 609050"/>
                    <a:gd name="connsiteY52" fmla="*/ 49819 h 586540"/>
                    <a:gd name="connsiteX53" fmla="*/ 361366 w 609050"/>
                    <a:gd name="connsiteY53" fmla="*/ 49819 h 586540"/>
                    <a:gd name="connsiteX54" fmla="*/ 361366 w 609050"/>
                    <a:gd name="connsiteY54" fmla="*/ 68307 h 586540"/>
                    <a:gd name="connsiteX55" fmla="*/ 192926 w 609050"/>
                    <a:gd name="connsiteY55" fmla="*/ 68307 h 586540"/>
                    <a:gd name="connsiteX56" fmla="*/ 166130 w 609050"/>
                    <a:gd name="connsiteY56" fmla="*/ 25222 h 586540"/>
                    <a:gd name="connsiteX57" fmla="*/ 166130 w 609050"/>
                    <a:gd name="connsiteY57" fmla="*/ 155716 h 586540"/>
                    <a:gd name="connsiteX58" fmla="*/ 338987 w 609050"/>
                    <a:gd name="connsiteY58" fmla="*/ 155716 h 586540"/>
                    <a:gd name="connsiteX59" fmla="*/ 338987 w 609050"/>
                    <a:gd name="connsiteY59" fmla="*/ 341040 h 586540"/>
                    <a:gd name="connsiteX60" fmla="*/ 338987 w 609050"/>
                    <a:gd name="connsiteY60" fmla="*/ 531710 h 586540"/>
                    <a:gd name="connsiteX61" fmla="*/ 366721 w 609050"/>
                    <a:gd name="connsiteY61" fmla="*/ 531710 h 586540"/>
                    <a:gd name="connsiteX62" fmla="*/ 366721 w 609050"/>
                    <a:gd name="connsiteY62" fmla="*/ 341040 h 586540"/>
                    <a:gd name="connsiteX63" fmla="*/ 366721 w 609050"/>
                    <a:gd name="connsiteY63" fmla="*/ 155305 h 586540"/>
                    <a:gd name="connsiteX64" fmla="*/ 388002 w 609050"/>
                    <a:gd name="connsiteY64" fmla="*/ 143517 h 586540"/>
                    <a:gd name="connsiteX65" fmla="*/ 388002 w 609050"/>
                    <a:gd name="connsiteY65" fmla="*/ 25222 h 586540"/>
                    <a:gd name="connsiteX66" fmla="*/ 140867 w 609050"/>
                    <a:gd name="connsiteY66" fmla="*/ 0 h 586540"/>
                    <a:gd name="connsiteX67" fmla="*/ 413402 w 609050"/>
                    <a:gd name="connsiteY67" fmla="*/ 0 h 586540"/>
                    <a:gd name="connsiteX68" fmla="*/ 413402 w 609050"/>
                    <a:gd name="connsiteY68" fmla="*/ 129398 h 586540"/>
                    <a:gd name="connsiteX69" fmla="*/ 432486 w 609050"/>
                    <a:gd name="connsiteY69" fmla="*/ 118843 h 586540"/>
                    <a:gd name="connsiteX70" fmla="*/ 584199 w 609050"/>
                    <a:gd name="connsiteY70" fmla="*/ 118843 h 586540"/>
                    <a:gd name="connsiteX71" fmla="*/ 584199 w 609050"/>
                    <a:gd name="connsiteY71" fmla="*/ 531710 h 586540"/>
                    <a:gd name="connsiteX72" fmla="*/ 609050 w 609050"/>
                    <a:gd name="connsiteY72" fmla="*/ 531710 h 586540"/>
                    <a:gd name="connsiteX73" fmla="*/ 609050 w 609050"/>
                    <a:gd name="connsiteY73" fmla="*/ 586540 h 586540"/>
                    <a:gd name="connsiteX74" fmla="*/ 0 w 609050"/>
                    <a:gd name="connsiteY74" fmla="*/ 586540 h 586540"/>
                    <a:gd name="connsiteX75" fmla="*/ 0 w 609050"/>
                    <a:gd name="connsiteY75" fmla="*/ 531710 h 586540"/>
                    <a:gd name="connsiteX76" fmla="*/ 24851 w 609050"/>
                    <a:gd name="connsiteY76" fmla="*/ 531710 h 586540"/>
                    <a:gd name="connsiteX77" fmla="*/ 24851 w 609050"/>
                    <a:gd name="connsiteY77" fmla="*/ 155716 h 586540"/>
                    <a:gd name="connsiteX78" fmla="*/ 140867 w 609050"/>
                    <a:gd name="connsiteY78" fmla="*/ 155716 h 586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609050" h="586540">
                      <a:moveTo>
                        <a:pt x="216243" y="412730"/>
                      </a:moveTo>
                      <a:lnTo>
                        <a:pt x="216243" y="456594"/>
                      </a:lnTo>
                      <a:lnTo>
                        <a:pt x="293953" y="456594"/>
                      </a:lnTo>
                      <a:lnTo>
                        <a:pt x="293953" y="412730"/>
                      </a:lnTo>
                      <a:close/>
                      <a:moveTo>
                        <a:pt x="69884" y="412730"/>
                      </a:moveTo>
                      <a:lnTo>
                        <a:pt x="69884" y="456594"/>
                      </a:lnTo>
                      <a:lnTo>
                        <a:pt x="147595" y="456594"/>
                      </a:lnTo>
                      <a:lnTo>
                        <a:pt x="147595" y="412730"/>
                      </a:lnTo>
                      <a:close/>
                      <a:moveTo>
                        <a:pt x="460769" y="376268"/>
                      </a:moveTo>
                      <a:lnTo>
                        <a:pt x="460769" y="414786"/>
                      </a:lnTo>
                      <a:lnTo>
                        <a:pt x="555916" y="414786"/>
                      </a:lnTo>
                      <a:lnTo>
                        <a:pt x="555916" y="376268"/>
                      </a:lnTo>
                      <a:close/>
                      <a:moveTo>
                        <a:pt x="216243" y="339670"/>
                      </a:moveTo>
                      <a:lnTo>
                        <a:pt x="216243" y="383533"/>
                      </a:lnTo>
                      <a:lnTo>
                        <a:pt x="293953" y="383533"/>
                      </a:lnTo>
                      <a:lnTo>
                        <a:pt x="293953" y="339670"/>
                      </a:lnTo>
                      <a:close/>
                      <a:moveTo>
                        <a:pt x="69884" y="339670"/>
                      </a:moveTo>
                      <a:lnTo>
                        <a:pt x="69884" y="383533"/>
                      </a:lnTo>
                      <a:lnTo>
                        <a:pt x="147595" y="383533"/>
                      </a:lnTo>
                      <a:lnTo>
                        <a:pt x="147595" y="339670"/>
                      </a:lnTo>
                      <a:close/>
                      <a:moveTo>
                        <a:pt x="460769" y="303071"/>
                      </a:moveTo>
                      <a:lnTo>
                        <a:pt x="460769" y="341726"/>
                      </a:lnTo>
                      <a:lnTo>
                        <a:pt x="555916" y="341726"/>
                      </a:lnTo>
                      <a:lnTo>
                        <a:pt x="555916" y="303071"/>
                      </a:lnTo>
                      <a:close/>
                      <a:moveTo>
                        <a:pt x="216243" y="266609"/>
                      </a:moveTo>
                      <a:lnTo>
                        <a:pt x="216243" y="310473"/>
                      </a:lnTo>
                      <a:lnTo>
                        <a:pt x="293953" y="310473"/>
                      </a:lnTo>
                      <a:lnTo>
                        <a:pt x="293953" y="266609"/>
                      </a:lnTo>
                      <a:close/>
                      <a:moveTo>
                        <a:pt x="69884" y="266609"/>
                      </a:moveTo>
                      <a:lnTo>
                        <a:pt x="69884" y="310473"/>
                      </a:lnTo>
                      <a:lnTo>
                        <a:pt x="147595" y="310473"/>
                      </a:lnTo>
                      <a:lnTo>
                        <a:pt x="147595" y="266609"/>
                      </a:lnTo>
                      <a:close/>
                      <a:moveTo>
                        <a:pt x="460769" y="230010"/>
                      </a:moveTo>
                      <a:lnTo>
                        <a:pt x="460769" y="268528"/>
                      </a:lnTo>
                      <a:lnTo>
                        <a:pt x="555916" y="268528"/>
                      </a:lnTo>
                      <a:lnTo>
                        <a:pt x="555916" y="230010"/>
                      </a:lnTo>
                      <a:close/>
                      <a:moveTo>
                        <a:pt x="216243" y="193549"/>
                      </a:moveTo>
                      <a:lnTo>
                        <a:pt x="216243" y="237412"/>
                      </a:lnTo>
                      <a:lnTo>
                        <a:pt x="293953" y="237412"/>
                      </a:lnTo>
                      <a:lnTo>
                        <a:pt x="293953" y="193549"/>
                      </a:lnTo>
                      <a:close/>
                      <a:moveTo>
                        <a:pt x="69884" y="193549"/>
                      </a:moveTo>
                      <a:lnTo>
                        <a:pt x="69884" y="237412"/>
                      </a:lnTo>
                      <a:lnTo>
                        <a:pt x="147595" y="237412"/>
                      </a:lnTo>
                      <a:lnTo>
                        <a:pt x="147595" y="193549"/>
                      </a:lnTo>
                      <a:close/>
                      <a:moveTo>
                        <a:pt x="460769" y="156950"/>
                      </a:moveTo>
                      <a:lnTo>
                        <a:pt x="460769" y="195468"/>
                      </a:lnTo>
                      <a:lnTo>
                        <a:pt x="555916" y="195468"/>
                      </a:lnTo>
                      <a:lnTo>
                        <a:pt x="555916" y="156950"/>
                      </a:lnTo>
                      <a:close/>
                      <a:moveTo>
                        <a:pt x="192926" y="96251"/>
                      </a:moveTo>
                      <a:lnTo>
                        <a:pt x="361366" y="96251"/>
                      </a:lnTo>
                      <a:lnTo>
                        <a:pt x="361366" y="114880"/>
                      </a:lnTo>
                      <a:lnTo>
                        <a:pt x="192926" y="114880"/>
                      </a:lnTo>
                      <a:close/>
                      <a:moveTo>
                        <a:pt x="192926" y="49819"/>
                      </a:moveTo>
                      <a:lnTo>
                        <a:pt x="361366" y="49819"/>
                      </a:lnTo>
                      <a:lnTo>
                        <a:pt x="361366" y="68307"/>
                      </a:lnTo>
                      <a:lnTo>
                        <a:pt x="192926" y="68307"/>
                      </a:lnTo>
                      <a:close/>
                      <a:moveTo>
                        <a:pt x="166130" y="25222"/>
                      </a:moveTo>
                      <a:lnTo>
                        <a:pt x="166130" y="155716"/>
                      </a:lnTo>
                      <a:lnTo>
                        <a:pt x="338987" y="155716"/>
                      </a:lnTo>
                      <a:lnTo>
                        <a:pt x="338987" y="341040"/>
                      </a:lnTo>
                      <a:lnTo>
                        <a:pt x="338987" y="531710"/>
                      </a:lnTo>
                      <a:lnTo>
                        <a:pt x="366721" y="531710"/>
                      </a:lnTo>
                      <a:lnTo>
                        <a:pt x="366721" y="341040"/>
                      </a:lnTo>
                      <a:lnTo>
                        <a:pt x="366721" y="155305"/>
                      </a:lnTo>
                      <a:lnTo>
                        <a:pt x="388002" y="143517"/>
                      </a:lnTo>
                      <a:lnTo>
                        <a:pt x="388002" y="25222"/>
                      </a:lnTo>
                      <a:close/>
                      <a:moveTo>
                        <a:pt x="140867" y="0"/>
                      </a:moveTo>
                      <a:lnTo>
                        <a:pt x="413402" y="0"/>
                      </a:lnTo>
                      <a:lnTo>
                        <a:pt x="413402" y="129398"/>
                      </a:lnTo>
                      <a:lnTo>
                        <a:pt x="432486" y="118843"/>
                      </a:lnTo>
                      <a:lnTo>
                        <a:pt x="584199" y="118843"/>
                      </a:lnTo>
                      <a:lnTo>
                        <a:pt x="584199" y="531710"/>
                      </a:lnTo>
                      <a:lnTo>
                        <a:pt x="609050" y="531710"/>
                      </a:lnTo>
                      <a:lnTo>
                        <a:pt x="609050" y="586540"/>
                      </a:lnTo>
                      <a:lnTo>
                        <a:pt x="0" y="586540"/>
                      </a:lnTo>
                      <a:lnTo>
                        <a:pt x="0" y="531710"/>
                      </a:lnTo>
                      <a:lnTo>
                        <a:pt x="24851" y="531710"/>
                      </a:lnTo>
                      <a:lnTo>
                        <a:pt x="24851" y="155716"/>
                      </a:lnTo>
                      <a:lnTo>
                        <a:pt x="140867" y="155716"/>
                      </a:lnTo>
                      <a:close/>
                    </a:path>
                  </a:pathLst>
                </a:custGeom>
                <a:solidFill>
                  <a:schemeClr val="bg1"/>
                </a:solidFill>
                <a:ln>
                  <a:noFill/>
                </a:ln>
              </p:spPr>
              <p:txBody>
                <a:bodyPr wrap="square" lIns="91440" tIns="45720" rIns="91440" bIns="45720">
                  <a:normAutofit fontScale="92500" lnSpcReduction="20000"/>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grpSp>
          <p:grpSp>
            <p:nvGrpSpPr>
              <p:cNvPr id="23" name="îṡḷiḓè"/>
              <p:cNvGrpSpPr/>
              <p:nvPr/>
            </p:nvGrpSpPr>
            <p:grpSpPr>
              <a:xfrm>
                <a:off x="9131300" y="1130300"/>
                <a:ext cx="2387600" cy="1308761"/>
                <a:chOff x="673099" y="2252632"/>
                <a:chExt cx="3589337" cy="1308761"/>
              </a:xfrm>
            </p:grpSpPr>
            <p:sp>
              <p:nvSpPr>
                <p:cNvPr id="24" name="îṥlïďè"/>
                <p:cNvSpPr txBox="1"/>
                <p:nvPr/>
              </p:nvSpPr>
              <p:spPr bwMode="auto">
                <a:xfrm>
                  <a:off x="673099" y="2252632"/>
                  <a:ext cx="3589337"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marR="0" lvl="0" indent="0" algn="l" defTabSz="913765"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锐字工房云字库细圆GBK" panose="02010604000000000000" pitchFamily="2" charset="-122"/>
                      <a:ea typeface="锐字工房云字库细圆GBK" panose="02010604000000000000" pitchFamily="2" charset="-122"/>
                      <a:sym typeface="Segoe Script" panose="030B0504020000000003" pitchFamily="66" charset="0"/>
                    </a:rPr>
                    <a:t>处理器核数</a:t>
                  </a:r>
                  <a:endParaRPr kumimoji="0" lang="en-US" altLang="zh-CN" sz="2400" b="1" i="0" u="none" strike="noStrike" kern="1200" cap="none" spc="0" normalizeH="0" baseline="0" noProof="0" dirty="0">
                    <a:ln>
                      <a:noFill/>
                    </a:ln>
                    <a:solidFill>
                      <a:srgbClr val="000000"/>
                    </a:solidFill>
                    <a:effectLst/>
                    <a:uLnTx/>
                    <a:uFillTx/>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sp>
              <p:nvSpPr>
                <p:cNvPr id="25" name="ï$lide"/>
                <p:cNvSpPr/>
                <p:nvPr/>
              </p:nvSpPr>
              <p:spPr bwMode="auto">
                <a:xfrm>
                  <a:off x="673099" y="2694438"/>
                  <a:ext cx="3589337" cy="86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fontScale="92500" lnSpcReduction="2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marR="0" lvl="0" indent="-171450" algn="l" defTabSz="913765"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400" b="0" i="0" u="none" strike="noStrike" kern="1200" cap="none" spc="0" normalizeH="0" baseline="0" noProof="0" dirty="0">
                      <a:ln>
                        <a:noFill/>
                      </a:ln>
                      <a:solidFill>
                        <a:srgbClr val="000000"/>
                      </a:solidFill>
                      <a:effectLst/>
                      <a:uLnTx/>
                      <a:uFillTx/>
                      <a:latin typeface="锐字工房云字库细圆GBK" panose="02010604000000000000" pitchFamily="2" charset="-122"/>
                      <a:ea typeface="锐字工房云字库细圆GBK" panose="02010604000000000000" pitchFamily="2" charset="-122"/>
                      <a:sym typeface="Segoe Script" panose="030B0504020000000003" pitchFamily="66" charset="0"/>
                    </a:rPr>
                    <a:t>单核</a:t>
                  </a:r>
                  <a:endParaRPr kumimoji="0" lang="en-US" altLang="zh-CN" sz="1400" b="0" i="0" u="none" strike="noStrike" kern="1200" cap="none" spc="0" normalizeH="0" baseline="0" noProof="0" dirty="0">
                    <a:ln>
                      <a:noFill/>
                    </a:ln>
                    <a:solidFill>
                      <a:srgbClr val="000000"/>
                    </a:solidFill>
                    <a:effectLst/>
                    <a:uLnTx/>
                    <a:uFillTx/>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a:p>
                  <a:pPr marL="171450" marR="0" lvl="0" indent="-171450" algn="l" defTabSz="913765" rtl="0" eaLnBrk="1" fontAlgn="auto" latinLnBrk="0" hangingPunct="1">
                    <a:lnSpc>
                      <a:spcPct val="150000"/>
                    </a:lnSpc>
                    <a:spcBef>
                      <a:spcPts val="0"/>
                    </a:spcBef>
                    <a:spcAft>
                      <a:spcPts val="0"/>
                    </a:spcAft>
                    <a:buClrTx/>
                    <a:buSzTx/>
                    <a:buFont typeface="Arial" panose="020B0604020202020204" pitchFamily="34" charset="0"/>
                    <a:buChar char="•"/>
                    <a:defRPr/>
                  </a:pPr>
                  <a:r>
                    <a:rPr lang="zh-CN" altLang="en-US" sz="1400" dirty="0">
                      <a:solidFill>
                        <a:srgbClr val="000000"/>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   ↓</a:t>
                  </a:r>
                  <a:endParaRPr kumimoji="0" lang="en-US" altLang="zh-CN" sz="1400" b="0" i="0" u="none" strike="noStrike" kern="1200" cap="none" spc="0" normalizeH="0" baseline="0" noProof="0" dirty="0">
                    <a:ln>
                      <a:noFill/>
                    </a:ln>
                    <a:solidFill>
                      <a:srgbClr val="000000"/>
                    </a:solidFill>
                    <a:effectLst/>
                    <a:uLnTx/>
                    <a:uFillTx/>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a:p>
                  <a:pPr marL="171450" marR="0" lvl="0" indent="-171450" algn="l" defTabSz="913765" rtl="0" eaLnBrk="1" fontAlgn="auto" latinLnBrk="0" hangingPunct="1">
                    <a:lnSpc>
                      <a:spcPct val="150000"/>
                    </a:lnSpc>
                    <a:spcBef>
                      <a:spcPts val="0"/>
                    </a:spcBef>
                    <a:spcAft>
                      <a:spcPts val="0"/>
                    </a:spcAft>
                    <a:buClrTx/>
                    <a:buSzTx/>
                    <a:buFont typeface="Arial" panose="020B0604020202020204" pitchFamily="34" charset="0"/>
                    <a:buChar char="•"/>
                    <a:defRPr/>
                  </a:pPr>
                  <a:r>
                    <a:rPr lang="zh-CN" altLang="en-US" sz="1400" dirty="0">
                      <a:solidFill>
                        <a:srgbClr val="000000"/>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数十核</a:t>
                  </a:r>
                  <a:endParaRPr kumimoji="0" lang="en-US" altLang="zh-CN" sz="1400" b="0" i="0" u="none" strike="noStrike" kern="1200" cap="none" spc="0" normalizeH="0" baseline="0" noProof="0" dirty="0">
                    <a:ln>
                      <a:noFill/>
                    </a:ln>
                    <a:solidFill>
                      <a:srgbClr val="000000"/>
                    </a:solidFill>
                    <a:effectLst/>
                    <a:uLnTx/>
                    <a:uFillTx/>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grpSp>
        </p:grpSp>
      </p:grpSp>
      <p:sp>
        <p:nvSpPr>
          <p:cNvPr id="53" name="îṣḻiḍè"/>
          <p:cNvSpPr txBox="1"/>
          <p:nvPr/>
        </p:nvSpPr>
        <p:spPr>
          <a:xfrm>
            <a:off x="683094" y="1027790"/>
            <a:ext cx="4865449" cy="812511"/>
          </a:xfrm>
          <a:prstGeom prst="rect">
            <a:avLst/>
          </a:prstGeom>
          <a:noFill/>
          <a:ln>
            <a:noFill/>
          </a:ln>
        </p:spPr>
        <p:txBody>
          <a:bodyPr wrap="square" lIns="91440" tIns="45720" rIns="91440" bIns="45720" anchor="t" anchorCtr="0">
            <a:noAutofit/>
          </a:bodyPr>
          <a:lstStyle/>
          <a:p>
            <a:pPr lvl="0" defTabSz="913765">
              <a:lnSpc>
                <a:spcPct val="150000"/>
              </a:lnSpc>
              <a:buSzPct val="25000"/>
              <a:defRPr/>
            </a:pPr>
            <a:r>
              <a:rPr lang="zh-CN" altLang="en-US" sz="3200" b="0" i="0" dirty="0">
                <a:solidFill>
                  <a:srgbClr val="333333"/>
                </a:solidFill>
                <a:effectLst/>
                <a:latin typeface="-apple-system-font"/>
              </a:rPr>
              <a:t>黄金</a:t>
            </a:r>
            <a:r>
              <a:rPr lang="en-US" altLang="zh-CN" sz="3200" b="0" i="0" dirty="0">
                <a:solidFill>
                  <a:srgbClr val="333333"/>
                </a:solidFill>
                <a:effectLst/>
                <a:latin typeface="-apple-system-font"/>
              </a:rPr>
              <a:t>40</a:t>
            </a:r>
            <a:r>
              <a:rPr lang="zh-CN" altLang="en-US" sz="3200" b="0" i="0" dirty="0">
                <a:solidFill>
                  <a:srgbClr val="333333"/>
                </a:solidFill>
                <a:effectLst/>
                <a:latin typeface="-apple-system-font"/>
              </a:rPr>
              <a:t>年：平均每年</a:t>
            </a:r>
            <a:r>
              <a:rPr lang="en-US" altLang="zh-CN" sz="3200" b="0" i="0" dirty="0">
                <a:solidFill>
                  <a:srgbClr val="333333"/>
                </a:solidFill>
                <a:effectLst/>
                <a:latin typeface="-apple-system-font"/>
              </a:rPr>
              <a:t>1.4</a:t>
            </a:r>
            <a:r>
              <a:rPr lang="zh-CN" altLang="en-US" sz="3200" b="0" i="0" dirty="0">
                <a:solidFill>
                  <a:srgbClr val="333333"/>
                </a:solidFill>
                <a:effectLst/>
                <a:latin typeface="-apple-system-font"/>
              </a:rPr>
              <a:t>倍</a:t>
            </a:r>
            <a:endParaRPr lang="zh-CN" altLang="en-US" sz="3200" spc="300" dirty="0">
              <a:solidFill>
                <a:schemeClr val="accent2">
                  <a:lumMod val="50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sp>
        <p:nvSpPr>
          <p:cNvPr id="55" name="文本框 54"/>
          <p:cNvSpPr txBox="1"/>
          <p:nvPr/>
        </p:nvSpPr>
        <p:spPr>
          <a:xfrm>
            <a:off x="754114" y="381939"/>
            <a:ext cx="3353721" cy="584775"/>
          </a:xfrm>
          <a:prstGeom prst="rect">
            <a:avLst/>
          </a:prstGeom>
          <a:noFill/>
        </p:spPr>
        <p:txBody>
          <a:bodyPr wrap="square" rtlCol="0">
            <a:spAutoFit/>
          </a:bodyPr>
          <a:lstStyle/>
          <a:p>
            <a:r>
              <a:rPr lang="zh-CN" altLang="en-US" sz="3200" b="1" spc="600" dirty="0">
                <a:latin typeface="锐字工房云字库细圆GBK" panose="02010604000000000000" pitchFamily="2" charset="-122"/>
                <a:ea typeface="锐字工房云字库细圆GBK" panose="02010604000000000000" pitchFamily="2" charset="-122"/>
              </a:rPr>
              <a:t>传统通用框架</a:t>
            </a:r>
            <a:endParaRPr lang="zh-CN" altLang="en-US" sz="3200" b="1" spc="600" dirty="0">
              <a:latin typeface="锐字工房云字库细圆GBK" panose="02010604000000000000" pitchFamily="2" charset="-122"/>
              <a:ea typeface="锐字工房云字库细圆GBK" panose="02010604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386079" y="390381"/>
            <a:ext cx="11379201" cy="7016259"/>
            <a:chOff x="386079" y="390381"/>
            <a:chExt cx="11379201" cy="7016259"/>
          </a:xfrm>
        </p:grpSpPr>
        <p:grpSp>
          <p:nvGrpSpPr>
            <p:cNvPr id="16" name="组合 15"/>
            <p:cNvGrpSpPr/>
            <p:nvPr/>
          </p:nvGrpSpPr>
          <p:grpSpPr>
            <a:xfrm>
              <a:off x="386079" y="390382"/>
              <a:ext cx="11379201" cy="7016258"/>
              <a:chOff x="386079" y="390382"/>
              <a:chExt cx="11379201" cy="7016258"/>
            </a:xfrm>
          </p:grpSpPr>
          <p:grpSp>
            <p:nvGrpSpPr>
              <p:cNvPr id="18" name="组合 17"/>
              <p:cNvGrpSpPr/>
              <p:nvPr/>
            </p:nvGrpSpPr>
            <p:grpSpPr>
              <a:xfrm>
                <a:off x="386079" y="1242619"/>
                <a:ext cx="11379201" cy="6164021"/>
                <a:chOff x="386079" y="1242619"/>
                <a:chExt cx="11379201" cy="6164021"/>
              </a:xfrm>
            </p:grpSpPr>
            <p:grpSp>
              <p:nvGrpSpPr>
                <p:cNvPr id="20" name="组合 19"/>
                <p:cNvGrpSpPr/>
                <p:nvPr/>
              </p:nvGrpSpPr>
              <p:grpSpPr>
                <a:xfrm>
                  <a:off x="386079" y="4236720"/>
                  <a:ext cx="4815841" cy="3169920"/>
                  <a:chOff x="609599" y="3942080"/>
                  <a:chExt cx="4815841" cy="3169920"/>
                </a:xfrm>
              </p:grpSpPr>
              <p:sp>
                <p:nvSpPr>
                  <p:cNvPr id="28" name="矩形 27"/>
                  <p:cNvSpPr/>
                  <p:nvPr/>
                </p:nvSpPr>
                <p:spPr>
                  <a:xfrm>
                    <a:off x="609599" y="3942080"/>
                    <a:ext cx="4815841" cy="316992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sp>
                <p:nvSpPr>
                  <p:cNvPr id="29" name="文本框 28"/>
                  <p:cNvSpPr txBox="1"/>
                  <p:nvPr/>
                </p:nvSpPr>
                <p:spPr>
                  <a:xfrm>
                    <a:off x="914400" y="4337765"/>
                    <a:ext cx="2509520" cy="646331"/>
                  </a:xfrm>
                  <a:prstGeom prst="rect">
                    <a:avLst/>
                  </a:prstGeom>
                  <a:noFill/>
                </p:spPr>
                <p:txBody>
                  <a:bodyPr wrap="square" rtlCol="0">
                    <a:spAutoFit/>
                  </a:bodyPr>
                  <a:lstStyle/>
                  <a:p>
                    <a:r>
                      <a:rPr lang="en-US" altLang="zh-CN" sz="3600" b="1" spc="600" dirty="0">
                        <a:solidFill>
                          <a:schemeClr val="accent2">
                            <a:lumMod val="75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DSA</a:t>
                    </a:r>
                    <a:endParaRPr lang="zh-CN" altLang="en-US" sz="3600" b="1" spc="600" dirty="0">
                      <a:solidFill>
                        <a:schemeClr val="accent2">
                          <a:lumMod val="75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sp>
                <p:nvSpPr>
                  <p:cNvPr id="31" name="矩形 30"/>
                  <p:cNvSpPr/>
                  <p:nvPr/>
                </p:nvSpPr>
                <p:spPr>
                  <a:xfrm>
                    <a:off x="748362" y="5351050"/>
                    <a:ext cx="4579818" cy="954107"/>
                  </a:xfrm>
                  <a:prstGeom prst="rect">
                    <a:avLst/>
                  </a:prstGeom>
                </p:spPr>
                <p:txBody>
                  <a:bodyPr wrap="square">
                    <a:spAutoFit/>
                  </a:bodyPr>
                  <a:lstStyle/>
                  <a:p>
                    <a:r>
                      <a:rPr lang="zh-CN" altLang="en-US" sz="2800" b="1" dirty="0">
                        <a:solidFill>
                          <a:schemeClr val="tx1">
                            <a:lumMod val="75000"/>
                            <a:lumOff val="25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异构计算的一种具体的表现形式。</a:t>
                    </a:r>
                    <a:endParaRPr lang="zh-CN" altLang="en-US" sz="2800" b="1" dirty="0">
                      <a:solidFill>
                        <a:schemeClr val="tx1">
                          <a:lumMod val="75000"/>
                          <a:lumOff val="25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grpSp>
            <p:grpSp>
              <p:nvGrpSpPr>
                <p:cNvPr id="21" name="组合 20"/>
                <p:cNvGrpSpPr/>
                <p:nvPr/>
              </p:nvGrpSpPr>
              <p:grpSpPr>
                <a:xfrm>
                  <a:off x="7630160" y="1242619"/>
                  <a:ext cx="4135120" cy="4712656"/>
                  <a:chOff x="7640320" y="1039414"/>
                  <a:chExt cx="4135120" cy="4712656"/>
                </a:xfrm>
              </p:grpSpPr>
              <p:sp>
                <p:nvSpPr>
                  <p:cNvPr id="25" name="矩形 24"/>
                  <p:cNvSpPr/>
                  <p:nvPr/>
                </p:nvSpPr>
                <p:spPr>
                  <a:xfrm>
                    <a:off x="7640321" y="1039414"/>
                    <a:ext cx="4135119" cy="1135054"/>
                  </a:xfrm>
                  <a:prstGeom prst="rect">
                    <a:avLst/>
                  </a:prstGeom>
                </p:spPr>
                <p:txBody>
                  <a:bodyPr wrap="square">
                    <a:spAutoFit/>
                  </a:bodyPr>
                  <a:lstStyle/>
                  <a:p>
                    <a:pPr>
                      <a:lnSpc>
                        <a:spcPct val="150000"/>
                      </a:lnSpc>
                    </a:pPr>
                    <a:r>
                      <a:rPr lang="zh-CN" altLang="en-US" sz="2400" b="1" dirty="0">
                        <a:solidFill>
                          <a:schemeClr val="tx1">
                            <a:lumMod val="75000"/>
                            <a:lumOff val="25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核心思想：使用专用的硬件做专用的事情</a:t>
                    </a:r>
                    <a:endParaRPr lang="zh-CN" altLang="en-US" sz="2400" b="1" dirty="0">
                      <a:solidFill>
                        <a:schemeClr val="tx1">
                          <a:lumMod val="75000"/>
                          <a:lumOff val="25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sp>
                <p:nvSpPr>
                  <p:cNvPr id="26" name="矩形 25"/>
                  <p:cNvSpPr/>
                  <p:nvPr/>
                </p:nvSpPr>
                <p:spPr>
                  <a:xfrm>
                    <a:off x="7640320" y="2551216"/>
                    <a:ext cx="4135119" cy="1135054"/>
                  </a:xfrm>
                  <a:prstGeom prst="rect">
                    <a:avLst/>
                  </a:prstGeom>
                </p:spPr>
                <p:txBody>
                  <a:bodyPr wrap="square">
                    <a:spAutoFit/>
                  </a:bodyPr>
                  <a:lstStyle/>
                  <a:p>
                    <a:pPr>
                      <a:lnSpc>
                        <a:spcPct val="150000"/>
                      </a:lnSpc>
                    </a:pPr>
                    <a:r>
                      <a:rPr lang="zh-CN" altLang="en-US" sz="2400" b="1" dirty="0">
                        <a:solidFill>
                          <a:schemeClr val="tx1">
                            <a:lumMod val="75000"/>
                            <a:lumOff val="25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一个</a:t>
                    </a:r>
                    <a:r>
                      <a:rPr lang="en-US" altLang="zh-CN" sz="2400" b="1" dirty="0">
                        <a:solidFill>
                          <a:schemeClr val="tx1">
                            <a:lumMod val="75000"/>
                            <a:lumOff val="25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Domain</a:t>
                    </a:r>
                    <a:r>
                      <a:rPr lang="zh-CN" altLang="en-US" sz="2400" b="1" dirty="0">
                        <a:solidFill>
                          <a:schemeClr val="tx1">
                            <a:lumMod val="75000"/>
                            <a:lumOff val="25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内的应用，而非一个固定的应用</a:t>
                    </a:r>
                    <a:endParaRPr lang="zh-CN" altLang="en-US" sz="2400" b="1" dirty="0">
                      <a:solidFill>
                        <a:schemeClr val="tx1">
                          <a:lumMod val="75000"/>
                          <a:lumOff val="25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sp>
                <p:nvSpPr>
                  <p:cNvPr id="27" name="矩形 26"/>
                  <p:cNvSpPr/>
                  <p:nvPr/>
                </p:nvSpPr>
                <p:spPr>
                  <a:xfrm>
                    <a:off x="7640320" y="4063018"/>
                    <a:ext cx="4135119" cy="1689052"/>
                  </a:xfrm>
                  <a:prstGeom prst="rect">
                    <a:avLst/>
                  </a:prstGeom>
                </p:spPr>
                <p:txBody>
                  <a:bodyPr wrap="square">
                    <a:spAutoFit/>
                  </a:bodyPr>
                  <a:lstStyle/>
                  <a:p>
                    <a:pPr>
                      <a:lnSpc>
                        <a:spcPct val="150000"/>
                      </a:lnSpc>
                    </a:pPr>
                    <a:r>
                      <a:rPr lang="zh-CN" altLang="en-US" sz="2400" b="1" dirty="0">
                        <a:solidFill>
                          <a:schemeClr val="tx1">
                            <a:lumMod val="75000"/>
                            <a:lumOff val="25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对主处理器适当地扩展出面向某些 特定领域的协处理器加速器</a:t>
                    </a:r>
                    <a:endParaRPr lang="zh-CN" altLang="en-US" sz="2400" b="1" dirty="0">
                      <a:solidFill>
                        <a:schemeClr val="tx1">
                          <a:lumMod val="75000"/>
                          <a:lumOff val="25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grpSp>
            <p:sp>
              <p:nvSpPr>
                <p:cNvPr id="22" name="矩形 21"/>
                <p:cNvSpPr/>
                <p:nvPr/>
              </p:nvSpPr>
              <p:spPr>
                <a:xfrm>
                  <a:off x="7034107" y="1622557"/>
                  <a:ext cx="413173" cy="7112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sp>
              <p:nvSpPr>
                <p:cNvPr id="23" name="矩形 22"/>
                <p:cNvSpPr/>
                <p:nvPr/>
              </p:nvSpPr>
              <p:spPr>
                <a:xfrm>
                  <a:off x="7034107" y="3134359"/>
                  <a:ext cx="413173" cy="7112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sp>
              <p:nvSpPr>
                <p:cNvPr id="24" name="矩形 23"/>
                <p:cNvSpPr/>
                <p:nvPr/>
              </p:nvSpPr>
              <p:spPr>
                <a:xfrm>
                  <a:off x="7034107" y="4646161"/>
                  <a:ext cx="413173" cy="7112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grpSp>
          <p:pic>
            <p:nvPicPr>
              <p:cNvPr id="19" name="图片 18"/>
              <p:cNvPicPr>
                <a:picLocks noChangeAspect="1"/>
              </p:cNvPicPr>
              <p:nvPr/>
            </p:nvPicPr>
            <p:blipFill rotWithShape="1">
              <a:blip r:embed="rId1" cstate="screen"/>
              <a:srcRect/>
              <a:stretch>
                <a:fillRect/>
              </a:stretch>
            </p:blipFill>
            <p:spPr>
              <a:xfrm>
                <a:off x="3418840" y="390382"/>
                <a:ext cx="3357880" cy="5145465"/>
              </a:xfrm>
              <a:prstGeom prst="rect">
                <a:avLst/>
              </a:prstGeom>
              <a:blipFill>
                <a:blip r:embed="rId2" cstate="screen"/>
                <a:stretch>
                  <a:fillRect/>
                </a:stretch>
              </a:blipFill>
            </p:spPr>
          </p:pic>
        </p:grpSp>
        <p:sp>
          <p:nvSpPr>
            <p:cNvPr id="17" name="矩形 16"/>
            <p:cNvSpPr/>
            <p:nvPr/>
          </p:nvSpPr>
          <p:spPr>
            <a:xfrm>
              <a:off x="3412067" y="390381"/>
              <a:ext cx="3364653" cy="514546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cstate="screen">
            <a:lum/>
          </a:blip>
          <a:srcRect/>
          <a:stretch>
            <a:fillRect/>
          </a:stretch>
        </a:blipFill>
        <a:effectLst/>
      </p:bgPr>
    </p:bg>
    <p:spTree>
      <p:nvGrpSpPr>
        <p:cNvPr id="1" name=""/>
        <p:cNvGrpSpPr/>
        <p:nvPr/>
      </p:nvGrpSpPr>
      <p:grpSpPr>
        <a:xfrm>
          <a:off x="0" y="0"/>
          <a:ext cx="0" cy="0"/>
          <a:chOff x="0" y="0"/>
          <a:chExt cx="0" cy="0"/>
        </a:xfrm>
      </p:grpSpPr>
      <p:sp>
        <p:nvSpPr>
          <p:cNvPr id="21" name="矩形 20"/>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3" name="雷锋PPT网www.lfppt.com"/>
          <p:cNvGrpSpPr/>
          <p:nvPr/>
        </p:nvGrpSpPr>
        <p:grpSpPr>
          <a:xfrm>
            <a:off x="0" y="713740"/>
            <a:ext cx="12192001" cy="4737100"/>
            <a:chOff x="0" y="713740"/>
            <a:chExt cx="12192001" cy="4737100"/>
          </a:xfrm>
        </p:grpSpPr>
        <p:sp useBgFill="1">
          <p:nvSpPr>
            <p:cNvPr id="25" name="矩形 24"/>
            <p:cNvSpPr/>
            <p:nvPr/>
          </p:nvSpPr>
          <p:spPr>
            <a:xfrm>
              <a:off x="4196080" y="1407160"/>
              <a:ext cx="7995920" cy="40436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grpSp>
          <p:nvGrpSpPr>
            <p:cNvPr id="26" name="组合 25"/>
            <p:cNvGrpSpPr/>
            <p:nvPr/>
          </p:nvGrpSpPr>
          <p:grpSpPr>
            <a:xfrm>
              <a:off x="0" y="1407160"/>
              <a:ext cx="4064000" cy="4043680"/>
              <a:chOff x="0" y="1407160"/>
              <a:chExt cx="4064000" cy="4043680"/>
            </a:xfrm>
          </p:grpSpPr>
          <p:sp>
            <p:nvSpPr>
              <p:cNvPr id="32" name="矩形 31"/>
              <p:cNvSpPr/>
              <p:nvPr/>
            </p:nvSpPr>
            <p:spPr>
              <a:xfrm>
                <a:off x="0" y="1407160"/>
                <a:ext cx="4064000" cy="40436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34" name="文本框 33"/>
              <p:cNvSpPr txBox="1"/>
              <p:nvPr/>
            </p:nvSpPr>
            <p:spPr>
              <a:xfrm>
                <a:off x="127000" y="2940864"/>
                <a:ext cx="3810000" cy="1198880"/>
              </a:xfrm>
              <a:prstGeom prst="rect">
                <a:avLst/>
              </a:prstGeom>
              <a:noFill/>
            </p:spPr>
            <p:txBody>
              <a:bodyPr wrap="square" rtlCol="0">
                <a:spAutoFit/>
              </a:bodyPr>
              <a:lstStyle/>
              <a:p>
                <a:pPr algn="ctr"/>
                <a:r>
                  <a:rPr sz="3600" dirty="0">
                    <a:solidFill>
                      <a:schemeClr val="bg1"/>
                    </a:solidFill>
                    <a:latin typeface="造字工房力黑（非商用）常规体" pitchFamily="50" charset="-122"/>
                    <a:ea typeface="造字工房力黑（非商用）常规体" pitchFamily="50" charset="-122"/>
                    <a:cs typeface="+mn-ea"/>
                    <a:sym typeface="+mn-lt"/>
                  </a:rPr>
                  <a:t>RISC-V架</a:t>
                </a:r>
                <a:r>
                  <a:rPr lang="zh-CN" sz="3600" dirty="0">
                    <a:solidFill>
                      <a:schemeClr val="bg1"/>
                    </a:solidFill>
                    <a:latin typeface="造字工房力黑（非商用）常规体" pitchFamily="50" charset="-122"/>
                    <a:ea typeface="造字工房力黑（非商用）常规体" pitchFamily="50" charset="-122"/>
                    <a:cs typeface="+mn-ea"/>
                    <a:sym typeface="+mn-lt"/>
                  </a:rPr>
                  <a:t>构</a:t>
                </a:r>
                <a:r>
                  <a:rPr sz="3600" dirty="0">
                    <a:solidFill>
                      <a:schemeClr val="bg1"/>
                    </a:solidFill>
                    <a:latin typeface="造字工房力黑（非商用）常规体" pitchFamily="50" charset="-122"/>
                    <a:ea typeface="造字工房力黑（非商用）常规体" pitchFamily="50" charset="-122"/>
                    <a:cs typeface="+mn-ea"/>
                    <a:sym typeface="+mn-lt"/>
                  </a:rPr>
                  <a:t>的可扩展性</a:t>
                </a:r>
                <a:endParaRPr sz="3600" dirty="0">
                  <a:solidFill>
                    <a:schemeClr val="bg1"/>
                  </a:solidFill>
                  <a:latin typeface="造字工房力黑（非商用）常规体" pitchFamily="50" charset="-122"/>
                  <a:ea typeface="造字工房力黑（非商用）常规体" pitchFamily="50" charset="-122"/>
                  <a:cs typeface="+mn-ea"/>
                  <a:sym typeface="+mn-lt"/>
                </a:endParaRPr>
              </a:p>
            </p:txBody>
          </p:sp>
        </p:grpSp>
        <p:grpSp>
          <p:nvGrpSpPr>
            <p:cNvPr id="27" name="组合 26"/>
            <p:cNvGrpSpPr/>
            <p:nvPr/>
          </p:nvGrpSpPr>
          <p:grpSpPr>
            <a:xfrm>
              <a:off x="7564229" y="713740"/>
              <a:ext cx="4627772" cy="1386840"/>
              <a:chOff x="7564229" y="713740"/>
              <a:chExt cx="4627772" cy="1386840"/>
            </a:xfrm>
          </p:grpSpPr>
          <p:sp>
            <p:nvSpPr>
              <p:cNvPr id="29" name="任意多边形 28"/>
              <p:cNvSpPr/>
              <p:nvPr/>
            </p:nvSpPr>
            <p:spPr>
              <a:xfrm flipH="1" flipV="1">
                <a:off x="7564229" y="713740"/>
                <a:ext cx="4627771" cy="1386840"/>
              </a:xfrm>
              <a:custGeom>
                <a:avLst/>
                <a:gdLst>
                  <a:gd name="connsiteX0" fmla="*/ 0 w 7147560"/>
                  <a:gd name="connsiteY0" fmla="*/ 0 h 2814320"/>
                  <a:gd name="connsiteX1" fmla="*/ 6443980 w 7147560"/>
                  <a:gd name="connsiteY1" fmla="*/ 0 h 2814320"/>
                  <a:gd name="connsiteX2" fmla="*/ 7147560 w 7147560"/>
                  <a:gd name="connsiteY2" fmla="*/ 2814320 h 2814320"/>
                  <a:gd name="connsiteX3" fmla="*/ 0 w 7147560"/>
                  <a:gd name="connsiteY3" fmla="*/ 2814320 h 2814320"/>
                  <a:gd name="connsiteX0-1" fmla="*/ 0 w 8689506"/>
                  <a:gd name="connsiteY0-2" fmla="*/ 0 h 2814320"/>
                  <a:gd name="connsiteX1-3" fmla="*/ 6443980 w 8689506"/>
                  <a:gd name="connsiteY1-4" fmla="*/ 0 h 2814320"/>
                  <a:gd name="connsiteX2-5" fmla="*/ 8689506 w 8689506"/>
                  <a:gd name="connsiteY2-6" fmla="*/ 2814320 h 2814320"/>
                  <a:gd name="connsiteX3-7" fmla="*/ 0 w 8689506"/>
                  <a:gd name="connsiteY3-8" fmla="*/ 2814320 h 2814320"/>
                  <a:gd name="connsiteX4" fmla="*/ 0 w 8689506"/>
                  <a:gd name="connsiteY4" fmla="*/ 0 h 2814320"/>
                  <a:gd name="connsiteX0-9" fmla="*/ 0 w 9235080"/>
                  <a:gd name="connsiteY0-10" fmla="*/ 0 h 2834640"/>
                  <a:gd name="connsiteX1-11" fmla="*/ 6443980 w 9235080"/>
                  <a:gd name="connsiteY1-12" fmla="*/ 0 h 2834640"/>
                  <a:gd name="connsiteX2-13" fmla="*/ 9235080 w 9235080"/>
                  <a:gd name="connsiteY2-14" fmla="*/ 2834640 h 2834640"/>
                  <a:gd name="connsiteX3-15" fmla="*/ 0 w 9235080"/>
                  <a:gd name="connsiteY3-16" fmla="*/ 2814320 h 2834640"/>
                  <a:gd name="connsiteX4-17" fmla="*/ 0 w 9235080"/>
                  <a:gd name="connsiteY4-18" fmla="*/ 0 h 2834640"/>
                </a:gdLst>
                <a:ahLst/>
                <a:cxnLst>
                  <a:cxn ang="0">
                    <a:pos x="connsiteX0-1" y="connsiteY0-2"/>
                  </a:cxn>
                  <a:cxn ang="0">
                    <a:pos x="connsiteX1-3" y="connsiteY1-4"/>
                  </a:cxn>
                  <a:cxn ang="0">
                    <a:pos x="connsiteX2-5" y="connsiteY2-6"/>
                  </a:cxn>
                  <a:cxn ang="0">
                    <a:pos x="connsiteX3-7" y="connsiteY3-8"/>
                  </a:cxn>
                  <a:cxn ang="0">
                    <a:pos x="connsiteX4-17" y="connsiteY4-18"/>
                  </a:cxn>
                </a:cxnLst>
                <a:rect l="l" t="t" r="r" b="b"/>
                <a:pathLst>
                  <a:path w="9235080" h="2834640">
                    <a:moveTo>
                      <a:pt x="0" y="0"/>
                    </a:moveTo>
                    <a:lnTo>
                      <a:pt x="6443980" y="0"/>
                    </a:lnTo>
                    <a:lnTo>
                      <a:pt x="9235080" y="2834640"/>
                    </a:lnTo>
                    <a:lnTo>
                      <a:pt x="0" y="2814320"/>
                    </a:lnTo>
                    <a:lnTo>
                      <a:pt x="0" y="0"/>
                    </a:lnTo>
                    <a:close/>
                  </a:path>
                </a:pathLst>
              </a:cu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31" name="文本框 30"/>
              <p:cNvSpPr txBox="1"/>
              <p:nvPr/>
            </p:nvSpPr>
            <p:spPr>
              <a:xfrm>
                <a:off x="7712365" y="991661"/>
                <a:ext cx="4479636" cy="707886"/>
              </a:xfrm>
              <a:prstGeom prst="rect">
                <a:avLst/>
              </a:prstGeom>
              <a:noFill/>
            </p:spPr>
            <p:txBody>
              <a:bodyPr wrap="square" rtlCol="0">
                <a:spAutoFit/>
              </a:bodyPr>
              <a:lstStyle/>
              <a:p>
                <a:pPr algn="r"/>
                <a:r>
                  <a:rPr lang="en-US" altLang="zh-CN" sz="4000" spc="300" dirty="0">
                    <a:solidFill>
                      <a:schemeClr val="bg1"/>
                    </a:solidFill>
                    <a:latin typeface="造字工房力黑（非商用）常规体" pitchFamily="50" charset="-122"/>
                    <a:ea typeface="造字工房力黑（非商用）常规体" pitchFamily="50" charset="-122"/>
                    <a:cs typeface="+mn-ea"/>
                    <a:sym typeface="+mn-lt"/>
                  </a:rPr>
                  <a:t>PART TWO</a:t>
                </a:r>
                <a:endParaRPr lang="zh-CN" altLang="en-US" sz="4000" spc="300" dirty="0">
                  <a:solidFill>
                    <a:schemeClr val="bg1"/>
                  </a:solidFill>
                  <a:latin typeface="造字工房力黑（非商用）常规体" pitchFamily="50" charset="-122"/>
                  <a:ea typeface="造字工房力黑（非商用）常规体" pitchFamily="50" charset="-122"/>
                  <a:cs typeface="+mn-ea"/>
                  <a:sym typeface="+mn-lt"/>
                </a:endParaRPr>
              </a:p>
            </p:txBody>
          </p:sp>
        </p:grpSp>
        <p:sp>
          <p:nvSpPr>
            <p:cNvPr id="28" name="文本框 27"/>
            <p:cNvSpPr txBox="1"/>
            <p:nvPr/>
          </p:nvSpPr>
          <p:spPr>
            <a:xfrm>
              <a:off x="9550399" y="3052435"/>
              <a:ext cx="2349194" cy="1446550"/>
            </a:xfrm>
            <a:prstGeom prst="rect">
              <a:avLst/>
            </a:prstGeom>
            <a:noFill/>
            <a:ln>
              <a:solidFill>
                <a:schemeClr val="bg1"/>
              </a:solidFill>
            </a:ln>
          </p:spPr>
          <p:txBody>
            <a:bodyPr wrap="square" rtlCol="0">
              <a:spAutoFit/>
            </a:bodyPr>
            <a:lstStyle/>
            <a:p>
              <a:pPr algn="ctr"/>
              <a:r>
                <a:rPr lang="en-US" altLang="zh-CN" sz="8800" spc="600" dirty="0">
                  <a:solidFill>
                    <a:schemeClr val="bg1"/>
                  </a:solidFill>
                  <a:latin typeface="造字工房力黑（非商用）常规体" pitchFamily="50" charset="-122"/>
                  <a:ea typeface="造字工房力黑（非商用）常规体" pitchFamily="50" charset="-122"/>
                  <a:cs typeface="+mn-ea"/>
                  <a:sym typeface="+mn-lt"/>
                </a:rPr>
                <a:t>02</a:t>
              </a:r>
              <a:endParaRPr lang="zh-CN" altLang="en-US" sz="8800" spc="600" dirty="0">
                <a:solidFill>
                  <a:schemeClr val="bg1"/>
                </a:solidFill>
                <a:latin typeface="造字工房力黑（非商用）常规体" pitchFamily="50" charset="-122"/>
                <a:ea typeface="造字工房力黑（非商用）常规体" pitchFamily="50"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right)">
                                      <p:cBhvr>
                                        <p:cTn id="7"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1215470" y="888484"/>
            <a:ext cx="9761060" cy="5524074"/>
            <a:chOff x="911860" y="888484"/>
            <a:chExt cx="9761060" cy="5524074"/>
          </a:xfrm>
        </p:grpSpPr>
        <p:sp>
          <p:nvSpPr>
            <p:cNvPr id="16" name="íšļïḋè"/>
            <p:cNvSpPr/>
            <p:nvPr/>
          </p:nvSpPr>
          <p:spPr>
            <a:xfrm>
              <a:off x="6462799" y="1066316"/>
              <a:ext cx="4210121" cy="4811568"/>
            </a:xfrm>
            <a:custGeom>
              <a:avLst/>
              <a:gdLst>
                <a:gd name="connsiteX0" fmla="*/ 2323145 w 9034462"/>
                <a:gd name="connsiteY0" fmla="*/ 9034461 h 10325100"/>
                <a:gd name="connsiteX1" fmla="*/ 2323145 w 9034462"/>
                <a:gd name="connsiteY1" fmla="*/ 9163525 h 10325100"/>
                <a:gd name="connsiteX2" fmla="*/ 2968465 w 9034462"/>
                <a:gd name="connsiteY2" fmla="*/ 9550719 h 10325100"/>
                <a:gd name="connsiteX3" fmla="*/ 2968465 w 9034462"/>
                <a:gd name="connsiteY3" fmla="*/ 9421655 h 10325100"/>
                <a:gd name="connsiteX4" fmla="*/ 6453186 w 9034462"/>
                <a:gd name="connsiteY4" fmla="*/ 6195061 h 10325100"/>
                <a:gd name="connsiteX5" fmla="*/ 5936930 w 9034462"/>
                <a:gd name="connsiteY5" fmla="*/ 6840378 h 10325100"/>
                <a:gd name="connsiteX6" fmla="*/ 6065994 w 9034462"/>
                <a:gd name="connsiteY6" fmla="*/ 6840378 h 10325100"/>
                <a:gd name="connsiteX7" fmla="*/ 6582250 w 9034462"/>
                <a:gd name="connsiteY7" fmla="*/ 6195061 h 10325100"/>
                <a:gd name="connsiteX8" fmla="*/ 387192 w 9034462"/>
                <a:gd name="connsiteY8" fmla="*/ 5807870 h 10325100"/>
                <a:gd name="connsiteX9" fmla="*/ 387192 w 9034462"/>
                <a:gd name="connsiteY9" fmla="*/ 6840378 h 10325100"/>
                <a:gd name="connsiteX10" fmla="*/ 516253 w 9034462"/>
                <a:gd name="connsiteY10" fmla="*/ 6840378 h 10325100"/>
                <a:gd name="connsiteX11" fmla="*/ 516253 w 9034462"/>
                <a:gd name="connsiteY11" fmla="*/ 5807870 h 10325100"/>
                <a:gd name="connsiteX12" fmla="*/ 8001954 w 9034462"/>
                <a:gd name="connsiteY12" fmla="*/ 5291614 h 10325100"/>
                <a:gd name="connsiteX13" fmla="*/ 7872890 w 9034462"/>
                <a:gd name="connsiteY13" fmla="*/ 5678806 h 10325100"/>
                <a:gd name="connsiteX14" fmla="*/ 7872890 w 9034462"/>
                <a:gd name="connsiteY14" fmla="*/ 5936933 h 10325100"/>
                <a:gd name="connsiteX15" fmla="*/ 8001954 w 9034462"/>
                <a:gd name="connsiteY15" fmla="*/ 5936933 h 10325100"/>
                <a:gd name="connsiteX16" fmla="*/ 8131014 w 9034462"/>
                <a:gd name="connsiteY16" fmla="*/ 5420678 h 10325100"/>
                <a:gd name="connsiteX17" fmla="*/ 8131014 w 9034462"/>
                <a:gd name="connsiteY17" fmla="*/ 5291614 h 10325100"/>
                <a:gd name="connsiteX18" fmla="*/ 7098506 w 9034462"/>
                <a:gd name="connsiteY18" fmla="*/ 4775359 h 10325100"/>
                <a:gd name="connsiteX19" fmla="*/ 6582250 w 9034462"/>
                <a:gd name="connsiteY19" fmla="*/ 6065997 h 10325100"/>
                <a:gd name="connsiteX20" fmla="*/ 6969442 w 9034462"/>
                <a:gd name="connsiteY20" fmla="*/ 6065997 h 10325100"/>
                <a:gd name="connsiteX21" fmla="*/ 7356634 w 9034462"/>
                <a:gd name="connsiteY21" fmla="*/ 5162550 h 10325100"/>
                <a:gd name="connsiteX22" fmla="*/ 7227570 w 9034462"/>
                <a:gd name="connsiteY22" fmla="*/ 4775359 h 10325100"/>
                <a:gd name="connsiteX23" fmla="*/ 2065018 w 9034462"/>
                <a:gd name="connsiteY23" fmla="*/ 4000977 h 10325100"/>
                <a:gd name="connsiteX24" fmla="*/ 1677828 w 9034462"/>
                <a:gd name="connsiteY24" fmla="*/ 4775359 h 10325100"/>
                <a:gd name="connsiteX25" fmla="*/ 1806892 w 9034462"/>
                <a:gd name="connsiteY25" fmla="*/ 4775359 h 10325100"/>
                <a:gd name="connsiteX26" fmla="*/ 2194081 w 9034462"/>
                <a:gd name="connsiteY26" fmla="*/ 4000977 h 10325100"/>
                <a:gd name="connsiteX27" fmla="*/ 8647270 w 9034462"/>
                <a:gd name="connsiteY27" fmla="*/ 2581275 h 10325100"/>
                <a:gd name="connsiteX28" fmla="*/ 8905398 w 9034462"/>
                <a:gd name="connsiteY28" fmla="*/ 2581275 h 10325100"/>
                <a:gd name="connsiteX29" fmla="*/ 8905398 w 9034462"/>
                <a:gd name="connsiteY29" fmla="*/ 3226594 h 10325100"/>
                <a:gd name="connsiteX30" fmla="*/ 8647270 w 9034462"/>
                <a:gd name="connsiteY30" fmla="*/ 3226594 h 10325100"/>
                <a:gd name="connsiteX31" fmla="*/ 5420674 w 9034462"/>
                <a:gd name="connsiteY31" fmla="*/ 1935956 h 10325100"/>
                <a:gd name="connsiteX32" fmla="*/ 4904422 w 9034462"/>
                <a:gd name="connsiteY32" fmla="*/ 2194084 h 10325100"/>
                <a:gd name="connsiteX33" fmla="*/ 4775358 w 9034462"/>
                <a:gd name="connsiteY33" fmla="*/ 2065020 h 10325100"/>
                <a:gd name="connsiteX34" fmla="*/ 4775358 w 9034462"/>
                <a:gd name="connsiteY34" fmla="*/ 2194084 h 10325100"/>
                <a:gd name="connsiteX35" fmla="*/ 4904422 w 9034462"/>
                <a:gd name="connsiteY35" fmla="*/ 2323148 h 10325100"/>
                <a:gd name="connsiteX36" fmla="*/ 4000974 w 9034462"/>
                <a:gd name="connsiteY36" fmla="*/ 3097531 h 10325100"/>
                <a:gd name="connsiteX37" fmla="*/ 1935954 w 9034462"/>
                <a:gd name="connsiteY37" fmla="*/ 6711314 h 10325100"/>
                <a:gd name="connsiteX38" fmla="*/ 3097529 w 9034462"/>
                <a:gd name="connsiteY38" fmla="*/ 8518208 h 10325100"/>
                <a:gd name="connsiteX39" fmla="*/ 3226593 w 9034462"/>
                <a:gd name="connsiteY39" fmla="*/ 8518208 h 10325100"/>
                <a:gd name="connsiteX40" fmla="*/ 6453186 w 9034462"/>
                <a:gd name="connsiteY40" fmla="*/ 5549742 h 10325100"/>
                <a:gd name="connsiteX41" fmla="*/ 7098506 w 9034462"/>
                <a:gd name="connsiteY41" fmla="*/ 3484724 h 10325100"/>
                <a:gd name="connsiteX42" fmla="*/ 7098506 w 9034462"/>
                <a:gd name="connsiteY42" fmla="*/ 2452211 h 10325100"/>
                <a:gd name="connsiteX43" fmla="*/ 5807866 w 9034462"/>
                <a:gd name="connsiteY43" fmla="*/ 1935956 h 10325100"/>
                <a:gd name="connsiteX44" fmla="*/ 5678802 w 9034462"/>
                <a:gd name="connsiteY44" fmla="*/ 1935956 h 10325100"/>
                <a:gd name="connsiteX45" fmla="*/ 5549738 w 9034462"/>
                <a:gd name="connsiteY45" fmla="*/ 2065020 h 10325100"/>
                <a:gd name="connsiteX46" fmla="*/ 5420674 w 9034462"/>
                <a:gd name="connsiteY46" fmla="*/ 2065020 h 10325100"/>
                <a:gd name="connsiteX47" fmla="*/ 5549738 w 9034462"/>
                <a:gd name="connsiteY47" fmla="*/ 0 h 10325100"/>
                <a:gd name="connsiteX48" fmla="*/ 8389142 w 9034462"/>
                <a:gd name="connsiteY48" fmla="*/ 903445 h 10325100"/>
                <a:gd name="connsiteX49" fmla="*/ 8260078 w 9034462"/>
                <a:gd name="connsiteY49" fmla="*/ 1032509 h 10325100"/>
                <a:gd name="connsiteX50" fmla="*/ 8260078 w 9034462"/>
                <a:gd name="connsiteY50" fmla="*/ 1161573 h 10325100"/>
                <a:gd name="connsiteX51" fmla="*/ 8776334 w 9034462"/>
                <a:gd name="connsiteY51" fmla="*/ 1935956 h 10325100"/>
                <a:gd name="connsiteX52" fmla="*/ 8518206 w 9034462"/>
                <a:gd name="connsiteY52" fmla="*/ 1935956 h 10325100"/>
                <a:gd name="connsiteX53" fmla="*/ 8389142 w 9034462"/>
                <a:gd name="connsiteY53" fmla="*/ 1806894 h 10325100"/>
                <a:gd name="connsiteX54" fmla="*/ 8260078 w 9034462"/>
                <a:gd name="connsiteY54" fmla="*/ 1806894 h 10325100"/>
                <a:gd name="connsiteX55" fmla="*/ 8647270 w 9034462"/>
                <a:gd name="connsiteY55" fmla="*/ 4646295 h 10325100"/>
                <a:gd name="connsiteX56" fmla="*/ 8776334 w 9034462"/>
                <a:gd name="connsiteY56" fmla="*/ 4646295 h 10325100"/>
                <a:gd name="connsiteX57" fmla="*/ 9034462 w 9034462"/>
                <a:gd name="connsiteY57" fmla="*/ 4000977 h 10325100"/>
                <a:gd name="connsiteX58" fmla="*/ 9034462 w 9034462"/>
                <a:gd name="connsiteY58" fmla="*/ 4517231 h 10325100"/>
                <a:gd name="connsiteX59" fmla="*/ 7743826 w 9034462"/>
                <a:gd name="connsiteY59" fmla="*/ 7872889 h 10325100"/>
                <a:gd name="connsiteX60" fmla="*/ 7872890 w 9034462"/>
                <a:gd name="connsiteY60" fmla="*/ 7872889 h 10325100"/>
                <a:gd name="connsiteX61" fmla="*/ 5162550 w 9034462"/>
                <a:gd name="connsiteY61" fmla="*/ 10196036 h 10325100"/>
                <a:gd name="connsiteX62" fmla="*/ 4517230 w 9034462"/>
                <a:gd name="connsiteY62" fmla="*/ 10325100 h 10325100"/>
                <a:gd name="connsiteX63" fmla="*/ 4388166 w 9034462"/>
                <a:gd name="connsiteY63" fmla="*/ 10325100 h 10325100"/>
                <a:gd name="connsiteX64" fmla="*/ 516253 w 9034462"/>
                <a:gd name="connsiteY64" fmla="*/ 7872889 h 10325100"/>
                <a:gd name="connsiteX65" fmla="*/ 0 w 9034462"/>
                <a:gd name="connsiteY65" fmla="*/ 7098506 h 10325100"/>
                <a:gd name="connsiteX66" fmla="*/ 129064 w 9034462"/>
                <a:gd name="connsiteY66" fmla="*/ 6969442 h 10325100"/>
                <a:gd name="connsiteX67" fmla="*/ 0 w 9034462"/>
                <a:gd name="connsiteY67" fmla="*/ 6065997 h 10325100"/>
                <a:gd name="connsiteX68" fmla="*/ 0 w 9034462"/>
                <a:gd name="connsiteY68" fmla="*/ 5807870 h 10325100"/>
                <a:gd name="connsiteX69" fmla="*/ 2065018 w 9034462"/>
                <a:gd name="connsiteY69" fmla="*/ 2065020 h 10325100"/>
                <a:gd name="connsiteX70" fmla="*/ 2065018 w 9034462"/>
                <a:gd name="connsiteY70" fmla="*/ 2194084 h 10325100"/>
                <a:gd name="connsiteX71" fmla="*/ 516253 w 9034462"/>
                <a:gd name="connsiteY71" fmla="*/ 5033486 h 10325100"/>
                <a:gd name="connsiteX72" fmla="*/ 516253 w 9034462"/>
                <a:gd name="connsiteY72" fmla="*/ 5162550 h 10325100"/>
                <a:gd name="connsiteX73" fmla="*/ 645317 w 9034462"/>
                <a:gd name="connsiteY73" fmla="*/ 5162550 h 10325100"/>
                <a:gd name="connsiteX74" fmla="*/ 4130038 w 9034462"/>
                <a:gd name="connsiteY74" fmla="*/ 387192 h 10325100"/>
                <a:gd name="connsiteX75" fmla="*/ 3226593 w 9034462"/>
                <a:gd name="connsiteY75" fmla="*/ 903445 h 10325100"/>
                <a:gd name="connsiteX76" fmla="*/ 3097529 w 9034462"/>
                <a:gd name="connsiteY76" fmla="*/ 903445 h 10325100"/>
                <a:gd name="connsiteX77" fmla="*/ 5549738 w 9034462"/>
                <a:gd name="connsiteY77" fmla="*/ 0 h 10325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9034462" h="10325100">
                  <a:moveTo>
                    <a:pt x="2323145" y="9034461"/>
                  </a:moveTo>
                  <a:lnTo>
                    <a:pt x="2323145" y="9163525"/>
                  </a:lnTo>
                  <a:lnTo>
                    <a:pt x="2968465" y="9550719"/>
                  </a:lnTo>
                  <a:lnTo>
                    <a:pt x="2968465" y="9421655"/>
                  </a:lnTo>
                  <a:close/>
                  <a:moveTo>
                    <a:pt x="6453186" y="6195061"/>
                  </a:moveTo>
                  <a:lnTo>
                    <a:pt x="5936930" y="6840378"/>
                  </a:lnTo>
                  <a:lnTo>
                    <a:pt x="6065994" y="6840378"/>
                  </a:lnTo>
                  <a:lnTo>
                    <a:pt x="6582250" y="6195061"/>
                  </a:lnTo>
                  <a:close/>
                  <a:moveTo>
                    <a:pt x="387192" y="5807870"/>
                  </a:moveTo>
                  <a:lnTo>
                    <a:pt x="387192" y="6840378"/>
                  </a:lnTo>
                  <a:lnTo>
                    <a:pt x="516253" y="6840378"/>
                  </a:lnTo>
                  <a:lnTo>
                    <a:pt x="516253" y="5807870"/>
                  </a:lnTo>
                  <a:close/>
                  <a:moveTo>
                    <a:pt x="8001954" y="5291614"/>
                  </a:moveTo>
                  <a:lnTo>
                    <a:pt x="7872890" y="5678806"/>
                  </a:lnTo>
                  <a:lnTo>
                    <a:pt x="7872890" y="5936933"/>
                  </a:lnTo>
                  <a:lnTo>
                    <a:pt x="8001954" y="5936933"/>
                  </a:lnTo>
                  <a:lnTo>
                    <a:pt x="8131014" y="5420678"/>
                  </a:lnTo>
                  <a:lnTo>
                    <a:pt x="8131014" y="5291614"/>
                  </a:lnTo>
                  <a:close/>
                  <a:moveTo>
                    <a:pt x="7098506" y="4775359"/>
                  </a:moveTo>
                  <a:lnTo>
                    <a:pt x="6582250" y="6065997"/>
                  </a:lnTo>
                  <a:lnTo>
                    <a:pt x="6969442" y="6065997"/>
                  </a:lnTo>
                  <a:lnTo>
                    <a:pt x="7356634" y="5162550"/>
                  </a:lnTo>
                  <a:lnTo>
                    <a:pt x="7227570" y="4775359"/>
                  </a:lnTo>
                  <a:close/>
                  <a:moveTo>
                    <a:pt x="2065018" y="4000977"/>
                  </a:moveTo>
                  <a:lnTo>
                    <a:pt x="1677828" y="4775359"/>
                  </a:lnTo>
                  <a:lnTo>
                    <a:pt x="1806892" y="4775359"/>
                  </a:lnTo>
                  <a:lnTo>
                    <a:pt x="2194081" y="4000977"/>
                  </a:lnTo>
                  <a:close/>
                  <a:moveTo>
                    <a:pt x="8647270" y="2581275"/>
                  </a:moveTo>
                  <a:lnTo>
                    <a:pt x="8905398" y="2581275"/>
                  </a:lnTo>
                  <a:lnTo>
                    <a:pt x="8905398" y="3226594"/>
                  </a:lnTo>
                  <a:lnTo>
                    <a:pt x="8647270" y="3226594"/>
                  </a:lnTo>
                  <a:close/>
                  <a:moveTo>
                    <a:pt x="5420674" y="1935956"/>
                  </a:moveTo>
                  <a:lnTo>
                    <a:pt x="4904422" y="2194084"/>
                  </a:lnTo>
                  <a:lnTo>
                    <a:pt x="4775358" y="2065020"/>
                  </a:lnTo>
                  <a:lnTo>
                    <a:pt x="4775358" y="2194084"/>
                  </a:lnTo>
                  <a:lnTo>
                    <a:pt x="4904422" y="2323148"/>
                  </a:lnTo>
                  <a:lnTo>
                    <a:pt x="4000974" y="3097531"/>
                  </a:lnTo>
                  <a:cubicBezTo>
                    <a:pt x="3287329" y="3097531"/>
                    <a:pt x="2598989" y="4302127"/>
                    <a:pt x="1935954" y="6711314"/>
                  </a:cubicBezTo>
                  <a:cubicBezTo>
                    <a:pt x="1935954" y="7399654"/>
                    <a:pt x="2323145" y="8001952"/>
                    <a:pt x="3097529" y="8518208"/>
                  </a:cubicBezTo>
                  <a:lnTo>
                    <a:pt x="3226593" y="8518208"/>
                  </a:lnTo>
                  <a:cubicBezTo>
                    <a:pt x="4167998" y="8518208"/>
                    <a:pt x="5243530" y="7528718"/>
                    <a:pt x="6453186" y="5549742"/>
                  </a:cubicBezTo>
                  <a:cubicBezTo>
                    <a:pt x="6883398" y="4608336"/>
                    <a:pt x="7098506" y="3919995"/>
                    <a:pt x="7098506" y="3484724"/>
                  </a:cubicBezTo>
                  <a:lnTo>
                    <a:pt x="7098506" y="2452211"/>
                  </a:lnTo>
                  <a:cubicBezTo>
                    <a:pt x="7098506" y="2214329"/>
                    <a:pt x="6668290" y="2042244"/>
                    <a:pt x="5807866" y="1935956"/>
                  </a:cubicBezTo>
                  <a:lnTo>
                    <a:pt x="5678802" y="1935956"/>
                  </a:lnTo>
                  <a:lnTo>
                    <a:pt x="5549738" y="2065020"/>
                  </a:lnTo>
                  <a:lnTo>
                    <a:pt x="5420674" y="2065020"/>
                  </a:lnTo>
                  <a:close/>
                  <a:moveTo>
                    <a:pt x="5549738" y="0"/>
                  </a:moveTo>
                  <a:cubicBezTo>
                    <a:pt x="6562002" y="0"/>
                    <a:pt x="7508474" y="301149"/>
                    <a:pt x="8389142" y="903445"/>
                  </a:cubicBezTo>
                  <a:lnTo>
                    <a:pt x="8260078" y="1032509"/>
                  </a:lnTo>
                  <a:lnTo>
                    <a:pt x="8260078" y="1161573"/>
                  </a:lnTo>
                  <a:lnTo>
                    <a:pt x="8776334" y="1935956"/>
                  </a:lnTo>
                  <a:lnTo>
                    <a:pt x="8518206" y="1935956"/>
                  </a:lnTo>
                  <a:lnTo>
                    <a:pt x="8389142" y="1806894"/>
                  </a:lnTo>
                  <a:lnTo>
                    <a:pt x="8260078" y="1806894"/>
                  </a:lnTo>
                  <a:lnTo>
                    <a:pt x="8647270" y="4646295"/>
                  </a:lnTo>
                  <a:lnTo>
                    <a:pt x="8776334" y="4646295"/>
                  </a:lnTo>
                  <a:cubicBezTo>
                    <a:pt x="8776334" y="4216082"/>
                    <a:pt x="8862378" y="4000977"/>
                    <a:pt x="9034462" y="4000977"/>
                  </a:cubicBezTo>
                  <a:lnTo>
                    <a:pt x="9034462" y="4517231"/>
                  </a:lnTo>
                  <a:cubicBezTo>
                    <a:pt x="9034462" y="5003118"/>
                    <a:pt x="8604250" y="6121671"/>
                    <a:pt x="7743826" y="7872889"/>
                  </a:cubicBezTo>
                  <a:lnTo>
                    <a:pt x="7872890" y="7872889"/>
                  </a:lnTo>
                  <a:cubicBezTo>
                    <a:pt x="7265530" y="8708007"/>
                    <a:pt x="6362082" y="9482390"/>
                    <a:pt x="5162550" y="10196036"/>
                  </a:cubicBezTo>
                  <a:lnTo>
                    <a:pt x="4517230" y="10325100"/>
                  </a:lnTo>
                  <a:lnTo>
                    <a:pt x="4388166" y="10325100"/>
                  </a:lnTo>
                  <a:cubicBezTo>
                    <a:pt x="2343391" y="10325100"/>
                    <a:pt x="1052754" y="9507696"/>
                    <a:pt x="516253" y="7872889"/>
                  </a:cubicBezTo>
                  <a:lnTo>
                    <a:pt x="0" y="7098506"/>
                  </a:lnTo>
                  <a:lnTo>
                    <a:pt x="129064" y="6969442"/>
                  </a:lnTo>
                  <a:lnTo>
                    <a:pt x="0" y="6065997"/>
                  </a:lnTo>
                  <a:lnTo>
                    <a:pt x="0" y="5807870"/>
                  </a:lnTo>
                  <a:cubicBezTo>
                    <a:pt x="0" y="5094223"/>
                    <a:pt x="688341" y="3846608"/>
                    <a:pt x="2065018" y="2065020"/>
                  </a:cubicBezTo>
                  <a:lnTo>
                    <a:pt x="2065018" y="2194084"/>
                  </a:lnTo>
                  <a:cubicBezTo>
                    <a:pt x="1432353" y="3044386"/>
                    <a:pt x="916098" y="3990855"/>
                    <a:pt x="516253" y="5033486"/>
                  </a:cubicBezTo>
                  <a:lnTo>
                    <a:pt x="516253" y="5162550"/>
                  </a:lnTo>
                  <a:lnTo>
                    <a:pt x="645317" y="5162550"/>
                  </a:lnTo>
                  <a:cubicBezTo>
                    <a:pt x="959119" y="3902282"/>
                    <a:pt x="2120694" y="2310495"/>
                    <a:pt x="4130038" y="387192"/>
                  </a:cubicBezTo>
                  <a:lnTo>
                    <a:pt x="3226593" y="903445"/>
                  </a:lnTo>
                  <a:lnTo>
                    <a:pt x="3097529" y="903445"/>
                  </a:lnTo>
                  <a:cubicBezTo>
                    <a:pt x="3097529" y="508663"/>
                    <a:pt x="3914934" y="207514"/>
                    <a:pt x="5549738" y="0"/>
                  </a:cubicBezTo>
                  <a:close/>
                </a:path>
              </a:pathLst>
            </a:custGeom>
            <a:blipFill>
              <a:blip r:embed="rId1" cstate="screen"/>
              <a:stretch>
                <a:fillRect/>
              </a:stretch>
            </a:blipFill>
            <a:ln w="38100" cap="flat" cmpd="sng" algn="ctr">
              <a:noFill/>
              <a:prstDash val="solid"/>
              <a:miter lim="800000"/>
            </a:ln>
            <a:effectLst>
              <a:outerShdw dist="38100" dir="8100000" sx="101000" sy="101000" algn="tr" rotWithShape="0">
                <a:schemeClr val="tx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grpSp>
          <p:nvGrpSpPr>
            <p:cNvPr id="17" name="组合 16"/>
            <p:cNvGrpSpPr/>
            <p:nvPr/>
          </p:nvGrpSpPr>
          <p:grpSpPr>
            <a:xfrm>
              <a:off x="911860" y="888484"/>
              <a:ext cx="4880530" cy="5524074"/>
              <a:chOff x="960582" y="972390"/>
              <a:chExt cx="4880530" cy="5524074"/>
            </a:xfrm>
          </p:grpSpPr>
          <p:sp>
            <p:nvSpPr>
              <p:cNvPr id="18" name="文本框 17"/>
              <p:cNvSpPr txBox="1"/>
              <p:nvPr/>
            </p:nvSpPr>
            <p:spPr>
              <a:xfrm>
                <a:off x="965941" y="972390"/>
                <a:ext cx="4327716" cy="2308324"/>
              </a:xfrm>
              <a:prstGeom prst="rect">
                <a:avLst/>
              </a:prstGeom>
              <a:noFill/>
            </p:spPr>
            <p:txBody>
              <a:bodyPr wrap="square" rtlCol="0">
                <a:spAutoFit/>
              </a:bodyPr>
              <a:lstStyle/>
              <a:p>
                <a:r>
                  <a:rPr lang="en-US" altLang="zh-CN" sz="7200" spc="600" dirty="0">
                    <a:solidFill>
                      <a:schemeClr val="accent2">
                        <a:lumMod val="50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RISC-V</a:t>
                </a:r>
                <a:r>
                  <a:rPr lang="zh-CN" altLang="en-US" sz="7200" spc="600" dirty="0">
                    <a:solidFill>
                      <a:schemeClr val="accent2">
                        <a:lumMod val="50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可扩展性</a:t>
                </a:r>
                <a:endParaRPr lang="en-US" altLang="zh-CN" sz="7200" spc="600" dirty="0">
                  <a:solidFill>
                    <a:schemeClr val="accent2">
                      <a:lumMod val="50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sp>
            <p:nvSpPr>
              <p:cNvPr id="21" name="文本框 20"/>
              <p:cNvSpPr txBox="1"/>
              <p:nvPr/>
            </p:nvSpPr>
            <p:spPr>
              <a:xfrm>
                <a:off x="960582" y="3512906"/>
                <a:ext cx="4759960" cy="1482650"/>
              </a:xfrm>
              <a:prstGeom prst="rect">
                <a:avLst/>
              </a:prstGeom>
              <a:noFill/>
            </p:spPr>
            <p:txBody>
              <a:bodyPr wrap="square" rtlCol="0">
                <a:spAutoFit/>
              </a:bodyPr>
              <a:lstStyle/>
              <a:p>
                <a:pPr>
                  <a:lnSpc>
                    <a:spcPct val="150000"/>
                  </a:lnSpc>
                </a:pPr>
                <a:r>
                  <a:rPr lang="en-US" altLang="zh-CN" sz="3200" spc="600" dirty="0">
                    <a:solidFill>
                      <a:schemeClr val="accent3">
                        <a:lumMod val="50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1.</a:t>
                </a:r>
                <a:r>
                  <a:rPr lang="zh-CN" altLang="en-US" sz="3200" spc="600" dirty="0">
                    <a:solidFill>
                      <a:schemeClr val="accent3">
                        <a:lumMod val="50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预留的指令编码空间</a:t>
                </a:r>
                <a:endParaRPr lang="zh-CN" altLang="en-US" sz="3200" spc="600" dirty="0">
                  <a:solidFill>
                    <a:schemeClr val="accent3">
                      <a:lumMod val="50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sp>
            <p:nvSpPr>
              <p:cNvPr id="22" name="文本框 21"/>
              <p:cNvSpPr txBox="1"/>
              <p:nvPr/>
            </p:nvSpPr>
            <p:spPr>
              <a:xfrm>
                <a:off x="960582" y="5013814"/>
                <a:ext cx="4880530" cy="1482650"/>
              </a:xfrm>
              <a:prstGeom prst="rect">
                <a:avLst/>
              </a:prstGeom>
              <a:noFill/>
            </p:spPr>
            <p:txBody>
              <a:bodyPr wrap="square" rtlCol="0">
                <a:spAutoFit/>
              </a:bodyPr>
              <a:lstStyle/>
              <a:p>
                <a:pPr>
                  <a:lnSpc>
                    <a:spcPct val="150000"/>
                  </a:lnSpc>
                </a:pPr>
                <a:r>
                  <a:rPr lang="en-US" altLang="zh-CN" sz="3200" spc="600" dirty="0">
                    <a:solidFill>
                      <a:schemeClr val="accent3">
                        <a:lumMod val="50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2.</a:t>
                </a:r>
                <a:r>
                  <a:rPr lang="zh-CN" altLang="en-US" sz="3200" spc="600" dirty="0">
                    <a:solidFill>
                      <a:schemeClr val="accent3">
                        <a:lumMod val="50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预定义的</a:t>
                </a:r>
                <a:r>
                  <a:rPr lang="en-US" altLang="zh-CN" sz="3200" spc="600" dirty="0">
                    <a:solidFill>
                      <a:schemeClr val="accent3">
                        <a:lumMod val="50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Custom</a:t>
                </a:r>
                <a:r>
                  <a:rPr lang="zh-CN" altLang="en-US" sz="3200" spc="600" dirty="0">
                    <a:solidFill>
                      <a:schemeClr val="accent3">
                        <a:lumMod val="50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指令</a:t>
                </a:r>
                <a:endParaRPr lang="zh-CN" altLang="en-US" sz="3200" spc="600" dirty="0">
                  <a:solidFill>
                    <a:schemeClr val="accent3">
                      <a:lumMod val="50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1500" fill="hold"/>
                                        <p:tgtEl>
                                          <p:spTgt spid="15"/>
                                        </p:tgtEl>
                                        <p:attrNameLst>
                                          <p:attrName>ppt_x</p:attrName>
                                        </p:attrNameLst>
                                      </p:cBhvr>
                                      <p:tavLst>
                                        <p:tav tm="0">
                                          <p:val>
                                            <p:strVal val="0-#ppt_w/2"/>
                                          </p:val>
                                        </p:tav>
                                        <p:tav tm="100000">
                                          <p:val>
                                            <p:strVal val="#ppt_x"/>
                                          </p:val>
                                        </p:tav>
                                      </p:tavLst>
                                    </p:anim>
                                    <p:anim calcmode="lin" valueType="num">
                                      <p:cBhvr additive="base">
                                        <p:cTn id="8" dur="1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156335"/>
            <a:ext cx="12181840" cy="829945"/>
            <a:chOff x="0" y="248698"/>
            <a:chExt cx="12181840" cy="829945"/>
          </a:xfrm>
        </p:grpSpPr>
        <p:grpSp>
          <p:nvGrpSpPr>
            <p:cNvPr id="3" name="组合 2"/>
            <p:cNvGrpSpPr/>
            <p:nvPr/>
          </p:nvGrpSpPr>
          <p:grpSpPr>
            <a:xfrm>
              <a:off x="0" y="294640"/>
              <a:ext cx="880552" cy="375920"/>
              <a:chOff x="0" y="294640"/>
              <a:chExt cx="1094740" cy="467360"/>
            </a:xfrm>
            <a:solidFill>
              <a:srgbClr val="EE8A10"/>
            </a:solidFill>
          </p:grpSpPr>
          <p:sp>
            <p:nvSpPr>
              <p:cNvPr id="12"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文本框 3"/>
            <p:cNvSpPr txBox="1"/>
            <p:nvPr/>
          </p:nvSpPr>
          <p:spPr>
            <a:xfrm>
              <a:off x="972185" y="248698"/>
              <a:ext cx="2531745" cy="829945"/>
            </a:xfrm>
            <a:prstGeom prst="rect">
              <a:avLst/>
            </a:prstGeom>
            <a:noFill/>
          </p:spPr>
          <p:txBody>
            <a:bodyPr wrap="square" rtlCol="0">
              <a:spAutoFit/>
            </a:bodyPr>
            <a:lstStyle/>
            <a:p>
              <a:pPr algn="ctr"/>
              <a:r>
                <a:rPr sz="24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rPr>
                <a:t>RISC-V架</a:t>
              </a:r>
              <a:r>
                <a:rPr lang="zh-CN" sz="24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rPr>
                <a:t>构</a:t>
              </a:r>
              <a:r>
                <a:rPr sz="24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rPr>
                <a:t>的可扩展性</a:t>
              </a:r>
              <a:endParaRPr lang="zh-CN" altLang="en-US" sz="2400" b="1" spc="6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endParaRPr>
            </a:p>
          </p:txBody>
        </p:sp>
        <p:grpSp>
          <p:nvGrpSpPr>
            <p:cNvPr id="5" name="组合 4"/>
            <p:cNvGrpSpPr/>
            <p:nvPr/>
          </p:nvGrpSpPr>
          <p:grpSpPr>
            <a:xfrm>
              <a:off x="3356076" y="408709"/>
              <a:ext cx="1749361" cy="147782"/>
              <a:chOff x="635462" y="775854"/>
              <a:chExt cx="1749361" cy="147782"/>
            </a:xfrm>
            <a:solidFill>
              <a:srgbClr val="EE8A10"/>
            </a:solidFill>
          </p:grpSpPr>
          <p:sp>
            <p:nvSpPr>
              <p:cNvPr id="7" name="椭圆 6"/>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6" name="直接连接符 5"/>
            <p:cNvCxnSpPr/>
            <p:nvPr/>
          </p:nvCxnSpPr>
          <p:spPr>
            <a:xfrm>
              <a:off x="5212080" y="477520"/>
              <a:ext cx="6969760"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0" y="1493168"/>
            <a:ext cx="11447260" cy="4703168"/>
            <a:chOff x="0" y="1340768"/>
            <a:chExt cx="11447260" cy="4703168"/>
          </a:xfrm>
        </p:grpSpPr>
        <p:grpSp>
          <p:nvGrpSpPr>
            <p:cNvPr id="16" name="0bf993ed-4045-43f5-b6d7-6559592aae6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0" y="1340768"/>
              <a:ext cx="11447260" cy="4703168"/>
              <a:chOff x="0" y="1340768"/>
              <a:chExt cx="11447260" cy="4703168"/>
            </a:xfrm>
          </p:grpSpPr>
          <p:cxnSp>
            <p:nvCxnSpPr>
              <p:cNvPr id="18" name="直接连接符 17"/>
              <p:cNvCxnSpPr/>
              <p:nvPr/>
            </p:nvCxnSpPr>
            <p:spPr>
              <a:xfrm>
                <a:off x="7102772" y="3751521"/>
                <a:ext cx="4344488" cy="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9" name="ïšḻiḓê"/>
              <p:cNvSpPr/>
              <p:nvPr/>
            </p:nvSpPr>
            <p:spPr bwMode="auto">
              <a:xfrm>
                <a:off x="0" y="1340768"/>
                <a:ext cx="2351584" cy="4703168"/>
              </a:xfrm>
              <a:custGeom>
                <a:avLst/>
                <a:gdLst>
                  <a:gd name="connsiteX0" fmla="*/ 0 w 2351584"/>
                  <a:gd name="connsiteY0" fmla="*/ 0 h 4703168"/>
                  <a:gd name="connsiteX1" fmla="*/ 2351584 w 2351584"/>
                  <a:gd name="connsiteY1" fmla="*/ 2351584 h 4703168"/>
                  <a:gd name="connsiteX2" fmla="*/ 0 w 2351584"/>
                  <a:gd name="connsiteY2" fmla="*/ 4703168 h 4703168"/>
                  <a:gd name="connsiteX3" fmla="*/ 0 w 2351584"/>
                  <a:gd name="connsiteY3" fmla="*/ 3773472 h 4703168"/>
                  <a:gd name="connsiteX4" fmla="*/ 1421888 w 2351584"/>
                  <a:gd name="connsiteY4" fmla="*/ 2351584 h 4703168"/>
                  <a:gd name="connsiteX5" fmla="*/ 0 w 2351584"/>
                  <a:gd name="connsiteY5" fmla="*/ 929696 h 4703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51584" h="4703168">
                    <a:moveTo>
                      <a:pt x="0" y="0"/>
                    </a:moveTo>
                    <a:cubicBezTo>
                      <a:pt x="1298744" y="0"/>
                      <a:pt x="2351584" y="1052840"/>
                      <a:pt x="2351584" y="2351584"/>
                    </a:cubicBezTo>
                    <a:cubicBezTo>
                      <a:pt x="2351584" y="3650328"/>
                      <a:pt x="1298744" y="4703168"/>
                      <a:pt x="0" y="4703168"/>
                    </a:cubicBezTo>
                    <a:lnTo>
                      <a:pt x="0" y="3773472"/>
                    </a:lnTo>
                    <a:cubicBezTo>
                      <a:pt x="785287" y="3773472"/>
                      <a:pt x="1421888" y="3136871"/>
                      <a:pt x="1421888" y="2351584"/>
                    </a:cubicBezTo>
                    <a:cubicBezTo>
                      <a:pt x="1421888" y="1566297"/>
                      <a:pt x="785287" y="929696"/>
                      <a:pt x="0" y="929696"/>
                    </a:cubicBezTo>
                    <a:close/>
                  </a:path>
                </a:pathLst>
              </a:custGeom>
              <a:blipFill>
                <a:blip r:embed="rId2" cstate="screen"/>
                <a:stretch>
                  <a:fillRect/>
                </a:stretch>
              </a:blipFill>
              <a:ln w="9525">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b="1">
                  <a:solidFill>
                    <a:schemeClr val="lt1"/>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cxnSp>
            <p:nvCxnSpPr>
              <p:cNvPr id="20" name="直接连接符 19"/>
              <p:cNvCxnSpPr/>
              <p:nvPr/>
            </p:nvCxnSpPr>
            <p:spPr>
              <a:xfrm>
                <a:off x="7102772" y="1484784"/>
                <a:ext cx="0" cy="4437787"/>
              </a:xfrm>
              <a:prstGeom prst="line">
                <a:avLst/>
              </a:prstGeom>
              <a:ln w="3175" cap="rnd">
                <a:solidFill>
                  <a:schemeClr val="tx1">
                    <a:lumMod val="50000"/>
                    <a:lumOff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5" name="iṩḷiḑé"/>
              <p:cNvSpPr txBox="1"/>
              <p:nvPr/>
            </p:nvSpPr>
            <p:spPr>
              <a:xfrm>
                <a:off x="2603002" y="3445985"/>
                <a:ext cx="4294044" cy="2190044"/>
              </a:xfrm>
              <a:prstGeom prst="rect">
                <a:avLst/>
              </a:prstGeom>
              <a:noFill/>
            </p:spPr>
            <p:txBody>
              <a:bodyPr wrap="square" lIns="90000" tIns="46800" rIns="90000" bIns="46800" rtlCol="0">
                <a:normAutofit/>
              </a:bodyPr>
              <a:lstStyle/>
              <a:p>
                <a:pPr>
                  <a:lnSpc>
                    <a:spcPct val="200000"/>
                  </a:lnSpc>
                </a:pPr>
                <a:r>
                  <a:rPr lang="en-US" sz="1400" b="1" dirty="0">
                    <a:solidFill>
                      <a:schemeClr val="accent2">
                        <a:lumMod val="50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RI</a:t>
                </a:r>
                <a:r>
                  <a:rPr sz="1400" b="1" dirty="0">
                    <a:solidFill>
                      <a:schemeClr val="accent2">
                        <a:lumMod val="50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SC-V架构定义的标准指令集仅使用了少部分的指令编码空间，更多的指令编码空间被预留给用户作为扩展指令使用。</a:t>
                </a:r>
                <a:r>
                  <a:rPr lang="zh-CN" sz="1400" b="1" dirty="0">
                    <a:solidFill>
                      <a:schemeClr val="accent2">
                        <a:lumMod val="50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右表为不同</a:t>
                </a:r>
                <a:r>
                  <a:rPr lang="en-US" altLang="zh-CN" sz="1400" b="1" dirty="0">
                    <a:solidFill>
                      <a:schemeClr val="accent2">
                        <a:lumMod val="50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opcode</a:t>
                </a:r>
                <a:r>
                  <a:rPr lang="zh-CN" altLang="en-US" sz="1400" b="1" dirty="0">
                    <a:solidFill>
                      <a:schemeClr val="accent2">
                        <a:lumMod val="50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组合代表的不同指令类型。</a:t>
                </a:r>
                <a:endParaRPr lang="zh-CN" altLang="en-US" sz="1400" b="1" dirty="0">
                  <a:solidFill>
                    <a:schemeClr val="accent2">
                      <a:lumMod val="50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grpSp>
        <p:sp>
          <p:nvSpPr>
            <p:cNvPr id="17" name="文本框 16"/>
            <p:cNvSpPr txBox="1"/>
            <p:nvPr/>
          </p:nvSpPr>
          <p:spPr>
            <a:xfrm>
              <a:off x="2602865" y="2577113"/>
              <a:ext cx="4498975" cy="645160"/>
            </a:xfrm>
            <a:prstGeom prst="rect">
              <a:avLst/>
            </a:prstGeom>
            <a:noFill/>
          </p:spPr>
          <p:txBody>
            <a:bodyPr wrap="square" rtlCol="0">
              <a:spAutoFit/>
            </a:bodyPr>
            <a:lstStyle/>
            <a:p>
              <a:r>
                <a:rPr lang="zh-CN" altLang="en-US" sz="3600" b="1" spc="600" dirty="0">
                  <a:solidFill>
                    <a:schemeClr val="accent2">
                      <a:lumMod val="50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预留指令编码空间</a:t>
              </a:r>
              <a:endParaRPr lang="zh-CN" altLang="en-US" sz="3600" b="1" spc="600" dirty="0">
                <a:solidFill>
                  <a:schemeClr val="accent2">
                    <a:lumMod val="50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grpSp>
      <p:pic>
        <p:nvPicPr>
          <p:cNvPr id="26" name="图片 25"/>
          <p:cNvPicPr>
            <a:picLocks noChangeAspect="1"/>
          </p:cNvPicPr>
          <p:nvPr/>
        </p:nvPicPr>
        <p:blipFill>
          <a:blip r:embed="rId3"/>
          <a:stretch>
            <a:fillRect/>
          </a:stretch>
        </p:blipFill>
        <p:spPr>
          <a:xfrm>
            <a:off x="7082155" y="1722755"/>
            <a:ext cx="5217160" cy="2075180"/>
          </a:xfrm>
          <a:prstGeom prst="rect">
            <a:avLst/>
          </a:prstGeom>
        </p:spPr>
      </p:pic>
      <p:pic>
        <p:nvPicPr>
          <p:cNvPr id="27" name="图片 26"/>
          <p:cNvPicPr>
            <a:picLocks noChangeAspect="1"/>
          </p:cNvPicPr>
          <p:nvPr/>
        </p:nvPicPr>
        <p:blipFill>
          <a:blip r:embed="rId4"/>
          <a:stretch>
            <a:fillRect/>
          </a:stretch>
        </p:blipFill>
        <p:spPr>
          <a:xfrm>
            <a:off x="7083425" y="3825875"/>
            <a:ext cx="5106670" cy="22669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1215470" y="727762"/>
            <a:ext cx="9761060" cy="5150122"/>
            <a:chOff x="911860" y="727762"/>
            <a:chExt cx="9761060" cy="5150122"/>
          </a:xfrm>
        </p:grpSpPr>
        <p:sp>
          <p:nvSpPr>
            <p:cNvPr id="16" name="íšļïḋè"/>
            <p:cNvSpPr/>
            <p:nvPr>
              <p:custDataLst>
                <p:tags r:id="rId1"/>
              </p:custDataLst>
            </p:nvPr>
          </p:nvSpPr>
          <p:spPr>
            <a:xfrm>
              <a:off x="6462799" y="1066316"/>
              <a:ext cx="4210121" cy="4811568"/>
            </a:xfrm>
            <a:custGeom>
              <a:avLst/>
              <a:gdLst>
                <a:gd name="connsiteX0" fmla="*/ 2323145 w 9034462"/>
                <a:gd name="connsiteY0" fmla="*/ 9034461 h 10325100"/>
                <a:gd name="connsiteX1" fmla="*/ 2323145 w 9034462"/>
                <a:gd name="connsiteY1" fmla="*/ 9163525 h 10325100"/>
                <a:gd name="connsiteX2" fmla="*/ 2968465 w 9034462"/>
                <a:gd name="connsiteY2" fmla="*/ 9550719 h 10325100"/>
                <a:gd name="connsiteX3" fmla="*/ 2968465 w 9034462"/>
                <a:gd name="connsiteY3" fmla="*/ 9421655 h 10325100"/>
                <a:gd name="connsiteX4" fmla="*/ 6453186 w 9034462"/>
                <a:gd name="connsiteY4" fmla="*/ 6195061 h 10325100"/>
                <a:gd name="connsiteX5" fmla="*/ 5936930 w 9034462"/>
                <a:gd name="connsiteY5" fmla="*/ 6840378 h 10325100"/>
                <a:gd name="connsiteX6" fmla="*/ 6065994 w 9034462"/>
                <a:gd name="connsiteY6" fmla="*/ 6840378 h 10325100"/>
                <a:gd name="connsiteX7" fmla="*/ 6582250 w 9034462"/>
                <a:gd name="connsiteY7" fmla="*/ 6195061 h 10325100"/>
                <a:gd name="connsiteX8" fmla="*/ 387192 w 9034462"/>
                <a:gd name="connsiteY8" fmla="*/ 5807870 h 10325100"/>
                <a:gd name="connsiteX9" fmla="*/ 387192 w 9034462"/>
                <a:gd name="connsiteY9" fmla="*/ 6840378 h 10325100"/>
                <a:gd name="connsiteX10" fmla="*/ 516253 w 9034462"/>
                <a:gd name="connsiteY10" fmla="*/ 6840378 h 10325100"/>
                <a:gd name="connsiteX11" fmla="*/ 516253 w 9034462"/>
                <a:gd name="connsiteY11" fmla="*/ 5807870 h 10325100"/>
                <a:gd name="connsiteX12" fmla="*/ 8001954 w 9034462"/>
                <a:gd name="connsiteY12" fmla="*/ 5291614 h 10325100"/>
                <a:gd name="connsiteX13" fmla="*/ 7872890 w 9034462"/>
                <a:gd name="connsiteY13" fmla="*/ 5678806 h 10325100"/>
                <a:gd name="connsiteX14" fmla="*/ 7872890 w 9034462"/>
                <a:gd name="connsiteY14" fmla="*/ 5936933 h 10325100"/>
                <a:gd name="connsiteX15" fmla="*/ 8001954 w 9034462"/>
                <a:gd name="connsiteY15" fmla="*/ 5936933 h 10325100"/>
                <a:gd name="connsiteX16" fmla="*/ 8131014 w 9034462"/>
                <a:gd name="connsiteY16" fmla="*/ 5420678 h 10325100"/>
                <a:gd name="connsiteX17" fmla="*/ 8131014 w 9034462"/>
                <a:gd name="connsiteY17" fmla="*/ 5291614 h 10325100"/>
                <a:gd name="connsiteX18" fmla="*/ 7098506 w 9034462"/>
                <a:gd name="connsiteY18" fmla="*/ 4775359 h 10325100"/>
                <a:gd name="connsiteX19" fmla="*/ 6582250 w 9034462"/>
                <a:gd name="connsiteY19" fmla="*/ 6065997 h 10325100"/>
                <a:gd name="connsiteX20" fmla="*/ 6969442 w 9034462"/>
                <a:gd name="connsiteY20" fmla="*/ 6065997 h 10325100"/>
                <a:gd name="connsiteX21" fmla="*/ 7356634 w 9034462"/>
                <a:gd name="connsiteY21" fmla="*/ 5162550 h 10325100"/>
                <a:gd name="connsiteX22" fmla="*/ 7227570 w 9034462"/>
                <a:gd name="connsiteY22" fmla="*/ 4775359 h 10325100"/>
                <a:gd name="connsiteX23" fmla="*/ 2065018 w 9034462"/>
                <a:gd name="connsiteY23" fmla="*/ 4000977 h 10325100"/>
                <a:gd name="connsiteX24" fmla="*/ 1677828 w 9034462"/>
                <a:gd name="connsiteY24" fmla="*/ 4775359 h 10325100"/>
                <a:gd name="connsiteX25" fmla="*/ 1806892 w 9034462"/>
                <a:gd name="connsiteY25" fmla="*/ 4775359 h 10325100"/>
                <a:gd name="connsiteX26" fmla="*/ 2194081 w 9034462"/>
                <a:gd name="connsiteY26" fmla="*/ 4000977 h 10325100"/>
                <a:gd name="connsiteX27" fmla="*/ 8647270 w 9034462"/>
                <a:gd name="connsiteY27" fmla="*/ 2581275 h 10325100"/>
                <a:gd name="connsiteX28" fmla="*/ 8905398 w 9034462"/>
                <a:gd name="connsiteY28" fmla="*/ 2581275 h 10325100"/>
                <a:gd name="connsiteX29" fmla="*/ 8905398 w 9034462"/>
                <a:gd name="connsiteY29" fmla="*/ 3226594 h 10325100"/>
                <a:gd name="connsiteX30" fmla="*/ 8647270 w 9034462"/>
                <a:gd name="connsiteY30" fmla="*/ 3226594 h 10325100"/>
                <a:gd name="connsiteX31" fmla="*/ 5420674 w 9034462"/>
                <a:gd name="connsiteY31" fmla="*/ 1935956 h 10325100"/>
                <a:gd name="connsiteX32" fmla="*/ 4904422 w 9034462"/>
                <a:gd name="connsiteY32" fmla="*/ 2194084 h 10325100"/>
                <a:gd name="connsiteX33" fmla="*/ 4775358 w 9034462"/>
                <a:gd name="connsiteY33" fmla="*/ 2065020 h 10325100"/>
                <a:gd name="connsiteX34" fmla="*/ 4775358 w 9034462"/>
                <a:gd name="connsiteY34" fmla="*/ 2194084 h 10325100"/>
                <a:gd name="connsiteX35" fmla="*/ 4904422 w 9034462"/>
                <a:gd name="connsiteY35" fmla="*/ 2323148 h 10325100"/>
                <a:gd name="connsiteX36" fmla="*/ 4000974 w 9034462"/>
                <a:gd name="connsiteY36" fmla="*/ 3097531 h 10325100"/>
                <a:gd name="connsiteX37" fmla="*/ 1935954 w 9034462"/>
                <a:gd name="connsiteY37" fmla="*/ 6711314 h 10325100"/>
                <a:gd name="connsiteX38" fmla="*/ 3097529 w 9034462"/>
                <a:gd name="connsiteY38" fmla="*/ 8518208 h 10325100"/>
                <a:gd name="connsiteX39" fmla="*/ 3226593 w 9034462"/>
                <a:gd name="connsiteY39" fmla="*/ 8518208 h 10325100"/>
                <a:gd name="connsiteX40" fmla="*/ 6453186 w 9034462"/>
                <a:gd name="connsiteY40" fmla="*/ 5549742 h 10325100"/>
                <a:gd name="connsiteX41" fmla="*/ 7098506 w 9034462"/>
                <a:gd name="connsiteY41" fmla="*/ 3484724 h 10325100"/>
                <a:gd name="connsiteX42" fmla="*/ 7098506 w 9034462"/>
                <a:gd name="connsiteY42" fmla="*/ 2452211 h 10325100"/>
                <a:gd name="connsiteX43" fmla="*/ 5807866 w 9034462"/>
                <a:gd name="connsiteY43" fmla="*/ 1935956 h 10325100"/>
                <a:gd name="connsiteX44" fmla="*/ 5678802 w 9034462"/>
                <a:gd name="connsiteY44" fmla="*/ 1935956 h 10325100"/>
                <a:gd name="connsiteX45" fmla="*/ 5549738 w 9034462"/>
                <a:gd name="connsiteY45" fmla="*/ 2065020 h 10325100"/>
                <a:gd name="connsiteX46" fmla="*/ 5420674 w 9034462"/>
                <a:gd name="connsiteY46" fmla="*/ 2065020 h 10325100"/>
                <a:gd name="connsiteX47" fmla="*/ 5549738 w 9034462"/>
                <a:gd name="connsiteY47" fmla="*/ 0 h 10325100"/>
                <a:gd name="connsiteX48" fmla="*/ 8389142 w 9034462"/>
                <a:gd name="connsiteY48" fmla="*/ 903445 h 10325100"/>
                <a:gd name="connsiteX49" fmla="*/ 8260078 w 9034462"/>
                <a:gd name="connsiteY49" fmla="*/ 1032509 h 10325100"/>
                <a:gd name="connsiteX50" fmla="*/ 8260078 w 9034462"/>
                <a:gd name="connsiteY50" fmla="*/ 1161573 h 10325100"/>
                <a:gd name="connsiteX51" fmla="*/ 8776334 w 9034462"/>
                <a:gd name="connsiteY51" fmla="*/ 1935956 h 10325100"/>
                <a:gd name="connsiteX52" fmla="*/ 8518206 w 9034462"/>
                <a:gd name="connsiteY52" fmla="*/ 1935956 h 10325100"/>
                <a:gd name="connsiteX53" fmla="*/ 8389142 w 9034462"/>
                <a:gd name="connsiteY53" fmla="*/ 1806894 h 10325100"/>
                <a:gd name="connsiteX54" fmla="*/ 8260078 w 9034462"/>
                <a:gd name="connsiteY54" fmla="*/ 1806894 h 10325100"/>
                <a:gd name="connsiteX55" fmla="*/ 8647270 w 9034462"/>
                <a:gd name="connsiteY55" fmla="*/ 4646295 h 10325100"/>
                <a:gd name="connsiteX56" fmla="*/ 8776334 w 9034462"/>
                <a:gd name="connsiteY56" fmla="*/ 4646295 h 10325100"/>
                <a:gd name="connsiteX57" fmla="*/ 9034462 w 9034462"/>
                <a:gd name="connsiteY57" fmla="*/ 4000977 h 10325100"/>
                <a:gd name="connsiteX58" fmla="*/ 9034462 w 9034462"/>
                <a:gd name="connsiteY58" fmla="*/ 4517231 h 10325100"/>
                <a:gd name="connsiteX59" fmla="*/ 7743826 w 9034462"/>
                <a:gd name="connsiteY59" fmla="*/ 7872889 h 10325100"/>
                <a:gd name="connsiteX60" fmla="*/ 7872890 w 9034462"/>
                <a:gd name="connsiteY60" fmla="*/ 7872889 h 10325100"/>
                <a:gd name="connsiteX61" fmla="*/ 5162550 w 9034462"/>
                <a:gd name="connsiteY61" fmla="*/ 10196036 h 10325100"/>
                <a:gd name="connsiteX62" fmla="*/ 4517230 w 9034462"/>
                <a:gd name="connsiteY62" fmla="*/ 10325100 h 10325100"/>
                <a:gd name="connsiteX63" fmla="*/ 4388166 w 9034462"/>
                <a:gd name="connsiteY63" fmla="*/ 10325100 h 10325100"/>
                <a:gd name="connsiteX64" fmla="*/ 516253 w 9034462"/>
                <a:gd name="connsiteY64" fmla="*/ 7872889 h 10325100"/>
                <a:gd name="connsiteX65" fmla="*/ 0 w 9034462"/>
                <a:gd name="connsiteY65" fmla="*/ 7098506 h 10325100"/>
                <a:gd name="connsiteX66" fmla="*/ 129064 w 9034462"/>
                <a:gd name="connsiteY66" fmla="*/ 6969442 h 10325100"/>
                <a:gd name="connsiteX67" fmla="*/ 0 w 9034462"/>
                <a:gd name="connsiteY67" fmla="*/ 6065997 h 10325100"/>
                <a:gd name="connsiteX68" fmla="*/ 0 w 9034462"/>
                <a:gd name="connsiteY68" fmla="*/ 5807870 h 10325100"/>
                <a:gd name="connsiteX69" fmla="*/ 2065018 w 9034462"/>
                <a:gd name="connsiteY69" fmla="*/ 2065020 h 10325100"/>
                <a:gd name="connsiteX70" fmla="*/ 2065018 w 9034462"/>
                <a:gd name="connsiteY70" fmla="*/ 2194084 h 10325100"/>
                <a:gd name="connsiteX71" fmla="*/ 516253 w 9034462"/>
                <a:gd name="connsiteY71" fmla="*/ 5033486 h 10325100"/>
                <a:gd name="connsiteX72" fmla="*/ 516253 w 9034462"/>
                <a:gd name="connsiteY72" fmla="*/ 5162550 h 10325100"/>
                <a:gd name="connsiteX73" fmla="*/ 645317 w 9034462"/>
                <a:gd name="connsiteY73" fmla="*/ 5162550 h 10325100"/>
                <a:gd name="connsiteX74" fmla="*/ 4130038 w 9034462"/>
                <a:gd name="connsiteY74" fmla="*/ 387192 h 10325100"/>
                <a:gd name="connsiteX75" fmla="*/ 3226593 w 9034462"/>
                <a:gd name="connsiteY75" fmla="*/ 903445 h 10325100"/>
                <a:gd name="connsiteX76" fmla="*/ 3097529 w 9034462"/>
                <a:gd name="connsiteY76" fmla="*/ 903445 h 10325100"/>
                <a:gd name="connsiteX77" fmla="*/ 5549738 w 9034462"/>
                <a:gd name="connsiteY77" fmla="*/ 0 h 10325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9034462" h="10325100">
                  <a:moveTo>
                    <a:pt x="2323145" y="9034461"/>
                  </a:moveTo>
                  <a:lnTo>
                    <a:pt x="2323145" y="9163525"/>
                  </a:lnTo>
                  <a:lnTo>
                    <a:pt x="2968465" y="9550719"/>
                  </a:lnTo>
                  <a:lnTo>
                    <a:pt x="2968465" y="9421655"/>
                  </a:lnTo>
                  <a:close/>
                  <a:moveTo>
                    <a:pt x="6453186" y="6195061"/>
                  </a:moveTo>
                  <a:lnTo>
                    <a:pt x="5936930" y="6840378"/>
                  </a:lnTo>
                  <a:lnTo>
                    <a:pt x="6065994" y="6840378"/>
                  </a:lnTo>
                  <a:lnTo>
                    <a:pt x="6582250" y="6195061"/>
                  </a:lnTo>
                  <a:close/>
                  <a:moveTo>
                    <a:pt x="387192" y="5807870"/>
                  </a:moveTo>
                  <a:lnTo>
                    <a:pt x="387192" y="6840378"/>
                  </a:lnTo>
                  <a:lnTo>
                    <a:pt x="516253" y="6840378"/>
                  </a:lnTo>
                  <a:lnTo>
                    <a:pt x="516253" y="5807870"/>
                  </a:lnTo>
                  <a:close/>
                  <a:moveTo>
                    <a:pt x="8001954" y="5291614"/>
                  </a:moveTo>
                  <a:lnTo>
                    <a:pt x="7872890" y="5678806"/>
                  </a:lnTo>
                  <a:lnTo>
                    <a:pt x="7872890" y="5936933"/>
                  </a:lnTo>
                  <a:lnTo>
                    <a:pt x="8001954" y="5936933"/>
                  </a:lnTo>
                  <a:lnTo>
                    <a:pt x="8131014" y="5420678"/>
                  </a:lnTo>
                  <a:lnTo>
                    <a:pt x="8131014" y="5291614"/>
                  </a:lnTo>
                  <a:close/>
                  <a:moveTo>
                    <a:pt x="7098506" y="4775359"/>
                  </a:moveTo>
                  <a:lnTo>
                    <a:pt x="6582250" y="6065997"/>
                  </a:lnTo>
                  <a:lnTo>
                    <a:pt x="6969442" y="6065997"/>
                  </a:lnTo>
                  <a:lnTo>
                    <a:pt x="7356634" y="5162550"/>
                  </a:lnTo>
                  <a:lnTo>
                    <a:pt x="7227570" y="4775359"/>
                  </a:lnTo>
                  <a:close/>
                  <a:moveTo>
                    <a:pt x="2065018" y="4000977"/>
                  </a:moveTo>
                  <a:lnTo>
                    <a:pt x="1677828" y="4775359"/>
                  </a:lnTo>
                  <a:lnTo>
                    <a:pt x="1806892" y="4775359"/>
                  </a:lnTo>
                  <a:lnTo>
                    <a:pt x="2194081" y="4000977"/>
                  </a:lnTo>
                  <a:close/>
                  <a:moveTo>
                    <a:pt x="8647270" y="2581275"/>
                  </a:moveTo>
                  <a:lnTo>
                    <a:pt x="8905398" y="2581275"/>
                  </a:lnTo>
                  <a:lnTo>
                    <a:pt x="8905398" y="3226594"/>
                  </a:lnTo>
                  <a:lnTo>
                    <a:pt x="8647270" y="3226594"/>
                  </a:lnTo>
                  <a:close/>
                  <a:moveTo>
                    <a:pt x="5420674" y="1935956"/>
                  </a:moveTo>
                  <a:lnTo>
                    <a:pt x="4904422" y="2194084"/>
                  </a:lnTo>
                  <a:lnTo>
                    <a:pt x="4775358" y="2065020"/>
                  </a:lnTo>
                  <a:lnTo>
                    <a:pt x="4775358" y="2194084"/>
                  </a:lnTo>
                  <a:lnTo>
                    <a:pt x="4904422" y="2323148"/>
                  </a:lnTo>
                  <a:lnTo>
                    <a:pt x="4000974" y="3097531"/>
                  </a:lnTo>
                  <a:cubicBezTo>
                    <a:pt x="3287329" y="3097531"/>
                    <a:pt x="2598989" y="4302127"/>
                    <a:pt x="1935954" y="6711314"/>
                  </a:cubicBezTo>
                  <a:cubicBezTo>
                    <a:pt x="1935954" y="7399654"/>
                    <a:pt x="2323145" y="8001952"/>
                    <a:pt x="3097529" y="8518208"/>
                  </a:cubicBezTo>
                  <a:lnTo>
                    <a:pt x="3226593" y="8518208"/>
                  </a:lnTo>
                  <a:cubicBezTo>
                    <a:pt x="4167998" y="8518208"/>
                    <a:pt x="5243530" y="7528718"/>
                    <a:pt x="6453186" y="5549742"/>
                  </a:cubicBezTo>
                  <a:cubicBezTo>
                    <a:pt x="6883398" y="4608336"/>
                    <a:pt x="7098506" y="3919995"/>
                    <a:pt x="7098506" y="3484724"/>
                  </a:cubicBezTo>
                  <a:lnTo>
                    <a:pt x="7098506" y="2452211"/>
                  </a:lnTo>
                  <a:cubicBezTo>
                    <a:pt x="7098506" y="2214329"/>
                    <a:pt x="6668290" y="2042244"/>
                    <a:pt x="5807866" y="1935956"/>
                  </a:cubicBezTo>
                  <a:lnTo>
                    <a:pt x="5678802" y="1935956"/>
                  </a:lnTo>
                  <a:lnTo>
                    <a:pt x="5549738" y="2065020"/>
                  </a:lnTo>
                  <a:lnTo>
                    <a:pt x="5420674" y="2065020"/>
                  </a:lnTo>
                  <a:close/>
                  <a:moveTo>
                    <a:pt x="5549738" y="0"/>
                  </a:moveTo>
                  <a:cubicBezTo>
                    <a:pt x="6562002" y="0"/>
                    <a:pt x="7508474" y="301149"/>
                    <a:pt x="8389142" y="903445"/>
                  </a:cubicBezTo>
                  <a:lnTo>
                    <a:pt x="8260078" y="1032509"/>
                  </a:lnTo>
                  <a:lnTo>
                    <a:pt x="8260078" y="1161573"/>
                  </a:lnTo>
                  <a:lnTo>
                    <a:pt x="8776334" y="1935956"/>
                  </a:lnTo>
                  <a:lnTo>
                    <a:pt x="8518206" y="1935956"/>
                  </a:lnTo>
                  <a:lnTo>
                    <a:pt x="8389142" y="1806894"/>
                  </a:lnTo>
                  <a:lnTo>
                    <a:pt x="8260078" y="1806894"/>
                  </a:lnTo>
                  <a:lnTo>
                    <a:pt x="8647270" y="4646295"/>
                  </a:lnTo>
                  <a:lnTo>
                    <a:pt x="8776334" y="4646295"/>
                  </a:lnTo>
                  <a:cubicBezTo>
                    <a:pt x="8776334" y="4216082"/>
                    <a:pt x="8862378" y="4000977"/>
                    <a:pt x="9034462" y="4000977"/>
                  </a:cubicBezTo>
                  <a:lnTo>
                    <a:pt x="9034462" y="4517231"/>
                  </a:lnTo>
                  <a:cubicBezTo>
                    <a:pt x="9034462" y="5003118"/>
                    <a:pt x="8604250" y="6121671"/>
                    <a:pt x="7743826" y="7872889"/>
                  </a:cubicBezTo>
                  <a:lnTo>
                    <a:pt x="7872890" y="7872889"/>
                  </a:lnTo>
                  <a:cubicBezTo>
                    <a:pt x="7265530" y="8708007"/>
                    <a:pt x="6362082" y="9482390"/>
                    <a:pt x="5162550" y="10196036"/>
                  </a:cubicBezTo>
                  <a:lnTo>
                    <a:pt x="4517230" y="10325100"/>
                  </a:lnTo>
                  <a:lnTo>
                    <a:pt x="4388166" y="10325100"/>
                  </a:lnTo>
                  <a:cubicBezTo>
                    <a:pt x="2343391" y="10325100"/>
                    <a:pt x="1052754" y="9507696"/>
                    <a:pt x="516253" y="7872889"/>
                  </a:cubicBezTo>
                  <a:lnTo>
                    <a:pt x="0" y="7098506"/>
                  </a:lnTo>
                  <a:lnTo>
                    <a:pt x="129064" y="6969442"/>
                  </a:lnTo>
                  <a:lnTo>
                    <a:pt x="0" y="6065997"/>
                  </a:lnTo>
                  <a:lnTo>
                    <a:pt x="0" y="5807870"/>
                  </a:lnTo>
                  <a:cubicBezTo>
                    <a:pt x="0" y="5094223"/>
                    <a:pt x="688341" y="3846608"/>
                    <a:pt x="2065018" y="2065020"/>
                  </a:cubicBezTo>
                  <a:lnTo>
                    <a:pt x="2065018" y="2194084"/>
                  </a:lnTo>
                  <a:cubicBezTo>
                    <a:pt x="1432353" y="3044386"/>
                    <a:pt x="916098" y="3990855"/>
                    <a:pt x="516253" y="5033486"/>
                  </a:cubicBezTo>
                  <a:lnTo>
                    <a:pt x="516253" y="5162550"/>
                  </a:lnTo>
                  <a:lnTo>
                    <a:pt x="645317" y="5162550"/>
                  </a:lnTo>
                  <a:cubicBezTo>
                    <a:pt x="959119" y="3902282"/>
                    <a:pt x="2120694" y="2310495"/>
                    <a:pt x="4130038" y="387192"/>
                  </a:cubicBezTo>
                  <a:lnTo>
                    <a:pt x="3226593" y="903445"/>
                  </a:lnTo>
                  <a:lnTo>
                    <a:pt x="3097529" y="903445"/>
                  </a:lnTo>
                  <a:cubicBezTo>
                    <a:pt x="3097529" y="508663"/>
                    <a:pt x="3914934" y="207514"/>
                    <a:pt x="5549738" y="0"/>
                  </a:cubicBezTo>
                  <a:close/>
                </a:path>
              </a:pathLst>
            </a:custGeom>
            <a:blipFill>
              <a:blip r:embed="rId2" cstate="screen"/>
              <a:stretch>
                <a:fillRect/>
              </a:stretch>
            </a:blipFill>
            <a:ln w="38100" cap="flat" cmpd="sng" algn="ctr">
              <a:noFill/>
              <a:prstDash val="solid"/>
              <a:miter lim="800000"/>
            </a:ln>
            <a:effectLst>
              <a:outerShdw dist="38100" dir="8100000" sx="101000" sy="101000" algn="tr" rotWithShape="0">
                <a:schemeClr val="tx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grpSp>
          <p:nvGrpSpPr>
            <p:cNvPr id="17" name="组合 16"/>
            <p:cNvGrpSpPr/>
            <p:nvPr/>
          </p:nvGrpSpPr>
          <p:grpSpPr>
            <a:xfrm>
              <a:off x="911860" y="727762"/>
              <a:ext cx="6095365" cy="2676101"/>
              <a:chOff x="960582" y="811668"/>
              <a:chExt cx="6095365" cy="2676101"/>
            </a:xfrm>
          </p:grpSpPr>
          <p:sp>
            <p:nvSpPr>
              <p:cNvPr id="18" name="文本框 17"/>
              <p:cNvSpPr txBox="1"/>
              <p:nvPr/>
            </p:nvSpPr>
            <p:spPr>
              <a:xfrm>
                <a:off x="960582" y="1380628"/>
                <a:ext cx="6095365" cy="1322070"/>
              </a:xfrm>
              <a:prstGeom prst="rect">
                <a:avLst/>
              </a:prstGeom>
              <a:noFill/>
            </p:spPr>
            <p:txBody>
              <a:bodyPr wrap="square" rtlCol="0">
                <a:spAutoFit/>
              </a:bodyPr>
              <a:lstStyle/>
              <a:p>
                <a:r>
                  <a:rPr lang="zh-CN" altLang="en-US" sz="4000" spc="600" dirty="0">
                    <a:solidFill>
                      <a:schemeClr val="accent2">
                        <a:lumMod val="50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RISC-V的预定义的 Custom指令</a:t>
                </a:r>
                <a:endParaRPr lang="zh-CN" altLang="en-US" sz="4000" spc="600" dirty="0">
                  <a:solidFill>
                    <a:schemeClr val="accent2">
                      <a:lumMod val="50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sp>
            <p:nvSpPr>
              <p:cNvPr id="19" name="文本框 18"/>
              <p:cNvSpPr txBox="1"/>
              <p:nvPr/>
            </p:nvSpPr>
            <p:spPr>
              <a:xfrm>
                <a:off x="960582" y="811668"/>
                <a:ext cx="3001818" cy="337185"/>
              </a:xfrm>
              <a:prstGeom prst="rect">
                <a:avLst/>
              </a:prstGeom>
              <a:noFill/>
            </p:spPr>
            <p:txBody>
              <a:bodyPr wrap="square" rtlCol="0">
                <a:spAutoFit/>
              </a:bodyPr>
              <a:lstStyle/>
              <a:p>
                <a:pPr algn="ctr"/>
                <a:r>
                  <a:rPr sz="1600" dirty="0">
                    <a:solidFill>
                      <a:schemeClr val="accent1"/>
                    </a:solidFill>
                    <a:effectLst>
                      <a:outerShdw blurRad="38100" dist="25400" dir="5400000" algn="ctr" rotWithShape="0">
                        <a:srgbClr val="6E747A">
                          <a:alpha val="43000"/>
                        </a:srgbClr>
                      </a:outerShdw>
                    </a:effectLst>
                    <a:latin typeface="造字工房力黑（非商用）常规体" pitchFamily="50" charset="-122"/>
                    <a:ea typeface="造字工房力黑（非商用）常规体" pitchFamily="50" charset="-122"/>
                    <a:cs typeface="+mn-ea"/>
                    <a:sym typeface="+mn-lt"/>
                  </a:rPr>
                  <a:t>RISC-V架</a:t>
                </a:r>
                <a:r>
                  <a:rPr lang="zh-CN" sz="1600" dirty="0">
                    <a:solidFill>
                      <a:schemeClr val="accent1"/>
                    </a:solidFill>
                    <a:effectLst>
                      <a:outerShdw blurRad="38100" dist="25400" dir="5400000" algn="ctr" rotWithShape="0">
                        <a:srgbClr val="6E747A">
                          <a:alpha val="43000"/>
                        </a:srgbClr>
                      </a:outerShdw>
                    </a:effectLst>
                    <a:latin typeface="造字工房力黑（非商用）常规体" pitchFamily="50" charset="-122"/>
                    <a:ea typeface="造字工房力黑（非商用）常规体" pitchFamily="50" charset="-122"/>
                    <a:cs typeface="+mn-ea"/>
                    <a:sym typeface="+mn-lt"/>
                  </a:rPr>
                  <a:t>构</a:t>
                </a:r>
                <a:r>
                  <a:rPr sz="1600" dirty="0">
                    <a:solidFill>
                      <a:schemeClr val="accent1"/>
                    </a:solidFill>
                    <a:effectLst>
                      <a:outerShdw blurRad="38100" dist="25400" dir="5400000" algn="ctr" rotWithShape="0">
                        <a:srgbClr val="6E747A">
                          <a:alpha val="43000"/>
                        </a:srgbClr>
                      </a:outerShdw>
                    </a:effectLst>
                    <a:latin typeface="造字工房力黑（非商用）常规体" pitchFamily="50" charset="-122"/>
                    <a:ea typeface="造字工房力黑（非商用）常规体" pitchFamily="50" charset="-122"/>
                    <a:cs typeface="+mn-ea"/>
                    <a:sym typeface="+mn-lt"/>
                  </a:rPr>
                  <a:t>的可扩展性</a:t>
                </a:r>
                <a:endParaRPr lang="zh-CN" altLang="en-US" sz="1600" dirty="0">
                  <a:solidFill>
                    <a:schemeClr val="accent1"/>
                  </a:solidFill>
                  <a:effectLst>
                    <a:outerShdw blurRad="38100" dist="25400" dir="5400000" algn="ctr" rotWithShape="0">
                      <a:srgbClr val="6E747A">
                        <a:alpha val="43000"/>
                      </a:srgbClr>
                    </a:outerShdw>
                  </a:effectLst>
                  <a:latin typeface="造字工房力黑（非商用）常规体" pitchFamily="50" charset="-122"/>
                  <a:ea typeface="造字工房力黑（非商用）常规体" pitchFamily="50" charset="-122"/>
                  <a:cs typeface="+mn-ea"/>
                  <a:sym typeface="+mn-lt"/>
                </a:endParaRPr>
              </a:p>
            </p:txBody>
          </p:sp>
          <p:sp>
            <p:nvSpPr>
              <p:cNvPr id="20" name="文本框 19"/>
              <p:cNvSpPr txBox="1"/>
              <p:nvPr/>
            </p:nvSpPr>
            <p:spPr>
              <a:xfrm>
                <a:off x="960582" y="2626966"/>
                <a:ext cx="4368800" cy="829945"/>
              </a:xfrm>
              <a:prstGeom prst="rect">
                <a:avLst/>
              </a:prstGeom>
              <a:noFill/>
            </p:spPr>
            <p:txBody>
              <a:bodyPr wrap="square" rtlCol="0">
                <a:spAutoFit/>
              </a:bodyPr>
              <a:lstStyle/>
              <a:p>
                <a:endParaRPr lang="zh-CN" altLang="en-US" sz="4800" spc="600" dirty="0">
                  <a:solidFill>
                    <a:schemeClr val="accent1">
                      <a:lumMod val="75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sp>
            <p:nvSpPr>
              <p:cNvPr id="21" name="文本框 20"/>
              <p:cNvSpPr txBox="1"/>
              <p:nvPr/>
            </p:nvSpPr>
            <p:spPr>
              <a:xfrm>
                <a:off x="960582" y="2842609"/>
                <a:ext cx="4759960" cy="645160"/>
              </a:xfrm>
              <a:prstGeom prst="rect">
                <a:avLst/>
              </a:prstGeom>
              <a:noFill/>
            </p:spPr>
            <p:txBody>
              <a:bodyPr wrap="square" rtlCol="0">
                <a:spAutoFit/>
              </a:bodyPr>
              <a:lstStyle/>
              <a:p>
                <a:pPr>
                  <a:lnSpc>
                    <a:spcPct val="150000"/>
                  </a:lnSpc>
                </a:pPr>
                <a:r>
                  <a:rPr lang="zh-CN" altLang="en-US" sz="1200" spc="600" dirty="0">
                    <a:solidFill>
                      <a:schemeClr val="accent3">
                        <a:lumMod val="50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•用户可利用下表的</a:t>
                </a:r>
                <a:r>
                  <a:rPr lang="en-US" altLang="zh-CN" sz="1200" spc="600" dirty="0">
                    <a:solidFill>
                      <a:schemeClr val="accent3">
                        <a:lumMod val="50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4</a:t>
                </a:r>
                <a:r>
                  <a:rPr lang="zh-CN" altLang="en-US" sz="1200" spc="600" dirty="0">
                    <a:solidFill>
                      <a:schemeClr val="accent3">
                        <a:lumMod val="50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种</a:t>
                </a:r>
                <a:r>
                  <a:rPr lang="en-US" altLang="zh-CN" sz="1200" spc="600" dirty="0">
                    <a:solidFill>
                      <a:schemeClr val="accent3">
                        <a:lumMod val="50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Custom</a:t>
                </a:r>
                <a:r>
                  <a:rPr lang="zh-CN" altLang="en-US" sz="1200" spc="600" dirty="0">
                    <a:solidFill>
                      <a:schemeClr val="accent3">
                        <a:lumMod val="50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指令拓展为自定义的协处理器指令</a:t>
                </a:r>
                <a:endParaRPr lang="zh-CN" altLang="en-US" sz="1200" spc="600" dirty="0">
                  <a:solidFill>
                    <a:schemeClr val="accent3">
                      <a:lumMod val="50000"/>
                    </a:schemeClr>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endParaRPr>
              </a:p>
            </p:txBody>
          </p:sp>
        </p:grpSp>
      </p:grpSp>
      <p:pic>
        <p:nvPicPr>
          <p:cNvPr id="4" name="图片 3"/>
          <p:cNvPicPr>
            <a:picLocks noChangeAspect="1"/>
          </p:cNvPicPr>
          <p:nvPr>
            <p:custDataLst>
              <p:tags r:id="rId3"/>
            </p:custDataLst>
          </p:nvPr>
        </p:nvPicPr>
        <p:blipFill>
          <a:blip r:embed="rId4"/>
          <a:stretch>
            <a:fillRect/>
          </a:stretch>
        </p:blipFill>
        <p:spPr>
          <a:xfrm>
            <a:off x="196850" y="3900170"/>
            <a:ext cx="6370320" cy="15519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cstate="screen">
            <a:lum/>
          </a:blip>
          <a:srcRect/>
          <a:stretch>
            <a:fillRect/>
          </a:stretch>
        </a:blipFill>
        <a:effectLst/>
      </p:bgPr>
    </p:bg>
    <p:spTree>
      <p:nvGrpSpPr>
        <p:cNvPr id="1" name=""/>
        <p:cNvGrpSpPr/>
        <p:nvPr/>
      </p:nvGrpSpPr>
      <p:grpSpPr>
        <a:xfrm>
          <a:off x="0" y="0"/>
          <a:ext cx="0" cy="0"/>
          <a:chOff x="0" y="0"/>
          <a:chExt cx="0" cy="0"/>
        </a:xfrm>
      </p:grpSpPr>
      <p:sp>
        <p:nvSpPr>
          <p:cNvPr id="21" name="矩形 20"/>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3" name="组合 22"/>
          <p:cNvGrpSpPr/>
          <p:nvPr/>
        </p:nvGrpSpPr>
        <p:grpSpPr>
          <a:xfrm>
            <a:off x="0" y="713740"/>
            <a:ext cx="12192001" cy="4737100"/>
            <a:chOff x="0" y="713740"/>
            <a:chExt cx="12192001" cy="4737100"/>
          </a:xfrm>
        </p:grpSpPr>
        <p:sp useBgFill="1">
          <p:nvSpPr>
            <p:cNvPr id="25" name="矩形 24"/>
            <p:cNvSpPr/>
            <p:nvPr/>
          </p:nvSpPr>
          <p:spPr>
            <a:xfrm>
              <a:off x="4196080" y="1407160"/>
              <a:ext cx="7995920" cy="40436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grpSp>
          <p:nvGrpSpPr>
            <p:cNvPr id="26" name="组合 25"/>
            <p:cNvGrpSpPr/>
            <p:nvPr/>
          </p:nvGrpSpPr>
          <p:grpSpPr>
            <a:xfrm>
              <a:off x="0" y="1407160"/>
              <a:ext cx="4064000" cy="4043680"/>
              <a:chOff x="0" y="1407160"/>
              <a:chExt cx="4064000" cy="4043680"/>
            </a:xfrm>
          </p:grpSpPr>
          <p:sp>
            <p:nvSpPr>
              <p:cNvPr id="32" name="矩形 31"/>
              <p:cNvSpPr/>
              <p:nvPr/>
            </p:nvSpPr>
            <p:spPr>
              <a:xfrm>
                <a:off x="0" y="1407160"/>
                <a:ext cx="4064000" cy="40436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34" name="文本框 33"/>
              <p:cNvSpPr txBox="1"/>
              <p:nvPr/>
            </p:nvSpPr>
            <p:spPr>
              <a:xfrm>
                <a:off x="127000" y="2265859"/>
                <a:ext cx="3810000" cy="2306955"/>
              </a:xfrm>
              <a:prstGeom prst="rect">
                <a:avLst/>
              </a:prstGeom>
              <a:noFill/>
            </p:spPr>
            <p:txBody>
              <a:bodyPr wrap="square" rtlCol="0">
                <a:spAutoFit/>
              </a:bodyPr>
              <a:lstStyle/>
              <a:p>
                <a:pPr algn="ctr"/>
                <a:r>
                  <a:rPr lang="zh-CN" altLang="en-US" sz="4800" dirty="0">
                    <a:solidFill>
                      <a:schemeClr val="bg1"/>
                    </a:solidFill>
                    <a:latin typeface="造字工房力黑（非商用）常规体" pitchFamily="50" charset="-122"/>
                    <a:ea typeface="造字工房力黑（非商用）常规体" pitchFamily="50" charset="-122"/>
                    <a:cs typeface="+mn-ea"/>
                    <a:sym typeface="+mn-lt"/>
                  </a:rPr>
                  <a:t>蜂鸟E200的协处理器接口EA</a:t>
                </a:r>
                <a:r>
                  <a:rPr lang="en-US" altLang="zh-CN" sz="4800" dirty="0">
                    <a:solidFill>
                      <a:schemeClr val="bg1"/>
                    </a:solidFill>
                    <a:latin typeface="造字工房力黑（非商用）常规体" pitchFamily="50" charset="-122"/>
                    <a:ea typeface="造字工房力黑（非商用）常规体" pitchFamily="50" charset="-122"/>
                    <a:cs typeface="+mn-ea"/>
                    <a:sym typeface="+mn-lt"/>
                  </a:rPr>
                  <a:t>I</a:t>
                </a:r>
                <a:endParaRPr lang="zh-CN" altLang="en-US" sz="4800" dirty="0">
                  <a:solidFill>
                    <a:schemeClr val="bg1"/>
                  </a:solidFill>
                  <a:latin typeface="造字工房力黑（非商用）常规体" pitchFamily="50" charset="-122"/>
                  <a:ea typeface="造字工房力黑（非商用）常规体" pitchFamily="50" charset="-122"/>
                  <a:cs typeface="+mn-ea"/>
                  <a:sym typeface="+mn-lt"/>
                </a:endParaRPr>
              </a:p>
            </p:txBody>
          </p:sp>
        </p:grpSp>
        <p:grpSp>
          <p:nvGrpSpPr>
            <p:cNvPr id="27" name="组合 26"/>
            <p:cNvGrpSpPr/>
            <p:nvPr/>
          </p:nvGrpSpPr>
          <p:grpSpPr>
            <a:xfrm>
              <a:off x="7130472" y="713740"/>
              <a:ext cx="5061529" cy="1386840"/>
              <a:chOff x="7130472" y="713740"/>
              <a:chExt cx="5061529" cy="1386840"/>
            </a:xfrm>
          </p:grpSpPr>
          <p:sp>
            <p:nvSpPr>
              <p:cNvPr id="29" name="任意多边形 28"/>
              <p:cNvSpPr/>
              <p:nvPr/>
            </p:nvSpPr>
            <p:spPr>
              <a:xfrm flipH="1" flipV="1">
                <a:off x="7130472" y="713740"/>
                <a:ext cx="5061527" cy="1386840"/>
              </a:xfrm>
              <a:custGeom>
                <a:avLst/>
                <a:gdLst>
                  <a:gd name="connsiteX0" fmla="*/ 0 w 7147560"/>
                  <a:gd name="connsiteY0" fmla="*/ 0 h 2814320"/>
                  <a:gd name="connsiteX1" fmla="*/ 6443980 w 7147560"/>
                  <a:gd name="connsiteY1" fmla="*/ 0 h 2814320"/>
                  <a:gd name="connsiteX2" fmla="*/ 7147560 w 7147560"/>
                  <a:gd name="connsiteY2" fmla="*/ 2814320 h 2814320"/>
                  <a:gd name="connsiteX3" fmla="*/ 0 w 7147560"/>
                  <a:gd name="connsiteY3" fmla="*/ 2814320 h 2814320"/>
                  <a:gd name="connsiteX0-1" fmla="*/ 0 w 8689506"/>
                  <a:gd name="connsiteY0-2" fmla="*/ 0 h 2814320"/>
                  <a:gd name="connsiteX1-3" fmla="*/ 6443980 w 8689506"/>
                  <a:gd name="connsiteY1-4" fmla="*/ 0 h 2814320"/>
                  <a:gd name="connsiteX2-5" fmla="*/ 8689506 w 8689506"/>
                  <a:gd name="connsiteY2-6" fmla="*/ 2814320 h 2814320"/>
                  <a:gd name="connsiteX3-7" fmla="*/ 0 w 8689506"/>
                  <a:gd name="connsiteY3-8" fmla="*/ 2814320 h 2814320"/>
                  <a:gd name="connsiteX4" fmla="*/ 0 w 8689506"/>
                  <a:gd name="connsiteY4" fmla="*/ 0 h 2814320"/>
                  <a:gd name="connsiteX0-9" fmla="*/ 0 w 9235080"/>
                  <a:gd name="connsiteY0-10" fmla="*/ 0 h 2834640"/>
                  <a:gd name="connsiteX1-11" fmla="*/ 6443980 w 9235080"/>
                  <a:gd name="connsiteY1-12" fmla="*/ 0 h 2834640"/>
                  <a:gd name="connsiteX2-13" fmla="*/ 9235080 w 9235080"/>
                  <a:gd name="connsiteY2-14" fmla="*/ 2834640 h 2834640"/>
                  <a:gd name="connsiteX3-15" fmla="*/ 0 w 9235080"/>
                  <a:gd name="connsiteY3-16" fmla="*/ 2814320 h 2834640"/>
                  <a:gd name="connsiteX4-17" fmla="*/ 0 w 9235080"/>
                  <a:gd name="connsiteY4-18" fmla="*/ 0 h 2834640"/>
                </a:gdLst>
                <a:ahLst/>
                <a:cxnLst>
                  <a:cxn ang="0">
                    <a:pos x="connsiteX0-1" y="connsiteY0-2"/>
                  </a:cxn>
                  <a:cxn ang="0">
                    <a:pos x="connsiteX1-3" y="connsiteY1-4"/>
                  </a:cxn>
                  <a:cxn ang="0">
                    <a:pos x="connsiteX2-5" y="connsiteY2-6"/>
                  </a:cxn>
                  <a:cxn ang="0">
                    <a:pos x="connsiteX3-7" y="connsiteY3-8"/>
                  </a:cxn>
                  <a:cxn ang="0">
                    <a:pos x="connsiteX4-17" y="connsiteY4-18"/>
                  </a:cxn>
                </a:cxnLst>
                <a:rect l="l" t="t" r="r" b="b"/>
                <a:pathLst>
                  <a:path w="9235080" h="2834640">
                    <a:moveTo>
                      <a:pt x="0" y="0"/>
                    </a:moveTo>
                    <a:lnTo>
                      <a:pt x="6443980" y="0"/>
                    </a:lnTo>
                    <a:lnTo>
                      <a:pt x="9235080" y="2834640"/>
                    </a:lnTo>
                    <a:lnTo>
                      <a:pt x="0" y="2814320"/>
                    </a:lnTo>
                    <a:lnTo>
                      <a:pt x="0" y="0"/>
                    </a:lnTo>
                    <a:close/>
                  </a:path>
                </a:pathLst>
              </a:cu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31" name="文本框 30"/>
              <p:cNvSpPr txBox="1"/>
              <p:nvPr/>
            </p:nvSpPr>
            <p:spPr>
              <a:xfrm>
                <a:off x="7564229" y="991661"/>
                <a:ext cx="4627772" cy="646331"/>
              </a:xfrm>
              <a:prstGeom prst="rect">
                <a:avLst/>
              </a:prstGeom>
              <a:noFill/>
            </p:spPr>
            <p:txBody>
              <a:bodyPr wrap="square" rtlCol="0">
                <a:spAutoFit/>
              </a:bodyPr>
              <a:lstStyle/>
              <a:p>
                <a:pPr algn="r"/>
                <a:r>
                  <a:rPr lang="en-US" altLang="zh-CN" sz="3600" spc="300" dirty="0">
                    <a:solidFill>
                      <a:schemeClr val="bg1"/>
                    </a:solidFill>
                    <a:latin typeface="造字工房力黑（非商用）常规体" pitchFamily="50" charset="-122"/>
                    <a:ea typeface="造字工房力黑（非商用）常规体" pitchFamily="50" charset="-122"/>
                    <a:cs typeface="+mn-ea"/>
                    <a:sym typeface="+mn-lt"/>
                  </a:rPr>
                  <a:t>PART THREE</a:t>
                </a:r>
                <a:endParaRPr lang="zh-CN" altLang="en-US" sz="3600" spc="300" dirty="0">
                  <a:solidFill>
                    <a:schemeClr val="bg1"/>
                  </a:solidFill>
                  <a:latin typeface="造字工房力黑（非商用）常规体" pitchFamily="50" charset="-122"/>
                  <a:ea typeface="造字工房力黑（非商用）常规体" pitchFamily="50" charset="-122"/>
                  <a:cs typeface="+mn-ea"/>
                  <a:sym typeface="+mn-lt"/>
                </a:endParaRPr>
              </a:p>
            </p:txBody>
          </p:sp>
        </p:grpSp>
        <p:sp>
          <p:nvSpPr>
            <p:cNvPr id="28" name="文本框 27"/>
            <p:cNvSpPr txBox="1"/>
            <p:nvPr/>
          </p:nvSpPr>
          <p:spPr>
            <a:xfrm>
              <a:off x="9550399" y="3052435"/>
              <a:ext cx="2349194" cy="1446550"/>
            </a:xfrm>
            <a:prstGeom prst="rect">
              <a:avLst/>
            </a:prstGeom>
            <a:noFill/>
            <a:ln>
              <a:solidFill>
                <a:schemeClr val="bg1"/>
              </a:solidFill>
            </a:ln>
          </p:spPr>
          <p:txBody>
            <a:bodyPr wrap="square" rtlCol="0">
              <a:spAutoFit/>
            </a:bodyPr>
            <a:lstStyle/>
            <a:p>
              <a:pPr algn="ctr"/>
              <a:r>
                <a:rPr lang="en-US" altLang="zh-CN" sz="8800" spc="600" dirty="0">
                  <a:solidFill>
                    <a:schemeClr val="bg1"/>
                  </a:solidFill>
                  <a:latin typeface="造字工房力黑（非商用）常规体" pitchFamily="50" charset="-122"/>
                  <a:ea typeface="造字工房力黑（非商用）常规体" pitchFamily="50" charset="-122"/>
                  <a:cs typeface="+mn-ea"/>
                  <a:sym typeface="+mn-lt"/>
                </a:rPr>
                <a:t>03</a:t>
              </a:r>
              <a:endParaRPr lang="zh-CN" altLang="en-US" sz="8800" spc="600" dirty="0">
                <a:solidFill>
                  <a:schemeClr val="bg1"/>
                </a:solidFill>
                <a:latin typeface="造字工房力黑（非商用）常规体" pitchFamily="50" charset="-122"/>
                <a:ea typeface="造字工房力黑（非商用）常规体" pitchFamily="50"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right)">
                                      <p:cBhvr>
                                        <p:cTn id="7"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955040" y="-131445"/>
            <a:ext cx="10835428" cy="6990081"/>
            <a:chOff x="955040" y="-132080"/>
            <a:chExt cx="10835428" cy="6990081"/>
          </a:xfrm>
        </p:grpSpPr>
        <p:grpSp>
          <p:nvGrpSpPr>
            <p:cNvPr id="16" name="组合 15"/>
            <p:cNvGrpSpPr/>
            <p:nvPr/>
          </p:nvGrpSpPr>
          <p:grpSpPr>
            <a:xfrm>
              <a:off x="955040" y="649815"/>
              <a:ext cx="9508913" cy="5761145"/>
              <a:chOff x="1381760" y="649815"/>
              <a:chExt cx="9508913" cy="5761145"/>
            </a:xfrm>
          </p:grpSpPr>
          <p:sp>
            <p:nvSpPr>
              <p:cNvPr id="19" name="矩形 18"/>
              <p:cNvSpPr/>
              <p:nvPr/>
            </p:nvSpPr>
            <p:spPr>
              <a:xfrm>
                <a:off x="1381760" y="5100320"/>
                <a:ext cx="1127760" cy="1310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cs typeface="+mn-ea"/>
                  <a:sym typeface="+mn-lt"/>
                </a:endParaRPr>
              </a:p>
            </p:txBody>
          </p:sp>
          <p:grpSp>
            <p:nvGrpSpPr>
              <p:cNvPr id="20" name="组合 19"/>
              <p:cNvGrpSpPr/>
              <p:nvPr/>
            </p:nvGrpSpPr>
            <p:grpSpPr>
              <a:xfrm>
                <a:off x="1687290" y="649815"/>
                <a:ext cx="3709479" cy="5558368"/>
                <a:chOff x="1514570" y="649815"/>
                <a:chExt cx="3709479" cy="5558368"/>
              </a:xfrm>
            </p:grpSpPr>
            <p:pic>
              <p:nvPicPr>
                <p:cNvPr id="33" name="图片 32"/>
                <p:cNvPicPr>
                  <a:picLocks noChangeAspect="1"/>
                </p:cNvPicPr>
                <p:nvPr/>
              </p:nvPicPr>
              <p:blipFill>
                <a:blip r:embed="rId1" cstate="screen"/>
                <a:stretch>
                  <a:fillRect/>
                </a:stretch>
              </p:blipFill>
              <p:spPr>
                <a:xfrm>
                  <a:off x="1514571" y="649816"/>
                  <a:ext cx="3709478" cy="5558367"/>
                </a:xfrm>
                <a:prstGeom prst="rect">
                  <a:avLst/>
                </a:prstGeom>
              </p:spPr>
            </p:pic>
            <p:sp>
              <p:nvSpPr>
                <p:cNvPr id="34" name="矩形 33"/>
                <p:cNvSpPr/>
                <p:nvPr/>
              </p:nvSpPr>
              <p:spPr>
                <a:xfrm>
                  <a:off x="1514570" y="649815"/>
                  <a:ext cx="3709479" cy="55583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cs typeface="+mn-ea"/>
                    <a:sym typeface="+mn-lt"/>
                  </a:endParaRPr>
                </a:p>
              </p:txBody>
            </p:sp>
          </p:grpSp>
          <p:grpSp>
            <p:nvGrpSpPr>
              <p:cNvPr id="21" name="组合 20"/>
              <p:cNvGrpSpPr/>
              <p:nvPr/>
            </p:nvGrpSpPr>
            <p:grpSpPr>
              <a:xfrm>
                <a:off x="5115560" y="838469"/>
                <a:ext cx="3073400" cy="1203076"/>
                <a:chOff x="5115560" y="990869"/>
                <a:chExt cx="3073400" cy="1203076"/>
              </a:xfrm>
            </p:grpSpPr>
            <p:sp>
              <p:nvSpPr>
                <p:cNvPr id="29" name="矩形 28"/>
                <p:cNvSpPr/>
                <p:nvPr/>
              </p:nvSpPr>
              <p:spPr>
                <a:xfrm>
                  <a:off x="5115560" y="990869"/>
                  <a:ext cx="3073400" cy="1203076"/>
                </a:xfrm>
                <a:prstGeom prst="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cs typeface="+mn-ea"/>
                    <a:sym typeface="+mn-lt"/>
                  </a:endParaRPr>
                </a:p>
              </p:txBody>
            </p:sp>
            <p:sp>
              <p:nvSpPr>
                <p:cNvPr id="31" name="文本框 30"/>
                <p:cNvSpPr txBox="1"/>
                <p:nvPr/>
              </p:nvSpPr>
              <p:spPr>
                <a:xfrm>
                  <a:off x="5600700" y="1116965"/>
                  <a:ext cx="2103120" cy="649153"/>
                </a:xfrm>
                <a:prstGeom prst="rect">
                  <a:avLst/>
                </a:prstGeom>
                <a:noFill/>
              </p:spPr>
              <p:txBody>
                <a:bodyPr wrap="square" rtlCol="0">
                  <a:spAutoFit/>
                </a:bodyPr>
                <a:lstStyle/>
                <a:p>
                  <a:r>
                    <a:rPr lang="zh-CN" altLang="en-US" sz="2000" b="1" spc="600" dirty="0">
                      <a:solidFill>
                        <a:schemeClr val="tx1">
                          <a:lumMod val="75000"/>
                          <a:lumOff val="25000"/>
                        </a:schemeClr>
                      </a:solidFill>
                      <a:latin typeface="锐字工房云字库细圆GBK" panose="02010604000000000000" pitchFamily="2" charset="-122"/>
                      <a:ea typeface="锐字工房云字库细圆GBK" panose="02010604000000000000" pitchFamily="2" charset="-122"/>
                      <a:cs typeface="+mn-ea"/>
                      <a:sym typeface="+mn-lt"/>
                    </a:rPr>
                    <a:t>蜂鸟 E200 的协处理器接口 EAi</a:t>
                  </a:r>
                  <a:endParaRPr lang="zh-CN" altLang="en-US" sz="2000" b="1" spc="600" dirty="0">
                    <a:solidFill>
                      <a:schemeClr val="tx1">
                        <a:lumMod val="75000"/>
                        <a:lumOff val="25000"/>
                      </a:schemeClr>
                    </a:solidFill>
                    <a:latin typeface="锐字工房云字库细圆GBK" panose="02010604000000000000" pitchFamily="2" charset="-122"/>
                    <a:ea typeface="锐字工房云字库细圆GBK" panose="02010604000000000000" pitchFamily="2" charset="-122"/>
                    <a:cs typeface="+mn-ea"/>
                    <a:sym typeface="+mn-lt"/>
                  </a:endParaRPr>
                </a:p>
              </p:txBody>
            </p:sp>
          </p:grpSp>
          <p:grpSp>
            <p:nvGrpSpPr>
              <p:cNvPr id="22" name="组合 21"/>
              <p:cNvGrpSpPr/>
              <p:nvPr/>
            </p:nvGrpSpPr>
            <p:grpSpPr>
              <a:xfrm>
                <a:off x="6159500" y="2510926"/>
                <a:ext cx="4731173" cy="3059372"/>
                <a:chOff x="6292427" y="794168"/>
                <a:chExt cx="4731173" cy="3059372"/>
              </a:xfrm>
            </p:grpSpPr>
            <p:sp>
              <p:nvSpPr>
                <p:cNvPr id="23" name="矩形 22"/>
                <p:cNvSpPr/>
                <p:nvPr/>
              </p:nvSpPr>
              <p:spPr>
                <a:xfrm>
                  <a:off x="6888481" y="794168"/>
                  <a:ext cx="4135119" cy="645160"/>
                </a:xfrm>
                <a:prstGeom prst="rect">
                  <a:avLst/>
                </a:prstGeom>
              </p:spPr>
              <p:txBody>
                <a:bodyPr wrap="square">
                  <a:spAutoFit/>
                </a:bodyPr>
                <a:lstStyle/>
                <a:p>
                  <a:pPr>
                    <a:lnSpc>
                      <a:spcPct val="150000"/>
                    </a:lnSpc>
                  </a:pPr>
                  <a:r>
                    <a:rPr lang="zh-CN" altLang="en-US" sz="2400" b="1" dirty="0">
                      <a:latin typeface="锐字工房云字库细圆GBK" panose="02010604000000000000" pitchFamily="2" charset="-122"/>
                      <a:ea typeface="锐字工房云字库细圆GBK" panose="02010604000000000000" pitchFamily="2" charset="-122"/>
                      <a:cs typeface="+mn-ea"/>
                      <a:sym typeface="+mn-lt"/>
                    </a:rPr>
                    <a:t>EAI指令的编码</a:t>
                  </a:r>
                  <a:endParaRPr lang="zh-CN" altLang="en-US" sz="2400" b="1" dirty="0">
                    <a:latin typeface="锐字工房云字库细圆GBK" panose="02010604000000000000" pitchFamily="2" charset="-122"/>
                    <a:ea typeface="锐字工房云字库细圆GBK" panose="02010604000000000000" pitchFamily="2" charset="-122"/>
                    <a:cs typeface="+mn-ea"/>
                    <a:sym typeface="+mn-lt"/>
                  </a:endParaRPr>
                </a:p>
              </p:txBody>
            </p:sp>
            <p:sp>
              <p:nvSpPr>
                <p:cNvPr id="24" name="矩形 23"/>
                <p:cNvSpPr/>
                <p:nvPr/>
              </p:nvSpPr>
              <p:spPr>
                <a:xfrm>
                  <a:off x="6888480" y="2084355"/>
                  <a:ext cx="4135119" cy="460375"/>
                </a:xfrm>
                <a:prstGeom prst="rect">
                  <a:avLst/>
                </a:prstGeom>
              </p:spPr>
              <p:txBody>
                <a:bodyPr wrap="square">
                  <a:spAutoFit/>
                </a:bodyPr>
                <a:lstStyle/>
                <a:p>
                  <a:pPr>
                    <a:lnSpc>
                      <a:spcPct val="150000"/>
                    </a:lnSpc>
                  </a:pPr>
                  <a:endParaRPr lang="zh-CN" altLang="en-US" sz="1600" b="1" dirty="0">
                    <a:latin typeface="锐字工房云字库细圆GBK" panose="02010604000000000000" pitchFamily="2" charset="-122"/>
                    <a:ea typeface="锐字工房云字库细圆GBK" panose="02010604000000000000" pitchFamily="2" charset="-122"/>
                    <a:cs typeface="+mn-ea"/>
                    <a:sym typeface="+mn-lt"/>
                  </a:endParaRPr>
                </a:p>
              </p:txBody>
            </p:sp>
            <p:sp>
              <p:nvSpPr>
                <p:cNvPr id="25" name="矩形 24"/>
                <p:cNvSpPr/>
                <p:nvPr/>
              </p:nvSpPr>
              <p:spPr>
                <a:xfrm>
                  <a:off x="6888480" y="3392957"/>
                  <a:ext cx="4135119" cy="460375"/>
                </a:xfrm>
                <a:prstGeom prst="rect">
                  <a:avLst/>
                </a:prstGeom>
              </p:spPr>
              <p:txBody>
                <a:bodyPr wrap="square">
                  <a:spAutoFit/>
                </a:bodyPr>
                <a:lstStyle/>
                <a:p>
                  <a:pPr>
                    <a:lnSpc>
                      <a:spcPct val="150000"/>
                    </a:lnSpc>
                  </a:pPr>
                  <a:endParaRPr lang="zh-CN" altLang="en-US" sz="1600" b="1" dirty="0">
                    <a:latin typeface="锐字工房云字库细圆GBK" panose="02010604000000000000" pitchFamily="2" charset="-122"/>
                    <a:ea typeface="锐字工房云字库细圆GBK" panose="02010604000000000000" pitchFamily="2" charset="-122"/>
                    <a:cs typeface="+mn-ea"/>
                    <a:sym typeface="+mn-lt"/>
                  </a:endParaRPr>
                </a:p>
              </p:txBody>
            </p:sp>
            <p:sp>
              <p:nvSpPr>
                <p:cNvPr id="26" name="矩形 25"/>
                <p:cNvSpPr/>
                <p:nvPr/>
              </p:nvSpPr>
              <p:spPr>
                <a:xfrm>
                  <a:off x="6292427" y="1165851"/>
                  <a:ext cx="413173" cy="7112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cs typeface="+mn-ea"/>
                    <a:sym typeface="+mn-lt"/>
                  </a:endParaRPr>
                </a:p>
              </p:txBody>
            </p:sp>
            <p:sp>
              <p:nvSpPr>
                <p:cNvPr id="27" name="矩形 26"/>
                <p:cNvSpPr/>
                <p:nvPr/>
              </p:nvSpPr>
              <p:spPr>
                <a:xfrm>
                  <a:off x="6292427" y="3085323"/>
                  <a:ext cx="413173" cy="7112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cs typeface="+mn-ea"/>
                    <a:sym typeface="+mn-lt"/>
                  </a:endParaRPr>
                </a:p>
              </p:txBody>
            </p:sp>
            <p:sp>
              <p:nvSpPr>
                <p:cNvPr id="28" name="矩形 27"/>
                <p:cNvSpPr/>
                <p:nvPr/>
              </p:nvSpPr>
              <p:spPr>
                <a:xfrm>
                  <a:off x="6292427" y="3782420"/>
                  <a:ext cx="413173" cy="7112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cs typeface="+mn-ea"/>
                    <a:sym typeface="+mn-lt"/>
                  </a:endParaRPr>
                </a:p>
              </p:txBody>
            </p:sp>
          </p:grpSp>
        </p:grpSp>
        <p:cxnSp>
          <p:nvCxnSpPr>
            <p:cNvPr id="17" name="直接连接符 16"/>
            <p:cNvCxnSpPr/>
            <p:nvPr/>
          </p:nvCxnSpPr>
          <p:spPr>
            <a:xfrm>
              <a:off x="11501120" y="-132080"/>
              <a:ext cx="0" cy="69088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11211771" y="5940713"/>
              <a:ext cx="578697" cy="9172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cs typeface="+mn-ea"/>
                <a:sym typeface="+mn-lt"/>
              </a:endParaRPr>
            </a:p>
          </p:txBody>
        </p:sp>
      </p:grpSp>
      <p:sp>
        <p:nvSpPr>
          <p:cNvPr id="2" name="矩形 1"/>
          <p:cNvSpPr/>
          <p:nvPr/>
        </p:nvSpPr>
        <p:spPr>
          <a:xfrm>
            <a:off x="5732780" y="3520651"/>
            <a:ext cx="413173" cy="7112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latin typeface="锐字工房云字库细圆GBK" panose="02010604000000000000" pitchFamily="2" charset="-122"/>
              <a:ea typeface="锐字工房云字库细圆GBK" panose="02010604000000000000" pitchFamily="2" charset="-122"/>
              <a:cs typeface="+mn-ea"/>
              <a:sym typeface="+mn-lt"/>
            </a:endParaRPr>
          </a:p>
        </p:txBody>
      </p:sp>
      <p:sp>
        <p:nvSpPr>
          <p:cNvPr id="3" name="矩形 2"/>
          <p:cNvSpPr/>
          <p:nvPr/>
        </p:nvSpPr>
        <p:spPr>
          <a:xfrm>
            <a:off x="5732780" y="4157556"/>
            <a:ext cx="413173" cy="7112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latin typeface="锐字工房云字库细圆GBK" panose="02010604000000000000" pitchFamily="2" charset="-122"/>
              <a:ea typeface="锐字工房云字库细圆GBK" panose="02010604000000000000" pitchFamily="2" charset="-122"/>
              <a:cs typeface="+mn-ea"/>
              <a:sym typeface="+mn-lt"/>
            </a:endParaRPr>
          </a:p>
        </p:txBody>
      </p:sp>
      <p:sp>
        <p:nvSpPr>
          <p:cNvPr id="4" name="文本框 3"/>
          <p:cNvSpPr txBox="1"/>
          <p:nvPr/>
        </p:nvSpPr>
        <p:spPr>
          <a:xfrm>
            <a:off x="6329045" y="3156585"/>
            <a:ext cx="1868170" cy="645160"/>
          </a:xfrm>
          <a:prstGeom prst="rect">
            <a:avLst/>
          </a:prstGeom>
          <a:noFill/>
        </p:spPr>
        <p:txBody>
          <a:bodyPr wrap="none" rtlCol="0" anchor="t">
            <a:spAutoFit/>
          </a:bodyPr>
          <a:p>
            <a:pPr algn="l">
              <a:lnSpc>
                <a:spcPct val="150000"/>
              </a:lnSpc>
            </a:pPr>
            <a:r>
              <a:rPr lang="zh-CN" altLang="en-US" sz="2400" b="1" dirty="0">
                <a:latin typeface="锐字工房云字库细圆GBK" panose="02010604000000000000" pitchFamily="2" charset="-122"/>
                <a:ea typeface="锐字工房云字库细圆GBK" panose="02010604000000000000" pitchFamily="2" charset="-122"/>
                <a:cs typeface="+mn-ea"/>
                <a:sym typeface="+mn-lt"/>
              </a:rPr>
              <a:t>EAI接口信号</a:t>
            </a:r>
            <a:endParaRPr lang="zh-CN" altLang="en-US" sz="2400" b="1" dirty="0">
              <a:latin typeface="锐字工房云字库细圆GBK" panose="02010604000000000000" pitchFamily="2" charset="-122"/>
              <a:ea typeface="锐字工房云字库细圆GBK" panose="02010604000000000000" pitchFamily="2" charset="-122"/>
              <a:cs typeface="+mn-ea"/>
              <a:sym typeface="+mn-lt"/>
            </a:endParaRPr>
          </a:p>
        </p:txBody>
      </p:sp>
      <p:sp>
        <p:nvSpPr>
          <p:cNvPr id="5" name="文本框 4"/>
          <p:cNvSpPr txBox="1"/>
          <p:nvPr/>
        </p:nvSpPr>
        <p:spPr>
          <a:xfrm>
            <a:off x="6329045" y="3801745"/>
            <a:ext cx="2174240" cy="645160"/>
          </a:xfrm>
          <a:prstGeom prst="rect">
            <a:avLst/>
          </a:prstGeom>
          <a:noFill/>
        </p:spPr>
        <p:txBody>
          <a:bodyPr wrap="none" rtlCol="0" anchor="t">
            <a:spAutoFit/>
          </a:bodyPr>
          <a:p>
            <a:pPr algn="l">
              <a:lnSpc>
                <a:spcPct val="150000"/>
              </a:lnSpc>
            </a:pPr>
            <a:r>
              <a:rPr lang="zh-CN" altLang="en-US" sz="2400" b="1" dirty="0">
                <a:latin typeface="锐字工房云字库细圆GBK" panose="02010604000000000000" pitchFamily="2" charset="-122"/>
                <a:ea typeface="锐字工房云字库细圆GBK" panose="02010604000000000000" pitchFamily="2" charset="-122"/>
                <a:cs typeface="+mn-ea"/>
                <a:sym typeface="+mn-lt"/>
              </a:rPr>
              <a:t>EAI流水线接口</a:t>
            </a:r>
            <a:endParaRPr lang="zh-CN" altLang="en-US" sz="2400" b="1" dirty="0">
              <a:latin typeface="锐字工房云字库细圆GBK" panose="02010604000000000000" pitchFamily="2" charset="-122"/>
              <a:ea typeface="锐字工房云字库细圆GBK" panose="02010604000000000000" pitchFamily="2" charset="-122"/>
              <a:cs typeface="+mn-ea"/>
              <a:sym typeface="+mn-lt"/>
            </a:endParaRPr>
          </a:p>
        </p:txBody>
      </p:sp>
      <p:sp>
        <p:nvSpPr>
          <p:cNvPr id="6" name="文本框 5"/>
          <p:cNvSpPr txBox="1"/>
          <p:nvPr/>
        </p:nvSpPr>
        <p:spPr>
          <a:xfrm>
            <a:off x="6329045" y="4465320"/>
            <a:ext cx="2174240" cy="645160"/>
          </a:xfrm>
          <a:prstGeom prst="rect">
            <a:avLst/>
          </a:prstGeom>
          <a:noFill/>
        </p:spPr>
        <p:txBody>
          <a:bodyPr wrap="none" rtlCol="0" anchor="t">
            <a:spAutoFit/>
          </a:bodyPr>
          <a:p>
            <a:pPr algn="l">
              <a:lnSpc>
                <a:spcPct val="150000"/>
              </a:lnSpc>
            </a:pPr>
            <a:r>
              <a:rPr lang="zh-CN" altLang="en-US" sz="2400" b="1" dirty="0">
                <a:latin typeface="锐字工房云字库细圆GBK" panose="02010604000000000000" pitchFamily="2" charset="-122"/>
                <a:ea typeface="锐字工房云字库细圆GBK" panose="02010604000000000000" pitchFamily="2" charset="-122"/>
                <a:cs typeface="+mn-ea"/>
                <a:sym typeface="+mn-lt"/>
              </a:rPr>
              <a:t>EAI存储器接口</a:t>
            </a:r>
            <a:endParaRPr lang="zh-CN" altLang="en-US" sz="2400" b="1" dirty="0">
              <a:latin typeface="锐字工房云字库细圆GBK" panose="02010604000000000000" pitchFamily="2" charset="-122"/>
              <a:ea typeface="锐字工房云字库细圆GBK" panose="02010604000000000000" pitchFamily="2" charset="-122"/>
              <a:cs typeface="+mn-ea"/>
              <a:sym typeface="+mn-lt"/>
            </a:endParaRPr>
          </a:p>
        </p:txBody>
      </p:sp>
      <p:sp>
        <p:nvSpPr>
          <p:cNvPr id="7" name="文本框 6"/>
          <p:cNvSpPr txBox="1"/>
          <p:nvPr/>
        </p:nvSpPr>
        <p:spPr>
          <a:xfrm>
            <a:off x="6329045" y="5212715"/>
            <a:ext cx="1868170" cy="645160"/>
          </a:xfrm>
          <a:prstGeom prst="rect">
            <a:avLst/>
          </a:prstGeom>
          <a:noFill/>
        </p:spPr>
        <p:txBody>
          <a:bodyPr wrap="none" rtlCol="0" anchor="t">
            <a:spAutoFit/>
          </a:bodyPr>
          <a:p>
            <a:pPr algn="l">
              <a:lnSpc>
                <a:spcPct val="150000"/>
              </a:lnSpc>
            </a:pPr>
            <a:r>
              <a:rPr lang="zh-CN" altLang="en-US" sz="2400" b="1" dirty="0">
                <a:latin typeface="锐字工房云字库细圆GBK" panose="02010604000000000000" pitchFamily="2" charset="-122"/>
                <a:ea typeface="锐字工房云字库细圆GBK" panose="02010604000000000000" pitchFamily="2" charset="-122"/>
                <a:cs typeface="+mn-ea"/>
                <a:sym typeface="+mn-lt"/>
              </a:rPr>
              <a:t>EAI接口时序</a:t>
            </a:r>
            <a:endParaRPr lang="zh-CN" altLang="en-US" sz="2400" b="1" dirty="0">
              <a:latin typeface="锐字工房云字库细圆GBK" panose="02010604000000000000" pitchFamily="2" charset="-122"/>
              <a:ea typeface="锐字工房云字库细圆GBK" panose="02010604000000000000" pitchFamily="2"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97280"/>
            <a:ext cx="12181840" cy="829945"/>
            <a:chOff x="0" y="189643"/>
            <a:chExt cx="12181840" cy="829945"/>
          </a:xfrm>
        </p:grpSpPr>
        <p:grpSp>
          <p:nvGrpSpPr>
            <p:cNvPr id="3" name="组合 2"/>
            <p:cNvGrpSpPr/>
            <p:nvPr/>
          </p:nvGrpSpPr>
          <p:grpSpPr>
            <a:xfrm>
              <a:off x="0" y="294640"/>
              <a:ext cx="880552" cy="375920"/>
              <a:chOff x="0" y="294640"/>
              <a:chExt cx="1094740" cy="467360"/>
            </a:xfrm>
            <a:solidFill>
              <a:srgbClr val="EE8A10"/>
            </a:solidFill>
          </p:grpSpPr>
          <p:sp>
            <p:nvSpPr>
              <p:cNvPr id="12"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文本框 3"/>
            <p:cNvSpPr txBox="1"/>
            <p:nvPr/>
          </p:nvSpPr>
          <p:spPr>
            <a:xfrm>
              <a:off x="926465" y="189643"/>
              <a:ext cx="2320925" cy="829945"/>
            </a:xfrm>
            <a:prstGeom prst="rect">
              <a:avLst/>
            </a:prstGeom>
            <a:noFill/>
          </p:spPr>
          <p:txBody>
            <a:bodyPr wrap="square" rtlCol="0">
              <a:spAutoFit/>
            </a:bodyPr>
            <a:lstStyle/>
            <a:p>
              <a:pPr algn="ctr"/>
              <a:r>
                <a:rPr lang="zh-CN" altLang="en-US" sz="24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rPr>
                <a:t>蜂鸟E200的协处理器接口EA</a:t>
              </a:r>
              <a:r>
                <a:rPr lang="en-US" altLang="zh-CN" sz="24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rPr>
                <a:t>I</a:t>
              </a:r>
              <a:endParaRPr lang="en-US" altLang="zh-CN" sz="2400" b="1" spc="6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endParaRPr>
            </a:p>
          </p:txBody>
        </p:sp>
        <p:grpSp>
          <p:nvGrpSpPr>
            <p:cNvPr id="5" name="组合 4"/>
            <p:cNvGrpSpPr/>
            <p:nvPr/>
          </p:nvGrpSpPr>
          <p:grpSpPr>
            <a:xfrm>
              <a:off x="3356076" y="408709"/>
              <a:ext cx="1749361" cy="147782"/>
              <a:chOff x="635462" y="775854"/>
              <a:chExt cx="1749361" cy="147782"/>
            </a:xfrm>
            <a:solidFill>
              <a:srgbClr val="EE8A10"/>
            </a:solidFill>
          </p:grpSpPr>
          <p:sp>
            <p:nvSpPr>
              <p:cNvPr id="7" name="椭圆 6"/>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6" name="直接连接符 5"/>
            <p:cNvCxnSpPr/>
            <p:nvPr/>
          </p:nvCxnSpPr>
          <p:spPr>
            <a:xfrm>
              <a:off x="5212080" y="477520"/>
              <a:ext cx="6969760"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926408" y="2064818"/>
            <a:ext cx="10840356" cy="4544695"/>
            <a:chOff x="926408" y="1820978"/>
            <a:chExt cx="10840356" cy="4544695"/>
          </a:xfrm>
        </p:grpSpPr>
        <p:grpSp>
          <p:nvGrpSpPr>
            <p:cNvPr id="16" name="组合 15"/>
            <p:cNvGrpSpPr/>
            <p:nvPr/>
          </p:nvGrpSpPr>
          <p:grpSpPr>
            <a:xfrm>
              <a:off x="926408" y="1820978"/>
              <a:ext cx="3935614" cy="3960714"/>
              <a:chOff x="4369714" y="1686560"/>
              <a:chExt cx="3472891" cy="3495040"/>
            </a:xfrm>
          </p:grpSpPr>
          <p:grpSp>
            <p:nvGrpSpPr>
              <p:cNvPr id="29" name="组合 28"/>
              <p:cNvGrpSpPr/>
              <p:nvPr/>
            </p:nvGrpSpPr>
            <p:grpSpPr>
              <a:xfrm>
                <a:off x="4369714" y="1686560"/>
                <a:ext cx="3472891" cy="3495040"/>
                <a:chOff x="1849120" y="1498600"/>
                <a:chExt cx="3982720" cy="4008120"/>
              </a:xfrm>
            </p:grpSpPr>
            <p:sp>
              <p:nvSpPr>
                <p:cNvPr id="31" name="矩形 30"/>
                <p:cNvSpPr/>
                <p:nvPr/>
              </p:nvSpPr>
              <p:spPr>
                <a:xfrm>
                  <a:off x="1849120" y="1498600"/>
                  <a:ext cx="1930400" cy="1930400"/>
                </a:xfrm>
                <a:prstGeom prst="rect">
                  <a:avLst/>
                </a:prstGeom>
                <a:blipFill dpi="0" rotWithShape="1">
                  <a:blip r:embed="rId1"/>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32" name="矩形 31"/>
                <p:cNvSpPr/>
                <p:nvPr/>
              </p:nvSpPr>
              <p:spPr>
                <a:xfrm>
                  <a:off x="3901440" y="3576320"/>
                  <a:ext cx="1930400" cy="1930400"/>
                </a:xfrm>
                <a:prstGeom prst="rect">
                  <a:avLst/>
                </a:prstGeom>
                <a:blipFill dpi="0" rotWithShape="1">
                  <a:blip r:embed="rId1"/>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33" name="矩形 32"/>
                <p:cNvSpPr/>
                <p:nvPr/>
              </p:nvSpPr>
              <p:spPr>
                <a:xfrm>
                  <a:off x="1849120" y="3576320"/>
                  <a:ext cx="1930400" cy="1930400"/>
                </a:xfrm>
                <a:prstGeom prst="rect">
                  <a:avLst/>
                </a:prstGeom>
                <a:blipFill dpi="0" rotWithShape="1">
                  <a:blip r:embed="rId2"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34" name="矩形 33"/>
                <p:cNvSpPr/>
                <p:nvPr/>
              </p:nvSpPr>
              <p:spPr>
                <a:xfrm>
                  <a:off x="3901440" y="1498600"/>
                  <a:ext cx="1930400" cy="1930400"/>
                </a:xfrm>
                <a:prstGeom prst="rect">
                  <a:avLst/>
                </a:prstGeom>
                <a:blipFill dpi="0" rotWithShape="1">
                  <a:blip r:embed="rId2"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grpSp>
          <p:sp>
            <p:nvSpPr>
              <p:cNvPr id="30" name="矩形 29"/>
              <p:cNvSpPr/>
              <p:nvPr/>
            </p:nvSpPr>
            <p:spPr>
              <a:xfrm>
                <a:off x="5264689" y="2595880"/>
                <a:ext cx="1676400" cy="1676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EAI指令的编码</a:t>
                </a:r>
                <a:endParaRPr lang="zh-CN" altLang="en-US"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grpSp>
        <p:sp>
          <p:nvSpPr>
            <p:cNvPr id="17" name="îṥļîḑé-Freeform: Shape 15"/>
            <p:cNvSpPr/>
            <p:nvPr/>
          </p:nvSpPr>
          <p:spPr bwMode="auto">
            <a:xfrm>
              <a:off x="5470877" y="1820978"/>
              <a:ext cx="427524" cy="426261"/>
            </a:xfrm>
            <a:custGeom>
              <a:avLst/>
              <a:gdLst>
                <a:gd name="T0" fmla="*/ 122 w 186"/>
                <a:gd name="T1" fmla="*/ 160 h 185"/>
                <a:gd name="T2" fmla="*/ 122 w 186"/>
                <a:gd name="T3" fmla="*/ 152 h 185"/>
                <a:gd name="T4" fmla="*/ 59 w 186"/>
                <a:gd name="T5" fmla="*/ 156 h 185"/>
                <a:gd name="T6" fmla="*/ 63 w 186"/>
                <a:gd name="T7" fmla="*/ 143 h 185"/>
                <a:gd name="T8" fmla="*/ 110 w 186"/>
                <a:gd name="T9" fmla="*/ 139 h 185"/>
                <a:gd name="T10" fmla="*/ 63 w 186"/>
                <a:gd name="T11" fmla="*/ 135 h 185"/>
                <a:gd name="T12" fmla="*/ 63 w 186"/>
                <a:gd name="T13" fmla="*/ 143 h 185"/>
                <a:gd name="T14" fmla="*/ 152 w 186"/>
                <a:gd name="T15" fmla="*/ 50 h 185"/>
                <a:gd name="T16" fmla="*/ 143 w 186"/>
                <a:gd name="T17" fmla="*/ 0 h 185"/>
                <a:gd name="T18" fmla="*/ 34 w 186"/>
                <a:gd name="T19" fmla="*/ 8 h 185"/>
                <a:gd name="T20" fmla="*/ 25 w 186"/>
                <a:gd name="T21" fmla="*/ 50 h 185"/>
                <a:gd name="T22" fmla="*/ 0 w 186"/>
                <a:gd name="T23" fmla="*/ 143 h 185"/>
                <a:gd name="T24" fmla="*/ 34 w 186"/>
                <a:gd name="T25" fmla="*/ 169 h 185"/>
                <a:gd name="T26" fmla="*/ 42 w 186"/>
                <a:gd name="T27" fmla="*/ 185 h 185"/>
                <a:gd name="T28" fmla="*/ 152 w 186"/>
                <a:gd name="T29" fmla="*/ 177 h 185"/>
                <a:gd name="T30" fmla="*/ 160 w 186"/>
                <a:gd name="T31" fmla="*/ 169 h 185"/>
                <a:gd name="T32" fmla="*/ 186 w 186"/>
                <a:gd name="T33" fmla="*/ 76 h 185"/>
                <a:gd name="T34" fmla="*/ 42 w 186"/>
                <a:gd name="T35" fmla="*/ 8 h 185"/>
                <a:gd name="T36" fmla="*/ 143 w 186"/>
                <a:gd name="T37" fmla="*/ 50 h 185"/>
                <a:gd name="T38" fmla="*/ 42 w 186"/>
                <a:gd name="T39" fmla="*/ 8 h 185"/>
                <a:gd name="T40" fmla="*/ 42 w 186"/>
                <a:gd name="T41" fmla="*/ 177 h 185"/>
                <a:gd name="T42" fmla="*/ 143 w 186"/>
                <a:gd name="T43" fmla="*/ 126 h 185"/>
                <a:gd name="T44" fmla="*/ 177 w 186"/>
                <a:gd name="T45" fmla="*/ 143 h 185"/>
                <a:gd name="T46" fmla="*/ 152 w 186"/>
                <a:gd name="T47" fmla="*/ 160 h 185"/>
                <a:gd name="T48" fmla="*/ 143 w 186"/>
                <a:gd name="T49" fmla="*/ 118 h 185"/>
                <a:gd name="T50" fmla="*/ 34 w 186"/>
                <a:gd name="T51" fmla="*/ 126 h 185"/>
                <a:gd name="T52" fmla="*/ 25 w 186"/>
                <a:gd name="T53" fmla="*/ 160 h 185"/>
                <a:gd name="T54" fmla="*/ 8 w 186"/>
                <a:gd name="T55" fmla="*/ 76 h 185"/>
                <a:gd name="T56" fmla="*/ 160 w 186"/>
                <a:gd name="T57" fmla="*/ 59 h 185"/>
                <a:gd name="T58" fmla="*/ 177 w 186"/>
                <a:gd name="T59" fmla="*/ 143 h 185"/>
                <a:gd name="T60" fmla="*/ 143 w 186"/>
                <a:gd name="T61" fmla="*/ 84 h 185"/>
                <a:gd name="T62" fmla="*/ 160 w 186"/>
                <a:gd name="T63" fmla="*/ 84 h 185"/>
                <a:gd name="T64" fmla="*/ 127 w 186"/>
                <a:gd name="T65" fmla="*/ 76 h 185"/>
                <a:gd name="T66" fmla="*/ 127 w 186"/>
                <a:gd name="T67" fmla="*/ 93 h 185"/>
                <a:gd name="T68" fmla="*/ 127 w 186"/>
                <a:gd name="T69" fmla="*/ 76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6" h="185">
                  <a:moveTo>
                    <a:pt x="63" y="160"/>
                  </a:moveTo>
                  <a:cubicBezTo>
                    <a:pt x="122" y="160"/>
                    <a:pt x="122" y="160"/>
                    <a:pt x="122" y="160"/>
                  </a:cubicBezTo>
                  <a:cubicBezTo>
                    <a:pt x="125" y="160"/>
                    <a:pt x="127" y="158"/>
                    <a:pt x="127" y="156"/>
                  </a:cubicBezTo>
                  <a:cubicBezTo>
                    <a:pt x="127" y="154"/>
                    <a:pt x="125" y="152"/>
                    <a:pt x="122" y="152"/>
                  </a:cubicBezTo>
                  <a:cubicBezTo>
                    <a:pt x="63" y="152"/>
                    <a:pt x="63" y="152"/>
                    <a:pt x="63" y="152"/>
                  </a:cubicBezTo>
                  <a:cubicBezTo>
                    <a:pt x="61" y="152"/>
                    <a:pt x="59" y="154"/>
                    <a:pt x="59" y="156"/>
                  </a:cubicBezTo>
                  <a:cubicBezTo>
                    <a:pt x="59" y="158"/>
                    <a:pt x="61" y="160"/>
                    <a:pt x="63" y="160"/>
                  </a:cubicBezTo>
                  <a:close/>
                  <a:moveTo>
                    <a:pt x="63" y="143"/>
                  </a:moveTo>
                  <a:cubicBezTo>
                    <a:pt x="106" y="143"/>
                    <a:pt x="106" y="143"/>
                    <a:pt x="106" y="143"/>
                  </a:cubicBezTo>
                  <a:cubicBezTo>
                    <a:pt x="108" y="143"/>
                    <a:pt x="110" y="141"/>
                    <a:pt x="110" y="139"/>
                  </a:cubicBezTo>
                  <a:cubicBezTo>
                    <a:pt x="110" y="137"/>
                    <a:pt x="108" y="135"/>
                    <a:pt x="106" y="135"/>
                  </a:cubicBezTo>
                  <a:cubicBezTo>
                    <a:pt x="63" y="135"/>
                    <a:pt x="63" y="135"/>
                    <a:pt x="63" y="135"/>
                  </a:cubicBezTo>
                  <a:cubicBezTo>
                    <a:pt x="61" y="135"/>
                    <a:pt x="59" y="137"/>
                    <a:pt x="59" y="139"/>
                  </a:cubicBezTo>
                  <a:cubicBezTo>
                    <a:pt x="59" y="141"/>
                    <a:pt x="61" y="143"/>
                    <a:pt x="63" y="143"/>
                  </a:cubicBezTo>
                  <a:close/>
                  <a:moveTo>
                    <a:pt x="160" y="50"/>
                  </a:moveTo>
                  <a:cubicBezTo>
                    <a:pt x="152" y="50"/>
                    <a:pt x="152" y="50"/>
                    <a:pt x="152" y="50"/>
                  </a:cubicBezTo>
                  <a:cubicBezTo>
                    <a:pt x="152" y="8"/>
                    <a:pt x="152" y="8"/>
                    <a:pt x="152" y="8"/>
                  </a:cubicBezTo>
                  <a:cubicBezTo>
                    <a:pt x="152" y="4"/>
                    <a:pt x="148" y="0"/>
                    <a:pt x="143" y="0"/>
                  </a:cubicBezTo>
                  <a:cubicBezTo>
                    <a:pt x="42" y="0"/>
                    <a:pt x="42" y="0"/>
                    <a:pt x="42" y="0"/>
                  </a:cubicBezTo>
                  <a:cubicBezTo>
                    <a:pt x="38" y="0"/>
                    <a:pt x="34" y="4"/>
                    <a:pt x="34" y="8"/>
                  </a:cubicBezTo>
                  <a:cubicBezTo>
                    <a:pt x="34" y="50"/>
                    <a:pt x="34" y="50"/>
                    <a:pt x="34" y="50"/>
                  </a:cubicBezTo>
                  <a:cubicBezTo>
                    <a:pt x="25" y="50"/>
                    <a:pt x="25" y="50"/>
                    <a:pt x="25" y="50"/>
                  </a:cubicBezTo>
                  <a:cubicBezTo>
                    <a:pt x="11" y="50"/>
                    <a:pt x="0" y="62"/>
                    <a:pt x="0" y="76"/>
                  </a:cubicBezTo>
                  <a:cubicBezTo>
                    <a:pt x="0" y="143"/>
                    <a:pt x="0" y="143"/>
                    <a:pt x="0" y="143"/>
                  </a:cubicBezTo>
                  <a:cubicBezTo>
                    <a:pt x="0" y="157"/>
                    <a:pt x="11" y="169"/>
                    <a:pt x="25" y="169"/>
                  </a:cubicBezTo>
                  <a:cubicBezTo>
                    <a:pt x="34" y="169"/>
                    <a:pt x="34" y="169"/>
                    <a:pt x="34" y="169"/>
                  </a:cubicBezTo>
                  <a:cubicBezTo>
                    <a:pt x="34" y="177"/>
                    <a:pt x="34" y="177"/>
                    <a:pt x="34" y="177"/>
                  </a:cubicBezTo>
                  <a:cubicBezTo>
                    <a:pt x="34" y="182"/>
                    <a:pt x="38" y="185"/>
                    <a:pt x="42" y="185"/>
                  </a:cubicBezTo>
                  <a:cubicBezTo>
                    <a:pt x="143" y="185"/>
                    <a:pt x="143" y="185"/>
                    <a:pt x="143" y="185"/>
                  </a:cubicBezTo>
                  <a:cubicBezTo>
                    <a:pt x="148" y="185"/>
                    <a:pt x="152" y="182"/>
                    <a:pt x="152" y="177"/>
                  </a:cubicBezTo>
                  <a:cubicBezTo>
                    <a:pt x="152" y="169"/>
                    <a:pt x="152" y="169"/>
                    <a:pt x="152" y="169"/>
                  </a:cubicBezTo>
                  <a:cubicBezTo>
                    <a:pt x="160" y="169"/>
                    <a:pt x="160" y="169"/>
                    <a:pt x="160" y="169"/>
                  </a:cubicBezTo>
                  <a:cubicBezTo>
                    <a:pt x="174" y="169"/>
                    <a:pt x="186" y="157"/>
                    <a:pt x="186" y="143"/>
                  </a:cubicBezTo>
                  <a:cubicBezTo>
                    <a:pt x="186" y="76"/>
                    <a:pt x="186" y="76"/>
                    <a:pt x="186" y="76"/>
                  </a:cubicBezTo>
                  <a:cubicBezTo>
                    <a:pt x="186" y="62"/>
                    <a:pt x="174" y="50"/>
                    <a:pt x="160" y="50"/>
                  </a:cubicBezTo>
                  <a:close/>
                  <a:moveTo>
                    <a:pt x="42" y="8"/>
                  </a:moveTo>
                  <a:cubicBezTo>
                    <a:pt x="143" y="8"/>
                    <a:pt x="143" y="8"/>
                    <a:pt x="143" y="8"/>
                  </a:cubicBezTo>
                  <a:cubicBezTo>
                    <a:pt x="143" y="50"/>
                    <a:pt x="143" y="50"/>
                    <a:pt x="143" y="50"/>
                  </a:cubicBezTo>
                  <a:cubicBezTo>
                    <a:pt x="42" y="50"/>
                    <a:pt x="42" y="50"/>
                    <a:pt x="42" y="50"/>
                  </a:cubicBezTo>
                  <a:lnTo>
                    <a:pt x="42" y="8"/>
                  </a:lnTo>
                  <a:close/>
                  <a:moveTo>
                    <a:pt x="143" y="177"/>
                  </a:moveTo>
                  <a:cubicBezTo>
                    <a:pt x="42" y="177"/>
                    <a:pt x="42" y="177"/>
                    <a:pt x="42" y="177"/>
                  </a:cubicBezTo>
                  <a:cubicBezTo>
                    <a:pt x="42" y="126"/>
                    <a:pt x="42" y="126"/>
                    <a:pt x="42" y="126"/>
                  </a:cubicBezTo>
                  <a:cubicBezTo>
                    <a:pt x="143" y="126"/>
                    <a:pt x="143" y="126"/>
                    <a:pt x="143" y="126"/>
                  </a:cubicBezTo>
                  <a:lnTo>
                    <a:pt x="143" y="177"/>
                  </a:lnTo>
                  <a:close/>
                  <a:moveTo>
                    <a:pt x="177" y="143"/>
                  </a:moveTo>
                  <a:cubicBezTo>
                    <a:pt x="177" y="153"/>
                    <a:pt x="170" y="160"/>
                    <a:pt x="160" y="160"/>
                  </a:cubicBezTo>
                  <a:cubicBezTo>
                    <a:pt x="152" y="160"/>
                    <a:pt x="152" y="160"/>
                    <a:pt x="152" y="160"/>
                  </a:cubicBezTo>
                  <a:cubicBezTo>
                    <a:pt x="152" y="126"/>
                    <a:pt x="152" y="126"/>
                    <a:pt x="152" y="126"/>
                  </a:cubicBezTo>
                  <a:cubicBezTo>
                    <a:pt x="152" y="122"/>
                    <a:pt x="148" y="118"/>
                    <a:pt x="143" y="118"/>
                  </a:cubicBezTo>
                  <a:cubicBezTo>
                    <a:pt x="42" y="118"/>
                    <a:pt x="42" y="118"/>
                    <a:pt x="42" y="118"/>
                  </a:cubicBezTo>
                  <a:cubicBezTo>
                    <a:pt x="38" y="118"/>
                    <a:pt x="34" y="122"/>
                    <a:pt x="34" y="126"/>
                  </a:cubicBezTo>
                  <a:cubicBezTo>
                    <a:pt x="34" y="160"/>
                    <a:pt x="34" y="160"/>
                    <a:pt x="34" y="160"/>
                  </a:cubicBezTo>
                  <a:cubicBezTo>
                    <a:pt x="25" y="160"/>
                    <a:pt x="25" y="160"/>
                    <a:pt x="25" y="160"/>
                  </a:cubicBezTo>
                  <a:cubicBezTo>
                    <a:pt x="16" y="160"/>
                    <a:pt x="8" y="153"/>
                    <a:pt x="8" y="143"/>
                  </a:cubicBezTo>
                  <a:cubicBezTo>
                    <a:pt x="8" y="76"/>
                    <a:pt x="8" y="76"/>
                    <a:pt x="8" y="76"/>
                  </a:cubicBezTo>
                  <a:cubicBezTo>
                    <a:pt x="8" y="66"/>
                    <a:pt x="16" y="59"/>
                    <a:pt x="25" y="59"/>
                  </a:cubicBezTo>
                  <a:cubicBezTo>
                    <a:pt x="160" y="59"/>
                    <a:pt x="160" y="59"/>
                    <a:pt x="160" y="59"/>
                  </a:cubicBezTo>
                  <a:cubicBezTo>
                    <a:pt x="170" y="59"/>
                    <a:pt x="177" y="66"/>
                    <a:pt x="177" y="76"/>
                  </a:cubicBezTo>
                  <a:lnTo>
                    <a:pt x="177" y="143"/>
                  </a:lnTo>
                  <a:close/>
                  <a:moveTo>
                    <a:pt x="152" y="76"/>
                  </a:moveTo>
                  <a:cubicBezTo>
                    <a:pt x="147" y="76"/>
                    <a:pt x="143" y="79"/>
                    <a:pt x="143" y="84"/>
                  </a:cubicBezTo>
                  <a:cubicBezTo>
                    <a:pt x="143" y="89"/>
                    <a:pt x="147" y="93"/>
                    <a:pt x="152" y="93"/>
                  </a:cubicBezTo>
                  <a:cubicBezTo>
                    <a:pt x="157" y="93"/>
                    <a:pt x="160" y="89"/>
                    <a:pt x="160" y="84"/>
                  </a:cubicBezTo>
                  <a:cubicBezTo>
                    <a:pt x="160" y="79"/>
                    <a:pt x="157" y="76"/>
                    <a:pt x="152" y="76"/>
                  </a:cubicBezTo>
                  <a:close/>
                  <a:moveTo>
                    <a:pt x="127" y="76"/>
                  </a:moveTo>
                  <a:cubicBezTo>
                    <a:pt x="122" y="76"/>
                    <a:pt x="118" y="79"/>
                    <a:pt x="118" y="84"/>
                  </a:cubicBezTo>
                  <a:cubicBezTo>
                    <a:pt x="118" y="89"/>
                    <a:pt x="122" y="93"/>
                    <a:pt x="127" y="93"/>
                  </a:cubicBezTo>
                  <a:cubicBezTo>
                    <a:pt x="131" y="93"/>
                    <a:pt x="135" y="89"/>
                    <a:pt x="135" y="84"/>
                  </a:cubicBezTo>
                  <a:cubicBezTo>
                    <a:pt x="135" y="79"/>
                    <a:pt x="131" y="76"/>
                    <a:pt x="127" y="76"/>
                  </a:cubicBezTo>
                  <a:close/>
                </a:path>
              </a:pathLst>
            </a:custGeom>
            <a:solidFill>
              <a:schemeClr val="accent1">
                <a:lumMod val="50000"/>
              </a:schemeClr>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1" name="文本框 20"/>
            <p:cNvSpPr txBox="1"/>
            <p:nvPr/>
          </p:nvSpPr>
          <p:spPr>
            <a:xfrm>
              <a:off x="6008503" y="1833422"/>
              <a:ext cx="2345997" cy="398780"/>
            </a:xfrm>
            <a:prstGeom prst="rect">
              <a:avLst/>
            </a:prstGeom>
            <a:noFill/>
          </p:spPr>
          <p:txBody>
            <a:bodyPr wrap="square" rtlCol="0">
              <a:spAutoFit/>
            </a:bodyPr>
            <a:lstStyle/>
            <a:p>
              <a:r>
                <a:rPr lang="en-US" altLang="zh-CN"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EAI指令的编码</a:t>
              </a:r>
              <a:endParaRPr lang="en-US" altLang="zh-CN"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2" name="文本框 21"/>
            <p:cNvSpPr txBox="1"/>
            <p:nvPr/>
          </p:nvSpPr>
          <p:spPr>
            <a:xfrm>
              <a:off x="9420767" y="3866899"/>
              <a:ext cx="2345997" cy="398780"/>
            </a:xfrm>
            <a:prstGeom prst="rect">
              <a:avLst/>
            </a:prstGeom>
            <a:noFill/>
          </p:spPr>
          <p:txBody>
            <a:bodyPr wrap="square" rtlCol="0">
              <a:spAutoFit/>
            </a:bodyPr>
            <a:lstStyle/>
            <a:p>
              <a:endParaRPr lang="zh-CN" altLang="en-US"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4" name="文本框 23"/>
            <p:cNvSpPr txBox="1"/>
            <p:nvPr/>
          </p:nvSpPr>
          <p:spPr>
            <a:xfrm>
              <a:off x="5836418" y="3881999"/>
              <a:ext cx="2345997" cy="398780"/>
            </a:xfrm>
            <a:prstGeom prst="rect">
              <a:avLst/>
            </a:prstGeom>
            <a:noFill/>
          </p:spPr>
          <p:txBody>
            <a:bodyPr wrap="square" rtlCol="0">
              <a:spAutoFit/>
            </a:bodyPr>
            <a:lstStyle/>
            <a:p>
              <a:endParaRPr lang="zh-CN" altLang="en-US"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5" name="矩形 24"/>
            <p:cNvSpPr/>
            <p:nvPr/>
          </p:nvSpPr>
          <p:spPr>
            <a:xfrm>
              <a:off x="5468563" y="2950643"/>
              <a:ext cx="5937885" cy="3415030"/>
            </a:xfrm>
            <a:prstGeom prst="rect">
              <a:avLst/>
            </a:prstGeom>
          </p:spPr>
          <p:txBody>
            <a:bodyPr wrap="square">
              <a:spAutoFit/>
            </a:bodyPr>
            <a:lstStyle/>
            <a:p>
              <a:pPr>
                <a:lnSpc>
                  <a:spcPct val="150000"/>
                </a:lnSpc>
              </a:pPr>
              <a:r>
                <a:rPr lang="en-US" altLang="zh-CN"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a:t>
              </a:r>
              <a:r>
                <a:rPr lang="zh-CN" altLang="en-US"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32位的EAI指令编码格式如图1所示，要点如下：</a:t>
              </a:r>
              <a:endParaRPr lang="zh-CN" altLang="en-US"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a:p>
              <a:pPr>
                <a:lnSpc>
                  <a:spcPct val="150000"/>
                </a:lnSpc>
              </a:pPr>
              <a:r>
                <a:rPr lang="en-US" altLang="zh-CN"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a:t>
              </a:r>
              <a:r>
                <a:rPr lang="zh-CN" altLang="en-US"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指令的第0位至第6位区间为Opcode编码段，使用编码custom-0、custom-1、custom-2和custom-3指令组。</a:t>
              </a:r>
              <a:endParaRPr lang="zh-CN" altLang="en-US"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a:p>
              <a:pPr>
                <a:lnSpc>
                  <a:spcPct val="150000"/>
                </a:lnSpc>
              </a:pPr>
              <a:r>
                <a:rPr lang="en-US" altLang="zh-CN"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a:t>
              </a:r>
              <a:r>
                <a:rPr lang="zh-CN" altLang="en-US"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xs1、xs2和xd比特位分别用于控制是否需要读源寄存器rs1、rs2和写目标寄存器rd：</a:t>
              </a:r>
              <a:endParaRPr lang="zh-CN" altLang="en-US"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a:p>
              <a:pPr>
                <a:lnSpc>
                  <a:spcPct val="150000"/>
                </a:lnSpc>
              </a:pPr>
              <a:r>
                <a:rPr lang="zh-CN" altLang="en-US"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如果xs1位的值为1，则表示该指令需要读取由rs1比特位索引的通用寄存器作为源操作数1；如果xs1位的值为0，则表示该指令不需要源操作数1。</a:t>
              </a:r>
              <a:endParaRPr lang="zh-CN" altLang="en-US"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a:p>
              <a:pPr>
                <a:lnSpc>
                  <a:spcPct val="150000"/>
                </a:lnSpc>
              </a:pPr>
              <a:r>
                <a:rPr lang="en-US" altLang="zh-CN"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a:t>
              </a:r>
              <a:r>
                <a:rPr lang="zh-CN" altLang="en-US"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同理，如果xs2位的值为1，则表示该指令需要读取由rs2比特位索引的通用寄存器作为源操作数2；如果xs2位的值为0，则表示该指令不需要源操作数2。</a:t>
              </a:r>
              <a:endParaRPr lang="zh-CN" altLang="en-US"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a:p>
              <a:pPr>
                <a:lnSpc>
                  <a:spcPct val="150000"/>
                </a:lnSpc>
              </a:pPr>
              <a:r>
                <a:rPr lang="en-US" altLang="zh-CN"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a:t>
              </a:r>
              <a:r>
                <a:rPr lang="zh-CN" altLang="en-US"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如果xd位的值为1，则表示该指令需要写回结果至由rd比特位指示的目标寄存器；如果xd位的值为0，则表示该指令无需写回结果。</a:t>
              </a:r>
              <a:endParaRPr lang="zh-CN" altLang="en-US"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a:p>
              <a:pPr>
                <a:lnSpc>
                  <a:spcPct val="150000"/>
                </a:lnSpc>
              </a:pPr>
              <a:r>
                <a:rPr lang="en-US" altLang="zh-CN"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a:t>
              </a:r>
              <a:r>
                <a:rPr lang="zh-CN" altLang="en-US"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指令的第25位～第31位为funct7区间，可作为额外的编码空间，用于编码更多的指令。</a:t>
              </a:r>
              <a:endParaRPr lang="zh-CN" altLang="en-US"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6" name="矩形 25"/>
            <p:cNvSpPr/>
            <p:nvPr/>
          </p:nvSpPr>
          <p:spPr>
            <a:xfrm>
              <a:off x="8880909" y="4449524"/>
              <a:ext cx="2527814" cy="414020"/>
            </a:xfrm>
            <a:prstGeom prst="rect">
              <a:avLst/>
            </a:prstGeom>
          </p:spPr>
          <p:txBody>
            <a:bodyPr wrap="square">
              <a:spAutoFit/>
            </a:bodyPr>
            <a:lstStyle/>
            <a:p>
              <a:pPr>
                <a:lnSpc>
                  <a:spcPct val="150000"/>
                </a:lnSpc>
              </a:pPr>
              <a:endPar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7" name="矩形 26"/>
            <p:cNvSpPr/>
            <p:nvPr/>
          </p:nvSpPr>
          <p:spPr>
            <a:xfrm>
              <a:off x="5468566" y="4449524"/>
              <a:ext cx="2527814" cy="414020"/>
            </a:xfrm>
            <a:prstGeom prst="rect">
              <a:avLst/>
            </a:prstGeom>
          </p:spPr>
          <p:txBody>
            <a:bodyPr wrap="square">
              <a:spAutoFit/>
            </a:bodyPr>
            <a:lstStyle/>
            <a:p>
              <a:pPr>
                <a:lnSpc>
                  <a:spcPct val="150000"/>
                </a:lnSpc>
              </a:pPr>
              <a:endPar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8" name="矩形 27"/>
            <p:cNvSpPr/>
            <p:nvPr/>
          </p:nvSpPr>
          <p:spPr>
            <a:xfrm>
              <a:off x="8880909" y="2313097"/>
              <a:ext cx="2527814" cy="414020"/>
            </a:xfrm>
            <a:prstGeom prst="rect">
              <a:avLst/>
            </a:prstGeom>
          </p:spPr>
          <p:txBody>
            <a:bodyPr wrap="square">
              <a:spAutoFit/>
            </a:bodyPr>
            <a:lstStyle/>
            <a:p>
              <a:pPr>
                <a:lnSpc>
                  <a:spcPct val="150000"/>
                </a:lnSpc>
              </a:pPr>
              <a:endPar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grpSp>
      <p:pic>
        <p:nvPicPr>
          <p:cNvPr id="35" name="图片 34"/>
          <p:cNvPicPr>
            <a:picLocks noChangeAspect="1"/>
          </p:cNvPicPr>
          <p:nvPr/>
        </p:nvPicPr>
        <p:blipFill>
          <a:blip r:embed="rId3"/>
          <a:stretch>
            <a:fillRect/>
          </a:stretch>
        </p:blipFill>
        <p:spPr>
          <a:xfrm>
            <a:off x="5532755" y="2637790"/>
            <a:ext cx="5309870" cy="4572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QQ截图20201002182606"/>
          <p:cNvPicPr>
            <a:picLocks noChangeAspect="1"/>
          </p:cNvPicPr>
          <p:nvPr>
            <p:custDataLst>
              <p:tags r:id="rId1"/>
            </p:custDataLst>
          </p:nvPr>
        </p:nvPicPr>
        <p:blipFill>
          <a:blip r:embed="rId2"/>
          <a:stretch>
            <a:fillRect/>
          </a:stretch>
        </p:blipFill>
        <p:spPr>
          <a:xfrm>
            <a:off x="3114040" y="469265"/>
            <a:ext cx="5734050" cy="2495550"/>
          </a:xfrm>
          <a:prstGeom prst="rect">
            <a:avLst/>
          </a:prstGeom>
        </p:spPr>
      </p:pic>
      <p:pic>
        <p:nvPicPr>
          <p:cNvPr id="3" name="图片 2" descr="QQ截图20201002182648"/>
          <p:cNvPicPr>
            <a:picLocks noChangeAspect="1"/>
          </p:cNvPicPr>
          <p:nvPr/>
        </p:nvPicPr>
        <p:blipFill>
          <a:blip r:embed="rId3"/>
          <a:stretch>
            <a:fillRect/>
          </a:stretch>
        </p:blipFill>
        <p:spPr>
          <a:xfrm>
            <a:off x="3142615" y="2964815"/>
            <a:ext cx="5676900" cy="2486025"/>
          </a:xfrm>
          <a:prstGeom prst="rect">
            <a:avLst/>
          </a:prstGeom>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202277"/>
            <a:ext cx="12181840" cy="375920"/>
            <a:chOff x="0" y="294640"/>
            <a:chExt cx="12181840" cy="375920"/>
          </a:xfrm>
        </p:grpSpPr>
        <p:grpSp>
          <p:nvGrpSpPr>
            <p:cNvPr id="3" name="组合 2"/>
            <p:cNvGrpSpPr/>
            <p:nvPr/>
          </p:nvGrpSpPr>
          <p:grpSpPr>
            <a:xfrm>
              <a:off x="0" y="294640"/>
              <a:ext cx="880552" cy="375920"/>
              <a:chOff x="0" y="294640"/>
              <a:chExt cx="1094740" cy="467360"/>
            </a:xfrm>
            <a:solidFill>
              <a:srgbClr val="EE8A10"/>
            </a:solidFill>
          </p:grpSpPr>
          <p:sp>
            <p:nvSpPr>
              <p:cNvPr id="12"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3356076" y="408709"/>
              <a:ext cx="1749361" cy="147782"/>
              <a:chOff x="635462" y="775854"/>
              <a:chExt cx="1749361" cy="147782"/>
            </a:xfrm>
            <a:solidFill>
              <a:srgbClr val="EE8A10"/>
            </a:solidFill>
          </p:grpSpPr>
          <p:sp>
            <p:nvSpPr>
              <p:cNvPr id="7" name="椭圆 6"/>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6" name="直接连接符 5"/>
            <p:cNvCxnSpPr/>
            <p:nvPr/>
          </p:nvCxnSpPr>
          <p:spPr>
            <a:xfrm>
              <a:off x="5212080" y="477520"/>
              <a:ext cx="6969760"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926408" y="2064818"/>
            <a:ext cx="10840356" cy="3960714"/>
            <a:chOff x="926408" y="1820978"/>
            <a:chExt cx="10840356" cy="3960714"/>
          </a:xfrm>
        </p:grpSpPr>
        <p:grpSp>
          <p:nvGrpSpPr>
            <p:cNvPr id="16" name="组合 15"/>
            <p:cNvGrpSpPr/>
            <p:nvPr/>
          </p:nvGrpSpPr>
          <p:grpSpPr>
            <a:xfrm>
              <a:off x="926408" y="1820978"/>
              <a:ext cx="3935614" cy="3960714"/>
              <a:chOff x="4369714" y="1686560"/>
              <a:chExt cx="3472891" cy="3495040"/>
            </a:xfrm>
          </p:grpSpPr>
          <p:grpSp>
            <p:nvGrpSpPr>
              <p:cNvPr id="29" name="组合 28"/>
              <p:cNvGrpSpPr/>
              <p:nvPr/>
            </p:nvGrpSpPr>
            <p:grpSpPr>
              <a:xfrm>
                <a:off x="4369714" y="1686560"/>
                <a:ext cx="3472891" cy="3495040"/>
                <a:chOff x="1849120" y="1498600"/>
                <a:chExt cx="3982720" cy="4008120"/>
              </a:xfrm>
            </p:grpSpPr>
            <p:sp>
              <p:nvSpPr>
                <p:cNvPr id="31" name="矩形 30"/>
                <p:cNvSpPr/>
                <p:nvPr/>
              </p:nvSpPr>
              <p:spPr>
                <a:xfrm>
                  <a:off x="1849120" y="1498600"/>
                  <a:ext cx="1930400" cy="1930400"/>
                </a:xfrm>
                <a:prstGeom prst="rect">
                  <a:avLst/>
                </a:prstGeom>
                <a:blipFill dpi="0" rotWithShape="1">
                  <a:blip r:embed="rId1"/>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32" name="矩形 31"/>
                <p:cNvSpPr/>
                <p:nvPr/>
              </p:nvSpPr>
              <p:spPr>
                <a:xfrm>
                  <a:off x="3901440" y="3576320"/>
                  <a:ext cx="1930400" cy="1930400"/>
                </a:xfrm>
                <a:prstGeom prst="rect">
                  <a:avLst/>
                </a:prstGeom>
                <a:blipFill dpi="0" rotWithShape="1">
                  <a:blip r:embed="rId1"/>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33" name="矩形 32"/>
                <p:cNvSpPr/>
                <p:nvPr/>
              </p:nvSpPr>
              <p:spPr>
                <a:xfrm>
                  <a:off x="1849120" y="3576320"/>
                  <a:ext cx="1930400" cy="1930400"/>
                </a:xfrm>
                <a:prstGeom prst="rect">
                  <a:avLst/>
                </a:prstGeom>
                <a:blipFill dpi="0" rotWithShape="1">
                  <a:blip r:embed="rId2"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34" name="矩形 33"/>
                <p:cNvSpPr/>
                <p:nvPr/>
              </p:nvSpPr>
              <p:spPr>
                <a:xfrm>
                  <a:off x="3901440" y="1498600"/>
                  <a:ext cx="1930400" cy="1930400"/>
                </a:xfrm>
                <a:prstGeom prst="rect">
                  <a:avLst/>
                </a:prstGeom>
                <a:blipFill dpi="0" rotWithShape="1">
                  <a:blip r:embed="rId2"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grpSp>
          <p:sp>
            <p:nvSpPr>
              <p:cNvPr id="30" name="矩形 29"/>
              <p:cNvSpPr/>
              <p:nvPr/>
            </p:nvSpPr>
            <p:spPr>
              <a:xfrm>
                <a:off x="5264689" y="2595880"/>
                <a:ext cx="1676400" cy="1676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EAI接口信号</a:t>
                </a:r>
                <a:endParaRPr lang="en-US" altLang="zh-CN"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grpSp>
        <p:sp>
          <p:nvSpPr>
            <p:cNvPr id="17" name="îṥļîḑé-Freeform: Shape 15"/>
            <p:cNvSpPr/>
            <p:nvPr/>
          </p:nvSpPr>
          <p:spPr bwMode="auto">
            <a:xfrm>
              <a:off x="5470877" y="1820978"/>
              <a:ext cx="427524" cy="426261"/>
            </a:xfrm>
            <a:custGeom>
              <a:avLst/>
              <a:gdLst>
                <a:gd name="T0" fmla="*/ 122 w 186"/>
                <a:gd name="T1" fmla="*/ 160 h 185"/>
                <a:gd name="T2" fmla="*/ 122 w 186"/>
                <a:gd name="T3" fmla="*/ 152 h 185"/>
                <a:gd name="T4" fmla="*/ 59 w 186"/>
                <a:gd name="T5" fmla="*/ 156 h 185"/>
                <a:gd name="T6" fmla="*/ 63 w 186"/>
                <a:gd name="T7" fmla="*/ 143 h 185"/>
                <a:gd name="T8" fmla="*/ 110 w 186"/>
                <a:gd name="T9" fmla="*/ 139 h 185"/>
                <a:gd name="T10" fmla="*/ 63 w 186"/>
                <a:gd name="T11" fmla="*/ 135 h 185"/>
                <a:gd name="T12" fmla="*/ 63 w 186"/>
                <a:gd name="T13" fmla="*/ 143 h 185"/>
                <a:gd name="T14" fmla="*/ 152 w 186"/>
                <a:gd name="T15" fmla="*/ 50 h 185"/>
                <a:gd name="T16" fmla="*/ 143 w 186"/>
                <a:gd name="T17" fmla="*/ 0 h 185"/>
                <a:gd name="T18" fmla="*/ 34 w 186"/>
                <a:gd name="T19" fmla="*/ 8 h 185"/>
                <a:gd name="T20" fmla="*/ 25 w 186"/>
                <a:gd name="T21" fmla="*/ 50 h 185"/>
                <a:gd name="T22" fmla="*/ 0 w 186"/>
                <a:gd name="T23" fmla="*/ 143 h 185"/>
                <a:gd name="T24" fmla="*/ 34 w 186"/>
                <a:gd name="T25" fmla="*/ 169 h 185"/>
                <a:gd name="T26" fmla="*/ 42 w 186"/>
                <a:gd name="T27" fmla="*/ 185 h 185"/>
                <a:gd name="T28" fmla="*/ 152 w 186"/>
                <a:gd name="T29" fmla="*/ 177 h 185"/>
                <a:gd name="T30" fmla="*/ 160 w 186"/>
                <a:gd name="T31" fmla="*/ 169 h 185"/>
                <a:gd name="T32" fmla="*/ 186 w 186"/>
                <a:gd name="T33" fmla="*/ 76 h 185"/>
                <a:gd name="T34" fmla="*/ 42 w 186"/>
                <a:gd name="T35" fmla="*/ 8 h 185"/>
                <a:gd name="T36" fmla="*/ 143 w 186"/>
                <a:gd name="T37" fmla="*/ 50 h 185"/>
                <a:gd name="T38" fmla="*/ 42 w 186"/>
                <a:gd name="T39" fmla="*/ 8 h 185"/>
                <a:gd name="T40" fmla="*/ 42 w 186"/>
                <a:gd name="T41" fmla="*/ 177 h 185"/>
                <a:gd name="T42" fmla="*/ 143 w 186"/>
                <a:gd name="T43" fmla="*/ 126 h 185"/>
                <a:gd name="T44" fmla="*/ 177 w 186"/>
                <a:gd name="T45" fmla="*/ 143 h 185"/>
                <a:gd name="T46" fmla="*/ 152 w 186"/>
                <a:gd name="T47" fmla="*/ 160 h 185"/>
                <a:gd name="T48" fmla="*/ 143 w 186"/>
                <a:gd name="T49" fmla="*/ 118 h 185"/>
                <a:gd name="T50" fmla="*/ 34 w 186"/>
                <a:gd name="T51" fmla="*/ 126 h 185"/>
                <a:gd name="T52" fmla="*/ 25 w 186"/>
                <a:gd name="T53" fmla="*/ 160 h 185"/>
                <a:gd name="T54" fmla="*/ 8 w 186"/>
                <a:gd name="T55" fmla="*/ 76 h 185"/>
                <a:gd name="T56" fmla="*/ 160 w 186"/>
                <a:gd name="T57" fmla="*/ 59 h 185"/>
                <a:gd name="T58" fmla="*/ 177 w 186"/>
                <a:gd name="T59" fmla="*/ 143 h 185"/>
                <a:gd name="T60" fmla="*/ 143 w 186"/>
                <a:gd name="T61" fmla="*/ 84 h 185"/>
                <a:gd name="T62" fmla="*/ 160 w 186"/>
                <a:gd name="T63" fmla="*/ 84 h 185"/>
                <a:gd name="T64" fmla="*/ 127 w 186"/>
                <a:gd name="T65" fmla="*/ 76 h 185"/>
                <a:gd name="T66" fmla="*/ 127 w 186"/>
                <a:gd name="T67" fmla="*/ 93 h 185"/>
                <a:gd name="T68" fmla="*/ 127 w 186"/>
                <a:gd name="T69" fmla="*/ 76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6" h="185">
                  <a:moveTo>
                    <a:pt x="63" y="160"/>
                  </a:moveTo>
                  <a:cubicBezTo>
                    <a:pt x="122" y="160"/>
                    <a:pt x="122" y="160"/>
                    <a:pt x="122" y="160"/>
                  </a:cubicBezTo>
                  <a:cubicBezTo>
                    <a:pt x="125" y="160"/>
                    <a:pt x="127" y="158"/>
                    <a:pt x="127" y="156"/>
                  </a:cubicBezTo>
                  <a:cubicBezTo>
                    <a:pt x="127" y="154"/>
                    <a:pt x="125" y="152"/>
                    <a:pt x="122" y="152"/>
                  </a:cubicBezTo>
                  <a:cubicBezTo>
                    <a:pt x="63" y="152"/>
                    <a:pt x="63" y="152"/>
                    <a:pt x="63" y="152"/>
                  </a:cubicBezTo>
                  <a:cubicBezTo>
                    <a:pt x="61" y="152"/>
                    <a:pt x="59" y="154"/>
                    <a:pt x="59" y="156"/>
                  </a:cubicBezTo>
                  <a:cubicBezTo>
                    <a:pt x="59" y="158"/>
                    <a:pt x="61" y="160"/>
                    <a:pt x="63" y="160"/>
                  </a:cubicBezTo>
                  <a:close/>
                  <a:moveTo>
                    <a:pt x="63" y="143"/>
                  </a:moveTo>
                  <a:cubicBezTo>
                    <a:pt x="106" y="143"/>
                    <a:pt x="106" y="143"/>
                    <a:pt x="106" y="143"/>
                  </a:cubicBezTo>
                  <a:cubicBezTo>
                    <a:pt x="108" y="143"/>
                    <a:pt x="110" y="141"/>
                    <a:pt x="110" y="139"/>
                  </a:cubicBezTo>
                  <a:cubicBezTo>
                    <a:pt x="110" y="137"/>
                    <a:pt x="108" y="135"/>
                    <a:pt x="106" y="135"/>
                  </a:cubicBezTo>
                  <a:cubicBezTo>
                    <a:pt x="63" y="135"/>
                    <a:pt x="63" y="135"/>
                    <a:pt x="63" y="135"/>
                  </a:cubicBezTo>
                  <a:cubicBezTo>
                    <a:pt x="61" y="135"/>
                    <a:pt x="59" y="137"/>
                    <a:pt x="59" y="139"/>
                  </a:cubicBezTo>
                  <a:cubicBezTo>
                    <a:pt x="59" y="141"/>
                    <a:pt x="61" y="143"/>
                    <a:pt x="63" y="143"/>
                  </a:cubicBezTo>
                  <a:close/>
                  <a:moveTo>
                    <a:pt x="160" y="50"/>
                  </a:moveTo>
                  <a:cubicBezTo>
                    <a:pt x="152" y="50"/>
                    <a:pt x="152" y="50"/>
                    <a:pt x="152" y="50"/>
                  </a:cubicBezTo>
                  <a:cubicBezTo>
                    <a:pt x="152" y="8"/>
                    <a:pt x="152" y="8"/>
                    <a:pt x="152" y="8"/>
                  </a:cubicBezTo>
                  <a:cubicBezTo>
                    <a:pt x="152" y="4"/>
                    <a:pt x="148" y="0"/>
                    <a:pt x="143" y="0"/>
                  </a:cubicBezTo>
                  <a:cubicBezTo>
                    <a:pt x="42" y="0"/>
                    <a:pt x="42" y="0"/>
                    <a:pt x="42" y="0"/>
                  </a:cubicBezTo>
                  <a:cubicBezTo>
                    <a:pt x="38" y="0"/>
                    <a:pt x="34" y="4"/>
                    <a:pt x="34" y="8"/>
                  </a:cubicBezTo>
                  <a:cubicBezTo>
                    <a:pt x="34" y="50"/>
                    <a:pt x="34" y="50"/>
                    <a:pt x="34" y="50"/>
                  </a:cubicBezTo>
                  <a:cubicBezTo>
                    <a:pt x="25" y="50"/>
                    <a:pt x="25" y="50"/>
                    <a:pt x="25" y="50"/>
                  </a:cubicBezTo>
                  <a:cubicBezTo>
                    <a:pt x="11" y="50"/>
                    <a:pt x="0" y="62"/>
                    <a:pt x="0" y="76"/>
                  </a:cubicBezTo>
                  <a:cubicBezTo>
                    <a:pt x="0" y="143"/>
                    <a:pt x="0" y="143"/>
                    <a:pt x="0" y="143"/>
                  </a:cubicBezTo>
                  <a:cubicBezTo>
                    <a:pt x="0" y="157"/>
                    <a:pt x="11" y="169"/>
                    <a:pt x="25" y="169"/>
                  </a:cubicBezTo>
                  <a:cubicBezTo>
                    <a:pt x="34" y="169"/>
                    <a:pt x="34" y="169"/>
                    <a:pt x="34" y="169"/>
                  </a:cubicBezTo>
                  <a:cubicBezTo>
                    <a:pt x="34" y="177"/>
                    <a:pt x="34" y="177"/>
                    <a:pt x="34" y="177"/>
                  </a:cubicBezTo>
                  <a:cubicBezTo>
                    <a:pt x="34" y="182"/>
                    <a:pt x="38" y="185"/>
                    <a:pt x="42" y="185"/>
                  </a:cubicBezTo>
                  <a:cubicBezTo>
                    <a:pt x="143" y="185"/>
                    <a:pt x="143" y="185"/>
                    <a:pt x="143" y="185"/>
                  </a:cubicBezTo>
                  <a:cubicBezTo>
                    <a:pt x="148" y="185"/>
                    <a:pt x="152" y="182"/>
                    <a:pt x="152" y="177"/>
                  </a:cubicBezTo>
                  <a:cubicBezTo>
                    <a:pt x="152" y="169"/>
                    <a:pt x="152" y="169"/>
                    <a:pt x="152" y="169"/>
                  </a:cubicBezTo>
                  <a:cubicBezTo>
                    <a:pt x="160" y="169"/>
                    <a:pt x="160" y="169"/>
                    <a:pt x="160" y="169"/>
                  </a:cubicBezTo>
                  <a:cubicBezTo>
                    <a:pt x="174" y="169"/>
                    <a:pt x="186" y="157"/>
                    <a:pt x="186" y="143"/>
                  </a:cubicBezTo>
                  <a:cubicBezTo>
                    <a:pt x="186" y="76"/>
                    <a:pt x="186" y="76"/>
                    <a:pt x="186" y="76"/>
                  </a:cubicBezTo>
                  <a:cubicBezTo>
                    <a:pt x="186" y="62"/>
                    <a:pt x="174" y="50"/>
                    <a:pt x="160" y="50"/>
                  </a:cubicBezTo>
                  <a:close/>
                  <a:moveTo>
                    <a:pt x="42" y="8"/>
                  </a:moveTo>
                  <a:cubicBezTo>
                    <a:pt x="143" y="8"/>
                    <a:pt x="143" y="8"/>
                    <a:pt x="143" y="8"/>
                  </a:cubicBezTo>
                  <a:cubicBezTo>
                    <a:pt x="143" y="50"/>
                    <a:pt x="143" y="50"/>
                    <a:pt x="143" y="50"/>
                  </a:cubicBezTo>
                  <a:cubicBezTo>
                    <a:pt x="42" y="50"/>
                    <a:pt x="42" y="50"/>
                    <a:pt x="42" y="50"/>
                  </a:cubicBezTo>
                  <a:lnTo>
                    <a:pt x="42" y="8"/>
                  </a:lnTo>
                  <a:close/>
                  <a:moveTo>
                    <a:pt x="143" y="177"/>
                  </a:moveTo>
                  <a:cubicBezTo>
                    <a:pt x="42" y="177"/>
                    <a:pt x="42" y="177"/>
                    <a:pt x="42" y="177"/>
                  </a:cubicBezTo>
                  <a:cubicBezTo>
                    <a:pt x="42" y="126"/>
                    <a:pt x="42" y="126"/>
                    <a:pt x="42" y="126"/>
                  </a:cubicBezTo>
                  <a:cubicBezTo>
                    <a:pt x="143" y="126"/>
                    <a:pt x="143" y="126"/>
                    <a:pt x="143" y="126"/>
                  </a:cubicBezTo>
                  <a:lnTo>
                    <a:pt x="143" y="177"/>
                  </a:lnTo>
                  <a:close/>
                  <a:moveTo>
                    <a:pt x="177" y="143"/>
                  </a:moveTo>
                  <a:cubicBezTo>
                    <a:pt x="177" y="153"/>
                    <a:pt x="170" y="160"/>
                    <a:pt x="160" y="160"/>
                  </a:cubicBezTo>
                  <a:cubicBezTo>
                    <a:pt x="152" y="160"/>
                    <a:pt x="152" y="160"/>
                    <a:pt x="152" y="160"/>
                  </a:cubicBezTo>
                  <a:cubicBezTo>
                    <a:pt x="152" y="126"/>
                    <a:pt x="152" y="126"/>
                    <a:pt x="152" y="126"/>
                  </a:cubicBezTo>
                  <a:cubicBezTo>
                    <a:pt x="152" y="122"/>
                    <a:pt x="148" y="118"/>
                    <a:pt x="143" y="118"/>
                  </a:cubicBezTo>
                  <a:cubicBezTo>
                    <a:pt x="42" y="118"/>
                    <a:pt x="42" y="118"/>
                    <a:pt x="42" y="118"/>
                  </a:cubicBezTo>
                  <a:cubicBezTo>
                    <a:pt x="38" y="118"/>
                    <a:pt x="34" y="122"/>
                    <a:pt x="34" y="126"/>
                  </a:cubicBezTo>
                  <a:cubicBezTo>
                    <a:pt x="34" y="160"/>
                    <a:pt x="34" y="160"/>
                    <a:pt x="34" y="160"/>
                  </a:cubicBezTo>
                  <a:cubicBezTo>
                    <a:pt x="25" y="160"/>
                    <a:pt x="25" y="160"/>
                    <a:pt x="25" y="160"/>
                  </a:cubicBezTo>
                  <a:cubicBezTo>
                    <a:pt x="16" y="160"/>
                    <a:pt x="8" y="153"/>
                    <a:pt x="8" y="143"/>
                  </a:cubicBezTo>
                  <a:cubicBezTo>
                    <a:pt x="8" y="76"/>
                    <a:pt x="8" y="76"/>
                    <a:pt x="8" y="76"/>
                  </a:cubicBezTo>
                  <a:cubicBezTo>
                    <a:pt x="8" y="66"/>
                    <a:pt x="16" y="59"/>
                    <a:pt x="25" y="59"/>
                  </a:cubicBezTo>
                  <a:cubicBezTo>
                    <a:pt x="160" y="59"/>
                    <a:pt x="160" y="59"/>
                    <a:pt x="160" y="59"/>
                  </a:cubicBezTo>
                  <a:cubicBezTo>
                    <a:pt x="170" y="59"/>
                    <a:pt x="177" y="66"/>
                    <a:pt x="177" y="76"/>
                  </a:cubicBezTo>
                  <a:lnTo>
                    <a:pt x="177" y="143"/>
                  </a:lnTo>
                  <a:close/>
                  <a:moveTo>
                    <a:pt x="152" y="76"/>
                  </a:moveTo>
                  <a:cubicBezTo>
                    <a:pt x="147" y="76"/>
                    <a:pt x="143" y="79"/>
                    <a:pt x="143" y="84"/>
                  </a:cubicBezTo>
                  <a:cubicBezTo>
                    <a:pt x="143" y="89"/>
                    <a:pt x="147" y="93"/>
                    <a:pt x="152" y="93"/>
                  </a:cubicBezTo>
                  <a:cubicBezTo>
                    <a:pt x="157" y="93"/>
                    <a:pt x="160" y="89"/>
                    <a:pt x="160" y="84"/>
                  </a:cubicBezTo>
                  <a:cubicBezTo>
                    <a:pt x="160" y="79"/>
                    <a:pt x="157" y="76"/>
                    <a:pt x="152" y="76"/>
                  </a:cubicBezTo>
                  <a:close/>
                  <a:moveTo>
                    <a:pt x="127" y="76"/>
                  </a:moveTo>
                  <a:cubicBezTo>
                    <a:pt x="122" y="76"/>
                    <a:pt x="118" y="79"/>
                    <a:pt x="118" y="84"/>
                  </a:cubicBezTo>
                  <a:cubicBezTo>
                    <a:pt x="118" y="89"/>
                    <a:pt x="122" y="93"/>
                    <a:pt x="127" y="93"/>
                  </a:cubicBezTo>
                  <a:cubicBezTo>
                    <a:pt x="131" y="93"/>
                    <a:pt x="135" y="89"/>
                    <a:pt x="135" y="84"/>
                  </a:cubicBezTo>
                  <a:cubicBezTo>
                    <a:pt x="135" y="79"/>
                    <a:pt x="131" y="76"/>
                    <a:pt x="127" y="76"/>
                  </a:cubicBezTo>
                  <a:close/>
                </a:path>
              </a:pathLst>
            </a:custGeom>
            <a:solidFill>
              <a:schemeClr val="accent1">
                <a:lumMod val="50000"/>
              </a:schemeClr>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1" name="文本框 20"/>
            <p:cNvSpPr txBox="1"/>
            <p:nvPr/>
          </p:nvSpPr>
          <p:spPr>
            <a:xfrm>
              <a:off x="6008503" y="1833422"/>
              <a:ext cx="2345997" cy="398780"/>
            </a:xfrm>
            <a:prstGeom prst="rect">
              <a:avLst/>
            </a:prstGeom>
            <a:noFill/>
          </p:spPr>
          <p:txBody>
            <a:bodyPr wrap="square" rtlCol="0">
              <a:spAutoFit/>
            </a:bodyPr>
            <a:lstStyle/>
            <a:p>
              <a:r>
                <a:rPr lang="en-US" altLang="zh-CN"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EAI接口信号</a:t>
              </a:r>
              <a:endParaRPr lang="en-US" altLang="zh-CN"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2" name="文本框 21"/>
            <p:cNvSpPr txBox="1"/>
            <p:nvPr/>
          </p:nvSpPr>
          <p:spPr>
            <a:xfrm>
              <a:off x="9420767" y="3866899"/>
              <a:ext cx="2345997" cy="398780"/>
            </a:xfrm>
            <a:prstGeom prst="rect">
              <a:avLst/>
            </a:prstGeom>
            <a:noFill/>
          </p:spPr>
          <p:txBody>
            <a:bodyPr wrap="square" rtlCol="0">
              <a:spAutoFit/>
            </a:bodyPr>
            <a:lstStyle/>
            <a:p>
              <a:endParaRPr lang="zh-CN" altLang="en-US"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4" name="文本框 23"/>
            <p:cNvSpPr txBox="1"/>
            <p:nvPr/>
          </p:nvSpPr>
          <p:spPr>
            <a:xfrm>
              <a:off x="5836418" y="3881999"/>
              <a:ext cx="2345997" cy="398780"/>
            </a:xfrm>
            <a:prstGeom prst="rect">
              <a:avLst/>
            </a:prstGeom>
            <a:noFill/>
          </p:spPr>
          <p:txBody>
            <a:bodyPr wrap="square" rtlCol="0">
              <a:spAutoFit/>
            </a:bodyPr>
            <a:lstStyle/>
            <a:p>
              <a:endParaRPr lang="zh-CN" altLang="en-US"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5" name="矩形 24"/>
            <p:cNvSpPr/>
            <p:nvPr/>
          </p:nvSpPr>
          <p:spPr>
            <a:xfrm>
              <a:off x="5468563" y="2635683"/>
              <a:ext cx="5937885" cy="2861310"/>
            </a:xfrm>
            <a:prstGeom prst="rect">
              <a:avLst/>
            </a:prstGeom>
          </p:spPr>
          <p:txBody>
            <a:bodyPr wrap="square">
              <a:spAutoFit/>
            </a:bodyPr>
            <a:lstStyle/>
            <a:p>
              <a:pPr>
                <a:lnSpc>
                  <a:spcPct val="150000"/>
                </a:lnSpc>
              </a:pPr>
              <a:r>
                <a:rPr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EAI 接口信号如</a:t>
              </a:r>
              <a:r>
                <a:rPr lang="zh-CN"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下图</a:t>
              </a:r>
              <a:r>
                <a:rPr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所示， EAI 接口主要包含</a:t>
              </a:r>
              <a:r>
                <a:rPr lang="en-US"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4</a:t>
              </a:r>
              <a:r>
                <a:rPr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个通道</a:t>
              </a:r>
              <a:r>
                <a:rPr lang="zh-CN"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a:t>
              </a:r>
              <a:endParaRPr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a:p>
              <a:pPr>
                <a:lnSpc>
                  <a:spcPct val="150000"/>
                </a:lnSpc>
              </a:pPr>
              <a:r>
                <a:rPr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 </a:t>
              </a:r>
              <a:r>
                <a:rPr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请求通道（Request Channel) ：主要用于 处理器在 EXU 级将指令信息和源操作数</a:t>
              </a:r>
              <a:endParaRPr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a:p>
              <a:pPr>
                <a:lnSpc>
                  <a:spcPct val="150000"/>
                </a:lnSpc>
              </a:pPr>
              <a:r>
                <a:rPr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  派发给协处理器。</a:t>
              </a:r>
              <a:endParaRPr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a:p>
              <a:pPr>
                <a:lnSpc>
                  <a:spcPct val="150000"/>
                </a:lnSpc>
              </a:pPr>
              <a:r>
                <a:rPr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 </a:t>
              </a:r>
              <a:r>
                <a:rPr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反馈通道 Response Channel ）：主要用于协处理器反馈主处理器告知其己经完成了该指令，并将结果写回主处理器</a:t>
              </a:r>
              <a:endParaRPr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a:p>
              <a:pPr>
                <a:lnSpc>
                  <a:spcPct val="150000"/>
                </a:lnSpc>
              </a:pPr>
              <a:r>
                <a:rPr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 存储器请求通道 Memory Request Channel ）：主要用于协处理器向主处理器发起存</a:t>
              </a:r>
              <a:endParaRPr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a:p>
              <a:pPr>
                <a:lnSpc>
                  <a:spcPct val="150000"/>
                </a:lnSpc>
              </a:pPr>
              <a:r>
                <a:rPr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  储器读写请求</a:t>
              </a:r>
              <a:endParaRPr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a:p>
              <a:pPr>
                <a:lnSpc>
                  <a:spcPct val="150000"/>
                </a:lnSpc>
              </a:pPr>
              <a:r>
                <a:rPr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 存储器反馈通道（ Memory Response Channel ）：主要用于主处理器向协处理器返回存储器读写结</a:t>
              </a:r>
              <a:r>
                <a:rPr lang="zh-CN"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果</a:t>
              </a:r>
              <a:endParaRPr lang="zh-CN"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6" name="矩形 25"/>
            <p:cNvSpPr/>
            <p:nvPr/>
          </p:nvSpPr>
          <p:spPr>
            <a:xfrm>
              <a:off x="8880909" y="4449524"/>
              <a:ext cx="2527814" cy="414020"/>
            </a:xfrm>
            <a:prstGeom prst="rect">
              <a:avLst/>
            </a:prstGeom>
          </p:spPr>
          <p:txBody>
            <a:bodyPr wrap="square">
              <a:spAutoFit/>
            </a:bodyPr>
            <a:lstStyle/>
            <a:p>
              <a:pPr>
                <a:lnSpc>
                  <a:spcPct val="150000"/>
                </a:lnSpc>
              </a:pPr>
              <a:endPar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7" name="矩形 26"/>
            <p:cNvSpPr/>
            <p:nvPr/>
          </p:nvSpPr>
          <p:spPr>
            <a:xfrm>
              <a:off x="5468566" y="4449524"/>
              <a:ext cx="2527814" cy="414020"/>
            </a:xfrm>
            <a:prstGeom prst="rect">
              <a:avLst/>
            </a:prstGeom>
          </p:spPr>
          <p:txBody>
            <a:bodyPr wrap="square">
              <a:spAutoFit/>
            </a:bodyPr>
            <a:lstStyle/>
            <a:p>
              <a:pPr>
                <a:lnSpc>
                  <a:spcPct val="150000"/>
                </a:lnSpc>
              </a:pPr>
              <a:endPar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grpSp>
      <p:sp>
        <p:nvSpPr>
          <p:cNvPr id="18" name="文本框 17"/>
          <p:cNvSpPr txBox="1"/>
          <p:nvPr/>
        </p:nvSpPr>
        <p:spPr>
          <a:xfrm>
            <a:off x="926465" y="97280"/>
            <a:ext cx="2320925" cy="829945"/>
          </a:xfrm>
          <a:prstGeom prst="rect">
            <a:avLst/>
          </a:prstGeom>
          <a:noFill/>
        </p:spPr>
        <p:txBody>
          <a:bodyPr wrap="square" rtlCol="0">
            <a:spAutoFit/>
          </a:bodyPr>
          <a:p>
            <a:pPr algn="ctr"/>
            <a:r>
              <a:rPr lang="zh-CN" altLang="en-US" sz="24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rPr>
              <a:t>蜂鸟E200的协处理器接口EA</a:t>
            </a:r>
            <a:r>
              <a:rPr lang="en-US" altLang="zh-CN" sz="24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rPr>
              <a:t>I</a:t>
            </a:r>
            <a:endParaRPr lang="en-US" altLang="zh-CN" sz="2400" b="1" spc="6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202277"/>
            <a:ext cx="12181840" cy="375920"/>
            <a:chOff x="0" y="294640"/>
            <a:chExt cx="12181840" cy="375920"/>
          </a:xfrm>
        </p:grpSpPr>
        <p:grpSp>
          <p:nvGrpSpPr>
            <p:cNvPr id="3" name="组合 2"/>
            <p:cNvGrpSpPr/>
            <p:nvPr/>
          </p:nvGrpSpPr>
          <p:grpSpPr>
            <a:xfrm>
              <a:off x="0" y="294640"/>
              <a:ext cx="880552" cy="375920"/>
              <a:chOff x="0" y="294640"/>
              <a:chExt cx="1094740" cy="467360"/>
            </a:xfrm>
            <a:solidFill>
              <a:srgbClr val="EE8A10"/>
            </a:solidFill>
          </p:grpSpPr>
          <p:sp>
            <p:nvSpPr>
              <p:cNvPr id="12"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3356076" y="408709"/>
              <a:ext cx="1749361" cy="147782"/>
              <a:chOff x="635462" y="775854"/>
              <a:chExt cx="1749361" cy="147782"/>
            </a:xfrm>
            <a:solidFill>
              <a:srgbClr val="EE8A10"/>
            </a:solidFill>
          </p:grpSpPr>
          <p:sp>
            <p:nvSpPr>
              <p:cNvPr id="7" name="椭圆 6"/>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6" name="直接连接符 5"/>
            <p:cNvCxnSpPr/>
            <p:nvPr/>
          </p:nvCxnSpPr>
          <p:spPr>
            <a:xfrm>
              <a:off x="5212080" y="477520"/>
              <a:ext cx="6969760"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880688" y="2003858"/>
            <a:ext cx="10840356" cy="4395470"/>
            <a:chOff x="926408" y="1820978"/>
            <a:chExt cx="10840356" cy="4395470"/>
          </a:xfrm>
        </p:grpSpPr>
        <p:grpSp>
          <p:nvGrpSpPr>
            <p:cNvPr id="16" name="组合 15"/>
            <p:cNvGrpSpPr/>
            <p:nvPr/>
          </p:nvGrpSpPr>
          <p:grpSpPr>
            <a:xfrm>
              <a:off x="926408" y="1820978"/>
              <a:ext cx="3935614" cy="3960714"/>
              <a:chOff x="4369714" y="1686560"/>
              <a:chExt cx="3472891" cy="3495040"/>
            </a:xfrm>
          </p:grpSpPr>
          <p:grpSp>
            <p:nvGrpSpPr>
              <p:cNvPr id="29" name="组合 28"/>
              <p:cNvGrpSpPr/>
              <p:nvPr/>
            </p:nvGrpSpPr>
            <p:grpSpPr>
              <a:xfrm>
                <a:off x="4369714" y="1686560"/>
                <a:ext cx="3472891" cy="3495040"/>
                <a:chOff x="1849120" y="1498600"/>
                <a:chExt cx="3982720" cy="4008120"/>
              </a:xfrm>
            </p:grpSpPr>
            <p:sp>
              <p:nvSpPr>
                <p:cNvPr id="31" name="矩形 30"/>
                <p:cNvSpPr/>
                <p:nvPr/>
              </p:nvSpPr>
              <p:spPr>
                <a:xfrm>
                  <a:off x="1849120" y="1498600"/>
                  <a:ext cx="1930400" cy="1930400"/>
                </a:xfrm>
                <a:prstGeom prst="rect">
                  <a:avLst/>
                </a:prstGeom>
                <a:blipFill dpi="0" rotWithShape="1">
                  <a:blip r:embed="rId1"/>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32" name="矩形 31"/>
                <p:cNvSpPr/>
                <p:nvPr/>
              </p:nvSpPr>
              <p:spPr>
                <a:xfrm>
                  <a:off x="3901440" y="3576320"/>
                  <a:ext cx="1930400" cy="1930400"/>
                </a:xfrm>
                <a:prstGeom prst="rect">
                  <a:avLst/>
                </a:prstGeom>
                <a:blipFill dpi="0" rotWithShape="1">
                  <a:blip r:embed="rId1"/>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33" name="矩形 32"/>
                <p:cNvSpPr/>
                <p:nvPr/>
              </p:nvSpPr>
              <p:spPr>
                <a:xfrm>
                  <a:off x="1849120" y="3576320"/>
                  <a:ext cx="1930400" cy="1930400"/>
                </a:xfrm>
                <a:prstGeom prst="rect">
                  <a:avLst/>
                </a:prstGeom>
                <a:blipFill dpi="0" rotWithShape="1">
                  <a:blip r:embed="rId2"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34" name="矩形 33"/>
                <p:cNvSpPr/>
                <p:nvPr/>
              </p:nvSpPr>
              <p:spPr>
                <a:xfrm>
                  <a:off x="3901440" y="1498600"/>
                  <a:ext cx="1930400" cy="1930400"/>
                </a:xfrm>
                <a:prstGeom prst="rect">
                  <a:avLst/>
                </a:prstGeom>
                <a:blipFill dpi="0" rotWithShape="1">
                  <a:blip r:embed="rId2"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grpSp>
          <p:sp>
            <p:nvSpPr>
              <p:cNvPr id="30" name="矩形 29"/>
              <p:cNvSpPr/>
              <p:nvPr/>
            </p:nvSpPr>
            <p:spPr>
              <a:xfrm>
                <a:off x="5264689" y="2595880"/>
                <a:ext cx="1676400" cy="1676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600" spc="600" dirty="0">
                    <a:solidFill>
                      <a:schemeClr val="bg1"/>
                    </a:solidFill>
                    <a:latin typeface="锐字工房云字库细圆GBK" panose="02010604000000000000" pitchFamily="2" charset="-122"/>
                    <a:ea typeface="锐字工房云字库细圆GBK" panose="02010604000000000000" pitchFamily="2" charset="-122"/>
                    <a:sym typeface="Segoe Script" panose="030B0504020000000003" pitchFamily="66" charset="0"/>
                  </a:rPr>
                  <a:t>EAI流水线接口</a:t>
                </a:r>
                <a:endParaRPr lang="zh-CN" altLang="en-US" sz="3600" spc="600" dirty="0">
                  <a:solidFill>
                    <a:schemeClr val="bg1"/>
                  </a:solidFill>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grpSp>
        <p:sp>
          <p:nvSpPr>
            <p:cNvPr id="17" name="îṥļîḑé-Freeform: Shape 15"/>
            <p:cNvSpPr/>
            <p:nvPr/>
          </p:nvSpPr>
          <p:spPr bwMode="auto">
            <a:xfrm>
              <a:off x="5470877" y="1820978"/>
              <a:ext cx="427524" cy="426261"/>
            </a:xfrm>
            <a:custGeom>
              <a:avLst/>
              <a:gdLst>
                <a:gd name="T0" fmla="*/ 122 w 186"/>
                <a:gd name="T1" fmla="*/ 160 h 185"/>
                <a:gd name="T2" fmla="*/ 122 w 186"/>
                <a:gd name="T3" fmla="*/ 152 h 185"/>
                <a:gd name="T4" fmla="*/ 59 w 186"/>
                <a:gd name="T5" fmla="*/ 156 h 185"/>
                <a:gd name="T6" fmla="*/ 63 w 186"/>
                <a:gd name="T7" fmla="*/ 143 h 185"/>
                <a:gd name="T8" fmla="*/ 110 w 186"/>
                <a:gd name="T9" fmla="*/ 139 h 185"/>
                <a:gd name="T10" fmla="*/ 63 w 186"/>
                <a:gd name="T11" fmla="*/ 135 h 185"/>
                <a:gd name="T12" fmla="*/ 63 w 186"/>
                <a:gd name="T13" fmla="*/ 143 h 185"/>
                <a:gd name="T14" fmla="*/ 152 w 186"/>
                <a:gd name="T15" fmla="*/ 50 h 185"/>
                <a:gd name="T16" fmla="*/ 143 w 186"/>
                <a:gd name="T17" fmla="*/ 0 h 185"/>
                <a:gd name="T18" fmla="*/ 34 w 186"/>
                <a:gd name="T19" fmla="*/ 8 h 185"/>
                <a:gd name="T20" fmla="*/ 25 w 186"/>
                <a:gd name="T21" fmla="*/ 50 h 185"/>
                <a:gd name="T22" fmla="*/ 0 w 186"/>
                <a:gd name="T23" fmla="*/ 143 h 185"/>
                <a:gd name="T24" fmla="*/ 34 w 186"/>
                <a:gd name="T25" fmla="*/ 169 h 185"/>
                <a:gd name="T26" fmla="*/ 42 w 186"/>
                <a:gd name="T27" fmla="*/ 185 h 185"/>
                <a:gd name="T28" fmla="*/ 152 w 186"/>
                <a:gd name="T29" fmla="*/ 177 h 185"/>
                <a:gd name="T30" fmla="*/ 160 w 186"/>
                <a:gd name="T31" fmla="*/ 169 h 185"/>
                <a:gd name="T32" fmla="*/ 186 w 186"/>
                <a:gd name="T33" fmla="*/ 76 h 185"/>
                <a:gd name="T34" fmla="*/ 42 w 186"/>
                <a:gd name="T35" fmla="*/ 8 h 185"/>
                <a:gd name="T36" fmla="*/ 143 w 186"/>
                <a:gd name="T37" fmla="*/ 50 h 185"/>
                <a:gd name="T38" fmla="*/ 42 w 186"/>
                <a:gd name="T39" fmla="*/ 8 h 185"/>
                <a:gd name="T40" fmla="*/ 42 w 186"/>
                <a:gd name="T41" fmla="*/ 177 h 185"/>
                <a:gd name="T42" fmla="*/ 143 w 186"/>
                <a:gd name="T43" fmla="*/ 126 h 185"/>
                <a:gd name="T44" fmla="*/ 177 w 186"/>
                <a:gd name="T45" fmla="*/ 143 h 185"/>
                <a:gd name="T46" fmla="*/ 152 w 186"/>
                <a:gd name="T47" fmla="*/ 160 h 185"/>
                <a:gd name="T48" fmla="*/ 143 w 186"/>
                <a:gd name="T49" fmla="*/ 118 h 185"/>
                <a:gd name="T50" fmla="*/ 34 w 186"/>
                <a:gd name="T51" fmla="*/ 126 h 185"/>
                <a:gd name="T52" fmla="*/ 25 w 186"/>
                <a:gd name="T53" fmla="*/ 160 h 185"/>
                <a:gd name="T54" fmla="*/ 8 w 186"/>
                <a:gd name="T55" fmla="*/ 76 h 185"/>
                <a:gd name="T56" fmla="*/ 160 w 186"/>
                <a:gd name="T57" fmla="*/ 59 h 185"/>
                <a:gd name="T58" fmla="*/ 177 w 186"/>
                <a:gd name="T59" fmla="*/ 143 h 185"/>
                <a:gd name="T60" fmla="*/ 143 w 186"/>
                <a:gd name="T61" fmla="*/ 84 h 185"/>
                <a:gd name="T62" fmla="*/ 160 w 186"/>
                <a:gd name="T63" fmla="*/ 84 h 185"/>
                <a:gd name="T64" fmla="*/ 127 w 186"/>
                <a:gd name="T65" fmla="*/ 76 h 185"/>
                <a:gd name="T66" fmla="*/ 127 w 186"/>
                <a:gd name="T67" fmla="*/ 93 h 185"/>
                <a:gd name="T68" fmla="*/ 127 w 186"/>
                <a:gd name="T69" fmla="*/ 76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6" h="185">
                  <a:moveTo>
                    <a:pt x="63" y="160"/>
                  </a:moveTo>
                  <a:cubicBezTo>
                    <a:pt x="122" y="160"/>
                    <a:pt x="122" y="160"/>
                    <a:pt x="122" y="160"/>
                  </a:cubicBezTo>
                  <a:cubicBezTo>
                    <a:pt x="125" y="160"/>
                    <a:pt x="127" y="158"/>
                    <a:pt x="127" y="156"/>
                  </a:cubicBezTo>
                  <a:cubicBezTo>
                    <a:pt x="127" y="154"/>
                    <a:pt x="125" y="152"/>
                    <a:pt x="122" y="152"/>
                  </a:cubicBezTo>
                  <a:cubicBezTo>
                    <a:pt x="63" y="152"/>
                    <a:pt x="63" y="152"/>
                    <a:pt x="63" y="152"/>
                  </a:cubicBezTo>
                  <a:cubicBezTo>
                    <a:pt x="61" y="152"/>
                    <a:pt x="59" y="154"/>
                    <a:pt x="59" y="156"/>
                  </a:cubicBezTo>
                  <a:cubicBezTo>
                    <a:pt x="59" y="158"/>
                    <a:pt x="61" y="160"/>
                    <a:pt x="63" y="160"/>
                  </a:cubicBezTo>
                  <a:close/>
                  <a:moveTo>
                    <a:pt x="63" y="143"/>
                  </a:moveTo>
                  <a:cubicBezTo>
                    <a:pt x="106" y="143"/>
                    <a:pt x="106" y="143"/>
                    <a:pt x="106" y="143"/>
                  </a:cubicBezTo>
                  <a:cubicBezTo>
                    <a:pt x="108" y="143"/>
                    <a:pt x="110" y="141"/>
                    <a:pt x="110" y="139"/>
                  </a:cubicBezTo>
                  <a:cubicBezTo>
                    <a:pt x="110" y="137"/>
                    <a:pt x="108" y="135"/>
                    <a:pt x="106" y="135"/>
                  </a:cubicBezTo>
                  <a:cubicBezTo>
                    <a:pt x="63" y="135"/>
                    <a:pt x="63" y="135"/>
                    <a:pt x="63" y="135"/>
                  </a:cubicBezTo>
                  <a:cubicBezTo>
                    <a:pt x="61" y="135"/>
                    <a:pt x="59" y="137"/>
                    <a:pt x="59" y="139"/>
                  </a:cubicBezTo>
                  <a:cubicBezTo>
                    <a:pt x="59" y="141"/>
                    <a:pt x="61" y="143"/>
                    <a:pt x="63" y="143"/>
                  </a:cubicBezTo>
                  <a:close/>
                  <a:moveTo>
                    <a:pt x="160" y="50"/>
                  </a:moveTo>
                  <a:cubicBezTo>
                    <a:pt x="152" y="50"/>
                    <a:pt x="152" y="50"/>
                    <a:pt x="152" y="50"/>
                  </a:cubicBezTo>
                  <a:cubicBezTo>
                    <a:pt x="152" y="8"/>
                    <a:pt x="152" y="8"/>
                    <a:pt x="152" y="8"/>
                  </a:cubicBezTo>
                  <a:cubicBezTo>
                    <a:pt x="152" y="4"/>
                    <a:pt x="148" y="0"/>
                    <a:pt x="143" y="0"/>
                  </a:cubicBezTo>
                  <a:cubicBezTo>
                    <a:pt x="42" y="0"/>
                    <a:pt x="42" y="0"/>
                    <a:pt x="42" y="0"/>
                  </a:cubicBezTo>
                  <a:cubicBezTo>
                    <a:pt x="38" y="0"/>
                    <a:pt x="34" y="4"/>
                    <a:pt x="34" y="8"/>
                  </a:cubicBezTo>
                  <a:cubicBezTo>
                    <a:pt x="34" y="50"/>
                    <a:pt x="34" y="50"/>
                    <a:pt x="34" y="50"/>
                  </a:cubicBezTo>
                  <a:cubicBezTo>
                    <a:pt x="25" y="50"/>
                    <a:pt x="25" y="50"/>
                    <a:pt x="25" y="50"/>
                  </a:cubicBezTo>
                  <a:cubicBezTo>
                    <a:pt x="11" y="50"/>
                    <a:pt x="0" y="62"/>
                    <a:pt x="0" y="76"/>
                  </a:cubicBezTo>
                  <a:cubicBezTo>
                    <a:pt x="0" y="143"/>
                    <a:pt x="0" y="143"/>
                    <a:pt x="0" y="143"/>
                  </a:cubicBezTo>
                  <a:cubicBezTo>
                    <a:pt x="0" y="157"/>
                    <a:pt x="11" y="169"/>
                    <a:pt x="25" y="169"/>
                  </a:cubicBezTo>
                  <a:cubicBezTo>
                    <a:pt x="34" y="169"/>
                    <a:pt x="34" y="169"/>
                    <a:pt x="34" y="169"/>
                  </a:cubicBezTo>
                  <a:cubicBezTo>
                    <a:pt x="34" y="177"/>
                    <a:pt x="34" y="177"/>
                    <a:pt x="34" y="177"/>
                  </a:cubicBezTo>
                  <a:cubicBezTo>
                    <a:pt x="34" y="182"/>
                    <a:pt x="38" y="185"/>
                    <a:pt x="42" y="185"/>
                  </a:cubicBezTo>
                  <a:cubicBezTo>
                    <a:pt x="143" y="185"/>
                    <a:pt x="143" y="185"/>
                    <a:pt x="143" y="185"/>
                  </a:cubicBezTo>
                  <a:cubicBezTo>
                    <a:pt x="148" y="185"/>
                    <a:pt x="152" y="182"/>
                    <a:pt x="152" y="177"/>
                  </a:cubicBezTo>
                  <a:cubicBezTo>
                    <a:pt x="152" y="169"/>
                    <a:pt x="152" y="169"/>
                    <a:pt x="152" y="169"/>
                  </a:cubicBezTo>
                  <a:cubicBezTo>
                    <a:pt x="160" y="169"/>
                    <a:pt x="160" y="169"/>
                    <a:pt x="160" y="169"/>
                  </a:cubicBezTo>
                  <a:cubicBezTo>
                    <a:pt x="174" y="169"/>
                    <a:pt x="186" y="157"/>
                    <a:pt x="186" y="143"/>
                  </a:cubicBezTo>
                  <a:cubicBezTo>
                    <a:pt x="186" y="76"/>
                    <a:pt x="186" y="76"/>
                    <a:pt x="186" y="76"/>
                  </a:cubicBezTo>
                  <a:cubicBezTo>
                    <a:pt x="186" y="62"/>
                    <a:pt x="174" y="50"/>
                    <a:pt x="160" y="50"/>
                  </a:cubicBezTo>
                  <a:close/>
                  <a:moveTo>
                    <a:pt x="42" y="8"/>
                  </a:moveTo>
                  <a:cubicBezTo>
                    <a:pt x="143" y="8"/>
                    <a:pt x="143" y="8"/>
                    <a:pt x="143" y="8"/>
                  </a:cubicBezTo>
                  <a:cubicBezTo>
                    <a:pt x="143" y="50"/>
                    <a:pt x="143" y="50"/>
                    <a:pt x="143" y="50"/>
                  </a:cubicBezTo>
                  <a:cubicBezTo>
                    <a:pt x="42" y="50"/>
                    <a:pt x="42" y="50"/>
                    <a:pt x="42" y="50"/>
                  </a:cubicBezTo>
                  <a:lnTo>
                    <a:pt x="42" y="8"/>
                  </a:lnTo>
                  <a:close/>
                  <a:moveTo>
                    <a:pt x="143" y="177"/>
                  </a:moveTo>
                  <a:cubicBezTo>
                    <a:pt x="42" y="177"/>
                    <a:pt x="42" y="177"/>
                    <a:pt x="42" y="177"/>
                  </a:cubicBezTo>
                  <a:cubicBezTo>
                    <a:pt x="42" y="126"/>
                    <a:pt x="42" y="126"/>
                    <a:pt x="42" y="126"/>
                  </a:cubicBezTo>
                  <a:cubicBezTo>
                    <a:pt x="143" y="126"/>
                    <a:pt x="143" y="126"/>
                    <a:pt x="143" y="126"/>
                  </a:cubicBezTo>
                  <a:lnTo>
                    <a:pt x="143" y="177"/>
                  </a:lnTo>
                  <a:close/>
                  <a:moveTo>
                    <a:pt x="177" y="143"/>
                  </a:moveTo>
                  <a:cubicBezTo>
                    <a:pt x="177" y="153"/>
                    <a:pt x="170" y="160"/>
                    <a:pt x="160" y="160"/>
                  </a:cubicBezTo>
                  <a:cubicBezTo>
                    <a:pt x="152" y="160"/>
                    <a:pt x="152" y="160"/>
                    <a:pt x="152" y="160"/>
                  </a:cubicBezTo>
                  <a:cubicBezTo>
                    <a:pt x="152" y="126"/>
                    <a:pt x="152" y="126"/>
                    <a:pt x="152" y="126"/>
                  </a:cubicBezTo>
                  <a:cubicBezTo>
                    <a:pt x="152" y="122"/>
                    <a:pt x="148" y="118"/>
                    <a:pt x="143" y="118"/>
                  </a:cubicBezTo>
                  <a:cubicBezTo>
                    <a:pt x="42" y="118"/>
                    <a:pt x="42" y="118"/>
                    <a:pt x="42" y="118"/>
                  </a:cubicBezTo>
                  <a:cubicBezTo>
                    <a:pt x="38" y="118"/>
                    <a:pt x="34" y="122"/>
                    <a:pt x="34" y="126"/>
                  </a:cubicBezTo>
                  <a:cubicBezTo>
                    <a:pt x="34" y="160"/>
                    <a:pt x="34" y="160"/>
                    <a:pt x="34" y="160"/>
                  </a:cubicBezTo>
                  <a:cubicBezTo>
                    <a:pt x="25" y="160"/>
                    <a:pt x="25" y="160"/>
                    <a:pt x="25" y="160"/>
                  </a:cubicBezTo>
                  <a:cubicBezTo>
                    <a:pt x="16" y="160"/>
                    <a:pt x="8" y="153"/>
                    <a:pt x="8" y="143"/>
                  </a:cubicBezTo>
                  <a:cubicBezTo>
                    <a:pt x="8" y="76"/>
                    <a:pt x="8" y="76"/>
                    <a:pt x="8" y="76"/>
                  </a:cubicBezTo>
                  <a:cubicBezTo>
                    <a:pt x="8" y="66"/>
                    <a:pt x="16" y="59"/>
                    <a:pt x="25" y="59"/>
                  </a:cubicBezTo>
                  <a:cubicBezTo>
                    <a:pt x="160" y="59"/>
                    <a:pt x="160" y="59"/>
                    <a:pt x="160" y="59"/>
                  </a:cubicBezTo>
                  <a:cubicBezTo>
                    <a:pt x="170" y="59"/>
                    <a:pt x="177" y="66"/>
                    <a:pt x="177" y="76"/>
                  </a:cubicBezTo>
                  <a:lnTo>
                    <a:pt x="177" y="143"/>
                  </a:lnTo>
                  <a:close/>
                  <a:moveTo>
                    <a:pt x="152" y="76"/>
                  </a:moveTo>
                  <a:cubicBezTo>
                    <a:pt x="147" y="76"/>
                    <a:pt x="143" y="79"/>
                    <a:pt x="143" y="84"/>
                  </a:cubicBezTo>
                  <a:cubicBezTo>
                    <a:pt x="143" y="89"/>
                    <a:pt x="147" y="93"/>
                    <a:pt x="152" y="93"/>
                  </a:cubicBezTo>
                  <a:cubicBezTo>
                    <a:pt x="157" y="93"/>
                    <a:pt x="160" y="89"/>
                    <a:pt x="160" y="84"/>
                  </a:cubicBezTo>
                  <a:cubicBezTo>
                    <a:pt x="160" y="79"/>
                    <a:pt x="157" y="76"/>
                    <a:pt x="152" y="76"/>
                  </a:cubicBezTo>
                  <a:close/>
                  <a:moveTo>
                    <a:pt x="127" y="76"/>
                  </a:moveTo>
                  <a:cubicBezTo>
                    <a:pt x="122" y="76"/>
                    <a:pt x="118" y="79"/>
                    <a:pt x="118" y="84"/>
                  </a:cubicBezTo>
                  <a:cubicBezTo>
                    <a:pt x="118" y="89"/>
                    <a:pt x="122" y="93"/>
                    <a:pt x="127" y="93"/>
                  </a:cubicBezTo>
                  <a:cubicBezTo>
                    <a:pt x="131" y="93"/>
                    <a:pt x="135" y="89"/>
                    <a:pt x="135" y="84"/>
                  </a:cubicBezTo>
                  <a:cubicBezTo>
                    <a:pt x="135" y="79"/>
                    <a:pt x="131" y="76"/>
                    <a:pt x="127" y="76"/>
                  </a:cubicBezTo>
                  <a:close/>
                </a:path>
              </a:pathLst>
            </a:custGeom>
            <a:solidFill>
              <a:schemeClr val="accent1">
                <a:lumMod val="50000"/>
              </a:schemeClr>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1" name="文本框 20"/>
            <p:cNvSpPr txBox="1"/>
            <p:nvPr/>
          </p:nvSpPr>
          <p:spPr>
            <a:xfrm>
              <a:off x="6008313" y="1833678"/>
              <a:ext cx="2762885" cy="398780"/>
            </a:xfrm>
            <a:prstGeom prst="rect">
              <a:avLst/>
            </a:prstGeom>
            <a:noFill/>
          </p:spPr>
          <p:txBody>
            <a:bodyPr wrap="square" rtlCol="0">
              <a:spAutoFit/>
            </a:bodyPr>
            <a:lstStyle/>
            <a:p>
              <a:r>
                <a:rPr lang="en-US" altLang="zh-CN"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EAI</a:t>
              </a:r>
              <a:r>
                <a:rPr lang="zh-CN" altLang="en-US"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流水线接口</a:t>
              </a:r>
              <a:endParaRPr lang="zh-CN" altLang="en-US"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2" name="文本框 21"/>
            <p:cNvSpPr txBox="1"/>
            <p:nvPr/>
          </p:nvSpPr>
          <p:spPr>
            <a:xfrm>
              <a:off x="9420767" y="3866899"/>
              <a:ext cx="2345997" cy="398780"/>
            </a:xfrm>
            <a:prstGeom prst="rect">
              <a:avLst/>
            </a:prstGeom>
            <a:noFill/>
          </p:spPr>
          <p:txBody>
            <a:bodyPr wrap="square" rtlCol="0">
              <a:spAutoFit/>
            </a:bodyPr>
            <a:lstStyle/>
            <a:p>
              <a:endParaRPr lang="zh-CN" altLang="en-US"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4" name="文本框 23"/>
            <p:cNvSpPr txBox="1"/>
            <p:nvPr/>
          </p:nvSpPr>
          <p:spPr>
            <a:xfrm>
              <a:off x="5836418" y="3881999"/>
              <a:ext cx="2345997" cy="398780"/>
            </a:xfrm>
            <a:prstGeom prst="rect">
              <a:avLst/>
            </a:prstGeom>
            <a:noFill/>
          </p:spPr>
          <p:txBody>
            <a:bodyPr wrap="square" rtlCol="0">
              <a:spAutoFit/>
            </a:bodyPr>
            <a:lstStyle/>
            <a:p>
              <a:endParaRPr lang="zh-CN" altLang="en-US"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5" name="矩形 24"/>
            <p:cNvSpPr/>
            <p:nvPr/>
          </p:nvSpPr>
          <p:spPr>
            <a:xfrm>
              <a:off x="5471103" y="2247063"/>
              <a:ext cx="5937885" cy="3969385"/>
            </a:xfrm>
            <a:prstGeom prst="rect">
              <a:avLst/>
            </a:prstGeom>
          </p:spPr>
          <p:txBody>
            <a:bodyPr wrap="square">
              <a:spAutoFit/>
            </a:bodyPr>
            <a:lstStyle/>
            <a:p>
              <a:pPr>
                <a:lnSpc>
                  <a:spcPct val="150000"/>
                </a:lnSpc>
              </a:pPr>
              <a:r>
                <a:rPr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整个 EAI 指令的执行过程如下</a:t>
              </a:r>
              <a:r>
                <a:rPr lang="zh-CN"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a:t>
              </a:r>
              <a:endParaRPr lang="en-US"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a:p>
              <a:pPr>
                <a:lnSpc>
                  <a:spcPct val="150000"/>
                </a:lnSpc>
              </a:pPr>
              <a:r>
                <a:rPr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 主处理器的译码（Decode）单元在EXU级对指令的Opcod进行译码，判断其是否属于任意Custom指令组</a:t>
              </a:r>
              <a:r>
                <a:rPr lang="zh-CN"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a:t>
              </a:r>
              <a:endParaRPr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a:p>
              <a:pPr>
                <a:lnSpc>
                  <a:spcPct val="150000"/>
                </a:lnSpc>
              </a:pPr>
              <a:r>
                <a:rPr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 如果主处理器译码判断该指令属于</a:t>
              </a:r>
              <a:r>
                <a:rPr lang="en-US"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C</a:t>
              </a:r>
              <a:r>
                <a:rPr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ustom</a:t>
              </a:r>
              <a:r>
                <a:rPr lang="zh-CN"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指</a:t>
              </a:r>
              <a:r>
                <a:rPr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令，继续依据指令编码的xsl</a:t>
              </a:r>
              <a:r>
                <a:rPr lang="zh-CN"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和</a:t>
              </a:r>
              <a:r>
                <a:rPr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s2位判断是否需要读取源寄存器。</a:t>
              </a:r>
              <a:endParaRPr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a:p>
              <a:pPr>
                <a:lnSpc>
                  <a:spcPct val="150000"/>
                </a:lnSpc>
              </a:pPr>
              <a:r>
                <a:rPr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 主处理器会维护数据依赖的正确性，譬如该指令需要读取的源寄存器与之前正在执行的某条指令存在着先写后读（</a:t>
              </a:r>
              <a:r>
                <a:rPr lang="en-US"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RAW</a:t>
              </a:r>
              <a:r>
                <a:rPr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）的依赖性，则处理器流水线会暂停至该RAW解除。</a:t>
              </a:r>
              <a:endParaRPr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a:p>
              <a:pPr>
                <a:lnSpc>
                  <a:spcPct val="150000"/>
                </a:lnSpc>
              </a:pPr>
              <a:r>
                <a:rPr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 经过上述的步骤之后，主处理器在EXU级通过EAI接口的请求通道派发给外部的协处理器，派信息包括指令的编码信息两个源操作数的值和</a:t>
              </a:r>
              <a:r>
                <a:rPr lang="zh-CN"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该指令</a:t>
              </a:r>
              <a:r>
                <a:rPr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的派发标号</a:t>
              </a:r>
              <a:endParaRPr lang="zh-CN"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a:p>
              <a:pPr>
                <a:lnSpc>
                  <a:spcPct val="150000"/>
                </a:lnSpc>
              </a:pPr>
              <a:r>
                <a:rPr lang="zh-CN"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 协处理器通过请求通道接受指令之后，对指令做进一步的译码并进行实际的执行操作</a:t>
              </a:r>
              <a:endParaRPr lang="zh-CN"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a:p>
              <a:pPr>
                <a:lnSpc>
                  <a:spcPct val="150000"/>
                </a:lnSpc>
              </a:pPr>
              <a:r>
                <a:rPr lang="zh-CN"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 协处理器在完成执行后，通过EA</a:t>
              </a:r>
              <a:r>
                <a:rPr lang="en-US" altLang="zh-CN"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I</a:t>
              </a:r>
              <a:r>
                <a:rPr lang="zh-CN"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接口的反馈通道将结果反馈给主处理器</a:t>
              </a:r>
              <a:endParaRPr lang="zh-CN"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a:p>
              <a:pPr>
                <a:lnSpc>
                  <a:spcPct val="150000"/>
                </a:lnSpc>
              </a:pPr>
              <a:r>
                <a:rPr lang="zh-CN"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 主处理器收到反馈通道的反馈结果之后，则将次指令从流水线中退役并将结果写回Regfile（如果有写回需求）。</a:t>
              </a:r>
              <a:endParaRPr lang="zh-CN" sz="12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8" name="矩形 27"/>
            <p:cNvSpPr/>
            <p:nvPr/>
          </p:nvSpPr>
          <p:spPr>
            <a:xfrm>
              <a:off x="8880909" y="2313097"/>
              <a:ext cx="2527814" cy="414020"/>
            </a:xfrm>
            <a:prstGeom prst="rect">
              <a:avLst/>
            </a:prstGeom>
          </p:spPr>
          <p:txBody>
            <a:bodyPr wrap="square">
              <a:spAutoFit/>
            </a:bodyPr>
            <a:lstStyle/>
            <a:p>
              <a:pPr>
                <a:lnSpc>
                  <a:spcPct val="150000"/>
                </a:lnSpc>
              </a:pPr>
              <a:endPar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grpSp>
      <p:sp>
        <p:nvSpPr>
          <p:cNvPr id="18" name="文本框 17"/>
          <p:cNvSpPr txBox="1"/>
          <p:nvPr/>
        </p:nvSpPr>
        <p:spPr>
          <a:xfrm>
            <a:off x="926465" y="97280"/>
            <a:ext cx="2320925" cy="829945"/>
          </a:xfrm>
          <a:prstGeom prst="rect">
            <a:avLst/>
          </a:prstGeom>
          <a:noFill/>
        </p:spPr>
        <p:txBody>
          <a:bodyPr wrap="square" rtlCol="0">
            <a:spAutoFit/>
          </a:bodyPr>
          <a:lstStyle/>
          <a:p>
            <a:pPr algn="ctr"/>
            <a:r>
              <a:rPr lang="zh-CN" altLang="en-US" sz="24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rPr>
              <a:t>蜂鸟E200的协处理器接口EA</a:t>
            </a:r>
            <a:r>
              <a:rPr lang="en-US" altLang="zh-CN" sz="24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rPr>
              <a:t>I</a:t>
            </a:r>
            <a:endParaRPr lang="en-US" altLang="zh-CN" sz="2400" b="1" spc="6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202277"/>
            <a:ext cx="12181840" cy="375920"/>
            <a:chOff x="0" y="294640"/>
            <a:chExt cx="12181840" cy="375920"/>
          </a:xfrm>
        </p:grpSpPr>
        <p:grpSp>
          <p:nvGrpSpPr>
            <p:cNvPr id="3" name="组合 2"/>
            <p:cNvGrpSpPr/>
            <p:nvPr/>
          </p:nvGrpSpPr>
          <p:grpSpPr>
            <a:xfrm>
              <a:off x="0" y="294640"/>
              <a:ext cx="880552" cy="375920"/>
              <a:chOff x="0" y="294640"/>
              <a:chExt cx="1094740" cy="467360"/>
            </a:xfrm>
            <a:solidFill>
              <a:srgbClr val="EE8A10"/>
            </a:solidFill>
          </p:grpSpPr>
          <p:sp>
            <p:nvSpPr>
              <p:cNvPr id="12"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3356076" y="408709"/>
              <a:ext cx="1749361" cy="147782"/>
              <a:chOff x="635462" y="775854"/>
              <a:chExt cx="1749361" cy="147782"/>
            </a:xfrm>
            <a:solidFill>
              <a:srgbClr val="EE8A10"/>
            </a:solidFill>
          </p:grpSpPr>
          <p:sp>
            <p:nvSpPr>
              <p:cNvPr id="7" name="椭圆 6"/>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6" name="直接连接符 5"/>
            <p:cNvCxnSpPr/>
            <p:nvPr/>
          </p:nvCxnSpPr>
          <p:spPr>
            <a:xfrm>
              <a:off x="5212080" y="477520"/>
              <a:ext cx="6969760"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880688" y="2003858"/>
            <a:ext cx="10840356" cy="3960714"/>
            <a:chOff x="926408" y="1820978"/>
            <a:chExt cx="10840356" cy="3960714"/>
          </a:xfrm>
        </p:grpSpPr>
        <p:grpSp>
          <p:nvGrpSpPr>
            <p:cNvPr id="16" name="组合 15"/>
            <p:cNvGrpSpPr/>
            <p:nvPr/>
          </p:nvGrpSpPr>
          <p:grpSpPr>
            <a:xfrm>
              <a:off x="926408" y="1820978"/>
              <a:ext cx="3935614" cy="3960714"/>
              <a:chOff x="4369714" y="1686560"/>
              <a:chExt cx="3472891" cy="3495040"/>
            </a:xfrm>
          </p:grpSpPr>
          <p:grpSp>
            <p:nvGrpSpPr>
              <p:cNvPr id="29" name="组合 28"/>
              <p:cNvGrpSpPr/>
              <p:nvPr/>
            </p:nvGrpSpPr>
            <p:grpSpPr>
              <a:xfrm>
                <a:off x="4369714" y="1686560"/>
                <a:ext cx="3472891" cy="3495040"/>
                <a:chOff x="1849120" y="1498600"/>
                <a:chExt cx="3982720" cy="4008120"/>
              </a:xfrm>
            </p:grpSpPr>
            <p:sp>
              <p:nvSpPr>
                <p:cNvPr id="31" name="矩形 30"/>
                <p:cNvSpPr/>
                <p:nvPr/>
              </p:nvSpPr>
              <p:spPr>
                <a:xfrm>
                  <a:off x="1849120" y="1498600"/>
                  <a:ext cx="1930400" cy="1930400"/>
                </a:xfrm>
                <a:prstGeom prst="rect">
                  <a:avLst/>
                </a:prstGeom>
                <a:blipFill dpi="0" rotWithShape="1">
                  <a:blip r:embed="rId1"/>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32" name="矩形 31"/>
                <p:cNvSpPr/>
                <p:nvPr/>
              </p:nvSpPr>
              <p:spPr>
                <a:xfrm>
                  <a:off x="3901440" y="3576320"/>
                  <a:ext cx="1930400" cy="1930400"/>
                </a:xfrm>
                <a:prstGeom prst="rect">
                  <a:avLst/>
                </a:prstGeom>
                <a:blipFill dpi="0" rotWithShape="1">
                  <a:blip r:embed="rId1"/>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33" name="矩形 32"/>
                <p:cNvSpPr/>
                <p:nvPr/>
              </p:nvSpPr>
              <p:spPr>
                <a:xfrm>
                  <a:off x="1849120" y="3576320"/>
                  <a:ext cx="1930400" cy="1930400"/>
                </a:xfrm>
                <a:prstGeom prst="rect">
                  <a:avLst/>
                </a:prstGeom>
                <a:blipFill dpi="0" rotWithShape="1">
                  <a:blip r:embed="rId2"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34" name="矩形 33"/>
                <p:cNvSpPr/>
                <p:nvPr/>
              </p:nvSpPr>
              <p:spPr>
                <a:xfrm>
                  <a:off x="3901440" y="1498600"/>
                  <a:ext cx="1930400" cy="1930400"/>
                </a:xfrm>
                <a:prstGeom prst="rect">
                  <a:avLst/>
                </a:prstGeom>
                <a:blipFill dpi="0" rotWithShape="1">
                  <a:blip r:embed="rId2"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grpSp>
          <p:sp>
            <p:nvSpPr>
              <p:cNvPr id="30" name="矩形 29"/>
              <p:cNvSpPr/>
              <p:nvPr/>
            </p:nvSpPr>
            <p:spPr>
              <a:xfrm>
                <a:off x="5264689" y="2595880"/>
                <a:ext cx="1676400" cy="1676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EA</a:t>
                </a:r>
                <a:r>
                  <a:rPr lang="en-US"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I</a:t>
                </a:r>
                <a:r>
                  <a:rPr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存储器接口</a:t>
                </a:r>
                <a:endParaRPr lang="zh-CN" altLang="en-US" sz="3600" spc="600" dirty="0">
                  <a:solidFill>
                    <a:schemeClr val="bg1"/>
                  </a:solidFill>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grpSp>
        <p:sp>
          <p:nvSpPr>
            <p:cNvPr id="17" name="îṥļîḑé-Freeform: Shape 15"/>
            <p:cNvSpPr/>
            <p:nvPr/>
          </p:nvSpPr>
          <p:spPr bwMode="auto">
            <a:xfrm>
              <a:off x="5470877" y="1820978"/>
              <a:ext cx="427524" cy="426261"/>
            </a:xfrm>
            <a:custGeom>
              <a:avLst/>
              <a:gdLst>
                <a:gd name="T0" fmla="*/ 122 w 186"/>
                <a:gd name="T1" fmla="*/ 160 h 185"/>
                <a:gd name="T2" fmla="*/ 122 w 186"/>
                <a:gd name="T3" fmla="*/ 152 h 185"/>
                <a:gd name="T4" fmla="*/ 59 w 186"/>
                <a:gd name="T5" fmla="*/ 156 h 185"/>
                <a:gd name="T6" fmla="*/ 63 w 186"/>
                <a:gd name="T7" fmla="*/ 143 h 185"/>
                <a:gd name="T8" fmla="*/ 110 w 186"/>
                <a:gd name="T9" fmla="*/ 139 h 185"/>
                <a:gd name="T10" fmla="*/ 63 w 186"/>
                <a:gd name="T11" fmla="*/ 135 h 185"/>
                <a:gd name="T12" fmla="*/ 63 w 186"/>
                <a:gd name="T13" fmla="*/ 143 h 185"/>
                <a:gd name="T14" fmla="*/ 152 w 186"/>
                <a:gd name="T15" fmla="*/ 50 h 185"/>
                <a:gd name="T16" fmla="*/ 143 w 186"/>
                <a:gd name="T17" fmla="*/ 0 h 185"/>
                <a:gd name="T18" fmla="*/ 34 w 186"/>
                <a:gd name="T19" fmla="*/ 8 h 185"/>
                <a:gd name="T20" fmla="*/ 25 w 186"/>
                <a:gd name="T21" fmla="*/ 50 h 185"/>
                <a:gd name="T22" fmla="*/ 0 w 186"/>
                <a:gd name="T23" fmla="*/ 143 h 185"/>
                <a:gd name="T24" fmla="*/ 34 w 186"/>
                <a:gd name="T25" fmla="*/ 169 h 185"/>
                <a:gd name="T26" fmla="*/ 42 w 186"/>
                <a:gd name="T27" fmla="*/ 185 h 185"/>
                <a:gd name="T28" fmla="*/ 152 w 186"/>
                <a:gd name="T29" fmla="*/ 177 h 185"/>
                <a:gd name="T30" fmla="*/ 160 w 186"/>
                <a:gd name="T31" fmla="*/ 169 h 185"/>
                <a:gd name="T32" fmla="*/ 186 w 186"/>
                <a:gd name="T33" fmla="*/ 76 h 185"/>
                <a:gd name="T34" fmla="*/ 42 w 186"/>
                <a:gd name="T35" fmla="*/ 8 h 185"/>
                <a:gd name="T36" fmla="*/ 143 w 186"/>
                <a:gd name="T37" fmla="*/ 50 h 185"/>
                <a:gd name="T38" fmla="*/ 42 w 186"/>
                <a:gd name="T39" fmla="*/ 8 h 185"/>
                <a:gd name="T40" fmla="*/ 42 w 186"/>
                <a:gd name="T41" fmla="*/ 177 h 185"/>
                <a:gd name="T42" fmla="*/ 143 w 186"/>
                <a:gd name="T43" fmla="*/ 126 h 185"/>
                <a:gd name="T44" fmla="*/ 177 w 186"/>
                <a:gd name="T45" fmla="*/ 143 h 185"/>
                <a:gd name="T46" fmla="*/ 152 w 186"/>
                <a:gd name="T47" fmla="*/ 160 h 185"/>
                <a:gd name="T48" fmla="*/ 143 w 186"/>
                <a:gd name="T49" fmla="*/ 118 h 185"/>
                <a:gd name="T50" fmla="*/ 34 w 186"/>
                <a:gd name="T51" fmla="*/ 126 h 185"/>
                <a:gd name="T52" fmla="*/ 25 w 186"/>
                <a:gd name="T53" fmla="*/ 160 h 185"/>
                <a:gd name="T54" fmla="*/ 8 w 186"/>
                <a:gd name="T55" fmla="*/ 76 h 185"/>
                <a:gd name="T56" fmla="*/ 160 w 186"/>
                <a:gd name="T57" fmla="*/ 59 h 185"/>
                <a:gd name="T58" fmla="*/ 177 w 186"/>
                <a:gd name="T59" fmla="*/ 143 h 185"/>
                <a:gd name="T60" fmla="*/ 143 w 186"/>
                <a:gd name="T61" fmla="*/ 84 h 185"/>
                <a:gd name="T62" fmla="*/ 160 w 186"/>
                <a:gd name="T63" fmla="*/ 84 h 185"/>
                <a:gd name="T64" fmla="*/ 127 w 186"/>
                <a:gd name="T65" fmla="*/ 76 h 185"/>
                <a:gd name="T66" fmla="*/ 127 w 186"/>
                <a:gd name="T67" fmla="*/ 93 h 185"/>
                <a:gd name="T68" fmla="*/ 127 w 186"/>
                <a:gd name="T69" fmla="*/ 76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6" h="185">
                  <a:moveTo>
                    <a:pt x="63" y="160"/>
                  </a:moveTo>
                  <a:cubicBezTo>
                    <a:pt x="122" y="160"/>
                    <a:pt x="122" y="160"/>
                    <a:pt x="122" y="160"/>
                  </a:cubicBezTo>
                  <a:cubicBezTo>
                    <a:pt x="125" y="160"/>
                    <a:pt x="127" y="158"/>
                    <a:pt x="127" y="156"/>
                  </a:cubicBezTo>
                  <a:cubicBezTo>
                    <a:pt x="127" y="154"/>
                    <a:pt x="125" y="152"/>
                    <a:pt x="122" y="152"/>
                  </a:cubicBezTo>
                  <a:cubicBezTo>
                    <a:pt x="63" y="152"/>
                    <a:pt x="63" y="152"/>
                    <a:pt x="63" y="152"/>
                  </a:cubicBezTo>
                  <a:cubicBezTo>
                    <a:pt x="61" y="152"/>
                    <a:pt x="59" y="154"/>
                    <a:pt x="59" y="156"/>
                  </a:cubicBezTo>
                  <a:cubicBezTo>
                    <a:pt x="59" y="158"/>
                    <a:pt x="61" y="160"/>
                    <a:pt x="63" y="160"/>
                  </a:cubicBezTo>
                  <a:close/>
                  <a:moveTo>
                    <a:pt x="63" y="143"/>
                  </a:moveTo>
                  <a:cubicBezTo>
                    <a:pt x="106" y="143"/>
                    <a:pt x="106" y="143"/>
                    <a:pt x="106" y="143"/>
                  </a:cubicBezTo>
                  <a:cubicBezTo>
                    <a:pt x="108" y="143"/>
                    <a:pt x="110" y="141"/>
                    <a:pt x="110" y="139"/>
                  </a:cubicBezTo>
                  <a:cubicBezTo>
                    <a:pt x="110" y="137"/>
                    <a:pt x="108" y="135"/>
                    <a:pt x="106" y="135"/>
                  </a:cubicBezTo>
                  <a:cubicBezTo>
                    <a:pt x="63" y="135"/>
                    <a:pt x="63" y="135"/>
                    <a:pt x="63" y="135"/>
                  </a:cubicBezTo>
                  <a:cubicBezTo>
                    <a:pt x="61" y="135"/>
                    <a:pt x="59" y="137"/>
                    <a:pt x="59" y="139"/>
                  </a:cubicBezTo>
                  <a:cubicBezTo>
                    <a:pt x="59" y="141"/>
                    <a:pt x="61" y="143"/>
                    <a:pt x="63" y="143"/>
                  </a:cubicBezTo>
                  <a:close/>
                  <a:moveTo>
                    <a:pt x="160" y="50"/>
                  </a:moveTo>
                  <a:cubicBezTo>
                    <a:pt x="152" y="50"/>
                    <a:pt x="152" y="50"/>
                    <a:pt x="152" y="50"/>
                  </a:cubicBezTo>
                  <a:cubicBezTo>
                    <a:pt x="152" y="8"/>
                    <a:pt x="152" y="8"/>
                    <a:pt x="152" y="8"/>
                  </a:cubicBezTo>
                  <a:cubicBezTo>
                    <a:pt x="152" y="4"/>
                    <a:pt x="148" y="0"/>
                    <a:pt x="143" y="0"/>
                  </a:cubicBezTo>
                  <a:cubicBezTo>
                    <a:pt x="42" y="0"/>
                    <a:pt x="42" y="0"/>
                    <a:pt x="42" y="0"/>
                  </a:cubicBezTo>
                  <a:cubicBezTo>
                    <a:pt x="38" y="0"/>
                    <a:pt x="34" y="4"/>
                    <a:pt x="34" y="8"/>
                  </a:cubicBezTo>
                  <a:cubicBezTo>
                    <a:pt x="34" y="50"/>
                    <a:pt x="34" y="50"/>
                    <a:pt x="34" y="50"/>
                  </a:cubicBezTo>
                  <a:cubicBezTo>
                    <a:pt x="25" y="50"/>
                    <a:pt x="25" y="50"/>
                    <a:pt x="25" y="50"/>
                  </a:cubicBezTo>
                  <a:cubicBezTo>
                    <a:pt x="11" y="50"/>
                    <a:pt x="0" y="62"/>
                    <a:pt x="0" y="76"/>
                  </a:cubicBezTo>
                  <a:cubicBezTo>
                    <a:pt x="0" y="143"/>
                    <a:pt x="0" y="143"/>
                    <a:pt x="0" y="143"/>
                  </a:cubicBezTo>
                  <a:cubicBezTo>
                    <a:pt x="0" y="157"/>
                    <a:pt x="11" y="169"/>
                    <a:pt x="25" y="169"/>
                  </a:cubicBezTo>
                  <a:cubicBezTo>
                    <a:pt x="34" y="169"/>
                    <a:pt x="34" y="169"/>
                    <a:pt x="34" y="169"/>
                  </a:cubicBezTo>
                  <a:cubicBezTo>
                    <a:pt x="34" y="177"/>
                    <a:pt x="34" y="177"/>
                    <a:pt x="34" y="177"/>
                  </a:cubicBezTo>
                  <a:cubicBezTo>
                    <a:pt x="34" y="182"/>
                    <a:pt x="38" y="185"/>
                    <a:pt x="42" y="185"/>
                  </a:cubicBezTo>
                  <a:cubicBezTo>
                    <a:pt x="143" y="185"/>
                    <a:pt x="143" y="185"/>
                    <a:pt x="143" y="185"/>
                  </a:cubicBezTo>
                  <a:cubicBezTo>
                    <a:pt x="148" y="185"/>
                    <a:pt x="152" y="182"/>
                    <a:pt x="152" y="177"/>
                  </a:cubicBezTo>
                  <a:cubicBezTo>
                    <a:pt x="152" y="169"/>
                    <a:pt x="152" y="169"/>
                    <a:pt x="152" y="169"/>
                  </a:cubicBezTo>
                  <a:cubicBezTo>
                    <a:pt x="160" y="169"/>
                    <a:pt x="160" y="169"/>
                    <a:pt x="160" y="169"/>
                  </a:cubicBezTo>
                  <a:cubicBezTo>
                    <a:pt x="174" y="169"/>
                    <a:pt x="186" y="157"/>
                    <a:pt x="186" y="143"/>
                  </a:cubicBezTo>
                  <a:cubicBezTo>
                    <a:pt x="186" y="76"/>
                    <a:pt x="186" y="76"/>
                    <a:pt x="186" y="76"/>
                  </a:cubicBezTo>
                  <a:cubicBezTo>
                    <a:pt x="186" y="62"/>
                    <a:pt x="174" y="50"/>
                    <a:pt x="160" y="50"/>
                  </a:cubicBezTo>
                  <a:close/>
                  <a:moveTo>
                    <a:pt x="42" y="8"/>
                  </a:moveTo>
                  <a:cubicBezTo>
                    <a:pt x="143" y="8"/>
                    <a:pt x="143" y="8"/>
                    <a:pt x="143" y="8"/>
                  </a:cubicBezTo>
                  <a:cubicBezTo>
                    <a:pt x="143" y="50"/>
                    <a:pt x="143" y="50"/>
                    <a:pt x="143" y="50"/>
                  </a:cubicBezTo>
                  <a:cubicBezTo>
                    <a:pt x="42" y="50"/>
                    <a:pt x="42" y="50"/>
                    <a:pt x="42" y="50"/>
                  </a:cubicBezTo>
                  <a:lnTo>
                    <a:pt x="42" y="8"/>
                  </a:lnTo>
                  <a:close/>
                  <a:moveTo>
                    <a:pt x="143" y="177"/>
                  </a:moveTo>
                  <a:cubicBezTo>
                    <a:pt x="42" y="177"/>
                    <a:pt x="42" y="177"/>
                    <a:pt x="42" y="177"/>
                  </a:cubicBezTo>
                  <a:cubicBezTo>
                    <a:pt x="42" y="126"/>
                    <a:pt x="42" y="126"/>
                    <a:pt x="42" y="126"/>
                  </a:cubicBezTo>
                  <a:cubicBezTo>
                    <a:pt x="143" y="126"/>
                    <a:pt x="143" y="126"/>
                    <a:pt x="143" y="126"/>
                  </a:cubicBezTo>
                  <a:lnTo>
                    <a:pt x="143" y="177"/>
                  </a:lnTo>
                  <a:close/>
                  <a:moveTo>
                    <a:pt x="177" y="143"/>
                  </a:moveTo>
                  <a:cubicBezTo>
                    <a:pt x="177" y="153"/>
                    <a:pt x="170" y="160"/>
                    <a:pt x="160" y="160"/>
                  </a:cubicBezTo>
                  <a:cubicBezTo>
                    <a:pt x="152" y="160"/>
                    <a:pt x="152" y="160"/>
                    <a:pt x="152" y="160"/>
                  </a:cubicBezTo>
                  <a:cubicBezTo>
                    <a:pt x="152" y="126"/>
                    <a:pt x="152" y="126"/>
                    <a:pt x="152" y="126"/>
                  </a:cubicBezTo>
                  <a:cubicBezTo>
                    <a:pt x="152" y="122"/>
                    <a:pt x="148" y="118"/>
                    <a:pt x="143" y="118"/>
                  </a:cubicBezTo>
                  <a:cubicBezTo>
                    <a:pt x="42" y="118"/>
                    <a:pt x="42" y="118"/>
                    <a:pt x="42" y="118"/>
                  </a:cubicBezTo>
                  <a:cubicBezTo>
                    <a:pt x="38" y="118"/>
                    <a:pt x="34" y="122"/>
                    <a:pt x="34" y="126"/>
                  </a:cubicBezTo>
                  <a:cubicBezTo>
                    <a:pt x="34" y="160"/>
                    <a:pt x="34" y="160"/>
                    <a:pt x="34" y="160"/>
                  </a:cubicBezTo>
                  <a:cubicBezTo>
                    <a:pt x="25" y="160"/>
                    <a:pt x="25" y="160"/>
                    <a:pt x="25" y="160"/>
                  </a:cubicBezTo>
                  <a:cubicBezTo>
                    <a:pt x="16" y="160"/>
                    <a:pt x="8" y="153"/>
                    <a:pt x="8" y="143"/>
                  </a:cubicBezTo>
                  <a:cubicBezTo>
                    <a:pt x="8" y="76"/>
                    <a:pt x="8" y="76"/>
                    <a:pt x="8" y="76"/>
                  </a:cubicBezTo>
                  <a:cubicBezTo>
                    <a:pt x="8" y="66"/>
                    <a:pt x="16" y="59"/>
                    <a:pt x="25" y="59"/>
                  </a:cubicBezTo>
                  <a:cubicBezTo>
                    <a:pt x="160" y="59"/>
                    <a:pt x="160" y="59"/>
                    <a:pt x="160" y="59"/>
                  </a:cubicBezTo>
                  <a:cubicBezTo>
                    <a:pt x="170" y="59"/>
                    <a:pt x="177" y="66"/>
                    <a:pt x="177" y="76"/>
                  </a:cubicBezTo>
                  <a:lnTo>
                    <a:pt x="177" y="143"/>
                  </a:lnTo>
                  <a:close/>
                  <a:moveTo>
                    <a:pt x="152" y="76"/>
                  </a:moveTo>
                  <a:cubicBezTo>
                    <a:pt x="147" y="76"/>
                    <a:pt x="143" y="79"/>
                    <a:pt x="143" y="84"/>
                  </a:cubicBezTo>
                  <a:cubicBezTo>
                    <a:pt x="143" y="89"/>
                    <a:pt x="147" y="93"/>
                    <a:pt x="152" y="93"/>
                  </a:cubicBezTo>
                  <a:cubicBezTo>
                    <a:pt x="157" y="93"/>
                    <a:pt x="160" y="89"/>
                    <a:pt x="160" y="84"/>
                  </a:cubicBezTo>
                  <a:cubicBezTo>
                    <a:pt x="160" y="79"/>
                    <a:pt x="157" y="76"/>
                    <a:pt x="152" y="76"/>
                  </a:cubicBezTo>
                  <a:close/>
                  <a:moveTo>
                    <a:pt x="127" y="76"/>
                  </a:moveTo>
                  <a:cubicBezTo>
                    <a:pt x="122" y="76"/>
                    <a:pt x="118" y="79"/>
                    <a:pt x="118" y="84"/>
                  </a:cubicBezTo>
                  <a:cubicBezTo>
                    <a:pt x="118" y="89"/>
                    <a:pt x="122" y="93"/>
                    <a:pt x="127" y="93"/>
                  </a:cubicBezTo>
                  <a:cubicBezTo>
                    <a:pt x="131" y="93"/>
                    <a:pt x="135" y="89"/>
                    <a:pt x="135" y="84"/>
                  </a:cubicBezTo>
                  <a:cubicBezTo>
                    <a:pt x="135" y="79"/>
                    <a:pt x="131" y="76"/>
                    <a:pt x="127" y="76"/>
                  </a:cubicBezTo>
                  <a:close/>
                </a:path>
              </a:pathLst>
            </a:custGeom>
            <a:solidFill>
              <a:schemeClr val="accent1">
                <a:lumMod val="50000"/>
              </a:schemeClr>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1" name="文本框 20"/>
            <p:cNvSpPr txBox="1"/>
            <p:nvPr/>
          </p:nvSpPr>
          <p:spPr>
            <a:xfrm>
              <a:off x="6008313" y="1833678"/>
              <a:ext cx="2762885" cy="398780"/>
            </a:xfrm>
            <a:prstGeom prst="rect">
              <a:avLst/>
            </a:prstGeom>
            <a:noFill/>
          </p:spPr>
          <p:txBody>
            <a:bodyPr wrap="square" rtlCol="0">
              <a:spAutoFit/>
            </a:bodyPr>
            <a:lstStyle/>
            <a:p>
              <a:r>
                <a:rPr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EA</a:t>
              </a:r>
              <a:r>
                <a:rPr lang="en-US"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I</a:t>
              </a:r>
              <a:r>
                <a:rPr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存储器接口</a:t>
              </a:r>
              <a:endParaRPr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2" name="文本框 21"/>
            <p:cNvSpPr txBox="1"/>
            <p:nvPr/>
          </p:nvSpPr>
          <p:spPr>
            <a:xfrm>
              <a:off x="9420767" y="3866899"/>
              <a:ext cx="2345997" cy="398780"/>
            </a:xfrm>
            <a:prstGeom prst="rect">
              <a:avLst/>
            </a:prstGeom>
            <a:noFill/>
          </p:spPr>
          <p:txBody>
            <a:bodyPr wrap="square" rtlCol="0">
              <a:spAutoFit/>
            </a:bodyPr>
            <a:lstStyle/>
            <a:p>
              <a:endParaRPr lang="zh-CN" altLang="en-US"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4" name="文本框 23"/>
            <p:cNvSpPr txBox="1"/>
            <p:nvPr/>
          </p:nvSpPr>
          <p:spPr>
            <a:xfrm>
              <a:off x="5836418" y="3881999"/>
              <a:ext cx="2345997" cy="398780"/>
            </a:xfrm>
            <a:prstGeom prst="rect">
              <a:avLst/>
            </a:prstGeom>
            <a:noFill/>
          </p:spPr>
          <p:txBody>
            <a:bodyPr wrap="square" rtlCol="0">
              <a:spAutoFit/>
            </a:bodyPr>
            <a:lstStyle/>
            <a:p>
              <a:endParaRPr lang="zh-CN" altLang="en-US"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5" name="矩形 24"/>
            <p:cNvSpPr/>
            <p:nvPr/>
          </p:nvSpPr>
          <p:spPr>
            <a:xfrm>
              <a:off x="5471103" y="2947468"/>
              <a:ext cx="5937885" cy="1706880"/>
            </a:xfrm>
            <a:prstGeom prst="rect">
              <a:avLst/>
            </a:prstGeom>
          </p:spPr>
          <p:txBody>
            <a:bodyPr wrap="square">
              <a:spAutoFit/>
            </a:bodyPr>
            <a:lstStyle/>
            <a:p>
              <a:pPr>
                <a:lnSpc>
                  <a:spcPct val="150000"/>
                </a:lnSpc>
              </a:pPr>
              <a:r>
                <a:rPr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支持协处理器访问存储器资源可以扩大协处理器的类型范围，使得协处理器不仅限于运算指令类型。在蜂鸟E200处理器的LSU模块中为EAI协处理器预留了专用的访问接口。因此基于EAI接口的协处理器可以访问主处理器能够寻址的数据存储器资源，包括ITCM、DTCM、系统存储总线、系统设备总线以及快速IO接口等。</a:t>
              </a:r>
              <a:endParaRPr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8" name="矩形 27"/>
            <p:cNvSpPr/>
            <p:nvPr/>
          </p:nvSpPr>
          <p:spPr>
            <a:xfrm>
              <a:off x="8880909" y="2313097"/>
              <a:ext cx="2527814" cy="414020"/>
            </a:xfrm>
            <a:prstGeom prst="rect">
              <a:avLst/>
            </a:prstGeom>
          </p:spPr>
          <p:txBody>
            <a:bodyPr wrap="square">
              <a:spAutoFit/>
            </a:bodyPr>
            <a:lstStyle/>
            <a:p>
              <a:pPr>
                <a:lnSpc>
                  <a:spcPct val="150000"/>
                </a:lnSpc>
              </a:pPr>
              <a:endPar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grpSp>
      <p:sp>
        <p:nvSpPr>
          <p:cNvPr id="18" name="文本框 17"/>
          <p:cNvSpPr txBox="1"/>
          <p:nvPr/>
        </p:nvSpPr>
        <p:spPr>
          <a:xfrm>
            <a:off x="926465" y="97280"/>
            <a:ext cx="2320925" cy="829945"/>
          </a:xfrm>
          <a:prstGeom prst="rect">
            <a:avLst/>
          </a:prstGeom>
          <a:noFill/>
        </p:spPr>
        <p:txBody>
          <a:bodyPr wrap="square" rtlCol="0">
            <a:spAutoFit/>
          </a:bodyPr>
          <a:lstStyle/>
          <a:p>
            <a:pPr algn="ctr"/>
            <a:r>
              <a:rPr lang="zh-CN" altLang="en-US" sz="24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rPr>
              <a:t>蜂鸟E200的协处理器接口EA</a:t>
            </a:r>
            <a:r>
              <a:rPr lang="en-US" altLang="zh-CN" sz="24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rPr>
              <a:t>I</a:t>
            </a:r>
            <a:endParaRPr lang="en-US" altLang="zh-CN" sz="2400" b="1" spc="6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192752"/>
            <a:ext cx="12181840" cy="375920"/>
            <a:chOff x="0" y="294640"/>
            <a:chExt cx="12181840" cy="375920"/>
          </a:xfrm>
        </p:grpSpPr>
        <p:grpSp>
          <p:nvGrpSpPr>
            <p:cNvPr id="3" name="组合 2"/>
            <p:cNvGrpSpPr/>
            <p:nvPr/>
          </p:nvGrpSpPr>
          <p:grpSpPr>
            <a:xfrm>
              <a:off x="0" y="294640"/>
              <a:ext cx="880552" cy="375920"/>
              <a:chOff x="0" y="294640"/>
              <a:chExt cx="1094740" cy="467360"/>
            </a:xfrm>
            <a:solidFill>
              <a:srgbClr val="EE8A10"/>
            </a:solidFill>
          </p:grpSpPr>
          <p:sp>
            <p:nvSpPr>
              <p:cNvPr id="12"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3356076" y="408709"/>
              <a:ext cx="1749361" cy="147782"/>
              <a:chOff x="635462" y="775854"/>
              <a:chExt cx="1749361" cy="147782"/>
            </a:xfrm>
            <a:solidFill>
              <a:srgbClr val="EE8A10"/>
            </a:solidFill>
          </p:grpSpPr>
          <p:sp>
            <p:nvSpPr>
              <p:cNvPr id="7" name="椭圆 6"/>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6" name="直接连接符 5"/>
            <p:cNvCxnSpPr/>
            <p:nvPr/>
          </p:nvCxnSpPr>
          <p:spPr>
            <a:xfrm>
              <a:off x="5212080" y="477520"/>
              <a:ext cx="6969760"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861638" y="1213283"/>
            <a:ext cx="10840356" cy="3960714"/>
            <a:chOff x="926408" y="1820978"/>
            <a:chExt cx="10840356" cy="3960714"/>
          </a:xfrm>
        </p:grpSpPr>
        <p:grpSp>
          <p:nvGrpSpPr>
            <p:cNvPr id="16" name="组合 15"/>
            <p:cNvGrpSpPr/>
            <p:nvPr/>
          </p:nvGrpSpPr>
          <p:grpSpPr>
            <a:xfrm>
              <a:off x="926408" y="1820978"/>
              <a:ext cx="3935614" cy="3960714"/>
              <a:chOff x="4369714" y="1686560"/>
              <a:chExt cx="3472891" cy="3495040"/>
            </a:xfrm>
          </p:grpSpPr>
          <p:grpSp>
            <p:nvGrpSpPr>
              <p:cNvPr id="29" name="组合 28"/>
              <p:cNvGrpSpPr/>
              <p:nvPr/>
            </p:nvGrpSpPr>
            <p:grpSpPr>
              <a:xfrm>
                <a:off x="4369714" y="1686560"/>
                <a:ext cx="3472891" cy="3495040"/>
                <a:chOff x="1849120" y="1498600"/>
                <a:chExt cx="3982720" cy="4008120"/>
              </a:xfrm>
            </p:grpSpPr>
            <p:sp>
              <p:nvSpPr>
                <p:cNvPr id="31" name="矩形 30"/>
                <p:cNvSpPr/>
                <p:nvPr/>
              </p:nvSpPr>
              <p:spPr>
                <a:xfrm>
                  <a:off x="1849120" y="1498600"/>
                  <a:ext cx="1930400" cy="1930400"/>
                </a:xfrm>
                <a:prstGeom prst="rect">
                  <a:avLst/>
                </a:prstGeom>
                <a:blipFill dpi="0" rotWithShape="1">
                  <a:blip r:embed="rId1"/>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32" name="矩形 31"/>
                <p:cNvSpPr/>
                <p:nvPr/>
              </p:nvSpPr>
              <p:spPr>
                <a:xfrm>
                  <a:off x="3901440" y="3576320"/>
                  <a:ext cx="1930400" cy="1930400"/>
                </a:xfrm>
                <a:prstGeom prst="rect">
                  <a:avLst/>
                </a:prstGeom>
                <a:blipFill dpi="0" rotWithShape="1">
                  <a:blip r:embed="rId1"/>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33" name="矩形 32"/>
                <p:cNvSpPr/>
                <p:nvPr/>
              </p:nvSpPr>
              <p:spPr>
                <a:xfrm>
                  <a:off x="1849120" y="3576320"/>
                  <a:ext cx="1930400" cy="1930400"/>
                </a:xfrm>
                <a:prstGeom prst="rect">
                  <a:avLst/>
                </a:prstGeom>
                <a:blipFill dpi="0" rotWithShape="1">
                  <a:blip r:embed="rId2"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34" name="矩形 33"/>
                <p:cNvSpPr/>
                <p:nvPr/>
              </p:nvSpPr>
              <p:spPr>
                <a:xfrm>
                  <a:off x="3901440" y="1498600"/>
                  <a:ext cx="1930400" cy="1930400"/>
                </a:xfrm>
                <a:prstGeom prst="rect">
                  <a:avLst/>
                </a:prstGeom>
                <a:blipFill dpi="0" rotWithShape="1">
                  <a:blip r:embed="rId2"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grpSp>
          <p:sp>
            <p:nvSpPr>
              <p:cNvPr id="30" name="矩形 29"/>
              <p:cNvSpPr/>
              <p:nvPr/>
            </p:nvSpPr>
            <p:spPr>
              <a:xfrm>
                <a:off x="5264689" y="2595880"/>
                <a:ext cx="1676400" cy="1676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EA</a:t>
                </a:r>
                <a:r>
                  <a:rPr lang="en-US"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I</a:t>
                </a:r>
                <a:r>
                  <a:rPr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接口时序</a:t>
                </a:r>
                <a:endParaRPr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grpSp>
        <p:sp>
          <p:nvSpPr>
            <p:cNvPr id="17" name="îṥļîḑé-Freeform: Shape 15"/>
            <p:cNvSpPr/>
            <p:nvPr/>
          </p:nvSpPr>
          <p:spPr bwMode="auto">
            <a:xfrm>
              <a:off x="5470877" y="1820978"/>
              <a:ext cx="427524" cy="426261"/>
            </a:xfrm>
            <a:custGeom>
              <a:avLst/>
              <a:gdLst>
                <a:gd name="T0" fmla="*/ 122 w 186"/>
                <a:gd name="T1" fmla="*/ 160 h 185"/>
                <a:gd name="T2" fmla="*/ 122 w 186"/>
                <a:gd name="T3" fmla="*/ 152 h 185"/>
                <a:gd name="T4" fmla="*/ 59 w 186"/>
                <a:gd name="T5" fmla="*/ 156 h 185"/>
                <a:gd name="T6" fmla="*/ 63 w 186"/>
                <a:gd name="T7" fmla="*/ 143 h 185"/>
                <a:gd name="T8" fmla="*/ 110 w 186"/>
                <a:gd name="T9" fmla="*/ 139 h 185"/>
                <a:gd name="T10" fmla="*/ 63 w 186"/>
                <a:gd name="T11" fmla="*/ 135 h 185"/>
                <a:gd name="T12" fmla="*/ 63 w 186"/>
                <a:gd name="T13" fmla="*/ 143 h 185"/>
                <a:gd name="T14" fmla="*/ 152 w 186"/>
                <a:gd name="T15" fmla="*/ 50 h 185"/>
                <a:gd name="T16" fmla="*/ 143 w 186"/>
                <a:gd name="T17" fmla="*/ 0 h 185"/>
                <a:gd name="T18" fmla="*/ 34 w 186"/>
                <a:gd name="T19" fmla="*/ 8 h 185"/>
                <a:gd name="T20" fmla="*/ 25 w 186"/>
                <a:gd name="T21" fmla="*/ 50 h 185"/>
                <a:gd name="T22" fmla="*/ 0 w 186"/>
                <a:gd name="T23" fmla="*/ 143 h 185"/>
                <a:gd name="T24" fmla="*/ 34 w 186"/>
                <a:gd name="T25" fmla="*/ 169 h 185"/>
                <a:gd name="T26" fmla="*/ 42 w 186"/>
                <a:gd name="T27" fmla="*/ 185 h 185"/>
                <a:gd name="T28" fmla="*/ 152 w 186"/>
                <a:gd name="T29" fmla="*/ 177 h 185"/>
                <a:gd name="T30" fmla="*/ 160 w 186"/>
                <a:gd name="T31" fmla="*/ 169 h 185"/>
                <a:gd name="T32" fmla="*/ 186 w 186"/>
                <a:gd name="T33" fmla="*/ 76 h 185"/>
                <a:gd name="T34" fmla="*/ 42 w 186"/>
                <a:gd name="T35" fmla="*/ 8 h 185"/>
                <a:gd name="T36" fmla="*/ 143 w 186"/>
                <a:gd name="T37" fmla="*/ 50 h 185"/>
                <a:gd name="T38" fmla="*/ 42 w 186"/>
                <a:gd name="T39" fmla="*/ 8 h 185"/>
                <a:gd name="T40" fmla="*/ 42 w 186"/>
                <a:gd name="T41" fmla="*/ 177 h 185"/>
                <a:gd name="T42" fmla="*/ 143 w 186"/>
                <a:gd name="T43" fmla="*/ 126 h 185"/>
                <a:gd name="T44" fmla="*/ 177 w 186"/>
                <a:gd name="T45" fmla="*/ 143 h 185"/>
                <a:gd name="T46" fmla="*/ 152 w 186"/>
                <a:gd name="T47" fmla="*/ 160 h 185"/>
                <a:gd name="T48" fmla="*/ 143 w 186"/>
                <a:gd name="T49" fmla="*/ 118 h 185"/>
                <a:gd name="T50" fmla="*/ 34 w 186"/>
                <a:gd name="T51" fmla="*/ 126 h 185"/>
                <a:gd name="T52" fmla="*/ 25 w 186"/>
                <a:gd name="T53" fmla="*/ 160 h 185"/>
                <a:gd name="T54" fmla="*/ 8 w 186"/>
                <a:gd name="T55" fmla="*/ 76 h 185"/>
                <a:gd name="T56" fmla="*/ 160 w 186"/>
                <a:gd name="T57" fmla="*/ 59 h 185"/>
                <a:gd name="T58" fmla="*/ 177 w 186"/>
                <a:gd name="T59" fmla="*/ 143 h 185"/>
                <a:gd name="T60" fmla="*/ 143 w 186"/>
                <a:gd name="T61" fmla="*/ 84 h 185"/>
                <a:gd name="T62" fmla="*/ 160 w 186"/>
                <a:gd name="T63" fmla="*/ 84 h 185"/>
                <a:gd name="T64" fmla="*/ 127 w 186"/>
                <a:gd name="T65" fmla="*/ 76 h 185"/>
                <a:gd name="T66" fmla="*/ 127 w 186"/>
                <a:gd name="T67" fmla="*/ 93 h 185"/>
                <a:gd name="T68" fmla="*/ 127 w 186"/>
                <a:gd name="T69" fmla="*/ 76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6" h="185">
                  <a:moveTo>
                    <a:pt x="63" y="160"/>
                  </a:moveTo>
                  <a:cubicBezTo>
                    <a:pt x="122" y="160"/>
                    <a:pt x="122" y="160"/>
                    <a:pt x="122" y="160"/>
                  </a:cubicBezTo>
                  <a:cubicBezTo>
                    <a:pt x="125" y="160"/>
                    <a:pt x="127" y="158"/>
                    <a:pt x="127" y="156"/>
                  </a:cubicBezTo>
                  <a:cubicBezTo>
                    <a:pt x="127" y="154"/>
                    <a:pt x="125" y="152"/>
                    <a:pt x="122" y="152"/>
                  </a:cubicBezTo>
                  <a:cubicBezTo>
                    <a:pt x="63" y="152"/>
                    <a:pt x="63" y="152"/>
                    <a:pt x="63" y="152"/>
                  </a:cubicBezTo>
                  <a:cubicBezTo>
                    <a:pt x="61" y="152"/>
                    <a:pt x="59" y="154"/>
                    <a:pt x="59" y="156"/>
                  </a:cubicBezTo>
                  <a:cubicBezTo>
                    <a:pt x="59" y="158"/>
                    <a:pt x="61" y="160"/>
                    <a:pt x="63" y="160"/>
                  </a:cubicBezTo>
                  <a:close/>
                  <a:moveTo>
                    <a:pt x="63" y="143"/>
                  </a:moveTo>
                  <a:cubicBezTo>
                    <a:pt x="106" y="143"/>
                    <a:pt x="106" y="143"/>
                    <a:pt x="106" y="143"/>
                  </a:cubicBezTo>
                  <a:cubicBezTo>
                    <a:pt x="108" y="143"/>
                    <a:pt x="110" y="141"/>
                    <a:pt x="110" y="139"/>
                  </a:cubicBezTo>
                  <a:cubicBezTo>
                    <a:pt x="110" y="137"/>
                    <a:pt x="108" y="135"/>
                    <a:pt x="106" y="135"/>
                  </a:cubicBezTo>
                  <a:cubicBezTo>
                    <a:pt x="63" y="135"/>
                    <a:pt x="63" y="135"/>
                    <a:pt x="63" y="135"/>
                  </a:cubicBezTo>
                  <a:cubicBezTo>
                    <a:pt x="61" y="135"/>
                    <a:pt x="59" y="137"/>
                    <a:pt x="59" y="139"/>
                  </a:cubicBezTo>
                  <a:cubicBezTo>
                    <a:pt x="59" y="141"/>
                    <a:pt x="61" y="143"/>
                    <a:pt x="63" y="143"/>
                  </a:cubicBezTo>
                  <a:close/>
                  <a:moveTo>
                    <a:pt x="160" y="50"/>
                  </a:moveTo>
                  <a:cubicBezTo>
                    <a:pt x="152" y="50"/>
                    <a:pt x="152" y="50"/>
                    <a:pt x="152" y="50"/>
                  </a:cubicBezTo>
                  <a:cubicBezTo>
                    <a:pt x="152" y="8"/>
                    <a:pt x="152" y="8"/>
                    <a:pt x="152" y="8"/>
                  </a:cubicBezTo>
                  <a:cubicBezTo>
                    <a:pt x="152" y="4"/>
                    <a:pt x="148" y="0"/>
                    <a:pt x="143" y="0"/>
                  </a:cubicBezTo>
                  <a:cubicBezTo>
                    <a:pt x="42" y="0"/>
                    <a:pt x="42" y="0"/>
                    <a:pt x="42" y="0"/>
                  </a:cubicBezTo>
                  <a:cubicBezTo>
                    <a:pt x="38" y="0"/>
                    <a:pt x="34" y="4"/>
                    <a:pt x="34" y="8"/>
                  </a:cubicBezTo>
                  <a:cubicBezTo>
                    <a:pt x="34" y="50"/>
                    <a:pt x="34" y="50"/>
                    <a:pt x="34" y="50"/>
                  </a:cubicBezTo>
                  <a:cubicBezTo>
                    <a:pt x="25" y="50"/>
                    <a:pt x="25" y="50"/>
                    <a:pt x="25" y="50"/>
                  </a:cubicBezTo>
                  <a:cubicBezTo>
                    <a:pt x="11" y="50"/>
                    <a:pt x="0" y="62"/>
                    <a:pt x="0" y="76"/>
                  </a:cubicBezTo>
                  <a:cubicBezTo>
                    <a:pt x="0" y="143"/>
                    <a:pt x="0" y="143"/>
                    <a:pt x="0" y="143"/>
                  </a:cubicBezTo>
                  <a:cubicBezTo>
                    <a:pt x="0" y="157"/>
                    <a:pt x="11" y="169"/>
                    <a:pt x="25" y="169"/>
                  </a:cubicBezTo>
                  <a:cubicBezTo>
                    <a:pt x="34" y="169"/>
                    <a:pt x="34" y="169"/>
                    <a:pt x="34" y="169"/>
                  </a:cubicBezTo>
                  <a:cubicBezTo>
                    <a:pt x="34" y="177"/>
                    <a:pt x="34" y="177"/>
                    <a:pt x="34" y="177"/>
                  </a:cubicBezTo>
                  <a:cubicBezTo>
                    <a:pt x="34" y="182"/>
                    <a:pt x="38" y="185"/>
                    <a:pt x="42" y="185"/>
                  </a:cubicBezTo>
                  <a:cubicBezTo>
                    <a:pt x="143" y="185"/>
                    <a:pt x="143" y="185"/>
                    <a:pt x="143" y="185"/>
                  </a:cubicBezTo>
                  <a:cubicBezTo>
                    <a:pt x="148" y="185"/>
                    <a:pt x="152" y="182"/>
                    <a:pt x="152" y="177"/>
                  </a:cubicBezTo>
                  <a:cubicBezTo>
                    <a:pt x="152" y="169"/>
                    <a:pt x="152" y="169"/>
                    <a:pt x="152" y="169"/>
                  </a:cubicBezTo>
                  <a:cubicBezTo>
                    <a:pt x="160" y="169"/>
                    <a:pt x="160" y="169"/>
                    <a:pt x="160" y="169"/>
                  </a:cubicBezTo>
                  <a:cubicBezTo>
                    <a:pt x="174" y="169"/>
                    <a:pt x="186" y="157"/>
                    <a:pt x="186" y="143"/>
                  </a:cubicBezTo>
                  <a:cubicBezTo>
                    <a:pt x="186" y="76"/>
                    <a:pt x="186" y="76"/>
                    <a:pt x="186" y="76"/>
                  </a:cubicBezTo>
                  <a:cubicBezTo>
                    <a:pt x="186" y="62"/>
                    <a:pt x="174" y="50"/>
                    <a:pt x="160" y="50"/>
                  </a:cubicBezTo>
                  <a:close/>
                  <a:moveTo>
                    <a:pt x="42" y="8"/>
                  </a:moveTo>
                  <a:cubicBezTo>
                    <a:pt x="143" y="8"/>
                    <a:pt x="143" y="8"/>
                    <a:pt x="143" y="8"/>
                  </a:cubicBezTo>
                  <a:cubicBezTo>
                    <a:pt x="143" y="50"/>
                    <a:pt x="143" y="50"/>
                    <a:pt x="143" y="50"/>
                  </a:cubicBezTo>
                  <a:cubicBezTo>
                    <a:pt x="42" y="50"/>
                    <a:pt x="42" y="50"/>
                    <a:pt x="42" y="50"/>
                  </a:cubicBezTo>
                  <a:lnTo>
                    <a:pt x="42" y="8"/>
                  </a:lnTo>
                  <a:close/>
                  <a:moveTo>
                    <a:pt x="143" y="177"/>
                  </a:moveTo>
                  <a:cubicBezTo>
                    <a:pt x="42" y="177"/>
                    <a:pt x="42" y="177"/>
                    <a:pt x="42" y="177"/>
                  </a:cubicBezTo>
                  <a:cubicBezTo>
                    <a:pt x="42" y="126"/>
                    <a:pt x="42" y="126"/>
                    <a:pt x="42" y="126"/>
                  </a:cubicBezTo>
                  <a:cubicBezTo>
                    <a:pt x="143" y="126"/>
                    <a:pt x="143" y="126"/>
                    <a:pt x="143" y="126"/>
                  </a:cubicBezTo>
                  <a:lnTo>
                    <a:pt x="143" y="177"/>
                  </a:lnTo>
                  <a:close/>
                  <a:moveTo>
                    <a:pt x="177" y="143"/>
                  </a:moveTo>
                  <a:cubicBezTo>
                    <a:pt x="177" y="153"/>
                    <a:pt x="170" y="160"/>
                    <a:pt x="160" y="160"/>
                  </a:cubicBezTo>
                  <a:cubicBezTo>
                    <a:pt x="152" y="160"/>
                    <a:pt x="152" y="160"/>
                    <a:pt x="152" y="160"/>
                  </a:cubicBezTo>
                  <a:cubicBezTo>
                    <a:pt x="152" y="126"/>
                    <a:pt x="152" y="126"/>
                    <a:pt x="152" y="126"/>
                  </a:cubicBezTo>
                  <a:cubicBezTo>
                    <a:pt x="152" y="122"/>
                    <a:pt x="148" y="118"/>
                    <a:pt x="143" y="118"/>
                  </a:cubicBezTo>
                  <a:cubicBezTo>
                    <a:pt x="42" y="118"/>
                    <a:pt x="42" y="118"/>
                    <a:pt x="42" y="118"/>
                  </a:cubicBezTo>
                  <a:cubicBezTo>
                    <a:pt x="38" y="118"/>
                    <a:pt x="34" y="122"/>
                    <a:pt x="34" y="126"/>
                  </a:cubicBezTo>
                  <a:cubicBezTo>
                    <a:pt x="34" y="160"/>
                    <a:pt x="34" y="160"/>
                    <a:pt x="34" y="160"/>
                  </a:cubicBezTo>
                  <a:cubicBezTo>
                    <a:pt x="25" y="160"/>
                    <a:pt x="25" y="160"/>
                    <a:pt x="25" y="160"/>
                  </a:cubicBezTo>
                  <a:cubicBezTo>
                    <a:pt x="16" y="160"/>
                    <a:pt x="8" y="153"/>
                    <a:pt x="8" y="143"/>
                  </a:cubicBezTo>
                  <a:cubicBezTo>
                    <a:pt x="8" y="76"/>
                    <a:pt x="8" y="76"/>
                    <a:pt x="8" y="76"/>
                  </a:cubicBezTo>
                  <a:cubicBezTo>
                    <a:pt x="8" y="66"/>
                    <a:pt x="16" y="59"/>
                    <a:pt x="25" y="59"/>
                  </a:cubicBezTo>
                  <a:cubicBezTo>
                    <a:pt x="160" y="59"/>
                    <a:pt x="160" y="59"/>
                    <a:pt x="160" y="59"/>
                  </a:cubicBezTo>
                  <a:cubicBezTo>
                    <a:pt x="170" y="59"/>
                    <a:pt x="177" y="66"/>
                    <a:pt x="177" y="76"/>
                  </a:cubicBezTo>
                  <a:lnTo>
                    <a:pt x="177" y="143"/>
                  </a:lnTo>
                  <a:close/>
                  <a:moveTo>
                    <a:pt x="152" y="76"/>
                  </a:moveTo>
                  <a:cubicBezTo>
                    <a:pt x="147" y="76"/>
                    <a:pt x="143" y="79"/>
                    <a:pt x="143" y="84"/>
                  </a:cubicBezTo>
                  <a:cubicBezTo>
                    <a:pt x="143" y="89"/>
                    <a:pt x="147" y="93"/>
                    <a:pt x="152" y="93"/>
                  </a:cubicBezTo>
                  <a:cubicBezTo>
                    <a:pt x="157" y="93"/>
                    <a:pt x="160" y="89"/>
                    <a:pt x="160" y="84"/>
                  </a:cubicBezTo>
                  <a:cubicBezTo>
                    <a:pt x="160" y="79"/>
                    <a:pt x="157" y="76"/>
                    <a:pt x="152" y="76"/>
                  </a:cubicBezTo>
                  <a:close/>
                  <a:moveTo>
                    <a:pt x="127" y="76"/>
                  </a:moveTo>
                  <a:cubicBezTo>
                    <a:pt x="122" y="76"/>
                    <a:pt x="118" y="79"/>
                    <a:pt x="118" y="84"/>
                  </a:cubicBezTo>
                  <a:cubicBezTo>
                    <a:pt x="118" y="89"/>
                    <a:pt x="122" y="93"/>
                    <a:pt x="127" y="93"/>
                  </a:cubicBezTo>
                  <a:cubicBezTo>
                    <a:pt x="131" y="93"/>
                    <a:pt x="135" y="89"/>
                    <a:pt x="135" y="84"/>
                  </a:cubicBezTo>
                  <a:cubicBezTo>
                    <a:pt x="135" y="79"/>
                    <a:pt x="131" y="76"/>
                    <a:pt x="127" y="76"/>
                  </a:cubicBezTo>
                  <a:close/>
                </a:path>
              </a:pathLst>
            </a:custGeom>
            <a:solidFill>
              <a:schemeClr val="accent1">
                <a:lumMod val="50000"/>
              </a:schemeClr>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1" name="文本框 20"/>
            <p:cNvSpPr txBox="1"/>
            <p:nvPr/>
          </p:nvSpPr>
          <p:spPr>
            <a:xfrm>
              <a:off x="6008313" y="1833678"/>
              <a:ext cx="2762885" cy="398780"/>
            </a:xfrm>
            <a:prstGeom prst="rect">
              <a:avLst/>
            </a:prstGeom>
            <a:noFill/>
          </p:spPr>
          <p:txBody>
            <a:bodyPr wrap="square" rtlCol="0">
              <a:spAutoFit/>
            </a:bodyPr>
            <a:lstStyle/>
            <a:p>
              <a:r>
                <a:rPr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EA</a:t>
              </a:r>
              <a:r>
                <a:rPr lang="en-US"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I</a:t>
              </a:r>
              <a:r>
                <a:rPr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接口时序</a:t>
              </a:r>
              <a:endParaRPr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2" name="文本框 21"/>
            <p:cNvSpPr txBox="1"/>
            <p:nvPr/>
          </p:nvSpPr>
          <p:spPr>
            <a:xfrm>
              <a:off x="9420767" y="3866899"/>
              <a:ext cx="2345997" cy="398780"/>
            </a:xfrm>
            <a:prstGeom prst="rect">
              <a:avLst/>
            </a:prstGeom>
            <a:noFill/>
          </p:spPr>
          <p:txBody>
            <a:bodyPr wrap="square" rtlCol="0">
              <a:spAutoFit/>
            </a:bodyPr>
            <a:lstStyle/>
            <a:p>
              <a:endParaRPr lang="zh-CN" altLang="en-US"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4" name="文本框 23"/>
            <p:cNvSpPr txBox="1"/>
            <p:nvPr/>
          </p:nvSpPr>
          <p:spPr>
            <a:xfrm>
              <a:off x="5836418" y="3881999"/>
              <a:ext cx="2345997" cy="398780"/>
            </a:xfrm>
            <a:prstGeom prst="rect">
              <a:avLst/>
            </a:prstGeom>
            <a:noFill/>
          </p:spPr>
          <p:txBody>
            <a:bodyPr wrap="square" rtlCol="0">
              <a:spAutoFit/>
            </a:bodyPr>
            <a:lstStyle/>
            <a:p>
              <a:endParaRPr lang="zh-CN" altLang="en-US"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5" name="矩形 24"/>
            <p:cNvSpPr/>
            <p:nvPr/>
          </p:nvSpPr>
          <p:spPr>
            <a:xfrm>
              <a:off x="5471103" y="2436928"/>
              <a:ext cx="5937885" cy="1706880"/>
            </a:xfrm>
            <a:prstGeom prst="rect">
              <a:avLst/>
            </a:prstGeom>
          </p:spPr>
          <p:txBody>
            <a:bodyPr wrap="square">
              <a:spAutoFit/>
            </a:bodyPr>
            <a:lstStyle/>
            <a:p>
              <a:pPr>
                <a:lnSpc>
                  <a:spcPct val="150000"/>
                </a:lnSpc>
              </a:pPr>
              <a:r>
                <a:rPr 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EAI</a:t>
              </a:r>
              <a:r>
                <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接口的</a:t>
              </a:r>
              <a:r>
                <a:rPr lang="en-US" altLang="zh-CN"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7</a:t>
              </a:r>
              <a:r>
                <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个经典时序：</a:t>
              </a:r>
              <a:endPar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a:p>
              <a:pPr>
                <a:lnSpc>
                  <a:spcPct val="150000"/>
                </a:lnSpc>
              </a:pPr>
              <a:r>
                <a:rPr lang="en-US" altLang="zh-CN"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·主处理器向协处理器通过EAI的</a:t>
              </a:r>
              <a:r>
                <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请求通道</a:t>
              </a:r>
              <a:r>
                <a:rPr lang="en-US" altLang="zh-CN"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派发指令，协处理器在同一个周期即返回结果</a:t>
              </a:r>
              <a:endParaRPr lang="en-US" altLang="zh-CN"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a:p>
              <a:pPr>
                <a:lnSpc>
                  <a:spcPct val="150000"/>
                </a:lnSpc>
              </a:pPr>
              <a:endParaRPr lang="en-US" altLang="zh-CN"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a:p>
              <a:pPr>
                <a:lnSpc>
                  <a:spcPct val="150000"/>
                </a:lnSpc>
              </a:pPr>
              <a:endParaRPr lang="en-US" altLang="zh-CN" sz="1400" b="1"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8" name="矩形 27"/>
            <p:cNvSpPr/>
            <p:nvPr/>
          </p:nvSpPr>
          <p:spPr>
            <a:xfrm>
              <a:off x="8880909" y="2313097"/>
              <a:ext cx="2527814" cy="414020"/>
            </a:xfrm>
            <a:prstGeom prst="rect">
              <a:avLst/>
            </a:prstGeom>
          </p:spPr>
          <p:txBody>
            <a:bodyPr wrap="square">
              <a:spAutoFit/>
            </a:bodyPr>
            <a:lstStyle/>
            <a:p>
              <a:pPr>
                <a:lnSpc>
                  <a:spcPct val="150000"/>
                </a:lnSpc>
              </a:pPr>
              <a:endPar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grpSp>
      <p:pic>
        <p:nvPicPr>
          <p:cNvPr id="18" name="图片 17"/>
          <p:cNvPicPr>
            <a:picLocks noChangeAspect="1"/>
          </p:cNvPicPr>
          <p:nvPr/>
        </p:nvPicPr>
        <p:blipFill>
          <a:blip r:embed="rId3"/>
          <a:stretch>
            <a:fillRect/>
          </a:stretch>
        </p:blipFill>
        <p:spPr>
          <a:xfrm>
            <a:off x="5406390" y="2917825"/>
            <a:ext cx="6295390" cy="3315970"/>
          </a:xfrm>
          <a:prstGeom prst="rect">
            <a:avLst/>
          </a:prstGeom>
        </p:spPr>
      </p:pic>
      <p:sp>
        <p:nvSpPr>
          <p:cNvPr id="19" name="文本框 18"/>
          <p:cNvSpPr txBox="1"/>
          <p:nvPr/>
        </p:nvSpPr>
        <p:spPr>
          <a:xfrm>
            <a:off x="926465" y="97280"/>
            <a:ext cx="2320925" cy="829945"/>
          </a:xfrm>
          <a:prstGeom prst="rect">
            <a:avLst/>
          </a:prstGeom>
          <a:noFill/>
        </p:spPr>
        <p:txBody>
          <a:bodyPr wrap="square" rtlCol="0">
            <a:spAutoFit/>
          </a:bodyPr>
          <a:lstStyle/>
          <a:p>
            <a:pPr algn="ctr"/>
            <a:r>
              <a:rPr lang="zh-CN" altLang="en-US" sz="24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rPr>
              <a:t>蜂鸟E200的协处理器接口EA</a:t>
            </a:r>
            <a:r>
              <a:rPr lang="en-US" altLang="zh-CN" sz="24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rPr>
              <a:t>I</a:t>
            </a:r>
            <a:endParaRPr lang="en-US" altLang="zh-CN" sz="2400" b="1" spc="6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192752"/>
            <a:ext cx="12181840" cy="375920"/>
            <a:chOff x="0" y="294640"/>
            <a:chExt cx="12181840" cy="375920"/>
          </a:xfrm>
        </p:grpSpPr>
        <p:grpSp>
          <p:nvGrpSpPr>
            <p:cNvPr id="3" name="组合 2"/>
            <p:cNvGrpSpPr/>
            <p:nvPr/>
          </p:nvGrpSpPr>
          <p:grpSpPr>
            <a:xfrm>
              <a:off x="0" y="294640"/>
              <a:ext cx="880552" cy="375920"/>
              <a:chOff x="0" y="294640"/>
              <a:chExt cx="1094740" cy="467360"/>
            </a:xfrm>
            <a:solidFill>
              <a:srgbClr val="EE8A10"/>
            </a:solidFill>
          </p:grpSpPr>
          <p:sp>
            <p:nvSpPr>
              <p:cNvPr id="12"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3356076" y="408709"/>
              <a:ext cx="1749361" cy="147782"/>
              <a:chOff x="635462" y="775854"/>
              <a:chExt cx="1749361" cy="147782"/>
            </a:xfrm>
            <a:solidFill>
              <a:srgbClr val="EE8A10"/>
            </a:solidFill>
          </p:grpSpPr>
          <p:sp>
            <p:nvSpPr>
              <p:cNvPr id="7" name="椭圆 6"/>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6" name="直接连接符 5"/>
            <p:cNvCxnSpPr/>
            <p:nvPr/>
          </p:nvCxnSpPr>
          <p:spPr>
            <a:xfrm>
              <a:off x="5212080" y="477520"/>
              <a:ext cx="6969760"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880688" y="1146608"/>
            <a:ext cx="10840356" cy="3960714"/>
            <a:chOff x="926408" y="1820978"/>
            <a:chExt cx="10840356" cy="3960714"/>
          </a:xfrm>
        </p:grpSpPr>
        <p:grpSp>
          <p:nvGrpSpPr>
            <p:cNvPr id="16" name="组合 15"/>
            <p:cNvGrpSpPr/>
            <p:nvPr/>
          </p:nvGrpSpPr>
          <p:grpSpPr>
            <a:xfrm>
              <a:off x="926408" y="1820978"/>
              <a:ext cx="3935614" cy="3960714"/>
              <a:chOff x="4369714" y="1686560"/>
              <a:chExt cx="3472891" cy="3495040"/>
            </a:xfrm>
          </p:grpSpPr>
          <p:grpSp>
            <p:nvGrpSpPr>
              <p:cNvPr id="29" name="组合 28"/>
              <p:cNvGrpSpPr/>
              <p:nvPr/>
            </p:nvGrpSpPr>
            <p:grpSpPr>
              <a:xfrm>
                <a:off x="4369714" y="1686560"/>
                <a:ext cx="3472891" cy="3495040"/>
                <a:chOff x="1849120" y="1498600"/>
                <a:chExt cx="3982720" cy="4008120"/>
              </a:xfrm>
            </p:grpSpPr>
            <p:sp>
              <p:nvSpPr>
                <p:cNvPr id="31" name="矩形 30"/>
                <p:cNvSpPr/>
                <p:nvPr/>
              </p:nvSpPr>
              <p:spPr>
                <a:xfrm>
                  <a:off x="1849120" y="1498600"/>
                  <a:ext cx="1930400" cy="1930400"/>
                </a:xfrm>
                <a:prstGeom prst="rect">
                  <a:avLst/>
                </a:prstGeom>
                <a:blipFill dpi="0" rotWithShape="1">
                  <a:blip r:embed="rId1"/>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32" name="矩形 31"/>
                <p:cNvSpPr/>
                <p:nvPr/>
              </p:nvSpPr>
              <p:spPr>
                <a:xfrm>
                  <a:off x="3901440" y="3576320"/>
                  <a:ext cx="1930400" cy="1930400"/>
                </a:xfrm>
                <a:prstGeom prst="rect">
                  <a:avLst/>
                </a:prstGeom>
                <a:blipFill dpi="0" rotWithShape="1">
                  <a:blip r:embed="rId1"/>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33" name="矩形 32"/>
                <p:cNvSpPr/>
                <p:nvPr/>
              </p:nvSpPr>
              <p:spPr>
                <a:xfrm>
                  <a:off x="1849120" y="3576320"/>
                  <a:ext cx="1930400" cy="1930400"/>
                </a:xfrm>
                <a:prstGeom prst="rect">
                  <a:avLst/>
                </a:prstGeom>
                <a:blipFill dpi="0" rotWithShape="1">
                  <a:blip r:embed="rId2"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34" name="矩形 33"/>
                <p:cNvSpPr/>
                <p:nvPr/>
              </p:nvSpPr>
              <p:spPr>
                <a:xfrm>
                  <a:off x="3901440" y="1498600"/>
                  <a:ext cx="1930400" cy="1930400"/>
                </a:xfrm>
                <a:prstGeom prst="rect">
                  <a:avLst/>
                </a:prstGeom>
                <a:blipFill dpi="0" rotWithShape="1">
                  <a:blip r:embed="rId2"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grpSp>
          <p:sp>
            <p:nvSpPr>
              <p:cNvPr id="30" name="矩形 29"/>
              <p:cNvSpPr/>
              <p:nvPr/>
            </p:nvSpPr>
            <p:spPr>
              <a:xfrm>
                <a:off x="5264689" y="2595880"/>
                <a:ext cx="1676400" cy="1676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EA</a:t>
                </a:r>
                <a:r>
                  <a:rPr lang="en-US"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I</a:t>
                </a:r>
                <a:r>
                  <a:rPr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接口时序</a:t>
                </a:r>
                <a:endParaRPr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grpSp>
        <p:sp>
          <p:nvSpPr>
            <p:cNvPr id="17" name="îṥļîḑé-Freeform: Shape 15"/>
            <p:cNvSpPr/>
            <p:nvPr/>
          </p:nvSpPr>
          <p:spPr bwMode="auto">
            <a:xfrm>
              <a:off x="5470877" y="1820978"/>
              <a:ext cx="427524" cy="426261"/>
            </a:xfrm>
            <a:custGeom>
              <a:avLst/>
              <a:gdLst>
                <a:gd name="T0" fmla="*/ 122 w 186"/>
                <a:gd name="T1" fmla="*/ 160 h 185"/>
                <a:gd name="T2" fmla="*/ 122 w 186"/>
                <a:gd name="T3" fmla="*/ 152 h 185"/>
                <a:gd name="T4" fmla="*/ 59 w 186"/>
                <a:gd name="T5" fmla="*/ 156 h 185"/>
                <a:gd name="T6" fmla="*/ 63 w 186"/>
                <a:gd name="T7" fmla="*/ 143 h 185"/>
                <a:gd name="T8" fmla="*/ 110 w 186"/>
                <a:gd name="T9" fmla="*/ 139 h 185"/>
                <a:gd name="T10" fmla="*/ 63 w 186"/>
                <a:gd name="T11" fmla="*/ 135 h 185"/>
                <a:gd name="T12" fmla="*/ 63 w 186"/>
                <a:gd name="T13" fmla="*/ 143 h 185"/>
                <a:gd name="T14" fmla="*/ 152 w 186"/>
                <a:gd name="T15" fmla="*/ 50 h 185"/>
                <a:gd name="T16" fmla="*/ 143 w 186"/>
                <a:gd name="T17" fmla="*/ 0 h 185"/>
                <a:gd name="T18" fmla="*/ 34 w 186"/>
                <a:gd name="T19" fmla="*/ 8 h 185"/>
                <a:gd name="T20" fmla="*/ 25 w 186"/>
                <a:gd name="T21" fmla="*/ 50 h 185"/>
                <a:gd name="T22" fmla="*/ 0 w 186"/>
                <a:gd name="T23" fmla="*/ 143 h 185"/>
                <a:gd name="T24" fmla="*/ 34 w 186"/>
                <a:gd name="T25" fmla="*/ 169 h 185"/>
                <a:gd name="T26" fmla="*/ 42 w 186"/>
                <a:gd name="T27" fmla="*/ 185 h 185"/>
                <a:gd name="T28" fmla="*/ 152 w 186"/>
                <a:gd name="T29" fmla="*/ 177 h 185"/>
                <a:gd name="T30" fmla="*/ 160 w 186"/>
                <a:gd name="T31" fmla="*/ 169 h 185"/>
                <a:gd name="T32" fmla="*/ 186 w 186"/>
                <a:gd name="T33" fmla="*/ 76 h 185"/>
                <a:gd name="T34" fmla="*/ 42 w 186"/>
                <a:gd name="T35" fmla="*/ 8 h 185"/>
                <a:gd name="T36" fmla="*/ 143 w 186"/>
                <a:gd name="T37" fmla="*/ 50 h 185"/>
                <a:gd name="T38" fmla="*/ 42 w 186"/>
                <a:gd name="T39" fmla="*/ 8 h 185"/>
                <a:gd name="T40" fmla="*/ 42 w 186"/>
                <a:gd name="T41" fmla="*/ 177 h 185"/>
                <a:gd name="T42" fmla="*/ 143 w 186"/>
                <a:gd name="T43" fmla="*/ 126 h 185"/>
                <a:gd name="T44" fmla="*/ 177 w 186"/>
                <a:gd name="T45" fmla="*/ 143 h 185"/>
                <a:gd name="T46" fmla="*/ 152 w 186"/>
                <a:gd name="T47" fmla="*/ 160 h 185"/>
                <a:gd name="T48" fmla="*/ 143 w 186"/>
                <a:gd name="T49" fmla="*/ 118 h 185"/>
                <a:gd name="T50" fmla="*/ 34 w 186"/>
                <a:gd name="T51" fmla="*/ 126 h 185"/>
                <a:gd name="T52" fmla="*/ 25 w 186"/>
                <a:gd name="T53" fmla="*/ 160 h 185"/>
                <a:gd name="T54" fmla="*/ 8 w 186"/>
                <a:gd name="T55" fmla="*/ 76 h 185"/>
                <a:gd name="T56" fmla="*/ 160 w 186"/>
                <a:gd name="T57" fmla="*/ 59 h 185"/>
                <a:gd name="T58" fmla="*/ 177 w 186"/>
                <a:gd name="T59" fmla="*/ 143 h 185"/>
                <a:gd name="T60" fmla="*/ 143 w 186"/>
                <a:gd name="T61" fmla="*/ 84 h 185"/>
                <a:gd name="T62" fmla="*/ 160 w 186"/>
                <a:gd name="T63" fmla="*/ 84 h 185"/>
                <a:gd name="T64" fmla="*/ 127 w 186"/>
                <a:gd name="T65" fmla="*/ 76 h 185"/>
                <a:gd name="T66" fmla="*/ 127 w 186"/>
                <a:gd name="T67" fmla="*/ 93 h 185"/>
                <a:gd name="T68" fmla="*/ 127 w 186"/>
                <a:gd name="T69" fmla="*/ 76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6" h="185">
                  <a:moveTo>
                    <a:pt x="63" y="160"/>
                  </a:moveTo>
                  <a:cubicBezTo>
                    <a:pt x="122" y="160"/>
                    <a:pt x="122" y="160"/>
                    <a:pt x="122" y="160"/>
                  </a:cubicBezTo>
                  <a:cubicBezTo>
                    <a:pt x="125" y="160"/>
                    <a:pt x="127" y="158"/>
                    <a:pt x="127" y="156"/>
                  </a:cubicBezTo>
                  <a:cubicBezTo>
                    <a:pt x="127" y="154"/>
                    <a:pt x="125" y="152"/>
                    <a:pt x="122" y="152"/>
                  </a:cubicBezTo>
                  <a:cubicBezTo>
                    <a:pt x="63" y="152"/>
                    <a:pt x="63" y="152"/>
                    <a:pt x="63" y="152"/>
                  </a:cubicBezTo>
                  <a:cubicBezTo>
                    <a:pt x="61" y="152"/>
                    <a:pt x="59" y="154"/>
                    <a:pt x="59" y="156"/>
                  </a:cubicBezTo>
                  <a:cubicBezTo>
                    <a:pt x="59" y="158"/>
                    <a:pt x="61" y="160"/>
                    <a:pt x="63" y="160"/>
                  </a:cubicBezTo>
                  <a:close/>
                  <a:moveTo>
                    <a:pt x="63" y="143"/>
                  </a:moveTo>
                  <a:cubicBezTo>
                    <a:pt x="106" y="143"/>
                    <a:pt x="106" y="143"/>
                    <a:pt x="106" y="143"/>
                  </a:cubicBezTo>
                  <a:cubicBezTo>
                    <a:pt x="108" y="143"/>
                    <a:pt x="110" y="141"/>
                    <a:pt x="110" y="139"/>
                  </a:cubicBezTo>
                  <a:cubicBezTo>
                    <a:pt x="110" y="137"/>
                    <a:pt x="108" y="135"/>
                    <a:pt x="106" y="135"/>
                  </a:cubicBezTo>
                  <a:cubicBezTo>
                    <a:pt x="63" y="135"/>
                    <a:pt x="63" y="135"/>
                    <a:pt x="63" y="135"/>
                  </a:cubicBezTo>
                  <a:cubicBezTo>
                    <a:pt x="61" y="135"/>
                    <a:pt x="59" y="137"/>
                    <a:pt x="59" y="139"/>
                  </a:cubicBezTo>
                  <a:cubicBezTo>
                    <a:pt x="59" y="141"/>
                    <a:pt x="61" y="143"/>
                    <a:pt x="63" y="143"/>
                  </a:cubicBezTo>
                  <a:close/>
                  <a:moveTo>
                    <a:pt x="160" y="50"/>
                  </a:moveTo>
                  <a:cubicBezTo>
                    <a:pt x="152" y="50"/>
                    <a:pt x="152" y="50"/>
                    <a:pt x="152" y="50"/>
                  </a:cubicBezTo>
                  <a:cubicBezTo>
                    <a:pt x="152" y="8"/>
                    <a:pt x="152" y="8"/>
                    <a:pt x="152" y="8"/>
                  </a:cubicBezTo>
                  <a:cubicBezTo>
                    <a:pt x="152" y="4"/>
                    <a:pt x="148" y="0"/>
                    <a:pt x="143" y="0"/>
                  </a:cubicBezTo>
                  <a:cubicBezTo>
                    <a:pt x="42" y="0"/>
                    <a:pt x="42" y="0"/>
                    <a:pt x="42" y="0"/>
                  </a:cubicBezTo>
                  <a:cubicBezTo>
                    <a:pt x="38" y="0"/>
                    <a:pt x="34" y="4"/>
                    <a:pt x="34" y="8"/>
                  </a:cubicBezTo>
                  <a:cubicBezTo>
                    <a:pt x="34" y="50"/>
                    <a:pt x="34" y="50"/>
                    <a:pt x="34" y="50"/>
                  </a:cubicBezTo>
                  <a:cubicBezTo>
                    <a:pt x="25" y="50"/>
                    <a:pt x="25" y="50"/>
                    <a:pt x="25" y="50"/>
                  </a:cubicBezTo>
                  <a:cubicBezTo>
                    <a:pt x="11" y="50"/>
                    <a:pt x="0" y="62"/>
                    <a:pt x="0" y="76"/>
                  </a:cubicBezTo>
                  <a:cubicBezTo>
                    <a:pt x="0" y="143"/>
                    <a:pt x="0" y="143"/>
                    <a:pt x="0" y="143"/>
                  </a:cubicBezTo>
                  <a:cubicBezTo>
                    <a:pt x="0" y="157"/>
                    <a:pt x="11" y="169"/>
                    <a:pt x="25" y="169"/>
                  </a:cubicBezTo>
                  <a:cubicBezTo>
                    <a:pt x="34" y="169"/>
                    <a:pt x="34" y="169"/>
                    <a:pt x="34" y="169"/>
                  </a:cubicBezTo>
                  <a:cubicBezTo>
                    <a:pt x="34" y="177"/>
                    <a:pt x="34" y="177"/>
                    <a:pt x="34" y="177"/>
                  </a:cubicBezTo>
                  <a:cubicBezTo>
                    <a:pt x="34" y="182"/>
                    <a:pt x="38" y="185"/>
                    <a:pt x="42" y="185"/>
                  </a:cubicBezTo>
                  <a:cubicBezTo>
                    <a:pt x="143" y="185"/>
                    <a:pt x="143" y="185"/>
                    <a:pt x="143" y="185"/>
                  </a:cubicBezTo>
                  <a:cubicBezTo>
                    <a:pt x="148" y="185"/>
                    <a:pt x="152" y="182"/>
                    <a:pt x="152" y="177"/>
                  </a:cubicBezTo>
                  <a:cubicBezTo>
                    <a:pt x="152" y="169"/>
                    <a:pt x="152" y="169"/>
                    <a:pt x="152" y="169"/>
                  </a:cubicBezTo>
                  <a:cubicBezTo>
                    <a:pt x="160" y="169"/>
                    <a:pt x="160" y="169"/>
                    <a:pt x="160" y="169"/>
                  </a:cubicBezTo>
                  <a:cubicBezTo>
                    <a:pt x="174" y="169"/>
                    <a:pt x="186" y="157"/>
                    <a:pt x="186" y="143"/>
                  </a:cubicBezTo>
                  <a:cubicBezTo>
                    <a:pt x="186" y="76"/>
                    <a:pt x="186" y="76"/>
                    <a:pt x="186" y="76"/>
                  </a:cubicBezTo>
                  <a:cubicBezTo>
                    <a:pt x="186" y="62"/>
                    <a:pt x="174" y="50"/>
                    <a:pt x="160" y="50"/>
                  </a:cubicBezTo>
                  <a:close/>
                  <a:moveTo>
                    <a:pt x="42" y="8"/>
                  </a:moveTo>
                  <a:cubicBezTo>
                    <a:pt x="143" y="8"/>
                    <a:pt x="143" y="8"/>
                    <a:pt x="143" y="8"/>
                  </a:cubicBezTo>
                  <a:cubicBezTo>
                    <a:pt x="143" y="50"/>
                    <a:pt x="143" y="50"/>
                    <a:pt x="143" y="50"/>
                  </a:cubicBezTo>
                  <a:cubicBezTo>
                    <a:pt x="42" y="50"/>
                    <a:pt x="42" y="50"/>
                    <a:pt x="42" y="50"/>
                  </a:cubicBezTo>
                  <a:lnTo>
                    <a:pt x="42" y="8"/>
                  </a:lnTo>
                  <a:close/>
                  <a:moveTo>
                    <a:pt x="143" y="177"/>
                  </a:moveTo>
                  <a:cubicBezTo>
                    <a:pt x="42" y="177"/>
                    <a:pt x="42" y="177"/>
                    <a:pt x="42" y="177"/>
                  </a:cubicBezTo>
                  <a:cubicBezTo>
                    <a:pt x="42" y="126"/>
                    <a:pt x="42" y="126"/>
                    <a:pt x="42" y="126"/>
                  </a:cubicBezTo>
                  <a:cubicBezTo>
                    <a:pt x="143" y="126"/>
                    <a:pt x="143" y="126"/>
                    <a:pt x="143" y="126"/>
                  </a:cubicBezTo>
                  <a:lnTo>
                    <a:pt x="143" y="177"/>
                  </a:lnTo>
                  <a:close/>
                  <a:moveTo>
                    <a:pt x="177" y="143"/>
                  </a:moveTo>
                  <a:cubicBezTo>
                    <a:pt x="177" y="153"/>
                    <a:pt x="170" y="160"/>
                    <a:pt x="160" y="160"/>
                  </a:cubicBezTo>
                  <a:cubicBezTo>
                    <a:pt x="152" y="160"/>
                    <a:pt x="152" y="160"/>
                    <a:pt x="152" y="160"/>
                  </a:cubicBezTo>
                  <a:cubicBezTo>
                    <a:pt x="152" y="126"/>
                    <a:pt x="152" y="126"/>
                    <a:pt x="152" y="126"/>
                  </a:cubicBezTo>
                  <a:cubicBezTo>
                    <a:pt x="152" y="122"/>
                    <a:pt x="148" y="118"/>
                    <a:pt x="143" y="118"/>
                  </a:cubicBezTo>
                  <a:cubicBezTo>
                    <a:pt x="42" y="118"/>
                    <a:pt x="42" y="118"/>
                    <a:pt x="42" y="118"/>
                  </a:cubicBezTo>
                  <a:cubicBezTo>
                    <a:pt x="38" y="118"/>
                    <a:pt x="34" y="122"/>
                    <a:pt x="34" y="126"/>
                  </a:cubicBezTo>
                  <a:cubicBezTo>
                    <a:pt x="34" y="160"/>
                    <a:pt x="34" y="160"/>
                    <a:pt x="34" y="160"/>
                  </a:cubicBezTo>
                  <a:cubicBezTo>
                    <a:pt x="25" y="160"/>
                    <a:pt x="25" y="160"/>
                    <a:pt x="25" y="160"/>
                  </a:cubicBezTo>
                  <a:cubicBezTo>
                    <a:pt x="16" y="160"/>
                    <a:pt x="8" y="153"/>
                    <a:pt x="8" y="143"/>
                  </a:cubicBezTo>
                  <a:cubicBezTo>
                    <a:pt x="8" y="76"/>
                    <a:pt x="8" y="76"/>
                    <a:pt x="8" y="76"/>
                  </a:cubicBezTo>
                  <a:cubicBezTo>
                    <a:pt x="8" y="66"/>
                    <a:pt x="16" y="59"/>
                    <a:pt x="25" y="59"/>
                  </a:cubicBezTo>
                  <a:cubicBezTo>
                    <a:pt x="160" y="59"/>
                    <a:pt x="160" y="59"/>
                    <a:pt x="160" y="59"/>
                  </a:cubicBezTo>
                  <a:cubicBezTo>
                    <a:pt x="170" y="59"/>
                    <a:pt x="177" y="66"/>
                    <a:pt x="177" y="76"/>
                  </a:cubicBezTo>
                  <a:lnTo>
                    <a:pt x="177" y="143"/>
                  </a:lnTo>
                  <a:close/>
                  <a:moveTo>
                    <a:pt x="152" y="76"/>
                  </a:moveTo>
                  <a:cubicBezTo>
                    <a:pt x="147" y="76"/>
                    <a:pt x="143" y="79"/>
                    <a:pt x="143" y="84"/>
                  </a:cubicBezTo>
                  <a:cubicBezTo>
                    <a:pt x="143" y="89"/>
                    <a:pt x="147" y="93"/>
                    <a:pt x="152" y="93"/>
                  </a:cubicBezTo>
                  <a:cubicBezTo>
                    <a:pt x="157" y="93"/>
                    <a:pt x="160" y="89"/>
                    <a:pt x="160" y="84"/>
                  </a:cubicBezTo>
                  <a:cubicBezTo>
                    <a:pt x="160" y="79"/>
                    <a:pt x="157" y="76"/>
                    <a:pt x="152" y="76"/>
                  </a:cubicBezTo>
                  <a:close/>
                  <a:moveTo>
                    <a:pt x="127" y="76"/>
                  </a:moveTo>
                  <a:cubicBezTo>
                    <a:pt x="122" y="76"/>
                    <a:pt x="118" y="79"/>
                    <a:pt x="118" y="84"/>
                  </a:cubicBezTo>
                  <a:cubicBezTo>
                    <a:pt x="118" y="89"/>
                    <a:pt x="122" y="93"/>
                    <a:pt x="127" y="93"/>
                  </a:cubicBezTo>
                  <a:cubicBezTo>
                    <a:pt x="131" y="93"/>
                    <a:pt x="135" y="89"/>
                    <a:pt x="135" y="84"/>
                  </a:cubicBezTo>
                  <a:cubicBezTo>
                    <a:pt x="135" y="79"/>
                    <a:pt x="131" y="76"/>
                    <a:pt x="127" y="76"/>
                  </a:cubicBezTo>
                  <a:close/>
                </a:path>
              </a:pathLst>
            </a:custGeom>
            <a:solidFill>
              <a:schemeClr val="accent1">
                <a:lumMod val="50000"/>
              </a:schemeClr>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1" name="文本框 20"/>
            <p:cNvSpPr txBox="1"/>
            <p:nvPr/>
          </p:nvSpPr>
          <p:spPr>
            <a:xfrm>
              <a:off x="6008313" y="1833678"/>
              <a:ext cx="2762885" cy="398780"/>
            </a:xfrm>
            <a:prstGeom prst="rect">
              <a:avLst/>
            </a:prstGeom>
            <a:noFill/>
          </p:spPr>
          <p:txBody>
            <a:bodyPr wrap="square" rtlCol="0">
              <a:spAutoFit/>
            </a:bodyPr>
            <a:lstStyle/>
            <a:p>
              <a:r>
                <a:rPr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EA</a:t>
              </a:r>
              <a:r>
                <a:rPr lang="en-US"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I</a:t>
              </a:r>
              <a:r>
                <a:rPr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接口时序</a:t>
              </a:r>
              <a:endParaRPr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2" name="文本框 21"/>
            <p:cNvSpPr txBox="1"/>
            <p:nvPr/>
          </p:nvSpPr>
          <p:spPr>
            <a:xfrm>
              <a:off x="9420767" y="3866899"/>
              <a:ext cx="2345997" cy="398780"/>
            </a:xfrm>
            <a:prstGeom prst="rect">
              <a:avLst/>
            </a:prstGeom>
            <a:noFill/>
          </p:spPr>
          <p:txBody>
            <a:bodyPr wrap="square" rtlCol="0">
              <a:spAutoFit/>
            </a:bodyPr>
            <a:lstStyle/>
            <a:p>
              <a:endParaRPr lang="zh-CN" altLang="en-US"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4" name="文本框 23"/>
            <p:cNvSpPr txBox="1"/>
            <p:nvPr/>
          </p:nvSpPr>
          <p:spPr>
            <a:xfrm>
              <a:off x="5836418" y="3881999"/>
              <a:ext cx="2345997" cy="398780"/>
            </a:xfrm>
            <a:prstGeom prst="rect">
              <a:avLst/>
            </a:prstGeom>
            <a:noFill/>
          </p:spPr>
          <p:txBody>
            <a:bodyPr wrap="square" rtlCol="0">
              <a:spAutoFit/>
            </a:bodyPr>
            <a:lstStyle/>
            <a:p>
              <a:endParaRPr lang="zh-CN" altLang="en-US"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5" name="矩形 24"/>
            <p:cNvSpPr/>
            <p:nvPr/>
          </p:nvSpPr>
          <p:spPr>
            <a:xfrm>
              <a:off x="5471103" y="2436928"/>
              <a:ext cx="5937885" cy="1383665"/>
            </a:xfrm>
            <a:prstGeom prst="rect">
              <a:avLst/>
            </a:prstGeom>
          </p:spPr>
          <p:txBody>
            <a:bodyPr wrap="square">
              <a:spAutoFit/>
            </a:bodyPr>
            <a:lstStyle/>
            <a:p>
              <a:pPr>
                <a:lnSpc>
                  <a:spcPct val="150000"/>
                </a:lnSpc>
              </a:pPr>
              <a:r>
                <a:rPr 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EAI</a:t>
              </a:r>
              <a:r>
                <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接口的</a:t>
              </a:r>
              <a:r>
                <a:rPr lang="en-US" altLang="zh-CN"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7</a:t>
              </a:r>
              <a:r>
                <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个经典时序：</a:t>
              </a:r>
              <a:endPar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a:p>
              <a:pPr>
                <a:lnSpc>
                  <a:spcPct val="150000"/>
                </a:lnSpc>
              </a:pPr>
              <a:r>
                <a:rPr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·主处理器向协处理器通过EAI的请求通道派发指令，协处理器需要多个周期才能返回结果，且协处理器是阻塞式的，因此其不能接受新的指令</a:t>
              </a:r>
              <a:endParaRPr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a:p>
              <a:pPr>
                <a:lnSpc>
                  <a:spcPct val="150000"/>
                </a:lnSpc>
              </a:pPr>
              <a:endParaRPr lang="en-US" altLang="zh-CN" sz="1400" b="1"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8" name="矩形 27"/>
            <p:cNvSpPr/>
            <p:nvPr/>
          </p:nvSpPr>
          <p:spPr>
            <a:xfrm>
              <a:off x="8880909" y="2313097"/>
              <a:ext cx="2527814" cy="414020"/>
            </a:xfrm>
            <a:prstGeom prst="rect">
              <a:avLst/>
            </a:prstGeom>
          </p:spPr>
          <p:txBody>
            <a:bodyPr wrap="square">
              <a:spAutoFit/>
            </a:bodyPr>
            <a:lstStyle/>
            <a:p>
              <a:pPr>
                <a:lnSpc>
                  <a:spcPct val="150000"/>
                </a:lnSpc>
              </a:pPr>
              <a:endPar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grpSp>
      <p:pic>
        <p:nvPicPr>
          <p:cNvPr id="19" name="图片 18"/>
          <p:cNvPicPr>
            <a:picLocks noChangeAspect="1"/>
          </p:cNvPicPr>
          <p:nvPr/>
        </p:nvPicPr>
        <p:blipFill>
          <a:blip r:embed="rId3"/>
          <a:stretch>
            <a:fillRect/>
          </a:stretch>
        </p:blipFill>
        <p:spPr>
          <a:xfrm>
            <a:off x="5424805" y="3054350"/>
            <a:ext cx="5938520" cy="2937510"/>
          </a:xfrm>
          <a:prstGeom prst="rect">
            <a:avLst/>
          </a:prstGeom>
        </p:spPr>
      </p:pic>
      <p:sp>
        <p:nvSpPr>
          <p:cNvPr id="20" name="文本框 19"/>
          <p:cNvSpPr txBox="1"/>
          <p:nvPr/>
        </p:nvSpPr>
        <p:spPr>
          <a:xfrm>
            <a:off x="926465" y="97280"/>
            <a:ext cx="2320925" cy="829945"/>
          </a:xfrm>
          <a:prstGeom prst="rect">
            <a:avLst/>
          </a:prstGeom>
          <a:noFill/>
        </p:spPr>
        <p:txBody>
          <a:bodyPr wrap="square" rtlCol="0">
            <a:spAutoFit/>
          </a:bodyPr>
          <a:lstStyle/>
          <a:p>
            <a:pPr algn="ctr"/>
            <a:r>
              <a:rPr lang="zh-CN" altLang="en-US" sz="24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rPr>
              <a:t>蜂鸟E200的协处理器接口EA</a:t>
            </a:r>
            <a:r>
              <a:rPr lang="en-US" altLang="zh-CN" sz="24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rPr>
              <a:t>I</a:t>
            </a:r>
            <a:endParaRPr lang="en-US" altLang="zh-CN" sz="2400" b="1" spc="6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192752"/>
            <a:ext cx="12181840" cy="375920"/>
            <a:chOff x="0" y="294640"/>
            <a:chExt cx="12181840" cy="375920"/>
          </a:xfrm>
        </p:grpSpPr>
        <p:grpSp>
          <p:nvGrpSpPr>
            <p:cNvPr id="3" name="组合 2"/>
            <p:cNvGrpSpPr/>
            <p:nvPr/>
          </p:nvGrpSpPr>
          <p:grpSpPr>
            <a:xfrm>
              <a:off x="0" y="294640"/>
              <a:ext cx="880552" cy="375920"/>
              <a:chOff x="0" y="294640"/>
              <a:chExt cx="1094740" cy="467360"/>
            </a:xfrm>
            <a:solidFill>
              <a:srgbClr val="EE8A10"/>
            </a:solidFill>
          </p:grpSpPr>
          <p:sp>
            <p:nvSpPr>
              <p:cNvPr id="12"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3356076" y="408709"/>
              <a:ext cx="1749361" cy="147782"/>
              <a:chOff x="635462" y="775854"/>
              <a:chExt cx="1749361" cy="147782"/>
            </a:xfrm>
            <a:solidFill>
              <a:srgbClr val="EE8A10"/>
            </a:solidFill>
          </p:grpSpPr>
          <p:sp>
            <p:nvSpPr>
              <p:cNvPr id="7" name="椭圆 6"/>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6" name="直接连接符 5"/>
            <p:cNvCxnSpPr/>
            <p:nvPr/>
          </p:nvCxnSpPr>
          <p:spPr>
            <a:xfrm>
              <a:off x="5212080" y="477520"/>
              <a:ext cx="6969760"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972128" y="1175183"/>
            <a:ext cx="10840356" cy="3960714"/>
            <a:chOff x="926408" y="1820978"/>
            <a:chExt cx="10840356" cy="3960714"/>
          </a:xfrm>
        </p:grpSpPr>
        <p:grpSp>
          <p:nvGrpSpPr>
            <p:cNvPr id="16" name="组合 15"/>
            <p:cNvGrpSpPr/>
            <p:nvPr/>
          </p:nvGrpSpPr>
          <p:grpSpPr>
            <a:xfrm>
              <a:off x="926408" y="1820978"/>
              <a:ext cx="3935614" cy="3960714"/>
              <a:chOff x="4369714" y="1686560"/>
              <a:chExt cx="3472891" cy="3495040"/>
            </a:xfrm>
          </p:grpSpPr>
          <p:grpSp>
            <p:nvGrpSpPr>
              <p:cNvPr id="29" name="组合 28"/>
              <p:cNvGrpSpPr/>
              <p:nvPr/>
            </p:nvGrpSpPr>
            <p:grpSpPr>
              <a:xfrm>
                <a:off x="4369714" y="1686560"/>
                <a:ext cx="3472891" cy="3495040"/>
                <a:chOff x="1849120" y="1498600"/>
                <a:chExt cx="3982720" cy="4008120"/>
              </a:xfrm>
            </p:grpSpPr>
            <p:sp>
              <p:nvSpPr>
                <p:cNvPr id="31" name="矩形 30"/>
                <p:cNvSpPr/>
                <p:nvPr/>
              </p:nvSpPr>
              <p:spPr>
                <a:xfrm>
                  <a:off x="1849120" y="1498600"/>
                  <a:ext cx="1930400" cy="1930400"/>
                </a:xfrm>
                <a:prstGeom prst="rect">
                  <a:avLst/>
                </a:prstGeom>
                <a:blipFill dpi="0" rotWithShape="1">
                  <a:blip r:embed="rId1"/>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32" name="矩形 31"/>
                <p:cNvSpPr/>
                <p:nvPr/>
              </p:nvSpPr>
              <p:spPr>
                <a:xfrm>
                  <a:off x="3901440" y="3576320"/>
                  <a:ext cx="1930400" cy="1930400"/>
                </a:xfrm>
                <a:prstGeom prst="rect">
                  <a:avLst/>
                </a:prstGeom>
                <a:blipFill dpi="0" rotWithShape="1">
                  <a:blip r:embed="rId1"/>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33" name="矩形 32"/>
                <p:cNvSpPr/>
                <p:nvPr/>
              </p:nvSpPr>
              <p:spPr>
                <a:xfrm>
                  <a:off x="1849120" y="3576320"/>
                  <a:ext cx="1930400" cy="1930400"/>
                </a:xfrm>
                <a:prstGeom prst="rect">
                  <a:avLst/>
                </a:prstGeom>
                <a:blipFill dpi="0" rotWithShape="1">
                  <a:blip r:embed="rId2"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34" name="矩形 33"/>
                <p:cNvSpPr/>
                <p:nvPr/>
              </p:nvSpPr>
              <p:spPr>
                <a:xfrm>
                  <a:off x="3901440" y="1498600"/>
                  <a:ext cx="1930400" cy="1930400"/>
                </a:xfrm>
                <a:prstGeom prst="rect">
                  <a:avLst/>
                </a:prstGeom>
                <a:blipFill dpi="0" rotWithShape="1">
                  <a:blip r:embed="rId2"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grpSp>
          <p:sp>
            <p:nvSpPr>
              <p:cNvPr id="30" name="矩形 29"/>
              <p:cNvSpPr/>
              <p:nvPr/>
            </p:nvSpPr>
            <p:spPr>
              <a:xfrm>
                <a:off x="5264689" y="2595880"/>
                <a:ext cx="1676400" cy="1676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EA</a:t>
                </a:r>
                <a:r>
                  <a:rPr lang="en-US"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I</a:t>
                </a:r>
                <a:r>
                  <a:rPr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接口时序</a:t>
                </a:r>
                <a:endParaRPr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grpSp>
        <p:sp>
          <p:nvSpPr>
            <p:cNvPr id="17" name="îṥļîḑé-Freeform: Shape 15"/>
            <p:cNvSpPr/>
            <p:nvPr/>
          </p:nvSpPr>
          <p:spPr bwMode="auto">
            <a:xfrm>
              <a:off x="5470877" y="1820978"/>
              <a:ext cx="427524" cy="426261"/>
            </a:xfrm>
            <a:custGeom>
              <a:avLst/>
              <a:gdLst>
                <a:gd name="T0" fmla="*/ 122 w 186"/>
                <a:gd name="T1" fmla="*/ 160 h 185"/>
                <a:gd name="T2" fmla="*/ 122 w 186"/>
                <a:gd name="T3" fmla="*/ 152 h 185"/>
                <a:gd name="T4" fmla="*/ 59 w 186"/>
                <a:gd name="T5" fmla="*/ 156 h 185"/>
                <a:gd name="T6" fmla="*/ 63 w 186"/>
                <a:gd name="T7" fmla="*/ 143 h 185"/>
                <a:gd name="T8" fmla="*/ 110 w 186"/>
                <a:gd name="T9" fmla="*/ 139 h 185"/>
                <a:gd name="T10" fmla="*/ 63 w 186"/>
                <a:gd name="T11" fmla="*/ 135 h 185"/>
                <a:gd name="T12" fmla="*/ 63 w 186"/>
                <a:gd name="T13" fmla="*/ 143 h 185"/>
                <a:gd name="T14" fmla="*/ 152 w 186"/>
                <a:gd name="T15" fmla="*/ 50 h 185"/>
                <a:gd name="T16" fmla="*/ 143 w 186"/>
                <a:gd name="T17" fmla="*/ 0 h 185"/>
                <a:gd name="T18" fmla="*/ 34 w 186"/>
                <a:gd name="T19" fmla="*/ 8 h 185"/>
                <a:gd name="T20" fmla="*/ 25 w 186"/>
                <a:gd name="T21" fmla="*/ 50 h 185"/>
                <a:gd name="T22" fmla="*/ 0 w 186"/>
                <a:gd name="T23" fmla="*/ 143 h 185"/>
                <a:gd name="T24" fmla="*/ 34 w 186"/>
                <a:gd name="T25" fmla="*/ 169 h 185"/>
                <a:gd name="T26" fmla="*/ 42 w 186"/>
                <a:gd name="T27" fmla="*/ 185 h 185"/>
                <a:gd name="T28" fmla="*/ 152 w 186"/>
                <a:gd name="T29" fmla="*/ 177 h 185"/>
                <a:gd name="T30" fmla="*/ 160 w 186"/>
                <a:gd name="T31" fmla="*/ 169 h 185"/>
                <a:gd name="T32" fmla="*/ 186 w 186"/>
                <a:gd name="T33" fmla="*/ 76 h 185"/>
                <a:gd name="T34" fmla="*/ 42 w 186"/>
                <a:gd name="T35" fmla="*/ 8 h 185"/>
                <a:gd name="T36" fmla="*/ 143 w 186"/>
                <a:gd name="T37" fmla="*/ 50 h 185"/>
                <a:gd name="T38" fmla="*/ 42 w 186"/>
                <a:gd name="T39" fmla="*/ 8 h 185"/>
                <a:gd name="T40" fmla="*/ 42 w 186"/>
                <a:gd name="T41" fmla="*/ 177 h 185"/>
                <a:gd name="T42" fmla="*/ 143 w 186"/>
                <a:gd name="T43" fmla="*/ 126 h 185"/>
                <a:gd name="T44" fmla="*/ 177 w 186"/>
                <a:gd name="T45" fmla="*/ 143 h 185"/>
                <a:gd name="T46" fmla="*/ 152 w 186"/>
                <a:gd name="T47" fmla="*/ 160 h 185"/>
                <a:gd name="T48" fmla="*/ 143 w 186"/>
                <a:gd name="T49" fmla="*/ 118 h 185"/>
                <a:gd name="T50" fmla="*/ 34 w 186"/>
                <a:gd name="T51" fmla="*/ 126 h 185"/>
                <a:gd name="T52" fmla="*/ 25 w 186"/>
                <a:gd name="T53" fmla="*/ 160 h 185"/>
                <a:gd name="T54" fmla="*/ 8 w 186"/>
                <a:gd name="T55" fmla="*/ 76 h 185"/>
                <a:gd name="T56" fmla="*/ 160 w 186"/>
                <a:gd name="T57" fmla="*/ 59 h 185"/>
                <a:gd name="T58" fmla="*/ 177 w 186"/>
                <a:gd name="T59" fmla="*/ 143 h 185"/>
                <a:gd name="T60" fmla="*/ 143 w 186"/>
                <a:gd name="T61" fmla="*/ 84 h 185"/>
                <a:gd name="T62" fmla="*/ 160 w 186"/>
                <a:gd name="T63" fmla="*/ 84 h 185"/>
                <a:gd name="T64" fmla="*/ 127 w 186"/>
                <a:gd name="T65" fmla="*/ 76 h 185"/>
                <a:gd name="T66" fmla="*/ 127 w 186"/>
                <a:gd name="T67" fmla="*/ 93 h 185"/>
                <a:gd name="T68" fmla="*/ 127 w 186"/>
                <a:gd name="T69" fmla="*/ 76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6" h="185">
                  <a:moveTo>
                    <a:pt x="63" y="160"/>
                  </a:moveTo>
                  <a:cubicBezTo>
                    <a:pt x="122" y="160"/>
                    <a:pt x="122" y="160"/>
                    <a:pt x="122" y="160"/>
                  </a:cubicBezTo>
                  <a:cubicBezTo>
                    <a:pt x="125" y="160"/>
                    <a:pt x="127" y="158"/>
                    <a:pt x="127" y="156"/>
                  </a:cubicBezTo>
                  <a:cubicBezTo>
                    <a:pt x="127" y="154"/>
                    <a:pt x="125" y="152"/>
                    <a:pt x="122" y="152"/>
                  </a:cubicBezTo>
                  <a:cubicBezTo>
                    <a:pt x="63" y="152"/>
                    <a:pt x="63" y="152"/>
                    <a:pt x="63" y="152"/>
                  </a:cubicBezTo>
                  <a:cubicBezTo>
                    <a:pt x="61" y="152"/>
                    <a:pt x="59" y="154"/>
                    <a:pt x="59" y="156"/>
                  </a:cubicBezTo>
                  <a:cubicBezTo>
                    <a:pt x="59" y="158"/>
                    <a:pt x="61" y="160"/>
                    <a:pt x="63" y="160"/>
                  </a:cubicBezTo>
                  <a:close/>
                  <a:moveTo>
                    <a:pt x="63" y="143"/>
                  </a:moveTo>
                  <a:cubicBezTo>
                    <a:pt x="106" y="143"/>
                    <a:pt x="106" y="143"/>
                    <a:pt x="106" y="143"/>
                  </a:cubicBezTo>
                  <a:cubicBezTo>
                    <a:pt x="108" y="143"/>
                    <a:pt x="110" y="141"/>
                    <a:pt x="110" y="139"/>
                  </a:cubicBezTo>
                  <a:cubicBezTo>
                    <a:pt x="110" y="137"/>
                    <a:pt x="108" y="135"/>
                    <a:pt x="106" y="135"/>
                  </a:cubicBezTo>
                  <a:cubicBezTo>
                    <a:pt x="63" y="135"/>
                    <a:pt x="63" y="135"/>
                    <a:pt x="63" y="135"/>
                  </a:cubicBezTo>
                  <a:cubicBezTo>
                    <a:pt x="61" y="135"/>
                    <a:pt x="59" y="137"/>
                    <a:pt x="59" y="139"/>
                  </a:cubicBezTo>
                  <a:cubicBezTo>
                    <a:pt x="59" y="141"/>
                    <a:pt x="61" y="143"/>
                    <a:pt x="63" y="143"/>
                  </a:cubicBezTo>
                  <a:close/>
                  <a:moveTo>
                    <a:pt x="160" y="50"/>
                  </a:moveTo>
                  <a:cubicBezTo>
                    <a:pt x="152" y="50"/>
                    <a:pt x="152" y="50"/>
                    <a:pt x="152" y="50"/>
                  </a:cubicBezTo>
                  <a:cubicBezTo>
                    <a:pt x="152" y="8"/>
                    <a:pt x="152" y="8"/>
                    <a:pt x="152" y="8"/>
                  </a:cubicBezTo>
                  <a:cubicBezTo>
                    <a:pt x="152" y="4"/>
                    <a:pt x="148" y="0"/>
                    <a:pt x="143" y="0"/>
                  </a:cubicBezTo>
                  <a:cubicBezTo>
                    <a:pt x="42" y="0"/>
                    <a:pt x="42" y="0"/>
                    <a:pt x="42" y="0"/>
                  </a:cubicBezTo>
                  <a:cubicBezTo>
                    <a:pt x="38" y="0"/>
                    <a:pt x="34" y="4"/>
                    <a:pt x="34" y="8"/>
                  </a:cubicBezTo>
                  <a:cubicBezTo>
                    <a:pt x="34" y="50"/>
                    <a:pt x="34" y="50"/>
                    <a:pt x="34" y="50"/>
                  </a:cubicBezTo>
                  <a:cubicBezTo>
                    <a:pt x="25" y="50"/>
                    <a:pt x="25" y="50"/>
                    <a:pt x="25" y="50"/>
                  </a:cubicBezTo>
                  <a:cubicBezTo>
                    <a:pt x="11" y="50"/>
                    <a:pt x="0" y="62"/>
                    <a:pt x="0" y="76"/>
                  </a:cubicBezTo>
                  <a:cubicBezTo>
                    <a:pt x="0" y="143"/>
                    <a:pt x="0" y="143"/>
                    <a:pt x="0" y="143"/>
                  </a:cubicBezTo>
                  <a:cubicBezTo>
                    <a:pt x="0" y="157"/>
                    <a:pt x="11" y="169"/>
                    <a:pt x="25" y="169"/>
                  </a:cubicBezTo>
                  <a:cubicBezTo>
                    <a:pt x="34" y="169"/>
                    <a:pt x="34" y="169"/>
                    <a:pt x="34" y="169"/>
                  </a:cubicBezTo>
                  <a:cubicBezTo>
                    <a:pt x="34" y="177"/>
                    <a:pt x="34" y="177"/>
                    <a:pt x="34" y="177"/>
                  </a:cubicBezTo>
                  <a:cubicBezTo>
                    <a:pt x="34" y="182"/>
                    <a:pt x="38" y="185"/>
                    <a:pt x="42" y="185"/>
                  </a:cubicBezTo>
                  <a:cubicBezTo>
                    <a:pt x="143" y="185"/>
                    <a:pt x="143" y="185"/>
                    <a:pt x="143" y="185"/>
                  </a:cubicBezTo>
                  <a:cubicBezTo>
                    <a:pt x="148" y="185"/>
                    <a:pt x="152" y="182"/>
                    <a:pt x="152" y="177"/>
                  </a:cubicBezTo>
                  <a:cubicBezTo>
                    <a:pt x="152" y="169"/>
                    <a:pt x="152" y="169"/>
                    <a:pt x="152" y="169"/>
                  </a:cubicBezTo>
                  <a:cubicBezTo>
                    <a:pt x="160" y="169"/>
                    <a:pt x="160" y="169"/>
                    <a:pt x="160" y="169"/>
                  </a:cubicBezTo>
                  <a:cubicBezTo>
                    <a:pt x="174" y="169"/>
                    <a:pt x="186" y="157"/>
                    <a:pt x="186" y="143"/>
                  </a:cubicBezTo>
                  <a:cubicBezTo>
                    <a:pt x="186" y="76"/>
                    <a:pt x="186" y="76"/>
                    <a:pt x="186" y="76"/>
                  </a:cubicBezTo>
                  <a:cubicBezTo>
                    <a:pt x="186" y="62"/>
                    <a:pt x="174" y="50"/>
                    <a:pt x="160" y="50"/>
                  </a:cubicBezTo>
                  <a:close/>
                  <a:moveTo>
                    <a:pt x="42" y="8"/>
                  </a:moveTo>
                  <a:cubicBezTo>
                    <a:pt x="143" y="8"/>
                    <a:pt x="143" y="8"/>
                    <a:pt x="143" y="8"/>
                  </a:cubicBezTo>
                  <a:cubicBezTo>
                    <a:pt x="143" y="50"/>
                    <a:pt x="143" y="50"/>
                    <a:pt x="143" y="50"/>
                  </a:cubicBezTo>
                  <a:cubicBezTo>
                    <a:pt x="42" y="50"/>
                    <a:pt x="42" y="50"/>
                    <a:pt x="42" y="50"/>
                  </a:cubicBezTo>
                  <a:lnTo>
                    <a:pt x="42" y="8"/>
                  </a:lnTo>
                  <a:close/>
                  <a:moveTo>
                    <a:pt x="143" y="177"/>
                  </a:moveTo>
                  <a:cubicBezTo>
                    <a:pt x="42" y="177"/>
                    <a:pt x="42" y="177"/>
                    <a:pt x="42" y="177"/>
                  </a:cubicBezTo>
                  <a:cubicBezTo>
                    <a:pt x="42" y="126"/>
                    <a:pt x="42" y="126"/>
                    <a:pt x="42" y="126"/>
                  </a:cubicBezTo>
                  <a:cubicBezTo>
                    <a:pt x="143" y="126"/>
                    <a:pt x="143" y="126"/>
                    <a:pt x="143" y="126"/>
                  </a:cubicBezTo>
                  <a:lnTo>
                    <a:pt x="143" y="177"/>
                  </a:lnTo>
                  <a:close/>
                  <a:moveTo>
                    <a:pt x="177" y="143"/>
                  </a:moveTo>
                  <a:cubicBezTo>
                    <a:pt x="177" y="153"/>
                    <a:pt x="170" y="160"/>
                    <a:pt x="160" y="160"/>
                  </a:cubicBezTo>
                  <a:cubicBezTo>
                    <a:pt x="152" y="160"/>
                    <a:pt x="152" y="160"/>
                    <a:pt x="152" y="160"/>
                  </a:cubicBezTo>
                  <a:cubicBezTo>
                    <a:pt x="152" y="126"/>
                    <a:pt x="152" y="126"/>
                    <a:pt x="152" y="126"/>
                  </a:cubicBezTo>
                  <a:cubicBezTo>
                    <a:pt x="152" y="122"/>
                    <a:pt x="148" y="118"/>
                    <a:pt x="143" y="118"/>
                  </a:cubicBezTo>
                  <a:cubicBezTo>
                    <a:pt x="42" y="118"/>
                    <a:pt x="42" y="118"/>
                    <a:pt x="42" y="118"/>
                  </a:cubicBezTo>
                  <a:cubicBezTo>
                    <a:pt x="38" y="118"/>
                    <a:pt x="34" y="122"/>
                    <a:pt x="34" y="126"/>
                  </a:cubicBezTo>
                  <a:cubicBezTo>
                    <a:pt x="34" y="160"/>
                    <a:pt x="34" y="160"/>
                    <a:pt x="34" y="160"/>
                  </a:cubicBezTo>
                  <a:cubicBezTo>
                    <a:pt x="25" y="160"/>
                    <a:pt x="25" y="160"/>
                    <a:pt x="25" y="160"/>
                  </a:cubicBezTo>
                  <a:cubicBezTo>
                    <a:pt x="16" y="160"/>
                    <a:pt x="8" y="153"/>
                    <a:pt x="8" y="143"/>
                  </a:cubicBezTo>
                  <a:cubicBezTo>
                    <a:pt x="8" y="76"/>
                    <a:pt x="8" y="76"/>
                    <a:pt x="8" y="76"/>
                  </a:cubicBezTo>
                  <a:cubicBezTo>
                    <a:pt x="8" y="66"/>
                    <a:pt x="16" y="59"/>
                    <a:pt x="25" y="59"/>
                  </a:cubicBezTo>
                  <a:cubicBezTo>
                    <a:pt x="160" y="59"/>
                    <a:pt x="160" y="59"/>
                    <a:pt x="160" y="59"/>
                  </a:cubicBezTo>
                  <a:cubicBezTo>
                    <a:pt x="170" y="59"/>
                    <a:pt x="177" y="66"/>
                    <a:pt x="177" y="76"/>
                  </a:cubicBezTo>
                  <a:lnTo>
                    <a:pt x="177" y="143"/>
                  </a:lnTo>
                  <a:close/>
                  <a:moveTo>
                    <a:pt x="152" y="76"/>
                  </a:moveTo>
                  <a:cubicBezTo>
                    <a:pt x="147" y="76"/>
                    <a:pt x="143" y="79"/>
                    <a:pt x="143" y="84"/>
                  </a:cubicBezTo>
                  <a:cubicBezTo>
                    <a:pt x="143" y="89"/>
                    <a:pt x="147" y="93"/>
                    <a:pt x="152" y="93"/>
                  </a:cubicBezTo>
                  <a:cubicBezTo>
                    <a:pt x="157" y="93"/>
                    <a:pt x="160" y="89"/>
                    <a:pt x="160" y="84"/>
                  </a:cubicBezTo>
                  <a:cubicBezTo>
                    <a:pt x="160" y="79"/>
                    <a:pt x="157" y="76"/>
                    <a:pt x="152" y="76"/>
                  </a:cubicBezTo>
                  <a:close/>
                  <a:moveTo>
                    <a:pt x="127" y="76"/>
                  </a:moveTo>
                  <a:cubicBezTo>
                    <a:pt x="122" y="76"/>
                    <a:pt x="118" y="79"/>
                    <a:pt x="118" y="84"/>
                  </a:cubicBezTo>
                  <a:cubicBezTo>
                    <a:pt x="118" y="89"/>
                    <a:pt x="122" y="93"/>
                    <a:pt x="127" y="93"/>
                  </a:cubicBezTo>
                  <a:cubicBezTo>
                    <a:pt x="131" y="93"/>
                    <a:pt x="135" y="89"/>
                    <a:pt x="135" y="84"/>
                  </a:cubicBezTo>
                  <a:cubicBezTo>
                    <a:pt x="135" y="79"/>
                    <a:pt x="131" y="76"/>
                    <a:pt x="127" y="76"/>
                  </a:cubicBezTo>
                  <a:close/>
                </a:path>
              </a:pathLst>
            </a:custGeom>
            <a:solidFill>
              <a:schemeClr val="accent1">
                <a:lumMod val="50000"/>
              </a:schemeClr>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1" name="文本框 20"/>
            <p:cNvSpPr txBox="1"/>
            <p:nvPr/>
          </p:nvSpPr>
          <p:spPr>
            <a:xfrm>
              <a:off x="6008313" y="1833678"/>
              <a:ext cx="2762885" cy="398780"/>
            </a:xfrm>
            <a:prstGeom prst="rect">
              <a:avLst/>
            </a:prstGeom>
            <a:noFill/>
          </p:spPr>
          <p:txBody>
            <a:bodyPr wrap="square" rtlCol="0">
              <a:spAutoFit/>
            </a:bodyPr>
            <a:lstStyle/>
            <a:p>
              <a:r>
                <a:rPr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EA</a:t>
              </a:r>
              <a:r>
                <a:rPr lang="en-US"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I</a:t>
              </a:r>
              <a:r>
                <a:rPr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接口时序</a:t>
              </a:r>
              <a:endParaRPr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2" name="文本框 21"/>
            <p:cNvSpPr txBox="1"/>
            <p:nvPr/>
          </p:nvSpPr>
          <p:spPr>
            <a:xfrm>
              <a:off x="9420767" y="3866899"/>
              <a:ext cx="2345997" cy="398780"/>
            </a:xfrm>
            <a:prstGeom prst="rect">
              <a:avLst/>
            </a:prstGeom>
            <a:noFill/>
          </p:spPr>
          <p:txBody>
            <a:bodyPr wrap="square" rtlCol="0">
              <a:spAutoFit/>
            </a:bodyPr>
            <a:lstStyle/>
            <a:p>
              <a:endParaRPr lang="zh-CN" altLang="en-US"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4" name="文本框 23"/>
            <p:cNvSpPr txBox="1"/>
            <p:nvPr/>
          </p:nvSpPr>
          <p:spPr>
            <a:xfrm>
              <a:off x="5836418" y="3881999"/>
              <a:ext cx="2345997" cy="398780"/>
            </a:xfrm>
            <a:prstGeom prst="rect">
              <a:avLst/>
            </a:prstGeom>
            <a:noFill/>
          </p:spPr>
          <p:txBody>
            <a:bodyPr wrap="square" rtlCol="0">
              <a:spAutoFit/>
            </a:bodyPr>
            <a:lstStyle/>
            <a:p>
              <a:endParaRPr lang="zh-CN" altLang="en-US"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5" name="矩形 24"/>
            <p:cNvSpPr/>
            <p:nvPr/>
          </p:nvSpPr>
          <p:spPr>
            <a:xfrm>
              <a:off x="5471103" y="2436928"/>
              <a:ext cx="5937885" cy="1060450"/>
            </a:xfrm>
            <a:prstGeom prst="rect">
              <a:avLst/>
            </a:prstGeom>
          </p:spPr>
          <p:txBody>
            <a:bodyPr wrap="square">
              <a:spAutoFit/>
            </a:bodyPr>
            <a:lstStyle/>
            <a:p>
              <a:pPr>
                <a:lnSpc>
                  <a:spcPct val="150000"/>
                </a:lnSpc>
              </a:pPr>
              <a:r>
                <a:rPr 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EAI</a:t>
              </a:r>
              <a:r>
                <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接口的</a:t>
              </a:r>
              <a:r>
                <a:rPr lang="en-US" altLang="zh-CN"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7</a:t>
              </a:r>
              <a:r>
                <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个经典时序：</a:t>
              </a:r>
              <a:endPar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a:p>
              <a:pPr>
                <a:lnSpc>
                  <a:spcPct val="150000"/>
                </a:lnSpc>
              </a:pPr>
              <a:r>
                <a:rPr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·主处理器向协处理器通过EAI的请求通道派发指令，协处理器需要四个周期才能返回结果，但协处理器是非阻塞式的，因此能连续接受新的指令</a:t>
              </a:r>
              <a:endParaRPr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8" name="矩形 27"/>
            <p:cNvSpPr/>
            <p:nvPr/>
          </p:nvSpPr>
          <p:spPr>
            <a:xfrm>
              <a:off x="8880909" y="2313097"/>
              <a:ext cx="2527814" cy="414020"/>
            </a:xfrm>
            <a:prstGeom prst="rect">
              <a:avLst/>
            </a:prstGeom>
          </p:spPr>
          <p:txBody>
            <a:bodyPr wrap="square">
              <a:spAutoFit/>
            </a:bodyPr>
            <a:lstStyle/>
            <a:p>
              <a:pPr>
                <a:lnSpc>
                  <a:spcPct val="150000"/>
                </a:lnSpc>
              </a:pPr>
              <a:endPar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grpSp>
      <p:pic>
        <p:nvPicPr>
          <p:cNvPr id="18" name="图片 17"/>
          <p:cNvPicPr>
            <a:picLocks noChangeAspect="1"/>
          </p:cNvPicPr>
          <p:nvPr/>
        </p:nvPicPr>
        <p:blipFill>
          <a:blip r:embed="rId3"/>
          <a:stretch>
            <a:fillRect/>
          </a:stretch>
        </p:blipFill>
        <p:spPr>
          <a:xfrm>
            <a:off x="5397500" y="2937510"/>
            <a:ext cx="5937250" cy="3177540"/>
          </a:xfrm>
          <a:prstGeom prst="rect">
            <a:avLst/>
          </a:prstGeom>
        </p:spPr>
      </p:pic>
      <p:sp>
        <p:nvSpPr>
          <p:cNvPr id="20" name="文本框 19"/>
          <p:cNvSpPr txBox="1"/>
          <p:nvPr/>
        </p:nvSpPr>
        <p:spPr>
          <a:xfrm>
            <a:off x="926465" y="97280"/>
            <a:ext cx="2320925" cy="829945"/>
          </a:xfrm>
          <a:prstGeom prst="rect">
            <a:avLst/>
          </a:prstGeom>
          <a:noFill/>
        </p:spPr>
        <p:txBody>
          <a:bodyPr wrap="square" rtlCol="0">
            <a:spAutoFit/>
          </a:bodyPr>
          <a:lstStyle/>
          <a:p>
            <a:pPr algn="ctr"/>
            <a:r>
              <a:rPr lang="zh-CN" altLang="en-US" sz="24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rPr>
              <a:t>蜂鸟E200的协处理器接口EA</a:t>
            </a:r>
            <a:r>
              <a:rPr lang="en-US" altLang="zh-CN" sz="24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rPr>
              <a:t>I</a:t>
            </a:r>
            <a:endParaRPr lang="en-US" altLang="zh-CN" sz="2400" b="1" spc="6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202277"/>
            <a:ext cx="12181840" cy="375920"/>
            <a:chOff x="0" y="294640"/>
            <a:chExt cx="12181840" cy="375920"/>
          </a:xfrm>
        </p:grpSpPr>
        <p:grpSp>
          <p:nvGrpSpPr>
            <p:cNvPr id="3" name="组合 2"/>
            <p:cNvGrpSpPr/>
            <p:nvPr/>
          </p:nvGrpSpPr>
          <p:grpSpPr>
            <a:xfrm>
              <a:off x="0" y="294640"/>
              <a:ext cx="880552" cy="375920"/>
              <a:chOff x="0" y="294640"/>
              <a:chExt cx="1094740" cy="467360"/>
            </a:xfrm>
            <a:solidFill>
              <a:srgbClr val="EE8A10"/>
            </a:solidFill>
          </p:grpSpPr>
          <p:sp>
            <p:nvSpPr>
              <p:cNvPr id="12"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3356076" y="408709"/>
              <a:ext cx="1749361" cy="147782"/>
              <a:chOff x="635462" y="775854"/>
              <a:chExt cx="1749361" cy="147782"/>
            </a:xfrm>
            <a:solidFill>
              <a:srgbClr val="EE8A10"/>
            </a:solidFill>
          </p:grpSpPr>
          <p:sp>
            <p:nvSpPr>
              <p:cNvPr id="7" name="椭圆 6"/>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6" name="直接连接符 5"/>
            <p:cNvCxnSpPr/>
            <p:nvPr/>
          </p:nvCxnSpPr>
          <p:spPr>
            <a:xfrm>
              <a:off x="5212080" y="477520"/>
              <a:ext cx="6969760"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861638" y="1098983"/>
            <a:ext cx="10840356" cy="3960714"/>
            <a:chOff x="926408" y="1820978"/>
            <a:chExt cx="10840356" cy="3960714"/>
          </a:xfrm>
        </p:grpSpPr>
        <p:grpSp>
          <p:nvGrpSpPr>
            <p:cNvPr id="16" name="组合 15"/>
            <p:cNvGrpSpPr/>
            <p:nvPr/>
          </p:nvGrpSpPr>
          <p:grpSpPr>
            <a:xfrm>
              <a:off x="926408" y="1820978"/>
              <a:ext cx="3935614" cy="3960714"/>
              <a:chOff x="4369714" y="1686560"/>
              <a:chExt cx="3472891" cy="3495040"/>
            </a:xfrm>
          </p:grpSpPr>
          <p:grpSp>
            <p:nvGrpSpPr>
              <p:cNvPr id="29" name="组合 28"/>
              <p:cNvGrpSpPr/>
              <p:nvPr/>
            </p:nvGrpSpPr>
            <p:grpSpPr>
              <a:xfrm>
                <a:off x="4369714" y="1686560"/>
                <a:ext cx="3472891" cy="3495040"/>
                <a:chOff x="1849120" y="1498600"/>
                <a:chExt cx="3982720" cy="4008120"/>
              </a:xfrm>
            </p:grpSpPr>
            <p:sp>
              <p:nvSpPr>
                <p:cNvPr id="31" name="矩形 30"/>
                <p:cNvSpPr/>
                <p:nvPr/>
              </p:nvSpPr>
              <p:spPr>
                <a:xfrm>
                  <a:off x="1849120" y="1498600"/>
                  <a:ext cx="1930400" cy="1930400"/>
                </a:xfrm>
                <a:prstGeom prst="rect">
                  <a:avLst/>
                </a:prstGeom>
                <a:blipFill dpi="0" rotWithShape="1">
                  <a:blip r:embed="rId1"/>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32" name="矩形 31"/>
                <p:cNvSpPr/>
                <p:nvPr/>
              </p:nvSpPr>
              <p:spPr>
                <a:xfrm>
                  <a:off x="3901440" y="3576320"/>
                  <a:ext cx="1930400" cy="1930400"/>
                </a:xfrm>
                <a:prstGeom prst="rect">
                  <a:avLst/>
                </a:prstGeom>
                <a:blipFill dpi="0" rotWithShape="1">
                  <a:blip r:embed="rId1"/>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33" name="矩形 32"/>
                <p:cNvSpPr/>
                <p:nvPr/>
              </p:nvSpPr>
              <p:spPr>
                <a:xfrm>
                  <a:off x="1849120" y="3576320"/>
                  <a:ext cx="1930400" cy="1930400"/>
                </a:xfrm>
                <a:prstGeom prst="rect">
                  <a:avLst/>
                </a:prstGeom>
                <a:blipFill dpi="0" rotWithShape="1">
                  <a:blip r:embed="rId2"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34" name="矩形 33"/>
                <p:cNvSpPr/>
                <p:nvPr/>
              </p:nvSpPr>
              <p:spPr>
                <a:xfrm>
                  <a:off x="3901440" y="1498600"/>
                  <a:ext cx="1930400" cy="1930400"/>
                </a:xfrm>
                <a:prstGeom prst="rect">
                  <a:avLst/>
                </a:prstGeom>
                <a:blipFill dpi="0" rotWithShape="1">
                  <a:blip r:embed="rId2"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grpSp>
          <p:sp>
            <p:nvSpPr>
              <p:cNvPr id="30" name="矩形 29"/>
              <p:cNvSpPr/>
              <p:nvPr/>
            </p:nvSpPr>
            <p:spPr>
              <a:xfrm>
                <a:off x="5264689" y="2595880"/>
                <a:ext cx="1676400" cy="1676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EA</a:t>
                </a:r>
                <a:r>
                  <a:rPr lang="en-US"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I</a:t>
                </a:r>
                <a:r>
                  <a:rPr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接口时序</a:t>
                </a:r>
                <a:endParaRPr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grpSp>
        <p:sp>
          <p:nvSpPr>
            <p:cNvPr id="17" name="îṥļîḑé-Freeform: Shape 15"/>
            <p:cNvSpPr/>
            <p:nvPr/>
          </p:nvSpPr>
          <p:spPr bwMode="auto">
            <a:xfrm>
              <a:off x="5470877" y="1820978"/>
              <a:ext cx="427524" cy="426261"/>
            </a:xfrm>
            <a:custGeom>
              <a:avLst/>
              <a:gdLst>
                <a:gd name="T0" fmla="*/ 122 w 186"/>
                <a:gd name="T1" fmla="*/ 160 h 185"/>
                <a:gd name="T2" fmla="*/ 122 w 186"/>
                <a:gd name="T3" fmla="*/ 152 h 185"/>
                <a:gd name="T4" fmla="*/ 59 w 186"/>
                <a:gd name="T5" fmla="*/ 156 h 185"/>
                <a:gd name="T6" fmla="*/ 63 w 186"/>
                <a:gd name="T7" fmla="*/ 143 h 185"/>
                <a:gd name="T8" fmla="*/ 110 w 186"/>
                <a:gd name="T9" fmla="*/ 139 h 185"/>
                <a:gd name="T10" fmla="*/ 63 w 186"/>
                <a:gd name="T11" fmla="*/ 135 h 185"/>
                <a:gd name="T12" fmla="*/ 63 w 186"/>
                <a:gd name="T13" fmla="*/ 143 h 185"/>
                <a:gd name="T14" fmla="*/ 152 w 186"/>
                <a:gd name="T15" fmla="*/ 50 h 185"/>
                <a:gd name="T16" fmla="*/ 143 w 186"/>
                <a:gd name="T17" fmla="*/ 0 h 185"/>
                <a:gd name="T18" fmla="*/ 34 w 186"/>
                <a:gd name="T19" fmla="*/ 8 h 185"/>
                <a:gd name="T20" fmla="*/ 25 w 186"/>
                <a:gd name="T21" fmla="*/ 50 h 185"/>
                <a:gd name="T22" fmla="*/ 0 w 186"/>
                <a:gd name="T23" fmla="*/ 143 h 185"/>
                <a:gd name="T24" fmla="*/ 34 w 186"/>
                <a:gd name="T25" fmla="*/ 169 h 185"/>
                <a:gd name="T26" fmla="*/ 42 w 186"/>
                <a:gd name="T27" fmla="*/ 185 h 185"/>
                <a:gd name="T28" fmla="*/ 152 w 186"/>
                <a:gd name="T29" fmla="*/ 177 h 185"/>
                <a:gd name="T30" fmla="*/ 160 w 186"/>
                <a:gd name="T31" fmla="*/ 169 h 185"/>
                <a:gd name="T32" fmla="*/ 186 w 186"/>
                <a:gd name="T33" fmla="*/ 76 h 185"/>
                <a:gd name="T34" fmla="*/ 42 w 186"/>
                <a:gd name="T35" fmla="*/ 8 h 185"/>
                <a:gd name="T36" fmla="*/ 143 w 186"/>
                <a:gd name="T37" fmla="*/ 50 h 185"/>
                <a:gd name="T38" fmla="*/ 42 w 186"/>
                <a:gd name="T39" fmla="*/ 8 h 185"/>
                <a:gd name="T40" fmla="*/ 42 w 186"/>
                <a:gd name="T41" fmla="*/ 177 h 185"/>
                <a:gd name="T42" fmla="*/ 143 w 186"/>
                <a:gd name="T43" fmla="*/ 126 h 185"/>
                <a:gd name="T44" fmla="*/ 177 w 186"/>
                <a:gd name="T45" fmla="*/ 143 h 185"/>
                <a:gd name="T46" fmla="*/ 152 w 186"/>
                <a:gd name="T47" fmla="*/ 160 h 185"/>
                <a:gd name="T48" fmla="*/ 143 w 186"/>
                <a:gd name="T49" fmla="*/ 118 h 185"/>
                <a:gd name="T50" fmla="*/ 34 w 186"/>
                <a:gd name="T51" fmla="*/ 126 h 185"/>
                <a:gd name="T52" fmla="*/ 25 w 186"/>
                <a:gd name="T53" fmla="*/ 160 h 185"/>
                <a:gd name="T54" fmla="*/ 8 w 186"/>
                <a:gd name="T55" fmla="*/ 76 h 185"/>
                <a:gd name="T56" fmla="*/ 160 w 186"/>
                <a:gd name="T57" fmla="*/ 59 h 185"/>
                <a:gd name="T58" fmla="*/ 177 w 186"/>
                <a:gd name="T59" fmla="*/ 143 h 185"/>
                <a:gd name="T60" fmla="*/ 143 w 186"/>
                <a:gd name="T61" fmla="*/ 84 h 185"/>
                <a:gd name="T62" fmla="*/ 160 w 186"/>
                <a:gd name="T63" fmla="*/ 84 h 185"/>
                <a:gd name="T64" fmla="*/ 127 w 186"/>
                <a:gd name="T65" fmla="*/ 76 h 185"/>
                <a:gd name="T66" fmla="*/ 127 w 186"/>
                <a:gd name="T67" fmla="*/ 93 h 185"/>
                <a:gd name="T68" fmla="*/ 127 w 186"/>
                <a:gd name="T69" fmla="*/ 76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6" h="185">
                  <a:moveTo>
                    <a:pt x="63" y="160"/>
                  </a:moveTo>
                  <a:cubicBezTo>
                    <a:pt x="122" y="160"/>
                    <a:pt x="122" y="160"/>
                    <a:pt x="122" y="160"/>
                  </a:cubicBezTo>
                  <a:cubicBezTo>
                    <a:pt x="125" y="160"/>
                    <a:pt x="127" y="158"/>
                    <a:pt x="127" y="156"/>
                  </a:cubicBezTo>
                  <a:cubicBezTo>
                    <a:pt x="127" y="154"/>
                    <a:pt x="125" y="152"/>
                    <a:pt x="122" y="152"/>
                  </a:cubicBezTo>
                  <a:cubicBezTo>
                    <a:pt x="63" y="152"/>
                    <a:pt x="63" y="152"/>
                    <a:pt x="63" y="152"/>
                  </a:cubicBezTo>
                  <a:cubicBezTo>
                    <a:pt x="61" y="152"/>
                    <a:pt x="59" y="154"/>
                    <a:pt x="59" y="156"/>
                  </a:cubicBezTo>
                  <a:cubicBezTo>
                    <a:pt x="59" y="158"/>
                    <a:pt x="61" y="160"/>
                    <a:pt x="63" y="160"/>
                  </a:cubicBezTo>
                  <a:close/>
                  <a:moveTo>
                    <a:pt x="63" y="143"/>
                  </a:moveTo>
                  <a:cubicBezTo>
                    <a:pt x="106" y="143"/>
                    <a:pt x="106" y="143"/>
                    <a:pt x="106" y="143"/>
                  </a:cubicBezTo>
                  <a:cubicBezTo>
                    <a:pt x="108" y="143"/>
                    <a:pt x="110" y="141"/>
                    <a:pt x="110" y="139"/>
                  </a:cubicBezTo>
                  <a:cubicBezTo>
                    <a:pt x="110" y="137"/>
                    <a:pt x="108" y="135"/>
                    <a:pt x="106" y="135"/>
                  </a:cubicBezTo>
                  <a:cubicBezTo>
                    <a:pt x="63" y="135"/>
                    <a:pt x="63" y="135"/>
                    <a:pt x="63" y="135"/>
                  </a:cubicBezTo>
                  <a:cubicBezTo>
                    <a:pt x="61" y="135"/>
                    <a:pt x="59" y="137"/>
                    <a:pt x="59" y="139"/>
                  </a:cubicBezTo>
                  <a:cubicBezTo>
                    <a:pt x="59" y="141"/>
                    <a:pt x="61" y="143"/>
                    <a:pt x="63" y="143"/>
                  </a:cubicBezTo>
                  <a:close/>
                  <a:moveTo>
                    <a:pt x="160" y="50"/>
                  </a:moveTo>
                  <a:cubicBezTo>
                    <a:pt x="152" y="50"/>
                    <a:pt x="152" y="50"/>
                    <a:pt x="152" y="50"/>
                  </a:cubicBezTo>
                  <a:cubicBezTo>
                    <a:pt x="152" y="8"/>
                    <a:pt x="152" y="8"/>
                    <a:pt x="152" y="8"/>
                  </a:cubicBezTo>
                  <a:cubicBezTo>
                    <a:pt x="152" y="4"/>
                    <a:pt x="148" y="0"/>
                    <a:pt x="143" y="0"/>
                  </a:cubicBezTo>
                  <a:cubicBezTo>
                    <a:pt x="42" y="0"/>
                    <a:pt x="42" y="0"/>
                    <a:pt x="42" y="0"/>
                  </a:cubicBezTo>
                  <a:cubicBezTo>
                    <a:pt x="38" y="0"/>
                    <a:pt x="34" y="4"/>
                    <a:pt x="34" y="8"/>
                  </a:cubicBezTo>
                  <a:cubicBezTo>
                    <a:pt x="34" y="50"/>
                    <a:pt x="34" y="50"/>
                    <a:pt x="34" y="50"/>
                  </a:cubicBezTo>
                  <a:cubicBezTo>
                    <a:pt x="25" y="50"/>
                    <a:pt x="25" y="50"/>
                    <a:pt x="25" y="50"/>
                  </a:cubicBezTo>
                  <a:cubicBezTo>
                    <a:pt x="11" y="50"/>
                    <a:pt x="0" y="62"/>
                    <a:pt x="0" y="76"/>
                  </a:cubicBezTo>
                  <a:cubicBezTo>
                    <a:pt x="0" y="143"/>
                    <a:pt x="0" y="143"/>
                    <a:pt x="0" y="143"/>
                  </a:cubicBezTo>
                  <a:cubicBezTo>
                    <a:pt x="0" y="157"/>
                    <a:pt x="11" y="169"/>
                    <a:pt x="25" y="169"/>
                  </a:cubicBezTo>
                  <a:cubicBezTo>
                    <a:pt x="34" y="169"/>
                    <a:pt x="34" y="169"/>
                    <a:pt x="34" y="169"/>
                  </a:cubicBezTo>
                  <a:cubicBezTo>
                    <a:pt x="34" y="177"/>
                    <a:pt x="34" y="177"/>
                    <a:pt x="34" y="177"/>
                  </a:cubicBezTo>
                  <a:cubicBezTo>
                    <a:pt x="34" y="182"/>
                    <a:pt x="38" y="185"/>
                    <a:pt x="42" y="185"/>
                  </a:cubicBezTo>
                  <a:cubicBezTo>
                    <a:pt x="143" y="185"/>
                    <a:pt x="143" y="185"/>
                    <a:pt x="143" y="185"/>
                  </a:cubicBezTo>
                  <a:cubicBezTo>
                    <a:pt x="148" y="185"/>
                    <a:pt x="152" y="182"/>
                    <a:pt x="152" y="177"/>
                  </a:cubicBezTo>
                  <a:cubicBezTo>
                    <a:pt x="152" y="169"/>
                    <a:pt x="152" y="169"/>
                    <a:pt x="152" y="169"/>
                  </a:cubicBezTo>
                  <a:cubicBezTo>
                    <a:pt x="160" y="169"/>
                    <a:pt x="160" y="169"/>
                    <a:pt x="160" y="169"/>
                  </a:cubicBezTo>
                  <a:cubicBezTo>
                    <a:pt x="174" y="169"/>
                    <a:pt x="186" y="157"/>
                    <a:pt x="186" y="143"/>
                  </a:cubicBezTo>
                  <a:cubicBezTo>
                    <a:pt x="186" y="76"/>
                    <a:pt x="186" y="76"/>
                    <a:pt x="186" y="76"/>
                  </a:cubicBezTo>
                  <a:cubicBezTo>
                    <a:pt x="186" y="62"/>
                    <a:pt x="174" y="50"/>
                    <a:pt x="160" y="50"/>
                  </a:cubicBezTo>
                  <a:close/>
                  <a:moveTo>
                    <a:pt x="42" y="8"/>
                  </a:moveTo>
                  <a:cubicBezTo>
                    <a:pt x="143" y="8"/>
                    <a:pt x="143" y="8"/>
                    <a:pt x="143" y="8"/>
                  </a:cubicBezTo>
                  <a:cubicBezTo>
                    <a:pt x="143" y="50"/>
                    <a:pt x="143" y="50"/>
                    <a:pt x="143" y="50"/>
                  </a:cubicBezTo>
                  <a:cubicBezTo>
                    <a:pt x="42" y="50"/>
                    <a:pt x="42" y="50"/>
                    <a:pt x="42" y="50"/>
                  </a:cubicBezTo>
                  <a:lnTo>
                    <a:pt x="42" y="8"/>
                  </a:lnTo>
                  <a:close/>
                  <a:moveTo>
                    <a:pt x="143" y="177"/>
                  </a:moveTo>
                  <a:cubicBezTo>
                    <a:pt x="42" y="177"/>
                    <a:pt x="42" y="177"/>
                    <a:pt x="42" y="177"/>
                  </a:cubicBezTo>
                  <a:cubicBezTo>
                    <a:pt x="42" y="126"/>
                    <a:pt x="42" y="126"/>
                    <a:pt x="42" y="126"/>
                  </a:cubicBezTo>
                  <a:cubicBezTo>
                    <a:pt x="143" y="126"/>
                    <a:pt x="143" y="126"/>
                    <a:pt x="143" y="126"/>
                  </a:cubicBezTo>
                  <a:lnTo>
                    <a:pt x="143" y="177"/>
                  </a:lnTo>
                  <a:close/>
                  <a:moveTo>
                    <a:pt x="177" y="143"/>
                  </a:moveTo>
                  <a:cubicBezTo>
                    <a:pt x="177" y="153"/>
                    <a:pt x="170" y="160"/>
                    <a:pt x="160" y="160"/>
                  </a:cubicBezTo>
                  <a:cubicBezTo>
                    <a:pt x="152" y="160"/>
                    <a:pt x="152" y="160"/>
                    <a:pt x="152" y="160"/>
                  </a:cubicBezTo>
                  <a:cubicBezTo>
                    <a:pt x="152" y="126"/>
                    <a:pt x="152" y="126"/>
                    <a:pt x="152" y="126"/>
                  </a:cubicBezTo>
                  <a:cubicBezTo>
                    <a:pt x="152" y="122"/>
                    <a:pt x="148" y="118"/>
                    <a:pt x="143" y="118"/>
                  </a:cubicBezTo>
                  <a:cubicBezTo>
                    <a:pt x="42" y="118"/>
                    <a:pt x="42" y="118"/>
                    <a:pt x="42" y="118"/>
                  </a:cubicBezTo>
                  <a:cubicBezTo>
                    <a:pt x="38" y="118"/>
                    <a:pt x="34" y="122"/>
                    <a:pt x="34" y="126"/>
                  </a:cubicBezTo>
                  <a:cubicBezTo>
                    <a:pt x="34" y="160"/>
                    <a:pt x="34" y="160"/>
                    <a:pt x="34" y="160"/>
                  </a:cubicBezTo>
                  <a:cubicBezTo>
                    <a:pt x="25" y="160"/>
                    <a:pt x="25" y="160"/>
                    <a:pt x="25" y="160"/>
                  </a:cubicBezTo>
                  <a:cubicBezTo>
                    <a:pt x="16" y="160"/>
                    <a:pt x="8" y="153"/>
                    <a:pt x="8" y="143"/>
                  </a:cubicBezTo>
                  <a:cubicBezTo>
                    <a:pt x="8" y="76"/>
                    <a:pt x="8" y="76"/>
                    <a:pt x="8" y="76"/>
                  </a:cubicBezTo>
                  <a:cubicBezTo>
                    <a:pt x="8" y="66"/>
                    <a:pt x="16" y="59"/>
                    <a:pt x="25" y="59"/>
                  </a:cubicBezTo>
                  <a:cubicBezTo>
                    <a:pt x="160" y="59"/>
                    <a:pt x="160" y="59"/>
                    <a:pt x="160" y="59"/>
                  </a:cubicBezTo>
                  <a:cubicBezTo>
                    <a:pt x="170" y="59"/>
                    <a:pt x="177" y="66"/>
                    <a:pt x="177" y="76"/>
                  </a:cubicBezTo>
                  <a:lnTo>
                    <a:pt x="177" y="143"/>
                  </a:lnTo>
                  <a:close/>
                  <a:moveTo>
                    <a:pt x="152" y="76"/>
                  </a:moveTo>
                  <a:cubicBezTo>
                    <a:pt x="147" y="76"/>
                    <a:pt x="143" y="79"/>
                    <a:pt x="143" y="84"/>
                  </a:cubicBezTo>
                  <a:cubicBezTo>
                    <a:pt x="143" y="89"/>
                    <a:pt x="147" y="93"/>
                    <a:pt x="152" y="93"/>
                  </a:cubicBezTo>
                  <a:cubicBezTo>
                    <a:pt x="157" y="93"/>
                    <a:pt x="160" y="89"/>
                    <a:pt x="160" y="84"/>
                  </a:cubicBezTo>
                  <a:cubicBezTo>
                    <a:pt x="160" y="79"/>
                    <a:pt x="157" y="76"/>
                    <a:pt x="152" y="76"/>
                  </a:cubicBezTo>
                  <a:close/>
                  <a:moveTo>
                    <a:pt x="127" y="76"/>
                  </a:moveTo>
                  <a:cubicBezTo>
                    <a:pt x="122" y="76"/>
                    <a:pt x="118" y="79"/>
                    <a:pt x="118" y="84"/>
                  </a:cubicBezTo>
                  <a:cubicBezTo>
                    <a:pt x="118" y="89"/>
                    <a:pt x="122" y="93"/>
                    <a:pt x="127" y="93"/>
                  </a:cubicBezTo>
                  <a:cubicBezTo>
                    <a:pt x="131" y="93"/>
                    <a:pt x="135" y="89"/>
                    <a:pt x="135" y="84"/>
                  </a:cubicBezTo>
                  <a:cubicBezTo>
                    <a:pt x="135" y="79"/>
                    <a:pt x="131" y="76"/>
                    <a:pt x="127" y="76"/>
                  </a:cubicBezTo>
                  <a:close/>
                </a:path>
              </a:pathLst>
            </a:custGeom>
            <a:solidFill>
              <a:schemeClr val="accent1">
                <a:lumMod val="50000"/>
              </a:schemeClr>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1" name="文本框 20"/>
            <p:cNvSpPr txBox="1"/>
            <p:nvPr/>
          </p:nvSpPr>
          <p:spPr>
            <a:xfrm>
              <a:off x="6008313" y="1833678"/>
              <a:ext cx="2762885" cy="398780"/>
            </a:xfrm>
            <a:prstGeom prst="rect">
              <a:avLst/>
            </a:prstGeom>
            <a:noFill/>
          </p:spPr>
          <p:txBody>
            <a:bodyPr wrap="square" rtlCol="0">
              <a:spAutoFit/>
            </a:bodyPr>
            <a:lstStyle/>
            <a:p>
              <a:r>
                <a:rPr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EA</a:t>
              </a:r>
              <a:r>
                <a:rPr lang="en-US"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I</a:t>
              </a:r>
              <a:r>
                <a:rPr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接口时序</a:t>
              </a:r>
              <a:endParaRPr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2" name="文本框 21"/>
            <p:cNvSpPr txBox="1"/>
            <p:nvPr/>
          </p:nvSpPr>
          <p:spPr>
            <a:xfrm>
              <a:off x="9420767" y="3866899"/>
              <a:ext cx="2345997" cy="398780"/>
            </a:xfrm>
            <a:prstGeom prst="rect">
              <a:avLst/>
            </a:prstGeom>
            <a:noFill/>
          </p:spPr>
          <p:txBody>
            <a:bodyPr wrap="square" rtlCol="0">
              <a:spAutoFit/>
            </a:bodyPr>
            <a:lstStyle/>
            <a:p>
              <a:endParaRPr lang="zh-CN" altLang="en-US"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4" name="文本框 23"/>
            <p:cNvSpPr txBox="1"/>
            <p:nvPr/>
          </p:nvSpPr>
          <p:spPr>
            <a:xfrm>
              <a:off x="5836418" y="3881999"/>
              <a:ext cx="2345997" cy="398780"/>
            </a:xfrm>
            <a:prstGeom prst="rect">
              <a:avLst/>
            </a:prstGeom>
            <a:noFill/>
          </p:spPr>
          <p:txBody>
            <a:bodyPr wrap="square" rtlCol="0">
              <a:spAutoFit/>
            </a:bodyPr>
            <a:lstStyle/>
            <a:p>
              <a:endParaRPr lang="zh-CN" altLang="en-US"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5" name="矩形 24"/>
            <p:cNvSpPr/>
            <p:nvPr/>
          </p:nvSpPr>
          <p:spPr>
            <a:xfrm>
              <a:off x="5471103" y="2436928"/>
              <a:ext cx="5937885" cy="1383665"/>
            </a:xfrm>
            <a:prstGeom prst="rect">
              <a:avLst/>
            </a:prstGeom>
          </p:spPr>
          <p:txBody>
            <a:bodyPr wrap="square">
              <a:spAutoFit/>
            </a:bodyPr>
            <a:lstStyle/>
            <a:p>
              <a:pPr>
                <a:lnSpc>
                  <a:spcPct val="150000"/>
                </a:lnSpc>
              </a:pPr>
              <a:r>
                <a:rPr 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EAI</a:t>
              </a:r>
              <a:r>
                <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接口的</a:t>
              </a:r>
              <a:r>
                <a:rPr lang="en-US" altLang="zh-CN"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7</a:t>
              </a:r>
              <a:r>
                <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个经典时序：</a:t>
              </a:r>
              <a:endPar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a:p>
              <a:pPr>
                <a:lnSpc>
                  <a:spcPct val="150000"/>
                </a:lnSpc>
              </a:pPr>
              <a:r>
                <a:rPr lang="en-US" altLang="zh-CN"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·主处理器向协处理器通过EAI的</a:t>
              </a:r>
              <a:r>
                <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请求通道</a:t>
              </a:r>
              <a:r>
                <a:rPr lang="en-US" altLang="zh-CN"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派发指令，协处理器需要</a:t>
              </a:r>
              <a:r>
                <a:rPr lang="en-US" altLang="zh-CN" sz="1400" b="1"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八个周期</a:t>
              </a:r>
              <a:r>
                <a:rPr lang="en-US" altLang="zh-CN"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才能返回结果，但协处理器是</a:t>
              </a:r>
              <a:r>
                <a:rPr lang="en-US" altLang="zh-CN" sz="1400" b="1"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非阻塞式</a:t>
              </a:r>
              <a:r>
                <a:rPr lang="en-US" altLang="zh-CN"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的，因此</a:t>
              </a:r>
              <a:r>
                <a:rPr lang="en-US" altLang="zh-CN" sz="1400" b="1"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能连续接受新的指令</a:t>
              </a:r>
              <a:endParaRPr lang="en-US" altLang="zh-CN" sz="1400" b="1"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a:p>
              <a:pPr>
                <a:lnSpc>
                  <a:spcPct val="150000"/>
                </a:lnSpc>
              </a:pPr>
              <a:endParaRPr lang="en-US" altLang="zh-CN"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8" name="矩形 27"/>
            <p:cNvSpPr/>
            <p:nvPr/>
          </p:nvSpPr>
          <p:spPr>
            <a:xfrm>
              <a:off x="8880909" y="2313097"/>
              <a:ext cx="2527814" cy="414020"/>
            </a:xfrm>
            <a:prstGeom prst="rect">
              <a:avLst/>
            </a:prstGeom>
          </p:spPr>
          <p:txBody>
            <a:bodyPr wrap="square">
              <a:spAutoFit/>
            </a:bodyPr>
            <a:lstStyle/>
            <a:p>
              <a:pPr>
                <a:lnSpc>
                  <a:spcPct val="150000"/>
                </a:lnSpc>
              </a:pPr>
              <a:endPar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grpSp>
      <p:pic>
        <p:nvPicPr>
          <p:cNvPr id="18" name="图片 17"/>
          <p:cNvPicPr>
            <a:picLocks noChangeAspect="1"/>
          </p:cNvPicPr>
          <p:nvPr/>
        </p:nvPicPr>
        <p:blipFill>
          <a:blip r:embed="rId3"/>
          <a:stretch>
            <a:fillRect/>
          </a:stretch>
        </p:blipFill>
        <p:spPr>
          <a:xfrm>
            <a:off x="5406390" y="2868930"/>
            <a:ext cx="6335395" cy="3387090"/>
          </a:xfrm>
          <a:prstGeom prst="rect">
            <a:avLst/>
          </a:prstGeom>
        </p:spPr>
      </p:pic>
      <p:sp>
        <p:nvSpPr>
          <p:cNvPr id="19" name="文本框 18"/>
          <p:cNvSpPr txBox="1"/>
          <p:nvPr/>
        </p:nvSpPr>
        <p:spPr>
          <a:xfrm>
            <a:off x="926465" y="97280"/>
            <a:ext cx="2320925" cy="829945"/>
          </a:xfrm>
          <a:prstGeom prst="rect">
            <a:avLst/>
          </a:prstGeom>
          <a:noFill/>
        </p:spPr>
        <p:txBody>
          <a:bodyPr wrap="square" rtlCol="0">
            <a:spAutoFit/>
          </a:bodyPr>
          <a:lstStyle/>
          <a:p>
            <a:pPr algn="ctr"/>
            <a:r>
              <a:rPr lang="zh-CN" altLang="en-US" sz="24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rPr>
              <a:t>蜂鸟E200的协处理器接口EA</a:t>
            </a:r>
            <a:r>
              <a:rPr lang="en-US" altLang="zh-CN" sz="24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rPr>
              <a:t>I</a:t>
            </a:r>
            <a:endParaRPr lang="en-US" altLang="zh-CN" sz="2400" b="1" spc="6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202277"/>
            <a:ext cx="12181840" cy="375920"/>
            <a:chOff x="0" y="294640"/>
            <a:chExt cx="12181840" cy="375920"/>
          </a:xfrm>
        </p:grpSpPr>
        <p:grpSp>
          <p:nvGrpSpPr>
            <p:cNvPr id="3" name="组合 2"/>
            <p:cNvGrpSpPr/>
            <p:nvPr/>
          </p:nvGrpSpPr>
          <p:grpSpPr>
            <a:xfrm>
              <a:off x="0" y="294640"/>
              <a:ext cx="880552" cy="375920"/>
              <a:chOff x="0" y="294640"/>
              <a:chExt cx="1094740" cy="467360"/>
            </a:xfrm>
            <a:solidFill>
              <a:srgbClr val="EE8A10"/>
            </a:solidFill>
          </p:grpSpPr>
          <p:sp>
            <p:nvSpPr>
              <p:cNvPr id="12"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3356076" y="408709"/>
              <a:ext cx="1749361" cy="147782"/>
              <a:chOff x="635462" y="775854"/>
              <a:chExt cx="1749361" cy="147782"/>
            </a:xfrm>
            <a:solidFill>
              <a:srgbClr val="EE8A10"/>
            </a:solidFill>
          </p:grpSpPr>
          <p:sp>
            <p:nvSpPr>
              <p:cNvPr id="7" name="椭圆 6"/>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6" name="直接连接符 5"/>
            <p:cNvCxnSpPr/>
            <p:nvPr/>
          </p:nvCxnSpPr>
          <p:spPr>
            <a:xfrm>
              <a:off x="5212080" y="477520"/>
              <a:ext cx="6969760"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753688" y="1194233"/>
            <a:ext cx="10840356" cy="3960714"/>
            <a:chOff x="926408" y="1820978"/>
            <a:chExt cx="10840356" cy="3960714"/>
          </a:xfrm>
        </p:grpSpPr>
        <p:grpSp>
          <p:nvGrpSpPr>
            <p:cNvPr id="16" name="组合 15"/>
            <p:cNvGrpSpPr/>
            <p:nvPr/>
          </p:nvGrpSpPr>
          <p:grpSpPr>
            <a:xfrm>
              <a:off x="926408" y="1820978"/>
              <a:ext cx="3935614" cy="3960714"/>
              <a:chOff x="4369714" y="1686560"/>
              <a:chExt cx="3472891" cy="3495040"/>
            </a:xfrm>
          </p:grpSpPr>
          <p:grpSp>
            <p:nvGrpSpPr>
              <p:cNvPr id="29" name="组合 28"/>
              <p:cNvGrpSpPr/>
              <p:nvPr/>
            </p:nvGrpSpPr>
            <p:grpSpPr>
              <a:xfrm>
                <a:off x="4369714" y="1686560"/>
                <a:ext cx="3472891" cy="3495040"/>
                <a:chOff x="1849120" y="1498600"/>
                <a:chExt cx="3982720" cy="4008120"/>
              </a:xfrm>
            </p:grpSpPr>
            <p:sp>
              <p:nvSpPr>
                <p:cNvPr id="31" name="矩形 30"/>
                <p:cNvSpPr/>
                <p:nvPr/>
              </p:nvSpPr>
              <p:spPr>
                <a:xfrm>
                  <a:off x="1849120" y="1498600"/>
                  <a:ext cx="1930400" cy="1930400"/>
                </a:xfrm>
                <a:prstGeom prst="rect">
                  <a:avLst/>
                </a:prstGeom>
                <a:blipFill dpi="0" rotWithShape="1">
                  <a:blip r:embed="rId1"/>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32" name="矩形 31"/>
                <p:cNvSpPr/>
                <p:nvPr/>
              </p:nvSpPr>
              <p:spPr>
                <a:xfrm>
                  <a:off x="3901440" y="3576320"/>
                  <a:ext cx="1930400" cy="1930400"/>
                </a:xfrm>
                <a:prstGeom prst="rect">
                  <a:avLst/>
                </a:prstGeom>
                <a:blipFill dpi="0" rotWithShape="1">
                  <a:blip r:embed="rId1"/>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33" name="矩形 32"/>
                <p:cNvSpPr/>
                <p:nvPr/>
              </p:nvSpPr>
              <p:spPr>
                <a:xfrm>
                  <a:off x="1849120" y="3576320"/>
                  <a:ext cx="1930400" cy="1930400"/>
                </a:xfrm>
                <a:prstGeom prst="rect">
                  <a:avLst/>
                </a:prstGeom>
                <a:blipFill dpi="0" rotWithShape="1">
                  <a:blip r:embed="rId2"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34" name="矩形 33"/>
                <p:cNvSpPr/>
                <p:nvPr/>
              </p:nvSpPr>
              <p:spPr>
                <a:xfrm>
                  <a:off x="3901440" y="1498600"/>
                  <a:ext cx="1930400" cy="1930400"/>
                </a:xfrm>
                <a:prstGeom prst="rect">
                  <a:avLst/>
                </a:prstGeom>
                <a:blipFill dpi="0" rotWithShape="1">
                  <a:blip r:embed="rId2"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grpSp>
          <p:sp>
            <p:nvSpPr>
              <p:cNvPr id="30" name="矩形 29"/>
              <p:cNvSpPr/>
              <p:nvPr/>
            </p:nvSpPr>
            <p:spPr>
              <a:xfrm>
                <a:off x="5264689" y="2595880"/>
                <a:ext cx="1676400" cy="1676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EA</a:t>
                </a:r>
                <a:r>
                  <a:rPr lang="en-US"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I</a:t>
                </a:r>
                <a:r>
                  <a:rPr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接口时序</a:t>
                </a:r>
                <a:endParaRPr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grpSp>
        <p:sp>
          <p:nvSpPr>
            <p:cNvPr id="17" name="îṥļîḑé-Freeform: Shape 15"/>
            <p:cNvSpPr/>
            <p:nvPr/>
          </p:nvSpPr>
          <p:spPr bwMode="auto">
            <a:xfrm>
              <a:off x="5470877" y="1820978"/>
              <a:ext cx="427524" cy="426261"/>
            </a:xfrm>
            <a:custGeom>
              <a:avLst/>
              <a:gdLst>
                <a:gd name="T0" fmla="*/ 122 w 186"/>
                <a:gd name="T1" fmla="*/ 160 h 185"/>
                <a:gd name="T2" fmla="*/ 122 w 186"/>
                <a:gd name="T3" fmla="*/ 152 h 185"/>
                <a:gd name="T4" fmla="*/ 59 w 186"/>
                <a:gd name="T5" fmla="*/ 156 h 185"/>
                <a:gd name="T6" fmla="*/ 63 w 186"/>
                <a:gd name="T7" fmla="*/ 143 h 185"/>
                <a:gd name="T8" fmla="*/ 110 w 186"/>
                <a:gd name="T9" fmla="*/ 139 h 185"/>
                <a:gd name="T10" fmla="*/ 63 w 186"/>
                <a:gd name="T11" fmla="*/ 135 h 185"/>
                <a:gd name="T12" fmla="*/ 63 w 186"/>
                <a:gd name="T13" fmla="*/ 143 h 185"/>
                <a:gd name="T14" fmla="*/ 152 w 186"/>
                <a:gd name="T15" fmla="*/ 50 h 185"/>
                <a:gd name="T16" fmla="*/ 143 w 186"/>
                <a:gd name="T17" fmla="*/ 0 h 185"/>
                <a:gd name="T18" fmla="*/ 34 w 186"/>
                <a:gd name="T19" fmla="*/ 8 h 185"/>
                <a:gd name="T20" fmla="*/ 25 w 186"/>
                <a:gd name="T21" fmla="*/ 50 h 185"/>
                <a:gd name="T22" fmla="*/ 0 w 186"/>
                <a:gd name="T23" fmla="*/ 143 h 185"/>
                <a:gd name="T24" fmla="*/ 34 w 186"/>
                <a:gd name="T25" fmla="*/ 169 h 185"/>
                <a:gd name="T26" fmla="*/ 42 w 186"/>
                <a:gd name="T27" fmla="*/ 185 h 185"/>
                <a:gd name="T28" fmla="*/ 152 w 186"/>
                <a:gd name="T29" fmla="*/ 177 h 185"/>
                <a:gd name="T30" fmla="*/ 160 w 186"/>
                <a:gd name="T31" fmla="*/ 169 h 185"/>
                <a:gd name="T32" fmla="*/ 186 w 186"/>
                <a:gd name="T33" fmla="*/ 76 h 185"/>
                <a:gd name="T34" fmla="*/ 42 w 186"/>
                <a:gd name="T35" fmla="*/ 8 h 185"/>
                <a:gd name="T36" fmla="*/ 143 w 186"/>
                <a:gd name="T37" fmla="*/ 50 h 185"/>
                <a:gd name="T38" fmla="*/ 42 w 186"/>
                <a:gd name="T39" fmla="*/ 8 h 185"/>
                <a:gd name="T40" fmla="*/ 42 w 186"/>
                <a:gd name="T41" fmla="*/ 177 h 185"/>
                <a:gd name="T42" fmla="*/ 143 w 186"/>
                <a:gd name="T43" fmla="*/ 126 h 185"/>
                <a:gd name="T44" fmla="*/ 177 w 186"/>
                <a:gd name="T45" fmla="*/ 143 h 185"/>
                <a:gd name="T46" fmla="*/ 152 w 186"/>
                <a:gd name="T47" fmla="*/ 160 h 185"/>
                <a:gd name="T48" fmla="*/ 143 w 186"/>
                <a:gd name="T49" fmla="*/ 118 h 185"/>
                <a:gd name="T50" fmla="*/ 34 w 186"/>
                <a:gd name="T51" fmla="*/ 126 h 185"/>
                <a:gd name="T52" fmla="*/ 25 w 186"/>
                <a:gd name="T53" fmla="*/ 160 h 185"/>
                <a:gd name="T54" fmla="*/ 8 w 186"/>
                <a:gd name="T55" fmla="*/ 76 h 185"/>
                <a:gd name="T56" fmla="*/ 160 w 186"/>
                <a:gd name="T57" fmla="*/ 59 h 185"/>
                <a:gd name="T58" fmla="*/ 177 w 186"/>
                <a:gd name="T59" fmla="*/ 143 h 185"/>
                <a:gd name="T60" fmla="*/ 143 w 186"/>
                <a:gd name="T61" fmla="*/ 84 h 185"/>
                <a:gd name="T62" fmla="*/ 160 w 186"/>
                <a:gd name="T63" fmla="*/ 84 h 185"/>
                <a:gd name="T64" fmla="*/ 127 w 186"/>
                <a:gd name="T65" fmla="*/ 76 h 185"/>
                <a:gd name="T66" fmla="*/ 127 w 186"/>
                <a:gd name="T67" fmla="*/ 93 h 185"/>
                <a:gd name="T68" fmla="*/ 127 w 186"/>
                <a:gd name="T69" fmla="*/ 76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6" h="185">
                  <a:moveTo>
                    <a:pt x="63" y="160"/>
                  </a:moveTo>
                  <a:cubicBezTo>
                    <a:pt x="122" y="160"/>
                    <a:pt x="122" y="160"/>
                    <a:pt x="122" y="160"/>
                  </a:cubicBezTo>
                  <a:cubicBezTo>
                    <a:pt x="125" y="160"/>
                    <a:pt x="127" y="158"/>
                    <a:pt x="127" y="156"/>
                  </a:cubicBezTo>
                  <a:cubicBezTo>
                    <a:pt x="127" y="154"/>
                    <a:pt x="125" y="152"/>
                    <a:pt x="122" y="152"/>
                  </a:cubicBezTo>
                  <a:cubicBezTo>
                    <a:pt x="63" y="152"/>
                    <a:pt x="63" y="152"/>
                    <a:pt x="63" y="152"/>
                  </a:cubicBezTo>
                  <a:cubicBezTo>
                    <a:pt x="61" y="152"/>
                    <a:pt x="59" y="154"/>
                    <a:pt x="59" y="156"/>
                  </a:cubicBezTo>
                  <a:cubicBezTo>
                    <a:pt x="59" y="158"/>
                    <a:pt x="61" y="160"/>
                    <a:pt x="63" y="160"/>
                  </a:cubicBezTo>
                  <a:close/>
                  <a:moveTo>
                    <a:pt x="63" y="143"/>
                  </a:moveTo>
                  <a:cubicBezTo>
                    <a:pt x="106" y="143"/>
                    <a:pt x="106" y="143"/>
                    <a:pt x="106" y="143"/>
                  </a:cubicBezTo>
                  <a:cubicBezTo>
                    <a:pt x="108" y="143"/>
                    <a:pt x="110" y="141"/>
                    <a:pt x="110" y="139"/>
                  </a:cubicBezTo>
                  <a:cubicBezTo>
                    <a:pt x="110" y="137"/>
                    <a:pt x="108" y="135"/>
                    <a:pt x="106" y="135"/>
                  </a:cubicBezTo>
                  <a:cubicBezTo>
                    <a:pt x="63" y="135"/>
                    <a:pt x="63" y="135"/>
                    <a:pt x="63" y="135"/>
                  </a:cubicBezTo>
                  <a:cubicBezTo>
                    <a:pt x="61" y="135"/>
                    <a:pt x="59" y="137"/>
                    <a:pt x="59" y="139"/>
                  </a:cubicBezTo>
                  <a:cubicBezTo>
                    <a:pt x="59" y="141"/>
                    <a:pt x="61" y="143"/>
                    <a:pt x="63" y="143"/>
                  </a:cubicBezTo>
                  <a:close/>
                  <a:moveTo>
                    <a:pt x="160" y="50"/>
                  </a:moveTo>
                  <a:cubicBezTo>
                    <a:pt x="152" y="50"/>
                    <a:pt x="152" y="50"/>
                    <a:pt x="152" y="50"/>
                  </a:cubicBezTo>
                  <a:cubicBezTo>
                    <a:pt x="152" y="8"/>
                    <a:pt x="152" y="8"/>
                    <a:pt x="152" y="8"/>
                  </a:cubicBezTo>
                  <a:cubicBezTo>
                    <a:pt x="152" y="4"/>
                    <a:pt x="148" y="0"/>
                    <a:pt x="143" y="0"/>
                  </a:cubicBezTo>
                  <a:cubicBezTo>
                    <a:pt x="42" y="0"/>
                    <a:pt x="42" y="0"/>
                    <a:pt x="42" y="0"/>
                  </a:cubicBezTo>
                  <a:cubicBezTo>
                    <a:pt x="38" y="0"/>
                    <a:pt x="34" y="4"/>
                    <a:pt x="34" y="8"/>
                  </a:cubicBezTo>
                  <a:cubicBezTo>
                    <a:pt x="34" y="50"/>
                    <a:pt x="34" y="50"/>
                    <a:pt x="34" y="50"/>
                  </a:cubicBezTo>
                  <a:cubicBezTo>
                    <a:pt x="25" y="50"/>
                    <a:pt x="25" y="50"/>
                    <a:pt x="25" y="50"/>
                  </a:cubicBezTo>
                  <a:cubicBezTo>
                    <a:pt x="11" y="50"/>
                    <a:pt x="0" y="62"/>
                    <a:pt x="0" y="76"/>
                  </a:cubicBezTo>
                  <a:cubicBezTo>
                    <a:pt x="0" y="143"/>
                    <a:pt x="0" y="143"/>
                    <a:pt x="0" y="143"/>
                  </a:cubicBezTo>
                  <a:cubicBezTo>
                    <a:pt x="0" y="157"/>
                    <a:pt x="11" y="169"/>
                    <a:pt x="25" y="169"/>
                  </a:cubicBezTo>
                  <a:cubicBezTo>
                    <a:pt x="34" y="169"/>
                    <a:pt x="34" y="169"/>
                    <a:pt x="34" y="169"/>
                  </a:cubicBezTo>
                  <a:cubicBezTo>
                    <a:pt x="34" y="177"/>
                    <a:pt x="34" y="177"/>
                    <a:pt x="34" y="177"/>
                  </a:cubicBezTo>
                  <a:cubicBezTo>
                    <a:pt x="34" y="182"/>
                    <a:pt x="38" y="185"/>
                    <a:pt x="42" y="185"/>
                  </a:cubicBezTo>
                  <a:cubicBezTo>
                    <a:pt x="143" y="185"/>
                    <a:pt x="143" y="185"/>
                    <a:pt x="143" y="185"/>
                  </a:cubicBezTo>
                  <a:cubicBezTo>
                    <a:pt x="148" y="185"/>
                    <a:pt x="152" y="182"/>
                    <a:pt x="152" y="177"/>
                  </a:cubicBezTo>
                  <a:cubicBezTo>
                    <a:pt x="152" y="169"/>
                    <a:pt x="152" y="169"/>
                    <a:pt x="152" y="169"/>
                  </a:cubicBezTo>
                  <a:cubicBezTo>
                    <a:pt x="160" y="169"/>
                    <a:pt x="160" y="169"/>
                    <a:pt x="160" y="169"/>
                  </a:cubicBezTo>
                  <a:cubicBezTo>
                    <a:pt x="174" y="169"/>
                    <a:pt x="186" y="157"/>
                    <a:pt x="186" y="143"/>
                  </a:cubicBezTo>
                  <a:cubicBezTo>
                    <a:pt x="186" y="76"/>
                    <a:pt x="186" y="76"/>
                    <a:pt x="186" y="76"/>
                  </a:cubicBezTo>
                  <a:cubicBezTo>
                    <a:pt x="186" y="62"/>
                    <a:pt x="174" y="50"/>
                    <a:pt x="160" y="50"/>
                  </a:cubicBezTo>
                  <a:close/>
                  <a:moveTo>
                    <a:pt x="42" y="8"/>
                  </a:moveTo>
                  <a:cubicBezTo>
                    <a:pt x="143" y="8"/>
                    <a:pt x="143" y="8"/>
                    <a:pt x="143" y="8"/>
                  </a:cubicBezTo>
                  <a:cubicBezTo>
                    <a:pt x="143" y="50"/>
                    <a:pt x="143" y="50"/>
                    <a:pt x="143" y="50"/>
                  </a:cubicBezTo>
                  <a:cubicBezTo>
                    <a:pt x="42" y="50"/>
                    <a:pt x="42" y="50"/>
                    <a:pt x="42" y="50"/>
                  </a:cubicBezTo>
                  <a:lnTo>
                    <a:pt x="42" y="8"/>
                  </a:lnTo>
                  <a:close/>
                  <a:moveTo>
                    <a:pt x="143" y="177"/>
                  </a:moveTo>
                  <a:cubicBezTo>
                    <a:pt x="42" y="177"/>
                    <a:pt x="42" y="177"/>
                    <a:pt x="42" y="177"/>
                  </a:cubicBezTo>
                  <a:cubicBezTo>
                    <a:pt x="42" y="126"/>
                    <a:pt x="42" y="126"/>
                    <a:pt x="42" y="126"/>
                  </a:cubicBezTo>
                  <a:cubicBezTo>
                    <a:pt x="143" y="126"/>
                    <a:pt x="143" y="126"/>
                    <a:pt x="143" y="126"/>
                  </a:cubicBezTo>
                  <a:lnTo>
                    <a:pt x="143" y="177"/>
                  </a:lnTo>
                  <a:close/>
                  <a:moveTo>
                    <a:pt x="177" y="143"/>
                  </a:moveTo>
                  <a:cubicBezTo>
                    <a:pt x="177" y="153"/>
                    <a:pt x="170" y="160"/>
                    <a:pt x="160" y="160"/>
                  </a:cubicBezTo>
                  <a:cubicBezTo>
                    <a:pt x="152" y="160"/>
                    <a:pt x="152" y="160"/>
                    <a:pt x="152" y="160"/>
                  </a:cubicBezTo>
                  <a:cubicBezTo>
                    <a:pt x="152" y="126"/>
                    <a:pt x="152" y="126"/>
                    <a:pt x="152" y="126"/>
                  </a:cubicBezTo>
                  <a:cubicBezTo>
                    <a:pt x="152" y="122"/>
                    <a:pt x="148" y="118"/>
                    <a:pt x="143" y="118"/>
                  </a:cubicBezTo>
                  <a:cubicBezTo>
                    <a:pt x="42" y="118"/>
                    <a:pt x="42" y="118"/>
                    <a:pt x="42" y="118"/>
                  </a:cubicBezTo>
                  <a:cubicBezTo>
                    <a:pt x="38" y="118"/>
                    <a:pt x="34" y="122"/>
                    <a:pt x="34" y="126"/>
                  </a:cubicBezTo>
                  <a:cubicBezTo>
                    <a:pt x="34" y="160"/>
                    <a:pt x="34" y="160"/>
                    <a:pt x="34" y="160"/>
                  </a:cubicBezTo>
                  <a:cubicBezTo>
                    <a:pt x="25" y="160"/>
                    <a:pt x="25" y="160"/>
                    <a:pt x="25" y="160"/>
                  </a:cubicBezTo>
                  <a:cubicBezTo>
                    <a:pt x="16" y="160"/>
                    <a:pt x="8" y="153"/>
                    <a:pt x="8" y="143"/>
                  </a:cubicBezTo>
                  <a:cubicBezTo>
                    <a:pt x="8" y="76"/>
                    <a:pt x="8" y="76"/>
                    <a:pt x="8" y="76"/>
                  </a:cubicBezTo>
                  <a:cubicBezTo>
                    <a:pt x="8" y="66"/>
                    <a:pt x="16" y="59"/>
                    <a:pt x="25" y="59"/>
                  </a:cubicBezTo>
                  <a:cubicBezTo>
                    <a:pt x="160" y="59"/>
                    <a:pt x="160" y="59"/>
                    <a:pt x="160" y="59"/>
                  </a:cubicBezTo>
                  <a:cubicBezTo>
                    <a:pt x="170" y="59"/>
                    <a:pt x="177" y="66"/>
                    <a:pt x="177" y="76"/>
                  </a:cubicBezTo>
                  <a:lnTo>
                    <a:pt x="177" y="143"/>
                  </a:lnTo>
                  <a:close/>
                  <a:moveTo>
                    <a:pt x="152" y="76"/>
                  </a:moveTo>
                  <a:cubicBezTo>
                    <a:pt x="147" y="76"/>
                    <a:pt x="143" y="79"/>
                    <a:pt x="143" y="84"/>
                  </a:cubicBezTo>
                  <a:cubicBezTo>
                    <a:pt x="143" y="89"/>
                    <a:pt x="147" y="93"/>
                    <a:pt x="152" y="93"/>
                  </a:cubicBezTo>
                  <a:cubicBezTo>
                    <a:pt x="157" y="93"/>
                    <a:pt x="160" y="89"/>
                    <a:pt x="160" y="84"/>
                  </a:cubicBezTo>
                  <a:cubicBezTo>
                    <a:pt x="160" y="79"/>
                    <a:pt x="157" y="76"/>
                    <a:pt x="152" y="76"/>
                  </a:cubicBezTo>
                  <a:close/>
                  <a:moveTo>
                    <a:pt x="127" y="76"/>
                  </a:moveTo>
                  <a:cubicBezTo>
                    <a:pt x="122" y="76"/>
                    <a:pt x="118" y="79"/>
                    <a:pt x="118" y="84"/>
                  </a:cubicBezTo>
                  <a:cubicBezTo>
                    <a:pt x="118" y="89"/>
                    <a:pt x="122" y="93"/>
                    <a:pt x="127" y="93"/>
                  </a:cubicBezTo>
                  <a:cubicBezTo>
                    <a:pt x="131" y="93"/>
                    <a:pt x="135" y="89"/>
                    <a:pt x="135" y="84"/>
                  </a:cubicBezTo>
                  <a:cubicBezTo>
                    <a:pt x="135" y="79"/>
                    <a:pt x="131" y="76"/>
                    <a:pt x="127" y="76"/>
                  </a:cubicBezTo>
                  <a:close/>
                </a:path>
              </a:pathLst>
            </a:custGeom>
            <a:solidFill>
              <a:schemeClr val="accent1">
                <a:lumMod val="50000"/>
              </a:schemeClr>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1" name="文本框 20"/>
            <p:cNvSpPr txBox="1"/>
            <p:nvPr/>
          </p:nvSpPr>
          <p:spPr>
            <a:xfrm>
              <a:off x="6008313" y="1833678"/>
              <a:ext cx="2762885" cy="398780"/>
            </a:xfrm>
            <a:prstGeom prst="rect">
              <a:avLst/>
            </a:prstGeom>
            <a:noFill/>
          </p:spPr>
          <p:txBody>
            <a:bodyPr wrap="square" rtlCol="0">
              <a:spAutoFit/>
            </a:bodyPr>
            <a:lstStyle/>
            <a:p>
              <a:r>
                <a:rPr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EA</a:t>
              </a:r>
              <a:r>
                <a:rPr lang="en-US"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I</a:t>
              </a:r>
              <a:r>
                <a:rPr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接口时序</a:t>
              </a:r>
              <a:endParaRPr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2" name="文本框 21"/>
            <p:cNvSpPr txBox="1"/>
            <p:nvPr/>
          </p:nvSpPr>
          <p:spPr>
            <a:xfrm>
              <a:off x="9420767" y="3866899"/>
              <a:ext cx="2345997" cy="398780"/>
            </a:xfrm>
            <a:prstGeom prst="rect">
              <a:avLst/>
            </a:prstGeom>
            <a:noFill/>
          </p:spPr>
          <p:txBody>
            <a:bodyPr wrap="square" rtlCol="0">
              <a:spAutoFit/>
            </a:bodyPr>
            <a:lstStyle/>
            <a:p>
              <a:endParaRPr lang="zh-CN" altLang="en-US"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4" name="文本框 23"/>
            <p:cNvSpPr txBox="1"/>
            <p:nvPr/>
          </p:nvSpPr>
          <p:spPr>
            <a:xfrm>
              <a:off x="5836418" y="3881999"/>
              <a:ext cx="2345997" cy="398780"/>
            </a:xfrm>
            <a:prstGeom prst="rect">
              <a:avLst/>
            </a:prstGeom>
            <a:noFill/>
          </p:spPr>
          <p:txBody>
            <a:bodyPr wrap="square" rtlCol="0">
              <a:spAutoFit/>
            </a:bodyPr>
            <a:lstStyle/>
            <a:p>
              <a:endParaRPr lang="zh-CN" altLang="en-US"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5" name="矩形 24"/>
            <p:cNvSpPr/>
            <p:nvPr/>
          </p:nvSpPr>
          <p:spPr>
            <a:xfrm>
              <a:off x="5471103" y="2174673"/>
              <a:ext cx="5937885" cy="1706880"/>
            </a:xfrm>
            <a:prstGeom prst="rect">
              <a:avLst/>
            </a:prstGeom>
          </p:spPr>
          <p:txBody>
            <a:bodyPr wrap="square">
              <a:spAutoFit/>
            </a:bodyPr>
            <a:lstStyle/>
            <a:p>
              <a:pPr>
                <a:lnSpc>
                  <a:spcPct val="150000"/>
                </a:lnSpc>
              </a:pPr>
              <a:r>
                <a:rPr 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EAI</a:t>
              </a:r>
              <a:r>
                <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接口的</a:t>
              </a:r>
              <a:r>
                <a:rPr lang="en-US" altLang="zh-CN"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7</a:t>
              </a:r>
              <a:r>
                <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个经典时序：</a:t>
              </a:r>
              <a:endPar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a:p>
              <a:pPr>
                <a:lnSpc>
                  <a:spcPct val="150000"/>
                </a:lnSpc>
              </a:pPr>
              <a:r>
                <a:rPr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·主处理器向协处理器通过EAI的请求通道派发指令，协处理器译码出该指令需要访问存储器，则将存储器独占信号拉高，协处理器通过</a:t>
              </a:r>
              <a:endParaRPr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a:p>
              <a:pPr>
                <a:lnSpc>
                  <a:spcPct val="150000"/>
                </a:lnSpc>
              </a:pPr>
              <a:r>
                <a:rPr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存储器请求通道向主处理器LSU发起读写请求，主处理器通过存储器请求通道在多个周期之后返回结果，协处理器继而将存储器独占信号拉低</a:t>
              </a:r>
              <a:endParaRPr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8" name="矩形 27"/>
            <p:cNvSpPr/>
            <p:nvPr/>
          </p:nvSpPr>
          <p:spPr>
            <a:xfrm>
              <a:off x="8880909" y="2313097"/>
              <a:ext cx="2527814" cy="414020"/>
            </a:xfrm>
            <a:prstGeom prst="rect">
              <a:avLst/>
            </a:prstGeom>
          </p:spPr>
          <p:txBody>
            <a:bodyPr wrap="square">
              <a:spAutoFit/>
            </a:bodyPr>
            <a:lstStyle/>
            <a:p>
              <a:pPr>
                <a:lnSpc>
                  <a:spcPct val="150000"/>
                </a:lnSpc>
              </a:pPr>
              <a:endPar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grpSp>
      <p:pic>
        <p:nvPicPr>
          <p:cNvPr id="19" name="图片 18"/>
          <p:cNvPicPr>
            <a:picLocks noChangeAspect="1"/>
          </p:cNvPicPr>
          <p:nvPr/>
        </p:nvPicPr>
        <p:blipFill>
          <a:blip r:embed="rId3"/>
          <a:stretch>
            <a:fillRect/>
          </a:stretch>
        </p:blipFill>
        <p:spPr>
          <a:xfrm>
            <a:off x="5298440" y="3255010"/>
            <a:ext cx="6390640" cy="3112135"/>
          </a:xfrm>
          <a:prstGeom prst="rect">
            <a:avLst/>
          </a:prstGeom>
        </p:spPr>
      </p:pic>
      <p:sp>
        <p:nvSpPr>
          <p:cNvPr id="20" name="文本框 19"/>
          <p:cNvSpPr txBox="1"/>
          <p:nvPr/>
        </p:nvSpPr>
        <p:spPr>
          <a:xfrm>
            <a:off x="926465" y="97280"/>
            <a:ext cx="2320925" cy="829945"/>
          </a:xfrm>
          <a:prstGeom prst="rect">
            <a:avLst/>
          </a:prstGeom>
          <a:noFill/>
        </p:spPr>
        <p:txBody>
          <a:bodyPr wrap="square" rtlCol="0">
            <a:spAutoFit/>
          </a:bodyPr>
          <a:lstStyle/>
          <a:p>
            <a:pPr algn="ctr"/>
            <a:r>
              <a:rPr lang="zh-CN" altLang="en-US" sz="24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rPr>
              <a:t>蜂鸟E200的协处理器接口EA</a:t>
            </a:r>
            <a:r>
              <a:rPr lang="en-US" altLang="zh-CN" sz="24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rPr>
              <a:t>I</a:t>
            </a:r>
            <a:endParaRPr lang="en-US" altLang="zh-CN" sz="2400" b="1" spc="6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202277"/>
            <a:ext cx="12181840" cy="375920"/>
            <a:chOff x="0" y="294640"/>
            <a:chExt cx="12181840" cy="375920"/>
          </a:xfrm>
        </p:grpSpPr>
        <p:grpSp>
          <p:nvGrpSpPr>
            <p:cNvPr id="3" name="组合 2"/>
            <p:cNvGrpSpPr/>
            <p:nvPr/>
          </p:nvGrpSpPr>
          <p:grpSpPr>
            <a:xfrm>
              <a:off x="0" y="294640"/>
              <a:ext cx="880552" cy="375920"/>
              <a:chOff x="0" y="294640"/>
              <a:chExt cx="1094740" cy="467360"/>
            </a:xfrm>
            <a:solidFill>
              <a:srgbClr val="EE8A10"/>
            </a:solidFill>
          </p:grpSpPr>
          <p:sp>
            <p:nvSpPr>
              <p:cNvPr id="12"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3356076" y="408709"/>
              <a:ext cx="1749361" cy="147782"/>
              <a:chOff x="635462" y="775854"/>
              <a:chExt cx="1749361" cy="147782"/>
            </a:xfrm>
            <a:solidFill>
              <a:srgbClr val="EE8A10"/>
            </a:solidFill>
          </p:grpSpPr>
          <p:sp>
            <p:nvSpPr>
              <p:cNvPr id="7" name="椭圆 6"/>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6" name="直接连接符 5"/>
            <p:cNvCxnSpPr/>
            <p:nvPr/>
          </p:nvCxnSpPr>
          <p:spPr>
            <a:xfrm>
              <a:off x="5212080" y="477520"/>
              <a:ext cx="6969760"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833063" y="908483"/>
            <a:ext cx="10840356" cy="3960714"/>
            <a:chOff x="926408" y="1820978"/>
            <a:chExt cx="10840356" cy="3960714"/>
          </a:xfrm>
        </p:grpSpPr>
        <p:grpSp>
          <p:nvGrpSpPr>
            <p:cNvPr id="16" name="组合 15"/>
            <p:cNvGrpSpPr/>
            <p:nvPr/>
          </p:nvGrpSpPr>
          <p:grpSpPr>
            <a:xfrm>
              <a:off x="926408" y="1820978"/>
              <a:ext cx="3935614" cy="3960714"/>
              <a:chOff x="4369714" y="1686560"/>
              <a:chExt cx="3472891" cy="3495040"/>
            </a:xfrm>
          </p:grpSpPr>
          <p:grpSp>
            <p:nvGrpSpPr>
              <p:cNvPr id="29" name="组合 28"/>
              <p:cNvGrpSpPr/>
              <p:nvPr/>
            </p:nvGrpSpPr>
            <p:grpSpPr>
              <a:xfrm>
                <a:off x="4369714" y="1686560"/>
                <a:ext cx="3472891" cy="3495040"/>
                <a:chOff x="1849120" y="1498600"/>
                <a:chExt cx="3982720" cy="4008120"/>
              </a:xfrm>
            </p:grpSpPr>
            <p:sp>
              <p:nvSpPr>
                <p:cNvPr id="31" name="矩形 30"/>
                <p:cNvSpPr/>
                <p:nvPr/>
              </p:nvSpPr>
              <p:spPr>
                <a:xfrm>
                  <a:off x="1849120" y="1498600"/>
                  <a:ext cx="1930400" cy="1930400"/>
                </a:xfrm>
                <a:prstGeom prst="rect">
                  <a:avLst/>
                </a:prstGeom>
                <a:blipFill dpi="0" rotWithShape="1">
                  <a:blip r:embed="rId1"/>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32" name="矩形 31"/>
                <p:cNvSpPr/>
                <p:nvPr/>
              </p:nvSpPr>
              <p:spPr>
                <a:xfrm>
                  <a:off x="3901440" y="3576320"/>
                  <a:ext cx="1930400" cy="1930400"/>
                </a:xfrm>
                <a:prstGeom prst="rect">
                  <a:avLst/>
                </a:prstGeom>
                <a:blipFill dpi="0" rotWithShape="1">
                  <a:blip r:embed="rId1"/>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33" name="矩形 32"/>
                <p:cNvSpPr/>
                <p:nvPr/>
              </p:nvSpPr>
              <p:spPr>
                <a:xfrm>
                  <a:off x="1849120" y="3576320"/>
                  <a:ext cx="1930400" cy="1930400"/>
                </a:xfrm>
                <a:prstGeom prst="rect">
                  <a:avLst/>
                </a:prstGeom>
                <a:blipFill dpi="0" rotWithShape="1">
                  <a:blip r:embed="rId2"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34" name="矩形 33"/>
                <p:cNvSpPr/>
                <p:nvPr/>
              </p:nvSpPr>
              <p:spPr>
                <a:xfrm>
                  <a:off x="3901440" y="1498600"/>
                  <a:ext cx="1930400" cy="1930400"/>
                </a:xfrm>
                <a:prstGeom prst="rect">
                  <a:avLst/>
                </a:prstGeom>
                <a:blipFill dpi="0" rotWithShape="1">
                  <a:blip r:embed="rId2"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grpSp>
          <p:sp>
            <p:nvSpPr>
              <p:cNvPr id="30" name="矩形 29"/>
              <p:cNvSpPr/>
              <p:nvPr/>
            </p:nvSpPr>
            <p:spPr>
              <a:xfrm>
                <a:off x="5264689" y="2595880"/>
                <a:ext cx="1676400" cy="1676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EA</a:t>
                </a:r>
                <a:r>
                  <a:rPr lang="en-US"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I</a:t>
                </a:r>
                <a:r>
                  <a:rPr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接口时序</a:t>
                </a:r>
                <a:endParaRPr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grpSp>
        <p:sp>
          <p:nvSpPr>
            <p:cNvPr id="17" name="îṥļîḑé-Freeform: Shape 15"/>
            <p:cNvSpPr/>
            <p:nvPr/>
          </p:nvSpPr>
          <p:spPr bwMode="auto">
            <a:xfrm>
              <a:off x="5470877" y="1820978"/>
              <a:ext cx="427524" cy="426261"/>
            </a:xfrm>
            <a:custGeom>
              <a:avLst/>
              <a:gdLst>
                <a:gd name="T0" fmla="*/ 122 w 186"/>
                <a:gd name="T1" fmla="*/ 160 h 185"/>
                <a:gd name="T2" fmla="*/ 122 w 186"/>
                <a:gd name="T3" fmla="*/ 152 h 185"/>
                <a:gd name="T4" fmla="*/ 59 w 186"/>
                <a:gd name="T5" fmla="*/ 156 h 185"/>
                <a:gd name="T6" fmla="*/ 63 w 186"/>
                <a:gd name="T7" fmla="*/ 143 h 185"/>
                <a:gd name="T8" fmla="*/ 110 w 186"/>
                <a:gd name="T9" fmla="*/ 139 h 185"/>
                <a:gd name="T10" fmla="*/ 63 w 186"/>
                <a:gd name="T11" fmla="*/ 135 h 185"/>
                <a:gd name="T12" fmla="*/ 63 w 186"/>
                <a:gd name="T13" fmla="*/ 143 h 185"/>
                <a:gd name="T14" fmla="*/ 152 w 186"/>
                <a:gd name="T15" fmla="*/ 50 h 185"/>
                <a:gd name="T16" fmla="*/ 143 w 186"/>
                <a:gd name="T17" fmla="*/ 0 h 185"/>
                <a:gd name="T18" fmla="*/ 34 w 186"/>
                <a:gd name="T19" fmla="*/ 8 h 185"/>
                <a:gd name="T20" fmla="*/ 25 w 186"/>
                <a:gd name="T21" fmla="*/ 50 h 185"/>
                <a:gd name="T22" fmla="*/ 0 w 186"/>
                <a:gd name="T23" fmla="*/ 143 h 185"/>
                <a:gd name="T24" fmla="*/ 34 w 186"/>
                <a:gd name="T25" fmla="*/ 169 h 185"/>
                <a:gd name="T26" fmla="*/ 42 w 186"/>
                <a:gd name="T27" fmla="*/ 185 h 185"/>
                <a:gd name="T28" fmla="*/ 152 w 186"/>
                <a:gd name="T29" fmla="*/ 177 h 185"/>
                <a:gd name="T30" fmla="*/ 160 w 186"/>
                <a:gd name="T31" fmla="*/ 169 h 185"/>
                <a:gd name="T32" fmla="*/ 186 w 186"/>
                <a:gd name="T33" fmla="*/ 76 h 185"/>
                <a:gd name="T34" fmla="*/ 42 w 186"/>
                <a:gd name="T35" fmla="*/ 8 h 185"/>
                <a:gd name="T36" fmla="*/ 143 w 186"/>
                <a:gd name="T37" fmla="*/ 50 h 185"/>
                <a:gd name="T38" fmla="*/ 42 w 186"/>
                <a:gd name="T39" fmla="*/ 8 h 185"/>
                <a:gd name="T40" fmla="*/ 42 w 186"/>
                <a:gd name="T41" fmla="*/ 177 h 185"/>
                <a:gd name="T42" fmla="*/ 143 w 186"/>
                <a:gd name="T43" fmla="*/ 126 h 185"/>
                <a:gd name="T44" fmla="*/ 177 w 186"/>
                <a:gd name="T45" fmla="*/ 143 h 185"/>
                <a:gd name="T46" fmla="*/ 152 w 186"/>
                <a:gd name="T47" fmla="*/ 160 h 185"/>
                <a:gd name="T48" fmla="*/ 143 w 186"/>
                <a:gd name="T49" fmla="*/ 118 h 185"/>
                <a:gd name="T50" fmla="*/ 34 w 186"/>
                <a:gd name="T51" fmla="*/ 126 h 185"/>
                <a:gd name="T52" fmla="*/ 25 w 186"/>
                <a:gd name="T53" fmla="*/ 160 h 185"/>
                <a:gd name="T54" fmla="*/ 8 w 186"/>
                <a:gd name="T55" fmla="*/ 76 h 185"/>
                <a:gd name="T56" fmla="*/ 160 w 186"/>
                <a:gd name="T57" fmla="*/ 59 h 185"/>
                <a:gd name="T58" fmla="*/ 177 w 186"/>
                <a:gd name="T59" fmla="*/ 143 h 185"/>
                <a:gd name="T60" fmla="*/ 143 w 186"/>
                <a:gd name="T61" fmla="*/ 84 h 185"/>
                <a:gd name="T62" fmla="*/ 160 w 186"/>
                <a:gd name="T63" fmla="*/ 84 h 185"/>
                <a:gd name="T64" fmla="*/ 127 w 186"/>
                <a:gd name="T65" fmla="*/ 76 h 185"/>
                <a:gd name="T66" fmla="*/ 127 w 186"/>
                <a:gd name="T67" fmla="*/ 93 h 185"/>
                <a:gd name="T68" fmla="*/ 127 w 186"/>
                <a:gd name="T69" fmla="*/ 76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6" h="185">
                  <a:moveTo>
                    <a:pt x="63" y="160"/>
                  </a:moveTo>
                  <a:cubicBezTo>
                    <a:pt x="122" y="160"/>
                    <a:pt x="122" y="160"/>
                    <a:pt x="122" y="160"/>
                  </a:cubicBezTo>
                  <a:cubicBezTo>
                    <a:pt x="125" y="160"/>
                    <a:pt x="127" y="158"/>
                    <a:pt x="127" y="156"/>
                  </a:cubicBezTo>
                  <a:cubicBezTo>
                    <a:pt x="127" y="154"/>
                    <a:pt x="125" y="152"/>
                    <a:pt x="122" y="152"/>
                  </a:cubicBezTo>
                  <a:cubicBezTo>
                    <a:pt x="63" y="152"/>
                    <a:pt x="63" y="152"/>
                    <a:pt x="63" y="152"/>
                  </a:cubicBezTo>
                  <a:cubicBezTo>
                    <a:pt x="61" y="152"/>
                    <a:pt x="59" y="154"/>
                    <a:pt x="59" y="156"/>
                  </a:cubicBezTo>
                  <a:cubicBezTo>
                    <a:pt x="59" y="158"/>
                    <a:pt x="61" y="160"/>
                    <a:pt x="63" y="160"/>
                  </a:cubicBezTo>
                  <a:close/>
                  <a:moveTo>
                    <a:pt x="63" y="143"/>
                  </a:moveTo>
                  <a:cubicBezTo>
                    <a:pt x="106" y="143"/>
                    <a:pt x="106" y="143"/>
                    <a:pt x="106" y="143"/>
                  </a:cubicBezTo>
                  <a:cubicBezTo>
                    <a:pt x="108" y="143"/>
                    <a:pt x="110" y="141"/>
                    <a:pt x="110" y="139"/>
                  </a:cubicBezTo>
                  <a:cubicBezTo>
                    <a:pt x="110" y="137"/>
                    <a:pt x="108" y="135"/>
                    <a:pt x="106" y="135"/>
                  </a:cubicBezTo>
                  <a:cubicBezTo>
                    <a:pt x="63" y="135"/>
                    <a:pt x="63" y="135"/>
                    <a:pt x="63" y="135"/>
                  </a:cubicBezTo>
                  <a:cubicBezTo>
                    <a:pt x="61" y="135"/>
                    <a:pt x="59" y="137"/>
                    <a:pt x="59" y="139"/>
                  </a:cubicBezTo>
                  <a:cubicBezTo>
                    <a:pt x="59" y="141"/>
                    <a:pt x="61" y="143"/>
                    <a:pt x="63" y="143"/>
                  </a:cubicBezTo>
                  <a:close/>
                  <a:moveTo>
                    <a:pt x="160" y="50"/>
                  </a:moveTo>
                  <a:cubicBezTo>
                    <a:pt x="152" y="50"/>
                    <a:pt x="152" y="50"/>
                    <a:pt x="152" y="50"/>
                  </a:cubicBezTo>
                  <a:cubicBezTo>
                    <a:pt x="152" y="8"/>
                    <a:pt x="152" y="8"/>
                    <a:pt x="152" y="8"/>
                  </a:cubicBezTo>
                  <a:cubicBezTo>
                    <a:pt x="152" y="4"/>
                    <a:pt x="148" y="0"/>
                    <a:pt x="143" y="0"/>
                  </a:cubicBezTo>
                  <a:cubicBezTo>
                    <a:pt x="42" y="0"/>
                    <a:pt x="42" y="0"/>
                    <a:pt x="42" y="0"/>
                  </a:cubicBezTo>
                  <a:cubicBezTo>
                    <a:pt x="38" y="0"/>
                    <a:pt x="34" y="4"/>
                    <a:pt x="34" y="8"/>
                  </a:cubicBezTo>
                  <a:cubicBezTo>
                    <a:pt x="34" y="50"/>
                    <a:pt x="34" y="50"/>
                    <a:pt x="34" y="50"/>
                  </a:cubicBezTo>
                  <a:cubicBezTo>
                    <a:pt x="25" y="50"/>
                    <a:pt x="25" y="50"/>
                    <a:pt x="25" y="50"/>
                  </a:cubicBezTo>
                  <a:cubicBezTo>
                    <a:pt x="11" y="50"/>
                    <a:pt x="0" y="62"/>
                    <a:pt x="0" y="76"/>
                  </a:cubicBezTo>
                  <a:cubicBezTo>
                    <a:pt x="0" y="143"/>
                    <a:pt x="0" y="143"/>
                    <a:pt x="0" y="143"/>
                  </a:cubicBezTo>
                  <a:cubicBezTo>
                    <a:pt x="0" y="157"/>
                    <a:pt x="11" y="169"/>
                    <a:pt x="25" y="169"/>
                  </a:cubicBezTo>
                  <a:cubicBezTo>
                    <a:pt x="34" y="169"/>
                    <a:pt x="34" y="169"/>
                    <a:pt x="34" y="169"/>
                  </a:cubicBezTo>
                  <a:cubicBezTo>
                    <a:pt x="34" y="177"/>
                    <a:pt x="34" y="177"/>
                    <a:pt x="34" y="177"/>
                  </a:cubicBezTo>
                  <a:cubicBezTo>
                    <a:pt x="34" y="182"/>
                    <a:pt x="38" y="185"/>
                    <a:pt x="42" y="185"/>
                  </a:cubicBezTo>
                  <a:cubicBezTo>
                    <a:pt x="143" y="185"/>
                    <a:pt x="143" y="185"/>
                    <a:pt x="143" y="185"/>
                  </a:cubicBezTo>
                  <a:cubicBezTo>
                    <a:pt x="148" y="185"/>
                    <a:pt x="152" y="182"/>
                    <a:pt x="152" y="177"/>
                  </a:cubicBezTo>
                  <a:cubicBezTo>
                    <a:pt x="152" y="169"/>
                    <a:pt x="152" y="169"/>
                    <a:pt x="152" y="169"/>
                  </a:cubicBezTo>
                  <a:cubicBezTo>
                    <a:pt x="160" y="169"/>
                    <a:pt x="160" y="169"/>
                    <a:pt x="160" y="169"/>
                  </a:cubicBezTo>
                  <a:cubicBezTo>
                    <a:pt x="174" y="169"/>
                    <a:pt x="186" y="157"/>
                    <a:pt x="186" y="143"/>
                  </a:cubicBezTo>
                  <a:cubicBezTo>
                    <a:pt x="186" y="76"/>
                    <a:pt x="186" y="76"/>
                    <a:pt x="186" y="76"/>
                  </a:cubicBezTo>
                  <a:cubicBezTo>
                    <a:pt x="186" y="62"/>
                    <a:pt x="174" y="50"/>
                    <a:pt x="160" y="50"/>
                  </a:cubicBezTo>
                  <a:close/>
                  <a:moveTo>
                    <a:pt x="42" y="8"/>
                  </a:moveTo>
                  <a:cubicBezTo>
                    <a:pt x="143" y="8"/>
                    <a:pt x="143" y="8"/>
                    <a:pt x="143" y="8"/>
                  </a:cubicBezTo>
                  <a:cubicBezTo>
                    <a:pt x="143" y="50"/>
                    <a:pt x="143" y="50"/>
                    <a:pt x="143" y="50"/>
                  </a:cubicBezTo>
                  <a:cubicBezTo>
                    <a:pt x="42" y="50"/>
                    <a:pt x="42" y="50"/>
                    <a:pt x="42" y="50"/>
                  </a:cubicBezTo>
                  <a:lnTo>
                    <a:pt x="42" y="8"/>
                  </a:lnTo>
                  <a:close/>
                  <a:moveTo>
                    <a:pt x="143" y="177"/>
                  </a:moveTo>
                  <a:cubicBezTo>
                    <a:pt x="42" y="177"/>
                    <a:pt x="42" y="177"/>
                    <a:pt x="42" y="177"/>
                  </a:cubicBezTo>
                  <a:cubicBezTo>
                    <a:pt x="42" y="126"/>
                    <a:pt x="42" y="126"/>
                    <a:pt x="42" y="126"/>
                  </a:cubicBezTo>
                  <a:cubicBezTo>
                    <a:pt x="143" y="126"/>
                    <a:pt x="143" y="126"/>
                    <a:pt x="143" y="126"/>
                  </a:cubicBezTo>
                  <a:lnTo>
                    <a:pt x="143" y="177"/>
                  </a:lnTo>
                  <a:close/>
                  <a:moveTo>
                    <a:pt x="177" y="143"/>
                  </a:moveTo>
                  <a:cubicBezTo>
                    <a:pt x="177" y="153"/>
                    <a:pt x="170" y="160"/>
                    <a:pt x="160" y="160"/>
                  </a:cubicBezTo>
                  <a:cubicBezTo>
                    <a:pt x="152" y="160"/>
                    <a:pt x="152" y="160"/>
                    <a:pt x="152" y="160"/>
                  </a:cubicBezTo>
                  <a:cubicBezTo>
                    <a:pt x="152" y="126"/>
                    <a:pt x="152" y="126"/>
                    <a:pt x="152" y="126"/>
                  </a:cubicBezTo>
                  <a:cubicBezTo>
                    <a:pt x="152" y="122"/>
                    <a:pt x="148" y="118"/>
                    <a:pt x="143" y="118"/>
                  </a:cubicBezTo>
                  <a:cubicBezTo>
                    <a:pt x="42" y="118"/>
                    <a:pt x="42" y="118"/>
                    <a:pt x="42" y="118"/>
                  </a:cubicBezTo>
                  <a:cubicBezTo>
                    <a:pt x="38" y="118"/>
                    <a:pt x="34" y="122"/>
                    <a:pt x="34" y="126"/>
                  </a:cubicBezTo>
                  <a:cubicBezTo>
                    <a:pt x="34" y="160"/>
                    <a:pt x="34" y="160"/>
                    <a:pt x="34" y="160"/>
                  </a:cubicBezTo>
                  <a:cubicBezTo>
                    <a:pt x="25" y="160"/>
                    <a:pt x="25" y="160"/>
                    <a:pt x="25" y="160"/>
                  </a:cubicBezTo>
                  <a:cubicBezTo>
                    <a:pt x="16" y="160"/>
                    <a:pt x="8" y="153"/>
                    <a:pt x="8" y="143"/>
                  </a:cubicBezTo>
                  <a:cubicBezTo>
                    <a:pt x="8" y="76"/>
                    <a:pt x="8" y="76"/>
                    <a:pt x="8" y="76"/>
                  </a:cubicBezTo>
                  <a:cubicBezTo>
                    <a:pt x="8" y="66"/>
                    <a:pt x="16" y="59"/>
                    <a:pt x="25" y="59"/>
                  </a:cubicBezTo>
                  <a:cubicBezTo>
                    <a:pt x="160" y="59"/>
                    <a:pt x="160" y="59"/>
                    <a:pt x="160" y="59"/>
                  </a:cubicBezTo>
                  <a:cubicBezTo>
                    <a:pt x="170" y="59"/>
                    <a:pt x="177" y="66"/>
                    <a:pt x="177" y="76"/>
                  </a:cubicBezTo>
                  <a:lnTo>
                    <a:pt x="177" y="143"/>
                  </a:lnTo>
                  <a:close/>
                  <a:moveTo>
                    <a:pt x="152" y="76"/>
                  </a:moveTo>
                  <a:cubicBezTo>
                    <a:pt x="147" y="76"/>
                    <a:pt x="143" y="79"/>
                    <a:pt x="143" y="84"/>
                  </a:cubicBezTo>
                  <a:cubicBezTo>
                    <a:pt x="143" y="89"/>
                    <a:pt x="147" y="93"/>
                    <a:pt x="152" y="93"/>
                  </a:cubicBezTo>
                  <a:cubicBezTo>
                    <a:pt x="157" y="93"/>
                    <a:pt x="160" y="89"/>
                    <a:pt x="160" y="84"/>
                  </a:cubicBezTo>
                  <a:cubicBezTo>
                    <a:pt x="160" y="79"/>
                    <a:pt x="157" y="76"/>
                    <a:pt x="152" y="76"/>
                  </a:cubicBezTo>
                  <a:close/>
                  <a:moveTo>
                    <a:pt x="127" y="76"/>
                  </a:moveTo>
                  <a:cubicBezTo>
                    <a:pt x="122" y="76"/>
                    <a:pt x="118" y="79"/>
                    <a:pt x="118" y="84"/>
                  </a:cubicBezTo>
                  <a:cubicBezTo>
                    <a:pt x="118" y="89"/>
                    <a:pt x="122" y="93"/>
                    <a:pt x="127" y="93"/>
                  </a:cubicBezTo>
                  <a:cubicBezTo>
                    <a:pt x="131" y="93"/>
                    <a:pt x="135" y="89"/>
                    <a:pt x="135" y="84"/>
                  </a:cubicBezTo>
                  <a:cubicBezTo>
                    <a:pt x="135" y="79"/>
                    <a:pt x="131" y="76"/>
                    <a:pt x="127" y="76"/>
                  </a:cubicBezTo>
                  <a:close/>
                </a:path>
              </a:pathLst>
            </a:custGeom>
            <a:solidFill>
              <a:schemeClr val="accent1">
                <a:lumMod val="50000"/>
              </a:schemeClr>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1" name="文本框 20"/>
            <p:cNvSpPr txBox="1"/>
            <p:nvPr/>
          </p:nvSpPr>
          <p:spPr>
            <a:xfrm>
              <a:off x="6017838" y="1820978"/>
              <a:ext cx="2762885" cy="398780"/>
            </a:xfrm>
            <a:prstGeom prst="rect">
              <a:avLst/>
            </a:prstGeom>
            <a:noFill/>
          </p:spPr>
          <p:txBody>
            <a:bodyPr wrap="square" rtlCol="0">
              <a:spAutoFit/>
            </a:bodyPr>
            <a:lstStyle/>
            <a:p>
              <a:r>
                <a:rPr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EA</a:t>
              </a:r>
              <a:r>
                <a:rPr lang="en-US"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I</a:t>
              </a:r>
              <a:r>
                <a:rPr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接口时序</a:t>
              </a:r>
              <a:endParaRPr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2" name="文本框 21"/>
            <p:cNvSpPr txBox="1"/>
            <p:nvPr/>
          </p:nvSpPr>
          <p:spPr>
            <a:xfrm>
              <a:off x="9420767" y="3866899"/>
              <a:ext cx="2345997" cy="398780"/>
            </a:xfrm>
            <a:prstGeom prst="rect">
              <a:avLst/>
            </a:prstGeom>
            <a:noFill/>
          </p:spPr>
          <p:txBody>
            <a:bodyPr wrap="square" rtlCol="0">
              <a:spAutoFit/>
            </a:bodyPr>
            <a:lstStyle/>
            <a:p>
              <a:endParaRPr lang="zh-CN" altLang="en-US"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4" name="文本框 23"/>
            <p:cNvSpPr txBox="1"/>
            <p:nvPr/>
          </p:nvSpPr>
          <p:spPr>
            <a:xfrm>
              <a:off x="5836418" y="3881999"/>
              <a:ext cx="2345997" cy="398780"/>
            </a:xfrm>
            <a:prstGeom prst="rect">
              <a:avLst/>
            </a:prstGeom>
            <a:noFill/>
          </p:spPr>
          <p:txBody>
            <a:bodyPr wrap="square" rtlCol="0">
              <a:spAutoFit/>
            </a:bodyPr>
            <a:lstStyle/>
            <a:p>
              <a:endParaRPr lang="zh-CN" altLang="en-US"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5" name="矩形 24"/>
            <p:cNvSpPr/>
            <p:nvPr/>
          </p:nvSpPr>
          <p:spPr>
            <a:xfrm>
              <a:off x="5471103" y="2436928"/>
              <a:ext cx="5937885" cy="2353310"/>
            </a:xfrm>
            <a:prstGeom prst="rect">
              <a:avLst/>
            </a:prstGeom>
          </p:spPr>
          <p:txBody>
            <a:bodyPr wrap="square">
              <a:spAutoFit/>
            </a:bodyPr>
            <a:lstStyle/>
            <a:p>
              <a:pPr>
                <a:lnSpc>
                  <a:spcPct val="150000"/>
                </a:lnSpc>
              </a:pPr>
              <a:r>
                <a:rPr 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EAI</a:t>
              </a:r>
              <a:r>
                <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接口的</a:t>
              </a:r>
              <a:r>
                <a:rPr lang="en-US" altLang="zh-CN"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7</a:t>
              </a:r>
              <a:r>
                <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个经典时序：</a:t>
              </a:r>
              <a:endPar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a:p>
              <a:pPr>
                <a:lnSpc>
                  <a:spcPct val="150000"/>
                </a:lnSpc>
              </a:pPr>
              <a:r>
                <a:rPr lang="en-US" altLang="zh-CN"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·主处理器向协处理器通过EAI的</a:t>
              </a:r>
              <a:r>
                <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请求通道</a:t>
              </a:r>
              <a:r>
                <a:rPr lang="en-US" altLang="zh-CN"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派发指令，协处理器译码出该指令需要访问存储器，则将存储器独占信号拉高，协处理器通过</a:t>
              </a:r>
              <a:r>
                <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存储器请求通道</a:t>
              </a:r>
              <a:r>
                <a:rPr lang="en-US" altLang="zh-CN"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向主处理器LSU发起读写请求，主处理器通过</a:t>
              </a:r>
              <a:r>
                <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存储器请求通道</a:t>
              </a:r>
              <a:r>
                <a:rPr lang="en-US" altLang="zh-CN"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在多个周期之后返回结果，但是结果指示读写存储器是发生了错误，协处理器继而将存储器独占信号拉低</a:t>
              </a:r>
              <a:endParaRPr lang="en-US" altLang="zh-CN"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a:p>
              <a:pPr>
                <a:lnSpc>
                  <a:spcPct val="150000"/>
                </a:lnSpc>
              </a:pPr>
              <a:endParaRPr lang="en-US" altLang="zh-CN"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8" name="矩形 27"/>
            <p:cNvSpPr/>
            <p:nvPr/>
          </p:nvSpPr>
          <p:spPr>
            <a:xfrm>
              <a:off x="8880909" y="2313097"/>
              <a:ext cx="2527814" cy="414020"/>
            </a:xfrm>
            <a:prstGeom prst="rect">
              <a:avLst/>
            </a:prstGeom>
          </p:spPr>
          <p:txBody>
            <a:bodyPr wrap="square">
              <a:spAutoFit/>
            </a:bodyPr>
            <a:lstStyle/>
            <a:p>
              <a:pPr>
                <a:lnSpc>
                  <a:spcPct val="150000"/>
                </a:lnSpc>
              </a:pPr>
              <a:endPar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grpSp>
      <p:pic>
        <p:nvPicPr>
          <p:cNvPr id="18" name="图片 17"/>
          <p:cNvPicPr>
            <a:picLocks noChangeAspect="1"/>
          </p:cNvPicPr>
          <p:nvPr/>
        </p:nvPicPr>
        <p:blipFill>
          <a:blip r:embed="rId3"/>
          <a:stretch>
            <a:fillRect/>
          </a:stretch>
        </p:blipFill>
        <p:spPr>
          <a:xfrm>
            <a:off x="5211445" y="3466465"/>
            <a:ext cx="6728460" cy="3391535"/>
          </a:xfrm>
          <a:prstGeom prst="rect">
            <a:avLst/>
          </a:prstGeom>
        </p:spPr>
      </p:pic>
      <p:sp>
        <p:nvSpPr>
          <p:cNvPr id="19" name="文本框 18"/>
          <p:cNvSpPr txBox="1"/>
          <p:nvPr/>
        </p:nvSpPr>
        <p:spPr>
          <a:xfrm>
            <a:off x="926465" y="97280"/>
            <a:ext cx="2320925" cy="829945"/>
          </a:xfrm>
          <a:prstGeom prst="rect">
            <a:avLst/>
          </a:prstGeom>
          <a:noFill/>
        </p:spPr>
        <p:txBody>
          <a:bodyPr wrap="square" rtlCol="0">
            <a:spAutoFit/>
          </a:bodyPr>
          <a:lstStyle/>
          <a:p>
            <a:pPr algn="ctr"/>
            <a:r>
              <a:rPr lang="zh-CN" altLang="en-US" sz="24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rPr>
              <a:t>蜂鸟E200的协处理器接口EA</a:t>
            </a:r>
            <a:r>
              <a:rPr lang="en-US" altLang="zh-CN" sz="24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rPr>
              <a:t>I</a:t>
            </a:r>
            <a:endParaRPr lang="en-US" altLang="zh-CN" sz="2400" b="1" spc="6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202277"/>
            <a:ext cx="12181840" cy="375920"/>
            <a:chOff x="0" y="294640"/>
            <a:chExt cx="12181840" cy="375920"/>
          </a:xfrm>
        </p:grpSpPr>
        <p:grpSp>
          <p:nvGrpSpPr>
            <p:cNvPr id="3" name="组合 2"/>
            <p:cNvGrpSpPr/>
            <p:nvPr/>
          </p:nvGrpSpPr>
          <p:grpSpPr>
            <a:xfrm>
              <a:off x="0" y="294640"/>
              <a:ext cx="880552" cy="375920"/>
              <a:chOff x="0" y="294640"/>
              <a:chExt cx="1094740" cy="467360"/>
            </a:xfrm>
            <a:solidFill>
              <a:srgbClr val="EE8A10"/>
            </a:solidFill>
          </p:grpSpPr>
          <p:sp>
            <p:nvSpPr>
              <p:cNvPr id="12"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3356076" y="408709"/>
              <a:ext cx="1749361" cy="147782"/>
              <a:chOff x="635462" y="775854"/>
              <a:chExt cx="1749361" cy="147782"/>
            </a:xfrm>
            <a:solidFill>
              <a:srgbClr val="EE8A10"/>
            </a:solidFill>
          </p:grpSpPr>
          <p:sp>
            <p:nvSpPr>
              <p:cNvPr id="7" name="椭圆 6"/>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6" name="直接连接符 5"/>
            <p:cNvCxnSpPr/>
            <p:nvPr/>
          </p:nvCxnSpPr>
          <p:spPr>
            <a:xfrm>
              <a:off x="5212080" y="477520"/>
              <a:ext cx="6969760"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833063" y="908483"/>
            <a:ext cx="10840356" cy="3960714"/>
            <a:chOff x="926408" y="1820978"/>
            <a:chExt cx="10840356" cy="3960714"/>
          </a:xfrm>
        </p:grpSpPr>
        <p:grpSp>
          <p:nvGrpSpPr>
            <p:cNvPr id="16" name="组合 15"/>
            <p:cNvGrpSpPr/>
            <p:nvPr/>
          </p:nvGrpSpPr>
          <p:grpSpPr>
            <a:xfrm>
              <a:off x="926408" y="1820978"/>
              <a:ext cx="3935614" cy="3960714"/>
              <a:chOff x="4369714" y="1686560"/>
              <a:chExt cx="3472891" cy="3495040"/>
            </a:xfrm>
          </p:grpSpPr>
          <p:grpSp>
            <p:nvGrpSpPr>
              <p:cNvPr id="29" name="组合 28"/>
              <p:cNvGrpSpPr/>
              <p:nvPr/>
            </p:nvGrpSpPr>
            <p:grpSpPr>
              <a:xfrm>
                <a:off x="4369714" y="1686560"/>
                <a:ext cx="3472891" cy="3495040"/>
                <a:chOff x="1849120" y="1498600"/>
                <a:chExt cx="3982720" cy="4008120"/>
              </a:xfrm>
            </p:grpSpPr>
            <p:sp>
              <p:nvSpPr>
                <p:cNvPr id="31" name="矩形 30"/>
                <p:cNvSpPr/>
                <p:nvPr/>
              </p:nvSpPr>
              <p:spPr>
                <a:xfrm>
                  <a:off x="1849120" y="1498600"/>
                  <a:ext cx="1930400" cy="1930400"/>
                </a:xfrm>
                <a:prstGeom prst="rect">
                  <a:avLst/>
                </a:prstGeom>
                <a:blipFill dpi="0" rotWithShape="1">
                  <a:blip r:embed="rId1"/>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32" name="矩形 31"/>
                <p:cNvSpPr/>
                <p:nvPr/>
              </p:nvSpPr>
              <p:spPr>
                <a:xfrm>
                  <a:off x="3901440" y="3576320"/>
                  <a:ext cx="1930400" cy="1930400"/>
                </a:xfrm>
                <a:prstGeom prst="rect">
                  <a:avLst/>
                </a:prstGeom>
                <a:blipFill dpi="0" rotWithShape="1">
                  <a:blip r:embed="rId1"/>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33" name="矩形 32"/>
                <p:cNvSpPr/>
                <p:nvPr/>
              </p:nvSpPr>
              <p:spPr>
                <a:xfrm>
                  <a:off x="1849120" y="3576320"/>
                  <a:ext cx="1930400" cy="1930400"/>
                </a:xfrm>
                <a:prstGeom prst="rect">
                  <a:avLst/>
                </a:prstGeom>
                <a:blipFill dpi="0" rotWithShape="1">
                  <a:blip r:embed="rId2"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34" name="矩形 33"/>
                <p:cNvSpPr/>
                <p:nvPr/>
              </p:nvSpPr>
              <p:spPr>
                <a:xfrm>
                  <a:off x="3901440" y="1498600"/>
                  <a:ext cx="1930400" cy="1930400"/>
                </a:xfrm>
                <a:prstGeom prst="rect">
                  <a:avLst/>
                </a:prstGeom>
                <a:blipFill dpi="0" rotWithShape="1">
                  <a:blip r:embed="rId2"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grpSp>
          <p:sp>
            <p:nvSpPr>
              <p:cNvPr id="30" name="矩形 29"/>
              <p:cNvSpPr/>
              <p:nvPr/>
            </p:nvSpPr>
            <p:spPr>
              <a:xfrm>
                <a:off x="5264689" y="2595880"/>
                <a:ext cx="1676400" cy="1676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EA</a:t>
                </a:r>
                <a:r>
                  <a:rPr lang="en-US"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I</a:t>
                </a:r>
                <a:r>
                  <a:rPr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接口时序</a:t>
                </a:r>
                <a:endParaRPr sz="36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grpSp>
        <p:sp>
          <p:nvSpPr>
            <p:cNvPr id="17" name="îṥļîḑé-Freeform: Shape 15"/>
            <p:cNvSpPr/>
            <p:nvPr/>
          </p:nvSpPr>
          <p:spPr bwMode="auto">
            <a:xfrm>
              <a:off x="5470877" y="1820978"/>
              <a:ext cx="427524" cy="426261"/>
            </a:xfrm>
            <a:custGeom>
              <a:avLst/>
              <a:gdLst>
                <a:gd name="T0" fmla="*/ 122 w 186"/>
                <a:gd name="T1" fmla="*/ 160 h 185"/>
                <a:gd name="T2" fmla="*/ 122 w 186"/>
                <a:gd name="T3" fmla="*/ 152 h 185"/>
                <a:gd name="T4" fmla="*/ 59 w 186"/>
                <a:gd name="T5" fmla="*/ 156 h 185"/>
                <a:gd name="T6" fmla="*/ 63 w 186"/>
                <a:gd name="T7" fmla="*/ 143 h 185"/>
                <a:gd name="T8" fmla="*/ 110 w 186"/>
                <a:gd name="T9" fmla="*/ 139 h 185"/>
                <a:gd name="T10" fmla="*/ 63 w 186"/>
                <a:gd name="T11" fmla="*/ 135 h 185"/>
                <a:gd name="T12" fmla="*/ 63 w 186"/>
                <a:gd name="T13" fmla="*/ 143 h 185"/>
                <a:gd name="T14" fmla="*/ 152 w 186"/>
                <a:gd name="T15" fmla="*/ 50 h 185"/>
                <a:gd name="T16" fmla="*/ 143 w 186"/>
                <a:gd name="T17" fmla="*/ 0 h 185"/>
                <a:gd name="T18" fmla="*/ 34 w 186"/>
                <a:gd name="T19" fmla="*/ 8 h 185"/>
                <a:gd name="T20" fmla="*/ 25 w 186"/>
                <a:gd name="T21" fmla="*/ 50 h 185"/>
                <a:gd name="T22" fmla="*/ 0 w 186"/>
                <a:gd name="T23" fmla="*/ 143 h 185"/>
                <a:gd name="T24" fmla="*/ 34 w 186"/>
                <a:gd name="T25" fmla="*/ 169 h 185"/>
                <a:gd name="T26" fmla="*/ 42 w 186"/>
                <a:gd name="T27" fmla="*/ 185 h 185"/>
                <a:gd name="T28" fmla="*/ 152 w 186"/>
                <a:gd name="T29" fmla="*/ 177 h 185"/>
                <a:gd name="T30" fmla="*/ 160 w 186"/>
                <a:gd name="T31" fmla="*/ 169 h 185"/>
                <a:gd name="T32" fmla="*/ 186 w 186"/>
                <a:gd name="T33" fmla="*/ 76 h 185"/>
                <a:gd name="T34" fmla="*/ 42 w 186"/>
                <a:gd name="T35" fmla="*/ 8 h 185"/>
                <a:gd name="T36" fmla="*/ 143 w 186"/>
                <a:gd name="T37" fmla="*/ 50 h 185"/>
                <a:gd name="T38" fmla="*/ 42 w 186"/>
                <a:gd name="T39" fmla="*/ 8 h 185"/>
                <a:gd name="T40" fmla="*/ 42 w 186"/>
                <a:gd name="T41" fmla="*/ 177 h 185"/>
                <a:gd name="T42" fmla="*/ 143 w 186"/>
                <a:gd name="T43" fmla="*/ 126 h 185"/>
                <a:gd name="T44" fmla="*/ 177 w 186"/>
                <a:gd name="T45" fmla="*/ 143 h 185"/>
                <a:gd name="T46" fmla="*/ 152 w 186"/>
                <a:gd name="T47" fmla="*/ 160 h 185"/>
                <a:gd name="T48" fmla="*/ 143 w 186"/>
                <a:gd name="T49" fmla="*/ 118 h 185"/>
                <a:gd name="T50" fmla="*/ 34 w 186"/>
                <a:gd name="T51" fmla="*/ 126 h 185"/>
                <a:gd name="T52" fmla="*/ 25 w 186"/>
                <a:gd name="T53" fmla="*/ 160 h 185"/>
                <a:gd name="T54" fmla="*/ 8 w 186"/>
                <a:gd name="T55" fmla="*/ 76 h 185"/>
                <a:gd name="T56" fmla="*/ 160 w 186"/>
                <a:gd name="T57" fmla="*/ 59 h 185"/>
                <a:gd name="T58" fmla="*/ 177 w 186"/>
                <a:gd name="T59" fmla="*/ 143 h 185"/>
                <a:gd name="T60" fmla="*/ 143 w 186"/>
                <a:gd name="T61" fmla="*/ 84 h 185"/>
                <a:gd name="T62" fmla="*/ 160 w 186"/>
                <a:gd name="T63" fmla="*/ 84 h 185"/>
                <a:gd name="T64" fmla="*/ 127 w 186"/>
                <a:gd name="T65" fmla="*/ 76 h 185"/>
                <a:gd name="T66" fmla="*/ 127 w 186"/>
                <a:gd name="T67" fmla="*/ 93 h 185"/>
                <a:gd name="T68" fmla="*/ 127 w 186"/>
                <a:gd name="T69" fmla="*/ 76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6" h="185">
                  <a:moveTo>
                    <a:pt x="63" y="160"/>
                  </a:moveTo>
                  <a:cubicBezTo>
                    <a:pt x="122" y="160"/>
                    <a:pt x="122" y="160"/>
                    <a:pt x="122" y="160"/>
                  </a:cubicBezTo>
                  <a:cubicBezTo>
                    <a:pt x="125" y="160"/>
                    <a:pt x="127" y="158"/>
                    <a:pt x="127" y="156"/>
                  </a:cubicBezTo>
                  <a:cubicBezTo>
                    <a:pt x="127" y="154"/>
                    <a:pt x="125" y="152"/>
                    <a:pt x="122" y="152"/>
                  </a:cubicBezTo>
                  <a:cubicBezTo>
                    <a:pt x="63" y="152"/>
                    <a:pt x="63" y="152"/>
                    <a:pt x="63" y="152"/>
                  </a:cubicBezTo>
                  <a:cubicBezTo>
                    <a:pt x="61" y="152"/>
                    <a:pt x="59" y="154"/>
                    <a:pt x="59" y="156"/>
                  </a:cubicBezTo>
                  <a:cubicBezTo>
                    <a:pt x="59" y="158"/>
                    <a:pt x="61" y="160"/>
                    <a:pt x="63" y="160"/>
                  </a:cubicBezTo>
                  <a:close/>
                  <a:moveTo>
                    <a:pt x="63" y="143"/>
                  </a:moveTo>
                  <a:cubicBezTo>
                    <a:pt x="106" y="143"/>
                    <a:pt x="106" y="143"/>
                    <a:pt x="106" y="143"/>
                  </a:cubicBezTo>
                  <a:cubicBezTo>
                    <a:pt x="108" y="143"/>
                    <a:pt x="110" y="141"/>
                    <a:pt x="110" y="139"/>
                  </a:cubicBezTo>
                  <a:cubicBezTo>
                    <a:pt x="110" y="137"/>
                    <a:pt x="108" y="135"/>
                    <a:pt x="106" y="135"/>
                  </a:cubicBezTo>
                  <a:cubicBezTo>
                    <a:pt x="63" y="135"/>
                    <a:pt x="63" y="135"/>
                    <a:pt x="63" y="135"/>
                  </a:cubicBezTo>
                  <a:cubicBezTo>
                    <a:pt x="61" y="135"/>
                    <a:pt x="59" y="137"/>
                    <a:pt x="59" y="139"/>
                  </a:cubicBezTo>
                  <a:cubicBezTo>
                    <a:pt x="59" y="141"/>
                    <a:pt x="61" y="143"/>
                    <a:pt x="63" y="143"/>
                  </a:cubicBezTo>
                  <a:close/>
                  <a:moveTo>
                    <a:pt x="160" y="50"/>
                  </a:moveTo>
                  <a:cubicBezTo>
                    <a:pt x="152" y="50"/>
                    <a:pt x="152" y="50"/>
                    <a:pt x="152" y="50"/>
                  </a:cubicBezTo>
                  <a:cubicBezTo>
                    <a:pt x="152" y="8"/>
                    <a:pt x="152" y="8"/>
                    <a:pt x="152" y="8"/>
                  </a:cubicBezTo>
                  <a:cubicBezTo>
                    <a:pt x="152" y="4"/>
                    <a:pt x="148" y="0"/>
                    <a:pt x="143" y="0"/>
                  </a:cubicBezTo>
                  <a:cubicBezTo>
                    <a:pt x="42" y="0"/>
                    <a:pt x="42" y="0"/>
                    <a:pt x="42" y="0"/>
                  </a:cubicBezTo>
                  <a:cubicBezTo>
                    <a:pt x="38" y="0"/>
                    <a:pt x="34" y="4"/>
                    <a:pt x="34" y="8"/>
                  </a:cubicBezTo>
                  <a:cubicBezTo>
                    <a:pt x="34" y="50"/>
                    <a:pt x="34" y="50"/>
                    <a:pt x="34" y="50"/>
                  </a:cubicBezTo>
                  <a:cubicBezTo>
                    <a:pt x="25" y="50"/>
                    <a:pt x="25" y="50"/>
                    <a:pt x="25" y="50"/>
                  </a:cubicBezTo>
                  <a:cubicBezTo>
                    <a:pt x="11" y="50"/>
                    <a:pt x="0" y="62"/>
                    <a:pt x="0" y="76"/>
                  </a:cubicBezTo>
                  <a:cubicBezTo>
                    <a:pt x="0" y="143"/>
                    <a:pt x="0" y="143"/>
                    <a:pt x="0" y="143"/>
                  </a:cubicBezTo>
                  <a:cubicBezTo>
                    <a:pt x="0" y="157"/>
                    <a:pt x="11" y="169"/>
                    <a:pt x="25" y="169"/>
                  </a:cubicBezTo>
                  <a:cubicBezTo>
                    <a:pt x="34" y="169"/>
                    <a:pt x="34" y="169"/>
                    <a:pt x="34" y="169"/>
                  </a:cubicBezTo>
                  <a:cubicBezTo>
                    <a:pt x="34" y="177"/>
                    <a:pt x="34" y="177"/>
                    <a:pt x="34" y="177"/>
                  </a:cubicBezTo>
                  <a:cubicBezTo>
                    <a:pt x="34" y="182"/>
                    <a:pt x="38" y="185"/>
                    <a:pt x="42" y="185"/>
                  </a:cubicBezTo>
                  <a:cubicBezTo>
                    <a:pt x="143" y="185"/>
                    <a:pt x="143" y="185"/>
                    <a:pt x="143" y="185"/>
                  </a:cubicBezTo>
                  <a:cubicBezTo>
                    <a:pt x="148" y="185"/>
                    <a:pt x="152" y="182"/>
                    <a:pt x="152" y="177"/>
                  </a:cubicBezTo>
                  <a:cubicBezTo>
                    <a:pt x="152" y="169"/>
                    <a:pt x="152" y="169"/>
                    <a:pt x="152" y="169"/>
                  </a:cubicBezTo>
                  <a:cubicBezTo>
                    <a:pt x="160" y="169"/>
                    <a:pt x="160" y="169"/>
                    <a:pt x="160" y="169"/>
                  </a:cubicBezTo>
                  <a:cubicBezTo>
                    <a:pt x="174" y="169"/>
                    <a:pt x="186" y="157"/>
                    <a:pt x="186" y="143"/>
                  </a:cubicBezTo>
                  <a:cubicBezTo>
                    <a:pt x="186" y="76"/>
                    <a:pt x="186" y="76"/>
                    <a:pt x="186" y="76"/>
                  </a:cubicBezTo>
                  <a:cubicBezTo>
                    <a:pt x="186" y="62"/>
                    <a:pt x="174" y="50"/>
                    <a:pt x="160" y="50"/>
                  </a:cubicBezTo>
                  <a:close/>
                  <a:moveTo>
                    <a:pt x="42" y="8"/>
                  </a:moveTo>
                  <a:cubicBezTo>
                    <a:pt x="143" y="8"/>
                    <a:pt x="143" y="8"/>
                    <a:pt x="143" y="8"/>
                  </a:cubicBezTo>
                  <a:cubicBezTo>
                    <a:pt x="143" y="50"/>
                    <a:pt x="143" y="50"/>
                    <a:pt x="143" y="50"/>
                  </a:cubicBezTo>
                  <a:cubicBezTo>
                    <a:pt x="42" y="50"/>
                    <a:pt x="42" y="50"/>
                    <a:pt x="42" y="50"/>
                  </a:cubicBezTo>
                  <a:lnTo>
                    <a:pt x="42" y="8"/>
                  </a:lnTo>
                  <a:close/>
                  <a:moveTo>
                    <a:pt x="143" y="177"/>
                  </a:moveTo>
                  <a:cubicBezTo>
                    <a:pt x="42" y="177"/>
                    <a:pt x="42" y="177"/>
                    <a:pt x="42" y="177"/>
                  </a:cubicBezTo>
                  <a:cubicBezTo>
                    <a:pt x="42" y="126"/>
                    <a:pt x="42" y="126"/>
                    <a:pt x="42" y="126"/>
                  </a:cubicBezTo>
                  <a:cubicBezTo>
                    <a:pt x="143" y="126"/>
                    <a:pt x="143" y="126"/>
                    <a:pt x="143" y="126"/>
                  </a:cubicBezTo>
                  <a:lnTo>
                    <a:pt x="143" y="177"/>
                  </a:lnTo>
                  <a:close/>
                  <a:moveTo>
                    <a:pt x="177" y="143"/>
                  </a:moveTo>
                  <a:cubicBezTo>
                    <a:pt x="177" y="153"/>
                    <a:pt x="170" y="160"/>
                    <a:pt x="160" y="160"/>
                  </a:cubicBezTo>
                  <a:cubicBezTo>
                    <a:pt x="152" y="160"/>
                    <a:pt x="152" y="160"/>
                    <a:pt x="152" y="160"/>
                  </a:cubicBezTo>
                  <a:cubicBezTo>
                    <a:pt x="152" y="126"/>
                    <a:pt x="152" y="126"/>
                    <a:pt x="152" y="126"/>
                  </a:cubicBezTo>
                  <a:cubicBezTo>
                    <a:pt x="152" y="122"/>
                    <a:pt x="148" y="118"/>
                    <a:pt x="143" y="118"/>
                  </a:cubicBezTo>
                  <a:cubicBezTo>
                    <a:pt x="42" y="118"/>
                    <a:pt x="42" y="118"/>
                    <a:pt x="42" y="118"/>
                  </a:cubicBezTo>
                  <a:cubicBezTo>
                    <a:pt x="38" y="118"/>
                    <a:pt x="34" y="122"/>
                    <a:pt x="34" y="126"/>
                  </a:cubicBezTo>
                  <a:cubicBezTo>
                    <a:pt x="34" y="160"/>
                    <a:pt x="34" y="160"/>
                    <a:pt x="34" y="160"/>
                  </a:cubicBezTo>
                  <a:cubicBezTo>
                    <a:pt x="25" y="160"/>
                    <a:pt x="25" y="160"/>
                    <a:pt x="25" y="160"/>
                  </a:cubicBezTo>
                  <a:cubicBezTo>
                    <a:pt x="16" y="160"/>
                    <a:pt x="8" y="153"/>
                    <a:pt x="8" y="143"/>
                  </a:cubicBezTo>
                  <a:cubicBezTo>
                    <a:pt x="8" y="76"/>
                    <a:pt x="8" y="76"/>
                    <a:pt x="8" y="76"/>
                  </a:cubicBezTo>
                  <a:cubicBezTo>
                    <a:pt x="8" y="66"/>
                    <a:pt x="16" y="59"/>
                    <a:pt x="25" y="59"/>
                  </a:cubicBezTo>
                  <a:cubicBezTo>
                    <a:pt x="160" y="59"/>
                    <a:pt x="160" y="59"/>
                    <a:pt x="160" y="59"/>
                  </a:cubicBezTo>
                  <a:cubicBezTo>
                    <a:pt x="170" y="59"/>
                    <a:pt x="177" y="66"/>
                    <a:pt x="177" y="76"/>
                  </a:cubicBezTo>
                  <a:lnTo>
                    <a:pt x="177" y="143"/>
                  </a:lnTo>
                  <a:close/>
                  <a:moveTo>
                    <a:pt x="152" y="76"/>
                  </a:moveTo>
                  <a:cubicBezTo>
                    <a:pt x="147" y="76"/>
                    <a:pt x="143" y="79"/>
                    <a:pt x="143" y="84"/>
                  </a:cubicBezTo>
                  <a:cubicBezTo>
                    <a:pt x="143" y="89"/>
                    <a:pt x="147" y="93"/>
                    <a:pt x="152" y="93"/>
                  </a:cubicBezTo>
                  <a:cubicBezTo>
                    <a:pt x="157" y="93"/>
                    <a:pt x="160" y="89"/>
                    <a:pt x="160" y="84"/>
                  </a:cubicBezTo>
                  <a:cubicBezTo>
                    <a:pt x="160" y="79"/>
                    <a:pt x="157" y="76"/>
                    <a:pt x="152" y="76"/>
                  </a:cubicBezTo>
                  <a:close/>
                  <a:moveTo>
                    <a:pt x="127" y="76"/>
                  </a:moveTo>
                  <a:cubicBezTo>
                    <a:pt x="122" y="76"/>
                    <a:pt x="118" y="79"/>
                    <a:pt x="118" y="84"/>
                  </a:cubicBezTo>
                  <a:cubicBezTo>
                    <a:pt x="118" y="89"/>
                    <a:pt x="122" y="93"/>
                    <a:pt x="127" y="93"/>
                  </a:cubicBezTo>
                  <a:cubicBezTo>
                    <a:pt x="131" y="93"/>
                    <a:pt x="135" y="89"/>
                    <a:pt x="135" y="84"/>
                  </a:cubicBezTo>
                  <a:cubicBezTo>
                    <a:pt x="135" y="79"/>
                    <a:pt x="131" y="76"/>
                    <a:pt x="127" y="76"/>
                  </a:cubicBezTo>
                  <a:close/>
                </a:path>
              </a:pathLst>
            </a:custGeom>
            <a:solidFill>
              <a:schemeClr val="accent1">
                <a:lumMod val="50000"/>
              </a:schemeClr>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1" name="文本框 20"/>
            <p:cNvSpPr txBox="1"/>
            <p:nvPr/>
          </p:nvSpPr>
          <p:spPr>
            <a:xfrm>
              <a:off x="6017838" y="1820978"/>
              <a:ext cx="2762885" cy="398780"/>
            </a:xfrm>
            <a:prstGeom prst="rect">
              <a:avLst/>
            </a:prstGeom>
            <a:noFill/>
          </p:spPr>
          <p:txBody>
            <a:bodyPr wrap="square" rtlCol="0">
              <a:spAutoFit/>
            </a:bodyPr>
            <a:lstStyle/>
            <a:p>
              <a:r>
                <a:rPr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EA</a:t>
              </a:r>
              <a:r>
                <a:rPr lang="en-US"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I</a:t>
              </a:r>
              <a:r>
                <a:rPr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接口时序</a:t>
              </a:r>
              <a:endParaRPr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2" name="文本框 21"/>
            <p:cNvSpPr txBox="1"/>
            <p:nvPr/>
          </p:nvSpPr>
          <p:spPr>
            <a:xfrm>
              <a:off x="9420767" y="3866899"/>
              <a:ext cx="2345997" cy="398780"/>
            </a:xfrm>
            <a:prstGeom prst="rect">
              <a:avLst/>
            </a:prstGeom>
            <a:noFill/>
          </p:spPr>
          <p:txBody>
            <a:bodyPr wrap="square" rtlCol="0">
              <a:spAutoFit/>
            </a:bodyPr>
            <a:lstStyle/>
            <a:p>
              <a:endParaRPr lang="zh-CN" altLang="en-US"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4" name="文本框 23"/>
            <p:cNvSpPr txBox="1"/>
            <p:nvPr/>
          </p:nvSpPr>
          <p:spPr>
            <a:xfrm>
              <a:off x="5836418" y="3881999"/>
              <a:ext cx="2345997" cy="398780"/>
            </a:xfrm>
            <a:prstGeom prst="rect">
              <a:avLst/>
            </a:prstGeom>
            <a:noFill/>
          </p:spPr>
          <p:txBody>
            <a:bodyPr wrap="square" rtlCol="0">
              <a:spAutoFit/>
            </a:bodyPr>
            <a:lstStyle/>
            <a:p>
              <a:endParaRPr lang="zh-CN" altLang="en-US" sz="2000" spc="3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5" name="矩形 24"/>
            <p:cNvSpPr/>
            <p:nvPr/>
          </p:nvSpPr>
          <p:spPr>
            <a:xfrm>
              <a:off x="5471103" y="2436928"/>
              <a:ext cx="5937885" cy="1706880"/>
            </a:xfrm>
            <a:prstGeom prst="rect">
              <a:avLst/>
            </a:prstGeom>
          </p:spPr>
          <p:txBody>
            <a:bodyPr wrap="square">
              <a:spAutoFit/>
            </a:bodyPr>
            <a:lstStyle/>
            <a:p>
              <a:pPr>
                <a:lnSpc>
                  <a:spcPct val="150000"/>
                </a:lnSpc>
              </a:pPr>
              <a:r>
                <a:rPr 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EAI</a:t>
              </a:r>
              <a:r>
                <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接口的</a:t>
              </a:r>
              <a:r>
                <a:rPr lang="en-US" altLang="zh-CN"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7</a:t>
              </a:r>
              <a:r>
                <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个经典时序：</a:t>
              </a:r>
              <a:endPar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a:p>
              <a:pPr>
                <a:lnSpc>
                  <a:spcPct val="150000"/>
                </a:lnSpc>
              </a:pPr>
              <a:r>
                <a:rPr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·主处理器向协处理器通过EAI的请求通道派发指令，协处理器译码出该指令需要访问存储器，则将存储器独占信号拉高，协处理器通过</a:t>
              </a:r>
              <a:endParaRPr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a:p>
              <a:pPr>
                <a:lnSpc>
                  <a:spcPct val="150000"/>
                </a:lnSpc>
              </a:pPr>
              <a:r>
                <a:rPr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rPr>
                <a:t>存储器请求通道向主处理器LSU发起读写请求，主处理器通过存储器请求通道在多个周期之后返回结果，协处理器继而将存储器独占信号拉低</a:t>
              </a:r>
              <a:endParaRPr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sp>
          <p:nvSpPr>
            <p:cNvPr id="28" name="矩形 27"/>
            <p:cNvSpPr/>
            <p:nvPr/>
          </p:nvSpPr>
          <p:spPr>
            <a:xfrm>
              <a:off x="8880909" y="2313097"/>
              <a:ext cx="2527814" cy="414020"/>
            </a:xfrm>
            <a:prstGeom prst="rect">
              <a:avLst/>
            </a:prstGeom>
          </p:spPr>
          <p:txBody>
            <a:bodyPr wrap="square">
              <a:spAutoFit/>
            </a:bodyPr>
            <a:lstStyle/>
            <a:p>
              <a:pPr>
                <a:lnSpc>
                  <a:spcPct val="150000"/>
                </a:lnSpc>
              </a:pPr>
              <a:endParaRPr lang="zh-CN" altLang="en-US" sz="1400" dirty="0">
                <a:latin typeface="锐字工房云字库细圆GBK" panose="02010604000000000000" pitchFamily="2" charset="-122"/>
                <a:ea typeface="锐字工房云字库细圆GBK" panose="02010604000000000000" pitchFamily="2" charset="-122"/>
                <a:cs typeface="+mn-ea"/>
                <a:sym typeface="Segoe Script" panose="030B0504020000000003" pitchFamily="66" charset="0"/>
              </a:endParaRPr>
            </a:p>
          </p:txBody>
        </p:sp>
      </p:grpSp>
      <p:pic>
        <p:nvPicPr>
          <p:cNvPr id="19" name="图片 18"/>
          <p:cNvPicPr>
            <a:picLocks noChangeAspect="1"/>
          </p:cNvPicPr>
          <p:nvPr/>
        </p:nvPicPr>
        <p:blipFill>
          <a:blip r:embed="rId3"/>
          <a:stretch>
            <a:fillRect/>
          </a:stretch>
        </p:blipFill>
        <p:spPr>
          <a:xfrm>
            <a:off x="5211445" y="3139440"/>
            <a:ext cx="6461125" cy="3718560"/>
          </a:xfrm>
          <a:prstGeom prst="rect">
            <a:avLst/>
          </a:prstGeom>
        </p:spPr>
      </p:pic>
      <p:sp>
        <p:nvSpPr>
          <p:cNvPr id="20" name="文本框 19"/>
          <p:cNvSpPr txBox="1"/>
          <p:nvPr/>
        </p:nvSpPr>
        <p:spPr>
          <a:xfrm>
            <a:off x="957580" y="78865"/>
            <a:ext cx="2320925" cy="829945"/>
          </a:xfrm>
          <a:prstGeom prst="rect">
            <a:avLst/>
          </a:prstGeom>
          <a:noFill/>
        </p:spPr>
        <p:txBody>
          <a:bodyPr wrap="square" rtlCol="0">
            <a:spAutoFit/>
          </a:bodyPr>
          <a:lstStyle/>
          <a:p>
            <a:pPr algn="ctr"/>
            <a:r>
              <a:rPr lang="zh-CN" altLang="en-US" sz="24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rPr>
              <a:t>蜂鸟E200的协处理器接口EA</a:t>
            </a:r>
            <a:r>
              <a:rPr lang="en-US" altLang="zh-CN" sz="24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rPr>
              <a:t>I</a:t>
            </a:r>
            <a:endParaRPr lang="en-US" altLang="zh-CN" sz="2400" b="1" spc="600" dirty="0">
              <a:solidFill>
                <a:schemeClr val="tx1"/>
              </a:solidFill>
              <a:effectLst>
                <a:outerShdw blurRad="38100" dist="19050" dir="2700000" algn="tl" rotWithShape="0">
                  <a:schemeClr val="dk1">
                    <a:alpha val="40000"/>
                  </a:schemeClr>
                </a:outerShdw>
              </a:effectLst>
              <a:latin typeface="造字工房力黑（非商用）常规体" pitchFamily="50" charset="-122"/>
              <a:ea typeface="造字工房力黑（非商用）常规体" pitchFamily="50"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1" cstate="screen">
            <a:lum/>
          </a:blip>
          <a:srcRect/>
          <a:stretch>
            <a:fillRect/>
          </a:stretch>
        </a:blipFill>
        <a:effectLst/>
      </p:bgPr>
    </p:bg>
    <p:spTree>
      <p:nvGrpSpPr>
        <p:cNvPr id="1" name=""/>
        <p:cNvGrpSpPr/>
        <p:nvPr/>
      </p:nvGrpSpPr>
      <p:grpSpPr>
        <a:xfrm>
          <a:off x="0" y="0"/>
          <a:ext cx="0" cy="0"/>
          <a:chOff x="0" y="0"/>
          <a:chExt cx="0" cy="0"/>
        </a:xfrm>
      </p:grpSpPr>
      <p:sp>
        <p:nvSpPr>
          <p:cNvPr id="21" name="矩形 20"/>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3" name="组合 22"/>
          <p:cNvGrpSpPr/>
          <p:nvPr/>
        </p:nvGrpSpPr>
        <p:grpSpPr>
          <a:xfrm>
            <a:off x="0" y="713740"/>
            <a:ext cx="12192001" cy="4737100"/>
            <a:chOff x="0" y="713740"/>
            <a:chExt cx="12192001" cy="4737100"/>
          </a:xfrm>
        </p:grpSpPr>
        <p:sp useBgFill="1">
          <p:nvSpPr>
            <p:cNvPr id="25" name="矩形 24"/>
            <p:cNvSpPr/>
            <p:nvPr/>
          </p:nvSpPr>
          <p:spPr>
            <a:xfrm>
              <a:off x="4196080" y="1407160"/>
              <a:ext cx="7995920" cy="40436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grpSp>
          <p:nvGrpSpPr>
            <p:cNvPr id="26" name="组合 25"/>
            <p:cNvGrpSpPr/>
            <p:nvPr/>
          </p:nvGrpSpPr>
          <p:grpSpPr>
            <a:xfrm>
              <a:off x="0" y="1407160"/>
              <a:ext cx="4064000" cy="4043680"/>
              <a:chOff x="0" y="1407160"/>
              <a:chExt cx="4064000" cy="4043680"/>
            </a:xfrm>
          </p:grpSpPr>
          <p:sp>
            <p:nvSpPr>
              <p:cNvPr id="32" name="矩形 31"/>
              <p:cNvSpPr/>
              <p:nvPr/>
            </p:nvSpPr>
            <p:spPr>
              <a:xfrm>
                <a:off x="0" y="1407160"/>
                <a:ext cx="4064000" cy="40436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34" name="文本框 33"/>
              <p:cNvSpPr txBox="1"/>
              <p:nvPr/>
            </p:nvSpPr>
            <p:spPr>
              <a:xfrm>
                <a:off x="184150" y="2100580"/>
                <a:ext cx="3495675" cy="2491740"/>
              </a:xfrm>
              <a:prstGeom prst="rect">
                <a:avLst/>
              </a:prstGeom>
              <a:noFill/>
            </p:spPr>
            <p:txBody>
              <a:bodyPr wrap="square" rtlCol="0">
                <a:spAutoFit/>
              </a:bodyPr>
              <a:lstStyle/>
              <a:p>
                <a:pPr algn="ctr">
                  <a:lnSpc>
                    <a:spcPct val="130000"/>
                  </a:lnSpc>
                </a:pPr>
                <a:r>
                  <a:rPr lang="zh-CN" altLang="en-US" sz="4000" dirty="0">
                    <a:solidFill>
                      <a:schemeClr val="bg1"/>
                    </a:solidFill>
                    <a:latin typeface="造字工房力黑（非商用）常规体" pitchFamily="50" charset="-122"/>
                    <a:ea typeface="造字工房力黑（非商用）常规体" pitchFamily="50" charset="-122"/>
                    <a:cs typeface="+mn-ea"/>
                    <a:sym typeface="+mn-lt"/>
                  </a:rPr>
                  <a:t>蜂鸟</a:t>
                </a:r>
                <a:r>
                  <a:rPr lang="en-US" altLang="zh-CN" sz="4000" dirty="0">
                    <a:solidFill>
                      <a:schemeClr val="bg1"/>
                    </a:solidFill>
                    <a:latin typeface="造字工房力黑（非商用）常规体" pitchFamily="50" charset="-122"/>
                    <a:ea typeface="造字工房力黑（非商用）常规体" pitchFamily="50" charset="-122"/>
                    <a:cs typeface="+mn-ea"/>
                    <a:sym typeface="+mn-lt"/>
                  </a:rPr>
                  <a:t>E200</a:t>
                </a:r>
                <a:endParaRPr lang="en-US" altLang="zh-CN" sz="4000" dirty="0">
                  <a:solidFill>
                    <a:schemeClr val="bg1"/>
                  </a:solidFill>
                  <a:latin typeface="造字工房力黑（非商用）常规体" pitchFamily="50" charset="-122"/>
                  <a:ea typeface="造字工房力黑（非商用）常规体" pitchFamily="50" charset="-122"/>
                  <a:cs typeface="+mn-ea"/>
                  <a:sym typeface="+mn-lt"/>
                </a:endParaRPr>
              </a:p>
              <a:p>
                <a:pPr algn="ctr">
                  <a:lnSpc>
                    <a:spcPct val="130000"/>
                  </a:lnSpc>
                </a:pPr>
                <a:r>
                  <a:rPr lang="zh-CN" altLang="en-US" sz="4000" dirty="0">
                    <a:solidFill>
                      <a:schemeClr val="bg1"/>
                    </a:solidFill>
                    <a:latin typeface="造字工房力黑（非商用）常规体" pitchFamily="50" charset="-122"/>
                    <a:ea typeface="造字工房力黑（非商用）常规体" pitchFamily="50" charset="-122"/>
                    <a:cs typeface="+mn-ea"/>
                    <a:sym typeface="+mn-lt"/>
                  </a:rPr>
                  <a:t>协处理器</a:t>
                </a:r>
                <a:endParaRPr lang="en-US" altLang="zh-CN" sz="4000" dirty="0">
                  <a:solidFill>
                    <a:schemeClr val="bg1"/>
                  </a:solidFill>
                  <a:latin typeface="造字工房力黑（非商用）常规体" pitchFamily="50" charset="-122"/>
                  <a:ea typeface="造字工房力黑（非商用）常规体" pitchFamily="50" charset="-122"/>
                  <a:cs typeface="+mn-ea"/>
                  <a:sym typeface="+mn-lt"/>
                </a:endParaRPr>
              </a:p>
              <a:p>
                <a:pPr algn="ctr">
                  <a:lnSpc>
                    <a:spcPct val="130000"/>
                  </a:lnSpc>
                </a:pPr>
                <a:r>
                  <a:rPr lang="zh-CN" altLang="en-US" sz="4000" dirty="0">
                    <a:solidFill>
                      <a:schemeClr val="bg1"/>
                    </a:solidFill>
                    <a:latin typeface="造字工房力黑（非商用）常规体" pitchFamily="50" charset="-122"/>
                    <a:ea typeface="造字工房力黑（非商用）常规体" pitchFamily="50" charset="-122"/>
                    <a:cs typeface="+mn-ea"/>
                    <a:sym typeface="+mn-lt"/>
                  </a:rPr>
                  <a:t>参考示例</a:t>
                </a:r>
                <a:endParaRPr lang="zh-CN" altLang="en-US" sz="4000" dirty="0">
                  <a:solidFill>
                    <a:schemeClr val="bg1"/>
                  </a:solidFill>
                  <a:latin typeface="造字工房力黑（非商用）常规体" pitchFamily="50" charset="-122"/>
                  <a:ea typeface="造字工房力黑（非商用）常规体" pitchFamily="50" charset="-122"/>
                  <a:cs typeface="+mn-ea"/>
                  <a:sym typeface="+mn-lt"/>
                </a:endParaRPr>
              </a:p>
            </p:txBody>
          </p:sp>
        </p:grpSp>
        <p:grpSp>
          <p:nvGrpSpPr>
            <p:cNvPr id="27" name="组合 26"/>
            <p:cNvGrpSpPr/>
            <p:nvPr/>
          </p:nvGrpSpPr>
          <p:grpSpPr>
            <a:xfrm>
              <a:off x="7564229" y="713740"/>
              <a:ext cx="4627772" cy="1386840"/>
              <a:chOff x="7564229" y="713740"/>
              <a:chExt cx="4627772" cy="1386840"/>
            </a:xfrm>
          </p:grpSpPr>
          <p:sp>
            <p:nvSpPr>
              <p:cNvPr id="29" name="任意多边形 28"/>
              <p:cNvSpPr/>
              <p:nvPr/>
            </p:nvSpPr>
            <p:spPr>
              <a:xfrm flipH="1" flipV="1">
                <a:off x="7564229" y="713740"/>
                <a:ext cx="4627771" cy="1386840"/>
              </a:xfrm>
              <a:custGeom>
                <a:avLst/>
                <a:gdLst>
                  <a:gd name="connsiteX0" fmla="*/ 0 w 7147560"/>
                  <a:gd name="connsiteY0" fmla="*/ 0 h 2814320"/>
                  <a:gd name="connsiteX1" fmla="*/ 6443980 w 7147560"/>
                  <a:gd name="connsiteY1" fmla="*/ 0 h 2814320"/>
                  <a:gd name="connsiteX2" fmla="*/ 7147560 w 7147560"/>
                  <a:gd name="connsiteY2" fmla="*/ 2814320 h 2814320"/>
                  <a:gd name="connsiteX3" fmla="*/ 0 w 7147560"/>
                  <a:gd name="connsiteY3" fmla="*/ 2814320 h 2814320"/>
                  <a:gd name="connsiteX0-1" fmla="*/ 0 w 8689506"/>
                  <a:gd name="connsiteY0-2" fmla="*/ 0 h 2814320"/>
                  <a:gd name="connsiteX1-3" fmla="*/ 6443980 w 8689506"/>
                  <a:gd name="connsiteY1-4" fmla="*/ 0 h 2814320"/>
                  <a:gd name="connsiteX2-5" fmla="*/ 8689506 w 8689506"/>
                  <a:gd name="connsiteY2-6" fmla="*/ 2814320 h 2814320"/>
                  <a:gd name="connsiteX3-7" fmla="*/ 0 w 8689506"/>
                  <a:gd name="connsiteY3-8" fmla="*/ 2814320 h 2814320"/>
                  <a:gd name="connsiteX4" fmla="*/ 0 w 8689506"/>
                  <a:gd name="connsiteY4" fmla="*/ 0 h 2814320"/>
                  <a:gd name="connsiteX0-9" fmla="*/ 0 w 9235080"/>
                  <a:gd name="connsiteY0-10" fmla="*/ 0 h 2834640"/>
                  <a:gd name="connsiteX1-11" fmla="*/ 6443980 w 9235080"/>
                  <a:gd name="connsiteY1-12" fmla="*/ 0 h 2834640"/>
                  <a:gd name="connsiteX2-13" fmla="*/ 9235080 w 9235080"/>
                  <a:gd name="connsiteY2-14" fmla="*/ 2834640 h 2834640"/>
                  <a:gd name="connsiteX3-15" fmla="*/ 0 w 9235080"/>
                  <a:gd name="connsiteY3-16" fmla="*/ 2814320 h 2834640"/>
                  <a:gd name="connsiteX4-17" fmla="*/ 0 w 9235080"/>
                  <a:gd name="connsiteY4-18" fmla="*/ 0 h 2834640"/>
                </a:gdLst>
                <a:ahLst/>
                <a:cxnLst>
                  <a:cxn ang="0">
                    <a:pos x="connsiteX0-1" y="connsiteY0-2"/>
                  </a:cxn>
                  <a:cxn ang="0">
                    <a:pos x="connsiteX1-3" y="connsiteY1-4"/>
                  </a:cxn>
                  <a:cxn ang="0">
                    <a:pos x="connsiteX2-5" y="connsiteY2-6"/>
                  </a:cxn>
                  <a:cxn ang="0">
                    <a:pos x="connsiteX3-7" y="connsiteY3-8"/>
                  </a:cxn>
                  <a:cxn ang="0">
                    <a:pos x="connsiteX4-17" y="connsiteY4-18"/>
                  </a:cxn>
                </a:cxnLst>
                <a:rect l="l" t="t" r="r" b="b"/>
                <a:pathLst>
                  <a:path w="9235080" h="2834640">
                    <a:moveTo>
                      <a:pt x="0" y="0"/>
                    </a:moveTo>
                    <a:lnTo>
                      <a:pt x="6443980" y="0"/>
                    </a:lnTo>
                    <a:lnTo>
                      <a:pt x="9235080" y="2834640"/>
                    </a:lnTo>
                    <a:lnTo>
                      <a:pt x="0" y="2814320"/>
                    </a:lnTo>
                    <a:lnTo>
                      <a:pt x="0" y="0"/>
                    </a:lnTo>
                    <a:close/>
                  </a:path>
                </a:pathLst>
              </a:cu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31" name="文本框 30"/>
              <p:cNvSpPr txBox="1"/>
              <p:nvPr/>
            </p:nvSpPr>
            <p:spPr>
              <a:xfrm>
                <a:off x="7712365" y="991661"/>
                <a:ext cx="4479636" cy="707886"/>
              </a:xfrm>
              <a:prstGeom prst="rect">
                <a:avLst/>
              </a:prstGeom>
              <a:noFill/>
            </p:spPr>
            <p:txBody>
              <a:bodyPr wrap="square" rtlCol="0">
                <a:spAutoFit/>
              </a:bodyPr>
              <a:lstStyle/>
              <a:p>
                <a:pPr algn="r"/>
                <a:r>
                  <a:rPr lang="en-US" altLang="zh-CN" sz="4000" spc="300" dirty="0">
                    <a:solidFill>
                      <a:schemeClr val="bg1"/>
                    </a:solidFill>
                    <a:latin typeface="造字工房力黑（非商用）常规体" pitchFamily="50" charset="-122"/>
                    <a:ea typeface="造字工房力黑（非商用）常规体" pitchFamily="50" charset="-122"/>
                    <a:cs typeface="+mn-ea"/>
                    <a:sym typeface="+mn-lt"/>
                  </a:rPr>
                  <a:t>PART FOUR</a:t>
                </a:r>
                <a:endParaRPr lang="zh-CN" altLang="en-US" sz="4000" spc="300" dirty="0">
                  <a:solidFill>
                    <a:schemeClr val="bg1"/>
                  </a:solidFill>
                  <a:latin typeface="造字工房力黑（非商用）常规体" pitchFamily="50" charset="-122"/>
                  <a:ea typeface="造字工房力黑（非商用）常规体" pitchFamily="50" charset="-122"/>
                  <a:cs typeface="+mn-ea"/>
                  <a:sym typeface="+mn-lt"/>
                </a:endParaRPr>
              </a:p>
            </p:txBody>
          </p:sp>
        </p:grpSp>
        <p:sp>
          <p:nvSpPr>
            <p:cNvPr id="28" name="文本框 27"/>
            <p:cNvSpPr txBox="1"/>
            <p:nvPr/>
          </p:nvSpPr>
          <p:spPr>
            <a:xfrm>
              <a:off x="9550399" y="3052435"/>
              <a:ext cx="2349194" cy="1446550"/>
            </a:xfrm>
            <a:prstGeom prst="rect">
              <a:avLst/>
            </a:prstGeom>
            <a:noFill/>
            <a:ln>
              <a:solidFill>
                <a:schemeClr val="bg1"/>
              </a:solidFill>
            </a:ln>
          </p:spPr>
          <p:txBody>
            <a:bodyPr wrap="square" rtlCol="0">
              <a:spAutoFit/>
            </a:bodyPr>
            <a:lstStyle/>
            <a:p>
              <a:pPr algn="ctr"/>
              <a:r>
                <a:rPr lang="en-US" altLang="zh-CN" sz="8800" spc="600" dirty="0">
                  <a:solidFill>
                    <a:schemeClr val="bg1"/>
                  </a:solidFill>
                  <a:latin typeface="造字工房力黑（非商用）常规体" pitchFamily="50" charset="-122"/>
                  <a:ea typeface="造字工房力黑（非商用）常规体" pitchFamily="50" charset="-122"/>
                  <a:cs typeface="+mn-ea"/>
                  <a:sym typeface="+mn-lt"/>
                </a:rPr>
                <a:t>04</a:t>
              </a:r>
              <a:endParaRPr lang="zh-CN" altLang="en-US" sz="8800" spc="600" dirty="0">
                <a:solidFill>
                  <a:schemeClr val="bg1"/>
                </a:solidFill>
                <a:latin typeface="造字工房力黑（非商用）常规体" pitchFamily="50" charset="-122"/>
                <a:ea typeface="造字工房力黑（非商用）常规体" pitchFamily="50"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right)">
                                      <p:cBhvr>
                                        <p:cTn id="7"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3534678" y="-132080"/>
            <a:ext cx="8255790" cy="6990081"/>
            <a:chOff x="3534678" y="-132080"/>
            <a:chExt cx="8255790" cy="6990081"/>
          </a:xfrm>
        </p:grpSpPr>
        <p:grpSp>
          <p:nvGrpSpPr>
            <p:cNvPr id="16" name="组合 15"/>
            <p:cNvGrpSpPr/>
            <p:nvPr/>
          </p:nvGrpSpPr>
          <p:grpSpPr>
            <a:xfrm>
              <a:off x="3534678" y="682851"/>
              <a:ext cx="6929274" cy="5122676"/>
              <a:chOff x="3961398" y="682851"/>
              <a:chExt cx="6929274" cy="5122676"/>
            </a:xfrm>
          </p:grpSpPr>
          <p:grpSp>
            <p:nvGrpSpPr>
              <p:cNvPr id="21" name="组合 20"/>
              <p:cNvGrpSpPr/>
              <p:nvPr/>
            </p:nvGrpSpPr>
            <p:grpSpPr>
              <a:xfrm>
                <a:off x="3961398" y="682851"/>
                <a:ext cx="4259841" cy="697368"/>
                <a:chOff x="3961398" y="835251"/>
                <a:chExt cx="4259841" cy="697368"/>
              </a:xfrm>
            </p:grpSpPr>
            <p:sp>
              <p:nvSpPr>
                <p:cNvPr id="29" name="矩形 28"/>
                <p:cNvSpPr/>
                <p:nvPr/>
              </p:nvSpPr>
              <p:spPr>
                <a:xfrm>
                  <a:off x="3961398" y="835251"/>
                  <a:ext cx="4259841" cy="697368"/>
                </a:xfrm>
                <a:prstGeom prst="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cs typeface="+mn-ea"/>
                    <a:sym typeface="+mn-lt"/>
                  </a:endParaRPr>
                </a:p>
              </p:txBody>
            </p:sp>
            <p:sp>
              <p:nvSpPr>
                <p:cNvPr id="31" name="文本框 30"/>
                <p:cNvSpPr txBox="1"/>
                <p:nvPr/>
              </p:nvSpPr>
              <p:spPr>
                <a:xfrm>
                  <a:off x="4272146" y="932401"/>
                  <a:ext cx="3774707" cy="523220"/>
                </a:xfrm>
                <a:prstGeom prst="rect">
                  <a:avLst/>
                </a:prstGeom>
                <a:noFill/>
              </p:spPr>
              <p:txBody>
                <a:bodyPr wrap="square" rtlCol="0">
                  <a:spAutoFit/>
                </a:bodyPr>
                <a:lstStyle/>
                <a:p>
                  <a:r>
                    <a:rPr lang="zh-CN" altLang="en-US" sz="2800" b="1" spc="600" dirty="0">
                      <a:solidFill>
                        <a:schemeClr val="tx1">
                          <a:lumMod val="75000"/>
                          <a:lumOff val="25000"/>
                        </a:schemeClr>
                      </a:solidFill>
                      <a:latin typeface="锐字工房云字库细圆GBK" panose="02010604000000000000" pitchFamily="2" charset="-122"/>
                      <a:ea typeface="锐字工房云字库细圆GBK" panose="02010604000000000000" pitchFamily="2" charset="-122"/>
                      <a:cs typeface="+mn-ea"/>
                      <a:sym typeface="+mn-lt"/>
                    </a:rPr>
                    <a:t>示例协处理器需求</a:t>
                  </a:r>
                  <a:endParaRPr lang="zh-CN" altLang="en-US" sz="2800" b="1" spc="600" dirty="0">
                    <a:solidFill>
                      <a:schemeClr val="tx1">
                        <a:lumMod val="75000"/>
                        <a:lumOff val="25000"/>
                      </a:schemeClr>
                    </a:solidFill>
                    <a:latin typeface="锐字工房云字库细圆GBK" panose="02010604000000000000" pitchFamily="2" charset="-122"/>
                    <a:ea typeface="锐字工房云字库细圆GBK" panose="02010604000000000000" pitchFamily="2" charset="-122"/>
                    <a:cs typeface="+mn-ea"/>
                    <a:sym typeface="+mn-lt"/>
                  </a:endParaRPr>
                </a:p>
              </p:txBody>
            </p:sp>
          </p:grpSp>
          <p:grpSp>
            <p:nvGrpSpPr>
              <p:cNvPr id="22" name="组合 21"/>
              <p:cNvGrpSpPr/>
              <p:nvPr/>
            </p:nvGrpSpPr>
            <p:grpSpPr>
              <a:xfrm>
                <a:off x="6159499" y="1851193"/>
                <a:ext cx="4731173" cy="3954334"/>
                <a:chOff x="6292426" y="134435"/>
                <a:chExt cx="4731173" cy="3954334"/>
              </a:xfrm>
            </p:grpSpPr>
            <p:sp>
              <p:nvSpPr>
                <p:cNvPr id="23" name="矩形 22"/>
                <p:cNvSpPr/>
                <p:nvPr/>
              </p:nvSpPr>
              <p:spPr>
                <a:xfrm>
                  <a:off x="6888480" y="134435"/>
                  <a:ext cx="4135119" cy="1938992"/>
                </a:xfrm>
                <a:prstGeom prst="rect">
                  <a:avLst/>
                </a:prstGeom>
              </p:spPr>
              <p:txBody>
                <a:bodyPr wrap="square">
                  <a:spAutoFit/>
                </a:bodyPr>
                <a:lstStyle/>
                <a:p>
                  <a:r>
                    <a:rPr lang="zh-CN" altLang="en-US" sz="2400" dirty="0">
                      <a:latin typeface="锐字工房云字库细圆GBK" panose="02010604000000000000" pitchFamily="2" charset="-122"/>
                      <a:ea typeface="锐字工房云字库细圆GBK" panose="02010604000000000000" pitchFamily="2" charset="-122"/>
                      <a:cs typeface="+mn-ea"/>
                      <a:sym typeface="+mn-lt"/>
                    </a:rPr>
                    <a:t>计算逐行的累加和，由于有</a:t>
                  </a:r>
                  <a:r>
                    <a:rPr lang="en-US" altLang="zh-CN" sz="2400" dirty="0">
                      <a:latin typeface="锐字工房云字库细圆GBK" panose="02010604000000000000" pitchFamily="2" charset="-122"/>
                      <a:ea typeface="锐字工房云字库细圆GBK" panose="02010604000000000000" pitchFamily="2" charset="-122"/>
                      <a:cs typeface="+mn-ea"/>
                      <a:sym typeface="+mn-lt"/>
                    </a:rPr>
                    <a:t>N</a:t>
                  </a:r>
                  <a:r>
                    <a:rPr lang="zh-CN" altLang="en-US" sz="2400" dirty="0">
                      <a:latin typeface="锐字工房云字库细圆GBK" panose="02010604000000000000" pitchFamily="2" charset="-122"/>
                      <a:ea typeface="锐字工房云字库细圆GBK" panose="02010604000000000000" pitchFamily="2" charset="-122"/>
                      <a:cs typeface="+mn-ea"/>
                      <a:sym typeface="+mn-lt"/>
                    </a:rPr>
                    <a:t>行，因此可以得出</a:t>
                  </a:r>
                  <a:r>
                    <a:rPr lang="en-US" altLang="zh-CN" sz="2400" dirty="0">
                      <a:latin typeface="锐字工房云字库细圆GBK" panose="02010604000000000000" pitchFamily="2" charset="-122"/>
                      <a:ea typeface="锐字工房云字库细圆GBK" panose="02010604000000000000" pitchFamily="2" charset="-122"/>
                      <a:cs typeface="+mn-ea"/>
                      <a:sym typeface="+mn-lt"/>
                    </a:rPr>
                    <a:t>N</a:t>
                  </a:r>
                  <a:r>
                    <a:rPr lang="zh-CN" altLang="en-US" sz="2400" dirty="0">
                      <a:latin typeface="锐字工房云字库细圆GBK" panose="02010604000000000000" pitchFamily="2" charset="-122"/>
                      <a:ea typeface="锐字工房云字库细圆GBK" panose="02010604000000000000" pitchFamily="2" charset="-122"/>
                      <a:cs typeface="+mn-ea"/>
                      <a:sym typeface="+mn-lt"/>
                    </a:rPr>
                    <a:t>个累加的结果，分别是</a:t>
                  </a:r>
                  <a:r>
                    <a:rPr lang="en-US" altLang="zh-CN" sz="2400" dirty="0">
                      <a:latin typeface="锐字工房云字库细圆GBK" panose="02010604000000000000" pitchFamily="2" charset="-122"/>
                      <a:ea typeface="锐字工房云字库细圆GBK" panose="02010604000000000000" pitchFamily="2" charset="-122"/>
                      <a:cs typeface="+mn-ea"/>
                      <a:sym typeface="+mn-lt"/>
                    </a:rPr>
                    <a:t>Rowsum1</a:t>
                  </a:r>
                  <a:r>
                    <a:rPr lang="zh-CN" altLang="en-US" sz="2400" dirty="0">
                      <a:latin typeface="锐字工房云字库细圆GBK" panose="02010604000000000000" pitchFamily="2" charset="-122"/>
                      <a:ea typeface="锐字工房云字库细圆GBK" panose="02010604000000000000" pitchFamily="2" charset="-122"/>
                      <a:cs typeface="+mn-ea"/>
                      <a:sym typeface="+mn-lt"/>
                    </a:rPr>
                    <a:t>，</a:t>
                  </a:r>
                  <a:r>
                    <a:rPr lang="en-US" altLang="zh-CN" sz="2400" dirty="0">
                      <a:latin typeface="锐字工房云字库细圆GBK" panose="02010604000000000000" pitchFamily="2" charset="-122"/>
                      <a:ea typeface="锐字工房云字库细圆GBK" panose="02010604000000000000" pitchFamily="2" charset="-122"/>
                      <a:cs typeface="+mn-ea"/>
                      <a:sym typeface="+mn-lt"/>
                    </a:rPr>
                    <a:t>Rowsum2</a:t>
                  </a:r>
                  <a:r>
                    <a:rPr lang="zh-CN" altLang="en-US" sz="2400" dirty="0">
                      <a:latin typeface="锐字工房云字库细圆GBK" panose="02010604000000000000" pitchFamily="2" charset="-122"/>
                      <a:ea typeface="锐字工房云字库细圆GBK" panose="02010604000000000000" pitchFamily="2" charset="-122"/>
                      <a:cs typeface="+mn-ea"/>
                      <a:sym typeface="+mn-lt"/>
                    </a:rPr>
                    <a:t>，</a:t>
                  </a:r>
                  <a:r>
                    <a:rPr lang="en-US" altLang="zh-CN" sz="2400" dirty="0">
                      <a:latin typeface="锐字工房云字库细圆GBK" panose="02010604000000000000" pitchFamily="2" charset="-122"/>
                      <a:ea typeface="锐字工房云字库细圆GBK" panose="02010604000000000000" pitchFamily="2" charset="-122"/>
                      <a:cs typeface="+mn-ea"/>
                      <a:sym typeface="+mn-lt"/>
                    </a:rPr>
                    <a:t>Rowsum3</a:t>
                  </a:r>
                  <a:r>
                    <a:rPr lang="zh-CN" altLang="en-US" sz="2400" dirty="0">
                      <a:latin typeface="锐字工房云字库细圆GBK" panose="02010604000000000000" pitchFamily="2" charset="-122"/>
                      <a:ea typeface="锐字工房云字库细圆GBK" panose="02010604000000000000" pitchFamily="2" charset="-122"/>
                      <a:cs typeface="+mn-ea"/>
                      <a:sym typeface="+mn-lt"/>
                    </a:rPr>
                    <a:t>，</a:t>
                  </a:r>
                  <a:r>
                    <a:rPr lang="en-US" altLang="zh-CN" sz="2400" dirty="0">
                      <a:latin typeface="锐字工房云字库细圆GBK" panose="02010604000000000000" pitchFamily="2" charset="-122"/>
                      <a:ea typeface="锐字工房云字库细圆GBK" panose="02010604000000000000" pitchFamily="2" charset="-122"/>
                      <a:cs typeface="+mn-ea"/>
                      <a:sym typeface="+mn-lt"/>
                    </a:rPr>
                    <a:t>…</a:t>
                  </a:r>
                  <a:r>
                    <a:rPr lang="zh-CN" altLang="en-US" sz="2400" dirty="0">
                      <a:latin typeface="锐字工房云字库细圆GBK" panose="02010604000000000000" pitchFamily="2" charset="-122"/>
                      <a:ea typeface="锐字工房云字库细圆GBK" panose="02010604000000000000" pitchFamily="2" charset="-122"/>
                      <a:cs typeface="+mn-ea"/>
                      <a:sym typeface="+mn-lt"/>
                    </a:rPr>
                    <a:t>，</a:t>
                  </a:r>
                  <a:r>
                    <a:rPr lang="en-US" altLang="zh-CN" sz="2400" dirty="0" err="1">
                      <a:latin typeface="锐字工房云字库细圆GBK" panose="02010604000000000000" pitchFamily="2" charset="-122"/>
                      <a:ea typeface="锐字工房云字库细圆GBK" panose="02010604000000000000" pitchFamily="2" charset="-122"/>
                      <a:cs typeface="+mn-ea"/>
                      <a:sym typeface="+mn-lt"/>
                    </a:rPr>
                    <a:t>Rowsum</a:t>
                  </a:r>
                  <a:r>
                    <a:rPr lang="en-US" altLang="zh-CN" sz="2400" dirty="0">
                      <a:latin typeface="锐字工房云字库细圆GBK" panose="02010604000000000000" pitchFamily="2" charset="-122"/>
                      <a:ea typeface="锐字工房云字库细圆GBK" panose="02010604000000000000" pitchFamily="2" charset="-122"/>
                      <a:cs typeface="+mn-ea"/>
                      <a:sym typeface="+mn-lt"/>
                    </a:rPr>
                    <a:t>&lt;N&gt;</a:t>
                  </a:r>
                  <a:endParaRPr lang="zh-CN" altLang="en-US" sz="2400" dirty="0">
                    <a:latin typeface="锐字工房云字库细圆GBK" panose="02010604000000000000" pitchFamily="2" charset="-122"/>
                    <a:ea typeface="锐字工房云字库细圆GBK" panose="02010604000000000000" pitchFamily="2" charset="-122"/>
                    <a:cs typeface="+mn-ea"/>
                    <a:sym typeface="+mn-lt"/>
                  </a:endParaRPr>
                </a:p>
              </p:txBody>
            </p:sp>
            <p:sp>
              <p:nvSpPr>
                <p:cNvPr id="24" name="矩形 23"/>
                <p:cNvSpPr/>
                <p:nvPr/>
              </p:nvSpPr>
              <p:spPr>
                <a:xfrm>
                  <a:off x="6888480" y="2149777"/>
                  <a:ext cx="4135119" cy="1938992"/>
                </a:xfrm>
                <a:prstGeom prst="rect">
                  <a:avLst/>
                </a:prstGeom>
              </p:spPr>
              <p:txBody>
                <a:bodyPr wrap="square">
                  <a:spAutoFit/>
                </a:bodyPr>
                <a:lstStyle/>
                <a:p>
                  <a:r>
                    <a:rPr lang="zh-CN" altLang="en-US" sz="2400" dirty="0">
                      <a:latin typeface="锐字工房云字库细圆GBK" panose="02010604000000000000" pitchFamily="2" charset="-122"/>
                      <a:ea typeface="锐字工房云字库细圆GBK" panose="02010604000000000000" pitchFamily="2" charset="-122"/>
                      <a:cs typeface="+mn-ea"/>
                      <a:sym typeface="+mn-lt"/>
                    </a:rPr>
                    <a:t>计算逐列的累加和，由于有</a:t>
                  </a:r>
                  <a:r>
                    <a:rPr lang="en-US" altLang="zh-CN" sz="2400" dirty="0">
                      <a:latin typeface="锐字工房云字库细圆GBK" panose="02010604000000000000" pitchFamily="2" charset="-122"/>
                      <a:ea typeface="锐字工房云字库细圆GBK" panose="02010604000000000000" pitchFamily="2" charset="-122"/>
                      <a:cs typeface="+mn-ea"/>
                      <a:sym typeface="+mn-lt"/>
                    </a:rPr>
                    <a:t>M</a:t>
                  </a:r>
                  <a:r>
                    <a:rPr lang="zh-CN" altLang="en-US" sz="2400" dirty="0">
                      <a:latin typeface="锐字工房云字库细圆GBK" panose="02010604000000000000" pitchFamily="2" charset="-122"/>
                      <a:ea typeface="锐字工房云字库细圆GBK" panose="02010604000000000000" pitchFamily="2" charset="-122"/>
                      <a:cs typeface="+mn-ea"/>
                      <a:sym typeface="+mn-lt"/>
                    </a:rPr>
                    <a:t>列，因此可以得出</a:t>
                  </a:r>
                  <a:r>
                    <a:rPr lang="en-US" altLang="zh-CN" sz="2400" dirty="0">
                      <a:latin typeface="锐字工房云字库细圆GBK" panose="02010604000000000000" pitchFamily="2" charset="-122"/>
                      <a:ea typeface="锐字工房云字库细圆GBK" panose="02010604000000000000" pitchFamily="2" charset="-122"/>
                      <a:cs typeface="+mn-ea"/>
                      <a:sym typeface="+mn-lt"/>
                    </a:rPr>
                    <a:t>M</a:t>
                  </a:r>
                  <a:r>
                    <a:rPr lang="zh-CN" altLang="en-US" sz="2400" dirty="0">
                      <a:latin typeface="锐字工房云字库细圆GBK" panose="02010604000000000000" pitchFamily="2" charset="-122"/>
                      <a:ea typeface="锐字工房云字库细圆GBK" panose="02010604000000000000" pitchFamily="2" charset="-122"/>
                      <a:cs typeface="+mn-ea"/>
                      <a:sym typeface="+mn-lt"/>
                    </a:rPr>
                    <a:t>个累加的结果，分别是</a:t>
                  </a:r>
                  <a:r>
                    <a:rPr lang="en-US" altLang="zh-CN" sz="2400" dirty="0">
                      <a:latin typeface="锐字工房云字库细圆GBK" panose="02010604000000000000" pitchFamily="2" charset="-122"/>
                      <a:ea typeface="锐字工房云字库细圆GBK" panose="02010604000000000000" pitchFamily="2" charset="-122"/>
                      <a:cs typeface="+mn-ea"/>
                      <a:sym typeface="+mn-lt"/>
                    </a:rPr>
                    <a:t>Colsum1</a:t>
                  </a:r>
                  <a:r>
                    <a:rPr lang="zh-CN" altLang="en-US" sz="2400" dirty="0">
                      <a:latin typeface="锐字工房云字库细圆GBK" panose="02010604000000000000" pitchFamily="2" charset="-122"/>
                      <a:ea typeface="锐字工房云字库细圆GBK" panose="02010604000000000000" pitchFamily="2" charset="-122"/>
                      <a:cs typeface="+mn-ea"/>
                      <a:sym typeface="+mn-lt"/>
                    </a:rPr>
                    <a:t>，</a:t>
                  </a:r>
                  <a:r>
                    <a:rPr lang="en-US" altLang="zh-CN" sz="2400" dirty="0">
                      <a:latin typeface="锐字工房云字库细圆GBK" panose="02010604000000000000" pitchFamily="2" charset="-122"/>
                      <a:ea typeface="锐字工房云字库细圆GBK" panose="02010604000000000000" pitchFamily="2" charset="-122"/>
                      <a:cs typeface="+mn-ea"/>
                      <a:sym typeface="+mn-lt"/>
                    </a:rPr>
                    <a:t>Colsum2</a:t>
                  </a:r>
                  <a:r>
                    <a:rPr lang="zh-CN" altLang="en-US" sz="2400" dirty="0">
                      <a:latin typeface="锐字工房云字库细圆GBK" panose="02010604000000000000" pitchFamily="2" charset="-122"/>
                      <a:ea typeface="锐字工房云字库细圆GBK" panose="02010604000000000000" pitchFamily="2" charset="-122"/>
                      <a:cs typeface="+mn-ea"/>
                      <a:sym typeface="+mn-lt"/>
                    </a:rPr>
                    <a:t>，</a:t>
                  </a:r>
                  <a:r>
                    <a:rPr lang="en-US" altLang="zh-CN" sz="2400" dirty="0">
                      <a:latin typeface="锐字工房云字库细圆GBK" panose="02010604000000000000" pitchFamily="2" charset="-122"/>
                      <a:ea typeface="锐字工房云字库细圆GBK" panose="02010604000000000000" pitchFamily="2" charset="-122"/>
                      <a:cs typeface="+mn-ea"/>
                      <a:sym typeface="+mn-lt"/>
                    </a:rPr>
                    <a:t>Colsum3</a:t>
                  </a:r>
                  <a:r>
                    <a:rPr lang="zh-CN" altLang="en-US" sz="2400" dirty="0">
                      <a:latin typeface="锐字工房云字库细圆GBK" panose="02010604000000000000" pitchFamily="2" charset="-122"/>
                      <a:ea typeface="锐字工房云字库细圆GBK" panose="02010604000000000000" pitchFamily="2" charset="-122"/>
                      <a:cs typeface="+mn-ea"/>
                      <a:sym typeface="+mn-lt"/>
                    </a:rPr>
                    <a:t>，</a:t>
                  </a:r>
                  <a:r>
                    <a:rPr lang="en-US" altLang="zh-CN" sz="2400" dirty="0">
                      <a:latin typeface="锐字工房云字库细圆GBK" panose="02010604000000000000" pitchFamily="2" charset="-122"/>
                      <a:ea typeface="锐字工房云字库细圆GBK" panose="02010604000000000000" pitchFamily="2" charset="-122"/>
                      <a:cs typeface="+mn-ea"/>
                      <a:sym typeface="+mn-lt"/>
                    </a:rPr>
                    <a:t>…</a:t>
                  </a:r>
                  <a:r>
                    <a:rPr lang="zh-CN" altLang="en-US" sz="2400" dirty="0">
                      <a:latin typeface="锐字工房云字库细圆GBK" panose="02010604000000000000" pitchFamily="2" charset="-122"/>
                      <a:ea typeface="锐字工房云字库细圆GBK" panose="02010604000000000000" pitchFamily="2" charset="-122"/>
                      <a:cs typeface="+mn-ea"/>
                      <a:sym typeface="+mn-lt"/>
                    </a:rPr>
                    <a:t>，</a:t>
                  </a:r>
                  <a:r>
                    <a:rPr lang="en-US" altLang="zh-CN" sz="2400" dirty="0" err="1">
                      <a:latin typeface="锐字工房云字库细圆GBK" panose="02010604000000000000" pitchFamily="2" charset="-122"/>
                      <a:ea typeface="锐字工房云字库细圆GBK" panose="02010604000000000000" pitchFamily="2" charset="-122"/>
                      <a:cs typeface="+mn-ea"/>
                      <a:sym typeface="+mn-lt"/>
                    </a:rPr>
                    <a:t>Colsum</a:t>
                  </a:r>
                  <a:r>
                    <a:rPr lang="en-US" altLang="zh-CN" sz="2400" dirty="0">
                      <a:latin typeface="锐字工房云字库细圆GBK" panose="02010604000000000000" pitchFamily="2" charset="-122"/>
                      <a:ea typeface="锐字工房云字库细圆GBK" panose="02010604000000000000" pitchFamily="2" charset="-122"/>
                      <a:cs typeface="+mn-ea"/>
                      <a:sym typeface="+mn-lt"/>
                    </a:rPr>
                    <a:t>&lt;M&gt;</a:t>
                  </a:r>
                  <a:endParaRPr lang="zh-CN" altLang="en-US" sz="2400" dirty="0">
                    <a:latin typeface="锐字工房云字库细圆GBK" panose="02010604000000000000" pitchFamily="2" charset="-122"/>
                    <a:ea typeface="锐字工房云字库细圆GBK" panose="02010604000000000000" pitchFamily="2" charset="-122"/>
                    <a:cs typeface="+mn-ea"/>
                    <a:sym typeface="+mn-lt"/>
                  </a:endParaRPr>
                </a:p>
              </p:txBody>
            </p:sp>
            <p:sp>
              <p:nvSpPr>
                <p:cNvPr id="26" name="矩形 25"/>
                <p:cNvSpPr/>
                <p:nvPr/>
              </p:nvSpPr>
              <p:spPr>
                <a:xfrm>
                  <a:off x="6295097" y="526659"/>
                  <a:ext cx="413173" cy="7112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cs typeface="+mn-ea"/>
                    <a:sym typeface="+mn-lt"/>
                  </a:endParaRPr>
                </a:p>
              </p:txBody>
            </p:sp>
            <p:sp>
              <p:nvSpPr>
                <p:cNvPr id="27" name="矩形 26"/>
                <p:cNvSpPr/>
                <p:nvPr/>
              </p:nvSpPr>
              <p:spPr>
                <a:xfrm>
                  <a:off x="6292426" y="2540395"/>
                  <a:ext cx="413173" cy="7112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cs typeface="+mn-ea"/>
                    <a:sym typeface="+mn-lt"/>
                  </a:endParaRPr>
                </a:p>
              </p:txBody>
            </p:sp>
          </p:grpSp>
        </p:grpSp>
        <p:cxnSp>
          <p:nvCxnSpPr>
            <p:cNvPr id="17" name="直接连接符 16"/>
            <p:cNvCxnSpPr/>
            <p:nvPr/>
          </p:nvCxnSpPr>
          <p:spPr>
            <a:xfrm>
              <a:off x="11501120" y="-132080"/>
              <a:ext cx="0" cy="69088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11211771" y="5940713"/>
              <a:ext cx="578697" cy="9172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cs typeface="+mn-ea"/>
                <a:sym typeface="+mn-lt"/>
              </a:endParaRPr>
            </a:p>
          </p:txBody>
        </p:sp>
      </p:gr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25318" y="4887328"/>
            <a:ext cx="1638300" cy="1314450"/>
          </a:xfrm>
          <a:prstGeom prst="rect">
            <a:avLst/>
          </a:prstGeom>
        </p:spPr>
      </p:pic>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4277" y="1724796"/>
            <a:ext cx="5110322" cy="301446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3534678" y="-132080"/>
            <a:ext cx="8255790" cy="6990081"/>
            <a:chOff x="3534678" y="-132080"/>
            <a:chExt cx="8255790" cy="6990081"/>
          </a:xfrm>
        </p:grpSpPr>
        <p:grpSp>
          <p:nvGrpSpPr>
            <p:cNvPr id="21" name="组合 20"/>
            <p:cNvGrpSpPr/>
            <p:nvPr/>
          </p:nvGrpSpPr>
          <p:grpSpPr>
            <a:xfrm>
              <a:off x="3534678" y="682851"/>
              <a:ext cx="4259841" cy="697368"/>
              <a:chOff x="3961398" y="835251"/>
              <a:chExt cx="4259841" cy="697368"/>
            </a:xfrm>
          </p:grpSpPr>
          <p:sp>
            <p:nvSpPr>
              <p:cNvPr id="29" name="矩形 28"/>
              <p:cNvSpPr/>
              <p:nvPr/>
            </p:nvSpPr>
            <p:spPr>
              <a:xfrm>
                <a:off x="3961398" y="835251"/>
                <a:ext cx="4259841" cy="697368"/>
              </a:xfrm>
              <a:prstGeom prst="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cs typeface="+mn-ea"/>
                  <a:sym typeface="+mn-lt"/>
                </a:endParaRPr>
              </a:p>
            </p:txBody>
          </p:sp>
          <p:sp>
            <p:nvSpPr>
              <p:cNvPr id="31" name="文本框 30"/>
              <p:cNvSpPr txBox="1"/>
              <p:nvPr/>
            </p:nvSpPr>
            <p:spPr>
              <a:xfrm>
                <a:off x="4272146" y="932401"/>
                <a:ext cx="3774707" cy="523220"/>
              </a:xfrm>
              <a:prstGeom prst="rect">
                <a:avLst/>
              </a:prstGeom>
              <a:noFill/>
            </p:spPr>
            <p:txBody>
              <a:bodyPr wrap="square" rtlCol="0">
                <a:spAutoFit/>
              </a:bodyPr>
              <a:lstStyle/>
              <a:p>
                <a:r>
                  <a:rPr lang="zh-CN" altLang="en-US" sz="2800" b="1" spc="600" dirty="0">
                    <a:solidFill>
                      <a:schemeClr val="tx1">
                        <a:lumMod val="75000"/>
                        <a:lumOff val="25000"/>
                      </a:schemeClr>
                    </a:solidFill>
                    <a:latin typeface="锐字工房云字库细圆GBK" panose="02010604000000000000" pitchFamily="2" charset="-122"/>
                    <a:ea typeface="锐字工房云字库细圆GBK" panose="02010604000000000000" pitchFamily="2" charset="-122"/>
                    <a:cs typeface="+mn-ea"/>
                    <a:sym typeface="+mn-lt"/>
                  </a:rPr>
                  <a:t>示例协处理器需求</a:t>
                </a:r>
                <a:endParaRPr lang="zh-CN" altLang="en-US" sz="2800" b="1" spc="600" dirty="0">
                  <a:solidFill>
                    <a:schemeClr val="tx1">
                      <a:lumMod val="75000"/>
                      <a:lumOff val="25000"/>
                    </a:schemeClr>
                  </a:solidFill>
                  <a:latin typeface="锐字工房云字库细圆GBK" panose="02010604000000000000" pitchFamily="2" charset="-122"/>
                  <a:ea typeface="锐字工房云字库细圆GBK" panose="02010604000000000000" pitchFamily="2" charset="-122"/>
                  <a:cs typeface="+mn-ea"/>
                  <a:sym typeface="+mn-lt"/>
                </a:endParaRPr>
              </a:p>
            </p:txBody>
          </p:sp>
        </p:grpSp>
        <p:cxnSp>
          <p:nvCxnSpPr>
            <p:cNvPr id="17" name="直接连接符 16"/>
            <p:cNvCxnSpPr/>
            <p:nvPr/>
          </p:nvCxnSpPr>
          <p:spPr>
            <a:xfrm>
              <a:off x="11501120" y="-132080"/>
              <a:ext cx="0" cy="69088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11211771" y="5940713"/>
              <a:ext cx="578697" cy="9172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cs typeface="+mn-ea"/>
                <a:sym typeface="+mn-lt"/>
              </a:endParaRPr>
            </a:p>
          </p:txBody>
        </p:sp>
      </p:gr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40428" y="1849038"/>
            <a:ext cx="5819775" cy="4219575"/>
          </a:xfrm>
          <a:prstGeom prst="rect">
            <a:avLst/>
          </a:prstGeom>
        </p:spPr>
      </p:pic>
      <p:sp>
        <p:nvSpPr>
          <p:cNvPr id="6" name="矩形 5"/>
          <p:cNvSpPr/>
          <p:nvPr/>
        </p:nvSpPr>
        <p:spPr>
          <a:xfrm>
            <a:off x="6718427" y="1583905"/>
            <a:ext cx="4135119" cy="5013039"/>
          </a:xfrm>
          <a:prstGeom prst="rect">
            <a:avLst/>
          </a:prstGeom>
        </p:spPr>
        <p:txBody>
          <a:bodyPr wrap="square">
            <a:spAutoFit/>
          </a:bodyPr>
          <a:lstStyle/>
          <a:p>
            <a:pPr>
              <a:lnSpc>
                <a:spcPct val="150000"/>
              </a:lnSpc>
            </a:pPr>
            <a:r>
              <a:rPr lang="zh-CN" altLang="en-US" sz="2400" b="1" dirty="0">
                <a:latin typeface="锐字工房云字库细圆GBK" panose="02010604000000000000" pitchFamily="2" charset="-122"/>
                <a:ea typeface="锐字工房云字库细圆GBK" panose="02010604000000000000" pitchFamily="2" charset="-122"/>
                <a:cs typeface="+mn-ea"/>
                <a:sym typeface="+mn-lt"/>
              </a:rPr>
              <a:t>转换成为汇编代码需要消耗较多的指令条数</a:t>
            </a:r>
            <a:endParaRPr lang="en-US" altLang="zh-CN" sz="2400" b="1" dirty="0">
              <a:latin typeface="锐字工房云字库细圆GBK" panose="02010604000000000000" pitchFamily="2" charset="-122"/>
              <a:ea typeface="锐字工房云字库细圆GBK" panose="02010604000000000000" pitchFamily="2" charset="-122"/>
              <a:cs typeface="+mn-ea"/>
              <a:sym typeface="+mn-lt"/>
            </a:endParaRPr>
          </a:p>
          <a:p>
            <a:pPr>
              <a:lnSpc>
                <a:spcPct val="150000"/>
              </a:lnSpc>
            </a:pPr>
            <a:r>
              <a:rPr lang="zh-CN" altLang="en-US" sz="2400" b="1" dirty="0">
                <a:latin typeface="锐字工房云字库细圆GBK" panose="02010604000000000000" pitchFamily="2" charset="-122"/>
                <a:ea typeface="锐字工房云字库细圆GBK" panose="02010604000000000000" pitchFamily="2" charset="-122"/>
                <a:cs typeface="+mn-ea"/>
                <a:sym typeface="+mn-lt"/>
              </a:rPr>
              <a:t>理论上它需要完整的从存储器中读取矩阵元素两次，需要总共</a:t>
            </a:r>
            <a:r>
              <a:rPr lang="en-US" altLang="zh-CN" sz="2400" b="1" dirty="0">
                <a:latin typeface="锐字工房云字库细圆GBK" panose="02010604000000000000" pitchFamily="2" charset="-122"/>
                <a:ea typeface="锐字工房云字库细圆GBK" panose="02010604000000000000" pitchFamily="2" charset="-122"/>
                <a:cs typeface="+mn-ea"/>
                <a:sym typeface="+mn-lt"/>
              </a:rPr>
              <a:t>N*N*2</a:t>
            </a:r>
            <a:r>
              <a:rPr lang="zh-CN" altLang="en-US" sz="2400" b="1" dirty="0">
                <a:latin typeface="锐字工房云字库细圆GBK" panose="02010604000000000000" pitchFamily="2" charset="-122"/>
                <a:ea typeface="锐字工房云字库细圆GBK" panose="02010604000000000000" pitchFamily="2" charset="-122"/>
                <a:cs typeface="+mn-ea"/>
                <a:sym typeface="+mn-lt"/>
              </a:rPr>
              <a:t>次存储器读操作，此外程序还需要指令参与循环控制，累加计算等。</a:t>
            </a:r>
            <a:endParaRPr lang="en-US" altLang="zh-CN" sz="2400" b="1" dirty="0">
              <a:latin typeface="锐字工房云字库细圆GBK" panose="02010604000000000000" pitchFamily="2" charset="-122"/>
              <a:ea typeface="锐字工房云字库细圆GBK" panose="02010604000000000000" pitchFamily="2" charset="-122"/>
              <a:cs typeface="+mn-ea"/>
              <a:sym typeface="+mn-lt"/>
            </a:endParaRPr>
          </a:p>
          <a:p>
            <a:pPr>
              <a:lnSpc>
                <a:spcPct val="150000"/>
              </a:lnSpc>
            </a:pPr>
            <a:r>
              <a:rPr lang="zh-CN" altLang="en-US" sz="2400" b="1" dirty="0">
                <a:latin typeface="锐字工房云字库细圆GBK" panose="02010604000000000000" pitchFamily="2" charset="-122"/>
                <a:ea typeface="锐字工房云字库细圆GBK" panose="02010604000000000000" pitchFamily="2" charset="-122"/>
                <a:cs typeface="+mn-ea"/>
                <a:sym typeface="+mn-lt"/>
              </a:rPr>
              <a:t>假设</a:t>
            </a:r>
            <a:r>
              <a:rPr lang="en-US" altLang="zh-CN" sz="2400" b="1" dirty="0">
                <a:latin typeface="锐字工房云字库细圆GBK" panose="02010604000000000000" pitchFamily="2" charset="-122"/>
                <a:ea typeface="锐字工房云字库细圆GBK" panose="02010604000000000000" pitchFamily="2" charset="-122"/>
                <a:cs typeface="+mn-ea"/>
                <a:sym typeface="+mn-lt"/>
              </a:rPr>
              <a:t>N=3</a:t>
            </a:r>
            <a:r>
              <a:rPr lang="zh-CN" altLang="en-US" sz="2400" b="1" dirty="0">
                <a:latin typeface="锐字工房云字库细圆GBK" panose="02010604000000000000" pitchFamily="2" charset="-122"/>
                <a:ea typeface="锐字工房云字库细圆GBK" panose="02010604000000000000" pitchFamily="2" charset="-122"/>
                <a:cs typeface="+mn-ea"/>
                <a:sym typeface="+mn-lt"/>
              </a:rPr>
              <a:t>，则总计需要几十个指令周期才能完成。</a:t>
            </a:r>
            <a:endParaRPr lang="zh-CN" altLang="en-US" sz="2400" b="1" dirty="0">
              <a:latin typeface="锐字工房云字库细圆GBK" panose="02010604000000000000" pitchFamily="2" charset="-122"/>
              <a:ea typeface="锐字工房云字库细圆GBK" panose="02010604000000000000" pitchFamily="2"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3534678" y="-132080"/>
            <a:ext cx="8255790" cy="6990081"/>
            <a:chOff x="3534678" y="-132080"/>
            <a:chExt cx="8255790" cy="6990081"/>
          </a:xfrm>
        </p:grpSpPr>
        <p:grpSp>
          <p:nvGrpSpPr>
            <p:cNvPr id="21" name="组合 20"/>
            <p:cNvGrpSpPr/>
            <p:nvPr/>
          </p:nvGrpSpPr>
          <p:grpSpPr>
            <a:xfrm>
              <a:off x="3534678" y="682851"/>
              <a:ext cx="4259841" cy="697368"/>
              <a:chOff x="3961398" y="835251"/>
              <a:chExt cx="4259841" cy="697368"/>
            </a:xfrm>
          </p:grpSpPr>
          <p:sp>
            <p:nvSpPr>
              <p:cNvPr id="29" name="矩形 28"/>
              <p:cNvSpPr/>
              <p:nvPr/>
            </p:nvSpPr>
            <p:spPr>
              <a:xfrm>
                <a:off x="3961398" y="835251"/>
                <a:ext cx="4259841" cy="697368"/>
              </a:xfrm>
              <a:prstGeom prst="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cs typeface="+mn-ea"/>
                  <a:sym typeface="+mn-lt"/>
                </a:endParaRPr>
              </a:p>
            </p:txBody>
          </p:sp>
          <p:sp>
            <p:nvSpPr>
              <p:cNvPr id="31" name="文本框 30"/>
              <p:cNvSpPr txBox="1"/>
              <p:nvPr/>
            </p:nvSpPr>
            <p:spPr>
              <a:xfrm>
                <a:off x="4272146" y="932401"/>
                <a:ext cx="3774707" cy="523220"/>
              </a:xfrm>
              <a:prstGeom prst="rect">
                <a:avLst/>
              </a:prstGeom>
              <a:noFill/>
            </p:spPr>
            <p:txBody>
              <a:bodyPr wrap="square" rtlCol="0">
                <a:spAutoFit/>
              </a:bodyPr>
              <a:lstStyle/>
              <a:p>
                <a:r>
                  <a:rPr lang="zh-CN" altLang="en-US" sz="2800" b="1" spc="600" dirty="0">
                    <a:solidFill>
                      <a:schemeClr val="tx1">
                        <a:lumMod val="75000"/>
                        <a:lumOff val="25000"/>
                      </a:schemeClr>
                    </a:solidFill>
                    <a:latin typeface="锐字工房云字库细圆GBK" panose="02010604000000000000" pitchFamily="2" charset="-122"/>
                    <a:ea typeface="锐字工房云字库细圆GBK" panose="02010604000000000000" pitchFamily="2" charset="-122"/>
                    <a:cs typeface="+mn-ea"/>
                    <a:sym typeface="+mn-lt"/>
                  </a:rPr>
                  <a:t>示例协处理器指令</a:t>
                </a:r>
                <a:endParaRPr lang="zh-CN" altLang="en-US" sz="2800" b="1" spc="600" dirty="0">
                  <a:solidFill>
                    <a:schemeClr val="tx1">
                      <a:lumMod val="75000"/>
                      <a:lumOff val="25000"/>
                    </a:schemeClr>
                  </a:solidFill>
                  <a:latin typeface="锐字工房云字库细圆GBK" panose="02010604000000000000" pitchFamily="2" charset="-122"/>
                  <a:ea typeface="锐字工房云字库细圆GBK" panose="02010604000000000000" pitchFamily="2" charset="-122"/>
                  <a:cs typeface="+mn-ea"/>
                  <a:sym typeface="+mn-lt"/>
                </a:endParaRPr>
              </a:p>
            </p:txBody>
          </p:sp>
        </p:grpSp>
        <p:cxnSp>
          <p:nvCxnSpPr>
            <p:cNvPr id="17" name="直接连接符 16"/>
            <p:cNvCxnSpPr/>
            <p:nvPr/>
          </p:nvCxnSpPr>
          <p:spPr>
            <a:xfrm>
              <a:off x="11501120" y="-132080"/>
              <a:ext cx="0" cy="69088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11211771" y="5940713"/>
              <a:ext cx="578697" cy="9172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cs typeface="+mn-ea"/>
                <a:sym typeface="+mn-lt"/>
              </a:endParaRPr>
            </a:p>
          </p:txBody>
        </p:sp>
      </p:grpSp>
      <p:pic>
        <p:nvPicPr>
          <p:cNvPr id="3" name="图片 2"/>
          <p:cNvPicPr>
            <a:picLocks noChangeAspect="1"/>
          </p:cNvPicPr>
          <p:nvPr/>
        </p:nvPicPr>
        <p:blipFill rotWithShape="1">
          <a:blip r:embed="rId1">
            <a:extLst>
              <a:ext uri="{28A0092B-C50C-407E-A947-70E740481C1C}">
                <a14:useLocalDpi xmlns:a14="http://schemas.microsoft.com/office/drawing/2010/main" val="0"/>
              </a:ext>
            </a:extLst>
          </a:blip>
          <a:srcRect t="171" b="40878"/>
          <a:stretch>
            <a:fillRect/>
          </a:stretch>
        </p:blipFill>
        <p:spPr>
          <a:xfrm>
            <a:off x="1789671" y="1797209"/>
            <a:ext cx="7886215" cy="4767309"/>
          </a:xfrm>
          <a:prstGeom prst="rect">
            <a:avLst/>
          </a:prstGeom>
        </p:spPr>
      </p:pic>
      <p:sp>
        <p:nvSpPr>
          <p:cNvPr id="13" name="文本框 12"/>
          <p:cNvSpPr txBox="1"/>
          <p:nvPr/>
        </p:nvSpPr>
        <p:spPr>
          <a:xfrm>
            <a:off x="1876425" y="1427877"/>
            <a:ext cx="6096000" cy="369332"/>
          </a:xfrm>
          <a:prstGeom prst="rect">
            <a:avLst/>
          </a:prstGeom>
          <a:noFill/>
        </p:spPr>
        <p:txBody>
          <a:bodyPr wrap="square">
            <a:spAutoFit/>
          </a:bodyPr>
          <a:lstStyle/>
          <a:p>
            <a:r>
              <a:rPr lang="zh-CN" altLang="en-US" sz="1800" dirty="0">
                <a:latin typeface="锐字工房云字库细圆GBK" panose="02010604000000000000" pitchFamily="2" charset="-122"/>
                <a:ea typeface="锐字工房云字库细圆GBK" panose="02010604000000000000" pitchFamily="2" charset="-122"/>
                <a:cs typeface="+mn-ea"/>
                <a:sym typeface="+mn-lt"/>
              </a:rPr>
              <a:t>为提高性能定义的</a:t>
            </a:r>
            <a:r>
              <a:rPr lang="en-US" altLang="zh-CN" sz="1800" dirty="0">
                <a:latin typeface="锐字工房云字库细圆GBK" panose="02010604000000000000" pitchFamily="2" charset="-122"/>
                <a:ea typeface="锐字工房云字库细圆GBK" panose="02010604000000000000" pitchFamily="2" charset="-122"/>
                <a:cs typeface="+mn-ea"/>
                <a:sym typeface="+mn-lt"/>
              </a:rPr>
              <a:t>3</a:t>
            </a:r>
            <a:r>
              <a:rPr lang="zh-CN" altLang="en-US" sz="1800" dirty="0">
                <a:latin typeface="锐字工房云字库细圆GBK" panose="02010604000000000000" pitchFamily="2" charset="-122"/>
                <a:ea typeface="锐字工房云字库细圆GBK" panose="02010604000000000000" pitchFamily="2" charset="-122"/>
                <a:cs typeface="+mn-ea"/>
                <a:sym typeface="+mn-lt"/>
              </a:rPr>
              <a:t>条指令如下：</a:t>
            </a:r>
            <a:endParaRPr lang="zh-CN" altLang="en-US" sz="1800" dirty="0">
              <a:latin typeface="锐字工房云字库细圆GBK" panose="02010604000000000000" pitchFamily="2" charset="-122"/>
              <a:ea typeface="锐字工房云字库细圆GBK" panose="02010604000000000000" pitchFamily="2"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3534678" y="-132080"/>
            <a:ext cx="8255790" cy="6990081"/>
            <a:chOff x="3534678" y="-132080"/>
            <a:chExt cx="8255790" cy="6990081"/>
          </a:xfrm>
        </p:grpSpPr>
        <p:grpSp>
          <p:nvGrpSpPr>
            <p:cNvPr id="21" name="组合 20"/>
            <p:cNvGrpSpPr/>
            <p:nvPr/>
          </p:nvGrpSpPr>
          <p:grpSpPr>
            <a:xfrm>
              <a:off x="3534678" y="682851"/>
              <a:ext cx="4259841" cy="697368"/>
              <a:chOff x="3961398" y="835251"/>
              <a:chExt cx="4259841" cy="697368"/>
            </a:xfrm>
          </p:grpSpPr>
          <p:sp>
            <p:nvSpPr>
              <p:cNvPr id="29" name="矩形 28"/>
              <p:cNvSpPr/>
              <p:nvPr/>
            </p:nvSpPr>
            <p:spPr>
              <a:xfrm>
                <a:off x="3961398" y="835251"/>
                <a:ext cx="4259841" cy="697368"/>
              </a:xfrm>
              <a:prstGeom prst="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cs typeface="+mn-ea"/>
                  <a:sym typeface="+mn-lt"/>
                </a:endParaRPr>
              </a:p>
            </p:txBody>
          </p:sp>
          <p:sp>
            <p:nvSpPr>
              <p:cNvPr id="31" name="文本框 30"/>
              <p:cNvSpPr txBox="1"/>
              <p:nvPr/>
            </p:nvSpPr>
            <p:spPr>
              <a:xfrm>
                <a:off x="4272146" y="932401"/>
                <a:ext cx="3774707" cy="523220"/>
              </a:xfrm>
              <a:prstGeom prst="rect">
                <a:avLst/>
              </a:prstGeom>
              <a:noFill/>
            </p:spPr>
            <p:txBody>
              <a:bodyPr wrap="square" rtlCol="0">
                <a:spAutoFit/>
              </a:bodyPr>
              <a:lstStyle/>
              <a:p>
                <a:r>
                  <a:rPr lang="zh-CN" altLang="en-US" sz="2800" b="1" spc="600" dirty="0">
                    <a:solidFill>
                      <a:schemeClr val="tx1">
                        <a:lumMod val="75000"/>
                        <a:lumOff val="25000"/>
                      </a:schemeClr>
                    </a:solidFill>
                    <a:latin typeface="锐字工房云字库细圆GBK" panose="02010604000000000000" pitchFamily="2" charset="-122"/>
                    <a:ea typeface="锐字工房云字库细圆GBK" panose="02010604000000000000" pitchFamily="2" charset="-122"/>
                    <a:cs typeface="+mn-ea"/>
                    <a:sym typeface="+mn-lt"/>
                  </a:rPr>
                  <a:t>示例协处理器指令</a:t>
                </a:r>
                <a:endParaRPr lang="zh-CN" altLang="en-US" sz="2800" b="1" spc="600" dirty="0">
                  <a:solidFill>
                    <a:schemeClr val="tx1">
                      <a:lumMod val="75000"/>
                      <a:lumOff val="25000"/>
                    </a:schemeClr>
                  </a:solidFill>
                  <a:latin typeface="锐字工房云字库细圆GBK" panose="02010604000000000000" pitchFamily="2" charset="-122"/>
                  <a:ea typeface="锐字工房云字库细圆GBK" panose="02010604000000000000" pitchFamily="2" charset="-122"/>
                  <a:cs typeface="+mn-ea"/>
                  <a:sym typeface="+mn-lt"/>
                </a:endParaRPr>
              </a:p>
            </p:txBody>
          </p:sp>
        </p:grpSp>
        <p:cxnSp>
          <p:nvCxnSpPr>
            <p:cNvPr id="17" name="直接连接符 16"/>
            <p:cNvCxnSpPr/>
            <p:nvPr/>
          </p:nvCxnSpPr>
          <p:spPr>
            <a:xfrm>
              <a:off x="11501120" y="-132080"/>
              <a:ext cx="0" cy="69088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11211771" y="5940713"/>
              <a:ext cx="578697" cy="9172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cs typeface="+mn-ea"/>
                <a:sym typeface="+mn-lt"/>
              </a:endParaRPr>
            </a:p>
          </p:txBody>
        </p:sp>
      </p:grpSp>
      <p:pic>
        <p:nvPicPr>
          <p:cNvPr id="3" name="图片 2"/>
          <p:cNvPicPr>
            <a:picLocks noChangeAspect="1"/>
          </p:cNvPicPr>
          <p:nvPr/>
        </p:nvPicPr>
        <p:blipFill rotWithShape="1">
          <a:blip r:embed="rId1">
            <a:extLst>
              <a:ext uri="{28A0092B-C50C-407E-A947-70E740481C1C}">
                <a14:useLocalDpi xmlns:a14="http://schemas.microsoft.com/office/drawing/2010/main" val="0"/>
              </a:ext>
            </a:extLst>
          </a:blip>
          <a:srcRect t="58402"/>
          <a:stretch>
            <a:fillRect/>
          </a:stretch>
        </p:blipFill>
        <p:spPr>
          <a:xfrm>
            <a:off x="1682515" y="1990665"/>
            <a:ext cx="8475681" cy="361558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3534678" y="-132080"/>
            <a:ext cx="8255790" cy="6990081"/>
            <a:chOff x="3534678" y="-132080"/>
            <a:chExt cx="8255790" cy="6990081"/>
          </a:xfrm>
        </p:grpSpPr>
        <p:grpSp>
          <p:nvGrpSpPr>
            <p:cNvPr id="21" name="组合 20"/>
            <p:cNvGrpSpPr/>
            <p:nvPr/>
          </p:nvGrpSpPr>
          <p:grpSpPr>
            <a:xfrm>
              <a:off x="3534678" y="682851"/>
              <a:ext cx="4259841" cy="697368"/>
              <a:chOff x="3961398" y="835251"/>
              <a:chExt cx="4259841" cy="697368"/>
            </a:xfrm>
          </p:grpSpPr>
          <p:sp>
            <p:nvSpPr>
              <p:cNvPr id="29" name="矩形 28"/>
              <p:cNvSpPr/>
              <p:nvPr/>
            </p:nvSpPr>
            <p:spPr>
              <a:xfrm>
                <a:off x="3961398" y="835251"/>
                <a:ext cx="4259841" cy="697368"/>
              </a:xfrm>
              <a:prstGeom prst="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cs typeface="+mn-ea"/>
                  <a:sym typeface="+mn-lt"/>
                </a:endParaRPr>
              </a:p>
            </p:txBody>
          </p:sp>
          <p:sp>
            <p:nvSpPr>
              <p:cNvPr id="31" name="文本框 30"/>
              <p:cNvSpPr txBox="1"/>
              <p:nvPr/>
            </p:nvSpPr>
            <p:spPr>
              <a:xfrm>
                <a:off x="4272146" y="932401"/>
                <a:ext cx="3774707" cy="523220"/>
              </a:xfrm>
              <a:prstGeom prst="rect">
                <a:avLst/>
              </a:prstGeom>
              <a:noFill/>
            </p:spPr>
            <p:txBody>
              <a:bodyPr wrap="square" rtlCol="0">
                <a:spAutoFit/>
              </a:bodyPr>
              <a:lstStyle/>
              <a:p>
                <a:r>
                  <a:rPr lang="zh-CN" altLang="en-US" sz="2800" b="1" spc="600" dirty="0">
                    <a:solidFill>
                      <a:schemeClr val="tx1">
                        <a:lumMod val="75000"/>
                        <a:lumOff val="25000"/>
                      </a:schemeClr>
                    </a:solidFill>
                    <a:latin typeface="锐字工房云字库细圆GBK" panose="02010604000000000000" pitchFamily="2" charset="-122"/>
                    <a:ea typeface="锐字工房云字库细圆GBK" panose="02010604000000000000" pitchFamily="2" charset="-122"/>
                    <a:cs typeface="+mn-ea"/>
                    <a:sym typeface="+mn-lt"/>
                  </a:rPr>
                  <a:t>示例协处理器实现</a:t>
                </a:r>
                <a:endParaRPr lang="zh-CN" altLang="en-US" sz="2800" b="1" spc="600" dirty="0">
                  <a:solidFill>
                    <a:schemeClr val="tx1">
                      <a:lumMod val="75000"/>
                      <a:lumOff val="25000"/>
                    </a:schemeClr>
                  </a:solidFill>
                  <a:latin typeface="锐字工房云字库细圆GBK" panose="02010604000000000000" pitchFamily="2" charset="-122"/>
                  <a:ea typeface="锐字工房云字库细圆GBK" panose="02010604000000000000" pitchFamily="2" charset="-122"/>
                  <a:cs typeface="+mn-ea"/>
                  <a:sym typeface="+mn-lt"/>
                </a:endParaRPr>
              </a:p>
            </p:txBody>
          </p:sp>
        </p:grpSp>
        <p:cxnSp>
          <p:nvCxnSpPr>
            <p:cNvPr id="17" name="直接连接符 16"/>
            <p:cNvCxnSpPr/>
            <p:nvPr/>
          </p:nvCxnSpPr>
          <p:spPr>
            <a:xfrm>
              <a:off x="11501120" y="-132080"/>
              <a:ext cx="0" cy="69088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11211771" y="5940713"/>
              <a:ext cx="578697" cy="9172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cs typeface="+mn-ea"/>
                <a:sym typeface="+mn-lt"/>
              </a:endParaRPr>
            </a:p>
          </p:txBody>
        </p:sp>
      </p:grpSp>
      <p:sp>
        <p:nvSpPr>
          <p:cNvPr id="2" name="矩形 1"/>
          <p:cNvSpPr/>
          <p:nvPr/>
        </p:nvSpPr>
        <p:spPr>
          <a:xfrm>
            <a:off x="6718427" y="2480549"/>
            <a:ext cx="4135119" cy="2243050"/>
          </a:xfrm>
          <a:prstGeom prst="rect">
            <a:avLst/>
          </a:prstGeom>
        </p:spPr>
        <p:txBody>
          <a:bodyPr wrap="square">
            <a:spAutoFit/>
          </a:bodyPr>
          <a:lstStyle/>
          <a:p>
            <a:pPr>
              <a:lnSpc>
                <a:spcPct val="150000"/>
              </a:lnSpc>
            </a:pPr>
            <a:r>
              <a:rPr lang="zh-CN" altLang="en-US" sz="2400" b="1" dirty="0">
                <a:latin typeface="锐字工房云字库细圆GBK" panose="02010604000000000000" pitchFamily="2" charset="-122"/>
                <a:ea typeface="锐字工房云字库细圆GBK" panose="02010604000000000000" pitchFamily="2" charset="-122"/>
                <a:cs typeface="+mn-ea"/>
                <a:sym typeface="+mn-lt"/>
              </a:rPr>
              <a:t>其主要由控制模块和累加模块组成。控 制模块主要负责和主处理器的 </a:t>
            </a:r>
            <a:r>
              <a:rPr lang="en-US" altLang="zh-CN" sz="2400" b="1" dirty="0">
                <a:latin typeface="锐字工房云字库细圆GBK" panose="02010604000000000000" pitchFamily="2" charset="-122"/>
                <a:ea typeface="锐字工房云字库细圆GBK" panose="02010604000000000000" pitchFamily="2" charset="-122"/>
                <a:cs typeface="+mn-ea"/>
                <a:sym typeface="+mn-lt"/>
              </a:rPr>
              <a:t>EAI </a:t>
            </a:r>
            <a:r>
              <a:rPr lang="zh-CN" altLang="en-US" sz="2400" b="1" dirty="0">
                <a:latin typeface="锐字工房云字库细圆GBK" panose="02010604000000000000" pitchFamily="2" charset="-122"/>
                <a:ea typeface="锐字工房云字库细圆GBK" panose="02010604000000000000" pitchFamily="2" charset="-122"/>
                <a:cs typeface="+mn-ea"/>
                <a:sym typeface="+mn-lt"/>
              </a:rPr>
              <a:t>接口交互，并调用累加器进行累加运算。 </a:t>
            </a:r>
            <a:endParaRPr lang="zh-CN" altLang="en-US" sz="2400" b="1" dirty="0">
              <a:latin typeface="锐字工房云字库细圆GBK" panose="02010604000000000000" pitchFamily="2" charset="-122"/>
              <a:ea typeface="锐字工房云字库细圆GBK" panose="02010604000000000000" pitchFamily="2" charset="-122"/>
              <a:cs typeface="+mn-ea"/>
              <a:sym typeface="+mn-lt"/>
            </a:endParaRPr>
          </a:p>
        </p:txBody>
      </p:sp>
      <p:pic>
        <p:nvPicPr>
          <p:cNvPr id="5" name="图片 4"/>
          <p:cNvPicPr>
            <a:picLocks noChangeAspect="1"/>
          </p:cNvPicPr>
          <p:nvPr/>
        </p:nvPicPr>
        <p:blipFill>
          <a:blip r:embed="rId1"/>
          <a:stretch>
            <a:fillRect/>
          </a:stretch>
        </p:blipFill>
        <p:spPr>
          <a:xfrm>
            <a:off x="776779" y="2158314"/>
            <a:ext cx="5319221" cy="332260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3534678" y="-132080"/>
            <a:ext cx="8255790" cy="6990081"/>
            <a:chOff x="3534678" y="-132080"/>
            <a:chExt cx="8255790" cy="6990081"/>
          </a:xfrm>
        </p:grpSpPr>
        <p:grpSp>
          <p:nvGrpSpPr>
            <p:cNvPr id="21" name="组合 20"/>
            <p:cNvGrpSpPr/>
            <p:nvPr/>
          </p:nvGrpSpPr>
          <p:grpSpPr>
            <a:xfrm>
              <a:off x="3534678" y="682851"/>
              <a:ext cx="4259841" cy="697368"/>
              <a:chOff x="3961398" y="835251"/>
              <a:chExt cx="4259841" cy="697368"/>
            </a:xfrm>
          </p:grpSpPr>
          <p:sp>
            <p:nvSpPr>
              <p:cNvPr id="29" name="矩形 28"/>
              <p:cNvSpPr/>
              <p:nvPr/>
            </p:nvSpPr>
            <p:spPr>
              <a:xfrm>
                <a:off x="3961398" y="835251"/>
                <a:ext cx="4259841" cy="697368"/>
              </a:xfrm>
              <a:prstGeom prst="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cs typeface="+mn-ea"/>
                  <a:sym typeface="+mn-lt"/>
                </a:endParaRPr>
              </a:p>
            </p:txBody>
          </p:sp>
          <p:sp>
            <p:nvSpPr>
              <p:cNvPr id="31" name="文本框 30"/>
              <p:cNvSpPr txBox="1"/>
              <p:nvPr/>
            </p:nvSpPr>
            <p:spPr>
              <a:xfrm>
                <a:off x="4272146" y="932401"/>
                <a:ext cx="3774707" cy="523220"/>
              </a:xfrm>
              <a:prstGeom prst="rect">
                <a:avLst/>
              </a:prstGeom>
              <a:noFill/>
            </p:spPr>
            <p:txBody>
              <a:bodyPr wrap="square" rtlCol="0">
                <a:spAutoFit/>
              </a:bodyPr>
              <a:lstStyle/>
              <a:p>
                <a:r>
                  <a:rPr lang="zh-CN" altLang="en-US" sz="2800" b="1" spc="600" dirty="0">
                    <a:solidFill>
                      <a:schemeClr val="tx1">
                        <a:lumMod val="75000"/>
                        <a:lumOff val="25000"/>
                      </a:schemeClr>
                    </a:solidFill>
                    <a:latin typeface="锐字工房云字库细圆GBK" panose="02010604000000000000" pitchFamily="2" charset="-122"/>
                    <a:ea typeface="锐字工房云字库细圆GBK" panose="02010604000000000000" pitchFamily="2" charset="-122"/>
                    <a:cs typeface="+mn-ea"/>
                    <a:sym typeface="+mn-lt"/>
                  </a:rPr>
                  <a:t>示例协处理器实现</a:t>
                </a:r>
                <a:endParaRPr lang="zh-CN" altLang="en-US" sz="2800" b="1" spc="600" dirty="0">
                  <a:solidFill>
                    <a:schemeClr val="tx1">
                      <a:lumMod val="75000"/>
                      <a:lumOff val="25000"/>
                    </a:schemeClr>
                  </a:solidFill>
                  <a:latin typeface="锐字工房云字库细圆GBK" panose="02010604000000000000" pitchFamily="2" charset="-122"/>
                  <a:ea typeface="锐字工房云字库细圆GBK" panose="02010604000000000000" pitchFamily="2" charset="-122"/>
                  <a:cs typeface="+mn-ea"/>
                  <a:sym typeface="+mn-lt"/>
                </a:endParaRPr>
              </a:p>
            </p:txBody>
          </p:sp>
        </p:grpSp>
        <p:cxnSp>
          <p:nvCxnSpPr>
            <p:cNvPr id="17" name="直接连接符 16"/>
            <p:cNvCxnSpPr/>
            <p:nvPr/>
          </p:nvCxnSpPr>
          <p:spPr>
            <a:xfrm>
              <a:off x="11501120" y="-132080"/>
              <a:ext cx="0" cy="69088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11211771" y="5940713"/>
              <a:ext cx="578697" cy="9172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cs typeface="+mn-ea"/>
                <a:sym typeface="+mn-lt"/>
              </a:endParaRPr>
            </a:p>
          </p:txBody>
        </p:sp>
      </p:grpSp>
      <p:sp>
        <p:nvSpPr>
          <p:cNvPr id="2" name="矩形 1"/>
          <p:cNvSpPr/>
          <p:nvPr/>
        </p:nvSpPr>
        <p:spPr>
          <a:xfrm>
            <a:off x="487013" y="1583905"/>
            <a:ext cx="4135119" cy="581057"/>
          </a:xfrm>
          <a:prstGeom prst="rect">
            <a:avLst/>
          </a:prstGeom>
        </p:spPr>
        <p:txBody>
          <a:bodyPr wrap="square">
            <a:spAutoFit/>
          </a:bodyPr>
          <a:lstStyle/>
          <a:p>
            <a:pPr>
              <a:lnSpc>
                <a:spcPct val="150000"/>
              </a:lnSpc>
            </a:pPr>
            <a:r>
              <a:rPr lang="zh-CN" altLang="en-US" sz="2400" b="1" dirty="0">
                <a:latin typeface="锐字工房云字库细圆GBK" panose="02010604000000000000" pitchFamily="2" charset="-122"/>
                <a:ea typeface="锐字工房云字库细圆GBK" panose="02010604000000000000" pitchFamily="2" charset="-122"/>
                <a:cs typeface="+mn-ea"/>
                <a:sym typeface="+mn-lt"/>
              </a:rPr>
              <a:t>实现过程：</a:t>
            </a:r>
            <a:endParaRPr lang="zh-CN" altLang="en-US" sz="2400" b="1" dirty="0">
              <a:latin typeface="锐字工房云字库细圆GBK" panose="02010604000000000000" pitchFamily="2" charset="-122"/>
              <a:ea typeface="锐字工房云字库细圆GBK" panose="02010604000000000000" pitchFamily="2" charset="-122"/>
              <a:cs typeface="+mn-ea"/>
              <a:sym typeface="+mn-lt"/>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375064" y="1411726"/>
            <a:ext cx="6715429" cy="536499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3534678" y="-132080"/>
            <a:ext cx="8255790" cy="6990081"/>
            <a:chOff x="3534678" y="-132080"/>
            <a:chExt cx="8255790" cy="6990081"/>
          </a:xfrm>
        </p:grpSpPr>
        <p:grpSp>
          <p:nvGrpSpPr>
            <p:cNvPr id="21" name="组合 20"/>
            <p:cNvGrpSpPr/>
            <p:nvPr/>
          </p:nvGrpSpPr>
          <p:grpSpPr>
            <a:xfrm>
              <a:off x="3534678" y="682851"/>
              <a:ext cx="4259841" cy="697368"/>
              <a:chOff x="3961398" y="835251"/>
              <a:chExt cx="4259841" cy="697368"/>
            </a:xfrm>
          </p:grpSpPr>
          <p:sp>
            <p:nvSpPr>
              <p:cNvPr id="29" name="矩形 28"/>
              <p:cNvSpPr/>
              <p:nvPr/>
            </p:nvSpPr>
            <p:spPr>
              <a:xfrm>
                <a:off x="3961398" y="835251"/>
                <a:ext cx="4259841" cy="697368"/>
              </a:xfrm>
              <a:prstGeom prst="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cs typeface="+mn-ea"/>
                  <a:sym typeface="+mn-lt"/>
                </a:endParaRPr>
              </a:p>
            </p:txBody>
          </p:sp>
          <p:sp>
            <p:nvSpPr>
              <p:cNvPr id="31" name="文本框 30"/>
              <p:cNvSpPr txBox="1"/>
              <p:nvPr/>
            </p:nvSpPr>
            <p:spPr>
              <a:xfrm>
                <a:off x="4272146" y="932401"/>
                <a:ext cx="3774707" cy="523220"/>
              </a:xfrm>
              <a:prstGeom prst="rect">
                <a:avLst/>
              </a:prstGeom>
              <a:noFill/>
            </p:spPr>
            <p:txBody>
              <a:bodyPr wrap="square" rtlCol="0">
                <a:spAutoFit/>
              </a:bodyPr>
              <a:lstStyle/>
              <a:p>
                <a:r>
                  <a:rPr lang="zh-CN" altLang="en-US" sz="2800" b="1" spc="600" dirty="0">
                    <a:solidFill>
                      <a:schemeClr val="tx1">
                        <a:lumMod val="75000"/>
                        <a:lumOff val="25000"/>
                      </a:schemeClr>
                    </a:solidFill>
                    <a:latin typeface="锐字工房云字库细圆GBK" panose="02010604000000000000" pitchFamily="2" charset="-122"/>
                    <a:ea typeface="锐字工房云字库细圆GBK" panose="02010604000000000000" pitchFamily="2" charset="-122"/>
                    <a:cs typeface="+mn-ea"/>
                    <a:sym typeface="+mn-lt"/>
                  </a:rPr>
                  <a:t>示例协处理器实现</a:t>
                </a:r>
                <a:endParaRPr lang="zh-CN" altLang="en-US" sz="2800" b="1" spc="600" dirty="0">
                  <a:solidFill>
                    <a:schemeClr val="tx1">
                      <a:lumMod val="75000"/>
                      <a:lumOff val="25000"/>
                    </a:schemeClr>
                  </a:solidFill>
                  <a:latin typeface="锐字工房云字库细圆GBK" panose="02010604000000000000" pitchFamily="2" charset="-122"/>
                  <a:ea typeface="锐字工房云字库细圆GBK" panose="02010604000000000000" pitchFamily="2" charset="-122"/>
                  <a:cs typeface="+mn-ea"/>
                  <a:sym typeface="+mn-lt"/>
                </a:endParaRPr>
              </a:p>
            </p:txBody>
          </p:sp>
        </p:grpSp>
        <p:cxnSp>
          <p:nvCxnSpPr>
            <p:cNvPr id="17" name="直接连接符 16"/>
            <p:cNvCxnSpPr/>
            <p:nvPr/>
          </p:nvCxnSpPr>
          <p:spPr>
            <a:xfrm>
              <a:off x="11501120" y="-132080"/>
              <a:ext cx="0" cy="69088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11211771" y="5940713"/>
              <a:ext cx="578697" cy="9172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cs typeface="+mn-ea"/>
                <a:sym typeface="+mn-lt"/>
              </a:endParaRPr>
            </a:p>
          </p:txBody>
        </p:sp>
      </p:grpSp>
      <p:sp>
        <p:nvSpPr>
          <p:cNvPr id="2" name="矩形 1"/>
          <p:cNvSpPr/>
          <p:nvPr/>
        </p:nvSpPr>
        <p:spPr>
          <a:xfrm>
            <a:off x="487014" y="1583905"/>
            <a:ext cx="2353837" cy="1689052"/>
          </a:xfrm>
          <a:prstGeom prst="rect">
            <a:avLst/>
          </a:prstGeom>
        </p:spPr>
        <p:txBody>
          <a:bodyPr wrap="square">
            <a:spAutoFit/>
          </a:bodyPr>
          <a:lstStyle/>
          <a:p>
            <a:pPr>
              <a:lnSpc>
                <a:spcPct val="150000"/>
              </a:lnSpc>
            </a:pPr>
            <a:r>
              <a:rPr lang="zh-CN" altLang="en-US" sz="2400" b="1" dirty="0">
                <a:latin typeface="锐字工房云字库细圆GBK" panose="02010604000000000000" pitchFamily="2" charset="-122"/>
                <a:ea typeface="锐字工房云字库细圆GBK" panose="02010604000000000000" pitchFamily="2" charset="-122"/>
                <a:cs typeface="+mn-ea"/>
                <a:sym typeface="+mn-lt"/>
              </a:rPr>
              <a:t>使用协处理器后整个计算过程的数值</a:t>
            </a:r>
            <a:endParaRPr lang="zh-CN" altLang="en-US" sz="2400" b="1" dirty="0">
              <a:latin typeface="锐字工房云字库细圆GBK" panose="02010604000000000000" pitchFamily="2" charset="-122"/>
              <a:ea typeface="锐字工房云字库细圆GBK" panose="02010604000000000000" pitchFamily="2" charset="-122"/>
              <a:cs typeface="+mn-ea"/>
              <a:sym typeface="+mn-lt"/>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776906" y="1771650"/>
            <a:ext cx="6105525" cy="33147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3534678" y="-132080"/>
            <a:ext cx="8255790" cy="6990081"/>
            <a:chOff x="3534678" y="-132080"/>
            <a:chExt cx="8255790" cy="6990081"/>
          </a:xfrm>
        </p:grpSpPr>
        <p:grpSp>
          <p:nvGrpSpPr>
            <p:cNvPr id="21" name="组合 20"/>
            <p:cNvGrpSpPr/>
            <p:nvPr/>
          </p:nvGrpSpPr>
          <p:grpSpPr>
            <a:xfrm>
              <a:off x="3534678" y="682851"/>
              <a:ext cx="4259841" cy="697368"/>
              <a:chOff x="3961398" y="835251"/>
              <a:chExt cx="4259841" cy="697368"/>
            </a:xfrm>
          </p:grpSpPr>
          <p:sp>
            <p:nvSpPr>
              <p:cNvPr id="29" name="矩形 28"/>
              <p:cNvSpPr/>
              <p:nvPr/>
            </p:nvSpPr>
            <p:spPr>
              <a:xfrm>
                <a:off x="3961398" y="835251"/>
                <a:ext cx="4259841" cy="697368"/>
              </a:xfrm>
              <a:prstGeom prst="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cs typeface="+mn-ea"/>
                  <a:sym typeface="+mn-lt"/>
                </a:endParaRPr>
              </a:p>
            </p:txBody>
          </p:sp>
          <p:sp>
            <p:nvSpPr>
              <p:cNvPr id="31" name="文本框 30"/>
              <p:cNvSpPr txBox="1"/>
              <p:nvPr/>
            </p:nvSpPr>
            <p:spPr>
              <a:xfrm>
                <a:off x="4272146" y="932401"/>
                <a:ext cx="3774707" cy="523220"/>
              </a:xfrm>
              <a:prstGeom prst="rect">
                <a:avLst/>
              </a:prstGeom>
              <a:noFill/>
            </p:spPr>
            <p:txBody>
              <a:bodyPr wrap="square" rtlCol="0">
                <a:spAutoFit/>
              </a:bodyPr>
              <a:lstStyle/>
              <a:p>
                <a:r>
                  <a:rPr lang="zh-CN" altLang="en-US" sz="2800" b="1" spc="600" dirty="0">
                    <a:solidFill>
                      <a:schemeClr val="tx1">
                        <a:lumMod val="75000"/>
                        <a:lumOff val="25000"/>
                      </a:schemeClr>
                    </a:solidFill>
                    <a:latin typeface="锐字工房云字库细圆GBK" panose="02010604000000000000" pitchFamily="2" charset="-122"/>
                    <a:ea typeface="锐字工房云字库细圆GBK" panose="02010604000000000000" pitchFamily="2" charset="-122"/>
                    <a:cs typeface="+mn-ea"/>
                    <a:sym typeface="+mn-lt"/>
                  </a:rPr>
                  <a:t>示例协处理器性能</a:t>
                </a:r>
                <a:endParaRPr lang="zh-CN" altLang="en-US" sz="2800" b="1" spc="600" dirty="0">
                  <a:solidFill>
                    <a:schemeClr val="tx1">
                      <a:lumMod val="75000"/>
                      <a:lumOff val="25000"/>
                    </a:schemeClr>
                  </a:solidFill>
                  <a:latin typeface="锐字工房云字库细圆GBK" panose="02010604000000000000" pitchFamily="2" charset="-122"/>
                  <a:ea typeface="锐字工房云字库细圆GBK" panose="02010604000000000000" pitchFamily="2" charset="-122"/>
                  <a:cs typeface="+mn-ea"/>
                  <a:sym typeface="+mn-lt"/>
                </a:endParaRPr>
              </a:p>
            </p:txBody>
          </p:sp>
        </p:grpSp>
        <p:cxnSp>
          <p:nvCxnSpPr>
            <p:cNvPr id="17" name="直接连接符 16"/>
            <p:cNvCxnSpPr/>
            <p:nvPr/>
          </p:nvCxnSpPr>
          <p:spPr>
            <a:xfrm>
              <a:off x="11501120" y="-132080"/>
              <a:ext cx="0" cy="69088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11211771" y="5940713"/>
              <a:ext cx="578697" cy="9172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cs typeface="+mn-ea"/>
                <a:sym typeface="+mn-lt"/>
              </a:endParaRPr>
            </a:p>
          </p:txBody>
        </p:sp>
      </p:grpSp>
      <p:sp>
        <p:nvSpPr>
          <p:cNvPr id="2" name="矩形 1"/>
          <p:cNvSpPr/>
          <p:nvPr/>
        </p:nvSpPr>
        <p:spPr>
          <a:xfrm>
            <a:off x="1793305" y="1699314"/>
            <a:ext cx="7742586" cy="4154984"/>
          </a:xfrm>
          <a:prstGeom prst="rect">
            <a:avLst/>
          </a:prstGeom>
        </p:spPr>
        <p:txBody>
          <a:bodyPr wrap="square">
            <a:spAutoFit/>
          </a:bodyPr>
          <a:lstStyle/>
          <a:p>
            <a:pPr algn="just">
              <a:buFont typeface="Arial" panose="020B0604020202020204" pitchFamily="34" charset="0"/>
              <a:buChar char="•"/>
            </a:pPr>
            <a:r>
              <a:rPr lang="en-US" altLang="zh-CN" sz="2400" b="0" i="0" dirty="0">
                <a:solidFill>
                  <a:srgbClr val="333333"/>
                </a:solidFill>
                <a:effectLst/>
                <a:latin typeface="-apple-system-font"/>
              </a:rPr>
              <a:t>SETUP</a:t>
            </a:r>
            <a:r>
              <a:rPr lang="zh-CN" altLang="en-US" sz="2400" b="0" i="0" dirty="0">
                <a:solidFill>
                  <a:srgbClr val="333333"/>
                </a:solidFill>
                <a:effectLst/>
                <a:latin typeface="-apple-system-font"/>
              </a:rPr>
              <a:t>指令可以在一个周期内完成。</a:t>
            </a:r>
            <a:endParaRPr lang="zh-CN" altLang="en-US" sz="2400" b="0" i="0" dirty="0">
              <a:solidFill>
                <a:srgbClr val="333333"/>
              </a:solidFill>
              <a:effectLst/>
              <a:latin typeface="-apple-system-font"/>
            </a:endParaRPr>
          </a:p>
          <a:p>
            <a:pPr algn="just">
              <a:buFont typeface="Arial" panose="020B0604020202020204" pitchFamily="34" charset="0"/>
              <a:buChar char="•"/>
            </a:pPr>
            <a:r>
              <a:rPr lang="zh-CN" altLang="en-US" sz="2400" b="0" i="0" dirty="0">
                <a:solidFill>
                  <a:srgbClr val="333333"/>
                </a:solidFill>
                <a:effectLst/>
                <a:latin typeface="-apple-system-font"/>
              </a:rPr>
              <a:t>假设矩阵存储在</a:t>
            </a:r>
            <a:r>
              <a:rPr lang="en-US" altLang="zh-CN" sz="2400" b="0" i="0" dirty="0">
                <a:solidFill>
                  <a:srgbClr val="333333"/>
                </a:solidFill>
                <a:effectLst/>
                <a:latin typeface="-apple-system-font"/>
              </a:rPr>
              <a:t>DTCM</a:t>
            </a:r>
            <a:r>
              <a:rPr lang="zh-CN" altLang="en-US" sz="2400" b="0" i="0" dirty="0">
                <a:solidFill>
                  <a:srgbClr val="333333"/>
                </a:solidFill>
                <a:effectLst/>
                <a:latin typeface="-apple-system-font"/>
              </a:rPr>
              <a:t>区间内，可以通过一个周期从</a:t>
            </a:r>
            <a:r>
              <a:rPr lang="en-US" altLang="zh-CN" sz="2400" b="0" i="0" dirty="0">
                <a:solidFill>
                  <a:srgbClr val="333333"/>
                </a:solidFill>
                <a:effectLst/>
                <a:latin typeface="-apple-system-font"/>
              </a:rPr>
              <a:t>DTCM</a:t>
            </a:r>
            <a:r>
              <a:rPr lang="zh-CN" altLang="en-US" sz="2400" b="0" i="0" dirty="0">
                <a:solidFill>
                  <a:srgbClr val="333333"/>
                </a:solidFill>
                <a:effectLst/>
                <a:latin typeface="-apple-system-font"/>
              </a:rPr>
              <a:t>中读回一个矩阵元素，则计算第一行的累加和需要</a:t>
            </a:r>
            <a:r>
              <a:rPr lang="en-US" altLang="zh-CN" sz="2400" b="0" i="0" dirty="0">
                <a:solidFill>
                  <a:srgbClr val="333333"/>
                </a:solidFill>
                <a:effectLst/>
                <a:latin typeface="-apple-system-font"/>
              </a:rPr>
              <a:t>3</a:t>
            </a:r>
            <a:r>
              <a:rPr lang="zh-CN" altLang="en-US" sz="2400" b="0" i="0" dirty="0">
                <a:solidFill>
                  <a:srgbClr val="333333"/>
                </a:solidFill>
                <a:effectLst/>
                <a:latin typeface="-apple-system-font"/>
              </a:rPr>
              <a:t>个时钟周期访问</a:t>
            </a:r>
            <a:r>
              <a:rPr lang="en-US" altLang="zh-CN" sz="2400" b="0" i="0" dirty="0">
                <a:solidFill>
                  <a:srgbClr val="333333"/>
                </a:solidFill>
                <a:effectLst/>
                <a:latin typeface="-apple-system-font"/>
              </a:rPr>
              <a:t>3</a:t>
            </a:r>
            <a:r>
              <a:rPr lang="zh-CN" altLang="en-US" sz="2400" b="0" i="0" dirty="0">
                <a:solidFill>
                  <a:srgbClr val="333333"/>
                </a:solidFill>
                <a:effectLst/>
                <a:latin typeface="-apple-system-font"/>
              </a:rPr>
              <a:t>个存储器地址，采用流水线的方式连续读取和运算（读取一个元素后的累加计算和下一次读取操作重叠），则总共需要</a:t>
            </a:r>
            <a:r>
              <a:rPr lang="en-US" altLang="zh-CN" sz="2400" b="0" i="0" dirty="0">
                <a:solidFill>
                  <a:srgbClr val="333333"/>
                </a:solidFill>
                <a:effectLst/>
                <a:latin typeface="-apple-system-font"/>
              </a:rPr>
              <a:t>4</a:t>
            </a:r>
            <a:r>
              <a:rPr lang="zh-CN" altLang="en-US" sz="2400" b="0" i="0" dirty="0">
                <a:solidFill>
                  <a:srgbClr val="333333"/>
                </a:solidFill>
                <a:effectLst/>
                <a:latin typeface="-apple-system-font"/>
              </a:rPr>
              <a:t>个周期完成第一行的</a:t>
            </a:r>
            <a:r>
              <a:rPr lang="en-US" altLang="zh-CN" sz="2400" b="0" i="0" dirty="0">
                <a:solidFill>
                  <a:srgbClr val="333333"/>
                </a:solidFill>
                <a:effectLst/>
                <a:latin typeface="-apple-system-font"/>
              </a:rPr>
              <a:t>ROWSUM</a:t>
            </a:r>
            <a:r>
              <a:rPr lang="zh-CN" altLang="en-US" sz="2400" b="0" i="0" dirty="0">
                <a:solidFill>
                  <a:srgbClr val="333333"/>
                </a:solidFill>
                <a:effectLst/>
                <a:latin typeface="-apple-system-font"/>
              </a:rPr>
              <a:t>指令。</a:t>
            </a:r>
            <a:endParaRPr lang="zh-CN" altLang="en-US" sz="2400" b="0" i="0" dirty="0">
              <a:solidFill>
                <a:srgbClr val="333333"/>
              </a:solidFill>
              <a:effectLst/>
              <a:latin typeface="-apple-system-font"/>
            </a:endParaRPr>
          </a:p>
          <a:p>
            <a:pPr algn="just">
              <a:buFont typeface="Arial" panose="020B0604020202020204" pitchFamily="34" charset="0"/>
              <a:buChar char="•"/>
            </a:pPr>
            <a:r>
              <a:rPr lang="zh-CN" altLang="en-US" sz="2400" b="0" i="0" dirty="0">
                <a:solidFill>
                  <a:srgbClr val="333333"/>
                </a:solidFill>
                <a:effectLst/>
                <a:latin typeface="-apple-system-font"/>
              </a:rPr>
              <a:t>从第二行开始，不仅需要计算该行的累加和，还需要累加计算得到</a:t>
            </a:r>
            <a:r>
              <a:rPr lang="en-US" altLang="zh-CN" sz="2400" b="0" i="0" dirty="0" err="1">
                <a:solidFill>
                  <a:srgbClr val="333333"/>
                </a:solidFill>
                <a:effectLst/>
                <a:latin typeface="-apple-system-font"/>
              </a:rPr>
              <a:t>row_buf</a:t>
            </a:r>
            <a:r>
              <a:rPr lang="zh-CN" altLang="en-US" sz="2400" b="0" i="0" dirty="0">
                <a:solidFill>
                  <a:srgbClr val="333333"/>
                </a:solidFill>
                <a:effectLst/>
                <a:latin typeface="-apple-system-font"/>
              </a:rPr>
              <a:t>中每一列的部分累加和，因此需要额外的</a:t>
            </a:r>
            <a:r>
              <a:rPr lang="en-US" altLang="zh-CN" sz="2400" b="0" i="0" dirty="0">
                <a:solidFill>
                  <a:srgbClr val="333333"/>
                </a:solidFill>
                <a:effectLst/>
                <a:latin typeface="-apple-system-font"/>
              </a:rPr>
              <a:t>3</a:t>
            </a:r>
            <a:r>
              <a:rPr lang="zh-CN" altLang="en-US" sz="2400" b="0" i="0" dirty="0">
                <a:solidFill>
                  <a:srgbClr val="333333"/>
                </a:solidFill>
                <a:effectLst/>
                <a:latin typeface="-apple-system-font"/>
              </a:rPr>
              <a:t>个周期，则总共需要</a:t>
            </a:r>
            <a:r>
              <a:rPr lang="en-US" altLang="zh-CN" sz="2400" b="0" i="0" dirty="0">
                <a:solidFill>
                  <a:srgbClr val="333333"/>
                </a:solidFill>
                <a:effectLst/>
                <a:latin typeface="-apple-system-font"/>
              </a:rPr>
              <a:t>7</a:t>
            </a:r>
            <a:r>
              <a:rPr lang="zh-CN" altLang="en-US" sz="2400" b="0" i="0" dirty="0">
                <a:solidFill>
                  <a:srgbClr val="333333"/>
                </a:solidFill>
                <a:effectLst/>
                <a:latin typeface="-apple-system-font"/>
              </a:rPr>
              <a:t>个周期完成第二行和第三行的</a:t>
            </a:r>
            <a:r>
              <a:rPr lang="en-US" altLang="zh-CN" sz="2400" b="0" i="0" dirty="0">
                <a:solidFill>
                  <a:srgbClr val="333333"/>
                </a:solidFill>
                <a:effectLst/>
                <a:latin typeface="-apple-system-font"/>
              </a:rPr>
              <a:t>ROWSUM</a:t>
            </a:r>
            <a:r>
              <a:rPr lang="zh-CN" altLang="en-US" sz="2400" b="0" i="0" dirty="0">
                <a:solidFill>
                  <a:srgbClr val="333333"/>
                </a:solidFill>
                <a:effectLst/>
                <a:latin typeface="-apple-system-font"/>
              </a:rPr>
              <a:t>指令。</a:t>
            </a:r>
            <a:endParaRPr lang="zh-CN" altLang="en-US" sz="2400" b="0" i="0" dirty="0">
              <a:solidFill>
                <a:srgbClr val="333333"/>
              </a:solidFill>
              <a:effectLst/>
              <a:latin typeface="-apple-system-fon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3534678" y="-132080"/>
            <a:ext cx="8255790" cy="6990081"/>
            <a:chOff x="3534678" y="-132080"/>
            <a:chExt cx="8255790" cy="6990081"/>
          </a:xfrm>
        </p:grpSpPr>
        <p:grpSp>
          <p:nvGrpSpPr>
            <p:cNvPr id="21" name="组合 20"/>
            <p:cNvGrpSpPr/>
            <p:nvPr/>
          </p:nvGrpSpPr>
          <p:grpSpPr>
            <a:xfrm>
              <a:off x="3534678" y="682851"/>
              <a:ext cx="4259841" cy="697368"/>
              <a:chOff x="3961398" y="835251"/>
              <a:chExt cx="4259841" cy="697368"/>
            </a:xfrm>
          </p:grpSpPr>
          <p:sp>
            <p:nvSpPr>
              <p:cNvPr id="29" name="矩形 28"/>
              <p:cNvSpPr/>
              <p:nvPr/>
            </p:nvSpPr>
            <p:spPr>
              <a:xfrm>
                <a:off x="3961398" y="835251"/>
                <a:ext cx="4259841" cy="697368"/>
              </a:xfrm>
              <a:prstGeom prst="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cs typeface="+mn-ea"/>
                  <a:sym typeface="+mn-lt"/>
                </a:endParaRPr>
              </a:p>
            </p:txBody>
          </p:sp>
          <p:sp>
            <p:nvSpPr>
              <p:cNvPr id="31" name="文本框 30"/>
              <p:cNvSpPr txBox="1"/>
              <p:nvPr/>
            </p:nvSpPr>
            <p:spPr>
              <a:xfrm>
                <a:off x="4272146" y="932401"/>
                <a:ext cx="3774707" cy="523220"/>
              </a:xfrm>
              <a:prstGeom prst="rect">
                <a:avLst/>
              </a:prstGeom>
              <a:noFill/>
            </p:spPr>
            <p:txBody>
              <a:bodyPr wrap="square" rtlCol="0">
                <a:spAutoFit/>
              </a:bodyPr>
              <a:lstStyle/>
              <a:p>
                <a:r>
                  <a:rPr lang="zh-CN" altLang="en-US" sz="2800" b="1" spc="600" dirty="0">
                    <a:solidFill>
                      <a:schemeClr val="tx1">
                        <a:lumMod val="75000"/>
                        <a:lumOff val="25000"/>
                      </a:schemeClr>
                    </a:solidFill>
                    <a:latin typeface="锐字工房云字库细圆GBK" panose="02010604000000000000" pitchFamily="2" charset="-122"/>
                    <a:ea typeface="锐字工房云字库细圆GBK" panose="02010604000000000000" pitchFamily="2" charset="-122"/>
                    <a:cs typeface="+mn-ea"/>
                    <a:sym typeface="+mn-lt"/>
                  </a:rPr>
                  <a:t>示例协处理器性能</a:t>
                </a:r>
                <a:endParaRPr lang="zh-CN" altLang="en-US" sz="2800" b="1" spc="600" dirty="0">
                  <a:solidFill>
                    <a:schemeClr val="tx1">
                      <a:lumMod val="75000"/>
                      <a:lumOff val="25000"/>
                    </a:schemeClr>
                  </a:solidFill>
                  <a:latin typeface="锐字工房云字库细圆GBK" panose="02010604000000000000" pitchFamily="2" charset="-122"/>
                  <a:ea typeface="锐字工房云字库细圆GBK" panose="02010604000000000000" pitchFamily="2" charset="-122"/>
                  <a:cs typeface="+mn-ea"/>
                  <a:sym typeface="+mn-lt"/>
                </a:endParaRPr>
              </a:p>
            </p:txBody>
          </p:sp>
        </p:grpSp>
        <p:cxnSp>
          <p:nvCxnSpPr>
            <p:cNvPr id="17" name="直接连接符 16"/>
            <p:cNvCxnSpPr/>
            <p:nvPr/>
          </p:nvCxnSpPr>
          <p:spPr>
            <a:xfrm>
              <a:off x="11501120" y="-132080"/>
              <a:ext cx="0" cy="69088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11211771" y="5940713"/>
              <a:ext cx="578697" cy="9172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锐字工房云字库细圆GBK" panose="02010604000000000000" pitchFamily="2" charset="-122"/>
                <a:ea typeface="锐字工房云字库细圆GBK" panose="02010604000000000000" pitchFamily="2" charset="-122"/>
                <a:cs typeface="+mn-ea"/>
                <a:sym typeface="+mn-lt"/>
              </a:endParaRPr>
            </a:p>
          </p:txBody>
        </p:sp>
      </p:gr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70491" y="1749251"/>
            <a:ext cx="6124575" cy="1447800"/>
          </a:xfrm>
          <a:prstGeom prst="rect">
            <a:avLst/>
          </a:prstGeom>
        </p:spPr>
      </p:pic>
      <p:sp>
        <p:nvSpPr>
          <p:cNvPr id="7" name="矩形 6"/>
          <p:cNvSpPr/>
          <p:nvPr/>
        </p:nvSpPr>
        <p:spPr>
          <a:xfrm>
            <a:off x="1763647" y="3429000"/>
            <a:ext cx="7801902" cy="2308324"/>
          </a:xfrm>
          <a:prstGeom prst="rect">
            <a:avLst/>
          </a:prstGeom>
        </p:spPr>
        <p:txBody>
          <a:bodyPr wrap="square">
            <a:spAutoFit/>
          </a:bodyPr>
          <a:lstStyle/>
          <a:p>
            <a:pPr algn="just">
              <a:buFont typeface="Arial" panose="020B0604020202020204" pitchFamily="34" charset="0"/>
              <a:buChar char="•"/>
            </a:pPr>
            <a:r>
              <a:rPr lang="zh-CN" altLang="en-US" sz="2400" b="0" i="0" dirty="0">
                <a:solidFill>
                  <a:srgbClr val="333333"/>
                </a:solidFill>
                <a:effectLst/>
                <a:latin typeface="-apple-system-font"/>
              </a:rPr>
              <a:t>每一个</a:t>
            </a:r>
            <a:r>
              <a:rPr lang="en-US" altLang="zh-CN" sz="2400" b="0" i="0" dirty="0">
                <a:solidFill>
                  <a:srgbClr val="333333"/>
                </a:solidFill>
                <a:effectLst/>
                <a:latin typeface="-apple-system-font"/>
              </a:rPr>
              <a:t>COLSUM</a:t>
            </a:r>
            <a:r>
              <a:rPr lang="zh-CN" altLang="en-US" sz="2400" b="0" i="0" dirty="0">
                <a:solidFill>
                  <a:srgbClr val="333333"/>
                </a:solidFill>
                <a:effectLst/>
                <a:latin typeface="-apple-system-font"/>
              </a:rPr>
              <a:t>指令可以直接从</a:t>
            </a:r>
            <a:r>
              <a:rPr lang="en-US" altLang="zh-CN" sz="2400" b="0" i="0" dirty="0" err="1">
                <a:solidFill>
                  <a:srgbClr val="333333"/>
                </a:solidFill>
                <a:effectLst/>
                <a:latin typeface="-apple-system-font"/>
              </a:rPr>
              <a:t>row_buf</a:t>
            </a:r>
            <a:r>
              <a:rPr lang="zh-CN" altLang="en-US" sz="2400" b="0" i="0" dirty="0">
                <a:solidFill>
                  <a:srgbClr val="333333"/>
                </a:solidFill>
                <a:effectLst/>
                <a:latin typeface="-apple-system-font"/>
              </a:rPr>
              <a:t>中取出计算结果，可以在一个周期内完成。</a:t>
            </a:r>
            <a:endParaRPr lang="zh-CN" altLang="en-US" sz="2400" b="0" i="0" dirty="0">
              <a:solidFill>
                <a:srgbClr val="333333"/>
              </a:solidFill>
              <a:effectLst/>
              <a:latin typeface="-apple-system-font"/>
            </a:endParaRPr>
          </a:p>
          <a:p>
            <a:pPr algn="just">
              <a:buFont typeface="Arial" panose="020B0604020202020204" pitchFamily="34" charset="0"/>
              <a:buChar char="•"/>
            </a:pPr>
            <a:r>
              <a:rPr lang="zh-CN" altLang="en-US" sz="2400" b="0" i="0" dirty="0">
                <a:solidFill>
                  <a:srgbClr val="333333"/>
                </a:solidFill>
                <a:effectLst/>
                <a:latin typeface="-apple-system-font"/>
              </a:rPr>
              <a:t>综上，完成全部操作需要</a:t>
            </a:r>
            <a:r>
              <a:rPr lang="en-US" altLang="zh-CN" sz="2400" b="0" i="0" dirty="0">
                <a:solidFill>
                  <a:srgbClr val="333333"/>
                </a:solidFill>
                <a:effectLst/>
                <a:latin typeface="-apple-system-font"/>
              </a:rPr>
              <a:t>7</a:t>
            </a:r>
            <a:r>
              <a:rPr lang="zh-CN" altLang="en-US" sz="2400" b="0" i="0" dirty="0">
                <a:solidFill>
                  <a:srgbClr val="333333"/>
                </a:solidFill>
                <a:effectLst/>
                <a:latin typeface="-apple-system-font"/>
              </a:rPr>
              <a:t>条指令，</a:t>
            </a:r>
            <a:r>
              <a:rPr lang="en-US" altLang="zh-CN" sz="2400" b="0" i="0" dirty="0">
                <a:solidFill>
                  <a:srgbClr val="333333"/>
                </a:solidFill>
                <a:effectLst/>
                <a:latin typeface="-apple-system-font"/>
              </a:rPr>
              <a:t>1+4+7+7+1+1+1=22</a:t>
            </a:r>
            <a:r>
              <a:rPr lang="zh-CN" altLang="en-US" sz="2400" b="0" i="0" dirty="0">
                <a:solidFill>
                  <a:srgbClr val="333333"/>
                </a:solidFill>
                <a:effectLst/>
                <a:latin typeface="-apple-system-font"/>
              </a:rPr>
              <a:t>个时钟周期完成。</a:t>
            </a:r>
            <a:endParaRPr lang="zh-CN" altLang="en-US" sz="2400" b="0" i="0" dirty="0">
              <a:solidFill>
                <a:srgbClr val="333333"/>
              </a:solidFill>
              <a:effectLst/>
              <a:latin typeface="-apple-system-font"/>
            </a:endParaRPr>
          </a:p>
          <a:p>
            <a:pPr algn="just"/>
            <a:r>
              <a:rPr lang="zh-CN" altLang="en-US" sz="2400" b="0" i="0" dirty="0">
                <a:solidFill>
                  <a:srgbClr val="333333"/>
                </a:solidFill>
                <a:effectLst/>
                <a:latin typeface="-apple-system-font"/>
              </a:rPr>
              <a:t>与普通的</a:t>
            </a:r>
            <a:r>
              <a:rPr lang="en-US" altLang="zh-CN" sz="2400" b="0" i="0" dirty="0">
                <a:solidFill>
                  <a:srgbClr val="333333"/>
                </a:solidFill>
                <a:effectLst/>
                <a:latin typeface="-apple-system-font"/>
              </a:rPr>
              <a:t>C</a:t>
            </a:r>
            <a:r>
              <a:rPr lang="zh-CN" altLang="en-US" sz="2400" b="0" i="0" dirty="0">
                <a:solidFill>
                  <a:srgbClr val="333333"/>
                </a:solidFill>
                <a:effectLst/>
                <a:latin typeface="-apple-system-font"/>
              </a:rPr>
              <a:t>语言程序实现相比的性能对比如表</a:t>
            </a:r>
            <a:r>
              <a:rPr lang="en-US" altLang="zh-CN" sz="2400" b="0" i="0" dirty="0">
                <a:solidFill>
                  <a:srgbClr val="333333"/>
                </a:solidFill>
                <a:effectLst/>
                <a:latin typeface="-apple-system-font"/>
              </a:rPr>
              <a:t>6</a:t>
            </a:r>
            <a:r>
              <a:rPr lang="zh-CN" altLang="en-US" sz="2400" b="0" i="0" dirty="0">
                <a:solidFill>
                  <a:srgbClr val="333333"/>
                </a:solidFill>
                <a:effectLst/>
                <a:latin typeface="-apple-system-font"/>
              </a:rPr>
              <a:t>所示，在性能和能效比方面就能带来</a:t>
            </a:r>
            <a:r>
              <a:rPr lang="en-US" altLang="zh-CN" sz="2400" b="0" i="0" dirty="0">
                <a:solidFill>
                  <a:srgbClr val="333333"/>
                </a:solidFill>
                <a:effectLst/>
                <a:latin typeface="-apple-system-font"/>
              </a:rPr>
              <a:t>3~5</a:t>
            </a:r>
            <a:r>
              <a:rPr lang="zh-CN" altLang="en-US" sz="2400" b="0" i="0" dirty="0">
                <a:solidFill>
                  <a:srgbClr val="333333"/>
                </a:solidFill>
                <a:effectLst/>
                <a:latin typeface="-apple-system-font"/>
              </a:rPr>
              <a:t>倍的提升。</a:t>
            </a:r>
            <a:endParaRPr lang="zh-CN" altLang="en-US" sz="2400" b="0" i="0" dirty="0">
              <a:solidFill>
                <a:srgbClr val="333333"/>
              </a:solidFill>
              <a:effectLst/>
              <a:latin typeface="-apple-system-fon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l="-34000" r="-34000"/>
          </a:stretch>
        </a:blip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a:extLst>
              <a:ext uri="{28A0092B-C50C-407E-A947-70E740481C1C}">
                <a14:useLocalDpi xmlns:a14="http://schemas.microsoft.com/office/drawing/2010/main" val="0"/>
              </a:ext>
            </a:extLst>
          </a:blip>
          <a:srcRect l="8518" r="8518"/>
          <a:stretch>
            <a:fillRect/>
          </a:stretch>
        </p:blipFill>
        <p:spPr>
          <a:xfrm>
            <a:off x="0" y="0"/>
            <a:ext cx="12254752" cy="6858000"/>
          </a:xfrm>
          <a:prstGeom prst="rect">
            <a:avLst/>
          </a:prstGeom>
        </p:spPr>
      </p:pic>
      <p:sp>
        <p:nvSpPr>
          <p:cNvPr id="4" name="雷锋PPT网www.lfppt.com"/>
          <p:cNvSpPr/>
          <p:nvPr/>
        </p:nvSpPr>
        <p:spPr>
          <a:xfrm>
            <a:off x="3820159" y="0"/>
            <a:ext cx="8434593" cy="6858000"/>
          </a:xfrm>
          <a:prstGeom prst="rect">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413000" y="1630680"/>
            <a:ext cx="7366000" cy="3596640"/>
          </a:xfrm>
          <a:prstGeom prst="rect">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2413000" y="1630680"/>
            <a:ext cx="1407160" cy="359664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3924300" y="2225040"/>
            <a:ext cx="5750560" cy="1015663"/>
          </a:xfrm>
          <a:prstGeom prst="rect">
            <a:avLst/>
          </a:prstGeom>
          <a:noFill/>
        </p:spPr>
        <p:txBody>
          <a:bodyPr wrap="square" rtlCol="0">
            <a:spAutoFit/>
          </a:bodyPr>
          <a:lstStyle/>
          <a:p>
            <a:r>
              <a:rPr lang="zh-CN" altLang="en-US" sz="6000" spc="600" dirty="0">
                <a:solidFill>
                  <a:schemeClr val="bg1"/>
                </a:solidFill>
                <a:latin typeface="造字工房力黑（非商用）常规体" pitchFamily="50" charset="-122"/>
                <a:ea typeface="造字工房力黑（非商用）常规体" pitchFamily="50" charset="-122"/>
              </a:rPr>
              <a:t>感谢您的聆听</a:t>
            </a:r>
            <a:endParaRPr lang="zh-CN" altLang="en-US" sz="6000" spc="600" dirty="0">
              <a:solidFill>
                <a:schemeClr val="bg1"/>
              </a:solidFill>
              <a:latin typeface="造字工房力黑（非商用）常规体" pitchFamily="50" charset="-122"/>
              <a:ea typeface="造字工房力黑（非商用）常规体" pitchFamily="50" charset="-122"/>
            </a:endParaRPr>
          </a:p>
        </p:txBody>
      </p:sp>
      <p:sp>
        <p:nvSpPr>
          <p:cNvPr id="9" name="文本框 8"/>
          <p:cNvSpPr txBox="1"/>
          <p:nvPr/>
        </p:nvSpPr>
        <p:spPr>
          <a:xfrm>
            <a:off x="3924300" y="3240703"/>
            <a:ext cx="6774180" cy="1754326"/>
          </a:xfrm>
          <a:prstGeom prst="rect">
            <a:avLst/>
          </a:prstGeom>
          <a:noFill/>
        </p:spPr>
        <p:txBody>
          <a:bodyPr wrap="square" rtlCol="0">
            <a:spAutoFit/>
          </a:bodyPr>
          <a:lstStyle/>
          <a:p>
            <a:pPr>
              <a:lnSpc>
                <a:spcPct val="150000"/>
              </a:lnSpc>
            </a:pPr>
            <a:r>
              <a:rPr lang="en-US" altLang="zh-CN" sz="3200" spc="600" dirty="0">
                <a:solidFill>
                  <a:schemeClr val="bg1"/>
                </a:solidFill>
                <a:latin typeface="造字工房力黑（非商用）常规体" pitchFamily="50" charset="-122"/>
                <a:ea typeface="造字工房力黑（非商用）常规体" pitchFamily="50" charset="-122"/>
              </a:rPr>
              <a:t>THANKS</a:t>
            </a:r>
            <a:endParaRPr lang="en-US" altLang="zh-CN" sz="3200" spc="600" dirty="0">
              <a:solidFill>
                <a:schemeClr val="bg1"/>
              </a:solidFill>
              <a:latin typeface="造字工房力黑（非商用）常规体" pitchFamily="50" charset="-122"/>
              <a:ea typeface="造字工房力黑（非商用）常规体" pitchFamily="50" charset="-122"/>
            </a:endParaRPr>
          </a:p>
          <a:p>
            <a:pPr>
              <a:lnSpc>
                <a:spcPct val="150000"/>
              </a:lnSpc>
            </a:pPr>
            <a:r>
              <a:rPr lang="en-US" altLang="zh-CN" sz="4000" b="1" spc="600" dirty="0">
                <a:solidFill>
                  <a:schemeClr val="bg1"/>
                </a:solidFill>
                <a:latin typeface="造字工房力黑（非商用）常规体" pitchFamily="50" charset="-122"/>
                <a:ea typeface="造字工房力黑（非商用）常规体" pitchFamily="50" charset="-122"/>
              </a:rPr>
              <a:t>FOR YOU</a:t>
            </a:r>
            <a:endParaRPr lang="zh-CN" altLang="en-US" sz="4000" b="1" spc="600" dirty="0">
              <a:solidFill>
                <a:schemeClr val="bg1"/>
              </a:solidFill>
              <a:latin typeface="造字工房力黑（非商用）常规体" pitchFamily="50" charset="-122"/>
              <a:ea typeface="造字工房力黑（非商用）常规体" pitchFamily="50" charset="-122"/>
            </a:endParaRPr>
          </a:p>
        </p:txBody>
      </p:sp>
      <p:grpSp>
        <p:nvGrpSpPr>
          <p:cNvPr id="11" name="组合 12" descr="e7d195523061f1c0d318120d6aeaf1b6ccceb6ba3da59c0775C5DE19DDDEBC09ED96DBD9900D9848D623ECAD1D4904B78047D0015C22C8BE97228BE8B5BFF08FE7A3AE04126DA07312A96C0F69F9BAB7B8762A2F02ECB167EB1D3D935132D44A03185F23F8625673A228DA0C7DA620D0616217B810CE4DCA0BDC2CD812D5F48220C6184BA351E466"/>
          <p:cNvGrpSpPr/>
          <p:nvPr/>
        </p:nvGrpSpPr>
        <p:grpSpPr>
          <a:xfrm flipH="1" flipV="1">
            <a:off x="9122464" y="1218411"/>
            <a:ext cx="552396" cy="498797"/>
            <a:chOff x="5934075" y="857250"/>
            <a:chExt cx="801688" cy="723900"/>
          </a:xfrm>
          <a:solidFill>
            <a:schemeClr val="bg1"/>
          </a:solidFill>
        </p:grpSpPr>
        <p:sp>
          <p:nvSpPr>
            <p:cNvPr id="12" name="Freeform 5"/>
            <p:cNvSpPr/>
            <p:nvPr/>
          </p:nvSpPr>
          <p:spPr bwMode="auto">
            <a:xfrm>
              <a:off x="5934075" y="857250"/>
              <a:ext cx="322263" cy="723900"/>
            </a:xfrm>
            <a:custGeom>
              <a:avLst/>
              <a:gdLst>
                <a:gd name="T0" fmla="*/ 1 w 198"/>
                <a:gd name="T1" fmla="*/ 444 h 444"/>
                <a:gd name="T2" fmla="*/ 1 w 198"/>
                <a:gd name="T3" fmla="*/ 232 h 444"/>
                <a:gd name="T4" fmla="*/ 14 w 198"/>
                <a:gd name="T5" fmla="*/ 146 h 444"/>
                <a:gd name="T6" fmla="*/ 55 w 198"/>
                <a:gd name="T7" fmla="*/ 76 h 444"/>
                <a:gd name="T8" fmla="*/ 118 w 198"/>
                <a:gd name="T9" fmla="*/ 25 h 444"/>
                <a:gd name="T10" fmla="*/ 198 w 198"/>
                <a:gd name="T11" fmla="*/ 0 h 444"/>
                <a:gd name="T12" fmla="*/ 198 w 198"/>
                <a:gd name="T13" fmla="*/ 91 h 444"/>
                <a:gd name="T14" fmla="*/ 126 w 198"/>
                <a:gd name="T15" fmla="*/ 144 h 444"/>
                <a:gd name="T16" fmla="*/ 106 w 198"/>
                <a:gd name="T17" fmla="*/ 231 h 444"/>
                <a:gd name="T18" fmla="*/ 198 w 198"/>
                <a:gd name="T19" fmla="*/ 231 h 444"/>
                <a:gd name="T20" fmla="*/ 198 w 198"/>
                <a:gd name="T21" fmla="*/ 444 h 444"/>
                <a:gd name="T22" fmla="*/ 1 w 198"/>
                <a:gd name="T23" fmla="*/ 444 h 4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8" h="444">
                  <a:moveTo>
                    <a:pt x="1" y="444"/>
                  </a:moveTo>
                  <a:cubicBezTo>
                    <a:pt x="1" y="232"/>
                    <a:pt x="1" y="232"/>
                    <a:pt x="1" y="232"/>
                  </a:cubicBezTo>
                  <a:cubicBezTo>
                    <a:pt x="0" y="202"/>
                    <a:pt x="5" y="173"/>
                    <a:pt x="14" y="146"/>
                  </a:cubicBezTo>
                  <a:cubicBezTo>
                    <a:pt x="24" y="120"/>
                    <a:pt x="38" y="96"/>
                    <a:pt x="55" y="76"/>
                  </a:cubicBezTo>
                  <a:cubicBezTo>
                    <a:pt x="73" y="55"/>
                    <a:pt x="94" y="39"/>
                    <a:pt x="118" y="25"/>
                  </a:cubicBezTo>
                  <a:cubicBezTo>
                    <a:pt x="143" y="12"/>
                    <a:pt x="169" y="3"/>
                    <a:pt x="198" y="0"/>
                  </a:cubicBezTo>
                  <a:cubicBezTo>
                    <a:pt x="198" y="91"/>
                    <a:pt x="198" y="91"/>
                    <a:pt x="198" y="91"/>
                  </a:cubicBezTo>
                  <a:cubicBezTo>
                    <a:pt x="163" y="103"/>
                    <a:pt x="139" y="121"/>
                    <a:pt x="126" y="144"/>
                  </a:cubicBezTo>
                  <a:cubicBezTo>
                    <a:pt x="113" y="168"/>
                    <a:pt x="106" y="197"/>
                    <a:pt x="106" y="231"/>
                  </a:cubicBezTo>
                  <a:cubicBezTo>
                    <a:pt x="198" y="231"/>
                    <a:pt x="198" y="231"/>
                    <a:pt x="198" y="231"/>
                  </a:cubicBezTo>
                  <a:cubicBezTo>
                    <a:pt x="198" y="444"/>
                    <a:pt x="198" y="444"/>
                    <a:pt x="198" y="444"/>
                  </a:cubicBezTo>
                  <a:cubicBezTo>
                    <a:pt x="1" y="444"/>
                    <a:pt x="1" y="444"/>
                    <a:pt x="1" y="4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Script" panose="030B0504020000000003" pitchFamily="66" charset="0"/>
                <a:ea typeface="WenYue GuDianMingChaoTi (Non-Commercial Use)" pitchFamily="50" charset="-122"/>
                <a:sym typeface="Segoe Script" panose="030B0504020000000003" pitchFamily="66" charset="0"/>
              </a:endParaRPr>
            </a:p>
          </p:txBody>
        </p:sp>
        <p:sp>
          <p:nvSpPr>
            <p:cNvPr id="13" name="Freeform 6"/>
            <p:cNvSpPr/>
            <p:nvPr/>
          </p:nvSpPr>
          <p:spPr bwMode="auto">
            <a:xfrm>
              <a:off x="6413500" y="857250"/>
              <a:ext cx="322263" cy="723900"/>
            </a:xfrm>
            <a:custGeom>
              <a:avLst/>
              <a:gdLst>
                <a:gd name="T0" fmla="*/ 1 w 198"/>
                <a:gd name="T1" fmla="*/ 444 h 444"/>
                <a:gd name="T2" fmla="*/ 1 w 198"/>
                <a:gd name="T3" fmla="*/ 232 h 444"/>
                <a:gd name="T4" fmla="*/ 14 w 198"/>
                <a:gd name="T5" fmla="*/ 146 h 444"/>
                <a:gd name="T6" fmla="*/ 55 w 198"/>
                <a:gd name="T7" fmla="*/ 76 h 444"/>
                <a:gd name="T8" fmla="*/ 118 w 198"/>
                <a:gd name="T9" fmla="*/ 25 h 444"/>
                <a:gd name="T10" fmla="*/ 198 w 198"/>
                <a:gd name="T11" fmla="*/ 0 h 444"/>
                <a:gd name="T12" fmla="*/ 198 w 198"/>
                <a:gd name="T13" fmla="*/ 91 h 444"/>
                <a:gd name="T14" fmla="*/ 126 w 198"/>
                <a:gd name="T15" fmla="*/ 144 h 444"/>
                <a:gd name="T16" fmla="*/ 107 w 198"/>
                <a:gd name="T17" fmla="*/ 231 h 444"/>
                <a:gd name="T18" fmla="*/ 198 w 198"/>
                <a:gd name="T19" fmla="*/ 231 h 444"/>
                <a:gd name="T20" fmla="*/ 198 w 198"/>
                <a:gd name="T21" fmla="*/ 444 h 444"/>
                <a:gd name="T22" fmla="*/ 1 w 198"/>
                <a:gd name="T23" fmla="*/ 444 h 4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8" h="444">
                  <a:moveTo>
                    <a:pt x="1" y="444"/>
                  </a:moveTo>
                  <a:cubicBezTo>
                    <a:pt x="1" y="232"/>
                    <a:pt x="1" y="232"/>
                    <a:pt x="1" y="232"/>
                  </a:cubicBezTo>
                  <a:cubicBezTo>
                    <a:pt x="0" y="202"/>
                    <a:pt x="5" y="173"/>
                    <a:pt x="14" y="146"/>
                  </a:cubicBezTo>
                  <a:cubicBezTo>
                    <a:pt x="24" y="120"/>
                    <a:pt x="38" y="96"/>
                    <a:pt x="55" y="76"/>
                  </a:cubicBezTo>
                  <a:cubicBezTo>
                    <a:pt x="73" y="55"/>
                    <a:pt x="94" y="39"/>
                    <a:pt x="118" y="25"/>
                  </a:cubicBezTo>
                  <a:cubicBezTo>
                    <a:pt x="143" y="12"/>
                    <a:pt x="169" y="3"/>
                    <a:pt x="198" y="0"/>
                  </a:cubicBezTo>
                  <a:cubicBezTo>
                    <a:pt x="198" y="91"/>
                    <a:pt x="198" y="91"/>
                    <a:pt x="198" y="91"/>
                  </a:cubicBezTo>
                  <a:cubicBezTo>
                    <a:pt x="163" y="103"/>
                    <a:pt x="139" y="121"/>
                    <a:pt x="126" y="144"/>
                  </a:cubicBezTo>
                  <a:cubicBezTo>
                    <a:pt x="113" y="168"/>
                    <a:pt x="107" y="197"/>
                    <a:pt x="107" y="231"/>
                  </a:cubicBezTo>
                  <a:cubicBezTo>
                    <a:pt x="198" y="231"/>
                    <a:pt x="198" y="231"/>
                    <a:pt x="198" y="231"/>
                  </a:cubicBezTo>
                  <a:cubicBezTo>
                    <a:pt x="198" y="444"/>
                    <a:pt x="198" y="444"/>
                    <a:pt x="198" y="444"/>
                  </a:cubicBezTo>
                  <a:cubicBezTo>
                    <a:pt x="1" y="444"/>
                    <a:pt x="1" y="444"/>
                    <a:pt x="1" y="4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Script" panose="030B0504020000000003" pitchFamily="66" charset="0"/>
                <a:ea typeface="WenYue GuDianMingChaoTi (Non-Commercial Use)" pitchFamily="50" charset="-122"/>
                <a:sym typeface="Segoe Script" panose="030B0504020000000003" pitchFamily="66" charset="0"/>
              </a:endParaRPr>
            </a:p>
          </p:txBody>
        </p:sp>
        <p:sp>
          <p:nvSpPr>
            <p:cNvPr id="14" name="Line 7"/>
            <p:cNvSpPr>
              <a:spLocks noChangeShapeType="1"/>
            </p:cNvSpPr>
            <p:nvPr/>
          </p:nvSpPr>
          <p:spPr bwMode="auto">
            <a:xfrm>
              <a:off x="6415088" y="1581150"/>
              <a:ext cx="0" cy="0"/>
            </a:xfrm>
            <a:prstGeom prst="lin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Script" panose="030B0504020000000003" pitchFamily="66" charset="0"/>
                <a:ea typeface="WenYue GuDianMingChaoTi (Non-Commercial Use)" pitchFamily="50" charset="-122"/>
                <a:sym typeface="Segoe Script" panose="030B0504020000000003" pitchFamily="66" charset="0"/>
              </a:endParaRPr>
            </a:p>
          </p:txBody>
        </p:sp>
        <p:sp>
          <p:nvSpPr>
            <p:cNvPr id="15" name="Line 8"/>
            <p:cNvSpPr>
              <a:spLocks noChangeShapeType="1"/>
            </p:cNvSpPr>
            <p:nvPr/>
          </p:nvSpPr>
          <p:spPr bwMode="auto">
            <a:xfrm>
              <a:off x="6415088" y="1581150"/>
              <a:ext cx="0" cy="0"/>
            </a:xfrm>
            <a:prstGeom prst="lin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Segoe Script" panose="030B0504020000000003" pitchFamily="66" charset="0"/>
                <a:ea typeface="WenYue GuDianMingChaoTi (Non-Commercial Use)" pitchFamily="50" charset="-122"/>
                <a:sym typeface="Segoe Script" panose="030B0504020000000003" pitchFamily="66" charset="0"/>
              </a:endParaRPr>
            </a:p>
          </p:txBody>
        </p:sp>
      </p:grpSp>
      <p:grpSp>
        <p:nvGrpSpPr>
          <p:cNvPr id="16" name="PA_组 15" descr="e7d195523061f1c0d318120d6aeaf1b6ccceb6ba3da59c0775C5DE19DDDEBC09ED96DBD9900D9848D623ECAD1D4904B78047D0015C22C8BE97228BE8B5BFF08FE7A3AE04126DA07312A96C0F69F9BAB7B8762A2F02ECB167EB1D3D935132D44A03185F23F8625673A228DA0C7DA620D0616217B810CE4DCA0BDC2CD812D5F48220C6184BA351E466"/>
          <p:cNvGrpSpPr/>
          <p:nvPr>
            <p:custDataLst>
              <p:tags r:id="rId3"/>
            </p:custDataLst>
          </p:nvPr>
        </p:nvGrpSpPr>
        <p:grpSpPr>
          <a:xfrm>
            <a:off x="10698480" y="6010692"/>
            <a:ext cx="539487" cy="91226"/>
            <a:chOff x="989510" y="6337738"/>
            <a:chExt cx="683708" cy="115614"/>
          </a:xfrm>
        </p:grpSpPr>
        <p:sp>
          <p:nvSpPr>
            <p:cNvPr id="17" name="椭圆 16"/>
            <p:cNvSpPr/>
            <p:nvPr/>
          </p:nvSpPr>
          <p:spPr>
            <a:xfrm>
              <a:off x="989510" y="6337738"/>
              <a:ext cx="115614" cy="115614"/>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Segoe Script" panose="030B0504020000000003" pitchFamily="66" charset="0"/>
                <a:ea typeface="WenYue GuDianMingChaoTi (Non-Commercial Use)" pitchFamily="50" charset="-122"/>
                <a:sym typeface="Segoe Script" panose="030B0504020000000003" pitchFamily="66" charset="0"/>
              </a:endParaRPr>
            </a:p>
          </p:txBody>
        </p:sp>
        <p:sp>
          <p:nvSpPr>
            <p:cNvPr id="18" name="椭圆 17"/>
            <p:cNvSpPr/>
            <p:nvPr/>
          </p:nvSpPr>
          <p:spPr>
            <a:xfrm>
              <a:off x="1273557" y="6337738"/>
              <a:ext cx="115614" cy="11561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Segoe Script" panose="030B0504020000000003" pitchFamily="66" charset="0"/>
                <a:ea typeface="WenYue GuDianMingChaoTi (Non-Commercial Use)" pitchFamily="50" charset="-122"/>
                <a:sym typeface="Segoe Script" panose="030B0504020000000003" pitchFamily="66" charset="0"/>
              </a:endParaRPr>
            </a:p>
          </p:txBody>
        </p:sp>
        <p:sp>
          <p:nvSpPr>
            <p:cNvPr id="19" name="椭圆 18"/>
            <p:cNvSpPr/>
            <p:nvPr/>
          </p:nvSpPr>
          <p:spPr>
            <a:xfrm>
              <a:off x="1557604" y="6337738"/>
              <a:ext cx="115614" cy="11561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Segoe Script" panose="030B0504020000000003" pitchFamily="66" charset="0"/>
                <a:ea typeface="WenYue GuDianMingChaoTi (Non-Commercial Use)" pitchFamily="50" charset="-122"/>
                <a:sym typeface="Segoe Script" panose="030B0504020000000003" pitchFamily="66" charset="0"/>
              </a:endParaRPr>
            </a:p>
          </p:txBody>
        </p:sp>
      </p:grpSp>
      <p:grpSp>
        <p:nvGrpSpPr>
          <p:cNvPr id="30" name="组合 29"/>
          <p:cNvGrpSpPr/>
          <p:nvPr/>
        </p:nvGrpSpPr>
        <p:grpSpPr>
          <a:xfrm>
            <a:off x="11610800" y="-162560"/>
            <a:ext cx="346249" cy="7228840"/>
            <a:chOff x="11610800" y="-71120"/>
            <a:chExt cx="346249" cy="7228840"/>
          </a:xfrm>
        </p:grpSpPr>
        <p:sp>
          <p:nvSpPr>
            <p:cNvPr id="20" name="文本框 19"/>
            <p:cNvSpPr txBox="1"/>
            <p:nvPr/>
          </p:nvSpPr>
          <p:spPr>
            <a:xfrm>
              <a:off x="11610800" y="1559560"/>
              <a:ext cx="346249" cy="3749040"/>
            </a:xfrm>
            <a:prstGeom prst="rect">
              <a:avLst/>
            </a:prstGeom>
            <a:noFill/>
          </p:spPr>
          <p:txBody>
            <a:bodyPr vert="eaVert" wrap="square" rtlCol="0">
              <a:spAutoFit/>
            </a:bodyPr>
            <a:lstStyle/>
            <a:p>
              <a:pPr algn="ctr"/>
              <a:r>
                <a:rPr lang="en-US" altLang="zh-CN" sz="1050" spc="600" dirty="0">
                  <a:solidFill>
                    <a:schemeClr val="bg1"/>
                  </a:solidFill>
                  <a:latin typeface="造字工房力黑（非商用）常规体" pitchFamily="50" charset="-122"/>
                  <a:ea typeface="造字工房力黑（非商用）常规体" pitchFamily="50" charset="-122"/>
                </a:rPr>
                <a:t>ADD YOUR TITLE HERE</a:t>
              </a:r>
              <a:endParaRPr lang="zh-CN" altLang="en-US" sz="1050" spc="600" dirty="0">
                <a:solidFill>
                  <a:schemeClr val="bg1"/>
                </a:solidFill>
                <a:latin typeface="造字工房力黑（非商用）常规体" pitchFamily="50" charset="-122"/>
                <a:ea typeface="造字工房力黑（非商用）常规体" pitchFamily="50" charset="-122"/>
              </a:endParaRPr>
            </a:p>
          </p:txBody>
        </p:sp>
        <p:cxnSp>
          <p:nvCxnSpPr>
            <p:cNvPr id="22" name="直接连接符 21"/>
            <p:cNvCxnSpPr>
              <a:stCxn id="20" idx="0"/>
            </p:cNvCxnSpPr>
            <p:nvPr/>
          </p:nvCxnSpPr>
          <p:spPr>
            <a:xfrm flipV="1">
              <a:off x="11783925" y="-71120"/>
              <a:ext cx="0" cy="1630680"/>
            </a:xfrm>
            <a:prstGeom prst="line">
              <a:avLst/>
            </a:prstGeom>
            <a:ln w="25400">
              <a:solidFill>
                <a:schemeClr val="bg1">
                  <a:lumMod val="95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20" idx="2"/>
            </p:cNvCxnSpPr>
            <p:nvPr/>
          </p:nvCxnSpPr>
          <p:spPr>
            <a:xfrm>
              <a:off x="11783925" y="5308600"/>
              <a:ext cx="21995" cy="1849120"/>
            </a:xfrm>
            <a:prstGeom prst="line">
              <a:avLst/>
            </a:prstGeom>
            <a:ln w="25400">
              <a:solidFill>
                <a:schemeClr val="bg1">
                  <a:lumMod val="95000"/>
                  <a:alpha val="50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750"/>
                                        <p:tgtEl>
                                          <p:spTgt spid="11"/>
                                        </p:tgtEl>
                                      </p:cBhvr>
                                    </p:animEffect>
                                  </p:childTnLst>
                                </p:cTn>
                              </p:par>
                              <p:par>
                                <p:cTn id="8" presetID="22" presetClass="entr" presetSubtype="8"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7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PA" val="v4.1.3"/>
</p:tagLst>
</file>

<file path=ppt/tags/tag2.xml><?xml version="1.0" encoding="utf-8"?>
<p:tagLst xmlns:p="http://schemas.openxmlformats.org/presentationml/2006/main">
  <p:tag name="KSO_WM_TEMPLATE_TOPIC_ID" val="2869567"/>
  <p:tag name="KSO_WM_TEMPLATE_OUTLINE_ID" val="15"/>
  <p:tag name="KSO_WM_TEMPLATE_SCENE_ID" val="1"/>
  <p:tag name="KSO_WM_TEMPLATE_JOB_ID" val="2"/>
  <p:tag name="KSO_WM_TEMPLATE_TOPIC_DEFAULT" val="1"/>
</p:tagLst>
</file>

<file path=ppt/tags/tag3.xml><?xml version="1.0" encoding="utf-8"?>
<p:tagLst xmlns:p="http://schemas.openxmlformats.org/presentationml/2006/main">
  <p:tag name="MH" val="20170721170040"/>
  <p:tag name="MH_LIBRARY" val="CONTENTS"/>
  <p:tag name="MH_TYPE" val="TITLE"/>
  <p:tag name="ID" val="626775"/>
  <p:tag name="MH_ORDER" val="NUMBER"/>
</p:tagLst>
</file>

<file path=ppt/tags/tag4.xml><?xml version="1.0" encoding="utf-8"?>
<p:tagLst xmlns:p="http://schemas.openxmlformats.org/presentationml/2006/main">
  <p:tag name="PA" val="v4.1.3"/>
</p:tagLst>
</file>

<file path=ppt/tags/tag5.xml><?xml version="1.0" encoding="utf-8"?>
<p:tagLst xmlns:p="http://schemas.openxmlformats.org/presentationml/2006/main">
  <p:tag name="ISLIDE.DIAGRAM" val="83943533-02ec-424e-a2f7-e21ba11e0616"/>
</p:tagLst>
</file>

<file path=ppt/tags/tag6.xml><?xml version="1.0" encoding="utf-8"?>
<p:tagLst xmlns:p="http://schemas.openxmlformats.org/presentationml/2006/main">
  <p:tag name="ISLIDE.DIAGRAM" val="0bf993ed-4045-43f5-b6d7-6559592aae67"/>
</p:tagLst>
</file>

<file path=ppt/tags/tag7.xml><?xml version="1.0" encoding="utf-8"?>
<p:tagLst xmlns:p="http://schemas.openxmlformats.org/presentationml/2006/main">
  <p:tag name="KSO_WM_UNIT_PLACING_PICTURE_USER_VIEWPORT" val="{&quot;height&quot;:7577.272440944882,&quot;width&quot;:6630.111811023623}"/>
</p:tagLst>
</file>

<file path=ppt/tags/tag8.xml><?xml version="1.0" encoding="utf-8"?>
<p:tagLst xmlns:p="http://schemas.openxmlformats.org/presentationml/2006/main">
  <p:tag name="KSO_WM_UNIT_PLACING_PICTURE_USER_VIEWPORT" val="{&quot;height&quot;:2145,&quot;width&quot;:8805}"/>
</p:tagLst>
</file>

<file path=ppt/tags/tag9.xml><?xml version="1.0" encoding="utf-8"?>
<p:tagLst xmlns:p="http://schemas.openxmlformats.org/presentationml/2006/main">
  <p:tag name="KSO_WM_UNIT_PLACING_PICTURE_USER_VIEWPORT" val="{&quot;height&quot;:3930,&quot;width&quot;:9030}"/>
</p:tagLst>
</file>

<file path=ppt/tags/tag10.xml><?xml version="1.0" encoding="utf-8"?>
<p:tagLst xmlns:p="http://schemas.openxmlformats.org/presentationml/2006/main">
  <p:tag name="PA" val="v4.1.3"/>
</p:tagLst>
</file>

<file path=ppt/theme/theme1.xml><?xml version="1.0" encoding="utf-8"?>
<a:theme xmlns:a="http://schemas.openxmlformats.org/drawingml/2006/main" name="Office 主题​​">
  <a:themeElements>
    <a:clrScheme name="Office">
      <a:dk1>
        <a:srgbClr val="000000"/>
      </a:dk1>
      <a:lt1>
        <a:srgbClr val="FFFFFF"/>
      </a:lt1>
      <a:dk2>
        <a:srgbClr val="768395"/>
      </a:dk2>
      <a:lt2>
        <a:srgbClr val="F0F0F0"/>
      </a:lt2>
      <a:accent1>
        <a:srgbClr val="1F5F8A"/>
      </a:accent1>
      <a:accent2>
        <a:srgbClr val="2980B9"/>
      </a:accent2>
      <a:accent3>
        <a:srgbClr val="4098D4"/>
      </a:accent3>
      <a:accent4>
        <a:srgbClr val="7AB7E0"/>
      </a:accent4>
      <a:accent5>
        <a:srgbClr val="9FCBE9"/>
      </a:accent5>
      <a:accent6>
        <a:srgbClr val="C6E0F2"/>
      </a:accent6>
      <a:hlink>
        <a:srgbClr val="1F5F8A"/>
      </a:hlink>
      <a:folHlink>
        <a:srgbClr val="BFBFBF"/>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768395"/>
    </a:dk2>
    <a:lt2>
      <a:srgbClr val="F0F0F0"/>
    </a:lt2>
    <a:accent1>
      <a:srgbClr val="1F5F8A"/>
    </a:accent1>
    <a:accent2>
      <a:srgbClr val="2980B9"/>
    </a:accent2>
    <a:accent3>
      <a:srgbClr val="4098D4"/>
    </a:accent3>
    <a:accent4>
      <a:srgbClr val="7AB7E0"/>
    </a:accent4>
    <a:accent5>
      <a:srgbClr val="9FCBE9"/>
    </a:accent5>
    <a:accent6>
      <a:srgbClr val="C6E0F2"/>
    </a:accent6>
    <a:hlink>
      <a:srgbClr val="1F5F8A"/>
    </a:hlink>
    <a:folHlink>
      <a:srgbClr val="BFBFBF"/>
    </a:folHlink>
  </a:clrScheme>
</a:themeOverride>
</file>

<file path=ppt/theme/themeOverride2.xml><?xml version="1.0" encoding="utf-8"?>
<a:themeOverride xmlns:a="http://schemas.openxmlformats.org/drawingml/2006/main">
  <a:clrScheme name="Office">
    <a:dk1>
      <a:srgbClr val="000000"/>
    </a:dk1>
    <a:lt1>
      <a:srgbClr val="FFFFFF"/>
    </a:lt1>
    <a:dk2>
      <a:srgbClr val="768395"/>
    </a:dk2>
    <a:lt2>
      <a:srgbClr val="F0F0F0"/>
    </a:lt2>
    <a:accent1>
      <a:srgbClr val="1F5F8A"/>
    </a:accent1>
    <a:accent2>
      <a:srgbClr val="2980B9"/>
    </a:accent2>
    <a:accent3>
      <a:srgbClr val="4098D4"/>
    </a:accent3>
    <a:accent4>
      <a:srgbClr val="7AB7E0"/>
    </a:accent4>
    <a:accent5>
      <a:srgbClr val="9FCBE9"/>
    </a:accent5>
    <a:accent6>
      <a:srgbClr val="C6E0F2"/>
    </a:accent6>
    <a:hlink>
      <a:srgbClr val="1F5F8A"/>
    </a:hlink>
    <a:folHlink>
      <a:srgbClr val="BFBFBF"/>
    </a:folHlink>
  </a:clrScheme>
</a:themeOverride>
</file>

<file path=ppt/theme/themeOverride3.xml><?xml version="1.0" encoding="utf-8"?>
<a:themeOverride xmlns:a="http://schemas.openxmlformats.org/drawingml/2006/main">
  <a:clrScheme name="Office">
    <a:dk1>
      <a:srgbClr val="000000"/>
    </a:dk1>
    <a:lt1>
      <a:srgbClr val="FFFFFF"/>
    </a:lt1>
    <a:dk2>
      <a:srgbClr val="768395"/>
    </a:dk2>
    <a:lt2>
      <a:srgbClr val="F0F0F0"/>
    </a:lt2>
    <a:accent1>
      <a:srgbClr val="1F5F8A"/>
    </a:accent1>
    <a:accent2>
      <a:srgbClr val="2980B9"/>
    </a:accent2>
    <a:accent3>
      <a:srgbClr val="4098D4"/>
    </a:accent3>
    <a:accent4>
      <a:srgbClr val="7AB7E0"/>
    </a:accent4>
    <a:accent5>
      <a:srgbClr val="9FCBE9"/>
    </a:accent5>
    <a:accent6>
      <a:srgbClr val="C6E0F2"/>
    </a:accent6>
    <a:hlink>
      <a:srgbClr val="1F5F8A"/>
    </a:hlink>
    <a:folHlink>
      <a:srgbClr val="BFBFBF"/>
    </a:folHlink>
  </a:clrScheme>
</a:themeOverride>
</file>

<file path=ppt/theme/themeOverride4.xml><?xml version="1.0" encoding="utf-8"?>
<a:themeOverride xmlns:a="http://schemas.openxmlformats.org/drawingml/2006/main">
  <a:clrScheme name="Office">
    <a:dk1>
      <a:srgbClr val="000000"/>
    </a:dk1>
    <a:lt1>
      <a:srgbClr val="FFFFFF"/>
    </a:lt1>
    <a:dk2>
      <a:srgbClr val="768395"/>
    </a:dk2>
    <a:lt2>
      <a:srgbClr val="F0F0F0"/>
    </a:lt2>
    <a:accent1>
      <a:srgbClr val="1F5F8A"/>
    </a:accent1>
    <a:accent2>
      <a:srgbClr val="2980B9"/>
    </a:accent2>
    <a:accent3>
      <a:srgbClr val="4098D4"/>
    </a:accent3>
    <a:accent4>
      <a:srgbClr val="7AB7E0"/>
    </a:accent4>
    <a:accent5>
      <a:srgbClr val="9FCBE9"/>
    </a:accent5>
    <a:accent6>
      <a:srgbClr val="C6E0F2"/>
    </a:accent6>
    <a:hlink>
      <a:srgbClr val="1F5F8A"/>
    </a:hlink>
    <a:folHlink>
      <a:srgbClr val="BFBFBF"/>
    </a:folHlink>
  </a:clrScheme>
</a:themeOverride>
</file>

<file path=ppt/theme/themeOverride5.xml><?xml version="1.0" encoding="utf-8"?>
<a:themeOverride xmlns:a="http://schemas.openxmlformats.org/drawingml/2006/main">
  <a:clrScheme name="Office">
    <a:dk1>
      <a:srgbClr val="000000"/>
    </a:dk1>
    <a:lt1>
      <a:srgbClr val="FFFFFF"/>
    </a:lt1>
    <a:dk2>
      <a:srgbClr val="768395"/>
    </a:dk2>
    <a:lt2>
      <a:srgbClr val="F0F0F0"/>
    </a:lt2>
    <a:accent1>
      <a:srgbClr val="1F5F8A"/>
    </a:accent1>
    <a:accent2>
      <a:srgbClr val="2980B9"/>
    </a:accent2>
    <a:accent3>
      <a:srgbClr val="4098D4"/>
    </a:accent3>
    <a:accent4>
      <a:srgbClr val="7AB7E0"/>
    </a:accent4>
    <a:accent5>
      <a:srgbClr val="9FCBE9"/>
    </a:accent5>
    <a:accent6>
      <a:srgbClr val="C6E0F2"/>
    </a:accent6>
    <a:hlink>
      <a:srgbClr val="1F5F8A"/>
    </a:hlink>
    <a:folHlink>
      <a:srgbClr val="BFBFBF"/>
    </a:folHlink>
  </a:clrScheme>
</a:themeOverride>
</file>

<file path=ppt/theme/themeOverride6.xml><?xml version="1.0" encoding="utf-8"?>
<a:themeOverride xmlns:a="http://schemas.openxmlformats.org/drawingml/2006/main">
  <a:clrScheme name="Office">
    <a:dk1>
      <a:srgbClr val="000000"/>
    </a:dk1>
    <a:lt1>
      <a:srgbClr val="FFFFFF"/>
    </a:lt1>
    <a:dk2>
      <a:srgbClr val="768395"/>
    </a:dk2>
    <a:lt2>
      <a:srgbClr val="F0F0F0"/>
    </a:lt2>
    <a:accent1>
      <a:srgbClr val="1F5F8A"/>
    </a:accent1>
    <a:accent2>
      <a:srgbClr val="2980B9"/>
    </a:accent2>
    <a:accent3>
      <a:srgbClr val="4098D4"/>
    </a:accent3>
    <a:accent4>
      <a:srgbClr val="7AB7E0"/>
    </a:accent4>
    <a:accent5>
      <a:srgbClr val="9FCBE9"/>
    </a:accent5>
    <a:accent6>
      <a:srgbClr val="C6E0F2"/>
    </a:accent6>
    <a:hlink>
      <a:srgbClr val="1F5F8A"/>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0</TotalTime>
  <Words>3857</Words>
  <Application>WPS 演示</Application>
  <PresentationFormat>自定义</PresentationFormat>
  <Paragraphs>304</Paragraphs>
  <Slides>35</Slides>
  <Notes>24</Notes>
  <HiddenSlides>0</HiddenSlides>
  <MMClips>1</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35</vt:i4>
      </vt:variant>
    </vt:vector>
  </HeadingPairs>
  <TitlesOfParts>
    <vt:vector size="55" baseType="lpstr">
      <vt:lpstr>Arial</vt:lpstr>
      <vt:lpstr>宋体</vt:lpstr>
      <vt:lpstr>Wingdings</vt:lpstr>
      <vt:lpstr>微软雅黑</vt:lpstr>
      <vt:lpstr>迷你简汉真广标</vt:lpstr>
      <vt:lpstr>造字工房力黑（非商用）常规体</vt:lpstr>
      <vt:lpstr>Segoe Script</vt:lpstr>
      <vt:lpstr>WenYue GuDianMingChaoTi (Non-Commercial Use)</vt:lpstr>
      <vt:lpstr>Agency FB</vt:lpstr>
      <vt:lpstr>微软雅黑 Light</vt:lpstr>
      <vt:lpstr>黑体</vt:lpstr>
      <vt:lpstr>华文细黑</vt:lpstr>
      <vt:lpstr>Arial Narrow</vt:lpstr>
      <vt:lpstr>锐字工房云字库细圆GBK</vt:lpstr>
      <vt:lpstr>-apple-system-font</vt:lpstr>
      <vt:lpstr>Segoe Print</vt:lpstr>
      <vt:lpstr>等线</vt:lpstr>
      <vt:lpstr>Arial Unicode MS</vt:lpstr>
      <vt:lpstr>Trebuchet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雷锋PPT网www.lfppt.com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雷锋PPT网www.lfppt.com</dc:title>
  <dc:creator>雷锋PPT网www.lfppt.com</dc:creator>
  <cp:lastModifiedBy>沙皮鱼</cp:lastModifiedBy>
  <cp:revision>40</cp:revision>
  <dcterms:created xsi:type="dcterms:W3CDTF">2018-06-28T05:17:00Z</dcterms:created>
  <dcterms:modified xsi:type="dcterms:W3CDTF">2020-10-02T12:59:51Z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2052-11.1.0.9999</vt:lpwstr>
  </property>
  <property fmtid="{D5CDD505-2E9C-101B-9397-08002B2CF9AE}" pid="3" name="KSORubyTemplateID">
    <vt:lpwstr>2</vt:lpwstr>
  </property>
</Properties>
</file>