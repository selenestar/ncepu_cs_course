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29" r:id="rId3"/>
    <p:sldId id="258" r:id="rId4"/>
    <p:sldId id="259" r:id="rId5"/>
    <p:sldId id="260" r:id="rId6"/>
    <p:sldId id="261" r:id="rId7"/>
    <p:sldId id="316" r:id="rId8"/>
    <p:sldId id="262" r:id="rId9"/>
    <p:sldId id="333" r:id="rId10"/>
    <p:sldId id="267" r:id="rId11"/>
    <p:sldId id="334" r:id="rId12"/>
    <p:sldId id="317" r:id="rId13"/>
    <p:sldId id="318" r:id="rId14"/>
    <p:sldId id="319" r:id="rId15"/>
    <p:sldId id="335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15" r:id="rId2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14CAD71B-8526-48F8-97E4-0F735A77FCDE}">
          <p14:sldIdLst>
            <p14:sldId id="256"/>
            <p14:sldId id="329"/>
            <p14:sldId id="258"/>
          </p14:sldIdLst>
        </p14:section>
        <p14:section name="存储器架构" id="{1752CE8F-D70C-4293-9542-11509D30DE9E}">
          <p14:sldIdLst>
            <p14:sldId id="259"/>
            <p14:sldId id="260"/>
            <p14:sldId id="261"/>
            <p14:sldId id="316"/>
            <p14:sldId id="262"/>
          </p14:sldIdLst>
        </p14:section>
        <p14:section name="riscv简化" id="{C62F1A21-0A40-4DB0-A940-E58DB1B599B0}">
          <p14:sldIdLst>
            <p14:sldId id="333"/>
            <p14:sldId id="267"/>
          </p14:sldIdLst>
        </p14:section>
        <p14:section name="访存指令" id="{D5582E39-B126-419A-9534-B1481CE8ABDF}">
          <p14:sldIdLst>
            <p14:sldId id="334"/>
            <p14:sldId id="317"/>
            <p14:sldId id="318"/>
            <p14:sldId id="319"/>
          </p14:sldIdLst>
        </p14:section>
        <p14:section name="硬件实现" id="{525B4179-4972-4E7B-BF77-E9C10FBCDF98}">
          <p14:sldIdLst>
            <p14:sldId id="335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46">
          <p15:clr>
            <a:srgbClr val="A4A3A4"/>
          </p15:clr>
        </p15:guide>
        <p15:guide id="2" pos="21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7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69" autoAdjust="0"/>
  </p:normalViewPr>
  <p:slideViewPr>
    <p:cSldViewPr>
      <p:cViewPr varScale="1">
        <p:scale>
          <a:sx n="110" d="100"/>
          <a:sy n="110" d="100"/>
        </p:scale>
        <p:origin x="516" y="96"/>
      </p:cViewPr>
      <p:guideLst>
        <p:guide orient="horz" pos="2846"/>
        <p:guide pos="21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F41F24-C7A0-4AE6-83BF-36693751C1D5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2AE2662-0BF6-4C5B-8B1F-47AE602FBCE1}">
      <dgm:prSet phldrT="[文本]"/>
      <dgm:spPr/>
      <dgm:t>
        <a:bodyPr/>
        <a:lstStyle/>
        <a:p>
          <a:pPr>
            <a:buFont typeface="Wingdings" panose="05000000000000000000"/>
            <a:buChar char=""/>
          </a:pPr>
          <a:r>
            <a:rPr lang="zh-CN" altLang="en-US" dirty="0">
              <a:cs typeface="+mn-ea"/>
              <a:sym typeface="+mn-lt"/>
            </a:rPr>
            <a:t>能够保证实时性</a:t>
          </a:r>
          <a:endParaRPr lang="zh-CN" altLang="en-US" dirty="0"/>
        </a:p>
      </dgm:t>
    </dgm:pt>
    <dgm:pt modelId="{7896E517-0CCD-425D-9465-EA9C9C82B3B7}" type="parTrans" cxnId="{1F712E1E-C8A3-4366-B04F-77F5272E98DB}">
      <dgm:prSet/>
      <dgm:spPr/>
      <dgm:t>
        <a:bodyPr/>
        <a:lstStyle/>
        <a:p>
          <a:endParaRPr lang="zh-CN" altLang="en-US"/>
        </a:p>
      </dgm:t>
    </dgm:pt>
    <dgm:pt modelId="{6752A435-E6C0-4E33-AE7D-99983B64A656}" type="sibTrans" cxnId="{1F712E1E-C8A3-4366-B04F-77F5272E98DB}">
      <dgm:prSet/>
      <dgm:spPr/>
      <dgm:t>
        <a:bodyPr/>
        <a:lstStyle/>
        <a:p>
          <a:endParaRPr lang="zh-CN" altLang="en-US"/>
        </a:p>
      </dgm:t>
    </dgm:pt>
    <dgm:pt modelId="{4E960797-66C2-4433-BF80-3C75DCF9748E}">
      <dgm:prSet phldrT="[文本]"/>
      <dgm:spPr/>
      <dgm:t>
        <a:bodyPr/>
        <a:lstStyle/>
        <a:p>
          <a:pPr>
            <a:buFont typeface="Wingdings" panose="05000000000000000000"/>
            <a:buChar char=""/>
          </a:pPr>
          <a:r>
            <a:rPr lang="zh-CN" altLang="en-US" dirty="0">
              <a:cs typeface="+mn-ea"/>
              <a:sym typeface="+mn-lt"/>
            </a:rPr>
            <a:t>能够满足软件需求</a:t>
          </a:r>
          <a:endParaRPr lang="zh-CN" altLang="en-US" dirty="0"/>
        </a:p>
      </dgm:t>
    </dgm:pt>
    <dgm:pt modelId="{E93099A4-4683-4164-82BE-BBE1672D77A5}" type="parTrans" cxnId="{A6D1AA83-BEE9-417D-AF11-44A2D74C0B00}">
      <dgm:prSet/>
      <dgm:spPr/>
      <dgm:t>
        <a:bodyPr/>
        <a:lstStyle/>
        <a:p>
          <a:endParaRPr lang="zh-CN" altLang="en-US"/>
        </a:p>
      </dgm:t>
    </dgm:pt>
    <dgm:pt modelId="{C63892E4-80F6-48B6-8CA0-5902CAA32DCE}" type="sibTrans" cxnId="{A6D1AA83-BEE9-417D-AF11-44A2D74C0B00}">
      <dgm:prSet/>
      <dgm:spPr/>
      <dgm:t>
        <a:bodyPr/>
        <a:lstStyle/>
        <a:p>
          <a:endParaRPr lang="zh-CN" altLang="en-US"/>
        </a:p>
      </dgm:t>
    </dgm:pt>
    <dgm:pt modelId="{75EE038C-134D-4308-A0AF-100DBABEB4E2}">
      <dgm:prSet phldrT="[文本]"/>
      <dgm:spPr/>
      <dgm:t>
        <a:bodyPr/>
        <a:lstStyle/>
        <a:p>
          <a:pPr>
            <a:buFont typeface="Wingdings" panose="05000000000000000000"/>
            <a:buChar char=""/>
          </a:pPr>
          <a:r>
            <a:rPr lang="zh-CN" altLang="en-US" dirty="0">
              <a:cs typeface="+mn-ea"/>
              <a:sym typeface="+mn-lt"/>
            </a:rPr>
            <a:t>面积功耗小</a:t>
          </a:r>
          <a:endParaRPr lang="zh-CN" altLang="en-US" dirty="0"/>
        </a:p>
      </dgm:t>
    </dgm:pt>
    <dgm:pt modelId="{2284492A-8D67-4E1B-A789-3075A782256E}" type="parTrans" cxnId="{B7AE8F3F-6CFB-4AC6-A7EF-4E3571B300C8}">
      <dgm:prSet/>
      <dgm:spPr/>
      <dgm:t>
        <a:bodyPr/>
        <a:lstStyle/>
        <a:p>
          <a:endParaRPr lang="zh-CN" altLang="en-US"/>
        </a:p>
      </dgm:t>
    </dgm:pt>
    <dgm:pt modelId="{AE6E8524-A90A-40B1-808B-1C13F7B450F1}" type="sibTrans" cxnId="{B7AE8F3F-6CFB-4AC6-A7EF-4E3571B300C8}">
      <dgm:prSet/>
      <dgm:spPr/>
      <dgm:t>
        <a:bodyPr/>
        <a:lstStyle/>
        <a:p>
          <a:endParaRPr lang="zh-CN" altLang="en-US"/>
        </a:p>
      </dgm:t>
    </dgm:pt>
    <dgm:pt modelId="{16ACC835-FACA-4EB5-A552-E558761049FA}" type="pres">
      <dgm:prSet presAssocID="{C8F41F24-C7A0-4AE6-83BF-36693751C1D5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FEDBB5-AE98-4DE0-B7FD-8E233D5738AD}" type="pres">
      <dgm:prSet presAssocID="{72AE2662-0BF6-4C5B-8B1F-47AE602FBCE1}" presName="parentLin" presStyleCnt="0"/>
      <dgm:spPr/>
    </dgm:pt>
    <dgm:pt modelId="{BC09E670-E799-4D47-BD5F-255C117B0EF0}" type="pres">
      <dgm:prSet presAssocID="{72AE2662-0BF6-4C5B-8B1F-47AE602FBCE1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6BD0F82-9F38-4883-B813-052DE0810684}" type="pres">
      <dgm:prSet presAssocID="{72AE2662-0BF6-4C5B-8B1F-47AE602FBCE1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815710-3D58-41D0-9BC0-E5EA71855C37}" type="pres">
      <dgm:prSet presAssocID="{72AE2662-0BF6-4C5B-8B1F-47AE602FBCE1}" presName="negativeSpace" presStyleCnt="0"/>
      <dgm:spPr/>
    </dgm:pt>
    <dgm:pt modelId="{637D7958-09F9-45DC-B536-3C97AC61E0D3}" type="pres">
      <dgm:prSet presAssocID="{72AE2662-0BF6-4C5B-8B1F-47AE602FBCE1}" presName="childText" presStyleLbl="conFgAcc1" presStyleIdx="0" presStyleCnt="3">
        <dgm:presLayoutVars>
          <dgm:bulletEnabled val="1"/>
        </dgm:presLayoutVars>
      </dgm:prSet>
      <dgm:spPr/>
    </dgm:pt>
    <dgm:pt modelId="{F4B14BE1-9886-496F-B34A-19944BCA6AE5}" type="pres">
      <dgm:prSet presAssocID="{6752A435-E6C0-4E33-AE7D-99983B64A656}" presName="spaceBetweenRectangles" presStyleCnt="0"/>
      <dgm:spPr/>
    </dgm:pt>
    <dgm:pt modelId="{45B5351F-5E20-4BFD-A9CE-C58305FC21C2}" type="pres">
      <dgm:prSet presAssocID="{4E960797-66C2-4433-BF80-3C75DCF9748E}" presName="parentLin" presStyleCnt="0"/>
      <dgm:spPr/>
    </dgm:pt>
    <dgm:pt modelId="{8C2B73FB-3D92-49F8-9305-590D9BFED023}" type="pres">
      <dgm:prSet presAssocID="{4E960797-66C2-4433-BF80-3C75DCF9748E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A02944AC-DBF9-4DE6-9EB7-1752824B04CD}" type="pres">
      <dgm:prSet presAssocID="{4E960797-66C2-4433-BF80-3C75DCF9748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73D4EB-0BB0-4089-8904-7E874F465B77}" type="pres">
      <dgm:prSet presAssocID="{4E960797-66C2-4433-BF80-3C75DCF9748E}" presName="negativeSpace" presStyleCnt="0"/>
      <dgm:spPr/>
    </dgm:pt>
    <dgm:pt modelId="{375217CC-C8E2-4F7B-8BA3-AB7F5BC622D0}" type="pres">
      <dgm:prSet presAssocID="{4E960797-66C2-4433-BF80-3C75DCF9748E}" presName="childText" presStyleLbl="conFgAcc1" presStyleIdx="1" presStyleCnt="3">
        <dgm:presLayoutVars>
          <dgm:bulletEnabled val="1"/>
        </dgm:presLayoutVars>
      </dgm:prSet>
      <dgm:spPr/>
    </dgm:pt>
    <dgm:pt modelId="{5BDFCB3E-9767-487A-8C1F-9A50EDDDD291}" type="pres">
      <dgm:prSet presAssocID="{C63892E4-80F6-48B6-8CA0-5902CAA32DCE}" presName="spaceBetweenRectangles" presStyleCnt="0"/>
      <dgm:spPr/>
    </dgm:pt>
    <dgm:pt modelId="{41E3D525-E69A-4504-8CB2-074CA9E6F2B9}" type="pres">
      <dgm:prSet presAssocID="{75EE038C-134D-4308-A0AF-100DBABEB4E2}" presName="parentLin" presStyleCnt="0"/>
      <dgm:spPr/>
    </dgm:pt>
    <dgm:pt modelId="{34227F49-A066-4B37-8AE7-2EDB92D7938A}" type="pres">
      <dgm:prSet presAssocID="{75EE038C-134D-4308-A0AF-100DBABEB4E2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FFF080E6-30A2-49C7-A80D-AC8ED6D3892B}" type="pres">
      <dgm:prSet presAssocID="{75EE038C-134D-4308-A0AF-100DBABEB4E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10A87C-08DB-4258-BC95-325C1C1C7948}" type="pres">
      <dgm:prSet presAssocID="{75EE038C-134D-4308-A0AF-100DBABEB4E2}" presName="negativeSpace" presStyleCnt="0"/>
      <dgm:spPr/>
    </dgm:pt>
    <dgm:pt modelId="{A8C418BA-3381-4FBA-B320-F767C02C092E}" type="pres">
      <dgm:prSet presAssocID="{75EE038C-134D-4308-A0AF-100DBABEB4E2}" presName="childText" presStyleLbl="conFgAcc1" presStyleIdx="2" presStyleCnt="3" custLinFactNeighborY="2070">
        <dgm:presLayoutVars>
          <dgm:bulletEnabled val="1"/>
        </dgm:presLayoutVars>
      </dgm:prSet>
      <dgm:spPr/>
    </dgm:pt>
  </dgm:ptLst>
  <dgm:cxnLst>
    <dgm:cxn modelId="{070D8FA2-81A9-487C-BE2C-9B5401BAD003}" type="presOf" srcId="{72AE2662-0BF6-4C5B-8B1F-47AE602FBCE1}" destId="{C6BD0F82-9F38-4883-B813-052DE0810684}" srcOrd="1" destOrd="0" presId="urn:microsoft.com/office/officeart/2005/8/layout/list1"/>
    <dgm:cxn modelId="{F2982421-A8A9-432D-8677-84D409129B21}" type="presOf" srcId="{72AE2662-0BF6-4C5B-8B1F-47AE602FBCE1}" destId="{BC09E670-E799-4D47-BD5F-255C117B0EF0}" srcOrd="0" destOrd="0" presId="urn:microsoft.com/office/officeart/2005/8/layout/list1"/>
    <dgm:cxn modelId="{2972515A-A763-4463-845D-311473FD34D8}" type="presOf" srcId="{4E960797-66C2-4433-BF80-3C75DCF9748E}" destId="{A02944AC-DBF9-4DE6-9EB7-1752824B04CD}" srcOrd="1" destOrd="0" presId="urn:microsoft.com/office/officeart/2005/8/layout/list1"/>
    <dgm:cxn modelId="{1F712E1E-C8A3-4366-B04F-77F5272E98DB}" srcId="{C8F41F24-C7A0-4AE6-83BF-36693751C1D5}" destId="{72AE2662-0BF6-4C5B-8B1F-47AE602FBCE1}" srcOrd="0" destOrd="0" parTransId="{7896E517-0CCD-425D-9465-EA9C9C82B3B7}" sibTransId="{6752A435-E6C0-4E33-AE7D-99983B64A656}"/>
    <dgm:cxn modelId="{B229129F-1C25-454A-8766-448AE407CD65}" type="presOf" srcId="{75EE038C-134D-4308-A0AF-100DBABEB4E2}" destId="{34227F49-A066-4B37-8AE7-2EDB92D7938A}" srcOrd="0" destOrd="0" presId="urn:microsoft.com/office/officeart/2005/8/layout/list1"/>
    <dgm:cxn modelId="{348AF858-C19B-487C-98F3-2F3B7B9CD001}" type="presOf" srcId="{4E960797-66C2-4433-BF80-3C75DCF9748E}" destId="{8C2B73FB-3D92-49F8-9305-590D9BFED023}" srcOrd="0" destOrd="0" presId="urn:microsoft.com/office/officeart/2005/8/layout/list1"/>
    <dgm:cxn modelId="{A6D1AA83-BEE9-417D-AF11-44A2D74C0B00}" srcId="{C8F41F24-C7A0-4AE6-83BF-36693751C1D5}" destId="{4E960797-66C2-4433-BF80-3C75DCF9748E}" srcOrd="1" destOrd="0" parTransId="{E93099A4-4683-4164-82BE-BBE1672D77A5}" sibTransId="{C63892E4-80F6-48B6-8CA0-5902CAA32DCE}"/>
    <dgm:cxn modelId="{5A258435-F2CA-47EE-A068-4FCB913E7E9F}" type="presOf" srcId="{C8F41F24-C7A0-4AE6-83BF-36693751C1D5}" destId="{16ACC835-FACA-4EB5-A552-E558761049FA}" srcOrd="0" destOrd="0" presId="urn:microsoft.com/office/officeart/2005/8/layout/list1"/>
    <dgm:cxn modelId="{BA39C230-5B91-4B66-A3D5-4FD53C6BB4D8}" type="presOf" srcId="{75EE038C-134D-4308-A0AF-100DBABEB4E2}" destId="{FFF080E6-30A2-49C7-A80D-AC8ED6D3892B}" srcOrd="1" destOrd="0" presId="urn:microsoft.com/office/officeart/2005/8/layout/list1"/>
    <dgm:cxn modelId="{B7AE8F3F-6CFB-4AC6-A7EF-4E3571B300C8}" srcId="{C8F41F24-C7A0-4AE6-83BF-36693751C1D5}" destId="{75EE038C-134D-4308-A0AF-100DBABEB4E2}" srcOrd="2" destOrd="0" parTransId="{2284492A-8D67-4E1B-A789-3075A782256E}" sibTransId="{AE6E8524-A90A-40B1-808B-1C13F7B450F1}"/>
    <dgm:cxn modelId="{273B65AF-B47B-4CCC-AD27-72E7A50C6040}" type="presParOf" srcId="{16ACC835-FACA-4EB5-A552-E558761049FA}" destId="{00FEDBB5-AE98-4DE0-B7FD-8E233D5738AD}" srcOrd="0" destOrd="0" presId="urn:microsoft.com/office/officeart/2005/8/layout/list1"/>
    <dgm:cxn modelId="{F06FD59C-EE20-43D4-A6CD-F0D23AEE8167}" type="presParOf" srcId="{00FEDBB5-AE98-4DE0-B7FD-8E233D5738AD}" destId="{BC09E670-E799-4D47-BD5F-255C117B0EF0}" srcOrd="0" destOrd="0" presId="urn:microsoft.com/office/officeart/2005/8/layout/list1"/>
    <dgm:cxn modelId="{1647447A-8362-4EB6-8050-986578B50805}" type="presParOf" srcId="{00FEDBB5-AE98-4DE0-B7FD-8E233D5738AD}" destId="{C6BD0F82-9F38-4883-B813-052DE0810684}" srcOrd="1" destOrd="0" presId="urn:microsoft.com/office/officeart/2005/8/layout/list1"/>
    <dgm:cxn modelId="{77AA7F18-88DA-4872-85C6-DDAEC958D4E9}" type="presParOf" srcId="{16ACC835-FACA-4EB5-A552-E558761049FA}" destId="{FD815710-3D58-41D0-9BC0-E5EA71855C37}" srcOrd="1" destOrd="0" presId="urn:microsoft.com/office/officeart/2005/8/layout/list1"/>
    <dgm:cxn modelId="{45546496-E682-4A38-B121-25EA43BC4DD6}" type="presParOf" srcId="{16ACC835-FACA-4EB5-A552-E558761049FA}" destId="{637D7958-09F9-45DC-B536-3C97AC61E0D3}" srcOrd="2" destOrd="0" presId="urn:microsoft.com/office/officeart/2005/8/layout/list1"/>
    <dgm:cxn modelId="{9753FAEC-2A68-4AED-B110-8E945ED8442B}" type="presParOf" srcId="{16ACC835-FACA-4EB5-A552-E558761049FA}" destId="{F4B14BE1-9886-496F-B34A-19944BCA6AE5}" srcOrd="3" destOrd="0" presId="urn:microsoft.com/office/officeart/2005/8/layout/list1"/>
    <dgm:cxn modelId="{BB2C27CC-7924-4326-97DE-A1CD96C4D0F6}" type="presParOf" srcId="{16ACC835-FACA-4EB5-A552-E558761049FA}" destId="{45B5351F-5E20-4BFD-A9CE-C58305FC21C2}" srcOrd="4" destOrd="0" presId="urn:microsoft.com/office/officeart/2005/8/layout/list1"/>
    <dgm:cxn modelId="{024EBC1F-D4B9-41B4-AA87-2CA8FDFEA7C3}" type="presParOf" srcId="{45B5351F-5E20-4BFD-A9CE-C58305FC21C2}" destId="{8C2B73FB-3D92-49F8-9305-590D9BFED023}" srcOrd="0" destOrd="0" presId="urn:microsoft.com/office/officeart/2005/8/layout/list1"/>
    <dgm:cxn modelId="{4A63ADC5-F232-4D81-ADDF-F083D458219E}" type="presParOf" srcId="{45B5351F-5E20-4BFD-A9CE-C58305FC21C2}" destId="{A02944AC-DBF9-4DE6-9EB7-1752824B04CD}" srcOrd="1" destOrd="0" presId="urn:microsoft.com/office/officeart/2005/8/layout/list1"/>
    <dgm:cxn modelId="{672BF9E7-CA4F-4BEA-B2A4-56D1A37FA6E3}" type="presParOf" srcId="{16ACC835-FACA-4EB5-A552-E558761049FA}" destId="{5473D4EB-0BB0-4089-8904-7E874F465B77}" srcOrd="5" destOrd="0" presId="urn:microsoft.com/office/officeart/2005/8/layout/list1"/>
    <dgm:cxn modelId="{30EA850E-7710-4185-A57A-63CC9011D29D}" type="presParOf" srcId="{16ACC835-FACA-4EB5-A552-E558761049FA}" destId="{375217CC-C8E2-4F7B-8BA3-AB7F5BC622D0}" srcOrd="6" destOrd="0" presId="urn:microsoft.com/office/officeart/2005/8/layout/list1"/>
    <dgm:cxn modelId="{6E665CBD-C2B2-4EF2-8F25-ED55815C9A4E}" type="presParOf" srcId="{16ACC835-FACA-4EB5-A552-E558761049FA}" destId="{5BDFCB3E-9767-487A-8C1F-9A50EDDDD291}" srcOrd="7" destOrd="0" presId="urn:microsoft.com/office/officeart/2005/8/layout/list1"/>
    <dgm:cxn modelId="{F967957B-C5D1-42E5-8A38-B034276F74A9}" type="presParOf" srcId="{16ACC835-FACA-4EB5-A552-E558761049FA}" destId="{41E3D525-E69A-4504-8CB2-074CA9E6F2B9}" srcOrd="8" destOrd="0" presId="urn:microsoft.com/office/officeart/2005/8/layout/list1"/>
    <dgm:cxn modelId="{995E5688-31C6-4B8D-863C-624331188963}" type="presParOf" srcId="{41E3D525-E69A-4504-8CB2-074CA9E6F2B9}" destId="{34227F49-A066-4B37-8AE7-2EDB92D7938A}" srcOrd="0" destOrd="0" presId="urn:microsoft.com/office/officeart/2005/8/layout/list1"/>
    <dgm:cxn modelId="{58530368-D6B2-48E4-89AC-60FEAF1BE704}" type="presParOf" srcId="{41E3D525-E69A-4504-8CB2-074CA9E6F2B9}" destId="{FFF080E6-30A2-49C7-A80D-AC8ED6D3892B}" srcOrd="1" destOrd="0" presId="urn:microsoft.com/office/officeart/2005/8/layout/list1"/>
    <dgm:cxn modelId="{FDF5301D-FE92-4A58-81F1-38293416F7F7}" type="presParOf" srcId="{16ACC835-FACA-4EB5-A552-E558761049FA}" destId="{1E10A87C-08DB-4258-BC95-325C1C1C7948}" srcOrd="9" destOrd="0" presId="urn:microsoft.com/office/officeart/2005/8/layout/list1"/>
    <dgm:cxn modelId="{29ADF6B3-6856-448D-A8BA-6A09D42C1209}" type="presParOf" srcId="{16ACC835-FACA-4EB5-A552-E558761049FA}" destId="{A8C418BA-3381-4FBA-B320-F767C02C092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2A0C5D-7D1A-4467-B620-F18583E79608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42047484-19A9-48F6-A69A-97689F1533F6}">
      <dgm:prSet phldrT="[文本]"/>
      <dgm:spPr/>
      <dgm:t>
        <a:bodyPr/>
        <a:lstStyle/>
        <a:p>
          <a:pPr>
            <a:buFont typeface="Wingdings" panose="05000000000000000000" pitchFamily="2" charset="2"/>
            <a:buChar char="l"/>
          </a:pPr>
          <a:r>
            <a:rPr lang="zh-CN" altLang="en-US" dirty="0">
              <a:cs typeface="+mn-ea"/>
              <a:sym typeface="+mn-lt"/>
            </a:rPr>
            <a:t>除了</a:t>
          </a:r>
          <a:r>
            <a:rPr lang="en-US" altLang="zh-CN" dirty="0">
              <a:cs typeface="+mn-ea"/>
              <a:sym typeface="+mn-lt"/>
            </a:rPr>
            <a:t>load</a:t>
          </a:r>
          <a:r>
            <a:rPr lang="zh-CN" altLang="en-US" dirty="0">
              <a:cs typeface="+mn-ea"/>
              <a:sym typeface="+mn-lt"/>
            </a:rPr>
            <a:t>和</a:t>
          </a:r>
          <a:r>
            <a:rPr lang="en-US" altLang="zh-CN" dirty="0">
              <a:cs typeface="+mn-ea"/>
              <a:sym typeface="+mn-lt"/>
            </a:rPr>
            <a:t>store</a:t>
          </a:r>
          <a:r>
            <a:rPr lang="zh-CN" altLang="en-US" dirty="0">
              <a:cs typeface="+mn-ea"/>
              <a:sym typeface="+mn-lt"/>
            </a:rPr>
            <a:t>指令，其他指令都无法访存</a:t>
          </a:r>
          <a:endParaRPr lang="zh-CN" altLang="en-US" dirty="0"/>
        </a:p>
      </dgm:t>
    </dgm:pt>
    <dgm:pt modelId="{21C1F219-B670-4AE8-A669-504798D0D1C5}" type="parTrans" cxnId="{06225FD3-1DFF-430D-A054-17C1FD0BC7BC}">
      <dgm:prSet/>
      <dgm:spPr/>
      <dgm:t>
        <a:bodyPr/>
        <a:lstStyle/>
        <a:p>
          <a:endParaRPr lang="zh-CN" altLang="en-US"/>
        </a:p>
      </dgm:t>
    </dgm:pt>
    <dgm:pt modelId="{35081E04-D32F-4F64-990F-3F7580AFC5F6}" type="sibTrans" cxnId="{06225FD3-1DFF-430D-A054-17C1FD0BC7BC}">
      <dgm:prSet/>
      <dgm:spPr/>
      <dgm:t>
        <a:bodyPr/>
        <a:lstStyle/>
        <a:p>
          <a:endParaRPr lang="zh-CN" altLang="en-US"/>
        </a:p>
      </dgm:t>
    </dgm:pt>
    <dgm:pt modelId="{520AE881-1677-46D7-8CBE-57C7440C1AFB}">
      <dgm:prSet phldrT="[文本]"/>
      <dgm:spPr/>
      <dgm:t>
        <a:bodyPr/>
        <a:lstStyle/>
        <a:p>
          <a:pPr>
            <a:buFont typeface="Wingdings" panose="05000000000000000000" pitchFamily="2" charset="2"/>
            <a:buChar char="l"/>
          </a:pPr>
          <a:r>
            <a:rPr lang="en-US" altLang="zh-CN" dirty="0">
              <a:cs typeface="+mn-ea"/>
              <a:sym typeface="+mn-lt"/>
            </a:rPr>
            <a:t>7</a:t>
          </a:r>
          <a:r>
            <a:rPr lang="zh-CN" altLang="en-US" dirty="0">
              <a:cs typeface="+mn-ea"/>
              <a:sym typeface="+mn-lt"/>
            </a:rPr>
            <a:t>条访存指令</a:t>
          </a:r>
          <a:endParaRPr lang="en-US" altLang="zh-CN" dirty="0">
            <a:cs typeface="+mn-ea"/>
            <a:sym typeface="+mn-lt"/>
          </a:endParaRPr>
        </a:p>
        <a:p>
          <a:pPr>
            <a:buFont typeface="Wingdings" panose="05000000000000000000" pitchFamily="2" charset="2"/>
            <a:buChar char="l"/>
          </a:pPr>
          <a:r>
            <a:rPr lang="en-US" altLang="zh-CN" dirty="0">
              <a:cs typeface="+mn-ea"/>
              <a:sym typeface="+mn-lt"/>
            </a:rPr>
            <a:t>LH,LHU,LB,LBU,LW,SB,SH,SW</a:t>
          </a:r>
          <a:endParaRPr lang="zh-CN" altLang="en-US" dirty="0"/>
        </a:p>
      </dgm:t>
    </dgm:pt>
    <dgm:pt modelId="{3609BD79-3DD7-43BD-BEC9-6AE253DC58DF}" type="parTrans" cxnId="{8EEC6C2A-3BBA-4338-B502-2F530D9C613A}">
      <dgm:prSet/>
      <dgm:spPr/>
      <dgm:t>
        <a:bodyPr/>
        <a:lstStyle/>
        <a:p>
          <a:endParaRPr lang="zh-CN" altLang="en-US"/>
        </a:p>
      </dgm:t>
    </dgm:pt>
    <dgm:pt modelId="{12A4A42C-0F84-4ADD-9448-4B3D18BB9D42}" type="sibTrans" cxnId="{8EEC6C2A-3BBA-4338-B502-2F530D9C613A}">
      <dgm:prSet/>
      <dgm:spPr/>
      <dgm:t>
        <a:bodyPr/>
        <a:lstStyle/>
        <a:p>
          <a:endParaRPr lang="zh-CN" altLang="en-US"/>
        </a:p>
      </dgm:t>
    </dgm:pt>
    <dgm:pt modelId="{4054A7D3-1E2B-498B-B803-38D82790FA0B}">
      <dgm:prSet phldrT="[文本]"/>
      <dgm:spPr/>
      <dgm:t>
        <a:bodyPr/>
        <a:lstStyle/>
        <a:p>
          <a:pPr>
            <a:buFont typeface="Wingdings" panose="05000000000000000000" pitchFamily="2" charset="2"/>
            <a:buChar char="l"/>
          </a:pPr>
          <a:r>
            <a:rPr lang="zh-CN" altLang="en-US" dirty="0">
              <a:cs typeface="+mn-ea"/>
              <a:sym typeface="+mn-lt"/>
            </a:rPr>
            <a:t>推荐使用地址对齐的操作</a:t>
          </a:r>
          <a:endParaRPr lang="zh-CN" altLang="en-US" dirty="0"/>
        </a:p>
      </dgm:t>
    </dgm:pt>
    <dgm:pt modelId="{7E898378-D5D1-44F7-AAF1-DF06B853DCFE}" type="parTrans" cxnId="{8D6EA21C-9B39-4E26-A79A-4DCBF050AEE4}">
      <dgm:prSet/>
      <dgm:spPr/>
      <dgm:t>
        <a:bodyPr/>
        <a:lstStyle/>
        <a:p>
          <a:endParaRPr lang="zh-CN" altLang="en-US"/>
        </a:p>
      </dgm:t>
    </dgm:pt>
    <dgm:pt modelId="{4FD138AD-A51C-463F-A623-13F99CA23245}" type="sibTrans" cxnId="{8D6EA21C-9B39-4E26-A79A-4DCBF050AEE4}">
      <dgm:prSet/>
      <dgm:spPr/>
      <dgm:t>
        <a:bodyPr/>
        <a:lstStyle/>
        <a:p>
          <a:endParaRPr lang="zh-CN" altLang="en-US"/>
        </a:p>
      </dgm:t>
    </dgm:pt>
    <dgm:pt modelId="{0DE79210-929A-49FC-A6C0-FB9225C1831A}" type="pres">
      <dgm:prSet presAssocID="{012A0C5D-7D1A-4467-B620-F18583E7960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2358339F-3AB2-4796-A4DC-8D79F155549A}" type="pres">
      <dgm:prSet presAssocID="{012A0C5D-7D1A-4467-B620-F18583E79608}" presName="Name1" presStyleCnt="0"/>
      <dgm:spPr/>
    </dgm:pt>
    <dgm:pt modelId="{C326ACFE-2315-4B4E-8083-08A719076B5F}" type="pres">
      <dgm:prSet presAssocID="{012A0C5D-7D1A-4467-B620-F18583E79608}" presName="cycle" presStyleCnt="0"/>
      <dgm:spPr/>
    </dgm:pt>
    <dgm:pt modelId="{EB3813F1-9CFA-4456-BD66-8FB6CF7E7539}" type="pres">
      <dgm:prSet presAssocID="{012A0C5D-7D1A-4467-B620-F18583E79608}" presName="srcNode" presStyleLbl="node1" presStyleIdx="0" presStyleCnt="3"/>
      <dgm:spPr/>
    </dgm:pt>
    <dgm:pt modelId="{EE6B5E11-D08F-45B4-961E-56F0987F8C0F}" type="pres">
      <dgm:prSet presAssocID="{012A0C5D-7D1A-4467-B620-F18583E79608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FC16D920-70CA-4EFD-A3AC-F43584F0D4B7}" type="pres">
      <dgm:prSet presAssocID="{012A0C5D-7D1A-4467-B620-F18583E79608}" presName="extraNode" presStyleLbl="node1" presStyleIdx="0" presStyleCnt="3"/>
      <dgm:spPr/>
    </dgm:pt>
    <dgm:pt modelId="{4486F993-BDC8-4505-8595-573EEE5BBF79}" type="pres">
      <dgm:prSet presAssocID="{012A0C5D-7D1A-4467-B620-F18583E79608}" presName="dstNode" presStyleLbl="node1" presStyleIdx="0" presStyleCnt="3"/>
      <dgm:spPr/>
    </dgm:pt>
    <dgm:pt modelId="{B8DFE261-F09F-4B42-8DE3-C3DDB74C4ACD}" type="pres">
      <dgm:prSet presAssocID="{42047484-19A9-48F6-A69A-97689F1533F6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B51D134-ADE1-40F1-9251-C117CD9B3AB1}" type="pres">
      <dgm:prSet presAssocID="{42047484-19A9-48F6-A69A-97689F1533F6}" presName="accent_1" presStyleCnt="0"/>
      <dgm:spPr/>
    </dgm:pt>
    <dgm:pt modelId="{0A2554FE-26AD-4A3A-8012-C6243AD28946}" type="pres">
      <dgm:prSet presAssocID="{42047484-19A9-48F6-A69A-97689F1533F6}" presName="accentRepeatNode" presStyleLbl="solidFgAcc1" presStyleIdx="0" presStyleCnt="3"/>
      <dgm:spPr/>
    </dgm:pt>
    <dgm:pt modelId="{DF698702-1AD3-486B-A636-FB4E7890EB56}" type="pres">
      <dgm:prSet presAssocID="{520AE881-1677-46D7-8CBE-57C7440C1AFB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4F40488-4268-42B6-9C9A-45FE9CBE6677}" type="pres">
      <dgm:prSet presAssocID="{520AE881-1677-46D7-8CBE-57C7440C1AFB}" presName="accent_2" presStyleCnt="0"/>
      <dgm:spPr/>
    </dgm:pt>
    <dgm:pt modelId="{B8CA11FC-7DAE-48E7-BD99-04A1A321D5B7}" type="pres">
      <dgm:prSet presAssocID="{520AE881-1677-46D7-8CBE-57C7440C1AFB}" presName="accentRepeatNode" presStyleLbl="solidFgAcc1" presStyleIdx="1" presStyleCnt="3"/>
      <dgm:spPr/>
    </dgm:pt>
    <dgm:pt modelId="{3736BDF2-EE2F-442C-9BAB-D7B318A9B7A6}" type="pres">
      <dgm:prSet presAssocID="{4054A7D3-1E2B-498B-B803-38D82790FA0B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50FB433-3DF7-4DE7-AFDF-0D6E09F47D5C}" type="pres">
      <dgm:prSet presAssocID="{4054A7D3-1E2B-498B-B803-38D82790FA0B}" presName="accent_3" presStyleCnt="0"/>
      <dgm:spPr/>
    </dgm:pt>
    <dgm:pt modelId="{715E5197-A178-40CF-B559-CBCA5793E978}" type="pres">
      <dgm:prSet presAssocID="{4054A7D3-1E2B-498B-B803-38D82790FA0B}" presName="accentRepeatNode" presStyleLbl="solidFgAcc1" presStyleIdx="2" presStyleCnt="3"/>
      <dgm:spPr/>
    </dgm:pt>
  </dgm:ptLst>
  <dgm:cxnLst>
    <dgm:cxn modelId="{8D6EA21C-9B39-4E26-A79A-4DCBF050AEE4}" srcId="{012A0C5D-7D1A-4467-B620-F18583E79608}" destId="{4054A7D3-1E2B-498B-B803-38D82790FA0B}" srcOrd="2" destOrd="0" parTransId="{7E898378-D5D1-44F7-AAF1-DF06B853DCFE}" sibTransId="{4FD138AD-A51C-463F-A623-13F99CA23245}"/>
    <dgm:cxn modelId="{536C2E2A-6783-45E7-BC9C-D7A982191766}" type="presOf" srcId="{35081E04-D32F-4F64-990F-3F7580AFC5F6}" destId="{EE6B5E11-D08F-45B4-961E-56F0987F8C0F}" srcOrd="0" destOrd="0" presId="urn:microsoft.com/office/officeart/2008/layout/VerticalCurvedList"/>
    <dgm:cxn modelId="{ACE46B0A-C5A0-4064-BF55-EE678ACC430D}" type="presOf" srcId="{012A0C5D-7D1A-4467-B620-F18583E79608}" destId="{0DE79210-929A-49FC-A6C0-FB9225C1831A}" srcOrd="0" destOrd="0" presId="urn:microsoft.com/office/officeart/2008/layout/VerticalCurvedList"/>
    <dgm:cxn modelId="{8EEC6C2A-3BBA-4338-B502-2F530D9C613A}" srcId="{012A0C5D-7D1A-4467-B620-F18583E79608}" destId="{520AE881-1677-46D7-8CBE-57C7440C1AFB}" srcOrd="1" destOrd="0" parTransId="{3609BD79-3DD7-43BD-BEC9-6AE253DC58DF}" sibTransId="{12A4A42C-0F84-4ADD-9448-4B3D18BB9D42}"/>
    <dgm:cxn modelId="{06225FD3-1DFF-430D-A054-17C1FD0BC7BC}" srcId="{012A0C5D-7D1A-4467-B620-F18583E79608}" destId="{42047484-19A9-48F6-A69A-97689F1533F6}" srcOrd="0" destOrd="0" parTransId="{21C1F219-B670-4AE8-A669-504798D0D1C5}" sibTransId="{35081E04-D32F-4F64-990F-3F7580AFC5F6}"/>
    <dgm:cxn modelId="{102E7319-B23B-413C-8ADA-AA498C33275F}" type="presOf" srcId="{42047484-19A9-48F6-A69A-97689F1533F6}" destId="{B8DFE261-F09F-4B42-8DE3-C3DDB74C4ACD}" srcOrd="0" destOrd="0" presId="urn:microsoft.com/office/officeart/2008/layout/VerticalCurvedList"/>
    <dgm:cxn modelId="{26395C73-CB6F-441A-BE98-C521A5FC6618}" type="presOf" srcId="{4054A7D3-1E2B-498B-B803-38D82790FA0B}" destId="{3736BDF2-EE2F-442C-9BAB-D7B318A9B7A6}" srcOrd="0" destOrd="0" presId="urn:microsoft.com/office/officeart/2008/layout/VerticalCurvedList"/>
    <dgm:cxn modelId="{3DA04BA3-9702-4504-9478-E91C9E061A50}" type="presOf" srcId="{520AE881-1677-46D7-8CBE-57C7440C1AFB}" destId="{DF698702-1AD3-486B-A636-FB4E7890EB56}" srcOrd="0" destOrd="0" presId="urn:microsoft.com/office/officeart/2008/layout/VerticalCurvedList"/>
    <dgm:cxn modelId="{2D1FB681-3F10-49AC-A1B2-7741B7F45D69}" type="presParOf" srcId="{0DE79210-929A-49FC-A6C0-FB9225C1831A}" destId="{2358339F-3AB2-4796-A4DC-8D79F155549A}" srcOrd="0" destOrd="0" presId="urn:microsoft.com/office/officeart/2008/layout/VerticalCurvedList"/>
    <dgm:cxn modelId="{D135FDDF-0D7F-47EB-BBFB-74D1C6D414E4}" type="presParOf" srcId="{2358339F-3AB2-4796-A4DC-8D79F155549A}" destId="{C326ACFE-2315-4B4E-8083-08A719076B5F}" srcOrd="0" destOrd="0" presId="urn:microsoft.com/office/officeart/2008/layout/VerticalCurvedList"/>
    <dgm:cxn modelId="{63DDEBCC-0EA8-4BD4-AAB2-51803A3BC585}" type="presParOf" srcId="{C326ACFE-2315-4B4E-8083-08A719076B5F}" destId="{EB3813F1-9CFA-4456-BD66-8FB6CF7E7539}" srcOrd="0" destOrd="0" presId="urn:microsoft.com/office/officeart/2008/layout/VerticalCurvedList"/>
    <dgm:cxn modelId="{30D6A472-84F2-4A5F-833D-F8DD19695A2F}" type="presParOf" srcId="{C326ACFE-2315-4B4E-8083-08A719076B5F}" destId="{EE6B5E11-D08F-45B4-961E-56F0987F8C0F}" srcOrd="1" destOrd="0" presId="urn:microsoft.com/office/officeart/2008/layout/VerticalCurvedList"/>
    <dgm:cxn modelId="{F4F199E4-547C-45B2-9382-DD8C6CD18BB4}" type="presParOf" srcId="{C326ACFE-2315-4B4E-8083-08A719076B5F}" destId="{FC16D920-70CA-4EFD-A3AC-F43584F0D4B7}" srcOrd="2" destOrd="0" presId="urn:microsoft.com/office/officeart/2008/layout/VerticalCurvedList"/>
    <dgm:cxn modelId="{93F3BA91-53A7-4E62-9019-86B32745F143}" type="presParOf" srcId="{C326ACFE-2315-4B4E-8083-08A719076B5F}" destId="{4486F993-BDC8-4505-8595-573EEE5BBF79}" srcOrd="3" destOrd="0" presId="urn:microsoft.com/office/officeart/2008/layout/VerticalCurvedList"/>
    <dgm:cxn modelId="{5112D02D-D00D-4B68-90CD-38E0EEF360AF}" type="presParOf" srcId="{2358339F-3AB2-4796-A4DC-8D79F155549A}" destId="{B8DFE261-F09F-4B42-8DE3-C3DDB74C4ACD}" srcOrd="1" destOrd="0" presId="urn:microsoft.com/office/officeart/2008/layout/VerticalCurvedList"/>
    <dgm:cxn modelId="{344C3B48-174F-4C31-AEAB-5805F4B13E12}" type="presParOf" srcId="{2358339F-3AB2-4796-A4DC-8D79F155549A}" destId="{2B51D134-ADE1-40F1-9251-C117CD9B3AB1}" srcOrd="2" destOrd="0" presId="urn:microsoft.com/office/officeart/2008/layout/VerticalCurvedList"/>
    <dgm:cxn modelId="{80280CEE-CC6F-4237-8EC2-B7DDDE2D7D4A}" type="presParOf" srcId="{2B51D134-ADE1-40F1-9251-C117CD9B3AB1}" destId="{0A2554FE-26AD-4A3A-8012-C6243AD28946}" srcOrd="0" destOrd="0" presId="urn:microsoft.com/office/officeart/2008/layout/VerticalCurvedList"/>
    <dgm:cxn modelId="{BBC74673-D391-40B7-981C-06A317C1C102}" type="presParOf" srcId="{2358339F-3AB2-4796-A4DC-8D79F155549A}" destId="{DF698702-1AD3-486B-A636-FB4E7890EB56}" srcOrd="3" destOrd="0" presId="urn:microsoft.com/office/officeart/2008/layout/VerticalCurvedList"/>
    <dgm:cxn modelId="{47ADEA88-F43A-4874-B5BC-587CD2721444}" type="presParOf" srcId="{2358339F-3AB2-4796-A4DC-8D79F155549A}" destId="{04F40488-4268-42B6-9C9A-45FE9CBE6677}" srcOrd="4" destOrd="0" presId="urn:microsoft.com/office/officeart/2008/layout/VerticalCurvedList"/>
    <dgm:cxn modelId="{A755C4D1-DCE2-4A50-8ADC-BE02DE17FD42}" type="presParOf" srcId="{04F40488-4268-42B6-9C9A-45FE9CBE6677}" destId="{B8CA11FC-7DAE-48E7-BD99-04A1A321D5B7}" srcOrd="0" destOrd="0" presId="urn:microsoft.com/office/officeart/2008/layout/VerticalCurvedList"/>
    <dgm:cxn modelId="{96D3C8F9-9337-458B-AFAC-382129CA874D}" type="presParOf" srcId="{2358339F-3AB2-4796-A4DC-8D79F155549A}" destId="{3736BDF2-EE2F-442C-9BAB-D7B318A9B7A6}" srcOrd="5" destOrd="0" presId="urn:microsoft.com/office/officeart/2008/layout/VerticalCurvedList"/>
    <dgm:cxn modelId="{B31623C7-DEE4-4C04-BA31-255A2751E6D2}" type="presParOf" srcId="{2358339F-3AB2-4796-A4DC-8D79F155549A}" destId="{C50FB433-3DF7-4DE7-AFDF-0D6E09F47D5C}" srcOrd="6" destOrd="0" presId="urn:microsoft.com/office/officeart/2008/layout/VerticalCurvedList"/>
    <dgm:cxn modelId="{A854C6D8-8454-42D0-859E-AA6BAB1AC3A0}" type="presParOf" srcId="{C50FB433-3DF7-4DE7-AFDF-0D6E09F47D5C}" destId="{715E5197-A178-40CF-B559-CBCA5793E9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CDA9CF-1012-4B3F-B0E2-44B4349E62D8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601CB6C4-FECF-43DA-9F24-03AF26AC0E0B}">
      <dgm:prSet phldrT="[文本]"/>
      <dgm:spPr/>
      <dgm:t>
        <a:bodyPr/>
        <a:lstStyle/>
        <a:p>
          <a:pPr>
            <a:buFont typeface="Wingdings" panose="05000000000000000000" pitchFamily="2" charset="2"/>
            <a:buChar char="l"/>
          </a:pPr>
          <a:r>
            <a:rPr lang="zh-CN" altLang="en-US" b="1" dirty="0">
              <a:cs typeface="+mn-ea"/>
              <a:sym typeface="+mn-lt"/>
            </a:rPr>
            <a:t>散存储器模型，对执行顺序不做要求</a:t>
          </a:r>
          <a:endParaRPr lang="zh-CN" altLang="en-US" dirty="0"/>
        </a:p>
      </dgm:t>
    </dgm:pt>
    <dgm:pt modelId="{626BFB62-B082-4845-9CB9-E6D675927082}" type="parTrans" cxnId="{B22E93C6-00D9-46EF-9BC6-0ACC50CE2D04}">
      <dgm:prSet/>
      <dgm:spPr/>
      <dgm:t>
        <a:bodyPr/>
        <a:lstStyle/>
        <a:p>
          <a:endParaRPr lang="zh-CN" altLang="en-US"/>
        </a:p>
      </dgm:t>
    </dgm:pt>
    <dgm:pt modelId="{70B4EE8D-EFB3-4C44-8158-F2572B8F6BFC}" type="sibTrans" cxnId="{B22E93C6-00D9-46EF-9BC6-0ACC50CE2D04}">
      <dgm:prSet/>
      <dgm:spPr/>
      <dgm:t>
        <a:bodyPr/>
        <a:lstStyle/>
        <a:p>
          <a:endParaRPr lang="zh-CN" altLang="en-US"/>
        </a:p>
      </dgm:t>
    </dgm:pt>
    <dgm:pt modelId="{0FDEB26D-2FF5-4AD9-B585-E1176E442BC7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11C36A65-DF66-4E88-B858-BD53983AA5B5}" type="parTrans" cxnId="{9F376EE9-9C52-43D7-8D4E-DF82B17F36A4}">
      <dgm:prSet/>
      <dgm:spPr/>
      <dgm:t>
        <a:bodyPr/>
        <a:lstStyle/>
        <a:p>
          <a:endParaRPr lang="zh-CN" altLang="en-US"/>
        </a:p>
      </dgm:t>
    </dgm:pt>
    <dgm:pt modelId="{2A79E880-0E70-4D4F-96E2-40870B50768E}" type="sibTrans" cxnId="{9F376EE9-9C52-43D7-8D4E-DF82B17F36A4}">
      <dgm:prSet/>
      <dgm:spPr/>
      <dgm:t>
        <a:bodyPr/>
        <a:lstStyle/>
        <a:p>
          <a:endParaRPr lang="zh-CN" altLang="en-US"/>
        </a:p>
      </dgm:t>
    </dgm:pt>
    <dgm:pt modelId="{58E2A47D-2A05-496D-9E60-24AFC1D9F01C}">
      <dgm:prSet phldrT="[文本]"/>
      <dgm:spPr/>
      <dgm:t>
        <a:bodyPr/>
        <a:lstStyle/>
        <a:p>
          <a:pPr>
            <a:buFont typeface="Wingdings" panose="05000000000000000000" pitchFamily="2" charset="2"/>
            <a:buChar char="l"/>
          </a:pPr>
          <a:r>
            <a:rPr lang="zh-CN" altLang="en-US" b="1" dirty="0">
              <a:cs typeface="+mn-ea"/>
              <a:sym typeface="+mn-lt"/>
            </a:rPr>
            <a:t>存储器屏障指令</a:t>
          </a:r>
          <a:endParaRPr lang="zh-CN" altLang="en-US" dirty="0"/>
        </a:p>
      </dgm:t>
    </dgm:pt>
    <dgm:pt modelId="{53064F11-F462-4769-B8EA-EA7F5494B8AA}" type="parTrans" cxnId="{8F77259A-4204-4D33-A7CC-EE4EF55A5B61}">
      <dgm:prSet/>
      <dgm:spPr/>
      <dgm:t>
        <a:bodyPr/>
        <a:lstStyle/>
        <a:p>
          <a:endParaRPr lang="zh-CN" altLang="en-US"/>
        </a:p>
      </dgm:t>
    </dgm:pt>
    <dgm:pt modelId="{E484E9FE-F223-4BB7-8652-F93220572D8A}" type="sibTrans" cxnId="{8F77259A-4204-4D33-A7CC-EE4EF55A5B61}">
      <dgm:prSet/>
      <dgm:spPr/>
      <dgm:t>
        <a:bodyPr/>
        <a:lstStyle/>
        <a:p>
          <a:endParaRPr lang="zh-CN" altLang="en-US"/>
        </a:p>
      </dgm:t>
    </dgm:pt>
    <dgm:pt modelId="{B88ECB7C-86C8-4992-A9E5-B2A0C8415584}">
      <dgm:prSet phldrT="[文本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altLang="zh-CN" dirty="0">
              <a:cs typeface="+mn-ea"/>
              <a:sym typeface="+mn-lt"/>
            </a:rPr>
            <a:t>		</a:t>
          </a:r>
          <a:r>
            <a:rPr lang="zh-CN" altLang="en-US" dirty="0">
              <a:cs typeface="+mn-ea"/>
              <a:sym typeface="+mn-lt"/>
            </a:rPr>
            <a:t>“在</a:t>
          </a:r>
          <a:r>
            <a:rPr lang="en-US" altLang="zh-CN" dirty="0">
              <a:cs typeface="+mn-ea"/>
              <a:sym typeface="+mn-lt"/>
            </a:rPr>
            <a:t>Fence</a:t>
          </a:r>
          <a:r>
            <a:rPr lang="zh-CN" altLang="en-US" dirty="0">
              <a:cs typeface="+mn-ea"/>
              <a:sym typeface="+mn-lt"/>
            </a:rPr>
            <a:t>指令之前指令的访存结果”必须比“在</a:t>
          </a:r>
          <a:r>
            <a:rPr lang="en-US" altLang="zh-CN" dirty="0">
              <a:cs typeface="+mn-ea"/>
              <a:sym typeface="+mn-lt"/>
            </a:rPr>
            <a:t>Fence</a:t>
          </a:r>
          <a:r>
            <a:rPr lang="zh-CN" altLang="en-US" dirty="0">
              <a:cs typeface="+mn-ea"/>
              <a:sym typeface="+mn-lt"/>
            </a:rPr>
            <a:t>指令之后指令的访存结果”先被观测到。</a:t>
          </a:r>
          <a:endParaRPr lang="zh-CN" altLang="en-US" dirty="0"/>
        </a:p>
      </dgm:t>
    </dgm:pt>
    <dgm:pt modelId="{5E342BC0-9428-4EDD-8523-912C6C7EE929}" type="parTrans" cxnId="{6A811280-BDC2-4D12-A1B7-84FC8857BF5E}">
      <dgm:prSet/>
      <dgm:spPr/>
      <dgm:t>
        <a:bodyPr/>
        <a:lstStyle/>
        <a:p>
          <a:endParaRPr lang="zh-CN" altLang="en-US"/>
        </a:p>
      </dgm:t>
    </dgm:pt>
    <dgm:pt modelId="{DF15197C-049E-4B91-BC8D-518686834D0A}" type="sibTrans" cxnId="{6A811280-BDC2-4D12-A1B7-84FC8857BF5E}">
      <dgm:prSet/>
      <dgm:spPr/>
      <dgm:t>
        <a:bodyPr/>
        <a:lstStyle/>
        <a:p>
          <a:endParaRPr lang="zh-CN" altLang="en-US"/>
        </a:p>
      </dgm:t>
    </dgm:pt>
    <dgm:pt modelId="{68C9368A-E6CB-4B03-A64F-A831CADC02AD}">
      <dgm:prSet phldrT="[文本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altLang="zh-CN" dirty="0">
              <a:cs typeface="+mn-ea"/>
              <a:sym typeface="+mn-lt"/>
            </a:rPr>
            <a:t>		</a:t>
          </a:r>
          <a:r>
            <a:rPr lang="zh-CN" altLang="en-US" dirty="0">
              <a:cs typeface="+mn-ea"/>
              <a:sym typeface="+mn-lt"/>
            </a:rPr>
            <a:t>“在</a:t>
          </a:r>
          <a:r>
            <a:rPr lang="en-US" altLang="zh-CN" dirty="0" err="1">
              <a:cs typeface="+mn-ea"/>
              <a:sym typeface="+mn-lt"/>
            </a:rPr>
            <a:t>Fence.I</a:t>
          </a:r>
          <a:r>
            <a:rPr lang="zh-CN" altLang="en-US" dirty="0">
              <a:cs typeface="+mn-ea"/>
              <a:sym typeface="+mn-lt"/>
            </a:rPr>
            <a:t>指令之后指令的操作”必须能观测到“在</a:t>
          </a:r>
          <a:r>
            <a:rPr lang="en-US" altLang="zh-CN" dirty="0" err="1">
              <a:cs typeface="+mn-ea"/>
              <a:sym typeface="+mn-lt"/>
            </a:rPr>
            <a:t>Fence.I</a:t>
          </a:r>
          <a:r>
            <a:rPr lang="zh-CN" altLang="en-US" dirty="0">
              <a:cs typeface="+mn-ea"/>
              <a:sym typeface="+mn-lt"/>
            </a:rPr>
            <a:t>指令之前指令的操作”。</a:t>
          </a:r>
          <a:endParaRPr lang="zh-CN" altLang="en-US" dirty="0"/>
        </a:p>
      </dgm:t>
    </dgm:pt>
    <dgm:pt modelId="{45CB1AD9-1F2E-4499-9F76-88F58E826426}" type="parTrans" cxnId="{CDB54B60-762E-41C5-965A-DCC2D0D1D8C2}">
      <dgm:prSet/>
      <dgm:spPr/>
      <dgm:t>
        <a:bodyPr/>
        <a:lstStyle/>
        <a:p>
          <a:endParaRPr lang="zh-CN" altLang="en-US"/>
        </a:p>
      </dgm:t>
    </dgm:pt>
    <dgm:pt modelId="{82FAB8A6-D4D7-4491-9A2F-6FD0B3F4A34D}" type="sibTrans" cxnId="{CDB54B60-762E-41C5-965A-DCC2D0D1D8C2}">
      <dgm:prSet/>
      <dgm:spPr/>
      <dgm:t>
        <a:bodyPr/>
        <a:lstStyle/>
        <a:p>
          <a:endParaRPr lang="zh-CN" altLang="en-US"/>
        </a:p>
      </dgm:t>
    </dgm:pt>
    <dgm:pt modelId="{FEBBED9F-3963-4B68-98DE-01FB40D04B59}" type="pres">
      <dgm:prSet presAssocID="{42CDA9CF-1012-4B3F-B0E2-44B4349E62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9901BE8-5B73-4EEA-9A4E-05CDC2C07379}" type="pres">
      <dgm:prSet presAssocID="{601CB6C4-FECF-43DA-9F24-03AF26AC0E0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3270E5-4FA1-4529-931D-117913C0BDEE}" type="pres">
      <dgm:prSet presAssocID="{601CB6C4-FECF-43DA-9F24-03AF26AC0E0B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5C455AB-D8F5-41BB-B62D-90478911C837}" type="pres">
      <dgm:prSet presAssocID="{58E2A47D-2A05-496D-9E60-24AFC1D9F01C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86039BE-62B2-4CAF-B4E0-615EEAFE139F}" type="pres">
      <dgm:prSet presAssocID="{58E2A47D-2A05-496D-9E60-24AFC1D9F01C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46555BC-D422-4D34-8CA9-9BAD4693060F}" type="presOf" srcId="{B88ECB7C-86C8-4992-A9E5-B2A0C8415584}" destId="{586039BE-62B2-4CAF-B4E0-615EEAFE139F}" srcOrd="0" destOrd="0" presId="urn:microsoft.com/office/officeart/2005/8/layout/vList2"/>
    <dgm:cxn modelId="{BF55341E-67D8-4456-A47D-F2A4CC8AA211}" type="presOf" srcId="{68C9368A-E6CB-4B03-A64F-A831CADC02AD}" destId="{586039BE-62B2-4CAF-B4E0-615EEAFE139F}" srcOrd="0" destOrd="1" presId="urn:microsoft.com/office/officeart/2005/8/layout/vList2"/>
    <dgm:cxn modelId="{9F376EE9-9C52-43D7-8D4E-DF82B17F36A4}" srcId="{601CB6C4-FECF-43DA-9F24-03AF26AC0E0B}" destId="{0FDEB26D-2FF5-4AD9-B585-E1176E442BC7}" srcOrd="0" destOrd="0" parTransId="{11C36A65-DF66-4E88-B858-BD53983AA5B5}" sibTransId="{2A79E880-0E70-4D4F-96E2-40870B50768E}"/>
    <dgm:cxn modelId="{1296B85B-BDD1-4C38-9AC9-32D3C154EA7A}" type="presOf" srcId="{0FDEB26D-2FF5-4AD9-B585-E1176E442BC7}" destId="{263270E5-4FA1-4529-931D-117913C0BDEE}" srcOrd="0" destOrd="0" presId="urn:microsoft.com/office/officeart/2005/8/layout/vList2"/>
    <dgm:cxn modelId="{8F77259A-4204-4D33-A7CC-EE4EF55A5B61}" srcId="{42CDA9CF-1012-4B3F-B0E2-44B4349E62D8}" destId="{58E2A47D-2A05-496D-9E60-24AFC1D9F01C}" srcOrd="1" destOrd="0" parTransId="{53064F11-F462-4769-B8EA-EA7F5494B8AA}" sibTransId="{E484E9FE-F223-4BB7-8652-F93220572D8A}"/>
    <dgm:cxn modelId="{694C0B5E-E444-44A0-986E-27DAC27D3A2B}" type="presOf" srcId="{601CB6C4-FECF-43DA-9F24-03AF26AC0E0B}" destId="{79901BE8-5B73-4EEA-9A4E-05CDC2C07379}" srcOrd="0" destOrd="0" presId="urn:microsoft.com/office/officeart/2005/8/layout/vList2"/>
    <dgm:cxn modelId="{B221BA23-B331-4A00-9781-AEF67B3C4A34}" type="presOf" srcId="{42CDA9CF-1012-4B3F-B0E2-44B4349E62D8}" destId="{FEBBED9F-3963-4B68-98DE-01FB40D04B59}" srcOrd="0" destOrd="0" presId="urn:microsoft.com/office/officeart/2005/8/layout/vList2"/>
    <dgm:cxn modelId="{6A811280-BDC2-4D12-A1B7-84FC8857BF5E}" srcId="{58E2A47D-2A05-496D-9E60-24AFC1D9F01C}" destId="{B88ECB7C-86C8-4992-A9E5-B2A0C8415584}" srcOrd="0" destOrd="0" parTransId="{5E342BC0-9428-4EDD-8523-912C6C7EE929}" sibTransId="{DF15197C-049E-4B91-BC8D-518686834D0A}"/>
    <dgm:cxn modelId="{CDB54B60-762E-41C5-965A-DCC2D0D1D8C2}" srcId="{B88ECB7C-86C8-4992-A9E5-B2A0C8415584}" destId="{68C9368A-E6CB-4B03-A64F-A831CADC02AD}" srcOrd="0" destOrd="0" parTransId="{45CB1AD9-1F2E-4499-9F76-88F58E826426}" sibTransId="{82FAB8A6-D4D7-4491-9A2F-6FD0B3F4A34D}"/>
    <dgm:cxn modelId="{343FB3D9-0FBA-43DF-A0E0-A04881328BCC}" type="presOf" srcId="{58E2A47D-2A05-496D-9E60-24AFC1D9F01C}" destId="{45C455AB-D8F5-41BB-B62D-90478911C837}" srcOrd="0" destOrd="0" presId="urn:microsoft.com/office/officeart/2005/8/layout/vList2"/>
    <dgm:cxn modelId="{B22E93C6-00D9-46EF-9BC6-0ACC50CE2D04}" srcId="{42CDA9CF-1012-4B3F-B0E2-44B4349E62D8}" destId="{601CB6C4-FECF-43DA-9F24-03AF26AC0E0B}" srcOrd="0" destOrd="0" parTransId="{626BFB62-B082-4845-9CB9-E6D675927082}" sibTransId="{70B4EE8D-EFB3-4C44-8158-F2572B8F6BFC}"/>
    <dgm:cxn modelId="{BB33A905-ADB0-48AD-B2B9-3241A1B55CCC}" type="presParOf" srcId="{FEBBED9F-3963-4B68-98DE-01FB40D04B59}" destId="{79901BE8-5B73-4EEA-9A4E-05CDC2C07379}" srcOrd="0" destOrd="0" presId="urn:microsoft.com/office/officeart/2005/8/layout/vList2"/>
    <dgm:cxn modelId="{C6B5977C-BB6E-4302-91C5-D3FB96CFCE10}" type="presParOf" srcId="{FEBBED9F-3963-4B68-98DE-01FB40D04B59}" destId="{263270E5-4FA1-4529-931D-117913C0BDEE}" srcOrd="1" destOrd="0" presId="urn:microsoft.com/office/officeart/2005/8/layout/vList2"/>
    <dgm:cxn modelId="{AABC7C20-A7A9-475F-9E79-AB6FE15734D3}" type="presParOf" srcId="{FEBBED9F-3963-4B68-98DE-01FB40D04B59}" destId="{45C455AB-D8F5-41BB-B62D-90478911C837}" srcOrd="2" destOrd="0" presId="urn:microsoft.com/office/officeart/2005/8/layout/vList2"/>
    <dgm:cxn modelId="{EF438483-76EB-452F-90FB-11603676D532}" type="presParOf" srcId="{FEBBED9F-3963-4B68-98DE-01FB40D04B59}" destId="{586039BE-62B2-4CAF-B4E0-615EEAFE139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D7958-09F9-45DC-B536-3C97AC61E0D3}">
      <dsp:nvSpPr>
        <dsp:cNvPr id="0" name=""/>
        <dsp:cNvSpPr/>
      </dsp:nvSpPr>
      <dsp:spPr>
        <a:xfrm>
          <a:off x="0" y="317446"/>
          <a:ext cx="50533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D0F82-9F38-4883-B813-052DE0810684}">
      <dsp:nvSpPr>
        <dsp:cNvPr id="0" name=""/>
        <dsp:cNvSpPr/>
      </dsp:nvSpPr>
      <dsp:spPr>
        <a:xfrm>
          <a:off x="252666" y="37006"/>
          <a:ext cx="3537331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703" tIns="0" rIns="133703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/>
            <a:buChar char=""/>
          </a:pPr>
          <a:r>
            <a:rPr lang="zh-CN" altLang="en-US" sz="1900" kern="1200" dirty="0">
              <a:cs typeface="+mn-ea"/>
              <a:sym typeface="+mn-lt"/>
            </a:rPr>
            <a:t>能够保证实时性</a:t>
          </a:r>
          <a:endParaRPr lang="zh-CN" altLang="en-US" sz="1900" kern="1200" dirty="0"/>
        </a:p>
      </dsp:txBody>
      <dsp:txXfrm>
        <a:off x="280046" y="64386"/>
        <a:ext cx="3482571" cy="506120"/>
      </dsp:txXfrm>
    </dsp:sp>
    <dsp:sp modelId="{375217CC-C8E2-4F7B-8BA3-AB7F5BC622D0}">
      <dsp:nvSpPr>
        <dsp:cNvPr id="0" name=""/>
        <dsp:cNvSpPr/>
      </dsp:nvSpPr>
      <dsp:spPr>
        <a:xfrm>
          <a:off x="0" y="1179286"/>
          <a:ext cx="50533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944AC-DBF9-4DE6-9EB7-1752824B04CD}">
      <dsp:nvSpPr>
        <dsp:cNvPr id="0" name=""/>
        <dsp:cNvSpPr/>
      </dsp:nvSpPr>
      <dsp:spPr>
        <a:xfrm>
          <a:off x="252666" y="898846"/>
          <a:ext cx="3537331" cy="5608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703" tIns="0" rIns="133703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/>
            <a:buChar char=""/>
          </a:pPr>
          <a:r>
            <a:rPr lang="zh-CN" altLang="en-US" sz="1900" kern="1200" dirty="0">
              <a:cs typeface="+mn-ea"/>
              <a:sym typeface="+mn-lt"/>
            </a:rPr>
            <a:t>能够满足软件需求</a:t>
          </a:r>
          <a:endParaRPr lang="zh-CN" altLang="en-US" sz="1900" kern="1200" dirty="0"/>
        </a:p>
      </dsp:txBody>
      <dsp:txXfrm>
        <a:off x="280046" y="926226"/>
        <a:ext cx="3482571" cy="506120"/>
      </dsp:txXfrm>
    </dsp:sp>
    <dsp:sp modelId="{A8C418BA-3381-4FBA-B320-F767C02C092E}">
      <dsp:nvSpPr>
        <dsp:cNvPr id="0" name=""/>
        <dsp:cNvSpPr/>
      </dsp:nvSpPr>
      <dsp:spPr>
        <a:xfrm>
          <a:off x="0" y="2046931"/>
          <a:ext cx="505333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F080E6-30A2-49C7-A80D-AC8ED6D3892B}">
      <dsp:nvSpPr>
        <dsp:cNvPr id="0" name=""/>
        <dsp:cNvSpPr/>
      </dsp:nvSpPr>
      <dsp:spPr>
        <a:xfrm>
          <a:off x="252666" y="1760686"/>
          <a:ext cx="3537331" cy="5608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703" tIns="0" rIns="133703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/>
            <a:buChar char=""/>
          </a:pPr>
          <a:r>
            <a:rPr lang="zh-CN" altLang="en-US" sz="1900" kern="1200" dirty="0">
              <a:cs typeface="+mn-ea"/>
              <a:sym typeface="+mn-lt"/>
            </a:rPr>
            <a:t>面积功耗小</a:t>
          </a:r>
          <a:endParaRPr lang="zh-CN" altLang="en-US" sz="1900" kern="1200" dirty="0"/>
        </a:p>
      </dsp:txBody>
      <dsp:txXfrm>
        <a:off x="280046" y="1788066"/>
        <a:ext cx="3482571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B5E11-D08F-45B4-961E-56F0987F8C0F}">
      <dsp:nvSpPr>
        <dsp:cNvPr id="0" name=""/>
        <dsp:cNvSpPr/>
      </dsp:nvSpPr>
      <dsp:spPr>
        <a:xfrm>
          <a:off x="-4958338" y="-759746"/>
          <a:ext cx="5905225" cy="5905225"/>
        </a:xfrm>
        <a:prstGeom prst="blockArc">
          <a:avLst>
            <a:gd name="adj1" fmla="val 18900000"/>
            <a:gd name="adj2" fmla="val 2700000"/>
            <a:gd name="adj3" fmla="val 366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DFE261-F09F-4B42-8DE3-C3DDB74C4ACD}">
      <dsp:nvSpPr>
        <dsp:cNvPr id="0" name=""/>
        <dsp:cNvSpPr/>
      </dsp:nvSpPr>
      <dsp:spPr>
        <a:xfrm>
          <a:off x="608994" y="438573"/>
          <a:ext cx="5833137" cy="87714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6235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Char char="l"/>
          </a:pPr>
          <a:r>
            <a:rPr lang="zh-CN" altLang="en-US" sz="1900" kern="1200" dirty="0">
              <a:cs typeface="+mn-ea"/>
              <a:sym typeface="+mn-lt"/>
            </a:rPr>
            <a:t>除了</a:t>
          </a:r>
          <a:r>
            <a:rPr lang="en-US" altLang="zh-CN" sz="1900" kern="1200" dirty="0">
              <a:cs typeface="+mn-ea"/>
              <a:sym typeface="+mn-lt"/>
            </a:rPr>
            <a:t>load</a:t>
          </a:r>
          <a:r>
            <a:rPr lang="zh-CN" altLang="en-US" sz="1900" kern="1200" dirty="0">
              <a:cs typeface="+mn-ea"/>
              <a:sym typeface="+mn-lt"/>
            </a:rPr>
            <a:t>和</a:t>
          </a:r>
          <a:r>
            <a:rPr lang="en-US" altLang="zh-CN" sz="1900" kern="1200" dirty="0">
              <a:cs typeface="+mn-ea"/>
              <a:sym typeface="+mn-lt"/>
            </a:rPr>
            <a:t>store</a:t>
          </a:r>
          <a:r>
            <a:rPr lang="zh-CN" altLang="en-US" sz="1900" kern="1200" dirty="0">
              <a:cs typeface="+mn-ea"/>
              <a:sym typeface="+mn-lt"/>
            </a:rPr>
            <a:t>指令，其他指令都无法访存</a:t>
          </a:r>
          <a:endParaRPr lang="zh-CN" altLang="en-US" sz="1900" kern="1200" dirty="0"/>
        </a:p>
      </dsp:txBody>
      <dsp:txXfrm>
        <a:off x="608994" y="438573"/>
        <a:ext cx="5833137" cy="877146"/>
      </dsp:txXfrm>
    </dsp:sp>
    <dsp:sp modelId="{0A2554FE-26AD-4A3A-8012-C6243AD28946}">
      <dsp:nvSpPr>
        <dsp:cNvPr id="0" name=""/>
        <dsp:cNvSpPr/>
      </dsp:nvSpPr>
      <dsp:spPr>
        <a:xfrm>
          <a:off x="60778" y="328929"/>
          <a:ext cx="1096433" cy="10964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F698702-1AD3-486B-A636-FB4E7890EB56}">
      <dsp:nvSpPr>
        <dsp:cNvPr id="0" name=""/>
        <dsp:cNvSpPr/>
      </dsp:nvSpPr>
      <dsp:spPr>
        <a:xfrm>
          <a:off x="927837" y="1754293"/>
          <a:ext cx="5514294" cy="877146"/>
        </a:xfrm>
        <a:prstGeom prst="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6235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Char char="l"/>
          </a:pPr>
          <a:r>
            <a:rPr lang="en-US" altLang="zh-CN" sz="1900" kern="1200" dirty="0">
              <a:cs typeface="+mn-ea"/>
              <a:sym typeface="+mn-lt"/>
            </a:rPr>
            <a:t>7</a:t>
          </a:r>
          <a:r>
            <a:rPr lang="zh-CN" altLang="en-US" sz="1900" kern="1200" dirty="0">
              <a:cs typeface="+mn-ea"/>
              <a:sym typeface="+mn-lt"/>
            </a:rPr>
            <a:t>条访存指令</a:t>
          </a:r>
          <a:endParaRPr lang="en-US" altLang="zh-CN" sz="1900" kern="1200" dirty="0">
            <a:cs typeface="+mn-ea"/>
            <a:sym typeface="+mn-lt"/>
          </a:endParaRPr>
        </a:p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Char char="l"/>
          </a:pPr>
          <a:r>
            <a:rPr lang="en-US" altLang="zh-CN" sz="1900" kern="1200" dirty="0">
              <a:cs typeface="+mn-ea"/>
              <a:sym typeface="+mn-lt"/>
            </a:rPr>
            <a:t>LH,LHU,LB,LBU,LW,SB,SH,SW</a:t>
          </a:r>
          <a:endParaRPr lang="zh-CN" altLang="en-US" sz="1900" kern="1200" dirty="0"/>
        </a:p>
      </dsp:txBody>
      <dsp:txXfrm>
        <a:off x="927837" y="1754293"/>
        <a:ext cx="5514294" cy="877146"/>
      </dsp:txXfrm>
    </dsp:sp>
    <dsp:sp modelId="{B8CA11FC-7DAE-48E7-BD99-04A1A321D5B7}">
      <dsp:nvSpPr>
        <dsp:cNvPr id="0" name=""/>
        <dsp:cNvSpPr/>
      </dsp:nvSpPr>
      <dsp:spPr>
        <a:xfrm>
          <a:off x="379621" y="1644649"/>
          <a:ext cx="1096433" cy="10964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736BDF2-EE2F-442C-9BAB-D7B318A9B7A6}">
      <dsp:nvSpPr>
        <dsp:cNvPr id="0" name=""/>
        <dsp:cNvSpPr/>
      </dsp:nvSpPr>
      <dsp:spPr>
        <a:xfrm>
          <a:off x="608994" y="3070013"/>
          <a:ext cx="5833137" cy="877146"/>
        </a:xfrm>
        <a:prstGeom prst="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6235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Char char="l"/>
          </a:pPr>
          <a:r>
            <a:rPr lang="zh-CN" altLang="en-US" sz="1900" kern="1200" dirty="0">
              <a:cs typeface="+mn-ea"/>
              <a:sym typeface="+mn-lt"/>
            </a:rPr>
            <a:t>推荐使用地址对齐的操作</a:t>
          </a:r>
          <a:endParaRPr lang="zh-CN" altLang="en-US" sz="1900" kern="1200" dirty="0"/>
        </a:p>
      </dsp:txBody>
      <dsp:txXfrm>
        <a:off x="608994" y="3070013"/>
        <a:ext cx="5833137" cy="877146"/>
      </dsp:txXfrm>
    </dsp:sp>
    <dsp:sp modelId="{715E5197-A178-40CF-B559-CBCA5793E978}">
      <dsp:nvSpPr>
        <dsp:cNvPr id="0" name=""/>
        <dsp:cNvSpPr/>
      </dsp:nvSpPr>
      <dsp:spPr>
        <a:xfrm>
          <a:off x="60778" y="2960369"/>
          <a:ext cx="1096433" cy="109643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01BE8-5B73-4EEA-9A4E-05CDC2C07379}">
      <dsp:nvSpPr>
        <dsp:cNvPr id="0" name=""/>
        <dsp:cNvSpPr/>
      </dsp:nvSpPr>
      <dsp:spPr>
        <a:xfrm>
          <a:off x="0" y="19842"/>
          <a:ext cx="7255510" cy="909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Char char="l"/>
          </a:pPr>
          <a:r>
            <a:rPr lang="zh-CN" altLang="en-US" sz="2900" b="1" kern="1200" dirty="0">
              <a:cs typeface="+mn-ea"/>
              <a:sym typeface="+mn-lt"/>
            </a:rPr>
            <a:t>散存储器模型，对执行顺序不做要求</a:t>
          </a:r>
          <a:endParaRPr lang="zh-CN" altLang="en-US" sz="2900" kern="1200" dirty="0"/>
        </a:p>
      </dsp:txBody>
      <dsp:txXfrm>
        <a:off x="44410" y="64252"/>
        <a:ext cx="7166690" cy="820928"/>
      </dsp:txXfrm>
    </dsp:sp>
    <dsp:sp modelId="{263270E5-4FA1-4529-931D-117913C0BDEE}">
      <dsp:nvSpPr>
        <dsp:cNvPr id="0" name=""/>
        <dsp:cNvSpPr/>
      </dsp:nvSpPr>
      <dsp:spPr>
        <a:xfrm>
          <a:off x="0" y="929591"/>
          <a:ext cx="725551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036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zh-CN" sz="2300" kern="1200" dirty="0"/>
            <a:t> </a:t>
          </a:r>
          <a:endParaRPr lang="zh-CN" altLang="en-US" sz="2300" kern="1200" dirty="0"/>
        </a:p>
      </dsp:txBody>
      <dsp:txXfrm>
        <a:off x="0" y="929591"/>
        <a:ext cx="7255510" cy="480240"/>
      </dsp:txXfrm>
    </dsp:sp>
    <dsp:sp modelId="{45C455AB-D8F5-41BB-B62D-90478911C837}">
      <dsp:nvSpPr>
        <dsp:cNvPr id="0" name=""/>
        <dsp:cNvSpPr/>
      </dsp:nvSpPr>
      <dsp:spPr>
        <a:xfrm>
          <a:off x="0" y="1409831"/>
          <a:ext cx="7255510" cy="909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Char char="l"/>
          </a:pPr>
          <a:r>
            <a:rPr lang="zh-CN" altLang="en-US" sz="2900" b="1" kern="1200" dirty="0">
              <a:cs typeface="+mn-ea"/>
              <a:sym typeface="+mn-lt"/>
            </a:rPr>
            <a:t>存储器屏障指令</a:t>
          </a:r>
          <a:endParaRPr lang="zh-CN" altLang="en-US" sz="2900" kern="1200" dirty="0"/>
        </a:p>
      </dsp:txBody>
      <dsp:txXfrm>
        <a:off x="44410" y="1454241"/>
        <a:ext cx="7166690" cy="820928"/>
      </dsp:txXfrm>
    </dsp:sp>
    <dsp:sp modelId="{586039BE-62B2-4CAF-B4E0-615EEAFE139F}">
      <dsp:nvSpPr>
        <dsp:cNvPr id="0" name=""/>
        <dsp:cNvSpPr/>
      </dsp:nvSpPr>
      <dsp:spPr>
        <a:xfrm>
          <a:off x="0" y="2319579"/>
          <a:ext cx="7255510" cy="246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036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••"/>
          </a:pPr>
          <a:r>
            <a:rPr lang="en-US" altLang="zh-CN" sz="2300" kern="1200" dirty="0">
              <a:cs typeface="+mn-ea"/>
              <a:sym typeface="+mn-lt"/>
            </a:rPr>
            <a:t>		</a:t>
          </a:r>
          <a:r>
            <a:rPr lang="zh-CN" altLang="en-US" sz="2300" kern="1200" dirty="0">
              <a:cs typeface="+mn-ea"/>
              <a:sym typeface="+mn-lt"/>
            </a:rPr>
            <a:t>“在</a:t>
          </a:r>
          <a:r>
            <a:rPr lang="en-US" altLang="zh-CN" sz="2300" kern="1200" dirty="0">
              <a:cs typeface="+mn-ea"/>
              <a:sym typeface="+mn-lt"/>
            </a:rPr>
            <a:t>Fence</a:t>
          </a:r>
          <a:r>
            <a:rPr lang="zh-CN" altLang="en-US" sz="2300" kern="1200" dirty="0">
              <a:cs typeface="+mn-ea"/>
              <a:sym typeface="+mn-lt"/>
            </a:rPr>
            <a:t>指令之前指令的访存结果”必须比“在</a:t>
          </a:r>
          <a:r>
            <a:rPr lang="en-US" altLang="zh-CN" sz="2300" kern="1200" dirty="0">
              <a:cs typeface="+mn-ea"/>
              <a:sym typeface="+mn-lt"/>
            </a:rPr>
            <a:t>Fence</a:t>
          </a:r>
          <a:r>
            <a:rPr lang="zh-CN" altLang="en-US" sz="2300" kern="1200" dirty="0">
              <a:cs typeface="+mn-ea"/>
              <a:sym typeface="+mn-lt"/>
            </a:rPr>
            <a:t>指令之后指令的访存结果”先被观测到。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••"/>
          </a:pPr>
          <a:r>
            <a:rPr lang="en-US" altLang="zh-CN" sz="2300" kern="1200" dirty="0">
              <a:cs typeface="+mn-ea"/>
              <a:sym typeface="+mn-lt"/>
            </a:rPr>
            <a:t>		</a:t>
          </a:r>
          <a:r>
            <a:rPr lang="zh-CN" altLang="en-US" sz="2300" kern="1200" dirty="0">
              <a:cs typeface="+mn-ea"/>
              <a:sym typeface="+mn-lt"/>
            </a:rPr>
            <a:t>“在</a:t>
          </a:r>
          <a:r>
            <a:rPr lang="en-US" altLang="zh-CN" sz="2300" kern="1200" dirty="0" err="1">
              <a:cs typeface="+mn-ea"/>
              <a:sym typeface="+mn-lt"/>
            </a:rPr>
            <a:t>Fence.I</a:t>
          </a:r>
          <a:r>
            <a:rPr lang="zh-CN" altLang="en-US" sz="2300" kern="1200" dirty="0">
              <a:cs typeface="+mn-ea"/>
              <a:sym typeface="+mn-lt"/>
            </a:rPr>
            <a:t>指令之后指令的操作”必须能观测到“在</a:t>
          </a:r>
          <a:r>
            <a:rPr lang="en-US" altLang="zh-CN" sz="2300" kern="1200" dirty="0" err="1">
              <a:cs typeface="+mn-ea"/>
              <a:sym typeface="+mn-lt"/>
            </a:rPr>
            <a:t>Fence.I</a:t>
          </a:r>
          <a:r>
            <a:rPr lang="zh-CN" altLang="en-US" sz="2300" kern="1200" dirty="0">
              <a:cs typeface="+mn-ea"/>
              <a:sym typeface="+mn-lt"/>
            </a:rPr>
            <a:t>指令之前指令的操作”。</a:t>
          </a:r>
          <a:endParaRPr lang="zh-CN" altLang="en-US" sz="2300" kern="1200" dirty="0"/>
        </a:p>
      </dsp:txBody>
      <dsp:txXfrm>
        <a:off x="0" y="2319579"/>
        <a:ext cx="7255510" cy="2461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98925" y="925830"/>
            <a:ext cx="3994150" cy="1365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35868" y="6356603"/>
            <a:ext cx="911351" cy="393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0124" y="144779"/>
            <a:ext cx="1546859" cy="626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20400" y="5545835"/>
            <a:ext cx="1095755" cy="10957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704576" y="5396484"/>
            <a:ext cx="1287779" cy="12877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35868" y="6356603"/>
            <a:ext cx="911351" cy="3931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345" y="4406900"/>
            <a:ext cx="11497310" cy="124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1175" y="2654300"/>
            <a:ext cx="6901180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log.csdn.net/weixin_41650348/article/details/10851509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73321" y="6439381"/>
            <a:ext cx="815639" cy="256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86601" y="2996584"/>
            <a:ext cx="5087604" cy="3334238"/>
          </a:xfrm>
          <a:custGeom>
            <a:avLst/>
            <a:gdLst/>
            <a:ahLst/>
            <a:cxnLst/>
            <a:rect l="l" t="t" r="r" b="b"/>
            <a:pathLst>
              <a:path w="7138670" h="2136775">
                <a:moveTo>
                  <a:pt x="0" y="0"/>
                </a:moveTo>
                <a:lnTo>
                  <a:pt x="7138415" y="0"/>
                </a:lnTo>
                <a:lnTo>
                  <a:pt x="7138415" y="2136648"/>
                </a:lnTo>
                <a:lnTo>
                  <a:pt x="0" y="2136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7099"/>
            </a:srgbClr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8993" y="3247439"/>
            <a:ext cx="1149731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9905" marR="5080" indent="-1313180" algn="r" eaLnBrk="1" fontAlgn="auto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4800" spc="100" dirty="0">
                <a:latin typeface="+mn-lt"/>
                <a:ea typeface="+mn-ea"/>
                <a:cs typeface="+mn-ea"/>
                <a:sym typeface="+mn-lt"/>
              </a:rPr>
              <a:t>第十一章</a:t>
            </a:r>
            <a:r>
              <a:rPr lang="en-US" altLang="zh-CN" sz="4800" spc="100" dirty="0"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sz="4800" spc="100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4800" spc="100" dirty="0">
                <a:latin typeface="+mn-lt"/>
                <a:ea typeface="+mn-ea"/>
                <a:cs typeface="+mn-ea"/>
                <a:sym typeface="+mn-lt"/>
              </a:rPr>
              <a:t>哈弗还是比亚迪</a:t>
            </a:r>
            <a:endParaRPr sz="4800" spc="-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9988" y="4842364"/>
            <a:ext cx="2502915" cy="11471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400" dirty="0">
                <a:solidFill>
                  <a:srgbClr val="FFFFFF"/>
                </a:solidFill>
                <a:cs typeface="+mn-ea"/>
                <a:sym typeface="+mn-lt"/>
              </a:rPr>
              <a:t>计算</a:t>
            </a:r>
            <a:r>
              <a:rPr lang="en-US" altLang="zh-CN" sz="2400" dirty="0">
                <a:solidFill>
                  <a:srgbClr val="FFFFFF"/>
                </a:solidFill>
                <a:cs typeface="+mn-ea"/>
                <a:sym typeface="+mn-lt"/>
              </a:rPr>
              <a:t>1701</a:t>
            </a:r>
            <a:r>
              <a:rPr lang="zh-CN" altLang="en-US" sz="2400" dirty="0">
                <a:solidFill>
                  <a:srgbClr val="FFFFFF"/>
                </a:solidFill>
                <a:cs typeface="+mn-ea"/>
                <a:sym typeface="+mn-lt"/>
              </a:rPr>
              <a:t> 迟慧璇 </a:t>
            </a:r>
            <a:endParaRPr lang="en-US" altLang="zh-CN" sz="2400" dirty="0">
              <a:solidFill>
                <a:srgbClr val="FFFFFF"/>
              </a:solidFill>
              <a:cs typeface="+mn-ea"/>
              <a:sym typeface="+mn-l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400" dirty="0">
                <a:solidFill>
                  <a:srgbClr val="FFFFFF"/>
                </a:solidFill>
                <a:cs typeface="+mn-ea"/>
                <a:sym typeface="+mn-lt"/>
              </a:rPr>
              <a:t>计算</a:t>
            </a:r>
            <a:r>
              <a:rPr lang="en-US" altLang="zh-CN" sz="2400" dirty="0">
                <a:solidFill>
                  <a:srgbClr val="FFFFFF"/>
                </a:solidFill>
                <a:cs typeface="+mn-ea"/>
                <a:sym typeface="+mn-lt"/>
              </a:rPr>
              <a:t>1701 </a:t>
            </a:r>
            <a:r>
              <a:rPr lang="zh-CN" altLang="en-US" sz="2400" dirty="0">
                <a:solidFill>
                  <a:srgbClr val="FFFFFF"/>
                </a:solidFill>
                <a:cs typeface="+mn-ea"/>
                <a:sym typeface="+mn-lt"/>
              </a:rPr>
              <a:t>叶海杰 </a:t>
            </a:r>
            <a:endParaRPr lang="en-US" altLang="zh-CN" sz="2400" dirty="0">
              <a:solidFill>
                <a:srgbClr val="FFFFFF"/>
              </a:solidFill>
              <a:cs typeface="+mn-ea"/>
              <a:sym typeface="+mn-l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400" dirty="0">
                <a:solidFill>
                  <a:srgbClr val="FFFFFF"/>
                </a:solidFill>
                <a:cs typeface="+mn-ea"/>
                <a:sym typeface="+mn-lt"/>
              </a:rPr>
              <a:t>计算</a:t>
            </a:r>
            <a:r>
              <a:rPr lang="en-US" altLang="zh-CN" sz="2400" dirty="0">
                <a:solidFill>
                  <a:srgbClr val="FFFFFF"/>
                </a:solidFill>
                <a:cs typeface="+mn-ea"/>
                <a:sym typeface="+mn-lt"/>
              </a:rPr>
              <a:t>1702 </a:t>
            </a:r>
            <a:r>
              <a:rPr lang="zh-CN" altLang="en-US" sz="2400" dirty="0">
                <a:solidFill>
                  <a:srgbClr val="FFFFFF"/>
                </a:solidFill>
                <a:cs typeface="+mn-ea"/>
                <a:sym typeface="+mn-lt"/>
              </a:rPr>
              <a:t>曲文涛</a:t>
            </a:r>
            <a:endParaRPr sz="2400" dirty="0">
              <a:cs typeface="+mn-ea"/>
              <a:sym typeface="+mn-lt"/>
            </a:endParaRPr>
          </a:p>
        </p:txBody>
      </p:sp>
      <p:pic>
        <p:nvPicPr>
          <p:cNvPr id="12290" name="Picture 2" descr="https://gss0.baidu.com/7LsWdDW5_xN3otqbppnN2DJv/forum/pic/item/a50f4bfbfbedab64f4a09e9ae036afc378311e9e.jp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01" y="162010"/>
            <a:ext cx="3600000" cy="216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https://timgsa.baidu.com/timg?image&amp;quality=80&amp;size=b9999_10000&amp;sec=1600596350196&amp;di=03d67ea6723a45a4afb69969739714e5&amp;imgtype=0&amp;src=http%3A%2F%2Fimage.bitautoimg.com%2Fappimage%2Fmedia%2F20160711%2Fw700_h423_9a4ed037d29c43e0a75ec3331dfaf58f.jpg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162010"/>
            <a:ext cx="3600000" cy="216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CSDN</a:t>
            </a:r>
            <a:r>
              <a:rPr lang="zh-CN" altLang="en-US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博客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90600" y="1095625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  <a:hlinkClick r:id="rId2"/>
              </a:rPr>
              <a:t>https://blog.csdn.net/weixin_41650348/article/details/108515096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665" y="1600200"/>
            <a:ext cx="9252936" cy="487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9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22909" cy="443230"/>
          </a:xfrm>
          <a:custGeom>
            <a:avLst/>
            <a:gdLst/>
            <a:ahLst/>
            <a:cxnLst/>
            <a:rect l="l" t="t" r="r" b="b"/>
            <a:pathLst>
              <a:path w="422909" h="443230">
                <a:moveTo>
                  <a:pt x="0" y="443114"/>
                </a:moveTo>
                <a:lnTo>
                  <a:pt x="0" y="0"/>
                </a:lnTo>
                <a:lnTo>
                  <a:pt x="422640" y="0"/>
                </a:lnTo>
                <a:lnTo>
                  <a:pt x="0" y="4431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5539" y="113385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40"/>
                </a:lnTo>
                <a:lnTo>
                  <a:pt x="0" y="5105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38259" y="1134021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4" h="511810">
                <a:moveTo>
                  <a:pt x="261353" y="511327"/>
                </a:moveTo>
                <a:lnTo>
                  <a:pt x="214404" y="507208"/>
                </a:lnTo>
                <a:lnTo>
                  <a:pt x="170212" y="495332"/>
                </a:lnTo>
                <a:lnTo>
                  <a:pt x="129514" y="476421"/>
                </a:lnTo>
                <a:lnTo>
                  <a:pt x="93046" y="451198"/>
                </a:lnTo>
                <a:lnTo>
                  <a:pt x="61546" y="420384"/>
                </a:lnTo>
                <a:lnTo>
                  <a:pt x="35753" y="384701"/>
                </a:lnTo>
                <a:lnTo>
                  <a:pt x="16433" y="344968"/>
                </a:lnTo>
                <a:lnTo>
                  <a:pt x="4260" y="301762"/>
                </a:lnTo>
                <a:lnTo>
                  <a:pt x="0" y="255866"/>
                </a:lnTo>
                <a:lnTo>
                  <a:pt x="4260" y="209850"/>
                </a:lnTo>
                <a:lnTo>
                  <a:pt x="16433" y="166550"/>
                </a:lnTo>
                <a:lnTo>
                  <a:pt x="35782" y="126685"/>
                </a:lnTo>
                <a:lnTo>
                  <a:pt x="61607" y="90943"/>
                </a:lnTo>
                <a:lnTo>
                  <a:pt x="93090" y="60129"/>
                </a:lnTo>
                <a:lnTo>
                  <a:pt x="129541" y="34905"/>
                </a:lnTo>
                <a:lnTo>
                  <a:pt x="170225" y="15995"/>
                </a:lnTo>
                <a:lnTo>
                  <a:pt x="214408" y="4119"/>
                </a:lnTo>
                <a:lnTo>
                  <a:pt x="261353" y="0"/>
                </a:lnTo>
                <a:lnTo>
                  <a:pt x="308298" y="4119"/>
                </a:lnTo>
                <a:lnTo>
                  <a:pt x="352485" y="15997"/>
                </a:lnTo>
                <a:lnTo>
                  <a:pt x="393177" y="34913"/>
                </a:lnTo>
                <a:lnTo>
                  <a:pt x="429634" y="60146"/>
                </a:lnTo>
                <a:lnTo>
                  <a:pt x="461118" y="90977"/>
                </a:lnTo>
                <a:lnTo>
                  <a:pt x="486888" y="126685"/>
                </a:lnTo>
                <a:lnTo>
                  <a:pt x="506176" y="166454"/>
                </a:lnTo>
                <a:lnTo>
                  <a:pt x="518308" y="209707"/>
                </a:lnTo>
                <a:lnTo>
                  <a:pt x="522516" y="255663"/>
                </a:lnTo>
                <a:lnTo>
                  <a:pt x="518308" y="301619"/>
                </a:lnTo>
                <a:lnTo>
                  <a:pt x="506176" y="344872"/>
                </a:lnTo>
                <a:lnTo>
                  <a:pt x="486859" y="384701"/>
                </a:lnTo>
                <a:lnTo>
                  <a:pt x="461057" y="420419"/>
                </a:lnTo>
                <a:lnTo>
                  <a:pt x="429590" y="451216"/>
                </a:lnTo>
                <a:lnTo>
                  <a:pt x="393149" y="476429"/>
                </a:lnTo>
                <a:lnTo>
                  <a:pt x="352472" y="495334"/>
                </a:lnTo>
                <a:lnTo>
                  <a:pt x="308293" y="507208"/>
                </a:lnTo>
                <a:lnTo>
                  <a:pt x="261353" y="51132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9883" y="1133475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5" h="511810">
                <a:moveTo>
                  <a:pt x="260921" y="511327"/>
                </a:moveTo>
                <a:lnTo>
                  <a:pt x="213970" y="507208"/>
                </a:lnTo>
                <a:lnTo>
                  <a:pt x="169772" y="495332"/>
                </a:lnTo>
                <a:lnTo>
                  <a:pt x="129068" y="476421"/>
                </a:lnTo>
                <a:lnTo>
                  <a:pt x="92670" y="451264"/>
                </a:lnTo>
                <a:lnTo>
                  <a:pt x="61213" y="420512"/>
                </a:lnTo>
                <a:lnTo>
                  <a:pt x="35478" y="384923"/>
                </a:lnTo>
                <a:lnTo>
                  <a:pt x="16204" y="345225"/>
                </a:lnTo>
                <a:lnTo>
                  <a:pt x="4132" y="302145"/>
                </a:lnTo>
                <a:lnTo>
                  <a:pt x="0" y="256412"/>
                </a:lnTo>
                <a:lnTo>
                  <a:pt x="4132" y="210234"/>
                </a:lnTo>
                <a:lnTo>
                  <a:pt x="16204" y="166807"/>
                </a:lnTo>
                <a:lnTo>
                  <a:pt x="35478" y="126847"/>
                </a:lnTo>
                <a:lnTo>
                  <a:pt x="61213" y="91071"/>
                </a:lnTo>
                <a:lnTo>
                  <a:pt x="92670" y="60194"/>
                </a:lnTo>
                <a:lnTo>
                  <a:pt x="129168" y="34905"/>
                </a:lnTo>
                <a:lnTo>
                  <a:pt x="169820" y="15995"/>
                </a:lnTo>
                <a:lnTo>
                  <a:pt x="213986" y="4119"/>
                </a:lnTo>
                <a:lnTo>
                  <a:pt x="260921" y="0"/>
                </a:lnTo>
                <a:lnTo>
                  <a:pt x="307869" y="4120"/>
                </a:lnTo>
                <a:lnTo>
                  <a:pt x="352068" y="16003"/>
                </a:lnTo>
                <a:lnTo>
                  <a:pt x="392777" y="34933"/>
                </a:lnTo>
                <a:lnTo>
                  <a:pt x="429189" y="60129"/>
                </a:lnTo>
                <a:lnTo>
                  <a:pt x="460668" y="90943"/>
                </a:lnTo>
                <a:lnTo>
                  <a:pt x="486436" y="126625"/>
                </a:lnTo>
                <a:lnTo>
                  <a:pt x="505756" y="166454"/>
                </a:lnTo>
                <a:lnTo>
                  <a:pt x="517888" y="209707"/>
                </a:lnTo>
                <a:lnTo>
                  <a:pt x="522097" y="255663"/>
                </a:lnTo>
                <a:lnTo>
                  <a:pt x="517888" y="301619"/>
                </a:lnTo>
                <a:lnTo>
                  <a:pt x="505756" y="344872"/>
                </a:lnTo>
                <a:lnTo>
                  <a:pt x="486436" y="384701"/>
                </a:lnTo>
                <a:lnTo>
                  <a:pt x="460668" y="420384"/>
                </a:lnTo>
                <a:lnTo>
                  <a:pt x="429189" y="451198"/>
                </a:lnTo>
                <a:lnTo>
                  <a:pt x="392677" y="476449"/>
                </a:lnTo>
                <a:lnTo>
                  <a:pt x="352019" y="495340"/>
                </a:lnTo>
                <a:lnTo>
                  <a:pt x="307853" y="507209"/>
                </a:lnTo>
                <a:lnTo>
                  <a:pt x="260921" y="51132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702" y="11067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sz="3200"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15539" y="2441448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8259" y="2441232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2"/>
                </a:lnTo>
                <a:lnTo>
                  <a:pt x="170217" y="494735"/>
                </a:lnTo>
                <a:lnTo>
                  <a:pt x="129524" y="475830"/>
                </a:lnTo>
                <a:lnTo>
                  <a:pt x="93064" y="450605"/>
                </a:lnTo>
                <a:lnTo>
                  <a:pt x="61571" y="419775"/>
                </a:lnTo>
                <a:lnTo>
                  <a:pt x="35782" y="384056"/>
                </a:lnTo>
                <a:lnTo>
                  <a:pt x="16433" y="344164"/>
                </a:lnTo>
                <a:lnTo>
                  <a:pt x="4260" y="300814"/>
                </a:lnTo>
                <a:lnTo>
                  <a:pt x="0" y="254723"/>
                </a:lnTo>
                <a:lnTo>
                  <a:pt x="4260" y="209014"/>
                </a:lnTo>
                <a:lnTo>
                  <a:pt x="16433" y="165961"/>
                </a:lnTo>
                <a:lnTo>
                  <a:pt x="35782" y="126290"/>
                </a:lnTo>
                <a:lnTo>
                  <a:pt x="61571" y="90729"/>
                </a:lnTo>
                <a:lnTo>
                  <a:pt x="93064" y="60004"/>
                </a:lnTo>
                <a:lnTo>
                  <a:pt x="129524" y="34842"/>
                </a:lnTo>
                <a:lnTo>
                  <a:pt x="170217" y="15970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7"/>
                </a:lnTo>
                <a:lnTo>
                  <a:pt x="393166" y="34866"/>
                </a:lnTo>
                <a:lnTo>
                  <a:pt x="429616" y="60060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616" y="450661"/>
                </a:lnTo>
                <a:lnTo>
                  <a:pt x="393166" y="475854"/>
                </a:lnTo>
                <a:lnTo>
                  <a:pt x="352480" y="494742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19883" y="2440698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3"/>
                </a:lnTo>
                <a:lnTo>
                  <a:pt x="169790" y="494739"/>
                </a:lnTo>
                <a:lnTo>
                  <a:pt x="129109" y="475847"/>
                </a:lnTo>
                <a:lnTo>
                  <a:pt x="92670" y="450648"/>
                </a:lnTo>
                <a:lnTo>
                  <a:pt x="61213" y="419861"/>
                </a:lnTo>
                <a:lnTo>
                  <a:pt x="35478" y="384208"/>
                </a:lnTo>
                <a:lnTo>
                  <a:pt x="16204" y="344410"/>
                </a:lnTo>
                <a:lnTo>
                  <a:pt x="4132" y="301185"/>
                </a:lnTo>
                <a:lnTo>
                  <a:pt x="0" y="255257"/>
                </a:lnTo>
                <a:lnTo>
                  <a:pt x="4132" y="209385"/>
                </a:lnTo>
                <a:lnTo>
                  <a:pt x="16204" y="166207"/>
                </a:lnTo>
                <a:lnTo>
                  <a:pt x="35478" y="126443"/>
                </a:lnTo>
                <a:lnTo>
                  <a:pt x="61213" y="90815"/>
                </a:lnTo>
                <a:lnTo>
                  <a:pt x="92670" y="60047"/>
                </a:lnTo>
                <a:lnTo>
                  <a:pt x="129109" y="34859"/>
                </a:lnTo>
                <a:lnTo>
                  <a:pt x="169790" y="15974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57"/>
                </a:lnTo>
                <a:lnTo>
                  <a:pt x="505756" y="344457"/>
                </a:lnTo>
                <a:lnTo>
                  <a:pt x="486436" y="384238"/>
                </a:lnTo>
                <a:lnTo>
                  <a:pt x="460668" y="419879"/>
                </a:lnTo>
                <a:lnTo>
                  <a:pt x="429189" y="450657"/>
                </a:lnTo>
                <a:lnTo>
                  <a:pt x="392737" y="475851"/>
                </a:lnTo>
                <a:lnTo>
                  <a:pt x="352050" y="494740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4702" y="24132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3200" b="1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15539" y="374751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38259" y="3747833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3" y="506603"/>
                </a:lnTo>
                <a:lnTo>
                  <a:pt x="170208" y="494742"/>
                </a:lnTo>
                <a:lnTo>
                  <a:pt x="129505" y="475854"/>
                </a:lnTo>
                <a:lnTo>
                  <a:pt x="93032" y="450661"/>
                </a:lnTo>
                <a:lnTo>
                  <a:pt x="61571" y="419945"/>
                </a:lnTo>
                <a:lnTo>
                  <a:pt x="35782" y="384349"/>
                </a:lnTo>
                <a:lnTo>
                  <a:pt x="16433" y="344630"/>
                </a:lnTo>
                <a:lnTo>
                  <a:pt x="4260" y="301510"/>
                </a:lnTo>
                <a:lnTo>
                  <a:pt x="0" y="255714"/>
                </a:lnTo>
                <a:lnTo>
                  <a:pt x="4260" y="209710"/>
                </a:lnTo>
                <a:lnTo>
                  <a:pt x="16433" y="166427"/>
                </a:lnTo>
                <a:lnTo>
                  <a:pt x="35782" y="126584"/>
                </a:lnTo>
                <a:lnTo>
                  <a:pt x="61571" y="90899"/>
                </a:lnTo>
                <a:lnTo>
                  <a:pt x="93109" y="60060"/>
                </a:lnTo>
                <a:lnTo>
                  <a:pt x="129553" y="34866"/>
                </a:lnTo>
                <a:lnTo>
                  <a:pt x="170231" y="15977"/>
                </a:lnTo>
                <a:lnTo>
                  <a:pt x="214411" y="4114"/>
                </a:lnTo>
                <a:lnTo>
                  <a:pt x="261353" y="0"/>
                </a:lnTo>
                <a:lnTo>
                  <a:pt x="308298" y="4114"/>
                </a:lnTo>
                <a:lnTo>
                  <a:pt x="352488" y="15980"/>
                </a:lnTo>
                <a:lnTo>
                  <a:pt x="393185" y="34879"/>
                </a:lnTo>
                <a:lnTo>
                  <a:pt x="429648" y="60091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571" y="450692"/>
                </a:lnTo>
                <a:lnTo>
                  <a:pt x="393137" y="475867"/>
                </a:lnTo>
                <a:lnTo>
                  <a:pt x="352465" y="494746"/>
                </a:lnTo>
                <a:lnTo>
                  <a:pt x="308291" y="506604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19883" y="3747299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2"/>
                </a:lnTo>
                <a:lnTo>
                  <a:pt x="169790" y="494735"/>
                </a:lnTo>
                <a:lnTo>
                  <a:pt x="129109" y="475830"/>
                </a:lnTo>
                <a:lnTo>
                  <a:pt x="92670" y="450605"/>
                </a:lnTo>
                <a:lnTo>
                  <a:pt x="61213" y="419775"/>
                </a:lnTo>
                <a:lnTo>
                  <a:pt x="35478" y="384056"/>
                </a:lnTo>
                <a:lnTo>
                  <a:pt x="16204" y="344164"/>
                </a:lnTo>
                <a:lnTo>
                  <a:pt x="4132" y="300814"/>
                </a:lnTo>
                <a:lnTo>
                  <a:pt x="0" y="254723"/>
                </a:lnTo>
                <a:lnTo>
                  <a:pt x="4132" y="209011"/>
                </a:lnTo>
                <a:lnTo>
                  <a:pt x="16204" y="165956"/>
                </a:lnTo>
                <a:lnTo>
                  <a:pt x="35478" y="126285"/>
                </a:lnTo>
                <a:lnTo>
                  <a:pt x="61213" y="90724"/>
                </a:lnTo>
                <a:lnTo>
                  <a:pt x="92670" y="60000"/>
                </a:lnTo>
                <a:lnTo>
                  <a:pt x="129109" y="34839"/>
                </a:lnTo>
                <a:lnTo>
                  <a:pt x="169790" y="15968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89" y="450661"/>
                </a:lnTo>
                <a:lnTo>
                  <a:pt x="392737" y="475854"/>
                </a:lnTo>
                <a:lnTo>
                  <a:pt x="352050" y="494742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64702" y="3719855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3200" b="1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5539" y="5055108"/>
            <a:ext cx="6791325" cy="509270"/>
          </a:xfrm>
          <a:custGeom>
            <a:avLst/>
            <a:gdLst/>
            <a:ahLst/>
            <a:cxnLst/>
            <a:rect l="l" t="t" r="r" b="b"/>
            <a:pathLst>
              <a:path w="6791325" h="509270">
                <a:moveTo>
                  <a:pt x="0" y="0"/>
                </a:moveTo>
                <a:lnTo>
                  <a:pt x="6790944" y="0"/>
                </a:lnTo>
                <a:lnTo>
                  <a:pt x="6790944" y="509015"/>
                </a:lnTo>
                <a:lnTo>
                  <a:pt x="0" y="50901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38259" y="5054447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3"/>
                </a:lnTo>
                <a:lnTo>
                  <a:pt x="170217" y="494738"/>
                </a:lnTo>
                <a:lnTo>
                  <a:pt x="129524" y="475844"/>
                </a:lnTo>
                <a:lnTo>
                  <a:pt x="93064" y="450640"/>
                </a:lnTo>
                <a:lnTo>
                  <a:pt x="61571" y="419846"/>
                </a:lnTo>
                <a:lnTo>
                  <a:pt x="35782" y="384182"/>
                </a:lnTo>
                <a:lnTo>
                  <a:pt x="16433" y="344368"/>
                </a:lnTo>
                <a:lnTo>
                  <a:pt x="4260" y="301123"/>
                </a:lnTo>
                <a:lnTo>
                  <a:pt x="0" y="255168"/>
                </a:lnTo>
                <a:lnTo>
                  <a:pt x="4260" y="209323"/>
                </a:lnTo>
                <a:lnTo>
                  <a:pt x="16433" y="166165"/>
                </a:lnTo>
                <a:lnTo>
                  <a:pt x="35782" y="126416"/>
                </a:lnTo>
                <a:lnTo>
                  <a:pt x="61571" y="90800"/>
                </a:lnTo>
                <a:lnTo>
                  <a:pt x="93064" y="60039"/>
                </a:lnTo>
                <a:lnTo>
                  <a:pt x="129524" y="34856"/>
                </a:lnTo>
                <a:lnTo>
                  <a:pt x="170217" y="15973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5"/>
                </a:lnTo>
                <a:lnTo>
                  <a:pt x="393166" y="34863"/>
                </a:lnTo>
                <a:lnTo>
                  <a:pt x="429616" y="60056"/>
                </a:lnTo>
                <a:lnTo>
                  <a:pt x="461093" y="90833"/>
                </a:lnTo>
                <a:lnTo>
                  <a:pt x="486859" y="126473"/>
                </a:lnTo>
                <a:lnTo>
                  <a:pt x="506176" y="166254"/>
                </a:lnTo>
                <a:lnTo>
                  <a:pt x="518308" y="209457"/>
                </a:lnTo>
                <a:lnTo>
                  <a:pt x="522516" y="255358"/>
                </a:lnTo>
                <a:lnTo>
                  <a:pt x="518308" y="301257"/>
                </a:lnTo>
                <a:lnTo>
                  <a:pt x="506176" y="344457"/>
                </a:lnTo>
                <a:lnTo>
                  <a:pt x="486859" y="384238"/>
                </a:lnTo>
                <a:lnTo>
                  <a:pt x="461093" y="419879"/>
                </a:lnTo>
                <a:lnTo>
                  <a:pt x="429616" y="450657"/>
                </a:lnTo>
                <a:lnTo>
                  <a:pt x="393166" y="475851"/>
                </a:lnTo>
                <a:lnTo>
                  <a:pt x="352480" y="494740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19883" y="5053901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2" y="506603"/>
                </a:lnTo>
                <a:lnTo>
                  <a:pt x="169781" y="494742"/>
                </a:lnTo>
                <a:lnTo>
                  <a:pt x="129090" y="475854"/>
                </a:lnTo>
                <a:lnTo>
                  <a:pt x="92638" y="450661"/>
                </a:lnTo>
                <a:lnTo>
                  <a:pt x="61213" y="419945"/>
                </a:lnTo>
                <a:lnTo>
                  <a:pt x="35478" y="384349"/>
                </a:lnTo>
                <a:lnTo>
                  <a:pt x="16204" y="344630"/>
                </a:lnTo>
                <a:lnTo>
                  <a:pt x="4132" y="301510"/>
                </a:lnTo>
                <a:lnTo>
                  <a:pt x="0" y="255714"/>
                </a:lnTo>
                <a:lnTo>
                  <a:pt x="4132" y="209706"/>
                </a:lnTo>
                <a:lnTo>
                  <a:pt x="16204" y="166422"/>
                </a:lnTo>
                <a:lnTo>
                  <a:pt x="35478" y="126578"/>
                </a:lnTo>
                <a:lnTo>
                  <a:pt x="61213" y="90894"/>
                </a:lnTo>
                <a:lnTo>
                  <a:pt x="92715" y="60056"/>
                </a:lnTo>
                <a:lnTo>
                  <a:pt x="129137" y="34863"/>
                </a:lnTo>
                <a:lnTo>
                  <a:pt x="169804" y="15975"/>
                </a:lnTo>
                <a:lnTo>
                  <a:pt x="213979" y="4114"/>
                </a:lnTo>
                <a:lnTo>
                  <a:pt x="260921" y="0"/>
                </a:lnTo>
                <a:lnTo>
                  <a:pt x="307867" y="4114"/>
                </a:lnTo>
                <a:lnTo>
                  <a:pt x="352058" y="15979"/>
                </a:lnTo>
                <a:lnTo>
                  <a:pt x="392756" y="34876"/>
                </a:lnTo>
                <a:lnTo>
                  <a:pt x="429221" y="60087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44" y="450692"/>
                </a:lnTo>
                <a:lnTo>
                  <a:pt x="392709" y="475867"/>
                </a:lnTo>
                <a:lnTo>
                  <a:pt x="352035" y="494746"/>
                </a:lnTo>
                <a:lnTo>
                  <a:pt x="307860" y="506604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4702" y="5026456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3200" b="1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2899" y="1192682"/>
            <a:ext cx="25101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存储器架构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982899" y="2499283"/>
            <a:ext cx="4560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zh-CN" sz="2400" b="1" spc="-5" dirty="0" err="1">
                <a:solidFill>
                  <a:srgbClr val="C00000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C00000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对于访存指令的简化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82899" y="3772699"/>
            <a:ext cx="26041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2400" b="1" spc="-5" dirty="0" err="1">
                <a:solidFill>
                  <a:srgbClr val="C00000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C00000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访存指令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82899" y="5112486"/>
            <a:ext cx="41037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蜂鸟</a:t>
            </a:r>
            <a:r>
              <a:rPr lang="en-US" altLang="zh-CN" sz="2400" b="1" spc="-5" dirty="0">
                <a:solidFill>
                  <a:srgbClr val="C00000"/>
                </a:solidFill>
                <a:cs typeface="+mn-ea"/>
                <a:sym typeface="+mn-lt"/>
              </a:rPr>
              <a:t>E200</a:t>
            </a: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存储系统的硬件实现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13105" y="243840"/>
            <a:ext cx="1802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Age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endParaRPr sz="3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22909" cy="443230"/>
          </a:xfrm>
          <a:custGeom>
            <a:avLst/>
            <a:gdLst/>
            <a:ahLst/>
            <a:cxnLst/>
            <a:rect l="l" t="t" r="r" b="b"/>
            <a:pathLst>
              <a:path w="422909" h="443230">
                <a:moveTo>
                  <a:pt x="0" y="443114"/>
                </a:moveTo>
                <a:lnTo>
                  <a:pt x="0" y="0"/>
                </a:lnTo>
                <a:lnTo>
                  <a:pt x="422640" y="0"/>
                </a:lnTo>
                <a:lnTo>
                  <a:pt x="0" y="4431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5539" y="113385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40"/>
                </a:lnTo>
                <a:lnTo>
                  <a:pt x="0" y="5105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38259" y="1134021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4" h="511810">
                <a:moveTo>
                  <a:pt x="261353" y="511327"/>
                </a:moveTo>
                <a:lnTo>
                  <a:pt x="214404" y="507208"/>
                </a:lnTo>
                <a:lnTo>
                  <a:pt x="170212" y="495332"/>
                </a:lnTo>
                <a:lnTo>
                  <a:pt x="129514" y="476421"/>
                </a:lnTo>
                <a:lnTo>
                  <a:pt x="93046" y="451198"/>
                </a:lnTo>
                <a:lnTo>
                  <a:pt x="61546" y="420384"/>
                </a:lnTo>
                <a:lnTo>
                  <a:pt x="35753" y="384701"/>
                </a:lnTo>
                <a:lnTo>
                  <a:pt x="16433" y="344968"/>
                </a:lnTo>
                <a:lnTo>
                  <a:pt x="4260" y="301762"/>
                </a:lnTo>
                <a:lnTo>
                  <a:pt x="0" y="255866"/>
                </a:lnTo>
                <a:lnTo>
                  <a:pt x="4260" y="209850"/>
                </a:lnTo>
                <a:lnTo>
                  <a:pt x="16433" y="166550"/>
                </a:lnTo>
                <a:lnTo>
                  <a:pt x="35782" y="126685"/>
                </a:lnTo>
                <a:lnTo>
                  <a:pt x="61607" y="90943"/>
                </a:lnTo>
                <a:lnTo>
                  <a:pt x="93090" y="60129"/>
                </a:lnTo>
                <a:lnTo>
                  <a:pt x="129541" y="34905"/>
                </a:lnTo>
                <a:lnTo>
                  <a:pt x="170225" y="15995"/>
                </a:lnTo>
                <a:lnTo>
                  <a:pt x="214408" y="4119"/>
                </a:lnTo>
                <a:lnTo>
                  <a:pt x="261353" y="0"/>
                </a:lnTo>
                <a:lnTo>
                  <a:pt x="308298" y="4119"/>
                </a:lnTo>
                <a:lnTo>
                  <a:pt x="352485" y="15997"/>
                </a:lnTo>
                <a:lnTo>
                  <a:pt x="393177" y="34913"/>
                </a:lnTo>
                <a:lnTo>
                  <a:pt x="429634" y="60146"/>
                </a:lnTo>
                <a:lnTo>
                  <a:pt x="461118" y="90977"/>
                </a:lnTo>
                <a:lnTo>
                  <a:pt x="486888" y="126685"/>
                </a:lnTo>
                <a:lnTo>
                  <a:pt x="506176" y="166454"/>
                </a:lnTo>
                <a:lnTo>
                  <a:pt x="518308" y="209707"/>
                </a:lnTo>
                <a:lnTo>
                  <a:pt x="522516" y="255663"/>
                </a:lnTo>
                <a:lnTo>
                  <a:pt x="518308" y="301619"/>
                </a:lnTo>
                <a:lnTo>
                  <a:pt x="506176" y="344872"/>
                </a:lnTo>
                <a:lnTo>
                  <a:pt x="486859" y="384701"/>
                </a:lnTo>
                <a:lnTo>
                  <a:pt x="461057" y="420419"/>
                </a:lnTo>
                <a:lnTo>
                  <a:pt x="429590" y="451216"/>
                </a:lnTo>
                <a:lnTo>
                  <a:pt x="393149" y="476429"/>
                </a:lnTo>
                <a:lnTo>
                  <a:pt x="352472" y="495334"/>
                </a:lnTo>
                <a:lnTo>
                  <a:pt x="308293" y="507208"/>
                </a:lnTo>
                <a:lnTo>
                  <a:pt x="261353" y="51132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9883" y="1133475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5" h="511810">
                <a:moveTo>
                  <a:pt x="260921" y="511327"/>
                </a:moveTo>
                <a:lnTo>
                  <a:pt x="213970" y="507208"/>
                </a:lnTo>
                <a:lnTo>
                  <a:pt x="169772" y="495332"/>
                </a:lnTo>
                <a:lnTo>
                  <a:pt x="129068" y="476421"/>
                </a:lnTo>
                <a:lnTo>
                  <a:pt x="92670" y="451264"/>
                </a:lnTo>
                <a:lnTo>
                  <a:pt x="61213" y="420512"/>
                </a:lnTo>
                <a:lnTo>
                  <a:pt x="35478" y="384923"/>
                </a:lnTo>
                <a:lnTo>
                  <a:pt x="16204" y="345225"/>
                </a:lnTo>
                <a:lnTo>
                  <a:pt x="4132" y="302145"/>
                </a:lnTo>
                <a:lnTo>
                  <a:pt x="0" y="256412"/>
                </a:lnTo>
                <a:lnTo>
                  <a:pt x="4132" y="210234"/>
                </a:lnTo>
                <a:lnTo>
                  <a:pt x="16204" y="166807"/>
                </a:lnTo>
                <a:lnTo>
                  <a:pt x="35478" y="126847"/>
                </a:lnTo>
                <a:lnTo>
                  <a:pt x="61213" y="91071"/>
                </a:lnTo>
                <a:lnTo>
                  <a:pt x="92670" y="60194"/>
                </a:lnTo>
                <a:lnTo>
                  <a:pt x="129168" y="34905"/>
                </a:lnTo>
                <a:lnTo>
                  <a:pt x="169820" y="15995"/>
                </a:lnTo>
                <a:lnTo>
                  <a:pt x="213986" y="4119"/>
                </a:lnTo>
                <a:lnTo>
                  <a:pt x="260921" y="0"/>
                </a:lnTo>
                <a:lnTo>
                  <a:pt x="307869" y="4120"/>
                </a:lnTo>
                <a:lnTo>
                  <a:pt x="352068" y="16003"/>
                </a:lnTo>
                <a:lnTo>
                  <a:pt x="392777" y="34933"/>
                </a:lnTo>
                <a:lnTo>
                  <a:pt x="429189" y="60129"/>
                </a:lnTo>
                <a:lnTo>
                  <a:pt x="460668" y="90943"/>
                </a:lnTo>
                <a:lnTo>
                  <a:pt x="486436" y="126625"/>
                </a:lnTo>
                <a:lnTo>
                  <a:pt x="505756" y="166454"/>
                </a:lnTo>
                <a:lnTo>
                  <a:pt x="517888" y="209707"/>
                </a:lnTo>
                <a:lnTo>
                  <a:pt x="522097" y="255663"/>
                </a:lnTo>
                <a:lnTo>
                  <a:pt x="517888" y="301619"/>
                </a:lnTo>
                <a:lnTo>
                  <a:pt x="505756" y="344872"/>
                </a:lnTo>
                <a:lnTo>
                  <a:pt x="486436" y="384701"/>
                </a:lnTo>
                <a:lnTo>
                  <a:pt x="460668" y="420384"/>
                </a:lnTo>
                <a:lnTo>
                  <a:pt x="429189" y="451198"/>
                </a:lnTo>
                <a:lnTo>
                  <a:pt x="392677" y="476449"/>
                </a:lnTo>
                <a:lnTo>
                  <a:pt x="352019" y="495340"/>
                </a:lnTo>
                <a:lnTo>
                  <a:pt x="307853" y="507209"/>
                </a:lnTo>
                <a:lnTo>
                  <a:pt x="260921" y="51132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702" y="11067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sz="3200"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15539" y="2441448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8259" y="2441232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2"/>
                </a:lnTo>
                <a:lnTo>
                  <a:pt x="170217" y="494735"/>
                </a:lnTo>
                <a:lnTo>
                  <a:pt x="129524" y="475830"/>
                </a:lnTo>
                <a:lnTo>
                  <a:pt x="93064" y="450605"/>
                </a:lnTo>
                <a:lnTo>
                  <a:pt x="61571" y="419775"/>
                </a:lnTo>
                <a:lnTo>
                  <a:pt x="35782" y="384056"/>
                </a:lnTo>
                <a:lnTo>
                  <a:pt x="16433" y="344164"/>
                </a:lnTo>
                <a:lnTo>
                  <a:pt x="4260" y="300814"/>
                </a:lnTo>
                <a:lnTo>
                  <a:pt x="0" y="254723"/>
                </a:lnTo>
                <a:lnTo>
                  <a:pt x="4260" y="209014"/>
                </a:lnTo>
                <a:lnTo>
                  <a:pt x="16433" y="165961"/>
                </a:lnTo>
                <a:lnTo>
                  <a:pt x="35782" y="126290"/>
                </a:lnTo>
                <a:lnTo>
                  <a:pt x="61571" y="90729"/>
                </a:lnTo>
                <a:lnTo>
                  <a:pt x="93064" y="60004"/>
                </a:lnTo>
                <a:lnTo>
                  <a:pt x="129524" y="34842"/>
                </a:lnTo>
                <a:lnTo>
                  <a:pt x="170217" y="15970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7"/>
                </a:lnTo>
                <a:lnTo>
                  <a:pt x="393166" y="34866"/>
                </a:lnTo>
                <a:lnTo>
                  <a:pt x="429616" y="60060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616" y="450661"/>
                </a:lnTo>
                <a:lnTo>
                  <a:pt x="393166" y="475854"/>
                </a:lnTo>
                <a:lnTo>
                  <a:pt x="352480" y="494742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19883" y="2440698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3"/>
                </a:lnTo>
                <a:lnTo>
                  <a:pt x="169790" y="494739"/>
                </a:lnTo>
                <a:lnTo>
                  <a:pt x="129109" y="475847"/>
                </a:lnTo>
                <a:lnTo>
                  <a:pt x="92670" y="450648"/>
                </a:lnTo>
                <a:lnTo>
                  <a:pt x="61213" y="419861"/>
                </a:lnTo>
                <a:lnTo>
                  <a:pt x="35478" y="384208"/>
                </a:lnTo>
                <a:lnTo>
                  <a:pt x="16204" y="344410"/>
                </a:lnTo>
                <a:lnTo>
                  <a:pt x="4132" y="301185"/>
                </a:lnTo>
                <a:lnTo>
                  <a:pt x="0" y="255257"/>
                </a:lnTo>
                <a:lnTo>
                  <a:pt x="4132" y="209385"/>
                </a:lnTo>
                <a:lnTo>
                  <a:pt x="16204" y="166207"/>
                </a:lnTo>
                <a:lnTo>
                  <a:pt x="35478" y="126443"/>
                </a:lnTo>
                <a:lnTo>
                  <a:pt x="61213" y="90815"/>
                </a:lnTo>
                <a:lnTo>
                  <a:pt x="92670" y="60047"/>
                </a:lnTo>
                <a:lnTo>
                  <a:pt x="129109" y="34859"/>
                </a:lnTo>
                <a:lnTo>
                  <a:pt x="169790" y="15974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57"/>
                </a:lnTo>
                <a:lnTo>
                  <a:pt x="505756" y="344457"/>
                </a:lnTo>
                <a:lnTo>
                  <a:pt x="486436" y="384238"/>
                </a:lnTo>
                <a:lnTo>
                  <a:pt x="460668" y="419879"/>
                </a:lnTo>
                <a:lnTo>
                  <a:pt x="429189" y="450657"/>
                </a:lnTo>
                <a:lnTo>
                  <a:pt x="392737" y="475851"/>
                </a:lnTo>
                <a:lnTo>
                  <a:pt x="352050" y="494740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4702" y="24132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15539" y="374751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38259" y="3747833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3" y="506603"/>
                </a:lnTo>
                <a:lnTo>
                  <a:pt x="170208" y="494742"/>
                </a:lnTo>
                <a:lnTo>
                  <a:pt x="129505" y="475854"/>
                </a:lnTo>
                <a:lnTo>
                  <a:pt x="93032" y="450661"/>
                </a:lnTo>
                <a:lnTo>
                  <a:pt x="61571" y="419945"/>
                </a:lnTo>
                <a:lnTo>
                  <a:pt x="35782" y="384349"/>
                </a:lnTo>
                <a:lnTo>
                  <a:pt x="16433" y="344630"/>
                </a:lnTo>
                <a:lnTo>
                  <a:pt x="4260" y="301510"/>
                </a:lnTo>
                <a:lnTo>
                  <a:pt x="0" y="255714"/>
                </a:lnTo>
                <a:lnTo>
                  <a:pt x="4260" y="209710"/>
                </a:lnTo>
                <a:lnTo>
                  <a:pt x="16433" y="166427"/>
                </a:lnTo>
                <a:lnTo>
                  <a:pt x="35782" y="126584"/>
                </a:lnTo>
                <a:lnTo>
                  <a:pt x="61571" y="90899"/>
                </a:lnTo>
                <a:lnTo>
                  <a:pt x="93109" y="60060"/>
                </a:lnTo>
                <a:lnTo>
                  <a:pt x="129553" y="34866"/>
                </a:lnTo>
                <a:lnTo>
                  <a:pt x="170231" y="15977"/>
                </a:lnTo>
                <a:lnTo>
                  <a:pt x="214411" y="4114"/>
                </a:lnTo>
                <a:lnTo>
                  <a:pt x="261353" y="0"/>
                </a:lnTo>
                <a:lnTo>
                  <a:pt x="308298" y="4114"/>
                </a:lnTo>
                <a:lnTo>
                  <a:pt x="352488" y="15980"/>
                </a:lnTo>
                <a:lnTo>
                  <a:pt x="393185" y="34879"/>
                </a:lnTo>
                <a:lnTo>
                  <a:pt x="429648" y="60091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571" y="450692"/>
                </a:lnTo>
                <a:lnTo>
                  <a:pt x="393137" y="475867"/>
                </a:lnTo>
                <a:lnTo>
                  <a:pt x="352465" y="494746"/>
                </a:lnTo>
                <a:lnTo>
                  <a:pt x="308291" y="506604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19883" y="3747299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2"/>
                </a:lnTo>
                <a:lnTo>
                  <a:pt x="169790" y="494735"/>
                </a:lnTo>
                <a:lnTo>
                  <a:pt x="129109" y="475830"/>
                </a:lnTo>
                <a:lnTo>
                  <a:pt x="92670" y="450605"/>
                </a:lnTo>
                <a:lnTo>
                  <a:pt x="61213" y="419775"/>
                </a:lnTo>
                <a:lnTo>
                  <a:pt x="35478" y="384056"/>
                </a:lnTo>
                <a:lnTo>
                  <a:pt x="16204" y="344164"/>
                </a:lnTo>
                <a:lnTo>
                  <a:pt x="4132" y="300814"/>
                </a:lnTo>
                <a:lnTo>
                  <a:pt x="0" y="254723"/>
                </a:lnTo>
                <a:lnTo>
                  <a:pt x="4132" y="209011"/>
                </a:lnTo>
                <a:lnTo>
                  <a:pt x="16204" y="165956"/>
                </a:lnTo>
                <a:lnTo>
                  <a:pt x="35478" y="126285"/>
                </a:lnTo>
                <a:lnTo>
                  <a:pt x="61213" y="90724"/>
                </a:lnTo>
                <a:lnTo>
                  <a:pt x="92670" y="60000"/>
                </a:lnTo>
                <a:lnTo>
                  <a:pt x="129109" y="34839"/>
                </a:lnTo>
                <a:lnTo>
                  <a:pt x="169790" y="15968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89" y="450661"/>
                </a:lnTo>
                <a:lnTo>
                  <a:pt x="392737" y="475854"/>
                </a:lnTo>
                <a:lnTo>
                  <a:pt x="352050" y="494742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64702" y="3719855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5539" y="5055108"/>
            <a:ext cx="6791325" cy="509270"/>
          </a:xfrm>
          <a:custGeom>
            <a:avLst/>
            <a:gdLst/>
            <a:ahLst/>
            <a:cxnLst/>
            <a:rect l="l" t="t" r="r" b="b"/>
            <a:pathLst>
              <a:path w="6791325" h="509270">
                <a:moveTo>
                  <a:pt x="0" y="0"/>
                </a:moveTo>
                <a:lnTo>
                  <a:pt x="6790944" y="0"/>
                </a:lnTo>
                <a:lnTo>
                  <a:pt x="6790944" y="509015"/>
                </a:lnTo>
                <a:lnTo>
                  <a:pt x="0" y="50901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38259" y="5054447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3"/>
                </a:lnTo>
                <a:lnTo>
                  <a:pt x="170217" y="494738"/>
                </a:lnTo>
                <a:lnTo>
                  <a:pt x="129524" y="475844"/>
                </a:lnTo>
                <a:lnTo>
                  <a:pt x="93064" y="450640"/>
                </a:lnTo>
                <a:lnTo>
                  <a:pt x="61571" y="419846"/>
                </a:lnTo>
                <a:lnTo>
                  <a:pt x="35782" y="384182"/>
                </a:lnTo>
                <a:lnTo>
                  <a:pt x="16433" y="344368"/>
                </a:lnTo>
                <a:lnTo>
                  <a:pt x="4260" y="301123"/>
                </a:lnTo>
                <a:lnTo>
                  <a:pt x="0" y="255168"/>
                </a:lnTo>
                <a:lnTo>
                  <a:pt x="4260" y="209323"/>
                </a:lnTo>
                <a:lnTo>
                  <a:pt x="16433" y="166165"/>
                </a:lnTo>
                <a:lnTo>
                  <a:pt x="35782" y="126416"/>
                </a:lnTo>
                <a:lnTo>
                  <a:pt x="61571" y="90800"/>
                </a:lnTo>
                <a:lnTo>
                  <a:pt x="93064" y="60039"/>
                </a:lnTo>
                <a:lnTo>
                  <a:pt x="129524" y="34856"/>
                </a:lnTo>
                <a:lnTo>
                  <a:pt x="170217" y="15973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5"/>
                </a:lnTo>
                <a:lnTo>
                  <a:pt x="393166" y="34863"/>
                </a:lnTo>
                <a:lnTo>
                  <a:pt x="429616" y="60056"/>
                </a:lnTo>
                <a:lnTo>
                  <a:pt x="461093" y="90833"/>
                </a:lnTo>
                <a:lnTo>
                  <a:pt x="486859" y="126473"/>
                </a:lnTo>
                <a:lnTo>
                  <a:pt x="506176" y="166254"/>
                </a:lnTo>
                <a:lnTo>
                  <a:pt x="518308" y="209457"/>
                </a:lnTo>
                <a:lnTo>
                  <a:pt x="522516" y="255358"/>
                </a:lnTo>
                <a:lnTo>
                  <a:pt x="518308" y="301257"/>
                </a:lnTo>
                <a:lnTo>
                  <a:pt x="506176" y="344457"/>
                </a:lnTo>
                <a:lnTo>
                  <a:pt x="486859" y="384238"/>
                </a:lnTo>
                <a:lnTo>
                  <a:pt x="461093" y="419879"/>
                </a:lnTo>
                <a:lnTo>
                  <a:pt x="429616" y="450657"/>
                </a:lnTo>
                <a:lnTo>
                  <a:pt x="393166" y="475851"/>
                </a:lnTo>
                <a:lnTo>
                  <a:pt x="352480" y="494740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19883" y="5053901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2" y="506603"/>
                </a:lnTo>
                <a:lnTo>
                  <a:pt x="169781" y="494742"/>
                </a:lnTo>
                <a:lnTo>
                  <a:pt x="129090" y="475854"/>
                </a:lnTo>
                <a:lnTo>
                  <a:pt x="92638" y="450661"/>
                </a:lnTo>
                <a:lnTo>
                  <a:pt x="61213" y="419945"/>
                </a:lnTo>
                <a:lnTo>
                  <a:pt x="35478" y="384349"/>
                </a:lnTo>
                <a:lnTo>
                  <a:pt x="16204" y="344630"/>
                </a:lnTo>
                <a:lnTo>
                  <a:pt x="4132" y="301510"/>
                </a:lnTo>
                <a:lnTo>
                  <a:pt x="0" y="255714"/>
                </a:lnTo>
                <a:lnTo>
                  <a:pt x="4132" y="209706"/>
                </a:lnTo>
                <a:lnTo>
                  <a:pt x="16204" y="166422"/>
                </a:lnTo>
                <a:lnTo>
                  <a:pt x="35478" y="126578"/>
                </a:lnTo>
                <a:lnTo>
                  <a:pt x="61213" y="90894"/>
                </a:lnTo>
                <a:lnTo>
                  <a:pt x="92715" y="60056"/>
                </a:lnTo>
                <a:lnTo>
                  <a:pt x="129137" y="34863"/>
                </a:lnTo>
                <a:lnTo>
                  <a:pt x="169804" y="15975"/>
                </a:lnTo>
                <a:lnTo>
                  <a:pt x="213979" y="4114"/>
                </a:lnTo>
                <a:lnTo>
                  <a:pt x="260921" y="0"/>
                </a:lnTo>
                <a:lnTo>
                  <a:pt x="307867" y="4114"/>
                </a:lnTo>
                <a:lnTo>
                  <a:pt x="352058" y="15979"/>
                </a:lnTo>
                <a:lnTo>
                  <a:pt x="392756" y="34876"/>
                </a:lnTo>
                <a:lnTo>
                  <a:pt x="429221" y="60087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44" y="450692"/>
                </a:lnTo>
                <a:lnTo>
                  <a:pt x="392709" y="475867"/>
                </a:lnTo>
                <a:lnTo>
                  <a:pt x="352035" y="494746"/>
                </a:lnTo>
                <a:lnTo>
                  <a:pt x="307860" y="506604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4702" y="5026456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2899" y="1192682"/>
            <a:ext cx="2510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存储器架构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982899" y="2499283"/>
            <a:ext cx="39513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zh-CN" sz="2400" b="1" spc="-5" dirty="0" err="1">
                <a:solidFill>
                  <a:srgbClr val="A6A6A6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对于访存指令的简化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82899" y="3772699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2400" b="1" spc="-5" dirty="0" err="1">
                <a:solidFill>
                  <a:srgbClr val="A6A6A6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访存指令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82899" y="5112486"/>
            <a:ext cx="43323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蜂鸟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E200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存储系统的硬件实现</a:t>
            </a:r>
            <a:endParaRPr lang="en-US" altLang="zh-CN" sz="2400" b="1" spc="-5" dirty="0">
              <a:solidFill>
                <a:srgbClr val="A6A6A6"/>
              </a:solidFill>
              <a:cs typeface="+mn-ea"/>
              <a:sym typeface="+mn-l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13105" y="243840"/>
            <a:ext cx="1802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Age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endParaRPr sz="3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3346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无缓存</a:t>
            </a:r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(cache)</a:t>
            </a:r>
            <a:endParaRPr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6400" y="2925730"/>
            <a:ext cx="5672455" cy="1896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"/>
              <a:tabLst>
                <a:tab pos="355600" algn="l"/>
              </a:tabLst>
            </a:pPr>
            <a:r>
              <a:rPr lang="zh-CN" altLang="en-US" sz="2800" dirty="0">
                <a:cs typeface="+mn-ea"/>
                <a:sym typeface="+mn-lt"/>
              </a:rPr>
              <a:t>无法保证实时性</a:t>
            </a:r>
            <a:endParaRPr lang="en-US" altLang="zh-CN" sz="2800" dirty="0">
              <a:cs typeface="+mn-ea"/>
              <a:sym typeface="+mn-lt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"/>
              <a:tabLst>
                <a:tab pos="355600" algn="l"/>
              </a:tabLst>
            </a:pPr>
            <a:r>
              <a:rPr lang="zh-CN" altLang="en-US" sz="2800" dirty="0">
                <a:cs typeface="+mn-ea"/>
                <a:sym typeface="+mn-lt"/>
              </a:rPr>
              <a:t>软件规模较小</a:t>
            </a:r>
            <a:endParaRPr lang="en-US" altLang="zh-CN" sz="2800" dirty="0">
              <a:cs typeface="+mn-ea"/>
              <a:sym typeface="+mn-lt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"/>
              <a:tabLst>
                <a:tab pos="355600" algn="l"/>
              </a:tabLst>
            </a:pPr>
            <a:r>
              <a:rPr lang="zh-CN" altLang="en-US" sz="2800" dirty="0">
                <a:cs typeface="+mn-ea"/>
                <a:sym typeface="+mn-lt"/>
              </a:rPr>
              <a:t>面积功耗大</a:t>
            </a:r>
            <a:endParaRPr sz="2800" dirty="0">
              <a:cs typeface="+mn-ea"/>
              <a:sym typeface="+mn-l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8232" y="2019806"/>
            <a:ext cx="62274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cs typeface="+mn-ea"/>
                <a:sym typeface="+mn-lt"/>
              </a:rPr>
              <a:t>低功耗处理器不配备缓存的原因</a:t>
            </a:r>
            <a:r>
              <a:rPr lang="zh-CN" altLang="en-US" b="1" dirty="0">
                <a:cs typeface="+mn-ea"/>
                <a:sym typeface="+mn-lt"/>
              </a:rPr>
              <a:t/>
            </a:r>
            <a:br>
              <a:rPr lang="zh-CN" altLang="en-US" b="1" dirty="0">
                <a:cs typeface="+mn-ea"/>
                <a:sym typeface="+mn-lt"/>
              </a:rPr>
            </a:b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D6AC8C69-C83A-4421-B3A2-C7924AAEE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757" y="952267"/>
            <a:ext cx="4495800" cy="2809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50990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处理器一定要有存储器</a:t>
            </a:r>
            <a:endParaRPr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150" y="1068689"/>
            <a:ext cx="8756650" cy="501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2400" dirty="0">
                <a:cs typeface="+mn-ea"/>
                <a:sym typeface="+mn-lt"/>
              </a:rPr>
              <a:t>虽然处理器不一定需要缓存，但是处理器是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一定</a:t>
            </a:r>
            <a:r>
              <a:rPr lang="zh-CN" altLang="en-US" sz="2400" dirty="0">
                <a:cs typeface="+mn-ea"/>
                <a:sym typeface="+mn-lt"/>
              </a:rPr>
              <a:t>需要存储器的</a:t>
            </a:r>
            <a:r>
              <a:rPr lang="zh-CN" altLang="en-US" dirty="0">
                <a:cs typeface="+mn-ea"/>
                <a:sym typeface="+mn-lt"/>
              </a:rPr>
              <a:t>。</a:t>
            </a:r>
            <a:endParaRPr dirty="0"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pic>
        <p:nvPicPr>
          <p:cNvPr id="1026" name="Picture 2" descr="https://img-blog.csdnimg.cn/20200910154143651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743200"/>
            <a:ext cx="5524781" cy="332070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0679EAC-AD1C-4701-B395-7DB9BF74FF1E}"/>
              </a:ext>
            </a:extLst>
          </p:cNvPr>
          <p:cNvSpPr/>
          <p:nvPr/>
        </p:nvSpPr>
        <p:spPr>
          <a:xfrm>
            <a:off x="3505959" y="1949616"/>
            <a:ext cx="4570482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cs typeface="+mn-ea"/>
                <a:sym typeface="+mn-lt"/>
              </a:rPr>
              <a:t>冯</a:t>
            </a:r>
            <a:r>
              <a:rPr lang="en-US" altLang="zh-CN" sz="32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cs typeface="+mn-ea"/>
                <a:sym typeface="+mn-lt"/>
              </a:rPr>
              <a:t>·</a:t>
            </a:r>
            <a:r>
              <a:rPr lang="zh-CN" altLang="en-US" sz="32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cs typeface="+mn-ea"/>
                <a:sym typeface="+mn-lt"/>
              </a:rPr>
              <a:t>诺依曼结构</a:t>
            </a:r>
            <a:endParaRPr lang="zh-CN" altLang="en-US" sz="32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50990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处理器一定要有存储器</a:t>
            </a:r>
            <a:endParaRPr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pic>
        <p:nvPicPr>
          <p:cNvPr id="2050" name="Picture 2" descr="https://img-blog.csdnimg.cn/20200910154235843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599" y="2816360"/>
            <a:ext cx="5037202" cy="362571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xmlns="" id="{35729A22-6F11-485E-9F7B-D2AD60575D17}"/>
              </a:ext>
            </a:extLst>
          </p:cNvPr>
          <p:cNvSpPr txBox="1"/>
          <p:nvPr/>
        </p:nvSpPr>
        <p:spPr>
          <a:xfrm>
            <a:off x="692150" y="1068689"/>
            <a:ext cx="8756650" cy="501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2400" dirty="0">
                <a:cs typeface="+mn-ea"/>
                <a:sym typeface="+mn-lt"/>
              </a:rPr>
              <a:t>虽然处理器不一定需要缓存，但是处理器是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一定</a:t>
            </a:r>
            <a:r>
              <a:rPr lang="zh-CN" altLang="en-US" sz="2400" dirty="0">
                <a:cs typeface="+mn-ea"/>
                <a:sym typeface="+mn-lt"/>
              </a:rPr>
              <a:t>需要存储器的</a:t>
            </a:r>
            <a:r>
              <a:rPr lang="zh-CN" altLang="en-US" dirty="0">
                <a:cs typeface="+mn-ea"/>
                <a:sym typeface="+mn-lt"/>
              </a:rPr>
              <a:t>。</a:t>
            </a:r>
            <a:endParaRPr dirty="0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9F970801-23E8-467D-ADAE-E878A087A274}"/>
              </a:ext>
            </a:extLst>
          </p:cNvPr>
          <p:cNvSpPr/>
          <p:nvPr/>
        </p:nvSpPr>
        <p:spPr>
          <a:xfrm>
            <a:off x="3505959" y="1949616"/>
            <a:ext cx="4570482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cs typeface="+mn-ea"/>
                <a:sym typeface="+mn-lt"/>
              </a:rPr>
              <a:t>哈佛结构</a:t>
            </a:r>
            <a:endParaRPr lang="zh-CN" altLang="en-US" sz="32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108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77820B32-533B-42C2-821B-74B8EB2D0521}"/>
              </a:ext>
            </a:extLst>
          </p:cNvPr>
          <p:cNvSpPr/>
          <p:nvPr/>
        </p:nvSpPr>
        <p:spPr>
          <a:xfrm>
            <a:off x="433070" y="1372743"/>
            <a:ext cx="8710930" cy="7150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31940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ITCM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DTCM</a:t>
            </a:r>
            <a:endParaRPr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709" y="1372743"/>
            <a:ext cx="8314691" cy="58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50000"/>
              </a:lnSpc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lang="en-US" altLang="zh-CN" sz="2800" dirty="0">
                <a:cs typeface="+mn-ea"/>
                <a:sym typeface="+mn-lt"/>
              </a:rPr>
              <a:t>ITCM </a:t>
            </a:r>
            <a:r>
              <a:rPr lang="zh-CN" altLang="en-US" sz="2800" dirty="0">
                <a:cs typeface="+mn-ea"/>
                <a:sym typeface="+mn-lt"/>
              </a:rPr>
              <a:t>和 </a:t>
            </a:r>
            <a:r>
              <a:rPr lang="en-US" altLang="zh-CN" sz="2800" dirty="0">
                <a:cs typeface="+mn-ea"/>
                <a:sym typeface="+mn-lt"/>
              </a:rPr>
              <a:t>DTCM</a:t>
            </a:r>
            <a:r>
              <a:rPr lang="zh-CN" altLang="en-US" sz="2800" dirty="0">
                <a:cs typeface="+mn-ea"/>
                <a:sym typeface="+mn-lt"/>
              </a:rPr>
              <a:t>比</a:t>
            </a:r>
            <a:r>
              <a:rPr lang="en-US" altLang="zh-CN" sz="2800" dirty="0">
                <a:cs typeface="+mn-ea"/>
                <a:sym typeface="+mn-lt"/>
              </a:rPr>
              <a:t>cache</a:t>
            </a:r>
            <a:r>
              <a:rPr lang="zh-CN" altLang="en-US" sz="2800" dirty="0">
                <a:cs typeface="+mn-ea"/>
                <a:sym typeface="+mn-lt"/>
              </a:rPr>
              <a:t>更适合嵌入式低功耗处理器。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xmlns="" id="{E90F2446-C1DB-42B5-8954-867B27CFA6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7561706"/>
              </p:ext>
            </p:extLst>
          </p:nvPr>
        </p:nvGraphicFramePr>
        <p:xfrm>
          <a:off x="433070" y="2590800"/>
          <a:ext cx="5053330" cy="2556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E2CC0DDF-47F9-4189-8209-1CB12FF33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367534"/>
            <a:ext cx="4629150" cy="2447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22909" cy="443230"/>
          </a:xfrm>
          <a:custGeom>
            <a:avLst/>
            <a:gdLst/>
            <a:ahLst/>
            <a:cxnLst/>
            <a:rect l="l" t="t" r="r" b="b"/>
            <a:pathLst>
              <a:path w="422909" h="443230">
                <a:moveTo>
                  <a:pt x="0" y="443114"/>
                </a:moveTo>
                <a:lnTo>
                  <a:pt x="0" y="0"/>
                </a:lnTo>
                <a:lnTo>
                  <a:pt x="422640" y="0"/>
                </a:lnTo>
                <a:lnTo>
                  <a:pt x="0" y="4431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5539" y="113385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40"/>
                </a:lnTo>
                <a:lnTo>
                  <a:pt x="0" y="5105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38259" y="1134021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4" h="511810">
                <a:moveTo>
                  <a:pt x="261353" y="511327"/>
                </a:moveTo>
                <a:lnTo>
                  <a:pt x="214404" y="507208"/>
                </a:lnTo>
                <a:lnTo>
                  <a:pt x="170212" y="495332"/>
                </a:lnTo>
                <a:lnTo>
                  <a:pt x="129514" y="476421"/>
                </a:lnTo>
                <a:lnTo>
                  <a:pt x="93046" y="451198"/>
                </a:lnTo>
                <a:lnTo>
                  <a:pt x="61546" y="420384"/>
                </a:lnTo>
                <a:lnTo>
                  <a:pt x="35753" y="384701"/>
                </a:lnTo>
                <a:lnTo>
                  <a:pt x="16433" y="344968"/>
                </a:lnTo>
                <a:lnTo>
                  <a:pt x="4260" y="301762"/>
                </a:lnTo>
                <a:lnTo>
                  <a:pt x="0" y="255866"/>
                </a:lnTo>
                <a:lnTo>
                  <a:pt x="4260" y="209850"/>
                </a:lnTo>
                <a:lnTo>
                  <a:pt x="16433" y="166550"/>
                </a:lnTo>
                <a:lnTo>
                  <a:pt x="35782" y="126685"/>
                </a:lnTo>
                <a:lnTo>
                  <a:pt x="61607" y="90943"/>
                </a:lnTo>
                <a:lnTo>
                  <a:pt x="93090" y="60129"/>
                </a:lnTo>
                <a:lnTo>
                  <a:pt x="129541" y="34905"/>
                </a:lnTo>
                <a:lnTo>
                  <a:pt x="170225" y="15995"/>
                </a:lnTo>
                <a:lnTo>
                  <a:pt x="214408" y="4119"/>
                </a:lnTo>
                <a:lnTo>
                  <a:pt x="261353" y="0"/>
                </a:lnTo>
                <a:lnTo>
                  <a:pt x="308298" y="4119"/>
                </a:lnTo>
                <a:lnTo>
                  <a:pt x="352485" y="15997"/>
                </a:lnTo>
                <a:lnTo>
                  <a:pt x="393177" y="34913"/>
                </a:lnTo>
                <a:lnTo>
                  <a:pt x="429634" y="60146"/>
                </a:lnTo>
                <a:lnTo>
                  <a:pt x="461118" y="90977"/>
                </a:lnTo>
                <a:lnTo>
                  <a:pt x="486888" y="126685"/>
                </a:lnTo>
                <a:lnTo>
                  <a:pt x="506176" y="166454"/>
                </a:lnTo>
                <a:lnTo>
                  <a:pt x="518308" y="209707"/>
                </a:lnTo>
                <a:lnTo>
                  <a:pt x="522516" y="255663"/>
                </a:lnTo>
                <a:lnTo>
                  <a:pt x="518308" y="301619"/>
                </a:lnTo>
                <a:lnTo>
                  <a:pt x="506176" y="344872"/>
                </a:lnTo>
                <a:lnTo>
                  <a:pt x="486859" y="384701"/>
                </a:lnTo>
                <a:lnTo>
                  <a:pt x="461057" y="420419"/>
                </a:lnTo>
                <a:lnTo>
                  <a:pt x="429590" y="451216"/>
                </a:lnTo>
                <a:lnTo>
                  <a:pt x="393149" y="476429"/>
                </a:lnTo>
                <a:lnTo>
                  <a:pt x="352472" y="495334"/>
                </a:lnTo>
                <a:lnTo>
                  <a:pt x="308293" y="507208"/>
                </a:lnTo>
                <a:lnTo>
                  <a:pt x="261353" y="51132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9883" y="1133475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5" h="511810">
                <a:moveTo>
                  <a:pt x="260921" y="511327"/>
                </a:moveTo>
                <a:lnTo>
                  <a:pt x="213970" y="507208"/>
                </a:lnTo>
                <a:lnTo>
                  <a:pt x="169772" y="495332"/>
                </a:lnTo>
                <a:lnTo>
                  <a:pt x="129068" y="476421"/>
                </a:lnTo>
                <a:lnTo>
                  <a:pt x="92670" y="451264"/>
                </a:lnTo>
                <a:lnTo>
                  <a:pt x="61213" y="420512"/>
                </a:lnTo>
                <a:lnTo>
                  <a:pt x="35478" y="384923"/>
                </a:lnTo>
                <a:lnTo>
                  <a:pt x="16204" y="345225"/>
                </a:lnTo>
                <a:lnTo>
                  <a:pt x="4132" y="302145"/>
                </a:lnTo>
                <a:lnTo>
                  <a:pt x="0" y="256412"/>
                </a:lnTo>
                <a:lnTo>
                  <a:pt x="4132" y="210234"/>
                </a:lnTo>
                <a:lnTo>
                  <a:pt x="16204" y="166807"/>
                </a:lnTo>
                <a:lnTo>
                  <a:pt x="35478" y="126847"/>
                </a:lnTo>
                <a:lnTo>
                  <a:pt x="61213" y="91071"/>
                </a:lnTo>
                <a:lnTo>
                  <a:pt x="92670" y="60194"/>
                </a:lnTo>
                <a:lnTo>
                  <a:pt x="129168" y="34905"/>
                </a:lnTo>
                <a:lnTo>
                  <a:pt x="169820" y="15995"/>
                </a:lnTo>
                <a:lnTo>
                  <a:pt x="213986" y="4119"/>
                </a:lnTo>
                <a:lnTo>
                  <a:pt x="260921" y="0"/>
                </a:lnTo>
                <a:lnTo>
                  <a:pt x="307869" y="4120"/>
                </a:lnTo>
                <a:lnTo>
                  <a:pt x="352068" y="16003"/>
                </a:lnTo>
                <a:lnTo>
                  <a:pt x="392777" y="34933"/>
                </a:lnTo>
                <a:lnTo>
                  <a:pt x="429189" y="60129"/>
                </a:lnTo>
                <a:lnTo>
                  <a:pt x="460668" y="90943"/>
                </a:lnTo>
                <a:lnTo>
                  <a:pt x="486436" y="126625"/>
                </a:lnTo>
                <a:lnTo>
                  <a:pt x="505756" y="166454"/>
                </a:lnTo>
                <a:lnTo>
                  <a:pt x="517888" y="209707"/>
                </a:lnTo>
                <a:lnTo>
                  <a:pt x="522097" y="255663"/>
                </a:lnTo>
                <a:lnTo>
                  <a:pt x="517888" y="301619"/>
                </a:lnTo>
                <a:lnTo>
                  <a:pt x="505756" y="344872"/>
                </a:lnTo>
                <a:lnTo>
                  <a:pt x="486436" y="384701"/>
                </a:lnTo>
                <a:lnTo>
                  <a:pt x="460668" y="420384"/>
                </a:lnTo>
                <a:lnTo>
                  <a:pt x="429189" y="451198"/>
                </a:lnTo>
                <a:lnTo>
                  <a:pt x="392677" y="476449"/>
                </a:lnTo>
                <a:lnTo>
                  <a:pt x="352019" y="495340"/>
                </a:lnTo>
                <a:lnTo>
                  <a:pt x="307853" y="507209"/>
                </a:lnTo>
                <a:lnTo>
                  <a:pt x="260921" y="51132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dirty="0">
              <a:cs typeface="+mn-ea"/>
              <a:sym typeface="+mn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702" y="11067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15539" y="2441448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8259" y="2441232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2"/>
                </a:lnTo>
                <a:lnTo>
                  <a:pt x="170217" y="494735"/>
                </a:lnTo>
                <a:lnTo>
                  <a:pt x="129524" y="475830"/>
                </a:lnTo>
                <a:lnTo>
                  <a:pt x="93064" y="450605"/>
                </a:lnTo>
                <a:lnTo>
                  <a:pt x="61571" y="419775"/>
                </a:lnTo>
                <a:lnTo>
                  <a:pt x="35782" y="384056"/>
                </a:lnTo>
                <a:lnTo>
                  <a:pt x="16433" y="344164"/>
                </a:lnTo>
                <a:lnTo>
                  <a:pt x="4260" y="300814"/>
                </a:lnTo>
                <a:lnTo>
                  <a:pt x="0" y="254723"/>
                </a:lnTo>
                <a:lnTo>
                  <a:pt x="4260" y="209014"/>
                </a:lnTo>
                <a:lnTo>
                  <a:pt x="16433" y="165961"/>
                </a:lnTo>
                <a:lnTo>
                  <a:pt x="35782" y="126290"/>
                </a:lnTo>
                <a:lnTo>
                  <a:pt x="61571" y="90729"/>
                </a:lnTo>
                <a:lnTo>
                  <a:pt x="93064" y="60004"/>
                </a:lnTo>
                <a:lnTo>
                  <a:pt x="129524" y="34842"/>
                </a:lnTo>
                <a:lnTo>
                  <a:pt x="170217" y="15970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7"/>
                </a:lnTo>
                <a:lnTo>
                  <a:pt x="393166" y="34866"/>
                </a:lnTo>
                <a:lnTo>
                  <a:pt x="429616" y="60060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616" y="450661"/>
                </a:lnTo>
                <a:lnTo>
                  <a:pt x="393166" y="475854"/>
                </a:lnTo>
                <a:lnTo>
                  <a:pt x="352480" y="494742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19883" y="2440698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3"/>
                </a:lnTo>
                <a:lnTo>
                  <a:pt x="169790" y="494739"/>
                </a:lnTo>
                <a:lnTo>
                  <a:pt x="129109" y="475847"/>
                </a:lnTo>
                <a:lnTo>
                  <a:pt x="92670" y="450648"/>
                </a:lnTo>
                <a:lnTo>
                  <a:pt x="61213" y="419861"/>
                </a:lnTo>
                <a:lnTo>
                  <a:pt x="35478" y="384208"/>
                </a:lnTo>
                <a:lnTo>
                  <a:pt x="16204" y="344410"/>
                </a:lnTo>
                <a:lnTo>
                  <a:pt x="4132" y="301185"/>
                </a:lnTo>
                <a:lnTo>
                  <a:pt x="0" y="255257"/>
                </a:lnTo>
                <a:lnTo>
                  <a:pt x="4132" y="209385"/>
                </a:lnTo>
                <a:lnTo>
                  <a:pt x="16204" y="166207"/>
                </a:lnTo>
                <a:lnTo>
                  <a:pt x="35478" y="126443"/>
                </a:lnTo>
                <a:lnTo>
                  <a:pt x="61213" y="90815"/>
                </a:lnTo>
                <a:lnTo>
                  <a:pt x="92670" y="60047"/>
                </a:lnTo>
                <a:lnTo>
                  <a:pt x="129109" y="34859"/>
                </a:lnTo>
                <a:lnTo>
                  <a:pt x="169790" y="15974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57"/>
                </a:lnTo>
                <a:lnTo>
                  <a:pt x="505756" y="344457"/>
                </a:lnTo>
                <a:lnTo>
                  <a:pt x="486436" y="384238"/>
                </a:lnTo>
                <a:lnTo>
                  <a:pt x="460668" y="419879"/>
                </a:lnTo>
                <a:lnTo>
                  <a:pt x="429189" y="450657"/>
                </a:lnTo>
                <a:lnTo>
                  <a:pt x="392737" y="475851"/>
                </a:lnTo>
                <a:lnTo>
                  <a:pt x="352050" y="494740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4702" y="24132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15539" y="374751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38259" y="3747833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3" y="506603"/>
                </a:lnTo>
                <a:lnTo>
                  <a:pt x="170208" y="494742"/>
                </a:lnTo>
                <a:lnTo>
                  <a:pt x="129505" y="475854"/>
                </a:lnTo>
                <a:lnTo>
                  <a:pt x="93032" y="450661"/>
                </a:lnTo>
                <a:lnTo>
                  <a:pt x="61571" y="419945"/>
                </a:lnTo>
                <a:lnTo>
                  <a:pt x="35782" y="384349"/>
                </a:lnTo>
                <a:lnTo>
                  <a:pt x="16433" y="344630"/>
                </a:lnTo>
                <a:lnTo>
                  <a:pt x="4260" y="301510"/>
                </a:lnTo>
                <a:lnTo>
                  <a:pt x="0" y="255714"/>
                </a:lnTo>
                <a:lnTo>
                  <a:pt x="4260" y="209710"/>
                </a:lnTo>
                <a:lnTo>
                  <a:pt x="16433" y="166427"/>
                </a:lnTo>
                <a:lnTo>
                  <a:pt x="35782" y="126584"/>
                </a:lnTo>
                <a:lnTo>
                  <a:pt x="61571" y="90899"/>
                </a:lnTo>
                <a:lnTo>
                  <a:pt x="93109" y="60060"/>
                </a:lnTo>
                <a:lnTo>
                  <a:pt x="129553" y="34866"/>
                </a:lnTo>
                <a:lnTo>
                  <a:pt x="170231" y="15977"/>
                </a:lnTo>
                <a:lnTo>
                  <a:pt x="214411" y="4114"/>
                </a:lnTo>
                <a:lnTo>
                  <a:pt x="261353" y="0"/>
                </a:lnTo>
                <a:lnTo>
                  <a:pt x="308298" y="4114"/>
                </a:lnTo>
                <a:lnTo>
                  <a:pt x="352488" y="15980"/>
                </a:lnTo>
                <a:lnTo>
                  <a:pt x="393185" y="34879"/>
                </a:lnTo>
                <a:lnTo>
                  <a:pt x="429648" y="60091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571" y="450692"/>
                </a:lnTo>
                <a:lnTo>
                  <a:pt x="393137" y="475867"/>
                </a:lnTo>
                <a:lnTo>
                  <a:pt x="352465" y="494746"/>
                </a:lnTo>
                <a:lnTo>
                  <a:pt x="308291" y="506604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19883" y="3747299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2"/>
                </a:lnTo>
                <a:lnTo>
                  <a:pt x="169790" y="494735"/>
                </a:lnTo>
                <a:lnTo>
                  <a:pt x="129109" y="475830"/>
                </a:lnTo>
                <a:lnTo>
                  <a:pt x="92670" y="450605"/>
                </a:lnTo>
                <a:lnTo>
                  <a:pt x="61213" y="419775"/>
                </a:lnTo>
                <a:lnTo>
                  <a:pt x="35478" y="384056"/>
                </a:lnTo>
                <a:lnTo>
                  <a:pt x="16204" y="344164"/>
                </a:lnTo>
                <a:lnTo>
                  <a:pt x="4132" y="300814"/>
                </a:lnTo>
                <a:lnTo>
                  <a:pt x="0" y="254723"/>
                </a:lnTo>
                <a:lnTo>
                  <a:pt x="4132" y="209011"/>
                </a:lnTo>
                <a:lnTo>
                  <a:pt x="16204" y="165956"/>
                </a:lnTo>
                <a:lnTo>
                  <a:pt x="35478" y="126285"/>
                </a:lnTo>
                <a:lnTo>
                  <a:pt x="61213" y="90724"/>
                </a:lnTo>
                <a:lnTo>
                  <a:pt x="92670" y="60000"/>
                </a:lnTo>
                <a:lnTo>
                  <a:pt x="129109" y="34839"/>
                </a:lnTo>
                <a:lnTo>
                  <a:pt x="169790" y="15968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89" y="450661"/>
                </a:lnTo>
                <a:lnTo>
                  <a:pt x="392737" y="475854"/>
                </a:lnTo>
                <a:lnTo>
                  <a:pt x="352050" y="494742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64702" y="3719855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5539" y="5055108"/>
            <a:ext cx="6791325" cy="509270"/>
          </a:xfrm>
          <a:custGeom>
            <a:avLst/>
            <a:gdLst/>
            <a:ahLst/>
            <a:cxnLst/>
            <a:rect l="l" t="t" r="r" b="b"/>
            <a:pathLst>
              <a:path w="6791325" h="509270">
                <a:moveTo>
                  <a:pt x="0" y="0"/>
                </a:moveTo>
                <a:lnTo>
                  <a:pt x="6790944" y="0"/>
                </a:lnTo>
                <a:lnTo>
                  <a:pt x="6790944" y="509015"/>
                </a:lnTo>
                <a:lnTo>
                  <a:pt x="0" y="50901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38259" y="5054447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3"/>
                </a:lnTo>
                <a:lnTo>
                  <a:pt x="170217" y="494738"/>
                </a:lnTo>
                <a:lnTo>
                  <a:pt x="129524" y="475844"/>
                </a:lnTo>
                <a:lnTo>
                  <a:pt x="93064" y="450640"/>
                </a:lnTo>
                <a:lnTo>
                  <a:pt x="61571" y="419846"/>
                </a:lnTo>
                <a:lnTo>
                  <a:pt x="35782" y="384182"/>
                </a:lnTo>
                <a:lnTo>
                  <a:pt x="16433" y="344368"/>
                </a:lnTo>
                <a:lnTo>
                  <a:pt x="4260" y="301123"/>
                </a:lnTo>
                <a:lnTo>
                  <a:pt x="0" y="255168"/>
                </a:lnTo>
                <a:lnTo>
                  <a:pt x="4260" y="209323"/>
                </a:lnTo>
                <a:lnTo>
                  <a:pt x="16433" y="166165"/>
                </a:lnTo>
                <a:lnTo>
                  <a:pt x="35782" y="126416"/>
                </a:lnTo>
                <a:lnTo>
                  <a:pt x="61571" y="90800"/>
                </a:lnTo>
                <a:lnTo>
                  <a:pt x="93064" y="60039"/>
                </a:lnTo>
                <a:lnTo>
                  <a:pt x="129524" y="34856"/>
                </a:lnTo>
                <a:lnTo>
                  <a:pt x="170217" y="15973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5"/>
                </a:lnTo>
                <a:lnTo>
                  <a:pt x="393166" y="34863"/>
                </a:lnTo>
                <a:lnTo>
                  <a:pt x="429616" y="60056"/>
                </a:lnTo>
                <a:lnTo>
                  <a:pt x="461093" y="90833"/>
                </a:lnTo>
                <a:lnTo>
                  <a:pt x="486859" y="126473"/>
                </a:lnTo>
                <a:lnTo>
                  <a:pt x="506176" y="166254"/>
                </a:lnTo>
                <a:lnTo>
                  <a:pt x="518308" y="209457"/>
                </a:lnTo>
                <a:lnTo>
                  <a:pt x="522516" y="255358"/>
                </a:lnTo>
                <a:lnTo>
                  <a:pt x="518308" y="301257"/>
                </a:lnTo>
                <a:lnTo>
                  <a:pt x="506176" y="344457"/>
                </a:lnTo>
                <a:lnTo>
                  <a:pt x="486859" y="384238"/>
                </a:lnTo>
                <a:lnTo>
                  <a:pt x="461093" y="419879"/>
                </a:lnTo>
                <a:lnTo>
                  <a:pt x="429616" y="450657"/>
                </a:lnTo>
                <a:lnTo>
                  <a:pt x="393166" y="475851"/>
                </a:lnTo>
                <a:lnTo>
                  <a:pt x="352480" y="494740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19883" y="5053901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2" y="506603"/>
                </a:lnTo>
                <a:lnTo>
                  <a:pt x="169781" y="494742"/>
                </a:lnTo>
                <a:lnTo>
                  <a:pt x="129090" y="475854"/>
                </a:lnTo>
                <a:lnTo>
                  <a:pt x="92638" y="450661"/>
                </a:lnTo>
                <a:lnTo>
                  <a:pt x="61213" y="419945"/>
                </a:lnTo>
                <a:lnTo>
                  <a:pt x="35478" y="384349"/>
                </a:lnTo>
                <a:lnTo>
                  <a:pt x="16204" y="344630"/>
                </a:lnTo>
                <a:lnTo>
                  <a:pt x="4132" y="301510"/>
                </a:lnTo>
                <a:lnTo>
                  <a:pt x="0" y="255714"/>
                </a:lnTo>
                <a:lnTo>
                  <a:pt x="4132" y="209706"/>
                </a:lnTo>
                <a:lnTo>
                  <a:pt x="16204" y="166422"/>
                </a:lnTo>
                <a:lnTo>
                  <a:pt x="35478" y="126578"/>
                </a:lnTo>
                <a:lnTo>
                  <a:pt x="61213" y="90894"/>
                </a:lnTo>
                <a:lnTo>
                  <a:pt x="92715" y="60056"/>
                </a:lnTo>
                <a:lnTo>
                  <a:pt x="129137" y="34863"/>
                </a:lnTo>
                <a:lnTo>
                  <a:pt x="169804" y="15975"/>
                </a:lnTo>
                <a:lnTo>
                  <a:pt x="213979" y="4114"/>
                </a:lnTo>
                <a:lnTo>
                  <a:pt x="260921" y="0"/>
                </a:lnTo>
                <a:lnTo>
                  <a:pt x="307867" y="4114"/>
                </a:lnTo>
                <a:lnTo>
                  <a:pt x="352058" y="15979"/>
                </a:lnTo>
                <a:lnTo>
                  <a:pt x="392756" y="34876"/>
                </a:lnTo>
                <a:lnTo>
                  <a:pt x="429221" y="60087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44" y="450692"/>
                </a:lnTo>
                <a:lnTo>
                  <a:pt x="392709" y="475867"/>
                </a:lnTo>
                <a:lnTo>
                  <a:pt x="352035" y="494746"/>
                </a:lnTo>
                <a:lnTo>
                  <a:pt x="307860" y="506604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4702" y="5026456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2899" y="1192682"/>
            <a:ext cx="2510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存储器架构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982899" y="2499283"/>
            <a:ext cx="39513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zh-CN" sz="2400" b="1" spc="-5" dirty="0" err="1">
                <a:solidFill>
                  <a:srgbClr val="C00000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C00000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对于访存指令的简化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82899" y="3772699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2400" b="1" spc="-5" dirty="0" err="1">
                <a:solidFill>
                  <a:srgbClr val="A6A6A6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访存指令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82899" y="5112486"/>
            <a:ext cx="42561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蜂鸟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E200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存储系统的硬件实现</a:t>
            </a:r>
            <a:endParaRPr lang="en-US" altLang="zh-CN" sz="2400" b="1" spc="-5" dirty="0">
              <a:solidFill>
                <a:srgbClr val="A6A6A6"/>
              </a:solidFill>
              <a:cs typeface="+mn-ea"/>
              <a:sym typeface="+mn-l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13105" y="243840"/>
            <a:ext cx="1802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Age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endParaRPr sz="3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680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63817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risc</a:t>
            </a:r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-v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对访存指令的简化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0542" y="1988589"/>
            <a:ext cx="125095" cy="515620"/>
          </a:xfrm>
          <a:custGeom>
            <a:avLst/>
            <a:gdLst/>
            <a:ahLst/>
            <a:cxnLst/>
            <a:rect l="l" t="t" r="r" b="b"/>
            <a:pathLst>
              <a:path w="125095" h="515619">
                <a:moveTo>
                  <a:pt x="61937" y="515315"/>
                </a:moveTo>
                <a:lnTo>
                  <a:pt x="30371" y="480111"/>
                </a:lnTo>
                <a:lnTo>
                  <a:pt x="17762" y="439761"/>
                </a:lnTo>
                <a:lnTo>
                  <a:pt x="8088" y="387492"/>
                </a:lnTo>
                <a:lnTo>
                  <a:pt x="1962" y="325742"/>
                </a:lnTo>
                <a:lnTo>
                  <a:pt x="0" y="256946"/>
                </a:lnTo>
                <a:lnTo>
                  <a:pt x="1962" y="188749"/>
                </a:lnTo>
                <a:lnTo>
                  <a:pt x="8088" y="127400"/>
                </a:lnTo>
                <a:lnTo>
                  <a:pt x="17762" y="75376"/>
                </a:lnTo>
                <a:lnTo>
                  <a:pt x="30371" y="35150"/>
                </a:lnTo>
                <a:lnTo>
                  <a:pt x="61937" y="0"/>
                </a:lnTo>
                <a:lnTo>
                  <a:pt x="78571" y="9203"/>
                </a:lnTo>
                <a:lnTo>
                  <a:pt x="106183" y="75464"/>
                </a:lnTo>
                <a:lnTo>
                  <a:pt x="115967" y="127611"/>
                </a:lnTo>
                <a:lnTo>
                  <a:pt x="122275" y="189160"/>
                </a:lnTo>
                <a:lnTo>
                  <a:pt x="124510" y="257657"/>
                </a:lnTo>
                <a:lnTo>
                  <a:pt x="122275" y="326154"/>
                </a:lnTo>
                <a:lnTo>
                  <a:pt x="115967" y="387703"/>
                </a:lnTo>
                <a:lnTo>
                  <a:pt x="106183" y="439850"/>
                </a:lnTo>
                <a:lnTo>
                  <a:pt x="93519" y="480138"/>
                </a:lnTo>
                <a:lnTo>
                  <a:pt x="61937" y="51531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00775" y="4140490"/>
            <a:ext cx="590550" cy="1181100"/>
          </a:xfrm>
          <a:custGeom>
            <a:avLst/>
            <a:gdLst/>
            <a:ahLst/>
            <a:cxnLst/>
            <a:rect l="l" t="t" r="r" b="b"/>
            <a:pathLst>
              <a:path w="590550" h="1181100">
                <a:moveTo>
                  <a:pt x="0" y="1180846"/>
                </a:moveTo>
                <a:lnTo>
                  <a:pt x="48206" y="1167391"/>
                </a:lnTo>
                <a:lnTo>
                  <a:pt x="87333" y="1119839"/>
                </a:lnTo>
                <a:lnTo>
                  <a:pt x="92976" y="1087869"/>
                </a:lnTo>
                <a:lnTo>
                  <a:pt x="87333" y="1055899"/>
                </a:lnTo>
                <a:lnTo>
                  <a:pt x="71742" y="1028725"/>
                </a:lnTo>
                <a:lnTo>
                  <a:pt x="48206" y="1008352"/>
                </a:lnTo>
                <a:lnTo>
                  <a:pt x="18732" y="996784"/>
                </a:lnTo>
                <a:lnTo>
                  <a:pt x="10236" y="995921"/>
                </a:lnTo>
                <a:lnTo>
                  <a:pt x="41503" y="994346"/>
                </a:lnTo>
                <a:lnTo>
                  <a:pt x="87899" y="986900"/>
                </a:lnTo>
                <a:lnTo>
                  <a:pt x="132386" y="974367"/>
                </a:lnTo>
                <a:lnTo>
                  <a:pt x="174648" y="957061"/>
                </a:lnTo>
                <a:lnTo>
                  <a:pt x="214432" y="935253"/>
                </a:lnTo>
                <a:lnTo>
                  <a:pt x="251249" y="909381"/>
                </a:lnTo>
                <a:lnTo>
                  <a:pt x="284960" y="879634"/>
                </a:lnTo>
                <a:lnTo>
                  <a:pt x="315193" y="846368"/>
                </a:lnTo>
                <a:lnTo>
                  <a:pt x="341635" y="809897"/>
                </a:lnTo>
                <a:lnTo>
                  <a:pt x="363973" y="770533"/>
                </a:lnTo>
                <a:lnTo>
                  <a:pt x="381892" y="728589"/>
                </a:lnTo>
                <a:lnTo>
                  <a:pt x="395079" y="684381"/>
                </a:lnTo>
                <a:lnTo>
                  <a:pt x="403222" y="638216"/>
                </a:lnTo>
                <a:lnTo>
                  <a:pt x="406006" y="590423"/>
                </a:lnTo>
                <a:lnTo>
                  <a:pt x="403222" y="542624"/>
                </a:lnTo>
                <a:lnTo>
                  <a:pt x="395079" y="496465"/>
                </a:lnTo>
                <a:lnTo>
                  <a:pt x="381892" y="452257"/>
                </a:lnTo>
                <a:lnTo>
                  <a:pt x="363973" y="410315"/>
                </a:lnTo>
                <a:lnTo>
                  <a:pt x="341635" y="370953"/>
                </a:lnTo>
                <a:lnTo>
                  <a:pt x="315193" y="334482"/>
                </a:lnTo>
                <a:lnTo>
                  <a:pt x="284960" y="301218"/>
                </a:lnTo>
                <a:lnTo>
                  <a:pt x="251249" y="271473"/>
                </a:lnTo>
                <a:lnTo>
                  <a:pt x="214374" y="245561"/>
                </a:lnTo>
                <a:lnTo>
                  <a:pt x="174648" y="223795"/>
                </a:lnTo>
                <a:lnTo>
                  <a:pt x="132386" y="206490"/>
                </a:lnTo>
                <a:lnTo>
                  <a:pt x="87899" y="193957"/>
                </a:lnTo>
                <a:lnTo>
                  <a:pt x="41503" y="186512"/>
                </a:lnTo>
                <a:lnTo>
                  <a:pt x="10236" y="184924"/>
                </a:lnTo>
                <a:lnTo>
                  <a:pt x="18732" y="184073"/>
                </a:lnTo>
                <a:lnTo>
                  <a:pt x="48206" y="172499"/>
                </a:lnTo>
                <a:lnTo>
                  <a:pt x="71742" y="152122"/>
                </a:lnTo>
                <a:lnTo>
                  <a:pt x="87333" y="124946"/>
                </a:lnTo>
                <a:lnTo>
                  <a:pt x="92976" y="92976"/>
                </a:lnTo>
                <a:lnTo>
                  <a:pt x="85669" y="56787"/>
                </a:lnTo>
                <a:lnTo>
                  <a:pt x="65743" y="27233"/>
                </a:lnTo>
                <a:lnTo>
                  <a:pt x="36189" y="7307"/>
                </a:lnTo>
                <a:lnTo>
                  <a:pt x="0" y="0"/>
                </a:lnTo>
                <a:lnTo>
                  <a:pt x="48422" y="1957"/>
                </a:lnTo>
                <a:lnTo>
                  <a:pt x="95767" y="7727"/>
                </a:lnTo>
                <a:lnTo>
                  <a:pt x="141882" y="17159"/>
                </a:lnTo>
                <a:lnTo>
                  <a:pt x="186615" y="30099"/>
                </a:lnTo>
                <a:lnTo>
                  <a:pt x="229815" y="46397"/>
                </a:lnTo>
                <a:lnTo>
                  <a:pt x="271329" y="65901"/>
                </a:lnTo>
                <a:lnTo>
                  <a:pt x="311005" y="88458"/>
                </a:lnTo>
                <a:lnTo>
                  <a:pt x="348692" y="113916"/>
                </a:lnTo>
                <a:lnTo>
                  <a:pt x="384237" y="142124"/>
                </a:lnTo>
                <a:lnTo>
                  <a:pt x="417488" y="172929"/>
                </a:lnTo>
                <a:lnTo>
                  <a:pt x="448294" y="206180"/>
                </a:lnTo>
                <a:lnTo>
                  <a:pt x="476502" y="241725"/>
                </a:lnTo>
                <a:lnTo>
                  <a:pt x="501961" y="279411"/>
                </a:lnTo>
                <a:lnTo>
                  <a:pt x="524519" y="319088"/>
                </a:lnTo>
                <a:lnTo>
                  <a:pt x="544023" y="360602"/>
                </a:lnTo>
                <a:lnTo>
                  <a:pt x="560321" y="403802"/>
                </a:lnTo>
                <a:lnTo>
                  <a:pt x="573263" y="448536"/>
                </a:lnTo>
                <a:lnTo>
                  <a:pt x="582695" y="494652"/>
                </a:lnTo>
                <a:lnTo>
                  <a:pt x="588465" y="541998"/>
                </a:lnTo>
                <a:lnTo>
                  <a:pt x="590423" y="590423"/>
                </a:lnTo>
                <a:lnTo>
                  <a:pt x="588515" y="638221"/>
                </a:lnTo>
                <a:lnTo>
                  <a:pt x="582894" y="684962"/>
                </a:lnTo>
                <a:lnTo>
                  <a:pt x="573703" y="730514"/>
                </a:lnTo>
                <a:lnTo>
                  <a:pt x="561088" y="774725"/>
                </a:lnTo>
                <a:lnTo>
                  <a:pt x="545196" y="817451"/>
                </a:lnTo>
                <a:lnTo>
                  <a:pt x="526173" y="858545"/>
                </a:lnTo>
                <a:lnTo>
                  <a:pt x="504164" y="897861"/>
                </a:lnTo>
                <a:lnTo>
                  <a:pt x="479284" y="935294"/>
                </a:lnTo>
                <a:lnTo>
                  <a:pt x="451775" y="970575"/>
                </a:lnTo>
                <a:lnTo>
                  <a:pt x="421686" y="1003680"/>
                </a:lnTo>
                <a:lnTo>
                  <a:pt x="389197" y="1034423"/>
                </a:lnTo>
                <a:lnTo>
                  <a:pt x="354452" y="1062658"/>
                </a:lnTo>
                <a:lnTo>
                  <a:pt x="317598" y="1088238"/>
                </a:lnTo>
                <a:lnTo>
                  <a:pt x="278781" y="1111018"/>
                </a:lnTo>
                <a:lnTo>
                  <a:pt x="238148" y="1130851"/>
                </a:lnTo>
                <a:lnTo>
                  <a:pt x="195843" y="1147592"/>
                </a:lnTo>
                <a:lnTo>
                  <a:pt x="152013" y="1161094"/>
                </a:lnTo>
                <a:lnTo>
                  <a:pt x="106804" y="1171211"/>
                </a:lnTo>
                <a:lnTo>
                  <a:pt x="60363" y="1177798"/>
                </a:lnTo>
                <a:lnTo>
                  <a:pt x="0" y="118084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72302" y="2153346"/>
            <a:ext cx="590550" cy="1181100"/>
          </a:xfrm>
          <a:custGeom>
            <a:avLst/>
            <a:gdLst/>
            <a:ahLst/>
            <a:cxnLst/>
            <a:rect l="l" t="t" r="r" b="b"/>
            <a:pathLst>
              <a:path w="590550" h="1181100">
                <a:moveTo>
                  <a:pt x="0" y="1180655"/>
                </a:moveTo>
                <a:lnTo>
                  <a:pt x="48204" y="1167196"/>
                </a:lnTo>
                <a:lnTo>
                  <a:pt x="87323" y="1119654"/>
                </a:lnTo>
                <a:lnTo>
                  <a:pt x="92963" y="1087691"/>
                </a:lnTo>
                <a:lnTo>
                  <a:pt x="87323" y="1055728"/>
                </a:lnTo>
                <a:lnTo>
                  <a:pt x="71735" y="1028558"/>
                </a:lnTo>
                <a:lnTo>
                  <a:pt x="48204" y="1008186"/>
                </a:lnTo>
                <a:lnTo>
                  <a:pt x="18732" y="996619"/>
                </a:lnTo>
                <a:lnTo>
                  <a:pt x="10236" y="995756"/>
                </a:lnTo>
                <a:lnTo>
                  <a:pt x="41503" y="994181"/>
                </a:lnTo>
                <a:lnTo>
                  <a:pt x="87891" y="986736"/>
                </a:lnTo>
                <a:lnTo>
                  <a:pt x="132369" y="974205"/>
                </a:lnTo>
                <a:lnTo>
                  <a:pt x="174624" y="956901"/>
                </a:lnTo>
                <a:lnTo>
                  <a:pt x="214395" y="935101"/>
                </a:lnTo>
                <a:lnTo>
                  <a:pt x="251211" y="909230"/>
                </a:lnTo>
                <a:lnTo>
                  <a:pt x="284916" y="879489"/>
                </a:lnTo>
                <a:lnTo>
                  <a:pt x="315145" y="846229"/>
                </a:lnTo>
                <a:lnTo>
                  <a:pt x="341582" y="809763"/>
                </a:lnTo>
                <a:lnTo>
                  <a:pt x="363916" y="770405"/>
                </a:lnTo>
                <a:lnTo>
                  <a:pt x="381832" y="728469"/>
                </a:lnTo>
                <a:lnTo>
                  <a:pt x="395018" y="684267"/>
                </a:lnTo>
                <a:lnTo>
                  <a:pt x="403159" y="638108"/>
                </a:lnTo>
                <a:lnTo>
                  <a:pt x="405942" y="590321"/>
                </a:lnTo>
                <a:lnTo>
                  <a:pt x="403159" y="542531"/>
                </a:lnTo>
                <a:lnTo>
                  <a:pt x="395018" y="496380"/>
                </a:lnTo>
                <a:lnTo>
                  <a:pt x="381832" y="452180"/>
                </a:lnTo>
                <a:lnTo>
                  <a:pt x="363916" y="410245"/>
                </a:lnTo>
                <a:lnTo>
                  <a:pt x="341582" y="370889"/>
                </a:lnTo>
                <a:lnTo>
                  <a:pt x="315145" y="334424"/>
                </a:lnTo>
                <a:lnTo>
                  <a:pt x="284916" y="301165"/>
                </a:lnTo>
                <a:lnTo>
                  <a:pt x="251211" y="271424"/>
                </a:lnTo>
                <a:lnTo>
                  <a:pt x="214343" y="245516"/>
                </a:lnTo>
                <a:lnTo>
                  <a:pt x="174624" y="223753"/>
                </a:lnTo>
                <a:lnTo>
                  <a:pt x="132369" y="206450"/>
                </a:lnTo>
                <a:lnTo>
                  <a:pt x="87891" y="193919"/>
                </a:lnTo>
                <a:lnTo>
                  <a:pt x="41503" y="186474"/>
                </a:lnTo>
                <a:lnTo>
                  <a:pt x="10236" y="184899"/>
                </a:lnTo>
                <a:lnTo>
                  <a:pt x="18732" y="184035"/>
                </a:lnTo>
                <a:lnTo>
                  <a:pt x="48204" y="172468"/>
                </a:lnTo>
                <a:lnTo>
                  <a:pt x="71735" y="152096"/>
                </a:lnTo>
                <a:lnTo>
                  <a:pt x="87323" y="124926"/>
                </a:lnTo>
                <a:lnTo>
                  <a:pt x="92963" y="92963"/>
                </a:lnTo>
                <a:lnTo>
                  <a:pt x="85658" y="56776"/>
                </a:lnTo>
                <a:lnTo>
                  <a:pt x="65736" y="27227"/>
                </a:lnTo>
                <a:lnTo>
                  <a:pt x="36187" y="7305"/>
                </a:lnTo>
                <a:lnTo>
                  <a:pt x="0" y="0"/>
                </a:lnTo>
                <a:lnTo>
                  <a:pt x="48416" y="1956"/>
                </a:lnTo>
                <a:lnTo>
                  <a:pt x="95755" y="7726"/>
                </a:lnTo>
                <a:lnTo>
                  <a:pt x="141864" y="17156"/>
                </a:lnTo>
                <a:lnTo>
                  <a:pt x="186591" y="30095"/>
                </a:lnTo>
                <a:lnTo>
                  <a:pt x="229785" y="46390"/>
                </a:lnTo>
                <a:lnTo>
                  <a:pt x="271293" y="65891"/>
                </a:lnTo>
                <a:lnTo>
                  <a:pt x="310963" y="88444"/>
                </a:lnTo>
                <a:lnTo>
                  <a:pt x="348644" y="113898"/>
                </a:lnTo>
                <a:lnTo>
                  <a:pt x="384183" y="142102"/>
                </a:lnTo>
                <a:lnTo>
                  <a:pt x="417429" y="172902"/>
                </a:lnTo>
                <a:lnTo>
                  <a:pt x="448230" y="206148"/>
                </a:lnTo>
                <a:lnTo>
                  <a:pt x="476434" y="241686"/>
                </a:lnTo>
                <a:lnTo>
                  <a:pt x="501888" y="279366"/>
                </a:lnTo>
                <a:lnTo>
                  <a:pt x="524442" y="319036"/>
                </a:lnTo>
                <a:lnTo>
                  <a:pt x="543942" y="360543"/>
                </a:lnTo>
                <a:lnTo>
                  <a:pt x="560238" y="403735"/>
                </a:lnTo>
                <a:lnTo>
                  <a:pt x="573177" y="448461"/>
                </a:lnTo>
                <a:lnTo>
                  <a:pt x="582607" y="494569"/>
                </a:lnTo>
                <a:lnTo>
                  <a:pt x="588377" y="541906"/>
                </a:lnTo>
                <a:lnTo>
                  <a:pt x="590334" y="590321"/>
                </a:lnTo>
                <a:lnTo>
                  <a:pt x="588427" y="638113"/>
                </a:lnTo>
                <a:lnTo>
                  <a:pt x="582807" y="684848"/>
                </a:lnTo>
                <a:lnTo>
                  <a:pt x="573617" y="730393"/>
                </a:lnTo>
                <a:lnTo>
                  <a:pt x="561004" y="774599"/>
                </a:lnTo>
                <a:lnTo>
                  <a:pt x="545115" y="817318"/>
                </a:lnTo>
                <a:lnTo>
                  <a:pt x="526094" y="858406"/>
                </a:lnTo>
                <a:lnTo>
                  <a:pt x="504089" y="897716"/>
                </a:lnTo>
                <a:lnTo>
                  <a:pt x="479217" y="935138"/>
                </a:lnTo>
                <a:lnTo>
                  <a:pt x="451709" y="970417"/>
                </a:lnTo>
                <a:lnTo>
                  <a:pt x="421625" y="1003517"/>
                </a:lnTo>
                <a:lnTo>
                  <a:pt x="389141" y="1034255"/>
                </a:lnTo>
                <a:lnTo>
                  <a:pt x="354402" y="1062485"/>
                </a:lnTo>
                <a:lnTo>
                  <a:pt x="317555" y="1088061"/>
                </a:lnTo>
                <a:lnTo>
                  <a:pt x="278744" y="1110837"/>
                </a:lnTo>
                <a:lnTo>
                  <a:pt x="238117" y="1130667"/>
                </a:lnTo>
                <a:lnTo>
                  <a:pt x="195820" y="1147405"/>
                </a:lnTo>
                <a:lnTo>
                  <a:pt x="151997" y="1160905"/>
                </a:lnTo>
                <a:lnTo>
                  <a:pt x="106796" y="1171021"/>
                </a:lnTo>
                <a:lnTo>
                  <a:pt x="60363" y="1177607"/>
                </a:lnTo>
                <a:lnTo>
                  <a:pt x="0" y="118065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10542" y="2983304"/>
            <a:ext cx="125095" cy="515620"/>
          </a:xfrm>
          <a:custGeom>
            <a:avLst/>
            <a:gdLst/>
            <a:ahLst/>
            <a:cxnLst/>
            <a:rect l="l" t="t" r="r" b="b"/>
            <a:pathLst>
              <a:path w="125095" h="515619">
                <a:moveTo>
                  <a:pt x="62064" y="515480"/>
                </a:moveTo>
                <a:lnTo>
                  <a:pt x="30547" y="480279"/>
                </a:lnTo>
                <a:lnTo>
                  <a:pt x="17940" y="439948"/>
                </a:lnTo>
                <a:lnTo>
                  <a:pt x="8242" y="387727"/>
                </a:lnTo>
                <a:lnTo>
                  <a:pt x="2060" y="326063"/>
                </a:lnTo>
                <a:lnTo>
                  <a:pt x="0" y="257403"/>
                </a:lnTo>
                <a:lnTo>
                  <a:pt x="2060" y="189027"/>
                </a:lnTo>
                <a:lnTo>
                  <a:pt x="8242" y="127553"/>
                </a:lnTo>
                <a:lnTo>
                  <a:pt x="17940" y="75447"/>
                </a:lnTo>
                <a:lnTo>
                  <a:pt x="30547" y="35176"/>
                </a:lnTo>
                <a:lnTo>
                  <a:pt x="62064" y="0"/>
                </a:lnTo>
                <a:lnTo>
                  <a:pt x="78673" y="9206"/>
                </a:lnTo>
                <a:lnTo>
                  <a:pt x="106240" y="75490"/>
                </a:lnTo>
                <a:lnTo>
                  <a:pt x="116007" y="127654"/>
                </a:lnTo>
                <a:lnTo>
                  <a:pt x="122304" y="189225"/>
                </a:lnTo>
                <a:lnTo>
                  <a:pt x="124536" y="257746"/>
                </a:lnTo>
                <a:lnTo>
                  <a:pt x="122304" y="326262"/>
                </a:lnTo>
                <a:lnTo>
                  <a:pt x="116007" y="387829"/>
                </a:lnTo>
                <a:lnTo>
                  <a:pt x="106240" y="439991"/>
                </a:lnTo>
                <a:lnTo>
                  <a:pt x="93597" y="480291"/>
                </a:lnTo>
                <a:lnTo>
                  <a:pt x="62064" y="51548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65178" y="2418332"/>
            <a:ext cx="651510" cy="650875"/>
          </a:xfrm>
          <a:custGeom>
            <a:avLst/>
            <a:gdLst/>
            <a:ahLst/>
            <a:cxnLst/>
            <a:rect l="l" t="t" r="r" b="b"/>
            <a:pathLst>
              <a:path w="651510" h="650875">
                <a:moveTo>
                  <a:pt x="325831" y="650684"/>
                </a:moveTo>
                <a:lnTo>
                  <a:pt x="277753" y="647157"/>
                </a:lnTo>
                <a:lnTo>
                  <a:pt x="231862" y="636910"/>
                </a:lnTo>
                <a:lnTo>
                  <a:pt x="188659" y="620446"/>
                </a:lnTo>
                <a:lnTo>
                  <a:pt x="148644" y="598270"/>
                </a:lnTo>
                <a:lnTo>
                  <a:pt x="112319" y="570884"/>
                </a:lnTo>
                <a:lnTo>
                  <a:pt x="80187" y="538791"/>
                </a:lnTo>
                <a:lnTo>
                  <a:pt x="52749" y="502494"/>
                </a:lnTo>
                <a:lnTo>
                  <a:pt x="30510" y="462497"/>
                </a:lnTo>
                <a:lnTo>
                  <a:pt x="13998" y="419421"/>
                </a:lnTo>
                <a:lnTo>
                  <a:pt x="3650" y="373577"/>
                </a:lnTo>
                <a:lnTo>
                  <a:pt x="0" y="325551"/>
                </a:lnTo>
                <a:lnTo>
                  <a:pt x="3650" y="277422"/>
                </a:lnTo>
                <a:lnTo>
                  <a:pt x="13998" y="231492"/>
                </a:lnTo>
                <a:lnTo>
                  <a:pt x="30542" y="188264"/>
                </a:lnTo>
                <a:lnTo>
                  <a:pt x="52822" y="148186"/>
                </a:lnTo>
                <a:lnTo>
                  <a:pt x="80248" y="111891"/>
                </a:lnTo>
                <a:lnTo>
                  <a:pt x="112366" y="79798"/>
                </a:lnTo>
                <a:lnTo>
                  <a:pt x="148676" y="52413"/>
                </a:lnTo>
                <a:lnTo>
                  <a:pt x="188678" y="30237"/>
                </a:lnTo>
                <a:lnTo>
                  <a:pt x="231872" y="13774"/>
                </a:lnTo>
                <a:lnTo>
                  <a:pt x="277756" y="3527"/>
                </a:lnTo>
                <a:lnTo>
                  <a:pt x="325831" y="0"/>
                </a:lnTo>
                <a:lnTo>
                  <a:pt x="373911" y="3527"/>
                </a:lnTo>
                <a:lnTo>
                  <a:pt x="419802" y="13775"/>
                </a:lnTo>
                <a:lnTo>
                  <a:pt x="463000" y="30241"/>
                </a:lnTo>
                <a:lnTo>
                  <a:pt x="503003" y="52423"/>
                </a:lnTo>
                <a:lnTo>
                  <a:pt x="539306" y="79819"/>
                </a:lnTo>
                <a:lnTo>
                  <a:pt x="571406" y="111926"/>
                </a:lnTo>
                <a:lnTo>
                  <a:pt x="598796" y="148242"/>
                </a:lnTo>
                <a:lnTo>
                  <a:pt x="620973" y="188264"/>
                </a:lnTo>
                <a:lnTo>
                  <a:pt x="637405" y="231374"/>
                </a:lnTo>
                <a:lnTo>
                  <a:pt x="647652" y="277259"/>
                </a:lnTo>
                <a:lnTo>
                  <a:pt x="651179" y="325335"/>
                </a:lnTo>
                <a:lnTo>
                  <a:pt x="647652" y="373415"/>
                </a:lnTo>
                <a:lnTo>
                  <a:pt x="637405" y="419303"/>
                </a:lnTo>
                <a:lnTo>
                  <a:pt x="620942" y="462497"/>
                </a:lnTo>
                <a:lnTo>
                  <a:pt x="598723" y="502550"/>
                </a:lnTo>
                <a:lnTo>
                  <a:pt x="571344" y="538826"/>
                </a:lnTo>
                <a:lnTo>
                  <a:pt x="539259" y="570904"/>
                </a:lnTo>
                <a:lnTo>
                  <a:pt x="502971" y="598281"/>
                </a:lnTo>
                <a:lnTo>
                  <a:pt x="462981" y="620451"/>
                </a:lnTo>
                <a:lnTo>
                  <a:pt x="419793" y="636911"/>
                </a:lnTo>
                <a:lnTo>
                  <a:pt x="373908" y="647157"/>
                </a:lnTo>
                <a:lnTo>
                  <a:pt x="325831" y="65068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9226" y="2562515"/>
            <a:ext cx="332451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00000"/>
                </a:solidFill>
                <a:cs typeface="+mn-ea"/>
                <a:sym typeface="+mn-lt"/>
              </a:rPr>
              <a:t>0</a:t>
            </a:r>
            <a:r>
              <a:rPr sz="2000" b="1" dirty="0">
                <a:solidFill>
                  <a:srgbClr val="C00000"/>
                </a:solidFill>
                <a:cs typeface="+mn-ea"/>
                <a:sym typeface="+mn-lt"/>
              </a:rPr>
              <a:t>1</a:t>
            </a:r>
            <a:endParaRPr sz="2000" dirty="0">
              <a:cs typeface="+mn-ea"/>
              <a:sym typeface="+mn-l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10542" y="3978654"/>
            <a:ext cx="125095" cy="515620"/>
          </a:xfrm>
          <a:custGeom>
            <a:avLst/>
            <a:gdLst/>
            <a:ahLst/>
            <a:cxnLst/>
            <a:rect l="l" t="t" r="r" b="b"/>
            <a:pathLst>
              <a:path w="125095" h="515620">
                <a:moveTo>
                  <a:pt x="62064" y="515480"/>
                </a:moveTo>
                <a:lnTo>
                  <a:pt x="30547" y="480272"/>
                </a:lnTo>
                <a:lnTo>
                  <a:pt x="17940" y="439926"/>
                </a:lnTo>
                <a:lnTo>
                  <a:pt x="8242" y="387675"/>
                </a:lnTo>
                <a:lnTo>
                  <a:pt x="2060" y="325960"/>
                </a:lnTo>
                <a:lnTo>
                  <a:pt x="0" y="257225"/>
                </a:lnTo>
                <a:lnTo>
                  <a:pt x="2060" y="188924"/>
                </a:lnTo>
                <a:lnTo>
                  <a:pt x="8242" y="127500"/>
                </a:lnTo>
                <a:lnTo>
                  <a:pt x="17940" y="75425"/>
                </a:lnTo>
                <a:lnTo>
                  <a:pt x="30547" y="35169"/>
                </a:lnTo>
                <a:lnTo>
                  <a:pt x="62064" y="0"/>
                </a:lnTo>
                <a:lnTo>
                  <a:pt x="78673" y="9206"/>
                </a:lnTo>
                <a:lnTo>
                  <a:pt x="106240" y="75490"/>
                </a:lnTo>
                <a:lnTo>
                  <a:pt x="116007" y="127654"/>
                </a:lnTo>
                <a:lnTo>
                  <a:pt x="122304" y="189225"/>
                </a:lnTo>
                <a:lnTo>
                  <a:pt x="124536" y="257746"/>
                </a:lnTo>
                <a:lnTo>
                  <a:pt x="122304" y="326262"/>
                </a:lnTo>
                <a:lnTo>
                  <a:pt x="116007" y="387829"/>
                </a:lnTo>
                <a:lnTo>
                  <a:pt x="106240" y="439991"/>
                </a:lnTo>
                <a:lnTo>
                  <a:pt x="93597" y="480291"/>
                </a:lnTo>
                <a:lnTo>
                  <a:pt x="62064" y="51548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10542" y="4970994"/>
            <a:ext cx="125095" cy="515620"/>
          </a:xfrm>
          <a:custGeom>
            <a:avLst/>
            <a:gdLst/>
            <a:ahLst/>
            <a:cxnLst/>
            <a:rect l="l" t="t" r="r" b="b"/>
            <a:pathLst>
              <a:path w="125095" h="515620">
                <a:moveTo>
                  <a:pt x="62064" y="515480"/>
                </a:moveTo>
                <a:lnTo>
                  <a:pt x="30547" y="480264"/>
                </a:lnTo>
                <a:lnTo>
                  <a:pt x="17940" y="439899"/>
                </a:lnTo>
                <a:lnTo>
                  <a:pt x="8242" y="387611"/>
                </a:lnTo>
                <a:lnTo>
                  <a:pt x="2060" y="325835"/>
                </a:lnTo>
                <a:lnTo>
                  <a:pt x="0" y="257009"/>
                </a:lnTo>
                <a:lnTo>
                  <a:pt x="2060" y="188799"/>
                </a:lnTo>
                <a:lnTo>
                  <a:pt x="8242" y="127436"/>
                </a:lnTo>
                <a:lnTo>
                  <a:pt x="17940" y="75398"/>
                </a:lnTo>
                <a:lnTo>
                  <a:pt x="30547" y="35161"/>
                </a:lnTo>
                <a:lnTo>
                  <a:pt x="62064" y="0"/>
                </a:lnTo>
                <a:lnTo>
                  <a:pt x="78673" y="9206"/>
                </a:lnTo>
                <a:lnTo>
                  <a:pt x="106240" y="75488"/>
                </a:lnTo>
                <a:lnTo>
                  <a:pt x="116007" y="127650"/>
                </a:lnTo>
                <a:lnTo>
                  <a:pt x="122304" y="189218"/>
                </a:lnTo>
                <a:lnTo>
                  <a:pt x="124536" y="257733"/>
                </a:lnTo>
                <a:lnTo>
                  <a:pt x="122304" y="326254"/>
                </a:lnTo>
                <a:lnTo>
                  <a:pt x="116007" y="387825"/>
                </a:lnTo>
                <a:lnTo>
                  <a:pt x="106240" y="439989"/>
                </a:lnTo>
                <a:lnTo>
                  <a:pt x="93597" y="480291"/>
                </a:lnTo>
                <a:lnTo>
                  <a:pt x="62064" y="51548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63870" y="3148086"/>
            <a:ext cx="590550" cy="1181100"/>
          </a:xfrm>
          <a:custGeom>
            <a:avLst/>
            <a:gdLst/>
            <a:ahLst/>
            <a:cxnLst/>
            <a:rect l="l" t="t" r="r" b="b"/>
            <a:pathLst>
              <a:path w="590550" h="1181100">
                <a:moveTo>
                  <a:pt x="590321" y="1180668"/>
                </a:moveTo>
                <a:lnTo>
                  <a:pt x="529971" y="1177620"/>
                </a:lnTo>
                <a:lnTo>
                  <a:pt x="483537" y="1171032"/>
                </a:lnTo>
                <a:lnTo>
                  <a:pt x="438336" y="1160914"/>
                </a:lnTo>
                <a:lnTo>
                  <a:pt x="394513" y="1147412"/>
                </a:lnTo>
                <a:lnTo>
                  <a:pt x="352216" y="1130673"/>
                </a:lnTo>
                <a:lnTo>
                  <a:pt x="311589" y="1110842"/>
                </a:lnTo>
                <a:lnTo>
                  <a:pt x="272778" y="1088065"/>
                </a:lnTo>
                <a:lnTo>
                  <a:pt x="235931" y="1062488"/>
                </a:lnTo>
                <a:lnTo>
                  <a:pt x="201192" y="1034258"/>
                </a:lnTo>
                <a:lnTo>
                  <a:pt x="168708" y="1003520"/>
                </a:lnTo>
                <a:lnTo>
                  <a:pt x="138624" y="970420"/>
                </a:lnTo>
                <a:lnTo>
                  <a:pt x="111088" y="935105"/>
                </a:lnTo>
                <a:lnTo>
                  <a:pt x="86244" y="897719"/>
                </a:lnTo>
                <a:lnTo>
                  <a:pt x="64239" y="858410"/>
                </a:lnTo>
                <a:lnTo>
                  <a:pt x="45218" y="817324"/>
                </a:lnTo>
                <a:lnTo>
                  <a:pt x="29329" y="774605"/>
                </a:lnTo>
                <a:lnTo>
                  <a:pt x="16716" y="730401"/>
                </a:lnTo>
                <a:lnTo>
                  <a:pt x="7527" y="684857"/>
                </a:lnTo>
                <a:lnTo>
                  <a:pt x="1906" y="638119"/>
                </a:lnTo>
                <a:lnTo>
                  <a:pt x="0" y="590334"/>
                </a:lnTo>
                <a:lnTo>
                  <a:pt x="1956" y="541917"/>
                </a:lnTo>
                <a:lnTo>
                  <a:pt x="7726" y="494578"/>
                </a:lnTo>
                <a:lnTo>
                  <a:pt x="17156" y="448469"/>
                </a:lnTo>
                <a:lnTo>
                  <a:pt x="30095" y="403742"/>
                </a:lnTo>
                <a:lnTo>
                  <a:pt x="46390" y="360548"/>
                </a:lnTo>
                <a:lnTo>
                  <a:pt x="65891" y="319040"/>
                </a:lnTo>
                <a:lnTo>
                  <a:pt x="88444" y="279370"/>
                </a:lnTo>
                <a:lnTo>
                  <a:pt x="113898" y="241689"/>
                </a:lnTo>
                <a:lnTo>
                  <a:pt x="142102" y="206150"/>
                </a:lnTo>
                <a:lnTo>
                  <a:pt x="172902" y="172904"/>
                </a:lnTo>
                <a:lnTo>
                  <a:pt x="206148" y="142103"/>
                </a:lnTo>
                <a:lnTo>
                  <a:pt x="241686" y="113899"/>
                </a:lnTo>
                <a:lnTo>
                  <a:pt x="279366" y="88445"/>
                </a:lnTo>
                <a:lnTo>
                  <a:pt x="319036" y="65891"/>
                </a:lnTo>
                <a:lnTo>
                  <a:pt x="360543" y="46391"/>
                </a:lnTo>
                <a:lnTo>
                  <a:pt x="403735" y="30095"/>
                </a:lnTo>
                <a:lnTo>
                  <a:pt x="448461" y="17156"/>
                </a:lnTo>
                <a:lnTo>
                  <a:pt x="494569" y="7726"/>
                </a:lnTo>
                <a:lnTo>
                  <a:pt x="541906" y="1956"/>
                </a:lnTo>
                <a:lnTo>
                  <a:pt x="590321" y="0"/>
                </a:lnTo>
                <a:lnTo>
                  <a:pt x="554134" y="7306"/>
                </a:lnTo>
                <a:lnTo>
                  <a:pt x="524584" y="27231"/>
                </a:lnTo>
                <a:lnTo>
                  <a:pt x="504662" y="56782"/>
                </a:lnTo>
                <a:lnTo>
                  <a:pt x="497357" y="92964"/>
                </a:lnTo>
                <a:lnTo>
                  <a:pt x="502998" y="124932"/>
                </a:lnTo>
                <a:lnTo>
                  <a:pt x="518585" y="152103"/>
                </a:lnTo>
                <a:lnTo>
                  <a:pt x="542116" y="172475"/>
                </a:lnTo>
                <a:lnTo>
                  <a:pt x="571588" y="184048"/>
                </a:lnTo>
                <a:lnTo>
                  <a:pt x="580085" y="184899"/>
                </a:lnTo>
                <a:lnTo>
                  <a:pt x="548817" y="186486"/>
                </a:lnTo>
                <a:lnTo>
                  <a:pt x="502429" y="193929"/>
                </a:lnTo>
                <a:lnTo>
                  <a:pt x="457951" y="206458"/>
                </a:lnTo>
                <a:lnTo>
                  <a:pt x="415696" y="223761"/>
                </a:lnTo>
                <a:lnTo>
                  <a:pt x="375978" y="245523"/>
                </a:lnTo>
                <a:lnTo>
                  <a:pt x="339109" y="271431"/>
                </a:lnTo>
                <a:lnTo>
                  <a:pt x="305404" y="301172"/>
                </a:lnTo>
                <a:lnTo>
                  <a:pt x="275176" y="334432"/>
                </a:lnTo>
                <a:lnTo>
                  <a:pt x="248738" y="370898"/>
                </a:lnTo>
                <a:lnTo>
                  <a:pt x="226405" y="410255"/>
                </a:lnTo>
                <a:lnTo>
                  <a:pt x="208488" y="452191"/>
                </a:lnTo>
                <a:lnTo>
                  <a:pt x="195303" y="496392"/>
                </a:lnTo>
                <a:lnTo>
                  <a:pt x="187161" y="542544"/>
                </a:lnTo>
                <a:lnTo>
                  <a:pt x="184378" y="590334"/>
                </a:lnTo>
                <a:lnTo>
                  <a:pt x="187161" y="638123"/>
                </a:lnTo>
                <a:lnTo>
                  <a:pt x="195303" y="684275"/>
                </a:lnTo>
                <a:lnTo>
                  <a:pt x="208488" y="728475"/>
                </a:lnTo>
                <a:lnTo>
                  <a:pt x="226405" y="770410"/>
                </a:lnTo>
                <a:lnTo>
                  <a:pt x="248738" y="809766"/>
                </a:lnTo>
                <a:lnTo>
                  <a:pt x="275176" y="846231"/>
                </a:lnTo>
                <a:lnTo>
                  <a:pt x="305404" y="879490"/>
                </a:lnTo>
                <a:lnTo>
                  <a:pt x="339109" y="909230"/>
                </a:lnTo>
                <a:lnTo>
                  <a:pt x="375978" y="935139"/>
                </a:lnTo>
                <a:lnTo>
                  <a:pt x="415696" y="956901"/>
                </a:lnTo>
                <a:lnTo>
                  <a:pt x="457951" y="974205"/>
                </a:lnTo>
                <a:lnTo>
                  <a:pt x="502429" y="986736"/>
                </a:lnTo>
                <a:lnTo>
                  <a:pt x="548817" y="994181"/>
                </a:lnTo>
                <a:lnTo>
                  <a:pt x="580085" y="995768"/>
                </a:lnTo>
                <a:lnTo>
                  <a:pt x="571588" y="996619"/>
                </a:lnTo>
                <a:lnTo>
                  <a:pt x="542116" y="1008192"/>
                </a:lnTo>
                <a:lnTo>
                  <a:pt x="518585" y="1028565"/>
                </a:lnTo>
                <a:lnTo>
                  <a:pt x="502998" y="1055736"/>
                </a:lnTo>
                <a:lnTo>
                  <a:pt x="497357" y="1087704"/>
                </a:lnTo>
                <a:lnTo>
                  <a:pt x="502998" y="1119664"/>
                </a:lnTo>
                <a:lnTo>
                  <a:pt x="518585" y="1146832"/>
                </a:lnTo>
                <a:lnTo>
                  <a:pt x="542116" y="1167203"/>
                </a:lnTo>
                <a:lnTo>
                  <a:pt x="571588" y="1178775"/>
                </a:lnTo>
                <a:lnTo>
                  <a:pt x="590321" y="118066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29453" y="3413681"/>
            <a:ext cx="651510" cy="650875"/>
          </a:xfrm>
          <a:custGeom>
            <a:avLst/>
            <a:gdLst/>
            <a:ahLst/>
            <a:cxnLst/>
            <a:rect l="l" t="t" r="r" b="b"/>
            <a:pathLst>
              <a:path w="651510" h="650875">
                <a:moveTo>
                  <a:pt x="325348" y="650684"/>
                </a:moveTo>
                <a:lnTo>
                  <a:pt x="277269" y="647157"/>
                </a:lnTo>
                <a:lnTo>
                  <a:pt x="231380" y="636910"/>
                </a:lnTo>
                <a:lnTo>
                  <a:pt x="188186" y="620447"/>
                </a:lnTo>
                <a:lnTo>
                  <a:pt x="148189" y="598271"/>
                </a:lnTo>
                <a:lnTo>
                  <a:pt x="111893" y="570885"/>
                </a:lnTo>
                <a:lnTo>
                  <a:pt x="79800" y="538793"/>
                </a:lnTo>
                <a:lnTo>
                  <a:pt x="52413" y="502498"/>
                </a:lnTo>
                <a:lnTo>
                  <a:pt x="30237" y="462502"/>
                </a:lnTo>
                <a:lnTo>
                  <a:pt x="13774" y="419310"/>
                </a:lnTo>
                <a:lnTo>
                  <a:pt x="3527" y="373424"/>
                </a:lnTo>
                <a:lnTo>
                  <a:pt x="0" y="325348"/>
                </a:lnTo>
                <a:lnTo>
                  <a:pt x="3527" y="277269"/>
                </a:lnTo>
                <a:lnTo>
                  <a:pt x="13774" y="231380"/>
                </a:lnTo>
                <a:lnTo>
                  <a:pt x="30237" y="188186"/>
                </a:lnTo>
                <a:lnTo>
                  <a:pt x="52413" y="148189"/>
                </a:lnTo>
                <a:lnTo>
                  <a:pt x="79800" y="111893"/>
                </a:lnTo>
                <a:lnTo>
                  <a:pt x="111893" y="79800"/>
                </a:lnTo>
                <a:lnTo>
                  <a:pt x="148189" y="52413"/>
                </a:lnTo>
                <a:lnTo>
                  <a:pt x="188186" y="30237"/>
                </a:lnTo>
                <a:lnTo>
                  <a:pt x="231380" y="13774"/>
                </a:lnTo>
                <a:lnTo>
                  <a:pt x="277269" y="3527"/>
                </a:lnTo>
                <a:lnTo>
                  <a:pt x="325348" y="0"/>
                </a:lnTo>
                <a:lnTo>
                  <a:pt x="373425" y="3527"/>
                </a:lnTo>
                <a:lnTo>
                  <a:pt x="419314" y="13774"/>
                </a:lnTo>
                <a:lnTo>
                  <a:pt x="462517" y="30238"/>
                </a:lnTo>
                <a:lnTo>
                  <a:pt x="502533" y="52415"/>
                </a:lnTo>
                <a:lnTo>
                  <a:pt x="538862" y="79802"/>
                </a:lnTo>
                <a:lnTo>
                  <a:pt x="571005" y="111897"/>
                </a:lnTo>
                <a:lnTo>
                  <a:pt x="598461" y="148196"/>
                </a:lnTo>
                <a:lnTo>
                  <a:pt x="620730" y="188196"/>
                </a:lnTo>
                <a:lnTo>
                  <a:pt x="637313" y="231394"/>
                </a:lnTo>
                <a:lnTo>
                  <a:pt x="647710" y="277288"/>
                </a:lnTo>
                <a:lnTo>
                  <a:pt x="651421" y="325374"/>
                </a:lnTo>
                <a:lnTo>
                  <a:pt x="647710" y="373443"/>
                </a:lnTo>
                <a:lnTo>
                  <a:pt x="637313" y="419324"/>
                </a:lnTo>
                <a:lnTo>
                  <a:pt x="620730" y="462512"/>
                </a:lnTo>
                <a:lnTo>
                  <a:pt x="598461" y="502504"/>
                </a:lnTo>
                <a:lnTo>
                  <a:pt x="571005" y="538797"/>
                </a:lnTo>
                <a:lnTo>
                  <a:pt x="538862" y="570887"/>
                </a:lnTo>
                <a:lnTo>
                  <a:pt x="502533" y="598272"/>
                </a:lnTo>
                <a:lnTo>
                  <a:pt x="462517" y="620447"/>
                </a:lnTo>
                <a:lnTo>
                  <a:pt x="419314" y="636910"/>
                </a:lnTo>
                <a:lnTo>
                  <a:pt x="373425" y="647157"/>
                </a:lnTo>
                <a:lnTo>
                  <a:pt x="325348" y="65068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dirty="0">
              <a:cs typeface="+mn-ea"/>
              <a:sym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13005" y="3557864"/>
            <a:ext cx="32006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00000"/>
                </a:solidFill>
                <a:cs typeface="+mn-ea"/>
                <a:sym typeface="+mn-lt"/>
              </a:rPr>
              <a:t>0</a:t>
            </a:r>
            <a:r>
              <a:rPr sz="2000" b="1" dirty="0">
                <a:solidFill>
                  <a:srgbClr val="C00000"/>
                </a:solidFill>
                <a:cs typeface="+mn-ea"/>
                <a:sym typeface="+mn-lt"/>
              </a:rPr>
              <a:t>2</a:t>
            </a:r>
            <a:endParaRPr sz="2000" dirty="0">
              <a:cs typeface="+mn-ea"/>
              <a:sym typeface="+mn-l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65178" y="4405412"/>
            <a:ext cx="651510" cy="650875"/>
          </a:xfrm>
          <a:custGeom>
            <a:avLst/>
            <a:gdLst/>
            <a:ahLst/>
            <a:cxnLst/>
            <a:rect l="l" t="t" r="r" b="b"/>
            <a:pathLst>
              <a:path w="651510" h="650875">
                <a:moveTo>
                  <a:pt x="325831" y="650684"/>
                </a:moveTo>
                <a:lnTo>
                  <a:pt x="277753" y="647157"/>
                </a:lnTo>
                <a:lnTo>
                  <a:pt x="231859" y="636910"/>
                </a:lnTo>
                <a:lnTo>
                  <a:pt x="188651" y="620446"/>
                </a:lnTo>
                <a:lnTo>
                  <a:pt x="148630" y="598270"/>
                </a:lnTo>
                <a:lnTo>
                  <a:pt x="112299" y="570884"/>
                </a:lnTo>
                <a:lnTo>
                  <a:pt x="80160" y="538791"/>
                </a:lnTo>
                <a:lnTo>
                  <a:pt x="52780" y="502606"/>
                </a:lnTo>
                <a:lnTo>
                  <a:pt x="30542" y="462663"/>
                </a:lnTo>
                <a:lnTo>
                  <a:pt x="13998" y="419540"/>
                </a:lnTo>
                <a:lnTo>
                  <a:pt x="3650" y="373739"/>
                </a:lnTo>
                <a:lnTo>
                  <a:pt x="0" y="325767"/>
                </a:lnTo>
                <a:lnTo>
                  <a:pt x="3650" y="277584"/>
                </a:lnTo>
                <a:lnTo>
                  <a:pt x="13998" y="231610"/>
                </a:lnTo>
                <a:lnTo>
                  <a:pt x="30542" y="188347"/>
                </a:lnTo>
                <a:lnTo>
                  <a:pt x="52780" y="148297"/>
                </a:lnTo>
                <a:lnTo>
                  <a:pt x="80213" y="111961"/>
                </a:lnTo>
                <a:lnTo>
                  <a:pt x="112393" y="79798"/>
                </a:lnTo>
                <a:lnTo>
                  <a:pt x="148695" y="52413"/>
                </a:lnTo>
                <a:lnTo>
                  <a:pt x="188690" y="30237"/>
                </a:lnTo>
                <a:lnTo>
                  <a:pt x="231877" y="13774"/>
                </a:lnTo>
                <a:lnTo>
                  <a:pt x="277759" y="3527"/>
                </a:lnTo>
                <a:lnTo>
                  <a:pt x="325831" y="0"/>
                </a:lnTo>
                <a:lnTo>
                  <a:pt x="373911" y="3527"/>
                </a:lnTo>
                <a:lnTo>
                  <a:pt x="419805" y="13776"/>
                </a:lnTo>
                <a:lnTo>
                  <a:pt x="463008" y="30246"/>
                </a:lnTo>
                <a:lnTo>
                  <a:pt x="503017" y="52433"/>
                </a:lnTo>
                <a:lnTo>
                  <a:pt x="539327" y="79839"/>
                </a:lnTo>
                <a:lnTo>
                  <a:pt x="571432" y="111961"/>
                </a:lnTo>
                <a:lnTo>
                  <a:pt x="598765" y="148186"/>
                </a:lnTo>
                <a:lnTo>
                  <a:pt x="620942" y="188181"/>
                </a:lnTo>
                <a:lnTo>
                  <a:pt x="637405" y="231374"/>
                </a:lnTo>
                <a:lnTo>
                  <a:pt x="647652" y="277259"/>
                </a:lnTo>
                <a:lnTo>
                  <a:pt x="651179" y="325335"/>
                </a:lnTo>
                <a:lnTo>
                  <a:pt x="647652" y="373415"/>
                </a:lnTo>
                <a:lnTo>
                  <a:pt x="637405" y="419303"/>
                </a:lnTo>
                <a:lnTo>
                  <a:pt x="620942" y="462497"/>
                </a:lnTo>
                <a:lnTo>
                  <a:pt x="598765" y="502494"/>
                </a:lnTo>
                <a:lnTo>
                  <a:pt x="571379" y="538791"/>
                </a:lnTo>
                <a:lnTo>
                  <a:pt x="539232" y="570924"/>
                </a:lnTo>
                <a:lnTo>
                  <a:pt x="502952" y="598291"/>
                </a:lnTo>
                <a:lnTo>
                  <a:pt x="462970" y="620455"/>
                </a:lnTo>
                <a:lnTo>
                  <a:pt x="419787" y="636912"/>
                </a:lnTo>
                <a:lnTo>
                  <a:pt x="373906" y="647157"/>
                </a:lnTo>
                <a:lnTo>
                  <a:pt x="325831" y="65068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9226" y="4549595"/>
            <a:ext cx="332451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00000"/>
                </a:solidFill>
                <a:cs typeface="+mn-ea"/>
                <a:sym typeface="+mn-lt"/>
              </a:rPr>
              <a:t>0</a:t>
            </a:r>
            <a:r>
              <a:rPr sz="2000" b="1" dirty="0">
                <a:solidFill>
                  <a:srgbClr val="C00000"/>
                </a:solidFill>
                <a:cs typeface="+mn-ea"/>
                <a:sym typeface="+mn-lt"/>
              </a:rPr>
              <a:t>3</a:t>
            </a:r>
            <a:endParaRPr sz="2000" dirty="0">
              <a:cs typeface="+mn-ea"/>
              <a:sym typeface="+mn-l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0889" y="4103558"/>
            <a:ext cx="3716438" cy="904478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spcBef>
                <a:spcPts val="1410"/>
              </a:spcBef>
            </a:pPr>
            <a:r>
              <a:rPr sz="2800" b="1" dirty="0">
                <a:solidFill>
                  <a:srgbClr val="C00000"/>
                </a:solidFill>
                <a:cs typeface="+mn-ea"/>
                <a:sym typeface="+mn-lt"/>
              </a:rPr>
              <a:t>3.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一次只读</a:t>
            </a:r>
            <a:r>
              <a:rPr lang="en-US" altLang="zh-CN" sz="2800" b="1" dirty="0">
                <a:solidFill>
                  <a:srgbClr val="C00000"/>
                </a:solidFill>
                <a:cs typeface="+mn-ea"/>
                <a:sym typeface="+mn-lt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写一个数据</a:t>
            </a:r>
          </a:p>
          <a:p>
            <a:pPr marL="12700" marR="5080" algn="just">
              <a:lnSpc>
                <a:spcPct val="140000"/>
              </a:lnSpc>
              <a:spcBef>
                <a:spcPts val="40"/>
              </a:spcBef>
            </a:pPr>
            <a:r>
              <a:rPr lang="zh-CN" altLang="en-US" dirty="0">
                <a:cs typeface="+mn-ea"/>
                <a:sym typeface="+mn-lt"/>
              </a:rPr>
              <a:t>硬件设计十分简单</a:t>
            </a:r>
            <a:endParaRPr dirty="0">
              <a:cs typeface="+mn-ea"/>
              <a:sym typeface="+mn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62800" y="3276600"/>
            <a:ext cx="3937635" cy="93807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spcBef>
                <a:spcPts val="1410"/>
              </a:spcBef>
            </a:pPr>
            <a:r>
              <a:rPr sz="2800" b="1" dirty="0">
                <a:solidFill>
                  <a:srgbClr val="C00000"/>
                </a:solidFill>
                <a:cs typeface="+mn-ea"/>
                <a:sym typeface="+mn-lt"/>
              </a:rPr>
              <a:t>2.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无地址自增自减模式</a:t>
            </a:r>
            <a:endParaRPr lang="en-US" altLang="zh-CN" sz="28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lang="zh-CN" altLang="en-US" dirty="0">
                <a:cs typeface="+mn-ea"/>
                <a:sym typeface="+mn-lt"/>
              </a:rPr>
              <a:t>简化生成逻辑</a:t>
            </a:r>
            <a:endParaRPr dirty="0">
              <a:cs typeface="+mn-ea"/>
              <a:sym typeface="+mn-l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0889" y="1976676"/>
            <a:ext cx="3582035" cy="1110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800" b="1" dirty="0">
                <a:solidFill>
                  <a:srgbClr val="C00000"/>
                </a:solidFill>
                <a:cs typeface="+mn-ea"/>
                <a:sym typeface="+mn-lt"/>
              </a:rPr>
              <a:t>1.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仅支持小端格式</a:t>
            </a:r>
            <a:endParaRPr lang="en-US" altLang="zh-CN" sz="28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cs typeface="+mn-ea"/>
                <a:sym typeface="+mn-lt"/>
              </a:rPr>
              <a:t>可以简化硬件的实现，无须做特别的数据转换</a:t>
            </a:r>
          </a:p>
        </p:txBody>
      </p:sp>
      <p:sp>
        <p:nvSpPr>
          <p:cNvPr id="25" name="object 2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22909" cy="443230"/>
          </a:xfrm>
          <a:custGeom>
            <a:avLst/>
            <a:gdLst/>
            <a:ahLst/>
            <a:cxnLst/>
            <a:rect l="l" t="t" r="r" b="b"/>
            <a:pathLst>
              <a:path w="422909" h="443230">
                <a:moveTo>
                  <a:pt x="0" y="443114"/>
                </a:moveTo>
                <a:lnTo>
                  <a:pt x="0" y="0"/>
                </a:lnTo>
                <a:lnTo>
                  <a:pt x="422640" y="0"/>
                </a:lnTo>
                <a:lnTo>
                  <a:pt x="0" y="4431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5539" y="113385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40"/>
                </a:lnTo>
                <a:lnTo>
                  <a:pt x="0" y="5105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38259" y="1134021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4" h="511810">
                <a:moveTo>
                  <a:pt x="261353" y="511327"/>
                </a:moveTo>
                <a:lnTo>
                  <a:pt x="214404" y="507208"/>
                </a:lnTo>
                <a:lnTo>
                  <a:pt x="170212" y="495332"/>
                </a:lnTo>
                <a:lnTo>
                  <a:pt x="129514" y="476421"/>
                </a:lnTo>
                <a:lnTo>
                  <a:pt x="93046" y="451198"/>
                </a:lnTo>
                <a:lnTo>
                  <a:pt x="61546" y="420384"/>
                </a:lnTo>
                <a:lnTo>
                  <a:pt x="35753" y="384701"/>
                </a:lnTo>
                <a:lnTo>
                  <a:pt x="16433" y="344968"/>
                </a:lnTo>
                <a:lnTo>
                  <a:pt x="4260" y="301762"/>
                </a:lnTo>
                <a:lnTo>
                  <a:pt x="0" y="255866"/>
                </a:lnTo>
                <a:lnTo>
                  <a:pt x="4260" y="209850"/>
                </a:lnTo>
                <a:lnTo>
                  <a:pt x="16433" y="166550"/>
                </a:lnTo>
                <a:lnTo>
                  <a:pt x="35782" y="126685"/>
                </a:lnTo>
                <a:lnTo>
                  <a:pt x="61607" y="90943"/>
                </a:lnTo>
                <a:lnTo>
                  <a:pt x="93090" y="60129"/>
                </a:lnTo>
                <a:lnTo>
                  <a:pt x="129541" y="34905"/>
                </a:lnTo>
                <a:lnTo>
                  <a:pt x="170225" y="15995"/>
                </a:lnTo>
                <a:lnTo>
                  <a:pt x="214408" y="4119"/>
                </a:lnTo>
                <a:lnTo>
                  <a:pt x="261353" y="0"/>
                </a:lnTo>
                <a:lnTo>
                  <a:pt x="308298" y="4119"/>
                </a:lnTo>
                <a:lnTo>
                  <a:pt x="352485" y="15997"/>
                </a:lnTo>
                <a:lnTo>
                  <a:pt x="393177" y="34913"/>
                </a:lnTo>
                <a:lnTo>
                  <a:pt x="429634" y="60146"/>
                </a:lnTo>
                <a:lnTo>
                  <a:pt x="461118" y="90977"/>
                </a:lnTo>
                <a:lnTo>
                  <a:pt x="486888" y="126685"/>
                </a:lnTo>
                <a:lnTo>
                  <a:pt x="506176" y="166454"/>
                </a:lnTo>
                <a:lnTo>
                  <a:pt x="518308" y="209707"/>
                </a:lnTo>
                <a:lnTo>
                  <a:pt x="522516" y="255663"/>
                </a:lnTo>
                <a:lnTo>
                  <a:pt x="518308" y="301619"/>
                </a:lnTo>
                <a:lnTo>
                  <a:pt x="506176" y="344872"/>
                </a:lnTo>
                <a:lnTo>
                  <a:pt x="486859" y="384701"/>
                </a:lnTo>
                <a:lnTo>
                  <a:pt x="461057" y="420419"/>
                </a:lnTo>
                <a:lnTo>
                  <a:pt x="429590" y="451216"/>
                </a:lnTo>
                <a:lnTo>
                  <a:pt x="393149" y="476429"/>
                </a:lnTo>
                <a:lnTo>
                  <a:pt x="352472" y="495334"/>
                </a:lnTo>
                <a:lnTo>
                  <a:pt x="308293" y="507208"/>
                </a:lnTo>
                <a:lnTo>
                  <a:pt x="261353" y="51132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9883" y="1133475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5" h="511810">
                <a:moveTo>
                  <a:pt x="260921" y="511327"/>
                </a:moveTo>
                <a:lnTo>
                  <a:pt x="213970" y="507208"/>
                </a:lnTo>
                <a:lnTo>
                  <a:pt x="169772" y="495332"/>
                </a:lnTo>
                <a:lnTo>
                  <a:pt x="129068" y="476421"/>
                </a:lnTo>
                <a:lnTo>
                  <a:pt x="92670" y="451264"/>
                </a:lnTo>
                <a:lnTo>
                  <a:pt x="61213" y="420512"/>
                </a:lnTo>
                <a:lnTo>
                  <a:pt x="35478" y="384923"/>
                </a:lnTo>
                <a:lnTo>
                  <a:pt x="16204" y="345225"/>
                </a:lnTo>
                <a:lnTo>
                  <a:pt x="4132" y="302145"/>
                </a:lnTo>
                <a:lnTo>
                  <a:pt x="0" y="256412"/>
                </a:lnTo>
                <a:lnTo>
                  <a:pt x="4132" y="210234"/>
                </a:lnTo>
                <a:lnTo>
                  <a:pt x="16204" y="166807"/>
                </a:lnTo>
                <a:lnTo>
                  <a:pt x="35478" y="126847"/>
                </a:lnTo>
                <a:lnTo>
                  <a:pt x="61213" y="91071"/>
                </a:lnTo>
                <a:lnTo>
                  <a:pt x="92670" y="60194"/>
                </a:lnTo>
                <a:lnTo>
                  <a:pt x="129168" y="34905"/>
                </a:lnTo>
                <a:lnTo>
                  <a:pt x="169820" y="15995"/>
                </a:lnTo>
                <a:lnTo>
                  <a:pt x="213986" y="4119"/>
                </a:lnTo>
                <a:lnTo>
                  <a:pt x="260921" y="0"/>
                </a:lnTo>
                <a:lnTo>
                  <a:pt x="307869" y="4120"/>
                </a:lnTo>
                <a:lnTo>
                  <a:pt x="352068" y="16003"/>
                </a:lnTo>
                <a:lnTo>
                  <a:pt x="392777" y="34933"/>
                </a:lnTo>
                <a:lnTo>
                  <a:pt x="429189" y="60129"/>
                </a:lnTo>
                <a:lnTo>
                  <a:pt x="460668" y="90943"/>
                </a:lnTo>
                <a:lnTo>
                  <a:pt x="486436" y="126625"/>
                </a:lnTo>
                <a:lnTo>
                  <a:pt x="505756" y="166454"/>
                </a:lnTo>
                <a:lnTo>
                  <a:pt x="517888" y="209707"/>
                </a:lnTo>
                <a:lnTo>
                  <a:pt x="522097" y="255663"/>
                </a:lnTo>
                <a:lnTo>
                  <a:pt x="517888" y="301619"/>
                </a:lnTo>
                <a:lnTo>
                  <a:pt x="505756" y="344872"/>
                </a:lnTo>
                <a:lnTo>
                  <a:pt x="486436" y="384701"/>
                </a:lnTo>
                <a:lnTo>
                  <a:pt x="460668" y="420384"/>
                </a:lnTo>
                <a:lnTo>
                  <a:pt x="429189" y="451198"/>
                </a:lnTo>
                <a:lnTo>
                  <a:pt x="392677" y="476449"/>
                </a:lnTo>
                <a:lnTo>
                  <a:pt x="352019" y="495340"/>
                </a:lnTo>
                <a:lnTo>
                  <a:pt x="307853" y="507209"/>
                </a:lnTo>
                <a:lnTo>
                  <a:pt x="260921" y="51132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dirty="0">
              <a:cs typeface="+mn-ea"/>
              <a:sym typeface="+mn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702" y="11067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15539" y="2441448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8259" y="2441232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2"/>
                </a:lnTo>
                <a:lnTo>
                  <a:pt x="170217" y="494735"/>
                </a:lnTo>
                <a:lnTo>
                  <a:pt x="129524" y="475830"/>
                </a:lnTo>
                <a:lnTo>
                  <a:pt x="93064" y="450605"/>
                </a:lnTo>
                <a:lnTo>
                  <a:pt x="61571" y="419775"/>
                </a:lnTo>
                <a:lnTo>
                  <a:pt x="35782" y="384056"/>
                </a:lnTo>
                <a:lnTo>
                  <a:pt x="16433" y="344164"/>
                </a:lnTo>
                <a:lnTo>
                  <a:pt x="4260" y="300814"/>
                </a:lnTo>
                <a:lnTo>
                  <a:pt x="0" y="254723"/>
                </a:lnTo>
                <a:lnTo>
                  <a:pt x="4260" y="209014"/>
                </a:lnTo>
                <a:lnTo>
                  <a:pt x="16433" y="165961"/>
                </a:lnTo>
                <a:lnTo>
                  <a:pt x="35782" y="126290"/>
                </a:lnTo>
                <a:lnTo>
                  <a:pt x="61571" y="90729"/>
                </a:lnTo>
                <a:lnTo>
                  <a:pt x="93064" y="60004"/>
                </a:lnTo>
                <a:lnTo>
                  <a:pt x="129524" y="34842"/>
                </a:lnTo>
                <a:lnTo>
                  <a:pt x="170217" y="15970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7"/>
                </a:lnTo>
                <a:lnTo>
                  <a:pt x="393166" y="34866"/>
                </a:lnTo>
                <a:lnTo>
                  <a:pt x="429616" y="60060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616" y="450661"/>
                </a:lnTo>
                <a:lnTo>
                  <a:pt x="393166" y="475854"/>
                </a:lnTo>
                <a:lnTo>
                  <a:pt x="352480" y="494742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19883" y="2440698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3"/>
                </a:lnTo>
                <a:lnTo>
                  <a:pt x="169790" y="494739"/>
                </a:lnTo>
                <a:lnTo>
                  <a:pt x="129109" y="475847"/>
                </a:lnTo>
                <a:lnTo>
                  <a:pt x="92670" y="450648"/>
                </a:lnTo>
                <a:lnTo>
                  <a:pt x="61213" y="419861"/>
                </a:lnTo>
                <a:lnTo>
                  <a:pt x="35478" y="384208"/>
                </a:lnTo>
                <a:lnTo>
                  <a:pt x="16204" y="344410"/>
                </a:lnTo>
                <a:lnTo>
                  <a:pt x="4132" y="301185"/>
                </a:lnTo>
                <a:lnTo>
                  <a:pt x="0" y="255257"/>
                </a:lnTo>
                <a:lnTo>
                  <a:pt x="4132" y="209385"/>
                </a:lnTo>
                <a:lnTo>
                  <a:pt x="16204" y="166207"/>
                </a:lnTo>
                <a:lnTo>
                  <a:pt x="35478" y="126443"/>
                </a:lnTo>
                <a:lnTo>
                  <a:pt x="61213" y="90815"/>
                </a:lnTo>
                <a:lnTo>
                  <a:pt x="92670" y="60047"/>
                </a:lnTo>
                <a:lnTo>
                  <a:pt x="129109" y="34859"/>
                </a:lnTo>
                <a:lnTo>
                  <a:pt x="169790" y="15974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57"/>
                </a:lnTo>
                <a:lnTo>
                  <a:pt x="505756" y="344457"/>
                </a:lnTo>
                <a:lnTo>
                  <a:pt x="486436" y="384238"/>
                </a:lnTo>
                <a:lnTo>
                  <a:pt x="460668" y="419879"/>
                </a:lnTo>
                <a:lnTo>
                  <a:pt x="429189" y="450657"/>
                </a:lnTo>
                <a:lnTo>
                  <a:pt x="392737" y="475851"/>
                </a:lnTo>
                <a:lnTo>
                  <a:pt x="352050" y="494740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4702" y="24132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15539" y="374751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38259" y="3747833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3" y="506603"/>
                </a:lnTo>
                <a:lnTo>
                  <a:pt x="170208" y="494742"/>
                </a:lnTo>
                <a:lnTo>
                  <a:pt x="129505" y="475854"/>
                </a:lnTo>
                <a:lnTo>
                  <a:pt x="93032" y="450661"/>
                </a:lnTo>
                <a:lnTo>
                  <a:pt x="61571" y="419945"/>
                </a:lnTo>
                <a:lnTo>
                  <a:pt x="35782" y="384349"/>
                </a:lnTo>
                <a:lnTo>
                  <a:pt x="16433" y="344630"/>
                </a:lnTo>
                <a:lnTo>
                  <a:pt x="4260" y="301510"/>
                </a:lnTo>
                <a:lnTo>
                  <a:pt x="0" y="255714"/>
                </a:lnTo>
                <a:lnTo>
                  <a:pt x="4260" y="209710"/>
                </a:lnTo>
                <a:lnTo>
                  <a:pt x="16433" y="166427"/>
                </a:lnTo>
                <a:lnTo>
                  <a:pt x="35782" y="126584"/>
                </a:lnTo>
                <a:lnTo>
                  <a:pt x="61571" y="90899"/>
                </a:lnTo>
                <a:lnTo>
                  <a:pt x="93109" y="60060"/>
                </a:lnTo>
                <a:lnTo>
                  <a:pt x="129553" y="34866"/>
                </a:lnTo>
                <a:lnTo>
                  <a:pt x="170231" y="15977"/>
                </a:lnTo>
                <a:lnTo>
                  <a:pt x="214411" y="4114"/>
                </a:lnTo>
                <a:lnTo>
                  <a:pt x="261353" y="0"/>
                </a:lnTo>
                <a:lnTo>
                  <a:pt x="308298" y="4114"/>
                </a:lnTo>
                <a:lnTo>
                  <a:pt x="352488" y="15980"/>
                </a:lnTo>
                <a:lnTo>
                  <a:pt x="393185" y="34879"/>
                </a:lnTo>
                <a:lnTo>
                  <a:pt x="429648" y="60091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571" y="450692"/>
                </a:lnTo>
                <a:lnTo>
                  <a:pt x="393137" y="475867"/>
                </a:lnTo>
                <a:lnTo>
                  <a:pt x="352465" y="494746"/>
                </a:lnTo>
                <a:lnTo>
                  <a:pt x="308291" y="506604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19883" y="3747299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2"/>
                </a:lnTo>
                <a:lnTo>
                  <a:pt x="169790" y="494735"/>
                </a:lnTo>
                <a:lnTo>
                  <a:pt x="129109" y="475830"/>
                </a:lnTo>
                <a:lnTo>
                  <a:pt x="92670" y="450605"/>
                </a:lnTo>
                <a:lnTo>
                  <a:pt x="61213" y="419775"/>
                </a:lnTo>
                <a:lnTo>
                  <a:pt x="35478" y="384056"/>
                </a:lnTo>
                <a:lnTo>
                  <a:pt x="16204" y="344164"/>
                </a:lnTo>
                <a:lnTo>
                  <a:pt x="4132" y="300814"/>
                </a:lnTo>
                <a:lnTo>
                  <a:pt x="0" y="254723"/>
                </a:lnTo>
                <a:lnTo>
                  <a:pt x="4132" y="209011"/>
                </a:lnTo>
                <a:lnTo>
                  <a:pt x="16204" y="165956"/>
                </a:lnTo>
                <a:lnTo>
                  <a:pt x="35478" y="126285"/>
                </a:lnTo>
                <a:lnTo>
                  <a:pt x="61213" y="90724"/>
                </a:lnTo>
                <a:lnTo>
                  <a:pt x="92670" y="60000"/>
                </a:lnTo>
                <a:lnTo>
                  <a:pt x="129109" y="34839"/>
                </a:lnTo>
                <a:lnTo>
                  <a:pt x="169790" y="15968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89" y="450661"/>
                </a:lnTo>
                <a:lnTo>
                  <a:pt x="392737" y="475854"/>
                </a:lnTo>
                <a:lnTo>
                  <a:pt x="352050" y="494742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64702" y="3719855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5539" y="5055108"/>
            <a:ext cx="6791325" cy="509270"/>
          </a:xfrm>
          <a:custGeom>
            <a:avLst/>
            <a:gdLst/>
            <a:ahLst/>
            <a:cxnLst/>
            <a:rect l="l" t="t" r="r" b="b"/>
            <a:pathLst>
              <a:path w="6791325" h="509270">
                <a:moveTo>
                  <a:pt x="0" y="0"/>
                </a:moveTo>
                <a:lnTo>
                  <a:pt x="6790944" y="0"/>
                </a:lnTo>
                <a:lnTo>
                  <a:pt x="6790944" y="509015"/>
                </a:lnTo>
                <a:lnTo>
                  <a:pt x="0" y="50901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38259" y="5054447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3"/>
                </a:lnTo>
                <a:lnTo>
                  <a:pt x="170217" y="494738"/>
                </a:lnTo>
                <a:lnTo>
                  <a:pt x="129524" y="475844"/>
                </a:lnTo>
                <a:lnTo>
                  <a:pt x="93064" y="450640"/>
                </a:lnTo>
                <a:lnTo>
                  <a:pt x="61571" y="419846"/>
                </a:lnTo>
                <a:lnTo>
                  <a:pt x="35782" y="384182"/>
                </a:lnTo>
                <a:lnTo>
                  <a:pt x="16433" y="344368"/>
                </a:lnTo>
                <a:lnTo>
                  <a:pt x="4260" y="301123"/>
                </a:lnTo>
                <a:lnTo>
                  <a:pt x="0" y="255168"/>
                </a:lnTo>
                <a:lnTo>
                  <a:pt x="4260" y="209323"/>
                </a:lnTo>
                <a:lnTo>
                  <a:pt x="16433" y="166165"/>
                </a:lnTo>
                <a:lnTo>
                  <a:pt x="35782" y="126416"/>
                </a:lnTo>
                <a:lnTo>
                  <a:pt x="61571" y="90800"/>
                </a:lnTo>
                <a:lnTo>
                  <a:pt x="93064" y="60039"/>
                </a:lnTo>
                <a:lnTo>
                  <a:pt x="129524" y="34856"/>
                </a:lnTo>
                <a:lnTo>
                  <a:pt x="170217" y="15973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5"/>
                </a:lnTo>
                <a:lnTo>
                  <a:pt x="393166" y="34863"/>
                </a:lnTo>
                <a:lnTo>
                  <a:pt x="429616" y="60056"/>
                </a:lnTo>
                <a:lnTo>
                  <a:pt x="461093" y="90833"/>
                </a:lnTo>
                <a:lnTo>
                  <a:pt x="486859" y="126473"/>
                </a:lnTo>
                <a:lnTo>
                  <a:pt x="506176" y="166254"/>
                </a:lnTo>
                <a:lnTo>
                  <a:pt x="518308" y="209457"/>
                </a:lnTo>
                <a:lnTo>
                  <a:pt x="522516" y="255358"/>
                </a:lnTo>
                <a:lnTo>
                  <a:pt x="518308" y="301257"/>
                </a:lnTo>
                <a:lnTo>
                  <a:pt x="506176" y="344457"/>
                </a:lnTo>
                <a:lnTo>
                  <a:pt x="486859" y="384238"/>
                </a:lnTo>
                <a:lnTo>
                  <a:pt x="461093" y="419879"/>
                </a:lnTo>
                <a:lnTo>
                  <a:pt x="429616" y="450657"/>
                </a:lnTo>
                <a:lnTo>
                  <a:pt x="393166" y="475851"/>
                </a:lnTo>
                <a:lnTo>
                  <a:pt x="352480" y="494740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19883" y="5053901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2" y="506603"/>
                </a:lnTo>
                <a:lnTo>
                  <a:pt x="169781" y="494742"/>
                </a:lnTo>
                <a:lnTo>
                  <a:pt x="129090" y="475854"/>
                </a:lnTo>
                <a:lnTo>
                  <a:pt x="92638" y="450661"/>
                </a:lnTo>
                <a:lnTo>
                  <a:pt x="61213" y="419945"/>
                </a:lnTo>
                <a:lnTo>
                  <a:pt x="35478" y="384349"/>
                </a:lnTo>
                <a:lnTo>
                  <a:pt x="16204" y="344630"/>
                </a:lnTo>
                <a:lnTo>
                  <a:pt x="4132" y="301510"/>
                </a:lnTo>
                <a:lnTo>
                  <a:pt x="0" y="255714"/>
                </a:lnTo>
                <a:lnTo>
                  <a:pt x="4132" y="209706"/>
                </a:lnTo>
                <a:lnTo>
                  <a:pt x="16204" y="166422"/>
                </a:lnTo>
                <a:lnTo>
                  <a:pt x="35478" y="126578"/>
                </a:lnTo>
                <a:lnTo>
                  <a:pt x="61213" y="90894"/>
                </a:lnTo>
                <a:lnTo>
                  <a:pt x="92715" y="60056"/>
                </a:lnTo>
                <a:lnTo>
                  <a:pt x="129137" y="34863"/>
                </a:lnTo>
                <a:lnTo>
                  <a:pt x="169804" y="15975"/>
                </a:lnTo>
                <a:lnTo>
                  <a:pt x="213979" y="4114"/>
                </a:lnTo>
                <a:lnTo>
                  <a:pt x="260921" y="0"/>
                </a:lnTo>
                <a:lnTo>
                  <a:pt x="307867" y="4114"/>
                </a:lnTo>
                <a:lnTo>
                  <a:pt x="352058" y="15979"/>
                </a:lnTo>
                <a:lnTo>
                  <a:pt x="392756" y="34876"/>
                </a:lnTo>
                <a:lnTo>
                  <a:pt x="429221" y="60087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44" y="450692"/>
                </a:lnTo>
                <a:lnTo>
                  <a:pt x="392709" y="475867"/>
                </a:lnTo>
                <a:lnTo>
                  <a:pt x="352035" y="494746"/>
                </a:lnTo>
                <a:lnTo>
                  <a:pt x="307860" y="506604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4702" y="5026456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2899" y="1192682"/>
            <a:ext cx="2510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存储器架构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982899" y="2499283"/>
            <a:ext cx="39513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zh-CN" sz="2400" b="1" spc="-5" dirty="0" err="1">
                <a:solidFill>
                  <a:srgbClr val="A6A6A6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对于访存指令的简化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82899" y="3772699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2400" b="1" spc="-5" dirty="0" err="1">
                <a:solidFill>
                  <a:srgbClr val="C00000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C00000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访存指令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82899" y="5112486"/>
            <a:ext cx="4179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蜂鸟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E200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存储系统的硬件实现</a:t>
            </a:r>
            <a:endParaRPr lang="en-US" altLang="zh-CN" sz="2400" b="1" spc="-5" dirty="0">
              <a:solidFill>
                <a:srgbClr val="A6A6A6"/>
              </a:solidFill>
              <a:cs typeface="+mn-ea"/>
              <a:sym typeface="+mn-l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13105" y="243840"/>
            <a:ext cx="1802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Age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endParaRPr sz="3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817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Load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Store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xmlns="" id="{3DD10071-C027-4E58-9B0B-45FB1DC22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609058"/>
              </p:ext>
            </p:extLst>
          </p:nvPr>
        </p:nvGraphicFramePr>
        <p:xfrm>
          <a:off x="1600200" y="1524000"/>
          <a:ext cx="6502400" cy="4385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5E31312C-A5B2-489C-8123-272B7C0F6949}"/>
              </a:ext>
            </a:extLst>
          </p:cNvPr>
          <p:cNvSpPr txBox="1"/>
          <p:nvPr/>
        </p:nvSpPr>
        <p:spPr>
          <a:xfrm>
            <a:off x="1980135" y="220980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01</a:t>
            </a:r>
            <a:endParaRPr lang="zh-CN" alt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9BB30C8-982F-4148-A155-E9B2357C542B}"/>
              </a:ext>
            </a:extLst>
          </p:cNvPr>
          <p:cNvSpPr txBox="1"/>
          <p:nvPr/>
        </p:nvSpPr>
        <p:spPr>
          <a:xfrm>
            <a:off x="2286000" y="3486261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9B7EEC"/>
                </a:solidFill>
              </a:rPr>
              <a:t>02</a:t>
            </a:r>
            <a:endParaRPr lang="zh-CN" altLang="en-US" sz="2400" b="1" dirty="0">
              <a:solidFill>
                <a:srgbClr val="9B7EEC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D6807AEF-5197-49AE-A587-AE6F15480790}"/>
              </a:ext>
            </a:extLst>
          </p:cNvPr>
          <p:cNvSpPr txBox="1"/>
          <p:nvPr/>
        </p:nvSpPr>
        <p:spPr>
          <a:xfrm>
            <a:off x="1980135" y="480060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03</a:t>
            </a:r>
            <a:endParaRPr lang="zh-CN" alt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306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Fence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xmlns="" id="{B53B4561-B90D-4FE5-B3E4-130AF962A8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4491252"/>
              </p:ext>
            </p:extLst>
          </p:nvPr>
        </p:nvGraphicFramePr>
        <p:xfrm>
          <a:off x="1295400" y="1371600"/>
          <a:ext cx="7255510" cy="4800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5659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扩展指令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66800" y="2362200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+mn-ea"/>
                <a:sym typeface="+mn-lt"/>
              </a:rPr>
              <a:t>AMO</a:t>
            </a:r>
            <a:r>
              <a:rPr lang="zh-CN" altLang="en-US" sz="2400" dirty="0">
                <a:cs typeface="+mn-ea"/>
                <a:sym typeface="+mn-lt"/>
              </a:rPr>
              <a:t>指令</a:t>
            </a:r>
            <a:endParaRPr lang="en-US" altLang="zh-CN" sz="2400" dirty="0">
              <a:cs typeface="+mn-ea"/>
              <a:sym typeface="+mn-lt"/>
            </a:endParaRPr>
          </a:p>
          <a:p>
            <a:endParaRPr lang="en-US" altLang="zh-CN" sz="2400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+mn-ea"/>
                <a:sym typeface="+mn-lt"/>
              </a:rPr>
              <a:t>Load-Reserved</a:t>
            </a:r>
            <a:r>
              <a:rPr lang="zh-CN" altLang="en-US" sz="2400" dirty="0">
                <a:cs typeface="+mn-ea"/>
                <a:sym typeface="+mn-lt"/>
              </a:rPr>
              <a:t>和</a:t>
            </a:r>
            <a:r>
              <a:rPr lang="en-US" altLang="zh-CN" sz="2400" dirty="0">
                <a:cs typeface="+mn-ea"/>
                <a:sym typeface="+mn-lt"/>
              </a:rPr>
              <a:t>Store-Conditional</a:t>
            </a:r>
            <a:r>
              <a:rPr lang="zh-CN" altLang="en-US" sz="2400" dirty="0">
                <a:cs typeface="+mn-ea"/>
                <a:sym typeface="+mn-lt"/>
              </a:rPr>
              <a:t>指令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66800" y="1092962"/>
            <a:ext cx="853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r>
              <a:rPr lang="zh-CN" altLang="en-US" sz="3200" b="1" dirty="0">
                <a:cs typeface="+mn-ea"/>
                <a:sym typeface="+mn-lt"/>
              </a:rPr>
              <a:t>用于支持多线程情况下访存的原子或同步操作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6C741DCF-D840-44AB-949E-7038048DD4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9" r="3851"/>
          <a:stretch/>
        </p:blipFill>
        <p:spPr>
          <a:xfrm>
            <a:off x="4953000" y="2209800"/>
            <a:ext cx="6096000" cy="4069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1874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22909" cy="443230"/>
          </a:xfrm>
          <a:custGeom>
            <a:avLst/>
            <a:gdLst/>
            <a:ahLst/>
            <a:cxnLst/>
            <a:rect l="l" t="t" r="r" b="b"/>
            <a:pathLst>
              <a:path w="422909" h="443230">
                <a:moveTo>
                  <a:pt x="0" y="443114"/>
                </a:moveTo>
                <a:lnTo>
                  <a:pt x="0" y="0"/>
                </a:lnTo>
                <a:lnTo>
                  <a:pt x="422640" y="0"/>
                </a:lnTo>
                <a:lnTo>
                  <a:pt x="0" y="4431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5539" y="113385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40"/>
                </a:lnTo>
                <a:lnTo>
                  <a:pt x="0" y="5105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38259" y="1134021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4" h="511810">
                <a:moveTo>
                  <a:pt x="261353" y="511327"/>
                </a:moveTo>
                <a:lnTo>
                  <a:pt x="214404" y="507208"/>
                </a:lnTo>
                <a:lnTo>
                  <a:pt x="170212" y="495332"/>
                </a:lnTo>
                <a:lnTo>
                  <a:pt x="129514" y="476421"/>
                </a:lnTo>
                <a:lnTo>
                  <a:pt x="93046" y="451198"/>
                </a:lnTo>
                <a:lnTo>
                  <a:pt x="61546" y="420384"/>
                </a:lnTo>
                <a:lnTo>
                  <a:pt x="35753" y="384701"/>
                </a:lnTo>
                <a:lnTo>
                  <a:pt x="16433" y="344968"/>
                </a:lnTo>
                <a:lnTo>
                  <a:pt x="4260" y="301762"/>
                </a:lnTo>
                <a:lnTo>
                  <a:pt x="0" y="255866"/>
                </a:lnTo>
                <a:lnTo>
                  <a:pt x="4260" y="209850"/>
                </a:lnTo>
                <a:lnTo>
                  <a:pt x="16433" y="166550"/>
                </a:lnTo>
                <a:lnTo>
                  <a:pt x="35782" y="126685"/>
                </a:lnTo>
                <a:lnTo>
                  <a:pt x="61607" y="90943"/>
                </a:lnTo>
                <a:lnTo>
                  <a:pt x="93090" y="60129"/>
                </a:lnTo>
                <a:lnTo>
                  <a:pt x="129541" y="34905"/>
                </a:lnTo>
                <a:lnTo>
                  <a:pt x="170225" y="15995"/>
                </a:lnTo>
                <a:lnTo>
                  <a:pt x="214408" y="4119"/>
                </a:lnTo>
                <a:lnTo>
                  <a:pt x="261353" y="0"/>
                </a:lnTo>
                <a:lnTo>
                  <a:pt x="308298" y="4119"/>
                </a:lnTo>
                <a:lnTo>
                  <a:pt x="352485" y="15997"/>
                </a:lnTo>
                <a:lnTo>
                  <a:pt x="393177" y="34913"/>
                </a:lnTo>
                <a:lnTo>
                  <a:pt x="429634" y="60146"/>
                </a:lnTo>
                <a:lnTo>
                  <a:pt x="461118" y="90977"/>
                </a:lnTo>
                <a:lnTo>
                  <a:pt x="486888" y="126685"/>
                </a:lnTo>
                <a:lnTo>
                  <a:pt x="506176" y="166454"/>
                </a:lnTo>
                <a:lnTo>
                  <a:pt x="518308" y="209707"/>
                </a:lnTo>
                <a:lnTo>
                  <a:pt x="522516" y="255663"/>
                </a:lnTo>
                <a:lnTo>
                  <a:pt x="518308" y="301619"/>
                </a:lnTo>
                <a:lnTo>
                  <a:pt x="506176" y="344872"/>
                </a:lnTo>
                <a:lnTo>
                  <a:pt x="486859" y="384701"/>
                </a:lnTo>
                <a:lnTo>
                  <a:pt x="461057" y="420419"/>
                </a:lnTo>
                <a:lnTo>
                  <a:pt x="429590" y="451216"/>
                </a:lnTo>
                <a:lnTo>
                  <a:pt x="393149" y="476429"/>
                </a:lnTo>
                <a:lnTo>
                  <a:pt x="352472" y="495334"/>
                </a:lnTo>
                <a:lnTo>
                  <a:pt x="308293" y="507208"/>
                </a:lnTo>
                <a:lnTo>
                  <a:pt x="261353" y="51132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9883" y="1133475"/>
            <a:ext cx="522605" cy="511809"/>
          </a:xfrm>
          <a:custGeom>
            <a:avLst/>
            <a:gdLst/>
            <a:ahLst/>
            <a:cxnLst/>
            <a:rect l="l" t="t" r="r" b="b"/>
            <a:pathLst>
              <a:path w="522605" h="511810">
                <a:moveTo>
                  <a:pt x="260921" y="511327"/>
                </a:moveTo>
                <a:lnTo>
                  <a:pt x="213970" y="507208"/>
                </a:lnTo>
                <a:lnTo>
                  <a:pt x="169772" y="495332"/>
                </a:lnTo>
                <a:lnTo>
                  <a:pt x="129068" y="476421"/>
                </a:lnTo>
                <a:lnTo>
                  <a:pt x="92670" y="451264"/>
                </a:lnTo>
                <a:lnTo>
                  <a:pt x="61213" y="420512"/>
                </a:lnTo>
                <a:lnTo>
                  <a:pt x="35478" y="384923"/>
                </a:lnTo>
                <a:lnTo>
                  <a:pt x="16204" y="345225"/>
                </a:lnTo>
                <a:lnTo>
                  <a:pt x="4132" y="302145"/>
                </a:lnTo>
                <a:lnTo>
                  <a:pt x="0" y="256412"/>
                </a:lnTo>
                <a:lnTo>
                  <a:pt x="4132" y="210234"/>
                </a:lnTo>
                <a:lnTo>
                  <a:pt x="16204" y="166807"/>
                </a:lnTo>
                <a:lnTo>
                  <a:pt x="35478" y="126847"/>
                </a:lnTo>
                <a:lnTo>
                  <a:pt x="61213" y="91071"/>
                </a:lnTo>
                <a:lnTo>
                  <a:pt x="92670" y="60194"/>
                </a:lnTo>
                <a:lnTo>
                  <a:pt x="129168" y="34905"/>
                </a:lnTo>
                <a:lnTo>
                  <a:pt x="169820" y="15995"/>
                </a:lnTo>
                <a:lnTo>
                  <a:pt x="213986" y="4119"/>
                </a:lnTo>
                <a:lnTo>
                  <a:pt x="260921" y="0"/>
                </a:lnTo>
                <a:lnTo>
                  <a:pt x="307869" y="4120"/>
                </a:lnTo>
                <a:lnTo>
                  <a:pt x="352068" y="16003"/>
                </a:lnTo>
                <a:lnTo>
                  <a:pt x="392777" y="34933"/>
                </a:lnTo>
                <a:lnTo>
                  <a:pt x="429189" y="60129"/>
                </a:lnTo>
                <a:lnTo>
                  <a:pt x="460668" y="90943"/>
                </a:lnTo>
                <a:lnTo>
                  <a:pt x="486436" y="126625"/>
                </a:lnTo>
                <a:lnTo>
                  <a:pt x="505756" y="166454"/>
                </a:lnTo>
                <a:lnTo>
                  <a:pt x="517888" y="209707"/>
                </a:lnTo>
                <a:lnTo>
                  <a:pt x="522097" y="255663"/>
                </a:lnTo>
                <a:lnTo>
                  <a:pt x="517888" y="301619"/>
                </a:lnTo>
                <a:lnTo>
                  <a:pt x="505756" y="344872"/>
                </a:lnTo>
                <a:lnTo>
                  <a:pt x="486436" y="384701"/>
                </a:lnTo>
                <a:lnTo>
                  <a:pt x="460668" y="420384"/>
                </a:lnTo>
                <a:lnTo>
                  <a:pt x="429189" y="451198"/>
                </a:lnTo>
                <a:lnTo>
                  <a:pt x="392677" y="476449"/>
                </a:lnTo>
                <a:lnTo>
                  <a:pt x="352019" y="495340"/>
                </a:lnTo>
                <a:lnTo>
                  <a:pt x="307853" y="507209"/>
                </a:lnTo>
                <a:lnTo>
                  <a:pt x="260921" y="51132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dirty="0">
              <a:cs typeface="+mn-ea"/>
              <a:sym typeface="+mn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702" y="11067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15539" y="2441448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8259" y="2441232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2"/>
                </a:lnTo>
                <a:lnTo>
                  <a:pt x="170217" y="494735"/>
                </a:lnTo>
                <a:lnTo>
                  <a:pt x="129524" y="475830"/>
                </a:lnTo>
                <a:lnTo>
                  <a:pt x="93064" y="450605"/>
                </a:lnTo>
                <a:lnTo>
                  <a:pt x="61571" y="419775"/>
                </a:lnTo>
                <a:lnTo>
                  <a:pt x="35782" y="384056"/>
                </a:lnTo>
                <a:lnTo>
                  <a:pt x="16433" y="344164"/>
                </a:lnTo>
                <a:lnTo>
                  <a:pt x="4260" y="300814"/>
                </a:lnTo>
                <a:lnTo>
                  <a:pt x="0" y="254723"/>
                </a:lnTo>
                <a:lnTo>
                  <a:pt x="4260" y="209014"/>
                </a:lnTo>
                <a:lnTo>
                  <a:pt x="16433" y="165961"/>
                </a:lnTo>
                <a:lnTo>
                  <a:pt x="35782" y="126290"/>
                </a:lnTo>
                <a:lnTo>
                  <a:pt x="61571" y="90729"/>
                </a:lnTo>
                <a:lnTo>
                  <a:pt x="93064" y="60004"/>
                </a:lnTo>
                <a:lnTo>
                  <a:pt x="129524" y="34842"/>
                </a:lnTo>
                <a:lnTo>
                  <a:pt x="170217" y="15970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7"/>
                </a:lnTo>
                <a:lnTo>
                  <a:pt x="393166" y="34866"/>
                </a:lnTo>
                <a:lnTo>
                  <a:pt x="429616" y="60060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616" y="450661"/>
                </a:lnTo>
                <a:lnTo>
                  <a:pt x="393166" y="475854"/>
                </a:lnTo>
                <a:lnTo>
                  <a:pt x="352480" y="494742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19883" y="2440698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3"/>
                </a:lnTo>
                <a:lnTo>
                  <a:pt x="169790" y="494739"/>
                </a:lnTo>
                <a:lnTo>
                  <a:pt x="129109" y="475847"/>
                </a:lnTo>
                <a:lnTo>
                  <a:pt x="92670" y="450648"/>
                </a:lnTo>
                <a:lnTo>
                  <a:pt x="61213" y="419861"/>
                </a:lnTo>
                <a:lnTo>
                  <a:pt x="35478" y="384208"/>
                </a:lnTo>
                <a:lnTo>
                  <a:pt x="16204" y="344410"/>
                </a:lnTo>
                <a:lnTo>
                  <a:pt x="4132" y="301185"/>
                </a:lnTo>
                <a:lnTo>
                  <a:pt x="0" y="255257"/>
                </a:lnTo>
                <a:lnTo>
                  <a:pt x="4132" y="209385"/>
                </a:lnTo>
                <a:lnTo>
                  <a:pt x="16204" y="166207"/>
                </a:lnTo>
                <a:lnTo>
                  <a:pt x="35478" y="126443"/>
                </a:lnTo>
                <a:lnTo>
                  <a:pt x="61213" y="90815"/>
                </a:lnTo>
                <a:lnTo>
                  <a:pt x="92670" y="60047"/>
                </a:lnTo>
                <a:lnTo>
                  <a:pt x="129109" y="34859"/>
                </a:lnTo>
                <a:lnTo>
                  <a:pt x="169790" y="15974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57"/>
                </a:lnTo>
                <a:lnTo>
                  <a:pt x="505756" y="344457"/>
                </a:lnTo>
                <a:lnTo>
                  <a:pt x="486436" y="384238"/>
                </a:lnTo>
                <a:lnTo>
                  <a:pt x="460668" y="419879"/>
                </a:lnTo>
                <a:lnTo>
                  <a:pt x="429189" y="450657"/>
                </a:lnTo>
                <a:lnTo>
                  <a:pt x="392737" y="475851"/>
                </a:lnTo>
                <a:lnTo>
                  <a:pt x="352050" y="494740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4702" y="2413254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15539" y="3747515"/>
            <a:ext cx="6791325" cy="510540"/>
          </a:xfrm>
          <a:custGeom>
            <a:avLst/>
            <a:gdLst/>
            <a:ahLst/>
            <a:cxnLst/>
            <a:rect l="l" t="t" r="r" b="b"/>
            <a:pathLst>
              <a:path w="6791325" h="510539">
                <a:moveTo>
                  <a:pt x="0" y="0"/>
                </a:moveTo>
                <a:lnTo>
                  <a:pt x="6790944" y="0"/>
                </a:lnTo>
                <a:lnTo>
                  <a:pt x="6790944" y="510539"/>
                </a:lnTo>
                <a:lnTo>
                  <a:pt x="0" y="5105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38259" y="3747833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3" y="506603"/>
                </a:lnTo>
                <a:lnTo>
                  <a:pt x="170208" y="494742"/>
                </a:lnTo>
                <a:lnTo>
                  <a:pt x="129505" y="475854"/>
                </a:lnTo>
                <a:lnTo>
                  <a:pt x="93032" y="450661"/>
                </a:lnTo>
                <a:lnTo>
                  <a:pt x="61571" y="419945"/>
                </a:lnTo>
                <a:lnTo>
                  <a:pt x="35782" y="384349"/>
                </a:lnTo>
                <a:lnTo>
                  <a:pt x="16433" y="344630"/>
                </a:lnTo>
                <a:lnTo>
                  <a:pt x="4260" y="301510"/>
                </a:lnTo>
                <a:lnTo>
                  <a:pt x="0" y="255714"/>
                </a:lnTo>
                <a:lnTo>
                  <a:pt x="4260" y="209710"/>
                </a:lnTo>
                <a:lnTo>
                  <a:pt x="16433" y="166427"/>
                </a:lnTo>
                <a:lnTo>
                  <a:pt x="35782" y="126584"/>
                </a:lnTo>
                <a:lnTo>
                  <a:pt x="61571" y="90899"/>
                </a:lnTo>
                <a:lnTo>
                  <a:pt x="93109" y="60060"/>
                </a:lnTo>
                <a:lnTo>
                  <a:pt x="129553" y="34866"/>
                </a:lnTo>
                <a:lnTo>
                  <a:pt x="170231" y="15977"/>
                </a:lnTo>
                <a:lnTo>
                  <a:pt x="214411" y="4114"/>
                </a:lnTo>
                <a:lnTo>
                  <a:pt x="261353" y="0"/>
                </a:lnTo>
                <a:lnTo>
                  <a:pt x="308298" y="4114"/>
                </a:lnTo>
                <a:lnTo>
                  <a:pt x="352488" y="15980"/>
                </a:lnTo>
                <a:lnTo>
                  <a:pt x="393185" y="34879"/>
                </a:lnTo>
                <a:lnTo>
                  <a:pt x="429648" y="60091"/>
                </a:lnTo>
                <a:lnTo>
                  <a:pt x="461093" y="90838"/>
                </a:lnTo>
                <a:lnTo>
                  <a:pt x="486859" y="126478"/>
                </a:lnTo>
                <a:lnTo>
                  <a:pt x="506176" y="166259"/>
                </a:lnTo>
                <a:lnTo>
                  <a:pt x="518308" y="209460"/>
                </a:lnTo>
                <a:lnTo>
                  <a:pt x="522516" y="255358"/>
                </a:lnTo>
                <a:lnTo>
                  <a:pt x="518308" y="301260"/>
                </a:lnTo>
                <a:lnTo>
                  <a:pt x="506176" y="344462"/>
                </a:lnTo>
                <a:lnTo>
                  <a:pt x="486859" y="384244"/>
                </a:lnTo>
                <a:lnTo>
                  <a:pt x="461093" y="419884"/>
                </a:lnTo>
                <a:lnTo>
                  <a:pt x="429571" y="450692"/>
                </a:lnTo>
                <a:lnTo>
                  <a:pt x="393137" y="475867"/>
                </a:lnTo>
                <a:lnTo>
                  <a:pt x="352465" y="494746"/>
                </a:lnTo>
                <a:lnTo>
                  <a:pt x="308291" y="506604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19883" y="3747299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4" y="506602"/>
                </a:lnTo>
                <a:lnTo>
                  <a:pt x="169790" y="494735"/>
                </a:lnTo>
                <a:lnTo>
                  <a:pt x="129109" y="475830"/>
                </a:lnTo>
                <a:lnTo>
                  <a:pt x="92670" y="450605"/>
                </a:lnTo>
                <a:lnTo>
                  <a:pt x="61213" y="419775"/>
                </a:lnTo>
                <a:lnTo>
                  <a:pt x="35478" y="384056"/>
                </a:lnTo>
                <a:lnTo>
                  <a:pt x="16204" y="344164"/>
                </a:lnTo>
                <a:lnTo>
                  <a:pt x="4132" y="300814"/>
                </a:lnTo>
                <a:lnTo>
                  <a:pt x="0" y="254723"/>
                </a:lnTo>
                <a:lnTo>
                  <a:pt x="4132" y="209011"/>
                </a:lnTo>
                <a:lnTo>
                  <a:pt x="16204" y="165956"/>
                </a:lnTo>
                <a:lnTo>
                  <a:pt x="35478" y="126285"/>
                </a:lnTo>
                <a:lnTo>
                  <a:pt x="61213" y="90724"/>
                </a:lnTo>
                <a:lnTo>
                  <a:pt x="92670" y="60000"/>
                </a:lnTo>
                <a:lnTo>
                  <a:pt x="129109" y="34839"/>
                </a:lnTo>
                <a:lnTo>
                  <a:pt x="169790" y="15968"/>
                </a:lnTo>
                <a:lnTo>
                  <a:pt x="213974" y="4113"/>
                </a:lnTo>
                <a:lnTo>
                  <a:pt x="260921" y="0"/>
                </a:lnTo>
                <a:lnTo>
                  <a:pt x="307865" y="4114"/>
                </a:lnTo>
                <a:lnTo>
                  <a:pt x="352050" y="15975"/>
                </a:lnTo>
                <a:lnTo>
                  <a:pt x="392737" y="34863"/>
                </a:lnTo>
                <a:lnTo>
                  <a:pt x="429189" y="60056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89" y="450661"/>
                </a:lnTo>
                <a:lnTo>
                  <a:pt x="392737" y="475854"/>
                </a:lnTo>
                <a:lnTo>
                  <a:pt x="352050" y="494742"/>
                </a:lnTo>
                <a:lnTo>
                  <a:pt x="307865" y="506603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64702" y="3719855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5539" y="5055108"/>
            <a:ext cx="6791325" cy="509270"/>
          </a:xfrm>
          <a:custGeom>
            <a:avLst/>
            <a:gdLst/>
            <a:ahLst/>
            <a:cxnLst/>
            <a:rect l="l" t="t" r="r" b="b"/>
            <a:pathLst>
              <a:path w="6791325" h="509270">
                <a:moveTo>
                  <a:pt x="0" y="0"/>
                </a:moveTo>
                <a:lnTo>
                  <a:pt x="6790944" y="0"/>
                </a:lnTo>
                <a:lnTo>
                  <a:pt x="6790944" y="509015"/>
                </a:lnTo>
                <a:lnTo>
                  <a:pt x="0" y="50901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38259" y="5054447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4" h="511175">
                <a:moveTo>
                  <a:pt x="261353" y="510717"/>
                </a:moveTo>
                <a:lnTo>
                  <a:pt x="214405" y="506603"/>
                </a:lnTo>
                <a:lnTo>
                  <a:pt x="170217" y="494738"/>
                </a:lnTo>
                <a:lnTo>
                  <a:pt x="129524" y="475844"/>
                </a:lnTo>
                <a:lnTo>
                  <a:pt x="93064" y="450640"/>
                </a:lnTo>
                <a:lnTo>
                  <a:pt x="61571" y="419846"/>
                </a:lnTo>
                <a:lnTo>
                  <a:pt x="35782" y="384182"/>
                </a:lnTo>
                <a:lnTo>
                  <a:pt x="16433" y="344368"/>
                </a:lnTo>
                <a:lnTo>
                  <a:pt x="4260" y="301123"/>
                </a:lnTo>
                <a:lnTo>
                  <a:pt x="0" y="255168"/>
                </a:lnTo>
                <a:lnTo>
                  <a:pt x="4260" y="209323"/>
                </a:lnTo>
                <a:lnTo>
                  <a:pt x="16433" y="166165"/>
                </a:lnTo>
                <a:lnTo>
                  <a:pt x="35782" y="126416"/>
                </a:lnTo>
                <a:lnTo>
                  <a:pt x="61571" y="90800"/>
                </a:lnTo>
                <a:lnTo>
                  <a:pt x="93064" y="60039"/>
                </a:lnTo>
                <a:lnTo>
                  <a:pt x="129524" y="34856"/>
                </a:lnTo>
                <a:lnTo>
                  <a:pt x="170217" y="15973"/>
                </a:lnTo>
                <a:lnTo>
                  <a:pt x="214405" y="4113"/>
                </a:lnTo>
                <a:lnTo>
                  <a:pt x="261353" y="0"/>
                </a:lnTo>
                <a:lnTo>
                  <a:pt x="308297" y="4114"/>
                </a:lnTo>
                <a:lnTo>
                  <a:pt x="352480" y="15975"/>
                </a:lnTo>
                <a:lnTo>
                  <a:pt x="393166" y="34863"/>
                </a:lnTo>
                <a:lnTo>
                  <a:pt x="429616" y="60056"/>
                </a:lnTo>
                <a:lnTo>
                  <a:pt x="461093" y="90833"/>
                </a:lnTo>
                <a:lnTo>
                  <a:pt x="486859" y="126473"/>
                </a:lnTo>
                <a:lnTo>
                  <a:pt x="506176" y="166254"/>
                </a:lnTo>
                <a:lnTo>
                  <a:pt x="518308" y="209457"/>
                </a:lnTo>
                <a:lnTo>
                  <a:pt x="522516" y="255358"/>
                </a:lnTo>
                <a:lnTo>
                  <a:pt x="518308" y="301257"/>
                </a:lnTo>
                <a:lnTo>
                  <a:pt x="506176" y="344457"/>
                </a:lnTo>
                <a:lnTo>
                  <a:pt x="486859" y="384238"/>
                </a:lnTo>
                <a:lnTo>
                  <a:pt x="461093" y="419879"/>
                </a:lnTo>
                <a:lnTo>
                  <a:pt x="429616" y="450657"/>
                </a:lnTo>
                <a:lnTo>
                  <a:pt x="393166" y="475851"/>
                </a:lnTo>
                <a:lnTo>
                  <a:pt x="352480" y="494740"/>
                </a:lnTo>
                <a:lnTo>
                  <a:pt x="308297" y="506603"/>
                </a:lnTo>
                <a:lnTo>
                  <a:pt x="261353" y="51071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19883" y="5053901"/>
            <a:ext cx="522605" cy="511175"/>
          </a:xfrm>
          <a:custGeom>
            <a:avLst/>
            <a:gdLst/>
            <a:ahLst/>
            <a:cxnLst/>
            <a:rect l="l" t="t" r="r" b="b"/>
            <a:pathLst>
              <a:path w="522605" h="511175">
                <a:moveTo>
                  <a:pt x="260921" y="510717"/>
                </a:moveTo>
                <a:lnTo>
                  <a:pt x="213972" y="506603"/>
                </a:lnTo>
                <a:lnTo>
                  <a:pt x="169781" y="494742"/>
                </a:lnTo>
                <a:lnTo>
                  <a:pt x="129090" y="475854"/>
                </a:lnTo>
                <a:lnTo>
                  <a:pt x="92638" y="450661"/>
                </a:lnTo>
                <a:lnTo>
                  <a:pt x="61213" y="419945"/>
                </a:lnTo>
                <a:lnTo>
                  <a:pt x="35478" y="384349"/>
                </a:lnTo>
                <a:lnTo>
                  <a:pt x="16204" y="344630"/>
                </a:lnTo>
                <a:lnTo>
                  <a:pt x="4132" y="301510"/>
                </a:lnTo>
                <a:lnTo>
                  <a:pt x="0" y="255714"/>
                </a:lnTo>
                <a:lnTo>
                  <a:pt x="4132" y="209706"/>
                </a:lnTo>
                <a:lnTo>
                  <a:pt x="16204" y="166422"/>
                </a:lnTo>
                <a:lnTo>
                  <a:pt x="35478" y="126578"/>
                </a:lnTo>
                <a:lnTo>
                  <a:pt x="61213" y="90894"/>
                </a:lnTo>
                <a:lnTo>
                  <a:pt x="92715" y="60056"/>
                </a:lnTo>
                <a:lnTo>
                  <a:pt x="129137" y="34863"/>
                </a:lnTo>
                <a:lnTo>
                  <a:pt x="169804" y="15975"/>
                </a:lnTo>
                <a:lnTo>
                  <a:pt x="213979" y="4114"/>
                </a:lnTo>
                <a:lnTo>
                  <a:pt x="260921" y="0"/>
                </a:lnTo>
                <a:lnTo>
                  <a:pt x="307867" y="4114"/>
                </a:lnTo>
                <a:lnTo>
                  <a:pt x="352058" y="15979"/>
                </a:lnTo>
                <a:lnTo>
                  <a:pt x="392756" y="34876"/>
                </a:lnTo>
                <a:lnTo>
                  <a:pt x="429221" y="60087"/>
                </a:lnTo>
                <a:lnTo>
                  <a:pt x="460668" y="90833"/>
                </a:lnTo>
                <a:lnTo>
                  <a:pt x="486436" y="126473"/>
                </a:lnTo>
                <a:lnTo>
                  <a:pt x="505756" y="166254"/>
                </a:lnTo>
                <a:lnTo>
                  <a:pt x="517888" y="209457"/>
                </a:lnTo>
                <a:lnTo>
                  <a:pt x="522097" y="255358"/>
                </a:lnTo>
                <a:lnTo>
                  <a:pt x="517888" y="301260"/>
                </a:lnTo>
                <a:lnTo>
                  <a:pt x="505756" y="344462"/>
                </a:lnTo>
                <a:lnTo>
                  <a:pt x="486436" y="384244"/>
                </a:lnTo>
                <a:lnTo>
                  <a:pt x="460668" y="419884"/>
                </a:lnTo>
                <a:lnTo>
                  <a:pt x="429144" y="450692"/>
                </a:lnTo>
                <a:lnTo>
                  <a:pt x="392709" y="475867"/>
                </a:lnTo>
                <a:lnTo>
                  <a:pt x="352035" y="494746"/>
                </a:lnTo>
                <a:lnTo>
                  <a:pt x="307860" y="506604"/>
                </a:lnTo>
                <a:lnTo>
                  <a:pt x="260921" y="51071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4702" y="5026456"/>
            <a:ext cx="23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sz="3200" dirty="0">
              <a:cs typeface="+mn-ea"/>
              <a:sym typeface="+mn-l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2899" y="1192682"/>
            <a:ext cx="2510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存储器架构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982899" y="2499283"/>
            <a:ext cx="39513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zh-CN" sz="2400" b="1" spc="-5" dirty="0" err="1">
                <a:solidFill>
                  <a:srgbClr val="A6A6A6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对于访存指令的简化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82899" y="3772699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2400" b="1" spc="-5" dirty="0" err="1">
                <a:solidFill>
                  <a:srgbClr val="A6A6A6"/>
                </a:solidFill>
                <a:cs typeface="+mn-ea"/>
                <a:sym typeface="+mn-lt"/>
              </a:rPr>
              <a:t>risc</a:t>
            </a:r>
            <a:r>
              <a:rPr lang="en-US" altLang="zh-CN" sz="2400" b="1" spc="-5" dirty="0">
                <a:solidFill>
                  <a:srgbClr val="A6A6A6"/>
                </a:solidFill>
                <a:cs typeface="+mn-ea"/>
                <a:sym typeface="+mn-lt"/>
              </a:rPr>
              <a:t>-v</a:t>
            </a:r>
            <a:r>
              <a:rPr lang="zh-CN" altLang="en-US" sz="2400" b="1" spc="-5" dirty="0">
                <a:solidFill>
                  <a:srgbClr val="A6A6A6"/>
                </a:solidFill>
                <a:cs typeface="+mn-ea"/>
                <a:sym typeface="+mn-lt"/>
              </a:rPr>
              <a:t>访存指令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82899" y="5112486"/>
            <a:ext cx="42561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蜂鸟</a:t>
            </a:r>
            <a:r>
              <a:rPr lang="en-US" altLang="zh-CN" sz="2400" b="1" spc="-5" dirty="0">
                <a:solidFill>
                  <a:srgbClr val="C00000"/>
                </a:solidFill>
                <a:cs typeface="+mn-ea"/>
                <a:sym typeface="+mn-lt"/>
              </a:rPr>
              <a:t>E200</a:t>
            </a:r>
            <a:r>
              <a:rPr lang="zh-CN" altLang="en-US" sz="2400" b="1" spc="-5" dirty="0">
                <a:solidFill>
                  <a:srgbClr val="C00000"/>
                </a:solidFill>
                <a:cs typeface="+mn-ea"/>
                <a:sym typeface="+mn-lt"/>
              </a:rPr>
              <a:t>存储系统的硬件实现</a:t>
            </a:r>
            <a:endParaRPr lang="en-US" altLang="zh-CN" sz="2400" b="1" spc="-5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13105" y="243840"/>
            <a:ext cx="1802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Age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sz="3600" spc="-5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endParaRPr sz="3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9133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>
            <a:extLst>
              <a:ext uri="{FF2B5EF4-FFF2-40B4-BE49-F238E27FC236}">
                <a16:creationId xmlns:a16="http://schemas.microsoft.com/office/drawing/2014/main" xmlns="" id="{F6CBAFCD-DE7C-458D-8C20-0BA832718B88}"/>
              </a:ext>
            </a:extLst>
          </p:cNvPr>
          <p:cNvSpPr/>
          <p:nvPr/>
        </p:nvSpPr>
        <p:spPr>
          <a:xfrm>
            <a:off x="0" y="3048000"/>
            <a:ext cx="3810000" cy="3809239"/>
          </a:xfrm>
          <a:prstGeom prst="rt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总体设计思路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38200" y="2667000"/>
            <a:ext cx="6096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AGU</a:t>
            </a:r>
            <a:r>
              <a:rPr lang="zh-CN" altLang="en-US" sz="2000" dirty="0">
                <a:cs typeface="+mn-ea"/>
                <a:sym typeface="+mn-lt"/>
              </a:rPr>
              <a:t>：生成读和写指令的访存地址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sz="2000" dirty="0">
              <a:cs typeface="+mn-ea"/>
              <a:sym typeface="+mn-lt"/>
            </a:endParaRPr>
          </a:p>
          <a:p>
            <a:pPr marL="285750" lvl="1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LSU</a:t>
            </a:r>
            <a:r>
              <a:rPr lang="zh-CN" altLang="en-US" sz="2000" dirty="0">
                <a:cs typeface="+mn-ea"/>
                <a:sym typeface="+mn-lt"/>
              </a:rPr>
              <a:t>：控制模块</a:t>
            </a:r>
            <a:endParaRPr lang="en-US" altLang="zh-CN" sz="2000" dirty="0">
              <a:cs typeface="+mn-ea"/>
              <a:sym typeface="+mn-lt"/>
            </a:endParaRPr>
          </a:p>
          <a:p>
            <a:pPr marL="0" lvl="1"/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ITCM</a:t>
            </a:r>
            <a:r>
              <a:rPr lang="zh-CN" altLang="en-US" sz="2000" dirty="0">
                <a:cs typeface="+mn-ea"/>
                <a:sym typeface="+mn-lt"/>
              </a:rPr>
              <a:t>：指令存储部件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DTCM</a:t>
            </a:r>
            <a:r>
              <a:rPr lang="zh-CN" altLang="en-US" sz="2000" dirty="0">
                <a:cs typeface="+mn-ea"/>
                <a:sym typeface="+mn-lt"/>
              </a:rPr>
              <a:t>：数据存储部件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pPr lvl="1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070" y="1371075"/>
            <a:ext cx="5638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3200" b="1" dirty="0">
                <a:cs typeface="+mn-ea"/>
                <a:sym typeface="+mn-lt"/>
              </a:rPr>
              <a:t>主要包含四个组件</a:t>
            </a:r>
          </a:p>
        </p:txBody>
      </p:sp>
      <p:pic>
        <p:nvPicPr>
          <p:cNvPr id="4098" name="Picture 2" descr="https://img-blog.csdnimg.cn/20200910154324454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890" y="1295400"/>
            <a:ext cx="6744461" cy="418906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64534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849BD30-3B56-4228-822B-CEDAB552159F}"/>
              </a:ext>
            </a:extLst>
          </p:cNvPr>
          <p:cNvSpPr/>
          <p:nvPr/>
        </p:nvSpPr>
        <p:spPr>
          <a:xfrm>
            <a:off x="838200" y="1371600"/>
            <a:ext cx="3505200" cy="3505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AGU</a:t>
            </a:r>
            <a:endParaRPr lang="zh-CN" altLang="en-US"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4400" y="1219200"/>
            <a:ext cx="3276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+mn-ea"/>
                <a:sym typeface="+mn-lt"/>
              </a:rPr>
              <a:t>将第一个寄存器索引的源操作数和立即数相加，复用了</a:t>
            </a:r>
            <a:r>
              <a:rPr lang="en-US" altLang="zh-CN" sz="2000" dirty="0">
                <a:cs typeface="+mn-ea"/>
                <a:sym typeface="+mn-lt"/>
              </a:rPr>
              <a:t>ALU</a:t>
            </a:r>
            <a:r>
              <a:rPr lang="zh-CN" altLang="en-US" sz="2000" dirty="0">
                <a:cs typeface="+mn-ea"/>
                <a:sym typeface="+mn-lt"/>
              </a:rPr>
              <a:t>单元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RISC-V </a:t>
            </a:r>
            <a:r>
              <a:rPr lang="zh-CN" altLang="en-US" sz="2000" dirty="0">
                <a:cs typeface="+mn-ea"/>
                <a:sym typeface="+mn-lt"/>
              </a:rPr>
              <a:t>架构对于地址非对齐的读和写指令，可以使用硬件支持， 也可以使用软件通过异常服务程序的方式采用软件支持。</a:t>
            </a:r>
          </a:p>
        </p:txBody>
      </p:sp>
      <p:pic>
        <p:nvPicPr>
          <p:cNvPr id="7" name="Picture 2" descr="https://img-blog.csdnimg.cn/20200910154324454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771" y="1090681"/>
            <a:ext cx="6744461" cy="41890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70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xmlns="" id="{517E4B63-A55F-406C-BD9F-5EB91EDE5834}"/>
              </a:ext>
            </a:extLst>
          </p:cNvPr>
          <p:cNvSpPr/>
          <p:nvPr/>
        </p:nvSpPr>
        <p:spPr>
          <a:xfrm>
            <a:off x="0" y="3048000"/>
            <a:ext cx="3810000" cy="3809239"/>
          </a:xfrm>
          <a:prstGeom prst="rt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LSU</a:t>
            </a:r>
            <a:endParaRPr lang="zh-CN" altLang="en-US"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6800" y="1092962"/>
            <a:ext cx="388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代码实现和</a:t>
            </a:r>
            <a:r>
              <a:rPr lang="en-US" altLang="zh-CN" dirty="0">
                <a:cs typeface="+mn-ea"/>
                <a:sym typeface="+mn-lt"/>
              </a:rPr>
              <a:t>BIU</a:t>
            </a:r>
            <a:r>
              <a:rPr lang="zh-CN" altLang="en-US" dirty="0">
                <a:cs typeface="+mn-ea"/>
                <a:sym typeface="+mn-lt"/>
              </a:rPr>
              <a:t>相似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LSU </a:t>
            </a:r>
            <a:r>
              <a:rPr lang="zh-CN" altLang="en-US" dirty="0">
                <a:cs typeface="+mn-ea"/>
                <a:sym typeface="+mn-lt"/>
              </a:rPr>
              <a:t>有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组输入 </a:t>
            </a:r>
            <a:r>
              <a:rPr lang="en-US" altLang="zh-CN" dirty="0">
                <a:cs typeface="+mn-ea"/>
                <a:sym typeface="+mn-lt"/>
              </a:rPr>
              <a:t>ICB </a:t>
            </a:r>
            <a:r>
              <a:rPr lang="zh-CN" altLang="en-US" dirty="0">
                <a:cs typeface="+mn-ea"/>
                <a:sym typeface="+mn-lt"/>
              </a:rPr>
              <a:t>总线接口，分别来自于 </a:t>
            </a:r>
            <a:r>
              <a:rPr lang="en-US" altLang="zh-CN" dirty="0">
                <a:cs typeface="+mn-ea"/>
                <a:sym typeface="+mn-lt"/>
              </a:rPr>
              <a:t>AGU </a:t>
            </a:r>
            <a:r>
              <a:rPr lang="zh-CN" altLang="en-US" dirty="0">
                <a:cs typeface="+mn-ea"/>
                <a:sym typeface="+mn-lt"/>
              </a:rPr>
              <a:t>单元和 </a:t>
            </a:r>
            <a:r>
              <a:rPr lang="en-US" altLang="zh-CN" dirty="0" err="1">
                <a:cs typeface="+mn-ea"/>
                <a:sym typeface="+mn-lt"/>
              </a:rPr>
              <a:t>EAl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协处理器；有</a:t>
            </a:r>
            <a:r>
              <a:rPr lang="en-US" altLang="zh-CN" dirty="0">
                <a:cs typeface="+mn-ea"/>
                <a:sym typeface="+mn-lt"/>
              </a:rPr>
              <a:t>3</a:t>
            </a:r>
            <a:r>
              <a:rPr lang="zh-CN" altLang="en-US" dirty="0">
                <a:cs typeface="+mn-ea"/>
                <a:sym typeface="+mn-lt"/>
              </a:rPr>
              <a:t>组输出 </a:t>
            </a:r>
            <a:r>
              <a:rPr lang="en-US" altLang="zh-CN" dirty="0">
                <a:cs typeface="+mn-ea"/>
                <a:sym typeface="+mn-lt"/>
              </a:rPr>
              <a:t>ICB </a:t>
            </a:r>
            <a:r>
              <a:rPr lang="zh-CN" altLang="en-US" dirty="0">
                <a:cs typeface="+mn-ea"/>
                <a:sym typeface="+mn-lt"/>
              </a:rPr>
              <a:t>总线接口，分别分发给 </a:t>
            </a:r>
            <a:r>
              <a:rPr lang="en-US" altLang="zh-CN" dirty="0">
                <a:cs typeface="+mn-ea"/>
                <a:sym typeface="+mn-lt"/>
              </a:rPr>
              <a:t>BIU</a:t>
            </a:r>
            <a:r>
              <a:rPr lang="zh-CN" altLang="en-US" dirty="0">
                <a:cs typeface="+mn-ea"/>
                <a:sym typeface="+mn-lt"/>
              </a:rPr>
              <a:t>，</a:t>
            </a:r>
            <a:r>
              <a:rPr lang="en-US" altLang="zh-CN" dirty="0">
                <a:cs typeface="+mn-ea"/>
                <a:sym typeface="+mn-lt"/>
              </a:rPr>
              <a:t>DTCM</a:t>
            </a:r>
            <a:r>
              <a:rPr lang="zh-CN" altLang="en-US" dirty="0">
                <a:cs typeface="+mn-ea"/>
                <a:sym typeface="+mn-lt"/>
              </a:rPr>
              <a:t>，</a:t>
            </a:r>
            <a:r>
              <a:rPr lang="en-US" altLang="zh-CN" dirty="0">
                <a:cs typeface="+mn-ea"/>
                <a:sym typeface="+mn-lt"/>
              </a:rPr>
              <a:t>ITCM </a:t>
            </a:r>
            <a:r>
              <a:rPr lang="zh-CN" altLang="en-US" dirty="0">
                <a:cs typeface="+mn-ea"/>
                <a:sym typeface="+mn-lt"/>
              </a:rPr>
              <a:t>。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“</a:t>
            </a:r>
            <a:r>
              <a:rPr lang="en-US" altLang="zh-CN" dirty="0">
                <a:cs typeface="+mn-ea"/>
                <a:sym typeface="+mn-lt"/>
              </a:rPr>
              <a:t>ICB</a:t>
            </a:r>
            <a:r>
              <a:rPr lang="zh-CN" altLang="en-US" dirty="0">
                <a:cs typeface="+mn-ea"/>
                <a:sym typeface="+mn-lt"/>
              </a:rPr>
              <a:t>汇合”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"ICB</a:t>
            </a:r>
            <a:r>
              <a:rPr lang="zh-CN" altLang="en-US" dirty="0">
                <a:cs typeface="+mn-ea"/>
                <a:sym typeface="+mn-lt"/>
              </a:rPr>
              <a:t>分发”</a:t>
            </a:r>
          </a:p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最终的返回数据经过操作尺寸对齐之后，经过 </a:t>
            </a:r>
            <a:r>
              <a:rPr lang="en-US" altLang="zh-CN" dirty="0">
                <a:cs typeface="+mn-ea"/>
                <a:sym typeface="+mn-lt"/>
              </a:rPr>
              <a:t>LSU </a:t>
            </a:r>
            <a:r>
              <a:rPr lang="zh-CN" altLang="en-US" dirty="0">
                <a:cs typeface="+mn-ea"/>
                <a:sym typeface="+mn-lt"/>
              </a:rPr>
              <a:t>的写回接口写回。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6" name="Picture 2" descr="https://img-blog.csdnimg.cn/20200910154324454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890" y="1295400"/>
            <a:ext cx="6744461" cy="41890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41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ITCM</a:t>
            </a:r>
            <a:endParaRPr lang="zh-CN" altLang="en-US"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2098" y="903909"/>
            <a:ext cx="80772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3200" b="1" dirty="0">
                <a:cs typeface="+mn-ea"/>
                <a:sym typeface="+mn-lt"/>
              </a:rPr>
              <a:t>哈佛结构和冯诺依曼结构的严格界限已经变得模糊</a:t>
            </a:r>
            <a:endParaRPr lang="en-US" altLang="zh-CN" sz="3200" b="1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蜂鸟</a:t>
            </a:r>
            <a:r>
              <a:rPr lang="en-US" altLang="zh-CN" dirty="0">
                <a:cs typeface="+mn-ea"/>
                <a:sym typeface="+mn-lt"/>
              </a:rPr>
              <a:t>E200</a:t>
            </a:r>
            <a:r>
              <a:rPr lang="zh-CN" altLang="en-US" dirty="0">
                <a:cs typeface="+mn-ea"/>
                <a:sym typeface="+mn-lt"/>
              </a:rPr>
              <a:t>处理器有专用的总线分别访问 </a:t>
            </a:r>
            <a:r>
              <a:rPr lang="en-US" altLang="zh-CN" dirty="0">
                <a:cs typeface="+mn-ea"/>
                <a:sym typeface="+mn-lt"/>
              </a:rPr>
              <a:t>ITCM</a:t>
            </a:r>
            <a:r>
              <a:rPr lang="zh-CN" altLang="en-US" dirty="0">
                <a:cs typeface="+mn-ea"/>
                <a:sym typeface="+mn-lt"/>
              </a:rPr>
              <a:t>和</a:t>
            </a:r>
            <a:r>
              <a:rPr lang="en-US" altLang="zh-CN" dirty="0">
                <a:cs typeface="+mn-ea"/>
                <a:sym typeface="+mn-lt"/>
              </a:rPr>
              <a:t>DTCM---------</a:t>
            </a:r>
            <a:r>
              <a:rPr lang="zh-CN" altLang="en-US" b="1" dirty="0">
                <a:cs typeface="+mn-ea"/>
                <a:sym typeface="+mn-lt"/>
              </a:rPr>
              <a:t>哈佛结构</a:t>
            </a:r>
            <a:endParaRPr lang="en-US" altLang="zh-CN" b="1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ITCM</a:t>
            </a:r>
            <a:r>
              <a:rPr lang="zh-CN" altLang="en-US" dirty="0">
                <a:cs typeface="+mn-ea"/>
                <a:sym typeface="+mn-lt"/>
              </a:rPr>
              <a:t>所在的地址区间同样能够通过 </a:t>
            </a:r>
            <a:r>
              <a:rPr lang="en-US" altLang="zh-CN" dirty="0">
                <a:cs typeface="+mn-ea"/>
                <a:sym typeface="+mn-lt"/>
              </a:rPr>
              <a:t>LSU </a:t>
            </a:r>
            <a:r>
              <a:rPr lang="zh-CN" altLang="en-US" dirty="0">
                <a:cs typeface="+mn-ea"/>
                <a:sym typeface="+mn-lt"/>
              </a:rPr>
              <a:t>被读和写指令访问到用，于存储数据</a:t>
            </a:r>
            <a:r>
              <a:rPr lang="en-US" altLang="zh-CN" dirty="0">
                <a:cs typeface="+mn-ea"/>
                <a:sym typeface="+mn-lt"/>
              </a:rPr>
              <a:t>-------</a:t>
            </a:r>
            <a:r>
              <a:rPr lang="zh-CN" altLang="en-US" b="1" dirty="0">
                <a:cs typeface="+mn-ea"/>
                <a:sym typeface="+mn-lt"/>
              </a:rPr>
              <a:t>冯诺依曼结构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170" name="Picture 2" descr="https://img-blog.csdnimg.cn/20200910154412795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085" y="3492789"/>
            <a:ext cx="8591550" cy="291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直角三角形 4">
            <a:extLst>
              <a:ext uri="{FF2B5EF4-FFF2-40B4-BE49-F238E27FC236}">
                <a16:creationId xmlns:a16="http://schemas.microsoft.com/office/drawing/2014/main" xmlns="" id="{4852DCCA-4DFA-4460-8FB7-F05702747691}"/>
              </a:ext>
            </a:extLst>
          </p:cNvPr>
          <p:cNvSpPr/>
          <p:nvPr/>
        </p:nvSpPr>
        <p:spPr>
          <a:xfrm rot="10800000">
            <a:off x="9371839" y="15794"/>
            <a:ext cx="2819400" cy="2673072"/>
          </a:xfrm>
          <a:prstGeom prst="rtTriangl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58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ITCM</a:t>
            </a:r>
            <a:endParaRPr lang="zh-CN" altLang="en-US"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143000"/>
            <a:ext cx="8077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+mn-ea"/>
                <a:sym typeface="+mn-lt"/>
              </a:rPr>
              <a:t>ITCM</a:t>
            </a:r>
            <a:r>
              <a:rPr lang="zh-CN" altLang="en-US" sz="2000" dirty="0">
                <a:cs typeface="+mn-ea"/>
                <a:sym typeface="+mn-lt"/>
              </a:rPr>
              <a:t> 的存储器主体由一块数据宽度为 </a:t>
            </a:r>
            <a:r>
              <a:rPr lang="en-US" altLang="zh-CN" sz="2000" dirty="0">
                <a:cs typeface="+mn-ea"/>
                <a:sym typeface="+mn-lt"/>
              </a:rPr>
              <a:t>64 </a:t>
            </a:r>
            <a:r>
              <a:rPr lang="zh-CN" altLang="en-US" sz="2000" dirty="0">
                <a:cs typeface="+mn-ea"/>
                <a:sym typeface="+mn-lt"/>
              </a:rPr>
              <a:t>位的单口 </a:t>
            </a:r>
            <a:r>
              <a:rPr lang="en-US" altLang="zh-CN" sz="2000" dirty="0">
                <a:cs typeface="+mn-ea"/>
                <a:sym typeface="+mn-lt"/>
              </a:rPr>
              <a:t>SRAM </a:t>
            </a:r>
            <a:r>
              <a:rPr lang="zh-CN" altLang="en-US" sz="2000" dirty="0">
                <a:cs typeface="+mn-ea"/>
                <a:sym typeface="+mn-lt"/>
              </a:rPr>
              <a:t>组成。</a:t>
            </a:r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ITCM </a:t>
            </a:r>
            <a:r>
              <a:rPr lang="zh-CN" altLang="en-US" sz="2000" dirty="0">
                <a:cs typeface="+mn-ea"/>
                <a:sym typeface="+mn-lt"/>
              </a:rPr>
              <a:t>用数据宽度为 </a:t>
            </a:r>
            <a:r>
              <a:rPr lang="en-US" altLang="zh-CN" sz="2000" dirty="0">
                <a:cs typeface="+mn-ea"/>
                <a:sym typeface="+mn-lt"/>
              </a:rPr>
              <a:t>64 </a:t>
            </a:r>
            <a:r>
              <a:rPr lang="zh-CN" altLang="en-US" sz="2000" dirty="0">
                <a:cs typeface="+mn-ea"/>
                <a:sym typeface="+mn-lt"/>
              </a:rPr>
              <a:t>位能够取得更低的功耗消耗。</a:t>
            </a:r>
            <a:endParaRPr lang="en-US" altLang="zh-CN" sz="2000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比</a:t>
            </a:r>
            <a:r>
              <a:rPr lang="en-US" altLang="zh-CN" dirty="0">
                <a:cs typeface="+mn-ea"/>
                <a:sym typeface="+mn-lt"/>
              </a:rPr>
              <a:t>32</a:t>
            </a:r>
            <a:r>
              <a:rPr lang="zh-CN" altLang="en-US" dirty="0">
                <a:cs typeface="+mn-ea"/>
                <a:sym typeface="+mn-lt"/>
              </a:rPr>
              <a:t>位的</a:t>
            </a:r>
            <a:r>
              <a:rPr lang="en-US" altLang="zh-CN" dirty="0">
                <a:cs typeface="+mn-ea"/>
                <a:sym typeface="+mn-lt"/>
              </a:rPr>
              <a:t>SRAM</a:t>
            </a:r>
            <a:r>
              <a:rPr lang="zh-CN" altLang="en-US" dirty="0">
                <a:cs typeface="+mn-ea"/>
                <a:sym typeface="+mn-lt"/>
              </a:rPr>
              <a:t>面积更加紧凑</a:t>
            </a:r>
            <a:endParaRPr lang="en-US" altLang="zh-CN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64</a:t>
            </a:r>
            <a:r>
              <a:rPr lang="zh-CN" altLang="en-US" dirty="0">
                <a:cs typeface="+mn-ea"/>
                <a:sym typeface="+mn-lt"/>
              </a:rPr>
              <a:t>位宽的</a:t>
            </a:r>
            <a:r>
              <a:rPr lang="en-US" altLang="zh-CN" dirty="0">
                <a:cs typeface="+mn-ea"/>
                <a:sym typeface="+mn-lt"/>
              </a:rPr>
              <a:t>ITCM</a:t>
            </a:r>
            <a:r>
              <a:rPr lang="zh-CN" altLang="en-US" dirty="0">
                <a:cs typeface="+mn-ea"/>
                <a:sym typeface="+mn-lt"/>
              </a:rPr>
              <a:t>可以</a:t>
            </a:r>
            <a:r>
              <a:rPr lang="en-US" altLang="zh-CN" dirty="0">
                <a:cs typeface="+mn-ea"/>
                <a:sym typeface="+mn-lt"/>
              </a:rPr>
              <a:t>1</a:t>
            </a:r>
            <a:r>
              <a:rPr lang="zh-CN" altLang="en-US" dirty="0">
                <a:cs typeface="+mn-ea"/>
                <a:sym typeface="+mn-lt"/>
              </a:rPr>
              <a:t>次取出</a:t>
            </a:r>
            <a:r>
              <a:rPr lang="en-US" altLang="zh-CN" dirty="0">
                <a:cs typeface="+mn-ea"/>
                <a:sym typeface="+mn-lt"/>
              </a:rPr>
              <a:t>64</a:t>
            </a:r>
            <a:r>
              <a:rPr lang="zh-CN" altLang="en-US" dirty="0">
                <a:cs typeface="+mn-ea"/>
                <a:sym typeface="+mn-lt"/>
              </a:rPr>
              <a:t>位的指令流</a:t>
            </a:r>
            <a:endParaRPr lang="en-US" altLang="zh-CN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+mn-ea"/>
                <a:sym typeface="+mn-lt"/>
              </a:rPr>
              <a:t>3</a:t>
            </a:r>
            <a:r>
              <a:rPr lang="zh-CN" altLang="en-US" sz="2000" dirty="0">
                <a:cs typeface="+mn-ea"/>
                <a:sym typeface="+mn-lt"/>
              </a:rPr>
              <a:t>组输入 </a:t>
            </a:r>
            <a:r>
              <a:rPr lang="en-US" altLang="zh-CN" sz="2000" dirty="0">
                <a:cs typeface="+mn-ea"/>
                <a:sym typeface="+mn-lt"/>
              </a:rPr>
              <a:t>ICB </a:t>
            </a:r>
            <a:r>
              <a:rPr lang="zh-CN" altLang="en-US" sz="2000" dirty="0">
                <a:cs typeface="+mn-ea"/>
                <a:sym typeface="+mn-lt"/>
              </a:rPr>
              <a:t>总线“</a:t>
            </a:r>
            <a:r>
              <a:rPr lang="en-US" altLang="zh-CN" sz="2000" dirty="0">
                <a:cs typeface="+mn-ea"/>
                <a:sym typeface="+mn-lt"/>
              </a:rPr>
              <a:t>ICB </a:t>
            </a:r>
            <a:r>
              <a:rPr lang="zh-CN" altLang="en-US" sz="2000" dirty="0">
                <a:cs typeface="+mn-ea"/>
                <a:sym typeface="+mn-lt"/>
              </a:rPr>
              <a:t>汇合”，采用的仲裁机制是优先级仲裁</a:t>
            </a:r>
            <a:endParaRPr lang="en-US" altLang="zh-CN" sz="2000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LSU </a:t>
            </a:r>
            <a:r>
              <a:rPr lang="zh-CN" altLang="en-US" dirty="0">
                <a:cs typeface="+mn-ea"/>
                <a:sym typeface="+mn-lt"/>
              </a:rPr>
              <a:t>的访问接口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IFU</a:t>
            </a:r>
            <a:r>
              <a:rPr lang="zh-CN" altLang="en-US" dirty="0">
                <a:cs typeface="+mn-ea"/>
                <a:sym typeface="+mn-lt"/>
              </a:rPr>
              <a:t>专用的 </a:t>
            </a:r>
            <a:r>
              <a:rPr lang="en-US" altLang="zh-CN" dirty="0">
                <a:cs typeface="+mn-ea"/>
                <a:sym typeface="+mn-lt"/>
              </a:rPr>
              <a:t>ICB </a:t>
            </a:r>
            <a:r>
              <a:rPr lang="zh-CN" altLang="en-US" dirty="0">
                <a:cs typeface="+mn-ea"/>
                <a:sym typeface="+mn-lt"/>
              </a:rPr>
              <a:t>接口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外部直接访问接口</a:t>
            </a:r>
          </a:p>
        </p:txBody>
      </p:sp>
      <p:pic>
        <p:nvPicPr>
          <p:cNvPr id="7" name="Picture 2" descr="https://img-blog.csdnimg.cn/20200910154412795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62400"/>
            <a:ext cx="7162800" cy="242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直角三角形 4">
            <a:extLst>
              <a:ext uri="{FF2B5EF4-FFF2-40B4-BE49-F238E27FC236}">
                <a16:creationId xmlns:a16="http://schemas.microsoft.com/office/drawing/2014/main" xmlns="" id="{D3E9A041-06CF-4A8E-B961-3B5C48535472}"/>
              </a:ext>
            </a:extLst>
          </p:cNvPr>
          <p:cNvSpPr/>
          <p:nvPr/>
        </p:nvSpPr>
        <p:spPr>
          <a:xfrm>
            <a:off x="0" y="3048000"/>
            <a:ext cx="3810000" cy="3809239"/>
          </a:xfrm>
          <a:prstGeom prst="rt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09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DTCM</a:t>
            </a:r>
            <a:endParaRPr lang="zh-CN" altLang="en-US"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5350" y="1273094"/>
            <a:ext cx="80772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3200" b="1" dirty="0">
                <a:cs typeface="+mn-ea"/>
                <a:sym typeface="+mn-lt"/>
              </a:rPr>
              <a:t>DTCM </a:t>
            </a:r>
            <a:r>
              <a:rPr lang="zh-CN" altLang="en-US" sz="3200" b="1" dirty="0">
                <a:cs typeface="+mn-ea"/>
                <a:sym typeface="+mn-lt"/>
              </a:rPr>
              <a:t>的微架构</a:t>
            </a:r>
            <a:endParaRPr lang="en-US" altLang="zh-CN" sz="3200" b="1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242" name="Picture 2" descr="https://img-blog.csdnimg.cn/20200910155033365.png?x-oss-process=image/watermark,type_ZmFuZ3poZW5naGVpdGk,shadow_10,text_aHR0cHM6Ly9ibG9nLmNzZG4ubmV0L3dlaXhpbl80MTY1MDM0OA==,size_16,color_FFFFFF,t_70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95600"/>
            <a:ext cx="10077450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直角三角形 4">
            <a:extLst>
              <a:ext uri="{FF2B5EF4-FFF2-40B4-BE49-F238E27FC236}">
                <a16:creationId xmlns:a16="http://schemas.microsoft.com/office/drawing/2014/main" xmlns="" id="{42949F06-0D60-4956-9FAF-28A51225953C}"/>
              </a:ext>
            </a:extLst>
          </p:cNvPr>
          <p:cNvSpPr/>
          <p:nvPr/>
        </p:nvSpPr>
        <p:spPr>
          <a:xfrm rot="10800000">
            <a:off x="9371839" y="15794"/>
            <a:ext cx="2819400" cy="2673072"/>
          </a:xfrm>
          <a:prstGeom prst="rtTriangl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508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>
            <a:extLst>
              <a:ext uri="{FF2B5EF4-FFF2-40B4-BE49-F238E27FC236}">
                <a16:creationId xmlns:a16="http://schemas.microsoft.com/office/drawing/2014/main" xmlns="" id="{F4B3BBFF-7777-40AD-92C8-253D5F68B125}"/>
              </a:ext>
            </a:extLst>
          </p:cNvPr>
          <p:cNvSpPr/>
          <p:nvPr/>
        </p:nvSpPr>
        <p:spPr>
          <a:xfrm>
            <a:off x="0" y="3048000"/>
            <a:ext cx="3810000" cy="3809239"/>
          </a:xfrm>
          <a:prstGeom prst="rt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DTCM</a:t>
            </a:r>
            <a:endParaRPr lang="zh-CN" altLang="en-US" sz="3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33600" y="1524000"/>
            <a:ext cx="906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+mn-ea"/>
                <a:sym typeface="+mn-lt"/>
              </a:rPr>
              <a:t>DTCM </a:t>
            </a:r>
            <a:r>
              <a:rPr lang="zh-CN" altLang="en-US" sz="2400" dirty="0">
                <a:cs typeface="+mn-ea"/>
                <a:sym typeface="+mn-lt"/>
              </a:rPr>
              <a:t>的存储器主体由一块数据宽度为</a:t>
            </a:r>
            <a:r>
              <a:rPr lang="en-US" altLang="zh-CN" sz="2400" dirty="0">
                <a:cs typeface="+mn-ea"/>
                <a:sym typeface="+mn-lt"/>
              </a:rPr>
              <a:t>32</a:t>
            </a:r>
            <a:r>
              <a:rPr lang="zh-CN" altLang="en-US" sz="2400" dirty="0">
                <a:cs typeface="+mn-ea"/>
                <a:sym typeface="+mn-lt"/>
              </a:rPr>
              <a:t>位的单口</a:t>
            </a:r>
            <a:r>
              <a:rPr lang="en-US" altLang="zh-CN" sz="2400" dirty="0">
                <a:cs typeface="+mn-ea"/>
                <a:sym typeface="+mn-lt"/>
              </a:rPr>
              <a:t>SRAM</a:t>
            </a:r>
            <a:r>
              <a:rPr lang="zh-CN" altLang="en-US" sz="2400" dirty="0">
                <a:cs typeface="+mn-ea"/>
                <a:sym typeface="+mn-lt"/>
              </a:rPr>
              <a:t>组成</a:t>
            </a:r>
            <a:endParaRPr lang="en-US" altLang="zh-CN" sz="2400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通过 </a:t>
            </a:r>
            <a:r>
              <a:rPr lang="en-US" altLang="zh-CN" dirty="0" err="1">
                <a:cs typeface="+mn-ea"/>
                <a:sym typeface="+mn-lt"/>
              </a:rPr>
              <a:t>config.v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中的宏定义参数配置</a:t>
            </a: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+mn-ea"/>
                <a:sym typeface="+mn-lt"/>
              </a:rPr>
              <a:t>DTCM </a:t>
            </a:r>
            <a:r>
              <a:rPr lang="zh-CN" altLang="en-US" sz="2400" dirty="0">
                <a:cs typeface="+mn-ea"/>
                <a:sym typeface="+mn-lt"/>
              </a:rPr>
              <a:t>有两组输入 </a:t>
            </a:r>
            <a:r>
              <a:rPr lang="en-US" altLang="zh-CN" sz="2400" dirty="0">
                <a:cs typeface="+mn-ea"/>
                <a:sym typeface="+mn-lt"/>
              </a:rPr>
              <a:t>ICB </a:t>
            </a:r>
            <a:r>
              <a:rPr lang="zh-CN" altLang="en-US" sz="2400" dirty="0">
                <a:cs typeface="+mn-ea"/>
                <a:sym typeface="+mn-lt"/>
              </a:rPr>
              <a:t>总线接口，经过一个“</a:t>
            </a:r>
            <a:r>
              <a:rPr lang="en-US" altLang="zh-CN" sz="2400" dirty="0">
                <a:cs typeface="+mn-ea"/>
                <a:sym typeface="+mn-lt"/>
              </a:rPr>
              <a:t>ICB </a:t>
            </a:r>
            <a:r>
              <a:rPr lang="zh-CN" altLang="en-US" sz="2400" dirty="0">
                <a:cs typeface="+mn-ea"/>
                <a:sym typeface="+mn-lt"/>
              </a:rPr>
              <a:t>汇合”</a:t>
            </a:r>
            <a:endParaRPr lang="en-US" altLang="zh-CN" sz="2400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LSU</a:t>
            </a:r>
            <a:r>
              <a:rPr lang="zh-CN" altLang="en-US" dirty="0">
                <a:cs typeface="+mn-ea"/>
                <a:sym typeface="+mn-lt"/>
              </a:rPr>
              <a:t>接口</a:t>
            </a:r>
            <a:endParaRPr lang="en-US" altLang="zh-CN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外部直接访问接口</a:t>
            </a: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+mn-ea"/>
                <a:sym typeface="+mn-lt"/>
              </a:rPr>
              <a:t>3</a:t>
            </a:r>
            <a:r>
              <a:rPr lang="zh-CN" altLang="en-US" sz="2400" dirty="0">
                <a:cs typeface="+mn-ea"/>
                <a:sym typeface="+mn-lt"/>
              </a:rPr>
              <a:t>组输入 </a:t>
            </a:r>
            <a:r>
              <a:rPr lang="en-US" altLang="zh-CN" sz="2400" dirty="0">
                <a:cs typeface="+mn-ea"/>
                <a:sym typeface="+mn-lt"/>
              </a:rPr>
              <a:t>ICB </a:t>
            </a:r>
            <a:r>
              <a:rPr lang="zh-CN" altLang="en-US" sz="2400" dirty="0">
                <a:cs typeface="+mn-ea"/>
                <a:sym typeface="+mn-lt"/>
              </a:rPr>
              <a:t>总线“</a:t>
            </a:r>
            <a:r>
              <a:rPr lang="en-US" altLang="zh-CN" sz="2400" dirty="0">
                <a:cs typeface="+mn-ea"/>
                <a:sym typeface="+mn-lt"/>
              </a:rPr>
              <a:t>ICB </a:t>
            </a:r>
            <a:r>
              <a:rPr lang="zh-CN" altLang="en-US" sz="2400" dirty="0">
                <a:cs typeface="+mn-ea"/>
                <a:sym typeface="+mn-lt"/>
              </a:rPr>
              <a:t>汇合”，采用的仲裁机制是优先级仲裁</a:t>
            </a:r>
            <a:endParaRPr lang="en-US" altLang="zh-CN" sz="2400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LSU </a:t>
            </a:r>
            <a:r>
              <a:rPr lang="zh-CN" altLang="en-US" dirty="0">
                <a:cs typeface="+mn-ea"/>
                <a:sym typeface="+mn-lt"/>
              </a:rPr>
              <a:t>的访问接口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IFU</a:t>
            </a:r>
            <a:r>
              <a:rPr lang="zh-CN" altLang="en-US" dirty="0">
                <a:cs typeface="+mn-ea"/>
                <a:sym typeface="+mn-lt"/>
              </a:rPr>
              <a:t>专用的 </a:t>
            </a:r>
            <a:r>
              <a:rPr lang="en-US" altLang="zh-CN" dirty="0">
                <a:cs typeface="+mn-ea"/>
                <a:sym typeface="+mn-lt"/>
              </a:rPr>
              <a:t>ICB </a:t>
            </a:r>
            <a:r>
              <a:rPr lang="zh-CN" altLang="en-US" dirty="0">
                <a:cs typeface="+mn-ea"/>
                <a:sym typeface="+mn-lt"/>
              </a:rPr>
              <a:t>接口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外部直接访问接口</a:t>
            </a:r>
          </a:p>
        </p:txBody>
      </p:sp>
    </p:spTree>
    <p:extLst>
      <p:ext uri="{BB962C8B-B14F-4D97-AF65-F5344CB8AC3E}">
        <p14:creationId xmlns:p14="http://schemas.microsoft.com/office/powerpoint/2010/main" val="354985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46507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“A”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扩展指令处理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6800" y="2348838"/>
            <a:ext cx="8763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“</a:t>
            </a:r>
            <a:r>
              <a:rPr lang="en-US" altLang="zh-CN" dirty="0">
                <a:cs typeface="+mn-ea"/>
                <a:sym typeface="+mn-lt"/>
              </a:rPr>
              <a:t>A”</a:t>
            </a:r>
            <a:r>
              <a:rPr lang="zh-CN" altLang="en-US" dirty="0">
                <a:cs typeface="+mn-ea"/>
                <a:sym typeface="+mn-lt"/>
              </a:rPr>
              <a:t>扩展指令分为两类</a:t>
            </a:r>
            <a:endParaRPr lang="en-US" altLang="zh-CN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Load-Reserved</a:t>
            </a:r>
            <a:r>
              <a:rPr lang="zh-CN" altLang="en-US" dirty="0">
                <a:cs typeface="+mn-ea"/>
                <a:sym typeface="+mn-lt"/>
              </a:rPr>
              <a:t>和</a:t>
            </a:r>
            <a:r>
              <a:rPr lang="en-US" altLang="zh-CN" dirty="0">
                <a:cs typeface="+mn-ea"/>
                <a:sym typeface="+mn-lt"/>
              </a:rPr>
              <a:t>Store-Conditional </a:t>
            </a:r>
            <a:r>
              <a:rPr lang="zh-CN" altLang="en-US" dirty="0">
                <a:cs typeface="+mn-ea"/>
                <a:sym typeface="+mn-lt"/>
              </a:rPr>
              <a:t>指令的硬件实现</a:t>
            </a:r>
            <a:endParaRPr lang="en-US" altLang="zh-CN" dirty="0">
              <a:cs typeface="+mn-ea"/>
              <a:sym typeface="+mn-lt"/>
            </a:endParaRPr>
          </a:p>
          <a:p>
            <a:pPr marL="1200150" lvl="2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在</a:t>
            </a:r>
            <a:r>
              <a:rPr lang="en-US" altLang="zh-CN" dirty="0">
                <a:cs typeface="+mn-ea"/>
                <a:sym typeface="+mn-lt"/>
              </a:rPr>
              <a:t>LSU</a:t>
            </a:r>
            <a:r>
              <a:rPr lang="zh-CN" altLang="en-US" dirty="0">
                <a:cs typeface="+mn-ea"/>
                <a:sym typeface="+mn-lt"/>
              </a:rPr>
              <a:t>单元中设置了互斥检测器 </a:t>
            </a:r>
            <a:endParaRPr lang="en-US" altLang="zh-CN" dirty="0">
              <a:cs typeface="+mn-ea"/>
              <a:sym typeface="+mn-lt"/>
            </a:endParaRPr>
          </a:p>
          <a:p>
            <a:pPr marL="1200150" lvl="2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当有</a:t>
            </a:r>
            <a:r>
              <a:rPr lang="en-US" altLang="zh-CN" dirty="0">
                <a:cs typeface="+mn-ea"/>
                <a:sym typeface="+mn-lt"/>
              </a:rPr>
              <a:t>Load-Reserved</a:t>
            </a:r>
            <a:r>
              <a:rPr lang="zh-CN" altLang="en-US" dirty="0">
                <a:cs typeface="+mn-ea"/>
                <a:sym typeface="+mn-lt"/>
              </a:rPr>
              <a:t>执行时，设置互斥检测器的有效标志 </a:t>
            </a:r>
            <a:endParaRPr lang="en-US" altLang="zh-CN" dirty="0">
              <a:cs typeface="+mn-ea"/>
              <a:sym typeface="+mn-lt"/>
            </a:endParaRPr>
          </a:p>
          <a:p>
            <a:pPr marL="1200150" lvl="2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当有</a:t>
            </a:r>
            <a:r>
              <a:rPr lang="en-US" altLang="zh-CN" dirty="0">
                <a:cs typeface="+mn-ea"/>
                <a:sym typeface="+mn-lt"/>
              </a:rPr>
              <a:t>Store-Conditional</a:t>
            </a:r>
            <a:r>
              <a:rPr lang="zh-CN" altLang="en-US" dirty="0">
                <a:cs typeface="+mn-ea"/>
                <a:sym typeface="+mn-lt"/>
              </a:rPr>
              <a:t>执行时，如果写指令访问存储器的地址和互斥检测器中存储的地址一样，则将互斥检测器的有效标志清除掉</a:t>
            </a:r>
            <a:endParaRPr lang="en-US" altLang="zh-CN" b="1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cs typeface="+mn-ea"/>
                <a:sym typeface="+mn-lt"/>
              </a:rPr>
              <a:t>AMO</a:t>
            </a:r>
            <a:r>
              <a:rPr lang="zh-CN" altLang="en-US" dirty="0">
                <a:cs typeface="+mn-ea"/>
                <a:sym typeface="+mn-lt"/>
              </a:rPr>
              <a:t>指令的硬件实现</a:t>
            </a:r>
            <a:endParaRPr lang="en-US" altLang="zh-CN" dirty="0">
              <a:cs typeface="+mn-ea"/>
              <a:sym typeface="+mn-lt"/>
            </a:endParaRPr>
          </a:p>
          <a:p>
            <a:pPr marL="1200150" lvl="2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在</a:t>
            </a:r>
            <a:r>
              <a:rPr lang="en-US" altLang="zh-CN" dirty="0">
                <a:cs typeface="+mn-ea"/>
                <a:sym typeface="+mn-lt"/>
              </a:rPr>
              <a:t>AGU</a:t>
            </a:r>
            <a:r>
              <a:rPr lang="zh-CN" altLang="en-US" dirty="0">
                <a:cs typeface="+mn-ea"/>
                <a:sym typeface="+mn-lt"/>
              </a:rPr>
              <a:t>单元中使用了状态机将 </a:t>
            </a:r>
            <a:r>
              <a:rPr lang="en-US" altLang="zh-CN" dirty="0">
                <a:cs typeface="+mn-ea"/>
                <a:sym typeface="+mn-lt"/>
              </a:rPr>
              <a:t>AMO </a:t>
            </a:r>
            <a:r>
              <a:rPr lang="zh-CN" altLang="en-US" dirty="0">
                <a:cs typeface="+mn-ea"/>
                <a:sym typeface="+mn-lt"/>
              </a:rPr>
              <a:t>指令拆分为若干个不同的微操作</a:t>
            </a:r>
            <a:endParaRPr lang="en-US" altLang="zh-CN" dirty="0">
              <a:cs typeface="+mn-ea"/>
              <a:sym typeface="+mn-lt"/>
            </a:endParaRPr>
          </a:p>
          <a:p>
            <a:pPr marL="1200150" lvl="2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外部直接访问接口</a:t>
            </a: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蜂鸟</a:t>
            </a:r>
            <a:r>
              <a:rPr lang="en-US" altLang="zh-CN" dirty="0">
                <a:cs typeface="+mn-ea"/>
                <a:sym typeface="+mn-lt"/>
              </a:rPr>
              <a:t>E200</a:t>
            </a:r>
            <a:r>
              <a:rPr lang="zh-CN" altLang="en-US" dirty="0">
                <a:cs typeface="+mn-ea"/>
                <a:sym typeface="+mn-lt"/>
              </a:rPr>
              <a:t>只能够在单核独自访问存储器时，才能保证程序执行的“</a:t>
            </a:r>
            <a:r>
              <a:rPr lang="en-US" altLang="zh-CN" dirty="0">
                <a:cs typeface="+mn-ea"/>
                <a:sym typeface="+mn-lt"/>
              </a:rPr>
              <a:t>A”</a:t>
            </a:r>
            <a:r>
              <a:rPr lang="zh-CN" altLang="en-US" dirty="0">
                <a:cs typeface="+mn-ea"/>
                <a:sym typeface="+mn-lt"/>
              </a:rPr>
              <a:t>扩展指令结果正确。（</a:t>
            </a:r>
            <a:r>
              <a:rPr lang="zh-CN" altLang="en-US" b="1" dirty="0">
                <a:cs typeface="+mn-ea"/>
                <a:sym typeface="+mn-lt"/>
              </a:rPr>
              <a:t>局限性</a:t>
            </a:r>
            <a:r>
              <a:rPr lang="zh-CN" altLang="en-US" dirty="0">
                <a:cs typeface="+mn-ea"/>
                <a:sym typeface="+mn-lt"/>
              </a:rPr>
              <a:t>）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6800" y="1371600"/>
            <a:ext cx="853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+mn-ea"/>
                <a:sym typeface="+mn-lt"/>
              </a:rPr>
              <a:t>“</a:t>
            </a:r>
            <a:r>
              <a:rPr lang="en-US" altLang="zh-CN" b="1" dirty="0">
                <a:cs typeface="+mn-ea"/>
                <a:sym typeface="+mn-lt"/>
              </a:rPr>
              <a:t>A”</a:t>
            </a:r>
            <a:r>
              <a:rPr lang="zh-CN" altLang="en-US" b="1" dirty="0">
                <a:cs typeface="+mn-ea"/>
                <a:sym typeface="+mn-lt"/>
              </a:rPr>
              <a:t>扩展子集对于蜂鸟 </a:t>
            </a:r>
            <a:r>
              <a:rPr lang="en-US" altLang="zh-CN" b="1" dirty="0">
                <a:cs typeface="+mn-ea"/>
                <a:sym typeface="+mn-lt"/>
              </a:rPr>
              <a:t>E200 </a:t>
            </a:r>
            <a:r>
              <a:rPr lang="zh-CN" altLang="en-US" b="1" dirty="0">
                <a:cs typeface="+mn-ea"/>
                <a:sym typeface="+mn-lt"/>
              </a:rPr>
              <a:t>这样的极低功耗处理而言未必是必须要支持的部分</a:t>
            </a:r>
            <a:endParaRPr lang="en-US" altLang="zh-CN" b="1" dirty="0">
              <a:cs typeface="+mn-ea"/>
              <a:sym typeface="+mn-lt"/>
            </a:endParaRPr>
          </a:p>
          <a:p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+mn-ea"/>
                <a:sym typeface="+mn-lt"/>
              </a:rPr>
              <a:t>默认支持“</a:t>
            </a:r>
            <a:r>
              <a:rPr lang="en-US" altLang="zh-CN" b="1" dirty="0">
                <a:cs typeface="+mn-ea"/>
                <a:sym typeface="+mn-lt"/>
              </a:rPr>
              <a:t>A”</a:t>
            </a:r>
            <a:r>
              <a:rPr lang="zh-CN" altLang="en-US" b="1" dirty="0">
                <a:cs typeface="+mn-ea"/>
                <a:sym typeface="+mn-lt"/>
              </a:rPr>
              <a:t>扩展子集。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xmlns="" id="{9467E9DF-89A8-4985-8132-9EC62A9527A4}"/>
              </a:ext>
            </a:extLst>
          </p:cNvPr>
          <p:cNvSpPr/>
          <p:nvPr/>
        </p:nvSpPr>
        <p:spPr>
          <a:xfrm rot="10800000">
            <a:off x="9371839" y="15794"/>
            <a:ext cx="2819400" cy="2673072"/>
          </a:xfrm>
          <a:prstGeom prst="rtTriangl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885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>
            <a:extLst>
              <a:ext uri="{FF2B5EF4-FFF2-40B4-BE49-F238E27FC236}">
                <a16:creationId xmlns:a16="http://schemas.microsoft.com/office/drawing/2014/main" xmlns="" id="{4C2DA44A-E59A-4894-B6E9-4EE7D0E6AF91}"/>
              </a:ext>
            </a:extLst>
          </p:cNvPr>
          <p:cNvSpPr/>
          <p:nvPr/>
        </p:nvSpPr>
        <p:spPr>
          <a:xfrm>
            <a:off x="0" y="3048000"/>
            <a:ext cx="3810000" cy="3809239"/>
          </a:xfrm>
          <a:prstGeom prst="rt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150" y="415925"/>
            <a:ext cx="68516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蜂鸟</a:t>
            </a:r>
            <a:r>
              <a:rPr lang="en-US" altLang="zh-CN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E200</a:t>
            </a: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存储系统的硬件实现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77952"/>
            <a:ext cx="433070" cy="715010"/>
          </a:xfrm>
          <a:custGeom>
            <a:avLst/>
            <a:gdLst/>
            <a:ahLst/>
            <a:cxnLst/>
            <a:rect l="l" t="t" r="r" b="b"/>
            <a:pathLst>
              <a:path w="433070" h="715010">
                <a:moveTo>
                  <a:pt x="0" y="714756"/>
                </a:moveTo>
                <a:lnTo>
                  <a:pt x="0" y="0"/>
                </a:lnTo>
                <a:lnTo>
                  <a:pt x="432816" y="0"/>
                </a:lnTo>
                <a:lnTo>
                  <a:pt x="432816" y="714756"/>
                </a:lnTo>
                <a:lnTo>
                  <a:pt x="0" y="71475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43200" y="1447800"/>
            <a:ext cx="8077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b="1" dirty="0">
                <a:cs typeface="+mn-ea"/>
                <a:sym typeface="+mn-lt"/>
              </a:rPr>
              <a:t>Fence</a:t>
            </a:r>
            <a:r>
              <a:rPr lang="zh-CN" altLang="en-US" sz="2400" b="1" dirty="0">
                <a:cs typeface="+mn-ea"/>
                <a:sym typeface="+mn-lt"/>
              </a:rPr>
              <a:t>与</a:t>
            </a:r>
            <a:r>
              <a:rPr lang="en-US" altLang="zh-CN" sz="2400" b="1" dirty="0" err="1">
                <a:cs typeface="+mn-ea"/>
                <a:sym typeface="+mn-lt"/>
              </a:rPr>
              <a:t>Fence.I</a:t>
            </a:r>
            <a:r>
              <a:rPr lang="zh-CN" altLang="en-US" sz="2400" b="1" dirty="0">
                <a:cs typeface="+mn-ea"/>
                <a:sym typeface="+mn-lt"/>
              </a:rPr>
              <a:t>指令</a:t>
            </a:r>
            <a:endParaRPr lang="en-US" altLang="zh-CN" sz="2400" b="1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派遣</a:t>
            </a:r>
            <a:r>
              <a:rPr lang="en-US" altLang="zh-CN" dirty="0">
                <a:cs typeface="+mn-ea"/>
                <a:sym typeface="+mn-lt"/>
              </a:rPr>
              <a:t>Fence</a:t>
            </a:r>
            <a:r>
              <a:rPr lang="zh-CN" altLang="en-US" dirty="0">
                <a:cs typeface="+mn-ea"/>
                <a:sym typeface="+mn-lt"/>
              </a:rPr>
              <a:t>和</a:t>
            </a:r>
            <a:r>
              <a:rPr lang="en-US" altLang="zh-CN" dirty="0" err="1">
                <a:cs typeface="+mn-ea"/>
                <a:sym typeface="+mn-lt"/>
              </a:rPr>
              <a:t>Fence.I</a:t>
            </a:r>
            <a:r>
              <a:rPr lang="zh-CN" altLang="en-US" dirty="0">
                <a:cs typeface="+mn-ea"/>
                <a:sym typeface="+mn-lt"/>
              </a:rPr>
              <a:t>指令之前必须等待所有己经滞外的指令执行完毕</a:t>
            </a: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b="1" dirty="0">
                <a:cs typeface="+mn-ea"/>
                <a:sym typeface="+mn-lt"/>
              </a:rPr>
              <a:t>BIU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蜂鸟 </a:t>
            </a:r>
            <a:r>
              <a:rPr lang="en-US" altLang="zh-CN" dirty="0">
                <a:cs typeface="+mn-ea"/>
                <a:sym typeface="+mn-lt"/>
              </a:rPr>
              <a:t>E200 </a:t>
            </a:r>
            <a:r>
              <a:rPr lang="zh-CN" altLang="en-US" dirty="0">
                <a:cs typeface="+mn-ea"/>
                <a:sym typeface="+mn-lt"/>
              </a:rPr>
              <a:t>处理器核还能通过 </a:t>
            </a:r>
            <a:r>
              <a:rPr lang="en-US" altLang="zh-CN" dirty="0">
                <a:cs typeface="+mn-ea"/>
                <a:sym typeface="+mn-lt"/>
              </a:rPr>
              <a:t>BIU </a:t>
            </a:r>
            <a:r>
              <a:rPr lang="zh-CN" altLang="en-US" dirty="0">
                <a:cs typeface="+mn-ea"/>
                <a:sym typeface="+mn-lt"/>
              </a:rPr>
              <a:t>访问外部的存储器</a:t>
            </a:r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b="1" dirty="0">
                <a:cs typeface="+mn-ea"/>
                <a:sym typeface="+mn-lt"/>
              </a:rPr>
              <a:t>ECC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使用 </a:t>
            </a:r>
            <a:r>
              <a:rPr lang="en-US" altLang="zh-CN" dirty="0">
                <a:cs typeface="+mn-ea"/>
                <a:sym typeface="+mn-lt"/>
              </a:rPr>
              <a:t>ECC (Error Checking and Correction</a:t>
            </a:r>
            <a:r>
              <a:rPr lang="zh-CN" altLang="en-US" dirty="0">
                <a:cs typeface="+mn-ea"/>
                <a:sym typeface="+mn-lt"/>
              </a:rPr>
              <a:t>）算法对 </a:t>
            </a:r>
            <a:r>
              <a:rPr lang="en-US" altLang="zh-CN" dirty="0">
                <a:cs typeface="+mn-ea"/>
                <a:sym typeface="+mn-lt"/>
              </a:rPr>
              <a:t>SRAM </a:t>
            </a:r>
            <a:r>
              <a:rPr lang="zh-CN" altLang="en-US" dirty="0">
                <a:cs typeface="+mn-ea"/>
                <a:sym typeface="+mn-lt"/>
              </a:rPr>
              <a:t>进行保护</a:t>
            </a:r>
            <a:endParaRPr lang="en-US" altLang="zh-CN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小结</a:t>
            </a:r>
            <a:endParaRPr lang="en-US" altLang="zh-CN" sz="2400" b="1" dirty="0">
              <a:cs typeface="+mn-ea"/>
              <a:sym typeface="+mn-lt"/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使用了两级流水线的超低功耗架构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配备了 </a:t>
            </a:r>
            <a:r>
              <a:rPr lang="en-US" altLang="zh-CN" dirty="0">
                <a:cs typeface="+mn-ea"/>
                <a:sym typeface="+mn-lt"/>
              </a:rPr>
              <a:t>ITCM </a:t>
            </a:r>
            <a:r>
              <a:rPr lang="zh-CN" altLang="en-US" dirty="0">
                <a:cs typeface="+mn-ea"/>
                <a:sym typeface="+mn-lt"/>
              </a:rPr>
              <a:t>和 </a:t>
            </a:r>
            <a:r>
              <a:rPr lang="en-US" altLang="zh-CN" dirty="0">
                <a:cs typeface="+mn-ea"/>
                <a:sym typeface="+mn-lt"/>
              </a:rPr>
              <a:t>DTCM </a:t>
            </a:r>
            <a:r>
              <a:rPr lang="zh-CN" altLang="en-US" dirty="0">
                <a:cs typeface="+mn-ea"/>
                <a:sym typeface="+mn-lt"/>
              </a:rPr>
              <a:t>及其专用的访问通道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dirty="0">
                <a:cs typeface="+mn-ea"/>
                <a:sym typeface="+mn-lt"/>
              </a:rPr>
              <a:t>配备了多样的外部存储器访问接口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zh-CN" altLang="en-US" b="1" dirty="0">
              <a:cs typeface="+mn-ea"/>
              <a:sym typeface="+mn-lt"/>
            </a:endParaRPr>
          </a:p>
          <a:p>
            <a:endParaRPr lang="en-US" altLang="zh-CN" b="1" dirty="0"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b="1" dirty="0">
              <a:cs typeface="+mn-ea"/>
              <a:sym typeface="+mn-lt"/>
            </a:endParaRPr>
          </a:p>
          <a:p>
            <a:pPr lvl="1"/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2453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27F24BBE-0219-4025-AD49-7B44AB8E0B06}"/>
              </a:ext>
            </a:extLst>
          </p:cNvPr>
          <p:cNvSpPr txBox="1"/>
          <p:nvPr/>
        </p:nvSpPr>
        <p:spPr>
          <a:xfrm>
            <a:off x="4953000" y="1752600"/>
            <a:ext cx="228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FFFF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  <a:sym typeface="+mn-lt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tfkcy5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866</Words>
  <Application>Microsoft Office PowerPoint</Application>
  <PresentationFormat>宽屏</PresentationFormat>
  <Paragraphs>190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华文行楷</vt:lpstr>
      <vt:lpstr>微软雅黑</vt:lpstr>
      <vt:lpstr>Arial</vt:lpstr>
      <vt:lpstr>Wingdings</vt:lpstr>
      <vt:lpstr>Office Theme</vt:lpstr>
      <vt:lpstr>第十一章 哈弗还是比亚迪</vt:lpstr>
      <vt:lpstr>CSDN博客</vt:lpstr>
      <vt:lpstr>Agenda</vt:lpstr>
      <vt:lpstr>Agenda</vt:lpstr>
      <vt:lpstr>无缓存(cache)</vt:lpstr>
      <vt:lpstr>处理器一定要有存储器</vt:lpstr>
      <vt:lpstr>处理器一定要有存储器</vt:lpstr>
      <vt:lpstr>ITCM和DTCM</vt:lpstr>
      <vt:lpstr>Agenda</vt:lpstr>
      <vt:lpstr>risc-v对访存指令的简化</vt:lpstr>
      <vt:lpstr>Agenda</vt:lpstr>
      <vt:lpstr>Load和Store指令</vt:lpstr>
      <vt:lpstr>Fence指令</vt:lpstr>
      <vt:lpstr>A扩展指令</vt:lpstr>
      <vt:lpstr>Agenda</vt:lpstr>
      <vt:lpstr>总体设计思路</vt:lpstr>
      <vt:lpstr>AGU</vt:lpstr>
      <vt:lpstr>LSU</vt:lpstr>
      <vt:lpstr>ITCM</vt:lpstr>
      <vt:lpstr>ITCM</vt:lpstr>
      <vt:lpstr>DTCM</vt:lpstr>
      <vt:lpstr>DTCM</vt:lpstr>
      <vt:lpstr>“A”扩展指令处理</vt:lpstr>
      <vt:lpstr>蜂鸟E200存储系统的硬件实现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面向物联网的开源RISC-V 处理器的设计和开发</dc:title>
  <dc:creator>administer</dc:creator>
  <cp:lastModifiedBy>D</cp:lastModifiedBy>
  <cp:revision>48</cp:revision>
  <dcterms:created xsi:type="dcterms:W3CDTF">2020-08-30T14:53:26Z</dcterms:created>
  <dcterms:modified xsi:type="dcterms:W3CDTF">2020-09-29T08:26:05Z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2019-01-27T00:00:00Z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2020-08-30T00:00:00Z</vt:filetime>
  </property>
  <property fmtid="{D5CDD505-2E9C-101B-9397-08002B2CF9AE}" pid="5" name="KSOProductBuildVer">
    <vt:lpwstr>2052-11.1.0.9912</vt:lpwstr>
  </property>
</Properties>
</file>