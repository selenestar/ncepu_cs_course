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8"/>
  </p:notesMasterIdLst>
  <p:sldIdLst>
    <p:sldId id="256" r:id="rId2"/>
    <p:sldId id="257" r:id="rId3"/>
    <p:sldId id="279" r:id="rId4"/>
    <p:sldId id="258" r:id="rId5"/>
    <p:sldId id="277" r:id="rId6"/>
    <p:sldId id="259" r:id="rId7"/>
    <p:sldId id="260" r:id="rId8"/>
    <p:sldId id="261" r:id="rId9"/>
    <p:sldId id="278" r:id="rId10"/>
    <p:sldId id="262" r:id="rId11"/>
    <p:sldId id="280" r:id="rId12"/>
    <p:sldId id="263" r:id="rId13"/>
    <p:sldId id="264" r:id="rId14"/>
    <p:sldId id="265" r:id="rId15"/>
    <p:sldId id="281" r:id="rId16"/>
    <p:sldId id="266" r:id="rId17"/>
    <p:sldId id="267" r:id="rId18"/>
    <p:sldId id="268" r:id="rId19"/>
    <p:sldId id="269" r:id="rId20"/>
    <p:sldId id="270" r:id="rId21"/>
    <p:sldId id="271" r:id="rId22"/>
    <p:sldId id="272" r:id="rId23"/>
    <p:sldId id="282" r:id="rId24"/>
    <p:sldId id="273" r:id="rId25"/>
    <p:sldId id="274" r:id="rId26"/>
    <p:sldId id="283"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348"/>
    <p:restoredTop sz="94632"/>
  </p:normalViewPr>
  <p:slideViewPr>
    <p:cSldViewPr snapToGrid="0" snapToObjects="1">
      <p:cViewPr varScale="1">
        <p:scale>
          <a:sx n="81" d="100"/>
          <a:sy n="81" d="100"/>
        </p:scale>
        <p:origin x="100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0F3A19-4007-BC4F-8355-97B513338C20}" type="datetimeFigureOut">
              <a:rPr kumimoji="1" lang="zh-CN" altLang="en-US" smtClean="0"/>
              <a:t>2020/9/28</a:t>
            </a:fld>
            <a:endParaRPr kumimoji="1"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F98DDB-167C-5D4B-89A1-833661473E19}" type="slidenum">
              <a:rPr kumimoji="1" lang="zh-CN" altLang="en-US" smtClean="0"/>
              <a:t>‹#›</a:t>
            </a:fld>
            <a:endParaRPr kumimoji="1" lang="zh-CN" altLang="en-US"/>
          </a:p>
        </p:txBody>
      </p:sp>
    </p:spTree>
    <p:extLst>
      <p:ext uri="{BB962C8B-B14F-4D97-AF65-F5344CB8AC3E}">
        <p14:creationId xmlns:p14="http://schemas.microsoft.com/office/powerpoint/2010/main" val="3587546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123B0D2B-846B-4D44-BD87-E83541D18ED1}" type="datetimeFigureOut">
              <a:rPr kumimoji="1" lang="zh-CN" altLang="en-US" smtClean="0"/>
              <a:t>2020/9/28</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18BB906A-DDAF-264D-ADB6-4FA64CEA48F6}" type="slidenum">
              <a:rPr kumimoji="1" lang="zh-CN" altLang="en-US" smtClean="0"/>
              <a:t>‹#›</a:t>
            </a:fld>
            <a:endParaRPr kumimoji="1" lang="zh-CN" altLang="en-US"/>
          </a:p>
        </p:txBody>
      </p:sp>
    </p:spTree>
    <p:extLst>
      <p:ext uri="{BB962C8B-B14F-4D97-AF65-F5344CB8AC3E}">
        <p14:creationId xmlns:p14="http://schemas.microsoft.com/office/powerpoint/2010/main" val="4077140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23B0D2B-846B-4D44-BD87-E83541D18ED1}" type="datetimeFigureOut">
              <a:rPr kumimoji="1" lang="zh-CN" altLang="en-US" smtClean="0"/>
              <a:t>2020/9/28</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18BB906A-DDAF-264D-ADB6-4FA64CEA48F6}" type="slidenum">
              <a:rPr kumimoji="1" lang="zh-CN" altLang="en-US" smtClean="0"/>
              <a:t>‹#›</a:t>
            </a:fld>
            <a:endParaRPr kumimoji="1" lang="zh-CN" altLang="en-US"/>
          </a:p>
        </p:txBody>
      </p:sp>
    </p:spTree>
    <p:extLst>
      <p:ext uri="{BB962C8B-B14F-4D97-AF65-F5344CB8AC3E}">
        <p14:creationId xmlns:p14="http://schemas.microsoft.com/office/powerpoint/2010/main" val="37844226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23B0D2B-846B-4D44-BD87-E83541D18ED1}" type="datetimeFigureOut">
              <a:rPr kumimoji="1" lang="zh-CN" altLang="en-US" smtClean="0"/>
              <a:t>2020/9/28</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18BB906A-DDAF-264D-ADB6-4FA64CEA48F6}" type="slidenum">
              <a:rPr kumimoji="1" lang="zh-CN" altLang="en-US" smtClean="0"/>
              <a:t>‹#›</a:t>
            </a:fld>
            <a:endParaRPr kumimoji="1" lang="zh-CN" altLang="en-US"/>
          </a:p>
        </p:txBody>
      </p:sp>
    </p:spTree>
    <p:extLst>
      <p:ext uri="{BB962C8B-B14F-4D97-AF65-F5344CB8AC3E}">
        <p14:creationId xmlns:p14="http://schemas.microsoft.com/office/powerpoint/2010/main" val="3300309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123B0D2B-846B-4D44-BD87-E83541D18ED1}" type="datetimeFigureOut">
              <a:rPr kumimoji="1" lang="zh-CN" altLang="en-US" smtClean="0"/>
              <a:t>2020/9/28</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18BB906A-DDAF-264D-ADB6-4FA64CEA48F6}" type="slidenum">
              <a:rPr kumimoji="1" lang="zh-CN" altLang="en-US" smtClean="0"/>
              <a:t>‹#›</a:t>
            </a:fld>
            <a:endParaRPr kumimoji="1" lang="zh-CN" altLang="en-US"/>
          </a:p>
        </p:txBody>
      </p:sp>
    </p:spTree>
    <p:extLst>
      <p:ext uri="{BB962C8B-B14F-4D97-AF65-F5344CB8AC3E}">
        <p14:creationId xmlns:p14="http://schemas.microsoft.com/office/powerpoint/2010/main" val="2073768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123B0D2B-846B-4D44-BD87-E83541D18ED1}" type="datetimeFigureOut">
              <a:rPr kumimoji="1" lang="zh-CN" altLang="en-US" smtClean="0"/>
              <a:t>2020/9/28</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18BB906A-DDAF-264D-ADB6-4FA64CEA48F6}" type="slidenum">
              <a:rPr kumimoji="1" lang="zh-CN" altLang="en-US" smtClean="0"/>
              <a:t>‹#›</a:t>
            </a:fld>
            <a:endParaRPr kumimoji="1" lang="zh-CN" altLang="en-US"/>
          </a:p>
        </p:txBody>
      </p:sp>
    </p:spTree>
    <p:extLst>
      <p:ext uri="{BB962C8B-B14F-4D97-AF65-F5344CB8AC3E}">
        <p14:creationId xmlns:p14="http://schemas.microsoft.com/office/powerpoint/2010/main" val="14823895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23B0D2B-846B-4D44-BD87-E83541D18ED1}" type="datetimeFigureOut">
              <a:rPr kumimoji="1" lang="zh-CN" altLang="en-US" smtClean="0"/>
              <a:t>2020/9/28</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18BB906A-DDAF-264D-ADB6-4FA64CEA48F6}" type="slidenum">
              <a:rPr kumimoji="1" lang="zh-CN" altLang="en-US" smtClean="0"/>
              <a:t>‹#›</a:t>
            </a:fld>
            <a:endParaRPr kumimoji="1" lang="zh-CN" altLang="en-US"/>
          </a:p>
        </p:txBody>
      </p:sp>
    </p:spTree>
    <p:extLst>
      <p:ext uri="{BB962C8B-B14F-4D97-AF65-F5344CB8AC3E}">
        <p14:creationId xmlns:p14="http://schemas.microsoft.com/office/powerpoint/2010/main" val="1617487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3B0D2B-846B-4D44-BD87-E83541D18ED1}" type="datetimeFigureOut">
              <a:rPr kumimoji="1" lang="zh-CN" altLang="en-US" smtClean="0"/>
              <a:t>2020/9/28</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18BB906A-DDAF-264D-ADB6-4FA64CEA48F6}" type="slidenum">
              <a:rPr kumimoji="1" lang="zh-CN" altLang="en-US" smtClean="0"/>
              <a:t>‹#›</a:t>
            </a:fld>
            <a:endParaRPr kumimoji="1" lang="zh-CN" altLang="en-US"/>
          </a:p>
        </p:txBody>
      </p:sp>
    </p:spTree>
    <p:extLst>
      <p:ext uri="{BB962C8B-B14F-4D97-AF65-F5344CB8AC3E}">
        <p14:creationId xmlns:p14="http://schemas.microsoft.com/office/powerpoint/2010/main" val="1159055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23B0D2B-846B-4D44-BD87-E83541D18ED1}" type="datetimeFigureOut">
              <a:rPr kumimoji="1" lang="zh-CN" altLang="en-US" smtClean="0"/>
              <a:t>2020/9/28</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18BB906A-DDAF-264D-ADB6-4FA64CEA48F6}" type="slidenum">
              <a:rPr kumimoji="1" lang="zh-CN" altLang="en-US" smtClean="0"/>
              <a:t>‹#›</a:t>
            </a:fld>
            <a:endParaRPr kumimoji="1" lang="zh-CN" altLang="en-US"/>
          </a:p>
        </p:txBody>
      </p:sp>
    </p:spTree>
    <p:extLst>
      <p:ext uri="{BB962C8B-B14F-4D97-AF65-F5344CB8AC3E}">
        <p14:creationId xmlns:p14="http://schemas.microsoft.com/office/powerpoint/2010/main" val="2341395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23B0D2B-846B-4D44-BD87-E83541D18ED1}" type="datetimeFigureOut">
              <a:rPr kumimoji="1" lang="zh-CN" altLang="en-US" smtClean="0"/>
              <a:t>2020/9/28</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18BB906A-DDAF-264D-ADB6-4FA64CEA48F6}" type="slidenum">
              <a:rPr kumimoji="1" lang="zh-CN" altLang="en-US" smtClean="0"/>
              <a:t>‹#›</a:t>
            </a:fld>
            <a:endParaRPr kumimoji="1" lang="zh-CN" altLang="en-US"/>
          </a:p>
        </p:txBody>
      </p:sp>
    </p:spTree>
    <p:extLst>
      <p:ext uri="{BB962C8B-B14F-4D97-AF65-F5344CB8AC3E}">
        <p14:creationId xmlns:p14="http://schemas.microsoft.com/office/powerpoint/2010/main" val="2845250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23B0D2B-846B-4D44-BD87-E83541D18ED1}" type="datetimeFigureOut">
              <a:rPr kumimoji="1" lang="zh-CN" altLang="en-US" smtClean="0"/>
              <a:t>2020/9/28</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18BB906A-DDAF-264D-ADB6-4FA64CEA48F6}" type="slidenum">
              <a:rPr kumimoji="1" lang="zh-CN" altLang="en-US" smtClean="0"/>
              <a:t>‹#›</a:t>
            </a:fld>
            <a:endParaRPr kumimoji="1" lang="zh-CN" altLang="en-US"/>
          </a:p>
        </p:txBody>
      </p:sp>
    </p:spTree>
    <p:extLst>
      <p:ext uri="{BB962C8B-B14F-4D97-AF65-F5344CB8AC3E}">
        <p14:creationId xmlns:p14="http://schemas.microsoft.com/office/powerpoint/2010/main" val="3312580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23B0D2B-846B-4D44-BD87-E83541D18ED1}" type="datetimeFigureOut">
              <a:rPr kumimoji="1" lang="zh-CN" altLang="en-US" smtClean="0"/>
              <a:t>2020/9/28</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18BB906A-DDAF-264D-ADB6-4FA64CEA48F6}" type="slidenum">
              <a:rPr kumimoji="1" lang="zh-CN" altLang="en-US" smtClean="0"/>
              <a:t>‹#›</a:t>
            </a:fld>
            <a:endParaRPr kumimoji="1" lang="zh-CN" altLang="en-US"/>
          </a:p>
        </p:txBody>
      </p:sp>
    </p:spTree>
    <p:extLst>
      <p:ext uri="{BB962C8B-B14F-4D97-AF65-F5344CB8AC3E}">
        <p14:creationId xmlns:p14="http://schemas.microsoft.com/office/powerpoint/2010/main" val="1675772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3B0D2B-846B-4D44-BD87-E83541D18ED1}" type="datetimeFigureOut">
              <a:rPr kumimoji="1" lang="zh-CN" altLang="en-US" smtClean="0"/>
              <a:t>2020/9/28</a:t>
            </a:fld>
            <a:endParaRPr kumimoji="1"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BB906A-DDAF-264D-ADB6-4FA64CEA48F6}" type="slidenum">
              <a:rPr kumimoji="1" lang="zh-CN" altLang="en-US" smtClean="0"/>
              <a:t>‹#›</a:t>
            </a:fld>
            <a:endParaRPr kumimoji="1" lang="zh-CN" altLang="en-US"/>
          </a:p>
        </p:txBody>
      </p:sp>
    </p:spTree>
    <p:extLst>
      <p:ext uri="{BB962C8B-B14F-4D97-AF65-F5344CB8AC3E}">
        <p14:creationId xmlns:p14="http://schemas.microsoft.com/office/powerpoint/2010/main" val="23187287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50BC73-2B45-2643-90AC-99B97BFF885B}"/>
              </a:ext>
            </a:extLst>
          </p:cNvPr>
          <p:cNvSpPr>
            <a:spLocks noGrp="1"/>
          </p:cNvSpPr>
          <p:nvPr>
            <p:ph type="ctrTitle"/>
          </p:nvPr>
        </p:nvSpPr>
        <p:spPr>
          <a:xfrm>
            <a:off x="0" y="1234989"/>
            <a:ext cx="9144000" cy="2299043"/>
          </a:xfrm>
        </p:spPr>
        <p:txBody>
          <a:bodyPr>
            <a:noAutofit/>
          </a:bodyPr>
          <a:lstStyle/>
          <a:p>
            <a:r>
              <a:rPr kumimoji="1" lang="zh-CN" altLang="en-US" sz="7200" b="1" dirty="0"/>
              <a:t>第七章  万事开头难吗</a:t>
            </a:r>
            <a:br>
              <a:rPr kumimoji="1" lang="en-US" altLang="zh-CN" sz="7200" dirty="0"/>
            </a:br>
            <a:r>
              <a:rPr kumimoji="1" lang="zh-CN" altLang="en-US" sz="7200" dirty="0"/>
              <a:t>    </a:t>
            </a:r>
            <a:r>
              <a:rPr kumimoji="1" lang="zh-CN" altLang="en-US" sz="7200" b="1" dirty="0"/>
              <a:t>一切从取指令开始</a:t>
            </a:r>
          </a:p>
        </p:txBody>
      </p:sp>
      <p:sp>
        <p:nvSpPr>
          <p:cNvPr id="3" name="副标题 2">
            <a:extLst>
              <a:ext uri="{FF2B5EF4-FFF2-40B4-BE49-F238E27FC236}">
                <a16:creationId xmlns:a16="http://schemas.microsoft.com/office/drawing/2014/main" id="{89856C6A-9619-A449-AD71-35F9C5FC3C54}"/>
              </a:ext>
            </a:extLst>
          </p:cNvPr>
          <p:cNvSpPr>
            <a:spLocks noGrp="1"/>
          </p:cNvSpPr>
          <p:nvPr>
            <p:ph type="subTitle" idx="1"/>
          </p:nvPr>
        </p:nvSpPr>
        <p:spPr>
          <a:xfrm>
            <a:off x="4572000" y="3799703"/>
            <a:ext cx="4491681" cy="488048"/>
          </a:xfrm>
        </p:spPr>
        <p:txBody>
          <a:bodyPr>
            <a:noAutofit/>
          </a:bodyPr>
          <a:lstStyle/>
          <a:p>
            <a:pPr algn="l"/>
            <a:r>
              <a:rPr kumimoji="1" lang="zh-CN" altLang="en-US" sz="3200" dirty="0"/>
              <a:t>组员：程璇 窦煜 尹懋龙</a:t>
            </a:r>
          </a:p>
        </p:txBody>
      </p:sp>
    </p:spTree>
    <p:extLst>
      <p:ext uri="{BB962C8B-B14F-4D97-AF65-F5344CB8AC3E}">
        <p14:creationId xmlns:p14="http://schemas.microsoft.com/office/powerpoint/2010/main" val="1979228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566779F-D9D4-0940-9A3E-408047B221EC}"/>
              </a:ext>
            </a:extLst>
          </p:cNvPr>
          <p:cNvSpPr txBox="1"/>
          <p:nvPr/>
        </p:nvSpPr>
        <p:spPr>
          <a:xfrm>
            <a:off x="618395" y="1881512"/>
            <a:ext cx="3009157" cy="707886"/>
          </a:xfrm>
          <a:prstGeom prst="rect">
            <a:avLst/>
          </a:prstGeom>
          <a:noFill/>
        </p:spPr>
        <p:txBody>
          <a:bodyPr wrap="none" rtlCol="0">
            <a:spAutoFit/>
          </a:bodyPr>
          <a:lstStyle/>
          <a:p>
            <a:r>
              <a:rPr kumimoji="1" lang="en-US" altLang="zh-CN" sz="4000" dirty="0"/>
              <a:t>1</a:t>
            </a:r>
            <a:r>
              <a:rPr kumimoji="1" lang="zh-CN" altLang="en-US" sz="4000" dirty="0"/>
              <a:t>、取指概述</a:t>
            </a:r>
          </a:p>
        </p:txBody>
      </p:sp>
      <p:sp>
        <p:nvSpPr>
          <p:cNvPr id="4" name="文本框 3">
            <a:extLst>
              <a:ext uri="{FF2B5EF4-FFF2-40B4-BE49-F238E27FC236}">
                <a16:creationId xmlns:a16="http://schemas.microsoft.com/office/drawing/2014/main" id="{2715D528-BAEE-C84D-93C1-CEFEA158C551}"/>
              </a:ext>
            </a:extLst>
          </p:cNvPr>
          <p:cNvSpPr txBox="1"/>
          <p:nvPr/>
        </p:nvSpPr>
        <p:spPr>
          <a:xfrm>
            <a:off x="618395" y="3283718"/>
            <a:ext cx="8082662" cy="984885"/>
          </a:xfrm>
          <a:prstGeom prst="rect">
            <a:avLst/>
          </a:prstGeom>
          <a:noFill/>
        </p:spPr>
        <p:txBody>
          <a:bodyPr wrap="none" rtlCol="0">
            <a:spAutoFit/>
          </a:bodyPr>
          <a:lstStyle/>
          <a:p>
            <a:r>
              <a:rPr kumimoji="1" lang="en-US" altLang="zh-CN" sz="4000" dirty="0"/>
              <a:t>2</a:t>
            </a:r>
            <a:r>
              <a:rPr kumimoji="1" lang="zh-CN" altLang="en-US" sz="4000" dirty="0"/>
              <a:t>、</a:t>
            </a:r>
            <a:r>
              <a:rPr kumimoji="1" lang="en-US" altLang="zh-CN" sz="4000" dirty="0"/>
              <a:t>RISC-V</a:t>
            </a:r>
            <a:r>
              <a:rPr kumimoji="1" lang="zh-CN" altLang="en-US" sz="4000" dirty="0"/>
              <a:t>构架特点对</a:t>
            </a:r>
            <a:r>
              <a:rPr lang="zh-CN" altLang="en-US" sz="4000" dirty="0"/>
              <a:t>于取指的简化 </a:t>
            </a:r>
          </a:p>
          <a:p>
            <a:endParaRPr kumimoji="1" lang="zh-CN" altLang="en-US" dirty="0"/>
          </a:p>
        </p:txBody>
      </p:sp>
      <p:sp>
        <p:nvSpPr>
          <p:cNvPr id="5" name="文本框 4">
            <a:extLst>
              <a:ext uri="{FF2B5EF4-FFF2-40B4-BE49-F238E27FC236}">
                <a16:creationId xmlns:a16="http://schemas.microsoft.com/office/drawing/2014/main" id="{CA38E715-75E4-E24B-84DD-E740A649CB6A}"/>
              </a:ext>
            </a:extLst>
          </p:cNvPr>
          <p:cNvSpPr txBox="1"/>
          <p:nvPr/>
        </p:nvSpPr>
        <p:spPr>
          <a:xfrm>
            <a:off x="618395" y="4730723"/>
            <a:ext cx="7346883" cy="984885"/>
          </a:xfrm>
          <a:prstGeom prst="rect">
            <a:avLst/>
          </a:prstGeom>
          <a:noFill/>
        </p:spPr>
        <p:txBody>
          <a:bodyPr wrap="none" rtlCol="0">
            <a:spAutoFit/>
          </a:bodyPr>
          <a:lstStyle/>
          <a:p>
            <a:r>
              <a:rPr kumimoji="1" lang="en-US" altLang="zh-CN" sz="4000" dirty="0"/>
              <a:t>3 </a:t>
            </a:r>
            <a:r>
              <a:rPr kumimoji="1" lang="zh-CN" altLang="en-US" sz="4000" dirty="0"/>
              <a:t>、蜂鸟</a:t>
            </a:r>
            <a:r>
              <a:rPr kumimoji="1" lang="en-US" altLang="zh-CN" sz="4000" dirty="0"/>
              <a:t>E200</a:t>
            </a:r>
            <a:r>
              <a:rPr kumimoji="1" lang="zh-CN" altLang="en-US" sz="4000" dirty="0"/>
              <a:t>处理器的取指实现</a:t>
            </a:r>
            <a:r>
              <a:rPr kumimoji="1" lang="en-US" altLang="zh-CN" sz="4000" dirty="0"/>
              <a:t> </a:t>
            </a:r>
            <a:endParaRPr kumimoji="1" lang="zh-CN" altLang="en-US" sz="4000" dirty="0"/>
          </a:p>
          <a:p>
            <a:endParaRPr kumimoji="1" lang="zh-CN" altLang="en-US" dirty="0"/>
          </a:p>
        </p:txBody>
      </p:sp>
    </p:spTree>
    <p:extLst>
      <p:ext uri="{BB962C8B-B14F-4D97-AF65-F5344CB8AC3E}">
        <p14:creationId xmlns:p14="http://schemas.microsoft.com/office/powerpoint/2010/main" val="35160552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9286F69B-FC75-D643-B2D9-42A1762DDBD2}"/>
              </a:ext>
            </a:extLst>
          </p:cNvPr>
          <p:cNvSpPr/>
          <p:nvPr/>
        </p:nvSpPr>
        <p:spPr>
          <a:xfrm>
            <a:off x="3248561" y="3013501"/>
            <a:ext cx="2646878" cy="830997"/>
          </a:xfrm>
          <a:prstGeom prst="rect">
            <a:avLst/>
          </a:prstGeom>
        </p:spPr>
        <p:txBody>
          <a:bodyPr wrap="none">
            <a:spAutoFit/>
          </a:bodyPr>
          <a:lstStyle/>
          <a:p>
            <a:r>
              <a:rPr kumimoji="1" lang="zh-CN" altLang="en-US" sz="4800" dirty="0"/>
              <a:t>取指概述</a:t>
            </a:r>
            <a:endParaRPr lang="zh-CN" altLang="en-US" sz="4800" dirty="0"/>
          </a:p>
        </p:txBody>
      </p:sp>
    </p:spTree>
    <p:extLst>
      <p:ext uri="{BB962C8B-B14F-4D97-AF65-F5344CB8AC3E}">
        <p14:creationId xmlns:p14="http://schemas.microsoft.com/office/powerpoint/2010/main" val="3637714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D6A591C3-D515-F44E-8104-C6F0798697EC}"/>
              </a:ext>
            </a:extLst>
          </p:cNvPr>
          <p:cNvSpPr txBox="1"/>
          <p:nvPr/>
        </p:nvSpPr>
        <p:spPr>
          <a:xfrm>
            <a:off x="3071430" y="687099"/>
            <a:ext cx="3001142" cy="707886"/>
          </a:xfrm>
          <a:prstGeom prst="rect">
            <a:avLst/>
          </a:prstGeom>
          <a:noFill/>
        </p:spPr>
        <p:txBody>
          <a:bodyPr wrap="none" rtlCol="0">
            <a:spAutoFit/>
          </a:bodyPr>
          <a:lstStyle/>
          <a:p>
            <a:pPr algn="ctr"/>
            <a:r>
              <a:rPr kumimoji="1" lang="en-US" altLang="zh-CN" sz="4000" dirty="0"/>
              <a:t>1.1</a:t>
            </a:r>
            <a:r>
              <a:rPr kumimoji="1" lang="zh-CN" altLang="en-US" sz="4000" dirty="0"/>
              <a:t> 取指特点</a:t>
            </a:r>
          </a:p>
        </p:txBody>
      </p:sp>
      <p:pic>
        <p:nvPicPr>
          <p:cNvPr id="5" name="图片 4" descr="文本&#10;&#10;描述已自动生成">
            <a:extLst>
              <a:ext uri="{FF2B5EF4-FFF2-40B4-BE49-F238E27FC236}">
                <a16:creationId xmlns:a16="http://schemas.microsoft.com/office/drawing/2014/main" id="{1FC72F62-EFDE-1743-A265-CD1E460BC6D9}"/>
              </a:ext>
            </a:extLst>
          </p:cNvPr>
          <p:cNvPicPr>
            <a:picLocks noChangeAspect="1"/>
          </p:cNvPicPr>
          <p:nvPr/>
        </p:nvPicPr>
        <p:blipFill>
          <a:blip r:embed="rId2"/>
          <a:stretch>
            <a:fillRect/>
          </a:stretch>
        </p:blipFill>
        <p:spPr>
          <a:xfrm>
            <a:off x="0" y="2488670"/>
            <a:ext cx="9144000" cy="4162742"/>
          </a:xfrm>
          <a:prstGeom prst="rect">
            <a:avLst/>
          </a:prstGeom>
        </p:spPr>
      </p:pic>
      <p:cxnSp>
        <p:nvCxnSpPr>
          <p:cNvPr id="9" name="直线箭头连接符 8">
            <a:extLst>
              <a:ext uri="{FF2B5EF4-FFF2-40B4-BE49-F238E27FC236}">
                <a16:creationId xmlns:a16="http://schemas.microsoft.com/office/drawing/2014/main" id="{E927D7D1-30DF-5F40-AD93-6BCBD2B868A5}"/>
              </a:ext>
            </a:extLst>
          </p:cNvPr>
          <p:cNvCxnSpPr>
            <a:cxnSpLocks/>
          </p:cNvCxnSpPr>
          <p:nvPr/>
        </p:nvCxnSpPr>
        <p:spPr>
          <a:xfrm flipH="1">
            <a:off x="5229225" y="2031520"/>
            <a:ext cx="837943" cy="2030526"/>
          </a:xfrm>
          <a:prstGeom prst="straightConnector1">
            <a:avLst/>
          </a:prstGeom>
          <a:ln w="603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线箭头连接符 9">
            <a:extLst>
              <a:ext uri="{FF2B5EF4-FFF2-40B4-BE49-F238E27FC236}">
                <a16:creationId xmlns:a16="http://schemas.microsoft.com/office/drawing/2014/main" id="{237E311B-8107-534E-A826-E134FEA6C575}"/>
              </a:ext>
            </a:extLst>
          </p:cNvPr>
          <p:cNvCxnSpPr>
            <a:cxnSpLocks/>
          </p:cNvCxnSpPr>
          <p:nvPr/>
        </p:nvCxnSpPr>
        <p:spPr>
          <a:xfrm flipH="1">
            <a:off x="2178104" y="2150076"/>
            <a:ext cx="798474" cy="1904419"/>
          </a:xfrm>
          <a:prstGeom prst="straightConnector1">
            <a:avLst/>
          </a:prstGeom>
          <a:ln w="603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线箭头连接符 10">
            <a:extLst>
              <a:ext uri="{FF2B5EF4-FFF2-40B4-BE49-F238E27FC236}">
                <a16:creationId xmlns:a16="http://schemas.microsoft.com/office/drawing/2014/main" id="{4FBA2B6B-5B5F-1F4D-98D2-E985335984E7}"/>
              </a:ext>
            </a:extLst>
          </p:cNvPr>
          <p:cNvCxnSpPr>
            <a:cxnSpLocks/>
          </p:cNvCxnSpPr>
          <p:nvPr/>
        </p:nvCxnSpPr>
        <p:spPr>
          <a:xfrm flipH="1">
            <a:off x="947105" y="2150076"/>
            <a:ext cx="807554" cy="1911970"/>
          </a:xfrm>
          <a:prstGeom prst="straightConnector1">
            <a:avLst/>
          </a:prstGeom>
          <a:ln w="603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3910C5FD-9C60-DB48-8ED2-FC6D25C9E5E9}"/>
              </a:ext>
            </a:extLst>
          </p:cNvPr>
          <p:cNvSpPr txBox="1"/>
          <p:nvPr/>
        </p:nvSpPr>
        <p:spPr>
          <a:xfrm>
            <a:off x="1169794" y="1534543"/>
            <a:ext cx="1377513" cy="523220"/>
          </a:xfrm>
          <a:prstGeom prst="rect">
            <a:avLst/>
          </a:prstGeom>
          <a:noFill/>
        </p:spPr>
        <p:txBody>
          <a:bodyPr wrap="square" rtlCol="0">
            <a:spAutoFit/>
          </a:bodyPr>
          <a:lstStyle/>
          <a:p>
            <a:r>
              <a:rPr kumimoji="1" lang="zh-CN" altLang="en-US" sz="2800" dirty="0"/>
              <a:t>指令</a:t>
            </a:r>
            <a:r>
              <a:rPr kumimoji="1" lang="en-US" altLang="zh-CN" sz="2800" dirty="0"/>
              <a:t>PC</a:t>
            </a:r>
            <a:endParaRPr kumimoji="1" lang="zh-CN" altLang="en-US" sz="2800" dirty="0"/>
          </a:p>
        </p:txBody>
      </p:sp>
      <p:sp>
        <p:nvSpPr>
          <p:cNvPr id="14" name="文本框 13">
            <a:extLst>
              <a:ext uri="{FF2B5EF4-FFF2-40B4-BE49-F238E27FC236}">
                <a16:creationId xmlns:a16="http://schemas.microsoft.com/office/drawing/2014/main" id="{44633356-9D52-E04B-8691-E323523F1B9F}"/>
              </a:ext>
            </a:extLst>
          </p:cNvPr>
          <p:cNvSpPr txBox="1"/>
          <p:nvPr/>
        </p:nvSpPr>
        <p:spPr>
          <a:xfrm>
            <a:off x="2577341" y="1522962"/>
            <a:ext cx="1620957" cy="523220"/>
          </a:xfrm>
          <a:prstGeom prst="rect">
            <a:avLst/>
          </a:prstGeom>
          <a:noFill/>
        </p:spPr>
        <p:txBody>
          <a:bodyPr wrap="none" rtlCol="0">
            <a:spAutoFit/>
          </a:bodyPr>
          <a:lstStyle/>
          <a:p>
            <a:r>
              <a:rPr kumimoji="1" lang="zh-CN" altLang="en-US" sz="2800" dirty="0"/>
              <a:t>指令编码</a:t>
            </a:r>
          </a:p>
        </p:txBody>
      </p:sp>
      <p:sp>
        <p:nvSpPr>
          <p:cNvPr id="15" name="文本框 14">
            <a:extLst>
              <a:ext uri="{FF2B5EF4-FFF2-40B4-BE49-F238E27FC236}">
                <a16:creationId xmlns:a16="http://schemas.microsoft.com/office/drawing/2014/main" id="{9B7A7DD0-F95B-F744-85B9-856150B705B1}"/>
              </a:ext>
            </a:extLst>
          </p:cNvPr>
          <p:cNvSpPr txBox="1"/>
          <p:nvPr/>
        </p:nvSpPr>
        <p:spPr>
          <a:xfrm>
            <a:off x="5372186" y="1475265"/>
            <a:ext cx="1620957" cy="523220"/>
          </a:xfrm>
          <a:prstGeom prst="rect">
            <a:avLst/>
          </a:prstGeom>
          <a:noFill/>
        </p:spPr>
        <p:txBody>
          <a:bodyPr wrap="none" rtlCol="0">
            <a:spAutoFit/>
          </a:bodyPr>
          <a:lstStyle/>
          <a:p>
            <a:r>
              <a:rPr kumimoji="1" lang="zh-CN" altLang="en-US" sz="2800" dirty="0"/>
              <a:t>汇编指令</a:t>
            </a:r>
          </a:p>
        </p:txBody>
      </p:sp>
    </p:spTree>
    <p:extLst>
      <p:ext uri="{BB962C8B-B14F-4D97-AF65-F5344CB8AC3E}">
        <p14:creationId xmlns:p14="http://schemas.microsoft.com/office/powerpoint/2010/main" val="4353098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64E8AD2-1603-F142-AF41-910818933003}"/>
              </a:ext>
            </a:extLst>
          </p:cNvPr>
          <p:cNvSpPr txBox="1"/>
          <p:nvPr/>
        </p:nvSpPr>
        <p:spPr>
          <a:xfrm>
            <a:off x="709404" y="2296061"/>
            <a:ext cx="7725192" cy="3385542"/>
          </a:xfrm>
          <a:prstGeom prst="rect">
            <a:avLst/>
          </a:prstGeom>
          <a:noFill/>
        </p:spPr>
        <p:txBody>
          <a:bodyPr wrap="none" rtlCol="0">
            <a:spAutoFit/>
          </a:bodyPr>
          <a:lstStyle/>
          <a:p>
            <a:pPr algn="just"/>
            <a:r>
              <a:rPr kumimoji="1" lang="zh-CN" altLang="en-US" sz="2800" dirty="0"/>
              <a:t>每条指令在存储器空间中所处的地址称为它的</a:t>
            </a:r>
            <a:endParaRPr kumimoji="1" lang="en-US" altLang="zh-CN" sz="2800" dirty="0"/>
          </a:p>
          <a:p>
            <a:pPr algn="just"/>
            <a:r>
              <a:rPr kumimoji="1" lang="zh-CN" altLang="en-US" sz="2800" dirty="0"/>
              <a:t>指令</a:t>
            </a:r>
            <a:r>
              <a:rPr kumimoji="1" lang="en-US" altLang="zh-CN" sz="2800" dirty="0"/>
              <a:t>PC(Program</a:t>
            </a:r>
            <a:r>
              <a:rPr kumimoji="1" lang="zh-CN" altLang="en-US" sz="2800" dirty="0"/>
              <a:t> </a:t>
            </a:r>
            <a:r>
              <a:rPr kumimoji="1" lang="en-US" altLang="zh-CN" sz="2800" dirty="0"/>
              <a:t>Counter)</a:t>
            </a:r>
            <a:r>
              <a:rPr kumimoji="1" lang="zh-CN" altLang="en-US" sz="2800" dirty="0"/>
              <a:t>。</a:t>
            </a:r>
            <a:endParaRPr kumimoji="1" lang="en-US" altLang="zh-CN" sz="2800" dirty="0"/>
          </a:p>
          <a:p>
            <a:pPr algn="just"/>
            <a:r>
              <a:rPr kumimoji="1" lang="zh-CN" altLang="en-US" sz="2800" dirty="0"/>
              <a:t>取指</a:t>
            </a:r>
            <a:r>
              <a:rPr kumimoji="1" lang="en-US" altLang="zh-CN" sz="2800" dirty="0"/>
              <a:t>(Instruction Fetch)</a:t>
            </a:r>
            <a:r>
              <a:rPr kumimoji="1" lang="zh-CN" altLang="en-US" sz="2800" dirty="0"/>
              <a:t>是指将该指令从存储器中</a:t>
            </a:r>
            <a:endParaRPr kumimoji="1" lang="en-US" altLang="zh-CN" sz="2800" dirty="0"/>
          </a:p>
          <a:p>
            <a:pPr algn="just"/>
            <a:r>
              <a:rPr kumimoji="1" lang="zh-CN" altLang="en-US" sz="2800" dirty="0"/>
              <a:t>读取出来的过程。</a:t>
            </a:r>
            <a:endParaRPr kumimoji="1" lang="en-US" altLang="zh-CN" sz="2800" dirty="0"/>
          </a:p>
          <a:p>
            <a:pPr algn="just"/>
            <a:r>
              <a:rPr lang="zh-CN" altLang="en-US" sz="2800" dirty="0"/>
              <a:t>结合</a:t>
            </a:r>
            <a:r>
              <a:rPr lang="en-US" altLang="zh-CN" sz="2800" dirty="0"/>
              <a:t>RISC</a:t>
            </a:r>
            <a:r>
              <a:rPr lang="zh-CN" altLang="en-US" sz="2800" dirty="0"/>
              <a:t>架构汇编指令流的特点，处理器需要以</a:t>
            </a:r>
            <a:endParaRPr lang="en-US" altLang="zh-CN" sz="2800" dirty="0"/>
          </a:p>
          <a:p>
            <a:pPr algn="just"/>
            <a:r>
              <a:rPr lang="zh-CN" altLang="en-US" sz="2800" dirty="0"/>
              <a:t>“快”和“连续不断”的标准从存储器中取出指</a:t>
            </a:r>
            <a:endParaRPr lang="en-US" altLang="zh-CN" sz="2800" dirty="0"/>
          </a:p>
          <a:p>
            <a:pPr algn="just"/>
            <a:r>
              <a:rPr lang="zh-CN" altLang="en-US" sz="2800" dirty="0"/>
              <a:t>令，就需要能够做到如下性能。</a:t>
            </a:r>
          </a:p>
          <a:p>
            <a:endParaRPr kumimoji="1" lang="zh-CN" altLang="en-US" dirty="0"/>
          </a:p>
        </p:txBody>
      </p:sp>
    </p:spTree>
    <p:extLst>
      <p:ext uri="{BB962C8B-B14F-4D97-AF65-F5344CB8AC3E}">
        <p14:creationId xmlns:p14="http://schemas.microsoft.com/office/powerpoint/2010/main" val="3587592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803C3C9-3656-A448-84F4-C44451F8131A}"/>
              </a:ext>
            </a:extLst>
          </p:cNvPr>
          <p:cNvSpPr txBox="1"/>
          <p:nvPr/>
        </p:nvSpPr>
        <p:spPr>
          <a:xfrm>
            <a:off x="2500759" y="733973"/>
            <a:ext cx="4142481" cy="707886"/>
          </a:xfrm>
          <a:prstGeom prst="rect">
            <a:avLst/>
          </a:prstGeom>
          <a:noFill/>
        </p:spPr>
        <p:txBody>
          <a:bodyPr wrap="none" rtlCol="0">
            <a:spAutoFit/>
          </a:bodyPr>
          <a:lstStyle/>
          <a:p>
            <a:r>
              <a:rPr kumimoji="1" lang="en-US" altLang="zh-CN" sz="4000" dirty="0"/>
              <a:t>1.2</a:t>
            </a:r>
            <a:r>
              <a:rPr kumimoji="1" lang="zh-CN" altLang="en-US" sz="4000" dirty="0"/>
              <a:t> 如何快速取指</a:t>
            </a:r>
          </a:p>
        </p:txBody>
      </p:sp>
      <p:sp>
        <p:nvSpPr>
          <p:cNvPr id="3" name="文本框 2">
            <a:extLst>
              <a:ext uri="{FF2B5EF4-FFF2-40B4-BE49-F238E27FC236}">
                <a16:creationId xmlns:a16="http://schemas.microsoft.com/office/drawing/2014/main" id="{4C07C79A-AF9F-3948-A8B5-0D017CC40F62}"/>
              </a:ext>
            </a:extLst>
          </p:cNvPr>
          <p:cNvSpPr txBox="1"/>
          <p:nvPr/>
        </p:nvSpPr>
        <p:spPr>
          <a:xfrm>
            <a:off x="917087" y="1786179"/>
            <a:ext cx="7707243" cy="5509200"/>
          </a:xfrm>
          <a:prstGeom prst="rect">
            <a:avLst/>
          </a:prstGeom>
          <a:noFill/>
        </p:spPr>
        <p:txBody>
          <a:bodyPr wrap="square" rtlCol="0">
            <a:spAutoFit/>
          </a:bodyPr>
          <a:lstStyle/>
          <a:p>
            <a:r>
              <a:rPr kumimoji="1" lang="en-US" altLang="zh-CN" sz="2800" dirty="0"/>
              <a:t>1.</a:t>
            </a:r>
            <a:r>
              <a:rPr lang="zh-CN" altLang="en-US" sz="2800" dirty="0"/>
              <a:t>指令紧耦合存储器</a:t>
            </a:r>
            <a:r>
              <a:rPr lang="en-US" altLang="zh-CN" sz="2800" dirty="0"/>
              <a:t>(ITCM)</a:t>
            </a:r>
          </a:p>
          <a:p>
            <a:r>
              <a:rPr lang="en-US" altLang="zh-CN" sz="2800" dirty="0"/>
              <a:t>	</a:t>
            </a:r>
            <a:r>
              <a:rPr lang="zh-CN" altLang="en-US" sz="2800" dirty="0"/>
              <a:t>是指配置一段较小容量</a:t>
            </a:r>
            <a:r>
              <a:rPr lang="en-US" altLang="zh-CN" sz="2800" dirty="0"/>
              <a:t>(</a:t>
            </a:r>
            <a:r>
              <a:rPr lang="zh-CN" altLang="en-US" sz="2800" dirty="0"/>
              <a:t>一般几十</a:t>
            </a:r>
            <a:r>
              <a:rPr lang="en-US" altLang="zh-CN" sz="2800" dirty="0"/>
              <a:t>KB)</a:t>
            </a:r>
            <a:r>
              <a:rPr lang="zh-CN" altLang="en-US" sz="2800" dirty="0"/>
              <a:t>的存储器</a:t>
            </a:r>
            <a:r>
              <a:rPr lang="en-US" altLang="zh-CN" sz="2800" dirty="0"/>
              <a:t>(</a:t>
            </a:r>
            <a:r>
              <a:rPr lang="zh-CN" altLang="en-US" sz="2800" dirty="0"/>
              <a:t>通常使用 </a:t>
            </a:r>
            <a:r>
              <a:rPr lang="en-US" altLang="zh-CN" sz="2800" dirty="0"/>
              <a:t>SRAM),</a:t>
            </a:r>
            <a:r>
              <a:rPr lang="zh-CN" altLang="en-US" sz="2800" dirty="0"/>
              <a:t>用于存储指令，且在物理上离处理器核很近而专属于处理器核，因此能够 取得很小的访问延迟</a:t>
            </a:r>
            <a:r>
              <a:rPr lang="en-US" altLang="zh-CN" sz="2800" dirty="0"/>
              <a:t>(</a:t>
            </a:r>
            <a:r>
              <a:rPr lang="zh-CN" altLang="en-US" sz="2800" dirty="0"/>
              <a:t>通常一个时钟周期</a:t>
            </a:r>
            <a:r>
              <a:rPr lang="en-US" altLang="zh-CN" sz="2800" dirty="0"/>
              <a:t>)</a:t>
            </a:r>
            <a:r>
              <a:rPr lang="zh-CN" altLang="en-US" sz="2800" dirty="0"/>
              <a:t>。</a:t>
            </a:r>
            <a:endParaRPr lang="en-US" altLang="zh-CN" sz="2800" dirty="0"/>
          </a:p>
          <a:p>
            <a:r>
              <a:rPr lang="en-US" altLang="zh-CN" sz="2800" dirty="0"/>
              <a:t>2. </a:t>
            </a:r>
            <a:r>
              <a:rPr lang="zh-CN" altLang="en-US" sz="2800" dirty="0"/>
              <a:t>指令缓存</a:t>
            </a:r>
            <a:r>
              <a:rPr lang="en-US" altLang="zh-CN" sz="2800" dirty="0"/>
              <a:t>(I-Cache)</a:t>
            </a:r>
          </a:p>
          <a:p>
            <a:r>
              <a:rPr lang="en-US" altLang="zh-CN" sz="2800" dirty="0"/>
              <a:t>	</a:t>
            </a:r>
            <a:r>
              <a:rPr lang="zh-CN" altLang="en-US" sz="2800" dirty="0"/>
              <a:t>是指利用软件程序的时间局部性和空间局部性，将容量巨大的外部指令 存储器空间动态映射到容量有限的指令缓存中，可以将访问指令存储器的平均延迟 降低到最小。</a:t>
            </a:r>
            <a:endParaRPr lang="en-US" altLang="zh-CN" sz="2800" dirty="0"/>
          </a:p>
          <a:p>
            <a:endParaRPr lang="zh-CN" altLang="en-US" dirty="0"/>
          </a:p>
          <a:p>
            <a:endParaRPr lang="zh-CN" altLang="en-US" dirty="0"/>
          </a:p>
          <a:p>
            <a:endParaRPr lang="zh-CN" altLang="en-US" dirty="0"/>
          </a:p>
          <a:p>
            <a:endParaRPr kumimoji="1" lang="zh-CN" altLang="en-US" dirty="0"/>
          </a:p>
        </p:txBody>
      </p:sp>
    </p:spTree>
    <p:extLst>
      <p:ext uri="{BB962C8B-B14F-4D97-AF65-F5344CB8AC3E}">
        <p14:creationId xmlns:p14="http://schemas.microsoft.com/office/powerpoint/2010/main" val="2163259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027214B-0BCB-7C4D-A92C-45F24A56F61D}"/>
              </a:ext>
            </a:extLst>
          </p:cNvPr>
          <p:cNvSpPr txBox="1"/>
          <p:nvPr/>
        </p:nvSpPr>
        <p:spPr>
          <a:xfrm>
            <a:off x="1789026" y="773972"/>
            <a:ext cx="5565947" cy="707886"/>
          </a:xfrm>
          <a:prstGeom prst="rect">
            <a:avLst/>
          </a:prstGeom>
          <a:noFill/>
        </p:spPr>
        <p:txBody>
          <a:bodyPr wrap="none" rtlCol="0">
            <a:spAutoFit/>
          </a:bodyPr>
          <a:lstStyle/>
          <a:p>
            <a:r>
              <a:rPr kumimoji="1" lang="en-US" altLang="zh-CN" sz="4000" dirty="0"/>
              <a:t>1.3</a:t>
            </a:r>
            <a:r>
              <a:rPr kumimoji="1" lang="zh-CN" altLang="en-US" sz="4000" dirty="0"/>
              <a:t> 如何处理非对齐指令</a:t>
            </a:r>
          </a:p>
        </p:txBody>
      </p:sp>
      <p:sp>
        <p:nvSpPr>
          <p:cNvPr id="4" name="文本框 3">
            <a:extLst>
              <a:ext uri="{FF2B5EF4-FFF2-40B4-BE49-F238E27FC236}">
                <a16:creationId xmlns:a16="http://schemas.microsoft.com/office/drawing/2014/main" id="{98954E31-6A56-AE41-B5EB-A2BC52AAF502}"/>
              </a:ext>
            </a:extLst>
          </p:cNvPr>
          <p:cNvSpPr txBox="1"/>
          <p:nvPr/>
        </p:nvSpPr>
        <p:spPr>
          <a:xfrm>
            <a:off x="281206" y="1654853"/>
            <a:ext cx="8581588" cy="4678204"/>
          </a:xfrm>
          <a:prstGeom prst="rect">
            <a:avLst/>
          </a:prstGeom>
          <a:noFill/>
        </p:spPr>
        <p:txBody>
          <a:bodyPr wrap="square" rtlCol="0">
            <a:spAutoFit/>
          </a:bodyPr>
          <a:lstStyle/>
          <a:p>
            <a:r>
              <a:rPr lang="en-US" altLang="zh-CN" sz="2800" dirty="0"/>
              <a:t>1.</a:t>
            </a:r>
            <a:r>
              <a:rPr lang="zh-CN" altLang="en-US" sz="2800" dirty="0"/>
              <a:t>普通指令非对齐</a:t>
            </a:r>
          </a:p>
          <a:p>
            <a:r>
              <a:rPr lang="en-US" altLang="zh-CN" sz="2800" dirty="0"/>
              <a:t>	</a:t>
            </a:r>
            <a:r>
              <a:rPr lang="zh-CN" altLang="en-US" sz="2800" dirty="0"/>
              <a:t>对于普通指令的按顺序取指情形，可以使用剩余缓存（</a:t>
            </a:r>
            <a:r>
              <a:rPr lang="en-US" altLang="zh-CN" sz="2800" dirty="0"/>
              <a:t>Leftover Buffer</a:t>
            </a:r>
            <a:r>
              <a:rPr lang="zh-CN" altLang="en-US" sz="2800" dirty="0"/>
              <a:t>）保存上次取指令后没有用完的比特位，供下次使用。</a:t>
            </a:r>
          </a:p>
          <a:p>
            <a:r>
              <a:rPr kumimoji="1" lang="en-US" altLang="zh-CN" sz="2800" dirty="0"/>
              <a:t>2.</a:t>
            </a:r>
            <a:r>
              <a:rPr lang="zh-CN" altLang="en-US" sz="2800" dirty="0"/>
              <a:t>分支跳转指令非对齐</a:t>
            </a:r>
          </a:p>
          <a:p>
            <a:r>
              <a:rPr kumimoji="1" lang="en-US" altLang="zh-CN" sz="2800" dirty="0"/>
              <a:t>	</a:t>
            </a:r>
            <a:r>
              <a:rPr lang="zh-CN" altLang="en-US" sz="2800" dirty="0"/>
              <a:t>两个连续的</a:t>
            </a:r>
            <a:r>
              <a:rPr lang="en-US" altLang="zh-CN" sz="2800" dirty="0"/>
              <a:t>32</a:t>
            </a:r>
            <a:r>
              <a:rPr lang="zh-CN" altLang="en-US" sz="2800" dirty="0"/>
              <a:t>位指令字将会被分别存储在两块不同的</a:t>
            </a:r>
            <a:r>
              <a:rPr lang="en-US" altLang="zh-CN" sz="2800" dirty="0"/>
              <a:t>SRAM</a:t>
            </a:r>
            <a:r>
              <a:rPr lang="zh-CN" altLang="en-US" sz="2800" dirty="0"/>
              <a:t>中。这样对于地址不与</a:t>
            </a:r>
            <a:r>
              <a:rPr lang="en-US" altLang="zh-CN" sz="2800" dirty="0"/>
              <a:t>32</a:t>
            </a:r>
            <a:r>
              <a:rPr lang="zh-CN" altLang="en-US" sz="2800" dirty="0"/>
              <a:t>位 对齐的指令，则一个周期可以同时访问两块</a:t>
            </a:r>
            <a:r>
              <a:rPr lang="en-US" altLang="zh-CN" sz="2800" dirty="0"/>
              <a:t>SRAM</a:t>
            </a:r>
            <a:r>
              <a:rPr lang="zh-CN" altLang="en-US" sz="2800" dirty="0"/>
              <a:t>取出两个连续的</a:t>
            </a:r>
            <a:r>
              <a:rPr lang="en-US" altLang="zh-CN" sz="2800" dirty="0"/>
              <a:t>32</a:t>
            </a:r>
            <a:r>
              <a:rPr lang="zh-CN" altLang="en-US" sz="2800" dirty="0"/>
              <a:t>位指令字，然后各取 其一部分进行拼接成为真正需要的</a:t>
            </a:r>
            <a:r>
              <a:rPr lang="en-US" altLang="zh-CN" sz="2800" dirty="0"/>
              <a:t>32</a:t>
            </a:r>
            <a:r>
              <a:rPr lang="zh-CN" altLang="en-US" sz="2800" dirty="0"/>
              <a:t>位指令。</a:t>
            </a:r>
          </a:p>
          <a:p>
            <a:endParaRPr kumimoji="1" lang="zh-CN" altLang="en-US" dirty="0"/>
          </a:p>
        </p:txBody>
      </p:sp>
    </p:spTree>
    <p:extLst>
      <p:ext uri="{BB962C8B-B14F-4D97-AF65-F5344CB8AC3E}">
        <p14:creationId xmlns:p14="http://schemas.microsoft.com/office/powerpoint/2010/main" val="3229080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17E2906-D254-6C41-A3F5-42757D7334E9}"/>
              </a:ext>
            </a:extLst>
          </p:cNvPr>
          <p:cNvSpPr txBox="1"/>
          <p:nvPr/>
        </p:nvSpPr>
        <p:spPr>
          <a:xfrm>
            <a:off x="2045507" y="799610"/>
            <a:ext cx="5052986" cy="707886"/>
          </a:xfrm>
          <a:prstGeom prst="rect">
            <a:avLst/>
          </a:prstGeom>
          <a:noFill/>
        </p:spPr>
        <p:txBody>
          <a:bodyPr wrap="none" rtlCol="0">
            <a:spAutoFit/>
          </a:bodyPr>
          <a:lstStyle/>
          <a:p>
            <a:r>
              <a:rPr kumimoji="1" lang="en-US" altLang="zh-CN" sz="4000" dirty="0"/>
              <a:t>1.4</a:t>
            </a:r>
            <a:r>
              <a:rPr kumimoji="1" lang="zh-CN" altLang="en-US" sz="4000" dirty="0"/>
              <a:t> 如何处理分支指令</a:t>
            </a:r>
          </a:p>
        </p:txBody>
      </p:sp>
      <p:sp>
        <p:nvSpPr>
          <p:cNvPr id="3" name="文本框 2">
            <a:extLst>
              <a:ext uri="{FF2B5EF4-FFF2-40B4-BE49-F238E27FC236}">
                <a16:creationId xmlns:a16="http://schemas.microsoft.com/office/drawing/2014/main" id="{21ACF883-7A2C-6D4E-A925-DF6CC9059D50}"/>
              </a:ext>
            </a:extLst>
          </p:cNvPr>
          <p:cNvSpPr txBox="1"/>
          <p:nvPr/>
        </p:nvSpPr>
        <p:spPr>
          <a:xfrm>
            <a:off x="430696" y="1650432"/>
            <a:ext cx="8282608" cy="5724644"/>
          </a:xfrm>
          <a:prstGeom prst="rect">
            <a:avLst/>
          </a:prstGeom>
          <a:noFill/>
        </p:spPr>
        <p:txBody>
          <a:bodyPr wrap="square" rtlCol="0">
            <a:spAutoFit/>
          </a:bodyPr>
          <a:lstStyle/>
          <a:p>
            <a:r>
              <a:rPr kumimoji="1" lang="en-US" altLang="zh-CN" sz="2400" dirty="0"/>
              <a:t>1.</a:t>
            </a:r>
            <a:r>
              <a:rPr kumimoji="1" lang="zh-CN" altLang="en-US" sz="2400" dirty="0"/>
              <a:t>    分支指令类型</a:t>
            </a:r>
            <a:endParaRPr kumimoji="1" lang="en-US" altLang="zh-CN" sz="2400" dirty="0"/>
          </a:p>
          <a:p>
            <a:r>
              <a:rPr kumimoji="1" lang="zh-CN" altLang="en-US" sz="2400" dirty="0"/>
              <a:t>       </a:t>
            </a:r>
            <a:r>
              <a:rPr kumimoji="1" lang="en-US" altLang="zh-CN" sz="2400" dirty="0"/>
              <a:t>(1)</a:t>
            </a:r>
            <a:r>
              <a:rPr lang="zh-CN" altLang="en-US" sz="2400" dirty="0"/>
              <a:t>无条件跳转</a:t>
            </a:r>
            <a:r>
              <a:rPr lang="en-US" altLang="zh-CN" sz="2400" dirty="0"/>
              <a:t>/</a:t>
            </a:r>
            <a:r>
              <a:rPr lang="zh-CN" altLang="en-US" sz="2400" dirty="0"/>
              <a:t>分支</a:t>
            </a:r>
            <a:r>
              <a:rPr lang="en-US" altLang="zh-CN" sz="2400" dirty="0"/>
              <a:t>(Unconditional Jump/Branch)</a:t>
            </a:r>
            <a:r>
              <a:rPr lang="zh-CN" altLang="en-US" sz="2400" dirty="0"/>
              <a:t>指令</a:t>
            </a:r>
            <a:endParaRPr lang="en-US" altLang="zh-CN" sz="2400" dirty="0"/>
          </a:p>
          <a:p>
            <a:r>
              <a:rPr lang="en-US" altLang="zh-CN" sz="2400" dirty="0"/>
              <a:t>       (2)</a:t>
            </a:r>
            <a:r>
              <a:rPr lang="zh-CN" altLang="en-US" sz="2400" dirty="0"/>
              <a:t>带条件直接跳转</a:t>
            </a:r>
            <a:r>
              <a:rPr lang="en-US" altLang="zh-CN" sz="2400" dirty="0"/>
              <a:t>/</a:t>
            </a:r>
            <a:r>
              <a:rPr lang="zh-CN" altLang="en-US" sz="2400" dirty="0"/>
              <a:t>分支</a:t>
            </a:r>
            <a:r>
              <a:rPr lang="en-US" altLang="zh-CN" sz="2400" dirty="0"/>
              <a:t>(Conditional Direct Jump/Branch)</a:t>
            </a:r>
            <a:r>
              <a:rPr lang="zh-CN" altLang="en-US" sz="2400" dirty="0"/>
              <a:t>指令</a:t>
            </a:r>
            <a:endParaRPr lang="en-US" altLang="zh-CN" sz="2400" dirty="0"/>
          </a:p>
          <a:p>
            <a:r>
              <a:rPr kumimoji="1" lang="en-US" altLang="zh-CN" sz="2400" dirty="0"/>
              <a:t>2.   </a:t>
            </a:r>
            <a:r>
              <a:rPr kumimoji="1" lang="zh-CN" altLang="en-US" sz="2400" dirty="0"/>
              <a:t>预测方向</a:t>
            </a:r>
            <a:endParaRPr kumimoji="1" lang="en-US" altLang="zh-CN" sz="2400" dirty="0"/>
          </a:p>
          <a:p>
            <a:r>
              <a:rPr kumimoji="1" lang="en-US" altLang="zh-CN" sz="2400" dirty="0"/>
              <a:t>       (1)</a:t>
            </a:r>
            <a:r>
              <a:rPr lang="zh-CN" altLang="en-US" sz="2400" dirty="0"/>
              <a:t>静态预测：不依赖于任何曾经执行过的指令信息和 历史信息，而是仅依靠</a:t>
            </a:r>
            <a:r>
              <a:rPr lang="en-US" altLang="zh-CN" sz="2400" dirty="0"/>
              <a:t>	</a:t>
            </a:r>
            <a:r>
              <a:rPr lang="zh-CN" altLang="en-US" sz="2400" dirty="0"/>
              <a:t>这条分支指令本身的信息进行预测。</a:t>
            </a:r>
            <a:endParaRPr lang="en-US" altLang="zh-CN" sz="2400" dirty="0"/>
          </a:p>
          <a:p>
            <a:r>
              <a:rPr lang="en-US" altLang="zh-CN" sz="2400" dirty="0"/>
              <a:t>       (2)</a:t>
            </a:r>
            <a:r>
              <a:rPr lang="zh-CN" altLang="en-US" sz="2400" dirty="0"/>
              <a:t>动态预测：依赖已经执行过的指令的历史信息和分支指令本身的信息综合</a:t>
            </a:r>
            <a:r>
              <a:rPr lang="en-US" altLang="zh-CN" sz="2400" dirty="0"/>
              <a:t>	</a:t>
            </a:r>
            <a:r>
              <a:rPr lang="zh-CN" altLang="en-US" sz="2400" dirty="0"/>
              <a:t>进行 </a:t>
            </a:r>
            <a:r>
              <a:rPr lang="en-US" altLang="zh-CN" sz="2400" dirty="0"/>
              <a:t>"</a:t>
            </a:r>
            <a:r>
              <a:rPr lang="zh-CN" altLang="en-US" sz="2400" dirty="0"/>
              <a:t>方向</a:t>
            </a:r>
            <a:r>
              <a:rPr lang="en-US" altLang="zh-CN" sz="2400" dirty="0"/>
              <a:t>"</a:t>
            </a:r>
            <a:r>
              <a:rPr lang="zh-CN" altLang="en-US" sz="2400" dirty="0"/>
              <a:t>预测。</a:t>
            </a:r>
            <a:endParaRPr kumimoji="1" lang="en-US" altLang="zh-CN" sz="2400" dirty="0"/>
          </a:p>
          <a:p>
            <a:pPr marL="342900" indent="-342900">
              <a:buAutoNum type="arabicPeriod" startAt="3"/>
            </a:pPr>
            <a:r>
              <a:rPr kumimoji="1" lang="zh-CN" altLang="en-US" sz="2400" dirty="0"/>
              <a:t>预测地址</a:t>
            </a:r>
            <a:endParaRPr kumimoji="1" lang="en-US" altLang="zh-CN" sz="2400" dirty="0"/>
          </a:p>
          <a:p>
            <a:r>
              <a:rPr lang="en-US" altLang="zh-CN" sz="2400" dirty="0"/>
              <a:t>       </a:t>
            </a:r>
            <a:r>
              <a:rPr lang="zh-CN" altLang="en-US" sz="2400" dirty="0"/>
              <a:t>分支目标缓存</a:t>
            </a:r>
            <a:r>
              <a:rPr lang="en-US" altLang="zh-CN" sz="2400" dirty="0"/>
              <a:t>(Branch Target Buffer, BTB)</a:t>
            </a:r>
          </a:p>
          <a:p>
            <a:r>
              <a:rPr lang="en-US" altLang="zh-CN" sz="2400" dirty="0"/>
              <a:t>       </a:t>
            </a:r>
            <a:r>
              <a:rPr lang="zh-CN" altLang="en-US" sz="2400" dirty="0"/>
              <a:t>返回地址堆栈</a:t>
            </a:r>
            <a:r>
              <a:rPr lang="en-US" altLang="zh-CN" sz="2400" dirty="0"/>
              <a:t>(Return Address Stack, RAS)</a:t>
            </a:r>
          </a:p>
          <a:p>
            <a:r>
              <a:rPr lang="en-US" altLang="zh-CN" sz="2400" dirty="0"/>
              <a:t>       </a:t>
            </a:r>
            <a:r>
              <a:rPr lang="zh-CN" altLang="en-US" sz="2400" dirty="0"/>
              <a:t>间接</a:t>
            </a:r>
            <a:r>
              <a:rPr lang="en-US" altLang="zh-CN" sz="2400" dirty="0"/>
              <a:t>BTB (Indirect BTB)</a:t>
            </a:r>
          </a:p>
          <a:p>
            <a:endParaRPr lang="en-US" altLang="zh-CN" dirty="0"/>
          </a:p>
          <a:p>
            <a:endParaRPr lang="en-US" altLang="zh-CN" dirty="0"/>
          </a:p>
          <a:p>
            <a:pPr marL="342900" indent="-342900">
              <a:buAutoNum type="arabicPeriod" startAt="3"/>
            </a:pPr>
            <a:endParaRPr kumimoji="1" lang="zh-CN" altLang="en-US" dirty="0"/>
          </a:p>
        </p:txBody>
      </p:sp>
    </p:spTree>
    <p:extLst>
      <p:ext uri="{BB962C8B-B14F-4D97-AF65-F5344CB8AC3E}">
        <p14:creationId xmlns:p14="http://schemas.microsoft.com/office/powerpoint/2010/main" val="65733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AC1D043-D834-C644-BA54-9201E439958B}"/>
              </a:ext>
            </a:extLst>
          </p:cNvPr>
          <p:cNvSpPr/>
          <p:nvPr/>
        </p:nvSpPr>
        <p:spPr>
          <a:xfrm>
            <a:off x="290956" y="3013501"/>
            <a:ext cx="8735084" cy="830997"/>
          </a:xfrm>
          <a:prstGeom prst="rect">
            <a:avLst/>
          </a:prstGeom>
        </p:spPr>
        <p:txBody>
          <a:bodyPr wrap="none">
            <a:spAutoFit/>
          </a:bodyPr>
          <a:lstStyle/>
          <a:p>
            <a:pPr algn="ctr"/>
            <a:r>
              <a:rPr kumimoji="1" lang="en-US" altLang="zh-CN" sz="4800" dirty="0"/>
              <a:t>RISC-V</a:t>
            </a:r>
            <a:r>
              <a:rPr kumimoji="1" lang="zh-CN" altLang="en-US" sz="4800" dirty="0"/>
              <a:t>构架特点对</a:t>
            </a:r>
            <a:r>
              <a:rPr lang="zh-CN" altLang="en-US" sz="4800" dirty="0"/>
              <a:t>于取指的简化 </a:t>
            </a:r>
          </a:p>
        </p:txBody>
      </p:sp>
    </p:spTree>
    <p:extLst>
      <p:ext uri="{BB962C8B-B14F-4D97-AF65-F5344CB8AC3E}">
        <p14:creationId xmlns:p14="http://schemas.microsoft.com/office/powerpoint/2010/main" val="3344783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89337B3-9264-0241-80D3-9114F69726BE}"/>
              </a:ext>
            </a:extLst>
          </p:cNvPr>
          <p:cNvSpPr txBox="1"/>
          <p:nvPr/>
        </p:nvSpPr>
        <p:spPr>
          <a:xfrm>
            <a:off x="679620" y="3040957"/>
            <a:ext cx="6808573" cy="3231654"/>
          </a:xfrm>
          <a:prstGeom prst="rect">
            <a:avLst/>
          </a:prstGeom>
          <a:noFill/>
        </p:spPr>
        <p:txBody>
          <a:bodyPr wrap="square" rtlCol="0">
            <a:spAutoFit/>
          </a:bodyPr>
          <a:lstStyle/>
          <a:p>
            <a:r>
              <a:rPr kumimoji="1" lang="en-US" altLang="zh-CN" sz="2800" dirty="0"/>
              <a:t>1.</a:t>
            </a:r>
            <a:r>
              <a:rPr kumimoji="1" lang="zh-CN" altLang="en-US" sz="2800" dirty="0"/>
              <a:t>    规整的指令编码格式</a:t>
            </a:r>
            <a:endParaRPr kumimoji="1" lang="en-US" altLang="zh-CN" sz="2800" dirty="0"/>
          </a:p>
          <a:p>
            <a:r>
              <a:rPr kumimoji="1" lang="en-US" altLang="zh-CN" sz="2800" dirty="0"/>
              <a:t>2.</a:t>
            </a:r>
            <a:r>
              <a:rPr kumimoji="1" lang="zh-CN" altLang="en-US" sz="2800" dirty="0"/>
              <a:t>    指令长度指示码放于低位</a:t>
            </a:r>
            <a:endParaRPr kumimoji="1" lang="en-US" altLang="zh-CN" sz="2800" dirty="0"/>
          </a:p>
          <a:p>
            <a:r>
              <a:rPr kumimoji="1" lang="en-US" altLang="zh-CN" sz="2800" dirty="0"/>
              <a:t>3.</a:t>
            </a:r>
            <a:r>
              <a:rPr kumimoji="1" lang="zh-CN" altLang="en-US" sz="2800" dirty="0"/>
              <a:t>    简单的分支跳转指令</a:t>
            </a:r>
            <a:endParaRPr kumimoji="1" lang="en-US" altLang="zh-CN" sz="2800" dirty="0"/>
          </a:p>
          <a:p>
            <a:r>
              <a:rPr kumimoji="1" lang="en-US" altLang="zh-CN" sz="2800" dirty="0"/>
              <a:t>4. </a:t>
            </a:r>
            <a:r>
              <a:rPr kumimoji="1" lang="zh-CN" altLang="en-US" sz="2800" dirty="0"/>
              <a:t>   没有分支延迟槽指令</a:t>
            </a:r>
            <a:endParaRPr kumimoji="1" lang="en-US" altLang="zh-CN" sz="2800" dirty="0"/>
          </a:p>
          <a:p>
            <a:r>
              <a:rPr kumimoji="1" lang="en-US" altLang="zh-CN" sz="2800" dirty="0"/>
              <a:t>5.</a:t>
            </a:r>
            <a:r>
              <a:rPr kumimoji="1" lang="zh-CN" altLang="en-US" sz="2800" dirty="0"/>
              <a:t>    提供明确的静态分支预测依据</a:t>
            </a:r>
            <a:endParaRPr kumimoji="1" lang="en-US" altLang="zh-CN" sz="2800" dirty="0"/>
          </a:p>
          <a:p>
            <a:r>
              <a:rPr kumimoji="1" lang="en-US" altLang="zh-CN" sz="2800" dirty="0"/>
              <a:t>6.</a:t>
            </a:r>
            <a:r>
              <a:rPr kumimoji="1" lang="zh-CN" altLang="en-US" sz="2800" dirty="0"/>
              <a:t>    提供明确的</a:t>
            </a:r>
            <a:r>
              <a:rPr kumimoji="1" lang="en-US" altLang="zh-CN" sz="2800" dirty="0"/>
              <a:t>RAS</a:t>
            </a:r>
            <a:r>
              <a:rPr kumimoji="1" lang="zh-CN" altLang="en-US" sz="2800" dirty="0"/>
              <a:t>依据</a:t>
            </a:r>
          </a:p>
          <a:p>
            <a:pPr marL="342900" indent="-342900">
              <a:buAutoNum type="arabicPeriod"/>
            </a:pPr>
            <a:endParaRPr kumimoji="1" lang="en-US" altLang="zh-CN" dirty="0"/>
          </a:p>
          <a:p>
            <a:endParaRPr kumimoji="1" lang="zh-CN" altLang="en-US" dirty="0"/>
          </a:p>
        </p:txBody>
      </p:sp>
      <p:sp>
        <p:nvSpPr>
          <p:cNvPr id="4" name="文本框 3">
            <a:extLst>
              <a:ext uri="{FF2B5EF4-FFF2-40B4-BE49-F238E27FC236}">
                <a16:creationId xmlns:a16="http://schemas.microsoft.com/office/drawing/2014/main" id="{DB251968-43B3-7047-ADA9-1CDB376574CF}"/>
              </a:ext>
            </a:extLst>
          </p:cNvPr>
          <p:cNvSpPr txBox="1"/>
          <p:nvPr/>
        </p:nvSpPr>
        <p:spPr>
          <a:xfrm>
            <a:off x="679620" y="1731140"/>
            <a:ext cx="7603363" cy="954107"/>
          </a:xfrm>
          <a:prstGeom prst="rect">
            <a:avLst/>
          </a:prstGeom>
          <a:noFill/>
        </p:spPr>
        <p:txBody>
          <a:bodyPr wrap="none" rtlCol="0">
            <a:spAutoFit/>
          </a:bodyPr>
          <a:lstStyle/>
          <a:p>
            <a:r>
              <a:rPr lang="en-US" altLang="zh-CN" sz="2800" dirty="0"/>
              <a:t>具体对于取指而言</a:t>
            </a:r>
          </a:p>
          <a:p>
            <a:r>
              <a:rPr lang="en-US" altLang="zh-CN" sz="2800" dirty="0"/>
              <a:t>RISC-V架构的如下特点可以大幅简化其硬件实现</a:t>
            </a:r>
            <a:endParaRPr kumimoji="1" lang="zh-CN" altLang="en-US" sz="2800" dirty="0"/>
          </a:p>
        </p:txBody>
      </p:sp>
    </p:spTree>
    <p:extLst>
      <p:ext uri="{BB962C8B-B14F-4D97-AF65-F5344CB8AC3E}">
        <p14:creationId xmlns:p14="http://schemas.microsoft.com/office/powerpoint/2010/main" val="1108020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AB14F14-9940-B646-860A-AE4FE08DBE04}"/>
              </a:ext>
            </a:extLst>
          </p:cNvPr>
          <p:cNvSpPr txBox="1"/>
          <p:nvPr/>
        </p:nvSpPr>
        <p:spPr>
          <a:xfrm>
            <a:off x="1789026" y="778477"/>
            <a:ext cx="5565947" cy="984885"/>
          </a:xfrm>
          <a:prstGeom prst="rect">
            <a:avLst/>
          </a:prstGeom>
          <a:noFill/>
        </p:spPr>
        <p:txBody>
          <a:bodyPr wrap="none" rtlCol="0">
            <a:spAutoFit/>
          </a:bodyPr>
          <a:lstStyle/>
          <a:p>
            <a:r>
              <a:rPr kumimoji="1" lang="en-US" altLang="zh-CN" sz="4000" dirty="0"/>
              <a:t>2.1</a:t>
            </a:r>
            <a:r>
              <a:rPr kumimoji="1" lang="zh-CN" altLang="en-US" sz="4000" dirty="0"/>
              <a:t> 规整的指令编码格式</a:t>
            </a:r>
            <a:endParaRPr kumimoji="1" lang="en-US" altLang="zh-CN" sz="4000" dirty="0"/>
          </a:p>
          <a:p>
            <a:endParaRPr kumimoji="1" lang="zh-CN" altLang="en-US" dirty="0"/>
          </a:p>
        </p:txBody>
      </p:sp>
      <p:sp>
        <p:nvSpPr>
          <p:cNvPr id="3" name="文本框 2">
            <a:extLst>
              <a:ext uri="{FF2B5EF4-FFF2-40B4-BE49-F238E27FC236}">
                <a16:creationId xmlns:a16="http://schemas.microsoft.com/office/drawing/2014/main" id="{B22B3237-B5E9-2847-8170-A1EC47F06359}"/>
              </a:ext>
            </a:extLst>
          </p:cNvPr>
          <p:cNvSpPr txBox="1"/>
          <p:nvPr/>
        </p:nvSpPr>
        <p:spPr>
          <a:xfrm>
            <a:off x="755310" y="2847870"/>
            <a:ext cx="7806945" cy="2246769"/>
          </a:xfrm>
          <a:prstGeom prst="rect">
            <a:avLst/>
          </a:prstGeom>
          <a:noFill/>
        </p:spPr>
        <p:txBody>
          <a:bodyPr wrap="none" rtlCol="0">
            <a:spAutoFit/>
          </a:bodyPr>
          <a:lstStyle/>
          <a:p>
            <a:pPr algn="just"/>
            <a:r>
              <a:rPr lang="en-US" altLang="zh-CN" sz="2800" dirty="0"/>
              <a:t>RISC-V架构得益于后发优势</a:t>
            </a:r>
            <a:r>
              <a:rPr lang="zh-CN" altLang="en-US" sz="2800" dirty="0"/>
              <a:t>，</a:t>
            </a:r>
            <a:r>
              <a:rPr lang="en-US" altLang="zh-CN" sz="2800" dirty="0"/>
              <a:t>并总结了多年来处</a:t>
            </a:r>
          </a:p>
          <a:p>
            <a:pPr algn="just"/>
            <a:r>
              <a:rPr lang="en-US" altLang="zh-CN" sz="2800" dirty="0"/>
              <a:t>理器发展的教训，其指令集编码非常规整</a:t>
            </a:r>
            <a:r>
              <a:rPr lang="zh-CN" altLang="en-US" sz="2800" dirty="0"/>
              <a:t>，</a:t>
            </a:r>
            <a:r>
              <a:rPr lang="en-US" altLang="zh-CN" sz="2800" dirty="0"/>
              <a:t>可以</a:t>
            </a:r>
          </a:p>
          <a:p>
            <a:pPr algn="just"/>
            <a:r>
              <a:rPr lang="en-US" altLang="zh-CN" sz="2800" dirty="0"/>
              <a:t>非常便捷地译码出指令的类型及 其使用的操作数</a:t>
            </a:r>
          </a:p>
          <a:p>
            <a:pPr algn="just"/>
            <a:r>
              <a:rPr lang="en-US" altLang="zh-CN" sz="2800" dirty="0"/>
              <a:t>寄存器索引（Index）或者立即数，从而简化硬件</a:t>
            </a:r>
          </a:p>
          <a:p>
            <a:pPr algn="just"/>
            <a:r>
              <a:rPr lang="en-US" altLang="zh-CN" sz="2800" dirty="0"/>
              <a:t>设计</a:t>
            </a:r>
            <a:r>
              <a:rPr lang="en-US" altLang="zh-CN" dirty="0"/>
              <a:t>。</a:t>
            </a:r>
            <a:r>
              <a:rPr lang="zh-CN" altLang="zh-CN" dirty="0"/>
              <a:t> </a:t>
            </a:r>
            <a:endParaRPr kumimoji="1" lang="en-US" altLang="zh-CN" dirty="0"/>
          </a:p>
        </p:txBody>
      </p:sp>
    </p:spTree>
    <p:extLst>
      <p:ext uri="{BB962C8B-B14F-4D97-AF65-F5344CB8AC3E}">
        <p14:creationId xmlns:p14="http://schemas.microsoft.com/office/powerpoint/2010/main" val="3597769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A7BEF84-C12F-8C4D-B230-6A11FF176C15}"/>
              </a:ext>
            </a:extLst>
          </p:cNvPr>
          <p:cNvSpPr txBox="1"/>
          <p:nvPr/>
        </p:nvSpPr>
        <p:spPr>
          <a:xfrm>
            <a:off x="1218357" y="725958"/>
            <a:ext cx="6707285" cy="984885"/>
          </a:xfrm>
          <a:prstGeom prst="rect">
            <a:avLst/>
          </a:prstGeom>
          <a:noFill/>
        </p:spPr>
        <p:txBody>
          <a:bodyPr wrap="none" rtlCol="0">
            <a:spAutoFit/>
          </a:bodyPr>
          <a:lstStyle/>
          <a:p>
            <a:r>
              <a:rPr kumimoji="1" lang="en-US" altLang="zh-CN" sz="4000" dirty="0"/>
              <a:t>2.2</a:t>
            </a:r>
            <a:r>
              <a:rPr kumimoji="1" lang="zh-CN" altLang="en-US" sz="4000" dirty="0"/>
              <a:t> 指令长度指示码放于低位</a:t>
            </a:r>
            <a:endParaRPr kumimoji="1" lang="en-US" altLang="zh-CN" sz="4000" dirty="0"/>
          </a:p>
          <a:p>
            <a:r>
              <a:rPr kumimoji="1" lang="zh-CN" altLang="en-US" dirty="0"/>
              <a:t>       </a:t>
            </a:r>
            <a:endParaRPr kumimoji="1" lang="en-US" altLang="zh-CN" dirty="0"/>
          </a:p>
        </p:txBody>
      </p:sp>
      <p:pic>
        <p:nvPicPr>
          <p:cNvPr id="4" name="图片 3" descr="表格&#10;&#10;描述已自动生成">
            <a:extLst>
              <a:ext uri="{FF2B5EF4-FFF2-40B4-BE49-F238E27FC236}">
                <a16:creationId xmlns:a16="http://schemas.microsoft.com/office/drawing/2014/main" id="{C9CBFEDB-DAB1-3243-9B9A-EBB1919D5FBB}"/>
              </a:ext>
            </a:extLst>
          </p:cNvPr>
          <p:cNvPicPr>
            <a:picLocks noChangeAspect="1"/>
          </p:cNvPicPr>
          <p:nvPr/>
        </p:nvPicPr>
        <p:blipFill>
          <a:blip r:embed="rId2"/>
          <a:stretch>
            <a:fillRect/>
          </a:stretch>
        </p:blipFill>
        <p:spPr>
          <a:xfrm>
            <a:off x="0" y="3013425"/>
            <a:ext cx="9029700" cy="3365500"/>
          </a:xfrm>
          <a:prstGeom prst="rect">
            <a:avLst/>
          </a:prstGeom>
        </p:spPr>
      </p:pic>
      <p:sp>
        <p:nvSpPr>
          <p:cNvPr id="5" name="框架 4">
            <a:extLst>
              <a:ext uri="{FF2B5EF4-FFF2-40B4-BE49-F238E27FC236}">
                <a16:creationId xmlns:a16="http://schemas.microsoft.com/office/drawing/2014/main" id="{93851141-6FBD-2A4B-8238-4048CFD558ED}"/>
              </a:ext>
            </a:extLst>
          </p:cNvPr>
          <p:cNvSpPr/>
          <p:nvPr/>
        </p:nvSpPr>
        <p:spPr>
          <a:xfrm>
            <a:off x="5313033" y="2448178"/>
            <a:ext cx="1031649" cy="4041913"/>
          </a:xfrm>
          <a:prstGeom prst="fra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cxnSp>
        <p:nvCxnSpPr>
          <p:cNvPr id="7" name="直线箭头连接符 6">
            <a:extLst>
              <a:ext uri="{FF2B5EF4-FFF2-40B4-BE49-F238E27FC236}">
                <a16:creationId xmlns:a16="http://schemas.microsoft.com/office/drawing/2014/main" id="{A1E08EC1-A69E-0641-AD42-47623346B928}"/>
              </a:ext>
            </a:extLst>
          </p:cNvPr>
          <p:cNvCxnSpPr>
            <a:cxnSpLocks/>
          </p:cNvCxnSpPr>
          <p:nvPr/>
        </p:nvCxnSpPr>
        <p:spPr>
          <a:xfrm flipH="1">
            <a:off x="6344682" y="2126746"/>
            <a:ext cx="737980" cy="565429"/>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AE32C291-E487-104C-A0CD-C224AA257BF7}"/>
              </a:ext>
            </a:extLst>
          </p:cNvPr>
          <p:cNvSpPr txBox="1"/>
          <p:nvPr/>
        </p:nvSpPr>
        <p:spPr>
          <a:xfrm>
            <a:off x="5554038" y="1642335"/>
            <a:ext cx="3057247" cy="523220"/>
          </a:xfrm>
          <a:prstGeom prst="rect">
            <a:avLst/>
          </a:prstGeom>
          <a:noFill/>
        </p:spPr>
        <p:txBody>
          <a:bodyPr wrap="none" rtlCol="0">
            <a:spAutoFit/>
          </a:bodyPr>
          <a:lstStyle/>
          <a:p>
            <a:r>
              <a:rPr kumimoji="1" lang="zh-CN" altLang="en-US" sz="2800" dirty="0"/>
              <a:t>用于指示指令长度</a:t>
            </a:r>
          </a:p>
        </p:txBody>
      </p:sp>
    </p:spTree>
    <p:extLst>
      <p:ext uri="{BB962C8B-B14F-4D97-AF65-F5344CB8AC3E}">
        <p14:creationId xmlns:p14="http://schemas.microsoft.com/office/powerpoint/2010/main" val="946741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CD0577D-EC71-E24E-8DF2-33F4A0FB5D4E}"/>
              </a:ext>
            </a:extLst>
          </p:cNvPr>
          <p:cNvSpPr txBox="1"/>
          <p:nvPr/>
        </p:nvSpPr>
        <p:spPr>
          <a:xfrm>
            <a:off x="1731318" y="750182"/>
            <a:ext cx="5681363" cy="707886"/>
          </a:xfrm>
          <a:prstGeom prst="rect">
            <a:avLst/>
          </a:prstGeom>
          <a:noFill/>
        </p:spPr>
        <p:txBody>
          <a:bodyPr wrap="none" rtlCol="0">
            <a:spAutoFit/>
          </a:bodyPr>
          <a:lstStyle/>
          <a:p>
            <a:r>
              <a:rPr kumimoji="1" lang="en-US" altLang="zh-CN" sz="4000" dirty="0"/>
              <a:t>2.3</a:t>
            </a:r>
            <a:r>
              <a:rPr kumimoji="1" lang="zh-CN" altLang="en-US" sz="4000" dirty="0"/>
              <a:t>  简单的分支跳转指令</a:t>
            </a:r>
          </a:p>
        </p:txBody>
      </p:sp>
      <p:pic>
        <p:nvPicPr>
          <p:cNvPr id="4" name="图片 3" descr="图片包含 表格&#10;&#10;描述已自动生成">
            <a:extLst>
              <a:ext uri="{FF2B5EF4-FFF2-40B4-BE49-F238E27FC236}">
                <a16:creationId xmlns:a16="http://schemas.microsoft.com/office/drawing/2014/main" id="{68A5E162-4EA7-464B-B77F-1984107FC541}"/>
              </a:ext>
            </a:extLst>
          </p:cNvPr>
          <p:cNvPicPr>
            <a:picLocks noChangeAspect="1"/>
          </p:cNvPicPr>
          <p:nvPr/>
        </p:nvPicPr>
        <p:blipFill>
          <a:blip r:embed="rId2"/>
          <a:stretch>
            <a:fillRect/>
          </a:stretch>
        </p:blipFill>
        <p:spPr>
          <a:xfrm>
            <a:off x="768350" y="1564542"/>
            <a:ext cx="7581900" cy="2286000"/>
          </a:xfrm>
          <a:prstGeom prst="rect">
            <a:avLst/>
          </a:prstGeom>
        </p:spPr>
      </p:pic>
      <p:pic>
        <p:nvPicPr>
          <p:cNvPr id="6" name="图片 5" descr="表格&#10;&#10;描述已自动生成">
            <a:extLst>
              <a:ext uri="{FF2B5EF4-FFF2-40B4-BE49-F238E27FC236}">
                <a16:creationId xmlns:a16="http://schemas.microsoft.com/office/drawing/2014/main" id="{8F70E46A-B82C-2847-BC96-A4F54F0D5923}"/>
              </a:ext>
            </a:extLst>
          </p:cNvPr>
          <p:cNvPicPr>
            <a:picLocks noChangeAspect="1"/>
          </p:cNvPicPr>
          <p:nvPr/>
        </p:nvPicPr>
        <p:blipFill>
          <a:blip r:embed="rId3"/>
          <a:stretch>
            <a:fillRect/>
          </a:stretch>
        </p:blipFill>
        <p:spPr>
          <a:xfrm>
            <a:off x="793750" y="3813908"/>
            <a:ext cx="7607300" cy="2959100"/>
          </a:xfrm>
          <a:prstGeom prst="rect">
            <a:avLst/>
          </a:prstGeom>
        </p:spPr>
      </p:pic>
    </p:spTree>
    <p:extLst>
      <p:ext uri="{BB962C8B-B14F-4D97-AF65-F5344CB8AC3E}">
        <p14:creationId xmlns:p14="http://schemas.microsoft.com/office/powerpoint/2010/main" val="9684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5926B16-E102-3646-A8B8-006F065FC0BD}"/>
              </a:ext>
            </a:extLst>
          </p:cNvPr>
          <p:cNvSpPr txBox="1"/>
          <p:nvPr/>
        </p:nvSpPr>
        <p:spPr>
          <a:xfrm>
            <a:off x="181290" y="1625798"/>
            <a:ext cx="8962710" cy="5232202"/>
          </a:xfrm>
          <a:prstGeom prst="rect">
            <a:avLst/>
          </a:prstGeom>
          <a:noFill/>
        </p:spPr>
        <p:txBody>
          <a:bodyPr wrap="none" rtlCol="0">
            <a:spAutoFit/>
          </a:bodyPr>
          <a:lstStyle/>
          <a:p>
            <a:r>
              <a:rPr kumimoji="1" lang="en-US" altLang="zh-CN" sz="2000" dirty="0"/>
              <a:t>2.4</a:t>
            </a:r>
            <a:r>
              <a:rPr kumimoji="1" lang="zh-CN" altLang="en-US" sz="2000" dirty="0"/>
              <a:t>  没有分支延迟槽指令</a:t>
            </a:r>
            <a:endParaRPr kumimoji="1" lang="en-US" altLang="zh-CN" sz="2000" dirty="0"/>
          </a:p>
          <a:p>
            <a:r>
              <a:rPr lang="zh-CN" altLang="en-US" sz="2000" dirty="0"/>
              <a:t>         分支延迟槽是指在每一条分支指令后面紧跟的一条或者若干条指令不受</a:t>
            </a:r>
            <a:endParaRPr lang="en-US" altLang="zh-CN" sz="2000" dirty="0"/>
          </a:p>
          <a:p>
            <a:r>
              <a:rPr lang="zh-CN" altLang="en-US" sz="2000" dirty="0"/>
              <a:t>分支跳转的影响，不管分支是否跳转，这后面的几条指令都一定会被执行。</a:t>
            </a:r>
          </a:p>
          <a:p>
            <a:endParaRPr kumimoji="1" lang="en-US" altLang="zh-CN" sz="2000" dirty="0"/>
          </a:p>
          <a:p>
            <a:r>
              <a:rPr kumimoji="1" lang="en-US" altLang="zh-CN" sz="2000" dirty="0"/>
              <a:t>2.5</a:t>
            </a:r>
            <a:r>
              <a:rPr kumimoji="1" lang="zh-CN" altLang="en-US" sz="2000" dirty="0"/>
              <a:t>  提供明确的静态分支预测依据</a:t>
            </a:r>
            <a:endParaRPr kumimoji="1" lang="en-US" altLang="zh-CN" sz="2000" dirty="0"/>
          </a:p>
          <a:p>
            <a:r>
              <a:rPr lang="zh-CN" altLang="en-US" sz="2000" dirty="0"/>
              <a:t>         静态分支预测是一种最简单的预测技术，但是静态分支预测往往固定地</a:t>
            </a:r>
            <a:endParaRPr lang="en-US" altLang="zh-CN" sz="2000" dirty="0"/>
          </a:p>
          <a:p>
            <a:r>
              <a:rPr lang="zh-CN" altLang="en-US" sz="2000" dirty="0"/>
              <a:t>预测向后跳转 （或者向前跳转）为需要跳转（</a:t>
            </a:r>
            <a:r>
              <a:rPr lang="en-US" altLang="zh-CN" sz="2000" dirty="0"/>
              <a:t>Taken</a:t>
            </a:r>
            <a:r>
              <a:rPr lang="zh-CN" altLang="en-US" sz="2000" dirty="0"/>
              <a:t>）。如果软件实际执行中</a:t>
            </a:r>
            <a:endParaRPr lang="en-US" altLang="zh-CN" sz="2000" dirty="0"/>
          </a:p>
          <a:p>
            <a:r>
              <a:rPr lang="zh-CN" altLang="en-US" sz="2000" dirty="0"/>
              <a:t>未必如此，则会造成预测失败。</a:t>
            </a:r>
          </a:p>
          <a:p>
            <a:endParaRPr kumimoji="1" lang="en-US" altLang="zh-CN" sz="2000" dirty="0"/>
          </a:p>
          <a:p>
            <a:r>
              <a:rPr kumimoji="1" lang="en-US" altLang="zh-CN" sz="2000" dirty="0"/>
              <a:t>2.6</a:t>
            </a:r>
            <a:r>
              <a:rPr kumimoji="1" lang="zh-CN" altLang="en-US" sz="2000" dirty="0"/>
              <a:t>  提供明确的</a:t>
            </a:r>
            <a:r>
              <a:rPr kumimoji="1" lang="en-US" altLang="zh-CN" sz="2000" dirty="0"/>
              <a:t>RAS</a:t>
            </a:r>
            <a:r>
              <a:rPr kumimoji="1" lang="zh-CN" altLang="en-US" sz="2000" dirty="0"/>
              <a:t>依据</a:t>
            </a:r>
            <a:endParaRPr kumimoji="1" lang="en-US" altLang="zh-CN" sz="2000" dirty="0"/>
          </a:p>
          <a:p>
            <a:r>
              <a:rPr lang="zh-CN" altLang="en-US" sz="2000" dirty="0"/>
              <a:t>        </a:t>
            </a:r>
            <a:r>
              <a:rPr lang="en-US" altLang="zh-CN" sz="2000" dirty="0"/>
              <a:t>RAS (Return Address Stack)</a:t>
            </a:r>
            <a:r>
              <a:rPr lang="zh-CN" altLang="en-US" sz="2000" dirty="0"/>
              <a:t>可以用于函数返回地址的预测，这是目前处理器</a:t>
            </a:r>
            <a:endParaRPr lang="en-US" altLang="zh-CN" sz="2000" dirty="0"/>
          </a:p>
          <a:p>
            <a:r>
              <a:rPr lang="zh-CN" altLang="en-US" sz="2000" dirty="0"/>
              <a:t>设计的常用技术。但是</a:t>
            </a:r>
            <a:r>
              <a:rPr lang="en-US" altLang="zh-CN" sz="2000" dirty="0"/>
              <a:t>RAS</a:t>
            </a:r>
            <a:r>
              <a:rPr lang="zh-CN" altLang="en-US" sz="2000" dirty="0"/>
              <a:t>需要能够明确地判定什么指令属于“函数调用”类</a:t>
            </a:r>
            <a:endParaRPr lang="en-US" altLang="zh-CN" sz="2000" dirty="0"/>
          </a:p>
          <a:p>
            <a:r>
              <a:rPr lang="zh-CN" altLang="en-US" sz="2000" dirty="0"/>
              <a:t>型的分支跳转指令从 而进行压栈，什么指令属于“函数返回”类型的分支跳转</a:t>
            </a:r>
            <a:endParaRPr lang="en-US" altLang="zh-CN" sz="2000" dirty="0"/>
          </a:p>
          <a:p>
            <a:r>
              <a:rPr lang="zh-CN" altLang="en-US" sz="2000" dirty="0"/>
              <a:t>指令从而进行出栈。</a:t>
            </a:r>
          </a:p>
          <a:p>
            <a:endParaRPr lang="zh-CN" altLang="en-US" dirty="0"/>
          </a:p>
          <a:p>
            <a:endParaRPr lang="zh-CN" altLang="en-US" dirty="0"/>
          </a:p>
          <a:p>
            <a:endParaRPr kumimoji="1" lang="zh-CN" altLang="en-US" dirty="0"/>
          </a:p>
        </p:txBody>
      </p:sp>
    </p:spTree>
    <p:extLst>
      <p:ext uri="{BB962C8B-B14F-4D97-AF65-F5344CB8AC3E}">
        <p14:creationId xmlns:p14="http://schemas.microsoft.com/office/powerpoint/2010/main" val="40993176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22847FC-BB10-A447-B1F6-9E4A07BC765B}"/>
              </a:ext>
            </a:extLst>
          </p:cNvPr>
          <p:cNvSpPr/>
          <p:nvPr/>
        </p:nvSpPr>
        <p:spPr>
          <a:xfrm>
            <a:off x="782340" y="3013501"/>
            <a:ext cx="7579319" cy="830997"/>
          </a:xfrm>
          <a:prstGeom prst="rect">
            <a:avLst/>
          </a:prstGeom>
        </p:spPr>
        <p:txBody>
          <a:bodyPr wrap="none">
            <a:spAutoFit/>
          </a:bodyPr>
          <a:lstStyle/>
          <a:p>
            <a:r>
              <a:rPr kumimoji="1" lang="zh-CN" altLang="en-US" sz="4800" dirty="0"/>
              <a:t>蜂鸟</a:t>
            </a:r>
            <a:r>
              <a:rPr kumimoji="1" lang="en-US" altLang="zh-CN" sz="4800" dirty="0"/>
              <a:t>E200</a:t>
            </a:r>
            <a:r>
              <a:rPr kumimoji="1" lang="zh-CN" altLang="en-US" sz="4800" dirty="0"/>
              <a:t>处理器的取指实现</a:t>
            </a:r>
            <a:endParaRPr lang="zh-CN" altLang="en-US" sz="4800" dirty="0"/>
          </a:p>
        </p:txBody>
      </p:sp>
    </p:spTree>
    <p:extLst>
      <p:ext uri="{BB962C8B-B14F-4D97-AF65-F5344CB8AC3E}">
        <p14:creationId xmlns:p14="http://schemas.microsoft.com/office/powerpoint/2010/main" val="2267980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图示&#10;&#10;描述已自动生成">
            <a:extLst>
              <a:ext uri="{FF2B5EF4-FFF2-40B4-BE49-F238E27FC236}">
                <a16:creationId xmlns:a16="http://schemas.microsoft.com/office/drawing/2014/main" id="{3EC1D8EB-495B-4748-B9BD-463949F5A7C6}"/>
              </a:ext>
            </a:extLst>
          </p:cNvPr>
          <p:cNvPicPr>
            <a:picLocks noChangeAspect="1"/>
          </p:cNvPicPr>
          <p:nvPr/>
        </p:nvPicPr>
        <p:blipFill>
          <a:blip r:embed="rId2"/>
          <a:stretch>
            <a:fillRect/>
          </a:stretch>
        </p:blipFill>
        <p:spPr>
          <a:xfrm>
            <a:off x="357808" y="1603693"/>
            <a:ext cx="8428383" cy="4797107"/>
          </a:xfrm>
          <a:prstGeom prst="rect">
            <a:avLst/>
          </a:prstGeom>
        </p:spPr>
      </p:pic>
    </p:spTree>
    <p:extLst>
      <p:ext uri="{BB962C8B-B14F-4D97-AF65-F5344CB8AC3E}">
        <p14:creationId xmlns:p14="http://schemas.microsoft.com/office/powerpoint/2010/main" val="3076227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ADD9D73-9D22-C845-A02C-0649489334F8}"/>
              </a:ext>
            </a:extLst>
          </p:cNvPr>
          <p:cNvSpPr txBox="1"/>
          <p:nvPr/>
        </p:nvSpPr>
        <p:spPr>
          <a:xfrm>
            <a:off x="2211418" y="769005"/>
            <a:ext cx="4721164" cy="707886"/>
          </a:xfrm>
          <a:prstGeom prst="rect">
            <a:avLst/>
          </a:prstGeom>
          <a:noFill/>
        </p:spPr>
        <p:txBody>
          <a:bodyPr wrap="none" rtlCol="0">
            <a:spAutoFit/>
          </a:bodyPr>
          <a:lstStyle/>
          <a:p>
            <a:r>
              <a:rPr kumimoji="1" lang="en-US" altLang="zh-CN" sz="4000" dirty="0"/>
              <a:t>3.1</a:t>
            </a:r>
            <a:r>
              <a:rPr kumimoji="1" lang="zh-CN" altLang="en-US" sz="4000" dirty="0"/>
              <a:t> </a:t>
            </a:r>
            <a:r>
              <a:rPr kumimoji="1" lang="en-US" altLang="zh-CN" sz="4000" dirty="0"/>
              <a:t>IFU</a:t>
            </a:r>
            <a:r>
              <a:rPr kumimoji="1" lang="zh-CN" altLang="en-US" sz="4000" dirty="0"/>
              <a:t>总体设计思路</a:t>
            </a:r>
          </a:p>
        </p:txBody>
      </p:sp>
      <p:sp>
        <p:nvSpPr>
          <p:cNvPr id="7" name="文本框 6">
            <a:extLst>
              <a:ext uri="{FF2B5EF4-FFF2-40B4-BE49-F238E27FC236}">
                <a16:creationId xmlns:a16="http://schemas.microsoft.com/office/drawing/2014/main" id="{FEBB9D4C-492E-F340-9B1B-A31F4AD9A271}"/>
              </a:ext>
            </a:extLst>
          </p:cNvPr>
          <p:cNvSpPr txBox="1"/>
          <p:nvPr/>
        </p:nvSpPr>
        <p:spPr>
          <a:xfrm>
            <a:off x="361117" y="1674674"/>
            <a:ext cx="8886407" cy="2523768"/>
          </a:xfrm>
          <a:prstGeom prst="rect">
            <a:avLst/>
          </a:prstGeom>
          <a:noFill/>
        </p:spPr>
        <p:txBody>
          <a:bodyPr wrap="none" rtlCol="0">
            <a:spAutoFit/>
          </a:bodyPr>
          <a:lstStyle/>
          <a:p>
            <a:r>
              <a:rPr kumimoji="1" lang="zh-CN" altLang="en-US" sz="2800" dirty="0"/>
              <a:t>蜂鸟</a:t>
            </a:r>
            <a:r>
              <a:rPr kumimoji="1" lang="en-US" altLang="zh-CN" sz="2800" dirty="0"/>
              <a:t>E200</a:t>
            </a:r>
            <a:r>
              <a:rPr kumimoji="1" lang="zh-CN" altLang="en-US" sz="2800" dirty="0"/>
              <a:t>的</a:t>
            </a:r>
            <a:r>
              <a:rPr kumimoji="1" lang="en-US" altLang="zh-CN" sz="2800" dirty="0"/>
              <a:t>IFU</a:t>
            </a:r>
            <a:r>
              <a:rPr kumimoji="1" lang="zh-CN" altLang="en-US" sz="2800" dirty="0"/>
              <a:t>微构架主要包括如下功能：</a:t>
            </a:r>
            <a:endParaRPr kumimoji="1" lang="en-US" altLang="zh-CN" sz="2800" dirty="0"/>
          </a:p>
          <a:p>
            <a:r>
              <a:rPr lang="en-US" altLang="zh-CN" sz="2800" dirty="0"/>
              <a:t>·</a:t>
            </a:r>
            <a:r>
              <a:rPr lang="zh-CN" altLang="en-US" sz="2800" dirty="0"/>
              <a:t>对取回的地址进行简单译码</a:t>
            </a:r>
            <a:r>
              <a:rPr lang="en-US" altLang="zh-CN" sz="2800" dirty="0"/>
              <a:t>(Mini-Decode)</a:t>
            </a:r>
          </a:p>
          <a:p>
            <a:r>
              <a:rPr lang="en-US" altLang="zh-CN" sz="2800" dirty="0"/>
              <a:t>·</a:t>
            </a:r>
            <a:r>
              <a:rPr lang="zh-CN" altLang="en-US" sz="2800" dirty="0"/>
              <a:t>简单的分支预测</a:t>
            </a:r>
            <a:r>
              <a:rPr lang="en-US" altLang="zh-CN" sz="2800" dirty="0"/>
              <a:t>(Simple-BPU)</a:t>
            </a:r>
          </a:p>
          <a:p>
            <a:r>
              <a:rPr lang="en-US" altLang="zh-CN" sz="2800" dirty="0"/>
              <a:t>·</a:t>
            </a:r>
            <a:r>
              <a:rPr lang="zh-CN" altLang="en-US" sz="2800" dirty="0"/>
              <a:t>生成取指的</a:t>
            </a:r>
            <a:r>
              <a:rPr lang="en-US" altLang="zh-CN" sz="2800" dirty="0"/>
              <a:t>PC (PC</a:t>
            </a:r>
            <a:r>
              <a:rPr lang="zh-CN" altLang="en-US" sz="2800" dirty="0"/>
              <a:t>生成</a:t>
            </a:r>
            <a:r>
              <a:rPr lang="en-US" altLang="zh-CN" sz="2800" dirty="0"/>
              <a:t>)</a:t>
            </a:r>
            <a:endParaRPr lang="zh-CN" altLang="en-US" sz="2800" dirty="0"/>
          </a:p>
          <a:p>
            <a:r>
              <a:rPr lang="en-US" altLang="zh-CN" sz="2800" dirty="0"/>
              <a:t>·</a:t>
            </a:r>
            <a:r>
              <a:rPr lang="zh-CN" altLang="en-US" sz="2800" dirty="0"/>
              <a:t>根据</a:t>
            </a:r>
            <a:r>
              <a:rPr lang="en-US" altLang="zh-CN" sz="2800" dirty="0"/>
              <a:t>PC</a:t>
            </a:r>
            <a:r>
              <a:rPr lang="zh-CN" altLang="en-US" sz="2800" dirty="0"/>
              <a:t>的地址访问</a:t>
            </a:r>
            <a:r>
              <a:rPr lang="en-US" altLang="zh-CN" sz="2800" dirty="0"/>
              <a:t>ITCM</a:t>
            </a:r>
            <a:r>
              <a:rPr lang="zh-CN" altLang="en-US" sz="2800" dirty="0"/>
              <a:t>或</a:t>
            </a:r>
            <a:r>
              <a:rPr lang="en-US" altLang="zh-CN" sz="2800" dirty="0"/>
              <a:t>BIU (</a:t>
            </a:r>
            <a:r>
              <a:rPr lang="zh-CN" altLang="en-US" sz="2800" dirty="0"/>
              <a:t>地址判断和</a:t>
            </a:r>
            <a:r>
              <a:rPr lang="en-US" altLang="zh-CN" sz="2800" dirty="0"/>
              <a:t>ICB</a:t>
            </a:r>
            <a:r>
              <a:rPr lang="zh-CN" altLang="en-US" sz="2800" dirty="0"/>
              <a:t>总线控制</a:t>
            </a:r>
            <a:r>
              <a:rPr lang="en-US" altLang="zh-CN" sz="2800" dirty="0"/>
              <a:t>)</a:t>
            </a:r>
            <a:endParaRPr lang="zh-CN" altLang="en-US" sz="2800" dirty="0"/>
          </a:p>
          <a:p>
            <a:endParaRPr kumimoji="1" lang="zh-CN" altLang="en-US" dirty="0"/>
          </a:p>
        </p:txBody>
      </p:sp>
      <p:pic>
        <p:nvPicPr>
          <p:cNvPr id="9" name="图片 8" descr="图示&#10;&#10;描述已自动生成">
            <a:extLst>
              <a:ext uri="{FF2B5EF4-FFF2-40B4-BE49-F238E27FC236}">
                <a16:creationId xmlns:a16="http://schemas.microsoft.com/office/drawing/2014/main" id="{DC5ABC08-F5E1-7247-9020-183954AB740D}"/>
              </a:ext>
            </a:extLst>
          </p:cNvPr>
          <p:cNvPicPr>
            <a:picLocks noChangeAspect="1"/>
          </p:cNvPicPr>
          <p:nvPr/>
        </p:nvPicPr>
        <p:blipFill>
          <a:blip r:embed="rId2"/>
          <a:stretch>
            <a:fillRect/>
          </a:stretch>
        </p:blipFill>
        <p:spPr>
          <a:xfrm>
            <a:off x="5613302" y="3816578"/>
            <a:ext cx="3169581" cy="2919465"/>
          </a:xfrm>
          <a:prstGeom prst="rect">
            <a:avLst/>
          </a:prstGeom>
        </p:spPr>
      </p:pic>
    </p:spTree>
    <p:extLst>
      <p:ext uri="{BB962C8B-B14F-4D97-AF65-F5344CB8AC3E}">
        <p14:creationId xmlns:p14="http://schemas.microsoft.com/office/powerpoint/2010/main" val="10325008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1995B04-E52D-F042-9598-38B1EB44E656}"/>
              </a:ext>
            </a:extLst>
          </p:cNvPr>
          <p:cNvSpPr txBox="1"/>
          <p:nvPr/>
        </p:nvSpPr>
        <p:spPr>
          <a:xfrm>
            <a:off x="2758555" y="821320"/>
            <a:ext cx="3626890" cy="707886"/>
          </a:xfrm>
          <a:prstGeom prst="rect">
            <a:avLst/>
          </a:prstGeom>
          <a:noFill/>
        </p:spPr>
        <p:txBody>
          <a:bodyPr wrap="none" rtlCol="0">
            <a:spAutoFit/>
          </a:bodyPr>
          <a:lstStyle/>
          <a:p>
            <a:r>
              <a:rPr kumimoji="1" lang="en-US" altLang="zh-CN" sz="4000" dirty="0"/>
              <a:t>3.2</a:t>
            </a:r>
            <a:r>
              <a:rPr kumimoji="1" lang="zh-CN" altLang="en-US" sz="4000" dirty="0"/>
              <a:t> </a:t>
            </a:r>
            <a:r>
              <a:rPr kumimoji="1" lang="en-US" altLang="zh-CN" sz="4000" dirty="0"/>
              <a:t>Mini-Decode</a:t>
            </a:r>
            <a:endParaRPr kumimoji="1" lang="zh-CN" altLang="en-US" sz="4000" dirty="0"/>
          </a:p>
        </p:txBody>
      </p:sp>
      <p:sp>
        <p:nvSpPr>
          <p:cNvPr id="3" name="文本框 2">
            <a:extLst>
              <a:ext uri="{FF2B5EF4-FFF2-40B4-BE49-F238E27FC236}">
                <a16:creationId xmlns:a16="http://schemas.microsoft.com/office/drawing/2014/main" id="{58E7232D-E754-774A-91CD-BC3122B57638}"/>
              </a:ext>
            </a:extLst>
          </p:cNvPr>
          <p:cNvSpPr txBox="1"/>
          <p:nvPr/>
        </p:nvSpPr>
        <p:spPr>
          <a:xfrm>
            <a:off x="605209" y="2382559"/>
            <a:ext cx="7933582" cy="2092881"/>
          </a:xfrm>
          <a:prstGeom prst="rect">
            <a:avLst/>
          </a:prstGeom>
          <a:noFill/>
        </p:spPr>
        <p:txBody>
          <a:bodyPr wrap="none" rtlCol="0">
            <a:spAutoFit/>
          </a:bodyPr>
          <a:lstStyle/>
          <a:p>
            <a:r>
              <a:rPr lang="en-US" altLang="zh-CN" sz="2800" dirty="0"/>
              <a:t>Mini-Decode</a:t>
            </a:r>
            <a:r>
              <a:rPr lang="zh-CN" altLang="en-US" sz="2800" dirty="0"/>
              <a:t>模块主要用于对取回的指令进行译码</a:t>
            </a:r>
          </a:p>
          <a:p>
            <a:r>
              <a:rPr lang="zh-CN" altLang="en-US" sz="2800" dirty="0"/>
              <a:t>之所以称为</a:t>
            </a:r>
            <a:r>
              <a:rPr lang="en-US" altLang="zh-CN" sz="2800" dirty="0"/>
              <a:t>Mini-Decode,</a:t>
            </a:r>
            <a:r>
              <a:rPr lang="zh-CN" altLang="en-US" sz="2800" dirty="0"/>
              <a:t>是因为此处的译码并不需</a:t>
            </a:r>
            <a:endParaRPr lang="en-US" altLang="zh-CN" sz="2800" dirty="0"/>
          </a:p>
          <a:p>
            <a:r>
              <a:rPr lang="zh-CN" altLang="en-US" sz="2800" dirty="0"/>
              <a:t>要完整译出指令的所有信息，而 只需要译出</a:t>
            </a:r>
            <a:r>
              <a:rPr lang="en-US" altLang="zh-CN" sz="2800" dirty="0"/>
              <a:t>IFU</a:t>
            </a:r>
            <a:r>
              <a:rPr lang="zh-CN" altLang="en-US" sz="2800" dirty="0"/>
              <a:t>所</a:t>
            </a:r>
            <a:endParaRPr lang="en-US" altLang="zh-CN" sz="2800" dirty="0"/>
          </a:p>
          <a:p>
            <a:r>
              <a:rPr lang="zh-CN" altLang="en-US" sz="2800" dirty="0"/>
              <a:t>需的部分指令信息</a:t>
            </a:r>
          </a:p>
          <a:p>
            <a:endParaRPr kumimoji="1" lang="zh-CN" altLang="en-US" dirty="0"/>
          </a:p>
        </p:txBody>
      </p:sp>
    </p:spTree>
    <p:extLst>
      <p:ext uri="{BB962C8B-B14F-4D97-AF65-F5344CB8AC3E}">
        <p14:creationId xmlns:p14="http://schemas.microsoft.com/office/powerpoint/2010/main" val="3172520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E4CCF10-403C-8B4D-A8BB-FFB9AB564AA6}"/>
              </a:ext>
            </a:extLst>
          </p:cNvPr>
          <p:cNvSpPr txBox="1"/>
          <p:nvPr/>
        </p:nvSpPr>
        <p:spPr>
          <a:xfrm>
            <a:off x="1612432" y="797415"/>
            <a:ext cx="5434501" cy="707886"/>
          </a:xfrm>
          <a:prstGeom prst="rect">
            <a:avLst/>
          </a:prstGeom>
          <a:noFill/>
        </p:spPr>
        <p:txBody>
          <a:bodyPr wrap="none" rtlCol="0">
            <a:spAutoFit/>
          </a:bodyPr>
          <a:lstStyle/>
          <a:p>
            <a:r>
              <a:rPr kumimoji="1" lang="en-US" altLang="zh-CN" sz="4000" dirty="0"/>
              <a:t>3.3</a:t>
            </a:r>
            <a:r>
              <a:rPr kumimoji="1" lang="zh-CN" altLang="en-US" sz="4000" dirty="0"/>
              <a:t> </a:t>
            </a:r>
            <a:r>
              <a:rPr kumimoji="1" lang="en-US" altLang="zh-CN" sz="4000" dirty="0"/>
              <a:t>Simple-BPU</a:t>
            </a:r>
            <a:r>
              <a:rPr kumimoji="1" lang="zh-CN" altLang="en-US" sz="4000" dirty="0"/>
              <a:t>分支预测</a:t>
            </a:r>
          </a:p>
        </p:txBody>
      </p:sp>
      <p:sp>
        <p:nvSpPr>
          <p:cNvPr id="3" name="文本框 2">
            <a:extLst>
              <a:ext uri="{FF2B5EF4-FFF2-40B4-BE49-F238E27FC236}">
                <a16:creationId xmlns:a16="http://schemas.microsoft.com/office/drawing/2014/main" id="{6DBF6B69-A8A3-6143-A06E-ED81506A0156}"/>
              </a:ext>
            </a:extLst>
          </p:cNvPr>
          <p:cNvSpPr txBox="1"/>
          <p:nvPr/>
        </p:nvSpPr>
        <p:spPr>
          <a:xfrm>
            <a:off x="980209" y="2211164"/>
            <a:ext cx="7183582" cy="2954655"/>
          </a:xfrm>
          <a:prstGeom prst="rect">
            <a:avLst/>
          </a:prstGeom>
          <a:noFill/>
        </p:spPr>
        <p:txBody>
          <a:bodyPr wrap="square" rtlCol="0">
            <a:spAutoFit/>
          </a:bodyPr>
          <a:lstStyle/>
          <a:p>
            <a:r>
              <a:rPr lang="en-US" altLang="zh-CN" sz="2800" dirty="0"/>
              <a:t>Simple-BPU</a:t>
            </a:r>
            <a:r>
              <a:rPr lang="zh-CN" altLang="en-US" sz="2800" dirty="0"/>
              <a:t>模块主要用于对取回的指令进行</a:t>
            </a:r>
            <a:r>
              <a:rPr lang="en-US" altLang="zh-CN" sz="2800" dirty="0"/>
              <a:t>Mini-Decode</a:t>
            </a:r>
            <a:r>
              <a:rPr lang="zh-CN" altLang="en-US" sz="2800" dirty="0"/>
              <a:t>后发现的分支跳转指令进行分支预测。之所以称为</a:t>
            </a:r>
            <a:r>
              <a:rPr lang="en-US" altLang="zh-CN" sz="2800" dirty="0"/>
              <a:t>Simple-BPU,</a:t>
            </a:r>
            <a:r>
              <a:rPr lang="zh-CN" altLang="en-US" sz="2800" dirty="0"/>
              <a:t>是由于蜂</a:t>
            </a:r>
            <a:r>
              <a:rPr lang="en-US" altLang="zh-CN" sz="2800" dirty="0"/>
              <a:t>E200</a:t>
            </a:r>
            <a:r>
              <a:rPr lang="zh-CN" altLang="en-US" sz="2800" dirty="0"/>
              <a:t>作为一款面向超低功耗的处理器，只釆用了最简单的静态预测，并未釆用其他高级动态预测技术。</a:t>
            </a:r>
          </a:p>
          <a:p>
            <a:endParaRPr kumimoji="1" lang="zh-CN" altLang="en-US" dirty="0"/>
          </a:p>
        </p:txBody>
      </p:sp>
    </p:spTree>
    <p:extLst>
      <p:ext uri="{BB962C8B-B14F-4D97-AF65-F5344CB8AC3E}">
        <p14:creationId xmlns:p14="http://schemas.microsoft.com/office/powerpoint/2010/main" val="29179999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0996D68-C9D4-614E-8032-3FA72B0AF1DC}"/>
              </a:ext>
            </a:extLst>
          </p:cNvPr>
          <p:cNvSpPr txBox="1"/>
          <p:nvPr/>
        </p:nvSpPr>
        <p:spPr>
          <a:xfrm>
            <a:off x="2906189" y="834431"/>
            <a:ext cx="2513830" cy="707886"/>
          </a:xfrm>
          <a:prstGeom prst="rect">
            <a:avLst/>
          </a:prstGeom>
          <a:noFill/>
        </p:spPr>
        <p:txBody>
          <a:bodyPr wrap="none" rtlCol="0">
            <a:spAutoFit/>
          </a:bodyPr>
          <a:lstStyle/>
          <a:p>
            <a:r>
              <a:rPr kumimoji="1" lang="en-US" altLang="zh-CN" sz="4000" dirty="0"/>
              <a:t>3.4 PC</a:t>
            </a:r>
            <a:r>
              <a:rPr kumimoji="1" lang="zh-CN" altLang="en-US" sz="4000" dirty="0"/>
              <a:t>生成</a:t>
            </a:r>
          </a:p>
        </p:txBody>
      </p:sp>
      <p:sp>
        <p:nvSpPr>
          <p:cNvPr id="3" name="文本框 2">
            <a:extLst>
              <a:ext uri="{FF2B5EF4-FFF2-40B4-BE49-F238E27FC236}">
                <a16:creationId xmlns:a16="http://schemas.microsoft.com/office/drawing/2014/main" id="{CEC3E799-A716-D94A-A665-0105566BB027}"/>
              </a:ext>
            </a:extLst>
          </p:cNvPr>
          <p:cNvSpPr txBox="1"/>
          <p:nvPr/>
        </p:nvSpPr>
        <p:spPr>
          <a:xfrm>
            <a:off x="597995" y="1853197"/>
            <a:ext cx="7948010" cy="1231106"/>
          </a:xfrm>
          <a:prstGeom prst="rect">
            <a:avLst/>
          </a:prstGeom>
          <a:noFill/>
        </p:spPr>
        <p:txBody>
          <a:bodyPr wrap="none" rtlCol="0">
            <a:spAutoFit/>
          </a:bodyPr>
          <a:lstStyle/>
          <a:p>
            <a:r>
              <a:rPr lang="en-US" altLang="zh-CN" sz="2800" dirty="0"/>
              <a:t>PC</a:t>
            </a:r>
            <a:r>
              <a:rPr lang="zh-CN" altLang="en-US" sz="2800" dirty="0"/>
              <a:t>生成逻辑用于产生下一个待取指令的</a:t>
            </a:r>
            <a:r>
              <a:rPr lang="en-US" altLang="zh-CN" sz="2800" dirty="0"/>
              <a:t>PC, PC</a:t>
            </a:r>
            <a:r>
              <a:rPr lang="zh-CN" altLang="en-US" sz="2800" dirty="0"/>
              <a:t>生成</a:t>
            </a:r>
            <a:endParaRPr lang="en-US" altLang="zh-CN" sz="2800" dirty="0"/>
          </a:p>
          <a:p>
            <a:r>
              <a:rPr lang="zh-CN" altLang="en-US" sz="2800" dirty="0"/>
              <a:t>根据不同的情形需要不同处理</a:t>
            </a:r>
          </a:p>
          <a:p>
            <a:endParaRPr kumimoji="1" lang="zh-CN" altLang="en-US" dirty="0"/>
          </a:p>
        </p:txBody>
      </p:sp>
      <p:sp>
        <p:nvSpPr>
          <p:cNvPr id="4" name="文本框 3">
            <a:extLst>
              <a:ext uri="{FF2B5EF4-FFF2-40B4-BE49-F238E27FC236}">
                <a16:creationId xmlns:a16="http://schemas.microsoft.com/office/drawing/2014/main" id="{3EA09417-EE4E-934F-A005-72BA5146A841}"/>
              </a:ext>
            </a:extLst>
          </p:cNvPr>
          <p:cNvSpPr txBox="1"/>
          <p:nvPr/>
        </p:nvSpPr>
        <p:spPr>
          <a:xfrm>
            <a:off x="597995" y="3084303"/>
            <a:ext cx="8198078" cy="2831544"/>
          </a:xfrm>
          <a:prstGeom prst="rect">
            <a:avLst/>
          </a:prstGeom>
          <a:noFill/>
        </p:spPr>
        <p:txBody>
          <a:bodyPr wrap="none" rtlCol="0">
            <a:spAutoFit/>
          </a:bodyPr>
          <a:lstStyle/>
          <a:p>
            <a:r>
              <a:rPr lang="zh-CN" altLang="en-US" sz="2000" dirty="0"/>
              <a:t>・如果是</a:t>
            </a:r>
            <a:r>
              <a:rPr lang="en-US" altLang="zh-CN" sz="2000" dirty="0"/>
              <a:t>reset</a:t>
            </a:r>
            <a:r>
              <a:rPr lang="zh-CN" altLang="en-US" sz="2000" dirty="0"/>
              <a:t>后的第一次取指，使用蜂鸟</a:t>
            </a:r>
            <a:r>
              <a:rPr lang="en-US" altLang="zh-CN" sz="2000" dirty="0"/>
              <a:t>E200</a:t>
            </a:r>
            <a:r>
              <a:rPr lang="zh-CN" altLang="en-US" sz="2000" dirty="0"/>
              <a:t>的</a:t>
            </a:r>
            <a:r>
              <a:rPr lang="en-US" altLang="zh-CN" sz="2000" dirty="0"/>
              <a:t>CPU-TOP</a:t>
            </a:r>
            <a:r>
              <a:rPr lang="zh-CN" altLang="en-US" sz="2000" dirty="0"/>
              <a:t>顶层输入信号</a:t>
            </a:r>
            <a:endParaRPr lang="en-US" altLang="zh-CN" sz="2000" dirty="0"/>
          </a:p>
          <a:p>
            <a:r>
              <a:rPr lang="zh-CN" altLang="en-US" sz="2000" dirty="0"/>
              <a:t>    </a:t>
            </a:r>
            <a:r>
              <a:rPr lang="en-US" altLang="zh-CN" sz="2000" dirty="0" err="1"/>
              <a:t>pc_rtvec</a:t>
            </a:r>
            <a:r>
              <a:rPr lang="en-US" altLang="zh-CN" sz="2000" dirty="0"/>
              <a:t> </a:t>
            </a:r>
            <a:r>
              <a:rPr lang="zh-CN" altLang="en-US" sz="2000" dirty="0"/>
              <a:t>指示的值作为第一次取指的</a:t>
            </a:r>
            <a:r>
              <a:rPr lang="en-US" altLang="zh-CN" sz="2000" dirty="0"/>
              <a:t>PC</a:t>
            </a:r>
            <a:r>
              <a:rPr lang="zh-CN" altLang="en-US" sz="2000" dirty="0"/>
              <a:t>值。用户可以通过在</a:t>
            </a:r>
            <a:r>
              <a:rPr lang="en-US" altLang="zh-CN" sz="2000" dirty="0"/>
              <a:t>SoC</a:t>
            </a:r>
            <a:r>
              <a:rPr lang="zh-CN" altLang="en-US" sz="2000" dirty="0"/>
              <a:t>顶层集</a:t>
            </a:r>
            <a:endParaRPr lang="en-US" altLang="zh-CN" sz="2000" dirty="0"/>
          </a:p>
          <a:p>
            <a:r>
              <a:rPr lang="zh-CN" altLang="en-US" sz="2000" dirty="0"/>
              <a:t>    成时，将此信号赋 予不同的值来控制</a:t>
            </a:r>
            <a:r>
              <a:rPr lang="en-US" altLang="zh-CN" sz="2000" dirty="0"/>
              <a:t>PC</a:t>
            </a:r>
            <a:r>
              <a:rPr lang="zh-CN" altLang="en-US" sz="2000" dirty="0"/>
              <a:t>的复位默认值。</a:t>
            </a:r>
          </a:p>
          <a:p>
            <a:r>
              <a:rPr lang="zh-CN" altLang="en-US" sz="2000" dirty="0"/>
              <a:t>・对于顺序取指的情形，根据当前指令是</a:t>
            </a:r>
            <a:r>
              <a:rPr lang="en-US" altLang="zh-CN" sz="2000" dirty="0"/>
              <a:t>16</a:t>
            </a:r>
            <a:r>
              <a:rPr lang="zh-CN" altLang="en-US" sz="2000" dirty="0"/>
              <a:t>位指令还是</a:t>
            </a:r>
            <a:r>
              <a:rPr lang="en-US" altLang="zh-CN" sz="2000" dirty="0"/>
              <a:t>32</a:t>
            </a:r>
            <a:r>
              <a:rPr lang="zh-CN" altLang="en-US" sz="2000" dirty="0"/>
              <a:t>位指令判断自</a:t>
            </a:r>
            <a:endParaRPr lang="en-US" altLang="zh-CN" sz="2000" dirty="0"/>
          </a:p>
          <a:p>
            <a:r>
              <a:rPr lang="zh-CN" altLang="en-US" sz="2000" dirty="0"/>
              <a:t>    增值。如果 是</a:t>
            </a:r>
            <a:r>
              <a:rPr lang="en-US" altLang="zh-CN" sz="2000" dirty="0"/>
              <a:t>16</a:t>
            </a:r>
            <a:r>
              <a:rPr lang="zh-CN" altLang="en-US" sz="2000" dirty="0"/>
              <a:t>位指令，顺序取指的下一条指令的</a:t>
            </a:r>
            <a:r>
              <a:rPr lang="en-US" altLang="zh-CN" sz="2000" dirty="0"/>
              <a:t>PC</a:t>
            </a:r>
            <a:r>
              <a:rPr lang="zh-CN" altLang="en-US" sz="2000" dirty="0"/>
              <a:t>为</a:t>
            </a:r>
            <a:r>
              <a:rPr lang="en-US" altLang="zh-CN" sz="2000" dirty="0"/>
              <a:t>PC+2</a:t>
            </a:r>
            <a:r>
              <a:rPr lang="zh-CN" altLang="en-US" sz="2000" dirty="0"/>
              <a:t>；如果是</a:t>
            </a:r>
            <a:endParaRPr lang="en-US" altLang="zh-CN" sz="2000" dirty="0"/>
          </a:p>
          <a:p>
            <a:r>
              <a:rPr lang="zh-CN" altLang="en-US" sz="2000" dirty="0"/>
              <a:t>     </a:t>
            </a:r>
            <a:r>
              <a:rPr lang="en-US" altLang="zh-CN" sz="2000" dirty="0"/>
              <a:t>32</a:t>
            </a:r>
            <a:r>
              <a:rPr lang="zh-CN" altLang="en-US" sz="2000" dirty="0"/>
              <a:t>位指令，则顺序取 指的下一条指令的</a:t>
            </a:r>
            <a:r>
              <a:rPr lang="en-US" altLang="zh-CN" sz="2000" dirty="0"/>
              <a:t>PC</a:t>
            </a:r>
            <a:r>
              <a:rPr lang="zh-CN" altLang="en-US" sz="2000" dirty="0"/>
              <a:t>为</a:t>
            </a:r>
            <a:r>
              <a:rPr lang="en-US" altLang="zh-CN" sz="2000" dirty="0"/>
              <a:t>PC+4</a:t>
            </a:r>
            <a:r>
              <a:rPr lang="zh-CN" altLang="en-US" sz="2000" dirty="0"/>
              <a:t>。</a:t>
            </a:r>
            <a:endParaRPr lang="en-US" altLang="zh-CN" sz="2000" dirty="0"/>
          </a:p>
          <a:p>
            <a:r>
              <a:rPr lang="zh-CN" altLang="en-US" sz="2000" dirty="0"/>
              <a:t>・如果是分支指令，贝惬用</a:t>
            </a:r>
            <a:r>
              <a:rPr lang="en-US" altLang="zh-CN" sz="2000" dirty="0"/>
              <a:t>Simple-BPU</a:t>
            </a:r>
            <a:r>
              <a:rPr lang="zh-CN" altLang="en-US" sz="2000" dirty="0"/>
              <a:t>预测的跳转目标地址。</a:t>
            </a:r>
          </a:p>
          <a:p>
            <a:r>
              <a:rPr lang="zh-CN" altLang="en-US" sz="2000" dirty="0"/>
              <a:t>・如果是来自于</a:t>
            </a:r>
            <a:r>
              <a:rPr lang="en-US" altLang="zh-CN" sz="2000" dirty="0"/>
              <a:t>EXU</a:t>
            </a:r>
            <a:r>
              <a:rPr lang="zh-CN" altLang="en-US" sz="2000" dirty="0"/>
              <a:t>的流水线冲刷，则使用</a:t>
            </a:r>
            <a:r>
              <a:rPr lang="en-US" altLang="zh-CN" sz="2000" dirty="0"/>
              <a:t>EXU</a:t>
            </a:r>
            <a:r>
              <a:rPr lang="zh-CN" altLang="en-US" sz="2000" dirty="0"/>
              <a:t>送过来的新</a:t>
            </a:r>
            <a:r>
              <a:rPr lang="en-US" altLang="zh-CN" sz="2000" dirty="0"/>
              <a:t>PC</a:t>
            </a:r>
            <a:r>
              <a:rPr lang="zh-CN" altLang="en-US" sz="2000" dirty="0"/>
              <a:t>值。</a:t>
            </a:r>
          </a:p>
          <a:p>
            <a:endParaRPr kumimoji="1" lang="zh-CN" altLang="en-US" dirty="0"/>
          </a:p>
        </p:txBody>
      </p:sp>
    </p:spTree>
    <p:extLst>
      <p:ext uri="{BB962C8B-B14F-4D97-AF65-F5344CB8AC3E}">
        <p14:creationId xmlns:p14="http://schemas.microsoft.com/office/powerpoint/2010/main" val="29697605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080C74F-C0EB-BB45-876F-A9AB81A923EA}"/>
              </a:ext>
            </a:extLst>
          </p:cNvPr>
          <p:cNvSpPr txBox="1"/>
          <p:nvPr/>
        </p:nvSpPr>
        <p:spPr>
          <a:xfrm>
            <a:off x="2417852" y="796492"/>
            <a:ext cx="4308295" cy="707886"/>
          </a:xfrm>
          <a:prstGeom prst="rect">
            <a:avLst/>
          </a:prstGeom>
          <a:noFill/>
        </p:spPr>
        <p:txBody>
          <a:bodyPr wrap="none" rtlCol="0">
            <a:spAutoFit/>
          </a:bodyPr>
          <a:lstStyle/>
          <a:p>
            <a:r>
              <a:rPr kumimoji="1" lang="en-US" altLang="zh-CN" sz="4000" dirty="0"/>
              <a:t>3.5</a:t>
            </a:r>
            <a:r>
              <a:rPr kumimoji="1" lang="zh-CN" altLang="en-US" sz="4000" dirty="0"/>
              <a:t> 访问</a:t>
            </a:r>
            <a:r>
              <a:rPr kumimoji="1" lang="en-US" altLang="zh-CN" sz="4000" dirty="0"/>
              <a:t>ITCM</a:t>
            </a:r>
            <a:r>
              <a:rPr kumimoji="1" lang="zh-CN" altLang="en-US" sz="4000" dirty="0"/>
              <a:t>和</a:t>
            </a:r>
            <a:r>
              <a:rPr kumimoji="1" lang="en-US" altLang="zh-CN" sz="4000" dirty="0"/>
              <a:t>BIU</a:t>
            </a:r>
            <a:endParaRPr kumimoji="1" lang="zh-CN" altLang="en-US" sz="4000" dirty="0"/>
          </a:p>
        </p:txBody>
      </p:sp>
      <p:sp>
        <p:nvSpPr>
          <p:cNvPr id="4" name="文本框 3">
            <a:extLst>
              <a:ext uri="{FF2B5EF4-FFF2-40B4-BE49-F238E27FC236}">
                <a16:creationId xmlns:a16="http://schemas.microsoft.com/office/drawing/2014/main" id="{DC6095BD-DA00-2D4D-870B-8BFF9E84095C}"/>
              </a:ext>
            </a:extLst>
          </p:cNvPr>
          <p:cNvSpPr txBox="1"/>
          <p:nvPr/>
        </p:nvSpPr>
        <p:spPr>
          <a:xfrm>
            <a:off x="933253" y="2505670"/>
            <a:ext cx="7032396" cy="923330"/>
          </a:xfrm>
          <a:prstGeom prst="rect">
            <a:avLst/>
          </a:prstGeom>
          <a:noFill/>
        </p:spPr>
        <p:txBody>
          <a:bodyPr wrap="square" rtlCol="0">
            <a:spAutoFit/>
          </a:bodyPr>
          <a:lstStyle/>
          <a:p>
            <a:r>
              <a:rPr kumimoji="1" lang="zh-CN" altLang="en-US" dirty="0"/>
              <a:t>蜂鸟</a:t>
            </a:r>
            <a:r>
              <a:rPr kumimoji="1" lang="en-US" altLang="zh-CN" dirty="0"/>
              <a:t>E200</a:t>
            </a:r>
            <a:r>
              <a:rPr kumimoji="1" lang="zh-CN" altLang="en-US" dirty="0"/>
              <a:t>采取剩余缓存技术。</a:t>
            </a:r>
            <a:endParaRPr kumimoji="1" lang="en-US" altLang="zh-CN" dirty="0"/>
          </a:p>
          <a:p>
            <a:r>
              <a:rPr kumimoji="1" lang="zh-CN" altLang="en-US" dirty="0"/>
              <a:t>蜂鸟</a:t>
            </a:r>
            <a:r>
              <a:rPr kumimoji="1" lang="en-US" altLang="zh-CN" dirty="0"/>
              <a:t>E200</a:t>
            </a:r>
            <a:r>
              <a:rPr kumimoji="1" lang="zh-CN" altLang="en-US" dirty="0"/>
              <a:t>的</a:t>
            </a:r>
            <a:r>
              <a:rPr kumimoji="1" lang="en-US" altLang="zh-CN" dirty="0"/>
              <a:t>IFU</a:t>
            </a:r>
            <a:r>
              <a:rPr kumimoji="1" lang="zh-CN" altLang="en-US" dirty="0"/>
              <a:t>、</a:t>
            </a:r>
            <a:r>
              <a:rPr kumimoji="1" lang="en-US" altLang="zh-CN" dirty="0"/>
              <a:t>ITCM</a:t>
            </a:r>
            <a:r>
              <a:rPr kumimoji="1" lang="zh-CN" altLang="en-US" dirty="0"/>
              <a:t>、和</a:t>
            </a:r>
            <a:r>
              <a:rPr kumimoji="1" lang="en-US" altLang="zh-CN" dirty="0"/>
              <a:t>BIU</a:t>
            </a:r>
            <a:r>
              <a:rPr kumimoji="1" lang="zh-CN" altLang="en-US" dirty="0"/>
              <a:t>分开实现，</a:t>
            </a:r>
            <a:r>
              <a:rPr kumimoji="1" lang="en-US" altLang="zh-CN" dirty="0"/>
              <a:t>IFU</a:t>
            </a:r>
            <a:r>
              <a:rPr kumimoji="1" lang="zh-CN" altLang="en-US" dirty="0"/>
              <a:t>使用标准的</a:t>
            </a:r>
            <a:r>
              <a:rPr kumimoji="1" lang="en-US" altLang="zh-CN" dirty="0"/>
              <a:t>ICB</a:t>
            </a:r>
            <a:r>
              <a:rPr kumimoji="1" lang="zh-CN" altLang="en-US" dirty="0"/>
              <a:t>协议进行接口。</a:t>
            </a:r>
          </a:p>
        </p:txBody>
      </p:sp>
    </p:spTree>
    <p:extLst>
      <p:ext uri="{BB962C8B-B14F-4D97-AF65-F5344CB8AC3E}">
        <p14:creationId xmlns:p14="http://schemas.microsoft.com/office/powerpoint/2010/main" val="14556938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B192CC-24F7-C04F-9CE7-A2737FFBBD06}"/>
              </a:ext>
            </a:extLst>
          </p:cNvPr>
          <p:cNvSpPr txBox="1"/>
          <p:nvPr/>
        </p:nvSpPr>
        <p:spPr>
          <a:xfrm>
            <a:off x="717186" y="2552979"/>
            <a:ext cx="7709625" cy="2369880"/>
          </a:xfrm>
          <a:prstGeom prst="rect">
            <a:avLst/>
          </a:prstGeom>
          <a:noFill/>
        </p:spPr>
        <p:txBody>
          <a:bodyPr wrap="square" rtlCol="0">
            <a:spAutoFit/>
          </a:bodyPr>
          <a:lstStyle/>
          <a:p>
            <a:r>
              <a:rPr lang="en-US" altLang="zh-CN" sz="2800" dirty="0"/>
              <a:t>     </a:t>
            </a:r>
            <a:r>
              <a:rPr lang="zh-CN" altLang="en-US" sz="2800" dirty="0"/>
              <a:t>蜂鸟</a:t>
            </a:r>
            <a:r>
              <a:rPr lang="en-US" altLang="zh-CN" sz="2800" dirty="0"/>
              <a:t>E200</a:t>
            </a:r>
            <a:r>
              <a:rPr lang="zh-CN" altLang="en-US" sz="2800" dirty="0"/>
              <a:t>采用</a:t>
            </a:r>
            <a:r>
              <a:rPr lang="en-US" altLang="zh-CN" sz="2800" dirty="0"/>
              <a:t>ITCM</a:t>
            </a:r>
            <a:r>
              <a:rPr lang="zh-CN" altLang="en-US" sz="2800" dirty="0"/>
              <a:t>作为指令存储，</a:t>
            </a:r>
            <a:r>
              <a:rPr lang="en-US" altLang="zh-CN" sz="2800" dirty="0"/>
              <a:t>IFU</a:t>
            </a:r>
            <a:r>
              <a:rPr lang="zh-CN" altLang="en-US" sz="2800" dirty="0"/>
              <a:t>有专门</a:t>
            </a:r>
            <a:endParaRPr lang="en-US" altLang="zh-CN" sz="2800" dirty="0"/>
          </a:p>
          <a:p>
            <a:r>
              <a:rPr lang="zh-CN" altLang="en-US" sz="2800" dirty="0"/>
              <a:t>访问</a:t>
            </a:r>
            <a:r>
              <a:rPr lang="en-US" altLang="zh-CN" sz="2800" dirty="0"/>
              <a:t>ITCM</a:t>
            </a:r>
            <a:r>
              <a:rPr lang="zh-CN" altLang="en-US" sz="2800" dirty="0"/>
              <a:t>的数据通道（</a:t>
            </a:r>
            <a:r>
              <a:rPr lang="en-US" altLang="zh-CN" sz="2800" dirty="0"/>
              <a:t>64 </a:t>
            </a:r>
            <a:r>
              <a:rPr lang="zh-CN" altLang="en-US" sz="2800" dirty="0"/>
              <a:t>位宽），同时</a:t>
            </a:r>
            <a:r>
              <a:rPr lang="en-US" altLang="zh-CN" sz="2800" dirty="0"/>
              <a:t>ITCM</a:t>
            </a:r>
            <a:r>
              <a:rPr lang="zh-CN" altLang="en-US" sz="2800" dirty="0"/>
              <a:t>也能够被</a:t>
            </a:r>
            <a:r>
              <a:rPr lang="en-US" altLang="zh-CN" sz="2800" dirty="0"/>
              <a:t>load&gt; store</a:t>
            </a:r>
            <a:r>
              <a:rPr lang="zh-CN" altLang="en-US" sz="2800" dirty="0"/>
              <a:t>指令访问到用于存储数据因此</a:t>
            </a:r>
            <a:r>
              <a:rPr lang="en-US" altLang="zh-CN" sz="2800" dirty="0"/>
              <a:t>ITCM</a:t>
            </a:r>
            <a:r>
              <a:rPr lang="zh-CN" altLang="en-US" sz="2800" dirty="0"/>
              <a:t>本身也是</a:t>
            </a:r>
            <a:r>
              <a:rPr lang="en-US" altLang="zh-CN" sz="2800" dirty="0"/>
              <a:t>Memory </a:t>
            </a:r>
            <a:r>
              <a:rPr lang="zh-CN" altLang="en-US" sz="2800" dirty="0"/>
              <a:t>子系统的重要一部分。</a:t>
            </a:r>
          </a:p>
          <a:p>
            <a:endParaRPr kumimoji="1" lang="en-US" altLang="zh-CN" dirty="0"/>
          </a:p>
          <a:p>
            <a:endParaRPr kumimoji="1" lang="en-US" altLang="zh-CN" dirty="0"/>
          </a:p>
        </p:txBody>
      </p:sp>
      <p:sp>
        <p:nvSpPr>
          <p:cNvPr id="3" name="文本框 2">
            <a:extLst>
              <a:ext uri="{FF2B5EF4-FFF2-40B4-BE49-F238E27FC236}">
                <a16:creationId xmlns:a16="http://schemas.microsoft.com/office/drawing/2014/main" id="{00D08F76-4A53-BF47-8D99-C2CA5AC996A1}"/>
              </a:ext>
            </a:extLst>
          </p:cNvPr>
          <p:cNvSpPr txBox="1"/>
          <p:nvPr/>
        </p:nvSpPr>
        <p:spPr>
          <a:xfrm>
            <a:off x="3534032" y="840261"/>
            <a:ext cx="2075935" cy="984885"/>
          </a:xfrm>
          <a:prstGeom prst="rect">
            <a:avLst/>
          </a:prstGeom>
          <a:noFill/>
        </p:spPr>
        <p:txBody>
          <a:bodyPr wrap="square" rtlCol="0">
            <a:spAutoFit/>
          </a:bodyPr>
          <a:lstStyle/>
          <a:p>
            <a:r>
              <a:rPr kumimoji="1" lang="en-US" altLang="zh-CN" sz="4000" dirty="0"/>
              <a:t>3.6</a:t>
            </a:r>
            <a:r>
              <a:rPr kumimoji="1" lang="zh-CN" altLang="en-US" sz="4000" dirty="0"/>
              <a:t> </a:t>
            </a:r>
            <a:r>
              <a:rPr kumimoji="1" lang="en-US" altLang="zh-CN" sz="4000" dirty="0"/>
              <a:t>ITCM</a:t>
            </a:r>
          </a:p>
          <a:p>
            <a:endParaRPr kumimoji="1" lang="zh-CN" altLang="en-US" dirty="0"/>
          </a:p>
        </p:txBody>
      </p:sp>
    </p:spTree>
    <p:extLst>
      <p:ext uri="{BB962C8B-B14F-4D97-AF65-F5344CB8AC3E}">
        <p14:creationId xmlns:p14="http://schemas.microsoft.com/office/powerpoint/2010/main" val="14420009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44F10C3-D540-AD40-B9A8-78435958B3AC}"/>
              </a:ext>
            </a:extLst>
          </p:cNvPr>
          <p:cNvSpPr/>
          <p:nvPr/>
        </p:nvSpPr>
        <p:spPr>
          <a:xfrm>
            <a:off x="1600199" y="2736502"/>
            <a:ext cx="5943601" cy="1384995"/>
          </a:xfrm>
          <a:prstGeom prst="rect">
            <a:avLst/>
          </a:prstGeom>
        </p:spPr>
        <p:txBody>
          <a:bodyPr wrap="square">
            <a:spAutoFit/>
          </a:bodyPr>
          <a:lstStyle/>
          <a:p>
            <a:r>
              <a:rPr lang="en-US" altLang="zh-CN" sz="2800" dirty="0"/>
              <a:t>     </a:t>
            </a:r>
            <a:r>
              <a:rPr lang="zh-CN" altLang="en-US" sz="2800" dirty="0"/>
              <a:t>如果取指令的地址不落在</a:t>
            </a:r>
            <a:r>
              <a:rPr lang="en-US" altLang="zh-CN" sz="2800" dirty="0"/>
              <a:t>ITCM</a:t>
            </a:r>
            <a:r>
              <a:rPr lang="zh-CN" altLang="en-US" sz="2800" dirty="0"/>
              <a:t>在的区间，</a:t>
            </a:r>
            <a:r>
              <a:rPr lang="en-US" altLang="zh-CN" sz="2800" dirty="0"/>
              <a:t>IFU</a:t>
            </a:r>
            <a:r>
              <a:rPr lang="zh-CN" altLang="en-US" sz="2800" dirty="0"/>
              <a:t>则会通过</a:t>
            </a:r>
            <a:r>
              <a:rPr lang="en-US" altLang="zh-CN" sz="2800" dirty="0"/>
              <a:t>BIU</a:t>
            </a:r>
            <a:r>
              <a:rPr lang="zh-CN" altLang="en-US" sz="2800" dirty="0"/>
              <a:t>访问外部的存储器。</a:t>
            </a:r>
          </a:p>
        </p:txBody>
      </p:sp>
      <p:sp>
        <p:nvSpPr>
          <p:cNvPr id="3" name="文本框 2">
            <a:extLst>
              <a:ext uri="{FF2B5EF4-FFF2-40B4-BE49-F238E27FC236}">
                <a16:creationId xmlns:a16="http://schemas.microsoft.com/office/drawing/2014/main" id="{06275803-531F-D643-81E0-28AE584A5E06}"/>
              </a:ext>
            </a:extLst>
          </p:cNvPr>
          <p:cNvSpPr txBox="1"/>
          <p:nvPr/>
        </p:nvSpPr>
        <p:spPr>
          <a:xfrm>
            <a:off x="3728660" y="815545"/>
            <a:ext cx="1686680" cy="707886"/>
          </a:xfrm>
          <a:prstGeom prst="rect">
            <a:avLst/>
          </a:prstGeom>
          <a:noFill/>
        </p:spPr>
        <p:txBody>
          <a:bodyPr wrap="none" rtlCol="0">
            <a:spAutoFit/>
          </a:bodyPr>
          <a:lstStyle/>
          <a:p>
            <a:r>
              <a:rPr kumimoji="1" lang="en-US" altLang="zh-CN" sz="4000" dirty="0"/>
              <a:t>3.7</a:t>
            </a:r>
            <a:r>
              <a:rPr kumimoji="1" lang="zh-CN" altLang="en-US" sz="4000" dirty="0"/>
              <a:t> </a:t>
            </a:r>
            <a:r>
              <a:rPr kumimoji="1" lang="en-US" altLang="zh-CN" sz="4000" dirty="0"/>
              <a:t>BIU</a:t>
            </a:r>
          </a:p>
        </p:txBody>
      </p:sp>
    </p:spTree>
    <p:extLst>
      <p:ext uri="{BB962C8B-B14F-4D97-AF65-F5344CB8AC3E}">
        <p14:creationId xmlns:p14="http://schemas.microsoft.com/office/powerpoint/2010/main" val="5198141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29C0D8F-0620-0F42-99C4-440A93643070}"/>
              </a:ext>
            </a:extLst>
          </p:cNvPr>
          <p:cNvSpPr txBox="1"/>
          <p:nvPr/>
        </p:nvSpPr>
        <p:spPr>
          <a:xfrm>
            <a:off x="3710225" y="2921168"/>
            <a:ext cx="1723549" cy="1015663"/>
          </a:xfrm>
          <a:prstGeom prst="rect">
            <a:avLst/>
          </a:prstGeom>
          <a:noFill/>
        </p:spPr>
        <p:txBody>
          <a:bodyPr wrap="none" rtlCol="0">
            <a:spAutoFit/>
          </a:bodyPr>
          <a:lstStyle/>
          <a:p>
            <a:r>
              <a:rPr kumimoji="1" lang="zh-CN" altLang="en-US" sz="6000" dirty="0"/>
              <a:t>总结</a:t>
            </a:r>
          </a:p>
        </p:txBody>
      </p:sp>
    </p:spTree>
    <p:extLst>
      <p:ext uri="{BB962C8B-B14F-4D97-AF65-F5344CB8AC3E}">
        <p14:creationId xmlns:p14="http://schemas.microsoft.com/office/powerpoint/2010/main" val="24675597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8ABCABF-71C0-4E4A-89C9-734E46C56954}"/>
              </a:ext>
            </a:extLst>
          </p:cNvPr>
          <p:cNvSpPr txBox="1"/>
          <p:nvPr/>
        </p:nvSpPr>
        <p:spPr>
          <a:xfrm>
            <a:off x="529868" y="1709687"/>
            <a:ext cx="8345554" cy="3539430"/>
          </a:xfrm>
          <a:prstGeom prst="rect">
            <a:avLst/>
          </a:prstGeom>
          <a:noFill/>
        </p:spPr>
        <p:txBody>
          <a:bodyPr wrap="none" rtlCol="0">
            <a:spAutoFit/>
          </a:bodyPr>
          <a:lstStyle/>
          <a:p>
            <a:r>
              <a:rPr lang="zh-TW" altLang="zh-CN" sz="2800" dirty="0">
                <a:latin typeface="DengXian" panose="02010600030101010101" pitchFamily="2" charset="-122"/>
                <a:ea typeface="DengXian" panose="02010600030101010101" pitchFamily="2" charset="-122"/>
              </a:rPr>
              <a:t>取指是处理器设计非常重要且非常复杂的一部分，</a:t>
            </a:r>
            <a:endParaRPr lang="en-US" altLang="zh-TW" sz="2800" dirty="0">
              <a:latin typeface="DengXian" panose="02010600030101010101" pitchFamily="2" charset="-122"/>
              <a:ea typeface="DengXian" panose="02010600030101010101" pitchFamily="2" charset="-122"/>
            </a:endParaRPr>
          </a:p>
          <a:p>
            <a:r>
              <a:rPr lang="zh-TW" altLang="zh-CN" sz="2800" dirty="0">
                <a:latin typeface="DengXian" panose="02010600030101010101" pitchFamily="2" charset="-122"/>
                <a:ea typeface="DengXian" panose="02010600030101010101" pitchFamily="2" charset="-122"/>
              </a:rPr>
              <a:t>为了做到</a:t>
            </a:r>
            <a:r>
              <a:rPr lang="zh-CN" altLang="zh-CN" sz="2800" dirty="0">
                <a:latin typeface="DengXian" panose="02010600030101010101" pitchFamily="2" charset="-122"/>
                <a:ea typeface="DengXian" panose="02010600030101010101" pitchFamily="2" charset="-122"/>
              </a:rPr>
              <a:t>“</a:t>
            </a:r>
            <a:r>
              <a:rPr lang="zh-CN" altLang="en-US" sz="2800" dirty="0">
                <a:latin typeface="DengXian" panose="02010600030101010101" pitchFamily="2" charset="-122"/>
                <a:ea typeface="DengXian" panose="02010600030101010101" pitchFamily="2" charset="-122"/>
              </a:rPr>
              <a:t>快</a:t>
            </a:r>
            <a:r>
              <a:rPr lang="zh-CN" altLang="zh-CN" sz="2800" dirty="0">
                <a:latin typeface="DengXian" panose="02010600030101010101" pitchFamily="2" charset="-122"/>
                <a:ea typeface="DengXian" panose="02010600030101010101" pitchFamily="2" charset="-122"/>
              </a:rPr>
              <a:t>”</a:t>
            </a:r>
            <a:r>
              <a:rPr lang="zh-TW" altLang="zh-CN" sz="2800" dirty="0">
                <a:latin typeface="DengXian" panose="02010600030101010101" pitchFamily="2" charset="-122"/>
                <a:ea typeface="DengXian" panose="02010600030101010101" pitchFamily="2" charset="-122"/>
              </a:rPr>
              <a:t>和</a:t>
            </a:r>
            <a:r>
              <a:rPr lang="zh-CN" altLang="zh-CN" sz="2800" dirty="0">
                <a:latin typeface="DengXian" panose="02010600030101010101" pitchFamily="2" charset="-122"/>
                <a:ea typeface="DengXian" panose="02010600030101010101" pitchFamily="2" charset="-122"/>
              </a:rPr>
              <a:t>“连续</a:t>
            </a:r>
            <a:r>
              <a:rPr lang="zh-TW" altLang="zh-CN" sz="2800" dirty="0">
                <a:latin typeface="DengXian" panose="02010600030101010101" pitchFamily="2" charset="-122"/>
                <a:ea typeface="DengXian" panose="02010600030101010101" pitchFamily="2" charset="-122"/>
              </a:rPr>
              <a:t>不断”地取 指，尤其是</a:t>
            </a:r>
            <a:endParaRPr lang="en-US" altLang="zh-TW" sz="2800" dirty="0">
              <a:latin typeface="DengXian" panose="02010600030101010101" pitchFamily="2" charset="-122"/>
              <a:ea typeface="DengXian" panose="02010600030101010101" pitchFamily="2" charset="-122"/>
            </a:endParaRPr>
          </a:p>
          <a:p>
            <a:r>
              <a:rPr lang="zh-TW" altLang="zh-CN" sz="2800" dirty="0">
                <a:latin typeface="DengXian" panose="02010600030101010101" pitchFamily="2" charset="-122"/>
                <a:ea typeface="DengXian" panose="02010600030101010101" pitchFamily="2" charset="-122"/>
              </a:rPr>
              <a:t>涉及高级的动态分支预测之后，取指部分的设计</a:t>
            </a:r>
            <a:endParaRPr lang="en-US" altLang="zh-TW" sz="2800" dirty="0">
              <a:latin typeface="DengXian" panose="02010600030101010101" pitchFamily="2" charset="-122"/>
              <a:ea typeface="DengXian" panose="02010600030101010101" pitchFamily="2" charset="-122"/>
            </a:endParaRPr>
          </a:p>
          <a:p>
            <a:r>
              <a:rPr lang="zh-TW" altLang="zh-CN" sz="2800" dirty="0">
                <a:latin typeface="DengXian" panose="02010600030101010101" pitchFamily="2" charset="-122"/>
                <a:ea typeface="DengXian" panose="02010600030101010101" pitchFamily="2" charset="-122"/>
              </a:rPr>
              <a:t>将会非常复杂和具有挑战性</a:t>
            </a:r>
            <a:r>
              <a:rPr lang="zh-CN" altLang="en-US" dirty="0"/>
              <a:t>。</a:t>
            </a:r>
            <a:endParaRPr lang="zh-CN" altLang="zh-CN" dirty="0"/>
          </a:p>
          <a:p>
            <a:r>
              <a:rPr lang="en-US" altLang="zh-CN" sz="2800" dirty="0">
                <a:latin typeface="DengXian" panose="02010600030101010101" pitchFamily="2" charset="-122"/>
                <a:ea typeface="DengXian" panose="02010600030101010101" pitchFamily="2" charset="-122"/>
              </a:rPr>
              <a:t>硬件设计应该追求可靠的简单而不是复杂</a:t>
            </a:r>
            <a:r>
              <a:rPr lang="zh-CN" altLang="en-US" sz="2800" dirty="0">
                <a:latin typeface="DengXian" panose="02010600030101010101" pitchFamily="2" charset="-122"/>
                <a:ea typeface="DengXian" panose="02010600030101010101" pitchFamily="2" charset="-122"/>
              </a:rPr>
              <a:t>，所谓</a:t>
            </a:r>
            <a:endParaRPr lang="en-US" altLang="zh-CN" sz="2800" dirty="0">
              <a:latin typeface="DengXian" panose="02010600030101010101" pitchFamily="2" charset="-122"/>
              <a:ea typeface="DengXian" panose="02010600030101010101" pitchFamily="2" charset="-122"/>
            </a:endParaRPr>
          </a:p>
          <a:p>
            <a:r>
              <a:rPr lang="zh-CN" altLang="zh-CN" sz="2800" dirty="0">
                <a:latin typeface="DengXian" panose="02010600030101010101" pitchFamily="2" charset="-122"/>
                <a:ea typeface="DengXian" panose="02010600030101010101" pitchFamily="2" charset="-122"/>
              </a:rPr>
              <a:t>“好</a:t>
            </a:r>
            <a:r>
              <a:rPr lang="en-US" altLang="zh-CN" sz="2800" dirty="0">
                <a:latin typeface="DengXian" panose="02010600030101010101" pitchFamily="2" charset="-122"/>
                <a:ea typeface="DengXian" panose="02010600030101010101" pitchFamily="2" charset="-122"/>
              </a:rPr>
              <a:t>钢用在刀刃上 ”，只对最常见的情形进行性</a:t>
            </a:r>
          </a:p>
          <a:p>
            <a:r>
              <a:rPr lang="en-US" altLang="zh-CN" sz="2800" dirty="0">
                <a:latin typeface="DengXian" panose="02010600030101010101" pitchFamily="2" charset="-122"/>
                <a:ea typeface="DengXian" panose="02010600030101010101" pitchFamily="2" charset="-122"/>
              </a:rPr>
              <a:t>能优化，而对不常见的情形牺牲其性能而换来硬</a:t>
            </a:r>
          </a:p>
          <a:p>
            <a:r>
              <a:rPr lang="en-US" altLang="zh-CN" sz="2800" dirty="0" err="1">
                <a:latin typeface="DengXian" panose="02010600030101010101" pitchFamily="2" charset="-122"/>
                <a:ea typeface="DengXian" panose="02010600030101010101" pitchFamily="2" charset="-122"/>
              </a:rPr>
              <a:t>件结构的简单可靠</a:t>
            </a:r>
            <a:r>
              <a:rPr lang="en-US" altLang="zh-CN" sz="2800" dirty="0">
                <a:latin typeface="DengXian" panose="02010600030101010101" pitchFamily="2" charset="-122"/>
                <a:ea typeface="DengXian" panose="02010600030101010101" pitchFamily="2" charset="-122"/>
              </a:rPr>
              <a:t>。</a:t>
            </a:r>
            <a:r>
              <a:rPr lang="zh-CN" altLang="zh-CN" sz="2800" dirty="0">
                <a:latin typeface="DengXian" panose="02010600030101010101" pitchFamily="2" charset="-122"/>
                <a:ea typeface="DengXian" panose="02010600030101010101" pitchFamily="2" charset="-122"/>
              </a:rPr>
              <a:t> </a:t>
            </a:r>
            <a:endParaRPr lang="zh-CN" altLang="en-US" sz="2800" dirty="0">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8162786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D9A86F7-8BA0-B547-BC09-8A53BCC7B517}"/>
              </a:ext>
            </a:extLst>
          </p:cNvPr>
          <p:cNvSpPr txBox="1"/>
          <p:nvPr/>
        </p:nvSpPr>
        <p:spPr>
          <a:xfrm>
            <a:off x="631658" y="1890583"/>
            <a:ext cx="7880684" cy="4401205"/>
          </a:xfrm>
          <a:prstGeom prst="rect">
            <a:avLst/>
          </a:prstGeom>
          <a:noFill/>
        </p:spPr>
        <p:txBody>
          <a:bodyPr wrap="none" rtlCol="0">
            <a:spAutoFit/>
          </a:bodyPr>
          <a:lstStyle/>
          <a:p>
            <a:r>
              <a:rPr lang="zh-TW" altLang="zh-CN" sz="2800" dirty="0">
                <a:latin typeface="DengXian" panose="02010600030101010101" pitchFamily="2" charset="-122"/>
                <a:ea typeface="DengXian" panose="02010600030101010101" pitchFamily="2" charset="-122"/>
              </a:rPr>
              <a:t>蜂鸟</a:t>
            </a:r>
            <a:r>
              <a:rPr lang="en-US" altLang="zh-CN" sz="2800" dirty="0">
                <a:latin typeface="DengXian" panose="02010600030101010101" pitchFamily="2" charset="-122"/>
                <a:ea typeface="DengXian" panose="02010600030101010101" pitchFamily="2" charset="-122"/>
              </a:rPr>
              <a:t>E200</a:t>
            </a:r>
            <a:r>
              <a:rPr lang="zh-TW" altLang="zh-CN" sz="2800" dirty="0">
                <a:latin typeface="DengXian" panose="02010600030101010101" pitchFamily="2" charset="-122"/>
                <a:ea typeface="DengXian" panose="02010600030101010101" pitchFamily="2" charset="-122"/>
              </a:rPr>
              <a:t>处理器核的设计目标是面向超低功耗</a:t>
            </a:r>
            <a:endParaRPr lang="en-US" altLang="zh-TW" sz="2800" dirty="0">
              <a:latin typeface="DengXian" panose="02010600030101010101" pitchFamily="2" charset="-122"/>
              <a:ea typeface="DengXian" panose="02010600030101010101" pitchFamily="2" charset="-122"/>
            </a:endParaRPr>
          </a:p>
          <a:p>
            <a:r>
              <a:rPr lang="zh-TW" altLang="zh-CN" sz="2800" dirty="0">
                <a:latin typeface="DengXian" panose="02010600030101010101" pitchFamily="2" charset="-122"/>
                <a:ea typeface="DengXian" panose="02010600030101010101" pitchFamily="2" charset="-122"/>
              </a:rPr>
              <a:t>的嵌入式处理器核，釆取有取有舍的理念。</a:t>
            </a:r>
            <a:endParaRPr lang="zh-CN" altLang="zh-CN" sz="2800" dirty="0">
              <a:latin typeface="DengXian" panose="02010600030101010101" pitchFamily="2" charset="-122"/>
              <a:ea typeface="DengXian" panose="02010600030101010101" pitchFamily="2" charset="-122"/>
            </a:endParaRPr>
          </a:p>
          <a:p>
            <a:r>
              <a:rPr lang="zh-TW" altLang="zh-CN" sz="2800" dirty="0">
                <a:latin typeface="DengXian" panose="02010600030101010101" pitchFamily="2" charset="-122"/>
                <a:ea typeface="DengXian" panose="02010600030101010101" pitchFamily="2" charset="-122"/>
              </a:rPr>
              <a:t>・一方面为了低功耗、小面积的目的，舍弃了</a:t>
            </a:r>
            <a:endParaRPr lang="en-US" altLang="zh-TW" sz="2800" dirty="0">
              <a:latin typeface="DengXian" panose="02010600030101010101" pitchFamily="2" charset="-122"/>
              <a:ea typeface="DengXian" panose="02010600030101010101" pitchFamily="2" charset="-122"/>
            </a:endParaRPr>
          </a:p>
          <a:p>
            <a:r>
              <a:rPr lang="zh-TW" altLang="zh-CN" sz="2800" dirty="0">
                <a:latin typeface="DengXian" panose="02010600030101010101" pitchFamily="2" charset="-122"/>
                <a:ea typeface="DengXian" panose="02010600030101010101" pitchFamily="2" charset="-122"/>
              </a:rPr>
              <a:t>很多复杂的技术</a:t>
            </a:r>
            <a:endParaRPr lang="en-US" altLang="zh-TW" sz="2800" dirty="0">
              <a:latin typeface="DengXian" panose="02010600030101010101" pitchFamily="2" charset="-122"/>
              <a:ea typeface="DengXian" panose="02010600030101010101" pitchFamily="2" charset="-122"/>
            </a:endParaRPr>
          </a:p>
          <a:p>
            <a:r>
              <a:rPr lang="zh-TW" altLang="zh-CN" sz="2800" dirty="0">
                <a:latin typeface="DengXian" panose="02010600030101010101" pitchFamily="2" charset="-122"/>
                <a:ea typeface="DengXian" panose="02010600030101010101" pitchFamily="2" charset="-122"/>
              </a:rPr>
              <a:t>・另一方面又保证最常见的情形下性能可观</a:t>
            </a:r>
            <a:endParaRPr lang="en-US" altLang="zh-TW" sz="2800" dirty="0">
              <a:latin typeface="DengXian" panose="02010600030101010101" pitchFamily="2" charset="-122"/>
              <a:ea typeface="DengXian" panose="02010600030101010101" pitchFamily="2" charset="-122"/>
            </a:endParaRPr>
          </a:p>
          <a:p>
            <a:r>
              <a:rPr lang="zh-TW" altLang="en-US" sz="2800" dirty="0">
                <a:latin typeface="DengXian" panose="02010600030101010101" pitchFamily="2" charset="-122"/>
                <a:ea typeface="DengXian" panose="02010600030101010101" pitchFamily="2" charset="-122"/>
              </a:rPr>
              <a:t>不管</a:t>
            </a:r>
            <a:r>
              <a:rPr lang="zh-TW" altLang="zh-CN" sz="2800" dirty="0">
                <a:latin typeface="DengXian" panose="02010600030101010101" pitchFamily="2" charset="-122"/>
                <a:ea typeface="DengXian" panose="02010600030101010101" pitchFamily="2" charset="-122"/>
              </a:rPr>
              <a:t>都能做得到</a:t>
            </a:r>
            <a:r>
              <a:rPr lang="zh-CN" altLang="zh-CN" sz="2800" dirty="0">
                <a:latin typeface="DengXian" panose="02010600030101010101" pitchFamily="2" charset="-122"/>
                <a:ea typeface="DengXian" panose="02010600030101010101" pitchFamily="2" charset="-122"/>
              </a:rPr>
              <a:t>“快”和“连续</a:t>
            </a:r>
            <a:r>
              <a:rPr lang="zh-TW" altLang="zh-CN" sz="2800" dirty="0">
                <a:latin typeface="DengXian" panose="02010600030101010101" pitchFamily="2" charset="-122"/>
                <a:ea typeface="DengXian" panose="02010600030101010101" pitchFamily="2" charset="-122"/>
              </a:rPr>
              <a:t>不断”地取指。</a:t>
            </a:r>
            <a:endParaRPr lang="en-US" altLang="zh-TW" sz="2800" dirty="0">
              <a:latin typeface="DengXian" panose="02010600030101010101" pitchFamily="2" charset="-122"/>
              <a:ea typeface="DengXian" panose="02010600030101010101" pitchFamily="2" charset="-122"/>
            </a:endParaRPr>
          </a:p>
          <a:p>
            <a:endParaRPr lang="zh-CN" altLang="zh-CN" sz="2800" dirty="0">
              <a:latin typeface="DengXian" panose="02010600030101010101" pitchFamily="2" charset="-122"/>
              <a:ea typeface="DengXian" panose="02010600030101010101" pitchFamily="2" charset="-122"/>
            </a:endParaRPr>
          </a:p>
          <a:p>
            <a:r>
              <a:rPr lang="en-US" altLang="zh-CN" sz="2800" dirty="0">
                <a:latin typeface="DengXian" panose="02010600030101010101" pitchFamily="2" charset="-122"/>
                <a:ea typeface="DengXian" panose="02010600030101010101" pitchFamily="2" charset="-122"/>
              </a:rPr>
              <a:t>综上原因，蜂鸟E200最终的测试基准(Benchmark)</a:t>
            </a:r>
          </a:p>
          <a:p>
            <a:r>
              <a:rPr lang="en-US" altLang="zh-CN" sz="2800" dirty="0">
                <a:latin typeface="DengXian" panose="02010600030101010101" pitchFamily="2" charset="-122"/>
                <a:ea typeface="DengXian" panose="02010600030101010101" pitchFamily="2" charset="-122"/>
              </a:rPr>
              <a:t>跑分在同级别的处理器核中更具竞争力</a:t>
            </a:r>
            <a:r>
              <a:rPr lang="zh-CN" altLang="en-US" sz="2800" dirty="0">
                <a:latin typeface="DengXian" panose="02010600030101010101" pitchFamily="2" charset="-122"/>
                <a:ea typeface="DengXian" panose="02010600030101010101" pitchFamily="2" charset="-122"/>
              </a:rPr>
              <a:t>， </a:t>
            </a:r>
            <a:r>
              <a:rPr lang="en-US" altLang="zh-CN" sz="2800" dirty="0">
                <a:latin typeface="DengXian" panose="02010600030101010101" pitchFamily="2" charset="-122"/>
                <a:ea typeface="DengXian" panose="02010600030101010101" pitchFamily="2" charset="-122"/>
              </a:rPr>
              <a:t>同时仍</a:t>
            </a:r>
          </a:p>
          <a:p>
            <a:r>
              <a:rPr lang="en-US" altLang="zh-CN" sz="2800" dirty="0">
                <a:latin typeface="DengXian" panose="02010600030101010101" pitchFamily="2" charset="-122"/>
                <a:ea typeface="DengXian" panose="02010600030101010101" pitchFamily="2" charset="-122"/>
              </a:rPr>
              <a:t>然保持了相当小的面积和相当低的功耗。</a:t>
            </a:r>
            <a:r>
              <a:rPr lang="zh-CN" altLang="zh-CN" dirty="0"/>
              <a:t> </a:t>
            </a:r>
            <a:endParaRPr kumimoji="1" lang="zh-CN" altLang="en-US" dirty="0"/>
          </a:p>
        </p:txBody>
      </p:sp>
    </p:spTree>
    <p:extLst>
      <p:ext uri="{BB962C8B-B14F-4D97-AF65-F5344CB8AC3E}">
        <p14:creationId xmlns:p14="http://schemas.microsoft.com/office/powerpoint/2010/main" val="1822887513"/>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155</TotalTime>
  <Words>1381</Words>
  <Application>Microsoft Office PowerPoint</Application>
  <PresentationFormat>全屏显示(4:3)</PresentationFormat>
  <Paragraphs>127</Paragraphs>
  <Slides>26</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26</vt:i4>
      </vt:variant>
    </vt:vector>
  </HeadingPairs>
  <TitlesOfParts>
    <vt:vector size="32" baseType="lpstr">
      <vt:lpstr>等线</vt:lpstr>
      <vt:lpstr>等线</vt:lpstr>
      <vt:lpstr>Arial</vt:lpstr>
      <vt:lpstr>Calibri</vt:lpstr>
      <vt:lpstr>Calibri Light</vt:lpstr>
      <vt:lpstr>Office 主题​​</vt:lpstr>
      <vt:lpstr>第七章  万事开头难吗     一切从取指令开始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第七章 万事开头难嘛     ——一切从取指令开始</dc:title>
  <dc:creator>尹 淑娴</dc:creator>
  <cp:lastModifiedBy>Yu Dou</cp:lastModifiedBy>
  <cp:revision>24</cp:revision>
  <dcterms:created xsi:type="dcterms:W3CDTF">2020-09-28T10:19:21Z</dcterms:created>
  <dcterms:modified xsi:type="dcterms:W3CDTF">2020-09-28T14:08:22Z</dcterms:modified>
</cp:coreProperties>
</file>