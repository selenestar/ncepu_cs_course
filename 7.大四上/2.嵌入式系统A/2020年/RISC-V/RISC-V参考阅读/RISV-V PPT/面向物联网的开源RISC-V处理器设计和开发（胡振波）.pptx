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Lst>
  <p:sldSz cx="12192000" cy="6858000"/>
  <p:notesSz cx="12192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46"/>
        <p:guide pos="21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098925" y="925830"/>
            <a:ext cx="3994150" cy="1365885"/>
          </a:xfrm>
          <a:prstGeom prst="rect">
            <a:avLst/>
          </a:prstGeom>
        </p:spPr>
        <p:txBody>
          <a:bodyPr wrap="square" lIns="0" tIns="0" rIns="0" bIns="0">
            <a:spAutoFit/>
          </a:bodyPr>
          <a:lstStyle>
            <a:lvl1pPr>
              <a:defRPr b="0" i="0">
                <a:solidFill>
                  <a:schemeClr val="tx1"/>
                </a:solidFill>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bg1"/>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p:txBody>
          <a:bodyPr lIns="0" tIns="0" rIns="0" bIns="0"/>
          <a:lstStyle>
            <a:lvl1pPr>
              <a:defRPr sz="1200" b="0" i="0">
                <a:solidFill>
                  <a:schemeClr val="tx1"/>
                </a:solidFill>
                <a:latin typeface="微软雅黑" panose="020B0503020204020204" charset="-122"/>
                <a:cs typeface="微软雅黑" panose="020B0503020204020204" charset="-122"/>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bg1"/>
                </a:solidFill>
                <a:latin typeface="微软雅黑" panose="020B0503020204020204" charset="-122"/>
                <a:cs typeface="微软雅黑" panose="020B0503020204020204" charset="-122"/>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bg1"/>
                </a:solidFill>
                <a:latin typeface="微软雅黑" panose="020B0503020204020204" charset="-122"/>
                <a:cs typeface="微软雅黑" panose="020B0503020204020204" charset="-122"/>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showMasterSp="0">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1135868" y="6356603"/>
            <a:ext cx="911351" cy="393192"/>
          </a:xfrm>
          <a:prstGeom prst="rect">
            <a:avLst/>
          </a:prstGeom>
          <a:blipFill>
            <a:blip r:embed="rId2" cstate="print"/>
            <a:stretch>
              <a:fillRect/>
            </a:stretch>
          </a:blipFill>
        </p:spPr>
        <p:txBody>
          <a:bodyPr wrap="square" lIns="0" tIns="0" rIns="0" bIns="0" rtlCol="0"/>
          <a:lstStyle/>
          <a:p/>
        </p:txBody>
      </p:sp>
      <p:sp>
        <p:nvSpPr>
          <p:cNvPr id="17" name="bk object 17"/>
          <p:cNvSpPr/>
          <p:nvPr/>
        </p:nvSpPr>
        <p:spPr>
          <a:xfrm>
            <a:off x="0" y="0"/>
            <a:ext cx="12192000" cy="6858000"/>
          </a:xfrm>
          <a:prstGeom prst="rect">
            <a:avLst/>
          </a:prstGeom>
          <a:blipFill>
            <a:blip r:embed="rId3" cstate="print"/>
            <a:stretch>
              <a:fillRect/>
            </a:stretch>
          </a:blipFill>
        </p:spPr>
        <p:txBody>
          <a:bodyPr wrap="square" lIns="0" tIns="0" rIns="0" bIns="0" rtlCol="0"/>
          <a:lstStyle/>
          <a:p/>
        </p:txBody>
      </p:sp>
      <p:sp>
        <p:nvSpPr>
          <p:cNvPr id="18" name="bk object 18"/>
          <p:cNvSpPr/>
          <p:nvPr/>
        </p:nvSpPr>
        <p:spPr>
          <a:xfrm>
            <a:off x="230124" y="144779"/>
            <a:ext cx="1546859" cy="626364"/>
          </a:xfrm>
          <a:prstGeom prst="rect">
            <a:avLst/>
          </a:prstGeom>
          <a:blipFill>
            <a:blip r:embed="rId4" cstate="print"/>
            <a:stretch>
              <a:fillRect/>
            </a:stretch>
          </a:blipFill>
        </p:spPr>
        <p:txBody>
          <a:bodyPr wrap="square" lIns="0" tIns="0" rIns="0" bIns="0" rtlCol="0"/>
          <a:lstStyle/>
          <a:p/>
        </p:txBody>
      </p:sp>
      <p:sp>
        <p:nvSpPr>
          <p:cNvPr id="19" name="bk object 19"/>
          <p:cNvSpPr/>
          <p:nvPr/>
        </p:nvSpPr>
        <p:spPr>
          <a:xfrm>
            <a:off x="10820400" y="5545835"/>
            <a:ext cx="1095755" cy="1095756"/>
          </a:xfrm>
          <a:prstGeom prst="rect">
            <a:avLst/>
          </a:prstGeom>
          <a:blipFill>
            <a:blip r:embed="rId5" cstate="print"/>
            <a:stretch>
              <a:fillRect/>
            </a:stretch>
          </a:blipFill>
        </p:spPr>
        <p:txBody>
          <a:bodyPr wrap="square" lIns="0" tIns="0" rIns="0" bIns="0" rtlCol="0"/>
          <a:lstStyle/>
          <a:p/>
        </p:txBody>
      </p:sp>
      <p:sp>
        <p:nvSpPr>
          <p:cNvPr id="20" name="bk object 20"/>
          <p:cNvSpPr/>
          <p:nvPr/>
        </p:nvSpPr>
        <p:spPr>
          <a:xfrm>
            <a:off x="10704576" y="5396484"/>
            <a:ext cx="1287779" cy="1287780"/>
          </a:xfrm>
          <a:prstGeom prst="rect">
            <a:avLst/>
          </a:prstGeom>
          <a:blipFill>
            <a:blip r:embed="rId6" cstate="print"/>
            <a:stretch>
              <a:fillRect/>
            </a:stretch>
          </a:blipFill>
        </p:spPr>
        <p:txBody>
          <a:bodyPr wrap="square" lIns="0" tIns="0" rIns="0" bIns="0" rtlCol="0"/>
          <a:lstStyle/>
          <a:p/>
        </p:txBody>
      </p:sp>
      <p:sp>
        <p:nvSpPr>
          <p:cNvPr id="21" name="bk object 21"/>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1135868" y="6356603"/>
            <a:ext cx="911351" cy="393192"/>
          </a:xfrm>
          <a:prstGeom prst="rect">
            <a:avLst/>
          </a:prstGeom>
          <a:blipFill>
            <a:blip r:embed="rId6" cstate="print"/>
            <a:stretch>
              <a:fillRect/>
            </a:stretch>
          </a:blipFill>
        </p:spPr>
        <p:txBody>
          <a:bodyPr wrap="square" lIns="0" tIns="0" rIns="0" bIns="0" rtlCol="0"/>
          <a:lstStyle/>
          <a:p/>
        </p:txBody>
      </p:sp>
      <p:sp>
        <p:nvSpPr>
          <p:cNvPr id="2" name="Holder 2"/>
          <p:cNvSpPr>
            <a:spLocks noGrp="1"/>
          </p:cNvSpPr>
          <p:nvPr>
            <p:ph type="title"/>
          </p:nvPr>
        </p:nvSpPr>
        <p:spPr>
          <a:xfrm>
            <a:off x="347345" y="4406900"/>
            <a:ext cx="11497310" cy="1243964"/>
          </a:xfrm>
          <a:prstGeom prst="rect">
            <a:avLst/>
          </a:prstGeom>
        </p:spPr>
        <p:txBody>
          <a:bodyPr wrap="square" lIns="0" tIns="0" rIns="0" bIns="0">
            <a:spAutoFit/>
          </a:bodyPr>
          <a:lstStyle>
            <a:lvl1pPr>
              <a:defRPr sz="4000" b="1" i="0">
                <a:solidFill>
                  <a:schemeClr val="bg1"/>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511175" y="2654300"/>
            <a:ext cx="6901180" cy="2768600"/>
          </a:xfrm>
          <a:prstGeom prst="rect">
            <a:avLst/>
          </a:prstGeom>
        </p:spPr>
        <p:txBody>
          <a:bodyPr wrap="square" lIns="0" tIns="0" rIns="0" bIns="0">
            <a:spAutoFit/>
          </a:bodyPr>
          <a:lstStyle>
            <a:lvl1pPr>
              <a:defRPr sz="1200" b="0" i="0">
                <a:solidFill>
                  <a:schemeClr val="tx1"/>
                </a:solidFill>
                <a:latin typeface="微软雅黑" panose="020B0503020204020204" charset="-122"/>
                <a:cs typeface="微软雅黑" panose="020B0503020204020204" charset="-122"/>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99" Type="http://schemas.openxmlformats.org/officeDocument/2006/relationships/image" Target="../media/image115.png"/><Relationship Id="rId98" Type="http://schemas.openxmlformats.org/officeDocument/2006/relationships/image" Target="../media/image114.png"/><Relationship Id="rId97" Type="http://schemas.openxmlformats.org/officeDocument/2006/relationships/image" Target="../media/image113.jpeg"/><Relationship Id="rId96" Type="http://schemas.openxmlformats.org/officeDocument/2006/relationships/image" Target="../media/image112.png"/><Relationship Id="rId95" Type="http://schemas.openxmlformats.org/officeDocument/2006/relationships/image" Target="../media/image111.png"/><Relationship Id="rId94" Type="http://schemas.openxmlformats.org/officeDocument/2006/relationships/image" Target="../media/image110.jpeg"/><Relationship Id="rId93" Type="http://schemas.openxmlformats.org/officeDocument/2006/relationships/image" Target="../media/image109.png"/><Relationship Id="rId92" Type="http://schemas.openxmlformats.org/officeDocument/2006/relationships/image" Target="../media/image108.png"/><Relationship Id="rId91" Type="http://schemas.openxmlformats.org/officeDocument/2006/relationships/image" Target="../media/image107.png"/><Relationship Id="rId90" Type="http://schemas.openxmlformats.org/officeDocument/2006/relationships/image" Target="../media/image106.png"/><Relationship Id="rId9" Type="http://schemas.openxmlformats.org/officeDocument/2006/relationships/image" Target="../media/image25.png"/><Relationship Id="rId89" Type="http://schemas.openxmlformats.org/officeDocument/2006/relationships/image" Target="../media/image105.jpeg"/><Relationship Id="rId88" Type="http://schemas.openxmlformats.org/officeDocument/2006/relationships/image" Target="../media/image104.png"/><Relationship Id="rId87" Type="http://schemas.openxmlformats.org/officeDocument/2006/relationships/image" Target="../media/image103.jpeg"/><Relationship Id="rId86" Type="http://schemas.openxmlformats.org/officeDocument/2006/relationships/image" Target="../media/image102.jpeg"/><Relationship Id="rId85" Type="http://schemas.openxmlformats.org/officeDocument/2006/relationships/image" Target="../media/image101.png"/><Relationship Id="rId84" Type="http://schemas.openxmlformats.org/officeDocument/2006/relationships/image" Target="../media/image100.png"/><Relationship Id="rId83" Type="http://schemas.openxmlformats.org/officeDocument/2006/relationships/image" Target="../media/image99.png"/><Relationship Id="rId82" Type="http://schemas.openxmlformats.org/officeDocument/2006/relationships/image" Target="../media/image98.jpeg"/><Relationship Id="rId81" Type="http://schemas.openxmlformats.org/officeDocument/2006/relationships/image" Target="../media/image97.png"/><Relationship Id="rId80" Type="http://schemas.openxmlformats.org/officeDocument/2006/relationships/image" Target="../media/image96.png"/><Relationship Id="rId8" Type="http://schemas.openxmlformats.org/officeDocument/2006/relationships/image" Target="../media/image24.png"/><Relationship Id="rId79" Type="http://schemas.openxmlformats.org/officeDocument/2006/relationships/image" Target="../media/image95.png"/><Relationship Id="rId78" Type="http://schemas.openxmlformats.org/officeDocument/2006/relationships/image" Target="../media/image94.jpeg"/><Relationship Id="rId77" Type="http://schemas.openxmlformats.org/officeDocument/2006/relationships/image" Target="../media/image93.jpeg"/><Relationship Id="rId76" Type="http://schemas.openxmlformats.org/officeDocument/2006/relationships/image" Target="../media/image92.png"/><Relationship Id="rId75" Type="http://schemas.openxmlformats.org/officeDocument/2006/relationships/image" Target="../media/image91.png"/><Relationship Id="rId74" Type="http://schemas.openxmlformats.org/officeDocument/2006/relationships/image" Target="../media/image90.png"/><Relationship Id="rId73" Type="http://schemas.openxmlformats.org/officeDocument/2006/relationships/image" Target="../media/image89.png"/><Relationship Id="rId72" Type="http://schemas.openxmlformats.org/officeDocument/2006/relationships/image" Target="../media/image88.jpeg"/><Relationship Id="rId71" Type="http://schemas.openxmlformats.org/officeDocument/2006/relationships/image" Target="../media/image87.jpeg"/><Relationship Id="rId70" Type="http://schemas.openxmlformats.org/officeDocument/2006/relationships/image" Target="../media/image86.png"/><Relationship Id="rId7" Type="http://schemas.openxmlformats.org/officeDocument/2006/relationships/image" Target="../media/image23.png"/><Relationship Id="rId69" Type="http://schemas.openxmlformats.org/officeDocument/2006/relationships/image" Target="../media/image85.png"/><Relationship Id="rId68" Type="http://schemas.openxmlformats.org/officeDocument/2006/relationships/image" Target="../media/image84.png"/><Relationship Id="rId67" Type="http://schemas.openxmlformats.org/officeDocument/2006/relationships/image" Target="../media/image83.png"/><Relationship Id="rId66" Type="http://schemas.openxmlformats.org/officeDocument/2006/relationships/image" Target="../media/image82.png"/><Relationship Id="rId65" Type="http://schemas.openxmlformats.org/officeDocument/2006/relationships/image" Target="../media/image81.png"/><Relationship Id="rId64" Type="http://schemas.openxmlformats.org/officeDocument/2006/relationships/image" Target="../media/image80.jpeg"/><Relationship Id="rId63" Type="http://schemas.openxmlformats.org/officeDocument/2006/relationships/image" Target="../media/image79.png"/><Relationship Id="rId62" Type="http://schemas.openxmlformats.org/officeDocument/2006/relationships/image" Target="../media/image78.png"/><Relationship Id="rId61" Type="http://schemas.openxmlformats.org/officeDocument/2006/relationships/image" Target="../media/image77.jpeg"/><Relationship Id="rId60" Type="http://schemas.openxmlformats.org/officeDocument/2006/relationships/image" Target="../media/image76.png"/><Relationship Id="rId6" Type="http://schemas.openxmlformats.org/officeDocument/2006/relationships/image" Target="../media/image22.jpeg"/><Relationship Id="rId59" Type="http://schemas.openxmlformats.org/officeDocument/2006/relationships/image" Target="../media/image75.jpeg"/><Relationship Id="rId58" Type="http://schemas.openxmlformats.org/officeDocument/2006/relationships/image" Target="../media/image74.png"/><Relationship Id="rId57" Type="http://schemas.openxmlformats.org/officeDocument/2006/relationships/image" Target="../media/image73.png"/><Relationship Id="rId56" Type="http://schemas.openxmlformats.org/officeDocument/2006/relationships/image" Target="../media/image72.png"/><Relationship Id="rId55" Type="http://schemas.openxmlformats.org/officeDocument/2006/relationships/image" Target="../media/image71.jpeg"/><Relationship Id="rId54" Type="http://schemas.openxmlformats.org/officeDocument/2006/relationships/image" Target="../media/image70.png"/><Relationship Id="rId53" Type="http://schemas.openxmlformats.org/officeDocument/2006/relationships/image" Target="../media/image69.png"/><Relationship Id="rId52" Type="http://schemas.openxmlformats.org/officeDocument/2006/relationships/image" Target="../media/image68.jpeg"/><Relationship Id="rId51" Type="http://schemas.openxmlformats.org/officeDocument/2006/relationships/image" Target="../media/image67.jpeg"/><Relationship Id="rId50" Type="http://schemas.openxmlformats.org/officeDocument/2006/relationships/image" Target="../media/image66.png"/><Relationship Id="rId5" Type="http://schemas.openxmlformats.org/officeDocument/2006/relationships/image" Target="../media/image21.png"/><Relationship Id="rId49" Type="http://schemas.openxmlformats.org/officeDocument/2006/relationships/image" Target="../media/image65.png"/><Relationship Id="rId48" Type="http://schemas.openxmlformats.org/officeDocument/2006/relationships/image" Target="../media/image64.jpeg"/><Relationship Id="rId47" Type="http://schemas.openxmlformats.org/officeDocument/2006/relationships/image" Target="../media/image63.jpeg"/><Relationship Id="rId46" Type="http://schemas.openxmlformats.org/officeDocument/2006/relationships/image" Target="../media/image62.png"/><Relationship Id="rId45" Type="http://schemas.openxmlformats.org/officeDocument/2006/relationships/image" Target="../media/image61.jpeg"/><Relationship Id="rId44" Type="http://schemas.openxmlformats.org/officeDocument/2006/relationships/image" Target="../media/image60.jpeg"/><Relationship Id="rId43" Type="http://schemas.openxmlformats.org/officeDocument/2006/relationships/image" Target="../media/image59.png"/><Relationship Id="rId42" Type="http://schemas.openxmlformats.org/officeDocument/2006/relationships/image" Target="../media/image58.png"/><Relationship Id="rId41" Type="http://schemas.openxmlformats.org/officeDocument/2006/relationships/image" Target="../media/image57.png"/><Relationship Id="rId40" Type="http://schemas.openxmlformats.org/officeDocument/2006/relationships/image" Target="../media/image56.png"/><Relationship Id="rId4" Type="http://schemas.openxmlformats.org/officeDocument/2006/relationships/image" Target="../media/image20.jpeg"/><Relationship Id="rId39" Type="http://schemas.openxmlformats.org/officeDocument/2006/relationships/image" Target="../media/image55.png"/><Relationship Id="rId38" Type="http://schemas.openxmlformats.org/officeDocument/2006/relationships/image" Target="../media/image54.jpeg"/><Relationship Id="rId37" Type="http://schemas.openxmlformats.org/officeDocument/2006/relationships/image" Target="../media/image53.jpeg"/><Relationship Id="rId36" Type="http://schemas.openxmlformats.org/officeDocument/2006/relationships/image" Target="../media/image52.png"/><Relationship Id="rId35" Type="http://schemas.openxmlformats.org/officeDocument/2006/relationships/image" Target="../media/image51.png"/><Relationship Id="rId34" Type="http://schemas.openxmlformats.org/officeDocument/2006/relationships/image" Target="../media/image50.jpeg"/><Relationship Id="rId33" Type="http://schemas.openxmlformats.org/officeDocument/2006/relationships/image" Target="../media/image49.jpeg"/><Relationship Id="rId32" Type="http://schemas.openxmlformats.org/officeDocument/2006/relationships/image" Target="../media/image48.png"/><Relationship Id="rId31" Type="http://schemas.openxmlformats.org/officeDocument/2006/relationships/image" Target="../media/image47.jpeg"/><Relationship Id="rId30" Type="http://schemas.openxmlformats.org/officeDocument/2006/relationships/image" Target="../media/image46.jpeg"/><Relationship Id="rId3" Type="http://schemas.openxmlformats.org/officeDocument/2006/relationships/image" Target="../media/image19.jpeg"/><Relationship Id="rId29" Type="http://schemas.openxmlformats.org/officeDocument/2006/relationships/image" Target="../media/image45.jpeg"/><Relationship Id="rId28" Type="http://schemas.openxmlformats.org/officeDocument/2006/relationships/image" Target="../media/image44.jpeg"/><Relationship Id="rId27" Type="http://schemas.openxmlformats.org/officeDocument/2006/relationships/image" Target="../media/image43.jpeg"/><Relationship Id="rId26" Type="http://schemas.openxmlformats.org/officeDocument/2006/relationships/image" Target="../media/image42.jpeg"/><Relationship Id="rId25" Type="http://schemas.openxmlformats.org/officeDocument/2006/relationships/image" Target="../media/image41.jpeg"/><Relationship Id="rId24" Type="http://schemas.openxmlformats.org/officeDocument/2006/relationships/image" Target="../media/image40.jpeg"/><Relationship Id="rId23" Type="http://schemas.openxmlformats.org/officeDocument/2006/relationships/image" Target="../media/image39.jpeg"/><Relationship Id="rId22" Type="http://schemas.openxmlformats.org/officeDocument/2006/relationships/image" Target="../media/image38.jpeg"/><Relationship Id="rId21" Type="http://schemas.openxmlformats.org/officeDocument/2006/relationships/image" Target="../media/image37.jpeg"/><Relationship Id="rId20" Type="http://schemas.openxmlformats.org/officeDocument/2006/relationships/image" Target="../media/image36.jpeg"/><Relationship Id="rId2" Type="http://schemas.openxmlformats.org/officeDocument/2006/relationships/image" Target="../media/image18.jpeg"/><Relationship Id="rId19" Type="http://schemas.openxmlformats.org/officeDocument/2006/relationships/image" Target="../media/image35.jpeg"/><Relationship Id="rId18" Type="http://schemas.openxmlformats.org/officeDocument/2006/relationships/image" Target="../media/image34.jpeg"/><Relationship Id="rId17" Type="http://schemas.openxmlformats.org/officeDocument/2006/relationships/image" Target="../media/image33.jpeg"/><Relationship Id="rId16" Type="http://schemas.openxmlformats.org/officeDocument/2006/relationships/image" Target="../media/image32.jpeg"/><Relationship Id="rId15" Type="http://schemas.openxmlformats.org/officeDocument/2006/relationships/image" Target="../media/image31.jpeg"/><Relationship Id="rId14" Type="http://schemas.openxmlformats.org/officeDocument/2006/relationships/image" Target="../media/image30.jpeg"/><Relationship Id="rId13" Type="http://schemas.openxmlformats.org/officeDocument/2006/relationships/image" Target="../media/image29.jpeg"/><Relationship Id="rId125" Type="http://schemas.openxmlformats.org/officeDocument/2006/relationships/slideLayout" Target="../slideLayouts/slideLayout2.xml"/><Relationship Id="rId124" Type="http://schemas.openxmlformats.org/officeDocument/2006/relationships/image" Target="../media/image140.jpeg"/><Relationship Id="rId123" Type="http://schemas.openxmlformats.org/officeDocument/2006/relationships/image" Target="../media/image139.png"/><Relationship Id="rId122" Type="http://schemas.openxmlformats.org/officeDocument/2006/relationships/image" Target="../media/image138.jpeg"/><Relationship Id="rId121" Type="http://schemas.openxmlformats.org/officeDocument/2006/relationships/image" Target="../media/image137.png"/><Relationship Id="rId120" Type="http://schemas.openxmlformats.org/officeDocument/2006/relationships/image" Target="../media/image136.jpeg"/><Relationship Id="rId12" Type="http://schemas.openxmlformats.org/officeDocument/2006/relationships/image" Target="../media/image28.png"/><Relationship Id="rId119" Type="http://schemas.openxmlformats.org/officeDocument/2006/relationships/image" Target="../media/image135.png"/><Relationship Id="rId118" Type="http://schemas.openxmlformats.org/officeDocument/2006/relationships/image" Target="../media/image134.png"/><Relationship Id="rId117" Type="http://schemas.openxmlformats.org/officeDocument/2006/relationships/image" Target="../media/image133.png"/><Relationship Id="rId116" Type="http://schemas.openxmlformats.org/officeDocument/2006/relationships/image" Target="../media/image132.jpeg"/><Relationship Id="rId115" Type="http://schemas.openxmlformats.org/officeDocument/2006/relationships/image" Target="../media/image131.jpeg"/><Relationship Id="rId114" Type="http://schemas.openxmlformats.org/officeDocument/2006/relationships/image" Target="../media/image130.png"/><Relationship Id="rId113" Type="http://schemas.openxmlformats.org/officeDocument/2006/relationships/image" Target="../media/image129.jpeg"/><Relationship Id="rId112" Type="http://schemas.openxmlformats.org/officeDocument/2006/relationships/image" Target="../media/image128.png"/><Relationship Id="rId111" Type="http://schemas.openxmlformats.org/officeDocument/2006/relationships/image" Target="../media/image127.jpeg"/><Relationship Id="rId110" Type="http://schemas.openxmlformats.org/officeDocument/2006/relationships/image" Target="../media/image126.png"/><Relationship Id="rId11" Type="http://schemas.openxmlformats.org/officeDocument/2006/relationships/image" Target="../media/image27.png"/><Relationship Id="rId109" Type="http://schemas.openxmlformats.org/officeDocument/2006/relationships/image" Target="../media/image125.png"/><Relationship Id="rId108" Type="http://schemas.openxmlformats.org/officeDocument/2006/relationships/image" Target="../media/image124.png"/><Relationship Id="rId107" Type="http://schemas.openxmlformats.org/officeDocument/2006/relationships/image" Target="../media/image123.png"/><Relationship Id="rId106" Type="http://schemas.openxmlformats.org/officeDocument/2006/relationships/image" Target="../media/image122.png"/><Relationship Id="rId105" Type="http://schemas.openxmlformats.org/officeDocument/2006/relationships/image" Target="../media/image121.png"/><Relationship Id="rId104" Type="http://schemas.openxmlformats.org/officeDocument/2006/relationships/image" Target="../media/image120.png"/><Relationship Id="rId103" Type="http://schemas.openxmlformats.org/officeDocument/2006/relationships/image" Target="../media/image119.png"/><Relationship Id="rId102" Type="http://schemas.openxmlformats.org/officeDocument/2006/relationships/image" Target="../media/image118.jpeg"/><Relationship Id="rId101" Type="http://schemas.openxmlformats.org/officeDocument/2006/relationships/image" Target="../media/image117.jpeg"/><Relationship Id="rId100" Type="http://schemas.openxmlformats.org/officeDocument/2006/relationships/image" Target="../media/image116.png"/><Relationship Id="rId10" Type="http://schemas.openxmlformats.org/officeDocument/2006/relationships/image" Target="../media/image26.png"/><Relationship Id="rId1" Type="http://schemas.openxmlformats.org/officeDocument/2006/relationships/image" Target="../media/image1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3.jpeg"/><Relationship Id="rId2" Type="http://schemas.openxmlformats.org/officeDocument/2006/relationships/image" Target="../media/image142.jpeg"/><Relationship Id="rId1" Type="http://schemas.openxmlformats.org/officeDocument/2006/relationships/image" Target="../media/image141.jpeg"/></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image" Target="../media/image144.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image" Target="../media/image150.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4.png"/><Relationship Id="rId1" Type="http://schemas.openxmlformats.org/officeDocument/2006/relationships/image" Target="../media/image153.pn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59.png"/><Relationship Id="rId4" Type="http://schemas.openxmlformats.org/officeDocument/2006/relationships/image" Target="../media/image158.png"/><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image" Target="../media/image155.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image" Target="../media/image160.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4.png"/><Relationship Id="rId1" Type="http://schemas.openxmlformats.org/officeDocument/2006/relationships/image" Target="../media/image163.png"/></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71.png"/><Relationship Id="rId6" Type="http://schemas.openxmlformats.org/officeDocument/2006/relationships/image" Target="../media/image170.png"/><Relationship Id="rId5" Type="http://schemas.openxmlformats.org/officeDocument/2006/relationships/image" Target="../media/image169.png"/><Relationship Id="rId4" Type="http://schemas.openxmlformats.org/officeDocument/2006/relationships/image" Target="../media/image168.png"/><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image" Target="../media/image16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3.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5.png"/><Relationship Id="rId1" Type="http://schemas.openxmlformats.org/officeDocument/2006/relationships/image" Target="../media/image174.png"/></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81.png"/><Relationship Id="rId5" Type="http://schemas.openxmlformats.org/officeDocument/2006/relationships/image" Target="../media/image180.png"/><Relationship Id="rId4" Type="http://schemas.openxmlformats.org/officeDocument/2006/relationships/image" Target="../media/image179.png"/><Relationship Id="rId3" Type="http://schemas.openxmlformats.org/officeDocument/2006/relationships/image" Target="../media/image178.png"/><Relationship Id="rId2" Type="http://schemas.openxmlformats.org/officeDocument/2006/relationships/image" Target="../media/image177.png"/><Relationship Id="rId1" Type="http://schemas.openxmlformats.org/officeDocument/2006/relationships/image" Target="../media/image176.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3.jpeg"/><Relationship Id="rId1" Type="http://schemas.openxmlformats.org/officeDocument/2006/relationships/image" Target="../media/image182.jpe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6.jpeg"/><Relationship Id="rId2" Type="http://schemas.openxmlformats.org/officeDocument/2006/relationships/image" Target="../media/image185.jpeg"/><Relationship Id="rId1" Type="http://schemas.openxmlformats.org/officeDocument/2006/relationships/image" Target="../media/image184.jpe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8.png"/><Relationship Id="rId1" Type="http://schemas.openxmlformats.org/officeDocument/2006/relationships/image" Target="../media/image187.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0.jpeg"/><Relationship Id="rId1" Type="http://schemas.openxmlformats.org/officeDocument/2006/relationships/image" Target="../media/image189.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9" Type="http://schemas.openxmlformats.org/officeDocument/2006/relationships/image" Target="../media/image199.jpeg"/><Relationship Id="rId8" Type="http://schemas.openxmlformats.org/officeDocument/2006/relationships/image" Target="../media/image198.jpeg"/><Relationship Id="rId7" Type="http://schemas.openxmlformats.org/officeDocument/2006/relationships/image" Target="../media/image197.jpeg"/><Relationship Id="rId6" Type="http://schemas.openxmlformats.org/officeDocument/2006/relationships/image" Target="../media/image196.jpeg"/><Relationship Id="rId5" Type="http://schemas.openxmlformats.org/officeDocument/2006/relationships/image" Target="../media/image195.jpeg"/><Relationship Id="rId4" Type="http://schemas.openxmlformats.org/officeDocument/2006/relationships/image" Target="../media/image194.jpeg"/><Relationship Id="rId3" Type="http://schemas.openxmlformats.org/officeDocument/2006/relationships/image" Target="../media/image193.jpeg"/><Relationship Id="rId27" Type="http://schemas.openxmlformats.org/officeDocument/2006/relationships/slideLayout" Target="../slideLayouts/slideLayout1.xml"/><Relationship Id="rId26" Type="http://schemas.openxmlformats.org/officeDocument/2006/relationships/image" Target="../media/image216.jpeg"/><Relationship Id="rId25" Type="http://schemas.openxmlformats.org/officeDocument/2006/relationships/image" Target="../media/image215.jpeg"/><Relationship Id="rId24" Type="http://schemas.openxmlformats.org/officeDocument/2006/relationships/image" Target="../media/image214.jpeg"/><Relationship Id="rId23" Type="http://schemas.openxmlformats.org/officeDocument/2006/relationships/image" Target="../media/image213.jpeg"/><Relationship Id="rId22" Type="http://schemas.openxmlformats.org/officeDocument/2006/relationships/image" Target="../media/image212.jpeg"/><Relationship Id="rId21" Type="http://schemas.openxmlformats.org/officeDocument/2006/relationships/image" Target="../media/image211.jpeg"/><Relationship Id="rId20" Type="http://schemas.openxmlformats.org/officeDocument/2006/relationships/image" Target="../media/image210.jpeg"/><Relationship Id="rId2" Type="http://schemas.openxmlformats.org/officeDocument/2006/relationships/image" Target="../media/image192.png"/><Relationship Id="rId19" Type="http://schemas.openxmlformats.org/officeDocument/2006/relationships/image" Target="../media/image209.jpeg"/><Relationship Id="rId18" Type="http://schemas.openxmlformats.org/officeDocument/2006/relationships/image" Target="../media/image208.jpeg"/><Relationship Id="rId17" Type="http://schemas.openxmlformats.org/officeDocument/2006/relationships/image" Target="../media/image207.jpeg"/><Relationship Id="rId16" Type="http://schemas.openxmlformats.org/officeDocument/2006/relationships/image" Target="../media/image206.jpeg"/><Relationship Id="rId15" Type="http://schemas.openxmlformats.org/officeDocument/2006/relationships/image" Target="../media/image205.jpeg"/><Relationship Id="rId14" Type="http://schemas.openxmlformats.org/officeDocument/2006/relationships/image" Target="../media/image204.jpeg"/><Relationship Id="rId13" Type="http://schemas.openxmlformats.org/officeDocument/2006/relationships/image" Target="../media/image203.jpeg"/><Relationship Id="rId12" Type="http://schemas.openxmlformats.org/officeDocument/2006/relationships/image" Target="../media/image202.jpeg"/><Relationship Id="rId11" Type="http://schemas.openxmlformats.org/officeDocument/2006/relationships/image" Target="../media/image201.jpeg"/><Relationship Id="rId10" Type="http://schemas.openxmlformats.org/officeDocument/2006/relationships/image" Target="../media/image200.jpeg"/><Relationship Id="rId1" Type="http://schemas.openxmlformats.org/officeDocument/2006/relationships/image" Target="../media/image191.jpeg"/></Relationships>
</file>

<file path=ppt/slides/_rels/slide36.xml.rels><?xml version="1.0" encoding="UTF-8" standalone="yes"?>
<Relationships xmlns="http://schemas.openxmlformats.org/package/2006/relationships"><Relationship Id="rId9" Type="http://schemas.openxmlformats.org/officeDocument/2006/relationships/image" Target="../media/image225.jpeg"/><Relationship Id="rId8" Type="http://schemas.openxmlformats.org/officeDocument/2006/relationships/image" Target="../media/image224.jpeg"/><Relationship Id="rId7" Type="http://schemas.openxmlformats.org/officeDocument/2006/relationships/image" Target="../media/image223.jpeg"/><Relationship Id="rId6" Type="http://schemas.openxmlformats.org/officeDocument/2006/relationships/image" Target="../media/image222.jpeg"/><Relationship Id="rId5" Type="http://schemas.openxmlformats.org/officeDocument/2006/relationships/image" Target="../media/image221.jpeg"/><Relationship Id="rId4" Type="http://schemas.openxmlformats.org/officeDocument/2006/relationships/image" Target="../media/image220.jpeg"/><Relationship Id="rId3" Type="http://schemas.openxmlformats.org/officeDocument/2006/relationships/image" Target="../media/image219.jpeg"/><Relationship Id="rId23" Type="http://schemas.openxmlformats.org/officeDocument/2006/relationships/slideLayout" Target="../slideLayouts/slideLayout1.xml"/><Relationship Id="rId22" Type="http://schemas.openxmlformats.org/officeDocument/2006/relationships/image" Target="../media/image238.jpeg"/><Relationship Id="rId21" Type="http://schemas.openxmlformats.org/officeDocument/2006/relationships/image" Target="../media/image237.jpeg"/><Relationship Id="rId20" Type="http://schemas.openxmlformats.org/officeDocument/2006/relationships/image" Target="../media/image236.jpeg"/><Relationship Id="rId2" Type="http://schemas.openxmlformats.org/officeDocument/2006/relationships/image" Target="../media/image218.jpeg"/><Relationship Id="rId19" Type="http://schemas.openxmlformats.org/officeDocument/2006/relationships/image" Target="../media/image235.jpeg"/><Relationship Id="rId18" Type="http://schemas.openxmlformats.org/officeDocument/2006/relationships/image" Target="../media/image234.jpeg"/><Relationship Id="rId17" Type="http://schemas.openxmlformats.org/officeDocument/2006/relationships/image" Target="../media/image233.jpeg"/><Relationship Id="rId16" Type="http://schemas.openxmlformats.org/officeDocument/2006/relationships/image" Target="../media/image232.jpeg"/><Relationship Id="rId15" Type="http://schemas.openxmlformats.org/officeDocument/2006/relationships/image" Target="../media/image231.jpeg"/><Relationship Id="rId14" Type="http://schemas.openxmlformats.org/officeDocument/2006/relationships/image" Target="../media/image230.jpeg"/><Relationship Id="rId13" Type="http://schemas.openxmlformats.org/officeDocument/2006/relationships/image" Target="../media/image229.jpeg"/><Relationship Id="rId12" Type="http://schemas.openxmlformats.org/officeDocument/2006/relationships/image" Target="../media/image228.jpeg"/><Relationship Id="rId11" Type="http://schemas.openxmlformats.org/officeDocument/2006/relationships/image" Target="../media/image227.jpeg"/><Relationship Id="rId10" Type="http://schemas.openxmlformats.org/officeDocument/2006/relationships/image" Target="../media/image226.jpeg"/><Relationship Id="rId1" Type="http://schemas.openxmlformats.org/officeDocument/2006/relationships/image" Target="../media/image217.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41.png"/><Relationship Id="rId2" Type="http://schemas.openxmlformats.org/officeDocument/2006/relationships/image" Target="../media/image240.png"/><Relationship Id="rId1" Type="http://schemas.openxmlformats.org/officeDocument/2006/relationships/image" Target="../media/image239.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2.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3.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4.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5.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6.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7.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48.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9.png"/></Relationships>
</file>

<file path=ppt/slides/_rels/slide4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55.png"/><Relationship Id="rId5" Type="http://schemas.openxmlformats.org/officeDocument/2006/relationships/image" Target="../media/image254.png"/><Relationship Id="rId4" Type="http://schemas.openxmlformats.org/officeDocument/2006/relationships/image" Target="../media/image253.png"/><Relationship Id="rId3" Type="http://schemas.openxmlformats.org/officeDocument/2006/relationships/image" Target="../media/image252.png"/><Relationship Id="rId2" Type="http://schemas.openxmlformats.org/officeDocument/2006/relationships/image" Target="../media/image251.png"/><Relationship Id="rId1" Type="http://schemas.openxmlformats.org/officeDocument/2006/relationships/image" Target="../media/image25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6.jpe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7.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9.jpeg"/><Relationship Id="rId1" Type="http://schemas.openxmlformats.org/officeDocument/2006/relationships/image" Target="../media/image258.jpe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0.jpe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4.jpeg"/><Relationship Id="rId2" Type="http://schemas.openxmlformats.org/officeDocument/2006/relationships/image" Target="../media/image263.jpeg"/><Relationship Id="rId1" Type="http://schemas.openxmlformats.org/officeDocument/2006/relationships/image" Target="../media/image262.jpeg"/></Relationships>
</file>

<file path=ppt/slides/_rels/slide5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67.png"/><Relationship Id="rId3" Type="http://schemas.openxmlformats.org/officeDocument/2006/relationships/image" Target="../media/image266.jpeg"/><Relationship Id="rId2" Type="http://schemas.openxmlformats.org/officeDocument/2006/relationships/hyperlink" Target="mailto:&#35831;&#23558;&#31616;&#21382;&#21457;&#36865;&#33267;hr@nucleisys.com" TargetMode="External"/><Relationship Id="rId1" Type="http://schemas.openxmlformats.org/officeDocument/2006/relationships/image" Target="../media/image265.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173321" y="6439381"/>
            <a:ext cx="815639" cy="256609"/>
          </a:xfrm>
          <a:prstGeom prst="rect">
            <a:avLst/>
          </a:prstGeom>
          <a:blipFill>
            <a:blip r:embed="rId1" cstate="print"/>
            <a:stretch>
              <a:fillRect/>
            </a:stretch>
          </a:blipFill>
        </p:spPr>
        <p:txBody>
          <a:bodyPr wrap="square" lIns="0" tIns="0" rIns="0" bIns="0" rtlCol="0"/>
          <a:lstStyle/>
          <a:p/>
        </p:txBody>
      </p:sp>
      <p:sp>
        <p:nvSpPr>
          <p:cNvPr id="3" name="object 3"/>
          <p:cNvSpPr/>
          <p:nvPr/>
        </p:nvSpPr>
        <p:spPr>
          <a:xfrm>
            <a:off x="0" y="0"/>
            <a:ext cx="12192000" cy="6858000"/>
          </a:xfrm>
          <a:prstGeom prst="rect">
            <a:avLst/>
          </a:prstGeom>
          <a:blipFill>
            <a:blip r:embed="rId2" cstate="print"/>
            <a:stretch>
              <a:fillRect/>
            </a:stretch>
          </a:blipFill>
        </p:spPr>
        <p:txBody>
          <a:bodyPr wrap="square" lIns="0" tIns="0" rIns="0" bIns="0" rtlCol="0"/>
          <a:lstStyle/>
          <a:p/>
        </p:txBody>
      </p:sp>
      <p:sp>
        <p:nvSpPr>
          <p:cNvPr id="4" name="object 4"/>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solidFill>
            <a:srgbClr val="000000">
              <a:alpha val="5099"/>
            </a:srgbClr>
          </a:solidFill>
        </p:spPr>
        <p:txBody>
          <a:bodyPr wrap="square" lIns="0" tIns="0" rIns="0" bIns="0" rtlCol="0"/>
          <a:lstStyle/>
          <a:p/>
        </p:txBody>
      </p:sp>
      <p:sp>
        <p:nvSpPr>
          <p:cNvPr id="5" name="object 5"/>
          <p:cNvSpPr/>
          <p:nvPr/>
        </p:nvSpPr>
        <p:spPr>
          <a:xfrm>
            <a:off x="5053584" y="4194047"/>
            <a:ext cx="7138670" cy="2136775"/>
          </a:xfrm>
          <a:custGeom>
            <a:avLst/>
            <a:gdLst/>
            <a:ahLst/>
            <a:cxnLst/>
            <a:rect l="l" t="t" r="r" b="b"/>
            <a:pathLst>
              <a:path w="7138670" h="2136775">
                <a:moveTo>
                  <a:pt x="0" y="0"/>
                </a:moveTo>
                <a:lnTo>
                  <a:pt x="7138415" y="0"/>
                </a:lnTo>
                <a:lnTo>
                  <a:pt x="7138415" y="2136648"/>
                </a:lnTo>
                <a:lnTo>
                  <a:pt x="0" y="2136648"/>
                </a:lnTo>
                <a:lnTo>
                  <a:pt x="0" y="0"/>
                </a:lnTo>
                <a:close/>
              </a:path>
            </a:pathLst>
          </a:custGeom>
          <a:solidFill>
            <a:srgbClr val="000000">
              <a:alpha val="47099"/>
            </a:srgbClr>
          </a:solidFill>
        </p:spPr>
        <p:txBody>
          <a:bodyPr wrap="square" lIns="0" tIns="0" rIns="0" bIns="0" rtlCol="0"/>
          <a:lstStyle/>
          <a:p/>
        </p:txBody>
      </p:sp>
      <p:sp>
        <p:nvSpPr>
          <p:cNvPr id="6" name="object 6"/>
          <p:cNvSpPr txBox="1">
            <a:spLocks noGrp="1"/>
          </p:cNvSpPr>
          <p:nvPr>
            <p:ph type="title"/>
          </p:nvPr>
        </p:nvSpPr>
        <p:spPr>
          <a:xfrm>
            <a:off x="347345" y="4406900"/>
            <a:ext cx="11497310" cy="1242695"/>
          </a:xfrm>
          <a:prstGeom prst="rect">
            <a:avLst/>
          </a:prstGeom>
        </p:spPr>
        <p:txBody>
          <a:bodyPr vert="horz" wrap="square" lIns="0" tIns="12065" rIns="0" bIns="0" rtlCol="0">
            <a:spAutoFit/>
          </a:bodyPr>
          <a:lstStyle/>
          <a:p>
            <a:pPr marL="4319905" marR="5080" indent="-1313180" algn="r" eaLnBrk="1" fontAlgn="auto" latinLnBrk="0" hangingPunct="1">
              <a:lnSpc>
                <a:spcPct val="100000"/>
              </a:lnSpc>
              <a:spcBef>
                <a:spcPts val="0"/>
              </a:spcBef>
            </a:pPr>
            <a:r>
              <a:rPr spc="100" dirty="0"/>
              <a:t>面向物联网的开源R</a:t>
            </a:r>
            <a:r>
              <a:rPr spc="90" dirty="0"/>
              <a:t>I</a:t>
            </a:r>
            <a:r>
              <a:rPr spc="95" dirty="0"/>
              <a:t>S</a:t>
            </a:r>
            <a:r>
              <a:rPr spc="100" dirty="0"/>
              <a:t>C</a:t>
            </a:r>
            <a:r>
              <a:rPr lang="en-US" spc="100" dirty="0"/>
              <a:t>-</a:t>
            </a:r>
            <a:r>
              <a:rPr spc="-5" dirty="0"/>
              <a:t>V</a:t>
            </a:r>
            <a:br>
              <a:rPr spc="-5" dirty="0"/>
            </a:br>
            <a:r>
              <a:rPr spc="100" dirty="0"/>
              <a:t>处理器的设计和开</a:t>
            </a:r>
            <a:r>
              <a:rPr spc="-5" dirty="0"/>
              <a:t>发</a:t>
            </a:r>
            <a:endParaRPr spc="-5" dirty="0"/>
          </a:p>
        </p:txBody>
      </p:sp>
      <p:sp>
        <p:nvSpPr>
          <p:cNvPr id="7" name="object 7"/>
          <p:cNvSpPr txBox="1"/>
          <p:nvPr/>
        </p:nvSpPr>
        <p:spPr>
          <a:xfrm>
            <a:off x="9806940" y="5852159"/>
            <a:ext cx="1878964" cy="331470"/>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FFFFF"/>
                </a:solidFill>
                <a:latin typeface="微软雅黑" panose="020B0503020204020204" charset="-122"/>
                <a:cs typeface="微软雅黑" panose="020B0503020204020204" charset="-122"/>
              </a:rPr>
              <a:t>芯来科</a:t>
            </a:r>
            <a:r>
              <a:rPr sz="2000" spc="5" dirty="0">
                <a:solidFill>
                  <a:srgbClr val="FFFFFF"/>
                </a:solidFill>
                <a:latin typeface="微软雅黑" panose="020B0503020204020204" charset="-122"/>
                <a:cs typeface="微软雅黑" panose="020B0503020204020204" charset="-122"/>
              </a:rPr>
              <a:t>技</a:t>
            </a:r>
            <a:r>
              <a:rPr sz="2000" spc="-95" dirty="0">
                <a:solidFill>
                  <a:srgbClr val="FFFFFF"/>
                </a:solidFill>
                <a:latin typeface="微软雅黑" panose="020B0503020204020204" charset="-122"/>
                <a:cs typeface="微软雅黑" panose="020B0503020204020204" charset="-122"/>
              </a:rPr>
              <a:t> </a:t>
            </a:r>
            <a:r>
              <a:rPr sz="2000" dirty="0">
                <a:solidFill>
                  <a:srgbClr val="FFFFFF"/>
                </a:solidFill>
                <a:latin typeface="微软雅黑" panose="020B0503020204020204" charset="-122"/>
                <a:cs typeface="微软雅黑" panose="020B0503020204020204" charset="-122"/>
              </a:rPr>
              <a:t>胡振</a:t>
            </a:r>
            <a:r>
              <a:rPr sz="2000" spc="5" dirty="0">
                <a:solidFill>
                  <a:srgbClr val="FFFFFF"/>
                </a:solidFill>
                <a:latin typeface="微软雅黑" panose="020B0503020204020204" charset="-122"/>
                <a:cs typeface="微软雅黑" panose="020B0503020204020204" charset="-122"/>
              </a:rPr>
              <a:t>波</a:t>
            </a:r>
            <a:endParaRPr sz="2000">
              <a:latin typeface="微软雅黑" panose="020B0503020204020204" charset="-122"/>
              <a:cs typeface="微软雅黑" panose="020B0503020204020204" charset="-122"/>
            </a:endParaRPr>
          </a:p>
        </p:txBody>
      </p:sp>
      <p:sp>
        <p:nvSpPr>
          <p:cNvPr id="8" name="object 8"/>
          <p:cNvSpPr/>
          <p:nvPr/>
        </p:nvSpPr>
        <p:spPr>
          <a:xfrm>
            <a:off x="230124" y="144779"/>
            <a:ext cx="1546859" cy="626364"/>
          </a:xfrm>
          <a:prstGeom prst="rect">
            <a:avLst/>
          </a:prstGeom>
          <a:blipFill>
            <a:blip r:embed="rId3" cstate="print"/>
            <a:stretch>
              <a:fillRect/>
            </a:stretch>
          </a:blipFill>
        </p:spPr>
        <p:txBody>
          <a:bodyPr wrap="square" lIns="0" tIns="0" rIns="0" bIns="0" rtlCol="0"/>
          <a:lstStyl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18542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自我介绍</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692150" y="1554480"/>
            <a:ext cx="7439659" cy="3317240"/>
          </a:xfrm>
          <a:prstGeom prst="rect">
            <a:avLst/>
          </a:prstGeom>
        </p:spPr>
        <p:txBody>
          <a:bodyPr vert="horz" wrap="square" lIns="0" tIns="149860" rIns="0" bIns="0" rtlCol="0">
            <a:spAutoFit/>
          </a:bodyPr>
          <a:lstStyle/>
          <a:p>
            <a:pPr marL="355600" indent="-342900">
              <a:lnSpc>
                <a:spcPct val="100000"/>
              </a:lnSpc>
              <a:spcBef>
                <a:spcPts val="1180"/>
              </a:spcBef>
              <a:buFont typeface="Wingdings" panose="05000000000000000000"/>
              <a:buChar char=""/>
              <a:tabLst>
                <a:tab pos="354965" algn="l"/>
                <a:tab pos="355600" algn="l"/>
              </a:tabLst>
            </a:pPr>
            <a:r>
              <a:rPr sz="1800" dirty="0">
                <a:latin typeface="微软雅黑" panose="020B0503020204020204" charset="-122"/>
                <a:cs typeface="微软雅黑" panose="020B0503020204020204" charset="-122"/>
              </a:rPr>
              <a:t>国内领先的</a:t>
            </a:r>
            <a:r>
              <a:rPr sz="1800" spc="-5" dirty="0">
                <a:latin typeface="微软雅黑" panose="020B0503020204020204" charset="-122"/>
                <a:cs typeface="微软雅黑" panose="020B0503020204020204" charset="-122"/>
              </a:rPr>
              <a:t>RISC-V</a:t>
            </a:r>
            <a:r>
              <a:rPr sz="1800" dirty="0">
                <a:latin typeface="微软雅黑" panose="020B0503020204020204" charset="-122"/>
                <a:cs typeface="微软雅黑" panose="020B0503020204020204" charset="-122"/>
              </a:rPr>
              <a:t>处理器内核公司芯来科技</a:t>
            </a:r>
            <a:r>
              <a:rPr sz="1800" spc="-5" dirty="0">
                <a:latin typeface="微软雅黑" panose="020B0503020204020204" charset="-122"/>
                <a:cs typeface="微软雅黑" panose="020B0503020204020204" charset="-122"/>
              </a:rPr>
              <a:t>CEO</a:t>
            </a:r>
            <a:r>
              <a:rPr sz="1800" dirty="0">
                <a:latin typeface="微软雅黑" panose="020B0503020204020204" charset="-122"/>
                <a:cs typeface="微软雅黑" panose="020B0503020204020204" charset="-122"/>
              </a:rPr>
              <a:t>兼创始人</a:t>
            </a:r>
            <a:endParaRPr sz="1800">
              <a:latin typeface="微软雅黑" panose="020B0503020204020204" charset="-122"/>
              <a:cs typeface="微软雅黑" panose="020B0503020204020204" charset="-122"/>
            </a:endParaRPr>
          </a:p>
          <a:p>
            <a:pPr marL="355600" indent="-342900">
              <a:lnSpc>
                <a:spcPct val="100000"/>
              </a:lnSpc>
              <a:spcBef>
                <a:spcPts val="1080"/>
              </a:spcBef>
              <a:buFont typeface="Wingdings" panose="05000000000000000000"/>
              <a:buChar char=""/>
              <a:tabLst>
                <a:tab pos="354965" algn="l"/>
                <a:tab pos="355600" algn="l"/>
              </a:tabLst>
            </a:pPr>
            <a:r>
              <a:rPr sz="1800" dirty="0">
                <a:latin typeface="微软雅黑" panose="020B0503020204020204" charset="-122"/>
                <a:cs typeface="微软雅黑" panose="020B0503020204020204" charset="-122"/>
              </a:rPr>
              <a:t>国内第一颗</a:t>
            </a:r>
            <a:r>
              <a:rPr sz="1800" spc="-5" dirty="0">
                <a:latin typeface="微软雅黑" panose="020B0503020204020204" charset="-122"/>
                <a:cs typeface="微软雅黑" panose="020B0503020204020204" charset="-122"/>
              </a:rPr>
              <a:t>RISC-V</a:t>
            </a:r>
            <a:r>
              <a:rPr sz="1800" dirty="0">
                <a:latin typeface="微软雅黑" panose="020B0503020204020204" charset="-122"/>
                <a:cs typeface="微软雅黑" panose="020B0503020204020204" charset="-122"/>
              </a:rPr>
              <a:t>开源处理器蜂鸟</a:t>
            </a:r>
            <a:r>
              <a:rPr sz="1800" spc="-5" dirty="0">
                <a:latin typeface="微软雅黑" panose="020B0503020204020204" charset="-122"/>
                <a:cs typeface="微软雅黑" panose="020B0503020204020204" charset="-122"/>
              </a:rPr>
              <a:t>E203</a:t>
            </a:r>
            <a:r>
              <a:rPr sz="1800" dirty="0">
                <a:latin typeface="微软雅黑" panose="020B0503020204020204" charset="-122"/>
                <a:cs typeface="微软雅黑" panose="020B0503020204020204" charset="-122"/>
              </a:rPr>
              <a:t>作者；第一本</a:t>
            </a:r>
            <a:r>
              <a:rPr sz="1800" spc="-5" dirty="0">
                <a:latin typeface="微软雅黑" panose="020B0503020204020204" charset="-122"/>
                <a:cs typeface="微软雅黑" panose="020B0503020204020204" charset="-122"/>
              </a:rPr>
              <a:t>RISC-V</a:t>
            </a:r>
            <a:r>
              <a:rPr sz="1800" dirty="0">
                <a:latin typeface="微软雅黑" panose="020B0503020204020204" charset="-122"/>
                <a:cs typeface="微软雅黑" panose="020B0503020204020204" charset="-122"/>
              </a:rPr>
              <a:t>中文书籍</a:t>
            </a:r>
            <a:endParaRPr sz="1800">
              <a:latin typeface="微软雅黑" panose="020B0503020204020204" charset="-122"/>
              <a:cs typeface="微软雅黑" panose="020B0503020204020204" charset="-122"/>
            </a:endParaRPr>
          </a:p>
          <a:p>
            <a:pPr marL="355600" marR="55880">
              <a:lnSpc>
                <a:spcPct val="150000"/>
              </a:lnSpc>
            </a:pPr>
            <a:r>
              <a:rPr sz="1800" dirty="0">
                <a:latin typeface="微软雅黑" panose="020B0503020204020204" charset="-122"/>
                <a:cs typeface="微软雅黑" panose="020B0503020204020204" charset="-122"/>
              </a:rPr>
              <a:t>《手把手教你设计C</a:t>
            </a:r>
            <a:r>
              <a:rPr sz="1800" spc="-5" dirty="0">
                <a:latin typeface="微软雅黑" panose="020B0503020204020204" charset="-122"/>
                <a:cs typeface="微软雅黑" panose="020B0503020204020204" charset="-122"/>
              </a:rPr>
              <a:t>P</a:t>
            </a:r>
            <a:r>
              <a:rPr sz="1800" dirty="0">
                <a:latin typeface="微软雅黑" panose="020B0503020204020204" charset="-122"/>
                <a:cs typeface="微软雅黑" panose="020B0503020204020204" charset="-122"/>
              </a:rPr>
              <a:t>U—</a:t>
            </a:r>
            <a:r>
              <a:rPr sz="1800" spc="-5" dirty="0">
                <a:latin typeface="微软雅黑" panose="020B0503020204020204" charset="-122"/>
                <a:cs typeface="微软雅黑" panose="020B0503020204020204" charset="-122"/>
              </a:rPr>
              <a:t>R</a:t>
            </a:r>
            <a:r>
              <a:rPr sz="1800" dirty="0">
                <a:latin typeface="微软雅黑" panose="020B0503020204020204" charset="-122"/>
                <a:cs typeface="微软雅黑" panose="020B0503020204020204" charset="-122"/>
              </a:rPr>
              <a:t>ISC-</a:t>
            </a:r>
            <a:r>
              <a:rPr sz="1800" spc="-5" dirty="0">
                <a:latin typeface="微软雅黑" panose="020B0503020204020204" charset="-122"/>
                <a:cs typeface="微软雅黑" panose="020B0503020204020204" charset="-122"/>
              </a:rPr>
              <a:t>V</a:t>
            </a:r>
            <a:r>
              <a:rPr sz="1800" dirty="0">
                <a:latin typeface="微软雅黑" panose="020B0503020204020204" charset="-122"/>
                <a:cs typeface="微软雅黑" panose="020B0503020204020204" charset="-122"/>
              </a:rPr>
              <a:t>处理器篇》和第二本书《</a:t>
            </a:r>
            <a:r>
              <a:rPr sz="1800" spc="-5" dirty="0">
                <a:latin typeface="微软雅黑" panose="020B0503020204020204" charset="-122"/>
                <a:cs typeface="微软雅黑" panose="020B0503020204020204" charset="-122"/>
              </a:rPr>
              <a:t>R</a:t>
            </a:r>
            <a:r>
              <a:rPr sz="1800" dirty="0">
                <a:latin typeface="微软雅黑" panose="020B0503020204020204" charset="-122"/>
                <a:cs typeface="微软雅黑" panose="020B0503020204020204" charset="-122"/>
              </a:rPr>
              <a:t>ISC-</a:t>
            </a:r>
            <a:r>
              <a:rPr sz="1800" spc="-5" dirty="0">
                <a:latin typeface="微软雅黑" panose="020B0503020204020204" charset="-122"/>
                <a:cs typeface="微软雅黑" panose="020B0503020204020204" charset="-122"/>
              </a:rPr>
              <a:t>V</a:t>
            </a:r>
            <a:r>
              <a:rPr sz="1800" dirty="0">
                <a:latin typeface="微软雅黑" panose="020B0503020204020204" charset="-122"/>
                <a:cs typeface="微软雅黑" panose="020B0503020204020204" charset="-122"/>
              </a:rPr>
              <a:t>架构 与嵌入式开发快速入门》作者</a:t>
            </a:r>
            <a:endParaRPr sz="1800">
              <a:latin typeface="微软雅黑" panose="020B0503020204020204" charset="-122"/>
              <a:cs typeface="微软雅黑" panose="020B0503020204020204" charset="-122"/>
            </a:endParaRPr>
          </a:p>
          <a:p>
            <a:pPr marL="355600" marR="5080" indent="-342900" algn="just">
              <a:lnSpc>
                <a:spcPct val="150000"/>
              </a:lnSpc>
              <a:buFont typeface="Wingdings" panose="05000000000000000000"/>
              <a:buChar char=""/>
              <a:tabLst>
                <a:tab pos="355600" algn="l"/>
              </a:tabLst>
            </a:pPr>
            <a:r>
              <a:rPr sz="1800" dirty="0">
                <a:latin typeface="微软雅黑" panose="020B0503020204020204" charset="-122"/>
                <a:cs typeface="微软雅黑" panose="020B0503020204020204" charset="-122"/>
              </a:rPr>
              <a:t>业界超过</a:t>
            </a:r>
            <a:r>
              <a:rPr sz="1800" spc="-5" dirty="0">
                <a:latin typeface="微软雅黑" panose="020B0503020204020204" charset="-122"/>
                <a:cs typeface="微软雅黑" panose="020B0503020204020204" charset="-122"/>
              </a:rPr>
              <a:t>8</a:t>
            </a:r>
            <a:r>
              <a:rPr sz="1800" dirty="0">
                <a:latin typeface="微软雅黑" panose="020B0503020204020204" charset="-122"/>
                <a:cs typeface="微软雅黑" panose="020B0503020204020204" charset="-122"/>
              </a:rPr>
              <a:t>年C</a:t>
            </a:r>
            <a:r>
              <a:rPr sz="1800" spc="-5" dirty="0">
                <a:latin typeface="微软雅黑" panose="020B0503020204020204" charset="-122"/>
                <a:cs typeface="微软雅黑" panose="020B0503020204020204" charset="-122"/>
              </a:rPr>
              <a:t>P</a:t>
            </a:r>
            <a:r>
              <a:rPr sz="1800" dirty="0">
                <a:latin typeface="微软雅黑" panose="020B0503020204020204" charset="-122"/>
                <a:cs typeface="微软雅黑" panose="020B0503020204020204" charset="-122"/>
              </a:rPr>
              <a:t>U以及超过</a:t>
            </a:r>
            <a:r>
              <a:rPr sz="1800" spc="-5" dirty="0">
                <a:latin typeface="微软雅黑" panose="020B0503020204020204" charset="-122"/>
                <a:cs typeface="微软雅黑" panose="020B0503020204020204" charset="-122"/>
              </a:rPr>
              <a:t>10</a:t>
            </a:r>
            <a:r>
              <a:rPr sz="1800" dirty="0">
                <a:latin typeface="微软雅黑" panose="020B0503020204020204" charset="-122"/>
                <a:cs typeface="微软雅黑" panose="020B0503020204020204" charset="-122"/>
              </a:rPr>
              <a:t>年</a:t>
            </a:r>
            <a:r>
              <a:rPr sz="1800" spc="-5" dirty="0">
                <a:latin typeface="微软雅黑" panose="020B0503020204020204" charset="-122"/>
                <a:cs typeface="微软雅黑" panose="020B0503020204020204" charset="-122"/>
              </a:rPr>
              <a:t>A</a:t>
            </a:r>
            <a:r>
              <a:rPr sz="1800" dirty="0">
                <a:latin typeface="微软雅黑" panose="020B0503020204020204" charset="-122"/>
                <a:cs typeface="微软雅黑" panose="020B0503020204020204" charset="-122"/>
              </a:rPr>
              <a:t>SIC设计与验证经验。历任Ma</a:t>
            </a:r>
            <a:r>
              <a:rPr sz="1800" spc="70" dirty="0">
                <a:latin typeface="微软雅黑" panose="020B0503020204020204" charset="-122"/>
                <a:cs typeface="微软雅黑" panose="020B0503020204020204" charset="-122"/>
              </a:rPr>
              <a:t>r</a:t>
            </a:r>
            <a:r>
              <a:rPr sz="1800" spc="-15" dirty="0">
                <a:latin typeface="微软雅黑" panose="020B0503020204020204" charset="-122"/>
                <a:cs typeface="微软雅黑" panose="020B0503020204020204" charset="-122"/>
              </a:rPr>
              <a:t>v</a:t>
            </a:r>
            <a:r>
              <a:rPr sz="1800" spc="-5" dirty="0">
                <a:latin typeface="微软雅黑" panose="020B0503020204020204" charset="-122"/>
                <a:cs typeface="微软雅黑" panose="020B0503020204020204" charset="-122"/>
              </a:rPr>
              <a:t>e</a:t>
            </a:r>
            <a:r>
              <a:rPr sz="1800" dirty="0">
                <a:latin typeface="微软雅黑" panose="020B0503020204020204" charset="-122"/>
                <a:cs typeface="微软雅黑" panose="020B0503020204020204" charset="-122"/>
              </a:rPr>
              <a:t>ll</a:t>
            </a:r>
            <a:r>
              <a:rPr sz="1800" spc="-5" dirty="0">
                <a:latin typeface="微软雅黑" panose="020B0503020204020204" charset="-122"/>
                <a:cs typeface="微软雅黑" panose="020B0503020204020204" charset="-122"/>
              </a:rPr>
              <a:t>(</a:t>
            </a:r>
            <a:r>
              <a:rPr sz="1800" dirty="0">
                <a:latin typeface="微软雅黑" panose="020B0503020204020204" charset="-122"/>
                <a:cs typeface="微软雅黑" panose="020B0503020204020204" charset="-122"/>
              </a:rPr>
              <a:t>美 满电子科技</a:t>
            </a:r>
            <a:r>
              <a:rPr sz="1800" spc="-5" dirty="0">
                <a:latin typeface="微软雅黑" panose="020B0503020204020204" charset="-122"/>
                <a:cs typeface="微软雅黑" panose="020B0503020204020204" charset="-122"/>
              </a:rPr>
              <a:t>)CPU</a:t>
            </a:r>
            <a:r>
              <a:rPr sz="1800" dirty="0">
                <a:latin typeface="微软雅黑" panose="020B0503020204020204" charset="-122"/>
                <a:cs typeface="微软雅黑" panose="020B0503020204020204" charset="-122"/>
              </a:rPr>
              <a:t>高级设计工程师，</a:t>
            </a:r>
            <a:r>
              <a:rPr sz="1800" spc="-25" dirty="0">
                <a:latin typeface="微软雅黑" panose="020B0503020204020204" charset="-122"/>
                <a:cs typeface="微软雅黑" panose="020B0503020204020204" charset="-122"/>
              </a:rPr>
              <a:t> </a:t>
            </a:r>
            <a:r>
              <a:rPr sz="1800" spc="-10" dirty="0">
                <a:latin typeface="微软雅黑" panose="020B0503020204020204" charset="-122"/>
                <a:cs typeface="微软雅黑" panose="020B0503020204020204" charset="-122"/>
              </a:rPr>
              <a:t>Synopsys(</a:t>
            </a:r>
            <a:r>
              <a:rPr sz="1800" dirty="0">
                <a:latin typeface="微软雅黑" panose="020B0503020204020204" charset="-122"/>
                <a:cs typeface="微软雅黑" panose="020B0503020204020204" charset="-122"/>
              </a:rPr>
              <a:t>新思科技</a:t>
            </a:r>
            <a:r>
              <a:rPr sz="1800" spc="-15" dirty="0">
                <a:latin typeface="微软雅黑" panose="020B0503020204020204" charset="-122"/>
                <a:cs typeface="微软雅黑" panose="020B0503020204020204" charset="-122"/>
              </a:rPr>
              <a:t>)ARC</a:t>
            </a:r>
            <a:r>
              <a:rPr sz="1800" dirty="0">
                <a:latin typeface="微软雅黑" panose="020B0503020204020204" charset="-122"/>
                <a:cs typeface="微软雅黑" panose="020B0503020204020204" charset="-122"/>
              </a:rPr>
              <a:t>系列处理 器内核研发经理等职务</a:t>
            </a:r>
            <a:endParaRPr sz="1800">
              <a:latin typeface="微软雅黑" panose="020B0503020204020204" charset="-122"/>
              <a:cs typeface="微软雅黑" panose="020B0503020204020204" charset="-122"/>
            </a:endParaRPr>
          </a:p>
          <a:p>
            <a:pPr marL="355600" indent="-342900">
              <a:lnSpc>
                <a:spcPct val="100000"/>
              </a:lnSpc>
              <a:spcBef>
                <a:spcPts val="1080"/>
              </a:spcBef>
              <a:buFont typeface="Wingdings" panose="05000000000000000000"/>
              <a:buChar char=""/>
              <a:tabLst>
                <a:tab pos="354965" algn="l"/>
                <a:tab pos="355600" algn="l"/>
              </a:tabLst>
            </a:pPr>
            <a:r>
              <a:rPr sz="1800" dirty="0">
                <a:latin typeface="微软雅黑" panose="020B0503020204020204" charset="-122"/>
                <a:cs typeface="微软雅黑" panose="020B0503020204020204" charset="-122"/>
              </a:rPr>
              <a:t>上海交通大学微电子学院硕士，电子工程系学士</a:t>
            </a:r>
            <a:endParaRPr sz="1800">
              <a:latin typeface="微软雅黑" panose="020B0503020204020204" charset="-122"/>
              <a:cs typeface="微软雅黑" panose="020B0503020204020204" charset="-122"/>
            </a:endParaRPr>
          </a:p>
        </p:txBody>
      </p:sp>
      <p:sp>
        <p:nvSpPr>
          <p:cNvPr id="5" name="object 5"/>
          <p:cNvSpPr/>
          <p:nvPr/>
        </p:nvSpPr>
        <p:spPr>
          <a:xfrm>
            <a:off x="8767571" y="1613916"/>
            <a:ext cx="2513076" cy="3349752"/>
          </a:xfrm>
          <a:prstGeom prst="rect">
            <a:avLst/>
          </a:prstGeom>
          <a:blipFill>
            <a:blip r:embed="rId1" cstate="print"/>
            <a:stretch>
              <a:fillRect/>
            </a:stretch>
          </a:blipFill>
        </p:spPr>
        <p:txBody>
          <a:bodyPr wrap="square" lIns="0" tIns="0" rIns="0" bIns="0" rtlCol="0"/>
          <a:lstStyle/>
          <a:p/>
        </p:txBody>
      </p:sp>
      <p:sp>
        <p:nvSpPr>
          <p:cNvPr id="6" name="object 6"/>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22909" cy="443230"/>
          </a:xfrm>
          <a:custGeom>
            <a:avLst/>
            <a:gdLst/>
            <a:ahLst/>
            <a:cxnLst/>
            <a:rect l="l" t="t" r="r" b="b"/>
            <a:pathLst>
              <a:path w="422909" h="443230">
                <a:moveTo>
                  <a:pt x="0" y="443114"/>
                </a:moveTo>
                <a:lnTo>
                  <a:pt x="0" y="0"/>
                </a:lnTo>
                <a:lnTo>
                  <a:pt x="422640" y="0"/>
                </a:lnTo>
                <a:lnTo>
                  <a:pt x="0" y="443114"/>
                </a:lnTo>
                <a:close/>
              </a:path>
            </a:pathLst>
          </a:custGeom>
          <a:solidFill>
            <a:srgbClr val="C00000"/>
          </a:solidFill>
        </p:spPr>
        <p:txBody>
          <a:bodyPr wrap="square" lIns="0" tIns="0" rIns="0" bIns="0" rtlCol="0"/>
          <a:lstStyle/>
          <a:p/>
        </p:txBody>
      </p:sp>
      <p:sp>
        <p:nvSpPr>
          <p:cNvPr id="3" name="object 3"/>
          <p:cNvSpPr/>
          <p:nvPr/>
        </p:nvSpPr>
        <p:spPr>
          <a:xfrm>
            <a:off x="2415539" y="1133855"/>
            <a:ext cx="6791325" cy="510540"/>
          </a:xfrm>
          <a:custGeom>
            <a:avLst/>
            <a:gdLst/>
            <a:ahLst/>
            <a:cxnLst/>
            <a:rect l="l" t="t" r="r" b="b"/>
            <a:pathLst>
              <a:path w="6791325" h="510539">
                <a:moveTo>
                  <a:pt x="0" y="0"/>
                </a:moveTo>
                <a:lnTo>
                  <a:pt x="6790944" y="0"/>
                </a:lnTo>
                <a:lnTo>
                  <a:pt x="6790944" y="510540"/>
                </a:lnTo>
                <a:lnTo>
                  <a:pt x="0" y="510540"/>
                </a:lnTo>
                <a:lnTo>
                  <a:pt x="0" y="0"/>
                </a:lnTo>
                <a:close/>
              </a:path>
            </a:pathLst>
          </a:custGeom>
          <a:solidFill>
            <a:srgbClr val="D9D9D9"/>
          </a:solidFill>
        </p:spPr>
        <p:txBody>
          <a:bodyPr wrap="square" lIns="0" tIns="0" rIns="0" bIns="0" rtlCol="0"/>
          <a:lstStyle/>
          <a:p/>
        </p:txBody>
      </p:sp>
      <p:sp>
        <p:nvSpPr>
          <p:cNvPr id="4" name="object 4"/>
          <p:cNvSpPr/>
          <p:nvPr/>
        </p:nvSpPr>
        <p:spPr>
          <a:xfrm>
            <a:off x="8938259" y="1134021"/>
            <a:ext cx="522605" cy="511809"/>
          </a:xfrm>
          <a:custGeom>
            <a:avLst/>
            <a:gdLst/>
            <a:ahLst/>
            <a:cxnLst/>
            <a:rect l="l" t="t" r="r" b="b"/>
            <a:pathLst>
              <a:path w="522604" h="511810">
                <a:moveTo>
                  <a:pt x="261353" y="511327"/>
                </a:moveTo>
                <a:lnTo>
                  <a:pt x="214404" y="507208"/>
                </a:lnTo>
                <a:lnTo>
                  <a:pt x="170212" y="495332"/>
                </a:lnTo>
                <a:lnTo>
                  <a:pt x="129514" y="476421"/>
                </a:lnTo>
                <a:lnTo>
                  <a:pt x="93046" y="451198"/>
                </a:lnTo>
                <a:lnTo>
                  <a:pt x="61546" y="420384"/>
                </a:lnTo>
                <a:lnTo>
                  <a:pt x="35753" y="384701"/>
                </a:lnTo>
                <a:lnTo>
                  <a:pt x="16433" y="344968"/>
                </a:lnTo>
                <a:lnTo>
                  <a:pt x="4260" y="301762"/>
                </a:lnTo>
                <a:lnTo>
                  <a:pt x="0" y="255866"/>
                </a:lnTo>
                <a:lnTo>
                  <a:pt x="4260" y="209850"/>
                </a:lnTo>
                <a:lnTo>
                  <a:pt x="16433" y="166550"/>
                </a:lnTo>
                <a:lnTo>
                  <a:pt x="35782" y="126685"/>
                </a:lnTo>
                <a:lnTo>
                  <a:pt x="61607" y="90943"/>
                </a:lnTo>
                <a:lnTo>
                  <a:pt x="93090" y="60129"/>
                </a:lnTo>
                <a:lnTo>
                  <a:pt x="129541" y="34905"/>
                </a:lnTo>
                <a:lnTo>
                  <a:pt x="170225" y="15995"/>
                </a:lnTo>
                <a:lnTo>
                  <a:pt x="214408" y="4119"/>
                </a:lnTo>
                <a:lnTo>
                  <a:pt x="261353" y="0"/>
                </a:lnTo>
                <a:lnTo>
                  <a:pt x="308298" y="4119"/>
                </a:lnTo>
                <a:lnTo>
                  <a:pt x="352485" y="15997"/>
                </a:lnTo>
                <a:lnTo>
                  <a:pt x="393177" y="34913"/>
                </a:lnTo>
                <a:lnTo>
                  <a:pt x="429634" y="60146"/>
                </a:lnTo>
                <a:lnTo>
                  <a:pt x="461118" y="90977"/>
                </a:lnTo>
                <a:lnTo>
                  <a:pt x="486888" y="126685"/>
                </a:lnTo>
                <a:lnTo>
                  <a:pt x="506176" y="166454"/>
                </a:lnTo>
                <a:lnTo>
                  <a:pt x="518308" y="209707"/>
                </a:lnTo>
                <a:lnTo>
                  <a:pt x="522516" y="255663"/>
                </a:lnTo>
                <a:lnTo>
                  <a:pt x="518308" y="301619"/>
                </a:lnTo>
                <a:lnTo>
                  <a:pt x="506176" y="344872"/>
                </a:lnTo>
                <a:lnTo>
                  <a:pt x="486859" y="384701"/>
                </a:lnTo>
                <a:lnTo>
                  <a:pt x="461057" y="420419"/>
                </a:lnTo>
                <a:lnTo>
                  <a:pt x="429590" y="451216"/>
                </a:lnTo>
                <a:lnTo>
                  <a:pt x="393149" y="476429"/>
                </a:lnTo>
                <a:lnTo>
                  <a:pt x="352472" y="495334"/>
                </a:lnTo>
                <a:lnTo>
                  <a:pt x="308293" y="507208"/>
                </a:lnTo>
                <a:lnTo>
                  <a:pt x="261353" y="511327"/>
                </a:lnTo>
                <a:close/>
              </a:path>
            </a:pathLst>
          </a:custGeom>
          <a:solidFill>
            <a:srgbClr val="D9D9D9"/>
          </a:solidFill>
        </p:spPr>
        <p:txBody>
          <a:bodyPr wrap="square" lIns="0" tIns="0" rIns="0" bIns="0" rtlCol="0"/>
          <a:lstStyle/>
          <a:p/>
        </p:txBody>
      </p:sp>
      <p:sp>
        <p:nvSpPr>
          <p:cNvPr id="5" name="object 5"/>
          <p:cNvSpPr/>
          <p:nvPr/>
        </p:nvSpPr>
        <p:spPr>
          <a:xfrm>
            <a:off x="2119883" y="1133475"/>
            <a:ext cx="522605" cy="511809"/>
          </a:xfrm>
          <a:custGeom>
            <a:avLst/>
            <a:gdLst/>
            <a:ahLst/>
            <a:cxnLst/>
            <a:rect l="l" t="t" r="r" b="b"/>
            <a:pathLst>
              <a:path w="522605" h="511810">
                <a:moveTo>
                  <a:pt x="260921" y="511327"/>
                </a:moveTo>
                <a:lnTo>
                  <a:pt x="213970" y="507208"/>
                </a:lnTo>
                <a:lnTo>
                  <a:pt x="169772" y="495332"/>
                </a:lnTo>
                <a:lnTo>
                  <a:pt x="129068" y="476421"/>
                </a:lnTo>
                <a:lnTo>
                  <a:pt x="92670" y="451264"/>
                </a:lnTo>
                <a:lnTo>
                  <a:pt x="61213" y="420512"/>
                </a:lnTo>
                <a:lnTo>
                  <a:pt x="35478" y="384923"/>
                </a:lnTo>
                <a:lnTo>
                  <a:pt x="16204" y="345225"/>
                </a:lnTo>
                <a:lnTo>
                  <a:pt x="4132" y="302145"/>
                </a:lnTo>
                <a:lnTo>
                  <a:pt x="0" y="256412"/>
                </a:lnTo>
                <a:lnTo>
                  <a:pt x="4132" y="210234"/>
                </a:lnTo>
                <a:lnTo>
                  <a:pt x="16204" y="166807"/>
                </a:lnTo>
                <a:lnTo>
                  <a:pt x="35478" y="126847"/>
                </a:lnTo>
                <a:lnTo>
                  <a:pt x="61213" y="91071"/>
                </a:lnTo>
                <a:lnTo>
                  <a:pt x="92670" y="60194"/>
                </a:lnTo>
                <a:lnTo>
                  <a:pt x="129168" y="34905"/>
                </a:lnTo>
                <a:lnTo>
                  <a:pt x="169820" y="15995"/>
                </a:lnTo>
                <a:lnTo>
                  <a:pt x="213986" y="4119"/>
                </a:lnTo>
                <a:lnTo>
                  <a:pt x="260921" y="0"/>
                </a:lnTo>
                <a:lnTo>
                  <a:pt x="307869" y="4120"/>
                </a:lnTo>
                <a:lnTo>
                  <a:pt x="352068" y="16003"/>
                </a:lnTo>
                <a:lnTo>
                  <a:pt x="392777" y="34933"/>
                </a:lnTo>
                <a:lnTo>
                  <a:pt x="429189" y="60129"/>
                </a:lnTo>
                <a:lnTo>
                  <a:pt x="460668" y="90943"/>
                </a:lnTo>
                <a:lnTo>
                  <a:pt x="486436" y="126625"/>
                </a:lnTo>
                <a:lnTo>
                  <a:pt x="505756" y="166454"/>
                </a:lnTo>
                <a:lnTo>
                  <a:pt x="517888" y="209707"/>
                </a:lnTo>
                <a:lnTo>
                  <a:pt x="522097" y="255663"/>
                </a:lnTo>
                <a:lnTo>
                  <a:pt x="517888" y="301619"/>
                </a:lnTo>
                <a:lnTo>
                  <a:pt x="505756" y="344872"/>
                </a:lnTo>
                <a:lnTo>
                  <a:pt x="486436" y="384701"/>
                </a:lnTo>
                <a:lnTo>
                  <a:pt x="460668" y="420384"/>
                </a:lnTo>
                <a:lnTo>
                  <a:pt x="429189" y="451198"/>
                </a:lnTo>
                <a:lnTo>
                  <a:pt x="392677" y="476449"/>
                </a:lnTo>
                <a:lnTo>
                  <a:pt x="352019" y="495340"/>
                </a:lnTo>
                <a:lnTo>
                  <a:pt x="307853" y="507209"/>
                </a:lnTo>
                <a:lnTo>
                  <a:pt x="260921" y="511327"/>
                </a:lnTo>
                <a:close/>
              </a:path>
            </a:pathLst>
          </a:custGeom>
          <a:solidFill>
            <a:srgbClr val="C00000"/>
          </a:solidFill>
        </p:spPr>
        <p:txBody>
          <a:bodyPr wrap="square" lIns="0" tIns="0" rIns="0" bIns="0" rtlCol="0"/>
          <a:lstStyle/>
          <a:p/>
        </p:txBody>
      </p:sp>
      <p:sp>
        <p:nvSpPr>
          <p:cNvPr id="6" name="object 6"/>
          <p:cNvSpPr txBox="1"/>
          <p:nvPr/>
        </p:nvSpPr>
        <p:spPr>
          <a:xfrm>
            <a:off x="2264702" y="1106754"/>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1</a:t>
            </a:r>
            <a:endParaRPr sz="3200">
              <a:latin typeface="Calibri" panose="020F0502020204030204"/>
              <a:cs typeface="Calibri" panose="020F0502020204030204"/>
            </a:endParaRPr>
          </a:p>
        </p:txBody>
      </p:sp>
      <p:sp>
        <p:nvSpPr>
          <p:cNvPr id="7" name="object 7"/>
          <p:cNvSpPr/>
          <p:nvPr/>
        </p:nvSpPr>
        <p:spPr>
          <a:xfrm>
            <a:off x="2415539" y="1787651"/>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8" name="object 8"/>
          <p:cNvSpPr/>
          <p:nvPr/>
        </p:nvSpPr>
        <p:spPr>
          <a:xfrm>
            <a:off x="8938259" y="1787931"/>
            <a:ext cx="522605" cy="511175"/>
          </a:xfrm>
          <a:custGeom>
            <a:avLst/>
            <a:gdLst/>
            <a:ahLst/>
            <a:cxnLst/>
            <a:rect l="l" t="t" r="r" b="b"/>
            <a:pathLst>
              <a:path w="522604" h="511175">
                <a:moveTo>
                  <a:pt x="261353" y="510717"/>
                </a:moveTo>
                <a:lnTo>
                  <a:pt x="214403" y="506603"/>
                </a:lnTo>
                <a:lnTo>
                  <a:pt x="170208" y="494742"/>
                </a:lnTo>
                <a:lnTo>
                  <a:pt x="129503" y="475854"/>
                </a:lnTo>
                <a:lnTo>
                  <a:pt x="93028" y="450661"/>
                </a:lnTo>
                <a:lnTo>
                  <a:pt x="61571" y="419951"/>
                </a:lnTo>
                <a:lnTo>
                  <a:pt x="35782" y="384361"/>
                </a:lnTo>
                <a:lnTo>
                  <a:pt x="16433" y="344648"/>
                </a:lnTo>
                <a:lnTo>
                  <a:pt x="4260" y="301537"/>
                </a:lnTo>
                <a:lnTo>
                  <a:pt x="0" y="255752"/>
                </a:lnTo>
                <a:lnTo>
                  <a:pt x="4260" y="209733"/>
                </a:lnTo>
                <a:lnTo>
                  <a:pt x="16433" y="166440"/>
                </a:lnTo>
                <a:lnTo>
                  <a:pt x="35782" y="126589"/>
                </a:lnTo>
                <a:lnTo>
                  <a:pt x="61571" y="90900"/>
                </a:lnTo>
                <a:lnTo>
                  <a:pt x="93114" y="60056"/>
                </a:lnTo>
                <a:lnTo>
                  <a:pt x="129556" y="34863"/>
                </a:lnTo>
                <a:lnTo>
                  <a:pt x="170233" y="15975"/>
                </a:lnTo>
                <a:lnTo>
                  <a:pt x="214411" y="4114"/>
                </a:lnTo>
                <a:lnTo>
                  <a:pt x="261353" y="0"/>
                </a:lnTo>
                <a:lnTo>
                  <a:pt x="308299" y="4114"/>
                </a:lnTo>
                <a:lnTo>
                  <a:pt x="352489" y="15979"/>
                </a:lnTo>
                <a:lnTo>
                  <a:pt x="393187" y="34877"/>
                </a:lnTo>
                <a:lnTo>
                  <a:pt x="429651" y="60090"/>
                </a:lnTo>
                <a:lnTo>
                  <a:pt x="461093" y="90833"/>
                </a:lnTo>
                <a:lnTo>
                  <a:pt x="486859" y="126473"/>
                </a:lnTo>
                <a:lnTo>
                  <a:pt x="506176" y="166254"/>
                </a:lnTo>
                <a:lnTo>
                  <a:pt x="518308" y="209457"/>
                </a:lnTo>
                <a:lnTo>
                  <a:pt x="522516" y="255358"/>
                </a:lnTo>
                <a:lnTo>
                  <a:pt x="518308" y="301260"/>
                </a:lnTo>
                <a:lnTo>
                  <a:pt x="506176" y="344462"/>
                </a:lnTo>
                <a:lnTo>
                  <a:pt x="486859" y="384244"/>
                </a:lnTo>
                <a:lnTo>
                  <a:pt x="461093" y="419884"/>
                </a:lnTo>
                <a:lnTo>
                  <a:pt x="429566" y="450696"/>
                </a:lnTo>
                <a:lnTo>
                  <a:pt x="393134" y="475868"/>
                </a:lnTo>
                <a:lnTo>
                  <a:pt x="352464" y="494746"/>
                </a:lnTo>
                <a:lnTo>
                  <a:pt x="308290" y="506604"/>
                </a:lnTo>
                <a:lnTo>
                  <a:pt x="261353" y="510717"/>
                </a:lnTo>
                <a:close/>
              </a:path>
            </a:pathLst>
          </a:custGeom>
          <a:solidFill>
            <a:srgbClr val="D9D9D9"/>
          </a:solidFill>
        </p:spPr>
        <p:txBody>
          <a:bodyPr wrap="square" lIns="0" tIns="0" rIns="0" bIns="0" rtlCol="0"/>
          <a:lstStyle/>
          <a:p/>
        </p:txBody>
      </p:sp>
      <p:sp>
        <p:nvSpPr>
          <p:cNvPr id="9" name="object 9"/>
          <p:cNvSpPr/>
          <p:nvPr/>
        </p:nvSpPr>
        <p:spPr>
          <a:xfrm>
            <a:off x="2119883" y="1787385"/>
            <a:ext cx="522605" cy="511175"/>
          </a:xfrm>
          <a:custGeom>
            <a:avLst/>
            <a:gdLst/>
            <a:ahLst/>
            <a:cxnLst/>
            <a:rect l="l" t="t" r="r" b="b"/>
            <a:pathLst>
              <a:path w="522605" h="511175">
                <a:moveTo>
                  <a:pt x="260921" y="510730"/>
                </a:moveTo>
                <a:lnTo>
                  <a:pt x="213974" y="506615"/>
                </a:lnTo>
                <a:lnTo>
                  <a:pt x="169790" y="494746"/>
                </a:lnTo>
                <a:lnTo>
                  <a:pt x="129109" y="475842"/>
                </a:lnTo>
                <a:lnTo>
                  <a:pt x="92670" y="450617"/>
                </a:lnTo>
                <a:lnTo>
                  <a:pt x="61213" y="419789"/>
                </a:lnTo>
                <a:lnTo>
                  <a:pt x="35478" y="384074"/>
                </a:lnTo>
                <a:lnTo>
                  <a:pt x="16204" y="344189"/>
                </a:lnTo>
                <a:lnTo>
                  <a:pt x="4132" y="300850"/>
                </a:lnTo>
                <a:lnTo>
                  <a:pt x="0" y="254774"/>
                </a:lnTo>
                <a:lnTo>
                  <a:pt x="4132" y="209050"/>
                </a:lnTo>
                <a:lnTo>
                  <a:pt x="16204" y="165985"/>
                </a:lnTo>
                <a:lnTo>
                  <a:pt x="35478" y="126305"/>
                </a:lnTo>
                <a:lnTo>
                  <a:pt x="61213" y="90738"/>
                </a:lnTo>
                <a:lnTo>
                  <a:pt x="92670" y="60009"/>
                </a:lnTo>
                <a:lnTo>
                  <a:pt x="129109" y="34844"/>
                </a:lnTo>
                <a:lnTo>
                  <a:pt x="169790" y="15970"/>
                </a:lnTo>
                <a:lnTo>
                  <a:pt x="213974" y="4113"/>
                </a:lnTo>
                <a:lnTo>
                  <a:pt x="260921" y="0"/>
                </a:lnTo>
                <a:lnTo>
                  <a:pt x="307865" y="4114"/>
                </a:lnTo>
                <a:lnTo>
                  <a:pt x="352050" y="15977"/>
                </a:lnTo>
                <a:lnTo>
                  <a:pt x="392737" y="34866"/>
                </a:lnTo>
                <a:lnTo>
                  <a:pt x="429189" y="60060"/>
                </a:lnTo>
                <a:lnTo>
                  <a:pt x="460668" y="90838"/>
                </a:lnTo>
                <a:lnTo>
                  <a:pt x="486436" y="126478"/>
                </a:lnTo>
                <a:lnTo>
                  <a:pt x="505756" y="166259"/>
                </a:lnTo>
                <a:lnTo>
                  <a:pt x="517888" y="209460"/>
                </a:lnTo>
                <a:lnTo>
                  <a:pt x="522097" y="255358"/>
                </a:lnTo>
                <a:lnTo>
                  <a:pt x="517888" y="301261"/>
                </a:lnTo>
                <a:lnTo>
                  <a:pt x="505756" y="344464"/>
                </a:lnTo>
                <a:lnTo>
                  <a:pt x="486436" y="384247"/>
                </a:lnTo>
                <a:lnTo>
                  <a:pt x="460668" y="419889"/>
                </a:lnTo>
                <a:lnTo>
                  <a:pt x="429189" y="450668"/>
                </a:lnTo>
                <a:lnTo>
                  <a:pt x="392737" y="475863"/>
                </a:lnTo>
                <a:lnTo>
                  <a:pt x="352050" y="494753"/>
                </a:lnTo>
                <a:lnTo>
                  <a:pt x="307865" y="506615"/>
                </a:lnTo>
                <a:lnTo>
                  <a:pt x="260921" y="510730"/>
                </a:lnTo>
                <a:close/>
              </a:path>
            </a:pathLst>
          </a:custGeom>
          <a:solidFill>
            <a:srgbClr val="C00000"/>
          </a:solidFill>
        </p:spPr>
        <p:txBody>
          <a:bodyPr wrap="square" lIns="0" tIns="0" rIns="0" bIns="0" rtlCol="0"/>
          <a:lstStyle/>
          <a:p/>
        </p:txBody>
      </p:sp>
      <p:sp>
        <p:nvSpPr>
          <p:cNvPr id="10" name="object 10"/>
          <p:cNvSpPr txBox="1"/>
          <p:nvPr/>
        </p:nvSpPr>
        <p:spPr>
          <a:xfrm>
            <a:off x="2264702" y="1759953"/>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2</a:t>
            </a:r>
            <a:endParaRPr sz="3200">
              <a:latin typeface="Calibri" panose="020F0502020204030204"/>
              <a:cs typeface="Calibri" panose="020F0502020204030204"/>
            </a:endParaRPr>
          </a:p>
        </p:txBody>
      </p:sp>
      <p:sp>
        <p:nvSpPr>
          <p:cNvPr id="11" name="object 11"/>
          <p:cNvSpPr/>
          <p:nvPr/>
        </p:nvSpPr>
        <p:spPr>
          <a:xfrm>
            <a:off x="2415539" y="2441448"/>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12" name="object 12"/>
          <p:cNvSpPr/>
          <p:nvPr/>
        </p:nvSpPr>
        <p:spPr>
          <a:xfrm>
            <a:off x="8938259" y="2441232"/>
            <a:ext cx="522605" cy="511175"/>
          </a:xfrm>
          <a:custGeom>
            <a:avLst/>
            <a:gdLst/>
            <a:ahLst/>
            <a:cxnLst/>
            <a:rect l="l" t="t" r="r" b="b"/>
            <a:pathLst>
              <a:path w="522604" h="511175">
                <a:moveTo>
                  <a:pt x="261353" y="510717"/>
                </a:moveTo>
                <a:lnTo>
                  <a:pt x="214405" y="506602"/>
                </a:lnTo>
                <a:lnTo>
                  <a:pt x="170217" y="494735"/>
                </a:lnTo>
                <a:lnTo>
                  <a:pt x="129524" y="475830"/>
                </a:lnTo>
                <a:lnTo>
                  <a:pt x="93064" y="450605"/>
                </a:lnTo>
                <a:lnTo>
                  <a:pt x="61571" y="419775"/>
                </a:lnTo>
                <a:lnTo>
                  <a:pt x="35782" y="384056"/>
                </a:lnTo>
                <a:lnTo>
                  <a:pt x="16433" y="344164"/>
                </a:lnTo>
                <a:lnTo>
                  <a:pt x="4260" y="300814"/>
                </a:lnTo>
                <a:lnTo>
                  <a:pt x="0" y="254723"/>
                </a:lnTo>
                <a:lnTo>
                  <a:pt x="4260" y="209014"/>
                </a:lnTo>
                <a:lnTo>
                  <a:pt x="16433" y="165961"/>
                </a:lnTo>
                <a:lnTo>
                  <a:pt x="35782" y="126290"/>
                </a:lnTo>
                <a:lnTo>
                  <a:pt x="61571" y="90729"/>
                </a:lnTo>
                <a:lnTo>
                  <a:pt x="93064" y="60004"/>
                </a:lnTo>
                <a:lnTo>
                  <a:pt x="129524" y="34842"/>
                </a:lnTo>
                <a:lnTo>
                  <a:pt x="170217" y="15970"/>
                </a:lnTo>
                <a:lnTo>
                  <a:pt x="214405" y="4113"/>
                </a:lnTo>
                <a:lnTo>
                  <a:pt x="261353" y="0"/>
                </a:lnTo>
                <a:lnTo>
                  <a:pt x="308297" y="4114"/>
                </a:lnTo>
                <a:lnTo>
                  <a:pt x="352480" y="15977"/>
                </a:lnTo>
                <a:lnTo>
                  <a:pt x="393166" y="34866"/>
                </a:lnTo>
                <a:lnTo>
                  <a:pt x="429616" y="60060"/>
                </a:lnTo>
                <a:lnTo>
                  <a:pt x="461093" y="90838"/>
                </a:lnTo>
                <a:lnTo>
                  <a:pt x="486859" y="126478"/>
                </a:lnTo>
                <a:lnTo>
                  <a:pt x="506176" y="166259"/>
                </a:lnTo>
                <a:lnTo>
                  <a:pt x="518308" y="209460"/>
                </a:lnTo>
                <a:lnTo>
                  <a:pt x="522516" y="255358"/>
                </a:lnTo>
                <a:lnTo>
                  <a:pt x="518308" y="301260"/>
                </a:lnTo>
                <a:lnTo>
                  <a:pt x="506176" y="344462"/>
                </a:lnTo>
                <a:lnTo>
                  <a:pt x="486859" y="384244"/>
                </a:lnTo>
                <a:lnTo>
                  <a:pt x="461093" y="419884"/>
                </a:lnTo>
                <a:lnTo>
                  <a:pt x="429616" y="450661"/>
                </a:lnTo>
                <a:lnTo>
                  <a:pt x="393166" y="475854"/>
                </a:lnTo>
                <a:lnTo>
                  <a:pt x="352480" y="494742"/>
                </a:lnTo>
                <a:lnTo>
                  <a:pt x="308297" y="506603"/>
                </a:lnTo>
                <a:lnTo>
                  <a:pt x="261353" y="510717"/>
                </a:lnTo>
                <a:close/>
              </a:path>
            </a:pathLst>
          </a:custGeom>
          <a:solidFill>
            <a:srgbClr val="D9D9D9"/>
          </a:solidFill>
        </p:spPr>
        <p:txBody>
          <a:bodyPr wrap="square" lIns="0" tIns="0" rIns="0" bIns="0" rtlCol="0"/>
          <a:lstStyle/>
          <a:p/>
        </p:txBody>
      </p:sp>
      <p:sp>
        <p:nvSpPr>
          <p:cNvPr id="13" name="object 13"/>
          <p:cNvSpPr/>
          <p:nvPr/>
        </p:nvSpPr>
        <p:spPr>
          <a:xfrm>
            <a:off x="2119883" y="2440698"/>
            <a:ext cx="522605" cy="511175"/>
          </a:xfrm>
          <a:custGeom>
            <a:avLst/>
            <a:gdLst/>
            <a:ahLst/>
            <a:cxnLst/>
            <a:rect l="l" t="t" r="r" b="b"/>
            <a:pathLst>
              <a:path w="522605" h="511175">
                <a:moveTo>
                  <a:pt x="260921" y="510717"/>
                </a:moveTo>
                <a:lnTo>
                  <a:pt x="213974" y="506603"/>
                </a:lnTo>
                <a:lnTo>
                  <a:pt x="169790" y="494739"/>
                </a:lnTo>
                <a:lnTo>
                  <a:pt x="129109" y="475847"/>
                </a:lnTo>
                <a:lnTo>
                  <a:pt x="92670" y="450648"/>
                </a:lnTo>
                <a:lnTo>
                  <a:pt x="61213" y="419861"/>
                </a:lnTo>
                <a:lnTo>
                  <a:pt x="35478" y="384208"/>
                </a:lnTo>
                <a:lnTo>
                  <a:pt x="16204" y="344410"/>
                </a:lnTo>
                <a:lnTo>
                  <a:pt x="4132" y="301185"/>
                </a:lnTo>
                <a:lnTo>
                  <a:pt x="0" y="255257"/>
                </a:lnTo>
                <a:lnTo>
                  <a:pt x="4132" y="209385"/>
                </a:lnTo>
                <a:lnTo>
                  <a:pt x="16204" y="166207"/>
                </a:lnTo>
                <a:lnTo>
                  <a:pt x="35478" y="126443"/>
                </a:lnTo>
                <a:lnTo>
                  <a:pt x="61213" y="90815"/>
                </a:lnTo>
                <a:lnTo>
                  <a:pt x="92670" y="60047"/>
                </a:lnTo>
                <a:lnTo>
                  <a:pt x="129109" y="34859"/>
                </a:lnTo>
                <a:lnTo>
                  <a:pt x="169790" y="15974"/>
                </a:lnTo>
                <a:lnTo>
                  <a:pt x="213974" y="4113"/>
                </a:lnTo>
                <a:lnTo>
                  <a:pt x="260921" y="0"/>
                </a:lnTo>
                <a:lnTo>
                  <a:pt x="307865" y="4114"/>
                </a:lnTo>
                <a:lnTo>
                  <a:pt x="352050" y="15975"/>
                </a:lnTo>
                <a:lnTo>
                  <a:pt x="392737" y="34863"/>
                </a:lnTo>
                <a:lnTo>
                  <a:pt x="429189" y="60056"/>
                </a:lnTo>
                <a:lnTo>
                  <a:pt x="460668" y="90833"/>
                </a:lnTo>
                <a:lnTo>
                  <a:pt x="486436" y="126473"/>
                </a:lnTo>
                <a:lnTo>
                  <a:pt x="505756" y="166254"/>
                </a:lnTo>
                <a:lnTo>
                  <a:pt x="517888" y="209457"/>
                </a:lnTo>
                <a:lnTo>
                  <a:pt x="522097" y="255358"/>
                </a:lnTo>
                <a:lnTo>
                  <a:pt x="517888" y="301257"/>
                </a:lnTo>
                <a:lnTo>
                  <a:pt x="505756" y="344457"/>
                </a:lnTo>
                <a:lnTo>
                  <a:pt x="486436" y="384238"/>
                </a:lnTo>
                <a:lnTo>
                  <a:pt x="460668" y="419879"/>
                </a:lnTo>
                <a:lnTo>
                  <a:pt x="429189" y="450657"/>
                </a:lnTo>
                <a:lnTo>
                  <a:pt x="392737" y="475851"/>
                </a:lnTo>
                <a:lnTo>
                  <a:pt x="352050" y="494740"/>
                </a:lnTo>
                <a:lnTo>
                  <a:pt x="307865" y="506603"/>
                </a:lnTo>
                <a:lnTo>
                  <a:pt x="260921" y="510717"/>
                </a:lnTo>
                <a:close/>
              </a:path>
            </a:pathLst>
          </a:custGeom>
          <a:solidFill>
            <a:srgbClr val="C00000"/>
          </a:solidFill>
        </p:spPr>
        <p:txBody>
          <a:bodyPr wrap="square" lIns="0" tIns="0" rIns="0" bIns="0" rtlCol="0"/>
          <a:lstStyle/>
          <a:p/>
        </p:txBody>
      </p:sp>
      <p:sp>
        <p:nvSpPr>
          <p:cNvPr id="14" name="object 14"/>
          <p:cNvSpPr txBox="1"/>
          <p:nvPr/>
        </p:nvSpPr>
        <p:spPr>
          <a:xfrm>
            <a:off x="2264702" y="2413254"/>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3</a:t>
            </a:r>
            <a:endParaRPr sz="3200">
              <a:latin typeface="Calibri" panose="020F0502020204030204"/>
              <a:cs typeface="Calibri" panose="020F0502020204030204"/>
            </a:endParaRPr>
          </a:p>
        </p:txBody>
      </p:sp>
      <p:sp>
        <p:nvSpPr>
          <p:cNvPr id="15" name="object 15"/>
          <p:cNvSpPr/>
          <p:nvPr/>
        </p:nvSpPr>
        <p:spPr>
          <a:xfrm>
            <a:off x="2415539" y="3095244"/>
            <a:ext cx="6791325" cy="509270"/>
          </a:xfrm>
          <a:custGeom>
            <a:avLst/>
            <a:gdLst/>
            <a:ahLst/>
            <a:cxnLst/>
            <a:rect l="l" t="t" r="r" b="b"/>
            <a:pathLst>
              <a:path w="6791325" h="509270">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16" name="object 16"/>
          <p:cNvSpPr/>
          <p:nvPr/>
        </p:nvSpPr>
        <p:spPr>
          <a:xfrm>
            <a:off x="8938259" y="3094532"/>
            <a:ext cx="522605" cy="511175"/>
          </a:xfrm>
          <a:custGeom>
            <a:avLst/>
            <a:gdLst/>
            <a:ahLst/>
            <a:cxnLst/>
            <a:rect l="l" t="t" r="r" b="b"/>
            <a:pathLst>
              <a:path w="522604" h="511175">
                <a:moveTo>
                  <a:pt x="261353" y="510717"/>
                </a:moveTo>
                <a:lnTo>
                  <a:pt x="214405" y="506603"/>
                </a:lnTo>
                <a:lnTo>
                  <a:pt x="170217" y="494740"/>
                </a:lnTo>
                <a:lnTo>
                  <a:pt x="129524" y="475849"/>
                </a:lnTo>
                <a:lnTo>
                  <a:pt x="93064" y="450649"/>
                </a:lnTo>
                <a:lnTo>
                  <a:pt x="61571" y="419860"/>
                </a:lnTo>
                <a:lnTo>
                  <a:pt x="35782" y="384203"/>
                </a:lnTo>
                <a:lnTo>
                  <a:pt x="16433" y="344397"/>
                </a:lnTo>
                <a:lnTo>
                  <a:pt x="4260" y="301162"/>
                </a:lnTo>
                <a:lnTo>
                  <a:pt x="0" y="255219"/>
                </a:lnTo>
                <a:lnTo>
                  <a:pt x="4260" y="209362"/>
                </a:lnTo>
                <a:lnTo>
                  <a:pt x="16433" y="166194"/>
                </a:lnTo>
                <a:lnTo>
                  <a:pt x="35782" y="126437"/>
                </a:lnTo>
                <a:lnTo>
                  <a:pt x="61571" y="90814"/>
                </a:lnTo>
                <a:lnTo>
                  <a:pt x="93064" y="60048"/>
                </a:lnTo>
                <a:lnTo>
                  <a:pt x="129524" y="34861"/>
                </a:lnTo>
                <a:lnTo>
                  <a:pt x="170217" y="15975"/>
                </a:lnTo>
                <a:lnTo>
                  <a:pt x="214405" y="4114"/>
                </a:lnTo>
                <a:lnTo>
                  <a:pt x="261353" y="0"/>
                </a:lnTo>
                <a:lnTo>
                  <a:pt x="308297" y="4114"/>
                </a:lnTo>
                <a:lnTo>
                  <a:pt x="352480" y="15977"/>
                </a:lnTo>
                <a:lnTo>
                  <a:pt x="393166" y="34866"/>
                </a:lnTo>
                <a:lnTo>
                  <a:pt x="429616" y="60060"/>
                </a:lnTo>
                <a:lnTo>
                  <a:pt x="461093" y="90838"/>
                </a:lnTo>
                <a:lnTo>
                  <a:pt x="486859" y="126478"/>
                </a:lnTo>
                <a:lnTo>
                  <a:pt x="506176" y="166259"/>
                </a:lnTo>
                <a:lnTo>
                  <a:pt x="518308" y="209460"/>
                </a:lnTo>
                <a:lnTo>
                  <a:pt x="522516" y="255358"/>
                </a:lnTo>
                <a:lnTo>
                  <a:pt x="518308" y="301260"/>
                </a:lnTo>
                <a:lnTo>
                  <a:pt x="506176" y="344462"/>
                </a:lnTo>
                <a:lnTo>
                  <a:pt x="486859" y="384244"/>
                </a:lnTo>
                <a:lnTo>
                  <a:pt x="461093" y="419884"/>
                </a:lnTo>
                <a:lnTo>
                  <a:pt x="429616" y="450661"/>
                </a:lnTo>
                <a:lnTo>
                  <a:pt x="393166" y="475854"/>
                </a:lnTo>
                <a:lnTo>
                  <a:pt x="352480" y="494742"/>
                </a:lnTo>
                <a:lnTo>
                  <a:pt x="308297" y="506603"/>
                </a:lnTo>
                <a:lnTo>
                  <a:pt x="261353" y="510717"/>
                </a:lnTo>
                <a:close/>
              </a:path>
            </a:pathLst>
          </a:custGeom>
          <a:solidFill>
            <a:srgbClr val="D9D9D9"/>
          </a:solidFill>
        </p:spPr>
        <p:txBody>
          <a:bodyPr wrap="square" lIns="0" tIns="0" rIns="0" bIns="0" rtlCol="0"/>
          <a:lstStyle/>
          <a:p/>
        </p:txBody>
      </p:sp>
      <p:sp>
        <p:nvSpPr>
          <p:cNvPr id="17" name="object 17"/>
          <p:cNvSpPr/>
          <p:nvPr/>
        </p:nvSpPr>
        <p:spPr>
          <a:xfrm>
            <a:off x="2119883" y="3093999"/>
            <a:ext cx="522605" cy="511175"/>
          </a:xfrm>
          <a:custGeom>
            <a:avLst/>
            <a:gdLst/>
            <a:ahLst/>
            <a:cxnLst/>
            <a:rect l="l" t="t" r="r" b="b"/>
            <a:pathLst>
              <a:path w="522605" h="511175">
                <a:moveTo>
                  <a:pt x="260921" y="510717"/>
                </a:moveTo>
                <a:lnTo>
                  <a:pt x="213972" y="506603"/>
                </a:lnTo>
                <a:lnTo>
                  <a:pt x="169781" y="494740"/>
                </a:lnTo>
                <a:lnTo>
                  <a:pt x="129088" y="475851"/>
                </a:lnTo>
                <a:lnTo>
                  <a:pt x="92635" y="450657"/>
                </a:lnTo>
                <a:lnTo>
                  <a:pt x="61213" y="419946"/>
                </a:lnTo>
                <a:lnTo>
                  <a:pt x="35478" y="384355"/>
                </a:lnTo>
                <a:lnTo>
                  <a:pt x="16204" y="344643"/>
                </a:lnTo>
                <a:lnTo>
                  <a:pt x="4132" y="301533"/>
                </a:lnTo>
                <a:lnTo>
                  <a:pt x="0" y="255752"/>
                </a:lnTo>
                <a:lnTo>
                  <a:pt x="4132" y="209733"/>
                </a:lnTo>
                <a:lnTo>
                  <a:pt x="16204" y="166440"/>
                </a:lnTo>
                <a:lnTo>
                  <a:pt x="35478" y="126589"/>
                </a:lnTo>
                <a:lnTo>
                  <a:pt x="61213" y="90900"/>
                </a:lnTo>
                <a:lnTo>
                  <a:pt x="92720" y="60056"/>
                </a:lnTo>
                <a:lnTo>
                  <a:pt x="129140" y="34863"/>
                </a:lnTo>
                <a:lnTo>
                  <a:pt x="169806" y="15975"/>
                </a:lnTo>
                <a:lnTo>
                  <a:pt x="213980" y="4114"/>
                </a:lnTo>
                <a:lnTo>
                  <a:pt x="260921" y="0"/>
                </a:lnTo>
                <a:lnTo>
                  <a:pt x="307867" y="4114"/>
                </a:lnTo>
                <a:lnTo>
                  <a:pt x="352059" y="15979"/>
                </a:lnTo>
                <a:lnTo>
                  <a:pt x="392758" y="34877"/>
                </a:lnTo>
                <a:lnTo>
                  <a:pt x="429225" y="60090"/>
                </a:lnTo>
                <a:lnTo>
                  <a:pt x="460668" y="90833"/>
                </a:lnTo>
                <a:lnTo>
                  <a:pt x="486436" y="126473"/>
                </a:lnTo>
                <a:lnTo>
                  <a:pt x="505756" y="166254"/>
                </a:lnTo>
                <a:lnTo>
                  <a:pt x="517888" y="209457"/>
                </a:lnTo>
                <a:lnTo>
                  <a:pt x="522097" y="255358"/>
                </a:lnTo>
                <a:lnTo>
                  <a:pt x="517888" y="301257"/>
                </a:lnTo>
                <a:lnTo>
                  <a:pt x="505756" y="344457"/>
                </a:lnTo>
                <a:lnTo>
                  <a:pt x="486436" y="384238"/>
                </a:lnTo>
                <a:lnTo>
                  <a:pt x="460668" y="419879"/>
                </a:lnTo>
                <a:lnTo>
                  <a:pt x="429139" y="450691"/>
                </a:lnTo>
                <a:lnTo>
                  <a:pt x="392706" y="475866"/>
                </a:lnTo>
                <a:lnTo>
                  <a:pt x="352034" y="494745"/>
                </a:lnTo>
                <a:lnTo>
                  <a:pt x="307859" y="506603"/>
                </a:lnTo>
                <a:lnTo>
                  <a:pt x="260921" y="510717"/>
                </a:lnTo>
                <a:close/>
              </a:path>
            </a:pathLst>
          </a:custGeom>
          <a:solidFill>
            <a:srgbClr val="C00000"/>
          </a:solidFill>
        </p:spPr>
        <p:txBody>
          <a:bodyPr wrap="square" lIns="0" tIns="0" rIns="0" bIns="0" rtlCol="0"/>
          <a:lstStyle/>
          <a:p/>
        </p:txBody>
      </p:sp>
      <p:sp>
        <p:nvSpPr>
          <p:cNvPr id="18" name="object 18"/>
          <p:cNvSpPr txBox="1"/>
          <p:nvPr/>
        </p:nvSpPr>
        <p:spPr>
          <a:xfrm>
            <a:off x="2264702" y="3066554"/>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4</a:t>
            </a:r>
            <a:endParaRPr sz="3200">
              <a:latin typeface="Calibri" panose="020F0502020204030204"/>
              <a:cs typeface="Calibri" panose="020F0502020204030204"/>
            </a:endParaRPr>
          </a:p>
        </p:txBody>
      </p:sp>
      <p:sp>
        <p:nvSpPr>
          <p:cNvPr id="19" name="object 19"/>
          <p:cNvSpPr/>
          <p:nvPr/>
        </p:nvSpPr>
        <p:spPr>
          <a:xfrm>
            <a:off x="2415539" y="3747515"/>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20" name="object 20"/>
          <p:cNvSpPr/>
          <p:nvPr/>
        </p:nvSpPr>
        <p:spPr>
          <a:xfrm>
            <a:off x="8938259" y="3747833"/>
            <a:ext cx="522605" cy="511175"/>
          </a:xfrm>
          <a:custGeom>
            <a:avLst/>
            <a:gdLst/>
            <a:ahLst/>
            <a:cxnLst/>
            <a:rect l="l" t="t" r="r" b="b"/>
            <a:pathLst>
              <a:path w="522604" h="511175">
                <a:moveTo>
                  <a:pt x="261353" y="510717"/>
                </a:moveTo>
                <a:lnTo>
                  <a:pt x="214403" y="506603"/>
                </a:lnTo>
                <a:lnTo>
                  <a:pt x="170208" y="494742"/>
                </a:lnTo>
                <a:lnTo>
                  <a:pt x="129505" y="475854"/>
                </a:lnTo>
                <a:lnTo>
                  <a:pt x="93032" y="450661"/>
                </a:lnTo>
                <a:lnTo>
                  <a:pt x="61571" y="419945"/>
                </a:lnTo>
                <a:lnTo>
                  <a:pt x="35782" y="384349"/>
                </a:lnTo>
                <a:lnTo>
                  <a:pt x="16433" y="344630"/>
                </a:lnTo>
                <a:lnTo>
                  <a:pt x="4260" y="301510"/>
                </a:lnTo>
                <a:lnTo>
                  <a:pt x="0" y="255714"/>
                </a:lnTo>
                <a:lnTo>
                  <a:pt x="4260" y="209710"/>
                </a:lnTo>
                <a:lnTo>
                  <a:pt x="16433" y="166427"/>
                </a:lnTo>
                <a:lnTo>
                  <a:pt x="35782" y="126584"/>
                </a:lnTo>
                <a:lnTo>
                  <a:pt x="61571" y="90899"/>
                </a:lnTo>
                <a:lnTo>
                  <a:pt x="93109" y="60060"/>
                </a:lnTo>
                <a:lnTo>
                  <a:pt x="129553" y="34866"/>
                </a:lnTo>
                <a:lnTo>
                  <a:pt x="170231" y="15977"/>
                </a:lnTo>
                <a:lnTo>
                  <a:pt x="214411" y="4114"/>
                </a:lnTo>
                <a:lnTo>
                  <a:pt x="261353" y="0"/>
                </a:lnTo>
                <a:lnTo>
                  <a:pt x="308298" y="4114"/>
                </a:lnTo>
                <a:lnTo>
                  <a:pt x="352488" y="15980"/>
                </a:lnTo>
                <a:lnTo>
                  <a:pt x="393185" y="34879"/>
                </a:lnTo>
                <a:lnTo>
                  <a:pt x="429648" y="60091"/>
                </a:lnTo>
                <a:lnTo>
                  <a:pt x="461093" y="90838"/>
                </a:lnTo>
                <a:lnTo>
                  <a:pt x="486859" y="126478"/>
                </a:lnTo>
                <a:lnTo>
                  <a:pt x="506176" y="166259"/>
                </a:lnTo>
                <a:lnTo>
                  <a:pt x="518308" y="209460"/>
                </a:lnTo>
                <a:lnTo>
                  <a:pt x="522516" y="255358"/>
                </a:lnTo>
                <a:lnTo>
                  <a:pt x="518308" y="301260"/>
                </a:lnTo>
                <a:lnTo>
                  <a:pt x="506176" y="344462"/>
                </a:lnTo>
                <a:lnTo>
                  <a:pt x="486859" y="384244"/>
                </a:lnTo>
                <a:lnTo>
                  <a:pt x="461093" y="419884"/>
                </a:lnTo>
                <a:lnTo>
                  <a:pt x="429571" y="450692"/>
                </a:lnTo>
                <a:lnTo>
                  <a:pt x="393137" y="475867"/>
                </a:lnTo>
                <a:lnTo>
                  <a:pt x="352465" y="494746"/>
                </a:lnTo>
                <a:lnTo>
                  <a:pt x="308291" y="506604"/>
                </a:lnTo>
                <a:lnTo>
                  <a:pt x="261353" y="510717"/>
                </a:lnTo>
                <a:close/>
              </a:path>
            </a:pathLst>
          </a:custGeom>
          <a:solidFill>
            <a:srgbClr val="D9D9D9"/>
          </a:solidFill>
        </p:spPr>
        <p:txBody>
          <a:bodyPr wrap="square" lIns="0" tIns="0" rIns="0" bIns="0" rtlCol="0"/>
          <a:lstStyle/>
          <a:p/>
        </p:txBody>
      </p:sp>
      <p:sp>
        <p:nvSpPr>
          <p:cNvPr id="21" name="object 21"/>
          <p:cNvSpPr/>
          <p:nvPr/>
        </p:nvSpPr>
        <p:spPr>
          <a:xfrm>
            <a:off x="2119883" y="3747299"/>
            <a:ext cx="522605" cy="511175"/>
          </a:xfrm>
          <a:custGeom>
            <a:avLst/>
            <a:gdLst/>
            <a:ahLst/>
            <a:cxnLst/>
            <a:rect l="l" t="t" r="r" b="b"/>
            <a:pathLst>
              <a:path w="522605" h="511175">
                <a:moveTo>
                  <a:pt x="260921" y="510717"/>
                </a:moveTo>
                <a:lnTo>
                  <a:pt x="213974" y="506602"/>
                </a:lnTo>
                <a:lnTo>
                  <a:pt x="169790" y="494735"/>
                </a:lnTo>
                <a:lnTo>
                  <a:pt x="129109" y="475830"/>
                </a:lnTo>
                <a:lnTo>
                  <a:pt x="92670" y="450605"/>
                </a:lnTo>
                <a:lnTo>
                  <a:pt x="61213" y="419775"/>
                </a:lnTo>
                <a:lnTo>
                  <a:pt x="35478" y="384056"/>
                </a:lnTo>
                <a:lnTo>
                  <a:pt x="16204" y="344164"/>
                </a:lnTo>
                <a:lnTo>
                  <a:pt x="4132" y="300814"/>
                </a:lnTo>
                <a:lnTo>
                  <a:pt x="0" y="254723"/>
                </a:lnTo>
                <a:lnTo>
                  <a:pt x="4132" y="209011"/>
                </a:lnTo>
                <a:lnTo>
                  <a:pt x="16204" y="165956"/>
                </a:lnTo>
                <a:lnTo>
                  <a:pt x="35478" y="126285"/>
                </a:lnTo>
                <a:lnTo>
                  <a:pt x="61213" y="90724"/>
                </a:lnTo>
                <a:lnTo>
                  <a:pt x="92670" y="60000"/>
                </a:lnTo>
                <a:lnTo>
                  <a:pt x="129109" y="34839"/>
                </a:lnTo>
                <a:lnTo>
                  <a:pt x="169790" y="15968"/>
                </a:lnTo>
                <a:lnTo>
                  <a:pt x="213974" y="4113"/>
                </a:lnTo>
                <a:lnTo>
                  <a:pt x="260921" y="0"/>
                </a:lnTo>
                <a:lnTo>
                  <a:pt x="307865" y="4114"/>
                </a:lnTo>
                <a:lnTo>
                  <a:pt x="352050" y="15975"/>
                </a:lnTo>
                <a:lnTo>
                  <a:pt x="392737" y="34863"/>
                </a:lnTo>
                <a:lnTo>
                  <a:pt x="429189" y="60056"/>
                </a:lnTo>
                <a:lnTo>
                  <a:pt x="460668" y="90833"/>
                </a:lnTo>
                <a:lnTo>
                  <a:pt x="486436" y="126473"/>
                </a:lnTo>
                <a:lnTo>
                  <a:pt x="505756" y="166254"/>
                </a:lnTo>
                <a:lnTo>
                  <a:pt x="517888" y="209457"/>
                </a:lnTo>
                <a:lnTo>
                  <a:pt x="522097" y="255358"/>
                </a:lnTo>
                <a:lnTo>
                  <a:pt x="517888" y="301260"/>
                </a:lnTo>
                <a:lnTo>
                  <a:pt x="505756" y="344462"/>
                </a:lnTo>
                <a:lnTo>
                  <a:pt x="486436" y="384244"/>
                </a:lnTo>
                <a:lnTo>
                  <a:pt x="460668" y="419884"/>
                </a:lnTo>
                <a:lnTo>
                  <a:pt x="429189" y="450661"/>
                </a:lnTo>
                <a:lnTo>
                  <a:pt x="392737" y="475854"/>
                </a:lnTo>
                <a:lnTo>
                  <a:pt x="352050" y="494742"/>
                </a:lnTo>
                <a:lnTo>
                  <a:pt x="307865" y="506603"/>
                </a:lnTo>
                <a:lnTo>
                  <a:pt x="260921" y="510717"/>
                </a:lnTo>
                <a:close/>
              </a:path>
            </a:pathLst>
          </a:custGeom>
          <a:solidFill>
            <a:srgbClr val="C00000"/>
          </a:solidFill>
        </p:spPr>
        <p:txBody>
          <a:bodyPr wrap="square" lIns="0" tIns="0" rIns="0" bIns="0" rtlCol="0"/>
          <a:lstStyle/>
          <a:p/>
        </p:txBody>
      </p:sp>
      <p:sp>
        <p:nvSpPr>
          <p:cNvPr id="22" name="object 22"/>
          <p:cNvSpPr txBox="1"/>
          <p:nvPr/>
        </p:nvSpPr>
        <p:spPr>
          <a:xfrm>
            <a:off x="2264702" y="3719855"/>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5</a:t>
            </a:r>
            <a:endParaRPr sz="3200">
              <a:latin typeface="Calibri" panose="020F0502020204030204"/>
              <a:cs typeface="Calibri" panose="020F0502020204030204"/>
            </a:endParaRPr>
          </a:p>
        </p:txBody>
      </p:sp>
      <p:sp>
        <p:nvSpPr>
          <p:cNvPr id="23" name="object 23"/>
          <p:cNvSpPr/>
          <p:nvPr/>
        </p:nvSpPr>
        <p:spPr>
          <a:xfrm>
            <a:off x="2415539" y="4401311"/>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24" name="object 24"/>
          <p:cNvSpPr/>
          <p:nvPr/>
        </p:nvSpPr>
        <p:spPr>
          <a:xfrm>
            <a:off x="8938259" y="4401146"/>
            <a:ext cx="522605" cy="511175"/>
          </a:xfrm>
          <a:custGeom>
            <a:avLst/>
            <a:gdLst/>
            <a:ahLst/>
            <a:cxnLst/>
            <a:rect l="l" t="t" r="r" b="b"/>
            <a:pathLst>
              <a:path w="522604" h="511175">
                <a:moveTo>
                  <a:pt x="261353" y="510717"/>
                </a:moveTo>
                <a:lnTo>
                  <a:pt x="214405" y="506602"/>
                </a:lnTo>
                <a:lnTo>
                  <a:pt x="170217" y="494733"/>
                </a:lnTo>
                <a:lnTo>
                  <a:pt x="129524" y="475826"/>
                </a:lnTo>
                <a:lnTo>
                  <a:pt x="93064" y="450597"/>
                </a:lnTo>
                <a:lnTo>
                  <a:pt x="61571" y="419761"/>
                </a:lnTo>
                <a:lnTo>
                  <a:pt x="35782" y="384035"/>
                </a:lnTo>
                <a:lnTo>
                  <a:pt x="16433" y="344135"/>
                </a:lnTo>
                <a:lnTo>
                  <a:pt x="4260" y="300775"/>
                </a:lnTo>
                <a:lnTo>
                  <a:pt x="0" y="254673"/>
                </a:lnTo>
                <a:lnTo>
                  <a:pt x="4260" y="208975"/>
                </a:lnTo>
                <a:lnTo>
                  <a:pt x="16433" y="165932"/>
                </a:lnTo>
                <a:lnTo>
                  <a:pt x="35782" y="126269"/>
                </a:lnTo>
                <a:lnTo>
                  <a:pt x="61571" y="90715"/>
                </a:lnTo>
                <a:lnTo>
                  <a:pt x="93064" y="59996"/>
                </a:lnTo>
                <a:lnTo>
                  <a:pt x="129524" y="34837"/>
                </a:lnTo>
                <a:lnTo>
                  <a:pt x="170217" y="15968"/>
                </a:lnTo>
                <a:lnTo>
                  <a:pt x="214405" y="4113"/>
                </a:lnTo>
                <a:lnTo>
                  <a:pt x="261353" y="0"/>
                </a:lnTo>
                <a:lnTo>
                  <a:pt x="308297" y="4114"/>
                </a:lnTo>
                <a:lnTo>
                  <a:pt x="352480" y="15975"/>
                </a:lnTo>
                <a:lnTo>
                  <a:pt x="393166" y="34863"/>
                </a:lnTo>
                <a:lnTo>
                  <a:pt x="429616" y="60056"/>
                </a:lnTo>
                <a:lnTo>
                  <a:pt x="461093" y="90833"/>
                </a:lnTo>
                <a:lnTo>
                  <a:pt x="486859" y="126473"/>
                </a:lnTo>
                <a:lnTo>
                  <a:pt x="506176" y="166254"/>
                </a:lnTo>
                <a:lnTo>
                  <a:pt x="518308" y="209457"/>
                </a:lnTo>
                <a:lnTo>
                  <a:pt x="522516" y="255358"/>
                </a:lnTo>
                <a:lnTo>
                  <a:pt x="518308" y="301257"/>
                </a:lnTo>
                <a:lnTo>
                  <a:pt x="506176" y="344457"/>
                </a:lnTo>
                <a:lnTo>
                  <a:pt x="486859" y="384238"/>
                </a:lnTo>
                <a:lnTo>
                  <a:pt x="461093" y="419879"/>
                </a:lnTo>
                <a:lnTo>
                  <a:pt x="429616" y="450657"/>
                </a:lnTo>
                <a:lnTo>
                  <a:pt x="393166" y="475851"/>
                </a:lnTo>
                <a:lnTo>
                  <a:pt x="352480" y="494740"/>
                </a:lnTo>
                <a:lnTo>
                  <a:pt x="308297" y="506603"/>
                </a:lnTo>
                <a:lnTo>
                  <a:pt x="261353" y="510717"/>
                </a:lnTo>
                <a:close/>
              </a:path>
            </a:pathLst>
          </a:custGeom>
          <a:solidFill>
            <a:srgbClr val="D9D9D9"/>
          </a:solidFill>
        </p:spPr>
        <p:txBody>
          <a:bodyPr wrap="square" lIns="0" tIns="0" rIns="0" bIns="0" rtlCol="0"/>
          <a:lstStyle/>
          <a:p/>
        </p:txBody>
      </p:sp>
      <p:sp>
        <p:nvSpPr>
          <p:cNvPr id="25" name="object 25"/>
          <p:cNvSpPr/>
          <p:nvPr/>
        </p:nvSpPr>
        <p:spPr>
          <a:xfrm>
            <a:off x="2119883" y="4400600"/>
            <a:ext cx="522605" cy="511175"/>
          </a:xfrm>
          <a:custGeom>
            <a:avLst/>
            <a:gdLst/>
            <a:ahLst/>
            <a:cxnLst/>
            <a:rect l="l" t="t" r="r" b="b"/>
            <a:pathLst>
              <a:path w="522605" h="511175">
                <a:moveTo>
                  <a:pt x="260921" y="510717"/>
                </a:moveTo>
                <a:lnTo>
                  <a:pt x="213974" y="506603"/>
                </a:lnTo>
                <a:lnTo>
                  <a:pt x="169790" y="494740"/>
                </a:lnTo>
                <a:lnTo>
                  <a:pt x="129109" y="475849"/>
                </a:lnTo>
                <a:lnTo>
                  <a:pt x="92670" y="450649"/>
                </a:lnTo>
                <a:lnTo>
                  <a:pt x="61213" y="419860"/>
                </a:lnTo>
                <a:lnTo>
                  <a:pt x="35478" y="384203"/>
                </a:lnTo>
                <a:lnTo>
                  <a:pt x="16204" y="344397"/>
                </a:lnTo>
                <a:lnTo>
                  <a:pt x="4132" y="301162"/>
                </a:lnTo>
                <a:lnTo>
                  <a:pt x="0" y="255219"/>
                </a:lnTo>
                <a:lnTo>
                  <a:pt x="4132" y="209358"/>
                </a:lnTo>
                <a:lnTo>
                  <a:pt x="16204" y="166189"/>
                </a:lnTo>
                <a:lnTo>
                  <a:pt x="35478" y="126431"/>
                </a:lnTo>
                <a:lnTo>
                  <a:pt x="61213" y="90809"/>
                </a:lnTo>
                <a:lnTo>
                  <a:pt x="92670" y="60044"/>
                </a:lnTo>
                <a:lnTo>
                  <a:pt x="129109" y="34858"/>
                </a:lnTo>
                <a:lnTo>
                  <a:pt x="169790" y="15974"/>
                </a:lnTo>
                <a:lnTo>
                  <a:pt x="213974" y="4113"/>
                </a:lnTo>
                <a:lnTo>
                  <a:pt x="260921" y="0"/>
                </a:lnTo>
                <a:lnTo>
                  <a:pt x="307865" y="4114"/>
                </a:lnTo>
                <a:lnTo>
                  <a:pt x="352050" y="15975"/>
                </a:lnTo>
                <a:lnTo>
                  <a:pt x="392737" y="34863"/>
                </a:lnTo>
                <a:lnTo>
                  <a:pt x="429189" y="60056"/>
                </a:lnTo>
                <a:lnTo>
                  <a:pt x="460668" y="90833"/>
                </a:lnTo>
                <a:lnTo>
                  <a:pt x="486436" y="126473"/>
                </a:lnTo>
                <a:lnTo>
                  <a:pt x="505756" y="166254"/>
                </a:lnTo>
                <a:lnTo>
                  <a:pt x="517888" y="209457"/>
                </a:lnTo>
                <a:lnTo>
                  <a:pt x="522097" y="255358"/>
                </a:lnTo>
                <a:lnTo>
                  <a:pt x="517888" y="301260"/>
                </a:lnTo>
                <a:lnTo>
                  <a:pt x="505756" y="344462"/>
                </a:lnTo>
                <a:lnTo>
                  <a:pt x="486436" y="384244"/>
                </a:lnTo>
                <a:lnTo>
                  <a:pt x="460668" y="419884"/>
                </a:lnTo>
                <a:lnTo>
                  <a:pt x="429189" y="450661"/>
                </a:lnTo>
                <a:lnTo>
                  <a:pt x="392737" y="475854"/>
                </a:lnTo>
                <a:lnTo>
                  <a:pt x="352050" y="494742"/>
                </a:lnTo>
                <a:lnTo>
                  <a:pt x="307865" y="506603"/>
                </a:lnTo>
                <a:lnTo>
                  <a:pt x="260921" y="510717"/>
                </a:lnTo>
                <a:close/>
              </a:path>
            </a:pathLst>
          </a:custGeom>
          <a:solidFill>
            <a:srgbClr val="C00000"/>
          </a:solidFill>
        </p:spPr>
        <p:txBody>
          <a:bodyPr wrap="square" lIns="0" tIns="0" rIns="0" bIns="0" rtlCol="0"/>
          <a:lstStyle/>
          <a:p/>
        </p:txBody>
      </p:sp>
      <p:sp>
        <p:nvSpPr>
          <p:cNvPr id="26" name="object 26"/>
          <p:cNvSpPr txBox="1"/>
          <p:nvPr/>
        </p:nvSpPr>
        <p:spPr>
          <a:xfrm>
            <a:off x="2264702" y="4373156"/>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6</a:t>
            </a:r>
            <a:endParaRPr sz="3200">
              <a:latin typeface="Calibri" panose="020F0502020204030204"/>
              <a:cs typeface="Calibri" panose="020F0502020204030204"/>
            </a:endParaRPr>
          </a:p>
        </p:txBody>
      </p:sp>
      <p:sp>
        <p:nvSpPr>
          <p:cNvPr id="27" name="object 27"/>
          <p:cNvSpPr/>
          <p:nvPr/>
        </p:nvSpPr>
        <p:spPr>
          <a:xfrm>
            <a:off x="2415539" y="5055108"/>
            <a:ext cx="6791325" cy="509270"/>
          </a:xfrm>
          <a:custGeom>
            <a:avLst/>
            <a:gdLst/>
            <a:ahLst/>
            <a:cxnLst/>
            <a:rect l="l" t="t" r="r" b="b"/>
            <a:pathLst>
              <a:path w="6791325" h="509270">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28" name="object 28"/>
          <p:cNvSpPr/>
          <p:nvPr/>
        </p:nvSpPr>
        <p:spPr>
          <a:xfrm>
            <a:off x="8938259" y="5054447"/>
            <a:ext cx="522605" cy="511175"/>
          </a:xfrm>
          <a:custGeom>
            <a:avLst/>
            <a:gdLst/>
            <a:ahLst/>
            <a:cxnLst/>
            <a:rect l="l" t="t" r="r" b="b"/>
            <a:pathLst>
              <a:path w="522604" h="511175">
                <a:moveTo>
                  <a:pt x="261353" y="510717"/>
                </a:moveTo>
                <a:lnTo>
                  <a:pt x="214405" y="506603"/>
                </a:lnTo>
                <a:lnTo>
                  <a:pt x="170217" y="494738"/>
                </a:lnTo>
                <a:lnTo>
                  <a:pt x="129524" y="475844"/>
                </a:lnTo>
                <a:lnTo>
                  <a:pt x="93064" y="450640"/>
                </a:lnTo>
                <a:lnTo>
                  <a:pt x="61571" y="419846"/>
                </a:lnTo>
                <a:lnTo>
                  <a:pt x="35782" y="384182"/>
                </a:lnTo>
                <a:lnTo>
                  <a:pt x="16433" y="344368"/>
                </a:lnTo>
                <a:lnTo>
                  <a:pt x="4260" y="301123"/>
                </a:lnTo>
                <a:lnTo>
                  <a:pt x="0" y="255168"/>
                </a:lnTo>
                <a:lnTo>
                  <a:pt x="4260" y="209323"/>
                </a:lnTo>
                <a:lnTo>
                  <a:pt x="16433" y="166165"/>
                </a:lnTo>
                <a:lnTo>
                  <a:pt x="35782" y="126416"/>
                </a:lnTo>
                <a:lnTo>
                  <a:pt x="61571" y="90800"/>
                </a:lnTo>
                <a:lnTo>
                  <a:pt x="93064" y="60039"/>
                </a:lnTo>
                <a:lnTo>
                  <a:pt x="129524" y="34856"/>
                </a:lnTo>
                <a:lnTo>
                  <a:pt x="170217" y="15973"/>
                </a:lnTo>
                <a:lnTo>
                  <a:pt x="214405" y="4113"/>
                </a:lnTo>
                <a:lnTo>
                  <a:pt x="261353" y="0"/>
                </a:lnTo>
                <a:lnTo>
                  <a:pt x="308297" y="4114"/>
                </a:lnTo>
                <a:lnTo>
                  <a:pt x="352480" y="15975"/>
                </a:lnTo>
                <a:lnTo>
                  <a:pt x="393166" y="34863"/>
                </a:lnTo>
                <a:lnTo>
                  <a:pt x="429616" y="60056"/>
                </a:lnTo>
                <a:lnTo>
                  <a:pt x="461093" y="90833"/>
                </a:lnTo>
                <a:lnTo>
                  <a:pt x="486859" y="126473"/>
                </a:lnTo>
                <a:lnTo>
                  <a:pt x="506176" y="166254"/>
                </a:lnTo>
                <a:lnTo>
                  <a:pt x="518308" y="209457"/>
                </a:lnTo>
                <a:lnTo>
                  <a:pt x="522516" y="255358"/>
                </a:lnTo>
                <a:lnTo>
                  <a:pt x="518308" y="301257"/>
                </a:lnTo>
                <a:lnTo>
                  <a:pt x="506176" y="344457"/>
                </a:lnTo>
                <a:lnTo>
                  <a:pt x="486859" y="384238"/>
                </a:lnTo>
                <a:lnTo>
                  <a:pt x="461093" y="419879"/>
                </a:lnTo>
                <a:lnTo>
                  <a:pt x="429616" y="450657"/>
                </a:lnTo>
                <a:lnTo>
                  <a:pt x="393166" y="475851"/>
                </a:lnTo>
                <a:lnTo>
                  <a:pt x="352480" y="494740"/>
                </a:lnTo>
                <a:lnTo>
                  <a:pt x="308297" y="506603"/>
                </a:lnTo>
                <a:lnTo>
                  <a:pt x="261353" y="510717"/>
                </a:lnTo>
                <a:close/>
              </a:path>
            </a:pathLst>
          </a:custGeom>
          <a:solidFill>
            <a:srgbClr val="D9D9D9"/>
          </a:solidFill>
        </p:spPr>
        <p:txBody>
          <a:bodyPr wrap="square" lIns="0" tIns="0" rIns="0" bIns="0" rtlCol="0"/>
          <a:lstStyle/>
          <a:p/>
        </p:txBody>
      </p:sp>
      <p:sp>
        <p:nvSpPr>
          <p:cNvPr id="29" name="object 29"/>
          <p:cNvSpPr/>
          <p:nvPr/>
        </p:nvSpPr>
        <p:spPr>
          <a:xfrm>
            <a:off x="2119883" y="5053901"/>
            <a:ext cx="522605" cy="511175"/>
          </a:xfrm>
          <a:custGeom>
            <a:avLst/>
            <a:gdLst/>
            <a:ahLst/>
            <a:cxnLst/>
            <a:rect l="l" t="t" r="r" b="b"/>
            <a:pathLst>
              <a:path w="522605" h="511175">
                <a:moveTo>
                  <a:pt x="260921" y="510717"/>
                </a:moveTo>
                <a:lnTo>
                  <a:pt x="213972" y="506603"/>
                </a:lnTo>
                <a:lnTo>
                  <a:pt x="169781" y="494742"/>
                </a:lnTo>
                <a:lnTo>
                  <a:pt x="129090" y="475854"/>
                </a:lnTo>
                <a:lnTo>
                  <a:pt x="92638" y="450661"/>
                </a:lnTo>
                <a:lnTo>
                  <a:pt x="61213" y="419945"/>
                </a:lnTo>
                <a:lnTo>
                  <a:pt x="35478" y="384349"/>
                </a:lnTo>
                <a:lnTo>
                  <a:pt x="16204" y="344630"/>
                </a:lnTo>
                <a:lnTo>
                  <a:pt x="4132" y="301510"/>
                </a:lnTo>
                <a:lnTo>
                  <a:pt x="0" y="255714"/>
                </a:lnTo>
                <a:lnTo>
                  <a:pt x="4132" y="209706"/>
                </a:lnTo>
                <a:lnTo>
                  <a:pt x="16204" y="166422"/>
                </a:lnTo>
                <a:lnTo>
                  <a:pt x="35478" y="126578"/>
                </a:lnTo>
                <a:lnTo>
                  <a:pt x="61213" y="90894"/>
                </a:lnTo>
                <a:lnTo>
                  <a:pt x="92715" y="60056"/>
                </a:lnTo>
                <a:lnTo>
                  <a:pt x="129137" y="34863"/>
                </a:lnTo>
                <a:lnTo>
                  <a:pt x="169804" y="15975"/>
                </a:lnTo>
                <a:lnTo>
                  <a:pt x="213979" y="4114"/>
                </a:lnTo>
                <a:lnTo>
                  <a:pt x="260921" y="0"/>
                </a:lnTo>
                <a:lnTo>
                  <a:pt x="307867" y="4114"/>
                </a:lnTo>
                <a:lnTo>
                  <a:pt x="352058" y="15979"/>
                </a:lnTo>
                <a:lnTo>
                  <a:pt x="392756" y="34876"/>
                </a:lnTo>
                <a:lnTo>
                  <a:pt x="429221" y="60087"/>
                </a:lnTo>
                <a:lnTo>
                  <a:pt x="460668" y="90833"/>
                </a:lnTo>
                <a:lnTo>
                  <a:pt x="486436" y="126473"/>
                </a:lnTo>
                <a:lnTo>
                  <a:pt x="505756" y="166254"/>
                </a:lnTo>
                <a:lnTo>
                  <a:pt x="517888" y="209457"/>
                </a:lnTo>
                <a:lnTo>
                  <a:pt x="522097" y="255358"/>
                </a:lnTo>
                <a:lnTo>
                  <a:pt x="517888" y="301260"/>
                </a:lnTo>
                <a:lnTo>
                  <a:pt x="505756" y="344462"/>
                </a:lnTo>
                <a:lnTo>
                  <a:pt x="486436" y="384244"/>
                </a:lnTo>
                <a:lnTo>
                  <a:pt x="460668" y="419884"/>
                </a:lnTo>
                <a:lnTo>
                  <a:pt x="429144" y="450692"/>
                </a:lnTo>
                <a:lnTo>
                  <a:pt x="392709" y="475867"/>
                </a:lnTo>
                <a:lnTo>
                  <a:pt x="352035" y="494746"/>
                </a:lnTo>
                <a:lnTo>
                  <a:pt x="307860" y="506604"/>
                </a:lnTo>
                <a:lnTo>
                  <a:pt x="260921" y="510717"/>
                </a:lnTo>
                <a:close/>
              </a:path>
            </a:pathLst>
          </a:custGeom>
          <a:solidFill>
            <a:srgbClr val="C00000"/>
          </a:solidFill>
        </p:spPr>
        <p:txBody>
          <a:bodyPr wrap="square" lIns="0" tIns="0" rIns="0" bIns="0" rtlCol="0"/>
          <a:lstStyle/>
          <a:p/>
        </p:txBody>
      </p:sp>
      <p:sp>
        <p:nvSpPr>
          <p:cNvPr id="30" name="object 30"/>
          <p:cNvSpPr txBox="1"/>
          <p:nvPr/>
        </p:nvSpPr>
        <p:spPr>
          <a:xfrm>
            <a:off x="2264702" y="5026456"/>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7</a:t>
            </a:r>
            <a:endParaRPr sz="3200">
              <a:latin typeface="Calibri" panose="020F0502020204030204"/>
              <a:cs typeface="Calibri" panose="020F0502020204030204"/>
            </a:endParaRPr>
          </a:p>
        </p:txBody>
      </p:sp>
      <p:sp>
        <p:nvSpPr>
          <p:cNvPr id="31" name="object 31"/>
          <p:cNvSpPr/>
          <p:nvPr/>
        </p:nvSpPr>
        <p:spPr>
          <a:xfrm>
            <a:off x="2415539" y="5707379"/>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32" name="object 32"/>
          <p:cNvSpPr/>
          <p:nvPr/>
        </p:nvSpPr>
        <p:spPr>
          <a:xfrm>
            <a:off x="8938259" y="5707748"/>
            <a:ext cx="522605" cy="511175"/>
          </a:xfrm>
          <a:custGeom>
            <a:avLst/>
            <a:gdLst/>
            <a:ahLst/>
            <a:cxnLst/>
            <a:rect l="l" t="t" r="r" b="b"/>
            <a:pathLst>
              <a:path w="522604" h="511175">
                <a:moveTo>
                  <a:pt x="261353" y="510717"/>
                </a:moveTo>
                <a:lnTo>
                  <a:pt x="214403" y="506603"/>
                </a:lnTo>
                <a:lnTo>
                  <a:pt x="170210" y="494742"/>
                </a:lnTo>
                <a:lnTo>
                  <a:pt x="129508" y="475854"/>
                </a:lnTo>
                <a:lnTo>
                  <a:pt x="93036" y="450661"/>
                </a:lnTo>
                <a:lnTo>
                  <a:pt x="61533" y="419884"/>
                </a:lnTo>
                <a:lnTo>
                  <a:pt x="35782" y="384334"/>
                </a:lnTo>
                <a:lnTo>
                  <a:pt x="16433" y="344606"/>
                </a:lnTo>
                <a:lnTo>
                  <a:pt x="4260" y="301474"/>
                </a:lnTo>
                <a:lnTo>
                  <a:pt x="0" y="255663"/>
                </a:lnTo>
                <a:lnTo>
                  <a:pt x="4260" y="209671"/>
                </a:lnTo>
                <a:lnTo>
                  <a:pt x="16433" y="166398"/>
                </a:lnTo>
                <a:lnTo>
                  <a:pt x="35782" y="126563"/>
                </a:lnTo>
                <a:lnTo>
                  <a:pt x="61624" y="90833"/>
                </a:lnTo>
                <a:lnTo>
                  <a:pt x="93102" y="60056"/>
                </a:lnTo>
                <a:lnTo>
                  <a:pt x="129549" y="34863"/>
                </a:lnTo>
                <a:lnTo>
                  <a:pt x="170229" y="15975"/>
                </a:lnTo>
                <a:lnTo>
                  <a:pt x="214410" y="4114"/>
                </a:lnTo>
                <a:lnTo>
                  <a:pt x="261353" y="0"/>
                </a:lnTo>
                <a:lnTo>
                  <a:pt x="308298" y="4114"/>
                </a:lnTo>
                <a:lnTo>
                  <a:pt x="352487" y="15978"/>
                </a:lnTo>
                <a:lnTo>
                  <a:pt x="393182" y="34874"/>
                </a:lnTo>
                <a:lnTo>
                  <a:pt x="429643" y="60083"/>
                </a:lnTo>
                <a:lnTo>
                  <a:pt x="461130" y="90885"/>
                </a:lnTo>
                <a:lnTo>
                  <a:pt x="486859" y="126473"/>
                </a:lnTo>
                <a:lnTo>
                  <a:pt x="506176" y="166254"/>
                </a:lnTo>
                <a:lnTo>
                  <a:pt x="518308" y="209457"/>
                </a:lnTo>
                <a:lnTo>
                  <a:pt x="522516" y="255358"/>
                </a:lnTo>
                <a:lnTo>
                  <a:pt x="518308" y="301260"/>
                </a:lnTo>
                <a:lnTo>
                  <a:pt x="506176" y="344462"/>
                </a:lnTo>
                <a:lnTo>
                  <a:pt x="486859" y="384244"/>
                </a:lnTo>
                <a:lnTo>
                  <a:pt x="461039" y="419936"/>
                </a:lnTo>
                <a:lnTo>
                  <a:pt x="429577" y="450688"/>
                </a:lnTo>
                <a:lnTo>
                  <a:pt x="393141" y="475865"/>
                </a:lnTo>
                <a:lnTo>
                  <a:pt x="352468" y="494745"/>
                </a:lnTo>
                <a:lnTo>
                  <a:pt x="308292" y="506604"/>
                </a:lnTo>
                <a:lnTo>
                  <a:pt x="261353" y="510717"/>
                </a:lnTo>
                <a:close/>
              </a:path>
            </a:pathLst>
          </a:custGeom>
          <a:solidFill>
            <a:srgbClr val="D9D9D9"/>
          </a:solidFill>
        </p:spPr>
        <p:txBody>
          <a:bodyPr wrap="square" lIns="0" tIns="0" rIns="0" bIns="0" rtlCol="0"/>
          <a:lstStyle/>
          <a:p/>
        </p:txBody>
      </p:sp>
      <p:sp>
        <p:nvSpPr>
          <p:cNvPr id="33" name="object 33"/>
          <p:cNvSpPr/>
          <p:nvPr/>
        </p:nvSpPr>
        <p:spPr>
          <a:xfrm>
            <a:off x="2119883" y="5707202"/>
            <a:ext cx="522605" cy="511175"/>
          </a:xfrm>
          <a:custGeom>
            <a:avLst/>
            <a:gdLst/>
            <a:ahLst/>
            <a:cxnLst/>
            <a:rect l="l" t="t" r="r" b="b"/>
            <a:pathLst>
              <a:path w="522605" h="511175">
                <a:moveTo>
                  <a:pt x="260921" y="510717"/>
                </a:moveTo>
                <a:lnTo>
                  <a:pt x="213974" y="506602"/>
                </a:lnTo>
                <a:lnTo>
                  <a:pt x="169790" y="494734"/>
                </a:lnTo>
                <a:lnTo>
                  <a:pt x="129109" y="475829"/>
                </a:lnTo>
                <a:lnTo>
                  <a:pt x="92670" y="450602"/>
                </a:lnTo>
                <a:lnTo>
                  <a:pt x="61213" y="419769"/>
                </a:lnTo>
                <a:lnTo>
                  <a:pt x="35478" y="384045"/>
                </a:lnTo>
                <a:lnTo>
                  <a:pt x="16204" y="344146"/>
                </a:lnTo>
                <a:lnTo>
                  <a:pt x="4132" y="300787"/>
                </a:lnTo>
                <a:lnTo>
                  <a:pt x="0" y="254685"/>
                </a:lnTo>
                <a:lnTo>
                  <a:pt x="4132" y="208984"/>
                </a:lnTo>
                <a:lnTo>
                  <a:pt x="16204" y="165938"/>
                </a:lnTo>
                <a:lnTo>
                  <a:pt x="35478" y="126273"/>
                </a:lnTo>
                <a:lnTo>
                  <a:pt x="61213" y="90717"/>
                </a:lnTo>
                <a:lnTo>
                  <a:pt x="92670" y="59997"/>
                </a:lnTo>
                <a:lnTo>
                  <a:pt x="129109" y="34838"/>
                </a:lnTo>
                <a:lnTo>
                  <a:pt x="169790" y="15968"/>
                </a:lnTo>
                <a:lnTo>
                  <a:pt x="213974" y="4113"/>
                </a:lnTo>
                <a:lnTo>
                  <a:pt x="260921" y="0"/>
                </a:lnTo>
                <a:lnTo>
                  <a:pt x="307865" y="4114"/>
                </a:lnTo>
                <a:lnTo>
                  <a:pt x="352050" y="15975"/>
                </a:lnTo>
                <a:lnTo>
                  <a:pt x="392737" y="34863"/>
                </a:lnTo>
                <a:lnTo>
                  <a:pt x="429189" y="60056"/>
                </a:lnTo>
                <a:lnTo>
                  <a:pt x="460668" y="90833"/>
                </a:lnTo>
                <a:lnTo>
                  <a:pt x="486436" y="126473"/>
                </a:lnTo>
                <a:lnTo>
                  <a:pt x="505756" y="166254"/>
                </a:lnTo>
                <a:lnTo>
                  <a:pt x="517888" y="209457"/>
                </a:lnTo>
                <a:lnTo>
                  <a:pt x="522097" y="255358"/>
                </a:lnTo>
                <a:lnTo>
                  <a:pt x="517888" y="301260"/>
                </a:lnTo>
                <a:lnTo>
                  <a:pt x="505756" y="344462"/>
                </a:lnTo>
                <a:lnTo>
                  <a:pt x="486436" y="384244"/>
                </a:lnTo>
                <a:lnTo>
                  <a:pt x="460668" y="419884"/>
                </a:lnTo>
                <a:lnTo>
                  <a:pt x="429189" y="450661"/>
                </a:lnTo>
                <a:lnTo>
                  <a:pt x="392737" y="475854"/>
                </a:lnTo>
                <a:lnTo>
                  <a:pt x="352050" y="494742"/>
                </a:lnTo>
                <a:lnTo>
                  <a:pt x="307865" y="506603"/>
                </a:lnTo>
                <a:lnTo>
                  <a:pt x="260921" y="510717"/>
                </a:lnTo>
                <a:close/>
              </a:path>
            </a:pathLst>
          </a:custGeom>
          <a:solidFill>
            <a:srgbClr val="C00000"/>
          </a:solidFill>
        </p:spPr>
        <p:txBody>
          <a:bodyPr wrap="square" lIns="0" tIns="0" rIns="0" bIns="0" rtlCol="0"/>
          <a:lstStyle/>
          <a:p/>
        </p:txBody>
      </p:sp>
      <p:sp>
        <p:nvSpPr>
          <p:cNvPr id="34" name="object 34"/>
          <p:cNvSpPr txBox="1"/>
          <p:nvPr/>
        </p:nvSpPr>
        <p:spPr>
          <a:xfrm>
            <a:off x="2264702" y="5679757"/>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8</a:t>
            </a:r>
            <a:endParaRPr sz="3200">
              <a:latin typeface="Calibri" panose="020F0502020204030204"/>
              <a:cs typeface="Calibri" panose="020F0502020204030204"/>
            </a:endParaRPr>
          </a:p>
        </p:txBody>
      </p:sp>
      <p:sp>
        <p:nvSpPr>
          <p:cNvPr id="35" name="object 35"/>
          <p:cNvSpPr txBox="1"/>
          <p:nvPr/>
        </p:nvSpPr>
        <p:spPr>
          <a:xfrm>
            <a:off x="2982899" y="1192682"/>
            <a:ext cx="251015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C00000"/>
                </a:solidFill>
                <a:latin typeface="微软雅黑" panose="020B0503020204020204" charset="-122"/>
                <a:cs typeface="微软雅黑" panose="020B0503020204020204" charset="-122"/>
              </a:rPr>
              <a:t>关于</a:t>
            </a:r>
            <a:r>
              <a:rPr sz="2400" b="1" spc="-5" dirty="0">
                <a:solidFill>
                  <a:srgbClr val="C00000"/>
                </a:solidFill>
                <a:latin typeface="微软雅黑" panose="020B0503020204020204" charset="-122"/>
                <a:cs typeface="微软雅黑" panose="020B0503020204020204" charset="-122"/>
              </a:rPr>
              <a:t>ISA</a:t>
            </a:r>
            <a:r>
              <a:rPr sz="2400" b="1" dirty="0">
                <a:solidFill>
                  <a:srgbClr val="C00000"/>
                </a:solidFill>
                <a:latin typeface="微软雅黑" panose="020B0503020204020204" charset="-122"/>
                <a:cs typeface="微软雅黑" panose="020B0503020204020204" charset="-122"/>
              </a:rPr>
              <a:t>和</a:t>
            </a:r>
            <a:r>
              <a:rPr sz="2400" b="1" spc="-5" dirty="0">
                <a:solidFill>
                  <a:srgbClr val="C00000"/>
                </a:solidFill>
                <a:latin typeface="微软雅黑" panose="020B0503020204020204" charset="-122"/>
                <a:cs typeface="微软雅黑" panose="020B0503020204020204" charset="-122"/>
              </a:rPr>
              <a:t>RISC-V</a:t>
            </a:r>
            <a:endParaRPr sz="2400">
              <a:latin typeface="微软雅黑" panose="020B0503020204020204" charset="-122"/>
              <a:cs typeface="微软雅黑" panose="020B0503020204020204" charset="-122"/>
            </a:endParaRPr>
          </a:p>
        </p:txBody>
      </p:sp>
      <p:sp>
        <p:nvSpPr>
          <p:cNvPr id="36" name="object 36"/>
          <p:cNvSpPr txBox="1"/>
          <p:nvPr/>
        </p:nvSpPr>
        <p:spPr>
          <a:xfrm>
            <a:off x="2982899" y="1845360"/>
            <a:ext cx="364744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C00000"/>
                </a:solidFill>
                <a:latin typeface="微软雅黑" panose="020B0503020204020204" charset="-122"/>
                <a:cs typeface="微软雅黑" panose="020B0503020204020204" charset="-122"/>
              </a:rPr>
              <a:t>开源</a:t>
            </a:r>
            <a:r>
              <a:rPr sz="2400" b="1" spc="-5" dirty="0">
                <a:solidFill>
                  <a:srgbClr val="C00000"/>
                </a:solidFill>
                <a:latin typeface="微软雅黑" panose="020B0503020204020204" charset="-122"/>
                <a:cs typeface="微软雅黑" panose="020B0503020204020204" charset="-122"/>
              </a:rPr>
              <a:t>RISC-V</a:t>
            </a:r>
            <a:r>
              <a:rPr sz="2400" b="1" dirty="0">
                <a:solidFill>
                  <a:srgbClr val="C00000"/>
                </a:solidFill>
                <a:latin typeface="微软雅黑" panose="020B0503020204020204" charset="-122"/>
                <a:cs typeface="微软雅黑" panose="020B0503020204020204" charset="-122"/>
              </a:rPr>
              <a:t>内核蜂鸟</a:t>
            </a:r>
            <a:r>
              <a:rPr sz="2400" b="1" spc="-5" dirty="0">
                <a:solidFill>
                  <a:srgbClr val="C00000"/>
                </a:solidFill>
                <a:latin typeface="微软雅黑" panose="020B0503020204020204" charset="-122"/>
                <a:cs typeface="微软雅黑" panose="020B0503020204020204" charset="-122"/>
              </a:rPr>
              <a:t>E203</a:t>
            </a:r>
            <a:endParaRPr sz="2400">
              <a:latin typeface="微软雅黑" panose="020B0503020204020204" charset="-122"/>
              <a:cs typeface="微软雅黑" panose="020B0503020204020204" charset="-122"/>
            </a:endParaRPr>
          </a:p>
        </p:txBody>
      </p:sp>
      <p:sp>
        <p:nvSpPr>
          <p:cNvPr id="37" name="object 37"/>
          <p:cNvSpPr txBox="1"/>
          <p:nvPr/>
        </p:nvSpPr>
        <p:spPr>
          <a:xfrm>
            <a:off x="2982899" y="2499283"/>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C00000"/>
                </a:solidFill>
                <a:latin typeface="微软雅黑" panose="020B0503020204020204" charset="-122"/>
                <a:cs typeface="微软雅黑" panose="020B0503020204020204" charset="-122"/>
              </a:rPr>
              <a:t>RI</a:t>
            </a:r>
            <a:r>
              <a:rPr sz="2400" b="1" dirty="0">
                <a:solidFill>
                  <a:srgbClr val="C00000"/>
                </a:solidFill>
                <a:latin typeface="微软雅黑" panose="020B0503020204020204" charset="-122"/>
                <a:cs typeface="微软雅黑" panose="020B0503020204020204" charset="-122"/>
              </a:rPr>
              <a:t>S</a:t>
            </a:r>
            <a:r>
              <a:rPr sz="2400" b="1" spc="-5" dirty="0">
                <a:solidFill>
                  <a:srgbClr val="C00000"/>
                </a:solidFill>
                <a:latin typeface="微软雅黑" panose="020B0503020204020204" charset="-122"/>
                <a:cs typeface="微软雅黑" panose="020B0503020204020204" charset="-122"/>
              </a:rPr>
              <a:t>C</a:t>
            </a:r>
            <a:r>
              <a:rPr sz="2400" b="1" dirty="0">
                <a:solidFill>
                  <a:srgbClr val="C00000"/>
                </a:solidFill>
                <a:latin typeface="微软雅黑" panose="020B0503020204020204" charset="-122"/>
                <a:cs typeface="微软雅黑" panose="020B0503020204020204" charset="-122"/>
              </a:rPr>
              <a:t>-</a:t>
            </a:r>
            <a:r>
              <a:rPr sz="2400" b="1" spc="-5" dirty="0">
                <a:solidFill>
                  <a:srgbClr val="C00000"/>
                </a:solidFill>
                <a:latin typeface="微软雅黑" panose="020B0503020204020204" charset="-122"/>
                <a:cs typeface="微软雅黑" panose="020B0503020204020204" charset="-122"/>
              </a:rPr>
              <a:t>V</a:t>
            </a:r>
            <a:r>
              <a:rPr sz="2400" b="1" dirty="0">
                <a:solidFill>
                  <a:srgbClr val="C00000"/>
                </a:solidFill>
                <a:latin typeface="微软雅黑" panose="020B0503020204020204" charset="-122"/>
                <a:cs typeface="微软雅黑" panose="020B0503020204020204" charset="-122"/>
              </a:rPr>
              <a:t>的中文书籍</a:t>
            </a:r>
            <a:endParaRPr sz="2400">
              <a:latin typeface="微软雅黑" panose="020B0503020204020204" charset="-122"/>
              <a:cs typeface="微软雅黑" panose="020B0503020204020204" charset="-122"/>
            </a:endParaRPr>
          </a:p>
        </p:txBody>
      </p:sp>
      <p:sp>
        <p:nvSpPr>
          <p:cNvPr id="38" name="object 38"/>
          <p:cNvSpPr txBox="1"/>
          <p:nvPr/>
        </p:nvSpPr>
        <p:spPr>
          <a:xfrm>
            <a:off x="2982899" y="3185159"/>
            <a:ext cx="3875404"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C00000"/>
                </a:solidFill>
                <a:latin typeface="微软雅黑" panose="020B0503020204020204" charset="-122"/>
                <a:cs typeface="微软雅黑" panose="020B0503020204020204" charset="-122"/>
              </a:rPr>
              <a:t>蜂鸟</a:t>
            </a:r>
            <a:r>
              <a:rPr sz="2400" b="1" spc="-5" dirty="0">
                <a:solidFill>
                  <a:srgbClr val="C00000"/>
                </a:solidFill>
                <a:latin typeface="微软雅黑" panose="020B0503020204020204" charset="-122"/>
                <a:cs typeface="微软雅黑" panose="020B0503020204020204" charset="-122"/>
              </a:rPr>
              <a:t>E203</a:t>
            </a:r>
            <a:r>
              <a:rPr sz="2400" b="1" dirty="0">
                <a:solidFill>
                  <a:srgbClr val="C00000"/>
                </a:solidFill>
                <a:latin typeface="微软雅黑" panose="020B0503020204020204" charset="-122"/>
                <a:cs typeface="微软雅黑" panose="020B0503020204020204" charset="-122"/>
              </a:rPr>
              <a:t>软硬件D</a:t>
            </a:r>
            <a:r>
              <a:rPr sz="2400" b="1" spc="-5" dirty="0">
                <a:solidFill>
                  <a:srgbClr val="C00000"/>
                </a:solidFill>
                <a:latin typeface="微软雅黑" panose="020B0503020204020204" charset="-122"/>
                <a:cs typeface="微软雅黑" panose="020B0503020204020204" charset="-122"/>
              </a:rPr>
              <a:t>E</a:t>
            </a:r>
            <a:r>
              <a:rPr sz="2400" b="1" dirty="0">
                <a:solidFill>
                  <a:srgbClr val="C00000"/>
                </a:solidFill>
                <a:latin typeface="微软雅黑" panose="020B0503020204020204" charset="-122"/>
                <a:cs typeface="微软雅黑" panose="020B0503020204020204" charset="-122"/>
              </a:rPr>
              <a:t>MO视频</a:t>
            </a:r>
            <a:endParaRPr sz="2400">
              <a:latin typeface="微软雅黑" panose="020B0503020204020204" charset="-122"/>
              <a:cs typeface="微软雅黑" panose="020B0503020204020204" charset="-122"/>
            </a:endParaRPr>
          </a:p>
        </p:txBody>
      </p:sp>
      <p:sp>
        <p:nvSpPr>
          <p:cNvPr id="39" name="object 39"/>
          <p:cNvSpPr txBox="1"/>
          <p:nvPr/>
        </p:nvSpPr>
        <p:spPr>
          <a:xfrm>
            <a:off x="2982899" y="3772699"/>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C00000"/>
                </a:solidFill>
                <a:latin typeface="微软雅黑" panose="020B0503020204020204" charset="-122"/>
                <a:cs typeface="微软雅黑" panose="020B0503020204020204" charset="-122"/>
              </a:rPr>
              <a:t>RI</a:t>
            </a:r>
            <a:r>
              <a:rPr sz="2400" b="1" dirty="0">
                <a:solidFill>
                  <a:srgbClr val="C00000"/>
                </a:solidFill>
                <a:latin typeface="微软雅黑" panose="020B0503020204020204" charset="-122"/>
                <a:cs typeface="微软雅黑" panose="020B0503020204020204" charset="-122"/>
              </a:rPr>
              <a:t>S</a:t>
            </a:r>
            <a:r>
              <a:rPr sz="2400" b="1" spc="-5" dirty="0">
                <a:solidFill>
                  <a:srgbClr val="C00000"/>
                </a:solidFill>
                <a:latin typeface="微软雅黑" panose="020B0503020204020204" charset="-122"/>
                <a:cs typeface="微软雅黑" panose="020B0503020204020204" charset="-122"/>
              </a:rPr>
              <a:t>C</a:t>
            </a:r>
            <a:r>
              <a:rPr sz="2400" b="1" dirty="0">
                <a:solidFill>
                  <a:srgbClr val="C00000"/>
                </a:solidFill>
                <a:latin typeface="微软雅黑" panose="020B0503020204020204" charset="-122"/>
                <a:cs typeface="微软雅黑" panose="020B0503020204020204" charset="-122"/>
              </a:rPr>
              <a:t>-</a:t>
            </a:r>
            <a:r>
              <a:rPr sz="2400" b="1" spc="-5" dirty="0">
                <a:solidFill>
                  <a:srgbClr val="C00000"/>
                </a:solidFill>
                <a:latin typeface="微软雅黑" panose="020B0503020204020204" charset="-122"/>
                <a:cs typeface="微软雅黑" panose="020B0503020204020204" charset="-122"/>
              </a:rPr>
              <a:t>V</a:t>
            </a:r>
            <a:r>
              <a:rPr sz="2400" b="1" dirty="0">
                <a:solidFill>
                  <a:srgbClr val="C00000"/>
                </a:solidFill>
                <a:latin typeface="微软雅黑" panose="020B0503020204020204" charset="-122"/>
                <a:cs typeface="微软雅黑" panose="020B0503020204020204" charset="-122"/>
              </a:rPr>
              <a:t>的几个误区</a:t>
            </a:r>
            <a:endParaRPr sz="2400">
              <a:latin typeface="微软雅黑" panose="020B0503020204020204" charset="-122"/>
              <a:cs typeface="微软雅黑" panose="020B0503020204020204" charset="-122"/>
            </a:endParaRPr>
          </a:p>
        </p:txBody>
      </p:sp>
      <p:sp>
        <p:nvSpPr>
          <p:cNvPr id="40" name="object 40"/>
          <p:cNvSpPr txBox="1"/>
          <p:nvPr/>
        </p:nvSpPr>
        <p:spPr>
          <a:xfrm>
            <a:off x="2982899" y="4459185"/>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C00000"/>
                </a:solidFill>
                <a:latin typeface="微软雅黑" panose="020B0503020204020204" charset="-122"/>
                <a:cs typeface="微软雅黑" panose="020B0503020204020204" charset="-122"/>
              </a:rPr>
              <a:t>RI</a:t>
            </a:r>
            <a:r>
              <a:rPr sz="2400" b="1" dirty="0">
                <a:solidFill>
                  <a:srgbClr val="C00000"/>
                </a:solidFill>
                <a:latin typeface="微软雅黑" panose="020B0503020204020204" charset="-122"/>
                <a:cs typeface="微软雅黑" panose="020B0503020204020204" charset="-122"/>
              </a:rPr>
              <a:t>S</a:t>
            </a:r>
            <a:r>
              <a:rPr sz="2400" b="1" spc="-5" dirty="0">
                <a:solidFill>
                  <a:srgbClr val="C00000"/>
                </a:solidFill>
                <a:latin typeface="微软雅黑" panose="020B0503020204020204" charset="-122"/>
                <a:cs typeface="微软雅黑" panose="020B0503020204020204" charset="-122"/>
              </a:rPr>
              <a:t>C</a:t>
            </a:r>
            <a:r>
              <a:rPr sz="2400" b="1" dirty="0">
                <a:solidFill>
                  <a:srgbClr val="C00000"/>
                </a:solidFill>
                <a:latin typeface="微软雅黑" panose="020B0503020204020204" charset="-122"/>
                <a:cs typeface="微软雅黑" panose="020B0503020204020204" charset="-122"/>
              </a:rPr>
              <a:t>-</a:t>
            </a:r>
            <a:r>
              <a:rPr sz="2400" b="1" spc="-5" dirty="0">
                <a:solidFill>
                  <a:srgbClr val="C00000"/>
                </a:solidFill>
                <a:latin typeface="微软雅黑" panose="020B0503020204020204" charset="-122"/>
                <a:cs typeface="微软雅黑" panose="020B0503020204020204" charset="-122"/>
              </a:rPr>
              <a:t>V</a:t>
            </a:r>
            <a:r>
              <a:rPr sz="2400" b="1" dirty="0">
                <a:solidFill>
                  <a:srgbClr val="C00000"/>
                </a:solidFill>
                <a:latin typeface="微软雅黑" panose="020B0503020204020204" charset="-122"/>
                <a:cs typeface="微软雅黑" panose="020B0503020204020204" charset="-122"/>
              </a:rPr>
              <a:t>的未来趋势</a:t>
            </a:r>
            <a:endParaRPr sz="2400">
              <a:latin typeface="微软雅黑" panose="020B0503020204020204" charset="-122"/>
              <a:cs typeface="微软雅黑" panose="020B0503020204020204" charset="-122"/>
            </a:endParaRPr>
          </a:p>
        </p:txBody>
      </p:sp>
      <p:sp>
        <p:nvSpPr>
          <p:cNvPr id="41" name="object 41"/>
          <p:cNvSpPr txBox="1"/>
          <p:nvPr/>
        </p:nvSpPr>
        <p:spPr>
          <a:xfrm>
            <a:off x="2982899" y="5112486"/>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C00000"/>
                </a:solidFill>
                <a:latin typeface="微软雅黑" panose="020B0503020204020204" charset="-122"/>
                <a:cs typeface="微软雅黑" panose="020B0503020204020204" charset="-122"/>
              </a:rPr>
              <a:t>RI</a:t>
            </a:r>
            <a:r>
              <a:rPr sz="2400" b="1" dirty="0">
                <a:solidFill>
                  <a:srgbClr val="C00000"/>
                </a:solidFill>
                <a:latin typeface="微软雅黑" panose="020B0503020204020204" charset="-122"/>
                <a:cs typeface="微软雅黑" panose="020B0503020204020204" charset="-122"/>
              </a:rPr>
              <a:t>S</a:t>
            </a:r>
            <a:r>
              <a:rPr sz="2400" b="1" spc="-5" dirty="0">
                <a:solidFill>
                  <a:srgbClr val="C00000"/>
                </a:solidFill>
                <a:latin typeface="微软雅黑" panose="020B0503020204020204" charset="-122"/>
                <a:cs typeface="微软雅黑" panose="020B0503020204020204" charset="-122"/>
              </a:rPr>
              <a:t>C</a:t>
            </a:r>
            <a:r>
              <a:rPr sz="2400" b="1" dirty="0">
                <a:solidFill>
                  <a:srgbClr val="C00000"/>
                </a:solidFill>
                <a:latin typeface="微软雅黑" panose="020B0503020204020204" charset="-122"/>
                <a:cs typeface="微软雅黑" panose="020B0503020204020204" charset="-122"/>
              </a:rPr>
              <a:t>-</a:t>
            </a:r>
            <a:r>
              <a:rPr sz="2400" b="1" spc="-5" dirty="0">
                <a:solidFill>
                  <a:srgbClr val="C00000"/>
                </a:solidFill>
                <a:latin typeface="微软雅黑" panose="020B0503020204020204" charset="-122"/>
                <a:cs typeface="微软雅黑" panose="020B0503020204020204" charset="-122"/>
              </a:rPr>
              <a:t>V</a:t>
            </a:r>
            <a:r>
              <a:rPr sz="2400" b="1" dirty="0">
                <a:solidFill>
                  <a:srgbClr val="C00000"/>
                </a:solidFill>
                <a:latin typeface="微软雅黑" panose="020B0503020204020204" charset="-122"/>
                <a:cs typeface="微软雅黑" panose="020B0503020204020204" charset="-122"/>
              </a:rPr>
              <a:t>的商业本质</a:t>
            </a:r>
            <a:endParaRPr sz="2400">
              <a:latin typeface="微软雅黑" panose="020B0503020204020204" charset="-122"/>
              <a:cs typeface="微软雅黑" panose="020B0503020204020204" charset="-122"/>
            </a:endParaRPr>
          </a:p>
        </p:txBody>
      </p:sp>
      <p:sp>
        <p:nvSpPr>
          <p:cNvPr id="42" name="object 42"/>
          <p:cNvSpPr txBox="1"/>
          <p:nvPr/>
        </p:nvSpPr>
        <p:spPr>
          <a:xfrm>
            <a:off x="2982899" y="5761482"/>
            <a:ext cx="185420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C00000"/>
                </a:solidFill>
                <a:latin typeface="微软雅黑" panose="020B0503020204020204" charset="-122"/>
                <a:cs typeface="微软雅黑" panose="020B0503020204020204" charset="-122"/>
              </a:rPr>
              <a:t>芯来科技介绍</a:t>
            </a:r>
            <a:endParaRPr sz="2400">
              <a:latin typeface="微软雅黑" panose="020B0503020204020204" charset="-122"/>
              <a:cs typeface="微软雅黑" panose="020B0503020204020204" charset="-122"/>
            </a:endParaRPr>
          </a:p>
        </p:txBody>
      </p:sp>
      <p:sp>
        <p:nvSpPr>
          <p:cNvPr id="43" name="object 43"/>
          <p:cNvSpPr txBox="1">
            <a:spLocks noGrp="1"/>
          </p:cNvSpPr>
          <p:nvPr>
            <p:ph type="title"/>
          </p:nvPr>
        </p:nvSpPr>
        <p:spPr>
          <a:xfrm>
            <a:off x="713105" y="243840"/>
            <a:ext cx="1802764"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C00000"/>
                </a:solidFill>
              </a:rPr>
              <a:t>Age</a:t>
            </a:r>
            <a:r>
              <a:rPr sz="3600" dirty="0">
                <a:solidFill>
                  <a:srgbClr val="C00000"/>
                </a:solidFill>
              </a:rPr>
              <a:t>n</a:t>
            </a:r>
            <a:r>
              <a:rPr sz="3600" spc="-5" dirty="0">
                <a:solidFill>
                  <a:srgbClr val="C00000"/>
                </a:solidFill>
              </a:rPr>
              <a:t>d</a:t>
            </a:r>
            <a:r>
              <a:rPr sz="3600" dirty="0">
                <a:solidFill>
                  <a:srgbClr val="C00000"/>
                </a:solidFill>
              </a:rPr>
              <a:t>a</a:t>
            </a:r>
            <a:endParaRPr sz="3600"/>
          </a:p>
        </p:txBody>
      </p:sp>
      <p:sp>
        <p:nvSpPr>
          <p:cNvPr id="44" name="object 4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22909" cy="443230"/>
          </a:xfrm>
          <a:custGeom>
            <a:avLst/>
            <a:gdLst/>
            <a:ahLst/>
            <a:cxnLst/>
            <a:rect l="l" t="t" r="r" b="b"/>
            <a:pathLst>
              <a:path w="422909" h="443230">
                <a:moveTo>
                  <a:pt x="0" y="443114"/>
                </a:moveTo>
                <a:lnTo>
                  <a:pt x="0" y="0"/>
                </a:lnTo>
                <a:lnTo>
                  <a:pt x="422640" y="0"/>
                </a:lnTo>
                <a:lnTo>
                  <a:pt x="0" y="443114"/>
                </a:lnTo>
                <a:close/>
              </a:path>
            </a:pathLst>
          </a:custGeom>
          <a:solidFill>
            <a:srgbClr val="C00000"/>
          </a:solidFill>
        </p:spPr>
        <p:txBody>
          <a:bodyPr wrap="square" lIns="0" tIns="0" rIns="0" bIns="0" rtlCol="0"/>
          <a:lstStyle/>
          <a:p/>
        </p:txBody>
      </p:sp>
      <p:sp>
        <p:nvSpPr>
          <p:cNvPr id="3" name="object 3"/>
          <p:cNvSpPr/>
          <p:nvPr/>
        </p:nvSpPr>
        <p:spPr>
          <a:xfrm>
            <a:off x="2415539" y="1133855"/>
            <a:ext cx="6791325" cy="510540"/>
          </a:xfrm>
          <a:custGeom>
            <a:avLst/>
            <a:gdLst/>
            <a:ahLst/>
            <a:cxnLst/>
            <a:rect l="l" t="t" r="r" b="b"/>
            <a:pathLst>
              <a:path w="6791325" h="510539">
                <a:moveTo>
                  <a:pt x="0" y="0"/>
                </a:moveTo>
                <a:lnTo>
                  <a:pt x="6790944" y="0"/>
                </a:lnTo>
                <a:lnTo>
                  <a:pt x="6790944" y="510540"/>
                </a:lnTo>
                <a:lnTo>
                  <a:pt x="0" y="510540"/>
                </a:lnTo>
                <a:lnTo>
                  <a:pt x="0" y="0"/>
                </a:lnTo>
                <a:close/>
              </a:path>
            </a:pathLst>
          </a:custGeom>
          <a:solidFill>
            <a:srgbClr val="D9D9D9"/>
          </a:solidFill>
        </p:spPr>
        <p:txBody>
          <a:bodyPr wrap="square" lIns="0" tIns="0" rIns="0" bIns="0" rtlCol="0"/>
          <a:lstStyle/>
          <a:p/>
        </p:txBody>
      </p:sp>
      <p:sp>
        <p:nvSpPr>
          <p:cNvPr id="4" name="object 4"/>
          <p:cNvSpPr/>
          <p:nvPr/>
        </p:nvSpPr>
        <p:spPr>
          <a:xfrm>
            <a:off x="8938259" y="1134021"/>
            <a:ext cx="522605" cy="511809"/>
          </a:xfrm>
          <a:custGeom>
            <a:avLst/>
            <a:gdLst/>
            <a:ahLst/>
            <a:cxnLst/>
            <a:rect l="l" t="t" r="r" b="b"/>
            <a:pathLst>
              <a:path w="522604" h="511810">
                <a:moveTo>
                  <a:pt x="261353" y="511327"/>
                </a:moveTo>
                <a:lnTo>
                  <a:pt x="214404" y="507208"/>
                </a:lnTo>
                <a:lnTo>
                  <a:pt x="170212" y="495332"/>
                </a:lnTo>
                <a:lnTo>
                  <a:pt x="129514" y="476421"/>
                </a:lnTo>
                <a:lnTo>
                  <a:pt x="93046" y="451198"/>
                </a:lnTo>
                <a:lnTo>
                  <a:pt x="61546" y="420384"/>
                </a:lnTo>
                <a:lnTo>
                  <a:pt x="35753" y="384701"/>
                </a:lnTo>
                <a:lnTo>
                  <a:pt x="16433" y="344968"/>
                </a:lnTo>
                <a:lnTo>
                  <a:pt x="4260" y="301762"/>
                </a:lnTo>
                <a:lnTo>
                  <a:pt x="0" y="255866"/>
                </a:lnTo>
                <a:lnTo>
                  <a:pt x="4260" y="209850"/>
                </a:lnTo>
                <a:lnTo>
                  <a:pt x="16433" y="166550"/>
                </a:lnTo>
                <a:lnTo>
                  <a:pt x="35782" y="126685"/>
                </a:lnTo>
                <a:lnTo>
                  <a:pt x="61607" y="90943"/>
                </a:lnTo>
                <a:lnTo>
                  <a:pt x="93090" y="60129"/>
                </a:lnTo>
                <a:lnTo>
                  <a:pt x="129541" y="34905"/>
                </a:lnTo>
                <a:lnTo>
                  <a:pt x="170225" y="15995"/>
                </a:lnTo>
                <a:lnTo>
                  <a:pt x="214408" y="4119"/>
                </a:lnTo>
                <a:lnTo>
                  <a:pt x="261353" y="0"/>
                </a:lnTo>
                <a:lnTo>
                  <a:pt x="308298" y="4119"/>
                </a:lnTo>
                <a:lnTo>
                  <a:pt x="352485" y="15997"/>
                </a:lnTo>
                <a:lnTo>
                  <a:pt x="393177" y="34913"/>
                </a:lnTo>
                <a:lnTo>
                  <a:pt x="429634" y="60146"/>
                </a:lnTo>
                <a:lnTo>
                  <a:pt x="461118" y="90977"/>
                </a:lnTo>
                <a:lnTo>
                  <a:pt x="486888" y="126685"/>
                </a:lnTo>
                <a:lnTo>
                  <a:pt x="506176" y="166454"/>
                </a:lnTo>
                <a:lnTo>
                  <a:pt x="518308" y="209707"/>
                </a:lnTo>
                <a:lnTo>
                  <a:pt x="522516" y="255663"/>
                </a:lnTo>
                <a:lnTo>
                  <a:pt x="518308" y="301619"/>
                </a:lnTo>
                <a:lnTo>
                  <a:pt x="506176" y="344872"/>
                </a:lnTo>
                <a:lnTo>
                  <a:pt x="486859" y="384701"/>
                </a:lnTo>
                <a:lnTo>
                  <a:pt x="461057" y="420419"/>
                </a:lnTo>
                <a:lnTo>
                  <a:pt x="429590" y="451216"/>
                </a:lnTo>
                <a:lnTo>
                  <a:pt x="393149" y="476429"/>
                </a:lnTo>
                <a:lnTo>
                  <a:pt x="352472" y="495334"/>
                </a:lnTo>
                <a:lnTo>
                  <a:pt x="308293" y="507208"/>
                </a:lnTo>
                <a:lnTo>
                  <a:pt x="261353" y="511327"/>
                </a:lnTo>
                <a:close/>
              </a:path>
            </a:pathLst>
          </a:custGeom>
          <a:solidFill>
            <a:srgbClr val="D9D9D9"/>
          </a:solidFill>
        </p:spPr>
        <p:txBody>
          <a:bodyPr wrap="square" lIns="0" tIns="0" rIns="0" bIns="0" rtlCol="0"/>
          <a:lstStyle/>
          <a:p/>
        </p:txBody>
      </p:sp>
      <p:sp>
        <p:nvSpPr>
          <p:cNvPr id="5" name="object 5"/>
          <p:cNvSpPr/>
          <p:nvPr/>
        </p:nvSpPr>
        <p:spPr>
          <a:xfrm>
            <a:off x="2119883" y="1133475"/>
            <a:ext cx="522605" cy="511809"/>
          </a:xfrm>
          <a:custGeom>
            <a:avLst/>
            <a:gdLst/>
            <a:ahLst/>
            <a:cxnLst/>
            <a:rect l="l" t="t" r="r" b="b"/>
            <a:pathLst>
              <a:path w="522605" h="511810">
                <a:moveTo>
                  <a:pt x="260921" y="511327"/>
                </a:moveTo>
                <a:lnTo>
                  <a:pt x="213970" y="507208"/>
                </a:lnTo>
                <a:lnTo>
                  <a:pt x="169772" y="495332"/>
                </a:lnTo>
                <a:lnTo>
                  <a:pt x="129068" y="476421"/>
                </a:lnTo>
                <a:lnTo>
                  <a:pt x="92670" y="451264"/>
                </a:lnTo>
                <a:lnTo>
                  <a:pt x="61213" y="420512"/>
                </a:lnTo>
                <a:lnTo>
                  <a:pt x="35478" y="384923"/>
                </a:lnTo>
                <a:lnTo>
                  <a:pt x="16204" y="345225"/>
                </a:lnTo>
                <a:lnTo>
                  <a:pt x="4132" y="302145"/>
                </a:lnTo>
                <a:lnTo>
                  <a:pt x="0" y="256412"/>
                </a:lnTo>
                <a:lnTo>
                  <a:pt x="4132" y="210234"/>
                </a:lnTo>
                <a:lnTo>
                  <a:pt x="16204" y="166807"/>
                </a:lnTo>
                <a:lnTo>
                  <a:pt x="35478" y="126847"/>
                </a:lnTo>
                <a:lnTo>
                  <a:pt x="61213" y="91071"/>
                </a:lnTo>
                <a:lnTo>
                  <a:pt x="92670" y="60194"/>
                </a:lnTo>
                <a:lnTo>
                  <a:pt x="129168" y="34905"/>
                </a:lnTo>
                <a:lnTo>
                  <a:pt x="169820" y="15995"/>
                </a:lnTo>
                <a:lnTo>
                  <a:pt x="213986" y="4119"/>
                </a:lnTo>
                <a:lnTo>
                  <a:pt x="260921" y="0"/>
                </a:lnTo>
                <a:lnTo>
                  <a:pt x="307869" y="4120"/>
                </a:lnTo>
                <a:lnTo>
                  <a:pt x="352068" y="16003"/>
                </a:lnTo>
                <a:lnTo>
                  <a:pt x="392777" y="34933"/>
                </a:lnTo>
                <a:lnTo>
                  <a:pt x="429189" y="60129"/>
                </a:lnTo>
                <a:lnTo>
                  <a:pt x="460668" y="90943"/>
                </a:lnTo>
                <a:lnTo>
                  <a:pt x="486436" y="126625"/>
                </a:lnTo>
                <a:lnTo>
                  <a:pt x="505756" y="166454"/>
                </a:lnTo>
                <a:lnTo>
                  <a:pt x="517888" y="209707"/>
                </a:lnTo>
                <a:lnTo>
                  <a:pt x="522097" y="255663"/>
                </a:lnTo>
                <a:lnTo>
                  <a:pt x="517888" y="301619"/>
                </a:lnTo>
                <a:lnTo>
                  <a:pt x="505756" y="344872"/>
                </a:lnTo>
                <a:lnTo>
                  <a:pt x="486436" y="384701"/>
                </a:lnTo>
                <a:lnTo>
                  <a:pt x="460668" y="420384"/>
                </a:lnTo>
                <a:lnTo>
                  <a:pt x="429189" y="451198"/>
                </a:lnTo>
                <a:lnTo>
                  <a:pt x="392677" y="476449"/>
                </a:lnTo>
                <a:lnTo>
                  <a:pt x="352019" y="495340"/>
                </a:lnTo>
                <a:lnTo>
                  <a:pt x="307853" y="507209"/>
                </a:lnTo>
                <a:lnTo>
                  <a:pt x="260921" y="511327"/>
                </a:lnTo>
                <a:close/>
              </a:path>
            </a:pathLst>
          </a:custGeom>
          <a:solidFill>
            <a:srgbClr val="C00000"/>
          </a:solidFill>
        </p:spPr>
        <p:txBody>
          <a:bodyPr wrap="square" lIns="0" tIns="0" rIns="0" bIns="0" rtlCol="0"/>
          <a:lstStyle/>
          <a:p/>
        </p:txBody>
      </p:sp>
      <p:sp>
        <p:nvSpPr>
          <p:cNvPr id="6" name="object 6"/>
          <p:cNvSpPr txBox="1"/>
          <p:nvPr/>
        </p:nvSpPr>
        <p:spPr>
          <a:xfrm>
            <a:off x="2264702" y="1106754"/>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1</a:t>
            </a:r>
            <a:endParaRPr sz="3200">
              <a:latin typeface="Calibri" panose="020F0502020204030204"/>
              <a:cs typeface="Calibri" panose="020F0502020204030204"/>
            </a:endParaRPr>
          </a:p>
        </p:txBody>
      </p:sp>
      <p:sp>
        <p:nvSpPr>
          <p:cNvPr id="7" name="object 7"/>
          <p:cNvSpPr/>
          <p:nvPr/>
        </p:nvSpPr>
        <p:spPr>
          <a:xfrm>
            <a:off x="2415539" y="1787651"/>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8" name="object 8"/>
          <p:cNvSpPr/>
          <p:nvPr/>
        </p:nvSpPr>
        <p:spPr>
          <a:xfrm>
            <a:off x="8938259" y="1787931"/>
            <a:ext cx="522605" cy="511175"/>
          </a:xfrm>
          <a:custGeom>
            <a:avLst/>
            <a:gdLst/>
            <a:ahLst/>
            <a:cxnLst/>
            <a:rect l="l" t="t" r="r" b="b"/>
            <a:pathLst>
              <a:path w="522604" h="511175">
                <a:moveTo>
                  <a:pt x="261353" y="510717"/>
                </a:moveTo>
                <a:lnTo>
                  <a:pt x="214403" y="506603"/>
                </a:lnTo>
                <a:lnTo>
                  <a:pt x="170208" y="494742"/>
                </a:lnTo>
                <a:lnTo>
                  <a:pt x="129503" y="475854"/>
                </a:lnTo>
                <a:lnTo>
                  <a:pt x="93028" y="450661"/>
                </a:lnTo>
                <a:lnTo>
                  <a:pt x="61571" y="419951"/>
                </a:lnTo>
                <a:lnTo>
                  <a:pt x="35782" y="384361"/>
                </a:lnTo>
                <a:lnTo>
                  <a:pt x="16433" y="344648"/>
                </a:lnTo>
                <a:lnTo>
                  <a:pt x="4260" y="301537"/>
                </a:lnTo>
                <a:lnTo>
                  <a:pt x="0" y="255752"/>
                </a:lnTo>
                <a:lnTo>
                  <a:pt x="4260" y="209733"/>
                </a:lnTo>
                <a:lnTo>
                  <a:pt x="16433" y="166440"/>
                </a:lnTo>
                <a:lnTo>
                  <a:pt x="35782" y="126589"/>
                </a:lnTo>
                <a:lnTo>
                  <a:pt x="61571" y="90900"/>
                </a:lnTo>
                <a:lnTo>
                  <a:pt x="93114" y="60056"/>
                </a:lnTo>
                <a:lnTo>
                  <a:pt x="129556" y="34863"/>
                </a:lnTo>
                <a:lnTo>
                  <a:pt x="170233" y="15975"/>
                </a:lnTo>
                <a:lnTo>
                  <a:pt x="214411" y="4114"/>
                </a:lnTo>
                <a:lnTo>
                  <a:pt x="261353" y="0"/>
                </a:lnTo>
                <a:lnTo>
                  <a:pt x="308299" y="4114"/>
                </a:lnTo>
                <a:lnTo>
                  <a:pt x="352489" y="15979"/>
                </a:lnTo>
                <a:lnTo>
                  <a:pt x="393187" y="34877"/>
                </a:lnTo>
                <a:lnTo>
                  <a:pt x="429651" y="60090"/>
                </a:lnTo>
                <a:lnTo>
                  <a:pt x="461093" y="90833"/>
                </a:lnTo>
                <a:lnTo>
                  <a:pt x="486859" y="126473"/>
                </a:lnTo>
                <a:lnTo>
                  <a:pt x="506176" y="166254"/>
                </a:lnTo>
                <a:lnTo>
                  <a:pt x="518308" y="209457"/>
                </a:lnTo>
                <a:lnTo>
                  <a:pt x="522516" y="255358"/>
                </a:lnTo>
                <a:lnTo>
                  <a:pt x="518308" y="301260"/>
                </a:lnTo>
                <a:lnTo>
                  <a:pt x="506176" y="344462"/>
                </a:lnTo>
                <a:lnTo>
                  <a:pt x="486859" y="384244"/>
                </a:lnTo>
                <a:lnTo>
                  <a:pt x="461093" y="419884"/>
                </a:lnTo>
                <a:lnTo>
                  <a:pt x="429566" y="450696"/>
                </a:lnTo>
                <a:lnTo>
                  <a:pt x="393134" y="475868"/>
                </a:lnTo>
                <a:lnTo>
                  <a:pt x="352464" y="494746"/>
                </a:lnTo>
                <a:lnTo>
                  <a:pt x="308290" y="506604"/>
                </a:lnTo>
                <a:lnTo>
                  <a:pt x="261353" y="510717"/>
                </a:lnTo>
                <a:close/>
              </a:path>
            </a:pathLst>
          </a:custGeom>
          <a:solidFill>
            <a:srgbClr val="D9D9D9"/>
          </a:solidFill>
        </p:spPr>
        <p:txBody>
          <a:bodyPr wrap="square" lIns="0" tIns="0" rIns="0" bIns="0" rtlCol="0"/>
          <a:lstStyle/>
          <a:p/>
        </p:txBody>
      </p:sp>
      <p:sp>
        <p:nvSpPr>
          <p:cNvPr id="9" name="object 9"/>
          <p:cNvSpPr/>
          <p:nvPr/>
        </p:nvSpPr>
        <p:spPr>
          <a:xfrm>
            <a:off x="2119883" y="1787385"/>
            <a:ext cx="522605" cy="511175"/>
          </a:xfrm>
          <a:custGeom>
            <a:avLst/>
            <a:gdLst/>
            <a:ahLst/>
            <a:cxnLst/>
            <a:rect l="l" t="t" r="r" b="b"/>
            <a:pathLst>
              <a:path w="522605" h="511175">
                <a:moveTo>
                  <a:pt x="260921" y="510730"/>
                </a:moveTo>
                <a:lnTo>
                  <a:pt x="213974" y="506615"/>
                </a:lnTo>
                <a:lnTo>
                  <a:pt x="169790" y="494746"/>
                </a:lnTo>
                <a:lnTo>
                  <a:pt x="129109" y="475842"/>
                </a:lnTo>
                <a:lnTo>
                  <a:pt x="92670" y="450617"/>
                </a:lnTo>
                <a:lnTo>
                  <a:pt x="61213" y="419789"/>
                </a:lnTo>
                <a:lnTo>
                  <a:pt x="35478" y="384074"/>
                </a:lnTo>
                <a:lnTo>
                  <a:pt x="16204" y="344189"/>
                </a:lnTo>
                <a:lnTo>
                  <a:pt x="4132" y="300850"/>
                </a:lnTo>
                <a:lnTo>
                  <a:pt x="0" y="254774"/>
                </a:lnTo>
                <a:lnTo>
                  <a:pt x="4132" y="209050"/>
                </a:lnTo>
                <a:lnTo>
                  <a:pt x="16204" y="165985"/>
                </a:lnTo>
                <a:lnTo>
                  <a:pt x="35478" y="126305"/>
                </a:lnTo>
                <a:lnTo>
                  <a:pt x="61213" y="90738"/>
                </a:lnTo>
                <a:lnTo>
                  <a:pt x="92670" y="60009"/>
                </a:lnTo>
                <a:lnTo>
                  <a:pt x="129109" y="34844"/>
                </a:lnTo>
                <a:lnTo>
                  <a:pt x="169790" y="15970"/>
                </a:lnTo>
                <a:lnTo>
                  <a:pt x="213974" y="4113"/>
                </a:lnTo>
                <a:lnTo>
                  <a:pt x="260921" y="0"/>
                </a:lnTo>
                <a:lnTo>
                  <a:pt x="307865" y="4114"/>
                </a:lnTo>
                <a:lnTo>
                  <a:pt x="352050" y="15977"/>
                </a:lnTo>
                <a:lnTo>
                  <a:pt x="392737" y="34866"/>
                </a:lnTo>
                <a:lnTo>
                  <a:pt x="429189" y="60060"/>
                </a:lnTo>
                <a:lnTo>
                  <a:pt x="460668" y="90838"/>
                </a:lnTo>
                <a:lnTo>
                  <a:pt x="486436" y="126478"/>
                </a:lnTo>
                <a:lnTo>
                  <a:pt x="505756" y="166259"/>
                </a:lnTo>
                <a:lnTo>
                  <a:pt x="517888" y="209460"/>
                </a:lnTo>
                <a:lnTo>
                  <a:pt x="522097" y="255358"/>
                </a:lnTo>
                <a:lnTo>
                  <a:pt x="517888" y="301261"/>
                </a:lnTo>
                <a:lnTo>
                  <a:pt x="505756" y="344464"/>
                </a:lnTo>
                <a:lnTo>
                  <a:pt x="486436" y="384247"/>
                </a:lnTo>
                <a:lnTo>
                  <a:pt x="460668" y="419889"/>
                </a:lnTo>
                <a:lnTo>
                  <a:pt x="429189" y="450668"/>
                </a:lnTo>
                <a:lnTo>
                  <a:pt x="392737" y="475863"/>
                </a:lnTo>
                <a:lnTo>
                  <a:pt x="352050" y="494753"/>
                </a:lnTo>
                <a:lnTo>
                  <a:pt x="307865" y="506615"/>
                </a:lnTo>
                <a:lnTo>
                  <a:pt x="260921" y="510730"/>
                </a:lnTo>
                <a:close/>
              </a:path>
            </a:pathLst>
          </a:custGeom>
          <a:solidFill>
            <a:srgbClr val="A6A6A6"/>
          </a:solidFill>
        </p:spPr>
        <p:txBody>
          <a:bodyPr wrap="square" lIns="0" tIns="0" rIns="0" bIns="0" rtlCol="0"/>
          <a:lstStyle/>
          <a:p/>
        </p:txBody>
      </p:sp>
      <p:sp>
        <p:nvSpPr>
          <p:cNvPr id="10" name="object 10"/>
          <p:cNvSpPr txBox="1"/>
          <p:nvPr/>
        </p:nvSpPr>
        <p:spPr>
          <a:xfrm>
            <a:off x="2264702" y="1759953"/>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2</a:t>
            </a:r>
            <a:endParaRPr sz="3200">
              <a:latin typeface="Calibri" panose="020F0502020204030204"/>
              <a:cs typeface="Calibri" panose="020F0502020204030204"/>
            </a:endParaRPr>
          </a:p>
        </p:txBody>
      </p:sp>
      <p:sp>
        <p:nvSpPr>
          <p:cNvPr id="11" name="object 11"/>
          <p:cNvSpPr/>
          <p:nvPr/>
        </p:nvSpPr>
        <p:spPr>
          <a:xfrm>
            <a:off x="2415539" y="2441448"/>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12" name="object 12"/>
          <p:cNvSpPr/>
          <p:nvPr/>
        </p:nvSpPr>
        <p:spPr>
          <a:xfrm>
            <a:off x="8938259" y="2441232"/>
            <a:ext cx="522605" cy="511175"/>
          </a:xfrm>
          <a:custGeom>
            <a:avLst/>
            <a:gdLst/>
            <a:ahLst/>
            <a:cxnLst/>
            <a:rect l="l" t="t" r="r" b="b"/>
            <a:pathLst>
              <a:path w="522604" h="511175">
                <a:moveTo>
                  <a:pt x="261353" y="510717"/>
                </a:moveTo>
                <a:lnTo>
                  <a:pt x="214405" y="506602"/>
                </a:lnTo>
                <a:lnTo>
                  <a:pt x="170217" y="494735"/>
                </a:lnTo>
                <a:lnTo>
                  <a:pt x="129524" y="475830"/>
                </a:lnTo>
                <a:lnTo>
                  <a:pt x="93064" y="450605"/>
                </a:lnTo>
                <a:lnTo>
                  <a:pt x="61571" y="419775"/>
                </a:lnTo>
                <a:lnTo>
                  <a:pt x="35782" y="384056"/>
                </a:lnTo>
                <a:lnTo>
                  <a:pt x="16433" y="344164"/>
                </a:lnTo>
                <a:lnTo>
                  <a:pt x="4260" y="300814"/>
                </a:lnTo>
                <a:lnTo>
                  <a:pt x="0" y="254723"/>
                </a:lnTo>
                <a:lnTo>
                  <a:pt x="4260" y="209014"/>
                </a:lnTo>
                <a:lnTo>
                  <a:pt x="16433" y="165961"/>
                </a:lnTo>
                <a:lnTo>
                  <a:pt x="35782" y="126290"/>
                </a:lnTo>
                <a:lnTo>
                  <a:pt x="61571" y="90729"/>
                </a:lnTo>
                <a:lnTo>
                  <a:pt x="93064" y="60004"/>
                </a:lnTo>
                <a:lnTo>
                  <a:pt x="129524" y="34842"/>
                </a:lnTo>
                <a:lnTo>
                  <a:pt x="170217" y="15970"/>
                </a:lnTo>
                <a:lnTo>
                  <a:pt x="214405" y="4113"/>
                </a:lnTo>
                <a:lnTo>
                  <a:pt x="261353" y="0"/>
                </a:lnTo>
                <a:lnTo>
                  <a:pt x="308297" y="4114"/>
                </a:lnTo>
                <a:lnTo>
                  <a:pt x="352480" y="15977"/>
                </a:lnTo>
                <a:lnTo>
                  <a:pt x="393166" y="34866"/>
                </a:lnTo>
                <a:lnTo>
                  <a:pt x="429616" y="60060"/>
                </a:lnTo>
                <a:lnTo>
                  <a:pt x="461093" y="90838"/>
                </a:lnTo>
                <a:lnTo>
                  <a:pt x="486859" y="126478"/>
                </a:lnTo>
                <a:lnTo>
                  <a:pt x="506176" y="166259"/>
                </a:lnTo>
                <a:lnTo>
                  <a:pt x="518308" y="209460"/>
                </a:lnTo>
                <a:lnTo>
                  <a:pt x="522516" y="255358"/>
                </a:lnTo>
                <a:lnTo>
                  <a:pt x="518308" y="301260"/>
                </a:lnTo>
                <a:lnTo>
                  <a:pt x="506176" y="344462"/>
                </a:lnTo>
                <a:lnTo>
                  <a:pt x="486859" y="384244"/>
                </a:lnTo>
                <a:lnTo>
                  <a:pt x="461093" y="419884"/>
                </a:lnTo>
                <a:lnTo>
                  <a:pt x="429616" y="450661"/>
                </a:lnTo>
                <a:lnTo>
                  <a:pt x="393166" y="475854"/>
                </a:lnTo>
                <a:lnTo>
                  <a:pt x="352480" y="494742"/>
                </a:lnTo>
                <a:lnTo>
                  <a:pt x="308297" y="506603"/>
                </a:lnTo>
                <a:lnTo>
                  <a:pt x="261353" y="510717"/>
                </a:lnTo>
                <a:close/>
              </a:path>
            </a:pathLst>
          </a:custGeom>
          <a:solidFill>
            <a:srgbClr val="D9D9D9"/>
          </a:solidFill>
        </p:spPr>
        <p:txBody>
          <a:bodyPr wrap="square" lIns="0" tIns="0" rIns="0" bIns="0" rtlCol="0"/>
          <a:lstStyle/>
          <a:p/>
        </p:txBody>
      </p:sp>
      <p:sp>
        <p:nvSpPr>
          <p:cNvPr id="13" name="object 13"/>
          <p:cNvSpPr/>
          <p:nvPr/>
        </p:nvSpPr>
        <p:spPr>
          <a:xfrm>
            <a:off x="2119883" y="2440698"/>
            <a:ext cx="522605" cy="511175"/>
          </a:xfrm>
          <a:custGeom>
            <a:avLst/>
            <a:gdLst/>
            <a:ahLst/>
            <a:cxnLst/>
            <a:rect l="l" t="t" r="r" b="b"/>
            <a:pathLst>
              <a:path w="522605" h="511175">
                <a:moveTo>
                  <a:pt x="260921" y="510717"/>
                </a:moveTo>
                <a:lnTo>
                  <a:pt x="213974" y="506603"/>
                </a:lnTo>
                <a:lnTo>
                  <a:pt x="169790" y="494739"/>
                </a:lnTo>
                <a:lnTo>
                  <a:pt x="129109" y="475847"/>
                </a:lnTo>
                <a:lnTo>
                  <a:pt x="92670" y="450648"/>
                </a:lnTo>
                <a:lnTo>
                  <a:pt x="61213" y="419861"/>
                </a:lnTo>
                <a:lnTo>
                  <a:pt x="35478" y="384208"/>
                </a:lnTo>
                <a:lnTo>
                  <a:pt x="16204" y="344410"/>
                </a:lnTo>
                <a:lnTo>
                  <a:pt x="4132" y="301185"/>
                </a:lnTo>
                <a:lnTo>
                  <a:pt x="0" y="255257"/>
                </a:lnTo>
                <a:lnTo>
                  <a:pt x="4132" y="209385"/>
                </a:lnTo>
                <a:lnTo>
                  <a:pt x="16204" y="166207"/>
                </a:lnTo>
                <a:lnTo>
                  <a:pt x="35478" y="126443"/>
                </a:lnTo>
                <a:lnTo>
                  <a:pt x="61213" y="90815"/>
                </a:lnTo>
                <a:lnTo>
                  <a:pt x="92670" y="60047"/>
                </a:lnTo>
                <a:lnTo>
                  <a:pt x="129109" y="34859"/>
                </a:lnTo>
                <a:lnTo>
                  <a:pt x="169790" y="15974"/>
                </a:lnTo>
                <a:lnTo>
                  <a:pt x="213974" y="4113"/>
                </a:lnTo>
                <a:lnTo>
                  <a:pt x="260921" y="0"/>
                </a:lnTo>
                <a:lnTo>
                  <a:pt x="307865" y="4114"/>
                </a:lnTo>
                <a:lnTo>
                  <a:pt x="352050" y="15975"/>
                </a:lnTo>
                <a:lnTo>
                  <a:pt x="392737" y="34863"/>
                </a:lnTo>
                <a:lnTo>
                  <a:pt x="429189" y="60056"/>
                </a:lnTo>
                <a:lnTo>
                  <a:pt x="460668" y="90833"/>
                </a:lnTo>
                <a:lnTo>
                  <a:pt x="486436" y="126473"/>
                </a:lnTo>
                <a:lnTo>
                  <a:pt x="505756" y="166254"/>
                </a:lnTo>
                <a:lnTo>
                  <a:pt x="517888" y="209457"/>
                </a:lnTo>
                <a:lnTo>
                  <a:pt x="522097" y="255358"/>
                </a:lnTo>
                <a:lnTo>
                  <a:pt x="517888" y="301257"/>
                </a:lnTo>
                <a:lnTo>
                  <a:pt x="505756" y="344457"/>
                </a:lnTo>
                <a:lnTo>
                  <a:pt x="486436" y="384238"/>
                </a:lnTo>
                <a:lnTo>
                  <a:pt x="460668" y="419879"/>
                </a:lnTo>
                <a:lnTo>
                  <a:pt x="429189" y="450657"/>
                </a:lnTo>
                <a:lnTo>
                  <a:pt x="392737" y="475851"/>
                </a:lnTo>
                <a:lnTo>
                  <a:pt x="352050" y="494740"/>
                </a:lnTo>
                <a:lnTo>
                  <a:pt x="307865" y="506603"/>
                </a:lnTo>
                <a:lnTo>
                  <a:pt x="260921" y="510717"/>
                </a:lnTo>
                <a:close/>
              </a:path>
            </a:pathLst>
          </a:custGeom>
          <a:solidFill>
            <a:srgbClr val="A6A6A6"/>
          </a:solidFill>
        </p:spPr>
        <p:txBody>
          <a:bodyPr wrap="square" lIns="0" tIns="0" rIns="0" bIns="0" rtlCol="0"/>
          <a:lstStyle/>
          <a:p/>
        </p:txBody>
      </p:sp>
      <p:sp>
        <p:nvSpPr>
          <p:cNvPr id="14" name="object 14"/>
          <p:cNvSpPr txBox="1"/>
          <p:nvPr/>
        </p:nvSpPr>
        <p:spPr>
          <a:xfrm>
            <a:off x="2264702" y="2413254"/>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3</a:t>
            </a:r>
            <a:endParaRPr sz="3200">
              <a:latin typeface="Calibri" panose="020F0502020204030204"/>
              <a:cs typeface="Calibri" panose="020F0502020204030204"/>
            </a:endParaRPr>
          </a:p>
        </p:txBody>
      </p:sp>
      <p:sp>
        <p:nvSpPr>
          <p:cNvPr id="15" name="object 15"/>
          <p:cNvSpPr/>
          <p:nvPr/>
        </p:nvSpPr>
        <p:spPr>
          <a:xfrm>
            <a:off x="2415539" y="3095244"/>
            <a:ext cx="6791325" cy="509270"/>
          </a:xfrm>
          <a:custGeom>
            <a:avLst/>
            <a:gdLst/>
            <a:ahLst/>
            <a:cxnLst/>
            <a:rect l="l" t="t" r="r" b="b"/>
            <a:pathLst>
              <a:path w="6791325" h="509270">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16" name="object 16"/>
          <p:cNvSpPr/>
          <p:nvPr/>
        </p:nvSpPr>
        <p:spPr>
          <a:xfrm>
            <a:off x="8938259" y="3094532"/>
            <a:ext cx="522605" cy="511175"/>
          </a:xfrm>
          <a:custGeom>
            <a:avLst/>
            <a:gdLst/>
            <a:ahLst/>
            <a:cxnLst/>
            <a:rect l="l" t="t" r="r" b="b"/>
            <a:pathLst>
              <a:path w="522604" h="511175">
                <a:moveTo>
                  <a:pt x="261353" y="510717"/>
                </a:moveTo>
                <a:lnTo>
                  <a:pt x="214405" y="506603"/>
                </a:lnTo>
                <a:lnTo>
                  <a:pt x="170217" y="494740"/>
                </a:lnTo>
                <a:lnTo>
                  <a:pt x="129524" y="475849"/>
                </a:lnTo>
                <a:lnTo>
                  <a:pt x="93064" y="450649"/>
                </a:lnTo>
                <a:lnTo>
                  <a:pt x="61571" y="419860"/>
                </a:lnTo>
                <a:lnTo>
                  <a:pt x="35782" y="384203"/>
                </a:lnTo>
                <a:lnTo>
                  <a:pt x="16433" y="344397"/>
                </a:lnTo>
                <a:lnTo>
                  <a:pt x="4260" y="301162"/>
                </a:lnTo>
                <a:lnTo>
                  <a:pt x="0" y="255219"/>
                </a:lnTo>
                <a:lnTo>
                  <a:pt x="4260" y="209362"/>
                </a:lnTo>
                <a:lnTo>
                  <a:pt x="16433" y="166194"/>
                </a:lnTo>
                <a:lnTo>
                  <a:pt x="35782" y="126437"/>
                </a:lnTo>
                <a:lnTo>
                  <a:pt x="61571" y="90814"/>
                </a:lnTo>
                <a:lnTo>
                  <a:pt x="93064" y="60048"/>
                </a:lnTo>
                <a:lnTo>
                  <a:pt x="129524" y="34861"/>
                </a:lnTo>
                <a:lnTo>
                  <a:pt x="170217" y="15975"/>
                </a:lnTo>
                <a:lnTo>
                  <a:pt x="214405" y="4114"/>
                </a:lnTo>
                <a:lnTo>
                  <a:pt x="261353" y="0"/>
                </a:lnTo>
                <a:lnTo>
                  <a:pt x="308297" y="4114"/>
                </a:lnTo>
                <a:lnTo>
                  <a:pt x="352480" y="15977"/>
                </a:lnTo>
                <a:lnTo>
                  <a:pt x="393166" y="34866"/>
                </a:lnTo>
                <a:lnTo>
                  <a:pt x="429616" y="60060"/>
                </a:lnTo>
                <a:lnTo>
                  <a:pt x="461093" y="90838"/>
                </a:lnTo>
                <a:lnTo>
                  <a:pt x="486859" y="126478"/>
                </a:lnTo>
                <a:lnTo>
                  <a:pt x="506176" y="166259"/>
                </a:lnTo>
                <a:lnTo>
                  <a:pt x="518308" y="209460"/>
                </a:lnTo>
                <a:lnTo>
                  <a:pt x="522516" y="255358"/>
                </a:lnTo>
                <a:lnTo>
                  <a:pt x="518308" y="301260"/>
                </a:lnTo>
                <a:lnTo>
                  <a:pt x="506176" y="344462"/>
                </a:lnTo>
                <a:lnTo>
                  <a:pt x="486859" y="384244"/>
                </a:lnTo>
                <a:lnTo>
                  <a:pt x="461093" y="419884"/>
                </a:lnTo>
                <a:lnTo>
                  <a:pt x="429616" y="450661"/>
                </a:lnTo>
                <a:lnTo>
                  <a:pt x="393166" y="475854"/>
                </a:lnTo>
                <a:lnTo>
                  <a:pt x="352480" y="494742"/>
                </a:lnTo>
                <a:lnTo>
                  <a:pt x="308297" y="506603"/>
                </a:lnTo>
                <a:lnTo>
                  <a:pt x="261353" y="510717"/>
                </a:lnTo>
                <a:close/>
              </a:path>
            </a:pathLst>
          </a:custGeom>
          <a:solidFill>
            <a:srgbClr val="D9D9D9"/>
          </a:solidFill>
        </p:spPr>
        <p:txBody>
          <a:bodyPr wrap="square" lIns="0" tIns="0" rIns="0" bIns="0" rtlCol="0"/>
          <a:lstStyle/>
          <a:p/>
        </p:txBody>
      </p:sp>
      <p:sp>
        <p:nvSpPr>
          <p:cNvPr id="17" name="object 17"/>
          <p:cNvSpPr/>
          <p:nvPr/>
        </p:nvSpPr>
        <p:spPr>
          <a:xfrm>
            <a:off x="2119883" y="3093999"/>
            <a:ext cx="522605" cy="511175"/>
          </a:xfrm>
          <a:custGeom>
            <a:avLst/>
            <a:gdLst/>
            <a:ahLst/>
            <a:cxnLst/>
            <a:rect l="l" t="t" r="r" b="b"/>
            <a:pathLst>
              <a:path w="522605" h="511175">
                <a:moveTo>
                  <a:pt x="260921" y="510717"/>
                </a:moveTo>
                <a:lnTo>
                  <a:pt x="213972" y="506603"/>
                </a:lnTo>
                <a:lnTo>
                  <a:pt x="169781" y="494740"/>
                </a:lnTo>
                <a:lnTo>
                  <a:pt x="129088" y="475851"/>
                </a:lnTo>
                <a:lnTo>
                  <a:pt x="92635" y="450657"/>
                </a:lnTo>
                <a:lnTo>
                  <a:pt x="61213" y="419946"/>
                </a:lnTo>
                <a:lnTo>
                  <a:pt x="35478" y="384355"/>
                </a:lnTo>
                <a:lnTo>
                  <a:pt x="16204" y="344643"/>
                </a:lnTo>
                <a:lnTo>
                  <a:pt x="4132" y="301533"/>
                </a:lnTo>
                <a:lnTo>
                  <a:pt x="0" y="255752"/>
                </a:lnTo>
                <a:lnTo>
                  <a:pt x="4132" y="209733"/>
                </a:lnTo>
                <a:lnTo>
                  <a:pt x="16204" y="166440"/>
                </a:lnTo>
                <a:lnTo>
                  <a:pt x="35478" y="126589"/>
                </a:lnTo>
                <a:lnTo>
                  <a:pt x="61213" y="90900"/>
                </a:lnTo>
                <a:lnTo>
                  <a:pt x="92720" y="60056"/>
                </a:lnTo>
                <a:lnTo>
                  <a:pt x="129140" y="34863"/>
                </a:lnTo>
                <a:lnTo>
                  <a:pt x="169806" y="15975"/>
                </a:lnTo>
                <a:lnTo>
                  <a:pt x="213980" y="4114"/>
                </a:lnTo>
                <a:lnTo>
                  <a:pt x="260921" y="0"/>
                </a:lnTo>
                <a:lnTo>
                  <a:pt x="307867" y="4114"/>
                </a:lnTo>
                <a:lnTo>
                  <a:pt x="352059" y="15979"/>
                </a:lnTo>
                <a:lnTo>
                  <a:pt x="392758" y="34877"/>
                </a:lnTo>
                <a:lnTo>
                  <a:pt x="429225" y="60090"/>
                </a:lnTo>
                <a:lnTo>
                  <a:pt x="460668" y="90833"/>
                </a:lnTo>
                <a:lnTo>
                  <a:pt x="486436" y="126473"/>
                </a:lnTo>
                <a:lnTo>
                  <a:pt x="505756" y="166254"/>
                </a:lnTo>
                <a:lnTo>
                  <a:pt x="517888" y="209457"/>
                </a:lnTo>
                <a:lnTo>
                  <a:pt x="522097" y="255358"/>
                </a:lnTo>
                <a:lnTo>
                  <a:pt x="517888" y="301257"/>
                </a:lnTo>
                <a:lnTo>
                  <a:pt x="505756" y="344457"/>
                </a:lnTo>
                <a:lnTo>
                  <a:pt x="486436" y="384238"/>
                </a:lnTo>
                <a:lnTo>
                  <a:pt x="460668" y="419879"/>
                </a:lnTo>
                <a:lnTo>
                  <a:pt x="429139" y="450691"/>
                </a:lnTo>
                <a:lnTo>
                  <a:pt x="392706" y="475866"/>
                </a:lnTo>
                <a:lnTo>
                  <a:pt x="352034" y="494745"/>
                </a:lnTo>
                <a:lnTo>
                  <a:pt x="307859" y="506603"/>
                </a:lnTo>
                <a:lnTo>
                  <a:pt x="260921" y="510717"/>
                </a:lnTo>
                <a:close/>
              </a:path>
            </a:pathLst>
          </a:custGeom>
          <a:solidFill>
            <a:srgbClr val="A6A6A6"/>
          </a:solidFill>
        </p:spPr>
        <p:txBody>
          <a:bodyPr wrap="square" lIns="0" tIns="0" rIns="0" bIns="0" rtlCol="0"/>
          <a:lstStyle/>
          <a:p/>
        </p:txBody>
      </p:sp>
      <p:sp>
        <p:nvSpPr>
          <p:cNvPr id="18" name="object 18"/>
          <p:cNvSpPr txBox="1"/>
          <p:nvPr/>
        </p:nvSpPr>
        <p:spPr>
          <a:xfrm>
            <a:off x="2264702" y="3066554"/>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4</a:t>
            </a:r>
            <a:endParaRPr sz="3200">
              <a:latin typeface="Calibri" panose="020F0502020204030204"/>
              <a:cs typeface="Calibri" panose="020F0502020204030204"/>
            </a:endParaRPr>
          </a:p>
        </p:txBody>
      </p:sp>
      <p:sp>
        <p:nvSpPr>
          <p:cNvPr id="19" name="object 19"/>
          <p:cNvSpPr/>
          <p:nvPr/>
        </p:nvSpPr>
        <p:spPr>
          <a:xfrm>
            <a:off x="2415539" y="3747515"/>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20" name="object 20"/>
          <p:cNvSpPr/>
          <p:nvPr/>
        </p:nvSpPr>
        <p:spPr>
          <a:xfrm>
            <a:off x="8938259" y="3747833"/>
            <a:ext cx="522605" cy="511175"/>
          </a:xfrm>
          <a:custGeom>
            <a:avLst/>
            <a:gdLst/>
            <a:ahLst/>
            <a:cxnLst/>
            <a:rect l="l" t="t" r="r" b="b"/>
            <a:pathLst>
              <a:path w="522604" h="511175">
                <a:moveTo>
                  <a:pt x="261353" y="510717"/>
                </a:moveTo>
                <a:lnTo>
                  <a:pt x="214403" y="506603"/>
                </a:lnTo>
                <a:lnTo>
                  <a:pt x="170208" y="494742"/>
                </a:lnTo>
                <a:lnTo>
                  <a:pt x="129505" y="475854"/>
                </a:lnTo>
                <a:lnTo>
                  <a:pt x="93032" y="450661"/>
                </a:lnTo>
                <a:lnTo>
                  <a:pt x="61571" y="419945"/>
                </a:lnTo>
                <a:lnTo>
                  <a:pt x="35782" y="384349"/>
                </a:lnTo>
                <a:lnTo>
                  <a:pt x="16433" y="344630"/>
                </a:lnTo>
                <a:lnTo>
                  <a:pt x="4260" y="301510"/>
                </a:lnTo>
                <a:lnTo>
                  <a:pt x="0" y="255714"/>
                </a:lnTo>
                <a:lnTo>
                  <a:pt x="4260" y="209710"/>
                </a:lnTo>
                <a:lnTo>
                  <a:pt x="16433" y="166427"/>
                </a:lnTo>
                <a:lnTo>
                  <a:pt x="35782" y="126584"/>
                </a:lnTo>
                <a:lnTo>
                  <a:pt x="61571" y="90899"/>
                </a:lnTo>
                <a:lnTo>
                  <a:pt x="93109" y="60060"/>
                </a:lnTo>
                <a:lnTo>
                  <a:pt x="129553" y="34866"/>
                </a:lnTo>
                <a:lnTo>
                  <a:pt x="170231" y="15977"/>
                </a:lnTo>
                <a:lnTo>
                  <a:pt x="214411" y="4114"/>
                </a:lnTo>
                <a:lnTo>
                  <a:pt x="261353" y="0"/>
                </a:lnTo>
                <a:lnTo>
                  <a:pt x="308298" y="4114"/>
                </a:lnTo>
                <a:lnTo>
                  <a:pt x="352488" y="15980"/>
                </a:lnTo>
                <a:lnTo>
                  <a:pt x="393185" y="34879"/>
                </a:lnTo>
                <a:lnTo>
                  <a:pt x="429648" y="60091"/>
                </a:lnTo>
                <a:lnTo>
                  <a:pt x="461093" y="90838"/>
                </a:lnTo>
                <a:lnTo>
                  <a:pt x="486859" y="126478"/>
                </a:lnTo>
                <a:lnTo>
                  <a:pt x="506176" y="166259"/>
                </a:lnTo>
                <a:lnTo>
                  <a:pt x="518308" y="209460"/>
                </a:lnTo>
                <a:lnTo>
                  <a:pt x="522516" y="255358"/>
                </a:lnTo>
                <a:lnTo>
                  <a:pt x="518308" y="301260"/>
                </a:lnTo>
                <a:lnTo>
                  <a:pt x="506176" y="344462"/>
                </a:lnTo>
                <a:lnTo>
                  <a:pt x="486859" y="384244"/>
                </a:lnTo>
                <a:lnTo>
                  <a:pt x="461093" y="419884"/>
                </a:lnTo>
                <a:lnTo>
                  <a:pt x="429571" y="450692"/>
                </a:lnTo>
                <a:lnTo>
                  <a:pt x="393137" y="475867"/>
                </a:lnTo>
                <a:lnTo>
                  <a:pt x="352465" y="494746"/>
                </a:lnTo>
                <a:lnTo>
                  <a:pt x="308291" y="506604"/>
                </a:lnTo>
                <a:lnTo>
                  <a:pt x="261353" y="510717"/>
                </a:lnTo>
                <a:close/>
              </a:path>
            </a:pathLst>
          </a:custGeom>
          <a:solidFill>
            <a:srgbClr val="D9D9D9"/>
          </a:solidFill>
        </p:spPr>
        <p:txBody>
          <a:bodyPr wrap="square" lIns="0" tIns="0" rIns="0" bIns="0" rtlCol="0"/>
          <a:lstStyle/>
          <a:p/>
        </p:txBody>
      </p:sp>
      <p:sp>
        <p:nvSpPr>
          <p:cNvPr id="21" name="object 21"/>
          <p:cNvSpPr/>
          <p:nvPr/>
        </p:nvSpPr>
        <p:spPr>
          <a:xfrm>
            <a:off x="2119883" y="3747299"/>
            <a:ext cx="522605" cy="511175"/>
          </a:xfrm>
          <a:custGeom>
            <a:avLst/>
            <a:gdLst/>
            <a:ahLst/>
            <a:cxnLst/>
            <a:rect l="l" t="t" r="r" b="b"/>
            <a:pathLst>
              <a:path w="522605" h="511175">
                <a:moveTo>
                  <a:pt x="260921" y="510717"/>
                </a:moveTo>
                <a:lnTo>
                  <a:pt x="213974" y="506602"/>
                </a:lnTo>
                <a:lnTo>
                  <a:pt x="169790" y="494735"/>
                </a:lnTo>
                <a:lnTo>
                  <a:pt x="129109" y="475830"/>
                </a:lnTo>
                <a:lnTo>
                  <a:pt x="92670" y="450605"/>
                </a:lnTo>
                <a:lnTo>
                  <a:pt x="61213" y="419775"/>
                </a:lnTo>
                <a:lnTo>
                  <a:pt x="35478" y="384056"/>
                </a:lnTo>
                <a:lnTo>
                  <a:pt x="16204" y="344164"/>
                </a:lnTo>
                <a:lnTo>
                  <a:pt x="4132" y="300814"/>
                </a:lnTo>
                <a:lnTo>
                  <a:pt x="0" y="254723"/>
                </a:lnTo>
                <a:lnTo>
                  <a:pt x="4132" y="209011"/>
                </a:lnTo>
                <a:lnTo>
                  <a:pt x="16204" y="165956"/>
                </a:lnTo>
                <a:lnTo>
                  <a:pt x="35478" y="126285"/>
                </a:lnTo>
                <a:lnTo>
                  <a:pt x="61213" y="90724"/>
                </a:lnTo>
                <a:lnTo>
                  <a:pt x="92670" y="60000"/>
                </a:lnTo>
                <a:lnTo>
                  <a:pt x="129109" y="34839"/>
                </a:lnTo>
                <a:lnTo>
                  <a:pt x="169790" y="15968"/>
                </a:lnTo>
                <a:lnTo>
                  <a:pt x="213974" y="4113"/>
                </a:lnTo>
                <a:lnTo>
                  <a:pt x="260921" y="0"/>
                </a:lnTo>
                <a:lnTo>
                  <a:pt x="307865" y="4114"/>
                </a:lnTo>
                <a:lnTo>
                  <a:pt x="352050" y="15975"/>
                </a:lnTo>
                <a:lnTo>
                  <a:pt x="392737" y="34863"/>
                </a:lnTo>
                <a:lnTo>
                  <a:pt x="429189" y="60056"/>
                </a:lnTo>
                <a:lnTo>
                  <a:pt x="460668" y="90833"/>
                </a:lnTo>
                <a:lnTo>
                  <a:pt x="486436" y="126473"/>
                </a:lnTo>
                <a:lnTo>
                  <a:pt x="505756" y="166254"/>
                </a:lnTo>
                <a:lnTo>
                  <a:pt x="517888" y="209457"/>
                </a:lnTo>
                <a:lnTo>
                  <a:pt x="522097" y="255358"/>
                </a:lnTo>
                <a:lnTo>
                  <a:pt x="517888" y="301260"/>
                </a:lnTo>
                <a:lnTo>
                  <a:pt x="505756" y="344462"/>
                </a:lnTo>
                <a:lnTo>
                  <a:pt x="486436" y="384244"/>
                </a:lnTo>
                <a:lnTo>
                  <a:pt x="460668" y="419884"/>
                </a:lnTo>
                <a:lnTo>
                  <a:pt x="429189" y="450661"/>
                </a:lnTo>
                <a:lnTo>
                  <a:pt x="392737" y="475854"/>
                </a:lnTo>
                <a:lnTo>
                  <a:pt x="352050" y="494742"/>
                </a:lnTo>
                <a:lnTo>
                  <a:pt x="307865" y="506603"/>
                </a:lnTo>
                <a:lnTo>
                  <a:pt x="260921" y="510717"/>
                </a:lnTo>
                <a:close/>
              </a:path>
            </a:pathLst>
          </a:custGeom>
          <a:solidFill>
            <a:srgbClr val="A6A6A6"/>
          </a:solidFill>
        </p:spPr>
        <p:txBody>
          <a:bodyPr wrap="square" lIns="0" tIns="0" rIns="0" bIns="0" rtlCol="0"/>
          <a:lstStyle/>
          <a:p/>
        </p:txBody>
      </p:sp>
      <p:sp>
        <p:nvSpPr>
          <p:cNvPr id="22" name="object 22"/>
          <p:cNvSpPr txBox="1"/>
          <p:nvPr/>
        </p:nvSpPr>
        <p:spPr>
          <a:xfrm>
            <a:off x="2264702" y="3719855"/>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5</a:t>
            </a:r>
            <a:endParaRPr sz="3200">
              <a:latin typeface="Calibri" panose="020F0502020204030204"/>
              <a:cs typeface="Calibri" panose="020F0502020204030204"/>
            </a:endParaRPr>
          </a:p>
        </p:txBody>
      </p:sp>
      <p:sp>
        <p:nvSpPr>
          <p:cNvPr id="23" name="object 23"/>
          <p:cNvSpPr/>
          <p:nvPr/>
        </p:nvSpPr>
        <p:spPr>
          <a:xfrm>
            <a:off x="2415539" y="4401311"/>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24" name="object 24"/>
          <p:cNvSpPr/>
          <p:nvPr/>
        </p:nvSpPr>
        <p:spPr>
          <a:xfrm>
            <a:off x="8938259" y="4401146"/>
            <a:ext cx="522605" cy="511175"/>
          </a:xfrm>
          <a:custGeom>
            <a:avLst/>
            <a:gdLst/>
            <a:ahLst/>
            <a:cxnLst/>
            <a:rect l="l" t="t" r="r" b="b"/>
            <a:pathLst>
              <a:path w="522604" h="511175">
                <a:moveTo>
                  <a:pt x="261353" y="510717"/>
                </a:moveTo>
                <a:lnTo>
                  <a:pt x="214405" y="506602"/>
                </a:lnTo>
                <a:lnTo>
                  <a:pt x="170217" y="494733"/>
                </a:lnTo>
                <a:lnTo>
                  <a:pt x="129524" y="475826"/>
                </a:lnTo>
                <a:lnTo>
                  <a:pt x="93064" y="450597"/>
                </a:lnTo>
                <a:lnTo>
                  <a:pt x="61571" y="419761"/>
                </a:lnTo>
                <a:lnTo>
                  <a:pt x="35782" y="384035"/>
                </a:lnTo>
                <a:lnTo>
                  <a:pt x="16433" y="344135"/>
                </a:lnTo>
                <a:lnTo>
                  <a:pt x="4260" y="300775"/>
                </a:lnTo>
                <a:lnTo>
                  <a:pt x="0" y="254673"/>
                </a:lnTo>
                <a:lnTo>
                  <a:pt x="4260" y="208975"/>
                </a:lnTo>
                <a:lnTo>
                  <a:pt x="16433" y="165932"/>
                </a:lnTo>
                <a:lnTo>
                  <a:pt x="35782" y="126269"/>
                </a:lnTo>
                <a:lnTo>
                  <a:pt x="61571" y="90715"/>
                </a:lnTo>
                <a:lnTo>
                  <a:pt x="93064" y="59996"/>
                </a:lnTo>
                <a:lnTo>
                  <a:pt x="129524" y="34837"/>
                </a:lnTo>
                <a:lnTo>
                  <a:pt x="170217" y="15968"/>
                </a:lnTo>
                <a:lnTo>
                  <a:pt x="214405" y="4113"/>
                </a:lnTo>
                <a:lnTo>
                  <a:pt x="261353" y="0"/>
                </a:lnTo>
                <a:lnTo>
                  <a:pt x="308297" y="4114"/>
                </a:lnTo>
                <a:lnTo>
                  <a:pt x="352480" y="15975"/>
                </a:lnTo>
                <a:lnTo>
                  <a:pt x="393166" y="34863"/>
                </a:lnTo>
                <a:lnTo>
                  <a:pt x="429616" y="60056"/>
                </a:lnTo>
                <a:lnTo>
                  <a:pt x="461093" y="90833"/>
                </a:lnTo>
                <a:lnTo>
                  <a:pt x="486859" y="126473"/>
                </a:lnTo>
                <a:lnTo>
                  <a:pt x="506176" y="166254"/>
                </a:lnTo>
                <a:lnTo>
                  <a:pt x="518308" y="209457"/>
                </a:lnTo>
                <a:lnTo>
                  <a:pt x="522516" y="255358"/>
                </a:lnTo>
                <a:lnTo>
                  <a:pt x="518308" y="301257"/>
                </a:lnTo>
                <a:lnTo>
                  <a:pt x="506176" y="344457"/>
                </a:lnTo>
                <a:lnTo>
                  <a:pt x="486859" y="384238"/>
                </a:lnTo>
                <a:lnTo>
                  <a:pt x="461093" y="419879"/>
                </a:lnTo>
                <a:lnTo>
                  <a:pt x="429616" y="450657"/>
                </a:lnTo>
                <a:lnTo>
                  <a:pt x="393166" y="475851"/>
                </a:lnTo>
                <a:lnTo>
                  <a:pt x="352480" y="494740"/>
                </a:lnTo>
                <a:lnTo>
                  <a:pt x="308297" y="506603"/>
                </a:lnTo>
                <a:lnTo>
                  <a:pt x="261353" y="510717"/>
                </a:lnTo>
                <a:close/>
              </a:path>
            </a:pathLst>
          </a:custGeom>
          <a:solidFill>
            <a:srgbClr val="D9D9D9"/>
          </a:solidFill>
        </p:spPr>
        <p:txBody>
          <a:bodyPr wrap="square" lIns="0" tIns="0" rIns="0" bIns="0" rtlCol="0"/>
          <a:lstStyle/>
          <a:p/>
        </p:txBody>
      </p:sp>
      <p:sp>
        <p:nvSpPr>
          <p:cNvPr id="25" name="object 25"/>
          <p:cNvSpPr/>
          <p:nvPr/>
        </p:nvSpPr>
        <p:spPr>
          <a:xfrm>
            <a:off x="2119883" y="4400600"/>
            <a:ext cx="522605" cy="511175"/>
          </a:xfrm>
          <a:custGeom>
            <a:avLst/>
            <a:gdLst/>
            <a:ahLst/>
            <a:cxnLst/>
            <a:rect l="l" t="t" r="r" b="b"/>
            <a:pathLst>
              <a:path w="522605" h="511175">
                <a:moveTo>
                  <a:pt x="260921" y="510717"/>
                </a:moveTo>
                <a:lnTo>
                  <a:pt x="213974" y="506603"/>
                </a:lnTo>
                <a:lnTo>
                  <a:pt x="169790" y="494740"/>
                </a:lnTo>
                <a:lnTo>
                  <a:pt x="129109" y="475849"/>
                </a:lnTo>
                <a:lnTo>
                  <a:pt x="92670" y="450649"/>
                </a:lnTo>
                <a:lnTo>
                  <a:pt x="61213" y="419860"/>
                </a:lnTo>
                <a:lnTo>
                  <a:pt x="35478" y="384203"/>
                </a:lnTo>
                <a:lnTo>
                  <a:pt x="16204" y="344397"/>
                </a:lnTo>
                <a:lnTo>
                  <a:pt x="4132" y="301162"/>
                </a:lnTo>
                <a:lnTo>
                  <a:pt x="0" y="255219"/>
                </a:lnTo>
                <a:lnTo>
                  <a:pt x="4132" y="209358"/>
                </a:lnTo>
                <a:lnTo>
                  <a:pt x="16204" y="166189"/>
                </a:lnTo>
                <a:lnTo>
                  <a:pt x="35478" y="126431"/>
                </a:lnTo>
                <a:lnTo>
                  <a:pt x="61213" y="90809"/>
                </a:lnTo>
                <a:lnTo>
                  <a:pt x="92670" y="60044"/>
                </a:lnTo>
                <a:lnTo>
                  <a:pt x="129109" y="34858"/>
                </a:lnTo>
                <a:lnTo>
                  <a:pt x="169790" y="15974"/>
                </a:lnTo>
                <a:lnTo>
                  <a:pt x="213974" y="4113"/>
                </a:lnTo>
                <a:lnTo>
                  <a:pt x="260921" y="0"/>
                </a:lnTo>
                <a:lnTo>
                  <a:pt x="307865" y="4114"/>
                </a:lnTo>
                <a:lnTo>
                  <a:pt x="352050" y="15975"/>
                </a:lnTo>
                <a:lnTo>
                  <a:pt x="392737" y="34863"/>
                </a:lnTo>
                <a:lnTo>
                  <a:pt x="429189" y="60056"/>
                </a:lnTo>
                <a:lnTo>
                  <a:pt x="460668" y="90833"/>
                </a:lnTo>
                <a:lnTo>
                  <a:pt x="486436" y="126473"/>
                </a:lnTo>
                <a:lnTo>
                  <a:pt x="505756" y="166254"/>
                </a:lnTo>
                <a:lnTo>
                  <a:pt x="517888" y="209457"/>
                </a:lnTo>
                <a:lnTo>
                  <a:pt x="522097" y="255358"/>
                </a:lnTo>
                <a:lnTo>
                  <a:pt x="517888" y="301260"/>
                </a:lnTo>
                <a:lnTo>
                  <a:pt x="505756" y="344462"/>
                </a:lnTo>
                <a:lnTo>
                  <a:pt x="486436" y="384244"/>
                </a:lnTo>
                <a:lnTo>
                  <a:pt x="460668" y="419884"/>
                </a:lnTo>
                <a:lnTo>
                  <a:pt x="429189" y="450661"/>
                </a:lnTo>
                <a:lnTo>
                  <a:pt x="392737" y="475854"/>
                </a:lnTo>
                <a:lnTo>
                  <a:pt x="352050" y="494742"/>
                </a:lnTo>
                <a:lnTo>
                  <a:pt x="307865" y="506603"/>
                </a:lnTo>
                <a:lnTo>
                  <a:pt x="260921" y="510717"/>
                </a:lnTo>
                <a:close/>
              </a:path>
            </a:pathLst>
          </a:custGeom>
          <a:solidFill>
            <a:srgbClr val="A6A6A6"/>
          </a:solidFill>
        </p:spPr>
        <p:txBody>
          <a:bodyPr wrap="square" lIns="0" tIns="0" rIns="0" bIns="0" rtlCol="0"/>
          <a:lstStyle/>
          <a:p/>
        </p:txBody>
      </p:sp>
      <p:sp>
        <p:nvSpPr>
          <p:cNvPr id="26" name="object 26"/>
          <p:cNvSpPr txBox="1"/>
          <p:nvPr/>
        </p:nvSpPr>
        <p:spPr>
          <a:xfrm>
            <a:off x="2264702" y="4373156"/>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6</a:t>
            </a:r>
            <a:endParaRPr sz="3200">
              <a:latin typeface="Calibri" panose="020F0502020204030204"/>
              <a:cs typeface="Calibri" panose="020F0502020204030204"/>
            </a:endParaRPr>
          </a:p>
        </p:txBody>
      </p:sp>
      <p:sp>
        <p:nvSpPr>
          <p:cNvPr id="27" name="object 27"/>
          <p:cNvSpPr/>
          <p:nvPr/>
        </p:nvSpPr>
        <p:spPr>
          <a:xfrm>
            <a:off x="2415539" y="5055108"/>
            <a:ext cx="6791325" cy="509270"/>
          </a:xfrm>
          <a:custGeom>
            <a:avLst/>
            <a:gdLst/>
            <a:ahLst/>
            <a:cxnLst/>
            <a:rect l="l" t="t" r="r" b="b"/>
            <a:pathLst>
              <a:path w="6791325" h="509270">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28" name="object 28"/>
          <p:cNvSpPr/>
          <p:nvPr/>
        </p:nvSpPr>
        <p:spPr>
          <a:xfrm>
            <a:off x="8938259" y="5054447"/>
            <a:ext cx="522605" cy="511175"/>
          </a:xfrm>
          <a:custGeom>
            <a:avLst/>
            <a:gdLst/>
            <a:ahLst/>
            <a:cxnLst/>
            <a:rect l="l" t="t" r="r" b="b"/>
            <a:pathLst>
              <a:path w="522604" h="511175">
                <a:moveTo>
                  <a:pt x="261353" y="510717"/>
                </a:moveTo>
                <a:lnTo>
                  <a:pt x="214405" y="506603"/>
                </a:lnTo>
                <a:lnTo>
                  <a:pt x="170217" y="494738"/>
                </a:lnTo>
                <a:lnTo>
                  <a:pt x="129524" y="475844"/>
                </a:lnTo>
                <a:lnTo>
                  <a:pt x="93064" y="450640"/>
                </a:lnTo>
                <a:lnTo>
                  <a:pt x="61571" y="419846"/>
                </a:lnTo>
                <a:lnTo>
                  <a:pt x="35782" y="384182"/>
                </a:lnTo>
                <a:lnTo>
                  <a:pt x="16433" y="344368"/>
                </a:lnTo>
                <a:lnTo>
                  <a:pt x="4260" y="301123"/>
                </a:lnTo>
                <a:lnTo>
                  <a:pt x="0" y="255168"/>
                </a:lnTo>
                <a:lnTo>
                  <a:pt x="4260" y="209323"/>
                </a:lnTo>
                <a:lnTo>
                  <a:pt x="16433" y="166165"/>
                </a:lnTo>
                <a:lnTo>
                  <a:pt x="35782" y="126416"/>
                </a:lnTo>
                <a:lnTo>
                  <a:pt x="61571" y="90800"/>
                </a:lnTo>
                <a:lnTo>
                  <a:pt x="93064" y="60039"/>
                </a:lnTo>
                <a:lnTo>
                  <a:pt x="129524" y="34856"/>
                </a:lnTo>
                <a:lnTo>
                  <a:pt x="170217" y="15973"/>
                </a:lnTo>
                <a:lnTo>
                  <a:pt x="214405" y="4113"/>
                </a:lnTo>
                <a:lnTo>
                  <a:pt x="261353" y="0"/>
                </a:lnTo>
                <a:lnTo>
                  <a:pt x="308297" y="4114"/>
                </a:lnTo>
                <a:lnTo>
                  <a:pt x="352480" y="15975"/>
                </a:lnTo>
                <a:lnTo>
                  <a:pt x="393166" y="34863"/>
                </a:lnTo>
                <a:lnTo>
                  <a:pt x="429616" y="60056"/>
                </a:lnTo>
                <a:lnTo>
                  <a:pt x="461093" y="90833"/>
                </a:lnTo>
                <a:lnTo>
                  <a:pt x="486859" y="126473"/>
                </a:lnTo>
                <a:lnTo>
                  <a:pt x="506176" y="166254"/>
                </a:lnTo>
                <a:lnTo>
                  <a:pt x="518308" y="209457"/>
                </a:lnTo>
                <a:lnTo>
                  <a:pt x="522516" y="255358"/>
                </a:lnTo>
                <a:lnTo>
                  <a:pt x="518308" y="301257"/>
                </a:lnTo>
                <a:lnTo>
                  <a:pt x="506176" y="344457"/>
                </a:lnTo>
                <a:lnTo>
                  <a:pt x="486859" y="384238"/>
                </a:lnTo>
                <a:lnTo>
                  <a:pt x="461093" y="419879"/>
                </a:lnTo>
                <a:lnTo>
                  <a:pt x="429616" y="450657"/>
                </a:lnTo>
                <a:lnTo>
                  <a:pt x="393166" y="475851"/>
                </a:lnTo>
                <a:lnTo>
                  <a:pt x="352480" y="494740"/>
                </a:lnTo>
                <a:lnTo>
                  <a:pt x="308297" y="506603"/>
                </a:lnTo>
                <a:lnTo>
                  <a:pt x="261353" y="510717"/>
                </a:lnTo>
                <a:close/>
              </a:path>
            </a:pathLst>
          </a:custGeom>
          <a:solidFill>
            <a:srgbClr val="D9D9D9"/>
          </a:solidFill>
        </p:spPr>
        <p:txBody>
          <a:bodyPr wrap="square" lIns="0" tIns="0" rIns="0" bIns="0" rtlCol="0"/>
          <a:lstStyle/>
          <a:p/>
        </p:txBody>
      </p:sp>
      <p:sp>
        <p:nvSpPr>
          <p:cNvPr id="29" name="object 29"/>
          <p:cNvSpPr/>
          <p:nvPr/>
        </p:nvSpPr>
        <p:spPr>
          <a:xfrm>
            <a:off x="2119883" y="5053901"/>
            <a:ext cx="522605" cy="511175"/>
          </a:xfrm>
          <a:custGeom>
            <a:avLst/>
            <a:gdLst/>
            <a:ahLst/>
            <a:cxnLst/>
            <a:rect l="l" t="t" r="r" b="b"/>
            <a:pathLst>
              <a:path w="522605" h="511175">
                <a:moveTo>
                  <a:pt x="260921" y="510717"/>
                </a:moveTo>
                <a:lnTo>
                  <a:pt x="213972" y="506603"/>
                </a:lnTo>
                <a:lnTo>
                  <a:pt x="169781" y="494742"/>
                </a:lnTo>
                <a:lnTo>
                  <a:pt x="129090" y="475854"/>
                </a:lnTo>
                <a:lnTo>
                  <a:pt x="92638" y="450661"/>
                </a:lnTo>
                <a:lnTo>
                  <a:pt x="61213" y="419945"/>
                </a:lnTo>
                <a:lnTo>
                  <a:pt x="35478" y="384349"/>
                </a:lnTo>
                <a:lnTo>
                  <a:pt x="16204" y="344630"/>
                </a:lnTo>
                <a:lnTo>
                  <a:pt x="4132" y="301510"/>
                </a:lnTo>
                <a:lnTo>
                  <a:pt x="0" y="255714"/>
                </a:lnTo>
                <a:lnTo>
                  <a:pt x="4132" y="209706"/>
                </a:lnTo>
                <a:lnTo>
                  <a:pt x="16204" y="166422"/>
                </a:lnTo>
                <a:lnTo>
                  <a:pt x="35478" y="126578"/>
                </a:lnTo>
                <a:lnTo>
                  <a:pt x="61213" y="90894"/>
                </a:lnTo>
                <a:lnTo>
                  <a:pt x="92715" y="60056"/>
                </a:lnTo>
                <a:lnTo>
                  <a:pt x="129137" y="34863"/>
                </a:lnTo>
                <a:lnTo>
                  <a:pt x="169804" y="15975"/>
                </a:lnTo>
                <a:lnTo>
                  <a:pt x="213979" y="4114"/>
                </a:lnTo>
                <a:lnTo>
                  <a:pt x="260921" y="0"/>
                </a:lnTo>
                <a:lnTo>
                  <a:pt x="307867" y="4114"/>
                </a:lnTo>
                <a:lnTo>
                  <a:pt x="352058" y="15979"/>
                </a:lnTo>
                <a:lnTo>
                  <a:pt x="392756" y="34876"/>
                </a:lnTo>
                <a:lnTo>
                  <a:pt x="429221" y="60087"/>
                </a:lnTo>
                <a:lnTo>
                  <a:pt x="460668" y="90833"/>
                </a:lnTo>
                <a:lnTo>
                  <a:pt x="486436" y="126473"/>
                </a:lnTo>
                <a:lnTo>
                  <a:pt x="505756" y="166254"/>
                </a:lnTo>
                <a:lnTo>
                  <a:pt x="517888" y="209457"/>
                </a:lnTo>
                <a:lnTo>
                  <a:pt x="522097" y="255358"/>
                </a:lnTo>
                <a:lnTo>
                  <a:pt x="517888" y="301260"/>
                </a:lnTo>
                <a:lnTo>
                  <a:pt x="505756" y="344462"/>
                </a:lnTo>
                <a:lnTo>
                  <a:pt x="486436" y="384244"/>
                </a:lnTo>
                <a:lnTo>
                  <a:pt x="460668" y="419884"/>
                </a:lnTo>
                <a:lnTo>
                  <a:pt x="429144" y="450692"/>
                </a:lnTo>
                <a:lnTo>
                  <a:pt x="392709" y="475867"/>
                </a:lnTo>
                <a:lnTo>
                  <a:pt x="352035" y="494746"/>
                </a:lnTo>
                <a:lnTo>
                  <a:pt x="307860" y="506604"/>
                </a:lnTo>
                <a:lnTo>
                  <a:pt x="260921" y="510717"/>
                </a:lnTo>
                <a:close/>
              </a:path>
            </a:pathLst>
          </a:custGeom>
          <a:solidFill>
            <a:srgbClr val="A6A6A6"/>
          </a:solidFill>
        </p:spPr>
        <p:txBody>
          <a:bodyPr wrap="square" lIns="0" tIns="0" rIns="0" bIns="0" rtlCol="0"/>
          <a:lstStyle/>
          <a:p/>
        </p:txBody>
      </p:sp>
      <p:sp>
        <p:nvSpPr>
          <p:cNvPr id="30" name="object 30"/>
          <p:cNvSpPr txBox="1"/>
          <p:nvPr/>
        </p:nvSpPr>
        <p:spPr>
          <a:xfrm>
            <a:off x="2264702" y="5026456"/>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7</a:t>
            </a:r>
            <a:endParaRPr sz="3200">
              <a:latin typeface="Calibri" panose="020F0502020204030204"/>
              <a:cs typeface="Calibri" panose="020F0502020204030204"/>
            </a:endParaRPr>
          </a:p>
        </p:txBody>
      </p:sp>
      <p:sp>
        <p:nvSpPr>
          <p:cNvPr id="31" name="object 31"/>
          <p:cNvSpPr/>
          <p:nvPr/>
        </p:nvSpPr>
        <p:spPr>
          <a:xfrm>
            <a:off x="2415539" y="5707379"/>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32" name="object 32"/>
          <p:cNvSpPr/>
          <p:nvPr/>
        </p:nvSpPr>
        <p:spPr>
          <a:xfrm>
            <a:off x="8938259" y="5707748"/>
            <a:ext cx="522605" cy="511175"/>
          </a:xfrm>
          <a:custGeom>
            <a:avLst/>
            <a:gdLst/>
            <a:ahLst/>
            <a:cxnLst/>
            <a:rect l="l" t="t" r="r" b="b"/>
            <a:pathLst>
              <a:path w="522604" h="511175">
                <a:moveTo>
                  <a:pt x="261353" y="510717"/>
                </a:moveTo>
                <a:lnTo>
                  <a:pt x="214403" y="506603"/>
                </a:lnTo>
                <a:lnTo>
                  <a:pt x="170210" y="494742"/>
                </a:lnTo>
                <a:lnTo>
                  <a:pt x="129508" y="475854"/>
                </a:lnTo>
                <a:lnTo>
                  <a:pt x="93036" y="450661"/>
                </a:lnTo>
                <a:lnTo>
                  <a:pt x="61533" y="419884"/>
                </a:lnTo>
                <a:lnTo>
                  <a:pt x="35782" y="384334"/>
                </a:lnTo>
                <a:lnTo>
                  <a:pt x="16433" y="344606"/>
                </a:lnTo>
                <a:lnTo>
                  <a:pt x="4260" y="301474"/>
                </a:lnTo>
                <a:lnTo>
                  <a:pt x="0" y="255663"/>
                </a:lnTo>
                <a:lnTo>
                  <a:pt x="4260" y="209671"/>
                </a:lnTo>
                <a:lnTo>
                  <a:pt x="16433" y="166398"/>
                </a:lnTo>
                <a:lnTo>
                  <a:pt x="35782" y="126563"/>
                </a:lnTo>
                <a:lnTo>
                  <a:pt x="61624" y="90833"/>
                </a:lnTo>
                <a:lnTo>
                  <a:pt x="93102" y="60056"/>
                </a:lnTo>
                <a:lnTo>
                  <a:pt x="129549" y="34863"/>
                </a:lnTo>
                <a:lnTo>
                  <a:pt x="170229" y="15975"/>
                </a:lnTo>
                <a:lnTo>
                  <a:pt x="214410" y="4114"/>
                </a:lnTo>
                <a:lnTo>
                  <a:pt x="261353" y="0"/>
                </a:lnTo>
                <a:lnTo>
                  <a:pt x="308298" y="4114"/>
                </a:lnTo>
                <a:lnTo>
                  <a:pt x="352487" y="15978"/>
                </a:lnTo>
                <a:lnTo>
                  <a:pt x="393182" y="34874"/>
                </a:lnTo>
                <a:lnTo>
                  <a:pt x="429643" y="60083"/>
                </a:lnTo>
                <a:lnTo>
                  <a:pt x="461130" y="90885"/>
                </a:lnTo>
                <a:lnTo>
                  <a:pt x="486859" y="126473"/>
                </a:lnTo>
                <a:lnTo>
                  <a:pt x="506176" y="166254"/>
                </a:lnTo>
                <a:lnTo>
                  <a:pt x="518308" y="209457"/>
                </a:lnTo>
                <a:lnTo>
                  <a:pt x="522516" y="255358"/>
                </a:lnTo>
                <a:lnTo>
                  <a:pt x="518308" y="301260"/>
                </a:lnTo>
                <a:lnTo>
                  <a:pt x="506176" y="344462"/>
                </a:lnTo>
                <a:lnTo>
                  <a:pt x="486859" y="384244"/>
                </a:lnTo>
                <a:lnTo>
                  <a:pt x="461039" y="419936"/>
                </a:lnTo>
                <a:lnTo>
                  <a:pt x="429577" y="450688"/>
                </a:lnTo>
                <a:lnTo>
                  <a:pt x="393141" y="475865"/>
                </a:lnTo>
                <a:lnTo>
                  <a:pt x="352468" y="494745"/>
                </a:lnTo>
                <a:lnTo>
                  <a:pt x="308292" y="506604"/>
                </a:lnTo>
                <a:lnTo>
                  <a:pt x="261353" y="510717"/>
                </a:lnTo>
                <a:close/>
              </a:path>
            </a:pathLst>
          </a:custGeom>
          <a:solidFill>
            <a:srgbClr val="D9D9D9"/>
          </a:solidFill>
        </p:spPr>
        <p:txBody>
          <a:bodyPr wrap="square" lIns="0" tIns="0" rIns="0" bIns="0" rtlCol="0"/>
          <a:lstStyle/>
          <a:p/>
        </p:txBody>
      </p:sp>
      <p:sp>
        <p:nvSpPr>
          <p:cNvPr id="33" name="object 33"/>
          <p:cNvSpPr/>
          <p:nvPr/>
        </p:nvSpPr>
        <p:spPr>
          <a:xfrm>
            <a:off x="2119883" y="5707202"/>
            <a:ext cx="522605" cy="511175"/>
          </a:xfrm>
          <a:custGeom>
            <a:avLst/>
            <a:gdLst/>
            <a:ahLst/>
            <a:cxnLst/>
            <a:rect l="l" t="t" r="r" b="b"/>
            <a:pathLst>
              <a:path w="522605" h="511175">
                <a:moveTo>
                  <a:pt x="260921" y="510717"/>
                </a:moveTo>
                <a:lnTo>
                  <a:pt x="213974" y="506602"/>
                </a:lnTo>
                <a:lnTo>
                  <a:pt x="169790" y="494734"/>
                </a:lnTo>
                <a:lnTo>
                  <a:pt x="129109" y="475829"/>
                </a:lnTo>
                <a:lnTo>
                  <a:pt x="92670" y="450602"/>
                </a:lnTo>
                <a:lnTo>
                  <a:pt x="61213" y="419769"/>
                </a:lnTo>
                <a:lnTo>
                  <a:pt x="35478" y="384045"/>
                </a:lnTo>
                <a:lnTo>
                  <a:pt x="16204" y="344146"/>
                </a:lnTo>
                <a:lnTo>
                  <a:pt x="4132" y="300787"/>
                </a:lnTo>
                <a:lnTo>
                  <a:pt x="0" y="254685"/>
                </a:lnTo>
                <a:lnTo>
                  <a:pt x="4132" y="208984"/>
                </a:lnTo>
                <a:lnTo>
                  <a:pt x="16204" y="165938"/>
                </a:lnTo>
                <a:lnTo>
                  <a:pt x="35478" y="126273"/>
                </a:lnTo>
                <a:lnTo>
                  <a:pt x="61213" y="90717"/>
                </a:lnTo>
                <a:lnTo>
                  <a:pt x="92670" y="59997"/>
                </a:lnTo>
                <a:lnTo>
                  <a:pt x="129109" y="34838"/>
                </a:lnTo>
                <a:lnTo>
                  <a:pt x="169790" y="15968"/>
                </a:lnTo>
                <a:lnTo>
                  <a:pt x="213974" y="4113"/>
                </a:lnTo>
                <a:lnTo>
                  <a:pt x="260921" y="0"/>
                </a:lnTo>
                <a:lnTo>
                  <a:pt x="307865" y="4114"/>
                </a:lnTo>
                <a:lnTo>
                  <a:pt x="352050" y="15975"/>
                </a:lnTo>
                <a:lnTo>
                  <a:pt x="392737" y="34863"/>
                </a:lnTo>
                <a:lnTo>
                  <a:pt x="429189" y="60056"/>
                </a:lnTo>
                <a:lnTo>
                  <a:pt x="460668" y="90833"/>
                </a:lnTo>
                <a:lnTo>
                  <a:pt x="486436" y="126473"/>
                </a:lnTo>
                <a:lnTo>
                  <a:pt x="505756" y="166254"/>
                </a:lnTo>
                <a:lnTo>
                  <a:pt x="517888" y="209457"/>
                </a:lnTo>
                <a:lnTo>
                  <a:pt x="522097" y="255358"/>
                </a:lnTo>
                <a:lnTo>
                  <a:pt x="517888" y="301260"/>
                </a:lnTo>
                <a:lnTo>
                  <a:pt x="505756" y="344462"/>
                </a:lnTo>
                <a:lnTo>
                  <a:pt x="486436" y="384244"/>
                </a:lnTo>
                <a:lnTo>
                  <a:pt x="460668" y="419884"/>
                </a:lnTo>
                <a:lnTo>
                  <a:pt x="429189" y="450661"/>
                </a:lnTo>
                <a:lnTo>
                  <a:pt x="392737" y="475854"/>
                </a:lnTo>
                <a:lnTo>
                  <a:pt x="352050" y="494742"/>
                </a:lnTo>
                <a:lnTo>
                  <a:pt x="307865" y="506603"/>
                </a:lnTo>
                <a:lnTo>
                  <a:pt x="260921" y="510717"/>
                </a:lnTo>
                <a:close/>
              </a:path>
            </a:pathLst>
          </a:custGeom>
          <a:solidFill>
            <a:srgbClr val="A6A6A6"/>
          </a:solidFill>
        </p:spPr>
        <p:txBody>
          <a:bodyPr wrap="square" lIns="0" tIns="0" rIns="0" bIns="0" rtlCol="0"/>
          <a:lstStyle/>
          <a:p/>
        </p:txBody>
      </p:sp>
      <p:sp>
        <p:nvSpPr>
          <p:cNvPr id="34" name="object 34"/>
          <p:cNvSpPr txBox="1"/>
          <p:nvPr/>
        </p:nvSpPr>
        <p:spPr>
          <a:xfrm>
            <a:off x="2264702" y="5679757"/>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8</a:t>
            </a:r>
            <a:endParaRPr sz="3200">
              <a:latin typeface="Calibri" panose="020F0502020204030204"/>
              <a:cs typeface="Calibri" panose="020F0502020204030204"/>
            </a:endParaRPr>
          </a:p>
        </p:txBody>
      </p:sp>
      <p:sp>
        <p:nvSpPr>
          <p:cNvPr id="35" name="object 35"/>
          <p:cNvSpPr txBox="1"/>
          <p:nvPr/>
        </p:nvSpPr>
        <p:spPr>
          <a:xfrm>
            <a:off x="2982899" y="1192682"/>
            <a:ext cx="251015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C00000"/>
                </a:solidFill>
                <a:latin typeface="微软雅黑" panose="020B0503020204020204" charset="-122"/>
                <a:cs typeface="微软雅黑" panose="020B0503020204020204" charset="-122"/>
              </a:rPr>
              <a:t>关于</a:t>
            </a:r>
            <a:r>
              <a:rPr sz="2400" b="1" spc="-5" dirty="0">
                <a:solidFill>
                  <a:srgbClr val="C00000"/>
                </a:solidFill>
                <a:latin typeface="微软雅黑" panose="020B0503020204020204" charset="-122"/>
                <a:cs typeface="微软雅黑" panose="020B0503020204020204" charset="-122"/>
              </a:rPr>
              <a:t>ISA</a:t>
            </a:r>
            <a:r>
              <a:rPr sz="2400" b="1" dirty="0">
                <a:solidFill>
                  <a:srgbClr val="C00000"/>
                </a:solidFill>
                <a:latin typeface="微软雅黑" panose="020B0503020204020204" charset="-122"/>
                <a:cs typeface="微软雅黑" panose="020B0503020204020204" charset="-122"/>
              </a:rPr>
              <a:t>和</a:t>
            </a:r>
            <a:r>
              <a:rPr sz="2400" b="1" spc="-5" dirty="0">
                <a:solidFill>
                  <a:srgbClr val="C00000"/>
                </a:solidFill>
                <a:latin typeface="微软雅黑" panose="020B0503020204020204" charset="-122"/>
                <a:cs typeface="微软雅黑" panose="020B0503020204020204" charset="-122"/>
              </a:rPr>
              <a:t>RISC-V</a:t>
            </a:r>
            <a:endParaRPr sz="2400">
              <a:latin typeface="微软雅黑" panose="020B0503020204020204" charset="-122"/>
              <a:cs typeface="微软雅黑" panose="020B0503020204020204" charset="-122"/>
            </a:endParaRPr>
          </a:p>
        </p:txBody>
      </p:sp>
      <p:sp>
        <p:nvSpPr>
          <p:cNvPr id="36" name="object 36"/>
          <p:cNvSpPr txBox="1"/>
          <p:nvPr/>
        </p:nvSpPr>
        <p:spPr>
          <a:xfrm>
            <a:off x="2982899" y="1845360"/>
            <a:ext cx="364744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开源</a:t>
            </a:r>
            <a:r>
              <a:rPr sz="2400" b="1" spc="-5" dirty="0">
                <a:solidFill>
                  <a:srgbClr val="A6A6A6"/>
                </a:solidFill>
                <a:latin typeface="微软雅黑" panose="020B0503020204020204" charset="-122"/>
                <a:cs typeface="微软雅黑" panose="020B0503020204020204" charset="-122"/>
              </a:rPr>
              <a:t>RISC-V</a:t>
            </a:r>
            <a:r>
              <a:rPr sz="2400" b="1" dirty="0">
                <a:solidFill>
                  <a:srgbClr val="A6A6A6"/>
                </a:solidFill>
                <a:latin typeface="微软雅黑" panose="020B0503020204020204" charset="-122"/>
                <a:cs typeface="微软雅黑" panose="020B0503020204020204" charset="-122"/>
              </a:rPr>
              <a:t>内核蜂鸟</a:t>
            </a:r>
            <a:r>
              <a:rPr sz="2400" b="1" spc="-5" dirty="0">
                <a:solidFill>
                  <a:srgbClr val="A6A6A6"/>
                </a:solidFill>
                <a:latin typeface="微软雅黑" panose="020B0503020204020204" charset="-122"/>
                <a:cs typeface="微软雅黑" panose="020B0503020204020204" charset="-122"/>
              </a:rPr>
              <a:t>E203</a:t>
            </a:r>
            <a:endParaRPr sz="2400">
              <a:latin typeface="微软雅黑" panose="020B0503020204020204" charset="-122"/>
              <a:cs typeface="微软雅黑" panose="020B0503020204020204" charset="-122"/>
            </a:endParaRPr>
          </a:p>
        </p:txBody>
      </p:sp>
      <p:sp>
        <p:nvSpPr>
          <p:cNvPr id="37" name="object 37"/>
          <p:cNvSpPr txBox="1"/>
          <p:nvPr/>
        </p:nvSpPr>
        <p:spPr>
          <a:xfrm>
            <a:off x="2982899" y="2499283"/>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的中文书籍</a:t>
            </a:r>
            <a:endParaRPr sz="2400">
              <a:latin typeface="微软雅黑" panose="020B0503020204020204" charset="-122"/>
              <a:cs typeface="微软雅黑" panose="020B0503020204020204" charset="-122"/>
            </a:endParaRPr>
          </a:p>
        </p:txBody>
      </p:sp>
      <p:sp>
        <p:nvSpPr>
          <p:cNvPr id="38" name="object 38"/>
          <p:cNvSpPr txBox="1"/>
          <p:nvPr/>
        </p:nvSpPr>
        <p:spPr>
          <a:xfrm>
            <a:off x="2982899" y="3185159"/>
            <a:ext cx="3875404"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蜂鸟</a:t>
            </a:r>
            <a:r>
              <a:rPr sz="2400" b="1" spc="-5" dirty="0">
                <a:solidFill>
                  <a:srgbClr val="A6A6A6"/>
                </a:solidFill>
                <a:latin typeface="微软雅黑" panose="020B0503020204020204" charset="-122"/>
                <a:cs typeface="微软雅黑" panose="020B0503020204020204" charset="-122"/>
              </a:rPr>
              <a:t>E203</a:t>
            </a:r>
            <a:r>
              <a:rPr sz="2400" b="1" dirty="0">
                <a:solidFill>
                  <a:srgbClr val="A6A6A6"/>
                </a:solidFill>
                <a:latin typeface="微软雅黑" panose="020B0503020204020204" charset="-122"/>
                <a:cs typeface="微软雅黑" panose="020B0503020204020204" charset="-122"/>
              </a:rPr>
              <a:t>软硬件D</a:t>
            </a:r>
            <a:r>
              <a:rPr sz="2400" b="1" spc="-5" dirty="0">
                <a:solidFill>
                  <a:srgbClr val="A6A6A6"/>
                </a:solidFill>
                <a:latin typeface="微软雅黑" panose="020B0503020204020204" charset="-122"/>
                <a:cs typeface="微软雅黑" panose="020B0503020204020204" charset="-122"/>
              </a:rPr>
              <a:t>E</a:t>
            </a:r>
            <a:r>
              <a:rPr sz="2400" b="1" dirty="0">
                <a:solidFill>
                  <a:srgbClr val="A6A6A6"/>
                </a:solidFill>
                <a:latin typeface="微软雅黑" panose="020B0503020204020204" charset="-122"/>
                <a:cs typeface="微软雅黑" panose="020B0503020204020204" charset="-122"/>
              </a:rPr>
              <a:t>MO视频</a:t>
            </a:r>
            <a:endParaRPr sz="2400">
              <a:latin typeface="微软雅黑" panose="020B0503020204020204" charset="-122"/>
              <a:cs typeface="微软雅黑" panose="020B0503020204020204" charset="-122"/>
            </a:endParaRPr>
          </a:p>
        </p:txBody>
      </p:sp>
      <p:sp>
        <p:nvSpPr>
          <p:cNvPr id="39" name="object 39"/>
          <p:cNvSpPr txBox="1"/>
          <p:nvPr/>
        </p:nvSpPr>
        <p:spPr>
          <a:xfrm>
            <a:off x="2982899" y="3772699"/>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的几个误区</a:t>
            </a:r>
            <a:endParaRPr sz="2400">
              <a:latin typeface="微软雅黑" panose="020B0503020204020204" charset="-122"/>
              <a:cs typeface="微软雅黑" panose="020B0503020204020204" charset="-122"/>
            </a:endParaRPr>
          </a:p>
        </p:txBody>
      </p:sp>
      <p:sp>
        <p:nvSpPr>
          <p:cNvPr id="40" name="object 40"/>
          <p:cNvSpPr txBox="1"/>
          <p:nvPr/>
        </p:nvSpPr>
        <p:spPr>
          <a:xfrm>
            <a:off x="2982899" y="4459185"/>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的未来趋势</a:t>
            </a:r>
            <a:endParaRPr sz="2400">
              <a:latin typeface="微软雅黑" panose="020B0503020204020204" charset="-122"/>
              <a:cs typeface="微软雅黑" panose="020B0503020204020204" charset="-122"/>
            </a:endParaRPr>
          </a:p>
        </p:txBody>
      </p:sp>
      <p:sp>
        <p:nvSpPr>
          <p:cNvPr id="41" name="object 41"/>
          <p:cNvSpPr txBox="1"/>
          <p:nvPr/>
        </p:nvSpPr>
        <p:spPr>
          <a:xfrm>
            <a:off x="2982899" y="5112486"/>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的商业本质</a:t>
            </a:r>
            <a:endParaRPr sz="2400">
              <a:latin typeface="微软雅黑" panose="020B0503020204020204" charset="-122"/>
              <a:cs typeface="微软雅黑" panose="020B0503020204020204" charset="-122"/>
            </a:endParaRPr>
          </a:p>
        </p:txBody>
      </p:sp>
      <p:sp>
        <p:nvSpPr>
          <p:cNvPr id="42" name="object 42"/>
          <p:cNvSpPr txBox="1"/>
          <p:nvPr/>
        </p:nvSpPr>
        <p:spPr>
          <a:xfrm>
            <a:off x="2982899" y="5770702"/>
            <a:ext cx="185420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芯来科技介绍</a:t>
            </a:r>
            <a:endParaRPr sz="2400">
              <a:latin typeface="微软雅黑" panose="020B0503020204020204" charset="-122"/>
              <a:cs typeface="微软雅黑" panose="020B0503020204020204" charset="-122"/>
            </a:endParaRPr>
          </a:p>
        </p:txBody>
      </p:sp>
      <p:sp>
        <p:nvSpPr>
          <p:cNvPr id="43" name="object 43"/>
          <p:cNvSpPr txBox="1">
            <a:spLocks noGrp="1"/>
          </p:cNvSpPr>
          <p:nvPr>
            <p:ph type="title"/>
          </p:nvPr>
        </p:nvSpPr>
        <p:spPr>
          <a:xfrm>
            <a:off x="713105" y="243840"/>
            <a:ext cx="1802764"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C00000"/>
                </a:solidFill>
              </a:rPr>
              <a:t>Age</a:t>
            </a:r>
            <a:r>
              <a:rPr sz="3600" dirty="0">
                <a:solidFill>
                  <a:srgbClr val="C00000"/>
                </a:solidFill>
              </a:rPr>
              <a:t>n</a:t>
            </a:r>
            <a:r>
              <a:rPr sz="3600" spc="-5" dirty="0">
                <a:solidFill>
                  <a:srgbClr val="C00000"/>
                </a:solidFill>
              </a:rPr>
              <a:t>d</a:t>
            </a:r>
            <a:r>
              <a:rPr sz="3600" dirty="0">
                <a:solidFill>
                  <a:srgbClr val="C00000"/>
                </a:solidFill>
              </a:rPr>
              <a:t>a</a:t>
            </a:r>
            <a:endParaRPr sz="3600"/>
          </a:p>
        </p:txBody>
      </p:sp>
      <p:sp>
        <p:nvSpPr>
          <p:cNvPr id="44" name="object 4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23114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指令集架构</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p:nvPr/>
        </p:nvSpPr>
        <p:spPr>
          <a:xfrm>
            <a:off x="7358354" y="3922395"/>
            <a:ext cx="1688464" cy="0"/>
          </a:xfrm>
          <a:custGeom>
            <a:avLst/>
            <a:gdLst/>
            <a:ahLst/>
            <a:cxnLst/>
            <a:rect l="l" t="t" r="r" b="b"/>
            <a:pathLst>
              <a:path w="1688465">
                <a:moveTo>
                  <a:pt x="0" y="0"/>
                </a:moveTo>
                <a:lnTo>
                  <a:pt x="1687880" y="0"/>
                </a:lnTo>
              </a:path>
            </a:pathLst>
          </a:custGeom>
          <a:ln w="16510">
            <a:solidFill>
              <a:srgbClr val="C00000"/>
            </a:solidFill>
          </a:ln>
        </p:spPr>
        <p:txBody>
          <a:bodyPr wrap="square" lIns="0" tIns="0" rIns="0" bIns="0" rtlCol="0"/>
          <a:lstStyle/>
          <a:p/>
        </p:txBody>
      </p:sp>
      <p:sp>
        <p:nvSpPr>
          <p:cNvPr id="5" name="object 5"/>
          <p:cNvSpPr/>
          <p:nvPr/>
        </p:nvSpPr>
        <p:spPr>
          <a:xfrm>
            <a:off x="7369809" y="5676900"/>
            <a:ext cx="1198880" cy="0"/>
          </a:xfrm>
          <a:custGeom>
            <a:avLst/>
            <a:gdLst/>
            <a:ahLst/>
            <a:cxnLst/>
            <a:rect l="l" t="t" r="r" b="b"/>
            <a:pathLst>
              <a:path w="1198879">
                <a:moveTo>
                  <a:pt x="0" y="0"/>
                </a:moveTo>
                <a:lnTo>
                  <a:pt x="1198879" y="0"/>
                </a:lnTo>
              </a:path>
            </a:pathLst>
          </a:custGeom>
          <a:ln w="7620">
            <a:solidFill>
              <a:srgbClr val="C00000"/>
            </a:solidFill>
          </a:ln>
        </p:spPr>
        <p:txBody>
          <a:bodyPr wrap="square" lIns="0" tIns="0" rIns="0" bIns="0" rtlCol="0"/>
          <a:lstStyle/>
          <a:p/>
        </p:txBody>
      </p:sp>
      <p:sp>
        <p:nvSpPr>
          <p:cNvPr id="6" name="object 6"/>
          <p:cNvSpPr/>
          <p:nvPr/>
        </p:nvSpPr>
        <p:spPr>
          <a:xfrm>
            <a:off x="7712964" y="851916"/>
            <a:ext cx="3448812" cy="5183124"/>
          </a:xfrm>
          <a:prstGeom prst="rect">
            <a:avLst/>
          </a:prstGeom>
          <a:blipFill>
            <a:blip r:embed="rId1" cstate="print"/>
            <a:stretch>
              <a:fillRect/>
            </a:stretch>
          </a:blipFill>
        </p:spPr>
        <p:txBody>
          <a:bodyPr wrap="square" lIns="0" tIns="0" rIns="0" bIns="0" rtlCol="0"/>
          <a:lstStyle/>
          <a:p/>
        </p:txBody>
      </p:sp>
      <p:sp>
        <p:nvSpPr>
          <p:cNvPr id="7" name="object 7"/>
          <p:cNvSpPr/>
          <p:nvPr/>
        </p:nvSpPr>
        <p:spPr>
          <a:xfrm>
            <a:off x="6517640" y="4966144"/>
            <a:ext cx="769620" cy="793115"/>
          </a:xfrm>
          <a:custGeom>
            <a:avLst/>
            <a:gdLst/>
            <a:ahLst/>
            <a:cxnLst/>
            <a:rect l="l" t="t" r="r" b="b"/>
            <a:pathLst>
              <a:path w="769620" h="793114">
                <a:moveTo>
                  <a:pt x="769277" y="792721"/>
                </a:moveTo>
                <a:lnTo>
                  <a:pt x="0" y="792721"/>
                </a:lnTo>
                <a:lnTo>
                  <a:pt x="0" y="0"/>
                </a:lnTo>
                <a:lnTo>
                  <a:pt x="769277" y="0"/>
                </a:lnTo>
                <a:lnTo>
                  <a:pt x="769277" y="6350"/>
                </a:lnTo>
                <a:lnTo>
                  <a:pt x="12700" y="6350"/>
                </a:lnTo>
                <a:lnTo>
                  <a:pt x="6350" y="12700"/>
                </a:lnTo>
                <a:lnTo>
                  <a:pt x="12700" y="12700"/>
                </a:lnTo>
                <a:lnTo>
                  <a:pt x="12700" y="780021"/>
                </a:lnTo>
                <a:lnTo>
                  <a:pt x="6350" y="780021"/>
                </a:lnTo>
                <a:lnTo>
                  <a:pt x="12700" y="786371"/>
                </a:lnTo>
                <a:lnTo>
                  <a:pt x="769277" y="786371"/>
                </a:lnTo>
                <a:lnTo>
                  <a:pt x="769277" y="792721"/>
                </a:lnTo>
                <a:close/>
              </a:path>
              <a:path w="769620" h="793114">
                <a:moveTo>
                  <a:pt x="12700" y="12700"/>
                </a:moveTo>
                <a:lnTo>
                  <a:pt x="6350" y="12700"/>
                </a:lnTo>
                <a:lnTo>
                  <a:pt x="12700" y="6350"/>
                </a:lnTo>
                <a:lnTo>
                  <a:pt x="12700" y="12700"/>
                </a:lnTo>
                <a:close/>
              </a:path>
              <a:path w="769620" h="793114">
                <a:moveTo>
                  <a:pt x="756577" y="12700"/>
                </a:moveTo>
                <a:lnTo>
                  <a:pt x="12700" y="12700"/>
                </a:lnTo>
                <a:lnTo>
                  <a:pt x="12700" y="6350"/>
                </a:lnTo>
                <a:lnTo>
                  <a:pt x="756577" y="6350"/>
                </a:lnTo>
                <a:lnTo>
                  <a:pt x="756577" y="12700"/>
                </a:lnTo>
                <a:close/>
              </a:path>
              <a:path w="769620" h="793114">
                <a:moveTo>
                  <a:pt x="756577" y="786371"/>
                </a:moveTo>
                <a:lnTo>
                  <a:pt x="756577" y="6350"/>
                </a:lnTo>
                <a:lnTo>
                  <a:pt x="762927" y="12700"/>
                </a:lnTo>
                <a:lnTo>
                  <a:pt x="769277" y="12700"/>
                </a:lnTo>
                <a:lnTo>
                  <a:pt x="769277" y="780021"/>
                </a:lnTo>
                <a:lnTo>
                  <a:pt x="762927" y="780021"/>
                </a:lnTo>
                <a:lnTo>
                  <a:pt x="756577" y="786371"/>
                </a:lnTo>
                <a:close/>
              </a:path>
              <a:path w="769620" h="793114">
                <a:moveTo>
                  <a:pt x="769277" y="12700"/>
                </a:moveTo>
                <a:lnTo>
                  <a:pt x="762927" y="12700"/>
                </a:lnTo>
                <a:lnTo>
                  <a:pt x="756577" y="6350"/>
                </a:lnTo>
                <a:lnTo>
                  <a:pt x="769277" y="6350"/>
                </a:lnTo>
                <a:lnTo>
                  <a:pt x="769277" y="12700"/>
                </a:lnTo>
                <a:close/>
              </a:path>
              <a:path w="769620" h="793114">
                <a:moveTo>
                  <a:pt x="12700" y="786371"/>
                </a:moveTo>
                <a:lnTo>
                  <a:pt x="6350" y="780021"/>
                </a:lnTo>
                <a:lnTo>
                  <a:pt x="12700" y="780021"/>
                </a:lnTo>
                <a:lnTo>
                  <a:pt x="12700" y="786371"/>
                </a:lnTo>
                <a:close/>
              </a:path>
              <a:path w="769620" h="793114">
                <a:moveTo>
                  <a:pt x="756577" y="786371"/>
                </a:moveTo>
                <a:lnTo>
                  <a:pt x="12700" y="786371"/>
                </a:lnTo>
                <a:lnTo>
                  <a:pt x="12700" y="780021"/>
                </a:lnTo>
                <a:lnTo>
                  <a:pt x="756577" y="780021"/>
                </a:lnTo>
                <a:lnTo>
                  <a:pt x="756577" y="786371"/>
                </a:lnTo>
                <a:close/>
              </a:path>
              <a:path w="769620" h="793114">
                <a:moveTo>
                  <a:pt x="769277" y="786371"/>
                </a:moveTo>
                <a:lnTo>
                  <a:pt x="756577" y="786371"/>
                </a:lnTo>
                <a:lnTo>
                  <a:pt x="762927" y="780021"/>
                </a:lnTo>
                <a:lnTo>
                  <a:pt x="769277" y="780021"/>
                </a:lnTo>
                <a:lnTo>
                  <a:pt x="769277" y="786371"/>
                </a:lnTo>
                <a:close/>
              </a:path>
            </a:pathLst>
          </a:custGeom>
          <a:solidFill>
            <a:srgbClr val="C00000"/>
          </a:solidFill>
        </p:spPr>
        <p:txBody>
          <a:bodyPr wrap="square" lIns="0" tIns="0" rIns="0" bIns="0" rtlCol="0"/>
          <a:lstStyle/>
          <a:p/>
        </p:txBody>
      </p:sp>
      <p:sp>
        <p:nvSpPr>
          <p:cNvPr id="8" name="object 8"/>
          <p:cNvSpPr txBox="1"/>
          <p:nvPr/>
        </p:nvSpPr>
        <p:spPr>
          <a:xfrm>
            <a:off x="6660515" y="5197919"/>
            <a:ext cx="48260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微软雅黑" panose="020B0503020204020204" charset="-122"/>
                <a:cs typeface="微软雅黑" panose="020B0503020204020204" charset="-122"/>
              </a:rPr>
              <a:t>硬件</a:t>
            </a:r>
            <a:endParaRPr sz="1800">
              <a:latin typeface="微软雅黑" panose="020B0503020204020204" charset="-122"/>
              <a:cs typeface="微软雅黑" panose="020B0503020204020204" charset="-122"/>
            </a:endParaRPr>
          </a:p>
        </p:txBody>
      </p:sp>
      <p:sp>
        <p:nvSpPr>
          <p:cNvPr id="9" name="object 9"/>
          <p:cNvSpPr/>
          <p:nvPr/>
        </p:nvSpPr>
        <p:spPr>
          <a:xfrm>
            <a:off x="6517640" y="1685201"/>
            <a:ext cx="769620" cy="793115"/>
          </a:xfrm>
          <a:custGeom>
            <a:avLst/>
            <a:gdLst/>
            <a:ahLst/>
            <a:cxnLst/>
            <a:rect l="l" t="t" r="r" b="b"/>
            <a:pathLst>
              <a:path w="769620" h="793114">
                <a:moveTo>
                  <a:pt x="769277" y="792721"/>
                </a:moveTo>
                <a:lnTo>
                  <a:pt x="0" y="792721"/>
                </a:lnTo>
                <a:lnTo>
                  <a:pt x="0" y="0"/>
                </a:lnTo>
                <a:lnTo>
                  <a:pt x="769277" y="0"/>
                </a:lnTo>
                <a:lnTo>
                  <a:pt x="769277" y="6350"/>
                </a:lnTo>
                <a:lnTo>
                  <a:pt x="12700" y="6350"/>
                </a:lnTo>
                <a:lnTo>
                  <a:pt x="6350" y="12700"/>
                </a:lnTo>
                <a:lnTo>
                  <a:pt x="12700" y="12700"/>
                </a:lnTo>
                <a:lnTo>
                  <a:pt x="12700" y="780021"/>
                </a:lnTo>
                <a:lnTo>
                  <a:pt x="6350" y="780021"/>
                </a:lnTo>
                <a:lnTo>
                  <a:pt x="12700" y="786371"/>
                </a:lnTo>
                <a:lnTo>
                  <a:pt x="769277" y="786371"/>
                </a:lnTo>
                <a:lnTo>
                  <a:pt x="769277" y="792721"/>
                </a:lnTo>
                <a:close/>
              </a:path>
              <a:path w="769620" h="793114">
                <a:moveTo>
                  <a:pt x="12700" y="12700"/>
                </a:moveTo>
                <a:lnTo>
                  <a:pt x="6350" y="12700"/>
                </a:lnTo>
                <a:lnTo>
                  <a:pt x="12700" y="6350"/>
                </a:lnTo>
                <a:lnTo>
                  <a:pt x="12700" y="12700"/>
                </a:lnTo>
                <a:close/>
              </a:path>
              <a:path w="769620" h="793114">
                <a:moveTo>
                  <a:pt x="756577" y="12700"/>
                </a:moveTo>
                <a:lnTo>
                  <a:pt x="12700" y="12700"/>
                </a:lnTo>
                <a:lnTo>
                  <a:pt x="12700" y="6350"/>
                </a:lnTo>
                <a:lnTo>
                  <a:pt x="756577" y="6350"/>
                </a:lnTo>
                <a:lnTo>
                  <a:pt x="756577" y="12700"/>
                </a:lnTo>
                <a:close/>
              </a:path>
              <a:path w="769620" h="793114">
                <a:moveTo>
                  <a:pt x="756577" y="786371"/>
                </a:moveTo>
                <a:lnTo>
                  <a:pt x="756577" y="6350"/>
                </a:lnTo>
                <a:lnTo>
                  <a:pt x="762927" y="12700"/>
                </a:lnTo>
                <a:lnTo>
                  <a:pt x="769277" y="12700"/>
                </a:lnTo>
                <a:lnTo>
                  <a:pt x="769277" y="780021"/>
                </a:lnTo>
                <a:lnTo>
                  <a:pt x="762927" y="780021"/>
                </a:lnTo>
                <a:lnTo>
                  <a:pt x="756577" y="786371"/>
                </a:lnTo>
                <a:close/>
              </a:path>
              <a:path w="769620" h="793114">
                <a:moveTo>
                  <a:pt x="769277" y="12700"/>
                </a:moveTo>
                <a:lnTo>
                  <a:pt x="762927" y="12700"/>
                </a:lnTo>
                <a:lnTo>
                  <a:pt x="756577" y="6350"/>
                </a:lnTo>
                <a:lnTo>
                  <a:pt x="769277" y="6350"/>
                </a:lnTo>
                <a:lnTo>
                  <a:pt x="769277" y="12700"/>
                </a:lnTo>
                <a:close/>
              </a:path>
              <a:path w="769620" h="793114">
                <a:moveTo>
                  <a:pt x="12700" y="786371"/>
                </a:moveTo>
                <a:lnTo>
                  <a:pt x="6350" y="780021"/>
                </a:lnTo>
                <a:lnTo>
                  <a:pt x="12700" y="780021"/>
                </a:lnTo>
                <a:lnTo>
                  <a:pt x="12700" y="786371"/>
                </a:lnTo>
                <a:close/>
              </a:path>
              <a:path w="769620" h="793114">
                <a:moveTo>
                  <a:pt x="756577" y="786371"/>
                </a:moveTo>
                <a:lnTo>
                  <a:pt x="12700" y="786371"/>
                </a:lnTo>
                <a:lnTo>
                  <a:pt x="12700" y="780021"/>
                </a:lnTo>
                <a:lnTo>
                  <a:pt x="756577" y="780021"/>
                </a:lnTo>
                <a:lnTo>
                  <a:pt x="756577" y="786371"/>
                </a:lnTo>
                <a:close/>
              </a:path>
              <a:path w="769620" h="793114">
                <a:moveTo>
                  <a:pt x="769277" y="786371"/>
                </a:moveTo>
                <a:lnTo>
                  <a:pt x="756577" y="786371"/>
                </a:lnTo>
                <a:lnTo>
                  <a:pt x="762927" y="780021"/>
                </a:lnTo>
                <a:lnTo>
                  <a:pt x="769277" y="780021"/>
                </a:lnTo>
                <a:lnTo>
                  <a:pt x="769277" y="786371"/>
                </a:lnTo>
                <a:close/>
              </a:path>
            </a:pathLst>
          </a:custGeom>
          <a:solidFill>
            <a:srgbClr val="C00000"/>
          </a:solidFill>
        </p:spPr>
        <p:txBody>
          <a:bodyPr wrap="square" lIns="0" tIns="0" rIns="0" bIns="0" rtlCol="0"/>
          <a:lstStyle/>
          <a:p/>
        </p:txBody>
      </p:sp>
      <p:sp>
        <p:nvSpPr>
          <p:cNvPr id="10" name="object 10"/>
          <p:cNvSpPr/>
          <p:nvPr/>
        </p:nvSpPr>
        <p:spPr>
          <a:xfrm>
            <a:off x="6517640" y="3325977"/>
            <a:ext cx="769620" cy="793115"/>
          </a:xfrm>
          <a:custGeom>
            <a:avLst/>
            <a:gdLst/>
            <a:ahLst/>
            <a:cxnLst/>
            <a:rect l="l" t="t" r="r" b="b"/>
            <a:pathLst>
              <a:path w="769620" h="793114">
                <a:moveTo>
                  <a:pt x="769277" y="792708"/>
                </a:moveTo>
                <a:lnTo>
                  <a:pt x="0" y="792708"/>
                </a:lnTo>
                <a:lnTo>
                  <a:pt x="0" y="0"/>
                </a:lnTo>
                <a:lnTo>
                  <a:pt x="769277" y="0"/>
                </a:lnTo>
                <a:lnTo>
                  <a:pt x="769277" y="6350"/>
                </a:lnTo>
                <a:lnTo>
                  <a:pt x="12700" y="6350"/>
                </a:lnTo>
                <a:lnTo>
                  <a:pt x="6350" y="12700"/>
                </a:lnTo>
                <a:lnTo>
                  <a:pt x="12700" y="12700"/>
                </a:lnTo>
                <a:lnTo>
                  <a:pt x="12700" y="780008"/>
                </a:lnTo>
                <a:lnTo>
                  <a:pt x="6350" y="780008"/>
                </a:lnTo>
                <a:lnTo>
                  <a:pt x="12700" y="786358"/>
                </a:lnTo>
                <a:lnTo>
                  <a:pt x="769277" y="786358"/>
                </a:lnTo>
                <a:lnTo>
                  <a:pt x="769277" y="792708"/>
                </a:lnTo>
                <a:close/>
              </a:path>
              <a:path w="769620" h="793114">
                <a:moveTo>
                  <a:pt x="12700" y="12700"/>
                </a:moveTo>
                <a:lnTo>
                  <a:pt x="6350" y="12700"/>
                </a:lnTo>
                <a:lnTo>
                  <a:pt x="12700" y="6350"/>
                </a:lnTo>
                <a:lnTo>
                  <a:pt x="12700" y="12700"/>
                </a:lnTo>
                <a:close/>
              </a:path>
              <a:path w="769620" h="793114">
                <a:moveTo>
                  <a:pt x="756577" y="12700"/>
                </a:moveTo>
                <a:lnTo>
                  <a:pt x="12700" y="12700"/>
                </a:lnTo>
                <a:lnTo>
                  <a:pt x="12700" y="6350"/>
                </a:lnTo>
                <a:lnTo>
                  <a:pt x="756577" y="6350"/>
                </a:lnTo>
                <a:lnTo>
                  <a:pt x="756577" y="12700"/>
                </a:lnTo>
                <a:close/>
              </a:path>
              <a:path w="769620" h="793114">
                <a:moveTo>
                  <a:pt x="756577" y="786358"/>
                </a:moveTo>
                <a:lnTo>
                  <a:pt x="756577" y="6350"/>
                </a:lnTo>
                <a:lnTo>
                  <a:pt x="762927" y="12700"/>
                </a:lnTo>
                <a:lnTo>
                  <a:pt x="769277" y="12700"/>
                </a:lnTo>
                <a:lnTo>
                  <a:pt x="769277" y="780008"/>
                </a:lnTo>
                <a:lnTo>
                  <a:pt x="762927" y="780008"/>
                </a:lnTo>
                <a:lnTo>
                  <a:pt x="756577" y="786358"/>
                </a:lnTo>
                <a:close/>
              </a:path>
              <a:path w="769620" h="793114">
                <a:moveTo>
                  <a:pt x="769277" y="12700"/>
                </a:moveTo>
                <a:lnTo>
                  <a:pt x="762927" y="12700"/>
                </a:lnTo>
                <a:lnTo>
                  <a:pt x="756577" y="6350"/>
                </a:lnTo>
                <a:lnTo>
                  <a:pt x="769277" y="6350"/>
                </a:lnTo>
                <a:lnTo>
                  <a:pt x="769277" y="12700"/>
                </a:lnTo>
                <a:close/>
              </a:path>
              <a:path w="769620" h="793114">
                <a:moveTo>
                  <a:pt x="12700" y="786358"/>
                </a:moveTo>
                <a:lnTo>
                  <a:pt x="6350" y="780008"/>
                </a:lnTo>
                <a:lnTo>
                  <a:pt x="12700" y="780008"/>
                </a:lnTo>
                <a:lnTo>
                  <a:pt x="12700" y="786358"/>
                </a:lnTo>
                <a:close/>
              </a:path>
              <a:path w="769620" h="793114">
                <a:moveTo>
                  <a:pt x="756577" y="786358"/>
                </a:moveTo>
                <a:lnTo>
                  <a:pt x="12700" y="786358"/>
                </a:lnTo>
                <a:lnTo>
                  <a:pt x="12700" y="780008"/>
                </a:lnTo>
                <a:lnTo>
                  <a:pt x="756577" y="780008"/>
                </a:lnTo>
                <a:lnTo>
                  <a:pt x="756577" y="786358"/>
                </a:lnTo>
                <a:close/>
              </a:path>
              <a:path w="769620" h="793114">
                <a:moveTo>
                  <a:pt x="769277" y="786358"/>
                </a:moveTo>
                <a:lnTo>
                  <a:pt x="756577" y="786358"/>
                </a:lnTo>
                <a:lnTo>
                  <a:pt x="762927" y="780008"/>
                </a:lnTo>
                <a:lnTo>
                  <a:pt x="769277" y="780008"/>
                </a:lnTo>
                <a:lnTo>
                  <a:pt x="769277" y="786358"/>
                </a:lnTo>
                <a:close/>
              </a:path>
            </a:pathLst>
          </a:custGeom>
          <a:solidFill>
            <a:srgbClr val="C00000"/>
          </a:solidFill>
        </p:spPr>
        <p:txBody>
          <a:bodyPr wrap="square" lIns="0" tIns="0" rIns="0" bIns="0" rtlCol="0"/>
          <a:lstStyle/>
          <a:p/>
        </p:txBody>
      </p:sp>
      <p:sp>
        <p:nvSpPr>
          <p:cNvPr id="11" name="object 11"/>
          <p:cNvSpPr txBox="1"/>
          <p:nvPr/>
        </p:nvSpPr>
        <p:spPr>
          <a:xfrm>
            <a:off x="6660515" y="1916976"/>
            <a:ext cx="1966595" cy="299720"/>
          </a:xfrm>
          <a:prstGeom prst="rect">
            <a:avLst/>
          </a:prstGeom>
        </p:spPr>
        <p:txBody>
          <a:bodyPr vert="horz" wrap="square" lIns="0" tIns="12700" rIns="0" bIns="0" rtlCol="0">
            <a:spAutoFit/>
          </a:bodyPr>
          <a:lstStyle/>
          <a:p>
            <a:pPr marL="12700">
              <a:lnSpc>
                <a:spcPct val="100000"/>
              </a:lnSpc>
              <a:spcBef>
                <a:spcPts val="100"/>
              </a:spcBef>
              <a:tabLst>
                <a:tab pos="697230" algn="l"/>
                <a:tab pos="1953260" algn="l"/>
              </a:tabLst>
            </a:pPr>
            <a:r>
              <a:rPr sz="1800" b="1" dirty="0">
                <a:solidFill>
                  <a:srgbClr val="C00000"/>
                </a:solidFill>
                <a:latin typeface="微软雅黑" panose="020B0503020204020204" charset="-122"/>
                <a:cs typeface="微软雅黑" panose="020B0503020204020204" charset="-122"/>
              </a:rPr>
              <a:t>软件	</a:t>
            </a:r>
            <a:r>
              <a:rPr sz="1800" u="sng" dirty="0">
                <a:solidFill>
                  <a:srgbClr val="C00000"/>
                </a:solidFill>
                <a:uFill>
                  <a:solidFill>
                    <a:srgbClr val="C00000"/>
                  </a:solidFill>
                </a:uFill>
                <a:latin typeface="Times New Roman" panose="02020603050405020304"/>
                <a:cs typeface="Times New Roman" panose="02020603050405020304"/>
              </a:rPr>
              <a:t> 	</a:t>
            </a:r>
            <a:endParaRPr sz="1800">
              <a:latin typeface="Times New Roman" panose="02020603050405020304"/>
              <a:cs typeface="Times New Roman" panose="02020603050405020304"/>
            </a:endParaRPr>
          </a:p>
        </p:txBody>
      </p:sp>
      <p:sp>
        <p:nvSpPr>
          <p:cNvPr id="12" name="object 12"/>
          <p:cNvSpPr txBox="1"/>
          <p:nvPr/>
        </p:nvSpPr>
        <p:spPr>
          <a:xfrm>
            <a:off x="6696075" y="3557739"/>
            <a:ext cx="41211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微软雅黑" panose="020B0503020204020204" charset="-122"/>
                <a:cs typeface="微软雅黑" panose="020B0503020204020204" charset="-122"/>
              </a:rPr>
              <a:t>ISA</a:t>
            </a:r>
            <a:endParaRPr sz="1800">
              <a:latin typeface="微软雅黑" panose="020B0503020204020204" charset="-122"/>
              <a:cs typeface="微软雅黑" panose="020B0503020204020204" charset="-122"/>
            </a:endParaRPr>
          </a:p>
        </p:txBody>
      </p:sp>
      <p:sp>
        <p:nvSpPr>
          <p:cNvPr id="13" name="object 13"/>
          <p:cNvSpPr txBox="1"/>
          <p:nvPr/>
        </p:nvSpPr>
        <p:spPr>
          <a:xfrm>
            <a:off x="513080" y="1650999"/>
            <a:ext cx="5672455" cy="4140200"/>
          </a:xfrm>
          <a:prstGeom prst="rect">
            <a:avLst/>
          </a:prstGeom>
        </p:spPr>
        <p:txBody>
          <a:bodyPr vert="horz" wrap="square" lIns="0" tIns="12700" rIns="0" bIns="0" rtlCol="0">
            <a:spAutoFit/>
          </a:bodyPr>
          <a:lstStyle/>
          <a:p>
            <a:pPr marL="355600" marR="5080" indent="-342900" algn="just">
              <a:lnSpc>
                <a:spcPct val="150000"/>
              </a:lnSpc>
              <a:spcBef>
                <a:spcPts val="100"/>
              </a:spcBef>
              <a:buFont typeface="Wingdings" panose="05000000000000000000"/>
              <a:buChar char=""/>
              <a:tabLst>
                <a:tab pos="355600" algn="l"/>
              </a:tabLst>
            </a:pPr>
            <a:r>
              <a:rPr sz="1800" dirty="0">
                <a:latin typeface="微软雅黑" panose="020B0503020204020204" charset="-122"/>
                <a:cs typeface="微软雅黑" panose="020B0503020204020204" charset="-122"/>
              </a:rPr>
              <a:t>指令集架构</a:t>
            </a:r>
            <a:r>
              <a:rPr sz="1800" spc="10" dirty="0">
                <a:latin typeface="微软雅黑" panose="020B0503020204020204" charset="-122"/>
                <a:cs typeface="微软雅黑" panose="020B0503020204020204" charset="-122"/>
              </a:rPr>
              <a:t>（ISA,</a:t>
            </a:r>
            <a:r>
              <a:rPr sz="1800" spc="-5" dirty="0">
                <a:latin typeface="微软雅黑" panose="020B0503020204020204" charset="-122"/>
                <a:cs typeface="微软雅黑" panose="020B0503020204020204" charset="-122"/>
              </a:rPr>
              <a:t> Instruction Set </a:t>
            </a:r>
            <a:r>
              <a:rPr sz="1800" spc="-10" dirty="0">
                <a:latin typeface="微软雅黑" panose="020B0503020204020204" charset="-122"/>
                <a:cs typeface="微软雅黑" panose="020B0503020204020204" charset="-122"/>
              </a:rPr>
              <a:t>Architecture），  </a:t>
            </a:r>
            <a:r>
              <a:rPr sz="1800" dirty="0">
                <a:latin typeface="微软雅黑" panose="020B0503020204020204" charset="-122"/>
                <a:cs typeface="微软雅黑" panose="020B0503020204020204" charset="-122"/>
              </a:rPr>
              <a:t>或者称之为“处理器架构”，简称为“架构”是</a:t>
            </a:r>
            <a:r>
              <a:rPr sz="1800" b="1" dirty="0">
                <a:solidFill>
                  <a:srgbClr val="C00000"/>
                </a:solidFill>
                <a:latin typeface="微软雅黑" panose="020B0503020204020204" charset="-122"/>
                <a:cs typeface="微软雅黑" panose="020B0503020204020204" charset="-122"/>
              </a:rPr>
              <a:t>处理 器的灵魂</a:t>
            </a:r>
            <a:r>
              <a:rPr sz="1800" dirty="0">
                <a:latin typeface="微软雅黑" panose="020B0503020204020204" charset="-122"/>
                <a:cs typeface="微软雅黑" panose="020B0503020204020204" charset="-122"/>
              </a:rPr>
              <a:t>；</a:t>
            </a:r>
            <a:endParaRPr sz="1800">
              <a:latin typeface="微软雅黑" panose="020B0503020204020204" charset="-122"/>
              <a:cs typeface="微软雅黑" panose="020B0503020204020204" charset="-122"/>
            </a:endParaRPr>
          </a:p>
          <a:p>
            <a:pPr marL="355600" marR="35560" indent="-342900" algn="just">
              <a:lnSpc>
                <a:spcPct val="150000"/>
              </a:lnSpc>
              <a:buFont typeface="Wingdings" panose="05000000000000000000"/>
              <a:buChar char=""/>
              <a:tabLst>
                <a:tab pos="355600" algn="l"/>
              </a:tabLst>
            </a:pPr>
            <a:r>
              <a:rPr sz="1800" dirty="0">
                <a:latin typeface="微软雅黑" panose="020B0503020204020204" charset="-122"/>
                <a:cs typeface="微软雅黑" panose="020B0503020204020204" charset="-122"/>
              </a:rPr>
              <a:t>指令集架构不仅仅是一组指令的集合，它还要定义任 何软件程序员需要了解的硬件信息，包括支持的数据 类型、存储器（M</a:t>
            </a:r>
            <a:r>
              <a:rPr sz="1800" spc="-5" dirty="0">
                <a:latin typeface="微软雅黑" panose="020B0503020204020204" charset="-122"/>
                <a:cs typeface="微软雅黑" panose="020B0503020204020204" charset="-122"/>
              </a:rPr>
              <a:t>em</a:t>
            </a:r>
            <a:r>
              <a:rPr sz="1800" dirty="0">
                <a:latin typeface="微软雅黑" panose="020B0503020204020204" charset="-122"/>
                <a:cs typeface="微软雅黑" panose="020B0503020204020204" charset="-122"/>
              </a:rPr>
              <a:t>o</a:t>
            </a:r>
            <a:r>
              <a:rPr sz="1800" spc="70" dirty="0">
                <a:latin typeface="微软雅黑" panose="020B0503020204020204" charset="-122"/>
                <a:cs typeface="微软雅黑" panose="020B0503020204020204" charset="-122"/>
              </a:rPr>
              <a:t>r</a:t>
            </a:r>
            <a:r>
              <a:rPr sz="1800" dirty="0">
                <a:latin typeface="微软雅黑" panose="020B0503020204020204" charset="-122"/>
                <a:cs typeface="微软雅黑" panose="020B0503020204020204" charset="-122"/>
              </a:rPr>
              <a:t>y）和寄存器状态、寻址模式 与存储器模型等；</a:t>
            </a:r>
            <a:endParaRPr sz="1800">
              <a:latin typeface="微软雅黑" panose="020B0503020204020204" charset="-122"/>
              <a:cs typeface="微软雅黑" panose="020B0503020204020204" charset="-122"/>
            </a:endParaRPr>
          </a:p>
          <a:p>
            <a:pPr marL="355600" marR="51435" indent="-342900" algn="just">
              <a:lnSpc>
                <a:spcPct val="150000"/>
              </a:lnSpc>
              <a:buFont typeface="Wingdings" panose="05000000000000000000"/>
              <a:buChar char=""/>
              <a:tabLst>
                <a:tab pos="355600" algn="l"/>
              </a:tabLst>
            </a:pPr>
            <a:r>
              <a:rPr sz="1800" dirty="0">
                <a:latin typeface="微软雅黑" panose="020B0503020204020204" charset="-122"/>
                <a:cs typeface="微软雅黑" panose="020B0503020204020204" charset="-122"/>
              </a:rPr>
              <a:t>其可以理解为一个抽象层，构成处理器底层硬件与运 行于其上的软件之间的桥梁与接口，也是现在计算机 处理器中最重要的一个抽象层。</a:t>
            </a:r>
            <a:endParaRPr sz="1800">
              <a:latin typeface="微软雅黑" panose="020B0503020204020204" charset="-122"/>
              <a:cs typeface="微软雅黑" panose="020B0503020204020204" charset="-122"/>
            </a:endParaRPr>
          </a:p>
        </p:txBody>
      </p:sp>
      <p:sp>
        <p:nvSpPr>
          <p:cNvPr id="14" name="object 1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4521200" cy="56642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指令集架构和微架构</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734694" y="1360678"/>
            <a:ext cx="10445750" cy="1488440"/>
          </a:xfrm>
          <a:prstGeom prst="rect">
            <a:avLst/>
          </a:prstGeom>
        </p:spPr>
        <p:txBody>
          <a:bodyPr vert="horz" wrap="square" lIns="0" tIns="12700" rIns="0" bIns="0" rtlCol="0">
            <a:spAutoFit/>
          </a:bodyPr>
          <a:lstStyle/>
          <a:p>
            <a:pPr marL="12700" marR="5080" algn="just">
              <a:lnSpc>
                <a:spcPct val="150000"/>
              </a:lnSpc>
              <a:spcBef>
                <a:spcPts val="100"/>
              </a:spcBef>
            </a:pPr>
            <a:r>
              <a:rPr sz="1600" dirty="0">
                <a:latin typeface="微软雅黑" panose="020B0503020204020204" charset="-122"/>
                <a:cs typeface="微软雅黑" panose="020B0503020204020204" charset="-122"/>
              </a:rPr>
              <a:t>基于指令集架构</a:t>
            </a:r>
            <a:r>
              <a:rPr sz="1600" spc="-5" dirty="0">
                <a:latin typeface="微软雅黑" panose="020B0503020204020204" charset="-122"/>
                <a:cs typeface="微软雅黑" panose="020B0503020204020204" charset="-122"/>
              </a:rPr>
              <a:t>ISA</a:t>
            </a:r>
            <a:r>
              <a:rPr sz="1600" dirty="0">
                <a:latin typeface="微软雅黑" panose="020B0503020204020204" charset="-122"/>
                <a:cs typeface="微软雅黑" panose="020B0503020204020204" charset="-122"/>
              </a:rPr>
              <a:t>实现的具体的处理器硬件实现叫</a:t>
            </a:r>
            <a:r>
              <a:rPr sz="1600" b="1" dirty="0">
                <a:solidFill>
                  <a:srgbClr val="C00000"/>
                </a:solidFill>
                <a:latin typeface="微软雅黑" panose="020B0503020204020204" charset="-122"/>
                <a:cs typeface="微软雅黑" panose="020B0503020204020204" charset="-122"/>
              </a:rPr>
              <a:t>微架构</a:t>
            </a:r>
            <a:r>
              <a:rPr sz="1600" b="1" spc="-10" dirty="0">
                <a:solidFill>
                  <a:srgbClr val="C00000"/>
                </a:solidFill>
                <a:latin typeface="微软雅黑" panose="020B0503020204020204" charset="-122"/>
                <a:cs typeface="微软雅黑" panose="020B0503020204020204" charset="-122"/>
              </a:rPr>
              <a:t>(Microarchitecture)</a:t>
            </a:r>
            <a:r>
              <a:rPr sz="1600" spc="-10" dirty="0">
                <a:latin typeface="微软雅黑" panose="020B0503020204020204" charset="-122"/>
                <a:cs typeface="微软雅黑" panose="020B0503020204020204" charset="-122"/>
              </a:rPr>
              <a:t>，</a:t>
            </a:r>
            <a:r>
              <a:rPr sz="1600" dirty="0">
                <a:latin typeface="微软雅黑" panose="020B0503020204020204" charset="-122"/>
                <a:cs typeface="微软雅黑" panose="020B0503020204020204" charset="-122"/>
              </a:rPr>
              <a:t>是需要和指令集架构区分的一个</a:t>
            </a:r>
            <a:r>
              <a:rPr sz="1600" spc="-5" dirty="0">
                <a:latin typeface="微软雅黑" panose="020B0503020204020204" charset="-122"/>
                <a:cs typeface="微软雅黑" panose="020B0503020204020204" charset="-122"/>
              </a:rPr>
              <a:t>概 </a:t>
            </a:r>
            <a:r>
              <a:rPr sz="1600" dirty="0">
                <a:latin typeface="微软雅黑" panose="020B0503020204020204" charset="-122"/>
                <a:cs typeface="微软雅黑" panose="020B0503020204020204" charset="-122"/>
              </a:rPr>
              <a:t>念。假设我们定义一个叫“车”的指令集，能够实现启动，加速，换挡，刹车等操作，基于这个指令集设计的具体</a:t>
            </a:r>
            <a:r>
              <a:rPr sz="1600" spc="-5" dirty="0">
                <a:latin typeface="微软雅黑" panose="020B0503020204020204" charset="-122"/>
                <a:cs typeface="微软雅黑" panose="020B0503020204020204" charset="-122"/>
              </a:rPr>
              <a:t>的 </a:t>
            </a:r>
            <a:r>
              <a:rPr sz="1600" dirty="0">
                <a:latin typeface="微软雅黑" panose="020B0503020204020204" charset="-122"/>
                <a:cs typeface="微软雅黑" panose="020B0503020204020204" charset="-122"/>
              </a:rPr>
              <a:t>车，也会根据性能，功能，体验，载客量等产生不同类型车，而每种类型的车其结构和动力千差万别。基于同一指</a:t>
            </a:r>
            <a:r>
              <a:rPr sz="1600" spc="-5" dirty="0">
                <a:latin typeface="微软雅黑" panose="020B0503020204020204" charset="-122"/>
                <a:cs typeface="微软雅黑" panose="020B0503020204020204" charset="-122"/>
              </a:rPr>
              <a:t>令 </a:t>
            </a:r>
            <a:r>
              <a:rPr sz="1600" dirty="0">
                <a:latin typeface="微软雅黑" panose="020B0503020204020204" charset="-122"/>
                <a:cs typeface="微软雅黑" panose="020B0503020204020204" charset="-122"/>
              </a:rPr>
              <a:t>集，针对性能、功耗和面积不同要求的处理器，在取指、流水线长度、缓存等结构设计上有所差别</a:t>
            </a:r>
            <a:r>
              <a:rPr sz="1600" spc="-5" dirty="0">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p:txBody>
      </p:sp>
      <p:sp>
        <p:nvSpPr>
          <p:cNvPr id="5" name="object 5"/>
          <p:cNvSpPr/>
          <p:nvPr/>
        </p:nvSpPr>
        <p:spPr>
          <a:xfrm>
            <a:off x="7780019" y="3349752"/>
            <a:ext cx="3008376" cy="1150620"/>
          </a:xfrm>
          <a:prstGeom prst="rect">
            <a:avLst/>
          </a:prstGeom>
          <a:blipFill>
            <a:blip r:embed="rId1" cstate="print"/>
            <a:stretch>
              <a:fillRect/>
            </a:stretch>
          </a:blipFill>
        </p:spPr>
        <p:txBody>
          <a:bodyPr wrap="square" lIns="0" tIns="0" rIns="0" bIns="0" rtlCol="0"/>
          <a:lstStyle/>
          <a:p/>
        </p:txBody>
      </p:sp>
      <p:sp>
        <p:nvSpPr>
          <p:cNvPr id="6" name="object 6"/>
          <p:cNvSpPr/>
          <p:nvPr/>
        </p:nvSpPr>
        <p:spPr>
          <a:xfrm>
            <a:off x="7682483" y="4052315"/>
            <a:ext cx="3342131" cy="2346960"/>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4427220" y="4152900"/>
            <a:ext cx="3201924" cy="2246376"/>
          </a:xfrm>
          <a:prstGeom prst="rect">
            <a:avLst/>
          </a:prstGeom>
          <a:blipFill>
            <a:blip r:embed="rId3" cstate="print"/>
            <a:stretch>
              <a:fillRect/>
            </a:stretch>
          </a:blipFill>
        </p:spPr>
        <p:txBody>
          <a:bodyPr wrap="square" lIns="0" tIns="0" rIns="0" bIns="0" rtlCol="0"/>
          <a:lstStyle/>
          <a:p/>
        </p:txBody>
      </p:sp>
      <p:sp>
        <p:nvSpPr>
          <p:cNvPr id="8" name="object 8"/>
          <p:cNvSpPr/>
          <p:nvPr/>
        </p:nvSpPr>
        <p:spPr>
          <a:xfrm>
            <a:off x="1085088" y="2974848"/>
            <a:ext cx="3130295" cy="1647443"/>
          </a:xfrm>
          <a:prstGeom prst="rect">
            <a:avLst/>
          </a:prstGeom>
          <a:blipFill>
            <a:blip r:embed="rId4" cstate="print"/>
            <a:stretch>
              <a:fillRect/>
            </a:stretch>
          </a:blipFill>
        </p:spPr>
        <p:txBody>
          <a:bodyPr wrap="square" lIns="0" tIns="0" rIns="0" bIns="0" rtlCol="0"/>
          <a:lstStyle/>
          <a:p/>
        </p:txBody>
      </p:sp>
      <p:sp>
        <p:nvSpPr>
          <p:cNvPr id="9" name="object 9"/>
          <p:cNvSpPr/>
          <p:nvPr/>
        </p:nvSpPr>
        <p:spPr>
          <a:xfrm>
            <a:off x="4850891" y="3054095"/>
            <a:ext cx="2482595" cy="1741931"/>
          </a:xfrm>
          <a:prstGeom prst="rect">
            <a:avLst/>
          </a:prstGeom>
          <a:blipFill>
            <a:blip r:embed="rId5" cstate="print"/>
            <a:stretch>
              <a:fillRect/>
            </a:stretch>
          </a:blipFill>
        </p:spPr>
        <p:txBody>
          <a:bodyPr wrap="square" lIns="0" tIns="0" rIns="0" bIns="0" rtlCol="0"/>
          <a:lstStyle/>
          <a:p/>
        </p:txBody>
      </p:sp>
      <p:sp>
        <p:nvSpPr>
          <p:cNvPr id="10" name="object 10"/>
          <p:cNvSpPr/>
          <p:nvPr/>
        </p:nvSpPr>
        <p:spPr>
          <a:xfrm>
            <a:off x="963167" y="4623815"/>
            <a:ext cx="3261359" cy="1207008"/>
          </a:xfrm>
          <a:prstGeom prst="rect">
            <a:avLst/>
          </a:prstGeom>
          <a:blipFill>
            <a:blip r:embed="rId6" cstate="print"/>
            <a:stretch>
              <a:fillRect/>
            </a:stretch>
          </a:blipFill>
        </p:spPr>
        <p:txBody>
          <a:bodyPr wrap="square" lIns="0" tIns="0" rIns="0" bIns="0" rtlCol="0"/>
          <a:lstStyle/>
          <a:p/>
        </p:txBody>
      </p:sp>
      <p:sp>
        <p:nvSpPr>
          <p:cNvPr id="11" name="object 11"/>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18542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架构乐园</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p:nvPr/>
        </p:nvSpPr>
        <p:spPr>
          <a:xfrm>
            <a:off x="1051560" y="3429000"/>
            <a:ext cx="10149840" cy="3429000"/>
          </a:xfrm>
          <a:prstGeom prst="rect">
            <a:avLst/>
          </a:prstGeom>
          <a:blipFill>
            <a:blip r:embed="rId1" cstate="print"/>
            <a:stretch>
              <a:fillRect/>
            </a:stretch>
          </a:blipFill>
        </p:spPr>
        <p:txBody>
          <a:bodyPr wrap="square" lIns="0" tIns="0" rIns="0" bIns="0" rtlCol="0"/>
          <a:lstStyle/>
          <a:p/>
        </p:txBody>
      </p:sp>
      <p:sp>
        <p:nvSpPr>
          <p:cNvPr id="5" name="object 5"/>
          <p:cNvSpPr txBox="1"/>
          <p:nvPr/>
        </p:nvSpPr>
        <p:spPr>
          <a:xfrm>
            <a:off x="1139189" y="3861434"/>
            <a:ext cx="8022590" cy="1751330"/>
          </a:xfrm>
          <a:prstGeom prst="rect">
            <a:avLst/>
          </a:prstGeom>
        </p:spPr>
        <p:txBody>
          <a:bodyPr vert="horz" wrap="square" lIns="0" tIns="12065" rIns="0" bIns="0" rtlCol="0">
            <a:spAutoFit/>
          </a:bodyPr>
          <a:lstStyle/>
          <a:p>
            <a:pPr marL="12700">
              <a:lnSpc>
                <a:spcPct val="100000"/>
              </a:lnSpc>
              <a:spcBef>
                <a:spcPts val="95"/>
              </a:spcBef>
              <a:tabLst>
                <a:tab pos="2262505" algn="l"/>
                <a:tab pos="4050665" algn="l"/>
                <a:tab pos="6216015" algn="l"/>
              </a:tabLst>
            </a:pPr>
            <a:r>
              <a:rPr sz="4000" b="1" dirty="0">
                <a:solidFill>
                  <a:srgbClr val="C00000"/>
                </a:solidFill>
                <a:latin typeface="微软雅黑" panose="020B0503020204020204" charset="-122"/>
                <a:cs typeface="微软雅黑" panose="020B0503020204020204" charset="-122"/>
              </a:rPr>
              <a:t>AR</a:t>
            </a:r>
            <a:r>
              <a:rPr sz="4000" b="1" spc="-10" dirty="0">
                <a:solidFill>
                  <a:srgbClr val="C00000"/>
                </a:solidFill>
                <a:latin typeface="微软雅黑" panose="020B0503020204020204" charset="-122"/>
                <a:cs typeface="微软雅黑" panose="020B0503020204020204" charset="-122"/>
              </a:rPr>
              <a:t>M</a:t>
            </a:r>
            <a:r>
              <a:rPr sz="4000" b="1" dirty="0">
                <a:solidFill>
                  <a:srgbClr val="C00000"/>
                </a:solidFill>
                <a:latin typeface="微软雅黑" panose="020B0503020204020204" charset="-122"/>
                <a:cs typeface="微软雅黑" panose="020B0503020204020204" charset="-122"/>
              </a:rPr>
              <a:t>	</a:t>
            </a:r>
            <a:r>
              <a:rPr sz="4000" b="1" dirty="0">
                <a:solidFill>
                  <a:srgbClr val="C00000"/>
                </a:solidFill>
                <a:latin typeface="微软雅黑" panose="020B0503020204020204" charset="-122"/>
                <a:cs typeface="微软雅黑" panose="020B0503020204020204" charset="-122"/>
              </a:rPr>
              <a:t>A</a:t>
            </a:r>
            <a:r>
              <a:rPr sz="4000" b="1" spc="-50" dirty="0">
                <a:solidFill>
                  <a:srgbClr val="C00000"/>
                </a:solidFill>
                <a:latin typeface="微软雅黑" panose="020B0503020204020204" charset="-122"/>
                <a:cs typeface="微软雅黑" panose="020B0503020204020204" charset="-122"/>
              </a:rPr>
              <a:t>R</a:t>
            </a:r>
            <a:r>
              <a:rPr sz="4000" b="1" spc="-5" dirty="0">
                <a:solidFill>
                  <a:srgbClr val="C00000"/>
                </a:solidFill>
                <a:latin typeface="微软雅黑" panose="020B0503020204020204" charset="-122"/>
                <a:cs typeface="微软雅黑" panose="020B0503020204020204" charset="-122"/>
              </a:rPr>
              <a:t>C</a:t>
            </a:r>
            <a:r>
              <a:rPr sz="4000" b="1" dirty="0">
                <a:solidFill>
                  <a:srgbClr val="C00000"/>
                </a:solidFill>
                <a:latin typeface="微软雅黑" panose="020B0503020204020204" charset="-122"/>
                <a:cs typeface="微软雅黑" panose="020B0503020204020204" charset="-122"/>
              </a:rPr>
              <a:t>	</a:t>
            </a:r>
            <a:r>
              <a:rPr sz="4000" b="1" dirty="0">
                <a:solidFill>
                  <a:srgbClr val="C00000"/>
                </a:solidFill>
                <a:latin typeface="微软雅黑" panose="020B0503020204020204" charset="-122"/>
                <a:cs typeface="微软雅黑" panose="020B0503020204020204" charset="-122"/>
              </a:rPr>
              <a:t>AN</a:t>
            </a:r>
            <a:r>
              <a:rPr sz="4000" b="1" spc="-5" dirty="0">
                <a:solidFill>
                  <a:srgbClr val="C00000"/>
                </a:solidFill>
                <a:latin typeface="微软雅黑" panose="020B0503020204020204" charset="-122"/>
                <a:cs typeface="微软雅黑" panose="020B0503020204020204" charset="-122"/>
              </a:rPr>
              <a:t>DES</a:t>
            </a:r>
            <a:r>
              <a:rPr sz="4000" b="1" dirty="0">
                <a:solidFill>
                  <a:srgbClr val="C00000"/>
                </a:solidFill>
                <a:latin typeface="微软雅黑" panose="020B0503020204020204" charset="-122"/>
                <a:cs typeface="微软雅黑" panose="020B0503020204020204" charset="-122"/>
              </a:rPr>
              <a:t>	</a:t>
            </a:r>
            <a:r>
              <a:rPr sz="4000" b="1" dirty="0">
                <a:solidFill>
                  <a:srgbClr val="C00000"/>
                </a:solidFill>
                <a:latin typeface="微软雅黑" panose="020B0503020204020204" charset="-122"/>
                <a:cs typeface="微软雅黑" panose="020B0503020204020204" charset="-122"/>
              </a:rPr>
              <a:t>AL</a:t>
            </a:r>
            <a:r>
              <a:rPr sz="4000" b="1" spc="-5" dirty="0">
                <a:solidFill>
                  <a:srgbClr val="C00000"/>
                </a:solidFill>
                <a:latin typeface="微软雅黑" panose="020B0503020204020204" charset="-122"/>
                <a:cs typeface="微软雅黑" panose="020B0503020204020204" charset="-122"/>
              </a:rPr>
              <a:t>PHA</a:t>
            </a:r>
            <a:endParaRPr sz="4000">
              <a:latin typeface="微软雅黑" panose="020B0503020204020204" charset="-122"/>
              <a:cs typeface="微软雅黑" panose="020B0503020204020204" charset="-122"/>
            </a:endParaRPr>
          </a:p>
          <a:p>
            <a:pPr marL="617220">
              <a:lnSpc>
                <a:spcPct val="100000"/>
              </a:lnSpc>
              <a:spcBef>
                <a:spcPts val="3995"/>
              </a:spcBef>
              <a:tabLst>
                <a:tab pos="2853690" algn="l"/>
                <a:tab pos="5526405" algn="l"/>
              </a:tabLst>
            </a:pPr>
            <a:r>
              <a:rPr sz="4000" b="1" spc="-5" dirty="0">
                <a:solidFill>
                  <a:srgbClr val="C00000"/>
                </a:solidFill>
                <a:latin typeface="微软雅黑" panose="020B0503020204020204" charset="-122"/>
                <a:cs typeface="微软雅黑" panose="020B0503020204020204" charset="-122"/>
              </a:rPr>
              <a:t>MIPS	POWER	</a:t>
            </a:r>
            <a:r>
              <a:rPr sz="4000" b="1" spc="-65" dirty="0">
                <a:solidFill>
                  <a:srgbClr val="C00000"/>
                </a:solidFill>
                <a:latin typeface="微软雅黑" panose="020B0503020204020204" charset="-122"/>
                <a:cs typeface="微软雅黑" panose="020B0503020204020204" charset="-122"/>
              </a:rPr>
              <a:t>SPARC</a:t>
            </a:r>
            <a:endParaRPr sz="4000">
              <a:latin typeface="微软雅黑" panose="020B0503020204020204" charset="-122"/>
              <a:cs typeface="微软雅黑" panose="020B0503020204020204" charset="-122"/>
            </a:endParaRPr>
          </a:p>
        </p:txBody>
      </p:sp>
      <p:sp>
        <p:nvSpPr>
          <p:cNvPr id="6" name="object 6"/>
          <p:cNvSpPr txBox="1"/>
          <p:nvPr/>
        </p:nvSpPr>
        <p:spPr>
          <a:xfrm>
            <a:off x="9166859" y="3861434"/>
            <a:ext cx="2031364" cy="1751330"/>
          </a:xfrm>
          <a:prstGeom prst="rect">
            <a:avLst/>
          </a:prstGeom>
        </p:spPr>
        <p:txBody>
          <a:bodyPr vert="horz" wrap="square" lIns="0" tIns="12065" rIns="0" bIns="0" rtlCol="0">
            <a:spAutoFit/>
          </a:bodyPr>
          <a:lstStyle/>
          <a:p>
            <a:pPr marL="467995">
              <a:lnSpc>
                <a:spcPct val="100000"/>
              </a:lnSpc>
              <a:spcBef>
                <a:spcPts val="95"/>
              </a:spcBef>
            </a:pPr>
            <a:r>
              <a:rPr sz="4000" b="1" dirty="0">
                <a:solidFill>
                  <a:srgbClr val="C00000"/>
                </a:solidFill>
                <a:latin typeface="微软雅黑" panose="020B0503020204020204" charset="-122"/>
                <a:cs typeface="微软雅黑" panose="020B0503020204020204" charset="-122"/>
              </a:rPr>
              <a:t>C</a:t>
            </a:r>
            <a:r>
              <a:rPr sz="4000" b="1" spc="-5" dirty="0">
                <a:solidFill>
                  <a:srgbClr val="C00000"/>
                </a:solidFill>
                <a:latin typeface="微软雅黑" panose="020B0503020204020204" charset="-122"/>
                <a:cs typeface="微软雅黑" panose="020B0503020204020204" charset="-122"/>
              </a:rPr>
              <a:t>-SKY</a:t>
            </a:r>
            <a:endParaRPr sz="4000">
              <a:latin typeface="微软雅黑" panose="020B0503020204020204" charset="-122"/>
              <a:cs typeface="微软雅黑" panose="020B0503020204020204" charset="-122"/>
            </a:endParaRPr>
          </a:p>
          <a:p>
            <a:pPr marL="12700">
              <a:lnSpc>
                <a:spcPct val="100000"/>
              </a:lnSpc>
              <a:spcBef>
                <a:spcPts val="3995"/>
              </a:spcBef>
            </a:pPr>
            <a:r>
              <a:rPr sz="4000" b="1" spc="-5" dirty="0">
                <a:solidFill>
                  <a:srgbClr val="C00000"/>
                </a:solidFill>
                <a:latin typeface="微软雅黑" panose="020B0503020204020204" charset="-122"/>
                <a:cs typeface="微软雅黑" panose="020B0503020204020204" charset="-122"/>
              </a:rPr>
              <a:t>x86</a:t>
            </a:r>
            <a:endParaRPr sz="4000">
              <a:latin typeface="微软雅黑" panose="020B0503020204020204" charset="-122"/>
              <a:cs typeface="微软雅黑" panose="020B0503020204020204" charset="-122"/>
            </a:endParaRPr>
          </a:p>
        </p:txBody>
      </p:sp>
      <p:sp>
        <p:nvSpPr>
          <p:cNvPr id="7" name="object 7"/>
          <p:cNvSpPr txBox="1"/>
          <p:nvPr/>
        </p:nvSpPr>
        <p:spPr>
          <a:xfrm>
            <a:off x="600709" y="1372743"/>
            <a:ext cx="11046460" cy="1854200"/>
          </a:xfrm>
          <a:prstGeom prst="rect">
            <a:avLst/>
          </a:prstGeom>
        </p:spPr>
        <p:txBody>
          <a:bodyPr vert="horz" wrap="square" lIns="0" tIns="12700" rIns="0" bIns="0" rtlCol="0">
            <a:spAutoFit/>
          </a:bodyPr>
          <a:lstStyle/>
          <a:p>
            <a:pPr marL="355600" marR="9525" indent="-342900">
              <a:lnSpc>
                <a:spcPct val="150000"/>
              </a:lnSpc>
              <a:spcBef>
                <a:spcPts val="100"/>
              </a:spcBef>
              <a:buFont typeface="Wingdings" panose="05000000000000000000"/>
              <a:buChar char=""/>
              <a:tabLst>
                <a:tab pos="354965" algn="l"/>
                <a:tab pos="355600" algn="l"/>
              </a:tabLst>
            </a:pPr>
            <a:r>
              <a:rPr sz="1600" dirty="0">
                <a:latin typeface="微软雅黑" panose="020B0503020204020204" charset="-122"/>
                <a:cs typeface="微软雅黑" panose="020B0503020204020204" charset="-122"/>
              </a:rPr>
              <a:t>指令集架构风格分复杂指令集</a:t>
            </a:r>
            <a:r>
              <a:rPr sz="1600" spc="-5" dirty="0">
                <a:latin typeface="微软雅黑" panose="020B0503020204020204" charset="-122"/>
                <a:cs typeface="微软雅黑" panose="020B0503020204020204" charset="-122"/>
              </a:rPr>
              <a:t>CISC</a:t>
            </a:r>
            <a:r>
              <a:rPr sz="1600" dirty="0">
                <a:latin typeface="微软雅黑" panose="020B0503020204020204" charset="-122"/>
                <a:cs typeface="微软雅黑" panose="020B0503020204020204" charset="-122"/>
              </a:rPr>
              <a:t>和精简指令集</a:t>
            </a:r>
            <a:r>
              <a:rPr sz="1600" spc="-5" dirty="0">
                <a:latin typeface="微软雅黑" panose="020B0503020204020204" charset="-122"/>
                <a:cs typeface="微软雅黑" panose="020B0503020204020204" charset="-122"/>
              </a:rPr>
              <a:t>RISC</a:t>
            </a:r>
            <a:r>
              <a:rPr sz="1600" dirty="0">
                <a:latin typeface="微软雅黑" panose="020B0503020204020204" charset="-122"/>
                <a:cs typeface="微软雅黑" panose="020B0503020204020204" charset="-122"/>
              </a:rPr>
              <a:t>。</a:t>
            </a:r>
            <a:r>
              <a:rPr sz="1600" spc="-5" dirty="0">
                <a:latin typeface="微软雅黑" panose="020B0503020204020204" charset="-122"/>
                <a:cs typeface="微软雅黑" panose="020B0503020204020204" charset="-122"/>
              </a:rPr>
              <a:t>CISC</a:t>
            </a:r>
            <a:r>
              <a:rPr sz="1600" dirty="0">
                <a:latin typeface="微软雅黑" panose="020B0503020204020204" charset="-122"/>
                <a:cs typeface="微软雅黑" panose="020B0503020204020204" charset="-122"/>
              </a:rPr>
              <a:t>包含大量不常用指令，而</a:t>
            </a:r>
            <a:r>
              <a:rPr sz="1600" spc="-5" dirty="0">
                <a:latin typeface="微软雅黑" panose="020B0503020204020204" charset="-122"/>
                <a:cs typeface="微软雅黑" panose="020B0503020204020204" charset="-122"/>
              </a:rPr>
              <a:t>RISC</a:t>
            </a:r>
            <a:r>
              <a:rPr sz="1600" dirty="0">
                <a:latin typeface="微软雅黑" panose="020B0503020204020204" charset="-122"/>
                <a:cs typeface="微软雅黑" panose="020B0503020204020204" charset="-122"/>
              </a:rPr>
              <a:t>只包含最常用指令。但典</a:t>
            </a:r>
            <a:r>
              <a:rPr sz="1600" spc="-5" dirty="0">
                <a:latin typeface="微软雅黑" panose="020B0503020204020204" charset="-122"/>
                <a:cs typeface="微软雅黑" panose="020B0503020204020204" charset="-122"/>
              </a:rPr>
              <a:t>型 </a:t>
            </a:r>
            <a:r>
              <a:rPr sz="1600" dirty="0">
                <a:latin typeface="微软雅黑" panose="020B0503020204020204" charset="-122"/>
                <a:cs typeface="微软雅黑" panose="020B0503020204020204" charset="-122"/>
              </a:rPr>
              <a:t>程序里使用的</a:t>
            </a:r>
            <a:r>
              <a:rPr sz="1600" spc="-5" dirty="0">
                <a:latin typeface="微软雅黑" panose="020B0503020204020204" charset="-122"/>
                <a:cs typeface="微软雅黑" panose="020B0503020204020204" charset="-122"/>
              </a:rPr>
              <a:t>80</a:t>
            </a:r>
            <a:r>
              <a:rPr sz="1600" dirty="0">
                <a:latin typeface="微软雅黑" panose="020B0503020204020204" charset="-122"/>
                <a:cs typeface="微软雅黑" panose="020B0503020204020204" charset="-122"/>
              </a:rPr>
              <a:t>%的指令只占所有指令类型的</a:t>
            </a:r>
            <a:r>
              <a:rPr sz="1600" spc="-5" dirty="0">
                <a:latin typeface="微软雅黑" panose="020B0503020204020204" charset="-122"/>
                <a:cs typeface="微软雅黑" panose="020B0503020204020204" charset="-122"/>
              </a:rPr>
              <a:t>20</a:t>
            </a:r>
            <a:r>
              <a:rPr sz="1600" dirty="0">
                <a:latin typeface="微软雅黑" panose="020B0503020204020204" charset="-122"/>
                <a:cs typeface="微软雅黑" panose="020B0503020204020204" charset="-122"/>
              </a:rPr>
              <a:t>%，这导致</a:t>
            </a:r>
            <a:r>
              <a:rPr sz="1600" spc="-5" dirty="0">
                <a:latin typeface="微软雅黑" panose="020B0503020204020204" charset="-122"/>
                <a:cs typeface="微软雅黑" panose="020B0503020204020204" charset="-122"/>
              </a:rPr>
              <a:t>CISC</a:t>
            </a:r>
            <a:r>
              <a:rPr sz="1600" dirty="0">
                <a:latin typeface="微软雅黑" panose="020B0503020204020204" charset="-122"/>
                <a:cs typeface="微软雅黑" panose="020B0503020204020204" charset="-122"/>
              </a:rPr>
              <a:t>处理器设计复杂，增大了成本和面积开销，让</a:t>
            </a:r>
            <a:r>
              <a:rPr sz="1600" spc="-5" dirty="0">
                <a:latin typeface="微软雅黑" panose="020B0503020204020204" charset="-122"/>
                <a:cs typeface="微软雅黑" panose="020B0503020204020204" charset="-122"/>
              </a:rPr>
              <a:t>RISC</a:t>
            </a:r>
            <a:r>
              <a:rPr sz="1600" dirty="0">
                <a:latin typeface="微软雅黑" panose="020B0503020204020204" charset="-122"/>
                <a:cs typeface="微软雅黑" panose="020B0503020204020204" charset="-122"/>
              </a:rPr>
              <a:t>成</a:t>
            </a:r>
            <a:r>
              <a:rPr sz="1600" spc="-5" dirty="0">
                <a:latin typeface="微软雅黑" panose="020B0503020204020204" charset="-122"/>
                <a:cs typeface="微软雅黑" panose="020B0503020204020204" charset="-122"/>
              </a:rPr>
              <a:t>了 </a:t>
            </a:r>
            <a:r>
              <a:rPr sz="1600" dirty="0">
                <a:latin typeface="微软雅黑" panose="020B0503020204020204" charset="-122"/>
                <a:cs typeface="微软雅黑" panose="020B0503020204020204" charset="-122"/>
              </a:rPr>
              <a:t>现代处理器的主流。包括</a:t>
            </a:r>
            <a:r>
              <a:rPr sz="1600" spc="-5" dirty="0">
                <a:latin typeface="微软雅黑" panose="020B0503020204020204" charset="-122"/>
                <a:cs typeface="微软雅黑" panose="020B0503020204020204" charset="-122"/>
              </a:rPr>
              <a:t>x86</a:t>
            </a:r>
            <a:r>
              <a:rPr sz="1600" dirty="0">
                <a:latin typeface="微软雅黑" panose="020B0503020204020204" charset="-122"/>
                <a:cs typeface="微软雅黑" panose="020B0503020204020204" charset="-122"/>
              </a:rPr>
              <a:t>也通过微码化实现了内部的</a:t>
            </a:r>
            <a:r>
              <a:rPr sz="1600" spc="-5" dirty="0">
                <a:latin typeface="微软雅黑" panose="020B0503020204020204" charset="-122"/>
                <a:cs typeface="微软雅黑" panose="020B0503020204020204" charset="-122"/>
              </a:rPr>
              <a:t>RISC</a:t>
            </a:r>
            <a:r>
              <a:rPr sz="1600" dirty="0">
                <a:latin typeface="微软雅黑" panose="020B0503020204020204" charset="-122"/>
                <a:cs typeface="微软雅黑" panose="020B0503020204020204" charset="-122"/>
              </a:rPr>
              <a:t>化</a:t>
            </a:r>
            <a:r>
              <a:rPr sz="1600" spc="-5" dirty="0">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a:p>
            <a:pPr marL="355600" marR="5080" indent="-342900">
              <a:lnSpc>
                <a:spcPct val="150000"/>
              </a:lnSpc>
              <a:buFont typeface="Wingdings" panose="05000000000000000000"/>
              <a:buChar char=""/>
              <a:tabLst>
                <a:tab pos="354965" algn="l"/>
                <a:tab pos="355600" algn="l"/>
              </a:tabLst>
            </a:pPr>
            <a:r>
              <a:rPr sz="1600" dirty="0">
                <a:latin typeface="微软雅黑" panose="020B0503020204020204" charset="-122"/>
                <a:cs typeface="微软雅黑" panose="020B0503020204020204" charset="-122"/>
              </a:rPr>
              <a:t>目前市面上能够看到的主流架构包括</a:t>
            </a:r>
            <a:r>
              <a:rPr sz="1600" spc="-5" dirty="0">
                <a:latin typeface="微软雅黑" panose="020B0503020204020204" charset="-122"/>
                <a:cs typeface="微软雅黑" panose="020B0503020204020204" charset="-122"/>
              </a:rPr>
              <a:t>x86,</a:t>
            </a:r>
            <a:r>
              <a:rPr sz="1600" spc="-80" dirty="0">
                <a:latin typeface="微软雅黑" panose="020B0503020204020204" charset="-122"/>
                <a:cs typeface="微软雅黑" panose="020B0503020204020204" charset="-122"/>
              </a:rPr>
              <a:t> </a:t>
            </a:r>
            <a:r>
              <a:rPr sz="1600" spc="-5" dirty="0">
                <a:latin typeface="微软雅黑" panose="020B0503020204020204" charset="-122"/>
                <a:cs typeface="微软雅黑" panose="020B0503020204020204" charset="-122"/>
              </a:rPr>
              <a:t>ARM</a:t>
            </a:r>
            <a:r>
              <a:rPr sz="1600" dirty="0">
                <a:latin typeface="微软雅黑" panose="020B0503020204020204" charset="-122"/>
                <a:cs typeface="微软雅黑" panose="020B0503020204020204" charset="-122"/>
              </a:rPr>
              <a:t>等，但都面临问题包括</a:t>
            </a:r>
            <a:r>
              <a:rPr sz="1600" b="1" dirty="0">
                <a:solidFill>
                  <a:srgbClr val="C00000"/>
                </a:solidFill>
                <a:latin typeface="微软雅黑" panose="020B0503020204020204" charset="-122"/>
                <a:cs typeface="微软雅黑" panose="020B0503020204020204" charset="-122"/>
              </a:rPr>
              <a:t>“不开放”</a:t>
            </a:r>
            <a:r>
              <a:rPr sz="1600" dirty="0">
                <a:latin typeface="微软雅黑" panose="020B0503020204020204" charset="-122"/>
                <a:cs typeface="微软雅黑" panose="020B0503020204020204" charset="-122"/>
              </a:rPr>
              <a:t>，多为某个公司拥有，另外就是有历</a:t>
            </a:r>
            <a:r>
              <a:rPr sz="1600" spc="-5" dirty="0">
                <a:latin typeface="微软雅黑" panose="020B0503020204020204" charset="-122"/>
                <a:cs typeface="微软雅黑" panose="020B0503020204020204" charset="-122"/>
              </a:rPr>
              <a:t>史 </a:t>
            </a:r>
            <a:r>
              <a:rPr sz="1600" dirty="0">
                <a:latin typeface="微软雅黑" panose="020B0503020204020204" charset="-122"/>
                <a:cs typeface="微软雅黑" panose="020B0503020204020204" charset="-122"/>
              </a:rPr>
              <a:t>包袱，不够精简。那么能否有一套标准指令集能够被任何学术和商业组织自由使用的吗</a:t>
            </a:r>
            <a:r>
              <a:rPr sz="1600" spc="-5" dirty="0">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p:txBody>
      </p:sp>
      <p:sp>
        <p:nvSpPr>
          <p:cNvPr id="8" name="object 8"/>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012950" y="2171700"/>
          <a:ext cx="7718425" cy="3883025"/>
        </p:xfrm>
        <a:graphic>
          <a:graphicData uri="http://schemas.openxmlformats.org/drawingml/2006/table">
            <a:tbl>
              <a:tblPr firstRow="1" bandRow="1">
                <a:tableStyleId>{2D5ABB26-0587-4C30-8999-92F81FD0307C}</a:tableStyleId>
              </a:tblPr>
              <a:tblGrid>
                <a:gridCol w="1473835"/>
                <a:gridCol w="1009650"/>
                <a:gridCol w="5215890"/>
              </a:tblGrid>
              <a:tr h="363854">
                <a:tc>
                  <a:txBody>
                    <a:bodyPr/>
                    <a:lstStyle/>
                    <a:p>
                      <a:pPr algn="ctr">
                        <a:lnSpc>
                          <a:spcPct val="100000"/>
                        </a:lnSpc>
                        <a:spcBef>
                          <a:spcPts val="325"/>
                        </a:spcBef>
                      </a:pPr>
                      <a:r>
                        <a:rPr sz="1600" b="1" dirty="0">
                          <a:solidFill>
                            <a:srgbClr val="FFFFFF"/>
                          </a:solidFill>
                          <a:latin typeface="微软雅黑" panose="020B0503020204020204" charset="-122"/>
                          <a:cs typeface="微软雅黑" panose="020B0503020204020204" charset="-122"/>
                        </a:rPr>
                        <a:t>基础指令</a:t>
                      </a:r>
                      <a:r>
                        <a:rPr sz="1600" b="1" spc="-5" dirty="0">
                          <a:solidFill>
                            <a:srgbClr val="FFFFFF"/>
                          </a:solidFill>
                          <a:latin typeface="微软雅黑" panose="020B0503020204020204" charset="-122"/>
                          <a:cs typeface="微软雅黑" panose="020B0503020204020204" charset="-122"/>
                        </a:rPr>
                        <a:t>集</a:t>
                      </a:r>
                      <a:endParaRPr sz="1600">
                        <a:latin typeface="微软雅黑" panose="020B0503020204020204" charset="-122"/>
                        <a:cs typeface="微软雅黑" panose="020B0503020204020204" charset="-122"/>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solidFill>
                      <a:srgbClr val="C00000"/>
                    </a:solidFill>
                  </a:tcPr>
                </a:tc>
                <a:tc>
                  <a:txBody>
                    <a:bodyPr/>
                    <a:lstStyle/>
                    <a:p>
                      <a:pPr algn="ctr">
                        <a:lnSpc>
                          <a:spcPct val="100000"/>
                        </a:lnSpc>
                        <a:spcBef>
                          <a:spcPts val="325"/>
                        </a:spcBef>
                      </a:pPr>
                      <a:r>
                        <a:rPr sz="1600" b="1" dirty="0">
                          <a:solidFill>
                            <a:srgbClr val="FFFFFF"/>
                          </a:solidFill>
                          <a:latin typeface="微软雅黑" panose="020B0503020204020204" charset="-122"/>
                          <a:cs typeface="微软雅黑" panose="020B0503020204020204" charset="-122"/>
                        </a:rPr>
                        <a:t>指令</a:t>
                      </a:r>
                      <a:r>
                        <a:rPr sz="1600" b="1" spc="-5" dirty="0">
                          <a:solidFill>
                            <a:srgbClr val="FFFFFF"/>
                          </a:solidFill>
                          <a:latin typeface="微软雅黑" panose="020B0503020204020204" charset="-122"/>
                          <a:cs typeface="微软雅黑" panose="020B0503020204020204" charset="-122"/>
                        </a:rPr>
                        <a:t>数</a:t>
                      </a:r>
                      <a:endParaRPr sz="1600">
                        <a:latin typeface="微软雅黑" panose="020B0503020204020204" charset="-122"/>
                        <a:cs typeface="微软雅黑" panose="020B0503020204020204" charset="-122"/>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solidFill>
                      <a:srgbClr val="C00000"/>
                    </a:solidFill>
                  </a:tcPr>
                </a:tc>
                <a:tc>
                  <a:txBody>
                    <a:bodyPr/>
                    <a:lstStyle/>
                    <a:p>
                      <a:pPr algn="ctr">
                        <a:lnSpc>
                          <a:spcPct val="100000"/>
                        </a:lnSpc>
                        <a:spcBef>
                          <a:spcPts val="325"/>
                        </a:spcBef>
                      </a:pPr>
                      <a:r>
                        <a:rPr sz="1600" b="1" dirty="0">
                          <a:solidFill>
                            <a:srgbClr val="FFFFFF"/>
                          </a:solidFill>
                          <a:latin typeface="微软雅黑" panose="020B0503020204020204" charset="-122"/>
                          <a:cs typeface="微软雅黑" panose="020B0503020204020204" charset="-122"/>
                        </a:rPr>
                        <a:t>描</a:t>
                      </a:r>
                      <a:r>
                        <a:rPr sz="1600" b="1" spc="-5" dirty="0">
                          <a:solidFill>
                            <a:srgbClr val="FFFFFF"/>
                          </a:solidFill>
                          <a:latin typeface="微软雅黑" panose="020B0503020204020204" charset="-122"/>
                          <a:cs typeface="微软雅黑" panose="020B0503020204020204" charset="-122"/>
                        </a:rPr>
                        <a:t>述</a:t>
                      </a:r>
                      <a:endParaRPr sz="1600">
                        <a:latin typeface="微软雅黑" panose="020B0503020204020204" charset="-122"/>
                        <a:cs typeface="微软雅黑" panose="020B0503020204020204" charset="-122"/>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solidFill>
                      <a:srgbClr val="C00000"/>
                    </a:solidFill>
                  </a:tcPr>
                </a:tc>
              </a:tr>
              <a:tr h="327025">
                <a:tc>
                  <a:txBody>
                    <a:bodyPr/>
                    <a:lstStyle/>
                    <a:p>
                      <a:pPr algn="ctr">
                        <a:lnSpc>
                          <a:spcPct val="100000"/>
                        </a:lnSpc>
                        <a:spcBef>
                          <a:spcPts val="180"/>
                        </a:spcBef>
                      </a:pPr>
                      <a:r>
                        <a:rPr sz="1400" spc="-5" dirty="0">
                          <a:latin typeface="微软雅黑" panose="020B0503020204020204" charset="-122"/>
                          <a:cs typeface="微软雅黑" panose="020B0503020204020204" charset="-122"/>
                        </a:rPr>
                        <a:t>RV32I</a:t>
                      </a:r>
                      <a:endParaRPr sz="1400">
                        <a:latin typeface="微软雅黑" panose="020B0503020204020204" charset="-122"/>
                        <a:cs typeface="微软雅黑" panose="020B0503020204020204" charset="-122"/>
                      </a:endParaRPr>
                    </a:p>
                  </a:txBody>
                  <a:tcPr marL="0" marR="0" marT="22860" marB="0">
                    <a:lnL w="12700">
                      <a:solidFill>
                        <a:srgbClr val="FFFFFF"/>
                      </a:solidFill>
                      <a:prstDash val="solid"/>
                    </a:lnL>
                    <a:lnR w="12700">
                      <a:solidFill>
                        <a:srgbClr val="FFFFFF"/>
                      </a:solidFill>
                      <a:prstDash val="solid"/>
                    </a:lnR>
                    <a:lnB w="12700">
                      <a:solidFill>
                        <a:srgbClr val="FFFFFF"/>
                      </a:solidFill>
                      <a:prstDash val="solid"/>
                    </a:lnB>
                    <a:solidFill>
                      <a:srgbClr val="D9D9D9"/>
                    </a:solidFill>
                  </a:tcPr>
                </a:tc>
                <a:tc>
                  <a:txBody>
                    <a:bodyPr/>
                    <a:lstStyle/>
                    <a:p>
                      <a:pPr algn="ctr">
                        <a:lnSpc>
                          <a:spcPct val="100000"/>
                        </a:lnSpc>
                        <a:spcBef>
                          <a:spcPts val="180"/>
                        </a:spcBef>
                      </a:pPr>
                      <a:r>
                        <a:rPr sz="1400" dirty="0">
                          <a:latin typeface="微软雅黑" panose="020B0503020204020204" charset="-122"/>
                          <a:cs typeface="微软雅黑" panose="020B0503020204020204" charset="-122"/>
                        </a:rPr>
                        <a:t>47</a:t>
                      </a:r>
                      <a:endParaRPr sz="1400">
                        <a:latin typeface="微软雅黑" panose="020B0503020204020204" charset="-122"/>
                        <a:cs typeface="微软雅黑" panose="020B0503020204020204" charset="-122"/>
                      </a:endParaRPr>
                    </a:p>
                  </a:txBody>
                  <a:tcPr marL="0" marR="0" marT="22860" marB="0">
                    <a:lnL w="12700">
                      <a:solidFill>
                        <a:srgbClr val="FFFFFF"/>
                      </a:solidFill>
                      <a:prstDash val="solid"/>
                    </a:lnL>
                    <a:lnR w="12700">
                      <a:solidFill>
                        <a:srgbClr val="FFFFFF"/>
                      </a:solidFill>
                      <a:prstDash val="solid"/>
                    </a:lnR>
                    <a:lnB w="12700">
                      <a:solidFill>
                        <a:srgbClr val="FFFFFF"/>
                      </a:solidFill>
                      <a:prstDash val="solid"/>
                    </a:lnB>
                    <a:solidFill>
                      <a:srgbClr val="D9D9D9"/>
                    </a:solidFill>
                  </a:tcPr>
                </a:tc>
                <a:tc>
                  <a:txBody>
                    <a:bodyPr/>
                    <a:lstStyle/>
                    <a:p>
                      <a:pPr marL="90805">
                        <a:lnSpc>
                          <a:spcPct val="100000"/>
                        </a:lnSpc>
                        <a:spcBef>
                          <a:spcPts val="180"/>
                        </a:spcBef>
                      </a:pPr>
                      <a:r>
                        <a:rPr sz="1400" spc="-5" dirty="0">
                          <a:latin typeface="微软雅黑" panose="020B0503020204020204" charset="-122"/>
                          <a:cs typeface="微软雅黑" panose="020B0503020204020204" charset="-122"/>
                        </a:rPr>
                        <a:t>32</a:t>
                      </a:r>
                      <a:r>
                        <a:rPr sz="1400" dirty="0">
                          <a:latin typeface="微软雅黑" panose="020B0503020204020204" charset="-122"/>
                          <a:cs typeface="微软雅黑" panose="020B0503020204020204" charset="-122"/>
                        </a:rPr>
                        <a:t>位整数指令</a:t>
                      </a:r>
                      <a:r>
                        <a:rPr sz="1400" spc="5" dirty="0">
                          <a:latin typeface="微软雅黑" panose="020B0503020204020204" charset="-122"/>
                          <a:cs typeface="微软雅黑" panose="020B0503020204020204" charset="-122"/>
                        </a:rPr>
                        <a:t>集</a:t>
                      </a:r>
                      <a:endParaRPr sz="1400">
                        <a:latin typeface="微软雅黑" panose="020B0503020204020204" charset="-122"/>
                        <a:cs typeface="微软雅黑" panose="020B0503020204020204" charset="-122"/>
                      </a:endParaRPr>
                    </a:p>
                  </a:txBody>
                  <a:tcPr marL="0" marR="0" marT="22860" marB="0">
                    <a:lnL w="12700">
                      <a:solidFill>
                        <a:srgbClr val="FFFFFF"/>
                      </a:solidFill>
                      <a:prstDash val="solid"/>
                    </a:lnL>
                    <a:lnR w="12700">
                      <a:solidFill>
                        <a:srgbClr val="FFFFFF"/>
                      </a:solidFill>
                      <a:prstDash val="solid"/>
                    </a:lnR>
                    <a:lnB w="12700">
                      <a:solidFill>
                        <a:srgbClr val="FFFFFF"/>
                      </a:solidFill>
                      <a:prstDash val="solid"/>
                    </a:lnB>
                    <a:solidFill>
                      <a:srgbClr val="D9D9D9"/>
                    </a:solidFill>
                  </a:tcPr>
                </a:tc>
              </a:tr>
              <a:tr h="352425">
                <a:tc>
                  <a:txBody>
                    <a:bodyPr/>
                    <a:lstStyle/>
                    <a:p>
                      <a:pPr algn="ctr">
                        <a:lnSpc>
                          <a:spcPct val="100000"/>
                        </a:lnSpc>
                        <a:spcBef>
                          <a:spcPts val="330"/>
                        </a:spcBef>
                      </a:pPr>
                      <a:r>
                        <a:rPr sz="1400" spc="-5" dirty="0">
                          <a:latin typeface="微软雅黑" panose="020B0503020204020204" charset="-122"/>
                          <a:cs typeface="微软雅黑" panose="020B0503020204020204" charset="-122"/>
                        </a:rPr>
                        <a:t>RV32E</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algn="ctr">
                        <a:lnSpc>
                          <a:spcPct val="100000"/>
                        </a:lnSpc>
                        <a:spcBef>
                          <a:spcPts val="330"/>
                        </a:spcBef>
                      </a:pPr>
                      <a:r>
                        <a:rPr sz="1400" dirty="0">
                          <a:latin typeface="微软雅黑" panose="020B0503020204020204" charset="-122"/>
                          <a:cs typeface="微软雅黑" panose="020B0503020204020204" charset="-122"/>
                        </a:rPr>
                        <a:t>47</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L="90805">
                        <a:lnSpc>
                          <a:spcPct val="100000"/>
                        </a:lnSpc>
                        <a:spcBef>
                          <a:spcPts val="330"/>
                        </a:spcBef>
                      </a:pPr>
                      <a:r>
                        <a:rPr sz="1400" spc="-5" dirty="0">
                          <a:latin typeface="微软雅黑" panose="020B0503020204020204" charset="-122"/>
                          <a:cs typeface="微软雅黑" panose="020B0503020204020204" charset="-122"/>
                        </a:rPr>
                        <a:t>32</a:t>
                      </a:r>
                      <a:r>
                        <a:rPr sz="1400" dirty="0">
                          <a:latin typeface="微软雅黑" panose="020B0503020204020204" charset="-122"/>
                          <a:cs typeface="微软雅黑" panose="020B0503020204020204" charset="-122"/>
                        </a:rPr>
                        <a:t>位整数指令集，限制寄存器数量为16</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r>
              <a:tr h="374015">
                <a:tc>
                  <a:txBody>
                    <a:bodyPr/>
                    <a:lstStyle/>
                    <a:p>
                      <a:pPr algn="ctr">
                        <a:lnSpc>
                          <a:spcPct val="100000"/>
                        </a:lnSpc>
                        <a:spcBef>
                          <a:spcPts val="330"/>
                        </a:spcBef>
                      </a:pPr>
                      <a:r>
                        <a:rPr sz="1400" spc="-5" dirty="0">
                          <a:latin typeface="微软雅黑" panose="020B0503020204020204" charset="-122"/>
                          <a:cs typeface="微软雅黑" panose="020B0503020204020204" charset="-122"/>
                        </a:rPr>
                        <a:t>RV64I</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algn="ctr">
                        <a:lnSpc>
                          <a:spcPct val="100000"/>
                        </a:lnSpc>
                        <a:spcBef>
                          <a:spcPts val="330"/>
                        </a:spcBef>
                      </a:pPr>
                      <a:r>
                        <a:rPr sz="1400" dirty="0">
                          <a:latin typeface="微软雅黑" panose="020B0503020204020204" charset="-122"/>
                          <a:cs typeface="微软雅黑" panose="020B0503020204020204" charset="-122"/>
                        </a:rPr>
                        <a:t>59</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marL="90805">
                        <a:lnSpc>
                          <a:spcPct val="100000"/>
                        </a:lnSpc>
                        <a:spcBef>
                          <a:spcPts val="330"/>
                        </a:spcBef>
                      </a:pPr>
                      <a:r>
                        <a:rPr sz="1400" spc="-5" dirty="0">
                          <a:latin typeface="微软雅黑" panose="020B0503020204020204" charset="-122"/>
                          <a:cs typeface="微软雅黑" panose="020B0503020204020204" charset="-122"/>
                        </a:rPr>
                        <a:t>64</a:t>
                      </a:r>
                      <a:r>
                        <a:rPr sz="1400" dirty="0">
                          <a:latin typeface="微软雅黑" panose="020B0503020204020204" charset="-122"/>
                          <a:cs typeface="微软雅黑" panose="020B0503020204020204" charset="-122"/>
                        </a:rPr>
                        <a:t>位整数指令集(附带</a:t>
                      </a:r>
                      <a:r>
                        <a:rPr sz="1400" spc="-5" dirty="0">
                          <a:latin typeface="微软雅黑" panose="020B0503020204020204" charset="-122"/>
                          <a:cs typeface="微软雅黑" panose="020B0503020204020204" charset="-122"/>
                        </a:rPr>
                        <a:t>32</a:t>
                      </a:r>
                      <a:r>
                        <a:rPr sz="1400" dirty="0">
                          <a:latin typeface="微软雅黑" panose="020B0503020204020204" charset="-122"/>
                          <a:cs typeface="微软雅黑" panose="020B0503020204020204" charset="-122"/>
                        </a:rPr>
                        <a:t>位整数指令集)</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r>
              <a:tr h="341629">
                <a:tc>
                  <a:txBody>
                    <a:bodyPr/>
                    <a:lstStyle/>
                    <a:p>
                      <a:pPr algn="ctr">
                        <a:lnSpc>
                          <a:spcPct val="100000"/>
                        </a:lnSpc>
                        <a:spcBef>
                          <a:spcPts val="330"/>
                        </a:spcBef>
                      </a:pPr>
                      <a:r>
                        <a:rPr sz="1400" spc="-5" dirty="0">
                          <a:latin typeface="微软雅黑" panose="020B0503020204020204" charset="-122"/>
                          <a:cs typeface="微软雅黑" panose="020B0503020204020204" charset="-122"/>
                        </a:rPr>
                        <a:t>RV128I</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algn="ctr">
                        <a:lnSpc>
                          <a:spcPct val="100000"/>
                        </a:lnSpc>
                        <a:spcBef>
                          <a:spcPts val="330"/>
                        </a:spcBef>
                      </a:pPr>
                      <a:r>
                        <a:rPr sz="1400" dirty="0">
                          <a:latin typeface="微软雅黑" panose="020B0503020204020204" charset="-122"/>
                          <a:cs typeface="微软雅黑" panose="020B0503020204020204" charset="-122"/>
                        </a:rPr>
                        <a:t>71</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L="90805">
                        <a:lnSpc>
                          <a:spcPct val="100000"/>
                        </a:lnSpc>
                        <a:spcBef>
                          <a:spcPts val="330"/>
                        </a:spcBef>
                      </a:pPr>
                      <a:r>
                        <a:rPr sz="1400" spc="-5" dirty="0">
                          <a:latin typeface="微软雅黑" panose="020B0503020204020204" charset="-122"/>
                          <a:cs typeface="微软雅黑" panose="020B0503020204020204" charset="-122"/>
                        </a:rPr>
                        <a:t>128</a:t>
                      </a:r>
                      <a:r>
                        <a:rPr sz="1400" dirty="0">
                          <a:latin typeface="微软雅黑" panose="020B0503020204020204" charset="-122"/>
                          <a:cs typeface="微软雅黑" panose="020B0503020204020204" charset="-122"/>
                        </a:rPr>
                        <a:t>位整数指令集(附带</a:t>
                      </a:r>
                      <a:r>
                        <a:rPr sz="1400" spc="-5" dirty="0">
                          <a:latin typeface="微软雅黑" panose="020B0503020204020204" charset="-122"/>
                          <a:cs typeface="微软雅黑" panose="020B0503020204020204" charset="-122"/>
                        </a:rPr>
                        <a:t>64</a:t>
                      </a:r>
                      <a:r>
                        <a:rPr sz="1400" dirty="0">
                          <a:latin typeface="微软雅黑" panose="020B0503020204020204" charset="-122"/>
                          <a:cs typeface="微软雅黑" panose="020B0503020204020204" charset="-122"/>
                        </a:rPr>
                        <a:t>位和</a:t>
                      </a:r>
                      <a:r>
                        <a:rPr sz="1400" spc="-5" dirty="0">
                          <a:latin typeface="微软雅黑" panose="020B0503020204020204" charset="-122"/>
                          <a:cs typeface="微软雅黑" panose="020B0503020204020204" charset="-122"/>
                        </a:rPr>
                        <a:t>32</a:t>
                      </a:r>
                      <a:r>
                        <a:rPr sz="1400" dirty="0">
                          <a:latin typeface="微软雅黑" panose="020B0503020204020204" charset="-122"/>
                          <a:cs typeface="微软雅黑" panose="020B0503020204020204" charset="-122"/>
                        </a:rPr>
                        <a:t>位整数指令集)</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r>
              <a:tr h="346075">
                <a:tc>
                  <a:txBody>
                    <a:bodyPr/>
                    <a:lstStyle/>
                    <a:p>
                      <a:pPr algn="ctr">
                        <a:lnSpc>
                          <a:spcPct val="100000"/>
                        </a:lnSpc>
                        <a:spcBef>
                          <a:spcPts val="325"/>
                        </a:spcBef>
                      </a:pPr>
                      <a:r>
                        <a:rPr sz="1600" b="1" dirty="0">
                          <a:solidFill>
                            <a:srgbClr val="FFFFFF"/>
                          </a:solidFill>
                          <a:latin typeface="微软雅黑" panose="020B0503020204020204" charset="-122"/>
                          <a:cs typeface="微软雅黑" panose="020B0503020204020204" charset="-122"/>
                        </a:rPr>
                        <a:t>扩展指令</a:t>
                      </a:r>
                      <a:r>
                        <a:rPr sz="1600" b="1" spc="-5" dirty="0">
                          <a:solidFill>
                            <a:srgbClr val="FFFFFF"/>
                          </a:solidFill>
                          <a:latin typeface="微软雅黑" panose="020B0503020204020204" charset="-122"/>
                          <a:cs typeface="微软雅黑" panose="020B0503020204020204" charset="-122"/>
                        </a:rPr>
                        <a:t>集</a:t>
                      </a:r>
                      <a:endParaRPr sz="1600">
                        <a:latin typeface="微软雅黑" panose="020B0503020204020204" charset="-122"/>
                        <a:cs typeface="微软雅黑" panose="020B0503020204020204" charset="-122"/>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00000"/>
                    </a:solidFill>
                  </a:tcPr>
                </a:tc>
                <a:tc>
                  <a:txBody>
                    <a:bodyPr/>
                    <a:lstStyle/>
                    <a:p>
                      <a:pPr algn="ctr">
                        <a:lnSpc>
                          <a:spcPct val="100000"/>
                        </a:lnSpc>
                        <a:spcBef>
                          <a:spcPts val="325"/>
                        </a:spcBef>
                      </a:pPr>
                      <a:r>
                        <a:rPr sz="1600" b="1" dirty="0">
                          <a:solidFill>
                            <a:srgbClr val="FFFFFF"/>
                          </a:solidFill>
                          <a:latin typeface="微软雅黑" panose="020B0503020204020204" charset="-122"/>
                          <a:cs typeface="微软雅黑" panose="020B0503020204020204" charset="-122"/>
                        </a:rPr>
                        <a:t>指令</a:t>
                      </a:r>
                      <a:r>
                        <a:rPr sz="1600" b="1" spc="-5" dirty="0">
                          <a:solidFill>
                            <a:srgbClr val="FFFFFF"/>
                          </a:solidFill>
                          <a:latin typeface="微软雅黑" panose="020B0503020204020204" charset="-122"/>
                          <a:cs typeface="微软雅黑" panose="020B0503020204020204" charset="-122"/>
                        </a:rPr>
                        <a:t>数</a:t>
                      </a:r>
                      <a:endParaRPr sz="1600">
                        <a:latin typeface="微软雅黑" panose="020B0503020204020204" charset="-122"/>
                        <a:cs typeface="微软雅黑" panose="020B0503020204020204" charset="-122"/>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00000"/>
                    </a:solidFill>
                  </a:tcPr>
                </a:tc>
                <a:tc>
                  <a:txBody>
                    <a:bodyPr/>
                    <a:lstStyle/>
                    <a:p>
                      <a:pPr algn="ctr">
                        <a:lnSpc>
                          <a:spcPct val="100000"/>
                        </a:lnSpc>
                        <a:spcBef>
                          <a:spcPts val="325"/>
                        </a:spcBef>
                      </a:pPr>
                      <a:r>
                        <a:rPr sz="1600" b="1" dirty="0">
                          <a:solidFill>
                            <a:srgbClr val="FFFFFF"/>
                          </a:solidFill>
                          <a:latin typeface="微软雅黑" panose="020B0503020204020204" charset="-122"/>
                          <a:cs typeface="微软雅黑" panose="020B0503020204020204" charset="-122"/>
                        </a:rPr>
                        <a:t>描</a:t>
                      </a:r>
                      <a:r>
                        <a:rPr sz="1600" b="1" spc="-5" dirty="0">
                          <a:solidFill>
                            <a:srgbClr val="FFFFFF"/>
                          </a:solidFill>
                          <a:latin typeface="微软雅黑" panose="020B0503020204020204" charset="-122"/>
                          <a:cs typeface="微软雅黑" panose="020B0503020204020204" charset="-122"/>
                        </a:rPr>
                        <a:t>述</a:t>
                      </a:r>
                      <a:endParaRPr sz="1600">
                        <a:latin typeface="微软雅黑" panose="020B0503020204020204" charset="-122"/>
                        <a:cs typeface="微软雅黑" panose="020B0503020204020204" charset="-122"/>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00000"/>
                    </a:solidFill>
                  </a:tcPr>
                </a:tc>
              </a:tr>
              <a:tr h="344804">
                <a:tc>
                  <a:txBody>
                    <a:bodyPr/>
                    <a:lstStyle/>
                    <a:p>
                      <a:pPr algn="ctr">
                        <a:lnSpc>
                          <a:spcPct val="100000"/>
                        </a:lnSpc>
                        <a:spcBef>
                          <a:spcPts val="330"/>
                        </a:spcBef>
                      </a:pPr>
                      <a:r>
                        <a:rPr sz="1400" dirty="0">
                          <a:latin typeface="微软雅黑" panose="020B0503020204020204" charset="-122"/>
                          <a:cs typeface="微软雅黑" panose="020B0503020204020204" charset="-122"/>
                        </a:rPr>
                        <a:t>M</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algn="ctr">
                        <a:lnSpc>
                          <a:spcPct val="100000"/>
                        </a:lnSpc>
                        <a:spcBef>
                          <a:spcPts val="330"/>
                        </a:spcBef>
                      </a:pPr>
                      <a:r>
                        <a:rPr sz="1400" dirty="0">
                          <a:latin typeface="微软雅黑" panose="020B0503020204020204" charset="-122"/>
                          <a:cs typeface="微软雅黑" panose="020B0503020204020204" charset="-122"/>
                        </a:rPr>
                        <a:t>8</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L="90805">
                        <a:lnSpc>
                          <a:spcPct val="100000"/>
                        </a:lnSpc>
                        <a:spcBef>
                          <a:spcPts val="330"/>
                        </a:spcBef>
                      </a:pPr>
                      <a:r>
                        <a:rPr sz="1400" dirty="0">
                          <a:latin typeface="微软雅黑" panose="020B0503020204020204" charset="-122"/>
                          <a:cs typeface="微软雅黑" panose="020B0503020204020204" charset="-122"/>
                        </a:rPr>
                        <a:t>整数乘除法指令</a:t>
                      </a:r>
                      <a:r>
                        <a:rPr sz="1400" spc="5" dirty="0">
                          <a:latin typeface="微软雅黑" panose="020B0503020204020204" charset="-122"/>
                          <a:cs typeface="微软雅黑" panose="020B0503020204020204" charset="-122"/>
                        </a:rPr>
                        <a:t>集</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r>
              <a:tr h="345440">
                <a:tc>
                  <a:txBody>
                    <a:bodyPr/>
                    <a:lstStyle/>
                    <a:p>
                      <a:pPr algn="ctr">
                        <a:lnSpc>
                          <a:spcPct val="100000"/>
                        </a:lnSpc>
                        <a:spcBef>
                          <a:spcPts val="330"/>
                        </a:spcBef>
                      </a:pPr>
                      <a:r>
                        <a:rPr sz="1400" dirty="0">
                          <a:latin typeface="微软雅黑" panose="020B0503020204020204" charset="-122"/>
                          <a:cs typeface="微软雅黑" panose="020B0503020204020204" charset="-122"/>
                        </a:rPr>
                        <a:t>A</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algn="ctr">
                        <a:lnSpc>
                          <a:spcPct val="100000"/>
                        </a:lnSpc>
                        <a:spcBef>
                          <a:spcPts val="330"/>
                        </a:spcBef>
                      </a:pPr>
                      <a:r>
                        <a:rPr sz="1400" dirty="0">
                          <a:latin typeface="微软雅黑" panose="020B0503020204020204" charset="-122"/>
                          <a:cs typeface="微软雅黑" panose="020B0503020204020204" charset="-122"/>
                        </a:rPr>
                        <a:t>11</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marL="90805">
                        <a:lnSpc>
                          <a:spcPct val="100000"/>
                        </a:lnSpc>
                        <a:spcBef>
                          <a:spcPts val="330"/>
                        </a:spcBef>
                      </a:pPr>
                      <a:r>
                        <a:rPr sz="1400" dirty="0">
                          <a:latin typeface="微软雅黑" panose="020B0503020204020204" charset="-122"/>
                          <a:cs typeface="微软雅黑" panose="020B0503020204020204" charset="-122"/>
                        </a:rPr>
                        <a:t>原子操作指令</a:t>
                      </a:r>
                      <a:r>
                        <a:rPr sz="1400" spc="5" dirty="0">
                          <a:latin typeface="微软雅黑" panose="020B0503020204020204" charset="-122"/>
                          <a:cs typeface="微软雅黑" panose="020B0503020204020204" charset="-122"/>
                        </a:rPr>
                        <a:t>集</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r>
              <a:tr h="345439">
                <a:tc>
                  <a:txBody>
                    <a:bodyPr/>
                    <a:lstStyle/>
                    <a:p>
                      <a:pPr algn="ctr">
                        <a:lnSpc>
                          <a:spcPct val="100000"/>
                        </a:lnSpc>
                        <a:spcBef>
                          <a:spcPts val="330"/>
                        </a:spcBef>
                      </a:pPr>
                      <a:r>
                        <a:rPr sz="1400" dirty="0">
                          <a:latin typeface="微软雅黑" panose="020B0503020204020204" charset="-122"/>
                          <a:cs typeface="微软雅黑" panose="020B0503020204020204" charset="-122"/>
                        </a:rPr>
                        <a:t>F</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algn="ctr">
                        <a:lnSpc>
                          <a:spcPct val="100000"/>
                        </a:lnSpc>
                        <a:spcBef>
                          <a:spcPts val="330"/>
                        </a:spcBef>
                      </a:pPr>
                      <a:r>
                        <a:rPr sz="1400" dirty="0">
                          <a:latin typeface="微软雅黑" panose="020B0503020204020204" charset="-122"/>
                          <a:cs typeface="微软雅黑" panose="020B0503020204020204" charset="-122"/>
                        </a:rPr>
                        <a:t>26</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L="90805">
                        <a:lnSpc>
                          <a:spcPct val="100000"/>
                        </a:lnSpc>
                        <a:spcBef>
                          <a:spcPts val="330"/>
                        </a:spcBef>
                      </a:pPr>
                      <a:r>
                        <a:rPr sz="1400" spc="-5" dirty="0">
                          <a:latin typeface="微软雅黑" panose="020B0503020204020204" charset="-122"/>
                          <a:cs typeface="微软雅黑" panose="020B0503020204020204" charset="-122"/>
                        </a:rPr>
                        <a:t>32</a:t>
                      </a:r>
                      <a:r>
                        <a:rPr sz="1400" dirty="0">
                          <a:latin typeface="微软雅黑" panose="020B0503020204020204" charset="-122"/>
                          <a:cs typeface="微软雅黑" panose="020B0503020204020204" charset="-122"/>
                        </a:rPr>
                        <a:t>位单浮点运算指令</a:t>
                      </a:r>
                      <a:r>
                        <a:rPr sz="1400" spc="5" dirty="0">
                          <a:latin typeface="微软雅黑" panose="020B0503020204020204" charset="-122"/>
                          <a:cs typeface="微软雅黑" panose="020B0503020204020204" charset="-122"/>
                        </a:rPr>
                        <a:t>集</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r>
              <a:tr h="384810">
                <a:tc>
                  <a:txBody>
                    <a:bodyPr/>
                    <a:lstStyle/>
                    <a:p>
                      <a:pPr marL="635" algn="ctr">
                        <a:lnSpc>
                          <a:spcPct val="100000"/>
                        </a:lnSpc>
                        <a:spcBef>
                          <a:spcPts val="330"/>
                        </a:spcBef>
                      </a:pPr>
                      <a:r>
                        <a:rPr sz="1400" dirty="0">
                          <a:latin typeface="微软雅黑" panose="020B0503020204020204" charset="-122"/>
                          <a:cs typeface="微软雅黑" panose="020B0503020204020204" charset="-122"/>
                        </a:rPr>
                        <a:t>D</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algn="ctr">
                        <a:lnSpc>
                          <a:spcPct val="100000"/>
                        </a:lnSpc>
                        <a:spcBef>
                          <a:spcPts val="330"/>
                        </a:spcBef>
                      </a:pPr>
                      <a:r>
                        <a:rPr sz="1400" dirty="0">
                          <a:latin typeface="微软雅黑" panose="020B0503020204020204" charset="-122"/>
                          <a:cs typeface="微软雅黑" panose="020B0503020204020204" charset="-122"/>
                        </a:rPr>
                        <a:t>26</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marL="90805">
                        <a:lnSpc>
                          <a:spcPct val="100000"/>
                        </a:lnSpc>
                        <a:spcBef>
                          <a:spcPts val="330"/>
                        </a:spcBef>
                      </a:pPr>
                      <a:r>
                        <a:rPr sz="1400" spc="-5" dirty="0">
                          <a:latin typeface="微软雅黑" panose="020B0503020204020204" charset="-122"/>
                          <a:cs typeface="微软雅黑" panose="020B0503020204020204" charset="-122"/>
                        </a:rPr>
                        <a:t>64</a:t>
                      </a:r>
                      <a:r>
                        <a:rPr sz="1400" dirty="0">
                          <a:latin typeface="微软雅黑" panose="020B0503020204020204" charset="-122"/>
                          <a:cs typeface="微软雅黑" panose="020B0503020204020204" charset="-122"/>
                        </a:rPr>
                        <a:t>位双精度浮点运算指令集(附带</a:t>
                      </a:r>
                      <a:r>
                        <a:rPr sz="1400" spc="-5" dirty="0">
                          <a:latin typeface="微软雅黑" panose="020B0503020204020204" charset="-122"/>
                          <a:cs typeface="微软雅黑" panose="020B0503020204020204" charset="-122"/>
                        </a:rPr>
                        <a:t>F</a:t>
                      </a:r>
                      <a:r>
                        <a:rPr sz="1400" dirty="0">
                          <a:latin typeface="微软雅黑" panose="020B0503020204020204" charset="-122"/>
                          <a:cs typeface="微软雅黑" panose="020B0503020204020204" charset="-122"/>
                        </a:rPr>
                        <a:t>指令集)</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r>
              <a:tr h="344804">
                <a:tc>
                  <a:txBody>
                    <a:bodyPr/>
                    <a:lstStyle/>
                    <a:p>
                      <a:pPr algn="ctr">
                        <a:lnSpc>
                          <a:spcPct val="100000"/>
                        </a:lnSpc>
                        <a:spcBef>
                          <a:spcPts val="330"/>
                        </a:spcBef>
                      </a:pPr>
                      <a:r>
                        <a:rPr sz="1400" dirty="0">
                          <a:latin typeface="微软雅黑" panose="020B0503020204020204" charset="-122"/>
                          <a:cs typeface="微软雅黑" panose="020B0503020204020204" charset="-122"/>
                        </a:rPr>
                        <a:t>C</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algn="ctr">
                        <a:lnSpc>
                          <a:spcPct val="100000"/>
                        </a:lnSpc>
                        <a:spcBef>
                          <a:spcPts val="330"/>
                        </a:spcBef>
                      </a:pPr>
                      <a:r>
                        <a:rPr sz="1400" dirty="0">
                          <a:latin typeface="微软雅黑" panose="020B0503020204020204" charset="-122"/>
                          <a:cs typeface="微软雅黑" panose="020B0503020204020204" charset="-122"/>
                        </a:rPr>
                        <a:t>46</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L="90805">
                        <a:lnSpc>
                          <a:spcPct val="100000"/>
                        </a:lnSpc>
                        <a:spcBef>
                          <a:spcPts val="330"/>
                        </a:spcBef>
                      </a:pPr>
                      <a:r>
                        <a:rPr sz="1400" spc="-5" dirty="0">
                          <a:latin typeface="微软雅黑" panose="020B0503020204020204" charset="-122"/>
                          <a:cs typeface="微软雅黑" panose="020B0503020204020204" charset="-122"/>
                        </a:rPr>
                        <a:t>16</a:t>
                      </a:r>
                      <a:r>
                        <a:rPr sz="1400" dirty="0">
                          <a:latin typeface="微软雅黑" panose="020B0503020204020204" charset="-122"/>
                          <a:cs typeface="微软雅黑" panose="020B0503020204020204" charset="-122"/>
                        </a:rPr>
                        <a:t>位压缩模式的整数指令</a:t>
                      </a:r>
                      <a:r>
                        <a:rPr sz="1400" spc="5" dirty="0">
                          <a:latin typeface="微软雅黑" panose="020B0503020204020204" charset="-122"/>
                          <a:cs typeface="微软雅黑" panose="020B0503020204020204" charset="-122"/>
                        </a:rPr>
                        <a:t>集</a:t>
                      </a:r>
                      <a:endParaRPr sz="1400">
                        <a:latin typeface="微软雅黑" panose="020B0503020204020204" charset="-122"/>
                        <a:cs typeface="微软雅黑" panose="020B0503020204020204" charset="-122"/>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r>
            </a:tbl>
          </a:graphicData>
        </a:graphic>
      </p:graphicFrame>
      <p:sp>
        <p:nvSpPr>
          <p:cNvPr id="3" name="object 3"/>
          <p:cNvSpPr txBox="1"/>
          <p:nvPr/>
        </p:nvSpPr>
        <p:spPr>
          <a:xfrm>
            <a:off x="789305" y="1156207"/>
            <a:ext cx="10448925" cy="756920"/>
          </a:xfrm>
          <a:prstGeom prst="rect">
            <a:avLst/>
          </a:prstGeom>
        </p:spPr>
        <p:txBody>
          <a:bodyPr vert="horz" wrap="square" lIns="0" tIns="12700" rIns="0" bIns="0" rtlCol="0">
            <a:spAutoFit/>
          </a:bodyPr>
          <a:lstStyle/>
          <a:p>
            <a:pPr marL="12700" marR="5080">
              <a:lnSpc>
                <a:spcPct val="150000"/>
              </a:lnSpc>
              <a:spcBef>
                <a:spcPts val="100"/>
              </a:spcBef>
            </a:pP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是总结了之前指令集架构后，设计出了简洁模块化可扩展的新的指令集架构。在基础指令集基础上，用户可</a:t>
            </a:r>
            <a:r>
              <a:rPr sz="1600" spc="-5" dirty="0">
                <a:latin typeface="微软雅黑" panose="020B0503020204020204" charset="-122"/>
                <a:cs typeface="微软雅黑" panose="020B0503020204020204" charset="-122"/>
              </a:rPr>
              <a:t>以 </a:t>
            </a:r>
            <a:r>
              <a:rPr sz="1600" dirty="0">
                <a:latin typeface="微软雅黑" panose="020B0503020204020204" charset="-122"/>
                <a:cs typeface="微软雅黑" panose="020B0503020204020204" charset="-122"/>
              </a:rPr>
              <a:t>根据自己的应用对指令集进行扩展或裁剪以面向市场的不同需求</a:t>
            </a:r>
            <a:r>
              <a:rPr sz="1600" spc="-5" dirty="0">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p:txBody>
      </p:sp>
      <p:sp>
        <p:nvSpPr>
          <p:cNvPr id="4" name="object 4"/>
          <p:cNvSpPr txBox="1">
            <a:spLocks noGrp="1"/>
          </p:cNvSpPr>
          <p:nvPr>
            <p:ph type="title"/>
          </p:nvPr>
        </p:nvSpPr>
        <p:spPr>
          <a:xfrm>
            <a:off x="692150" y="415925"/>
            <a:ext cx="297942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RI</a:t>
            </a:r>
            <a:r>
              <a:rPr sz="3600" spc="-5" dirty="0">
                <a:solidFill>
                  <a:srgbClr val="C00000"/>
                </a:solidFill>
              </a:rPr>
              <a:t>S</a:t>
            </a:r>
            <a:r>
              <a:rPr sz="3600" dirty="0">
                <a:solidFill>
                  <a:srgbClr val="C00000"/>
                </a:solidFill>
              </a:rPr>
              <a:t>C</a:t>
            </a:r>
            <a:r>
              <a:rPr sz="3600" spc="-5" dirty="0">
                <a:solidFill>
                  <a:srgbClr val="C00000"/>
                </a:solidFill>
              </a:rPr>
              <a:t>-</a:t>
            </a:r>
            <a:r>
              <a:rPr sz="3600" dirty="0">
                <a:solidFill>
                  <a:srgbClr val="C00000"/>
                </a:solidFill>
              </a:rPr>
              <a:t>V的诞生</a:t>
            </a:r>
            <a:endParaRPr sz="3600"/>
          </a:p>
        </p:txBody>
      </p:sp>
      <p:sp>
        <p:nvSpPr>
          <p:cNvPr id="5" name="object 5"/>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6" name="object 6"/>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09121" y="1080719"/>
            <a:ext cx="1524731" cy="469798"/>
          </a:xfrm>
          <a:prstGeom prst="rect">
            <a:avLst/>
          </a:prstGeom>
          <a:blipFill>
            <a:blip r:embed="rId1" cstate="print"/>
            <a:stretch>
              <a:fillRect/>
            </a:stretch>
          </a:blipFill>
        </p:spPr>
        <p:txBody>
          <a:bodyPr wrap="square" lIns="0" tIns="0" rIns="0" bIns="0" rtlCol="0"/>
          <a:lstStyle/>
          <a:p/>
        </p:txBody>
      </p:sp>
      <p:sp>
        <p:nvSpPr>
          <p:cNvPr id="3" name="object 3"/>
          <p:cNvSpPr/>
          <p:nvPr/>
        </p:nvSpPr>
        <p:spPr>
          <a:xfrm>
            <a:off x="8551590" y="2225602"/>
            <a:ext cx="1549481" cy="519121"/>
          </a:xfrm>
          <a:prstGeom prst="rect">
            <a:avLst/>
          </a:prstGeom>
          <a:blipFill>
            <a:blip r:embed="rId2" cstate="print"/>
            <a:stretch>
              <a:fillRect/>
            </a:stretch>
          </a:blipFill>
        </p:spPr>
        <p:txBody>
          <a:bodyPr wrap="square" lIns="0" tIns="0" rIns="0" bIns="0" rtlCol="0"/>
          <a:lstStyle/>
          <a:p/>
        </p:txBody>
      </p:sp>
      <p:sp>
        <p:nvSpPr>
          <p:cNvPr id="4" name="object 4"/>
          <p:cNvSpPr/>
          <p:nvPr/>
        </p:nvSpPr>
        <p:spPr>
          <a:xfrm>
            <a:off x="144779" y="497892"/>
            <a:ext cx="1066091" cy="332451"/>
          </a:xfrm>
          <a:prstGeom prst="rect">
            <a:avLst/>
          </a:prstGeom>
          <a:blipFill>
            <a:blip r:embed="rId3" cstate="print"/>
            <a:stretch>
              <a:fillRect/>
            </a:stretch>
          </a:blipFill>
        </p:spPr>
        <p:txBody>
          <a:bodyPr wrap="square" lIns="0" tIns="0" rIns="0" bIns="0" rtlCol="0"/>
          <a:lstStyle/>
          <a:p/>
        </p:txBody>
      </p:sp>
      <p:sp>
        <p:nvSpPr>
          <p:cNvPr id="5" name="object 5"/>
          <p:cNvSpPr/>
          <p:nvPr/>
        </p:nvSpPr>
        <p:spPr>
          <a:xfrm>
            <a:off x="7053071" y="1964435"/>
            <a:ext cx="1522476" cy="858012"/>
          </a:xfrm>
          <a:prstGeom prst="rect">
            <a:avLst/>
          </a:prstGeom>
          <a:blipFill>
            <a:blip r:embed="rId4" cstate="print"/>
            <a:stretch>
              <a:fillRect/>
            </a:stretch>
          </a:blipFill>
        </p:spPr>
        <p:txBody>
          <a:bodyPr wrap="square" lIns="0" tIns="0" rIns="0" bIns="0" rtlCol="0"/>
          <a:lstStyle/>
          <a:p/>
        </p:txBody>
      </p:sp>
      <p:sp>
        <p:nvSpPr>
          <p:cNvPr id="6" name="object 6"/>
          <p:cNvSpPr/>
          <p:nvPr/>
        </p:nvSpPr>
        <p:spPr>
          <a:xfrm>
            <a:off x="3212592" y="3293364"/>
            <a:ext cx="2382011" cy="952500"/>
          </a:xfrm>
          <a:prstGeom prst="rect">
            <a:avLst/>
          </a:prstGeom>
          <a:blipFill>
            <a:blip r:embed="rId5" cstate="print"/>
            <a:stretch>
              <a:fillRect/>
            </a:stretch>
          </a:blipFill>
        </p:spPr>
        <p:txBody>
          <a:bodyPr wrap="square" lIns="0" tIns="0" rIns="0" bIns="0" rtlCol="0"/>
          <a:lstStyle/>
          <a:p/>
        </p:txBody>
      </p:sp>
      <p:sp>
        <p:nvSpPr>
          <p:cNvPr id="7" name="object 7"/>
          <p:cNvSpPr/>
          <p:nvPr/>
        </p:nvSpPr>
        <p:spPr>
          <a:xfrm>
            <a:off x="3709415" y="3429000"/>
            <a:ext cx="1293876" cy="629412"/>
          </a:xfrm>
          <a:prstGeom prst="rect">
            <a:avLst/>
          </a:prstGeom>
          <a:blipFill>
            <a:blip r:embed="rId6" cstate="print"/>
            <a:stretch>
              <a:fillRect/>
            </a:stretch>
          </a:blipFill>
        </p:spPr>
        <p:txBody>
          <a:bodyPr wrap="square" lIns="0" tIns="0" rIns="0" bIns="0" rtlCol="0"/>
          <a:lstStyle/>
          <a:p/>
        </p:txBody>
      </p:sp>
      <p:sp>
        <p:nvSpPr>
          <p:cNvPr id="8" name="object 8"/>
          <p:cNvSpPr/>
          <p:nvPr/>
        </p:nvSpPr>
        <p:spPr>
          <a:xfrm>
            <a:off x="2731007" y="4760976"/>
            <a:ext cx="1969008" cy="534924"/>
          </a:xfrm>
          <a:prstGeom prst="rect">
            <a:avLst/>
          </a:prstGeom>
          <a:blipFill>
            <a:blip r:embed="rId7" cstate="print"/>
            <a:stretch>
              <a:fillRect/>
            </a:stretch>
          </a:blipFill>
        </p:spPr>
        <p:txBody>
          <a:bodyPr wrap="square" lIns="0" tIns="0" rIns="0" bIns="0" rtlCol="0"/>
          <a:lstStyle/>
          <a:p/>
        </p:txBody>
      </p:sp>
      <p:sp>
        <p:nvSpPr>
          <p:cNvPr id="9" name="object 9"/>
          <p:cNvSpPr/>
          <p:nvPr/>
        </p:nvSpPr>
        <p:spPr>
          <a:xfrm>
            <a:off x="6623304" y="2023872"/>
            <a:ext cx="2382011" cy="952500"/>
          </a:xfrm>
          <a:prstGeom prst="rect">
            <a:avLst/>
          </a:prstGeom>
          <a:blipFill>
            <a:blip r:embed="rId8" cstate="print"/>
            <a:stretch>
              <a:fillRect/>
            </a:stretch>
          </a:blipFill>
        </p:spPr>
        <p:txBody>
          <a:bodyPr wrap="square" lIns="0" tIns="0" rIns="0" bIns="0" rtlCol="0"/>
          <a:lstStyle/>
          <a:p/>
        </p:txBody>
      </p:sp>
      <p:sp>
        <p:nvSpPr>
          <p:cNvPr id="10" name="object 10"/>
          <p:cNvSpPr/>
          <p:nvPr/>
        </p:nvSpPr>
        <p:spPr>
          <a:xfrm>
            <a:off x="6586728" y="4175759"/>
            <a:ext cx="2382012" cy="952500"/>
          </a:xfrm>
          <a:prstGeom prst="rect">
            <a:avLst/>
          </a:prstGeom>
          <a:blipFill>
            <a:blip r:embed="rId9" cstate="print"/>
            <a:stretch>
              <a:fillRect/>
            </a:stretch>
          </a:blipFill>
        </p:spPr>
        <p:txBody>
          <a:bodyPr wrap="square" lIns="0" tIns="0" rIns="0" bIns="0" rtlCol="0"/>
          <a:lstStyle/>
          <a:p/>
        </p:txBody>
      </p:sp>
      <p:sp>
        <p:nvSpPr>
          <p:cNvPr id="11" name="object 11"/>
          <p:cNvSpPr/>
          <p:nvPr/>
        </p:nvSpPr>
        <p:spPr>
          <a:xfrm>
            <a:off x="6818376" y="2386583"/>
            <a:ext cx="2382012" cy="952500"/>
          </a:xfrm>
          <a:prstGeom prst="rect">
            <a:avLst/>
          </a:prstGeom>
          <a:blipFill>
            <a:blip r:embed="rId10" cstate="print"/>
            <a:stretch>
              <a:fillRect/>
            </a:stretch>
          </a:blipFill>
        </p:spPr>
        <p:txBody>
          <a:bodyPr wrap="square" lIns="0" tIns="0" rIns="0" bIns="0" rtlCol="0"/>
          <a:lstStyle/>
          <a:p/>
        </p:txBody>
      </p:sp>
      <p:sp>
        <p:nvSpPr>
          <p:cNvPr id="12" name="object 12"/>
          <p:cNvSpPr/>
          <p:nvPr/>
        </p:nvSpPr>
        <p:spPr>
          <a:xfrm>
            <a:off x="7053071" y="3621023"/>
            <a:ext cx="2382012" cy="952500"/>
          </a:xfrm>
          <a:prstGeom prst="rect">
            <a:avLst/>
          </a:prstGeom>
          <a:blipFill>
            <a:blip r:embed="rId11" cstate="print"/>
            <a:stretch>
              <a:fillRect/>
            </a:stretch>
          </a:blipFill>
        </p:spPr>
        <p:txBody>
          <a:bodyPr wrap="square" lIns="0" tIns="0" rIns="0" bIns="0" rtlCol="0"/>
          <a:lstStyle/>
          <a:p/>
        </p:txBody>
      </p:sp>
      <p:sp>
        <p:nvSpPr>
          <p:cNvPr id="13" name="object 13"/>
          <p:cNvSpPr/>
          <p:nvPr/>
        </p:nvSpPr>
        <p:spPr>
          <a:xfrm>
            <a:off x="4439411" y="2702051"/>
            <a:ext cx="865632" cy="461772"/>
          </a:xfrm>
          <a:prstGeom prst="rect">
            <a:avLst/>
          </a:prstGeom>
          <a:blipFill>
            <a:blip r:embed="rId12" cstate="print"/>
            <a:stretch>
              <a:fillRect/>
            </a:stretch>
          </a:blipFill>
        </p:spPr>
        <p:txBody>
          <a:bodyPr wrap="square" lIns="0" tIns="0" rIns="0" bIns="0" rtlCol="0"/>
          <a:lstStyle/>
          <a:p/>
        </p:txBody>
      </p:sp>
      <p:sp>
        <p:nvSpPr>
          <p:cNvPr id="14" name="object 14"/>
          <p:cNvSpPr/>
          <p:nvPr/>
        </p:nvSpPr>
        <p:spPr>
          <a:xfrm>
            <a:off x="2572511" y="1524000"/>
            <a:ext cx="1456943" cy="295655"/>
          </a:xfrm>
          <a:prstGeom prst="rect">
            <a:avLst/>
          </a:prstGeom>
          <a:blipFill>
            <a:blip r:embed="rId13" cstate="print"/>
            <a:stretch>
              <a:fillRect/>
            </a:stretch>
          </a:blipFill>
        </p:spPr>
        <p:txBody>
          <a:bodyPr wrap="square" lIns="0" tIns="0" rIns="0" bIns="0" rtlCol="0"/>
          <a:lstStyle/>
          <a:p/>
        </p:txBody>
      </p:sp>
      <p:sp>
        <p:nvSpPr>
          <p:cNvPr id="15" name="object 15"/>
          <p:cNvSpPr/>
          <p:nvPr/>
        </p:nvSpPr>
        <p:spPr>
          <a:xfrm>
            <a:off x="7153656" y="2976372"/>
            <a:ext cx="762000" cy="304800"/>
          </a:xfrm>
          <a:prstGeom prst="rect">
            <a:avLst/>
          </a:prstGeom>
          <a:blipFill>
            <a:blip r:embed="rId14" cstate="print"/>
            <a:stretch>
              <a:fillRect/>
            </a:stretch>
          </a:blipFill>
        </p:spPr>
        <p:txBody>
          <a:bodyPr wrap="square" lIns="0" tIns="0" rIns="0" bIns="0" rtlCol="0"/>
          <a:lstStyle/>
          <a:p/>
        </p:txBody>
      </p:sp>
      <p:sp>
        <p:nvSpPr>
          <p:cNvPr id="16" name="object 16"/>
          <p:cNvSpPr/>
          <p:nvPr/>
        </p:nvSpPr>
        <p:spPr>
          <a:xfrm>
            <a:off x="6894576" y="1726692"/>
            <a:ext cx="608076" cy="608076"/>
          </a:xfrm>
          <a:prstGeom prst="rect">
            <a:avLst/>
          </a:prstGeom>
          <a:blipFill>
            <a:blip r:embed="rId15" cstate="print"/>
            <a:stretch>
              <a:fillRect/>
            </a:stretch>
          </a:blipFill>
        </p:spPr>
        <p:txBody>
          <a:bodyPr wrap="square" lIns="0" tIns="0" rIns="0" bIns="0" rtlCol="0"/>
          <a:lstStyle/>
          <a:p/>
        </p:txBody>
      </p:sp>
      <p:sp>
        <p:nvSpPr>
          <p:cNvPr id="17" name="object 17"/>
          <p:cNvSpPr/>
          <p:nvPr/>
        </p:nvSpPr>
        <p:spPr>
          <a:xfrm>
            <a:off x="6400800" y="2967227"/>
            <a:ext cx="492251" cy="504444"/>
          </a:xfrm>
          <a:prstGeom prst="rect">
            <a:avLst/>
          </a:prstGeom>
          <a:blipFill>
            <a:blip r:embed="rId16" cstate="print"/>
            <a:stretch>
              <a:fillRect/>
            </a:stretch>
          </a:blipFill>
        </p:spPr>
        <p:txBody>
          <a:bodyPr wrap="square" lIns="0" tIns="0" rIns="0" bIns="0" rtlCol="0"/>
          <a:lstStyle/>
          <a:p/>
        </p:txBody>
      </p:sp>
      <p:sp>
        <p:nvSpPr>
          <p:cNvPr id="18" name="object 18"/>
          <p:cNvSpPr/>
          <p:nvPr/>
        </p:nvSpPr>
        <p:spPr>
          <a:xfrm>
            <a:off x="7502652" y="1522475"/>
            <a:ext cx="449579" cy="266869"/>
          </a:xfrm>
          <a:prstGeom prst="rect">
            <a:avLst/>
          </a:prstGeom>
          <a:blipFill>
            <a:blip r:embed="rId17" cstate="print"/>
            <a:stretch>
              <a:fillRect/>
            </a:stretch>
          </a:blipFill>
        </p:spPr>
        <p:txBody>
          <a:bodyPr wrap="square" lIns="0" tIns="0" rIns="0" bIns="0" rtlCol="0"/>
          <a:lstStyle/>
          <a:p/>
        </p:txBody>
      </p:sp>
      <p:sp>
        <p:nvSpPr>
          <p:cNvPr id="19" name="object 19"/>
          <p:cNvSpPr/>
          <p:nvPr/>
        </p:nvSpPr>
        <p:spPr>
          <a:xfrm>
            <a:off x="1144524" y="2644139"/>
            <a:ext cx="944181" cy="243839"/>
          </a:xfrm>
          <a:prstGeom prst="rect">
            <a:avLst/>
          </a:prstGeom>
          <a:blipFill>
            <a:blip r:embed="rId18" cstate="print"/>
            <a:stretch>
              <a:fillRect/>
            </a:stretch>
          </a:blipFill>
        </p:spPr>
        <p:txBody>
          <a:bodyPr wrap="square" lIns="0" tIns="0" rIns="0" bIns="0" rtlCol="0"/>
          <a:lstStyle/>
          <a:p/>
        </p:txBody>
      </p:sp>
      <p:sp>
        <p:nvSpPr>
          <p:cNvPr id="20" name="object 20"/>
          <p:cNvSpPr/>
          <p:nvPr/>
        </p:nvSpPr>
        <p:spPr>
          <a:xfrm>
            <a:off x="6670547" y="344424"/>
            <a:ext cx="1905000" cy="381000"/>
          </a:xfrm>
          <a:prstGeom prst="rect">
            <a:avLst/>
          </a:prstGeom>
          <a:blipFill>
            <a:blip r:embed="rId19" cstate="print"/>
            <a:stretch>
              <a:fillRect/>
            </a:stretch>
          </a:blipFill>
        </p:spPr>
        <p:txBody>
          <a:bodyPr wrap="square" lIns="0" tIns="0" rIns="0" bIns="0" rtlCol="0"/>
          <a:lstStyle/>
          <a:p/>
        </p:txBody>
      </p:sp>
      <p:sp>
        <p:nvSpPr>
          <p:cNvPr id="21" name="object 21"/>
          <p:cNvSpPr/>
          <p:nvPr/>
        </p:nvSpPr>
        <p:spPr>
          <a:xfrm>
            <a:off x="3467100" y="2602992"/>
            <a:ext cx="733044" cy="464102"/>
          </a:xfrm>
          <a:prstGeom prst="rect">
            <a:avLst/>
          </a:prstGeom>
          <a:blipFill>
            <a:blip r:embed="rId20" cstate="print"/>
            <a:stretch>
              <a:fillRect/>
            </a:stretch>
          </a:blipFill>
        </p:spPr>
        <p:txBody>
          <a:bodyPr wrap="square" lIns="0" tIns="0" rIns="0" bIns="0" rtlCol="0"/>
          <a:lstStyle/>
          <a:p/>
        </p:txBody>
      </p:sp>
      <p:sp>
        <p:nvSpPr>
          <p:cNvPr id="22" name="object 22"/>
          <p:cNvSpPr/>
          <p:nvPr/>
        </p:nvSpPr>
        <p:spPr>
          <a:xfrm>
            <a:off x="2060448" y="2667000"/>
            <a:ext cx="914400" cy="222503"/>
          </a:xfrm>
          <a:prstGeom prst="rect">
            <a:avLst/>
          </a:prstGeom>
          <a:blipFill>
            <a:blip r:embed="rId21" cstate="print"/>
            <a:stretch>
              <a:fillRect/>
            </a:stretch>
          </a:blipFill>
        </p:spPr>
        <p:txBody>
          <a:bodyPr wrap="square" lIns="0" tIns="0" rIns="0" bIns="0" rtlCol="0"/>
          <a:lstStyle/>
          <a:p/>
        </p:txBody>
      </p:sp>
      <p:sp>
        <p:nvSpPr>
          <p:cNvPr id="23" name="object 23"/>
          <p:cNvSpPr/>
          <p:nvPr/>
        </p:nvSpPr>
        <p:spPr>
          <a:xfrm>
            <a:off x="4541520" y="4745735"/>
            <a:ext cx="914400" cy="420624"/>
          </a:xfrm>
          <a:prstGeom prst="rect">
            <a:avLst/>
          </a:prstGeom>
          <a:blipFill>
            <a:blip r:embed="rId22" cstate="print"/>
            <a:stretch>
              <a:fillRect/>
            </a:stretch>
          </a:blipFill>
        </p:spPr>
        <p:txBody>
          <a:bodyPr wrap="square" lIns="0" tIns="0" rIns="0" bIns="0" rtlCol="0"/>
          <a:lstStyle/>
          <a:p/>
        </p:txBody>
      </p:sp>
      <p:sp>
        <p:nvSpPr>
          <p:cNvPr id="24" name="object 24"/>
          <p:cNvSpPr/>
          <p:nvPr/>
        </p:nvSpPr>
        <p:spPr>
          <a:xfrm>
            <a:off x="2612135" y="2869692"/>
            <a:ext cx="1031748" cy="515112"/>
          </a:xfrm>
          <a:prstGeom prst="rect">
            <a:avLst/>
          </a:prstGeom>
          <a:blipFill>
            <a:blip r:embed="rId23" cstate="print"/>
            <a:stretch>
              <a:fillRect/>
            </a:stretch>
          </a:blipFill>
        </p:spPr>
        <p:txBody>
          <a:bodyPr wrap="square" lIns="0" tIns="0" rIns="0" bIns="0" rtlCol="0"/>
          <a:lstStyle/>
          <a:p/>
        </p:txBody>
      </p:sp>
      <p:sp>
        <p:nvSpPr>
          <p:cNvPr id="25" name="object 25"/>
          <p:cNvSpPr/>
          <p:nvPr/>
        </p:nvSpPr>
        <p:spPr>
          <a:xfrm>
            <a:off x="1144524" y="547116"/>
            <a:ext cx="990600" cy="400812"/>
          </a:xfrm>
          <a:prstGeom prst="rect">
            <a:avLst/>
          </a:prstGeom>
          <a:blipFill>
            <a:blip r:embed="rId24" cstate="print"/>
            <a:stretch>
              <a:fillRect/>
            </a:stretch>
          </a:blipFill>
        </p:spPr>
        <p:txBody>
          <a:bodyPr wrap="square" lIns="0" tIns="0" rIns="0" bIns="0" rtlCol="0"/>
          <a:lstStyle/>
          <a:p/>
        </p:txBody>
      </p:sp>
      <p:sp>
        <p:nvSpPr>
          <p:cNvPr id="26" name="object 26"/>
          <p:cNvSpPr/>
          <p:nvPr/>
        </p:nvSpPr>
        <p:spPr>
          <a:xfrm>
            <a:off x="461772" y="5660135"/>
            <a:ext cx="982980" cy="1039368"/>
          </a:xfrm>
          <a:prstGeom prst="rect">
            <a:avLst/>
          </a:prstGeom>
          <a:blipFill>
            <a:blip r:embed="rId25" cstate="print"/>
            <a:stretch>
              <a:fillRect/>
            </a:stretch>
          </a:blipFill>
        </p:spPr>
        <p:txBody>
          <a:bodyPr wrap="square" lIns="0" tIns="0" rIns="0" bIns="0" rtlCol="0"/>
          <a:lstStyle/>
          <a:p/>
        </p:txBody>
      </p:sp>
      <p:sp>
        <p:nvSpPr>
          <p:cNvPr id="27" name="object 27"/>
          <p:cNvSpPr/>
          <p:nvPr/>
        </p:nvSpPr>
        <p:spPr>
          <a:xfrm>
            <a:off x="167639" y="5844540"/>
            <a:ext cx="635507" cy="409956"/>
          </a:xfrm>
          <a:prstGeom prst="rect">
            <a:avLst/>
          </a:prstGeom>
          <a:blipFill>
            <a:blip r:embed="rId26" cstate="print"/>
            <a:stretch>
              <a:fillRect/>
            </a:stretch>
          </a:blipFill>
        </p:spPr>
        <p:txBody>
          <a:bodyPr wrap="square" lIns="0" tIns="0" rIns="0" bIns="0" rtlCol="0"/>
          <a:lstStyle/>
          <a:p/>
        </p:txBody>
      </p:sp>
      <p:sp>
        <p:nvSpPr>
          <p:cNvPr id="28" name="object 28"/>
          <p:cNvSpPr/>
          <p:nvPr/>
        </p:nvSpPr>
        <p:spPr>
          <a:xfrm>
            <a:off x="3857175" y="5477112"/>
            <a:ext cx="1002809" cy="241696"/>
          </a:xfrm>
          <a:prstGeom prst="rect">
            <a:avLst/>
          </a:prstGeom>
          <a:blipFill>
            <a:blip r:embed="rId27" cstate="print"/>
            <a:stretch>
              <a:fillRect/>
            </a:stretch>
          </a:blipFill>
        </p:spPr>
        <p:txBody>
          <a:bodyPr wrap="square" lIns="0" tIns="0" rIns="0" bIns="0" rtlCol="0"/>
          <a:lstStyle/>
          <a:p/>
        </p:txBody>
      </p:sp>
      <p:sp>
        <p:nvSpPr>
          <p:cNvPr id="29" name="object 29"/>
          <p:cNvSpPr/>
          <p:nvPr/>
        </p:nvSpPr>
        <p:spPr>
          <a:xfrm>
            <a:off x="1816607" y="5501640"/>
            <a:ext cx="914400" cy="688848"/>
          </a:xfrm>
          <a:prstGeom prst="rect">
            <a:avLst/>
          </a:prstGeom>
          <a:blipFill>
            <a:blip r:embed="rId28" cstate="print"/>
            <a:stretch>
              <a:fillRect/>
            </a:stretch>
          </a:blipFill>
        </p:spPr>
        <p:txBody>
          <a:bodyPr wrap="square" lIns="0" tIns="0" rIns="0" bIns="0" rtlCol="0"/>
          <a:lstStyle/>
          <a:p/>
        </p:txBody>
      </p:sp>
      <p:sp>
        <p:nvSpPr>
          <p:cNvPr id="30" name="object 30"/>
          <p:cNvSpPr/>
          <p:nvPr/>
        </p:nvSpPr>
        <p:spPr>
          <a:xfrm>
            <a:off x="5099303" y="6521195"/>
            <a:ext cx="851915" cy="262128"/>
          </a:xfrm>
          <a:prstGeom prst="rect">
            <a:avLst/>
          </a:prstGeom>
          <a:blipFill>
            <a:blip r:embed="rId29" cstate="print"/>
            <a:stretch>
              <a:fillRect/>
            </a:stretch>
          </a:blipFill>
        </p:spPr>
        <p:txBody>
          <a:bodyPr wrap="square" lIns="0" tIns="0" rIns="0" bIns="0" rtlCol="0"/>
          <a:lstStyle/>
          <a:p/>
        </p:txBody>
      </p:sp>
      <p:sp>
        <p:nvSpPr>
          <p:cNvPr id="31" name="object 31"/>
          <p:cNvSpPr/>
          <p:nvPr/>
        </p:nvSpPr>
        <p:spPr>
          <a:xfrm>
            <a:off x="5244084" y="4498847"/>
            <a:ext cx="1053084" cy="551688"/>
          </a:xfrm>
          <a:prstGeom prst="rect">
            <a:avLst/>
          </a:prstGeom>
          <a:blipFill>
            <a:blip r:embed="rId30" cstate="print"/>
            <a:stretch>
              <a:fillRect/>
            </a:stretch>
          </a:blipFill>
        </p:spPr>
        <p:txBody>
          <a:bodyPr wrap="square" lIns="0" tIns="0" rIns="0" bIns="0" rtlCol="0"/>
          <a:lstStyle/>
          <a:p/>
        </p:txBody>
      </p:sp>
      <p:sp>
        <p:nvSpPr>
          <p:cNvPr id="32" name="object 32"/>
          <p:cNvSpPr/>
          <p:nvPr/>
        </p:nvSpPr>
        <p:spPr>
          <a:xfrm>
            <a:off x="2098548" y="4646676"/>
            <a:ext cx="1239012" cy="256031"/>
          </a:xfrm>
          <a:prstGeom prst="rect">
            <a:avLst/>
          </a:prstGeom>
          <a:blipFill>
            <a:blip r:embed="rId31" cstate="print"/>
            <a:stretch>
              <a:fillRect/>
            </a:stretch>
          </a:blipFill>
        </p:spPr>
        <p:txBody>
          <a:bodyPr wrap="square" lIns="0" tIns="0" rIns="0" bIns="0" rtlCol="0"/>
          <a:lstStyle/>
          <a:p/>
        </p:txBody>
      </p:sp>
      <p:sp>
        <p:nvSpPr>
          <p:cNvPr id="33" name="object 33"/>
          <p:cNvSpPr/>
          <p:nvPr/>
        </p:nvSpPr>
        <p:spPr>
          <a:xfrm>
            <a:off x="27432" y="32003"/>
            <a:ext cx="914400" cy="515112"/>
          </a:xfrm>
          <a:prstGeom prst="rect">
            <a:avLst/>
          </a:prstGeom>
          <a:blipFill>
            <a:blip r:embed="rId32" cstate="print"/>
            <a:stretch>
              <a:fillRect/>
            </a:stretch>
          </a:blipFill>
        </p:spPr>
        <p:txBody>
          <a:bodyPr wrap="square" lIns="0" tIns="0" rIns="0" bIns="0" rtlCol="0"/>
          <a:lstStyle/>
          <a:p/>
        </p:txBody>
      </p:sp>
      <p:sp>
        <p:nvSpPr>
          <p:cNvPr id="34" name="object 34"/>
          <p:cNvSpPr/>
          <p:nvPr/>
        </p:nvSpPr>
        <p:spPr>
          <a:xfrm>
            <a:off x="11202923" y="2433827"/>
            <a:ext cx="769620" cy="838200"/>
          </a:xfrm>
          <a:prstGeom prst="rect">
            <a:avLst/>
          </a:prstGeom>
          <a:blipFill>
            <a:blip r:embed="rId33" cstate="print"/>
            <a:stretch>
              <a:fillRect/>
            </a:stretch>
          </a:blipFill>
        </p:spPr>
        <p:txBody>
          <a:bodyPr wrap="square" lIns="0" tIns="0" rIns="0" bIns="0" rtlCol="0"/>
          <a:lstStyle/>
          <a:p/>
        </p:txBody>
      </p:sp>
      <p:sp>
        <p:nvSpPr>
          <p:cNvPr id="35" name="object 35"/>
          <p:cNvSpPr/>
          <p:nvPr/>
        </p:nvSpPr>
        <p:spPr>
          <a:xfrm>
            <a:off x="10101071" y="152400"/>
            <a:ext cx="1516379" cy="237744"/>
          </a:xfrm>
          <a:prstGeom prst="rect">
            <a:avLst/>
          </a:prstGeom>
          <a:blipFill>
            <a:blip r:embed="rId34" cstate="print"/>
            <a:stretch>
              <a:fillRect/>
            </a:stretch>
          </a:blipFill>
        </p:spPr>
        <p:txBody>
          <a:bodyPr wrap="square" lIns="0" tIns="0" rIns="0" bIns="0" rtlCol="0"/>
          <a:lstStyle/>
          <a:p/>
        </p:txBody>
      </p:sp>
      <p:sp>
        <p:nvSpPr>
          <p:cNvPr id="36" name="object 36"/>
          <p:cNvSpPr/>
          <p:nvPr/>
        </p:nvSpPr>
        <p:spPr>
          <a:xfrm>
            <a:off x="4701540" y="82296"/>
            <a:ext cx="1048512" cy="262127"/>
          </a:xfrm>
          <a:prstGeom prst="rect">
            <a:avLst/>
          </a:prstGeom>
          <a:blipFill>
            <a:blip r:embed="rId35" cstate="print"/>
            <a:stretch>
              <a:fillRect/>
            </a:stretch>
          </a:blipFill>
        </p:spPr>
        <p:txBody>
          <a:bodyPr wrap="square" lIns="0" tIns="0" rIns="0" bIns="0" rtlCol="0"/>
          <a:lstStyle/>
          <a:p/>
        </p:txBody>
      </p:sp>
      <p:sp>
        <p:nvSpPr>
          <p:cNvPr id="37" name="object 37"/>
          <p:cNvSpPr/>
          <p:nvPr/>
        </p:nvSpPr>
        <p:spPr>
          <a:xfrm>
            <a:off x="11269980" y="3810000"/>
            <a:ext cx="918972" cy="367284"/>
          </a:xfrm>
          <a:prstGeom prst="rect">
            <a:avLst/>
          </a:prstGeom>
          <a:blipFill>
            <a:blip r:embed="rId36" cstate="print"/>
            <a:stretch>
              <a:fillRect/>
            </a:stretch>
          </a:blipFill>
        </p:spPr>
        <p:txBody>
          <a:bodyPr wrap="square" lIns="0" tIns="0" rIns="0" bIns="0" rtlCol="0"/>
          <a:lstStyle/>
          <a:p/>
        </p:txBody>
      </p:sp>
      <p:sp>
        <p:nvSpPr>
          <p:cNvPr id="38" name="object 38"/>
          <p:cNvSpPr/>
          <p:nvPr/>
        </p:nvSpPr>
        <p:spPr>
          <a:xfrm>
            <a:off x="6297167" y="6492094"/>
            <a:ext cx="1284732" cy="205522"/>
          </a:xfrm>
          <a:prstGeom prst="rect">
            <a:avLst/>
          </a:prstGeom>
          <a:blipFill>
            <a:blip r:embed="rId37" cstate="print"/>
            <a:stretch>
              <a:fillRect/>
            </a:stretch>
          </a:blipFill>
        </p:spPr>
        <p:txBody>
          <a:bodyPr wrap="square" lIns="0" tIns="0" rIns="0" bIns="0" rtlCol="0"/>
          <a:lstStyle/>
          <a:p/>
        </p:txBody>
      </p:sp>
      <p:sp>
        <p:nvSpPr>
          <p:cNvPr id="39" name="object 39"/>
          <p:cNvSpPr/>
          <p:nvPr/>
        </p:nvSpPr>
        <p:spPr>
          <a:xfrm>
            <a:off x="6844283" y="3777996"/>
            <a:ext cx="1048512" cy="286512"/>
          </a:xfrm>
          <a:prstGeom prst="rect">
            <a:avLst/>
          </a:prstGeom>
          <a:blipFill>
            <a:blip r:embed="rId38" cstate="print"/>
            <a:stretch>
              <a:fillRect/>
            </a:stretch>
          </a:blipFill>
        </p:spPr>
        <p:txBody>
          <a:bodyPr wrap="square" lIns="0" tIns="0" rIns="0" bIns="0" rtlCol="0"/>
          <a:lstStyle/>
          <a:p/>
        </p:txBody>
      </p:sp>
      <p:sp>
        <p:nvSpPr>
          <p:cNvPr id="40" name="object 40"/>
          <p:cNvSpPr/>
          <p:nvPr/>
        </p:nvSpPr>
        <p:spPr>
          <a:xfrm>
            <a:off x="10846307" y="510540"/>
            <a:ext cx="1001268" cy="708660"/>
          </a:xfrm>
          <a:prstGeom prst="rect">
            <a:avLst/>
          </a:prstGeom>
          <a:blipFill>
            <a:blip r:embed="rId39" cstate="print"/>
            <a:stretch>
              <a:fillRect/>
            </a:stretch>
          </a:blipFill>
        </p:spPr>
        <p:txBody>
          <a:bodyPr wrap="square" lIns="0" tIns="0" rIns="0" bIns="0" rtlCol="0"/>
          <a:lstStyle/>
          <a:p/>
        </p:txBody>
      </p:sp>
      <p:sp>
        <p:nvSpPr>
          <p:cNvPr id="41" name="object 41"/>
          <p:cNvSpPr/>
          <p:nvPr/>
        </p:nvSpPr>
        <p:spPr>
          <a:xfrm>
            <a:off x="3212592" y="3724655"/>
            <a:ext cx="856487" cy="385572"/>
          </a:xfrm>
          <a:prstGeom prst="rect">
            <a:avLst/>
          </a:prstGeom>
          <a:blipFill>
            <a:blip r:embed="rId40" cstate="print"/>
            <a:stretch>
              <a:fillRect/>
            </a:stretch>
          </a:blipFill>
        </p:spPr>
        <p:txBody>
          <a:bodyPr wrap="square" lIns="0" tIns="0" rIns="0" bIns="0" rtlCol="0"/>
          <a:lstStyle/>
          <a:p/>
        </p:txBody>
      </p:sp>
      <p:sp>
        <p:nvSpPr>
          <p:cNvPr id="42" name="object 42"/>
          <p:cNvSpPr/>
          <p:nvPr/>
        </p:nvSpPr>
        <p:spPr>
          <a:xfrm>
            <a:off x="864108" y="3550920"/>
            <a:ext cx="952500" cy="358139"/>
          </a:xfrm>
          <a:prstGeom prst="rect">
            <a:avLst/>
          </a:prstGeom>
          <a:blipFill>
            <a:blip r:embed="rId41" cstate="print"/>
            <a:stretch>
              <a:fillRect/>
            </a:stretch>
          </a:blipFill>
        </p:spPr>
        <p:txBody>
          <a:bodyPr wrap="square" lIns="0" tIns="0" rIns="0" bIns="0" rtlCol="0"/>
          <a:lstStyle/>
          <a:p/>
        </p:txBody>
      </p:sp>
      <p:sp>
        <p:nvSpPr>
          <p:cNvPr id="43" name="object 43"/>
          <p:cNvSpPr/>
          <p:nvPr/>
        </p:nvSpPr>
        <p:spPr>
          <a:xfrm>
            <a:off x="3285744" y="3093720"/>
            <a:ext cx="1002791" cy="400812"/>
          </a:xfrm>
          <a:prstGeom prst="rect">
            <a:avLst/>
          </a:prstGeom>
          <a:blipFill>
            <a:blip r:embed="rId42" cstate="print"/>
            <a:stretch>
              <a:fillRect/>
            </a:stretch>
          </a:blipFill>
        </p:spPr>
        <p:txBody>
          <a:bodyPr wrap="square" lIns="0" tIns="0" rIns="0" bIns="0" rtlCol="0"/>
          <a:lstStyle/>
          <a:p/>
        </p:txBody>
      </p:sp>
      <p:sp>
        <p:nvSpPr>
          <p:cNvPr id="44" name="object 44"/>
          <p:cNvSpPr/>
          <p:nvPr/>
        </p:nvSpPr>
        <p:spPr>
          <a:xfrm>
            <a:off x="3671315" y="4838700"/>
            <a:ext cx="1234439" cy="493775"/>
          </a:xfrm>
          <a:prstGeom prst="rect">
            <a:avLst/>
          </a:prstGeom>
          <a:blipFill>
            <a:blip r:embed="rId43" cstate="print"/>
            <a:stretch>
              <a:fillRect/>
            </a:stretch>
          </a:blipFill>
        </p:spPr>
        <p:txBody>
          <a:bodyPr wrap="square" lIns="0" tIns="0" rIns="0" bIns="0" rtlCol="0"/>
          <a:lstStyle/>
          <a:p/>
        </p:txBody>
      </p:sp>
      <p:sp>
        <p:nvSpPr>
          <p:cNvPr id="45" name="object 45"/>
          <p:cNvSpPr/>
          <p:nvPr/>
        </p:nvSpPr>
        <p:spPr>
          <a:xfrm>
            <a:off x="1764792" y="3471671"/>
            <a:ext cx="736092" cy="347472"/>
          </a:xfrm>
          <a:prstGeom prst="rect">
            <a:avLst/>
          </a:prstGeom>
          <a:blipFill>
            <a:blip r:embed="rId44" cstate="print"/>
            <a:stretch>
              <a:fillRect/>
            </a:stretch>
          </a:blipFill>
        </p:spPr>
        <p:txBody>
          <a:bodyPr wrap="square" lIns="0" tIns="0" rIns="0" bIns="0" rtlCol="0"/>
          <a:lstStyle/>
          <a:p/>
        </p:txBody>
      </p:sp>
      <p:sp>
        <p:nvSpPr>
          <p:cNvPr id="46" name="object 46"/>
          <p:cNvSpPr/>
          <p:nvPr/>
        </p:nvSpPr>
        <p:spPr>
          <a:xfrm>
            <a:off x="178307" y="3276600"/>
            <a:ext cx="1005840" cy="396239"/>
          </a:xfrm>
          <a:prstGeom prst="rect">
            <a:avLst/>
          </a:prstGeom>
          <a:blipFill>
            <a:blip r:embed="rId45" cstate="print"/>
            <a:stretch>
              <a:fillRect/>
            </a:stretch>
          </a:blipFill>
        </p:spPr>
        <p:txBody>
          <a:bodyPr wrap="square" lIns="0" tIns="0" rIns="0" bIns="0" rtlCol="0"/>
          <a:lstStyle/>
          <a:p/>
        </p:txBody>
      </p:sp>
      <p:sp>
        <p:nvSpPr>
          <p:cNvPr id="47" name="object 47"/>
          <p:cNvSpPr/>
          <p:nvPr/>
        </p:nvSpPr>
        <p:spPr>
          <a:xfrm>
            <a:off x="2042160" y="3886200"/>
            <a:ext cx="810768" cy="324612"/>
          </a:xfrm>
          <a:prstGeom prst="rect">
            <a:avLst/>
          </a:prstGeom>
          <a:blipFill>
            <a:blip r:embed="rId46" cstate="print"/>
            <a:stretch>
              <a:fillRect/>
            </a:stretch>
          </a:blipFill>
        </p:spPr>
        <p:txBody>
          <a:bodyPr wrap="square" lIns="0" tIns="0" rIns="0" bIns="0" rtlCol="0"/>
          <a:lstStyle/>
          <a:p/>
        </p:txBody>
      </p:sp>
      <p:sp>
        <p:nvSpPr>
          <p:cNvPr id="48" name="object 48"/>
          <p:cNvSpPr/>
          <p:nvPr/>
        </p:nvSpPr>
        <p:spPr>
          <a:xfrm>
            <a:off x="7930895" y="6470903"/>
            <a:ext cx="1536192" cy="312420"/>
          </a:xfrm>
          <a:prstGeom prst="rect">
            <a:avLst/>
          </a:prstGeom>
          <a:blipFill>
            <a:blip r:embed="rId47" cstate="print"/>
            <a:stretch>
              <a:fillRect/>
            </a:stretch>
          </a:blipFill>
        </p:spPr>
        <p:txBody>
          <a:bodyPr wrap="square" lIns="0" tIns="0" rIns="0" bIns="0" rtlCol="0"/>
          <a:lstStyle/>
          <a:p/>
        </p:txBody>
      </p:sp>
      <p:sp>
        <p:nvSpPr>
          <p:cNvPr id="49" name="object 49"/>
          <p:cNvSpPr/>
          <p:nvPr/>
        </p:nvSpPr>
        <p:spPr>
          <a:xfrm>
            <a:off x="7862316" y="5996940"/>
            <a:ext cx="483107" cy="480059"/>
          </a:xfrm>
          <a:prstGeom prst="rect">
            <a:avLst/>
          </a:prstGeom>
          <a:blipFill>
            <a:blip r:embed="rId48" cstate="print"/>
            <a:stretch>
              <a:fillRect/>
            </a:stretch>
          </a:blipFill>
        </p:spPr>
        <p:txBody>
          <a:bodyPr wrap="square" lIns="0" tIns="0" rIns="0" bIns="0" rtlCol="0"/>
          <a:lstStyle/>
          <a:p/>
        </p:txBody>
      </p:sp>
      <p:sp>
        <p:nvSpPr>
          <p:cNvPr id="50" name="object 50"/>
          <p:cNvSpPr/>
          <p:nvPr/>
        </p:nvSpPr>
        <p:spPr>
          <a:xfrm>
            <a:off x="2673095" y="3270503"/>
            <a:ext cx="1527047" cy="585215"/>
          </a:xfrm>
          <a:prstGeom prst="rect">
            <a:avLst/>
          </a:prstGeom>
          <a:blipFill>
            <a:blip r:embed="rId49" cstate="print"/>
            <a:stretch>
              <a:fillRect/>
            </a:stretch>
          </a:blipFill>
        </p:spPr>
        <p:txBody>
          <a:bodyPr wrap="square" lIns="0" tIns="0" rIns="0" bIns="0" rtlCol="0"/>
          <a:lstStyle/>
          <a:p/>
        </p:txBody>
      </p:sp>
      <p:sp>
        <p:nvSpPr>
          <p:cNvPr id="51" name="object 51"/>
          <p:cNvSpPr/>
          <p:nvPr/>
        </p:nvSpPr>
        <p:spPr>
          <a:xfrm>
            <a:off x="356615" y="3819144"/>
            <a:ext cx="1066800" cy="426719"/>
          </a:xfrm>
          <a:prstGeom prst="rect">
            <a:avLst/>
          </a:prstGeom>
          <a:blipFill>
            <a:blip r:embed="rId50" cstate="print"/>
            <a:stretch>
              <a:fillRect/>
            </a:stretch>
          </a:blipFill>
        </p:spPr>
        <p:txBody>
          <a:bodyPr wrap="square" lIns="0" tIns="0" rIns="0" bIns="0" rtlCol="0"/>
          <a:lstStyle/>
          <a:p/>
        </p:txBody>
      </p:sp>
      <p:sp>
        <p:nvSpPr>
          <p:cNvPr id="52" name="object 52"/>
          <p:cNvSpPr/>
          <p:nvPr/>
        </p:nvSpPr>
        <p:spPr>
          <a:xfrm>
            <a:off x="6297167" y="4282440"/>
            <a:ext cx="1156715" cy="463295"/>
          </a:xfrm>
          <a:prstGeom prst="rect">
            <a:avLst/>
          </a:prstGeom>
          <a:blipFill>
            <a:blip r:embed="rId51" cstate="print"/>
            <a:stretch>
              <a:fillRect/>
            </a:stretch>
          </a:blipFill>
        </p:spPr>
        <p:txBody>
          <a:bodyPr wrap="square" lIns="0" tIns="0" rIns="0" bIns="0" rtlCol="0"/>
          <a:lstStyle/>
          <a:p/>
        </p:txBody>
      </p:sp>
      <p:sp>
        <p:nvSpPr>
          <p:cNvPr id="53" name="object 53"/>
          <p:cNvSpPr/>
          <p:nvPr/>
        </p:nvSpPr>
        <p:spPr>
          <a:xfrm>
            <a:off x="4271771" y="1994916"/>
            <a:ext cx="1429512" cy="266700"/>
          </a:xfrm>
          <a:prstGeom prst="rect">
            <a:avLst/>
          </a:prstGeom>
          <a:blipFill>
            <a:blip r:embed="rId52" cstate="print"/>
            <a:stretch>
              <a:fillRect/>
            </a:stretch>
          </a:blipFill>
        </p:spPr>
        <p:txBody>
          <a:bodyPr wrap="square" lIns="0" tIns="0" rIns="0" bIns="0" rtlCol="0"/>
          <a:lstStyle/>
          <a:p/>
        </p:txBody>
      </p:sp>
      <p:sp>
        <p:nvSpPr>
          <p:cNvPr id="54" name="object 54"/>
          <p:cNvSpPr/>
          <p:nvPr/>
        </p:nvSpPr>
        <p:spPr>
          <a:xfrm>
            <a:off x="7371588" y="934211"/>
            <a:ext cx="1528572" cy="611124"/>
          </a:xfrm>
          <a:prstGeom prst="rect">
            <a:avLst/>
          </a:prstGeom>
          <a:blipFill>
            <a:blip r:embed="rId53" cstate="print"/>
            <a:stretch>
              <a:fillRect/>
            </a:stretch>
          </a:blipFill>
        </p:spPr>
        <p:txBody>
          <a:bodyPr wrap="square" lIns="0" tIns="0" rIns="0" bIns="0" rtlCol="0"/>
          <a:lstStyle/>
          <a:p/>
        </p:txBody>
      </p:sp>
      <p:sp>
        <p:nvSpPr>
          <p:cNvPr id="55" name="object 55"/>
          <p:cNvSpPr/>
          <p:nvPr/>
        </p:nvSpPr>
        <p:spPr>
          <a:xfrm>
            <a:off x="10709147" y="1409700"/>
            <a:ext cx="1095755" cy="413003"/>
          </a:xfrm>
          <a:prstGeom prst="rect">
            <a:avLst/>
          </a:prstGeom>
          <a:blipFill>
            <a:blip r:embed="rId54" cstate="print"/>
            <a:stretch>
              <a:fillRect/>
            </a:stretch>
          </a:blipFill>
        </p:spPr>
        <p:txBody>
          <a:bodyPr wrap="square" lIns="0" tIns="0" rIns="0" bIns="0" rtlCol="0"/>
          <a:lstStyle/>
          <a:p/>
        </p:txBody>
      </p:sp>
      <p:sp>
        <p:nvSpPr>
          <p:cNvPr id="56" name="object 56"/>
          <p:cNvSpPr/>
          <p:nvPr/>
        </p:nvSpPr>
        <p:spPr>
          <a:xfrm>
            <a:off x="1825751" y="0"/>
            <a:ext cx="1539239" cy="478504"/>
          </a:xfrm>
          <a:prstGeom prst="rect">
            <a:avLst/>
          </a:prstGeom>
          <a:blipFill>
            <a:blip r:embed="rId55" cstate="print"/>
            <a:stretch>
              <a:fillRect/>
            </a:stretch>
          </a:blipFill>
        </p:spPr>
        <p:txBody>
          <a:bodyPr wrap="square" lIns="0" tIns="0" rIns="0" bIns="0" rtlCol="0"/>
          <a:lstStyle/>
          <a:p/>
        </p:txBody>
      </p:sp>
      <p:sp>
        <p:nvSpPr>
          <p:cNvPr id="57" name="object 57"/>
          <p:cNvSpPr/>
          <p:nvPr/>
        </p:nvSpPr>
        <p:spPr>
          <a:xfrm>
            <a:off x="1976627" y="1042416"/>
            <a:ext cx="1310639" cy="646176"/>
          </a:xfrm>
          <a:prstGeom prst="rect">
            <a:avLst/>
          </a:prstGeom>
          <a:blipFill>
            <a:blip r:embed="rId56" cstate="print"/>
            <a:stretch>
              <a:fillRect/>
            </a:stretch>
          </a:blipFill>
        </p:spPr>
        <p:txBody>
          <a:bodyPr wrap="square" lIns="0" tIns="0" rIns="0" bIns="0" rtlCol="0"/>
          <a:lstStyle/>
          <a:p/>
        </p:txBody>
      </p:sp>
      <p:sp>
        <p:nvSpPr>
          <p:cNvPr id="58" name="object 58"/>
          <p:cNvSpPr/>
          <p:nvPr/>
        </p:nvSpPr>
        <p:spPr>
          <a:xfrm>
            <a:off x="178307" y="4573523"/>
            <a:ext cx="1804416" cy="722376"/>
          </a:xfrm>
          <a:prstGeom prst="rect">
            <a:avLst/>
          </a:prstGeom>
          <a:blipFill>
            <a:blip r:embed="rId57" cstate="print"/>
            <a:stretch>
              <a:fillRect/>
            </a:stretch>
          </a:blipFill>
        </p:spPr>
        <p:txBody>
          <a:bodyPr wrap="square" lIns="0" tIns="0" rIns="0" bIns="0" rtlCol="0"/>
          <a:lstStyle/>
          <a:p/>
        </p:txBody>
      </p:sp>
      <p:sp>
        <p:nvSpPr>
          <p:cNvPr id="59" name="object 59"/>
          <p:cNvSpPr/>
          <p:nvPr/>
        </p:nvSpPr>
        <p:spPr>
          <a:xfrm>
            <a:off x="5951220" y="3118104"/>
            <a:ext cx="1522476" cy="512063"/>
          </a:xfrm>
          <a:prstGeom prst="rect">
            <a:avLst/>
          </a:prstGeom>
          <a:blipFill>
            <a:blip r:embed="rId58" cstate="print"/>
            <a:stretch>
              <a:fillRect/>
            </a:stretch>
          </a:blipFill>
        </p:spPr>
        <p:txBody>
          <a:bodyPr wrap="square" lIns="0" tIns="0" rIns="0" bIns="0" rtlCol="0"/>
          <a:lstStyle/>
          <a:p/>
        </p:txBody>
      </p:sp>
      <p:sp>
        <p:nvSpPr>
          <p:cNvPr id="60" name="object 60"/>
          <p:cNvSpPr/>
          <p:nvPr/>
        </p:nvSpPr>
        <p:spPr>
          <a:xfrm>
            <a:off x="4831079" y="1938527"/>
            <a:ext cx="861060" cy="559308"/>
          </a:xfrm>
          <a:prstGeom prst="rect">
            <a:avLst/>
          </a:prstGeom>
          <a:blipFill>
            <a:blip r:embed="rId59" cstate="print"/>
            <a:stretch>
              <a:fillRect/>
            </a:stretch>
          </a:blipFill>
        </p:spPr>
        <p:txBody>
          <a:bodyPr wrap="square" lIns="0" tIns="0" rIns="0" bIns="0" rtlCol="0"/>
          <a:lstStyle/>
          <a:p/>
        </p:txBody>
      </p:sp>
      <p:sp>
        <p:nvSpPr>
          <p:cNvPr id="61" name="object 61"/>
          <p:cNvSpPr/>
          <p:nvPr/>
        </p:nvSpPr>
        <p:spPr>
          <a:xfrm>
            <a:off x="5099303" y="2644139"/>
            <a:ext cx="1021079" cy="408431"/>
          </a:xfrm>
          <a:prstGeom prst="rect">
            <a:avLst/>
          </a:prstGeom>
          <a:blipFill>
            <a:blip r:embed="rId60" cstate="print"/>
            <a:stretch>
              <a:fillRect/>
            </a:stretch>
          </a:blipFill>
        </p:spPr>
        <p:txBody>
          <a:bodyPr wrap="square" lIns="0" tIns="0" rIns="0" bIns="0" rtlCol="0"/>
          <a:lstStyle/>
          <a:p/>
        </p:txBody>
      </p:sp>
      <p:sp>
        <p:nvSpPr>
          <p:cNvPr id="62" name="object 62"/>
          <p:cNvSpPr/>
          <p:nvPr/>
        </p:nvSpPr>
        <p:spPr>
          <a:xfrm>
            <a:off x="7862316" y="1409700"/>
            <a:ext cx="1106424" cy="771144"/>
          </a:xfrm>
          <a:prstGeom prst="rect">
            <a:avLst/>
          </a:prstGeom>
          <a:blipFill>
            <a:blip r:embed="rId61" cstate="print"/>
            <a:stretch>
              <a:fillRect/>
            </a:stretch>
          </a:blipFill>
        </p:spPr>
        <p:txBody>
          <a:bodyPr wrap="square" lIns="0" tIns="0" rIns="0" bIns="0" rtlCol="0"/>
          <a:lstStyle/>
          <a:p/>
        </p:txBody>
      </p:sp>
      <p:sp>
        <p:nvSpPr>
          <p:cNvPr id="63" name="object 63"/>
          <p:cNvSpPr/>
          <p:nvPr/>
        </p:nvSpPr>
        <p:spPr>
          <a:xfrm>
            <a:off x="6199632" y="690372"/>
            <a:ext cx="1223771" cy="432815"/>
          </a:xfrm>
          <a:prstGeom prst="rect">
            <a:avLst/>
          </a:prstGeom>
          <a:blipFill>
            <a:blip r:embed="rId62" cstate="print"/>
            <a:stretch>
              <a:fillRect/>
            </a:stretch>
          </a:blipFill>
        </p:spPr>
        <p:txBody>
          <a:bodyPr wrap="square" lIns="0" tIns="0" rIns="0" bIns="0" rtlCol="0"/>
          <a:lstStyle/>
          <a:p/>
        </p:txBody>
      </p:sp>
      <p:sp>
        <p:nvSpPr>
          <p:cNvPr id="64" name="object 64"/>
          <p:cNvSpPr/>
          <p:nvPr/>
        </p:nvSpPr>
        <p:spPr>
          <a:xfrm>
            <a:off x="4472940" y="1185672"/>
            <a:ext cx="1591056" cy="637031"/>
          </a:xfrm>
          <a:prstGeom prst="rect">
            <a:avLst/>
          </a:prstGeom>
          <a:blipFill>
            <a:blip r:embed="rId63" cstate="print"/>
            <a:stretch>
              <a:fillRect/>
            </a:stretch>
          </a:blipFill>
        </p:spPr>
        <p:txBody>
          <a:bodyPr wrap="square" lIns="0" tIns="0" rIns="0" bIns="0" rtlCol="0"/>
          <a:lstStyle/>
          <a:p/>
        </p:txBody>
      </p:sp>
      <p:sp>
        <p:nvSpPr>
          <p:cNvPr id="65" name="object 65"/>
          <p:cNvSpPr/>
          <p:nvPr/>
        </p:nvSpPr>
        <p:spPr>
          <a:xfrm>
            <a:off x="2098548" y="688848"/>
            <a:ext cx="914400" cy="353567"/>
          </a:xfrm>
          <a:prstGeom prst="rect">
            <a:avLst/>
          </a:prstGeom>
          <a:blipFill>
            <a:blip r:embed="rId64" cstate="print"/>
            <a:stretch>
              <a:fillRect/>
            </a:stretch>
          </a:blipFill>
        </p:spPr>
        <p:txBody>
          <a:bodyPr wrap="square" lIns="0" tIns="0" rIns="0" bIns="0" rtlCol="0"/>
          <a:lstStyle/>
          <a:p/>
        </p:txBody>
      </p:sp>
      <p:sp>
        <p:nvSpPr>
          <p:cNvPr id="66" name="object 66"/>
          <p:cNvSpPr/>
          <p:nvPr/>
        </p:nvSpPr>
        <p:spPr>
          <a:xfrm>
            <a:off x="3381755" y="1690116"/>
            <a:ext cx="1091184" cy="806196"/>
          </a:xfrm>
          <a:prstGeom prst="rect">
            <a:avLst/>
          </a:prstGeom>
          <a:blipFill>
            <a:blip r:embed="rId65" cstate="print"/>
            <a:stretch>
              <a:fillRect/>
            </a:stretch>
          </a:blipFill>
        </p:spPr>
        <p:txBody>
          <a:bodyPr wrap="square" lIns="0" tIns="0" rIns="0" bIns="0" rtlCol="0"/>
          <a:lstStyle/>
          <a:p/>
        </p:txBody>
      </p:sp>
      <p:sp>
        <p:nvSpPr>
          <p:cNvPr id="67" name="object 67"/>
          <p:cNvSpPr/>
          <p:nvPr/>
        </p:nvSpPr>
        <p:spPr>
          <a:xfrm>
            <a:off x="2060448" y="4130040"/>
            <a:ext cx="1027176" cy="574548"/>
          </a:xfrm>
          <a:prstGeom prst="rect">
            <a:avLst/>
          </a:prstGeom>
          <a:blipFill>
            <a:blip r:embed="rId66" cstate="print"/>
            <a:stretch>
              <a:fillRect/>
            </a:stretch>
          </a:blipFill>
        </p:spPr>
        <p:txBody>
          <a:bodyPr wrap="square" lIns="0" tIns="0" rIns="0" bIns="0" rtlCol="0"/>
          <a:lstStyle/>
          <a:p/>
        </p:txBody>
      </p:sp>
      <p:sp>
        <p:nvSpPr>
          <p:cNvPr id="68" name="object 68"/>
          <p:cNvSpPr/>
          <p:nvPr/>
        </p:nvSpPr>
        <p:spPr>
          <a:xfrm>
            <a:off x="3590544" y="155447"/>
            <a:ext cx="1190244" cy="477012"/>
          </a:xfrm>
          <a:prstGeom prst="rect">
            <a:avLst/>
          </a:prstGeom>
          <a:blipFill>
            <a:blip r:embed="rId67" cstate="print"/>
            <a:stretch>
              <a:fillRect/>
            </a:stretch>
          </a:blipFill>
        </p:spPr>
        <p:txBody>
          <a:bodyPr wrap="square" lIns="0" tIns="0" rIns="0" bIns="0" rtlCol="0"/>
          <a:lstStyle/>
          <a:p/>
        </p:txBody>
      </p:sp>
      <p:sp>
        <p:nvSpPr>
          <p:cNvPr id="69" name="object 69"/>
          <p:cNvSpPr/>
          <p:nvPr/>
        </p:nvSpPr>
        <p:spPr>
          <a:xfrm>
            <a:off x="8272271" y="1822704"/>
            <a:ext cx="1348740" cy="539496"/>
          </a:xfrm>
          <a:prstGeom prst="rect">
            <a:avLst/>
          </a:prstGeom>
          <a:blipFill>
            <a:blip r:embed="rId68" cstate="print"/>
            <a:stretch>
              <a:fillRect/>
            </a:stretch>
          </a:blipFill>
        </p:spPr>
        <p:txBody>
          <a:bodyPr wrap="square" lIns="0" tIns="0" rIns="0" bIns="0" rtlCol="0"/>
          <a:lstStyle/>
          <a:p/>
        </p:txBody>
      </p:sp>
      <p:sp>
        <p:nvSpPr>
          <p:cNvPr id="70" name="object 70"/>
          <p:cNvSpPr/>
          <p:nvPr/>
        </p:nvSpPr>
        <p:spPr>
          <a:xfrm>
            <a:off x="2138172" y="1726692"/>
            <a:ext cx="914400" cy="335279"/>
          </a:xfrm>
          <a:prstGeom prst="rect">
            <a:avLst/>
          </a:prstGeom>
          <a:blipFill>
            <a:blip r:embed="rId69" cstate="print"/>
            <a:stretch>
              <a:fillRect/>
            </a:stretch>
          </a:blipFill>
        </p:spPr>
        <p:txBody>
          <a:bodyPr wrap="square" lIns="0" tIns="0" rIns="0" bIns="0" rtlCol="0"/>
          <a:lstStyle/>
          <a:p/>
        </p:txBody>
      </p:sp>
      <p:sp>
        <p:nvSpPr>
          <p:cNvPr id="71" name="object 71"/>
          <p:cNvSpPr/>
          <p:nvPr/>
        </p:nvSpPr>
        <p:spPr>
          <a:xfrm>
            <a:off x="9621011" y="6374891"/>
            <a:ext cx="1225296" cy="408431"/>
          </a:xfrm>
          <a:prstGeom prst="rect">
            <a:avLst/>
          </a:prstGeom>
          <a:blipFill>
            <a:blip r:embed="rId70" cstate="print"/>
            <a:stretch>
              <a:fillRect/>
            </a:stretch>
          </a:blipFill>
        </p:spPr>
        <p:txBody>
          <a:bodyPr wrap="square" lIns="0" tIns="0" rIns="0" bIns="0" rtlCol="0"/>
          <a:lstStyle/>
          <a:p/>
        </p:txBody>
      </p:sp>
      <p:sp>
        <p:nvSpPr>
          <p:cNvPr id="72" name="object 72"/>
          <p:cNvSpPr/>
          <p:nvPr/>
        </p:nvSpPr>
        <p:spPr>
          <a:xfrm>
            <a:off x="3285744" y="4175759"/>
            <a:ext cx="1414272" cy="409956"/>
          </a:xfrm>
          <a:prstGeom prst="rect">
            <a:avLst/>
          </a:prstGeom>
          <a:blipFill>
            <a:blip r:embed="rId71" cstate="print"/>
            <a:stretch>
              <a:fillRect/>
            </a:stretch>
          </a:blipFill>
        </p:spPr>
        <p:txBody>
          <a:bodyPr wrap="square" lIns="0" tIns="0" rIns="0" bIns="0" rtlCol="0"/>
          <a:lstStyle/>
          <a:p/>
        </p:txBody>
      </p:sp>
      <p:sp>
        <p:nvSpPr>
          <p:cNvPr id="73" name="object 73"/>
          <p:cNvSpPr/>
          <p:nvPr/>
        </p:nvSpPr>
        <p:spPr>
          <a:xfrm>
            <a:off x="3834384" y="690372"/>
            <a:ext cx="1167384" cy="525779"/>
          </a:xfrm>
          <a:prstGeom prst="rect">
            <a:avLst/>
          </a:prstGeom>
          <a:blipFill>
            <a:blip r:embed="rId72" cstate="print"/>
            <a:stretch>
              <a:fillRect/>
            </a:stretch>
          </a:blipFill>
        </p:spPr>
        <p:txBody>
          <a:bodyPr wrap="square" lIns="0" tIns="0" rIns="0" bIns="0" rtlCol="0"/>
          <a:lstStyle/>
          <a:p/>
        </p:txBody>
      </p:sp>
      <p:sp>
        <p:nvSpPr>
          <p:cNvPr id="74" name="object 74"/>
          <p:cNvSpPr/>
          <p:nvPr/>
        </p:nvSpPr>
        <p:spPr>
          <a:xfrm>
            <a:off x="5692140" y="3724655"/>
            <a:ext cx="1350264" cy="426719"/>
          </a:xfrm>
          <a:prstGeom prst="rect">
            <a:avLst/>
          </a:prstGeom>
          <a:blipFill>
            <a:blip r:embed="rId73" cstate="print"/>
            <a:stretch>
              <a:fillRect/>
            </a:stretch>
          </a:blipFill>
        </p:spPr>
        <p:txBody>
          <a:bodyPr wrap="square" lIns="0" tIns="0" rIns="0" bIns="0" rtlCol="0"/>
          <a:lstStyle/>
          <a:p/>
        </p:txBody>
      </p:sp>
      <p:sp>
        <p:nvSpPr>
          <p:cNvPr id="75" name="object 75"/>
          <p:cNvSpPr/>
          <p:nvPr/>
        </p:nvSpPr>
        <p:spPr>
          <a:xfrm>
            <a:off x="5951220" y="1325880"/>
            <a:ext cx="620268" cy="941832"/>
          </a:xfrm>
          <a:prstGeom prst="rect">
            <a:avLst/>
          </a:prstGeom>
          <a:blipFill>
            <a:blip r:embed="rId74" cstate="print"/>
            <a:stretch>
              <a:fillRect/>
            </a:stretch>
          </a:blipFill>
        </p:spPr>
        <p:txBody>
          <a:bodyPr wrap="square" lIns="0" tIns="0" rIns="0" bIns="0" rtlCol="0"/>
          <a:lstStyle/>
          <a:p/>
        </p:txBody>
      </p:sp>
      <p:sp>
        <p:nvSpPr>
          <p:cNvPr id="76" name="object 76"/>
          <p:cNvSpPr/>
          <p:nvPr/>
        </p:nvSpPr>
        <p:spPr>
          <a:xfrm>
            <a:off x="1764792" y="2189988"/>
            <a:ext cx="1615440" cy="355091"/>
          </a:xfrm>
          <a:prstGeom prst="rect">
            <a:avLst/>
          </a:prstGeom>
          <a:blipFill>
            <a:blip r:embed="rId75" cstate="print"/>
            <a:stretch>
              <a:fillRect/>
            </a:stretch>
          </a:blipFill>
        </p:spPr>
        <p:txBody>
          <a:bodyPr wrap="square" lIns="0" tIns="0" rIns="0" bIns="0" rtlCol="0"/>
          <a:lstStyle/>
          <a:p/>
        </p:txBody>
      </p:sp>
      <p:sp>
        <p:nvSpPr>
          <p:cNvPr id="77" name="object 77"/>
          <p:cNvSpPr/>
          <p:nvPr/>
        </p:nvSpPr>
        <p:spPr>
          <a:xfrm>
            <a:off x="6062471" y="1213103"/>
            <a:ext cx="1498092" cy="560832"/>
          </a:xfrm>
          <a:prstGeom prst="rect">
            <a:avLst/>
          </a:prstGeom>
          <a:blipFill>
            <a:blip r:embed="rId76" cstate="print"/>
            <a:stretch>
              <a:fillRect/>
            </a:stretch>
          </a:blipFill>
        </p:spPr>
        <p:txBody>
          <a:bodyPr wrap="square" lIns="0" tIns="0" rIns="0" bIns="0" rtlCol="0"/>
          <a:lstStyle/>
          <a:p/>
        </p:txBody>
      </p:sp>
      <p:sp>
        <p:nvSpPr>
          <p:cNvPr id="78" name="object 78"/>
          <p:cNvSpPr/>
          <p:nvPr/>
        </p:nvSpPr>
        <p:spPr>
          <a:xfrm>
            <a:off x="5338571" y="5050535"/>
            <a:ext cx="1391412" cy="1071372"/>
          </a:xfrm>
          <a:prstGeom prst="rect">
            <a:avLst/>
          </a:prstGeom>
          <a:blipFill>
            <a:blip r:embed="rId77" cstate="print"/>
            <a:stretch>
              <a:fillRect/>
            </a:stretch>
          </a:blipFill>
        </p:spPr>
        <p:txBody>
          <a:bodyPr wrap="square" lIns="0" tIns="0" rIns="0" bIns="0" rtlCol="0"/>
          <a:lstStyle/>
          <a:p/>
        </p:txBody>
      </p:sp>
      <p:sp>
        <p:nvSpPr>
          <p:cNvPr id="79" name="object 79"/>
          <p:cNvSpPr/>
          <p:nvPr/>
        </p:nvSpPr>
        <p:spPr>
          <a:xfrm>
            <a:off x="3212592" y="5007864"/>
            <a:ext cx="495300" cy="493775"/>
          </a:xfrm>
          <a:prstGeom prst="rect">
            <a:avLst/>
          </a:prstGeom>
          <a:blipFill>
            <a:blip r:embed="rId78" cstate="print"/>
            <a:stretch>
              <a:fillRect/>
            </a:stretch>
          </a:blipFill>
        </p:spPr>
        <p:txBody>
          <a:bodyPr wrap="square" lIns="0" tIns="0" rIns="0" bIns="0" rtlCol="0"/>
          <a:lstStyle/>
          <a:p/>
        </p:txBody>
      </p:sp>
      <p:sp>
        <p:nvSpPr>
          <p:cNvPr id="80" name="object 80"/>
          <p:cNvSpPr/>
          <p:nvPr/>
        </p:nvSpPr>
        <p:spPr>
          <a:xfrm>
            <a:off x="5715000" y="126492"/>
            <a:ext cx="1335024" cy="533399"/>
          </a:xfrm>
          <a:prstGeom prst="rect">
            <a:avLst/>
          </a:prstGeom>
          <a:blipFill>
            <a:blip r:embed="rId79" cstate="print"/>
            <a:stretch>
              <a:fillRect/>
            </a:stretch>
          </a:blipFill>
        </p:spPr>
        <p:txBody>
          <a:bodyPr wrap="square" lIns="0" tIns="0" rIns="0" bIns="0" rtlCol="0"/>
          <a:lstStyle/>
          <a:p/>
        </p:txBody>
      </p:sp>
      <p:sp>
        <p:nvSpPr>
          <p:cNvPr id="81" name="object 81"/>
          <p:cNvSpPr/>
          <p:nvPr/>
        </p:nvSpPr>
        <p:spPr>
          <a:xfrm>
            <a:off x="3212592" y="1216152"/>
            <a:ext cx="1473708" cy="300227"/>
          </a:xfrm>
          <a:prstGeom prst="rect">
            <a:avLst/>
          </a:prstGeom>
          <a:blipFill>
            <a:blip r:embed="rId80" cstate="print"/>
            <a:stretch>
              <a:fillRect/>
            </a:stretch>
          </a:blipFill>
        </p:spPr>
        <p:txBody>
          <a:bodyPr wrap="square" lIns="0" tIns="0" rIns="0" bIns="0" rtlCol="0"/>
          <a:lstStyle/>
          <a:p/>
        </p:txBody>
      </p:sp>
      <p:sp>
        <p:nvSpPr>
          <p:cNvPr id="82" name="object 82"/>
          <p:cNvSpPr/>
          <p:nvPr/>
        </p:nvSpPr>
        <p:spPr>
          <a:xfrm>
            <a:off x="4616196" y="457200"/>
            <a:ext cx="1290827" cy="365760"/>
          </a:xfrm>
          <a:prstGeom prst="rect">
            <a:avLst/>
          </a:prstGeom>
          <a:blipFill>
            <a:blip r:embed="rId81" cstate="print"/>
            <a:stretch>
              <a:fillRect/>
            </a:stretch>
          </a:blipFill>
        </p:spPr>
        <p:txBody>
          <a:bodyPr wrap="square" lIns="0" tIns="0" rIns="0" bIns="0" rtlCol="0"/>
          <a:lstStyle/>
          <a:p/>
        </p:txBody>
      </p:sp>
      <p:sp>
        <p:nvSpPr>
          <p:cNvPr id="83" name="object 83"/>
          <p:cNvSpPr/>
          <p:nvPr/>
        </p:nvSpPr>
        <p:spPr>
          <a:xfrm>
            <a:off x="9336023" y="495300"/>
            <a:ext cx="1353312" cy="451103"/>
          </a:xfrm>
          <a:prstGeom prst="rect">
            <a:avLst/>
          </a:prstGeom>
          <a:blipFill>
            <a:blip r:embed="rId82" cstate="print"/>
            <a:stretch>
              <a:fillRect/>
            </a:stretch>
          </a:blipFill>
        </p:spPr>
        <p:txBody>
          <a:bodyPr wrap="square" lIns="0" tIns="0" rIns="0" bIns="0" rtlCol="0"/>
          <a:lstStyle/>
          <a:p/>
        </p:txBody>
      </p:sp>
      <p:sp>
        <p:nvSpPr>
          <p:cNvPr id="84" name="object 84"/>
          <p:cNvSpPr/>
          <p:nvPr/>
        </p:nvSpPr>
        <p:spPr>
          <a:xfrm>
            <a:off x="510540" y="2869692"/>
            <a:ext cx="1225296" cy="335279"/>
          </a:xfrm>
          <a:prstGeom prst="rect">
            <a:avLst/>
          </a:prstGeom>
          <a:blipFill>
            <a:blip r:embed="rId83" cstate="print"/>
            <a:stretch>
              <a:fillRect/>
            </a:stretch>
          </a:blipFill>
        </p:spPr>
        <p:txBody>
          <a:bodyPr wrap="square" lIns="0" tIns="0" rIns="0" bIns="0" rtlCol="0"/>
          <a:lstStyle/>
          <a:p/>
        </p:txBody>
      </p:sp>
      <p:sp>
        <p:nvSpPr>
          <p:cNvPr id="85" name="object 85"/>
          <p:cNvSpPr/>
          <p:nvPr/>
        </p:nvSpPr>
        <p:spPr>
          <a:xfrm>
            <a:off x="8412480" y="3191255"/>
            <a:ext cx="1688592" cy="371856"/>
          </a:xfrm>
          <a:prstGeom prst="rect">
            <a:avLst/>
          </a:prstGeom>
          <a:blipFill>
            <a:blip r:embed="rId84" cstate="print"/>
            <a:stretch>
              <a:fillRect/>
            </a:stretch>
          </a:blipFill>
        </p:spPr>
        <p:txBody>
          <a:bodyPr wrap="square" lIns="0" tIns="0" rIns="0" bIns="0" rtlCol="0"/>
          <a:lstStyle/>
          <a:p/>
        </p:txBody>
      </p:sp>
      <p:sp>
        <p:nvSpPr>
          <p:cNvPr id="86" name="object 86"/>
          <p:cNvSpPr/>
          <p:nvPr/>
        </p:nvSpPr>
        <p:spPr>
          <a:xfrm>
            <a:off x="8874252" y="3532632"/>
            <a:ext cx="1226820" cy="490727"/>
          </a:xfrm>
          <a:prstGeom prst="rect">
            <a:avLst/>
          </a:prstGeom>
          <a:blipFill>
            <a:blip r:embed="rId85" cstate="print"/>
            <a:stretch>
              <a:fillRect/>
            </a:stretch>
          </a:blipFill>
        </p:spPr>
        <p:txBody>
          <a:bodyPr wrap="square" lIns="0" tIns="0" rIns="0" bIns="0" rtlCol="0"/>
          <a:lstStyle/>
          <a:p/>
        </p:txBody>
      </p:sp>
      <p:sp>
        <p:nvSpPr>
          <p:cNvPr id="87" name="object 87"/>
          <p:cNvSpPr/>
          <p:nvPr/>
        </p:nvSpPr>
        <p:spPr>
          <a:xfrm>
            <a:off x="969263" y="45719"/>
            <a:ext cx="1127760" cy="451103"/>
          </a:xfrm>
          <a:prstGeom prst="rect">
            <a:avLst/>
          </a:prstGeom>
          <a:blipFill>
            <a:blip r:embed="rId86" cstate="print"/>
            <a:stretch>
              <a:fillRect/>
            </a:stretch>
          </a:blipFill>
        </p:spPr>
        <p:txBody>
          <a:bodyPr wrap="square" lIns="0" tIns="0" rIns="0" bIns="0" rtlCol="0"/>
          <a:lstStyle/>
          <a:p/>
        </p:txBody>
      </p:sp>
      <p:sp>
        <p:nvSpPr>
          <p:cNvPr id="88" name="object 88"/>
          <p:cNvSpPr/>
          <p:nvPr/>
        </p:nvSpPr>
        <p:spPr>
          <a:xfrm>
            <a:off x="9762743" y="2433827"/>
            <a:ext cx="1351788" cy="906780"/>
          </a:xfrm>
          <a:prstGeom prst="rect">
            <a:avLst/>
          </a:prstGeom>
          <a:blipFill>
            <a:blip r:embed="rId87" cstate="print"/>
            <a:stretch>
              <a:fillRect/>
            </a:stretch>
          </a:blipFill>
        </p:spPr>
        <p:txBody>
          <a:bodyPr wrap="square" lIns="0" tIns="0" rIns="0" bIns="0" rtlCol="0"/>
          <a:lstStyle/>
          <a:p/>
        </p:txBody>
      </p:sp>
      <p:sp>
        <p:nvSpPr>
          <p:cNvPr id="89" name="object 89"/>
          <p:cNvSpPr/>
          <p:nvPr/>
        </p:nvSpPr>
        <p:spPr>
          <a:xfrm>
            <a:off x="7345680" y="554736"/>
            <a:ext cx="1897379" cy="393191"/>
          </a:xfrm>
          <a:prstGeom prst="rect">
            <a:avLst/>
          </a:prstGeom>
          <a:blipFill>
            <a:blip r:embed="rId88" cstate="print"/>
            <a:stretch>
              <a:fillRect/>
            </a:stretch>
          </a:blipFill>
        </p:spPr>
        <p:txBody>
          <a:bodyPr wrap="square" lIns="0" tIns="0" rIns="0" bIns="0" rtlCol="0"/>
          <a:lstStyle/>
          <a:p/>
        </p:txBody>
      </p:sp>
      <p:sp>
        <p:nvSpPr>
          <p:cNvPr id="90" name="object 90"/>
          <p:cNvSpPr/>
          <p:nvPr/>
        </p:nvSpPr>
        <p:spPr>
          <a:xfrm>
            <a:off x="5907023" y="6175247"/>
            <a:ext cx="1810512" cy="507492"/>
          </a:xfrm>
          <a:prstGeom prst="rect">
            <a:avLst/>
          </a:prstGeom>
          <a:blipFill>
            <a:blip r:embed="rId89" cstate="print"/>
            <a:stretch>
              <a:fillRect/>
            </a:stretch>
          </a:blipFill>
        </p:spPr>
        <p:txBody>
          <a:bodyPr wrap="square" lIns="0" tIns="0" rIns="0" bIns="0" rtlCol="0"/>
          <a:lstStyle/>
          <a:p/>
        </p:txBody>
      </p:sp>
      <p:sp>
        <p:nvSpPr>
          <p:cNvPr id="91" name="object 91"/>
          <p:cNvSpPr/>
          <p:nvPr/>
        </p:nvSpPr>
        <p:spPr>
          <a:xfrm>
            <a:off x="4668011" y="5501640"/>
            <a:ext cx="638556" cy="475488"/>
          </a:xfrm>
          <a:prstGeom prst="rect">
            <a:avLst/>
          </a:prstGeom>
          <a:blipFill>
            <a:blip r:embed="rId90" cstate="print"/>
            <a:stretch>
              <a:fillRect/>
            </a:stretch>
          </a:blipFill>
        </p:spPr>
        <p:txBody>
          <a:bodyPr wrap="square" lIns="0" tIns="0" rIns="0" bIns="0" rtlCol="0"/>
          <a:lstStyle/>
          <a:p/>
        </p:txBody>
      </p:sp>
      <p:sp>
        <p:nvSpPr>
          <p:cNvPr id="92" name="object 92"/>
          <p:cNvSpPr/>
          <p:nvPr/>
        </p:nvSpPr>
        <p:spPr>
          <a:xfrm>
            <a:off x="7562088" y="3360420"/>
            <a:ext cx="1149096" cy="460248"/>
          </a:xfrm>
          <a:prstGeom prst="rect">
            <a:avLst/>
          </a:prstGeom>
          <a:blipFill>
            <a:blip r:embed="rId91" cstate="print"/>
            <a:stretch>
              <a:fillRect/>
            </a:stretch>
          </a:blipFill>
        </p:spPr>
        <p:txBody>
          <a:bodyPr wrap="square" lIns="0" tIns="0" rIns="0" bIns="0" rtlCol="0"/>
          <a:lstStyle/>
          <a:p/>
        </p:txBody>
      </p:sp>
      <p:sp>
        <p:nvSpPr>
          <p:cNvPr id="93" name="object 93"/>
          <p:cNvSpPr/>
          <p:nvPr/>
        </p:nvSpPr>
        <p:spPr>
          <a:xfrm>
            <a:off x="7351776" y="5295900"/>
            <a:ext cx="751331" cy="609600"/>
          </a:xfrm>
          <a:prstGeom prst="rect">
            <a:avLst/>
          </a:prstGeom>
          <a:blipFill>
            <a:blip r:embed="rId92" cstate="print"/>
            <a:stretch>
              <a:fillRect/>
            </a:stretch>
          </a:blipFill>
        </p:spPr>
        <p:txBody>
          <a:bodyPr wrap="square" lIns="0" tIns="0" rIns="0" bIns="0" rtlCol="0"/>
          <a:lstStyle/>
          <a:p/>
        </p:txBody>
      </p:sp>
      <p:sp>
        <p:nvSpPr>
          <p:cNvPr id="94" name="object 94"/>
          <p:cNvSpPr/>
          <p:nvPr/>
        </p:nvSpPr>
        <p:spPr>
          <a:xfrm>
            <a:off x="1220724" y="6103620"/>
            <a:ext cx="838200" cy="595884"/>
          </a:xfrm>
          <a:prstGeom prst="rect">
            <a:avLst/>
          </a:prstGeom>
          <a:blipFill>
            <a:blip r:embed="rId93" cstate="print"/>
            <a:stretch>
              <a:fillRect/>
            </a:stretch>
          </a:blipFill>
        </p:spPr>
        <p:txBody>
          <a:bodyPr wrap="square" lIns="0" tIns="0" rIns="0" bIns="0" rtlCol="0"/>
          <a:lstStyle/>
          <a:p/>
        </p:txBody>
      </p:sp>
      <p:sp>
        <p:nvSpPr>
          <p:cNvPr id="95" name="object 95"/>
          <p:cNvSpPr/>
          <p:nvPr/>
        </p:nvSpPr>
        <p:spPr>
          <a:xfrm>
            <a:off x="1898904" y="6073140"/>
            <a:ext cx="2130551" cy="504444"/>
          </a:xfrm>
          <a:prstGeom prst="rect">
            <a:avLst/>
          </a:prstGeom>
          <a:blipFill>
            <a:blip r:embed="rId94" cstate="print"/>
            <a:stretch>
              <a:fillRect/>
            </a:stretch>
          </a:blipFill>
        </p:spPr>
        <p:txBody>
          <a:bodyPr wrap="square" lIns="0" tIns="0" rIns="0" bIns="0" rtlCol="0"/>
          <a:lstStyle/>
          <a:p/>
        </p:txBody>
      </p:sp>
      <p:sp>
        <p:nvSpPr>
          <p:cNvPr id="96" name="object 96"/>
          <p:cNvSpPr/>
          <p:nvPr/>
        </p:nvSpPr>
        <p:spPr>
          <a:xfrm>
            <a:off x="1635251" y="2971800"/>
            <a:ext cx="1306068" cy="522732"/>
          </a:xfrm>
          <a:prstGeom prst="rect">
            <a:avLst/>
          </a:prstGeom>
          <a:blipFill>
            <a:blip r:embed="rId95" cstate="print"/>
            <a:stretch>
              <a:fillRect/>
            </a:stretch>
          </a:blipFill>
        </p:spPr>
        <p:txBody>
          <a:bodyPr wrap="square" lIns="0" tIns="0" rIns="0" bIns="0" rtlCol="0"/>
          <a:lstStyle/>
          <a:p/>
        </p:txBody>
      </p:sp>
      <p:sp>
        <p:nvSpPr>
          <p:cNvPr id="97" name="object 97"/>
          <p:cNvSpPr/>
          <p:nvPr/>
        </p:nvSpPr>
        <p:spPr>
          <a:xfrm>
            <a:off x="10363200" y="3272028"/>
            <a:ext cx="1594103" cy="637032"/>
          </a:xfrm>
          <a:prstGeom prst="rect">
            <a:avLst/>
          </a:prstGeom>
          <a:blipFill>
            <a:blip r:embed="rId96" cstate="print"/>
            <a:stretch>
              <a:fillRect/>
            </a:stretch>
          </a:blipFill>
        </p:spPr>
        <p:txBody>
          <a:bodyPr wrap="square" lIns="0" tIns="0" rIns="0" bIns="0" rtlCol="0"/>
          <a:lstStyle/>
          <a:p/>
        </p:txBody>
      </p:sp>
      <p:sp>
        <p:nvSpPr>
          <p:cNvPr id="98" name="object 98"/>
          <p:cNvSpPr/>
          <p:nvPr/>
        </p:nvSpPr>
        <p:spPr>
          <a:xfrm>
            <a:off x="9198864" y="4000500"/>
            <a:ext cx="2004060" cy="381000"/>
          </a:xfrm>
          <a:prstGeom prst="rect">
            <a:avLst/>
          </a:prstGeom>
          <a:blipFill>
            <a:blip r:embed="rId97" cstate="print"/>
            <a:stretch>
              <a:fillRect/>
            </a:stretch>
          </a:blipFill>
        </p:spPr>
        <p:txBody>
          <a:bodyPr wrap="square" lIns="0" tIns="0" rIns="0" bIns="0" rtlCol="0"/>
          <a:lstStyle/>
          <a:p/>
        </p:txBody>
      </p:sp>
      <p:sp>
        <p:nvSpPr>
          <p:cNvPr id="99" name="object 99"/>
          <p:cNvSpPr/>
          <p:nvPr/>
        </p:nvSpPr>
        <p:spPr>
          <a:xfrm>
            <a:off x="8414004" y="5414771"/>
            <a:ext cx="1348740" cy="414528"/>
          </a:xfrm>
          <a:prstGeom prst="rect">
            <a:avLst/>
          </a:prstGeom>
          <a:blipFill>
            <a:blip r:embed="rId98" cstate="print"/>
            <a:stretch>
              <a:fillRect/>
            </a:stretch>
          </a:blipFill>
        </p:spPr>
        <p:txBody>
          <a:bodyPr wrap="square" lIns="0" tIns="0" rIns="0" bIns="0" rtlCol="0"/>
          <a:lstStyle/>
          <a:p/>
        </p:txBody>
      </p:sp>
      <p:sp>
        <p:nvSpPr>
          <p:cNvPr id="100" name="object 100"/>
          <p:cNvSpPr/>
          <p:nvPr/>
        </p:nvSpPr>
        <p:spPr>
          <a:xfrm>
            <a:off x="3212592" y="344424"/>
            <a:ext cx="702564" cy="591312"/>
          </a:xfrm>
          <a:prstGeom prst="rect">
            <a:avLst/>
          </a:prstGeom>
          <a:blipFill>
            <a:blip r:embed="rId99" cstate="print"/>
            <a:stretch>
              <a:fillRect/>
            </a:stretch>
          </a:blipFill>
        </p:spPr>
        <p:txBody>
          <a:bodyPr wrap="square" lIns="0" tIns="0" rIns="0" bIns="0" rtlCol="0"/>
          <a:lstStyle/>
          <a:p/>
        </p:txBody>
      </p:sp>
      <p:sp>
        <p:nvSpPr>
          <p:cNvPr id="101" name="object 101"/>
          <p:cNvSpPr/>
          <p:nvPr/>
        </p:nvSpPr>
        <p:spPr>
          <a:xfrm>
            <a:off x="7915656" y="0"/>
            <a:ext cx="1501140" cy="496824"/>
          </a:xfrm>
          <a:prstGeom prst="rect">
            <a:avLst/>
          </a:prstGeom>
          <a:blipFill>
            <a:blip r:embed="rId100" cstate="print"/>
            <a:stretch>
              <a:fillRect/>
            </a:stretch>
          </a:blipFill>
        </p:spPr>
        <p:txBody>
          <a:bodyPr wrap="square" lIns="0" tIns="0" rIns="0" bIns="0" rtlCol="0"/>
          <a:lstStyle/>
          <a:p/>
        </p:txBody>
      </p:sp>
      <p:sp>
        <p:nvSpPr>
          <p:cNvPr id="102" name="object 102"/>
          <p:cNvSpPr/>
          <p:nvPr/>
        </p:nvSpPr>
        <p:spPr>
          <a:xfrm>
            <a:off x="178307" y="1599873"/>
            <a:ext cx="1586484" cy="550490"/>
          </a:xfrm>
          <a:prstGeom prst="rect">
            <a:avLst/>
          </a:prstGeom>
          <a:blipFill>
            <a:blip r:embed="rId101" cstate="print"/>
            <a:stretch>
              <a:fillRect/>
            </a:stretch>
          </a:blipFill>
        </p:spPr>
        <p:txBody>
          <a:bodyPr wrap="square" lIns="0" tIns="0" rIns="0" bIns="0" rtlCol="0"/>
          <a:lstStyle/>
          <a:p/>
        </p:txBody>
      </p:sp>
      <p:sp>
        <p:nvSpPr>
          <p:cNvPr id="103" name="object 103"/>
          <p:cNvSpPr/>
          <p:nvPr/>
        </p:nvSpPr>
        <p:spPr>
          <a:xfrm>
            <a:off x="291084" y="2266188"/>
            <a:ext cx="1365504" cy="400812"/>
          </a:xfrm>
          <a:prstGeom prst="rect">
            <a:avLst/>
          </a:prstGeom>
          <a:blipFill>
            <a:blip r:embed="rId102" cstate="print"/>
            <a:stretch>
              <a:fillRect/>
            </a:stretch>
          </a:blipFill>
        </p:spPr>
        <p:txBody>
          <a:bodyPr wrap="square" lIns="0" tIns="0" rIns="0" bIns="0" rtlCol="0"/>
          <a:lstStyle/>
          <a:p/>
        </p:txBody>
      </p:sp>
      <p:sp>
        <p:nvSpPr>
          <p:cNvPr id="104" name="object 104"/>
          <p:cNvSpPr/>
          <p:nvPr/>
        </p:nvSpPr>
        <p:spPr>
          <a:xfrm>
            <a:off x="8816340" y="2654807"/>
            <a:ext cx="1161288" cy="464820"/>
          </a:xfrm>
          <a:prstGeom prst="rect">
            <a:avLst/>
          </a:prstGeom>
          <a:blipFill>
            <a:blip r:embed="rId103" cstate="print"/>
            <a:stretch>
              <a:fillRect/>
            </a:stretch>
          </a:blipFill>
        </p:spPr>
        <p:txBody>
          <a:bodyPr wrap="square" lIns="0" tIns="0" rIns="0" bIns="0" rtlCol="0"/>
          <a:lstStyle/>
          <a:p/>
        </p:txBody>
      </p:sp>
      <p:sp>
        <p:nvSpPr>
          <p:cNvPr id="105" name="object 105"/>
          <p:cNvSpPr/>
          <p:nvPr/>
        </p:nvSpPr>
        <p:spPr>
          <a:xfrm>
            <a:off x="10187940" y="1965960"/>
            <a:ext cx="1708403" cy="501396"/>
          </a:xfrm>
          <a:prstGeom prst="rect">
            <a:avLst/>
          </a:prstGeom>
          <a:blipFill>
            <a:blip r:embed="rId104" cstate="print"/>
            <a:stretch>
              <a:fillRect/>
            </a:stretch>
          </a:blipFill>
        </p:spPr>
        <p:txBody>
          <a:bodyPr wrap="square" lIns="0" tIns="0" rIns="0" bIns="0" rtlCol="0"/>
          <a:lstStyle/>
          <a:p/>
        </p:txBody>
      </p:sp>
      <p:sp>
        <p:nvSpPr>
          <p:cNvPr id="106" name="object 106"/>
          <p:cNvSpPr/>
          <p:nvPr/>
        </p:nvSpPr>
        <p:spPr>
          <a:xfrm>
            <a:off x="356615" y="1071372"/>
            <a:ext cx="1459992" cy="486155"/>
          </a:xfrm>
          <a:prstGeom prst="rect">
            <a:avLst/>
          </a:prstGeom>
          <a:blipFill>
            <a:blip r:embed="rId105" cstate="print"/>
            <a:stretch>
              <a:fillRect/>
            </a:stretch>
          </a:blipFill>
        </p:spPr>
        <p:txBody>
          <a:bodyPr wrap="square" lIns="0" tIns="0" rIns="0" bIns="0" rtlCol="0"/>
          <a:lstStyle/>
          <a:p/>
        </p:txBody>
      </p:sp>
      <p:sp>
        <p:nvSpPr>
          <p:cNvPr id="107" name="object 107"/>
          <p:cNvSpPr/>
          <p:nvPr/>
        </p:nvSpPr>
        <p:spPr>
          <a:xfrm>
            <a:off x="10550652" y="4704588"/>
            <a:ext cx="1171955" cy="469392"/>
          </a:xfrm>
          <a:prstGeom prst="rect">
            <a:avLst/>
          </a:prstGeom>
          <a:blipFill>
            <a:blip r:embed="rId106" cstate="print"/>
            <a:stretch>
              <a:fillRect/>
            </a:stretch>
          </a:blipFill>
        </p:spPr>
        <p:txBody>
          <a:bodyPr wrap="square" lIns="0" tIns="0" rIns="0" bIns="0" rtlCol="0"/>
          <a:lstStyle/>
          <a:p/>
        </p:txBody>
      </p:sp>
      <p:sp>
        <p:nvSpPr>
          <p:cNvPr id="108" name="object 108"/>
          <p:cNvSpPr/>
          <p:nvPr/>
        </p:nvSpPr>
        <p:spPr>
          <a:xfrm>
            <a:off x="2252472" y="5007864"/>
            <a:ext cx="684276" cy="342900"/>
          </a:xfrm>
          <a:prstGeom prst="rect">
            <a:avLst/>
          </a:prstGeom>
          <a:blipFill>
            <a:blip r:embed="rId107" cstate="print"/>
            <a:stretch>
              <a:fillRect/>
            </a:stretch>
          </a:blipFill>
        </p:spPr>
        <p:txBody>
          <a:bodyPr wrap="square" lIns="0" tIns="0" rIns="0" bIns="0" rtlCol="0"/>
          <a:lstStyle/>
          <a:p/>
        </p:txBody>
      </p:sp>
      <p:sp>
        <p:nvSpPr>
          <p:cNvPr id="109" name="object 109"/>
          <p:cNvSpPr/>
          <p:nvPr/>
        </p:nvSpPr>
        <p:spPr>
          <a:xfrm>
            <a:off x="10287000" y="4206240"/>
            <a:ext cx="1560576" cy="624839"/>
          </a:xfrm>
          <a:prstGeom prst="rect">
            <a:avLst/>
          </a:prstGeom>
          <a:blipFill>
            <a:blip r:embed="rId108" cstate="print"/>
            <a:stretch>
              <a:fillRect/>
            </a:stretch>
          </a:blipFill>
        </p:spPr>
        <p:txBody>
          <a:bodyPr wrap="square" lIns="0" tIns="0" rIns="0" bIns="0" rtlCol="0"/>
          <a:lstStyle/>
          <a:p/>
        </p:txBody>
      </p:sp>
      <p:sp>
        <p:nvSpPr>
          <p:cNvPr id="110" name="object 110"/>
          <p:cNvSpPr/>
          <p:nvPr/>
        </p:nvSpPr>
        <p:spPr>
          <a:xfrm>
            <a:off x="9476231" y="4352544"/>
            <a:ext cx="1638300" cy="655319"/>
          </a:xfrm>
          <a:prstGeom prst="rect">
            <a:avLst/>
          </a:prstGeom>
          <a:blipFill>
            <a:blip r:embed="rId109" cstate="print"/>
            <a:stretch>
              <a:fillRect/>
            </a:stretch>
          </a:blipFill>
        </p:spPr>
        <p:txBody>
          <a:bodyPr wrap="square" lIns="0" tIns="0" rIns="0" bIns="0" rtlCol="0"/>
          <a:lstStyle/>
          <a:p/>
        </p:txBody>
      </p:sp>
      <p:sp>
        <p:nvSpPr>
          <p:cNvPr id="111" name="object 111"/>
          <p:cNvSpPr/>
          <p:nvPr/>
        </p:nvSpPr>
        <p:spPr>
          <a:xfrm>
            <a:off x="8345423" y="4858511"/>
            <a:ext cx="1415796" cy="566927"/>
          </a:xfrm>
          <a:prstGeom prst="rect">
            <a:avLst/>
          </a:prstGeom>
          <a:blipFill>
            <a:blip r:embed="rId110" cstate="print"/>
            <a:stretch>
              <a:fillRect/>
            </a:stretch>
          </a:blipFill>
        </p:spPr>
        <p:txBody>
          <a:bodyPr wrap="square" lIns="0" tIns="0" rIns="0" bIns="0" rtlCol="0"/>
          <a:lstStyle/>
          <a:p/>
        </p:txBody>
      </p:sp>
      <p:sp>
        <p:nvSpPr>
          <p:cNvPr id="112" name="object 112"/>
          <p:cNvSpPr/>
          <p:nvPr/>
        </p:nvSpPr>
        <p:spPr>
          <a:xfrm>
            <a:off x="691895" y="4219955"/>
            <a:ext cx="941832" cy="484631"/>
          </a:xfrm>
          <a:prstGeom prst="rect">
            <a:avLst/>
          </a:prstGeom>
          <a:blipFill>
            <a:blip r:embed="rId111" cstate="print"/>
            <a:stretch>
              <a:fillRect/>
            </a:stretch>
          </a:blipFill>
        </p:spPr>
        <p:txBody>
          <a:bodyPr wrap="square" lIns="0" tIns="0" rIns="0" bIns="0" rtlCol="0"/>
          <a:lstStyle/>
          <a:p/>
        </p:txBody>
      </p:sp>
      <p:sp>
        <p:nvSpPr>
          <p:cNvPr id="113" name="object 113"/>
          <p:cNvSpPr/>
          <p:nvPr/>
        </p:nvSpPr>
        <p:spPr>
          <a:xfrm>
            <a:off x="432816" y="5050535"/>
            <a:ext cx="1225296" cy="690372"/>
          </a:xfrm>
          <a:prstGeom prst="rect">
            <a:avLst/>
          </a:prstGeom>
          <a:blipFill>
            <a:blip r:embed="rId112" cstate="print"/>
            <a:stretch>
              <a:fillRect/>
            </a:stretch>
          </a:blipFill>
        </p:spPr>
        <p:txBody>
          <a:bodyPr wrap="square" lIns="0" tIns="0" rIns="0" bIns="0" rtlCol="0"/>
          <a:lstStyle/>
          <a:p/>
        </p:txBody>
      </p:sp>
      <p:sp>
        <p:nvSpPr>
          <p:cNvPr id="114" name="object 114"/>
          <p:cNvSpPr/>
          <p:nvPr/>
        </p:nvSpPr>
        <p:spPr>
          <a:xfrm>
            <a:off x="2699004" y="5620511"/>
            <a:ext cx="1213104" cy="377952"/>
          </a:xfrm>
          <a:prstGeom prst="rect">
            <a:avLst/>
          </a:prstGeom>
          <a:blipFill>
            <a:blip r:embed="rId113" cstate="print"/>
            <a:stretch>
              <a:fillRect/>
            </a:stretch>
          </a:blipFill>
        </p:spPr>
        <p:txBody>
          <a:bodyPr wrap="square" lIns="0" tIns="0" rIns="0" bIns="0" rtlCol="0"/>
          <a:lstStyle/>
          <a:p/>
        </p:txBody>
      </p:sp>
      <p:sp>
        <p:nvSpPr>
          <p:cNvPr id="115" name="object 115"/>
          <p:cNvSpPr/>
          <p:nvPr/>
        </p:nvSpPr>
        <p:spPr>
          <a:xfrm>
            <a:off x="3566159" y="6158484"/>
            <a:ext cx="2148840" cy="473964"/>
          </a:xfrm>
          <a:prstGeom prst="rect">
            <a:avLst/>
          </a:prstGeom>
          <a:blipFill>
            <a:blip r:embed="rId114" cstate="print"/>
            <a:stretch>
              <a:fillRect/>
            </a:stretch>
          </a:blipFill>
        </p:spPr>
        <p:txBody>
          <a:bodyPr wrap="square" lIns="0" tIns="0" rIns="0" bIns="0" rtlCol="0"/>
          <a:lstStyle/>
          <a:p/>
        </p:txBody>
      </p:sp>
      <p:sp>
        <p:nvSpPr>
          <p:cNvPr id="116" name="object 116"/>
          <p:cNvSpPr/>
          <p:nvPr/>
        </p:nvSpPr>
        <p:spPr>
          <a:xfrm>
            <a:off x="10187940" y="5361127"/>
            <a:ext cx="1032099" cy="265785"/>
          </a:xfrm>
          <a:prstGeom prst="rect">
            <a:avLst/>
          </a:prstGeom>
          <a:blipFill>
            <a:blip r:embed="rId115" cstate="print"/>
            <a:stretch>
              <a:fillRect/>
            </a:stretch>
          </a:blipFill>
        </p:spPr>
        <p:txBody>
          <a:bodyPr wrap="square" lIns="0" tIns="0" rIns="0" bIns="0" rtlCol="0"/>
          <a:lstStyle/>
          <a:p/>
        </p:txBody>
      </p:sp>
      <p:sp>
        <p:nvSpPr>
          <p:cNvPr id="117" name="object 117"/>
          <p:cNvSpPr/>
          <p:nvPr/>
        </p:nvSpPr>
        <p:spPr>
          <a:xfrm>
            <a:off x="6370320" y="5660135"/>
            <a:ext cx="981455" cy="297180"/>
          </a:xfrm>
          <a:prstGeom prst="rect">
            <a:avLst/>
          </a:prstGeom>
          <a:blipFill>
            <a:blip r:embed="rId116" cstate="print"/>
            <a:stretch>
              <a:fillRect/>
            </a:stretch>
          </a:blipFill>
        </p:spPr>
        <p:txBody>
          <a:bodyPr wrap="square" lIns="0" tIns="0" rIns="0" bIns="0" rtlCol="0"/>
          <a:lstStyle/>
          <a:p/>
        </p:txBody>
      </p:sp>
      <p:sp>
        <p:nvSpPr>
          <p:cNvPr id="118" name="object 118"/>
          <p:cNvSpPr/>
          <p:nvPr/>
        </p:nvSpPr>
        <p:spPr>
          <a:xfrm>
            <a:off x="8197595" y="5829300"/>
            <a:ext cx="2400300" cy="423672"/>
          </a:xfrm>
          <a:prstGeom prst="rect">
            <a:avLst/>
          </a:prstGeom>
          <a:blipFill>
            <a:blip r:embed="rId117" cstate="print"/>
            <a:stretch>
              <a:fillRect/>
            </a:stretch>
          </a:blipFill>
        </p:spPr>
        <p:txBody>
          <a:bodyPr wrap="square" lIns="0" tIns="0" rIns="0" bIns="0" rtlCol="0"/>
          <a:lstStyle/>
          <a:p/>
        </p:txBody>
      </p:sp>
      <p:sp>
        <p:nvSpPr>
          <p:cNvPr id="119" name="object 119"/>
          <p:cNvSpPr/>
          <p:nvPr/>
        </p:nvSpPr>
        <p:spPr>
          <a:xfrm>
            <a:off x="10596371" y="5711952"/>
            <a:ext cx="1424940" cy="446531"/>
          </a:xfrm>
          <a:prstGeom prst="rect">
            <a:avLst/>
          </a:prstGeom>
          <a:blipFill>
            <a:blip r:embed="rId118" cstate="print"/>
            <a:stretch>
              <a:fillRect/>
            </a:stretch>
          </a:blipFill>
        </p:spPr>
        <p:txBody>
          <a:bodyPr wrap="square" lIns="0" tIns="0" rIns="0" bIns="0" rtlCol="0"/>
          <a:lstStyle/>
          <a:p/>
        </p:txBody>
      </p:sp>
      <p:sp>
        <p:nvSpPr>
          <p:cNvPr id="120" name="object 120"/>
          <p:cNvSpPr/>
          <p:nvPr/>
        </p:nvSpPr>
        <p:spPr>
          <a:xfrm>
            <a:off x="6670547" y="6449567"/>
            <a:ext cx="1046988" cy="408431"/>
          </a:xfrm>
          <a:prstGeom prst="rect">
            <a:avLst/>
          </a:prstGeom>
          <a:blipFill>
            <a:blip r:embed="rId119" cstate="print"/>
            <a:stretch>
              <a:fillRect/>
            </a:stretch>
          </a:blipFill>
        </p:spPr>
        <p:txBody>
          <a:bodyPr wrap="square" lIns="0" tIns="0" rIns="0" bIns="0" rtlCol="0"/>
          <a:lstStyle/>
          <a:p/>
        </p:txBody>
      </p:sp>
      <p:sp>
        <p:nvSpPr>
          <p:cNvPr id="121" name="object 121"/>
          <p:cNvSpPr/>
          <p:nvPr/>
        </p:nvSpPr>
        <p:spPr>
          <a:xfrm>
            <a:off x="9433559" y="1613916"/>
            <a:ext cx="1197863" cy="480060"/>
          </a:xfrm>
          <a:prstGeom prst="rect">
            <a:avLst/>
          </a:prstGeom>
          <a:blipFill>
            <a:blip r:embed="rId120" cstate="print"/>
            <a:stretch>
              <a:fillRect/>
            </a:stretch>
          </a:blipFill>
        </p:spPr>
        <p:txBody>
          <a:bodyPr wrap="square" lIns="0" tIns="0" rIns="0" bIns="0" rtlCol="0"/>
          <a:lstStyle/>
          <a:p/>
        </p:txBody>
      </p:sp>
      <p:sp>
        <p:nvSpPr>
          <p:cNvPr id="122" name="object 122"/>
          <p:cNvSpPr/>
          <p:nvPr/>
        </p:nvSpPr>
        <p:spPr>
          <a:xfrm>
            <a:off x="1144524" y="1453896"/>
            <a:ext cx="810768" cy="324612"/>
          </a:xfrm>
          <a:prstGeom prst="rect">
            <a:avLst/>
          </a:prstGeom>
          <a:blipFill>
            <a:blip r:embed="rId121" cstate="print"/>
            <a:stretch>
              <a:fillRect/>
            </a:stretch>
          </a:blipFill>
        </p:spPr>
        <p:txBody>
          <a:bodyPr wrap="square" lIns="0" tIns="0" rIns="0" bIns="0" rtlCol="0"/>
          <a:lstStyle/>
          <a:p/>
        </p:txBody>
      </p:sp>
      <p:sp>
        <p:nvSpPr>
          <p:cNvPr id="123" name="object 123"/>
          <p:cNvSpPr/>
          <p:nvPr/>
        </p:nvSpPr>
        <p:spPr>
          <a:xfrm>
            <a:off x="5594603" y="2362200"/>
            <a:ext cx="914400" cy="374903"/>
          </a:xfrm>
          <a:prstGeom prst="rect">
            <a:avLst/>
          </a:prstGeom>
          <a:blipFill>
            <a:blip r:embed="rId122" cstate="print"/>
            <a:stretch>
              <a:fillRect/>
            </a:stretch>
          </a:blipFill>
        </p:spPr>
        <p:txBody>
          <a:bodyPr wrap="square" lIns="0" tIns="0" rIns="0" bIns="0" rtlCol="0"/>
          <a:lstStyle/>
          <a:p/>
        </p:txBody>
      </p:sp>
      <p:sp>
        <p:nvSpPr>
          <p:cNvPr id="124" name="object 124"/>
          <p:cNvSpPr/>
          <p:nvPr/>
        </p:nvSpPr>
        <p:spPr>
          <a:xfrm>
            <a:off x="4309871" y="3154679"/>
            <a:ext cx="1831848" cy="733044"/>
          </a:xfrm>
          <a:prstGeom prst="rect">
            <a:avLst/>
          </a:prstGeom>
          <a:blipFill>
            <a:blip r:embed="rId123" cstate="print"/>
            <a:stretch>
              <a:fillRect/>
            </a:stretch>
          </a:blipFill>
        </p:spPr>
        <p:txBody>
          <a:bodyPr wrap="square" lIns="0" tIns="0" rIns="0" bIns="0" rtlCol="0"/>
          <a:lstStyle/>
          <a:p/>
        </p:txBody>
      </p:sp>
      <p:sp>
        <p:nvSpPr>
          <p:cNvPr id="125" name="object 125"/>
          <p:cNvSpPr/>
          <p:nvPr/>
        </p:nvSpPr>
        <p:spPr>
          <a:xfrm>
            <a:off x="0" y="3047"/>
            <a:ext cx="12192000" cy="6855459"/>
          </a:xfrm>
          <a:custGeom>
            <a:avLst/>
            <a:gdLst/>
            <a:ahLst/>
            <a:cxnLst/>
            <a:rect l="l" t="t" r="r" b="b"/>
            <a:pathLst>
              <a:path w="12192000" h="6855459">
                <a:moveTo>
                  <a:pt x="0" y="6854952"/>
                </a:moveTo>
                <a:lnTo>
                  <a:pt x="0" y="0"/>
                </a:lnTo>
                <a:lnTo>
                  <a:pt x="12192000" y="0"/>
                </a:lnTo>
                <a:lnTo>
                  <a:pt x="12192000" y="6854952"/>
                </a:lnTo>
                <a:lnTo>
                  <a:pt x="0" y="6854952"/>
                </a:lnTo>
                <a:close/>
              </a:path>
            </a:pathLst>
          </a:custGeom>
          <a:solidFill>
            <a:srgbClr val="FFFFFF">
              <a:alpha val="87098"/>
            </a:srgbClr>
          </a:solidFill>
        </p:spPr>
        <p:txBody>
          <a:bodyPr wrap="square" lIns="0" tIns="0" rIns="0" bIns="0" rtlCol="0"/>
          <a:lstStyle/>
          <a:p/>
        </p:txBody>
      </p:sp>
      <p:sp>
        <p:nvSpPr>
          <p:cNvPr id="126" name="object 126"/>
          <p:cNvSpPr txBox="1"/>
          <p:nvPr/>
        </p:nvSpPr>
        <p:spPr>
          <a:xfrm>
            <a:off x="1710689" y="2952114"/>
            <a:ext cx="8883650" cy="697230"/>
          </a:xfrm>
          <a:prstGeom prst="rect">
            <a:avLst/>
          </a:prstGeom>
        </p:spPr>
        <p:txBody>
          <a:bodyPr vert="horz" wrap="square" lIns="0" tIns="13335" rIns="0" bIns="0" rtlCol="0">
            <a:spAutoFit/>
          </a:bodyPr>
          <a:lstStyle/>
          <a:p>
            <a:pPr marL="12700">
              <a:lnSpc>
                <a:spcPct val="100000"/>
              </a:lnSpc>
              <a:spcBef>
                <a:spcPts val="105"/>
              </a:spcBef>
            </a:pPr>
            <a:r>
              <a:rPr sz="4400" b="1" spc="-5" dirty="0">
                <a:solidFill>
                  <a:srgbClr val="C00000"/>
                </a:solidFill>
                <a:latin typeface="微软雅黑" panose="020B0503020204020204" charset="-122"/>
                <a:cs typeface="微软雅黑" panose="020B0503020204020204" charset="-122"/>
              </a:rPr>
              <a:t>至今有接近200家企业加入基金会</a:t>
            </a:r>
            <a:r>
              <a:rPr sz="4400" b="1" spc="5" dirty="0">
                <a:solidFill>
                  <a:srgbClr val="FFFFFF"/>
                </a:solidFill>
                <a:latin typeface="微软雅黑" panose="020B0503020204020204" charset="-122"/>
                <a:cs typeface="微软雅黑" panose="020B0503020204020204" charset="-122"/>
              </a:rPr>
              <a:t>？</a:t>
            </a:r>
            <a:endParaRPr sz="4400">
              <a:latin typeface="微软雅黑" panose="020B0503020204020204" charset="-122"/>
              <a:cs typeface="微软雅黑" panose="020B0503020204020204" charset="-122"/>
            </a:endParaRPr>
          </a:p>
        </p:txBody>
      </p:sp>
      <p:sp>
        <p:nvSpPr>
          <p:cNvPr id="127" name="object 127"/>
          <p:cNvSpPr/>
          <p:nvPr/>
        </p:nvSpPr>
        <p:spPr>
          <a:xfrm>
            <a:off x="10927080" y="6309359"/>
            <a:ext cx="1143000" cy="502920"/>
          </a:xfrm>
          <a:prstGeom prst="rect">
            <a:avLst/>
          </a:prstGeom>
          <a:blipFill>
            <a:blip r:embed="rId124" cstate="print"/>
            <a:stretch>
              <a:fillRect/>
            </a:stretch>
          </a:blipFill>
        </p:spPr>
        <p:txBody>
          <a:bodyPr wrap="square" lIns="0" tIns="0" rIns="0" bIns="0" rtlCol="0"/>
          <a:lstStyle/>
          <a:p/>
        </p:txBody>
      </p:sp>
      <p:sp>
        <p:nvSpPr>
          <p:cNvPr id="128" name="object 128"/>
          <p:cNvSpPr txBox="1">
            <a:spLocks noGrp="1"/>
          </p:cNvSpPr>
          <p:nvPr>
            <p:ph type="title"/>
          </p:nvPr>
        </p:nvSpPr>
        <p:spPr>
          <a:xfrm>
            <a:off x="692150" y="415925"/>
            <a:ext cx="435102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RI</a:t>
            </a:r>
            <a:r>
              <a:rPr sz="3600" spc="-5" dirty="0">
                <a:solidFill>
                  <a:srgbClr val="C00000"/>
                </a:solidFill>
              </a:rPr>
              <a:t>S</a:t>
            </a:r>
            <a:r>
              <a:rPr sz="3600" dirty="0">
                <a:solidFill>
                  <a:srgbClr val="C00000"/>
                </a:solidFill>
              </a:rPr>
              <a:t>C</a:t>
            </a:r>
            <a:r>
              <a:rPr sz="3600" spc="-5" dirty="0">
                <a:solidFill>
                  <a:srgbClr val="C00000"/>
                </a:solidFill>
              </a:rPr>
              <a:t>-</a:t>
            </a:r>
            <a:r>
              <a:rPr sz="3600" dirty="0">
                <a:solidFill>
                  <a:srgbClr val="C00000"/>
                </a:solidFill>
              </a:rPr>
              <a:t>V阵营不断扩大</a:t>
            </a:r>
            <a:endParaRPr sz="3600"/>
          </a:p>
        </p:txBody>
      </p:sp>
      <p:sp>
        <p:nvSpPr>
          <p:cNvPr id="129" name="object 129"/>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130" name="object 130"/>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22909" cy="443230"/>
          </a:xfrm>
          <a:custGeom>
            <a:avLst/>
            <a:gdLst/>
            <a:ahLst/>
            <a:cxnLst/>
            <a:rect l="l" t="t" r="r" b="b"/>
            <a:pathLst>
              <a:path w="422909" h="443230">
                <a:moveTo>
                  <a:pt x="0" y="443114"/>
                </a:moveTo>
                <a:lnTo>
                  <a:pt x="0" y="0"/>
                </a:lnTo>
                <a:lnTo>
                  <a:pt x="422640" y="0"/>
                </a:lnTo>
                <a:lnTo>
                  <a:pt x="0" y="443114"/>
                </a:lnTo>
                <a:close/>
              </a:path>
            </a:pathLst>
          </a:custGeom>
          <a:solidFill>
            <a:srgbClr val="C00000"/>
          </a:solidFill>
        </p:spPr>
        <p:txBody>
          <a:bodyPr wrap="square" lIns="0" tIns="0" rIns="0" bIns="0" rtlCol="0"/>
          <a:lstStyle/>
          <a:p/>
        </p:txBody>
      </p:sp>
      <p:sp>
        <p:nvSpPr>
          <p:cNvPr id="3" name="object 3"/>
          <p:cNvSpPr/>
          <p:nvPr/>
        </p:nvSpPr>
        <p:spPr>
          <a:xfrm>
            <a:off x="2415539" y="1133855"/>
            <a:ext cx="6791325" cy="510540"/>
          </a:xfrm>
          <a:custGeom>
            <a:avLst/>
            <a:gdLst/>
            <a:ahLst/>
            <a:cxnLst/>
            <a:rect l="l" t="t" r="r" b="b"/>
            <a:pathLst>
              <a:path w="6791325" h="510539">
                <a:moveTo>
                  <a:pt x="0" y="0"/>
                </a:moveTo>
                <a:lnTo>
                  <a:pt x="6790944" y="0"/>
                </a:lnTo>
                <a:lnTo>
                  <a:pt x="6790944" y="510540"/>
                </a:lnTo>
                <a:lnTo>
                  <a:pt x="0" y="510540"/>
                </a:lnTo>
                <a:lnTo>
                  <a:pt x="0" y="0"/>
                </a:lnTo>
                <a:close/>
              </a:path>
            </a:pathLst>
          </a:custGeom>
          <a:solidFill>
            <a:srgbClr val="D9D9D9"/>
          </a:solidFill>
        </p:spPr>
        <p:txBody>
          <a:bodyPr wrap="square" lIns="0" tIns="0" rIns="0" bIns="0" rtlCol="0"/>
          <a:lstStyle/>
          <a:p/>
        </p:txBody>
      </p:sp>
      <p:sp>
        <p:nvSpPr>
          <p:cNvPr id="4" name="object 4"/>
          <p:cNvSpPr/>
          <p:nvPr/>
        </p:nvSpPr>
        <p:spPr>
          <a:xfrm>
            <a:off x="8938259" y="1134021"/>
            <a:ext cx="522605" cy="511809"/>
          </a:xfrm>
          <a:custGeom>
            <a:avLst/>
            <a:gdLst/>
            <a:ahLst/>
            <a:cxnLst/>
            <a:rect l="l" t="t" r="r" b="b"/>
            <a:pathLst>
              <a:path w="522604" h="511810">
                <a:moveTo>
                  <a:pt x="261353" y="511327"/>
                </a:moveTo>
                <a:lnTo>
                  <a:pt x="214404" y="507208"/>
                </a:lnTo>
                <a:lnTo>
                  <a:pt x="170212" y="495332"/>
                </a:lnTo>
                <a:lnTo>
                  <a:pt x="129514" y="476421"/>
                </a:lnTo>
                <a:lnTo>
                  <a:pt x="93046" y="451198"/>
                </a:lnTo>
                <a:lnTo>
                  <a:pt x="61546" y="420384"/>
                </a:lnTo>
                <a:lnTo>
                  <a:pt x="35753" y="384701"/>
                </a:lnTo>
                <a:lnTo>
                  <a:pt x="16433" y="344968"/>
                </a:lnTo>
                <a:lnTo>
                  <a:pt x="4260" y="301762"/>
                </a:lnTo>
                <a:lnTo>
                  <a:pt x="0" y="255866"/>
                </a:lnTo>
                <a:lnTo>
                  <a:pt x="4260" y="209850"/>
                </a:lnTo>
                <a:lnTo>
                  <a:pt x="16433" y="166550"/>
                </a:lnTo>
                <a:lnTo>
                  <a:pt x="35782" y="126685"/>
                </a:lnTo>
                <a:lnTo>
                  <a:pt x="61607" y="90943"/>
                </a:lnTo>
                <a:lnTo>
                  <a:pt x="93090" y="60129"/>
                </a:lnTo>
                <a:lnTo>
                  <a:pt x="129541" y="34905"/>
                </a:lnTo>
                <a:lnTo>
                  <a:pt x="170225" y="15995"/>
                </a:lnTo>
                <a:lnTo>
                  <a:pt x="214408" y="4119"/>
                </a:lnTo>
                <a:lnTo>
                  <a:pt x="261353" y="0"/>
                </a:lnTo>
                <a:lnTo>
                  <a:pt x="308298" y="4119"/>
                </a:lnTo>
                <a:lnTo>
                  <a:pt x="352485" y="15997"/>
                </a:lnTo>
                <a:lnTo>
                  <a:pt x="393177" y="34913"/>
                </a:lnTo>
                <a:lnTo>
                  <a:pt x="429634" y="60146"/>
                </a:lnTo>
                <a:lnTo>
                  <a:pt x="461118" y="90977"/>
                </a:lnTo>
                <a:lnTo>
                  <a:pt x="486888" y="126685"/>
                </a:lnTo>
                <a:lnTo>
                  <a:pt x="506176" y="166454"/>
                </a:lnTo>
                <a:lnTo>
                  <a:pt x="518308" y="209707"/>
                </a:lnTo>
                <a:lnTo>
                  <a:pt x="522516" y="255663"/>
                </a:lnTo>
                <a:lnTo>
                  <a:pt x="518308" y="301619"/>
                </a:lnTo>
                <a:lnTo>
                  <a:pt x="506176" y="344872"/>
                </a:lnTo>
                <a:lnTo>
                  <a:pt x="486859" y="384701"/>
                </a:lnTo>
                <a:lnTo>
                  <a:pt x="461057" y="420419"/>
                </a:lnTo>
                <a:lnTo>
                  <a:pt x="429590" y="451216"/>
                </a:lnTo>
                <a:lnTo>
                  <a:pt x="393149" y="476429"/>
                </a:lnTo>
                <a:lnTo>
                  <a:pt x="352472" y="495334"/>
                </a:lnTo>
                <a:lnTo>
                  <a:pt x="308293" y="507208"/>
                </a:lnTo>
                <a:lnTo>
                  <a:pt x="261353" y="511327"/>
                </a:lnTo>
                <a:close/>
              </a:path>
            </a:pathLst>
          </a:custGeom>
          <a:solidFill>
            <a:srgbClr val="D9D9D9"/>
          </a:solidFill>
        </p:spPr>
        <p:txBody>
          <a:bodyPr wrap="square" lIns="0" tIns="0" rIns="0" bIns="0" rtlCol="0"/>
          <a:lstStyle/>
          <a:p/>
        </p:txBody>
      </p:sp>
      <p:sp>
        <p:nvSpPr>
          <p:cNvPr id="5" name="object 5"/>
          <p:cNvSpPr/>
          <p:nvPr/>
        </p:nvSpPr>
        <p:spPr>
          <a:xfrm>
            <a:off x="2119883" y="1133475"/>
            <a:ext cx="522605" cy="511809"/>
          </a:xfrm>
          <a:custGeom>
            <a:avLst/>
            <a:gdLst/>
            <a:ahLst/>
            <a:cxnLst/>
            <a:rect l="l" t="t" r="r" b="b"/>
            <a:pathLst>
              <a:path w="522605" h="511810">
                <a:moveTo>
                  <a:pt x="260921" y="511327"/>
                </a:moveTo>
                <a:lnTo>
                  <a:pt x="213970" y="507208"/>
                </a:lnTo>
                <a:lnTo>
                  <a:pt x="169772" y="495332"/>
                </a:lnTo>
                <a:lnTo>
                  <a:pt x="129068" y="476421"/>
                </a:lnTo>
                <a:lnTo>
                  <a:pt x="92670" y="451264"/>
                </a:lnTo>
                <a:lnTo>
                  <a:pt x="61213" y="420512"/>
                </a:lnTo>
                <a:lnTo>
                  <a:pt x="35478" y="384923"/>
                </a:lnTo>
                <a:lnTo>
                  <a:pt x="16204" y="345225"/>
                </a:lnTo>
                <a:lnTo>
                  <a:pt x="4132" y="302145"/>
                </a:lnTo>
                <a:lnTo>
                  <a:pt x="0" y="256412"/>
                </a:lnTo>
                <a:lnTo>
                  <a:pt x="4132" y="210234"/>
                </a:lnTo>
                <a:lnTo>
                  <a:pt x="16204" y="166807"/>
                </a:lnTo>
                <a:lnTo>
                  <a:pt x="35478" y="126847"/>
                </a:lnTo>
                <a:lnTo>
                  <a:pt x="61213" y="91071"/>
                </a:lnTo>
                <a:lnTo>
                  <a:pt x="92670" y="60194"/>
                </a:lnTo>
                <a:lnTo>
                  <a:pt x="129168" y="34905"/>
                </a:lnTo>
                <a:lnTo>
                  <a:pt x="169820" y="15995"/>
                </a:lnTo>
                <a:lnTo>
                  <a:pt x="213986" y="4119"/>
                </a:lnTo>
                <a:lnTo>
                  <a:pt x="260921" y="0"/>
                </a:lnTo>
                <a:lnTo>
                  <a:pt x="307869" y="4120"/>
                </a:lnTo>
                <a:lnTo>
                  <a:pt x="352068" y="16003"/>
                </a:lnTo>
                <a:lnTo>
                  <a:pt x="392777" y="34933"/>
                </a:lnTo>
                <a:lnTo>
                  <a:pt x="429189" y="60129"/>
                </a:lnTo>
                <a:lnTo>
                  <a:pt x="460668" y="90943"/>
                </a:lnTo>
                <a:lnTo>
                  <a:pt x="486436" y="126625"/>
                </a:lnTo>
                <a:lnTo>
                  <a:pt x="505756" y="166454"/>
                </a:lnTo>
                <a:lnTo>
                  <a:pt x="517888" y="209707"/>
                </a:lnTo>
                <a:lnTo>
                  <a:pt x="522097" y="255663"/>
                </a:lnTo>
                <a:lnTo>
                  <a:pt x="517888" y="301619"/>
                </a:lnTo>
                <a:lnTo>
                  <a:pt x="505756" y="344872"/>
                </a:lnTo>
                <a:lnTo>
                  <a:pt x="486436" y="384701"/>
                </a:lnTo>
                <a:lnTo>
                  <a:pt x="460668" y="420384"/>
                </a:lnTo>
                <a:lnTo>
                  <a:pt x="429189" y="451198"/>
                </a:lnTo>
                <a:lnTo>
                  <a:pt x="392677" y="476449"/>
                </a:lnTo>
                <a:lnTo>
                  <a:pt x="352019" y="495340"/>
                </a:lnTo>
                <a:lnTo>
                  <a:pt x="307853" y="507209"/>
                </a:lnTo>
                <a:lnTo>
                  <a:pt x="260921" y="511327"/>
                </a:lnTo>
                <a:close/>
              </a:path>
            </a:pathLst>
          </a:custGeom>
          <a:solidFill>
            <a:srgbClr val="A6A6A6"/>
          </a:solidFill>
        </p:spPr>
        <p:txBody>
          <a:bodyPr wrap="square" lIns="0" tIns="0" rIns="0" bIns="0" rtlCol="0"/>
          <a:lstStyle/>
          <a:p/>
        </p:txBody>
      </p:sp>
      <p:sp>
        <p:nvSpPr>
          <p:cNvPr id="6" name="object 6"/>
          <p:cNvSpPr txBox="1"/>
          <p:nvPr/>
        </p:nvSpPr>
        <p:spPr>
          <a:xfrm>
            <a:off x="2264702" y="1106754"/>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1</a:t>
            </a:r>
            <a:endParaRPr sz="3200">
              <a:latin typeface="Calibri" panose="020F0502020204030204"/>
              <a:cs typeface="Calibri" panose="020F0502020204030204"/>
            </a:endParaRPr>
          </a:p>
        </p:txBody>
      </p:sp>
      <p:sp>
        <p:nvSpPr>
          <p:cNvPr id="7" name="object 7"/>
          <p:cNvSpPr/>
          <p:nvPr/>
        </p:nvSpPr>
        <p:spPr>
          <a:xfrm>
            <a:off x="2415539" y="1787651"/>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8" name="object 8"/>
          <p:cNvSpPr/>
          <p:nvPr/>
        </p:nvSpPr>
        <p:spPr>
          <a:xfrm>
            <a:off x="8938259" y="1787931"/>
            <a:ext cx="522605" cy="511175"/>
          </a:xfrm>
          <a:custGeom>
            <a:avLst/>
            <a:gdLst/>
            <a:ahLst/>
            <a:cxnLst/>
            <a:rect l="l" t="t" r="r" b="b"/>
            <a:pathLst>
              <a:path w="522604" h="511175">
                <a:moveTo>
                  <a:pt x="261353" y="510717"/>
                </a:moveTo>
                <a:lnTo>
                  <a:pt x="214403" y="506603"/>
                </a:lnTo>
                <a:lnTo>
                  <a:pt x="170208" y="494742"/>
                </a:lnTo>
                <a:lnTo>
                  <a:pt x="129503" y="475854"/>
                </a:lnTo>
                <a:lnTo>
                  <a:pt x="93028" y="450661"/>
                </a:lnTo>
                <a:lnTo>
                  <a:pt x="61571" y="419951"/>
                </a:lnTo>
                <a:lnTo>
                  <a:pt x="35782" y="384361"/>
                </a:lnTo>
                <a:lnTo>
                  <a:pt x="16433" y="344648"/>
                </a:lnTo>
                <a:lnTo>
                  <a:pt x="4260" y="301537"/>
                </a:lnTo>
                <a:lnTo>
                  <a:pt x="0" y="255752"/>
                </a:lnTo>
                <a:lnTo>
                  <a:pt x="4260" y="209733"/>
                </a:lnTo>
                <a:lnTo>
                  <a:pt x="16433" y="166440"/>
                </a:lnTo>
                <a:lnTo>
                  <a:pt x="35782" y="126589"/>
                </a:lnTo>
                <a:lnTo>
                  <a:pt x="61571" y="90900"/>
                </a:lnTo>
                <a:lnTo>
                  <a:pt x="93114" y="60056"/>
                </a:lnTo>
                <a:lnTo>
                  <a:pt x="129556" y="34863"/>
                </a:lnTo>
                <a:lnTo>
                  <a:pt x="170233" y="15975"/>
                </a:lnTo>
                <a:lnTo>
                  <a:pt x="214411" y="4114"/>
                </a:lnTo>
                <a:lnTo>
                  <a:pt x="261353" y="0"/>
                </a:lnTo>
                <a:lnTo>
                  <a:pt x="308299" y="4114"/>
                </a:lnTo>
                <a:lnTo>
                  <a:pt x="352489" y="15979"/>
                </a:lnTo>
                <a:lnTo>
                  <a:pt x="393187" y="34877"/>
                </a:lnTo>
                <a:lnTo>
                  <a:pt x="429651" y="60090"/>
                </a:lnTo>
                <a:lnTo>
                  <a:pt x="461093" y="90833"/>
                </a:lnTo>
                <a:lnTo>
                  <a:pt x="486859" y="126473"/>
                </a:lnTo>
                <a:lnTo>
                  <a:pt x="506176" y="166254"/>
                </a:lnTo>
                <a:lnTo>
                  <a:pt x="518308" y="209457"/>
                </a:lnTo>
                <a:lnTo>
                  <a:pt x="522516" y="255358"/>
                </a:lnTo>
                <a:lnTo>
                  <a:pt x="518308" y="301260"/>
                </a:lnTo>
                <a:lnTo>
                  <a:pt x="506176" y="344462"/>
                </a:lnTo>
                <a:lnTo>
                  <a:pt x="486859" y="384244"/>
                </a:lnTo>
                <a:lnTo>
                  <a:pt x="461093" y="419884"/>
                </a:lnTo>
                <a:lnTo>
                  <a:pt x="429566" y="450696"/>
                </a:lnTo>
                <a:lnTo>
                  <a:pt x="393134" y="475868"/>
                </a:lnTo>
                <a:lnTo>
                  <a:pt x="352464" y="494746"/>
                </a:lnTo>
                <a:lnTo>
                  <a:pt x="308290" y="506604"/>
                </a:lnTo>
                <a:lnTo>
                  <a:pt x="261353" y="510717"/>
                </a:lnTo>
                <a:close/>
              </a:path>
            </a:pathLst>
          </a:custGeom>
          <a:solidFill>
            <a:srgbClr val="D9D9D9"/>
          </a:solidFill>
        </p:spPr>
        <p:txBody>
          <a:bodyPr wrap="square" lIns="0" tIns="0" rIns="0" bIns="0" rtlCol="0"/>
          <a:lstStyle/>
          <a:p/>
        </p:txBody>
      </p:sp>
      <p:sp>
        <p:nvSpPr>
          <p:cNvPr id="9" name="object 9"/>
          <p:cNvSpPr/>
          <p:nvPr/>
        </p:nvSpPr>
        <p:spPr>
          <a:xfrm>
            <a:off x="2119883" y="1787385"/>
            <a:ext cx="522605" cy="511175"/>
          </a:xfrm>
          <a:custGeom>
            <a:avLst/>
            <a:gdLst/>
            <a:ahLst/>
            <a:cxnLst/>
            <a:rect l="l" t="t" r="r" b="b"/>
            <a:pathLst>
              <a:path w="522605" h="511175">
                <a:moveTo>
                  <a:pt x="260921" y="510730"/>
                </a:moveTo>
                <a:lnTo>
                  <a:pt x="213974" y="506615"/>
                </a:lnTo>
                <a:lnTo>
                  <a:pt x="169790" y="494746"/>
                </a:lnTo>
                <a:lnTo>
                  <a:pt x="129109" y="475842"/>
                </a:lnTo>
                <a:lnTo>
                  <a:pt x="92670" y="450617"/>
                </a:lnTo>
                <a:lnTo>
                  <a:pt x="61213" y="419789"/>
                </a:lnTo>
                <a:lnTo>
                  <a:pt x="35478" y="384074"/>
                </a:lnTo>
                <a:lnTo>
                  <a:pt x="16204" y="344189"/>
                </a:lnTo>
                <a:lnTo>
                  <a:pt x="4132" y="300850"/>
                </a:lnTo>
                <a:lnTo>
                  <a:pt x="0" y="254774"/>
                </a:lnTo>
                <a:lnTo>
                  <a:pt x="4132" y="209050"/>
                </a:lnTo>
                <a:lnTo>
                  <a:pt x="16204" y="165985"/>
                </a:lnTo>
                <a:lnTo>
                  <a:pt x="35478" y="126305"/>
                </a:lnTo>
                <a:lnTo>
                  <a:pt x="61213" y="90738"/>
                </a:lnTo>
                <a:lnTo>
                  <a:pt x="92670" y="60009"/>
                </a:lnTo>
                <a:lnTo>
                  <a:pt x="129109" y="34844"/>
                </a:lnTo>
                <a:lnTo>
                  <a:pt x="169790" y="15970"/>
                </a:lnTo>
                <a:lnTo>
                  <a:pt x="213974" y="4113"/>
                </a:lnTo>
                <a:lnTo>
                  <a:pt x="260921" y="0"/>
                </a:lnTo>
                <a:lnTo>
                  <a:pt x="307865" y="4114"/>
                </a:lnTo>
                <a:lnTo>
                  <a:pt x="352050" y="15977"/>
                </a:lnTo>
                <a:lnTo>
                  <a:pt x="392737" y="34866"/>
                </a:lnTo>
                <a:lnTo>
                  <a:pt x="429189" y="60060"/>
                </a:lnTo>
                <a:lnTo>
                  <a:pt x="460668" y="90838"/>
                </a:lnTo>
                <a:lnTo>
                  <a:pt x="486436" y="126478"/>
                </a:lnTo>
                <a:lnTo>
                  <a:pt x="505756" y="166259"/>
                </a:lnTo>
                <a:lnTo>
                  <a:pt x="517888" y="209460"/>
                </a:lnTo>
                <a:lnTo>
                  <a:pt x="522097" y="255358"/>
                </a:lnTo>
                <a:lnTo>
                  <a:pt x="517888" y="301261"/>
                </a:lnTo>
                <a:lnTo>
                  <a:pt x="505756" y="344464"/>
                </a:lnTo>
                <a:lnTo>
                  <a:pt x="486436" y="384247"/>
                </a:lnTo>
                <a:lnTo>
                  <a:pt x="460668" y="419889"/>
                </a:lnTo>
                <a:lnTo>
                  <a:pt x="429189" y="450668"/>
                </a:lnTo>
                <a:lnTo>
                  <a:pt x="392737" y="475863"/>
                </a:lnTo>
                <a:lnTo>
                  <a:pt x="352050" y="494753"/>
                </a:lnTo>
                <a:lnTo>
                  <a:pt x="307865" y="506615"/>
                </a:lnTo>
                <a:lnTo>
                  <a:pt x="260921" y="510730"/>
                </a:lnTo>
                <a:close/>
              </a:path>
            </a:pathLst>
          </a:custGeom>
          <a:solidFill>
            <a:srgbClr val="C00000"/>
          </a:solidFill>
        </p:spPr>
        <p:txBody>
          <a:bodyPr wrap="square" lIns="0" tIns="0" rIns="0" bIns="0" rtlCol="0"/>
          <a:lstStyle/>
          <a:p/>
        </p:txBody>
      </p:sp>
      <p:sp>
        <p:nvSpPr>
          <p:cNvPr id="10" name="object 10"/>
          <p:cNvSpPr txBox="1"/>
          <p:nvPr/>
        </p:nvSpPr>
        <p:spPr>
          <a:xfrm>
            <a:off x="2264702" y="1759953"/>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2</a:t>
            </a:r>
            <a:endParaRPr sz="3200">
              <a:latin typeface="Calibri" panose="020F0502020204030204"/>
              <a:cs typeface="Calibri" panose="020F0502020204030204"/>
            </a:endParaRPr>
          </a:p>
        </p:txBody>
      </p:sp>
      <p:sp>
        <p:nvSpPr>
          <p:cNvPr id="11" name="object 11"/>
          <p:cNvSpPr/>
          <p:nvPr/>
        </p:nvSpPr>
        <p:spPr>
          <a:xfrm>
            <a:off x="2415539" y="2441448"/>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12" name="object 12"/>
          <p:cNvSpPr/>
          <p:nvPr/>
        </p:nvSpPr>
        <p:spPr>
          <a:xfrm>
            <a:off x="8938259" y="2441232"/>
            <a:ext cx="522605" cy="511175"/>
          </a:xfrm>
          <a:custGeom>
            <a:avLst/>
            <a:gdLst/>
            <a:ahLst/>
            <a:cxnLst/>
            <a:rect l="l" t="t" r="r" b="b"/>
            <a:pathLst>
              <a:path w="522604" h="511175">
                <a:moveTo>
                  <a:pt x="261353" y="510717"/>
                </a:moveTo>
                <a:lnTo>
                  <a:pt x="214405" y="506602"/>
                </a:lnTo>
                <a:lnTo>
                  <a:pt x="170217" y="494735"/>
                </a:lnTo>
                <a:lnTo>
                  <a:pt x="129524" y="475830"/>
                </a:lnTo>
                <a:lnTo>
                  <a:pt x="93064" y="450605"/>
                </a:lnTo>
                <a:lnTo>
                  <a:pt x="61571" y="419775"/>
                </a:lnTo>
                <a:lnTo>
                  <a:pt x="35782" y="384056"/>
                </a:lnTo>
                <a:lnTo>
                  <a:pt x="16433" y="344164"/>
                </a:lnTo>
                <a:lnTo>
                  <a:pt x="4260" y="300814"/>
                </a:lnTo>
                <a:lnTo>
                  <a:pt x="0" y="254723"/>
                </a:lnTo>
                <a:lnTo>
                  <a:pt x="4260" y="209014"/>
                </a:lnTo>
                <a:lnTo>
                  <a:pt x="16433" y="165961"/>
                </a:lnTo>
                <a:lnTo>
                  <a:pt x="35782" y="126290"/>
                </a:lnTo>
                <a:lnTo>
                  <a:pt x="61571" y="90729"/>
                </a:lnTo>
                <a:lnTo>
                  <a:pt x="93064" y="60004"/>
                </a:lnTo>
                <a:lnTo>
                  <a:pt x="129524" y="34842"/>
                </a:lnTo>
                <a:lnTo>
                  <a:pt x="170217" y="15970"/>
                </a:lnTo>
                <a:lnTo>
                  <a:pt x="214405" y="4113"/>
                </a:lnTo>
                <a:lnTo>
                  <a:pt x="261353" y="0"/>
                </a:lnTo>
                <a:lnTo>
                  <a:pt x="308297" y="4114"/>
                </a:lnTo>
                <a:lnTo>
                  <a:pt x="352480" y="15977"/>
                </a:lnTo>
                <a:lnTo>
                  <a:pt x="393166" y="34866"/>
                </a:lnTo>
                <a:lnTo>
                  <a:pt x="429616" y="60060"/>
                </a:lnTo>
                <a:lnTo>
                  <a:pt x="461093" y="90838"/>
                </a:lnTo>
                <a:lnTo>
                  <a:pt x="486859" y="126478"/>
                </a:lnTo>
                <a:lnTo>
                  <a:pt x="506176" y="166259"/>
                </a:lnTo>
                <a:lnTo>
                  <a:pt x="518308" y="209460"/>
                </a:lnTo>
                <a:lnTo>
                  <a:pt x="522516" y="255358"/>
                </a:lnTo>
                <a:lnTo>
                  <a:pt x="518308" y="301260"/>
                </a:lnTo>
                <a:lnTo>
                  <a:pt x="506176" y="344462"/>
                </a:lnTo>
                <a:lnTo>
                  <a:pt x="486859" y="384244"/>
                </a:lnTo>
                <a:lnTo>
                  <a:pt x="461093" y="419884"/>
                </a:lnTo>
                <a:lnTo>
                  <a:pt x="429616" y="450661"/>
                </a:lnTo>
                <a:lnTo>
                  <a:pt x="393166" y="475854"/>
                </a:lnTo>
                <a:lnTo>
                  <a:pt x="352480" y="494742"/>
                </a:lnTo>
                <a:lnTo>
                  <a:pt x="308297" y="506603"/>
                </a:lnTo>
                <a:lnTo>
                  <a:pt x="261353" y="510717"/>
                </a:lnTo>
                <a:close/>
              </a:path>
            </a:pathLst>
          </a:custGeom>
          <a:solidFill>
            <a:srgbClr val="D9D9D9"/>
          </a:solidFill>
        </p:spPr>
        <p:txBody>
          <a:bodyPr wrap="square" lIns="0" tIns="0" rIns="0" bIns="0" rtlCol="0"/>
          <a:lstStyle/>
          <a:p/>
        </p:txBody>
      </p:sp>
      <p:sp>
        <p:nvSpPr>
          <p:cNvPr id="13" name="object 13"/>
          <p:cNvSpPr/>
          <p:nvPr/>
        </p:nvSpPr>
        <p:spPr>
          <a:xfrm>
            <a:off x="2119883" y="2440698"/>
            <a:ext cx="522605" cy="511175"/>
          </a:xfrm>
          <a:custGeom>
            <a:avLst/>
            <a:gdLst/>
            <a:ahLst/>
            <a:cxnLst/>
            <a:rect l="l" t="t" r="r" b="b"/>
            <a:pathLst>
              <a:path w="522605" h="511175">
                <a:moveTo>
                  <a:pt x="260921" y="510717"/>
                </a:moveTo>
                <a:lnTo>
                  <a:pt x="213974" y="506603"/>
                </a:lnTo>
                <a:lnTo>
                  <a:pt x="169790" y="494739"/>
                </a:lnTo>
                <a:lnTo>
                  <a:pt x="129109" y="475847"/>
                </a:lnTo>
                <a:lnTo>
                  <a:pt x="92670" y="450648"/>
                </a:lnTo>
                <a:lnTo>
                  <a:pt x="61213" y="419861"/>
                </a:lnTo>
                <a:lnTo>
                  <a:pt x="35478" y="384208"/>
                </a:lnTo>
                <a:lnTo>
                  <a:pt x="16204" y="344410"/>
                </a:lnTo>
                <a:lnTo>
                  <a:pt x="4132" y="301185"/>
                </a:lnTo>
                <a:lnTo>
                  <a:pt x="0" y="255257"/>
                </a:lnTo>
                <a:lnTo>
                  <a:pt x="4132" y="209385"/>
                </a:lnTo>
                <a:lnTo>
                  <a:pt x="16204" y="166207"/>
                </a:lnTo>
                <a:lnTo>
                  <a:pt x="35478" y="126443"/>
                </a:lnTo>
                <a:lnTo>
                  <a:pt x="61213" y="90815"/>
                </a:lnTo>
                <a:lnTo>
                  <a:pt x="92670" y="60047"/>
                </a:lnTo>
                <a:lnTo>
                  <a:pt x="129109" y="34859"/>
                </a:lnTo>
                <a:lnTo>
                  <a:pt x="169790" y="15974"/>
                </a:lnTo>
                <a:lnTo>
                  <a:pt x="213974" y="4113"/>
                </a:lnTo>
                <a:lnTo>
                  <a:pt x="260921" y="0"/>
                </a:lnTo>
                <a:lnTo>
                  <a:pt x="307865" y="4114"/>
                </a:lnTo>
                <a:lnTo>
                  <a:pt x="352050" y="15975"/>
                </a:lnTo>
                <a:lnTo>
                  <a:pt x="392737" y="34863"/>
                </a:lnTo>
                <a:lnTo>
                  <a:pt x="429189" y="60056"/>
                </a:lnTo>
                <a:lnTo>
                  <a:pt x="460668" y="90833"/>
                </a:lnTo>
                <a:lnTo>
                  <a:pt x="486436" y="126473"/>
                </a:lnTo>
                <a:lnTo>
                  <a:pt x="505756" y="166254"/>
                </a:lnTo>
                <a:lnTo>
                  <a:pt x="517888" y="209457"/>
                </a:lnTo>
                <a:lnTo>
                  <a:pt x="522097" y="255358"/>
                </a:lnTo>
                <a:lnTo>
                  <a:pt x="517888" y="301257"/>
                </a:lnTo>
                <a:lnTo>
                  <a:pt x="505756" y="344457"/>
                </a:lnTo>
                <a:lnTo>
                  <a:pt x="486436" y="384238"/>
                </a:lnTo>
                <a:lnTo>
                  <a:pt x="460668" y="419879"/>
                </a:lnTo>
                <a:lnTo>
                  <a:pt x="429189" y="450657"/>
                </a:lnTo>
                <a:lnTo>
                  <a:pt x="392737" y="475851"/>
                </a:lnTo>
                <a:lnTo>
                  <a:pt x="352050" y="494740"/>
                </a:lnTo>
                <a:lnTo>
                  <a:pt x="307865" y="506603"/>
                </a:lnTo>
                <a:lnTo>
                  <a:pt x="260921" y="510717"/>
                </a:lnTo>
                <a:close/>
              </a:path>
            </a:pathLst>
          </a:custGeom>
          <a:solidFill>
            <a:srgbClr val="A6A6A6"/>
          </a:solidFill>
        </p:spPr>
        <p:txBody>
          <a:bodyPr wrap="square" lIns="0" tIns="0" rIns="0" bIns="0" rtlCol="0"/>
          <a:lstStyle/>
          <a:p/>
        </p:txBody>
      </p:sp>
      <p:sp>
        <p:nvSpPr>
          <p:cNvPr id="14" name="object 14"/>
          <p:cNvSpPr txBox="1"/>
          <p:nvPr/>
        </p:nvSpPr>
        <p:spPr>
          <a:xfrm>
            <a:off x="2264702" y="2413254"/>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3</a:t>
            </a:r>
            <a:endParaRPr sz="3200">
              <a:latin typeface="Calibri" panose="020F0502020204030204"/>
              <a:cs typeface="Calibri" panose="020F0502020204030204"/>
            </a:endParaRPr>
          </a:p>
        </p:txBody>
      </p:sp>
      <p:sp>
        <p:nvSpPr>
          <p:cNvPr id="15" name="object 15"/>
          <p:cNvSpPr/>
          <p:nvPr/>
        </p:nvSpPr>
        <p:spPr>
          <a:xfrm>
            <a:off x="2415539" y="3095244"/>
            <a:ext cx="6791325" cy="509270"/>
          </a:xfrm>
          <a:custGeom>
            <a:avLst/>
            <a:gdLst/>
            <a:ahLst/>
            <a:cxnLst/>
            <a:rect l="l" t="t" r="r" b="b"/>
            <a:pathLst>
              <a:path w="6791325" h="509270">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16" name="object 16"/>
          <p:cNvSpPr/>
          <p:nvPr/>
        </p:nvSpPr>
        <p:spPr>
          <a:xfrm>
            <a:off x="8938259" y="3094532"/>
            <a:ext cx="522605" cy="511175"/>
          </a:xfrm>
          <a:custGeom>
            <a:avLst/>
            <a:gdLst/>
            <a:ahLst/>
            <a:cxnLst/>
            <a:rect l="l" t="t" r="r" b="b"/>
            <a:pathLst>
              <a:path w="522604" h="511175">
                <a:moveTo>
                  <a:pt x="261353" y="510717"/>
                </a:moveTo>
                <a:lnTo>
                  <a:pt x="214405" y="506603"/>
                </a:lnTo>
                <a:lnTo>
                  <a:pt x="170217" y="494740"/>
                </a:lnTo>
                <a:lnTo>
                  <a:pt x="129524" y="475849"/>
                </a:lnTo>
                <a:lnTo>
                  <a:pt x="93064" y="450649"/>
                </a:lnTo>
                <a:lnTo>
                  <a:pt x="61571" y="419860"/>
                </a:lnTo>
                <a:lnTo>
                  <a:pt x="35782" y="384203"/>
                </a:lnTo>
                <a:lnTo>
                  <a:pt x="16433" y="344397"/>
                </a:lnTo>
                <a:lnTo>
                  <a:pt x="4260" y="301162"/>
                </a:lnTo>
                <a:lnTo>
                  <a:pt x="0" y="255219"/>
                </a:lnTo>
                <a:lnTo>
                  <a:pt x="4260" y="209362"/>
                </a:lnTo>
                <a:lnTo>
                  <a:pt x="16433" y="166194"/>
                </a:lnTo>
                <a:lnTo>
                  <a:pt x="35782" y="126437"/>
                </a:lnTo>
                <a:lnTo>
                  <a:pt x="61571" y="90814"/>
                </a:lnTo>
                <a:lnTo>
                  <a:pt x="93064" y="60048"/>
                </a:lnTo>
                <a:lnTo>
                  <a:pt x="129524" y="34861"/>
                </a:lnTo>
                <a:lnTo>
                  <a:pt x="170217" y="15975"/>
                </a:lnTo>
                <a:lnTo>
                  <a:pt x="214405" y="4114"/>
                </a:lnTo>
                <a:lnTo>
                  <a:pt x="261353" y="0"/>
                </a:lnTo>
                <a:lnTo>
                  <a:pt x="308297" y="4114"/>
                </a:lnTo>
                <a:lnTo>
                  <a:pt x="352480" y="15977"/>
                </a:lnTo>
                <a:lnTo>
                  <a:pt x="393166" y="34866"/>
                </a:lnTo>
                <a:lnTo>
                  <a:pt x="429616" y="60060"/>
                </a:lnTo>
                <a:lnTo>
                  <a:pt x="461093" y="90838"/>
                </a:lnTo>
                <a:lnTo>
                  <a:pt x="486859" y="126478"/>
                </a:lnTo>
                <a:lnTo>
                  <a:pt x="506176" y="166259"/>
                </a:lnTo>
                <a:lnTo>
                  <a:pt x="518308" y="209460"/>
                </a:lnTo>
                <a:lnTo>
                  <a:pt x="522516" y="255358"/>
                </a:lnTo>
                <a:lnTo>
                  <a:pt x="518308" y="301260"/>
                </a:lnTo>
                <a:lnTo>
                  <a:pt x="506176" y="344462"/>
                </a:lnTo>
                <a:lnTo>
                  <a:pt x="486859" y="384244"/>
                </a:lnTo>
                <a:lnTo>
                  <a:pt x="461093" y="419884"/>
                </a:lnTo>
                <a:lnTo>
                  <a:pt x="429616" y="450661"/>
                </a:lnTo>
                <a:lnTo>
                  <a:pt x="393166" y="475854"/>
                </a:lnTo>
                <a:lnTo>
                  <a:pt x="352480" y="494742"/>
                </a:lnTo>
                <a:lnTo>
                  <a:pt x="308297" y="506603"/>
                </a:lnTo>
                <a:lnTo>
                  <a:pt x="261353" y="510717"/>
                </a:lnTo>
                <a:close/>
              </a:path>
            </a:pathLst>
          </a:custGeom>
          <a:solidFill>
            <a:srgbClr val="D9D9D9"/>
          </a:solidFill>
        </p:spPr>
        <p:txBody>
          <a:bodyPr wrap="square" lIns="0" tIns="0" rIns="0" bIns="0" rtlCol="0"/>
          <a:lstStyle/>
          <a:p/>
        </p:txBody>
      </p:sp>
      <p:sp>
        <p:nvSpPr>
          <p:cNvPr id="17" name="object 17"/>
          <p:cNvSpPr/>
          <p:nvPr/>
        </p:nvSpPr>
        <p:spPr>
          <a:xfrm>
            <a:off x="2119883" y="3093999"/>
            <a:ext cx="522605" cy="511175"/>
          </a:xfrm>
          <a:custGeom>
            <a:avLst/>
            <a:gdLst/>
            <a:ahLst/>
            <a:cxnLst/>
            <a:rect l="l" t="t" r="r" b="b"/>
            <a:pathLst>
              <a:path w="522605" h="511175">
                <a:moveTo>
                  <a:pt x="260921" y="510717"/>
                </a:moveTo>
                <a:lnTo>
                  <a:pt x="213972" y="506603"/>
                </a:lnTo>
                <a:lnTo>
                  <a:pt x="169781" y="494740"/>
                </a:lnTo>
                <a:lnTo>
                  <a:pt x="129088" y="475851"/>
                </a:lnTo>
                <a:lnTo>
                  <a:pt x="92635" y="450657"/>
                </a:lnTo>
                <a:lnTo>
                  <a:pt x="61213" y="419946"/>
                </a:lnTo>
                <a:lnTo>
                  <a:pt x="35478" y="384355"/>
                </a:lnTo>
                <a:lnTo>
                  <a:pt x="16204" y="344643"/>
                </a:lnTo>
                <a:lnTo>
                  <a:pt x="4132" y="301533"/>
                </a:lnTo>
                <a:lnTo>
                  <a:pt x="0" y="255752"/>
                </a:lnTo>
                <a:lnTo>
                  <a:pt x="4132" y="209733"/>
                </a:lnTo>
                <a:lnTo>
                  <a:pt x="16204" y="166440"/>
                </a:lnTo>
                <a:lnTo>
                  <a:pt x="35478" y="126589"/>
                </a:lnTo>
                <a:lnTo>
                  <a:pt x="61213" y="90900"/>
                </a:lnTo>
                <a:lnTo>
                  <a:pt x="92720" y="60056"/>
                </a:lnTo>
                <a:lnTo>
                  <a:pt x="129140" y="34863"/>
                </a:lnTo>
                <a:lnTo>
                  <a:pt x="169806" y="15975"/>
                </a:lnTo>
                <a:lnTo>
                  <a:pt x="213980" y="4114"/>
                </a:lnTo>
                <a:lnTo>
                  <a:pt x="260921" y="0"/>
                </a:lnTo>
                <a:lnTo>
                  <a:pt x="307867" y="4114"/>
                </a:lnTo>
                <a:lnTo>
                  <a:pt x="352059" y="15979"/>
                </a:lnTo>
                <a:lnTo>
                  <a:pt x="392758" y="34877"/>
                </a:lnTo>
                <a:lnTo>
                  <a:pt x="429225" y="60090"/>
                </a:lnTo>
                <a:lnTo>
                  <a:pt x="460668" y="90833"/>
                </a:lnTo>
                <a:lnTo>
                  <a:pt x="486436" y="126473"/>
                </a:lnTo>
                <a:lnTo>
                  <a:pt x="505756" y="166254"/>
                </a:lnTo>
                <a:lnTo>
                  <a:pt x="517888" y="209457"/>
                </a:lnTo>
                <a:lnTo>
                  <a:pt x="522097" y="255358"/>
                </a:lnTo>
                <a:lnTo>
                  <a:pt x="517888" y="301257"/>
                </a:lnTo>
                <a:lnTo>
                  <a:pt x="505756" y="344457"/>
                </a:lnTo>
                <a:lnTo>
                  <a:pt x="486436" y="384238"/>
                </a:lnTo>
                <a:lnTo>
                  <a:pt x="460668" y="419879"/>
                </a:lnTo>
                <a:lnTo>
                  <a:pt x="429139" y="450691"/>
                </a:lnTo>
                <a:lnTo>
                  <a:pt x="392706" y="475866"/>
                </a:lnTo>
                <a:lnTo>
                  <a:pt x="352034" y="494745"/>
                </a:lnTo>
                <a:lnTo>
                  <a:pt x="307859" y="506603"/>
                </a:lnTo>
                <a:lnTo>
                  <a:pt x="260921" y="510717"/>
                </a:lnTo>
                <a:close/>
              </a:path>
            </a:pathLst>
          </a:custGeom>
          <a:solidFill>
            <a:srgbClr val="A6A6A6"/>
          </a:solidFill>
        </p:spPr>
        <p:txBody>
          <a:bodyPr wrap="square" lIns="0" tIns="0" rIns="0" bIns="0" rtlCol="0"/>
          <a:lstStyle/>
          <a:p/>
        </p:txBody>
      </p:sp>
      <p:sp>
        <p:nvSpPr>
          <p:cNvPr id="18" name="object 18"/>
          <p:cNvSpPr txBox="1"/>
          <p:nvPr/>
        </p:nvSpPr>
        <p:spPr>
          <a:xfrm>
            <a:off x="2264702" y="3066554"/>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4</a:t>
            </a:r>
            <a:endParaRPr sz="3200">
              <a:latin typeface="Calibri" panose="020F0502020204030204"/>
              <a:cs typeface="Calibri" panose="020F0502020204030204"/>
            </a:endParaRPr>
          </a:p>
        </p:txBody>
      </p:sp>
      <p:sp>
        <p:nvSpPr>
          <p:cNvPr id="19" name="object 19"/>
          <p:cNvSpPr/>
          <p:nvPr/>
        </p:nvSpPr>
        <p:spPr>
          <a:xfrm>
            <a:off x="2415539" y="3747515"/>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20" name="object 20"/>
          <p:cNvSpPr/>
          <p:nvPr/>
        </p:nvSpPr>
        <p:spPr>
          <a:xfrm>
            <a:off x="8938259" y="3747833"/>
            <a:ext cx="522605" cy="511175"/>
          </a:xfrm>
          <a:custGeom>
            <a:avLst/>
            <a:gdLst/>
            <a:ahLst/>
            <a:cxnLst/>
            <a:rect l="l" t="t" r="r" b="b"/>
            <a:pathLst>
              <a:path w="522604" h="511175">
                <a:moveTo>
                  <a:pt x="261353" y="510717"/>
                </a:moveTo>
                <a:lnTo>
                  <a:pt x="214403" y="506603"/>
                </a:lnTo>
                <a:lnTo>
                  <a:pt x="170208" y="494742"/>
                </a:lnTo>
                <a:lnTo>
                  <a:pt x="129505" y="475854"/>
                </a:lnTo>
                <a:lnTo>
                  <a:pt x="93032" y="450661"/>
                </a:lnTo>
                <a:lnTo>
                  <a:pt x="61571" y="419945"/>
                </a:lnTo>
                <a:lnTo>
                  <a:pt x="35782" y="384349"/>
                </a:lnTo>
                <a:lnTo>
                  <a:pt x="16433" y="344630"/>
                </a:lnTo>
                <a:lnTo>
                  <a:pt x="4260" y="301510"/>
                </a:lnTo>
                <a:lnTo>
                  <a:pt x="0" y="255714"/>
                </a:lnTo>
                <a:lnTo>
                  <a:pt x="4260" y="209710"/>
                </a:lnTo>
                <a:lnTo>
                  <a:pt x="16433" y="166427"/>
                </a:lnTo>
                <a:lnTo>
                  <a:pt x="35782" y="126584"/>
                </a:lnTo>
                <a:lnTo>
                  <a:pt x="61571" y="90899"/>
                </a:lnTo>
                <a:lnTo>
                  <a:pt x="93109" y="60060"/>
                </a:lnTo>
                <a:lnTo>
                  <a:pt x="129553" y="34866"/>
                </a:lnTo>
                <a:lnTo>
                  <a:pt x="170231" y="15977"/>
                </a:lnTo>
                <a:lnTo>
                  <a:pt x="214411" y="4114"/>
                </a:lnTo>
                <a:lnTo>
                  <a:pt x="261353" y="0"/>
                </a:lnTo>
                <a:lnTo>
                  <a:pt x="308298" y="4114"/>
                </a:lnTo>
                <a:lnTo>
                  <a:pt x="352488" y="15980"/>
                </a:lnTo>
                <a:lnTo>
                  <a:pt x="393185" y="34879"/>
                </a:lnTo>
                <a:lnTo>
                  <a:pt x="429648" y="60091"/>
                </a:lnTo>
                <a:lnTo>
                  <a:pt x="461093" y="90838"/>
                </a:lnTo>
                <a:lnTo>
                  <a:pt x="486859" y="126478"/>
                </a:lnTo>
                <a:lnTo>
                  <a:pt x="506176" y="166259"/>
                </a:lnTo>
                <a:lnTo>
                  <a:pt x="518308" y="209460"/>
                </a:lnTo>
                <a:lnTo>
                  <a:pt x="522516" y="255358"/>
                </a:lnTo>
                <a:lnTo>
                  <a:pt x="518308" y="301260"/>
                </a:lnTo>
                <a:lnTo>
                  <a:pt x="506176" y="344462"/>
                </a:lnTo>
                <a:lnTo>
                  <a:pt x="486859" y="384244"/>
                </a:lnTo>
                <a:lnTo>
                  <a:pt x="461093" y="419884"/>
                </a:lnTo>
                <a:lnTo>
                  <a:pt x="429571" y="450692"/>
                </a:lnTo>
                <a:lnTo>
                  <a:pt x="393137" y="475867"/>
                </a:lnTo>
                <a:lnTo>
                  <a:pt x="352465" y="494746"/>
                </a:lnTo>
                <a:lnTo>
                  <a:pt x="308291" y="506604"/>
                </a:lnTo>
                <a:lnTo>
                  <a:pt x="261353" y="510717"/>
                </a:lnTo>
                <a:close/>
              </a:path>
            </a:pathLst>
          </a:custGeom>
          <a:solidFill>
            <a:srgbClr val="D9D9D9"/>
          </a:solidFill>
        </p:spPr>
        <p:txBody>
          <a:bodyPr wrap="square" lIns="0" tIns="0" rIns="0" bIns="0" rtlCol="0"/>
          <a:lstStyle/>
          <a:p/>
        </p:txBody>
      </p:sp>
      <p:sp>
        <p:nvSpPr>
          <p:cNvPr id="21" name="object 21"/>
          <p:cNvSpPr/>
          <p:nvPr/>
        </p:nvSpPr>
        <p:spPr>
          <a:xfrm>
            <a:off x="2119883" y="3747299"/>
            <a:ext cx="522605" cy="511175"/>
          </a:xfrm>
          <a:custGeom>
            <a:avLst/>
            <a:gdLst/>
            <a:ahLst/>
            <a:cxnLst/>
            <a:rect l="l" t="t" r="r" b="b"/>
            <a:pathLst>
              <a:path w="522605" h="511175">
                <a:moveTo>
                  <a:pt x="260921" y="510717"/>
                </a:moveTo>
                <a:lnTo>
                  <a:pt x="213974" y="506602"/>
                </a:lnTo>
                <a:lnTo>
                  <a:pt x="169790" y="494735"/>
                </a:lnTo>
                <a:lnTo>
                  <a:pt x="129109" y="475830"/>
                </a:lnTo>
                <a:lnTo>
                  <a:pt x="92670" y="450605"/>
                </a:lnTo>
                <a:lnTo>
                  <a:pt x="61213" y="419775"/>
                </a:lnTo>
                <a:lnTo>
                  <a:pt x="35478" y="384056"/>
                </a:lnTo>
                <a:lnTo>
                  <a:pt x="16204" y="344164"/>
                </a:lnTo>
                <a:lnTo>
                  <a:pt x="4132" y="300814"/>
                </a:lnTo>
                <a:lnTo>
                  <a:pt x="0" y="254723"/>
                </a:lnTo>
                <a:lnTo>
                  <a:pt x="4132" y="209011"/>
                </a:lnTo>
                <a:lnTo>
                  <a:pt x="16204" y="165956"/>
                </a:lnTo>
                <a:lnTo>
                  <a:pt x="35478" y="126285"/>
                </a:lnTo>
                <a:lnTo>
                  <a:pt x="61213" y="90724"/>
                </a:lnTo>
                <a:lnTo>
                  <a:pt x="92670" y="60000"/>
                </a:lnTo>
                <a:lnTo>
                  <a:pt x="129109" y="34839"/>
                </a:lnTo>
                <a:lnTo>
                  <a:pt x="169790" y="15968"/>
                </a:lnTo>
                <a:lnTo>
                  <a:pt x="213974" y="4113"/>
                </a:lnTo>
                <a:lnTo>
                  <a:pt x="260921" y="0"/>
                </a:lnTo>
                <a:lnTo>
                  <a:pt x="307865" y="4114"/>
                </a:lnTo>
                <a:lnTo>
                  <a:pt x="352050" y="15975"/>
                </a:lnTo>
                <a:lnTo>
                  <a:pt x="392737" y="34863"/>
                </a:lnTo>
                <a:lnTo>
                  <a:pt x="429189" y="60056"/>
                </a:lnTo>
                <a:lnTo>
                  <a:pt x="460668" y="90833"/>
                </a:lnTo>
                <a:lnTo>
                  <a:pt x="486436" y="126473"/>
                </a:lnTo>
                <a:lnTo>
                  <a:pt x="505756" y="166254"/>
                </a:lnTo>
                <a:lnTo>
                  <a:pt x="517888" y="209457"/>
                </a:lnTo>
                <a:lnTo>
                  <a:pt x="522097" y="255358"/>
                </a:lnTo>
                <a:lnTo>
                  <a:pt x="517888" y="301260"/>
                </a:lnTo>
                <a:lnTo>
                  <a:pt x="505756" y="344462"/>
                </a:lnTo>
                <a:lnTo>
                  <a:pt x="486436" y="384244"/>
                </a:lnTo>
                <a:lnTo>
                  <a:pt x="460668" y="419884"/>
                </a:lnTo>
                <a:lnTo>
                  <a:pt x="429189" y="450661"/>
                </a:lnTo>
                <a:lnTo>
                  <a:pt x="392737" y="475854"/>
                </a:lnTo>
                <a:lnTo>
                  <a:pt x="352050" y="494742"/>
                </a:lnTo>
                <a:lnTo>
                  <a:pt x="307865" y="506603"/>
                </a:lnTo>
                <a:lnTo>
                  <a:pt x="260921" y="510717"/>
                </a:lnTo>
                <a:close/>
              </a:path>
            </a:pathLst>
          </a:custGeom>
          <a:solidFill>
            <a:srgbClr val="A6A6A6"/>
          </a:solidFill>
        </p:spPr>
        <p:txBody>
          <a:bodyPr wrap="square" lIns="0" tIns="0" rIns="0" bIns="0" rtlCol="0"/>
          <a:lstStyle/>
          <a:p/>
        </p:txBody>
      </p:sp>
      <p:sp>
        <p:nvSpPr>
          <p:cNvPr id="22" name="object 22"/>
          <p:cNvSpPr txBox="1"/>
          <p:nvPr/>
        </p:nvSpPr>
        <p:spPr>
          <a:xfrm>
            <a:off x="2264702" y="3719855"/>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5</a:t>
            </a:r>
            <a:endParaRPr sz="3200">
              <a:latin typeface="Calibri" panose="020F0502020204030204"/>
              <a:cs typeface="Calibri" panose="020F0502020204030204"/>
            </a:endParaRPr>
          </a:p>
        </p:txBody>
      </p:sp>
      <p:sp>
        <p:nvSpPr>
          <p:cNvPr id="23" name="object 23"/>
          <p:cNvSpPr/>
          <p:nvPr/>
        </p:nvSpPr>
        <p:spPr>
          <a:xfrm>
            <a:off x="2415539" y="4401311"/>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24" name="object 24"/>
          <p:cNvSpPr/>
          <p:nvPr/>
        </p:nvSpPr>
        <p:spPr>
          <a:xfrm>
            <a:off x="8938259" y="4401146"/>
            <a:ext cx="522605" cy="511175"/>
          </a:xfrm>
          <a:custGeom>
            <a:avLst/>
            <a:gdLst/>
            <a:ahLst/>
            <a:cxnLst/>
            <a:rect l="l" t="t" r="r" b="b"/>
            <a:pathLst>
              <a:path w="522604" h="511175">
                <a:moveTo>
                  <a:pt x="261353" y="510717"/>
                </a:moveTo>
                <a:lnTo>
                  <a:pt x="214405" y="506602"/>
                </a:lnTo>
                <a:lnTo>
                  <a:pt x="170217" y="494733"/>
                </a:lnTo>
                <a:lnTo>
                  <a:pt x="129524" y="475826"/>
                </a:lnTo>
                <a:lnTo>
                  <a:pt x="93064" y="450597"/>
                </a:lnTo>
                <a:lnTo>
                  <a:pt x="61571" y="419761"/>
                </a:lnTo>
                <a:lnTo>
                  <a:pt x="35782" y="384035"/>
                </a:lnTo>
                <a:lnTo>
                  <a:pt x="16433" y="344135"/>
                </a:lnTo>
                <a:lnTo>
                  <a:pt x="4260" y="300775"/>
                </a:lnTo>
                <a:lnTo>
                  <a:pt x="0" y="254673"/>
                </a:lnTo>
                <a:lnTo>
                  <a:pt x="4260" y="208975"/>
                </a:lnTo>
                <a:lnTo>
                  <a:pt x="16433" y="165932"/>
                </a:lnTo>
                <a:lnTo>
                  <a:pt x="35782" y="126269"/>
                </a:lnTo>
                <a:lnTo>
                  <a:pt x="61571" y="90715"/>
                </a:lnTo>
                <a:lnTo>
                  <a:pt x="93064" y="59996"/>
                </a:lnTo>
                <a:lnTo>
                  <a:pt x="129524" y="34837"/>
                </a:lnTo>
                <a:lnTo>
                  <a:pt x="170217" y="15968"/>
                </a:lnTo>
                <a:lnTo>
                  <a:pt x="214405" y="4113"/>
                </a:lnTo>
                <a:lnTo>
                  <a:pt x="261353" y="0"/>
                </a:lnTo>
                <a:lnTo>
                  <a:pt x="308297" y="4114"/>
                </a:lnTo>
                <a:lnTo>
                  <a:pt x="352480" y="15975"/>
                </a:lnTo>
                <a:lnTo>
                  <a:pt x="393166" y="34863"/>
                </a:lnTo>
                <a:lnTo>
                  <a:pt x="429616" y="60056"/>
                </a:lnTo>
                <a:lnTo>
                  <a:pt x="461093" y="90833"/>
                </a:lnTo>
                <a:lnTo>
                  <a:pt x="486859" y="126473"/>
                </a:lnTo>
                <a:lnTo>
                  <a:pt x="506176" y="166254"/>
                </a:lnTo>
                <a:lnTo>
                  <a:pt x="518308" y="209457"/>
                </a:lnTo>
                <a:lnTo>
                  <a:pt x="522516" y="255358"/>
                </a:lnTo>
                <a:lnTo>
                  <a:pt x="518308" y="301257"/>
                </a:lnTo>
                <a:lnTo>
                  <a:pt x="506176" y="344457"/>
                </a:lnTo>
                <a:lnTo>
                  <a:pt x="486859" y="384238"/>
                </a:lnTo>
                <a:lnTo>
                  <a:pt x="461093" y="419879"/>
                </a:lnTo>
                <a:lnTo>
                  <a:pt x="429616" y="450657"/>
                </a:lnTo>
                <a:lnTo>
                  <a:pt x="393166" y="475851"/>
                </a:lnTo>
                <a:lnTo>
                  <a:pt x="352480" y="494740"/>
                </a:lnTo>
                <a:lnTo>
                  <a:pt x="308297" y="506603"/>
                </a:lnTo>
                <a:lnTo>
                  <a:pt x="261353" y="510717"/>
                </a:lnTo>
                <a:close/>
              </a:path>
            </a:pathLst>
          </a:custGeom>
          <a:solidFill>
            <a:srgbClr val="D9D9D9"/>
          </a:solidFill>
        </p:spPr>
        <p:txBody>
          <a:bodyPr wrap="square" lIns="0" tIns="0" rIns="0" bIns="0" rtlCol="0"/>
          <a:lstStyle/>
          <a:p/>
        </p:txBody>
      </p:sp>
      <p:sp>
        <p:nvSpPr>
          <p:cNvPr id="25" name="object 25"/>
          <p:cNvSpPr/>
          <p:nvPr/>
        </p:nvSpPr>
        <p:spPr>
          <a:xfrm>
            <a:off x="2119883" y="4400600"/>
            <a:ext cx="522605" cy="511175"/>
          </a:xfrm>
          <a:custGeom>
            <a:avLst/>
            <a:gdLst/>
            <a:ahLst/>
            <a:cxnLst/>
            <a:rect l="l" t="t" r="r" b="b"/>
            <a:pathLst>
              <a:path w="522605" h="511175">
                <a:moveTo>
                  <a:pt x="260921" y="510717"/>
                </a:moveTo>
                <a:lnTo>
                  <a:pt x="213974" y="506603"/>
                </a:lnTo>
                <a:lnTo>
                  <a:pt x="169790" y="494740"/>
                </a:lnTo>
                <a:lnTo>
                  <a:pt x="129109" y="475849"/>
                </a:lnTo>
                <a:lnTo>
                  <a:pt x="92670" y="450649"/>
                </a:lnTo>
                <a:lnTo>
                  <a:pt x="61213" y="419860"/>
                </a:lnTo>
                <a:lnTo>
                  <a:pt x="35478" y="384203"/>
                </a:lnTo>
                <a:lnTo>
                  <a:pt x="16204" y="344397"/>
                </a:lnTo>
                <a:lnTo>
                  <a:pt x="4132" y="301162"/>
                </a:lnTo>
                <a:lnTo>
                  <a:pt x="0" y="255219"/>
                </a:lnTo>
                <a:lnTo>
                  <a:pt x="4132" y="209358"/>
                </a:lnTo>
                <a:lnTo>
                  <a:pt x="16204" y="166189"/>
                </a:lnTo>
                <a:lnTo>
                  <a:pt x="35478" y="126431"/>
                </a:lnTo>
                <a:lnTo>
                  <a:pt x="61213" y="90809"/>
                </a:lnTo>
                <a:lnTo>
                  <a:pt x="92670" y="60044"/>
                </a:lnTo>
                <a:lnTo>
                  <a:pt x="129109" y="34858"/>
                </a:lnTo>
                <a:lnTo>
                  <a:pt x="169790" y="15974"/>
                </a:lnTo>
                <a:lnTo>
                  <a:pt x="213974" y="4113"/>
                </a:lnTo>
                <a:lnTo>
                  <a:pt x="260921" y="0"/>
                </a:lnTo>
                <a:lnTo>
                  <a:pt x="307865" y="4114"/>
                </a:lnTo>
                <a:lnTo>
                  <a:pt x="352050" y="15975"/>
                </a:lnTo>
                <a:lnTo>
                  <a:pt x="392737" y="34863"/>
                </a:lnTo>
                <a:lnTo>
                  <a:pt x="429189" y="60056"/>
                </a:lnTo>
                <a:lnTo>
                  <a:pt x="460668" y="90833"/>
                </a:lnTo>
                <a:lnTo>
                  <a:pt x="486436" y="126473"/>
                </a:lnTo>
                <a:lnTo>
                  <a:pt x="505756" y="166254"/>
                </a:lnTo>
                <a:lnTo>
                  <a:pt x="517888" y="209457"/>
                </a:lnTo>
                <a:lnTo>
                  <a:pt x="522097" y="255358"/>
                </a:lnTo>
                <a:lnTo>
                  <a:pt x="517888" y="301260"/>
                </a:lnTo>
                <a:lnTo>
                  <a:pt x="505756" y="344462"/>
                </a:lnTo>
                <a:lnTo>
                  <a:pt x="486436" y="384244"/>
                </a:lnTo>
                <a:lnTo>
                  <a:pt x="460668" y="419884"/>
                </a:lnTo>
                <a:lnTo>
                  <a:pt x="429189" y="450661"/>
                </a:lnTo>
                <a:lnTo>
                  <a:pt x="392737" y="475854"/>
                </a:lnTo>
                <a:lnTo>
                  <a:pt x="352050" y="494742"/>
                </a:lnTo>
                <a:lnTo>
                  <a:pt x="307865" y="506603"/>
                </a:lnTo>
                <a:lnTo>
                  <a:pt x="260921" y="510717"/>
                </a:lnTo>
                <a:close/>
              </a:path>
            </a:pathLst>
          </a:custGeom>
          <a:solidFill>
            <a:srgbClr val="A6A6A6"/>
          </a:solidFill>
        </p:spPr>
        <p:txBody>
          <a:bodyPr wrap="square" lIns="0" tIns="0" rIns="0" bIns="0" rtlCol="0"/>
          <a:lstStyle/>
          <a:p/>
        </p:txBody>
      </p:sp>
      <p:sp>
        <p:nvSpPr>
          <p:cNvPr id="26" name="object 26"/>
          <p:cNvSpPr txBox="1"/>
          <p:nvPr/>
        </p:nvSpPr>
        <p:spPr>
          <a:xfrm>
            <a:off x="2264702" y="4373156"/>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6</a:t>
            </a:r>
            <a:endParaRPr sz="3200">
              <a:latin typeface="Calibri" panose="020F0502020204030204"/>
              <a:cs typeface="Calibri" panose="020F0502020204030204"/>
            </a:endParaRPr>
          </a:p>
        </p:txBody>
      </p:sp>
      <p:sp>
        <p:nvSpPr>
          <p:cNvPr id="27" name="object 27"/>
          <p:cNvSpPr/>
          <p:nvPr/>
        </p:nvSpPr>
        <p:spPr>
          <a:xfrm>
            <a:off x="2415539" y="5055108"/>
            <a:ext cx="6791325" cy="509270"/>
          </a:xfrm>
          <a:custGeom>
            <a:avLst/>
            <a:gdLst/>
            <a:ahLst/>
            <a:cxnLst/>
            <a:rect l="l" t="t" r="r" b="b"/>
            <a:pathLst>
              <a:path w="6791325" h="509270">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28" name="object 28"/>
          <p:cNvSpPr/>
          <p:nvPr/>
        </p:nvSpPr>
        <p:spPr>
          <a:xfrm>
            <a:off x="8938259" y="5054447"/>
            <a:ext cx="522605" cy="511175"/>
          </a:xfrm>
          <a:custGeom>
            <a:avLst/>
            <a:gdLst/>
            <a:ahLst/>
            <a:cxnLst/>
            <a:rect l="l" t="t" r="r" b="b"/>
            <a:pathLst>
              <a:path w="522604" h="511175">
                <a:moveTo>
                  <a:pt x="261353" y="510717"/>
                </a:moveTo>
                <a:lnTo>
                  <a:pt x="214405" y="506603"/>
                </a:lnTo>
                <a:lnTo>
                  <a:pt x="170217" y="494738"/>
                </a:lnTo>
                <a:lnTo>
                  <a:pt x="129524" y="475844"/>
                </a:lnTo>
                <a:lnTo>
                  <a:pt x="93064" y="450640"/>
                </a:lnTo>
                <a:lnTo>
                  <a:pt x="61571" y="419846"/>
                </a:lnTo>
                <a:lnTo>
                  <a:pt x="35782" y="384182"/>
                </a:lnTo>
                <a:lnTo>
                  <a:pt x="16433" y="344368"/>
                </a:lnTo>
                <a:lnTo>
                  <a:pt x="4260" y="301123"/>
                </a:lnTo>
                <a:lnTo>
                  <a:pt x="0" y="255168"/>
                </a:lnTo>
                <a:lnTo>
                  <a:pt x="4260" y="209323"/>
                </a:lnTo>
                <a:lnTo>
                  <a:pt x="16433" y="166165"/>
                </a:lnTo>
                <a:lnTo>
                  <a:pt x="35782" y="126416"/>
                </a:lnTo>
                <a:lnTo>
                  <a:pt x="61571" y="90800"/>
                </a:lnTo>
                <a:lnTo>
                  <a:pt x="93064" y="60039"/>
                </a:lnTo>
                <a:lnTo>
                  <a:pt x="129524" y="34856"/>
                </a:lnTo>
                <a:lnTo>
                  <a:pt x="170217" y="15973"/>
                </a:lnTo>
                <a:lnTo>
                  <a:pt x="214405" y="4113"/>
                </a:lnTo>
                <a:lnTo>
                  <a:pt x="261353" y="0"/>
                </a:lnTo>
                <a:lnTo>
                  <a:pt x="308297" y="4114"/>
                </a:lnTo>
                <a:lnTo>
                  <a:pt x="352480" y="15975"/>
                </a:lnTo>
                <a:lnTo>
                  <a:pt x="393166" y="34863"/>
                </a:lnTo>
                <a:lnTo>
                  <a:pt x="429616" y="60056"/>
                </a:lnTo>
                <a:lnTo>
                  <a:pt x="461093" y="90833"/>
                </a:lnTo>
                <a:lnTo>
                  <a:pt x="486859" y="126473"/>
                </a:lnTo>
                <a:lnTo>
                  <a:pt x="506176" y="166254"/>
                </a:lnTo>
                <a:lnTo>
                  <a:pt x="518308" y="209457"/>
                </a:lnTo>
                <a:lnTo>
                  <a:pt x="522516" y="255358"/>
                </a:lnTo>
                <a:lnTo>
                  <a:pt x="518308" y="301257"/>
                </a:lnTo>
                <a:lnTo>
                  <a:pt x="506176" y="344457"/>
                </a:lnTo>
                <a:lnTo>
                  <a:pt x="486859" y="384238"/>
                </a:lnTo>
                <a:lnTo>
                  <a:pt x="461093" y="419879"/>
                </a:lnTo>
                <a:lnTo>
                  <a:pt x="429616" y="450657"/>
                </a:lnTo>
                <a:lnTo>
                  <a:pt x="393166" y="475851"/>
                </a:lnTo>
                <a:lnTo>
                  <a:pt x="352480" y="494740"/>
                </a:lnTo>
                <a:lnTo>
                  <a:pt x="308297" y="506603"/>
                </a:lnTo>
                <a:lnTo>
                  <a:pt x="261353" y="510717"/>
                </a:lnTo>
                <a:close/>
              </a:path>
            </a:pathLst>
          </a:custGeom>
          <a:solidFill>
            <a:srgbClr val="D9D9D9"/>
          </a:solidFill>
        </p:spPr>
        <p:txBody>
          <a:bodyPr wrap="square" lIns="0" tIns="0" rIns="0" bIns="0" rtlCol="0"/>
          <a:lstStyle/>
          <a:p/>
        </p:txBody>
      </p:sp>
      <p:sp>
        <p:nvSpPr>
          <p:cNvPr id="29" name="object 29"/>
          <p:cNvSpPr/>
          <p:nvPr/>
        </p:nvSpPr>
        <p:spPr>
          <a:xfrm>
            <a:off x="2119883" y="5053901"/>
            <a:ext cx="522605" cy="511175"/>
          </a:xfrm>
          <a:custGeom>
            <a:avLst/>
            <a:gdLst/>
            <a:ahLst/>
            <a:cxnLst/>
            <a:rect l="l" t="t" r="r" b="b"/>
            <a:pathLst>
              <a:path w="522605" h="511175">
                <a:moveTo>
                  <a:pt x="260921" y="510717"/>
                </a:moveTo>
                <a:lnTo>
                  <a:pt x="213972" y="506603"/>
                </a:lnTo>
                <a:lnTo>
                  <a:pt x="169781" y="494742"/>
                </a:lnTo>
                <a:lnTo>
                  <a:pt x="129090" y="475854"/>
                </a:lnTo>
                <a:lnTo>
                  <a:pt x="92638" y="450661"/>
                </a:lnTo>
                <a:lnTo>
                  <a:pt x="61213" y="419945"/>
                </a:lnTo>
                <a:lnTo>
                  <a:pt x="35478" y="384349"/>
                </a:lnTo>
                <a:lnTo>
                  <a:pt x="16204" y="344630"/>
                </a:lnTo>
                <a:lnTo>
                  <a:pt x="4132" y="301510"/>
                </a:lnTo>
                <a:lnTo>
                  <a:pt x="0" y="255714"/>
                </a:lnTo>
                <a:lnTo>
                  <a:pt x="4132" y="209706"/>
                </a:lnTo>
                <a:lnTo>
                  <a:pt x="16204" y="166422"/>
                </a:lnTo>
                <a:lnTo>
                  <a:pt x="35478" y="126578"/>
                </a:lnTo>
                <a:lnTo>
                  <a:pt x="61213" y="90894"/>
                </a:lnTo>
                <a:lnTo>
                  <a:pt x="92715" y="60056"/>
                </a:lnTo>
                <a:lnTo>
                  <a:pt x="129137" y="34863"/>
                </a:lnTo>
                <a:lnTo>
                  <a:pt x="169804" y="15975"/>
                </a:lnTo>
                <a:lnTo>
                  <a:pt x="213979" y="4114"/>
                </a:lnTo>
                <a:lnTo>
                  <a:pt x="260921" y="0"/>
                </a:lnTo>
                <a:lnTo>
                  <a:pt x="307867" y="4114"/>
                </a:lnTo>
                <a:lnTo>
                  <a:pt x="352058" y="15979"/>
                </a:lnTo>
                <a:lnTo>
                  <a:pt x="392756" y="34876"/>
                </a:lnTo>
                <a:lnTo>
                  <a:pt x="429221" y="60087"/>
                </a:lnTo>
                <a:lnTo>
                  <a:pt x="460668" y="90833"/>
                </a:lnTo>
                <a:lnTo>
                  <a:pt x="486436" y="126473"/>
                </a:lnTo>
                <a:lnTo>
                  <a:pt x="505756" y="166254"/>
                </a:lnTo>
                <a:lnTo>
                  <a:pt x="517888" y="209457"/>
                </a:lnTo>
                <a:lnTo>
                  <a:pt x="522097" y="255358"/>
                </a:lnTo>
                <a:lnTo>
                  <a:pt x="517888" y="301260"/>
                </a:lnTo>
                <a:lnTo>
                  <a:pt x="505756" y="344462"/>
                </a:lnTo>
                <a:lnTo>
                  <a:pt x="486436" y="384244"/>
                </a:lnTo>
                <a:lnTo>
                  <a:pt x="460668" y="419884"/>
                </a:lnTo>
                <a:lnTo>
                  <a:pt x="429144" y="450692"/>
                </a:lnTo>
                <a:lnTo>
                  <a:pt x="392709" y="475867"/>
                </a:lnTo>
                <a:lnTo>
                  <a:pt x="352035" y="494746"/>
                </a:lnTo>
                <a:lnTo>
                  <a:pt x="307860" y="506604"/>
                </a:lnTo>
                <a:lnTo>
                  <a:pt x="260921" y="510717"/>
                </a:lnTo>
                <a:close/>
              </a:path>
            </a:pathLst>
          </a:custGeom>
          <a:solidFill>
            <a:srgbClr val="A6A6A6"/>
          </a:solidFill>
        </p:spPr>
        <p:txBody>
          <a:bodyPr wrap="square" lIns="0" tIns="0" rIns="0" bIns="0" rtlCol="0"/>
          <a:lstStyle/>
          <a:p/>
        </p:txBody>
      </p:sp>
      <p:sp>
        <p:nvSpPr>
          <p:cNvPr id="30" name="object 30"/>
          <p:cNvSpPr txBox="1"/>
          <p:nvPr/>
        </p:nvSpPr>
        <p:spPr>
          <a:xfrm>
            <a:off x="2264702" y="5026456"/>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7</a:t>
            </a:r>
            <a:endParaRPr sz="3200">
              <a:latin typeface="Calibri" panose="020F0502020204030204"/>
              <a:cs typeface="Calibri" panose="020F0502020204030204"/>
            </a:endParaRPr>
          </a:p>
        </p:txBody>
      </p:sp>
      <p:sp>
        <p:nvSpPr>
          <p:cNvPr id="31" name="object 31"/>
          <p:cNvSpPr/>
          <p:nvPr/>
        </p:nvSpPr>
        <p:spPr>
          <a:xfrm>
            <a:off x="2415539" y="5707379"/>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32" name="object 32"/>
          <p:cNvSpPr/>
          <p:nvPr/>
        </p:nvSpPr>
        <p:spPr>
          <a:xfrm>
            <a:off x="8938259" y="5707748"/>
            <a:ext cx="522605" cy="511175"/>
          </a:xfrm>
          <a:custGeom>
            <a:avLst/>
            <a:gdLst/>
            <a:ahLst/>
            <a:cxnLst/>
            <a:rect l="l" t="t" r="r" b="b"/>
            <a:pathLst>
              <a:path w="522604" h="511175">
                <a:moveTo>
                  <a:pt x="261353" y="510717"/>
                </a:moveTo>
                <a:lnTo>
                  <a:pt x="214403" y="506603"/>
                </a:lnTo>
                <a:lnTo>
                  <a:pt x="170210" y="494742"/>
                </a:lnTo>
                <a:lnTo>
                  <a:pt x="129508" y="475854"/>
                </a:lnTo>
                <a:lnTo>
                  <a:pt x="93036" y="450661"/>
                </a:lnTo>
                <a:lnTo>
                  <a:pt x="61533" y="419884"/>
                </a:lnTo>
                <a:lnTo>
                  <a:pt x="35782" y="384334"/>
                </a:lnTo>
                <a:lnTo>
                  <a:pt x="16433" y="344606"/>
                </a:lnTo>
                <a:lnTo>
                  <a:pt x="4260" y="301474"/>
                </a:lnTo>
                <a:lnTo>
                  <a:pt x="0" y="255663"/>
                </a:lnTo>
                <a:lnTo>
                  <a:pt x="4260" y="209671"/>
                </a:lnTo>
                <a:lnTo>
                  <a:pt x="16433" y="166398"/>
                </a:lnTo>
                <a:lnTo>
                  <a:pt x="35782" y="126563"/>
                </a:lnTo>
                <a:lnTo>
                  <a:pt x="61624" y="90833"/>
                </a:lnTo>
                <a:lnTo>
                  <a:pt x="93102" y="60056"/>
                </a:lnTo>
                <a:lnTo>
                  <a:pt x="129549" y="34863"/>
                </a:lnTo>
                <a:lnTo>
                  <a:pt x="170229" y="15975"/>
                </a:lnTo>
                <a:lnTo>
                  <a:pt x="214410" y="4114"/>
                </a:lnTo>
                <a:lnTo>
                  <a:pt x="261353" y="0"/>
                </a:lnTo>
                <a:lnTo>
                  <a:pt x="308298" y="4114"/>
                </a:lnTo>
                <a:lnTo>
                  <a:pt x="352487" y="15978"/>
                </a:lnTo>
                <a:lnTo>
                  <a:pt x="393182" y="34874"/>
                </a:lnTo>
                <a:lnTo>
                  <a:pt x="429643" y="60083"/>
                </a:lnTo>
                <a:lnTo>
                  <a:pt x="461130" y="90885"/>
                </a:lnTo>
                <a:lnTo>
                  <a:pt x="486859" y="126473"/>
                </a:lnTo>
                <a:lnTo>
                  <a:pt x="506176" y="166254"/>
                </a:lnTo>
                <a:lnTo>
                  <a:pt x="518308" y="209457"/>
                </a:lnTo>
                <a:lnTo>
                  <a:pt x="522516" y="255358"/>
                </a:lnTo>
                <a:lnTo>
                  <a:pt x="518308" y="301260"/>
                </a:lnTo>
                <a:lnTo>
                  <a:pt x="506176" y="344462"/>
                </a:lnTo>
                <a:lnTo>
                  <a:pt x="486859" y="384244"/>
                </a:lnTo>
                <a:lnTo>
                  <a:pt x="461039" y="419936"/>
                </a:lnTo>
                <a:lnTo>
                  <a:pt x="429577" y="450688"/>
                </a:lnTo>
                <a:lnTo>
                  <a:pt x="393141" y="475865"/>
                </a:lnTo>
                <a:lnTo>
                  <a:pt x="352468" y="494745"/>
                </a:lnTo>
                <a:lnTo>
                  <a:pt x="308292" y="506604"/>
                </a:lnTo>
                <a:lnTo>
                  <a:pt x="261353" y="510717"/>
                </a:lnTo>
                <a:close/>
              </a:path>
            </a:pathLst>
          </a:custGeom>
          <a:solidFill>
            <a:srgbClr val="D9D9D9"/>
          </a:solidFill>
        </p:spPr>
        <p:txBody>
          <a:bodyPr wrap="square" lIns="0" tIns="0" rIns="0" bIns="0" rtlCol="0"/>
          <a:lstStyle/>
          <a:p/>
        </p:txBody>
      </p:sp>
      <p:sp>
        <p:nvSpPr>
          <p:cNvPr id="33" name="object 33"/>
          <p:cNvSpPr/>
          <p:nvPr/>
        </p:nvSpPr>
        <p:spPr>
          <a:xfrm>
            <a:off x="2119883" y="5707202"/>
            <a:ext cx="522605" cy="511175"/>
          </a:xfrm>
          <a:custGeom>
            <a:avLst/>
            <a:gdLst/>
            <a:ahLst/>
            <a:cxnLst/>
            <a:rect l="l" t="t" r="r" b="b"/>
            <a:pathLst>
              <a:path w="522605" h="511175">
                <a:moveTo>
                  <a:pt x="260921" y="510717"/>
                </a:moveTo>
                <a:lnTo>
                  <a:pt x="213974" y="506602"/>
                </a:lnTo>
                <a:lnTo>
                  <a:pt x="169790" y="494734"/>
                </a:lnTo>
                <a:lnTo>
                  <a:pt x="129109" y="475829"/>
                </a:lnTo>
                <a:lnTo>
                  <a:pt x="92670" y="450602"/>
                </a:lnTo>
                <a:lnTo>
                  <a:pt x="61213" y="419769"/>
                </a:lnTo>
                <a:lnTo>
                  <a:pt x="35478" y="384045"/>
                </a:lnTo>
                <a:lnTo>
                  <a:pt x="16204" y="344146"/>
                </a:lnTo>
                <a:lnTo>
                  <a:pt x="4132" y="300787"/>
                </a:lnTo>
                <a:lnTo>
                  <a:pt x="0" y="254685"/>
                </a:lnTo>
                <a:lnTo>
                  <a:pt x="4132" y="208984"/>
                </a:lnTo>
                <a:lnTo>
                  <a:pt x="16204" y="165938"/>
                </a:lnTo>
                <a:lnTo>
                  <a:pt x="35478" y="126273"/>
                </a:lnTo>
                <a:lnTo>
                  <a:pt x="61213" y="90717"/>
                </a:lnTo>
                <a:lnTo>
                  <a:pt x="92670" y="59997"/>
                </a:lnTo>
                <a:lnTo>
                  <a:pt x="129109" y="34838"/>
                </a:lnTo>
                <a:lnTo>
                  <a:pt x="169790" y="15968"/>
                </a:lnTo>
                <a:lnTo>
                  <a:pt x="213974" y="4113"/>
                </a:lnTo>
                <a:lnTo>
                  <a:pt x="260921" y="0"/>
                </a:lnTo>
                <a:lnTo>
                  <a:pt x="307865" y="4114"/>
                </a:lnTo>
                <a:lnTo>
                  <a:pt x="352050" y="15975"/>
                </a:lnTo>
                <a:lnTo>
                  <a:pt x="392737" y="34863"/>
                </a:lnTo>
                <a:lnTo>
                  <a:pt x="429189" y="60056"/>
                </a:lnTo>
                <a:lnTo>
                  <a:pt x="460668" y="90833"/>
                </a:lnTo>
                <a:lnTo>
                  <a:pt x="486436" y="126473"/>
                </a:lnTo>
                <a:lnTo>
                  <a:pt x="505756" y="166254"/>
                </a:lnTo>
                <a:lnTo>
                  <a:pt x="517888" y="209457"/>
                </a:lnTo>
                <a:lnTo>
                  <a:pt x="522097" y="255358"/>
                </a:lnTo>
                <a:lnTo>
                  <a:pt x="517888" y="301260"/>
                </a:lnTo>
                <a:lnTo>
                  <a:pt x="505756" y="344462"/>
                </a:lnTo>
                <a:lnTo>
                  <a:pt x="486436" y="384244"/>
                </a:lnTo>
                <a:lnTo>
                  <a:pt x="460668" y="419884"/>
                </a:lnTo>
                <a:lnTo>
                  <a:pt x="429189" y="450661"/>
                </a:lnTo>
                <a:lnTo>
                  <a:pt x="392737" y="475854"/>
                </a:lnTo>
                <a:lnTo>
                  <a:pt x="352050" y="494742"/>
                </a:lnTo>
                <a:lnTo>
                  <a:pt x="307865" y="506603"/>
                </a:lnTo>
                <a:lnTo>
                  <a:pt x="260921" y="510717"/>
                </a:lnTo>
                <a:close/>
              </a:path>
            </a:pathLst>
          </a:custGeom>
          <a:solidFill>
            <a:srgbClr val="A6A6A6"/>
          </a:solidFill>
        </p:spPr>
        <p:txBody>
          <a:bodyPr wrap="square" lIns="0" tIns="0" rIns="0" bIns="0" rtlCol="0"/>
          <a:lstStyle/>
          <a:p/>
        </p:txBody>
      </p:sp>
      <p:sp>
        <p:nvSpPr>
          <p:cNvPr id="34" name="object 34"/>
          <p:cNvSpPr txBox="1"/>
          <p:nvPr/>
        </p:nvSpPr>
        <p:spPr>
          <a:xfrm>
            <a:off x="2264702" y="5679757"/>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8</a:t>
            </a:r>
            <a:endParaRPr sz="3200">
              <a:latin typeface="Calibri" panose="020F0502020204030204"/>
              <a:cs typeface="Calibri" panose="020F0502020204030204"/>
            </a:endParaRPr>
          </a:p>
        </p:txBody>
      </p:sp>
      <p:sp>
        <p:nvSpPr>
          <p:cNvPr id="35" name="object 35"/>
          <p:cNvSpPr txBox="1"/>
          <p:nvPr/>
        </p:nvSpPr>
        <p:spPr>
          <a:xfrm>
            <a:off x="2982899" y="1192682"/>
            <a:ext cx="251015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关于</a:t>
            </a:r>
            <a:r>
              <a:rPr sz="2400" b="1" spc="-5" dirty="0">
                <a:solidFill>
                  <a:srgbClr val="A6A6A6"/>
                </a:solidFill>
                <a:latin typeface="微软雅黑" panose="020B0503020204020204" charset="-122"/>
                <a:cs typeface="微软雅黑" panose="020B0503020204020204" charset="-122"/>
              </a:rPr>
              <a:t>ISA</a:t>
            </a:r>
            <a:r>
              <a:rPr sz="2400" b="1" dirty="0">
                <a:solidFill>
                  <a:srgbClr val="A6A6A6"/>
                </a:solidFill>
                <a:latin typeface="微软雅黑" panose="020B0503020204020204" charset="-122"/>
                <a:cs typeface="微软雅黑" panose="020B0503020204020204" charset="-122"/>
              </a:rPr>
              <a:t>和</a:t>
            </a:r>
            <a:r>
              <a:rPr sz="2400" b="1" spc="-5" dirty="0">
                <a:solidFill>
                  <a:srgbClr val="A6A6A6"/>
                </a:solidFill>
                <a:latin typeface="微软雅黑" panose="020B0503020204020204" charset="-122"/>
                <a:cs typeface="微软雅黑" panose="020B0503020204020204" charset="-122"/>
              </a:rPr>
              <a:t>RISC-V</a:t>
            </a:r>
            <a:endParaRPr sz="2400">
              <a:latin typeface="微软雅黑" panose="020B0503020204020204" charset="-122"/>
              <a:cs typeface="微软雅黑" panose="020B0503020204020204" charset="-122"/>
            </a:endParaRPr>
          </a:p>
        </p:txBody>
      </p:sp>
      <p:sp>
        <p:nvSpPr>
          <p:cNvPr id="36" name="object 36"/>
          <p:cNvSpPr txBox="1"/>
          <p:nvPr/>
        </p:nvSpPr>
        <p:spPr>
          <a:xfrm>
            <a:off x="2982899" y="1845360"/>
            <a:ext cx="364744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C00000"/>
                </a:solidFill>
                <a:latin typeface="微软雅黑" panose="020B0503020204020204" charset="-122"/>
                <a:cs typeface="微软雅黑" panose="020B0503020204020204" charset="-122"/>
              </a:rPr>
              <a:t>开源</a:t>
            </a:r>
            <a:r>
              <a:rPr sz="2400" b="1" spc="-5" dirty="0">
                <a:solidFill>
                  <a:srgbClr val="C00000"/>
                </a:solidFill>
                <a:latin typeface="微软雅黑" panose="020B0503020204020204" charset="-122"/>
                <a:cs typeface="微软雅黑" panose="020B0503020204020204" charset="-122"/>
              </a:rPr>
              <a:t>RISC-V</a:t>
            </a:r>
            <a:r>
              <a:rPr sz="2400" b="1" dirty="0">
                <a:solidFill>
                  <a:srgbClr val="C00000"/>
                </a:solidFill>
                <a:latin typeface="微软雅黑" panose="020B0503020204020204" charset="-122"/>
                <a:cs typeface="微软雅黑" panose="020B0503020204020204" charset="-122"/>
              </a:rPr>
              <a:t>内核蜂鸟</a:t>
            </a:r>
            <a:r>
              <a:rPr sz="2400" b="1" spc="-5" dirty="0">
                <a:solidFill>
                  <a:srgbClr val="C00000"/>
                </a:solidFill>
                <a:latin typeface="微软雅黑" panose="020B0503020204020204" charset="-122"/>
                <a:cs typeface="微软雅黑" panose="020B0503020204020204" charset="-122"/>
              </a:rPr>
              <a:t>E203</a:t>
            </a:r>
            <a:endParaRPr sz="2400">
              <a:latin typeface="微软雅黑" panose="020B0503020204020204" charset="-122"/>
              <a:cs typeface="微软雅黑" panose="020B0503020204020204" charset="-122"/>
            </a:endParaRPr>
          </a:p>
        </p:txBody>
      </p:sp>
      <p:sp>
        <p:nvSpPr>
          <p:cNvPr id="37" name="object 37"/>
          <p:cNvSpPr txBox="1"/>
          <p:nvPr/>
        </p:nvSpPr>
        <p:spPr>
          <a:xfrm>
            <a:off x="2982899" y="2499283"/>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的中文书籍</a:t>
            </a:r>
            <a:endParaRPr sz="2400">
              <a:latin typeface="微软雅黑" panose="020B0503020204020204" charset="-122"/>
              <a:cs typeface="微软雅黑" panose="020B0503020204020204" charset="-122"/>
            </a:endParaRPr>
          </a:p>
        </p:txBody>
      </p:sp>
      <p:sp>
        <p:nvSpPr>
          <p:cNvPr id="38" name="object 38"/>
          <p:cNvSpPr txBox="1"/>
          <p:nvPr/>
        </p:nvSpPr>
        <p:spPr>
          <a:xfrm>
            <a:off x="2982899" y="3185159"/>
            <a:ext cx="3875404"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蜂鸟</a:t>
            </a:r>
            <a:r>
              <a:rPr sz="2400" b="1" spc="-5" dirty="0">
                <a:solidFill>
                  <a:srgbClr val="A6A6A6"/>
                </a:solidFill>
                <a:latin typeface="微软雅黑" panose="020B0503020204020204" charset="-122"/>
                <a:cs typeface="微软雅黑" panose="020B0503020204020204" charset="-122"/>
              </a:rPr>
              <a:t>E203</a:t>
            </a:r>
            <a:r>
              <a:rPr sz="2400" b="1" dirty="0">
                <a:solidFill>
                  <a:srgbClr val="A6A6A6"/>
                </a:solidFill>
                <a:latin typeface="微软雅黑" panose="020B0503020204020204" charset="-122"/>
                <a:cs typeface="微软雅黑" panose="020B0503020204020204" charset="-122"/>
              </a:rPr>
              <a:t>软硬件D</a:t>
            </a:r>
            <a:r>
              <a:rPr sz="2400" b="1" spc="-5" dirty="0">
                <a:solidFill>
                  <a:srgbClr val="A6A6A6"/>
                </a:solidFill>
                <a:latin typeface="微软雅黑" panose="020B0503020204020204" charset="-122"/>
                <a:cs typeface="微软雅黑" panose="020B0503020204020204" charset="-122"/>
              </a:rPr>
              <a:t>E</a:t>
            </a:r>
            <a:r>
              <a:rPr sz="2400" b="1" dirty="0">
                <a:solidFill>
                  <a:srgbClr val="A6A6A6"/>
                </a:solidFill>
                <a:latin typeface="微软雅黑" panose="020B0503020204020204" charset="-122"/>
                <a:cs typeface="微软雅黑" panose="020B0503020204020204" charset="-122"/>
              </a:rPr>
              <a:t>MO视频</a:t>
            </a:r>
            <a:endParaRPr sz="2400">
              <a:latin typeface="微软雅黑" panose="020B0503020204020204" charset="-122"/>
              <a:cs typeface="微软雅黑" panose="020B0503020204020204" charset="-122"/>
            </a:endParaRPr>
          </a:p>
        </p:txBody>
      </p:sp>
      <p:sp>
        <p:nvSpPr>
          <p:cNvPr id="39" name="object 39"/>
          <p:cNvSpPr txBox="1"/>
          <p:nvPr/>
        </p:nvSpPr>
        <p:spPr>
          <a:xfrm>
            <a:off x="2982899" y="3772699"/>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的几个误区</a:t>
            </a:r>
            <a:endParaRPr sz="2400">
              <a:latin typeface="微软雅黑" panose="020B0503020204020204" charset="-122"/>
              <a:cs typeface="微软雅黑" panose="020B0503020204020204" charset="-122"/>
            </a:endParaRPr>
          </a:p>
        </p:txBody>
      </p:sp>
      <p:sp>
        <p:nvSpPr>
          <p:cNvPr id="40" name="object 40"/>
          <p:cNvSpPr txBox="1"/>
          <p:nvPr/>
        </p:nvSpPr>
        <p:spPr>
          <a:xfrm>
            <a:off x="2982899" y="4459185"/>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的未来趋势</a:t>
            </a:r>
            <a:endParaRPr sz="2400">
              <a:latin typeface="微软雅黑" panose="020B0503020204020204" charset="-122"/>
              <a:cs typeface="微软雅黑" panose="020B0503020204020204" charset="-122"/>
            </a:endParaRPr>
          </a:p>
        </p:txBody>
      </p:sp>
      <p:sp>
        <p:nvSpPr>
          <p:cNvPr id="41" name="object 41"/>
          <p:cNvSpPr txBox="1"/>
          <p:nvPr/>
        </p:nvSpPr>
        <p:spPr>
          <a:xfrm>
            <a:off x="2982899" y="5112486"/>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的商业本质</a:t>
            </a:r>
            <a:endParaRPr sz="2400">
              <a:latin typeface="微软雅黑" panose="020B0503020204020204" charset="-122"/>
              <a:cs typeface="微软雅黑" panose="020B0503020204020204" charset="-122"/>
            </a:endParaRPr>
          </a:p>
        </p:txBody>
      </p:sp>
      <p:sp>
        <p:nvSpPr>
          <p:cNvPr id="42" name="object 42"/>
          <p:cNvSpPr txBox="1"/>
          <p:nvPr/>
        </p:nvSpPr>
        <p:spPr>
          <a:xfrm>
            <a:off x="2982899" y="5770702"/>
            <a:ext cx="185420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芯来科技介绍</a:t>
            </a:r>
            <a:endParaRPr sz="2400">
              <a:latin typeface="微软雅黑" panose="020B0503020204020204" charset="-122"/>
              <a:cs typeface="微软雅黑" panose="020B0503020204020204" charset="-122"/>
            </a:endParaRPr>
          </a:p>
        </p:txBody>
      </p:sp>
      <p:sp>
        <p:nvSpPr>
          <p:cNvPr id="43" name="object 43"/>
          <p:cNvSpPr txBox="1">
            <a:spLocks noGrp="1"/>
          </p:cNvSpPr>
          <p:nvPr>
            <p:ph type="title"/>
          </p:nvPr>
        </p:nvSpPr>
        <p:spPr>
          <a:xfrm>
            <a:off x="713105" y="243840"/>
            <a:ext cx="1802764"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C00000"/>
                </a:solidFill>
              </a:rPr>
              <a:t>Age</a:t>
            </a:r>
            <a:r>
              <a:rPr sz="3600" dirty="0">
                <a:solidFill>
                  <a:srgbClr val="C00000"/>
                </a:solidFill>
              </a:rPr>
              <a:t>n</a:t>
            </a:r>
            <a:r>
              <a:rPr sz="3600" spc="-5" dirty="0">
                <a:solidFill>
                  <a:srgbClr val="C00000"/>
                </a:solidFill>
              </a:rPr>
              <a:t>d</a:t>
            </a:r>
            <a:r>
              <a:rPr sz="3600" dirty="0">
                <a:solidFill>
                  <a:srgbClr val="C00000"/>
                </a:solidFill>
              </a:rPr>
              <a:t>a</a:t>
            </a:r>
            <a:endParaRPr sz="3600"/>
          </a:p>
        </p:txBody>
      </p:sp>
      <p:sp>
        <p:nvSpPr>
          <p:cNvPr id="44" name="object 4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5788025" cy="56642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处理器设计和验证的特点</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1025525" y="3652011"/>
            <a:ext cx="4578985" cy="2265680"/>
          </a:xfrm>
          <a:prstGeom prst="rect">
            <a:avLst/>
          </a:prstGeom>
        </p:spPr>
        <p:txBody>
          <a:bodyPr vert="horz" wrap="square" lIns="0" tIns="118745" rIns="0" bIns="0" rtlCol="0">
            <a:spAutoFit/>
          </a:bodyPr>
          <a:lstStyle/>
          <a:p>
            <a:pPr marL="298450" indent="-285750">
              <a:lnSpc>
                <a:spcPct val="100000"/>
              </a:lnSpc>
              <a:spcBef>
                <a:spcPts val="935"/>
              </a:spcBef>
              <a:buFont typeface="Wingdings" panose="05000000000000000000"/>
              <a:buChar char=""/>
              <a:tabLst>
                <a:tab pos="297815" algn="l"/>
                <a:tab pos="298450" algn="l"/>
              </a:tabLst>
            </a:pPr>
            <a:r>
              <a:rPr sz="1400" dirty="0">
                <a:latin typeface="微软雅黑" panose="020B0503020204020204" charset="-122"/>
                <a:cs typeface="微软雅黑" panose="020B0503020204020204" charset="-122"/>
              </a:rPr>
              <a:t>熟悉汇编语言以及执行过</a:t>
            </a:r>
            <a:r>
              <a:rPr sz="1400" spc="5" dirty="0">
                <a:latin typeface="微软雅黑" panose="020B0503020204020204" charset="-122"/>
                <a:cs typeface="微软雅黑" panose="020B0503020204020204" charset="-122"/>
              </a:rPr>
              <a:t>程</a:t>
            </a:r>
            <a:endParaRPr sz="1400">
              <a:latin typeface="微软雅黑" panose="020B0503020204020204" charset="-122"/>
              <a:cs typeface="微软雅黑" panose="020B0503020204020204" charset="-122"/>
            </a:endParaRPr>
          </a:p>
          <a:p>
            <a:pPr marL="298450" marR="5080" indent="-285750">
              <a:lnSpc>
                <a:spcPct val="150000"/>
              </a:lnSpc>
              <a:buFont typeface="Wingdings" panose="05000000000000000000"/>
              <a:buChar char=""/>
              <a:tabLst>
                <a:tab pos="297815" algn="l"/>
                <a:tab pos="298450" algn="l"/>
              </a:tabLst>
            </a:pPr>
            <a:r>
              <a:rPr sz="1400" dirty="0">
                <a:latin typeface="微软雅黑" panose="020B0503020204020204" charset="-122"/>
                <a:cs typeface="微软雅黑" panose="020B0503020204020204" charset="-122"/>
              </a:rPr>
              <a:t>了解软件如何编译，汇编，链接最后成为处理器可执</a:t>
            </a:r>
            <a:r>
              <a:rPr sz="1400" dirty="0">
                <a:latin typeface="微软雅黑" panose="020B0503020204020204" charset="-122"/>
                <a:cs typeface="微软雅黑" panose="020B0503020204020204" charset="-122"/>
              </a:rPr>
              <a:t>行 </a:t>
            </a:r>
            <a:r>
              <a:rPr sz="1400" dirty="0">
                <a:latin typeface="微软雅黑" panose="020B0503020204020204" charset="-122"/>
                <a:cs typeface="微软雅黑" panose="020B0503020204020204" charset="-122"/>
              </a:rPr>
              <a:t>的二进制的过</a:t>
            </a:r>
            <a:r>
              <a:rPr sz="1400" spc="5" dirty="0">
                <a:latin typeface="微软雅黑" panose="020B0503020204020204" charset="-122"/>
                <a:cs typeface="微软雅黑" panose="020B0503020204020204" charset="-122"/>
              </a:rPr>
              <a:t>程</a:t>
            </a:r>
            <a:endParaRPr sz="1400">
              <a:latin typeface="微软雅黑" panose="020B0503020204020204" charset="-122"/>
              <a:cs typeface="微软雅黑" panose="020B0503020204020204" charset="-122"/>
            </a:endParaRPr>
          </a:p>
          <a:p>
            <a:pPr marL="298450" indent="-285750">
              <a:lnSpc>
                <a:spcPct val="100000"/>
              </a:lnSpc>
              <a:spcBef>
                <a:spcPts val="840"/>
              </a:spcBef>
              <a:buFont typeface="Wingdings" panose="05000000000000000000"/>
              <a:buChar char=""/>
              <a:tabLst>
                <a:tab pos="297815" algn="l"/>
                <a:tab pos="298450" algn="l"/>
              </a:tabLst>
            </a:pPr>
            <a:r>
              <a:rPr sz="1400" dirty="0">
                <a:latin typeface="微软雅黑" panose="020B0503020204020204" charset="-122"/>
                <a:cs typeface="微软雅黑" panose="020B0503020204020204" charset="-122"/>
              </a:rPr>
              <a:t>了解计算机体系结构相关知</a:t>
            </a:r>
            <a:r>
              <a:rPr sz="1400" spc="5" dirty="0">
                <a:latin typeface="微软雅黑" panose="020B0503020204020204" charset="-122"/>
                <a:cs typeface="微软雅黑" panose="020B0503020204020204" charset="-122"/>
              </a:rPr>
              <a:t>识</a:t>
            </a:r>
            <a:endParaRPr sz="1400">
              <a:latin typeface="微软雅黑" panose="020B0503020204020204" charset="-122"/>
              <a:cs typeface="微软雅黑" panose="020B0503020204020204" charset="-122"/>
            </a:endParaRPr>
          </a:p>
          <a:p>
            <a:pPr marL="298450" marR="5080" indent="-285750" algn="just">
              <a:lnSpc>
                <a:spcPct val="150000"/>
              </a:lnSpc>
              <a:buFont typeface="Wingdings" panose="05000000000000000000"/>
              <a:buChar char=""/>
              <a:tabLst>
                <a:tab pos="298450" algn="l"/>
              </a:tabLst>
            </a:pPr>
            <a:r>
              <a:rPr sz="1400" dirty="0">
                <a:latin typeface="微软雅黑" panose="020B0503020204020204" charset="-122"/>
                <a:cs typeface="微软雅黑" panose="020B0503020204020204" charset="-122"/>
              </a:rPr>
              <a:t>处理器对时序和面积的要求一般会非常严格，需要不</a:t>
            </a:r>
            <a:r>
              <a:rPr sz="1400" dirty="0">
                <a:latin typeface="微软雅黑" panose="020B0503020204020204" charset="-122"/>
                <a:cs typeface="微软雅黑" panose="020B0503020204020204" charset="-122"/>
              </a:rPr>
              <a:t>断 </a:t>
            </a:r>
            <a:r>
              <a:rPr sz="1400" dirty="0">
                <a:latin typeface="微软雅黑" panose="020B0503020204020204" charset="-122"/>
                <a:cs typeface="微软雅黑" panose="020B0503020204020204" charset="-122"/>
              </a:rPr>
              <a:t>反复地优化时序和面积，因此对电路和逻辑设计的理</a:t>
            </a:r>
            <a:r>
              <a:rPr sz="1400" dirty="0">
                <a:latin typeface="微软雅黑" panose="020B0503020204020204" charset="-122"/>
                <a:cs typeface="微软雅黑" panose="020B0503020204020204" charset="-122"/>
              </a:rPr>
              <a:t>解 </a:t>
            </a:r>
            <a:r>
              <a:rPr sz="1400" dirty="0">
                <a:latin typeface="微软雅黑" panose="020B0503020204020204" charset="-122"/>
                <a:cs typeface="微软雅黑" panose="020B0503020204020204" charset="-122"/>
              </a:rPr>
              <a:t>要比较深</a:t>
            </a:r>
            <a:r>
              <a:rPr sz="1400" spc="5" dirty="0">
                <a:latin typeface="微软雅黑" panose="020B0503020204020204" charset="-122"/>
                <a:cs typeface="微软雅黑" panose="020B0503020204020204" charset="-122"/>
              </a:rPr>
              <a:t>刻</a:t>
            </a:r>
            <a:endParaRPr sz="1400">
              <a:latin typeface="微软雅黑" panose="020B0503020204020204" charset="-122"/>
              <a:cs typeface="微软雅黑" panose="020B0503020204020204" charset="-122"/>
            </a:endParaRPr>
          </a:p>
        </p:txBody>
      </p:sp>
      <p:sp>
        <p:nvSpPr>
          <p:cNvPr id="5" name="object 5"/>
          <p:cNvSpPr txBox="1"/>
          <p:nvPr/>
        </p:nvSpPr>
        <p:spPr>
          <a:xfrm>
            <a:off x="1420494" y="1496059"/>
            <a:ext cx="8940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charset="-122"/>
                <a:cs typeface="微软雅黑" panose="020B0503020204020204" charset="-122"/>
              </a:rPr>
              <a:t>处理器设计和验证时一个软硬件联合的过程，需具备系统知识，涉及的方面多，工作量大</a:t>
            </a:r>
            <a:endParaRPr sz="1800">
              <a:latin typeface="微软雅黑" panose="020B0503020204020204" charset="-122"/>
              <a:cs typeface="微软雅黑" panose="020B0503020204020204" charset="-122"/>
            </a:endParaRPr>
          </a:p>
        </p:txBody>
      </p:sp>
      <p:sp>
        <p:nvSpPr>
          <p:cNvPr id="6" name="object 6"/>
          <p:cNvSpPr/>
          <p:nvPr/>
        </p:nvSpPr>
        <p:spPr>
          <a:xfrm>
            <a:off x="2932518" y="2209800"/>
            <a:ext cx="495300" cy="576580"/>
          </a:xfrm>
          <a:custGeom>
            <a:avLst/>
            <a:gdLst/>
            <a:ahLst/>
            <a:cxnLst/>
            <a:rect l="l" t="t" r="r" b="b"/>
            <a:pathLst>
              <a:path w="495300" h="576580">
                <a:moveTo>
                  <a:pt x="494931" y="576580"/>
                </a:moveTo>
                <a:lnTo>
                  <a:pt x="368" y="576580"/>
                </a:lnTo>
                <a:lnTo>
                  <a:pt x="0" y="568134"/>
                </a:lnTo>
                <a:lnTo>
                  <a:pt x="0" y="551751"/>
                </a:lnTo>
                <a:lnTo>
                  <a:pt x="279" y="543890"/>
                </a:lnTo>
                <a:lnTo>
                  <a:pt x="3784" y="505358"/>
                </a:lnTo>
                <a:lnTo>
                  <a:pt x="12928" y="461302"/>
                </a:lnTo>
                <a:lnTo>
                  <a:pt x="27038" y="420001"/>
                </a:lnTo>
                <a:lnTo>
                  <a:pt x="45593" y="382041"/>
                </a:lnTo>
                <a:lnTo>
                  <a:pt x="68300" y="348018"/>
                </a:lnTo>
                <a:lnTo>
                  <a:pt x="94691" y="318262"/>
                </a:lnTo>
                <a:lnTo>
                  <a:pt x="104292" y="309486"/>
                </a:lnTo>
                <a:lnTo>
                  <a:pt x="109080" y="305219"/>
                </a:lnTo>
                <a:lnTo>
                  <a:pt x="140284" y="283070"/>
                </a:lnTo>
                <a:lnTo>
                  <a:pt x="179781" y="264426"/>
                </a:lnTo>
                <a:lnTo>
                  <a:pt x="222224" y="254393"/>
                </a:lnTo>
                <a:lnTo>
                  <a:pt x="247611" y="252882"/>
                </a:lnTo>
                <a:lnTo>
                  <a:pt x="253974" y="252971"/>
                </a:lnTo>
                <a:lnTo>
                  <a:pt x="297535" y="259067"/>
                </a:lnTo>
                <a:lnTo>
                  <a:pt x="338416" y="274116"/>
                </a:lnTo>
                <a:lnTo>
                  <a:pt x="376072" y="297281"/>
                </a:lnTo>
                <a:lnTo>
                  <a:pt x="405142" y="322935"/>
                </a:lnTo>
                <a:lnTo>
                  <a:pt x="430974" y="353377"/>
                </a:lnTo>
                <a:lnTo>
                  <a:pt x="452945" y="388150"/>
                </a:lnTo>
                <a:lnTo>
                  <a:pt x="470852" y="426681"/>
                </a:lnTo>
                <a:lnTo>
                  <a:pt x="484136" y="468401"/>
                </a:lnTo>
                <a:lnTo>
                  <a:pt x="492442" y="512965"/>
                </a:lnTo>
                <a:lnTo>
                  <a:pt x="495211" y="551751"/>
                </a:lnTo>
                <a:lnTo>
                  <a:pt x="495122" y="568134"/>
                </a:lnTo>
                <a:lnTo>
                  <a:pt x="494931" y="576580"/>
                </a:lnTo>
                <a:close/>
              </a:path>
              <a:path w="495300" h="576580">
                <a:moveTo>
                  <a:pt x="249821" y="221284"/>
                </a:moveTo>
                <a:lnTo>
                  <a:pt x="209765" y="215430"/>
                </a:lnTo>
                <a:lnTo>
                  <a:pt x="172758" y="197713"/>
                </a:lnTo>
                <a:lnTo>
                  <a:pt x="161505" y="188849"/>
                </a:lnTo>
                <a:lnTo>
                  <a:pt x="159384" y="187007"/>
                </a:lnTo>
                <a:lnTo>
                  <a:pt x="144614" y="170205"/>
                </a:lnTo>
                <a:lnTo>
                  <a:pt x="142951" y="168033"/>
                </a:lnTo>
                <a:lnTo>
                  <a:pt x="141389" y="165773"/>
                </a:lnTo>
                <a:lnTo>
                  <a:pt x="139903" y="163347"/>
                </a:lnTo>
                <a:lnTo>
                  <a:pt x="138620" y="160921"/>
                </a:lnTo>
                <a:lnTo>
                  <a:pt x="137236" y="158584"/>
                </a:lnTo>
                <a:lnTo>
                  <a:pt x="126898" y="130162"/>
                </a:lnTo>
                <a:lnTo>
                  <a:pt x="126339" y="127482"/>
                </a:lnTo>
                <a:lnTo>
                  <a:pt x="125971" y="124726"/>
                </a:lnTo>
                <a:lnTo>
                  <a:pt x="125514" y="121970"/>
                </a:lnTo>
                <a:lnTo>
                  <a:pt x="124955" y="116281"/>
                </a:lnTo>
                <a:lnTo>
                  <a:pt x="124955" y="104914"/>
                </a:lnTo>
                <a:lnTo>
                  <a:pt x="125514" y="99313"/>
                </a:lnTo>
                <a:lnTo>
                  <a:pt x="125971" y="96558"/>
                </a:lnTo>
                <a:lnTo>
                  <a:pt x="126339" y="93713"/>
                </a:lnTo>
                <a:lnTo>
                  <a:pt x="126898" y="91033"/>
                </a:lnTo>
                <a:lnTo>
                  <a:pt x="127355" y="88366"/>
                </a:lnTo>
                <a:lnTo>
                  <a:pt x="128828" y="83007"/>
                </a:lnTo>
                <a:lnTo>
                  <a:pt x="129666" y="80416"/>
                </a:lnTo>
                <a:lnTo>
                  <a:pt x="130492" y="77749"/>
                </a:lnTo>
                <a:lnTo>
                  <a:pt x="131419" y="75158"/>
                </a:lnTo>
                <a:lnTo>
                  <a:pt x="132435" y="72567"/>
                </a:lnTo>
                <a:lnTo>
                  <a:pt x="133540" y="70053"/>
                </a:lnTo>
                <a:lnTo>
                  <a:pt x="134746" y="67627"/>
                </a:lnTo>
                <a:lnTo>
                  <a:pt x="135940" y="65036"/>
                </a:lnTo>
                <a:lnTo>
                  <a:pt x="137236" y="62699"/>
                </a:lnTo>
                <a:lnTo>
                  <a:pt x="138620" y="60274"/>
                </a:lnTo>
                <a:lnTo>
                  <a:pt x="139903" y="57937"/>
                </a:lnTo>
                <a:lnTo>
                  <a:pt x="141389" y="55587"/>
                </a:lnTo>
                <a:lnTo>
                  <a:pt x="144614" y="50990"/>
                </a:lnTo>
                <a:lnTo>
                  <a:pt x="146278" y="48818"/>
                </a:lnTo>
                <a:lnTo>
                  <a:pt x="147942" y="46558"/>
                </a:lnTo>
                <a:lnTo>
                  <a:pt x="151536" y="42303"/>
                </a:lnTo>
                <a:lnTo>
                  <a:pt x="153479" y="40208"/>
                </a:lnTo>
                <a:lnTo>
                  <a:pt x="155409" y="38290"/>
                </a:lnTo>
                <a:lnTo>
                  <a:pt x="157352" y="36194"/>
                </a:lnTo>
                <a:lnTo>
                  <a:pt x="187718" y="14719"/>
                </a:lnTo>
                <a:lnTo>
                  <a:pt x="190296" y="13373"/>
                </a:lnTo>
                <a:lnTo>
                  <a:pt x="227761" y="1676"/>
                </a:lnTo>
                <a:lnTo>
                  <a:pt x="246595" y="0"/>
                </a:lnTo>
                <a:lnTo>
                  <a:pt x="253047" y="0"/>
                </a:lnTo>
                <a:lnTo>
                  <a:pt x="284060" y="4267"/>
                </a:lnTo>
                <a:lnTo>
                  <a:pt x="287108" y="5016"/>
                </a:lnTo>
                <a:lnTo>
                  <a:pt x="292925" y="6692"/>
                </a:lnTo>
                <a:lnTo>
                  <a:pt x="295694" y="7696"/>
                </a:lnTo>
                <a:lnTo>
                  <a:pt x="298551" y="8699"/>
                </a:lnTo>
                <a:lnTo>
                  <a:pt x="312115" y="14719"/>
                </a:lnTo>
                <a:lnTo>
                  <a:pt x="314693" y="15963"/>
                </a:lnTo>
                <a:lnTo>
                  <a:pt x="317284" y="17386"/>
                </a:lnTo>
                <a:lnTo>
                  <a:pt x="322262" y="20396"/>
                </a:lnTo>
                <a:lnTo>
                  <a:pt x="327063" y="23571"/>
                </a:lnTo>
                <a:lnTo>
                  <a:pt x="329463" y="25336"/>
                </a:lnTo>
                <a:lnTo>
                  <a:pt x="331774" y="27000"/>
                </a:lnTo>
                <a:lnTo>
                  <a:pt x="338328" y="32435"/>
                </a:lnTo>
                <a:lnTo>
                  <a:pt x="340359" y="34353"/>
                </a:lnTo>
                <a:lnTo>
                  <a:pt x="342379" y="36194"/>
                </a:lnTo>
                <a:lnTo>
                  <a:pt x="344411" y="38290"/>
                </a:lnTo>
                <a:lnTo>
                  <a:pt x="346354" y="40208"/>
                </a:lnTo>
                <a:lnTo>
                  <a:pt x="348195" y="42303"/>
                </a:lnTo>
                <a:lnTo>
                  <a:pt x="350138" y="44475"/>
                </a:lnTo>
                <a:lnTo>
                  <a:pt x="351891" y="46558"/>
                </a:lnTo>
                <a:lnTo>
                  <a:pt x="353555" y="48818"/>
                </a:lnTo>
                <a:lnTo>
                  <a:pt x="355219" y="50990"/>
                </a:lnTo>
                <a:lnTo>
                  <a:pt x="365086" y="67627"/>
                </a:lnTo>
                <a:lnTo>
                  <a:pt x="366293" y="70053"/>
                </a:lnTo>
                <a:lnTo>
                  <a:pt x="367296" y="72567"/>
                </a:lnTo>
                <a:lnTo>
                  <a:pt x="368414" y="75158"/>
                </a:lnTo>
                <a:lnTo>
                  <a:pt x="369328" y="77749"/>
                </a:lnTo>
                <a:lnTo>
                  <a:pt x="373849" y="96558"/>
                </a:lnTo>
                <a:lnTo>
                  <a:pt x="374319" y="99313"/>
                </a:lnTo>
                <a:lnTo>
                  <a:pt x="374586" y="102069"/>
                </a:lnTo>
                <a:lnTo>
                  <a:pt x="374776" y="104914"/>
                </a:lnTo>
                <a:lnTo>
                  <a:pt x="374776" y="116281"/>
                </a:lnTo>
                <a:lnTo>
                  <a:pt x="374586" y="119125"/>
                </a:lnTo>
                <a:lnTo>
                  <a:pt x="374319" y="121970"/>
                </a:lnTo>
                <a:lnTo>
                  <a:pt x="373849" y="124726"/>
                </a:lnTo>
                <a:lnTo>
                  <a:pt x="373481" y="127482"/>
                </a:lnTo>
                <a:lnTo>
                  <a:pt x="367296" y="148640"/>
                </a:lnTo>
                <a:lnTo>
                  <a:pt x="366293" y="151142"/>
                </a:lnTo>
                <a:lnTo>
                  <a:pt x="365086" y="153733"/>
                </a:lnTo>
                <a:lnTo>
                  <a:pt x="363893" y="156159"/>
                </a:lnTo>
                <a:lnTo>
                  <a:pt x="362597" y="158584"/>
                </a:lnTo>
                <a:lnTo>
                  <a:pt x="361213" y="160921"/>
                </a:lnTo>
                <a:lnTo>
                  <a:pt x="359829" y="163347"/>
                </a:lnTo>
                <a:lnTo>
                  <a:pt x="358355" y="165773"/>
                </a:lnTo>
                <a:lnTo>
                  <a:pt x="356869" y="168033"/>
                </a:lnTo>
                <a:lnTo>
                  <a:pt x="355219" y="170205"/>
                </a:lnTo>
                <a:lnTo>
                  <a:pt x="353555" y="172466"/>
                </a:lnTo>
                <a:lnTo>
                  <a:pt x="351891" y="174637"/>
                </a:lnTo>
                <a:lnTo>
                  <a:pt x="350138" y="176809"/>
                </a:lnTo>
                <a:lnTo>
                  <a:pt x="348195" y="178904"/>
                </a:lnTo>
                <a:lnTo>
                  <a:pt x="346354" y="180987"/>
                </a:lnTo>
                <a:lnTo>
                  <a:pt x="333895" y="192531"/>
                </a:lnTo>
                <a:lnTo>
                  <a:pt x="331774" y="194284"/>
                </a:lnTo>
                <a:lnTo>
                  <a:pt x="298551" y="212509"/>
                </a:lnTo>
                <a:lnTo>
                  <a:pt x="295694" y="213588"/>
                </a:lnTo>
                <a:lnTo>
                  <a:pt x="292925" y="214515"/>
                </a:lnTo>
                <a:lnTo>
                  <a:pt x="290055" y="215430"/>
                </a:lnTo>
                <a:lnTo>
                  <a:pt x="287108" y="216268"/>
                </a:lnTo>
                <a:lnTo>
                  <a:pt x="284060" y="217017"/>
                </a:lnTo>
                <a:lnTo>
                  <a:pt x="281101" y="217779"/>
                </a:lnTo>
                <a:lnTo>
                  <a:pt x="256285" y="221119"/>
                </a:lnTo>
                <a:lnTo>
                  <a:pt x="249821" y="221284"/>
                </a:lnTo>
                <a:close/>
              </a:path>
            </a:pathLst>
          </a:custGeom>
          <a:solidFill>
            <a:srgbClr val="C00000"/>
          </a:solidFill>
        </p:spPr>
        <p:txBody>
          <a:bodyPr wrap="square" lIns="0" tIns="0" rIns="0" bIns="0" rtlCol="0"/>
          <a:lstStyle/>
          <a:p/>
        </p:txBody>
      </p:sp>
      <p:sp>
        <p:nvSpPr>
          <p:cNvPr id="7" name="object 7"/>
          <p:cNvSpPr/>
          <p:nvPr/>
        </p:nvSpPr>
        <p:spPr>
          <a:xfrm>
            <a:off x="8611958" y="2209800"/>
            <a:ext cx="464184" cy="576580"/>
          </a:xfrm>
          <a:custGeom>
            <a:avLst/>
            <a:gdLst/>
            <a:ahLst/>
            <a:cxnLst/>
            <a:rect l="l" t="t" r="r" b="b"/>
            <a:pathLst>
              <a:path w="464184" h="576580">
                <a:moveTo>
                  <a:pt x="463842" y="576580"/>
                </a:moveTo>
                <a:lnTo>
                  <a:pt x="342" y="576580"/>
                </a:lnTo>
                <a:lnTo>
                  <a:pt x="0" y="568134"/>
                </a:lnTo>
                <a:lnTo>
                  <a:pt x="0" y="551751"/>
                </a:lnTo>
                <a:lnTo>
                  <a:pt x="253" y="543890"/>
                </a:lnTo>
                <a:lnTo>
                  <a:pt x="3543" y="505358"/>
                </a:lnTo>
                <a:lnTo>
                  <a:pt x="12103" y="461302"/>
                </a:lnTo>
                <a:lnTo>
                  <a:pt x="25336" y="420001"/>
                </a:lnTo>
                <a:lnTo>
                  <a:pt x="42722" y="382041"/>
                </a:lnTo>
                <a:lnTo>
                  <a:pt x="63995" y="348018"/>
                </a:lnTo>
                <a:lnTo>
                  <a:pt x="88734" y="318262"/>
                </a:lnTo>
                <a:lnTo>
                  <a:pt x="97726" y="309486"/>
                </a:lnTo>
                <a:lnTo>
                  <a:pt x="102222" y="305219"/>
                </a:lnTo>
                <a:lnTo>
                  <a:pt x="136474" y="279971"/>
                </a:lnTo>
                <a:lnTo>
                  <a:pt x="174015" y="262496"/>
                </a:lnTo>
                <a:lnTo>
                  <a:pt x="214223" y="253720"/>
                </a:lnTo>
                <a:lnTo>
                  <a:pt x="232041" y="252882"/>
                </a:lnTo>
                <a:lnTo>
                  <a:pt x="238010" y="252971"/>
                </a:lnTo>
                <a:lnTo>
                  <a:pt x="278841" y="259067"/>
                </a:lnTo>
                <a:lnTo>
                  <a:pt x="317157" y="274116"/>
                </a:lnTo>
                <a:lnTo>
                  <a:pt x="352437" y="297281"/>
                </a:lnTo>
                <a:lnTo>
                  <a:pt x="383921" y="327710"/>
                </a:lnTo>
                <a:lnTo>
                  <a:pt x="407530" y="358889"/>
                </a:lnTo>
                <a:lnTo>
                  <a:pt x="427596" y="394335"/>
                </a:lnTo>
                <a:lnTo>
                  <a:pt x="443687" y="433463"/>
                </a:lnTo>
                <a:lnTo>
                  <a:pt x="455358" y="475678"/>
                </a:lnTo>
                <a:lnTo>
                  <a:pt x="462279" y="520573"/>
                </a:lnTo>
                <a:lnTo>
                  <a:pt x="464096" y="551751"/>
                </a:lnTo>
                <a:lnTo>
                  <a:pt x="464007" y="568134"/>
                </a:lnTo>
                <a:lnTo>
                  <a:pt x="463842" y="576580"/>
                </a:lnTo>
                <a:close/>
              </a:path>
              <a:path w="464184" h="576580">
                <a:moveTo>
                  <a:pt x="234124" y="221284"/>
                </a:moveTo>
                <a:lnTo>
                  <a:pt x="191223" y="213588"/>
                </a:lnTo>
                <a:lnTo>
                  <a:pt x="155333" y="192531"/>
                </a:lnTo>
                <a:lnTo>
                  <a:pt x="151358" y="188849"/>
                </a:lnTo>
                <a:lnTo>
                  <a:pt x="149364" y="187007"/>
                </a:lnTo>
                <a:lnTo>
                  <a:pt x="135521" y="170205"/>
                </a:lnTo>
                <a:lnTo>
                  <a:pt x="133972" y="168033"/>
                </a:lnTo>
                <a:lnTo>
                  <a:pt x="132499" y="165773"/>
                </a:lnTo>
                <a:lnTo>
                  <a:pt x="131114" y="163347"/>
                </a:lnTo>
                <a:lnTo>
                  <a:pt x="129908" y="160921"/>
                </a:lnTo>
                <a:lnTo>
                  <a:pt x="128600" y="158584"/>
                </a:lnTo>
                <a:lnTo>
                  <a:pt x="118922" y="130162"/>
                </a:lnTo>
                <a:lnTo>
                  <a:pt x="118402" y="127482"/>
                </a:lnTo>
                <a:lnTo>
                  <a:pt x="118059" y="124726"/>
                </a:lnTo>
                <a:lnTo>
                  <a:pt x="117627" y="121970"/>
                </a:lnTo>
                <a:lnTo>
                  <a:pt x="117106" y="116281"/>
                </a:lnTo>
                <a:lnTo>
                  <a:pt x="117106" y="104914"/>
                </a:lnTo>
                <a:lnTo>
                  <a:pt x="117627" y="99313"/>
                </a:lnTo>
                <a:lnTo>
                  <a:pt x="118059" y="96558"/>
                </a:lnTo>
                <a:lnTo>
                  <a:pt x="118402" y="93713"/>
                </a:lnTo>
                <a:lnTo>
                  <a:pt x="118922" y="91033"/>
                </a:lnTo>
                <a:lnTo>
                  <a:pt x="119354" y="88366"/>
                </a:lnTo>
                <a:lnTo>
                  <a:pt x="120738" y="83007"/>
                </a:lnTo>
                <a:lnTo>
                  <a:pt x="126276" y="67627"/>
                </a:lnTo>
                <a:lnTo>
                  <a:pt x="127393" y="65036"/>
                </a:lnTo>
                <a:lnTo>
                  <a:pt x="128600" y="62699"/>
                </a:lnTo>
                <a:lnTo>
                  <a:pt x="129908" y="60274"/>
                </a:lnTo>
                <a:lnTo>
                  <a:pt x="131114" y="57937"/>
                </a:lnTo>
                <a:lnTo>
                  <a:pt x="132499" y="55587"/>
                </a:lnTo>
                <a:lnTo>
                  <a:pt x="135521" y="50990"/>
                </a:lnTo>
                <a:lnTo>
                  <a:pt x="137083" y="48818"/>
                </a:lnTo>
                <a:lnTo>
                  <a:pt x="138633" y="46558"/>
                </a:lnTo>
                <a:lnTo>
                  <a:pt x="142011" y="42303"/>
                </a:lnTo>
                <a:lnTo>
                  <a:pt x="143827" y="40208"/>
                </a:lnTo>
                <a:lnTo>
                  <a:pt x="145643" y="38290"/>
                </a:lnTo>
                <a:lnTo>
                  <a:pt x="147459" y="36194"/>
                </a:lnTo>
                <a:lnTo>
                  <a:pt x="151358" y="32435"/>
                </a:lnTo>
                <a:lnTo>
                  <a:pt x="155333" y="28752"/>
                </a:lnTo>
                <a:lnTo>
                  <a:pt x="157492" y="27000"/>
                </a:lnTo>
                <a:lnTo>
                  <a:pt x="159651" y="25336"/>
                </a:lnTo>
                <a:lnTo>
                  <a:pt x="161899" y="23571"/>
                </a:lnTo>
                <a:lnTo>
                  <a:pt x="166395" y="20396"/>
                </a:lnTo>
                <a:lnTo>
                  <a:pt x="171069" y="17386"/>
                </a:lnTo>
                <a:lnTo>
                  <a:pt x="173494" y="15963"/>
                </a:lnTo>
                <a:lnTo>
                  <a:pt x="175920" y="14719"/>
                </a:lnTo>
                <a:lnTo>
                  <a:pt x="178333" y="13373"/>
                </a:lnTo>
                <a:lnTo>
                  <a:pt x="219240" y="838"/>
                </a:lnTo>
                <a:lnTo>
                  <a:pt x="231089" y="0"/>
                </a:lnTo>
                <a:lnTo>
                  <a:pt x="237147" y="0"/>
                </a:lnTo>
                <a:lnTo>
                  <a:pt x="266204" y="4267"/>
                </a:lnTo>
                <a:lnTo>
                  <a:pt x="269062" y="5016"/>
                </a:lnTo>
                <a:lnTo>
                  <a:pt x="271830" y="5854"/>
                </a:lnTo>
                <a:lnTo>
                  <a:pt x="274510" y="6692"/>
                </a:lnTo>
                <a:lnTo>
                  <a:pt x="277101" y="7696"/>
                </a:lnTo>
                <a:lnTo>
                  <a:pt x="279793" y="8699"/>
                </a:lnTo>
                <a:lnTo>
                  <a:pt x="292506" y="14719"/>
                </a:lnTo>
                <a:lnTo>
                  <a:pt x="294919" y="15963"/>
                </a:lnTo>
                <a:lnTo>
                  <a:pt x="297345" y="17386"/>
                </a:lnTo>
                <a:lnTo>
                  <a:pt x="302018" y="20396"/>
                </a:lnTo>
                <a:lnTo>
                  <a:pt x="306514" y="23571"/>
                </a:lnTo>
                <a:lnTo>
                  <a:pt x="308762" y="25336"/>
                </a:lnTo>
                <a:lnTo>
                  <a:pt x="310921" y="27000"/>
                </a:lnTo>
                <a:lnTo>
                  <a:pt x="317068" y="32435"/>
                </a:lnTo>
                <a:lnTo>
                  <a:pt x="318973" y="34353"/>
                </a:lnTo>
                <a:lnTo>
                  <a:pt x="320865" y="36194"/>
                </a:lnTo>
                <a:lnTo>
                  <a:pt x="322770" y="38290"/>
                </a:lnTo>
                <a:lnTo>
                  <a:pt x="324586" y="40208"/>
                </a:lnTo>
                <a:lnTo>
                  <a:pt x="328129" y="44475"/>
                </a:lnTo>
                <a:lnTo>
                  <a:pt x="329780" y="46558"/>
                </a:lnTo>
                <a:lnTo>
                  <a:pt x="331330" y="48818"/>
                </a:lnTo>
                <a:lnTo>
                  <a:pt x="332892" y="50990"/>
                </a:lnTo>
                <a:lnTo>
                  <a:pt x="342150" y="67627"/>
                </a:lnTo>
                <a:lnTo>
                  <a:pt x="343268" y="70053"/>
                </a:lnTo>
                <a:lnTo>
                  <a:pt x="344220" y="72567"/>
                </a:lnTo>
                <a:lnTo>
                  <a:pt x="345262" y="75158"/>
                </a:lnTo>
                <a:lnTo>
                  <a:pt x="346125" y="77749"/>
                </a:lnTo>
                <a:lnTo>
                  <a:pt x="346900" y="80416"/>
                </a:lnTo>
                <a:lnTo>
                  <a:pt x="347687" y="83007"/>
                </a:lnTo>
                <a:lnTo>
                  <a:pt x="348373" y="85686"/>
                </a:lnTo>
                <a:lnTo>
                  <a:pt x="348983" y="88366"/>
                </a:lnTo>
                <a:lnTo>
                  <a:pt x="350012" y="93713"/>
                </a:lnTo>
                <a:lnTo>
                  <a:pt x="350367" y="96558"/>
                </a:lnTo>
                <a:lnTo>
                  <a:pt x="350799" y="99313"/>
                </a:lnTo>
                <a:lnTo>
                  <a:pt x="351053" y="102069"/>
                </a:lnTo>
                <a:lnTo>
                  <a:pt x="351231" y="104914"/>
                </a:lnTo>
                <a:lnTo>
                  <a:pt x="351231" y="116281"/>
                </a:lnTo>
                <a:lnTo>
                  <a:pt x="351053" y="119125"/>
                </a:lnTo>
                <a:lnTo>
                  <a:pt x="350799" y="121970"/>
                </a:lnTo>
                <a:lnTo>
                  <a:pt x="350367" y="124726"/>
                </a:lnTo>
                <a:lnTo>
                  <a:pt x="350012" y="127482"/>
                </a:lnTo>
                <a:lnTo>
                  <a:pt x="344220" y="148640"/>
                </a:lnTo>
                <a:lnTo>
                  <a:pt x="343268" y="151142"/>
                </a:lnTo>
                <a:lnTo>
                  <a:pt x="342150" y="153733"/>
                </a:lnTo>
                <a:lnTo>
                  <a:pt x="341020" y="156159"/>
                </a:lnTo>
                <a:lnTo>
                  <a:pt x="339813" y="158584"/>
                </a:lnTo>
                <a:lnTo>
                  <a:pt x="338518" y="160921"/>
                </a:lnTo>
                <a:lnTo>
                  <a:pt x="337210" y="163347"/>
                </a:lnTo>
                <a:lnTo>
                  <a:pt x="335838" y="165773"/>
                </a:lnTo>
                <a:lnTo>
                  <a:pt x="334454" y="168033"/>
                </a:lnTo>
                <a:lnTo>
                  <a:pt x="332892" y="170205"/>
                </a:lnTo>
                <a:lnTo>
                  <a:pt x="331330" y="172466"/>
                </a:lnTo>
                <a:lnTo>
                  <a:pt x="329780" y="174637"/>
                </a:lnTo>
                <a:lnTo>
                  <a:pt x="328129" y="176809"/>
                </a:lnTo>
                <a:lnTo>
                  <a:pt x="326313" y="178904"/>
                </a:lnTo>
                <a:lnTo>
                  <a:pt x="324586" y="180987"/>
                </a:lnTo>
                <a:lnTo>
                  <a:pt x="312915" y="192531"/>
                </a:lnTo>
                <a:lnTo>
                  <a:pt x="310921" y="194284"/>
                </a:lnTo>
                <a:lnTo>
                  <a:pt x="279793" y="212509"/>
                </a:lnTo>
                <a:lnTo>
                  <a:pt x="277101" y="213588"/>
                </a:lnTo>
                <a:lnTo>
                  <a:pt x="274510" y="214515"/>
                </a:lnTo>
                <a:lnTo>
                  <a:pt x="271830" y="215430"/>
                </a:lnTo>
                <a:lnTo>
                  <a:pt x="269062" y="216268"/>
                </a:lnTo>
                <a:lnTo>
                  <a:pt x="266204" y="217017"/>
                </a:lnTo>
                <a:lnTo>
                  <a:pt x="263436" y="217779"/>
                </a:lnTo>
                <a:lnTo>
                  <a:pt x="240182" y="221119"/>
                </a:lnTo>
                <a:lnTo>
                  <a:pt x="234124" y="221284"/>
                </a:lnTo>
                <a:close/>
              </a:path>
            </a:pathLst>
          </a:custGeom>
          <a:solidFill>
            <a:srgbClr val="C00000"/>
          </a:solidFill>
        </p:spPr>
        <p:txBody>
          <a:bodyPr wrap="square" lIns="0" tIns="0" rIns="0" bIns="0" rtlCol="0"/>
          <a:lstStyle/>
          <a:p/>
        </p:txBody>
      </p:sp>
      <p:sp>
        <p:nvSpPr>
          <p:cNvPr id="8" name="object 8"/>
          <p:cNvSpPr txBox="1"/>
          <p:nvPr/>
        </p:nvSpPr>
        <p:spPr>
          <a:xfrm>
            <a:off x="1247139" y="3041650"/>
            <a:ext cx="368300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C00000"/>
                </a:solidFill>
                <a:latin typeface="微软雅黑" panose="020B0503020204020204" charset="-122"/>
                <a:cs typeface="微软雅黑" panose="020B0503020204020204" charset="-122"/>
              </a:rPr>
              <a:t>想成为处理器设计工程师？</a:t>
            </a:r>
            <a:endParaRPr sz="2400">
              <a:latin typeface="微软雅黑" panose="020B0503020204020204" charset="-122"/>
              <a:cs typeface="微软雅黑" panose="020B0503020204020204" charset="-122"/>
            </a:endParaRPr>
          </a:p>
        </p:txBody>
      </p:sp>
      <p:sp>
        <p:nvSpPr>
          <p:cNvPr id="9" name="object 9"/>
          <p:cNvSpPr txBox="1"/>
          <p:nvPr/>
        </p:nvSpPr>
        <p:spPr>
          <a:xfrm>
            <a:off x="6685915" y="3052445"/>
            <a:ext cx="4294505" cy="2545715"/>
          </a:xfrm>
          <a:prstGeom prst="rect">
            <a:avLst/>
          </a:prstGeom>
        </p:spPr>
        <p:txBody>
          <a:bodyPr vert="horz" wrap="square" lIns="0" tIns="12700" rIns="0" bIns="0" rtlCol="0">
            <a:spAutoFit/>
          </a:bodyPr>
          <a:lstStyle/>
          <a:p>
            <a:pPr marL="266700">
              <a:lnSpc>
                <a:spcPct val="100000"/>
              </a:lnSpc>
              <a:spcBef>
                <a:spcPts val="100"/>
              </a:spcBef>
            </a:pPr>
            <a:r>
              <a:rPr sz="2400" b="1" dirty="0">
                <a:solidFill>
                  <a:srgbClr val="C00000"/>
                </a:solidFill>
                <a:latin typeface="微软雅黑" panose="020B0503020204020204" charset="-122"/>
                <a:cs typeface="微软雅黑" panose="020B0503020204020204" charset="-122"/>
              </a:rPr>
              <a:t>想成为处理器验证工程师？</a:t>
            </a:r>
            <a:endParaRPr sz="2400">
              <a:latin typeface="微软雅黑" panose="020B0503020204020204" charset="-122"/>
              <a:cs typeface="微软雅黑" panose="020B0503020204020204" charset="-122"/>
            </a:endParaRPr>
          </a:p>
          <a:p>
            <a:pPr marL="298450" marR="5080" indent="-285750">
              <a:lnSpc>
                <a:spcPct val="150000"/>
              </a:lnSpc>
              <a:spcBef>
                <a:spcPts val="1840"/>
              </a:spcBef>
              <a:buFont typeface="Wingdings" panose="05000000000000000000"/>
              <a:buChar char=""/>
              <a:tabLst>
                <a:tab pos="297815" algn="l"/>
                <a:tab pos="298450" algn="l"/>
              </a:tabLst>
            </a:pPr>
            <a:r>
              <a:rPr sz="1400" spc="-5" dirty="0">
                <a:latin typeface="微软雅黑" panose="020B0503020204020204" charset="-122"/>
                <a:cs typeface="微软雅黑" panose="020B0503020204020204" charset="-122"/>
              </a:rPr>
              <a:t>使用U</a:t>
            </a:r>
            <a:r>
              <a:rPr sz="1400" spc="-10" dirty="0">
                <a:latin typeface="微软雅黑" panose="020B0503020204020204" charset="-122"/>
                <a:cs typeface="微软雅黑" panose="020B0503020204020204" charset="-122"/>
              </a:rPr>
              <a:t>V</a:t>
            </a:r>
            <a:r>
              <a:rPr sz="1400" dirty="0">
                <a:latin typeface="微软雅黑" panose="020B0503020204020204" charset="-122"/>
                <a:cs typeface="微软雅黑" panose="020B0503020204020204" charset="-122"/>
              </a:rPr>
              <a:t>M等传统的模块级验证手段对处理器子模</a:t>
            </a:r>
            <a:r>
              <a:rPr sz="1400" dirty="0">
                <a:latin typeface="微软雅黑" panose="020B0503020204020204" charset="-122"/>
                <a:cs typeface="微软雅黑" panose="020B0503020204020204" charset="-122"/>
              </a:rPr>
              <a:t>块 </a:t>
            </a:r>
            <a:r>
              <a:rPr sz="1400" dirty="0">
                <a:latin typeface="微软雅黑" panose="020B0503020204020204" charset="-122"/>
                <a:cs typeface="微软雅黑" panose="020B0503020204020204" charset="-122"/>
              </a:rPr>
              <a:t>进行验</a:t>
            </a:r>
            <a:r>
              <a:rPr sz="1400" spc="5" dirty="0">
                <a:latin typeface="微软雅黑" panose="020B0503020204020204" charset="-122"/>
                <a:cs typeface="微软雅黑" panose="020B0503020204020204" charset="-122"/>
              </a:rPr>
              <a:t>证</a:t>
            </a:r>
            <a:endParaRPr sz="1400">
              <a:latin typeface="微软雅黑" panose="020B0503020204020204" charset="-122"/>
              <a:cs typeface="微软雅黑" panose="020B0503020204020204" charset="-122"/>
            </a:endParaRPr>
          </a:p>
          <a:p>
            <a:pPr marL="298450" marR="76835" indent="-285750">
              <a:lnSpc>
                <a:spcPct val="150000"/>
              </a:lnSpc>
              <a:buFont typeface="Wingdings" panose="05000000000000000000"/>
              <a:buChar char=""/>
              <a:tabLst>
                <a:tab pos="297815" algn="l"/>
                <a:tab pos="298450" algn="l"/>
              </a:tabLst>
            </a:pPr>
            <a:r>
              <a:rPr sz="1400" dirty="0">
                <a:latin typeface="微软雅黑" panose="020B0503020204020204" charset="-122"/>
                <a:cs typeface="微软雅黑" panose="020B0503020204020204" charset="-122"/>
              </a:rPr>
              <a:t>需使用人工编写或随机生成的汇编语言测试用例</a:t>
            </a:r>
            <a:r>
              <a:rPr sz="1400" dirty="0">
                <a:latin typeface="微软雅黑" panose="020B0503020204020204" charset="-122"/>
                <a:cs typeface="微软雅黑" panose="020B0503020204020204" charset="-122"/>
              </a:rPr>
              <a:t>在 </a:t>
            </a:r>
            <a:r>
              <a:rPr sz="1400" dirty="0">
                <a:latin typeface="微软雅黑" panose="020B0503020204020204" charset="-122"/>
                <a:cs typeface="微软雅黑" panose="020B0503020204020204" charset="-122"/>
              </a:rPr>
              <a:t>处理器上运行进行验</a:t>
            </a:r>
            <a:r>
              <a:rPr sz="1400" spc="5" dirty="0">
                <a:latin typeface="微软雅黑" panose="020B0503020204020204" charset="-122"/>
                <a:cs typeface="微软雅黑" panose="020B0503020204020204" charset="-122"/>
              </a:rPr>
              <a:t>证</a:t>
            </a:r>
            <a:endParaRPr sz="1400">
              <a:latin typeface="微软雅黑" panose="020B0503020204020204" charset="-122"/>
              <a:cs typeface="微软雅黑" panose="020B0503020204020204" charset="-122"/>
            </a:endParaRPr>
          </a:p>
          <a:p>
            <a:pPr marL="298450" marR="108585" indent="-285750">
              <a:lnSpc>
                <a:spcPct val="150000"/>
              </a:lnSpc>
              <a:buFont typeface="Wingdings" panose="05000000000000000000"/>
              <a:buChar char=""/>
              <a:tabLst>
                <a:tab pos="297815" algn="l"/>
                <a:tab pos="298450" algn="l"/>
              </a:tabLst>
            </a:pPr>
            <a:r>
              <a:rPr sz="1400" spc="-5" dirty="0">
                <a:latin typeface="微软雅黑" panose="020B0503020204020204" charset="-122"/>
                <a:cs typeface="微软雅黑" panose="020B0503020204020204" charset="-122"/>
              </a:rPr>
              <a:t>需使用高等级语言如C，C++等编写测试用例在</a:t>
            </a:r>
            <a:r>
              <a:rPr sz="1400" dirty="0">
                <a:latin typeface="微软雅黑" panose="020B0503020204020204" charset="-122"/>
                <a:cs typeface="微软雅黑" panose="020B0503020204020204" charset="-122"/>
              </a:rPr>
              <a:t>处 </a:t>
            </a:r>
            <a:r>
              <a:rPr sz="1400" dirty="0">
                <a:latin typeface="微软雅黑" panose="020B0503020204020204" charset="-122"/>
                <a:cs typeface="微软雅黑" panose="020B0503020204020204" charset="-122"/>
              </a:rPr>
              <a:t>理器上进行验</a:t>
            </a:r>
            <a:r>
              <a:rPr sz="1400" spc="5" dirty="0">
                <a:latin typeface="微软雅黑" panose="020B0503020204020204" charset="-122"/>
                <a:cs typeface="微软雅黑" panose="020B0503020204020204" charset="-122"/>
              </a:rPr>
              <a:t>证</a:t>
            </a:r>
            <a:endParaRPr sz="1400">
              <a:latin typeface="微软雅黑" panose="020B0503020204020204" charset="-122"/>
              <a:cs typeface="微软雅黑" panose="020B0503020204020204" charset="-122"/>
            </a:endParaRPr>
          </a:p>
        </p:txBody>
      </p:sp>
      <p:sp>
        <p:nvSpPr>
          <p:cNvPr id="10" name="object 10"/>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6381750" cy="56642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蜂鸟E</a:t>
            </a:r>
            <a:r>
              <a:rPr sz="3600" spc="-5" dirty="0">
                <a:solidFill>
                  <a:srgbClr val="C00000"/>
                </a:solidFill>
              </a:rPr>
              <a:t>203</a:t>
            </a:r>
            <a:r>
              <a:rPr sz="3600" dirty="0">
                <a:solidFill>
                  <a:srgbClr val="C00000"/>
                </a:solidFill>
              </a:rPr>
              <a:t>的设计目标和哲学</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p:nvPr/>
        </p:nvSpPr>
        <p:spPr>
          <a:xfrm>
            <a:off x="5740908" y="1448409"/>
            <a:ext cx="125095" cy="515620"/>
          </a:xfrm>
          <a:custGeom>
            <a:avLst/>
            <a:gdLst/>
            <a:ahLst/>
            <a:cxnLst/>
            <a:rect l="l" t="t" r="r" b="b"/>
            <a:pathLst>
              <a:path w="125095" h="515619">
                <a:moveTo>
                  <a:pt x="61937" y="515315"/>
                </a:moveTo>
                <a:lnTo>
                  <a:pt x="30371" y="480111"/>
                </a:lnTo>
                <a:lnTo>
                  <a:pt x="17762" y="439761"/>
                </a:lnTo>
                <a:lnTo>
                  <a:pt x="8088" y="387492"/>
                </a:lnTo>
                <a:lnTo>
                  <a:pt x="1962" y="325742"/>
                </a:lnTo>
                <a:lnTo>
                  <a:pt x="0" y="256946"/>
                </a:lnTo>
                <a:lnTo>
                  <a:pt x="1962" y="188749"/>
                </a:lnTo>
                <a:lnTo>
                  <a:pt x="8088" y="127400"/>
                </a:lnTo>
                <a:lnTo>
                  <a:pt x="17762" y="75376"/>
                </a:lnTo>
                <a:lnTo>
                  <a:pt x="30371" y="35150"/>
                </a:lnTo>
                <a:lnTo>
                  <a:pt x="61937" y="0"/>
                </a:lnTo>
                <a:lnTo>
                  <a:pt x="78571" y="9203"/>
                </a:lnTo>
                <a:lnTo>
                  <a:pt x="106183" y="75464"/>
                </a:lnTo>
                <a:lnTo>
                  <a:pt x="115967" y="127611"/>
                </a:lnTo>
                <a:lnTo>
                  <a:pt x="122275" y="189160"/>
                </a:lnTo>
                <a:lnTo>
                  <a:pt x="124510" y="257657"/>
                </a:lnTo>
                <a:lnTo>
                  <a:pt x="122275" y="326154"/>
                </a:lnTo>
                <a:lnTo>
                  <a:pt x="115967" y="387703"/>
                </a:lnTo>
                <a:lnTo>
                  <a:pt x="106183" y="439850"/>
                </a:lnTo>
                <a:lnTo>
                  <a:pt x="93519" y="480138"/>
                </a:lnTo>
                <a:lnTo>
                  <a:pt x="61937" y="515315"/>
                </a:lnTo>
                <a:close/>
              </a:path>
            </a:pathLst>
          </a:custGeom>
          <a:solidFill>
            <a:srgbClr val="BEBEBE"/>
          </a:solidFill>
        </p:spPr>
        <p:txBody>
          <a:bodyPr wrap="square" lIns="0" tIns="0" rIns="0" bIns="0" rtlCol="0"/>
          <a:lstStyle/>
          <a:p/>
        </p:txBody>
      </p:sp>
      <p:sp>
        <p:nvSpPr>
          <p:cNvPr id="5" name="object 5"/>
          <p:cNvSpPr/>
          <p:nvPr/>
        </p:nvSpPr>
        <p:spPr>
          <a:xfrm>
            <a:off x="5831141" y="3600310"/>
            <a:ext cx="590550" cy="1181100"/>
          </a:xfrm>
          <a:custGeom>
            <a:avLst/>
            <a:gdLst/>
            <a:ahLst/>
            <a:cxnLst/>
            <a:rect l="l" t="t" r="r" b="b"/>
            <a:pathLst>
              <a:path w="590550" h="1181100">
                <a:moveTo>
                  <a:pt x="0" y="1180846"/>
                </a:moveTo>
                <a:lnTo>
                  <a:pt x="48206" y="1167391"/>
                </a:lnTo>
                <a:lnTo>
                  <a:pt x="87333" y="1119839"/>
                </a:lnTo>
                <a:lnTo>
                  <a:pt x="92976" y="1087869"/>
                </a:lnTo>
                <a:lnTo>
                  <a:pt x="87333" y="1055899"/>
                </a:lnTo>
                <a:lnTo>
                  <a:pt x="71742" y="1028725"/>
                </a:lnTo>
                <a:lnTo>
                  <a:pt x="48206" y="1008352"/>
                </a:lnTo>
                <a:lnTo>
                  <a:pt x="18732" y="996784"/>
                </a:lnTo>
                <a:lnTo>
                  <a:pt x="10236" y="995921"/>
                </a:lnTo>
                <a:lnTo>
                  <a:pt x="41503" y="994346"/>
                </a:lnTo>
                <a:lnTo>
                  <a:pt x="87899" y="986900"/>
                </a:lnTo>
                <a:lnTo>
                  <a:pt x="132386" y="974367"/>
                </a:lnTo>
                <a:lnTo>
                  <a:pt x="174648" y="957061"/>
                </a:lnTo>
                <a:lnTo>
                  <a:pt x="214432" y="935253"/>
                </a:lnTo>
                <a:lnTo>
                  <a:pt x="251249" y="909381"/>
                </a:lnTo>
                <a:lnTo>
                  <a:pt x="284960" y="879634"/>
                </a:lnTo>
                <a:lnTo>
                  <a:pt x="315193" y="846368"/>
                </a:lnTo>
                <a:lnTo>
                  <a:pt x="341635" y="809897"/>
                </a:lnTo>
                <a:lnTo>
                  <a:pt x="363973" y="770533"/>
                </a:lnTo>
                <a:lnTo>
                  <a:pt x="381892" y="728589"/>
                </a:lnTo>
                <a:lnTo>
                  <a:pt x="395079" y="684381"/>
                </a:lnTo>
                <a:lnTo>
                  <a:pt x="403222" y="638216"/>
                </a:lnTo>
                <a:lnTo>
                  <a:pt x="406006" y="590423"/>
                </a:lnTo>
                <a:lnTo>
                  <a:pt x="403222" y="542624"/>
                </a:lnTo>
                <a:lnTo>
                  <a:pt x="395079" y="496465"/>
                </a:lnTo>
                <a:lnTo>
                  <a:pt x="381892" y="452257"/>
                </a:lnTo>
                <a:lnTo>
                  <a:pt x="363973" y="410315"/>
                </a:lnTo>
                <a:lnTo>
                  <a:pt x="341635" y="370953"/>
                </a:lnTo>
                <a:lnTo>
                  <a:pt x="315193" y="334482"/>
                </a:lnTo>
                <a:lnTo>
                  <a:pt x="284960" y="301218"/>
                </a:lnTo>
                <a:lnTo>
                  <a:pt x="251249" y="271473"/>
                </a:lnTo>
                <a:lnTo>
                  <a:pt x="214374" y="245561"/>
                </a:lnTo>
                <a:lnTo>
                  <a:pt x="174648" y="223795"/>
                </a:lnTo>
                <a:lnTo>
                  <a:pt x="132386" y="206490"/>
                </a:lnTo>
                <a:lnTo>
                  <a:pt x="87899" y="193957"/>
                </a:lnTo>
                <a:lnTo>
                  <a:pt x="41503" y="186512"/>
                </a:lnTo>
                <a:lnTo>
                  <a:pt x="10236" y="184924"/>
                </a:lnTo>
                <a:lnTo>
                  <a:pt x="18732" y="184073"/>
                </a:lnTo>
                <a:lnTo>
                  <a:pt x="48206" y="172499"/>
                </a:lnTo>
                <a:lnTo>
                  <a:pt x="71742" y="152122"/>
                </a:lnTo>
                <a:lnTo>
                  <a:pt x="87333" y="124946"/>
                </a:lnTo>
                <a:lnTo>
                  <a:pt x="92976" y="92976"/>
                </a:lnTo>
                <a:lnTo>
                  <a:pt x="85669" y="56787"/>
                </a:lnTo>
                <a:lnTo>
                  <a:pt x="65743" y="27233"/>
                </a:lnTo>
                <a:lnTo>
                  <a:pt x="36189" y="7307"/>
                </a:lnTo>
                <a:lnTo>
                  <a:pt x="0" y="0"/>
                </a:lnTo>
                <a:lnTo>
                  <a:pt x="48422" y="1957"/>
                </a:lnTo>
                <a:lnTo>
                  <a:pt x="95767" y="7727"/>
                </a:lnTo>
                <a:lnTo>
                  <a:pt x="141882" y="17159"/>
                </a:lnTo>
                <a:lnTo>
                  <a:pt x="186615" y="30099"/>
                </a:lnTo>
                <a:lnTo>
                  <a:pt x="229815" y="46397"/>
                </a:lnTo>
                <a:lnTo>
                  <a:pt x="271329" y="65901"/>
                </a:lnTo>
                <a:lnTo>
                  <a:pt x="311005" y="88458"/>
                </a:lnTo>
                <a:lnTo>
                  <a:pt x="348692" y="113916"/>
                </a:lnTo>
                <a:lnTo>
                  <a:pt x="384237" y="142124"/>
                </a:lnTo>
                <a:lnTo>
                  <a:pt x="417488" y="172929"/>
                </a:lnTo>
                <a:lnTo>
                  <a:pt x="448294" y="206180"/>
                </a:lnTo>
                <a:lnTo>
                  <a:pt x="476502" y="241725"/>
                </a:lnTo>
                <a:lnTo>
                  <a:pt x="501961" y="279411"/>
                </a:lnTo>
                <a:lnTo>
                  <a:pt x="524519" y="319088"/>
                </a:lnTo>
                <a:lnTo>
                  <a:pt x="544023" y="360602"/>
                </a:lnTo>
                <a:lnTo>
                  <a:pt x="560321" y="403802"/>
                </a:lnTo>
                <a:lnTo>
                  <a:pt x="573263" y="448536"/>
                </a:lnTo>
                <a:lnTo>
                  <a:pt x="582695" y="494652"/>
                </a:lnTo>
                <a:lnTo>
                  <a:pt x="588465" y="541998"/>
                </a:lnTo>
                <a:lnTo>
                  <a:pt x="590423" y="590423"/>
                </a:lnTo>
                <a:lnTo>
                  <a:pt x="588515" y="638221"/>
                </a:lnTo>
                <a:lnTo>
                  <a:pt x="582894" y="684962"/>
                </a:lnTo>
                <a:lnTo>
                  <a:pt x="573703" y="730514"/>
                </a:lnTo>
                <a:lnTo>
                  <a:pt x="561088" y="774725"/>
                </a:lnTo>
                <a:lnTo>
                  <a:pt x="545196" y="817451"/>
                </a:lnTo>
                <a:lnTo>
                  <a:pt x="526173" y="858545"/>
                </a:lnTo>
                <a:lnTo>
                  <a:pt x="504164" y="897861"/>
                </a:lnTo>
                <a:lnTo>
                  <a:pt x="479284" y="935294"/>
                </a:lnTo>
                <a:lnTo>
                  <a:pt x="451775" y="970575"/>
                </a:lnTo>
                <a:lnTo>
                  <a:pt x="421686" y="1003680"/>
                </a:lnTo>
                <a:lnTo>
                  <a:pt x="389197" y="1034423"/>
                </a:lnTo>
                <a:lnTo>
                  <a:pt x="354452" y="1062658"/>
                </a:lnTo>
                <a:lnTo>
                  <a:pt x="317598" y="1088238"/>
                </a:lnTo>
                <a:lnTo>
                  <a:pt x="278781" y="1111018"/>
                </a:lnTo>
                <a:lnTo>
                  <a:pt x="238148" y="1130851"/>
                </a:lnTo>
                <a:lnTo>
                  <a:pt x="195843" y="1147592"/>
                </a:lnTo>
                <a:lnTo>
                  <a:pt x="152013" y="1161094"/>
                </a:lnTo>
                <a:lnTo>
                  <a:pt x="106804" y="1171211"/>
                </a:lnTo>
                <a:lnTo>
                  <a:pt x="60363" y="1177798"/>
                </a:lnTo>
                <a:lnTo>
                  <a:pt x="0" y="1180846"/>
                </a:lnTo>
                <a:close/>
              </a:path>
            </a:pathLst>
          </a:custGeom>
          <a:solidFill>
            <a:srgbClr val="C00000"/>
          </a:solidFill>
        </p:spPr>
        <p:txBody>
          <a:bodyPr wrap="square" lIns="0" tIns="0" rIns="0" bIns="0" rtlCol="0"/>
          <a:lstStyle/>
          <a:p/>
        </p:txBody>
      </p:sp>
      <p:sp>
        <p:nvSpPr>
          <p:cNvPr id="6" name="object 6"/>
          <p:cNvSpPr/>
          <p:nvPr/>
        </p:nvSpPr>
        <p:spPr>
          <a:xfrm>
            <a:off x="5802668" y="1613166"/>
            <a:ext cx="590550" cy="1181100"/>
          </a:xfrm>
          <a:custGeom>
            <a:avLst/>
            <a:gdLst/>
            <a:ahLst/>
            <a:cxnLst/>
            <a:rect l="l" t="t" r="r" b="b"/>
            <a:pathLst>
              <a:path w="590550" h="1181100">
                <a:moveTo>
                  <a:pt x="0" y="1180655"/>
                </a:moveTo>
                <a:lnTo>
                  <a:pt x="48204" y="1167196"/>
                </a:lnTo>
                <a:lnTo>
                  <a:pt x="87323" y="1119654"/>
                </a:lnTo>
                <a:lnTo>
                  <a:pt x="92963" y="1087691"/>
                </a:lnTo>
                <a:lnTo>
                  <a:pt x="87323" y="1055728"/>
                </a:lnTo>
                <a:lnTo>
                  <a:pt x="71735" y="1028558"/>
                </a:lnTo>
                <a:lnTo>
                  <a:pt x="48204" y="1008186"/>
                </a:lnTo>
                <a:lnTo>
                  <a:pt x="18732" y="996619"/>
                </a:lnTo>
                <a:lnTo>
                  <a:pt x="10236" y="995756"/>
                </a:lnTo>
                <a:lnTo>
                  <a:pt x="41503" y="994181"/>
                </a:lnTo>
                <a:lnTo>
                  <a:pt x="87891" y="986736"/>
                </a:lnTo>
                <a:lnTo>
                  <a:pt x="132369" y="974205"/>
                </a:lnTo>
                <a:lnTo>
                  <a:pt x="174624" y="956901"/>
                </a:lnTo>
                <a:lnTo>
                  <a:pt x="214395" y="935101"/>
                </a:lnTo>
                <a:lnTo>
                  <a:pt x="251211" y="909230"/>
                </a:lnTo>
                <a:lnTo>
                  <a:pt x="284916" y="879489"/>
                </a:lnTo>
                <a:lnTo>
                  <a:pt x="315145" y="846229"/>
                </a:lnTo>
                <a:lnTo>
                  <a:pt x="341582" y="809763"/>
                </a:lnTo>
                <a:lnTo>
                  <a:pt x="363916" y="770405"/>
                </a:lnTo>
                <a:lnTo>
                  <a:pt x="381832" y="728469"/>
                </a:lnTo>
                <a:lnTo>
                  <a:pt x="395018" y="684267"/>
                </a:lnTo>
                <a:lnTo>
                  <a:pt x="403159" y="638108"/>
                </a:lnTo>
                <a:lnTo>
                  <a:pt x="405942" y="590321"/>
                </a:lnTo>
                <a:lnTo>
                  <a:pt x="403159" y="542531"/>
                </a:lnTo>
                <a:lnTo>
                  <a:pt x="395018" y="496380"/>
                </a:lnTo>
                <a:lnTo>
                  <a:pt x="381832" y="452180"/>
                </a:lnTo>
                <a:lnTo>
                  <a:pt x="363916" y="410245"/>
                </a:lnTo>
                <a:lnTo>
                  <a:pt x="341582" y="370889"/>
                </a:lnTo>
                <a:lnTo>
                  <a:pt x="315145" y="334424"/>
                </a:lnTo>
                <a:lnTo>
                  <a:pt x="284916" y="301165"/>
                </a:lnTo>
                <a:lnTo>
                  <a:pt x="251211" y="271424"/>
                </a:lnTo>
                <a:lnTo>
                  <a:pt x="214343" y="245516"/>
                </a:lnTo>
                <a:lnTo>
                  <a:pt x="174624" y="223753"/>
                </a:lnTo>
                <a:lnTo>
                  <a:pt x="132369" y="206450"/>
                </a:lnTo>
                <a:lnTo>
                  <a:pt x="87891" y="193919"/>
                </a:lnTo>
                <a:lnTo>
                  <a:pt x="41503" y="186474"/>
                </a:lnTo>
                <a:lnTo>
                  <a:pt x="10236" y="184899"/>
                </a:lnTo>
                <a:lnTo>
                  <a:pt x="18732" y="184035"/>
                </a:lnTo>
                <a:lnTo>
                  <a:pt x="48204" y="172468"/>
                </a:lnTo>
                <a:lnTo>
                  <a:pt x="71735" y="152096"/>
                </a:lnTo>
                <a:lnTo>
                  <a:pt x="87323" y="124926"/>
                </a:lnTo>
                <a:lnTo>
                  <a:pt x="92963" y="92963"/>
                </a:lnTo>
                <a:lnTo>
                  <a:pt x="85658" y="56776"/>
                </a:lnTo>
                <a:lnTo>
                  <a:pt x="65736" y="27227"/>
                </a:lnTo>
                <a:lnTo>
                  <a:pt x="36187" y="7305"/>
                </a:lnTo>
                <a:lnTo>
                  <a:pt x="0" y="0"/>
                </a:lnTo>
                <a:lnTo>
                  <a:pt x="48416" y="1956"/>
                </a:lnTo>
                <a:lnTo>
                  <a:pt x="95755" y="7726"/>
                </a:lnTo>
                <a:lnTo>
                  <a:pt x="141864" y="17156"/>
                </a:lnTo>
                <a:lnTo>
                  <a:pt x="186591" y="30095"/>
                </a:lnTo>
                <a:lnTo>
                  <a:pt x="229785" y="46390"/>
                </a:lnTo>
                <a:lnTo>
                  <a:pt x="271293" y="65891"/>
                </a:lnTo>
                <a:lnTo>
                  <a:pt x="310963" y="88444"/>
                </a:lnTo>
                <a:lnTo>
                  <a:pt x="348644" y="113898"/>
                </a:lnTo>
                <a:lnTo>
                  <a:pt x="384183" y="142102"/>
                </a:lnTo>
                <a:lnTo>
                  <a:pt x="417429" y="172902"/>
                </a:lnTo>
                <a:lnTo>
                  <a:pt x="448230" y="206148"/>
                </a:lnTo>
                <a:lnTo>
                  <a:pt x="476434" y="241686"/>
                </a:lnTo>
                <a:lnTo>
                  <a:pt x="501888" y="279366"/>
                </a:lnTo>
                <a:lnTo>
                  <a:pt x="524442" y="319036"/>
                </a:lnTo>
                <a:lnTo>
                  <a:pt x="543942" y="360543"/>
                </a:lnTo>
                <a:lnTo>
                  <a:pt x="560238" y="403735"/>
                </a:lnTo>
                <a:lnTo>
                  <a:pt x="573177" y="448461"/>
                </a:lnTo>
                <a:lnTo>
                  <a:pt x="582607" y="494569"/>
                </a:lnTo>
                <a:lnTo>
                  <a:pt x="588377" y="541906"/>
                </a:lnTo>
                <a:lnTo>
                  <a:pt x="590334" y="590321"/>
                </a:lnTo>
                <a:lnTo>
                  <a:pt x="588427" y="638113"/>
                </a:lnTo>
                <a:lnTo>
                  <a:pt x="582807" y="684848"/>
                </a:lnTo>
                <a:lnTo>
                  <a:pt x="573617" y="730393"/>
                </a:lnTo>
                <a:lnTo>
                  <a:pt x="561004" y="774599"/>
                </a:lnTo>
                <a:lnTo>
                  <a:pt x="545115" y="817318"/>
                </a:lnTo>
                <a:lnTo>
                  <a:pt x="526094" y="858406"/>
                </a:lnTo>
                <a:lnTo>
                  <a:pt x="504089" y="897716"/>
                </a:lnTo>
                <a:lnTo>
                  <a:pt x="479217" y="935138"/>
                </a:lnTo>
                <a:lnTo>
                  <a:pt x="451709" y="970417"/>
                </a:lnTo>
                <a:lnTo>
                  <a:pt x="421625" y="1003517"/>
                </a:lnTo>
                <a:lnTo>
                  <a:pt x="389141" y="1034255"/>
                </a:lnTo>
                <a:lnTo>
                  <a:pt x="354402" y="1062485"/>
                </a:lnTo>
                <a:lnTo>
                  <a:pt x="317555" y="1088061"/>
                </a:lnTo>
                <a:lnTo>
                  <a:pt x="278744" y="1110837"/>
                </a:lnTo>
                <a:lnTo>
                  <a:pt x="238117" y="1130667"/>
                </a:lnTo>
                <a:lnTo>
                  <a:pt x="195820" y="1147405"/>
                </a:lnTo>
                <a:lnTo>
                  <a:pt x="151997" y="1160905"/>
                </a:lnTo>
                <a:lnTo>
                  <a:pt x="106796" y="1171021"/>
                </a:lnTo>
                <a:lnTo>
                  <a:pt x="60363" y="1177607"/>
                </a:lnTo>
                <a:lnTo>
                  <a:pt x="0" y="1180655"/>
                </a:lnTo>
                <a:close/>
              </a:path>
            </a:pathLst>
          </a:custGeom>
          <a:solidFill>
            <a:srgbClr val="C00000"/>
          </a:solidFill>
        </p:spPr>
        <p:txBody>
          <a:bodyPr wrap="square" lIns="0" tIns="0" rIns="0" bIns="0" rtlCol="0"/>
          <a:lstStyle/>
          <a:p/>
        </p:txBody>
      </p:sp>
      <p:sp>
        <p:nvSpPr>
          <p:cNvPr id="7" name="object 7"/>
          <p:cNvSpPr/>
          <p:nvPr/>
        </p:nvSpPr>
        <p:spPr>
          <a:xfrm>
            <a:off x="5740908" y="2443124"/>
            <a:ext cx="125095" cy="515620"/>
          </a:xfrm>
          <a:custGeom>
            <a:avLst/>
            <a:gdLst/>
            <a:ahLst/>
            <a:cxnLst/>
            <a:rect l="l" t="t" r="r" b="b"/>
            <a:pathLst>
              <a:path w="125095" h="515619">
                <a:moveTo>
                  <a:pt x="62064" y="515480"/>
                </a:moveTo>
                <a:lnTo>
                  <a:pt x="30547" y="480279"/>
                </a:lnTo>
                <a:lnTo>
                  <a:pt x="17940" y="439948"/>
                </a:lnTo>
                <a:lnTo>
                  <a:pt x="8242" y="387727"/>
                </a:lnTo>
                <a:lnTo>
                  <a:pt x="2060" y="326063"/>
                </a:lnTo>
                <a:lnTo>
                  <a:pt x="0" y="257403"/>
                </a:lnTo>
                <a:lnTo>
                  <a:pt x="2060" y="189027"/>
                </a:lnTo>
                <a:lnTo>
                  <a:pt x="8242" y="127553"/>
                </a:lnTo>
                <a:lnTo>
                  <a:pt x="17940" y="75447"/>
                </a:lnTo>
                <a:lnTo>
                  <a:pt x="30547" y="35176"/>
                </a:lnTo>
                <a:lnTo>
                  <a:pt x="62064" y="0"/>
                </a:lnTo>
                <a:lnTo>
                  <a:pt x="78673" y="9206"/>
                </a:lnTo>
                <a:lnTo>
                  <a:pt x="106240" y="75490"/>
                </a:lnTo>
                <a:lnTo>
                  <a:pt x="116007" y="127654"/>
                </a:lnTo>
                <a:lnTo>
                  <a:pt x="122304" y="189225"/>
                </a:lnTo>
                <a:lnTo>
                  <a:pt x="124536" y="257746"/>
                </a:lnTo>
                <a:lnTo>
                  <a:pt x="122304" y="326262"/>
                </a:lnTo>
                <a:lnTo>
                  <a:pt x="116007" y="387829"/>
                </a:lnTo>
                <a:lnTo>
                  <a:pt x="106240" y="439991"/>
                </a:lnTo>
                <a:lnTo>
                  <a:pt x="93597" y="480291"/>
                </a:lnTo>
                <a:lnTo>
                  <a:pt x="62064" y="515480"/>
                </a:lnTo>
                <a:close/>
              </a:path>
            </a:pathLst>
          </a:custGeom>
          <a:solidFill>
            <a:srgbClr val="BEBEBE"/>
          </a:solidFill>
        </p:spPr>
        <p:txBody>
          <a:bodyPr wrap="square" lIns="0" tIns="0" rIns="0" bIns="0" rtlCol="0"/>
          <a:lstStyle/>
          <a:p/>
        </p:txBody>
      </p:sp>
      <p:sp>
        <p:nvSpPr>
          <p:cNvPr id="8" name="object 8"/>
          <p:cNvSpPr/>
          <p:nvPr/>
        </p:nvSpPr>
        <p:spPr>
          <a:xfrm>
            <a:off x="5495544" y="1878152"/>
            <a:ext cx="651510" cy="650875"/>
          </a:xfrm>
          <a:custGeom>
            <a:avLst/>
            <a:gdLst/>
            <a:ahLst/>
            <a:cxnLst/>
            <a:rect l="l" t="t" r="r" b="b"/>
            <a:pathLst>
              <a:path w="651510" h="650875">
                <a:moveTo>
                  <a:pt x="325831" y="650684"/>
                </a:moveTo>
                <a:lnTo>
                  <a:pt x="277753" y="647157"/>
                </a:lnTo>
                <a:lnTo>
                  <a:pt x="231862" y="636910"/>
                </a:lnTo>
                <a:lnTo>
                  <a:pt x="188659" y="620446"/>
                </a:lnTo>
                <a:lnTo>
                  <a:pt x="148644" y="598270"/>
                </a:lnTo>
                <a:lnTo>
                  <a:pt x="112319" y="570884"/>
                </a:lnTo>
                <a:lnTo>
                  <a:pt x="80187" y="538791"/>
                </a:lnTo>
                <a:lnTo>
                  <a:pt x="52749" y="502494"/>
                </a:lnTo>
                <a:lnTo>
                  <a:pt x="30510" y="462497"/>
                </a:lnTo>
                <a:lnTo>
                  <a:pt x="13998" y="419421"/>
                </a:lnTo>
                <a:lnTo>
                  <a:pt x="3650" y="373577"/>
                </a:lnTo>
                <a:lnTo>
                  <a:pt x="0" y="325551"/>
                </a:lnTo>
                <a:lnTo>
                  <a:pt x="3650" y="277422"/>
                </a:lnTo>
                <a:lnTo>
                  <a:pt x="13998" y="231492"/>
                </a:lnTo>
                <a:lnTo>
                  <a:pt x="30542" y="188264"/>
                </a:lnTo>
                <a:lnTo>
                  <a:pt x="52822" y="148186"/>
                </a:lnTo>
                <a:lnTo>
                  <a:pt x="80248" y="111891"/>
                </a:lnTo>
                <a:lnTo>
                  <a:pt x="112366" y="79798"/>
                </a:lnTo>
                <a:lnTo>
                  <a:pt x="148676" y="52413"/>
                </a:lnTo>
                <a:lnTo>
                  <a:pt x="188678" y="30237"/>
                </a:lnTo>
                <a:lnTo>
                  <a:pt x="231872" y="13774"/>
                </a:lnTo>
                <a:lnTo>
                  <a:pt x="277756" y="3527"/>
                </a:lnTo>
                <a:lnTo>
                  <a:pt x="325831" y="0"/>
                </a:lnTo>
                <a:lnTo>
                  <a:pt x="373911" y="3527"/>
                </a:lnTo>
                <a:lnTo>
                  <a:pt x="419802" y="13775"/>
                </a:lnTo>
                <a:lnTo>
                  <a:pt x="463000" y="30241"/>
                </a:lnTo>
                <a:lnTo>
                  <a:pt x="503003" y="52423"/>
                </a:lnTo>
                <a:lnTo>
                  <a:pt x="539306" y="79819"/>
                </a:lnTo>
                <a:lnTo>
                  <a:pt x="571406" y="111926"/>
                </a:lnTo>
                <a:lnTo>
                  <a:pt x="598796" y="148242"/>
                </a:lnTo>
                <a:lnTo>
                  <a:pt x="620973" y="188264"/>
                </a:lnTo>
                <a:lnTo>
                  <a:pt x="637405" y="231374"/>
                </a:lnTo>
                <a:lnTo>
                  <a:pt x="647652" y="277259"/>
                </a:lnTo>
                <a:lnTo>
                  <a:pt x="651179" y="325335"/>
                </a:lnTo>
                <a:lnTo>
                  <a:pt x="647652" y="373415"/>
                </a:lnTo>
                <a:lnTo>
                  <a:pt x="637405" y="419303"/>
                </a:lnTo>
                <a:lnTo>
                  <a:pt x="620942" y="462497"/>
                </a:lnTo>
                <a:lnTo>
                  <a:pt x="598723" y="502550"/>
                </a:lnTo>
                <a:lnTo>
                  <a:pt x="571344" y="538826"/>
                </a:lnTo>
                <a:lnTo>
                  <a:pt x="539259" y="570904"/>
                </a:lnTo>
                <a:lnTo>
                  <a:pt x="502971" y="598281"/>
                </a:lnTo>
                <a:lnTo>
                  <a:pt x="462981" y="620451"/>
                </a:lnTo>
                <a:lnTo>
                  <a:pt x="419793" y="636911"/>
                </a:lnTo>
                <a:lnTo>
                  <a:pt x="373908" y="647157"/>
                </a:lnTo>
                <a:lnTo>
                  <a:pt x="325831" y="650684"/>
                </a:lnTo>
                <a:close/>
              </a:path>
            </a:pathLst>
          </a:custGeom>
          <a:solidFill>
            <a:srgbClr val="D9D9D9"/>
          </a:solidFill>
        </p:spPr>
        <p:txBody>
          <a:bodyPr wrap="square" lIns="0" tIns="0" rIns="0" bIns="0" rtlCol="0"/>
          <a:lstStyle/>
          <a:p/>
        </p:txBody>
      </p:sp>
      <p:sp>
        <p:nvSpPr>
          <p:cNvPr id="9" name="object 9"/>
          <p:cNvSpPr txBox="1"/>
          <p:nvPr/>
        </p:nvSpPr>
        <p:spPr>
          <a:xfrm>
            <a:off x="5679592" y="2022335"/>
            <a:ext cx="283845" cy="331470"/>
          </a:xfrm>
          <a:prstGeom prst="rect">
            <a:avLst/>
          </a:prstGeom>
        </p:spPr>
        <p:txBody>
          <a:bodyPr vert="horz" wrap="square" lIns="0" tIns="13335" rIns="0" bIns="0" rtlCol="0">
            <a:spAutoFit/>
          </a:bodyPr>
          <a:lstStyle/>
          <a:p>
            <a:pPr marL="12700">
              <a:lnSpc>
                <a:spcPct val="100000"/>
              </a:lnSpc>
              <a:spcBef>
                <a:spcPts val="105"/>
              </a:spcBef>
            </a:pPr>
            <a:r>
              <a:rPr sz="2000" b="1" spc="-5" dirty="0">
                <a:solidFill>
                  <a:srgbClr val="C00000"/>
                </a:solidFill>
                <a:latin typeface="Calibri" panose="020F0502020204030204"/>
                <a:cs typeface="Calibri" panose="020F0502020204030204"/>
              </a:rPr>
              <a:t>0</a:t>
            </a:r>
            <a:r>
              <a:rPr sz="2000" b="1" dirty="0">
                <a:solidFill>
                  <a:srgbClr val="C00000"/>
                </a:solidFill>
                <a:latin typeface="Calibri" panose="020F0502020204030204"/>
                <a:cs typeface="Calibri" panose="020F0502020204030204"/>
              </a:rPr>
              <a:t>1</a:t>
            </a:r>
            <a:endParaRPr sz="2000">
              <a:latin typeface="Calibri" panose="020F0502020204030204"/>
              <a:cs typeface="Calibri" panose="020F0502020204030204"/>
            </a:endParaRPr>
          </a:p>
        </p:txBody>
      </p:sp>
      <p:sp>
        <p:nvSpPr>
          <p:cNvPr id="10" name="object 10"/>
          <p:cNvSpPr/>
          <p:nvPr/>
        </p:nvSpPr>
        <p:spPr>
          <a:xfrm>
            <a:off x="5740908" y="3438474"/>
            <a:ext cx="125095" cy="515620"/>
          </a:xfrm>
          <a:custGeom>
            <a:avLst/>
            <a:gdLst/>
            <a:ahLst/>
            <a:cxnLst/>
            <a:rect l="l" t="t" r="r" b="b"/>
            <a:pathLst>
              <a:path w="125095" h="515620">
                <a:moveTo>
                  <a:pt x="62064" y="515480"/>
                </a:moveTo>
                <a:lnTo>
                  <a:pt x="30547" y="480272"/>
                </a:lnTo>
                <a:lnTo>
                  <a:pt x="17940" y="439926"/>
                </a:lnTo>
                <a:lnTo>
                  <a:pt x="8242" y="387675"/>
                </a:lnTo>
                <a:lnTo>
                  <a:pt x="2060" y="325960"/>
                </a:lnTo>
                <a:lnTo>
                  <a:pt x="0" y="257225"/>
                </a:lnTo>
                <a:lnTo>
                  <a:pt x="2060" y="188924"/>
                </a:lnTo>
                <a:lnTo>
                  <a:pt x="8242" y="127500"/>
                </a:lnTo>
                <a:lnTo>
                  <a:pt x="17940" y="75425"/>
                </a:lnTo>
                <a:lnTo>
                  <a:pt x="30547" y="35169"/>
                </a:lnTo>
                <a:lnTo>
                  <a:pt x="62064" y="0"/>
                </a:lnTo>
                <a:lnTo>
                  <a:pt x="78673" y="9206"/>
                </a:lnTo>
                <a:lnTo>
                  <a:pt x="106240" y="75490"/>
                </a:lnTo>
                <a:lnTo>
                  <a:pt x="116007" y="127654"/>
                </a:lnTo>
                <a:lnTo>
                  <a:pt x="122304" y="189225"/>
                </a:lnTo>
                <a:lnTo>
                  <a:pt x="124536" y="257746"/>
                </a:lnTo>
                <a:lnTo>
                  <a:pt x="122304" y="326262"/>
                </a:lnTo>
                <a:lnTo>
                  <a:pt x="116007" y="387829"/>
                </a:lnTo>
                <a:lnTo>
                  <a:pt x="106240" y="439991"/>
                </a:lnTo>
                <a:lnTo>
                  <a:pt x="93597" y="480291"/>
                </a:lnTo>
                <a:lnTo>
                  <a:pt x="62064" y="515480"/>
                </a:lnTo>
                <a:close/>
              </a:path>
            </a:pathLst>
          </a:custGeom>
          <a:solidFill>
            <a:srgbClr val="BEBEBE"/>
          </a:solidFill>
        </p:spPr>
        <p:txBody>
          <a:bodyPr wrap="square" lIns="0" tIns="0" rIns="0" bIns="0" rtlCol="0"/>
          <a:lstStyle/>
          <a:p/>
        </p:txBody>
      </p:sp>
      <p:sp>
        <p:nvSpPr>
          <p:cNvPr id="11" name="object 11"/>
          <p:cNvSpPr/>
          <p:nvPr/>
        </p:nvSpPr>
        <p:spPr>
          <a:xfrm>
            <a:off x="5740908" y="4430814"/>
            <a:ext cx="125095" cy="515620"/>
          </a:xfrm>
          <a:custGeom>
            <a:avLst/>
            <a:gdLst/>
            <a:ahLst/>
            <a:cxnLst/>
            <a:rect l="l" t="t" r="r" b="b"/>
            <a:pathLst>
              <a:path w="125095" h="515620">
                <a:moveTo>
                  <a:pt x="62064" y="515480"/>
                </a:moveTo>
                <a:lnTo>
                  <a:pt x="30547" y="480264"/>
                </a:lnTo>
                <a:lnTo>
                  <a:pt x="17940" y="439899"/>
                </a:lnTo>
                <a:lnTo>
                  <a:pt x="8242" y="387611"/>
                </a:lnTo>
                <a:lnTo>
                  <a:pt x="2060" y="325835"/>
                </a:lnTo>
                <a:lnTo>
                  <a:pt x="0" y="257009"/>
                </a:lnTo>
                <a:lnTo>
                  <a:pt x="2060" y="188799"/>
                </a:lnTo>
                <a:lnTo>
                  <a:pt x="8242" y="127436"/>
                </a:lnTo>
                <a:lnTo>
                  <a:pt x="17940" y="75398"/>
                </a:lnTo>
                <a:lnTo>
                  <a:pt x="30547" y="35161"/>
                </a:lnTo>
                <a:lnTo>
                  <a:pt x="62064" y="0"/>
                </a:lnTo>
                <a:lnTo>
                  <a:pt x="78673" y="9206"/>
                </a:lnTo>
                <a:lnTo>
                  <a:pt x="106240" y="75488"/>
                </a:lnTo>
                <a:lnTo>
                  <a:pt x="116007" y="127650"/>
                </a:lnTo>
                <a:lnTo>
                  <a:pt x="122304" y="189218"/>
                </a:lnTo>
                <a:lnTo>
                  <a:pt x="124536" y="257733"/>
                </a:lnTo>
                <a:lnTo>
                  <a:pt x="122304" y="326254"/>
                </a:lnTo>
                <a:lnTo>
                  <a:pt x="116007" y="387825"/>
                </a:lnTo>
                <a:lnTo>
                  <a:pt x="106240" y="439989"/>
                </a:lnTo>
                <a:lnTo>
                  <a:pt x="93597" y="480291"/>
                </a:lnTo>
                <a:lnTo>
                  <a:pt x="62064" y="515480"/>
                </a:lnTo>
                <a:close/>
              </a:path>
            </a:pathLst>
          </a:custGeom>
          <a:solidFill>
            <a:srgbClr val="BEBEBE"/>
          </a:solidFill>
        </p:spPr>
        <p:txBody>
          <a:bodyPr wrap="square" lIns="0" tIns="0" rIns="0" bIns="0" rtlCol="0"/>
          <a:lstStyle/>
          <a:p/>
        </p:txBody>
      </p:sp>
      <p:sp>
        <p:nvSpPr>
          <p:cNvPr id="12" name="object 12"/>
          <p:cNvSpPr/>
          <p:nvPr/>
        </p:nvSpPr>
        <p:spPr>
          <a:xfrm>
            <a:off x="5750052" y="5385714"/>
            <a:ext cx="124460" cy="515620"/>
          </a:xfrm>
          <a:custGeom>
            <a:avLst/>
            <a:gdLst/>
            <a:ahLst/>
            <a:cxnLst/>
            <a:rect l="l" t="t" r="r" b="b"/>
            <a:pathLst>
              <a:path w="124460" h="515620">
                <a:moveTo>
                  <a:pt x="61975" y="515480"/>
                </a:moveTo>
                <a:lnTo>
                  <a:pt x="30459" y="480288"/>
                </a:lnTo>
                <a:lnTo>
                  <a:pt x="17857" y="439980"/>
                </a:lnTo>
                <a:lnTo>
                  <a:pt x="8174" y="387802"/>
                </a:lnTo>
                <a:lnTo>
                  <a:pt x="2018" y="326210"/>
                </a:lnTo>
                <a:lnTo>
                  <a:pt x="0" y="257657"/>
                </a:lnTo>
                <a:lnTo>
                  <a:pt x="2018" y="189174"/>
                </a:lnTo>
                <a:lnTo>
                  <a:pt x="8174" y="127628"/>
                </a:lnTo>
                <a:lnTo>
                  <a:pt x="17857" y="75479"/>
                </a:lnTo>
                <a:lnTo>
                  <a:pt x="30459" y="35185"/>
                </a:lnTo>
                <a:lnTo>
                  <a:pt x="61975" y="0"/>
                </a:lnTo>
                <a:lnTo>
                  <a:pt x="78580" y="9206"/>
                </a:lnTo>
                <a:lnTo>
                  <a:pt x="106146" y="75490"/>
                </a:lnTo>
                <a:lnTo>
                  <a:pt x="115916" y="127654"/>
                </a:lnTo>
                <a:lnTo>
                  <a:pt x="122215" y="189225"/>
                </a:lnTo>
                <a:lnTo>
                  <a:pt x="124447" y="257746"/>
                </a:lnTo>
                <a:lnTo>
                  <a:pt x="122215" y="326262"/>
                </a:lnTo>
                <a:lnTo>
                  <a:pt x="115916" y="387829"/>
                </a:lnTo>
                <a:lnTo>
                  <a:pt x="106146" y="439991"/>
                </a:lnTo>
                <a:lnTo>
                  <a:pt x="93502" y="480291"/>
                </a:lnTo>
                <a:lnTo>
                  <a:pt x="61975" y="515480"/>
                </a:lnTo>
                <a:close/>
              </a:path>
            </a:pathLst>
          </a:custGeom>
          <a:solidFill>
            <a:srgbClr val="BEBEBE"/>
          </a:solidFill>
        </p:spPr>
        <p:txBody>
          <a:bodyPr wrap="square" lIns="0" tIns="0" rIns="0" bIns="0" rtlCol="0"/>
          <a:lstStyle/>
          <a:p/>
        </p:txBody>
      </p:sp>
      <p:sp>
        <p:nvSpPr>
          <p:cNvPr id="13" name="object 13"/>
          <p:cNvSpPr/>
          <p:nvPr/>
        </p:nvSpPr>
        <p:spPr>
          <a:xfrm>
            <a:off x="5194236" y="2607906"/>
            <a:ext cx="590550" cy="1181100"/>
          </a:xfrm>
          <a:custGeom>
            <a:avLst/>
            <a:gdLst/>
            <a:ahLst/>
            <a:cxnLst/>
            <a:rect l="l" t="t" r="r" b="b"/>
            <a:pathLst>
              <a:path w="590550" h="1181100">
                <a:moveTo>
                  <a:pt x="590321" y="1180668"/>
                </a:moveTo>
                <a:lnTo>
                  <a:pt x="529971" y="1177620"/>
                </a:lnTo>
                <a:lnTo>
                  <a:pt x="483537" y="1171032"/>
                </a:lnTo>
                <a:lnTo>
                  <a:pt x="438336" y="1160914"/>
                </a:lnTo>
                <a:lnTo>
                  <a:pt x="394513" y="1147412"/>
                </a:lnTo>
                <a:lnTo>
                  <a:pt x="352216" y="1130673"/>
                </a:lnTo>
                <a:lnTo>
                  <a:pt x="311589" y="1110842"/>
                </a:lnTo>
                <a:lnTo>
                  <a:pt x="272778" y="1088065"/>
                </a:lnTo>
                <a:lnTo>
                  <a:pt x="235931" y="1062488"/>
                </a:lnTo>
                <a:lnTo>
                  <a:pt x="201192" y="1034258"/>
                </a:lnTo>
                <a:lnTo>
                  <a:pt x="168708" y="1003520"/>
                </a:lnTo>
                <a:lnTo>
                  <a:pt x="138624" y="970420"/>
                </a:lnTo>
                <a:lnTo>
                  <a:pt x="111088" y="935105"/>
                </a:lnTo>
                <a:lnTo>
                  <a:pt x="86244" y="897719"/>
                </a:lnTo>
                <a:lnTo>
                  <a:pt x="64239" y="858410"/>
                </a:lnTo>
                <a:lnTo>
                  <a:pt x="45218" y="817324"/>
                </a:lnTo>
                <a:lnTo>
                  <a:pt x="29329" y="774605"/>
                </a:lnTo>
                <a:lnTo>
                  <a:pt x="16716" y="730401"/>
                </a:lnTo>
                <a:lnTo>
                  <a:pt x="7527" y="684857"/>
                </a:lnTo>
                <a:lnTo>
                  <a:pt x="1906" y="638119"/>
                </a:lnTo>
                <a:lnTo>
                  <a:pt x="0" y="590334"/>
                </a:lnTo>
                <a:lnTo>
                  <a:pt x="1956" y="541917"/>
                </a:lnTo>
                <a:lnTo>
                  <a:pt x="7726" y="494578"/>
                </a:lnTo>
                <a:lnTo>
                  <a:pt x="17156" y="448469"/>
                </a:lnTo>
                <a:lnTo>
                  <a:pt x="30095" y="403742"/>
                </a:lnTo>
                <a:lnTo>
                  <a:pt x="46390" y="360548"/>
                </a:lnTo>
                <a:lnTo>
                  <a:pt x="65891" y="319040"/>
                </a:lnTo>
                <a:lnTo>
                  <a:pt x="88444" y="279370"/>
                </a:lnTo>
                <a:lnTo>
                  <a:pt x="113898" y="241689"/>
                </a:lnTo>
                <a:lnTo>
                  <a:pt x="142102" y="206150"/>
                </a:lnTo>
                <a:lnTo>
                  <a:pt x="172902" y="172904"/>
                </a:lnTo>
                <a:lnTo>
                  <a:pt x="206148" y="142103"/>
                </a:lnTo>
                <a:lnTo>
                  <a:pt x="241686" y="113899"/>
                </a:lnTo>
                <a:lnTo>
                  <a:pt x="279366" y="88445"/>
                </a:lnTo>
                <a:lnTo>
                  <a:pt x="319036" y="65891"/>
                </a:lnTo>
                <a:lnTo>
                  <a:pt x="360543" y="46391"/>
                </a:lnTo>
                <a:lnTo>
                  <a:pt x="403735" y="30095"/>
                </a:lnTo>
                <a:lnTo>
                  <a:pt x="448461" y="17156"/>
                </a:lnTo>
                <a:lnTo>
                  <a:pt x="494569" y="7726"/>
                </a:lnTo>
                <a:lnTo>
                  <a:pt x="541906" y="1956"/>
                </a:lnTo>
                <a:lnTo>
                  <a:pt x="590321" y="0"/>
                </a:lnTo>
                <a:lnTo>
                  <a:pt x="554134" y="7306"/>
                </a:lnTo>
                <a:lnTo>
                  <a:pt x="524584" y="27231"/>
                </a:lnTo>
                <a:lnTo>
                  <a:pt x="504662" y="56782"/>
                </a:lnTo>
                <a:lnTo>
                  <a:pt x="497357" y="92964"/>
                </a:lnTo>
                <a:lnTo>
                  <a:pt x="502998" y="124932"/>
                </a:lnTo>
                <a:lnTo>
                  <a:pt x="518585" y="152103"/>
                </a:lnTo>
                <a:lnTo>
                  <a:pt x="542116" y="172475"/>
                </a:lnTo>
                <a:lnTo>
                  <a:pt x="571588" y="184048"/>
                </a:lnTo>
                <a:lnTo>
                  <a:pt x="580085" y="184899"/>
                </a:lnTo>
                <a:lnTo>
                  <a:pt x="548817" y="186486"/>
                </a:lnTo>
                <a:lnTo>
                  <a:pt x="502429" y="193929"/>
                </a:lnTo>
                <a:lnTo>
                  <a:pt x="457951" y="206458"/>
                </a:lnTo>
                <a:lnTo>
                  <a:pt x="415696" y="223761"/>
                </a:lnTo>
                <a:lnTo>
                  <a:pt x="375978" y="245523"/>
                </a:lnTo>
                <a:lnTo>
                  <a:pt x="339109" y="271431"/>
                </a:lnTo>
                <a:lnTo>
                  <a:pt x="305404" y="301172"/>
                </a:lnTo>
                <a:lnTo>
                  <a:pt x="275176" y="334432"/>
                </a:lnTo>
                <a:lnTo>
                  <a:pt x="248738" y="370898"/>
                </a:lnTo>
                <a:lnTo>
                  <a:pt x="226405" y="410255"/>
                </a:lnTo>
                <a:lnTo>
                  <a:pt x="208488" y="452191"/>
                </a:lnTo>
                <a:lnTo>
                  <a:pt x="195303" y="496392"/>
                </a:lnTo>
                <a:lnTo>
                  <a:pt x="187161" y="542544"/>
                </a:lnTo>
                <a:lnTo>
                  <a:pt x="184378" y="590334"/>
                </a:lnTo>
                <a:lnTo>
                  <a:pt x="187161" y="638123"/>
                </a:lnTo>
                <a:lnTo>
                  <a:pt x="195303" y="684275"/>
                </a:lnTo>
                <a:lnTo>
                  <a:pt x="208488" y="728475"/>
                </a:lnTo>
                <a:lnTo>
                  <a:pt x="226405" y="770410"/>
                </a:lnTo>
                <a:lnTo>
                  <a:pt x="248738" y="809766"/>
                </a:lnTo>
                <a:lnTo>
                  <a:pt x="275176" y="846231"/>
                </a:lnTo>
                <a:lnTo>
                  <a:pt x="305404" y="879490"/>
                </a:lnTo>
                <a:lnTo>
                  <a:pt x="339109" y="909230"/>
                </a:lnTo>
                <a:lnTo>
                  <a:pt x="375978" y="935139"/>
                </a:lnTo>
                <a:lnTo>
                  <a:pt x="415696" y="956901"/>
                </a:lnTo>
                <a:lnTo>
                  <a:pt x="457951" y="974205"/>
                </a:lnTo>
                <a:lnTo>
                  <a:pt x="502429" y="986736"/>
                </a:lnTo>
                <a:lnTo>
                  <a:pt x="548817" y="994181"/>
                </a:lnTo>
                <a:lnTo>
                  <a:pt x="580085" y="995768"/>
                </a:lnTo>
                <a:lnTo>
                  <a:pt x="571588" y="996619"/>
                </a:lnTo>
                <a:lnTo>
                  <a:pt x="542116" y="1008192"/>
                </a:lnTo>
                <a:lnTo>
                  <a:pt x="518585" y="1028565"/>
                </a:lnTo>
                <a:lnTo>
                  <a:pt x="502998" y="1055736"/>
                </a:lnTo>
                <a:lnTo>
                  <a:pt x="497357" y="1087704"/>
                </a:lnTo>
                <a:lnTo>
                  <a:pt x="502998" y="1119664"/>
                </a:lnTo>
                <a:lnTo>
                  <a:pt x="518585" y="1146832"/>
                </a:lnTo>
                <a:lnTo>
                  <a:pt x="542116" y="1167203"/>
                </a:lnTo>
                <a:lnTo>
                  <a:pt x="571588" y="1178775"/>
                </a:lnTo>
                <a:lnTo>
                  <a:pt x="590321" y="1180668"/>
                </a:lnTo>
                <a:close/>
              </a:path>
            </a:pathLst>
          </a:custGeom>
          <a:solidFill>
            <a:srgbClr val="C00000"/>
          </a:solidFill>
        </p:spPr>
        <p:txBody>
          <a:bodyPr wrap="square" lIns="0" tIns="0" rIns="0" bIns="0" rtlCol="0"/>
          <a:lstStyle/>
          <a:p/>
        </p:txBody>
      </p:sp>
      <p:sp>
        <p:nvSpPr>
          <p:cNvPr id="14" name="object 14"/>
          <p:cNvSpPr/>
          <p:nvPr/>
        </p:nvSpPr>
        <p:spPr>
          <a:xfrm>
            <a:off x="5459819" y="2873501"/>
            <a:ext cx="651510" cy="650875"/>
          </a:xfrm>
          <a:custGeom>
            <a:avLst/>
            <a:gdLst/>
            <a:ahLst/>
            <a:cxnLst/>
            <a:rect l="l" t="t" r="r" b="b"/>
            <a:pathLst>
              <a:path w="651510" h="650875">
                <a:moveTo>
                  <a:pt x="325348" y="650684"/>
                </a:moveTo>
                <a:lnTo>
                  <a:pt x="277269" y="647157"/>
                </a:lnTo>
                <a:lnTo>
                  <a:pt x="231380" y="636910"/>
                </a:lnTo>
                <a:lnTo>
                  <a:pt x="188186" y="620447"/>
                </a:lnTo>
                <a:lnTo>
                  <a:pt x="148189" y="598271"/>
                </a:lnTo>
                <a:lnTo>
                  <a:pt x="111893" y="570885"/>
                </a:lnTo>
                <a:lnTo>
                  <a:pt x="79800" y="538793"/>
                </a:lnTo>
                <a:lnTo>
                  <a:pt x="52413" y="502498"/>
                </a:lnTo>
                <a:lnTo>
                  <a:pt x="30237" y="462502"/>
                </a:lnTo>
                <a:lnTo>
                  <a:pt x="13774" y="419310"/>
                </a:lnTo>
                <a:lnTo>
                  <a:pt x="3527" y="373424"/>
                </a:lnTo>
                <a:lnTo>
                  <a:pt x="0" y="325348"/>
                </a:lnTo>
                <a:lnTo>
                  <a:pt x="3527" y="277269"/>
                </a:lnTo>
                <a:lnTo>
                  <a:pt x="13774" y="231380"/>
                </a:lnTo>
                <a:lnTo>
                  <a:pt x="30237" y="188186"/>
                </a:lnTo>
                <a:lnTo>
                  <a:pt x="52413" y="148189"/>
                </a:lnTo>
                <a:lnTo>
                  <a:pt x="79800" y="111893"/>
                </a:lnTo>
                <a:lnTo>
                  <a:pt x="111893" y="79800"/>
                </a:lnTo>
                <a:lnTo>
                  <a:pt x="148189" y="52413"/>
                </a:lnTo>
                <a:lnTo>
                  <a:pt x="188186" y="30237"/>
                </a:lnTo>
                <a:lnTo>
                  <a:pt x="231380" y="13774"/>
                </a:lnTo>
                <a:lnTo>
                  <a:pt x="277269" y="3527"/>
                </a:lnTo>
                <a:lnTo>
                  <a:pt x="325348" y="0"/>
                </a:lnTo>
                <a:lnTo>
                  <a:pt x="373425" y="3527"/>
                </a:lnTo>
                <a:lnTo>
                  <a:pt x="419314" y="13774"/>
                </a:lnTo>
                <a:lnTo>
                  <a:pt x="462517" y="30238"/>
                </a:lnTo>
                <a:lnTo>
                  <a:pt x="502533" y="52415"/>
                </a:lnTo>
                <a:lnTo>
                  <a:pt x="538862" y="79802"/>
                </a:lnTo>
                <a:lnTo>
                  <a:pt x="571005" y="111897"/>
                </a:lnTo>
                <a:lnTo>
                  <a:pt x="598461" y="148196"/>
                </a:lnTo>
                <a:lnTo>
                  <a:pt x="620730" y="188196"/>
                </a:lnTo>
                <a:lnTo>
                  <a:pt x="637313" y="231394"/>
                </a:lnTo>
                <a:lnTo>
                  <a:pt x="647710" y="277288"/>
                </a:lnTo>
                <a:lnTo>
                  <a:pt x="651421" y="325374"/>
                </a:lnTo>
                <a:lnTo>
                  <a:pt x="647710" y="373443"/>
                </a:lnTo>
                <a:lnTo>
                  <a:pt x="637313" y="419324"/>
                </a:lnTo>
                <a:lnTo>
                  <a:pt x="620730" y="462512"/>
                </a:lnTo>
                <a:lnTo>
                  <a:pt x="598461" y="502504"/>
                </a:lnTo>
                <a:lnTo>
                  <a:pt x="571005" y="538797"/>
                </a:lnTo>
                <a:lnTo>
                  <a:pt x="538862" y="570887"/>
                </a:lnTo>
                <a:lnTo>
                  <a:pt x="502533" y="598272"/>
                </a:lnTo>
                <a:lnTo>
                  <a:pt x="462517" y="620447"/>
                </a:lnTo>
                <a:lnTo>
                  <a:pt x="419314" y="636910"/>
                </a:lnTo>
                <a:lnTo>
                  <a:pt x="373425" y="647157"/>
                </a:lnTo>
                <a:lnTo>
                  <a:pt x="325348" y="650684"/>
                </a:lnTo>
                <a:close/>
              </a:path>
            </a:pathLst>
          </a:custGeom>
          <a:solidFill>
            <a:srgbClr val="D9D9D9"/>
          </a:solidFill>
        </p:spPr>
        <p:txBody>
          <a:bodyPr wrap="square" lIns="0" tIns="0" rIns="0" bIns="0" rtlCol="0"/>
          <a:lstStyle/>
          <a:p/>
        </p:txBody>
      </p:sp>
      <p:sp>
        <p:nvSpPr>
          <p:cNvPr id="15" name="object 15"/>
          <p:cNvSpPr txBox="1"/>
          <p:nvPr/>
        </p:nvSpPr>
        <p:spPr>
          <a:xfrm>
            <a:off x="5643371" y="3017684"/>
            <a:ext cx="283845" cy="331470"/>
          </a:xfrm>
          <a:prstGeom prst="rect">
            <a:avLst/>
          </a:prstGeom>
        </p:spPr>
        <p:txBody>
          <a:bodyPr vert="horz" wrap="square" lIns="0" tIns="13335" rIns="0" bIns="0" rtlCol="0">
            <a:spAutoFit/>
          </a:bodyPr>
          <a:lstStyle/>
          <a:p>
            <a:pPr marL="12700">
              <a:lnSpc>
                <a:spcPct val="100000"/>
              </a:lnSpc>
              <a:spcBef>
                <a:spcPts val="105"/>
              </a:spcBef>
            </a:pPr>
            <a:r>
              <a:rPr sz="2000" b="1" spc="-5" dirty="0">
                <a:solidFill>
                  <a:srgbClr val="C00000"/>
                </a:solidFill>
                <a:latin typeface="Calibri" panose="020F0502020204030204"/>
                <a:cs typeface="Calibri" panose="020F0502020204030204"/>
              </a:rPr>
              <a:t>0</a:t>
            </a:r>
            <a:r>
              <a:rPr sz="2000" b="1" dirty="0">
                <a:solidFill>
                  <a:srgbClr val="C00000"/>
                </a:solidFill>
                <a:latin typeface="Calibri" panose="020F0502020204030204"/>
                <a:cs typeface="Calibri" panose="020F0502020204030204"/>
              </a:rPr>
              <a:t>2</a:t>
            </a:r>
            <a:endParaRPr sz="2000">
              <a:latin typeface="Calibri" panose="020F0502020204030204"/>
              <a:cs typeface="Calibri" panose="020F0502020204030204"/>
            </a:endParaRPr>
          </a:p>
        </p:txBody>
      </p:sp>
      <p:sp>
        <p:nvSpPr>
          <p:cNvPr id="16" name="object 16"/>
          <p:cNvSpPr/>
          <p:nvPr/>
        </p:nvSpPr>
        <p:spPr>
          <a:xfrm>
            <a:off x="5495544" y="3865232"/>
            <a:ext cx="651510" cy="650875"/>
          </a:xfrm>
          <a:custGeom>
            <a:avLst/>
            <a:gdLst/>
            <a:ahLst/>
            <a:cxnLst/>
            <a:rect l="l" t="t" r="r" b="b"/>
            <a:pathLst>
              <a:path w="651510" h="650875">
                <a:moveTo>
                  <a:pt x="325831" y="650684"/>
                </a:moveTo>
                <a:lnTo>
                  <a:pt x="277753" y="647157"/>
                </a:lnTo>
                <a:lnTo>
                  <a:pt x="231859" y="636910"/>
                </a:lnTo>
                <a:lnTo>
                  <a:pt x="188651" y="620446"/>
                </a:lnTo>
                <a:lnTo>
                  <a:pt x="148630" y="598270"/>
                </a:lnTo>
                <a:lnTo>
                  <a:pt x="112299" y="570884"/>
                </a:lnTo>
                <a:lnTo>
                  <a:pt x="80160" y="538791"/>
                </a:lnTo>
                <a:lnTo>
                  <a:pt x="52780" y="502606"/>
                </a:lnTo>
                <a:lnTo>
                  <a:pt x="30542" y="462663"/>
                </a:lnTo>
                <a:lnTo>
                  <a:pt x="13998" y="419540"/>
                </a:lnTo>
                <a:lnTo>
                  <a:pt x="3650" y="373739"/>
                </a:lnTo>
                <a:lnTo>
                  <a:pt x="0" y="325767"/>
                </a:lnTo>
                <a:lnTo>
                  <a:pt x="3650" y="277584"/>
                </a:lnTo>
                <a:lnTo>
                  <a:pt x="13998" y="231610"/>
                </a:lnTo>
                <a:lnTo>
                  <a:pt x="30542" y="188347"/>
                </a:lnTo>
                <a:lnTo>
                  <a:pt x="52780" y="148297"/>
                </a:lnTo>
                <a:lnTo>
                  <a:pt x="80213" y="111961"/>
                </a:lnTo>
                <a:lnTo>
                  <a:pt x="112393" y="79798"/>
                </a:lnTo>
                <a:lnTo>
                  <a:pt x="148695" y="52413"/>
                </a:lnTo>
                <a:lnTo>
                  <a:pt x="188690" y="30237"/>
                </a:lnTo>
                <a:lnTo>
                  <a:pt x="231877" y="13774"/>
                </a:lnTo>
                <a:lnTo>
                  <a:pt x="277759" y="3527"/>
                </a:lnTo>
                <a:lnTo>
                  <a:pt x="325831" y="0"/>
                </a:lnTo>
                <a:lnTo>
                  <a:pt x="373911" y="3527"/>
                </a:lnTo>
                <a:lnTo>
                  <a:pt x="419805" y="13776"/>
                </a:lnTo>
                <a:lnTo>
                  <a:pt x="463008" y="30246"/>
                </a:lnTo>
                <a:lnTo>
                  <a:pt x="503017" y="52433"/>
                </a:lnTo>
                <a:lnTo>
                  <a:pt x="539327" y="79839"/>
                </a:lnTo>
                <a:lnTo>
                  <a:pt x="571432" y="111961"/>
                </a:lnTo>
                <a:lnTo>
                  <a:pt x="598765" y="148186"/>
                </a:lnTo>
                <a:lnTo>
                  <a:pt x="620942" y="188181"/>
                </a:lnTo>
                <a:lnTo>
                  <a:pt x="637405" y="231374"/>
                </a:lnTo>
                <a:lnTo>
                  <a:pt x="647652" y="277259"/>
                </a:lnTo>
                <a:lnTo>
                  <a:pt x="651179" y="325335"/>
                </a:lnTo>
                <a:lnTo>
                  <a:pt x="647652" y="373415"/>
                </a:lnTo>
                <a:lnTo>
                  <a:pt x="637405" y="419303"/>
                </a:lnTo>
                <a:lnTo>
                  <a:pt x="620942" y="462497"/>
                </a:lnTo>
                <a:lnTo>
                  <a:pt x="598765" y="502494"/>
                </a:lnTo>
                <a:lnTo>
                  <a:pt x="571379" y="538791"/>
                </a:lnTo>
                <a:lnTo>
                  <a:pt x="539232" y="570924"/>
                </a:lnTo>
                <a:lnTo>
                  <a:pt x="502952" y="598291"/>
                </a:lnTo>
                <a:lnTo>
                  <a:pt x="462970" y="620455"/>
                </a:lnTo>
                <a:lnTo>
                  <a:pt x="419787" y="636912"/>
                </a:lnTo>
                <a:lnTo>
                  <a:pt x="373906" y="647157"/>
                </a:lnTo>
                <a:lnTo>
                  <a:pt x="325831" y="650684"/>
                </a:lnTo>
                <a:close/>
              </a:path>
            </a:pathLst>
          </a:custGeom>
          <a:solidFill>
            <a:srgbClr val="D9D9D9"/>
          </a:solidFill>
        </p:spPr>
        <p:txBody>
          <a:bodyPr wrap="square" lIns="0" tIns="0" rIns="0" bIns="0" rtlCol="0"/>
          <a:lstStyle/>
          <a:p/>
        </p:txBody>
      </p:sp>
      <p:sp>
        <p:nvSpPr>
          <p:cNvPr id="17" name="object 17"/>
          <p:cNvSpPr txBox="1"/>
          <p:nvPr/>
        </p:nvSpPr>
        <p:spPr>
          <a:xfrm>
            <a:off x="5679592" y="4009415"/>
            <a:ext cx="283845" cy="331470"/>
          </a:xfrm>
          <a:prstGeom prst="rect">
            <a:avLst/>
          </a:prstGeom>
        </p:spPr>
        <p:txBody>
          <a:bodyPr vert="horz" wrap="square" lIns="0" tIns="13335" rIns="0" bIns="0" rtlCol="0">
            <a:spAutoFit/>
          </a:bodyPr>
          <a:lstStyle/>
          <a:p>
            <a:pPr marL="12700">
              <a:lnSpc>
                <a:spcPct val="100000"/>
              </a:lnSpc>
              <a:spcBef>
                <a:spcPts val="105"/>
              </a:spcBef>
            </a:pPr>
            <a:r>
              <a:rPr sz="2000" b="1" spc="-5" dirty="0">
                <a:solidFill>
                  <a:srgbClr val="C00000"/>
                </a:solidFill>
                <a:latin typeface="Calibri" panose="020F0502020204030204"/>
                <a:cs typeface="Calibri" panose="020F0502020204030204"/>
              </a:rPr>
              <a:t>0</a:t>
            </a:r>
            <a:r>
              <a:rPr sz="2000" b="1" dirty="0">
                <a:solidFill>
                  <a:srgbClr val="C00000"/>
                </a:solidFill>
                <a:latin typeface="Calibri" panose="020F0502020204030204"/>
                <a:cs typeface="Calibri" panose="020F0502020204030204"/>
              </a:rPr>
              <a:t>3</a:t>
            </a:r>
            <a:endParaRPr sz="2000">
              <a:latin typeface="Calibri" panose="020F0502020204030204"/>
              <a:cs typeface="Calibri" panose="020F0502020204030204"/>
            </a:endParaRPr>
          </a:p>
        </p:txBody>
      </p:sp>
      <p:sp>
        <p:nvSpPr>
          <p:cNvPr id="18" name="object 18"/>
          <p:cNvSpPr/>
          <p:nvPr/>
        </p:nvSpPr>
        <p:spPr>
          <a:xfrm>
            <a:off x="5212943" y="4594390"/>
            <a:ext cx="590550" cy="1181100"/>
          </a:xfrm>
          <a:custGeom>
            <a:avLst/>
            <a:gdLst/>
            <a:ahLst/>
            <a:cxnLst/>
            <a:rect l="l" t="t" r="r" b="b"/>
            <a:pathLst>
              <a:path w="590550" h="1181100">
                <a:moveTo>
                  <a:pt x="590321" y="1180655"/>
                </a:moveTo>
                <a:lnTo>
                  <a:pt x="529970" y="1177607"/>
                </a:lnTo>
                <a:lnTo>
                  <a:pt x="483537" y="1171021"/>
                </a:lnTo>
                <a:lnTo>
                  <a:pt x="438336" y="1160905"/>
                </a:lnTo>
                <a:lnTo>
                  <a:pt x="394513" y="1147405"/>
                </a:lnTo>
                <a:lnTo>
                  <a:pt x="352216" y="1130667"/>
                </a:lnTo>
                <a:lnTo>
                  <a:pt x="311589" y="1110837"/>
                </a:lnTo>
                <a:lnTo>
                  <a:pt x="272778" y="1088061"/>
                </a:lnTo>
                <a:lnTo>
                  <a:pt x="235931" y="1062485"/>
                </a:lnTo>
                <a:lnTo>
                  <a:pt x="201192" y="1034255"/>
                </a:lnTo>
                <a:lnTo>
                  <a:pt x="168708" y="1003517"/>
                </a:lnTo>
                <a:lnTo>
                  <a:pt x="138624" y="970417"/>
                </a:lnTo>
                <a:lnTo>
                  <a:pt x="111088" y="935101"/>
                </a:lnTo>
                <a:lnTo>
                  <a:pt x="86244" y="897716"/>
                </a:lnTo>
                <a:lnTo>
                  <a:pt x="64239" y="858406"/>
                </a:lnTo>
                <a:lnTo>
                  <a:pt x="45218" y="817318"/>
                </a:lnTo>
                <a:lnTo>
                  <a:pt x="29329" y="774599"/>
                </a:lnTo>
                <a:lnTo>
                  <a:pt x="16716" y="730393"/>
                </a:lnTo>
                <a:lnTo>
                  <a:pt x="7527" y="684848"/>
                </a:lnTo>
                <a:lnTo>
                  <a:pt x="1906" y="638108"/>
                </a:lnTo>
                <a:lnTo>
                  <a:pt x="0" y="590321"/>
                </a:lnTo>
                <a:lnTo>
                  <a:pt x="1956" y="541906"/>
                </a:lnTo>
                <a:lnTo>
                  <a:pt x="7726" y="494569"/>
                </a:lnTo>
                <a:lnTo>
                  <a:pt x="17156" y="448461"/>
                </a:lnTo>
                <a:lnTo>
                  <a:pt x="30095" y="403735"/>
                </a:lnTo>
                <a:lnTo>
                  <a:pt x="46391" y="360543"/>
                </a:lnTo>
                <a:lnTo>
                  <a:pt x="65891" y="319036"/>
                </a:lnTo>
                <a:lnTo>
                  <a:pt x="88445" y="279366"/>
                </a:lnTo>
                <a:lnTo>
                  <a:pt x="113899" y="241686"/>
                </a:lnTo>
                <a:lnTo>
                  <a:pt x="142103" y="206148"/>
                </a:lnTo>
                <a:lnTo>
                  <a:pt x="172904" y="172902"/>
                </a:lnTo>
                <a:lnTo>
                  <a:pt x="206150" y="142102"/>
                </a:lnTo>
                <a:lnTo>
                  <a:pt x="241689" y="113898"/>
                </a:lnTo>
                <a:lnTo>
                  <a:pt x="279370" y="88444"/>
                </a:lnTo>
                <a:lnTo>
                  <a:pt x="319040" y="65891"/>
                </a:lnTo>
                <a:lnTo>
                  <a:pt x="360548" y="46390"/>
                </a:lnTo>
                <a:lnTo>
                  <a:pt x="403742" y="30095"/>
                </a:lnTo>
                <a:lnTo>
                  <a:pt x="448469" y="17156"/>
                </a:lnTo>
                <a:lnTo>
                  <a:pt x="494578" y="7726"/>
                </a:lnTo>
                <a:lnTo>
                  <a:pt x="541917" y="1956"/>
                </a:lnTo>
                <a:lnTo>
                  <a:pt x="590334" y="0"/>
                </a:lnTo>
                <a:lnTo>
                  <a:pt x="554144" y="7305"/>
                </a:lnTo>
                <a:lnTo>
                  <a:pt x="524590" y="27227"/>
                </a:lnTo>
                <a:lnTo>
                  <a:pt x="504664" y="56776"/>
                </a:lnTo>
                <a:lnTo>
                  <a:pt x="497357" y="92964"/>
                </a:lnTo>
                <a:lnTo>
                  <a:pt x="502999" y="124926"/>
                </a:lnTo>
                <a:lnTo>
                  <a:pt x="518590" y="152096"/>
                </a:lnTo>
                <a:lnTo>
                  <a:pt x="542121" y="172468"/>
                </a:lnTo>
                <a:lnTo>
                  <a:pt x="571588" y="184035"/>
                </a:lnTo>
                <a:lnTo>
                  <a:pt x="580085" y="184899"/>
                </a:lnTo>
                <a:lnTo>
                  <a:pt x="548817" y="186474"/>
                </a:lnTo>
                <a:lnTo>
                  <a:pt x="502429" y="193919"/>
                </a:lnTo>
                <a:lnTo>
                  <a:pt x="457951" y="206450"/>
                </a:lnTo>
                <a:lnTo>
                  <a:pt x="415696" y="223753"/>
                </a:lnTo>
                <a:lnTo>
                  <a:pt x="375978" y="245516"/>
                </a:lnTo>
                <a:lnTo>
                  <a:pt x="339109" y="271424"/>
                </a:lnTo>
                <a:lnTo>
                  <a:pt x="305404" y="301165"/>
                </a:lnTo>
                <a:lnTo>
                  <a:pt x="275176" y="334424"/>
                </a:lnTo>
                <a:lnTo>
                  <a:pt x="248738" y="370889"/>
                </a:lnTo>
                <a:lnTo>
                  <a:pt x="226405" y="410245"/>
                </a:lnTo>
                <a:lnTo>
                  <a:pt x="208488" y="452180"/>
                </a:lnTo>
                <a:lnTo>
                  <a:pt x="195303" y="496380"/>
                </a:lnTo>
                <a:lnTo>
                  <a:pt x="187161" y="542531"/>
                </a:lnTo>
                <a:lnTo>
                  <a:pt x="184378" y="590321"/>
                </a:lnTo>
                <a:lnTo>
                  <a:pt x="187161" y="638113"/>
                </a:lnTo>
                <a:lnTo>
                  <a:pt x="195303" y="684267"/>
                </a:lnTo>
                <a:lnTo>
                  <a:pt x="208488" y="728469"/>
                </a:lnTo>
                <a:lnTo>
                  <a:pt x="226405" y="770405"/>
                </a:lnTo>
                <a:lnTo>
                  <a:pt x="248738" y="809763"/>
                </a:lnTo>
                <a:lnTo>
                  <a:pt x="275176" y="846229"/>
                </a:lnTo>
                <a:lnTo>
                  <a:pt x="305404" y="879489"/>
                </a:lnTo>
                <a:lnTo>
                  <a:pt x="339109" y="909230"/>
                </a:lnTo>
                <a:lnTo>
                  <a:pt x="375978" y="935138"/>
                </a:lnTo>
                <a:lnTo>
                  <a:pt x="415696" y="956901"/>
                </a:lnTo>
                <a:lnTo>
                  <a:pt x="457951" y="974205"/>
                </a:lnTo>
                <a:lnTo>
                  <a:pt x="502429" y="986736"/>
                </a:lnTo>
                <a:lnTo>
                  <a:pt x="548817" y="994181"/>
                </a:lnTo>
                <a:lnTo>
                  <a:pt x="580085" y="995756"/>
                </a:lnTo>
                <a:lnTo>
                  <a:pt x="571588" y="996619"/>
                </a:lnTo>
                <a:lnTo>
                  <a:pt x="542121" y="1008186"/>
                </a:lnTo>
                <a:lnTo>
                  <a:pt x="518590" y="1028558"/>
                </a:lnTo>
                <a:lnTo>
                  <a:pt x="502999" y="1055728"/>
                </a:lnTo>
                <a:lnTo>
                  <a:pt x="497357" y="1087691"/>
                </a:lnTo>
                <a:lnTo>
                  <a:pt x="502999" y="1119654"/>
                </a:lnTo>
                <a:lnTo>
                  <a:pt x="518590" y="1146824"/>
                </a:lnTo>
                <a:lnTo>
                  <a:pt x="542121" y="1167196"/>
                </a:lnTo>
                <a:lnTo>
                  <a:pt x="571588" y="1178763"/>
                </a:lnTo>
                <a:lnTo>
                  <a:pt x="590321" y="1180655"/>
                </a:lnTo>
                <a:close/>
              </a:path>
            </a:pathLst>
          </a:custGeom>
          <a:solidFill>
            <a:srgbClr val="C00000"/>
          </a:solidFill>
        </p:spPr>
        <p:txBody>
          <a:bodyPr wrap="square" lIns="0" tIns="0" rIns="0" bIns="0" rtlCol="0"/>
          <a:lstStyle/>
          <a:p/>
        </p:txBody>
      </p:sp>
      <p:sp>
        <p:nvSpPr>
          <p:cNvPr id="19" name="object 19"/>
          <p:cNvSpPr/>
          <p:nvPr/>
        </p:nvSpPr>
        <p:spPr>
          <a:xfrm>
            <a:off x="5459819" y="4859972"/>
            <a:ext cx="651510" cy="650875"/>
          </a:xfrm>
          <a:custGeom>
            <a:avLst/>
            <a:gdLst/>
            <a:ahLst/>
            <a:cxnLst/>
            <a:rect l="l" t="t" r="r" b="b"/>
            <a:pathLst>
              <a:path w="651510" h="650875">
                <a:moveTo>
                  <a:pt x="325348" y="650697"/>
                </a:moveTo>
                <a:lnTo>
                  <a:pt x="277267" y="647168"/>
                </a:lnTo>
                <a:lnTo>
                  <a:pt x="231370" y="636917"/>
                </a:lnTo>
                <a:lnTo>
                  <a:pt x="188162" y="620443"/>
                </a:lnTo>
                <a:lnTo>
                  <a:pt x="148146" y="598247"/>
                </a:lnTo>
                <a:lnTo>
                  <a:pt x="111829" y="570829"/>
                </a:lnTo>
                <a:lnTo>
                  <a:pt x="79800" y="538798"/>
                </a:lnTo>
                <a:lnTo>
                  <a:pt x="52413" y="502501"/>
                </a:lnTo>
                <a:lnTo>
                  <a:pt x="30237" y="462504"/>
                </a:lnTo>
                <a:lnTo>
                  <a:pt x="13774" y="419311"/>
                </a:lnTo>
                <a:lnTo>
                  <a:pt x="3527" y="373424"/>
                </a:lnTo>
                <a:lnTo>
                  <a:pt x="0" y="325348"/>
                </a:lnTo>
                <a:lnTo>
                  <a:pt x="3527" y="277272"/>
                </a:lnTo>
                <a:lnTo>
                  <a:pt x="13774" y="231385"/>
                </a:lnTo>
                <a:lnTo>
                  <a:pt x="30237" y="188192"/>
                </a:lnTo>
                <a:lnTo>
                  <a:pt x="52413" y="148195"/>
                </a:lnTo>
                <a:lnTo>
                  <a:pt x="79800" y="111898"/>
                </a:lnTo>
                <a:lnTo>
                  <a:pt x="111893" y="79804"/>
                </a:lnTo>
                <a:lnTo>
                  <a:pt x="148248" y="52384"/>
                </a:lnTo>
                <a:lnTo>
                  <a:pt x="188222" y="30225"/>
                </a:lnTo>
                <a:lnTo>
                  <a:pt x="231399" y="13771"/>
                </a:lnTo>
                <a:lnTo>
                  <a:pt x="277276" y="3527"/>
                </a:lnTo>
                <a:lnTo>
                  <a:pt x="325348" y="0"/>
                </a:lnTo>
                <a:lnTo>
                  <a:pt x="373427" y="3527"/>
                </a:lnTo>
                <a:lnTo>
                  <a:pt x="419325" y="13775"/>
                </a:lnTo>
                <a:lnTo>
                  <a:pt x="462542" y="30239"/>
                </a:lnTo>
                <a:lnTo>
                  <a:pt x="502576" y="52417"/>
                </a:lnTo>
                <a:lnTo>
                  <a:pt x="538926" y="79804"/>
                </a:lnTo>
                <a:lnTo>
                  <a:pt x="571005" y="111789"/>
                </a:lnTo>
                <a:lnTo>
                  <a:pt x="598461" y="148021"/>
                </a:lnTo>
                <a:lnTo>
                  <a:pt x="620730" y="187933"/>
                </a:lnTo>
                <a:lnTo>
                  <a:pt x="637313" y="231016"/>
                </a:lnTo>
                <a:lnTo>
                  <a:pt x="647710" y="276766"/>
                </a:lnTo>
                <a:lnTo>
                  <a:pt x="651421" y="324675"/>
                </a:lnTo>
                <a:lnTo>
                  <a:pt x="647710" y="372919"/>
                </a:lnTo>
                <a:lnTo>
                  <a:pt x="637313" y="418942"/>
                </a:lnTo>
                <a:lnTo>
                  <a:pt x="620730" y="462246"/>
                </a:lnTo>
                <a:lnTo>
                  <a:pt x="598461" y="502328"/>
                </a:lnTo>
                <a:lnTo>
                  <a:pt x="571005" y="538689"/>
                </a:lnTo>
                <a:lnTo>
                  <a:pt x="538862" y="570829"/>
                </a:lnTo>
                <a:lnTo>
                  <a:pt x="502475" y="598280"/>
                </a:lnTo>
                <a:lnTo>
                  <a:pt x="462481" y="620457"/>
                </a:lnTo>
                <a:lnTo>
                  <a:pt x="419296" y="636921"/>
                </a:lnTo>
                <a:lnTo>
                  <a:pt x="373418" y="647169"/>
                </a:lnTo>
                <a:lnTo>
                  <a:pt x="325348" y="650697"/>
                </a:lnTo>
                <a:close/>
              </a:path>
            </a:pathLst>
          </a:custGeom>
          <a:solidFill>
            <a:srgbClr val="D9D9D9"/>
          </a:solidFill>
        </p:spPr>
        <p:txBody>
          <a:bodyPr wrap="square" lIns="0" tIns="0" rIns="0" bIns="0" rtlCol="0"/>
          <a:lstStyle/>
          <a:p/>
        </p:txBody>
      </p:sp>
      <p:sp>
        <p:nvSpPr>
          <p:cNvPr id="20" name="object 20"/>
          <p:cNvSpPr txBox="1"/>
          <p:nvPr/>
        </p:nvSpPr>
        <p:spPr>
          <a:xfrm>
            <a:off x="5643371" y="5004155"/>
            <a:ext cx="283845" cy="331470"/>
          </a:xfrm>
          <a:prstGeom prst="rect">
            <a:avLst/>
          </a:prstGeom>
        </p:spPr>
        <p:txBody>
          <a:bodyPr vert="horz" wrap="square" lIns="0" tIns="13335" rIns="0" bIns="0" rtlCol="0">
            <a:spAutoFit/>
          </a:bodyPr>
          <a:lstStyle/>
          <a:p>
            <a:pPr marL="12700">
              <a:lnSpc>
                <a:spcPct val="100000"/>
              </a:lnSpc>
              <a:spcBef>
                <a:spcPts val="105"/>
              </a:spcBef>
            </a:pPr>
            <a:r>
              <a:rPr sz="2000" b="1" spc="-5" dirty="0">
                <a:solidFill>
                  <a:srgbClr val="C00000"/>
                </a:solidFill>
                <a:latin typeface="Calibri" panose="020F0502020204030204"/>
                <a:cs typeface="Calibri" panose="020F0502020204030204"/>
              </a:rPr>
              <a:t>0</a:t>
            </a:r>
            <a:r>
              <a:rPr sz="2000" b="1" dirty="0">
                <a:solidFill>
                  <a:srgbClr val="C00000"/>
                </a:solidFill>
                <a:latin typeface="Calibri" panose="020F0502020204030204"/>
                <a:cs typeface="Calibri" panose="020F0502020204030204"/>
              </a:rPr>
              <a:t>4</a:t>
            </a:r>
            <a:endParaRPr sz="2000">
              <a:latin typeface="Calibri" panose="020F0502020204030204"/>
              <a:cs typeface="Calibri" panose="020F0502020204030204"/>
            </a:endParaRPr>
          </a:p>
        </p:txBody>
      </p:sp>
      <p:sp>
        <p:nvSpPr>
          <p:cNvPr id="21" name="object 21"/>
          <p:cNvSpPr txBox="1"/>
          <p:nvPr/>
        </p:nvSpPr>
        <p:spPr>
          <a:xfrm>
            <a:off x="1151255" y="3563378"/>
            <a:ext cx="3404235" cy="1315085"/>
          </a:xfrm>
          <a:prstGeom prst="rect">
            <a:avLst/>
          </a:prstGeom>
        </p:spPr>
        <p:txBody>
          <a:bodyPr vert="horz" wrap="square" lIns="0" tIns="127000" rIns="0" bIns="0" rtlCol="0">
            <a:spAutoFit/>
          </a:bodyPr>
          <a:lstStyle/>
          <a:p>
            <a:pPr marL="12700">
              <a:lnSpc>
                <a:spcPct val="100000"/>
              </a:lnSpc>
              <a:spcBef>
                <a:spcPts val="1000"/>
              </a:spcBef>
            </a:pPr>
            <a:r>
              <a:rPr sz="1800" b="1" spc="-5" dirty="0">
                <a:solidFill>
                  <a:srgbClr val="C00000"/>
                </a:solidFill>
                <a:latin typeface="微软雅黑" panose="020B0503020204020204" charset="-122"/>
                <a:cs typeface="微软雅黑" panose="020B0503020204020204" charset="-122"/>
              </a:rPr>
              <a:t>3.</a:t>
            </a:r>
            <a:r>
              <a:rPr sz="1800" b="1" dirty="0">
                <a:solidFill>
                  <a:srgbClr val="C00000"/>
                </a:solidFill>
                <a:latin typeface="微软雅黑" panose="020B0503020204020204" charset="-122"/>
                <a:cs typeface="微软雅黑" panose="020B0503020204020204" charset="-122"/>
              </a:rPr>
              <a:t>结构简单化</a:t>
            </a:r>
            <a:endParaRPr sz="1800">
              <a:latin typeface="微软雅黑" panose="020B0503020204020204" charset="-122"/>
              <a:cs typeface="微软雅黑" panose="020B0503020204020204" charset="-122"/>
            </a:endParaRPr>
          </a:p>
          <a:p>
            <a:pPr marL="12700" marR="5080" algn="just">
              <a:lnSpc>
                <a:spcPct val="140000"/>
              </a:lnSpc>
              <a:spcBef>
                <a:spcPts val="40"/>
              </a:spcBef>
            </a:pPr>
            <a:r>
              <a:rPr sz="1400" dirty="0">
                <a:solidFill>
                  <a:srgbClr val="585858"/>
                </a:solidFill>
                <a:latin typeface="微软雅黑" panose="020B0503020204020204" charset="-122"/>
                <a:cs typeface="微软雅黑" panose="020B0503020204020204" charset="-122"/>
              </a:rPr>
              <a:t>为防止微架构设计陷入繁复的陷阱，在有</a:t>
            </a:r>
            <a:r>
              <a:rPr sz="1400" dirty="0">
                <a:solidFill>
                  <a:srgbClr val="585858"/>
                </a:solidFill>
                <a:latin typeface="微软雅黑" panose="020B0503020204020204" charset="-122"/>
                <a:cs typeface="微软雅黑" panose="020B0503020204020204" charset="-122"/>
              </a:rPr>
              <a:t>选 </a:t>
            </a:r>
            <a:r>
              <a:rPr sz="1400" dirty="0">
                <a:solidFill>
                  <a:srgbClr val="585858"/>
                </a:solidFill>
                <a:latin typeface="微软雅黑" panose="020B0503020204020204" charset="-122"/>
                <a:cs typeface="微软雅黑" panose="020B0503020204020204" charset="-122"/>
              </a:rPr>
              <a:t>择的情况下优选最简单，关键场景才用复</a:t>
            </a:r>
            <a:r>
              <a:rPr sz="1400" dirty="0">
                <a:solidFill>
                  <a:srgbClr val="585858"/>
                </a:solidFill>
                <a:latin typeface="微软雅黑" panose="020B0503020204020204" charset="-122"/>
                <a:cs typeface="微软雅黑" panose="020B0503020204020204" charset="-122"/>
              </a:rPr>
              <a:t>杂 </a:t>
            </a:r>
            <a:r>
              <a:rPr sz="1400" dirty="0">
                <a:solidFill>
                  <a:srgbClr val="585858"/>
                </a:solidFill>
                <a:latin typeface="微软雅黑" panose="020B0503020204020204" charset="-122"/>
                <a:cs typeface="微软雅黑" panose="020B0503020204020204" charset="-122"/>
              </a:rPr>
              <a:t>设计，遵循好钢用在刀刃上原则</a:t>
            </a:r>
            <a:r>
              <a:rPr sz="1400" spc="5" dirty="0">
                <a:solidFill>
                  <a:srgbClr val="585858"/>
                </a:solidFill>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p:txBody>
      </p:sp>
      <p:sp>
        <p:nvSpPr>
          <p:cNvPr id="22" name="object 22"/>
          <p:cNvSpPr txBox="1"/>
          <p:nvPr/>
        </p:nvSpPr>
        <p:spPr>
          <a:xfrm>
            <a:off x="6951129" y="4515558"/>
            <a:ext cx="3404235" cy="1147445"/>
          </a:xfrm>
          <a:prstGeom prst="rect">
            <a:avLst/>
          </a:prstGeom>
        </p:spPr>
        <p:txBody>
          <a:bodyPr vert="horz" wrap="square" lIns="0" tIns="179070" rIns="0" bIns="0" rtlCol="0">
            <a:spAutoFit/>
          </a:bodyPr>
          <a:lstStyle/>
          <a:p>
            <a:pPr marL="12700">
              <a:lnSpc>
                <a:spcPct val="100000"/>
              </a:lnSpc>
              <a:spcBef>
                <a:spcPts val="1410"/>
              </a:spcBef>
            </a:pPr>
            <a:r>
              <a:rPr sz="2000" b="1" spc="-5" dirty="0">
                <a:solidFill>
                  <a:srgbClr val="C00000"/>
                </a:solidFill>
                <a:latin typeface="微软雅黑" panose="020B0503020204020204" charset="-122"/>
                <a:cs typeface="微软雅黑" panose="020B0503020204020204" charset="-122"/>
              </a:rPr>
              <a:t>4.</a:t>
            </a:r>
            <a:r>
              <a:rPr sz="2000" b="1" dirty="0">
                <a:solidFill>
                  <a:srgbClr val="C00000"/>
                </a:solidFill>
                <a:latin typeface="微软雅黑" panose="020B0503020204020204" charset="-122"/>
                <a:cs typeface="微软雅黑" panose="020B0503020204020204" charset="-122"/>
              </a:rPr>
              <a:t>性能不追求极</a:t>
            </a:r>
            <a:r>
              <a:rPr sz="2000" b="1" spc="5" dirty="0">
                <a:solidFill>
                  <a:srgbClr val="C00000"/>
                </a:solidFill>
                <a:latin typeface="微软雅黑" panose="020B0503020204020204" charset="-122"/>
                <a:cs typeface="微软雅黑" panose="020B0503020204020204" charset="-122"/>
              </a:rPr>
              <a:t>端</a:t>
            </a:r>
            <a:endParaRPr sz="2000">
              <a:latin typeface="微软雅黑" panose="020B0503020204020204" charset="-122"/>
              <a:cs typeface="微软雅黑" panose="020B0503020204020204" charset="-122"/>
            </a:endParaRPr>
          </a:p>
          <a:p>
            <a:pPr marL="12700" marR="5080">
              <a:lnSpc>
                <a:spcPct val="150000"/>
              </a:lnSpc>
              <a:spcBef>
                <a:spcPts val="80"/>
              </a:spcBef>
            </a:pPr>
            <a:r>
              <a:rPr sz="1400" dirty="0">
                <a:solidFill>
                  <a:srgbClr val="585858"/>
                </a:solidFill>
                <a:latin typeface="微软雅黑" panose="020B0503020204020204" charset="-122"/>
                <a:cs typeface="微软雅黑" panose="020B0503020204020204" charset="-122"/>
              </a:rPr>
              <a:t>定位为超低功耗处理器，以面积最小化和</a:t>
            </a:r>
            <a:r>
              <a:rPr sz="1400" dirty="0">
                <a:solidFill>
                  <a:srgbClr val="585858"/>
                </a:solidFill>
                <a:latin typeface="微软雅黑" panose="020B0503020204020204" charset="-122"/>
                <a:cs typeface="微软雅黑" panose="020B0503020204020204" charset="-122"/>
              </a:rPr>
              <a:t>结 </a:t>
            </a:r>
            <a:r>
              <a:rPr sz="1400" dirty="0">
                <a:solidFill>
                  <a:srgbClr val="585858"/>
                </a:solidFill>
                <a:latin typeface="微软雅黑" panose="020B0503020204020204" charset="-122"/>
                <a:cs typeface="微软雅黑" panose="020B0503020204020204" charset="-122"/>
              </a:rPr>
              <a:t>构简单化为前提，性能提倡够用就行原则</a:t>
            </a:r>
            <a:r>
              <a:rPr sz="1400" spc="5" dirty="0">
                <a:solidFill>
                  <a:srgbClr val="585858"/>
                </a:solidFill>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p:txBody>
      </p:sp>
      <p:sp>
        <p:nvSpPr>
          <p:cNvPr id="23" name="object 23"/>
          <p:cNvSpPr txBox="1"/>
          <p:nvPr/>
        </p:nvSpPr>
        <p:spPr>
          <a:xfrm>
            <a:off x="6893166" y="2736420"/>
            <a:ext cx="3937635" cy="993140"/>
          </a:xfrm>
          <a:prstGeom prst="rect">
            <a:avLst/>
          </a:prstGeom>
        </p:spPr>
        <p:txBody>
          <a:bodyPr vert="horz" wrap="square" lIns="0" tIns="113664" rIns="0" bIns="0" rtlCol="0">
            <a:spAutoFit/>
          </a:bodyPr>
          <a:lstStyle/>
          <a:p>
            <a:pPr marL="12700">
              <a:lnSpc>
                <a:spcPct val="100000"/>
              </a:lnSpc>
              <a:spcBef>
                <a:spcPts val="895"/>
              </a:spcBef>
            </a:pPr>
            <a:r>
              <a:rPr sz="2000" b="1" spc="-5" dirty="0">
                <a:solidFill>
                  <a:srgbClr val="C00000"/>
                </a:solidFill>
                <a:latin typeface="微软雅黑" panose="020B0503020204020204" charset="-122"/>
                <a:cs typeface="微软雅黑" panose="020B0503020204020204" charset="-122"/>
              </a:rPr>
              <a:t>2.</a:t>
            </a:r>
            <a:r>
              <a:rPr sz="2000" b="1" dirty="0">
                <a:solidFill>
                  <a:srgbClr val="C00000"/>
                </a:solidFill>
                <a:latin typeface="微软雅黑" panose="020B0503020204020204" charset="-122"/>
                <a:cs typeface="微软雅黑" panose="020B0503020204020204" charset="-122"/>
              </a:rPr>
              <a:t>面积最小</a:t>
            </a:r>
            <a:r>
              <a:rPr sz="2000" b="1" spc="5" dirty="0">
                <a:solidFill>
                  <a:srgbClr val="C00000"/>
                </a:solidFill>
                <a:latin typeface="微软雅黑" panose="020B0503020204020204" charset="-122"/>
                <a:cs typeface="微软雅黑" panose="020B0503020204020204" charset="-122"/>
              </a:rPr>
              <a:t>化</a:t>
            </a:r>
            <a:endParaRPr sz="2000">
              <a:latin typeface="微软雅黑" panose="020B0503020204020204" charset="-122"/>
              <a:cs typeface="微软雅黑" panose="020B0503020204020204" charset="-122"/>
            </a:endParaRPr>
          </a:p>
          <a:p>
            <a:pPr marL="12700" marR="5080">
              <a:lnSpc>
                <a:spcPct val="130000"/>
              </a:lnSpc>
              <a:spcBef>
                <a:spcPts val="60"/>
              </a:spcBef>
            </a:pPr>
            <a:r>
              <a:rPr sz="1400" dirty="0">
                <a:solidFill>
                  <a:srgbClr val="585858"/>
                </a:solidFill>
                <a:latin typeface="微软雅黑" panose="020B0503020204020204" charset="-122"/>
                <a:cs typeface="微软雅黑" panose="020B0503020204020204" charset="-122"/>
              </a:rPr>
              <a:t>满足一定性能指标前提下，追求低功耗，小面积</a:t>
            </a:r>
            <a:r>
              <a:rPr sz="1400" dirty="0">
                <a:solidFill>
                  <a:srgbClr val="585858"/>
                </a:solidFill>
                <a:latin typeface="微软雅黑" panose="020B0503020204020204" charset="-122"/>
                <a:cs typeface="微软雅黑" panose="020B0503020204020204" charset="-122"/>
              </a:rPr>
              <a:t>， </a:t>
            </a:r>
            <a:r>
              <a:rPr sz="1400" dirty="0">
                <a:solidFill>
                  <a:srgbClr val="585858"/>
                </a:solidFill>
                <a:latin typeface="微软雅黑" panose="020B0503020204020204" charset="-122"/>
                <a:cs typeface="微软雅黑" panose="020B0503020204020204" charset="-122"/>
              </a:rPr>
              <a:t>因此设计中尽可能的复用数据通路节省面积开销</a:t>
            </a:r>
            <a:r>
              <a:rPr sz="1400" spc="5" dirty="0">
                <a:solidFill>
                  <a:srgbClr val="585858"/>
                </a:solidFill>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p:txBody>
      </p:sp>
      <p:sp>
        <p:nvSpPr>
          <p:cNvPr id="24" name="object 24"/>
          <p:cNvSpPr txBox="1"/>
          <p:nvPr/>
        </p:nvSpPr>
        <p:spPr>
          <a:xfrm>
            <a:off x="1151255" y="1436496"/>
            <a:ext cx="3582035" cy="1774825"/>
          </a:xfrm>
          <a:prstGeom prst="rect">
            <a:avLst/>
          </a:prstGeom>
        </p:spPr>
        <p:txBody>
          <a:bodyPr vert="horz" wrap="square" lIns="0" tIns="99060" rIns="0" bIns="0" rtlCol="0">
            <a:spAutoFit/>
          </a:bodyPr>
          <a:lstStyle/>
          <a:p>
            <a:pPr marL="12700">
              <a:lnSpc>
                <a:spcPct val="100000"/>
              </a:lnSpc>
              <a:spcBef>
                <a:spcPts val="780"/>
              </a:spcBef>
            </a:pPr>
            <a:r>
              <a:rPr sz="1800" b="1" spc="-5" dirty="0">
                <a:solidFill>
                  <a:srgbClr val="C00000"/>
                </a:solidFill>
                <a:latin typeface="微软雅黑" panose="020B0503020204020204" charset="-122"/>
                <a:cs typeface="微软雅黑" panose="020B0503020204020204" charset="-122"/>
              </a:rPr>
              <a:t>1.</a:t>
            </a:r>
            <a:r>
              <a:rPr sz="1800" b="1" dirty="0">
                <a:solidFill>
                  <a:srgbClr val="C00000"/>
                </a:solidFill>
                <a:latin typeface="微软雅黑" panose="020B0503020204020204" charset="-122"/>
                <a:cs typeface="微软雅黑" panose="020B0503020204020204" charset="-122"/>
              </a:rPr>
              <a:t>模块化和可重用性</a:t>
            </a:r>
            <a:endParaRPr sz="1800">
              <a:latin typeface="微软雅黑" panose="020B0503020204020204" charset="-122"/>
              <a:cs typeface="微软雅黑" panose="020B0503020204020204" charset="-122"/>
            </a:endParaRPr>
          </a:p>
          <a:p>
            <a:pPr marL="12700" marR="5080" algn="just">
              <a:lnSpc>
                <a:spcPct val="130000"/>
              </a:lnSpc>
              <a:spcBef>
                <a:spcPts val="30"/>
              </a:spcBef>
            </a:pPr>
            <a:r>
              <a:rPr sz="1400" dirty="0">
                <a:solidFill>
                  <a:srgbClr val="585858"/>
                </a:solidFill>
                <a:latin typeface="微软雅黑" panose="020B0503020204020204" charset="-122"/>
                <a:cs typeface="微软雅黑" panose="020B0503020204020204" charset="-122"/>
              </a:rPr>
              <a:t>将处理器划分为几个模块单元，每个单元接</a:t>
            </a:r>
            <a:r>
              <a:rPr sz="1400" dirty="0">
                <a:solidFill>
                  <a:srgbClr val="585858"/>
                </a:solidFill>
                <a:latin typeface="微软雅黑" panose="020B0503020204020204" charset="-122"/>
                <a:cs typeface="微软雅黑" panose="020B0503020204020204" charset="-122"/>
              </a:rPr>
              <a:t>口 </a:t>
            </a:r>
            <a:r>
              <a:rPr sz="1400" dirty="0">
                <a:solidFill>
                  <a:srgbClr val="585858"/>
                </a:solidFill>
                <a:latin typeface="微软雅黑" panose="020B0503020204020204" charset="-122"/>
                <a:cs typeface="微软雅黑" panose="020B0503020204020204" charset="-122"/>
              </a:rPr>
              <a:t>简单清晰，并把复杂关系控制在单元内。划</a:t>
            </a:r>
            <a:r>
              <a:rPr sz="1400" dirty="0">
                <a:solidFill>
                  <a:srgbClr val="585858"/>
                </a:solidFill>
                <a:latin typeface="微软雅黑" panose="020B0503020204020204" charset="-122"/>
                <a:cs typeface="微软雅黑" panose="020B0503020204020204" charset="-122"/>
              </a:rPr>
              <a:t>分 </a:t>
            </a:r>
            <a:r>
              <a:rPr sz="1400" dirty="0">
                <a:solidFill>
                  <a:srgbClr val="585858"/>
                </a:solidFill>
                <a:latin typeface="微软雅黑" panose="020B0503020204020204" charset="-122"/>
                <a:cs typeface="微软雅黑" panose="020B0503020204020204" charset="-122"/>
              </a:rPr>
              <a:t>的时候充分考虑可重用性，是其能够被其他</a:t>
            </a:r>
            <a:r>
              <a:rPr sz="1400" dirty="0">
                <a:solidFill>
                  <a:srgbClr val="585858"/>
                </a:solidFill>
                <a:latin typeface="微软雅黑" panose="020B0503020204020204" charset="-122"/>
                <a:cs typeface="微软雅黑" panose="020B0503020204020204" charset="-122"/>
              </a:rPr>
              <a:t>微 </a:t>
            </a:r>
            <a:r>
              <a:rPr sz="1400" dirty="0">
                <a:solidFill>
                  <a:srgbClr val="585858"/>
                </a:solidFill>
                <a:latin typeface="微软雅黑" panose="020B0503020204020204" charset="-122"/>
                <a:cs typeface="微软雅黑" panose="020B0503020204020204" charset="-122"/>
              </a:rPr>
              <a:t>处理器内核架构继续使用，提升研发效率，</a:t>
            </a:r>
            <a:r>
              <a:rPr sz="1400" dirty="0">
                <a:solidFill>
                  <a:srgbClr val="585858"/>
                </a:solidFill>
                <a:latin typeface="微软雅黑" panose="020B0503020204020204" charset="-122"/>
                <a:cs typeface="微软雅黑" panose="020B0503020204020204" charset="-122"/>
              </a:rPr>
              <a:t>降 </a:t>
            </a:r>
            <a:r>
              <a:rPr sz="1400" dirty="0">
                <a:solidFill>
                  <a:srgbClr val="585858"/>
                </a:solidFill>
                <a:latin typeface="微软雅黑" panose="020B0503020204020204" charset="-122"/>
                <a:cs typeface="微软雅黑" panose="020B0503020204020204" charset="-122"/>
              </a:rPr>
              <a:t>低成本</a:t>
            </a:r>
            <a:r>
              <a:rPr sz="1400" spc="5" dirty="0">
                <a:solidFill>
                  <a:srgbClr val="585858"/>
                </a:solidFill>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p:txBody>
      </p:sp>
      <p:sp>
        <p:nvSpPr>
          <p:cNvPr id="25" name="object 25"/>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387604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蜂鸟E</a:t>
            </a:r>
            <a:r>
              <a:rPr sz="3600" spc="-5" dirty="0">
                <a:solidFill>
                  <a:srgbClr val="C00000"/>
                </a:solidFill>
              </a:rPr>
              <a:t>203</a:t>
            </a:r>
            <a:r>
              <a:rPr sz="3600" dirty="0">
                <a:solidFill>
                  <a:srgbClr val="C00000"/>
                </a:solidFill>
              </a:rPr>
              <a:t>开源项目</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p:nvPr/>
        </p:nvSpPr>
        <p:spPr>
          <a:xfrm>
            <a:off x="774375" y="3580102"/>
            <a:ext cx="3832676" cy="2535709"/>
          </a:xfrm>
          <a:prstGeom prst="rect">
            <a:avLst/>
          </a:prstGeom>
          <a:blipFill>
            <a:blip r:embed="rId1" cstate="print"/>
            <a:stretch>
              <a:fillRect/>
            </a:stretch>
          </a:blipFill>
        </p:spPr>
        <p:txBody>
          <a:bodyPr wrap="square" lIns="0" tIns="0" rIns="0" bIns="0" rtlCol="0"/>
          <a:lstStyle/>
          <a:p/>
        </p:txBody>
      </p:sp>
      <p:sp>
        <p:nvSpPr>
          <p:cNvPr id="5" name="object 5"/>
          <p:cNvSpPr txBox="1"/>
          <p:nvPr/>
        </p:nvSpPr>
        <p:spPr>
          <a:xfrm>
            <a:off x="609600" y="1400937"/>
            <a:ext cx="4859020" cy="2436495"/>
          </a:xfrm>
          <a:prstGeom prst="rect">
            <a:avLst/>
          </a:prstGeom>
        </p:spPr>
        <p:txBody>
          <a:bodyPr vert="horz" wrap="square" lIns="0" tIns="118745" rIns="0" bIns="0" rtlCol="0">
            <a:spAutoFit/>
          </a:bodyPr>
          <a:lstStyle/>
          <a:p>
            <a:pPr marL="355600" indent="-342900">
              <a:lnSpc>
                <a:spcPct val="100000"/>
              </a:lnSpc>
              <a:spcBef>
                <a:spcPts val="935"/>
              </a:spcBef>
              <a:buFont typeface="Wingdings" panose="05000000000000000000"/>
              <a:buChar char=""/>
              <a:tabLst>
                <a:tab pos="354965" algn="l"/>
                <a:tab pos="355600" algn="l"/>
              </a:tabLst>
            </a:pPr>
            <a:r>
              <a:rPr sz="1400" dirty="0">
                <a:latin typeface="微软雅黑" panose="020B0503020204020204" charset="-122"/>
                <a:cs typeface="微软雅黑" panose="020B0503020204020204" charset="-122"/>
              </a:rPr>
              <a:t>纯</a:t>
            </a:r>
            <a:r>
              <a:rPr sz="1400" spc="-20" dirty="0">
                <a:latin typeface="微软雅黑" panose="020B0503020204020204" charset="-122"/>
                <a:cs typeface="微软雅黑" panose="020B0503020204020204" charset="-122"/>
              </a:rPr>
              <a:t>Verilog</a:t>
            </a:r>
            <a:r>
              <a:rPr sz="1400" spc="-15" dirty="0">
                <a:latin typeface="微软雅黑" panose="020B0503020204020204" charset="-122"/>
                <a:cs typeface="微软雅黑" panose="020B0503020204020204" charset="-122"/>
              </a:rPr>
              <a:t> </a:t>
            </a:r>
            <a:r>
              <a:rPr sz="1400" spc="-5" dirty="0">
                <a:latin typeface="微软雅黑" panose="020B0503020204020204" charset="-122"/>
                <a:cs typeface="微软雅黑" panose="020B0503020204020204" charset="-122"/>
              </a:rPr>
              <a:t>HDL</a:t>
            </a:r>
            <a:r>
              <a:rPr sz="1400" dirty="0">
                <a:latin typeface="微软雅黑" panose="020B0503020204020204" charset="-122"/>
                <a:cs typeface="微软雅黑" panose="020B0503020204020204" charset="-122"/>
              </a:rPr>
              <a:t>工业级标准开发，软硬件全套开源</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355600" indent="-342900">
              <a:lnSpc>
                <a:spcPct val="100000"/>
              </a:lnSpc>
              <a:spcBef>
                <a:spcPts val="840"/>
              </a:spcBef>
              <a:buFont typeface="Wingdings" panose="05000000000000000000"/>
              <a:buChar char=""/>
              <a:tabLst>
                <a:tab pos="354965" algn="l"/>
                <a:tab pos="355600" algn="l"/>
              </a:tabLst>
            </a:pPr>
            <a:r>
              <a:rPr sz="1400" dirty="0">
                <a:latin typeface="微软雅黑" panose="020B0503020204020204" charset="-122"/>
                <a:cs typeface="微软雅黑" panose="020B0503020204020204" charset="-122"/>
              </a:rPr>
              <a:t>国内第一个完善的开源</a:t>
            </a:r>
            <a:r>
              <a:rPr sz="1400" spc="-5" dirty="0">
                <a:latin typeface="微软雅黑" panose="020B0503020204020204" charset="-122"/>
                <a:cs typeface="微软雅黑" panose="020B0503020204020204" charset="-122"/>
              </a:rPr>
              <a:t>RISC-V</a:t>
            </a:r>
            <a:r>
              <a:rPr sz="1400" dirty="0">
                <a:latin typeface="微软雅黑" panose="020B0503020204020204" charset="-122"/>
                <a:cs typeface="微软雅黑" panose="020B0503020204020204" charset="-122"/>
              </a:rPr>
              <a:t>项目，且众人关注</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355600" indent="-342900">
              <a:lnSpc>
                <a:spcPct val="100000"/>
              </a:lnSpc>
              <a:spcBef>
                <a:spcPts val="840"/>
              </a:spcBef>
              <a:buFont typeface="Wingdings" panose="05000000000000000000"/>
              <a:buChar char=""/>
              <a:tabLst>
                <a:tab pos="354965" algn="l"/>
                <a:tab pos="355600" algn="l"/>
              </a:tabLst>
            </a:pPr>
            <a:r>
              <a:rPr sz="1400" spc="-5" dirty="0">
                <a:latin typeface="微软雅黑" panose="020B0503020204020204" charset="-122"/>
                <a:cs typeface="微软雅黑" panose="020B0503020204020204" charset="-122"/>
              </a:rPr>
              <a:t>RISC-V</a:t>
            </a:r>
            <a:r>
              <a:rPr sz="1400" dirty="0">
                <a:latin typeface="微软雅黑" panose="020B0503020204020204" charset="-122"/>
                <a:cs typeface="微软雅黑" panose="020B0503020204020204" charset="-122"/>
              </a:rPr>
              <a:t>基金会网站收录的国内唯一开源项目</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355600" indent="-342900">
              <a:lnSpc>
                <a:spcPct val="100000"/>
              </a:lnSpc>
              <a:spcBef>
                <a:spcPts val="840"/>
              </a:spcBef>
              <a:buFont typeface="Wingdings" panose="05000000000000000000"/>
              <a:buChar char=""/>
              <a:tabLst>
                <a:tab pos="354965" algn="l"/>
                <a:tab pos="355600" algn="l"/>
              </a:tabLst>
            </a:pPr>
            <a:r>
              <a:rPr sz="1400" dirty="0">
                <a:latin typeface="微软雅黑" panose="020B0503020204020204" charset="-122"/>
                <a:cs typeface="微软雅黑" panose="020B0503020204020204" charset="-122"/>
              </a:rPr>
              <a:t>在国内的科研和教学领域广泛应用</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355600" marR="227965" indent="-342900">
              <a:lnSpc>
                <a:spcPct val="150000"/>
              </a:lnSpc>
              <a:buFont typeface="Wingdings" panose="05000000000000000000"/>
              <a:buChar char=""/>
              <a:tabLst>
                <a:tab pos="354965" algn="l"/>
                <a:tab pos="355600" algn="l"/>
              </a:tabLst>
            </a:pPr>
            <a:r>
              <a:rPr sz="1400" dirty="0">
                <a:latin typeface="微软雅黑" panose="020B0503020204020204" charset="-122"/>
                <a:cs typeface="微软雅黑" panose="020B0503020204020204" charset="-122"/>
              </a:rPr>
              <a:t>项目配套完整，除了代码和工具链还有完整的文档，</a:t>
            </a:r>
            <a:r>
              <a:rPr sz="1400" dirty="0">
                <a:latin typeface="微软雅黑" panose="020B0503020204020204" charset="-122"/>
                <a:cs typeface="微软雅黑" panose="020B0503020204020204" charset="-122"/>
              </a:rPr>
              <a:t>书 </a:t>
            </a:r>
            <a:r>
              <a:rPr sz="1400" dirty="0">
                <a:latin typeface="微软雅黑" panose="020B0503020204020204" charset="-122"/>
                <a:cs typeface="微软雅黑" panose="020B0503020204020204" charset="-122"/>
              </a:rPr>
              <a:t>籍和开发板</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a:lnSpc>
                <a:spcPct val="100000"/>
              </a:lnSpc>
              <a:spcBef>
                <a:spcPts val="40"/>
              </a:spcBef>
            </a:pPr>
            <a:endParaRPr sz="1450">
              <a:latin typeface="Times New Roman" panose="02020603050405020304"/>
              <a:cs typeface="Times New Roman" panose="02020603050405020304"/>
            </a:endParaRPr>
          </a:p>
          <a:p>
            <a:pPr marR="5080" algn="r">
              <a:lnSpc>
                <a:spcPct val="100000"/>
              </a:lnSpc>
            </a:pPr>
            <a:r>
              <a:rPr sz="1800" b="1" dirty="0">
                <a:solidFill>
                  <a:srgbClr val="C00000"/>
                </a:solidFill>
                <a:latin typeface="微软雅黑" panose="020B0503020204020204" charset="-122"/>
                <a:cs typeface="微软雅黑" panose="020B0503020204020204" charset="-122"/>
              </a:rPr>
              <a:t>完善的文档</a:t>
            </a:r>
            <a:endParaRPr sz="1800">
              <a:latin typeface="微软雅黑" panose="020B0503020204020204" charset="-122"/>
              <a:cs typeface="微软雅黑" panose="020B0503020204020204" charset="-122"/>
            </a:endParaRPr>
          </a:p>
        </p:txBody>
      </p:sp>
      <p:sp>
        <p:nvSpPr>
          <p:cNvPr id="6" name="object 6"/>
          <p:cNvSpPr/>
          <p:nvPr/>
        </p:nvSpPr>
        <p:spPr>
          <a:xfrm>
            <a:off x="5789814" y="1999210"/>
            <a:ext cx="5291050" cy="4135581"/>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9289427" y="2077605"/>
            <a:ext cx="1958339" cy="150495"/>
          </a:xfrm>
          <a:custGeom>
            <a:avLst/>
            <a:gdLst/>
            <a:ahLst/>
            <a:cxnLst/>
            <a:rect l="l" t="t" r="r" b="b"/>
            <a:pathLst>
              <a:path w="1958340" h="150494">
                <a:moveTo>
                  <a:pt x="1958263" y="150304"/>
                </a:moveTo>
                <a:lnTo>
                  <a:pt x="0" y="150304"/>
                </a:lnTo>
                <a:lnTo>
                  <a:pt x="0" y="0"/>
                </a:lnTo>
                <a:lnTo>
                  <a:pt x="1958263" y="0"/>
                </a:lnTo>
                <a:lnTo>
                  <a:pt x="1958263" y="6350"/>
                </a:lnTo>
                <a:lnTo>
                  <a:pt x="12700" y="6350"/>
                </a:lnTo>
                <a:lnTo>
                  <a:pt x="6350" y="12700"/>
                </a:lnTo>
                <a:lnTo>
                  <a:pt x="12700" y="12700"/>
                </a:lnTo>
                <a:lnTo>
                  <a:pt x="12700" y="137604"/>
                </a:lnTo>
                <a:lnTo>
                  <a:pt x="6350" y="137604"/>
                </a:lnTo>
                <a:lnTo>
                  <a:pt x="12700" y="143954"/>
                </a:lnTo>
                <a:lnTo>
                  <a:pt x="1958263" y="143954"/>
                </a:lnTo>
                <a:lnTo>
                  <a:pt x="1958263" y="150304"/>
                </a:lnTo>
                <a:close/>
              </a:path>
              <a:path w="1958340" h="150494">
                <a:moveTo>
                  <a:pt x="12700" y="12700"/>
                </a:moveTo>
                <a:lnTo>
                  <a:pt x="6350" y="12700"/>
                </a:lnTo>
                <a:lnTo>
                  <a:pt x="12700" y="6350"/>
                </a:lnTo>
                <a:lnTo>
                  <a:pt x="12700" y="12700"/>
                </a:lnTo>
                <a:close/>
              </a:path>
              <a:path w="1958340" h="150494">
                <a:moveTo>
                  <a:pt x="1945563" y="12700"/>
                </a:moveTo>
                <a:lnTo>
                  <a:pt x="12700" y="12700"/>
                </a:lnTo>
                <a:lnTo>
                  <a:pt x="12700" y="6350"/>
                </a:lnTo>
                <a:lnTo>
                  <a:pt x="1945563" y="6350"/>
                </a:lnTo>
                <a:lnTo>
                  <a:pt x="1945563" y="12700"/>
                </a:lnTo>
                <a:close/>
              </a:path>
              <a:path w="1958340" h="150494">
                <a:moveTo>
                  <a:pt x="1945563" y="143954"/>
                </a:moveTo>
                <a:lnTo>
                  <a:pt x="1945563" y="6350"/>
                </a:lnTo>
                <a:lnTo>
                  <a:pt x="1951913" y="12700"/>
                </a:lnTo>
                <a:lnTo>
                  <a:pt x="1958263" y="12700"/>
                </a:lnTo>
                <a:lnTo>
                  <a:pt x="1958263" y="137604"/>
                </a:lnTo>
                <a:lnTo>
                  <a:pt x="1951913" y="137604"/>
                </a:lnTo>
                <a:lnTo>
                  <a:pt x="1945563" y="143954"/>
                </a:lnTo>
                <a:close/>
              </a:path>
              <a:path w="1958340" h="150494">
                <a:moveTo>
                  <a:pt x="1958263" y="12700"/>
                </a:moveTo>
                <a:lnTo>
                  <a:pt x="1951913" y="12700"/>
                </a:lnTo>
                <a:lnTo>
                  <a:pt x="1945563" y="6350"/>
                </a:lnTo>
                <a:lnTo>
                  <a:pt x="1958263" y="6350"/>
                </a:lnTo>
                <a:lnTo>
                  <a:pt x="1958263" y="12700"/>
                </a:lnTo>
                <a:close/>
              </a:path>
              <a:path w="1958340" h="150494">
                <a:moveTo>
                  <a:pt x="12700" y="143954"/>
                </a:moveTo>
                <a:lnTo>
                  <a:pt x="6350" y="137604"/>
                </a:lnTo>
                <a:lnTo>
                  <a:pt x="12700" y="137604"/>
                </a:lnTo>
                <a:lnTo>
                  <a:pt x="12700" y="143954"/>
                </a:lnTo>
                <a:close/>
              </a:path>
              <a:path w="1958340" h="150494">
                <a:moveTo>
                  <a:pt x="1945563" y="143954"/>
                </a:moveTo>
                <a:lnTo>
                  <a:pt x="12700" y="143954"/>
                </a:lnTo>
                <a:lnTo>
                  <a:pt x="12700" y="137604"/>
                </a:lnTo>
                <a:lnTo>
                  <a:pt x="1945563" y="137604"/>
                </a:lnTo>
                <a:lnTo>
                  <a:pt x="1945563" y="143954"/>
                </a:lnTo>
                <a:close/>
              </a:path>
              <a:path w="1958340" h="150494">
                <a:moveTo>
                  <a:pt x="1958263" y="143954"/>
                </a:moveTo>
                <a:lnTo>
                  <a:pt x="1945563" y="143954"/>
                </a:lnTo>
                <a:lnTo>
                  <a:pt x="1951913" y="137604"/>
                </a:lnTo>
                <a:lnTo>
                  <a:pt x="1958263" y="137604"/>
                </a:lnTo>
                <a:lnTo>
                  <a:pt x="1958263" y="143954"/>
                </a:lnTo>
                <a:close/>
              </a:path>
            </a:pathLst>
          </a:custGeom>
          <a:solidFill>
            <a:srgbClr val="C00000"/>
          </a:solidFill>
        </p:spPr>
        <p:txBody>
          <a:bodyPr wrap="square" lIns="0" tIns="0" rIns="0" bIns="0" rtlCol="0"/>
          <a:lstStyle/>
          <a:p/>
        </p:txBody>
      </p:sp>
      <p:sp>
        <p:nvSpPr>
          <p:cNvPr id="8" name="object 8"/>
          <p:cNvSpPr/>
          <p:nvPr/>
        </p:nvSpPr>
        <p:spPr>
          <a:xfrm>
            <a:off x="5816244" y="3991990"/>
            <a:ext cx="426720" cy="179070"/>
          </a:xfrm>
          <a:custGeom>
            <a:avLst/>
            <a:gdLst/>
            <a:ahLst/>
            <a:cxnLst/>
            <a:rect l="l" t="t" r="r" b="b"/>
            <a:pathLst>
              <a:path w="426720" h="179070">
                <a:moveTo>
                  <a:pt x="426618" y="178917"/>
                </a:moveTo>
                <a:lnTo>
                  <a:pt x="0" y="178917"/>
                </a:lnTo>
                <a:lnTo>
                  <a:pt x="0" y="0"/>
                </a:lnTo>
                <a:lnTo>
                  <a:pt x="426618" y="0"/>
                </a:lnTo>
                <a:lnTo>
                  <a:pt x="426618" y="6350"/>
                </a:lnTo>
                <a:lnTo>
                  <a:pt x="12700" y="6350"/>
                </a:lnTo>
                <a:lnTo>
                  <a:pt x="6350" y="12700"/>
                </a:lnTo>
                <a:lnTo>
                  <a:pt x="12700" y="12700"/>
                </a:lnTo>
                <a:lnTo>
                  <a:pt x="12700" y="166217"/>
                </a:lnTo>
                <a:lnTo>
                  <a:pt x="6350" y="166217"/>
                </a:lnTo>
                <a:lnTo>
                  <a:pt x="12700" y="172567"/>
                </a:lnTo>
                <a:lnTo>
                  <a:pt x="426618" y="172567"/>
                </a:lnTo>
                <a:lnTo>
                  <a:pt x="426618" y="178917"/>
                </a:lnTo>
                <a:close/>
              </a:path>
              <a:path w="426720" h="179070">
                <a:moveTo>
                  <a:pt x="12700" y="12700"/>
                </a:moveTo>
                <a:lnTo>
                  <a:pt x="6350" y="12700"/>
                </a:lnTo>
                <a:lnTo>
                  <a:pt x="12700" y="6350"/>
                </a:lnTo>
                <a:lnTo>
                  <a:pt x="12700" y="12700"/>
                </a:lnTo>
                <a:close/>
              </a:path>
              <a:path w="426720" h="179070">
                <a:moveTo>
                  <a:pt x="413918" y="12700"/>
                </a:moveTo>
                <a:lnTo>
                  <a:pt x="12700" y="12700"/>
                </a:lnTo>
                <a:lnTo>
                  <a:pt x="12700" y="6350"/>
                </a:lnTo>
                <a:lnTo>
                  <a:pt x="413918" y="6350"/>
                </a:lnTo>
                <a:lnTo>
                  <a:pt x="413918" y="12700"/>
                </a:lnTo>
                <a:close/>
              </a:path>
              <a:path w="426720" h="179070">
                <a:moveTo>
                  <a:pt x="413918" y="172567"/>
                </a:moveTo>
                <a:lnTo>
                  <a:pt x="413918" y="6350"/>
                </a:lnTo>
                <a:lnTo>
                  <a:pt x="420268" y="12700"/>
                </a:lnTo>
                <a:lnTo>
                  <a:pt x="426618" y="12700"/>
                </a:lnTo>
                <a:lnTo>
                  <a:pt x="426618" y="166217"/>
                </a:lnTo>
                <a:lnTo>
                  <a:pt x="420268" y="166217"/>
                </a:lnTo>
                <a:lnTo>
                  <a:pt x="413918" y="172567"/>
                </a:lnTo>
                <a:close/>
              </a:path>
              <a:path w="426720" h="179070">
                <a:moveTo>
                  <a:pt x="426618" y="12700"/>
                </a:moveTo>
                <a:lnTo>
                  <a:pt x="420268" y="12700"/>
                </a:lnTo>
                <a:lnTo>
                  <a:pt x="413918" y="6350"/>
                </a:lnTo>
                <a:lnTo>
                  <a:pt x="426618" y="6350"/>
                </a:lnTo>
                <a:lnTo>
                  <a:pt x="426618" y="12700"/>
                </a:lnTo>
                <a:close/>
              </a:path>
              <a:path w="426720" h="179070">
                <a:moveTo>
                  <a:pt x="12700" y="172567"/>
                </a:moveTo>
                <a:lnTo>
                  <a:pt x="6350" y="166217"/>
                </a:lnTo>
                <a:lnTo>
                  <a:pt x="12700" y="166217"/>
                </a:lnTo>
                <a:lnTo>
                  <a:pt x="12700" y="172567"/>
                </a:lnTo>
                <a:close/>
              </a:path>
              <a:path w="426720" h="179070">
                <a:moveTo>
                  <a:pt x="413918" y="172567"/>
                </a:moveTo>
                <a:lnTo>
                  <a:pt x="12700" y="172567"/>
                </a:lnTo>
                <a:lnTo>
                  <a:pt x="12700" y="166217"/>
                </a:lnTo>
                <a:lnTo>
                  <a:pt x="413918" y="166217"/>
                </a:lnTo>
                <a:lnTo>
                  <a:pt x="413918" y="172567"/>
                </a:lnTo>
                <a:close/>
              </a:path>
              <a:path w="426720" h="179070">
                <a:moveTo>
                  <a:pt x="426618" y="172567"/>
                </a:moveTo>
                <a:lnTo>
                  <a:pt x="413918" y="172567"/>
                </a:lnTo>
                <a:lnTo>
                  <a:pt x="420268" y="166217"/>
                </a:lnTo>
                <a:lnTo>
                  <a:pt x="426618" y="166217"/>
                </a:lnTo>
                <a:lnTo>
                  <a:pt x="426618" y="172567"/>
                </a:lnTo>
                <a:close/>
              </a:path>
            </a:pathLst>
          </a:custGeom>
          <a:solidFill>
            <a:srgbClr val="C00000"/>
          </a:solidFill>
        </p:spPr>
        <p:txBody>
          <a:bodyPr wrap="square" lIns="0" tIns="0" rIns="0" bIns="0" rtlCol="0"/>
          <a:lstStyle/>
          <a:p/>
        </p:txBody>
      </p:sp>
      <p:sp>
        <p:nvSpPr>
          <p:cNvPr id="9" name="object 9"/>
          <p:cNvSpPr/>
          <p:nvPr/>
        </p:nvSpPr>
        <p:spPr>
          <a:xfrm>
            <a:off x="4425315" y="4050639"/>
            <a:ext cx="1397635" cy="76200"/>
          </a:xfrm>
          <a:custGeom>
            <a:avLst/>
            <a:gdLst/>
            <a:ahLst/>
            <a:cxnLst/>
            <a:rect l="l" t="t" r="r" b="b"/>
            <a:pathLst>
              <a:path w="1397635" h="76200">
                <a:moveTo>
                  <a:pt x="76403" y="76200"/>
                </a:moveTo>
                <a:lnTo>
                  <a:pt x="0" y="38519"/>
                </a:lnTo>
                <a:lnTo>
                  <a:pt x="75984" y="0"/>
                </a:lnTo>
                <a:lnTo>
                  <a:pt x="76172" y="34286"/>
                </a:lnTo>
                <a:lnTo>
                  <a:pt x="57124" y="34391"/>
                </a:lnTo>
                <a:lnTo>
                  <a:pt x="57175" y="42011"/>
                </a:lnTo>
                <a:lnTo>
                  <a:pt x="76215" y="42011"/>
                </a:lnTo>
                <a:lnTo>
                  <a:pt x="76403" y="76200"/>
                </a:lnTo>
                <a:close/>
              </a:path>
              <a:path w="1397635" h="76200">
                <a:moveTo>
                  <a:pt x="76214" y="41906"/>
                </a:moveTo>
                <a:lnTo>
                  <a:pt x="76172" y="34286"/>
                </a:lnTo>
                <a:lnTo>
                  <a:pt x="1397254" y="27000"/>
                </a:lnTo>
                <a:lnTo>
                  <a:pt x="1397304" y="34620"/>
                </a:lnTo>
                <a:lnTo>
                  <a:pt x="76214" y="41906"/>
                </a:lnTo>
                <a:close/>
              </a:path>
              <a:path w="1397635" h="76200">
                <a:moveTo>
                  <a:pt x="57175" y="42011"/>
                </a:moveTo>
                <a:lnTo>
                  <a:pt x="57124" y="34391"/>
                </a:lnTo>
                <a:lnTo>
                  <a:pt x="76172" y="34286"/>
                </a:lnTo>
                <a:lnTo>
                  <a:pt x="76214" y="41906"/>
                </a:lnTo>
                <a:lnTo>
                  <a:pt x="57175" y="42011"/>
                </a:lnTo>
                <a:close/>
              </a:path>
              <a:path w="1397635" h="76200">
                <a:moveTo>
                  <a:pt x="76215" y="42011"/>
                </a:moveTo>
                <a:lnTo>
                  <a:pt x="57175" y="42011"/>
                </a:lnTo>
                <a:lnTo>
                  <a:pt x="76214" y="41906"/>
                </a:lnTo>
                <a:close/>
              </a:path>
            </a:pathLst>
          </a:custGeom>
          <a:solidFill>
            <a:srgbClr val="C00000"/>
          </a:solidFill>
        </p:spPr>
        <p:txBody>
          <a:bodyPr wrap="square" lIns="0" tIns="0" rIns="0" bIns="0" rtlCol="0"/>
          <a:lstStyle/>
          <a:p/>
        </p:txBody>
      </p:sp>
      <p:sp>
        <p:nvSpPr>
          <p:cNvPr id="10" name="object 10"/>
          <p:cNvSpPr/>
          <p:nvPr/>
        </p:nvSpPr>
        <p:spPr>
          <a:xfrm>
            <a:off x="7088123" y="1231391"/>
            <a:ext cx="4023360" cy="469391"/>
          </a:xfrm>
          <a:prstGeom prst="rect">
            <a:avLst/>
          </a:prstGeom>
          <a:blipFill>
            <a:blip r:embed="rId3" cstate="print"/>
            <a:stretch>
              <a:fillRect/>
            </a:stretch>
          </a:blipFill>
        </p:spPr>
        <p:txBody>
          <a:bodyPr wrap="square" lIns="0" tIns="0" rIns="0" bIns="0" rtlCol="0"/>
          <a:lstStyle/>
          <a:p/>
        </p:txBody>
      </p:sp>
      <p:sp>
        <p:nvSpPr>
          <p:cNvPr id="11" name="object 11"/>
          <p:cNvSpPr/>
          <p:nvPr/>
        </p:nvSpPr>
        <p:spPr>
          <a:xfrm>
            <a:off x="10234028" y="1661782"/>
            <a:ext cx="76200" cy="422275"/>
          </a:xfrm>
          <a:custGeom>
            <a:avLst/>
            <a:gdLst/>
            <a:ahLst/>
            <a:cxnLst/>
            <a:rect l="l" t="t" r="r" b="b"/>
            <a:pathLst>
              <a:path w="76200" h="422275">
                <a:moveTo>
                  <a:pt x="34287" y="76157"/>
                </a:moveTo>
                <a:lnTo>
                  <a:pt x="0" y="75831"/>
                </a:lnTo>
                <a:lnTo>
                  <a:pt x="38823" y="0"/>
                </a:lnTo>
                <a:lnTo>
                  <a:pt x="66707" y="57111"/>
                </a:lnTo>
                <a:lnTo>
                  <a:pt x="34467" y="57111"/>
                </a:lnTo>
                <a:lnTo>
                  <a:pt x="34287" y="76157"/>
                </a:lnTo>
                <a:close/>
              </a:path>
              <a:path w="76200" h="422275">
                <a:moveTo>
                  <a:pt x="41907" y="76229"/>
                </a:moveTo>
                <a:lnTo>
                  <a:pt x="34287" y="76157"/>
                </a:lnTo>
                <a:lnTo>
                  <a:pt x="34467" y="57111"/>
                </a:lnTo>
                <a:lnTo>
                  <a:pt x="42087" y="57188"/>
                </a:lnTo>
                <a:lnTo>
                  <a:pt x="41907" y="76229"/>
                </a:lnTo>
                <a:close/>
              </a:path>
              <a:path w="76200" h="422275">
                <a:moveTo>
                  <a:pt x="76200" y="76555"/>
                </a:moveTo>
                <a:lnTo>
                  <a:pt x="41907" y="76229"/>
                </a:lnTo>
                <a:lnTo>
                  <a:pt x="42087" y="57188"/>
                </a:lnTo>
                <a:lnTo>
                  <a:pt x="34467" y="57111"/>
                </a:lnTo>
                <a:lnTo>
                  <a:pt x="66707" y="57111"/>
                </a:lnTo>
                <a:lnTo>
                  <a:pt x="76200" y="76555"/>
                </a:lnTo>
                <a:close/>
              </a:path>
              <a:path w="76200" h="422275">
                <a:moveTo>
                  <a:pt x="38633" y="422211"/>
                </a:moveTo>
                <a:lnTo>
                  <a:pt x="31013" y="422135"/>
                </a:lnTo>
                <a:lnTo>
                  <a:pt x="34287" y="76157"/>
                </a:lnTo>
                <a:lnTo>
                  <a:pt x="41907" y="76229"/>
                </a:lnTo>
                <a:lnTo>
                  <a:pt x="38633" y="422211"/>
                </a:lnTo>
                <a:close/>
              </a:path>
            </a:pathLst>
          </a:custGeom>
          <a:solidFill>
            <a:srgbClr val="C00000"/>
          </a:solidFill>
        </p:spPr>
        <p:txBody>
          <a:bodyPr wrap="square" lIns="0" tIns="0" rIns="0" bIns="0" rtlCol="0"/>
          <a:lstStyle/>
          <a:p/>
        </p:txBody>
      </p:sp>
      <p:sp>
        <p:nvSpPr>
          <p:cNvPr id="12" name="object 12"/>
          <p:cNvSpPr txBox="1"/>
          <p:nvPr/>
        </p:nvSpPr>
        <p:spPr>
          <a:xfrm>
            <a:off x="9215043" y="1709026"/>
            <a:ext cx="93980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微软雅黑" panose="020B0503020204020204" charset="-122"/>
                <a:cs typeface="微软雅黑" panose="020B0503020204020204" charset="-122"/>
              </a:rPr>
              <a:t>众人关注</a:t>
            </a:r>
            <a:endParaRPr sz="1800">
              <a:latin typeface="微软雅黑" panose="020B0503020204020204" charset="-122"/>
              <a:cs typeface="微软雅黑" panose="020B0503020204020204" charset="-122"/>
            </a:endParaRPr>
          </a:p>
        </p:txBody>
      </p:sp>
      <p:sp>
        <p:nvSpPr>
          <p:cNvPr id="13" name="object 13"/>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387604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蜂鸟E</a:t>
            </a:r>
            <a:r>
              <a:rPr sz="3600" spc="-5" dirty="0">
                <a:solidFill>
                  <a:srgbClr val="C00000"/>
                </a:solidFill>
              </a:rPr>
              <a:t>203</a:t>
            </a:r>
            <a:r>
              <a:rPr sz="3600" dirty="0">
                <a:solidFill>
                  <a:srgbClr val="C00000"/>
                </a:solidFill>
              </a:rPr>
              <a:t>系统结构</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749300" y="1158748"/>
            <a:ext cx="10681335" cy="756920"/>
          </a:xfrm>
          <a:prstGeom prst="rect">
            <a:avLst/>
          </a:prstGeom>
        </p:spPr>
        <p:txBody>
          <a:bodyPr vert="horz" wrap="square" lIns="0" tIns="12700" rIns="0" bIns="0" rtlCol="0">
            <a:spAutoFit/>
          </a:bodyPr>
          <a:lstStyle/>
          <a:p>
            <a:pPr marL="12700" marR="5080">
              <a:lnSpc>
                <a:spcPct val="150000"/>
              </a:lnSpc>
              <a:spcBef>
                <a:spcPts val="100"/>
              </a:spcBef>
            </a:pPr>
            <a:r>
              <a:rPr sz="1600" dirty="0">
                <a:latin typeface="微软雅黑" panose="020B0503020204020204" charset="-122"/>
                <a:cs typeface="微软雅黑" panose="020B0503020204020204" charset="-122"/>
              </a:rPr>
              <a:t>蜂鸟虽小，五脏俱全。蜂鸟</a:t>
            </a:r>
            <a:r>
              <a:rPr sz="1600" spc="-5" dirty="0">
                <a:latin typeface="微软雅黑" panose="020B0503020204020204" charset="-122"/>
                <a:cs typeface="微软雅黑" panose="020B0503020204020204" charset="-122"/>
              </a:rPr>
              <a:t>E203</a:t>
            </a:r>
            <a:r>
              <a:rPr sz="1600" dirty="0">
                <a:latin typeface="微软雅黑" panose="020B0503020204020204" charset="-122"/>
                <a:cs typeface="微软雅黑" panose="020B0503020204020204" charset="-122"/>
              </a:rPr>
              <a:t>内核虽精简，但源代码，工具链，文档和相关书籍一应俱全。该内核基于</a:t>
            </a:r>
            <a:r>
              <a:rPr sz="1600" spc="-5" dirty="0">
                <a:latin typeface="微软雅黑" panose="020B0503020204020204" charset="-122"/>
                <a:cs typeface="微软雅黑" panose="020B0503020204020204" charset="-122"/>
              </a:rPr>
              <a:t>RV32I</a:t>
            </a:r>
            <a:r>
              <a:rPr sz="1600" dirty="0">
                <a:latin typeface="微软雅黑" panose="020B0503020204020204" charset="-122"/>
                <a:cs typeface="微软雅黑" panose="020B0503020204020204" charset="-122"/>
              </a:rPr>
              <a:t>M</a:t>
            </a:r>
            <a:r>
              <a:rPr sz="1600" spc="-30" dirty="0">
                <a:latin typeface="微软雅黑" panose="020B0503020204020204" charset="-122"/>
                <a:cs typeface="微软雅黑" panose="020B0503020204020204" charset="-122"/>
              </a:rPr>
              <a:t>A</a:t>
            </a:r>
            <a:r>
              <a:rPr sz="1600" spc="-5" dirty="0">
                <a:latin typeface="微软雅黑" panose="020B0503020204020204" charset="-122"/>
                <a:cs typeface="微软雅黑" panose="020B0503020204020204" charset="-122"/>
              </a:rPr>
              <a:t>C架 </a:t>
            </a:r>
            <a:r>
              <a:rPr sz="1600" dirty="0">
                <a:latin typeface="微软雅黑" panose="020B0503020204020204" charset="-122"/>
                <a:cs typeface="微软雅黑" panose="020B0503020204020204" charset="-122"/>
              </a:rPr>
              <a:t>构设计，微架构为两级管线，单发射，指令和数据存储分离，支持机器模式，中断控制器接口，调试接口，指令扩展</a:t>
            </a:r>
            <a:r>
              <a:rPr sz="1600" spc="-5" dirty="0">
                <a:latin typeface="微软雅黑" panose="020B0503020204020204" charset="-122"/>
                <a:cs typeface="微软雅黑" panose="020B0503020204020204" charset="-122"/>
              </a:rPr>
              <a:t>机</a:t>
            </a:r>
            <a:endParaRPr sz="1600">
              <a:latin typeface="微软雅黑" panose="020B0503020204020204" charset="-122"/>
              <a:cs typeface="微软雅黑" panose="020B0503020204020204" charset="-122"/>
            </a:endParaRPr>
          </a:p>
        </p:txBody>
      </p:sp>
      <p:sp>
        <p:nvSpPr>
          <p:cNvPr id="5" name="object 5"/>
          <p:cNvSpPr txBox="1"/>
          <p:nvPr/>
        </p:nvSpPr>
        <p:spPr>
          <a:xfrm>
            <a:off x="749300" y="2012950"/>
            <a:ext cx="2032635" cy="268605"/>
          </a:xfrm>
          <a:prstGeom prst="rect">
            <a:avLst/>
          </a:prstGeom>
        </p:spPr>
        <p:txBody>
          <a:bodyPr vert="horz" wrap="square" lIns="0" tIns="12065" rIns="0" bIns="0" rtlCol="0">
            <a:spAutoFit/>
          </a:bodyPr>
          <a:lstStyle/>
          <a:p>
            <a:pPr marL="12700">
              <a:lnSpc>
                <a:spcPct val="100000"/>
              </a:lnSpc>
              <a:spcBef>
                <a:spcPts val="95"/>
              </a:spcBef>
            </a:pPr>
            <a:r>
              <a:rPr sz="1600" dirty="0">
                <a:latin typeface="微软雅黑" panose="020B0503020204020204" charset="-122"/>
                <a:cs typeface="微软雅黑" panose="020B0503020204020204" charset="-122"/>
              </a:rPr>
              <a:t>制，以及配套的</a:t>
            </a:r>
            <a:r>
              <a:rPr sz="1600" spc="-5" dirty="0">
                <a:latin typeface="微软雅黑" panose="020B0503020204020204" charset="-122"/>
                <a:cs typeface="微软雅黑" panose="020B0503020204020204" charset="-122"/>
              </a:rPr>
              <a:t>SoC。</a:t>
            </a:r>
            <a:endParaRPr sz="1600">
              <a:latin typeface="微软雅黑" panose="020B0503020204020204" charset="-122"/>
              <a:cs typeface="微软雅黑" panose="020B0503020204020204" charset="-122"/>
            </a:endParaRPr>
          </a:p>
        </p:txBody>
      </p:sp>
      <p:sp>
        <p:nvSpPr>
          <p:cNvPr id="6" name="object 6"/>
          <p:cNvSpPr/>
          <p:nvPr/>
        </p:nvSpPr>
        <p:spPr>
          <a:xfrm>
            <a:off x="5672454" y="3073857"/>
            <a:ext cx="5313045" cy="1159510"/>
          </a:xfrm>
          <a:custGeom>
            <a:avLst/>
            <a:gdLst/>
            <a:ahLst/>
            <a:cxnLst/>
            <a:rect l="l" t="t" r="r" b="b"/>
            <a:pathLst>
              <a:path w="5313045" h="1159510">
                <a:moveTo>
                  <a:pt x="5312473" y="1159090"/>
                </a:moveTo>
                <a:lnTo>
                  <a:pt x="0" y="1159090"/>
                </a:lnTo>
                <a:lnTo>
                  <a:pt x="0" y="0"/>
                </a:lnTo>
                <a:lnTo>
                  <a:pt x="5312473" y="0"/>
                </a:lnTo>
                <a:lnTo>
                  <a:pt x="5312473" y="19050"/>
                </a:lnTo>
                <a:lnTo>
                  <a:pt x="38100" y="19050"/>
                </a:lnTo>
                <a:lnTo>
                  <a:pt x="19050" y="38100"/>
                </a:lnTo>
                <a:lnTo>
                  <a:pt x="38100" y="38100"/>
                </a:lnTo>
                <a:lnTo>
                  <a:pt x="38100" y="1120990"/>
                </a:lnTo>
                <a:lnTo>
                  <a:pt x="19050" y="1120990"/>
                </a:lnTo>
                <a:lnTo>
                  <a:pt x="38100" y="1140040"/>
                </a:lnTo>
                <a:lnTo>
                  <a:pt x="5312473" y="1140040"/>
                </a:lnTo>
                <a:lnTo>
                  <a:pt x="5312473" y="1159090"/>
                </a:lnTo>
                <a:close/>
              </a:path>
              <a:path w="5313045" h="1159510">
                <a:moveTo>
                  <a:pt x="38100" y="38100"/>
                </a:moveTo>
                <a:lnTo>
                  <a:pt x="19050" y="38100"/>
                </a:lnTo>
                <a:lnTo>
                  <a:pt x="38100" y="19050"/>
                </a:lnTo>
                <a:lnTo>
                  <a:pt x="38100" y="38100"/>
                </a:lnTo>
                <a:close/>
              </a:path>
              <a:path w="5313045" h="1159510">
                <a:moveTo>
                  <a:pt x="5274373" y="38100"/>
                </a:moveTo>
                <a:lnTo>
                  <a:pt x="38100" y="38100"/>
                </a:lnTo>
                <a:lnTo>
                  <a:pt x="38100" y="19050"/>
                </a:lnTo>
                <a:lnTo>
                  <a:pt x="5274373" y="19050"/>
                </a:lnTo>
                <a:lnTo>
                  <a:pt x="5274373" y="38100"/>
                </a:lnTo>
                <a:close/>
              </a:path>
              <a:path w="5313045" h="1159510">
                <a:moveTo>
                  <a:pt x="5274373" y="1140040"/>
                </a:moveTo>
                <a:lnTo>
                  <a:pt x="5274373" y="19050"/>
                </a:lnTo>
                <a:lnTo>
                  <a:pt x="5293423" y="38100"/>
                </a:lnTo>
                <a:lnTo>
                  <a:pt x="5312473" y="38100"/>
                </a:lnTo>
                <a:lnTo>
                  <a:pt x="5312473" y="1120990"/>
                </a:lnTo>
                <a:lnTo>
                  <a:pt x="5293423" y="1120990"/>
                </a:lnTo>
                <a:lnTo>
                  <a:pt x="5274373" y="1140040"/>
                </a:lnTo>
                <a:close/>
              </a:path>
              <a:path w="5313045" h="1159510">
                <a:moveTo>
                  <a:pt x="5312473" y="38100"/>
                </a:moveTo>
                <a:lnTo>
                  <a:pt x="5293423" y="38100"/>
                </a:lnTo>
                <a:lnTo>
                  <a:pt x="5274373" y="19050"/>
                </a:lnTo>
                <a:lnTo>
                  <a:pt x="5312473" y="19050"/>
                </a:lnTo>
                <a:lnTo>
                  <a:pt x="5312473" y="38100"/>
                </a:lnTo>
                <a:close/>
              </a:path>
              <a:path w="5313045" h="1159510">
                <a:moveTo>
                  <a:pt x="38100" y="1140040"/>
                </a:moveTo>
                <a:lnTo>
                  <a:pt x="19050" y="1120990"/>
                </a:lnTo>
                <a:lnTo>
                  <a:pt x="38100" y="1120990"/>
                </a:lnTo>
                <a:lnTo>
                  <a:pt x="38100" y="1140040"/>
                </a:lnTo>
                <a:close/>
              </a:path>
              <a:path w="5313045" h="1159510">
                <a:moveTo>
                  <a:pt x="5274373" y="1140040"/>
                </a:moveTo>
                <a:lnTo>
                  <a:pt x="38100" y="1140040"/>
                </a:lnTo>
                <a:lnTo>
                  <a:pt x="38100" y="1120990"/>
                </a:lnTo>
                <a:lnTo>
                  <a:pt x="5274373" y="1120990"/>
                </a:lnTo>
                <a:lnTo>
                  <a:pt x="5274373" y="1140040"/>
                </a:lnTo>
                <a:close/>
              </a:path>
              <a:path w="5313045" h="1159510">
                <a:moveTo>
                  <a:pt x="5312473" y="1140040"/>
                </a:moveTo>
                <a:lnTo>
                  <a:pt x="5274373" y="1140040"/>
                </a:lnTo>
                <a:lnTo>
                  <a:pt x="5293423" y="1120990"/>
                </a:lnTo>
                <a:lnTo>
                  <a:pt x="5312473" y="1120990"/>
                </a:lnTo>
                <a:lnTo>
                  <a:pt x="5312473" y="1140040"/>
                </a:lnTo>
                <a:close/>
              </a:path>
            </a:pathLst>
          </a:custGeom>
          <a:solidFill>
            <a:srgbClr val="C00000"/>
          </a:solidFill>
        </p:spPr>
        <p:txBody>
          <a:bodyPr wrap="square" lIns="0" tIns="0" rIns="0" bIns="0" rtlCol="0"/>
          <a:lstStyle/>
          <a:p/>
        </p:txBody>
      </p:sp>
      <p:sp>
        <p:nvSpPr>
          <p:cNvPr id="7" name="object 7"/>
          <p:cNvSpPr/>
          <p:nvPr/>
        </p:nvSpPr>
        <p:spPr>
          <a:xfrm>
            <a:off x="7473695" y="3970020"/>
            <a:ext cx="716280" cy="243840"/>
          </a:xfrm>
          <a:custGeom>
            <a:avLst/>
            <a:gdLst/>
            <a:ahLst/>
            <a:cxnLst/>
            <a:rect l="l" t="t" r="r" b="b"/>
            <a:pathLst>
              <a:path w="716279" h="243839">
                <a:moveTo>
                  <a:pt x="0" y="0"/>
                </a:moveTo>
                <a:lnTo>
                  <a:pt x="716279" y="0"/>
                </a:lnTo>
                <a:lnTo>
                  <a:pt x="716279" y="243839"/>
                </a:lnTo>
                <a:lnTo>
                  <a:pt x="0" y="243839"/>
                </a:lnTo>
                <a:lnTo>
                  <a:pt x="0" y="0"/>
                </a:lnTo>
                <a:close/>
              </a:path>
            </a:pathLst>
          </a:custGeom>
          <a:solidFill>
            <a:srgbClr val="C00000"/>
          </a:solidFill>
        </p:spPr>
        <p:txBody>
          <a:bodyPr wrap="square" lIns="0" tIns="0" rIns="0" bIns="0" rtlCol="0"/>
          <a:lstStyle/>
          <a:p/>
        </p:txBody>
      </p:sp>
      <p:sp>
        <p:nvSpPr>
          <p:cNvPr id="8" name="object 8"/>
          <p:cNvSpPr/>
          <p:nvPr/>
        </p:nvSpPr>
        <p:spPr>
          <a:xfrm>
            <a:off x="8811768" y="3970020"/>
            <a:ext cx="739140" cy="243840"/>
          </a:xfrm>
          <a:custGeom>
            <a:avLst/>
            <a:gdLst/>
            <a:ahLst/>
            <a:cxnLst/>
            <a:rect l="l" t="t" r="r" b="b"/>
            <a:pathLst>
              <a:path w="739140" h="243839">
                <a:moveTo>
                  <a:pt x="0" y="0"/>
                </a:moveTo>
                <a:lnTo>
                  <a:pt x="739140" y="0"/>
                </a:lnTo>
                <a:lnTo>
                  <a:pt x="739140" y="243839"/>
                </a:lnTo>
                <a:lnTo>
                  <a:pt x="0" y="243839"/>
                </a:lnTo>
                <a:lnTo>
                  <a:pt x="0" y="0"/>
                </a:lnTo>
                <a:close/>
              </a:path>
            </a:pathLst>
          </a:custGeom>
          <a:solidFill>
            <a:srgbClr val="C00000"/>
          </a:solidFill>
        </p:spPr>
        <p:txBody>
          <a:bodyPr wrap="square" lIns="0" tIns="0" rIns="0" bIns="0" rtlCol="0"/>
          <a:lstStyle/>
          <a:p/>
        </p:txBody>
      </p:sp>
      <p:sp>
        <p:nvSpPr>
          <p:cNvPr id="9" name="object 9"/>
          <p:cNvSpPr txBox="1"/>
          <p:nvPr/>
        </p:nvSpPr>
        <p:spPr>
          <a:xfrm>
            <a:off x="7618768" y="3978643"/>
            <a:ext cx="1806575" cy="208279"/>
          </a:xfrm>
          <a:prstGeom prst="rect">
            <a:avLst/>
          </a:prstGeom>
        </p:spPr>
        <p:txBody>
          <a:bodyPr vert="horz" wrap="square" lIns="0" tIns="12700" rIns="0" bIns="0" rtlCol="0">
            <a:spAutoFit/>
          </a:bodyPr>
          <a:lstStyle/>
          <a:p>
            <a:pPr marL="12700">
              <a:lnSpc>
                <a:spcPct val="100000"/>
              </a:lnSpc>
              <a:spcBef>
                <a:spcPts val="100"/>
              </a:spcBef>
              <a:tabLst>
                <a:tab pos="1330325" algn="l"/>
              </a:tabLst>
            </a:pPr>
            <a:r>
              <a:rPr sz="1200" b="1" dirty="0">
                <a:solidFill>
                  <a:srgbClr val="FFFFFF"/>
                </a:solidFill>
                <a:latin typeface="微软雅黑" panose="020B0503020204020204" charset="-122"/>
                <a:cs typeface="微软雅黑" panose="020B0503020204020204" charset="-122"/>
              </a:rPr>
              <a:t>I</a:t>
            </a:r>
            <a:r>
              <a:rPr sz="1200" b="1" spc="-55" dirty="0">
                <a:solidFill>
                  <a:srgbClr val="FFFFFF"/>
                </a:solidFill>
                <a:latin typeface="微软雅黑" panose="020B0503020204020204" charset="-122"/>
                <a:cs typeface="微软雅黑" panose="020B0503020204020204" charset="-122"/>
              </a:rPr>
              <a:t>T</a:t>
            </a:r>
            <a:r>
              <a:rPr sz="1200" b="1" dirty="0">
                <a:solidFill>
                  <a:srgbClr val="FFFFFF"/>
                </a:solidFill>
                <a:latin typeface="微软雅黑" panose="020B0503020204020204" charset="-122"/>
                <a:cs typeface="微软雅黑" panose="020B0503020204020204" charset="-122"/>
              </a:rPr>
              <a:t>CM	</a:t>
            </a:r>
            <a:r>
              <a:rPr sz="1200" b="1" spc="-50" dirty="0">
                <a:solidFill>
                  <a:srgbClr val="FFFFFF"/>
                </a:solidFill>
                <a:latin typeface="微软雅黑" panose="020B0503020204020204" charset="-122"/>
                <a:cs typeface="微软雅黑" panose="020B0503020204020204" charset="-122"/>
              </a:rPr>
              <a:t>D</a:t>
            </a:r>
            <a:r>
              <a:rPr sz="1200" b="1" spc="-55" dirty="0">
                <a:solidFill>
                  <a:srgbClr val="FFFFFF"/>
                </a:solidFill>
                <a:latin typeface="微软雅黑" panose="020B0503020204020204" charset="-122"/>
                <a:cs typeface="微软雅黑" panose="020B0503020204020204" charset="-122"/>
              </a:rPr>
              <a:t>T</a:t>
            </a:r>
            <a:r>
              <a:rPr sz="1200" b="1" dirty="0">
                <a:solidFill>
                  <a:srgbClr val="FFFFFF"/>
                </a:solidFill>
                <a:latin typeface="微软雅黑" panose="020B0503020204020204" charset="-122"/>
                <a:cs typeface="微软雅黑" panose="020B0503020204020204" charset="-122"/>
              </a:rPr>
              <a:t>CM</a:t>
            </a:r>
            <a:endParaRPr sz="1200">
              <a:latin typeface="微软雅黑" panose="020B0503020204020204" charset="-122"/>
              <a:cs typeface="微软雅黑" panose="020B0503020204020204" charset="-122"/>
            </a:endParaRPr>
          </a:p>
        </p:txBody>
      </p:sp>
      <p:sp>
        <p:nvSpPr>
          <p:cNvPr id="10" name="object 10"/>
          <p:cNvSpPr/>
          <p:nvPr/>
        </p:nvSpPr>
        <p:spPr>
          <a:xfrm>
            <a:off x="6153911" y="5172455"/>
            <a:ext cx="902335" cy="227329"/>
          </a:xfrm>
          <a:custGeom>
            <a:avLst/>
            <a:gdLst/>
            <a:ahLst/>
            <a:cxnLst/>
            <a:rect l="l" t="t" r="r" b="b"/>
            <a:pathLst>
              <a:path w="902334" h="227329">
                <a:moveTo>
                  <a:pt x="0" y="0"/>
                </a:moveTo>
                <a:lnTo>
                  <a:pt x="902208" y="0"/>
                </a:lnTo>
                <a:lnTo>
                  <a:pt x="902208" y="227075"/>
                </a:lnTo>
                <a:lnTo>
                  <a:pt x="0" y="227075"/>
                </a:lnTo>
                <a:lnTo>
                  <a:pt x="0" y="0"/>
                </a:lnTo>
                <a:close/>
              </a:path>
            </a:pathLst>
          </a:custGeom>
          <a:solidFill>
            <a:srgbClr val="C00000"/>
          </a:solidFill>
        </p:spPr>
        <p:txBody>
          <a:bodyPr wrap="square" lIns="0" tIns="0" rIns="0" bIns="0" rtlCol="0"/>
          <a:lstStyle/>
          <a:p/>
        </p:txBody>
      </p:sp>
      <p:sp>
        <p:nvSpPr>
          <p:cNvPr id="11" name="object 11"/>
          <p:cNvSpPr/>
          <p:nvPr/>
        </p:nvSpPr>
        <p:spPr>
          <a:xfrm>
            <a:off x="5692140" y="4690871"/>
            <a:ext cx="1720850" cy="242570"/>
          </a:xfrm>
          <a:custGeom>
            <a:avLst/>
            <a:gdLst/>
            <a:ahLst/>
            <a:cxnLst/>
            <a:rect l="l" t="t" r="r" b="b"/>
            <a:pathLst>
              <a:path w="1720850" h="242570">
                <a:moveTo>
                  <a:pt x="0" y="0"/>
                </a:moveTo>
                <a:lnTo>
                  <a:pt x="1720595" y="0"/>
                </a:lnTo>
                <a:lnTo>
                  <a:pt x="1720595" y="242315"/>
                </a:lnTo>
                <a:lnTo>
                  <a:pt x="0" y="242315"/>
                </a:lnTo>
                <a:lnTo>
                  <a:pt x="0" y="0"/>
                </a:lnTo>
                <a:close/>
              </a:path>
            </a:pathLst>
          </a:custGeom>
          <a:solidFill>
            <a:srgbClr val="C00000"/>
          </a:solidFill>
        </p:spPr>
        <p:txBody>
          <a:bodyPr wrap="square" lIns="0" tIns="0" rIns="0" bIns="0" rtlCol="0"/>
          <a:lstStyle/>
          <a:p/>
        </p:txBody>
      </p:sp>
      <p:sp>
        <p:nvSpPr>
          <p:cNvPr id="12" name="object 12"/>
          <p:cNvSpPr txBox="1"/>
          <p:nvPr/>
        </p:nvSpPr>
        <p:spPr>
          <a:xfrm>
            <a:off x="6082029" y="4698860"/>
            <a:ext cx="939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微软雅黑" panose="020B0503020204020204" charset="-122"/>
                <a:cs typeface="微软雅黑" panose="020B0503020204020204" charset="-122"/>
              </a:rPr>
              <a:t>外部设备总线</a:t>
            </a:r>
            <a:endParaRPr sz="1200">
              <a:latin typeface="微软雅黑" panose="020B0503020204020204" charset="-122"/>
              <a:cs typeface="微软雅黑" panose="020B0503020204020204" charset="-122"/>
            </a:endParaRPr>
          </a:p>
        </p:txBody>
      </p:sp>
      <p:sp>
        <p:nvSpPr>
          <p:cNvPr id="13" name="object 13"/>
          <p:cNvSpPr txBox="1"/>
          <p:nvPr/>
        </p:nvSpPr>
        <p:spPr>
          <a:xfrm>
            <a:off x="9614916" y="4690871"/>
            <a:ext cx="1350645" cy="242570"/>
          </a:xfrm>
          <a:prstGeom prst="rect">
            <a:avLst/>
          </a:prstGeom>
          <a:solidFill>
            <a:srgbClr val="C00000"/>
          </a:solidFill>
        </p:spPr>
        <p:txBody>
          <a:bodyPr vert="horz" wrap="square" lIns="0" tIns="20320" rIns="0" bIns="0" rtlCol="0">
            <a:spAutoFit/>
          </a:bodyPr>
          <a:lstStyle/>
          <a:p>
            <a:pPr marL="282575">
              <a:lnSpc>
                <a:spcPct val="100000"/>
              </a:lnSpc>
              <a:spcBef>
                <a:spcPts val="160"/>
              </a:spcBef>
            </a:pPr>
            <a:r>
              <a:rPr sz="1200" b="1" dirty="0">
                <a:solidFill>
                  <a:srgbClr val="FFFFFF"/>
                </a:solidFill>
                <a:latin typeface="微软雅黑" panose="020B0503020204020204" charset="-122"/>
                <a:cs typeface="微软雅黑" panose="020B0503020204020204" charset="-122"/>
              </a:rPr>
              <a:t>快速</a:t>
            </a:r>
            <a:r>
              <a:rPr sz="1200" b="1" spc="-5" dirty="0">
                <a:solidFill>
                  <a:srgbClr val="FFFFFF"/>
                </a:solidFill>
                <a:latin typeface="微软雅黑" panose="020B0503020204020204" charset="-122"/>
                <a:cs typeface="微软雅黑" panose="020B0503020204020204" charset="-122"/>
              </a:rPr>
              <a:t>IO</a:t>
            </a:r>
            <a:r>
              <a:rPr sz="1200" b="1" dirty="0">
                <a:solidFill>
                  <a:srgbClr val="FFFFFF"/>
                </a:solidFill>
                <a:latin typeface="微软雅黑" panose="020B0503020204020204" charset="-122"/>
                <a:cs typeface="微软雅黑" panose="020B0503020204020204" charset="-122"/>
              </a:rPr>
              <a:t>模块</a:t>
            </a:r>
            <a:endParaRPr sz="1200">
              <a:latin typeface="微软雅黑" panose="020B0503020204020204" charset="-122"/>
              <a:cs typeface="微软雅黑" panose="020B0503020204020204" charset="-122"/>
            </a:endParaRPr>
          </a:p>
        </p:txBody>
      </p:sp>
      <p:sp>
        <p:nvSpPr>
          <p:cNvPr id="14" name="object 14"/>
          <p:cNvSpPr/>
          <p:nvPr/>
        </p:nvSpPr>
        <p:spPr>
          <a:xfrm>
            <a:off x="6153911" y="5492496"/>
            <a:ext cx="902335" cy="227329"/>
          </a:xfrm>
          <a:custGeom>
            <a:avLst/>
            <a:gdLst/>
            <a:ahLst/>
            <a:cxnLst/>
            <a:rect l="l" t="t" r="r" b="b"/>
            <a:pathLst>
              <a:path w="902334" h="227329">
                <a:moveTo>
                  <a:pt x="0" y="0"/>
                </a:moveTo>
                <a:lnTo>
                  <a:pt x="902208" y="0"/>
                </a:lnTo>
                <a:lnTo>
                  <a:pt x="902208" y="227075"/>
                </a:lnTo>
                <a:lnTo>
                  <a:pt x="0" y="227075"/>
                </a:lnTo>
                <a:lnTo>
                  <a:pt x="0" y="0"/>
                </a:lnTo>
                <a:close/>
              </a:path>
            </a:pathLst>
          </a:custGeom>
          <a:solidFill>
            <a:srgbClr val="C00000"/>
          </a:solidFill>
        </p:spPr>
        <p:txBody>
          <a:bodyPr wrap="square" lIns="0" tIns="0" rIns="0" bIns="0" rtlCol="0"/>
          <a:lstStyle/>
          <a:p/>
        </p:txBody>
      </p:sp>
      <p:sp>
        <p:nvSpPr>
          <p:cNvPr id="15" name="object 15"/>
          <p:cNvSpPr/>
          <p:nvPr/>
        </p:nvSpPr>
        <p:spPr>
          <a:xfrm>
            <a:off x="6153911" y="6035040"/>
            <a:ext cx="902335" cy="227329"/>
          </a:xfrm>
          <a:custGeom>
            <a:avLst/>
            <a:gdLst/>
            <a:ahLst/>
            <a:cxnLst/>
            <a:rect l="l" t="t" r="r" b="b"/>
            <a:pathLst>
              <a:path w="902334" h="227329">
                <a:moveTo>
                  <a:pt x="0" y="0"/>
                </a:moveTo>
                <a:lnTo>
                  <a:pt x="902208" y="0"/>
                </a:lnTo>
                <a:lnTo>
                  <a:pt x="902208" y="227075"/>
                </a:lnTo>
                <a:lnTo>
                  <a:pt x="0" y="227075"/>
                </a:lnTo>
                <a:lnTo>
                  <a:pt x="0" y="0"/>
                </a:lnTo>
                <a:close/>
              </a:path>
            </a:pathLst>
          </a:custGeom>
          <a:solidFill>
            <a:srgbClr val="C00000"/>
          </a:solidFill>
        </p:spPr>
        <p:txBody>
          <a:bodyPr wrap="square" lIns="0" tIns="0" rIns="0" bIns="0" rtlCol="0"/>
          <a:lstStyle/>
          <a:p/>
        </p:txBody>
      </p:sp>
      <p:sp>
        <p:nvSpPr>
          <p:cNvPr id="16" name="object 16"/>
          <p:cNvSpPr txBox="1"/>
          <p:nvPr/>
        </p:nvSpPr>
        <p:spPr>
          <a:xfrm>
            <a:off x="6392862" y="5172189"/>
            <a:ext cx="424180" cy="1071245"/>
          </a:xfrm>
          <a:prstGeom prst="rect">
            <a:avLst/>
          </a:prstGeom>
        </p:spPr>
        <p:txBody>
          <a:bodyPr vert="horz" wrap="square" lIns="0" tIns="12700" rIns="0" bIns="0" rtlCol="0">
            <a:spAutoFit/>
          </a:bodyPr>
          <a:lstStyle/>
          <a:p>
            <a:pPr algn="ctr">
              <a:lnSpc>
                <a:spcPct val="100000"/>
              </a:lnSpc>
              <a:spcBef>
                <a:spcPts val="100"/>
              </a:spcBef>
            </a:pPr>
            <a:r>
              <a:rPr sz="1200" dirty="0">
                <a:solidFill>
                  <a:srgbClr val="FFFFFF"/>
                </a:solidFill>
                <a:latin typeface="微软雅黑" panose="020B0503020204020204" charset="-122"/>
                <a:cs typeface="微软雅黑" panose="020B0503020204020204" charset="-122"/>
              </a:rPr>
              <a:t>外设1</a:t>
            </a:r>
            <a:endParaRPr sz="1200">
              <a:latin typeface="微软雅黑" panose="020B0503020204020204" charset="-122"/>
              <a:cs typeface="微软雅黑" panose="020B0503020204020204" charset="-122"/>
            </a:endParaRPr>
          </a:p>
          <a:p>
            <a:pPr algn="ctr">
              <a:lnSpc>
                <a:spcPct val="100000"/>
              </a:lnSpc>
              <a:spcBef>
                <a:spcPts val="1085"/>
              </a:spcBef>
            </a:pPr>
            <a:r>
              <a:rPr sz="1200" dirty="0">
                <a:solidFill>
                  <a:srgbClr val="FFFFFF"/>
                </a:solidFill>
                <a:latin typeface="微软雅黑" panose="020B0503020204020204" charset="-122"/>
                <a:cs typeface="微软雅黑" panose="020B0503020204020204" charset="-122"/>
              </a:rPr>
              <a:t>外设2</a:t>
            </a:r>
            <a:endParaRPr sz="1200">
              <a:latin typeface="微软雅黑" panose="020B0503020204020204" charset="-122"/>
              <a:cs typeface="微软雅黑" panose="020B0503020204020204" charset="-122"/>
            </a:endParaRPr>
          </a:p>
          <a:p>
            <a:pPr algn="ctr">
              <a:lnSpc>
                <a:spcPct val="100000"/>
              </a:lnSpc>
              <a:spcBef>
                <a:spcPts val="205"/>
              </a:spcBef>
            </a:pPr>
            <a:r>
              <a:rPr sz="1400" spc="-5" dirty="0">
                <a:solidFill>
                  <a:srgbClr val="C00000"/>
                </a:solidFill>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algn="ctr">
              <a:lnSpc>
                <a:spcPct val="100000"/>
              </a:lnSpc>
              <a:spcBef>
                <a:spcPts val="945"/>
              </a:spcBef>
            </a:pPr>
            <a:r>
              <a:rPr sz="1200" dirty="0">
                <a:solidFill>
                  <a:srgbClr val="FFFFFF"/>
                </a:solidFill>
                <a:latin typeface="微软雅黑" panose="020B0503020204020204" charset="-122"/>
                <a:cs typeface="微软雅黑" panose="020B0503020204020204" charset="-122"/>
              </a:rPr>
              <a:t>外设n</a:t>
            </a:r>
            <a:endParaRPr sz="1200">
              <a:latin typeface="微软雅黑" panose="020B0503020204020204" charset="-122"/>
              <a:cs typeface="微软雅黑" panose="020B0503020204020204" charset="-122"/>
            </a:endParaRPr>
          </a:p>
        </p:txBody>
      </p:sp>
      <p:sp>
        <p:nvSpPr>
          <p:cNvPr id="17" name="object 17"/>
          <p:cNvSpPr/>
          <p:nvPr/>
        </p:nvSpPr>
        <p:spPr>
          <a:xfrm>
            <a:off x="5911005" y="4933010"/>
            <a:ext cx="0" cy="1214120"/>
          </a:xfrm>
          <a:custGeom>
            <a:avLst/>
            <a:gdLst/>
            <a:ahLst/>
            <a:cxnLst/>
            <a:rect l="l" t="t" r="r" b="b"/>
            <a:pathLst>
              <a:path h="1214120">
                <a:moveTo>
                  <a:pt x="0" y="0"/>
                </a:moveTo>
                <a:lnTo>
                  <a:pt x="0" y="1213764"/>
                </a:lnTo>
              </a:path>
            </a:pathLst>
          </a:custGeom>
          <a:ln w="11645">
            <a:solidFill>
              <a:srgbClr val="C00000"/>
            </a:solidFill>
          </a:ln>
        </p:spPr>
        <p:txBody>
          <a:bodyPr wrap="square" lIns="0" tIns="0" rIns="0" bIns="0" rtlCol="0"/>
          <a:lstStyle/>
          <a:p/>
        </p:txBody>
      </p:sp>
      <p:graphicFrame>
        <p:nvGraphicFramePr>
          <p:cNvPr id="18" name="object 18"/>
          <p:cNvGraphicFramePr>
            <a:graphicFrameLocks noGrp="1"/>
          </p:cNvGraphicFramePr>
          <p:nvPr/>
        </p:nvGraphicFramePr>
        <p:xfrm>
          <a:off x="7549895" y="4690871"/>
          <a:ext cx="1941194" cy="1373505"/>
        </p:xfrm>
        <a:graphic>
          <a:graphicData uri="http://schemas.openxmlformats.org/drawingml/2006/table">
            <a:tbl>
              <a:tblPr firstRow="1" bandRow="1">
                <a:tableStyleId>{2D5ABB26-0587-4C30-8999-92F81FD0307C}</a:tableStyleId>
              </a:tblPr>
              <a:tblGrid>
                <a:gridCol w="629920"/>
                <a:gridCol w="982980"/>
                <a:gridCol w="328294"/>
              </a:tblGrid>
              <a:tr h="242315">
                <a:tc gridSpan="3">
                  <a:txBody>
                    <a:bodyPr/>
                    <a:lstStyle/>
                    <a:p>
                      <a:pPr algn="ctr">
                        <a:lnSpc>
                          <a:spcPct val="100000"/>
                        </a:lnSpc>
                        <a:spcBef>
                          <a:spcPts val="160"/>
                        </a:spcBef>
                      </a:pPr>
                      <a:r>
                        <a:rPr sz="1200" b="1" dirty="0">
                          <a:solidFill>
                            <a:srgbClr val="FFFFFF"/>
                          </a:solidFill>
                          <a:latin typeface="微软雅黑" panose="020B0503020204020204" charset="-122"/>
                          <a:cs typeface="微软雅黑" panose="020B0503020204020204" charset="-122"/>
                        </a:rPr>
                        <a:t>系统总线</a:t>
                      </a:r>
                      <a:endParaRPr sz="1200">
                        <a:latin typeface="微软雅黑" panose="020B0503020204020204" charset="-122"/>
                        <a:cs typeface="微软雅黑" panose="020B0503020204020204" charset="-122"/>
                      </a:endParaRPr>
                    </a:p>
                  </a:txBody>
                  <a:tcPr marL="0" marR="0" marT="20320" marB="0">
                    <a:solidFill>
                      <a:srgbClr val="C00000"/>
                    </a:solidFill>
                  </a:tcPr>
                </a:tc>
                <a:tc hMerge="1">
                  <a:tcPr marL="0" marR="0" marT="0" marB="0"/>
                </a:tc>
                <a:tc hMerge="1">
                  <a:tcPr marL="0" marR="0" marT="0" marB="0"/>
                </a:tc>
              </a:tr>
              <a:tr h="208787">
                <a:tc rowSpan="6">
                  <a:txBody>
                    <a:bodyPr/>
                    <a:lstStyle/>
                    <a:p>
                      <a:pPr>
                        <a:lnSpc>
                          <a:spcPct val="100000"/>
                        </a:lnSpc>
                      </a:pPr>
                      <a:endParaRPr sz="1400">
                        <a:latin typeface="Times New Roman" panose="02020603050405020304"/>
                        <a:cs typeface="Times New Roman" panose="02020603050405020304"/>
                      </a:endParaRPr>
                    </a:p>
                  </a:txBody>
                  <a:tcPr marL="0" marR="0" marT="0" marB="0"/>
                </a:tc>
                <a:tc gridSpan="2">
                  <a:txBody>
                    <a:bodyPr/>
                    <a:lstStyle/>
                    <a:p>
                      <a:pPr>
                        <a:lnSpc>
                          <a:spcPct val="100000"/>
                        </a:lnSpc>
                      </a:pPr>
                      <a:endParaRPr sz="1200">
                        <a:latin typeface="Times New Roman" panose="02020603050405020304"/>
                        <a:cs typeface="Times New Roman" panose="02020603050405020304"/>
                      </a:endParaRPr>
                    </a:p>
                  </a:txBody>
                  <a:tcPr marL="0" marR="0" marT="0" marB="0"/>
                </a:tc>
                <a:tc hMerge="1">
                  <a:tcPr marL="0" marR="0" marT="0" marB="0"/>
                </a:tc>
              </a:tr>
              <a:tr h="225551">
                <a:tc vMerge="1">
                  <a:tcPr marL="0" marR="0" marT="0" marB="0"/>
                </a:tc>
                <a:tc>
                  <a:txBody>
                    <a:bodyPr/>
                    <a:lstStyle/>
                    <a:p>
                      <a:pPr algn="ctr">
                        <a:lnSpc>
                          <a:spcPct val="100000"/>
                        </a:lnSpc>
                        <a:spcBef>
                          <a:spcPts val="95"/>
                        </a:spcBef>
                      </a:pPr>
                      <a:r>
                        <a:rPr sz="1200" dirty="0">
                          <a:solidFill>
                            <a:srgbClr val="FFFFFF"/>
                          </a:solidFill>
                          <a:latin typeface="微软雅黑" panose="020B0503020204020204" charset="-122"/>
                          <a:cs typeface="微软雅黑" panose="020B0503020204020204" charset="-122"/>
                        </a:rPr>
                        <a:t>SRAM</a:t>
                      </a:r>
                      <a:endParaRPr sz="1200">
                        <a:latin typeface="微软雅黑" panose="020B0503020204020204" charset="-122"/>
                        <a:cs typeface="微软雅黑" panose="020B0503020204020204" charset="-122"/>
                      </a:endParaRPr>
                    </a:p>
                  </a:txBody>
                  <a:tcPr marL="0" marR="0" marT="12065" marB="0">
                    <a:solidFill>
                      <a:srgbClr val="C00000"/>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tc>
              </a:tr>
              <a:tr h="126492">
                <a:tc vMerge="1">
                  <a:tcPr marL="0" marR="0" marT="0" marB="0"/>
                </a:tc>
                <a:tc gridSpan="2">
                  <a:txBody>
                    <a:bodyPr/>
                    <a:lstStyle/>
                    <a:p>
                      <a:pPr>
                        <a:lnSpc>
                          <a:spcPct val="100000"/>
                        </a:lnSpc>
                      </a:pPr>
                      <a:endParaRPr sz="600">
                        <a:latin typeface="Times New Roman" panose="02020603050405020304"/>
                        <a:cs typeface="Times New Roman" panose="02020603050405020304"/>
                      </a:endParaRPr>
                    </a:p>
                  </a:txBody>
                  <a:tcPr marL="0" marR="0" marT="0" marB="0"/>
                </a:tc>
                <a:tc hMerge="1">
                  <a:tcPr marL="0" marR="0" marT="0" marB="0"/>
                </a:tc>
              </a:tr>
              <a:tr h="225551">
                <a:tc vMerge="1">
                  <a:tcPr marL="0" marR="0" marT="0" marB="0"/>
                </a:tc>
                <a:tc>
                  <a:txBody>
                    <a:bodyPr/>
                    <a:lstStyle/>
                    <a:p>
                      <a:pPr algn="ctr">
                        <a:lnSpc>
                          <a:spcPct val="100000"/>
                        </a:lnSpc>
                        <a:spcBef>
                          <a:spcPts val="95"/>
                        </a:spcBef>
                      </a:pPr>
                      <a:r>
                        <a:rPr sz="1200" spc="5" dirty="0">
                          <a:solidFill>
                            <a:srgbClr val="FFFFFF"/>
                          </a:solidFill>
                          <a:latin typeface="微软雅黑" panose="020B0503020204020204" charset="-122"/>
                          <a:cs typeface="微软雅黑" panose="020B0503020204020204" charset="-122"/>
                        </a:rPr>
                        <a:t>FLASH</a:t>
                      </a:r>
                      <a:endParaRPr sz="1200">
                        <a:latin typeface="微软雅黑" panose="020B0503020204020204" charset="-122"/>
                        <a:cs typeface="微软雅黑" panose="020B0503020204020204" charset="-122"/>
                      </a:endParaRPr>
                    </a:p>
                  </a:txBody>
                  <a:tcPr marL="0" marR="0" marT="12065" marB="0">
                    <a:solidFill>
                      <a:srgbClr val="C00000"/>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tc>
              </a:tr>
              <a:tr h="117348">
                <a:tc vMerge="1">
                  <a:tcPr marL="0" marR="0" marT="0" marB="0"/>
                </a:tc>
                <a:tc gridSpan="2">
                  <a:txBody>
                    <a:bodyPr/>
                    <a:lstStyle/>
                    <a:p>
                      <a:pPr>
                        <a:lnSpc>
                          <a:spcPct val="100000"/>
                        </a:lnSpc>
                      </a:pPr>
                      <a:endParaRPr sz="600">
                        <a:latin typeface="Times New Roman" panose="02020603050405020304"/>
                        <a:cs typeface="Times New Roman" panose="02020603050405020304"/>
                      </a:endParaRPr>
                    </a:p>
                  </a:txBody>
                  <a:tcPr marL="0" marR="0" marT="0" marB="0"/>
                </a:tc>
                <a:tc hMerge="1">
                  <a:tcPr marL="0" marR="0" marT="0" marB="0"/>
                </a:tc>
              </a:tr>
              <a:tr h="227075">
                <a:tc vMerge="1">
                  <a:tcPr marL="0" marR="0" marT="0" marB="0"/>
                </a:tc>
                <a:tc>
                  <a:txBody>
                    <a:bodyPr/>
                    <a:lstStyle/>
                    <a:p>
                      <a:pPr algn="ctr">
                        <a:lnSpc>
                          <a:spcPct val="100000"/>
                        </a:lnSpc>
                        <a:spcBef>
                          <a:spcPts val="105"/>
                        </a:spcBef>
                      </a:pPr>
                      <a:r>
                        <a:rPr sz="1200" dirty="0">
                          <a:solidFill>
                            <a:srgbClr val="FFFFFF"/>
                          </a:solidFill>
                          <a:latin typeface="微软雅黑" panose="020B0503020204020204" charset="-122"/>
                          <a:cs typeface="微软雅黑" panose="020B0503020204020204" charset="-122"/>
                        </a:rPr>
                        <a:t>外部存储</a:t>
                      </a:r>
                      <a:endParaRPr sz="1200">
                        <a:latin typeface="微软雅黑" panose="020B0503020204020204" charset="-122"/>
                        <a:cs typeface="微软雅黑" panose="020B0503020204020204" charset="-122"/>
                      </a:endParaRPr>
                    </a:p>
                  </a:txBody>
                  <a:tcPr marL="0" marR="0" marT="13335" marB="0">
                    <a:solidFill>
                      <a:srgbClr val="C00000"/>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tc>
              </a:tr>
            </a:tbl>
          </a:graphicData>
        </a:graphic>
      </p:graphicFrame>
      <p:sp>
        <p:nvSpPr>
          <p:cNvPr id="19" name="object 19"/>
          <p:cNvSpPr/>
          <p:nvPr/>
        </p:nvSpPr>
        <p:spPr>
          <a:xfrm>
            <a:off x="5908967" y="5246941"/>
            <a:ext cx="245135" cy="76200"/>
          </a:xfrm>
          <a:prstGeom prst="rect">
            <a:avLst/>
          </a:prstGeom>
          <a:blipFill>
            <a:blip r:embed="rId1" cstate="print"/>
            <a:stretch>
              <a:fillRect/>
            </a:stretch>
          </a:blipFill>
        </p:spPr>
        <p:txBody>
          <a:bodyPr wrap="square" lIns="0" tIns="0" rIns="0" bIns="0" rtlCol="0"/>
          <a:lstStyle/>
          <a:p/>
        </p:txBody>
      </p:sp>
      <p:sp>
        <p:nvSpPr>
          <p:cNvPr id="20" name="object 20"/>
          <p:cNvSpPr/>
          <p:nvPr/>
        </p:nvSpPr>
        <p:spPr>
          <a:xfrm>
            <a:off x="5903188" y="5569496"/>
            <a:ext cx="250329" cy="76187"/>
          </a:xfrm>
          <a:prstGeom prst="rect">
            <a:avLst/>
          </a:prstGeom>
          <a:blipFill>
            <a:blip r:embed="rId2" cstate="print"/>
            <a:stretch>
              <a:fillRect/>
            </a:stretch>
          </a:blipFill>
        </p:spPr>
        <p:txBody>
          <a:bodyPr wrap="square" lIns="0" tIns="0" rIns="0" bIns="0" rtlCol="0"/>
          <a:lstStyle/>
          <a:p/>
        </p:txBody>
      </p:sp>
      <p:sp>
        <p:nvSpPr>
          <p:cNvPr id="21" name="object 21"/>
          <p:cNvSpPr/>
          <p:nvPr/>
        </p:nvSpPr>
        <p:spPr>
          <a:xfrm>
            <a:off x="5903214" y="6110782"/>
            <a:ext cx="250304" cy="76200"/>
          </a:xfrm>
          <a:prstGeom prst="rect">
            <a:avLst/>
          </a:prstGeom>
          <a:blipFill>
            <a:blip r:embed="rId3" cstate="print"/>
            <a:stretch>
              <a:fillRect/>
            </a:stretch>
          </a:blipFill>
        </p:spPr>
        <p:txBody>
          <a:bodyPr wrap="square" lIns="0" tIns="0" rIns="0" bIns="0" rtlCol="0"/>
          <a:lstStyle/>
          <a:p/>
        </p:txBody>
      </p:sp>
      <p:sp>
        <p:nvSpPr>
          <p:cNvPr id="22" name="object 22"/>
          <p:cNvSpPr/>
          <p:nvPr/>
        </p:nvSpPr>
        <p:spPr>
          <a:xfrm>
            <a:off x="7928495" y="5216575"/>
            <a:ext cx="251459" cy="76200"/>
          </a:xfrm>
          <a:prstGeom prst="rect">
            <a:avLst/>
          </a:prstGeom>
          <a:blipFill>
            <a:blip r:embed="rId4" cstate="print"/>
            <a:stretch>
              <a:fillRect/>
            </a:stretch>
          </a:blipFill>
        </p:spPr>
        <p:txBody>
          <a:bodyPr wrap="square" lIns="0" tIns="0" rIns="0" bIns="0" rtlCol="0"/>
          <a:lstStyle/>
          <a:p/>
        </p:txBody>
      </p:sp>
      <p:sp>
        <p:nvSpPr>
          <p:cNvPr id="23" name="object 23"/>
          <p:cNvSpPr/>
          <p:nvPr/>
        </p:nvSpPr>
        <p:spPr>
          <a:xfrm>
            <a:off x="7939430" y="5565812"/>
            <a:ext cx="241096" cy="76200"/>
          </a:xfrm>
          <a:prstGeom prst="rect">
            <a:avLst/>
          </a:prstGeom>
          <a:blipFill>
            <a:blip r:embed="rId5" cstate="print"/>
            <a:stretch>
              <a:fillRect/>
            </a:stretch>
          </a:blipFill>
        </p:spPr>
        <p:txBody>
          <a:bodyPr wrap="square" lIns="0" tIns="0" rIns="0" bIns="0" rtlCol="0"/>
          <a:lstStyle/>
          <a:p/>
        </p:txBody>
      </p:sp>
      <p:sp>
        <p:nvSpPr>
          <p:cNvPr id="24" name="object 24"/>
          <p:cNvSpPr/>
          <p:nvPr/>
        </p:nvSpPr>
        <p:spPr>
          <a:xfrm>
            <a:off x="7925587" y="5910148"/>
            <a:ext cx="260985" cy="76200"/>
          </a:xfrm>
          <a:custGeom>
            <a:avLst/>
            <a:gdLst/>
            <a:ahLst/>
            <a:cxnLst/>
            <a:rect l="l" t="t" r="r" b="b"/>
            <a:pathLst>
              <a:path w="260984" h="76200">
                <a:moveTo>
                  <a:pt x="254525" y="42176"/>
                </a:moveTo>
                <a:lnTo>
                  <a:pt x="203504" y="42176"/>
                </a:lnTo>
                <a:lnTo>
                  <a:pt x="203606" y="34556"/>
                </a:lnTo>
                <a:lnTo>
                  <a:pt x="184561" y="34279"/>
                </a:lnTo>
                <a:lnTo>
                  <a:pt x="185064" y="0"/>
                </a:lnTo>
                <a:lnTo>
                  <a:pt x="260692" y="39204"/>
                </a:lnTo>
                <a:lnTo>
                  <a:pt x="254525" y="42176"/>
                </a:lnTo>
                <a:close/>
              </a:path>
              <a:path w="260984" h="76200">
                <a:moveTo>
                  <a:pt x="184449" y="41899"/>
                </a:moveTo>
                <a:lnTo>
                  <a:pt x="0" y="39217"/>
                </a:lnTo>
                <a:lnTo>
                  <a:pt x="114" y="31597"/>
                </a:lnTo>
                <a:lnTo>
                  <a:pt x="184561" y="34279"/>
                </a:lnTo>
                <a:lnTo>
                  <a:pt x="184449" y="41899"/>
                </a:lnTo>
                <a:close/>
              </a:path>
              <a:path w="260984" h="76200">
                <a:moveTo>
                  <a:pt x="203504" y="42176"/>
                </a:moveTo>
                <a:lnTo>
                  <a:pt x="184449" y="41899"/>
                </a:lnTo>
                <a:lnTo>
                  <a:pt x="184561" y="34279"/>
                </a:lnTo>
                <a:lnTo>
                  <a:pt x="203606" y="34556"/>
                </a:lnTo>
                <a:lnTo>
                  <a:pt x="203504" y="42176"/>
                </a:lnTo>
                <a:close/>
              </a:path>
              <a:path w="260984" h="76200">
                <a:moveTo>
                  <a:pt x="183946" y="76187"/>
                </a:moveTo>
                <a:lnTo>
                  <a:pt x="184449" y="41899"/>
                </a:lnTo>
                <a:lnTo>
                  <a:pt x="203504" y="42176"/>
                </a:lnTo>
                <a:lnTo>
                  <a:pt x="254525" y="42176"/>
                </a:lnTo>
                <a:lnTo>
                  <a:pt x="183946" y="76187"/>
                </a:lnTo>
                <a:close/>
              </a:path>
            </a:pathLst>
          </a:custGeom>
          <a:solidFill>
            <a:srgbClr val="C00000"/>
          </a:solidFill>
        </p:spPr>
        <p:txBody>
          <a:bodyPr wrap="square" lIns="0" tIns="0" rIns="0" bIns="0" rtlCol="0"/>
          <a:lstStyle/>
          <a:p/>
        </p:txBody>
      </p:sp>
      <p:sp>
        <p:nvSpPr>
          <p:cNvPr id="25" name="object 25"/>
          <p:cNvSpPr/>
          <p:nvPr/>
        </p:nvSpPr>
        <p:spPr>
          <a:xfrm>
            <a:off x="7793761" y="4213898"/>
            <a:ext cx="76200" cy="479425"/>
          </a:xfrm>
          <a:custGeom>
            <a:avLst/>
            <a:gdLst/>
            <a:ahLst/>
            <a:cxnLst/>
            <a:rect l="l" t="t" r="r" b="b"/>
            <a:pathLst>
              <a:path w="76200" h="479425">
                <a:moveTo>
                  <a:pt x="34289" y="76200"/>
                </a:moveTo>
                <a:lnTo>
                  <a:pt x="0" y="76200"/>
                </a:lnTo>
                <a:lnTo>
                  <a:pt x="38100" y="0"/>
                </a:lnTo>
                <a:lnTo>
                  <a:pt x="66675" y="57150"/>
                </a:lnTo>
                <a:lnTo>
                  <a:pt x="34289" y="57150"/>
                </a:lnTo>
                <a:lnTo>
                  <a:pt x="34289" y="76200"/>
                </a:lnTo>
                <a:close/>
              </a:path>
              <a:path w="76200" h="479425">
                <a:moveTo>
                  <a:pt x="41909" y="479425"/>
                </a:moveTo>
                <a:lnTo>
                  <a:pt x="34289" y="479425"/>
                </a:lnTo>
                <a:lnTo>
                  <a:pt x="34289" y="57150"/>
                </a:lnTo>
                <a:lnTo>
                  <a:pt x="41909" y="57150"/>
                </a:lnTo>
                <a:lnTo>
                  <a:pt x="41909" y="479425"/>
                </a:lnTo>
                <a:close/>
              </a:path>
              <a:path w="76200" h="479425">
                <a:moveTo>
                  <a:pt x="76200" y="76200"/>
                </a:moveTo>
                <a:lnTo>
                  <a:pt x="41909" y="76200"/>
                </a:lnTo>
                <a:lnTo>
                  <a:pt x="41909" y="57150"/>
                </a:lnTo>
                <a:lnTo>
                  <a:pt x="66675" y="57150"/>
                </a:lnTo>
                <a:lnTo>
                  <a:pt x="76200" y="76200"/>
                </a:lnTo>
                <a:close/>
              </a:path>
            </a:pathLst>
          </a:custGeom>
          <a:solidFill>
            <a:srgbClr val="C00000"/>
          </a:solidFill>
        </p:spPr>
        <p:txBody>
          <a:bodyPr wrap="square" lIns="0" tIns="0" rIns="0" bIns="0" rtlCol="0"/>
          <a:lstStyle/>
          <a:p/>
        </p:txBody>
      </p:sp>
      <p:sp>
        <p:nvSpPr>
          <p:cNvPr id="26" name="object 26"/>
          <p:cNvSpPr/>
          <p:nvPr/>
        </p:nvSpPr>
        <p:spPr>
          <a:xfrm>
            <a:off x="8482469" y="4210646"/>
            <a:ext cx="76200" cy="479425"/>
          </a:xfrm>
          <a:custGeom>
            <a:avLst/>
            <a:gdLst/>
            <a:ahLst/>
            <a:cxnLst/>
            <a:rect l="l" t="t" r="r" b="b"/>
            <a:pathLst>
              <a:path w="76200" h="479425">
                <a:moveTo>
                  <a:pt x="41910" y="422262"/>
                </a:moveTo>
                <a:lnTo>
                  <a:pt x="34290" y="422262"/>
                </a:lnTo>
                <a:lnTo>
                  <a:pt x="34290" y="0"/>
                </a:lnTo>
                <a:lnTo>
                  <a:pt x="41910" y="0"/>
                </a:lnTo>
                <a:lnTo>
                  <a:pt x="41910" y="422262"/>
                </a:lnTo>
                <a:close/>
              </a:path>
              <a:path w="76200" h="479425">
                <a:moveTo>
                  <a:pt x="38100" y="479412"/>
                </a:moveTo>
                <a:lnTo>
                  <a:pt x="0" y="403212"/>
                </a:lnTo>
                <a:lnTo>
                  <a:pt x="34290" y="403212"/>
                </a:lnTo>
                <a:lnTo>
                  <a:pt x="34290" y="422262"/>
                </a:lnTo>
                <a:lnTo>
                  <a:pt x="66675" y="422262"/>
                </a:lnTo>
                <a:lnTo>
                  <a:pt x="38100" y="479412"/>
                </a:lnTo>
                <a:close/>
              </a:path>
              <a:path w="76200" h="479425">
                <a:moveTo>
                  <a:pt x="66675" y="422262"/>
                </a:moveTo>
                <a:lnTo>
                  <a:pt x="41910" y="422262"/>
                </a:lnTo>
                <a:lnTo>
                  <a:pt x="41910" y="403212"/>
                </a:lnTo>
                <a:lnTo>
                  <a:pt x="76200" y="403212"/>
                </a:lnTo>
                <a:lnTo>
                  <a:pt x="66675" y="422262"/>
                </a:lnTo>
                <a:close/>
              </a:path>
            </a:pathLst>
          </a:custGeom>
          <a:solidFill>
            <a:srgbClr val="C00000"/>
          </a:solidFill>
        </p:spPr>
        <p:txBody>
          <a:bodyPr wrap="square" lIns="0" tIns="0" rIns="0" bIns="0" rtlCol="0"/>
          <a:lstStyle/>
          <a:p/>
        </p:txBody>
      </p:sp>
      <p:sp>
        <p:nvSpPr>
          <p:cNvPr id="27" name="object 27"/>
          <p:cNvSpPr/>
          <p:nvPr/>
        </p:nvSpPr>
        <p:spPr>
          <a:xfrm>
            <a:off x="9113075" y="4213898"/>
            <a:ext cx="76200" cy="479425"/>
          </a:xfrm>
          <a:custGeom>
            <a:avLst/>
            <a:gdLst/>
            <a:ahLst/>
            <a:cxnLst/>
            <a:rect l="l" t="t" r="r" b="b"/>
            <a:pathLst>
              <a:path w="76200" h="479425">
                <a:moveTo>
                  <a:pt x="34289" y="76200"/>
                </a:moveTo>
                <a:lnTo>
                  <a:pt x="0" y="76200"/>
                </a:lnTo>
                <a:lnTo>
                  <a:pt x="38100" y="0"/>
                </a:lnTo>
                <a:lnTo>
                  <a:pt x="66675" y="57150"/>
                </a:lnTo>
                <a:lnTo>
                  <a:pt x="34289" y="57150"/>
                </a:lnTo>
                <a:lnTo>
                  <a:pt x="34289" y="76200"/>
                </a:lnTo>
                <a:close/>
              </a:path>
              <a:path w="76200" h="479425">
                <a:moveTo>
                  <a:pt x="41909" y="479425"/>
                </a:moveTo>
                <a:lnTo>
                  <a:pt x="34289" y="479425"/>
                </a:lnTo>
                <a:lnTo>
                  <a:pt x="34289" y="57150"/>
                </a:lnTo>
                <a:lnTo>
                  <a:pt x="41909" y="57150"/>
                </a:lnTo>
                <a:lnTo>
                  <a:pt x="41909" y="479425"/>
                </a:lnTo>
                <a:close/>
              </a:path>
              <a:path w="76200" h="479425">
                <a:moveTo>
                  <a:pt x="76200" y="76200"/>
                </a:moveTo>
                <a:lnTo>
                  <a:pt x="41909" y="76200"/>
                </a:lnTo>
                <a:lnTo>
                  <a:pt x="41909" y="57150"/>
                </a:lnTo>
                <a:lnTo>
                  <a:pt x="66675" y="57150"/>
                </a:lnTo>
                <a:lnTo>
                  <a:pt x="76200" y="76200"/>
                </a:lnTo>
                <a:close/>
              </a:path>
            </a:pathLst>
          </a:custGeom>
          <a:solidFill>
            <a:srgbClr val="C00000"/>
          </a:solidFill>
        </p:spPr>
        <p:txBody>
          <a:bodyPr wrap="square" lIns="0" tIns="0" rIns="0" bIns="0" rtlCol="0"/>
          <a:lstStyle/>
          <a:p/>
        </p:txBody>
      </p:sp>
      <p:sp>
        <p:nvSpPr>
          <p:cNvPr id="28" name="object 28"/>
          <p:cNvSpPr/>
          <p:nvPr/>
        </p:nvSpPr>
        <p:spPr>
          <a:xfrm>
            <a:off x="10207421" y="4213898"/>
            <a:ext cx="76200" cy="479425"/>
          </a:xfrm>
          <a:custGeom>
            <a:avLst/>
            <a:gdLst/>
            <a:ahLst/>
            <a:cxnLst/>
            <a:rect l="l" t="t" r="r" b="b"/>
            <a:pathLst>
              <a:path w="76200" h="479425">
                <a:moveTo>
                  <a:pt x="41909" y="422275"/>
                </a:moveTo>
                <a:lnTo>
                  <a:pt x="34289" y="422275"/>
                </a:lnTo>
                <a:lnTo>
                  <a:pt x="34289" y="0"/>
                </a:lnTo>
                <a:lnTo>
                  <a:pt x="41909" y="0"/>
                </a:lnTo>
                <a:lnTo>
                  <a:pt x="41909" y="422275"/>
                </a:lnTo>
                <a:close/>
              </a:path>
              <a:path w="76200" h="479425">
                <a:moveTo>
                  <a:pt x="38100" y="479425"/>
                </a:moveTo>
                <a:lnTo>
                  <a:pt x="0" y="403225"/>
                </a:lnTo>
                <a:lnTo>
                  <a:pt x="34289" y="403225"/>
                </a:lnTo>
                <a:lnTo>
                  <a:pt x="34289" y="422275"/>
                </a:lnTo>
                <a:lnTo>
                  <a:pt x="66675" y="422275"/>
                </a:lnTo>
                <a:lnTo>
                  <a:pt x="38100" y="479425"/>
                </a:lnTo>
                <a:close/>
              </a:path>
              <a:path w="76200" h="479425">
                <a:moveTo>
                  <a:pt x="66675" y="422275"/>
                </a:moveTo>
                <a:lnTo>
                  <a:pt x="41909" y="422275"/>
                </a:lnTo>
                <a:lnTo>
                  <a:pt x="41909" y="403225"/>
                </a:lnTo>
                <a:lnTo>
                  <a:pt x="76200" y="403225"/>
                </a:lnTo>
                <a:lnTo>
                  <a:pt x="66675" y="422275"/>
                </a:lnTo>
                <a:close/>
              </a:path>
            </a:pathLst>
          </a:custGeom>
          <a:solidFill>
            <a:srgbClr val="C00000"/>
          </a:solidFill>
        </p:spPr>
        <p:txBody>
          <a:bodyPr wrap="square" lIns="0" tIns="0" rIns="0" bIns="0" rtlCol="0"/>
          <a:lstStyle/>
          <a:p/>
        </p:txBody>
      </p:sp>
      <p:sp>
        <p:nvSpPr>
          <p:cNvPr id="29" name="object 29"/>
          <p:cNvSpPr/>
          <p:nvPr/>
        </p:nvSpPr>
        <p:spPr>
          <a:xfrm>
            <a:off x="6567081" y="4213898"/>
            <a:ext cx="76200" cy="479425"/>
          </a:xfrm>
          <a:custGeom>
            <a:avLst/>
            <a:gdLst/>
            <a:ahLst/>
            <a:cxnLst/>
            <a:rect l="l" t="t" r="r" b="b"/>
            <a:pathLst>
              <a:path w="76200" h="479425">
                <a:moveTo>
                  <a:pt x="41910" y="422275"/>
                </a:moveTo>
                <a:lnTo>
                  <a:pt x="34290" y="422275"/>
                </a:lnTo>
                <a:lnTo>
                  <a:pt x="34290" y="0"/>
                </a:lnTo>
                <a:lnTo>
                  <a:pt x="41910" y="0"/>
                </a:lnTo>
                <a:lnTo>
                  <a:pt x="41910" y="422275"/>
                </a:lnTo>
                <a:close/>
              </a:path>
              <a:path w="76200" h="479425">
                <a:moveTo>
                  <a:pt x="38100" y="479425"/>
                </a:moveTo>
                <a:lnTo>
                  <a:pt x="0" y="403225"/>
                </a:lnTo>
                <a:lnTo>
                  <a:pt x="34290" y="403225"/>
                </a:lnTo>
                <a:lnTo>
                  <a:pt x="34290" y="422275"/>
                </a:lnTo>
                <a:lnTo>
                  <a:pt x="66675" y="422275"/>
                </a:lnTo>
                <a:lnTo>
                  <a:pt x="38100" y="479425"/>
                </a:lnTo>
                <a:close/>
              </a:path>
              <a:path w="76200" h="479425">
                <a:moveTo>
                  <a:pt x="66675" y="422275"/>
                </a:moveTo>
                <a:lnTo>
                  <a:pt x="41910" y="422275"/>
                </a:lnTo>
                <a:lnTo>
                  <a:pt x="41910" y="403225"/>
                </a:lnTo>
                <a:lnTo>
                  <a:pt x="76200" y="403225"/>
                </a:lnTo>
                <a:lnTo>
                  <a:pt x="66675" y="422275"/>
                </a:lnTo>
                <a:close/>
              </a:path>
            </a:pathLst>
          </a:custGeom>
          <a:solidFill>
            <a:srgbClr val="C00000"/>
          </a:solidFill>
        </p:spPr>
        <p:txBody>
          <a:bodyPr wrap="square" lIns="0" tIns="0" rIns="0" bIns="0" rtlCol="0"/>
          <a:lstStyle/>
          <a:p/>
        </p:txBody>
      </p:sp>
      <p:sp>
        <p:nvSpPr>
          <p:cNvPr id="30" name="object 30"/>
          <p:cNvSpPr txBox="1"/>
          <p:nvPr/>
        </p:nvSpPr>
        <p:spPr>
          <a:xfrm>
            <a:off x="6033731" y="4278490"/>
            <a:ext cx="405765" cy="329565"/>
          </a:xfrm>
          <a:prstGeom prst="rect">
            <a:avLst/>
          </a:prstGeom>
        </p:spPr>
        <p:txBody>
          <a:bodyPr vert="horz" wrap="square" lIns="0" tIns="12065" rIns="0" bIns="0" rtlCol="0">
            <a:spAutoFit/>
          </a:bodyPr>
          <a:lstStyle/>
          <a:p>
            <a:pPr marL="12700" marR="5080">
              <a:lnSpc>
                <a:spcPct val="100000"/>
              </a:lnSpc>
              <a:spcBef>
                <a:spcPts val="95"/>
              </a:spcBef>
            </a:pPr>
            <a:r>
              <a:rPr sz="1000" b="1" dirty="0">
                <a:solidFill>
                  <a:srgbClr val="C00000"/>
                </a:solidFill>
                <a:latin typeface="微软雅黑" panose="020B0503020204020204" charset="-122"/>
                <a:cs typeface="微软雅黑" panose="020B0503020204020204" charset="-122"/>
              </a:rPr>
              <a:t>私有</a:t>
            </a:r>
            <a:r>
              <a:rPr sz="1000" b="1" spc="-5" dirty="0">
                <a:solidFill>
                  <a:srgbClr val="C00000"/>
                </a:solidFill>
                <a:latin typeface="微软雅黑" panose="020B0503020204020204" charset="-122"/>
                <a:cs typeface="微软雅黑" panose="020B0503020204020204" charset="-122"/>
              </a:rPr>
              <a:t>外 </a:t>
            </a:r>
            <a:r>
              <a:rPr sz="1000" b="1" dirty="0">
                <a:solidFill>
                  <a:srgbClr val="C00000"/>
                </a:solidFill>
                <a:latin typeface="微软雅黑" panose="020B0503020204020204" charset="-122"/>
                <a:cs typeface="微软雅黑" panose="020B0503020204020204" charset="-122"/>
              </a:rPr>
              <a:t>设接</a:t>
            </a:r>
            <a:r>
              <a:rPr sz="1000" b="1" spc="-5" dirty="0">
                <a:solidFill>
                  <a:srgbClr val="C00000"/>
                </a:solidFill>
                <a:latin typeface="微软雅黑" panose="020B0503020204020204" charset="-122"/>
                <a:cs typeface="微软雅黑" panose="020B0503020204020204" charset="-122"/>
              </a:rPr>
              <a:t>口</a:t>
            </a:r>
            <a:endParaRPr sz="1000">
              <a:latin typeface="微软雅黑" panose="020B0503020204020204" charset="-122"/>
              <a:cs typeface="微软雅黑" panose="020B0503020204020204" charset="-122"/>
            </a:endParaRPr>
          </a:p>
        </p:txBody>
      </p:sp>
      <p:sp>
        <p:nvSpPr>
          <p:cNvPr id="31" name="object 31"/>
          <p:cNvSpPr txBox="1"/>
          <p:nvPr/>
        </p:nvSpPr>
        <p:spPr>
          <a:xfrm>
            <a:off x="8283409" y="3846258"/>
            <a:ext cx="405765" cy="329565"/>
          </a:xfrm>
          <a:prstGeom prst="rect">
            <a:avLst/>
          </a:prstGeom>
        </p:spPr>
        <p:txBody>
          <a:bodyPr vert="horz" wrap="square" lIns="0" tIns="12065" rIns="0" bIns="0" rtlCol="0">
            <a:spAutoFit/>
          </a:bodyPr>
          <a:lstStyle/>
          <a:p>
            <a:pPr marL="12700" marR="5080">
              <a:lnSpc>
                <a:spcPct val="100000"/>
              </a:lnSpc>
              <a:spcBef>
                <a:spcPts val="95"/>
              </a:spcBef>
            </a:pPr>
            <a:r>
              <a:rPr sz="1000" b="1" dirty="0">
                <a:solidFill>
                  <a:srgbClr val="C00000"/>
                </a:solidFill>
                <a:latin typeface="微软雅黑" panose="020B0503020204020204" charset="-122"/>
                <a:cs typeface="微软雅黑" panose="020B0503020204020204" charset="-122"/>
              </a:rPr>
              <a:t>系统</a:t>
            </a:r>
            <a:r>
              <a:rPr sz="1000" b="1" spc="-5" dirty="0">
                <a:solidFill>
                  <a:srgbClr val="C00000"/>
                </a:solidFill>
                <a:latin typeface="微软雅黑" panose="020B0503020204020204" charset="-122"/>
                <a:cs typeface="微软雅黑" panose="020B0503020204020204" charset="-122"/>
              </a:rPr>
              <a:t>总 </a:t>
            </a:r>
            <a:r>
              <a:rPr sz="1000" b="1" dirty="0">
                <a:solidFill>
                  <a:srgbClr val="C00000"/>
                </a:solidFill>
                <a:latin typeface="微软雅黑" panose="020B0503020204020204" charset="-122"/>
                <a:cs typeface="微软雅黑" panose="020B0503020204020204" charset="-122"/>
              </a:rPr>
              <a:t>线接</a:t>
            </a:r>
            <a:r>
              <a:rPr sz="1000" b="1" spc="-5" dirty="0">
                <a:solidFill>
                  <a:srgbClr val="C00000"/>
                </a:solidFill>
                <a:latin typeface="微软雅黑" panose="020B0503020204020204" charset="-122"/>
                <a:cs typeface="微软雅黑" panose="020B0503020204020204" charset="-122"/>
              </a:rPr>
              <a:t>口</a:t>
            </a:r>
            <a:endParaRPr sz="1000">
              <a:latin typeface="微软雅黑" panose="020B0503020204020204" charset="-122"/>
              <a:cs typeface="微软雅黑" panose="020B0503020204020204" charset="-122"/>
            </a:endParaRPr>
          </a:p>
        </p:txBody>
      </p:sp>
      <p:sp>
        <p:nvSpPr>
          <p:cNvPr id="32" name="object 32"/>
          <p:cNvSpPr txBox="1"/>
          <p:nvPr/>
        </p:nvSpPr>
        <p:spPr>
          <a:xfrm>
            <a:off x="7261656" y="4277956"/>
            <a:ext cx="490220" cy="329565"/>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C00000"/>
                </a:solidFill>
                <a:latin typeface="微软雅黑" panose="020B0503020204020204" charset="-122"/>
                <a:cs typeface="微软雅黑" panose="020B0503020204020204" charset="-122"/>
              </a:rPr>
              <a:t>IT</a:t>
            </a:r>
            <a:r>
              <a:rPr sz="1000" b="1" dirty="0">
                <a:solidFill>
                  <a:srgbClr val="C00000"/>
                </a:solidFill>
                <a:latin typeface="微软雅黑" panose="020B0503020204020204" charset="-122"/>
                <a:cs typeface="微软雅黑" panose="020B0503020204020204" charset="-122"/>
              </a:rPr>
              <a:t>CM</a:t>
            </a:r>
            <a:r>
              <a:rPr sz="1000" b="1" spc="-5" dirty="0">
                <a:solidFill>
                  <a:srgbClr val="C00000"/>
                </a:solidFill>
                <a:latin typeface="微软雅黑" panose="020B0503020204020204" charset="-122"/>
                <a:cs typeface="微软雅黑" panose="020B0503020204020204" charset="-122"/>
              </a:rPr>
              <a:t>外</a:t>
            </a:r>
            <a:endParaRPr sz="1000">
              <a:latin typeface="微软雅黑" panose="020B0503020204020204" charset="-122"/>
              <a:cs typeface="微软雅黑" panose="020B0503020204020204" charset="-122"/>
            </a:endParaRPr>
          </a:p>
          <a:p>
            <a:pPr marL="53975">
              <a:lnSpc>
                <a:spcPct val="100000"/>
              </a:lnSpc>
            </a:pPr>
            <a:r>
              <a:rPr sz="1000" b="1" dirty="0">
                <a:solidFill>
                  <a:srgbClr val="C00000"/>
                </a:solidFill>
                <a:latin typeface="微软雅黑" panose="020B0503020204020204" charset="-122"/>
                <a:cs typeface="微软雅黑" panose="020B0503020204020204" charset="-122"/>
              </a:rPr>
              <a:t>部接</a:t>
            </a:r>
            <a:r>
              <a:rPr sz="1000" b="1" spc="-5" dirty="0">
                <a:solidFill>
                  <a:srgbClr val="C00000"/>
                </a:solidFill>
                <a:latin typeface="微软雅黑" panose="020B0503020204020204" charset="-122"/>
                <a:cs typeface="微软雅黑" panose="020B0503020204020204" charset="-122"/>
              </a:rPr>
              <a:t>口</a:t>
            </a:r>
            <a:endParaRPr sz="1000">
              <a:latin typeface="微软雅黑" panose="020B0503020204020204" charset="-122"/>
              <a:cs typeface="微软雅黑" panose="020B0503020204020204" charset="-122"/>
            </a:endParaRPr>
          </a:p>
        </p:txBody>
      </p:sp>
      <p:sp>
        <p:nvSpPr>
          <p:cNvPr id="33" name="object 33"/>
          <p:cNvSpPr txBox="1"/>
          <p:nvPr/>
        </p:nvSpPr>
        <p:spPr>
          <a:xfrm>
            <a:off x="9288970" y="4202290"/>
            <a:ext cx="421005" cy="481965"/>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C00000"/>
                </a:solidFill>
                <a:latin typeface="微软雅黑" panose="020B0503020204020204" charset="-122"/>
                <a:cs typeface="微软雅黑" panose="020B0503020204020204" charset="-122"/>
              </a:rPr>
              <a:t>DT</a:t>
            </a:r>
            <a:r>
              <a:rPr sz="1000" b="1" dirty="0">
                <a:solidFill>
                  <a:srgbClr val="C00000"/>
                </a:solidFill>
                <a:latin typeface="微软雅黑" panose="020B0503020204020204" charset="-122"/>
                <a:cs typeface="微软雅黑" panose="020B0503020204020204" charset="-122"/>
              </a:rPr>
              <a:t>C</a:t>
            </a:r>
            <a:r>
              <a:rPr sz="1000" b="1" spc="-10" dirty="0">
                <a:solidFill>
                  <a:srgbClr val="C00000"/>
                </a:solidFill>
                <a:latin typeface="微软雅黑" panose="020B0503020204020204" charset="-122"/>
                <a:cs typeface="微软雅黑" panose="020B0503020204020204" charset="-122"/>
              </a:rPr>
              <a:t>M</a:t>
            </a:r>
            <a:endParaRPr sz="1000">
              <a:latin typeface="微软雅黑" panose="020B0503020204020204" charset="-122"/>
              <a:cs typeface="微软雅黑" panose="020B0503020204020204" charset="-122"/>
            </a:endParaRPr>
          </a:p>
          <a:p>
            <a:pPr marL="20320" marR="12065" indent="127000">
              <a:lnSpc>
                <a:spcPct val="100000"/>
              </a:lnSpc>
            </a:pPr>
            <a:r>
              <a:rPr sz="1000" b="1" spc="-5" dirty="0">
                <a:solidFill>
                  <a:srgbClr val="C00000"/>
                </a:solidFill>
                <a:latin typeface="微软雅黑" panose="020B0503020204020204" charset="-122"/>
                <a:cs typeface="微软雅黑" panose="020B0503020204020204" charset="-122"/>
              </a:rPr>
              <a:t>外 </a:t>
            </a:r>
            <a:r>
              <a:rPr sz="1000" b="1" dirty="0">
                <a:solidFill>
                  <a:srgbClr val="C00000"/>
                </a:solidFill>
                <a:latin typeface="微软雅黑" panose="020B0503020204020204" charset="-122"/>
                <a:cs typeface="微软雅黑" panose="020B0503020204020204" charset="-122"/>
              </a:rPr>
              <a:t>部接</a:t>
            </a:r>
            <a:r>
              <a:rPr sz="1000" b="1" spc="-5" dirty="0">
                <a:solidFill>
                  <a:srgbClr val="C00000"/>
                </a:solidFill>
                <a:latin typeface="微软雅黑" panose="020B0503020204020204" charset="-122"/>
                <a:cs typeface="微软雅黑" panose="020B0503020204020204" charset="-122"/>
              </a:rPr>
              <a:t>口</a:t>
            </a:r>
            <a:endParaRPr sz="1000">
              <a:latin typeface="微软雅黑" panose="020B0503020204020204" charset="-122"/>
              <a:cs typeface="微软雅黑" panose="020B0503020204020204" charset="-122"/>
            </a:endParaRPr>
          </a:p>
        </p:txBody>
      </p:sp>
      <p:sp>
        <p:nvSpPr>
          <p:cNvPr id="34" name="object 34"/>
          <p:cNvSpPr txBox="1"/>
          <p:nvPr/>
        </p:nvSpPr>
        <p:spPr>
          <a:xfrm>
            <a:off x="10357281" y="4281208"/>
            <a:ext cx="425450" cy="329565"/>
          </a:xfrm>
          <a:prstGeom prst="rect">
            <a:avLst/>
          </a:prstGeom>
        </p:spPr>
        <p:txBody>
          <a:bodyPr vert="horz" wrap="square" lIns="0" tIns="12065" rIns="0" bIns="0" rtlCol="0">
            <a:spAutoFit/>
          </a:bodyPr>
          <a:lstStyle/>
          <a:p>
            <a:pPr marL="85725" marR="5080" indent="-73025">
              <a:lnSpc>
                <a:spcPct val="100000"/>
              </a:lnSpc>
              <a:spcBef>
                <a:spcPts val="95"/>
              </a:spcBef>
            </a:pPr>
            <a:r>
              <a:rPr sz="1000" b="1" dirty="0">
                <a:solidFill>
                  <a:srgbClr val="C00000"/>
                </a:solidFill>
                <a:latin typeface="微软雅黑" panose="020B0503020204020204" charset="-122"/>
                <a:cs typeface="微软雅黑" panose="020B0503020204020204" charset="-122"/>
              </a:rPr>
              <a:t>快速</a:t>
            </a:r>
            <a:r>
              <a:rPr sz="1000" b="1" spc="-5" dirty="0">
                <a:solidFill>
                  <a:srgbClr val="C00000"/>
                </a:solidFill>
                <a:latin typeface="微软雅黑" panose="020B0503020204020204" charset="-122"/>
                <a:cs typeface="微软雅黑" panose="020B0503020204020204" charset="-122"/>
              </a:rPr>
              <a:t>IO </a:t>
            </a:r>
            <a:r>
              <a:rPr sz="1000" b="1" dirty="0">
                <a:solidFill>
                  <a:srgbClr val="C00000"/>
                </a:solidFill>
                <a:latin typeface="微软雅黑" panose="020B0503020204020204" charset="-122"/>
                <a:cs typeface="微软雅黑" panose="020B0503020204020204" charset="-122"/>
              </a:rPr>
              <a:t>接</a:t>
            </a:r>
            <a:r>
              <a:rPr sz="1000" b="1" spc="-5" dirty="0">
                <a:solidFill>
                  <a:srgbClr val="C00000"/>
                </a:solidFill>
                <a:latin typeface="微软雅黑" panose="020B0503020204020204" charset="-122"/>
                <a:cs typeface="微软雅黑" panose="020B0503020204020204" charset="-122"/>
              </a:rPr>
              <a:t>口</a:t>
            </a:r>
            <a:endParaRPr sz="1000">
              <a:latin typeface="微软雅黑" panose="020B0503020204020204" charset="-122"/>
              <a:cs typeface="微软雅黑" panose="020B0503020204020204" charset="-122"/>
            </a:endParaRPr>
          </a:p>
        </p:txBody>
      </p:sp>
      <p:sp>
        <p:nvSpPr>
          <p:cNvPr id="35" name="object 35"/>
          <p:cNvSpPr txBox="1"/>
          <p:nvPr/>
        </p:nvSpPr>
        <p:spPr>
          <a:xfrm>
            <a:off x="7118984" y="3087001"/>
            <a:ext cx="2419985" cy="714375"/>
          </a:xfrm>
          <a:prstGeom prst="rect">
            <a:avLst/>
          </a:prstGeom>
        </p:spPr>
        <p:txBody>
          <a:bodyPr vert="horz" wrap="square" lIns="0" tIns="12065" rIns="0" bIns="0" rtlCol="0">
            <a:spAutoFit/>
          </a:bodyPr>
          <a:lstStyle/>
          <a:p>
            <a:pPr marL="1163955" marR="994410" algn="ctr">
              <a:lnSpc>
                <a:spcPct val="100000"/>
              </a:lnSpc>
              <a:spcBef>
                <a:spcPts val="95"/>
              </a:spcBef>
            </a:pPr>
            <a:r>
              <a:rPr sz="1000" b="1" dirty="0">
                <a:solidFill>
                  <a:srgbClr val="C00000"/>
                </a:solidFill>
                <a:latin typeface="微软雅黑" panose="020B0503020204020204" charset="-122"/>
                <a:cs typeface="微软雅黑" panose="020B0503020204020204" charset="-122"/>
              </a:rPr>
              <a:t>中</a:t>
            </a:r>
            <a:r>
              <a:rPr sz="1000" b="1" spc="-5" dirty="0">
                <a:solidFill>
                  <a:srgbClr val="C00000"/>
                </a:solidFill>
                <a:latin typeface="微软雅黑" panose="020B0503020204020204" charset="-122"/>
                <a:cs typeface="微软雅黑" panose="020B0503020204020204" charset="-122"/>
              </a:rPr>
              <a:t>断 </a:t>
            </a:r>
            <a:r>
              <a:rPr sz="1000" b="1" dirty="0">
                <a:solidFill>
                  <a:srgbClr val="C00000"/>
                </a:solidFill>
                <a:latin typeface="微软雅黑" panose="020B0503020204020204" charset="-122"/>
                <a:cs typeface="微软雅黑" panose="020B0503020204020204" charset="-122"/>
              </a:rPr>
              <a:t>接</a:t>
            </a:r>
            <a:r>
              <a:rPr sz="1000" b="1" spc="-5" dirty="0">
                <a:solidFill>
                  <a:srgbClr val="C00000"/>
                </a:solidFill>
                <a:latin typeface="微软雅黑" panose="020B0503020204020204" charset="-122"/>
                <a:cs typeface="微软雅黑" panose="020B0503020204020204" charset="-122"/>
              </a:rPr>
              <a:t>口</a:t>
            </a:r>
            <a:endParaRPr sz="1000">
              <a:latin typeface="微软雅黑" panose="020B0503020204020204" charset="-122"/>
              <a:cs typeface="微软雅黑" panose="020B0503020204020204" charset="-122"/>
            </a:endParaRPr>
          </a:p>
          <a:p>
            <a:pPr marL="12700">
              <a:lnSpc>
                <a:spcPct val="100000"/>
              </a:lnSpc>
              <a:spcBef>
                <a:spcPts val="625"/>
              </a:spcBef>
            </a:pPr>
            <a:r>
              <a:rPr sz="2000" b="1" spc="-5" dirty="0">
                <a:solidFill>
                  <a:srgbClr val="C00000"/>
                </a:solidFill>
                <a:latin typeface="微软雅黑" panose="020B0503020204020204" charset="-122"/>
                <a:cs typeface="微软雅黑" panose="020B0503020204020204" charset="-122"/>
              </a:rPr>
              <a:t>蜂鸟E203处理器内</a:t>
            </a:r>
            <a:r>
              <a:rPr sz="2000" b="1" spc="5" dirty="0">
                <a:solidFill>
                  <a:srgbClr val="C00000"/>
                </a:solidFill>
                <a:latin typeface="微软雅黑" panose="020B0503020204020204" charset="-122"/>
                <a:cs typeface="微软雅黑" panose="020B0503020204020204" charset="-122"/>
              </a:rPr>
              <a:t>核</a:t>
            </a:r>
            <a:endParaRPr sz="2000">
              <a:latin typeface="微软雅黑" panose="020B0503020204020204" charset="-122"/>
              <a:cs typeface="微软雅黑" panose="020B0503020204020204" charset="-122"/>
            </a:endParaRPr>
          </a:p>
        </p:txBody>
      </p:sp>
      <p:sp>
        <p:nvSpPr>
          <p:cNvPr id="36" name="object 36"/>
          <p:cNvSpPr txBox="1"/>
          <p:nvPr/>
        </p:nvSpPr>
        <p:spPr>
          <a:xfrm>
            <a:off x="10151135" y="3087001"/>
            <a:ext cx="278765" cy="329565"/>
          </a:xfrm>
          <a:prstGeom prst="rect">
            <a:avLst/>
          </a:prstGeom>
        </p:spPr>
        <p:txBody>
          <a:bodyPr vert="horz" wrap="square" lIns="0" tIns="12065" rIns="0" bIns="0" rtlCol="0">
            <a:spAutoFit/>
          </a:bodyPr>
          <a:lstStyle/>
          <a:p>
            <a:pPr marL="12700" marR="5080">
              <a:lnSpc>
                <a:spcPct val="100000"/>
              </a:lnSpc>
              <a:spcBef>
                <a:spcPts val="95"/>
              </a:spcBef>
            </a:pPr>
            <a:r>
              <a:rPr sz="1000" b="1" dirty="0">
                <a:solidFill>
                  <a:srgbClr val="C00000"/>
                </a:solidFill>
                <a:latin typeface="微软雅黑" panose="020B0503020204020204" charset="-122"/>
                <a:cs typeface="微软雅黑" panose="020B0503020204020204" charset="-122"/>
              </a:rPr>
              <a:t>调</a:t>
            </a:r>
            <a:r>
              <a:rPr sz="1000" b="1" spc="-5" dirty="0">
                <a:solidFill>
                  <a:srgbClr val="C00000"/>
                </a:solidFill>
                <a:latin typeface="微软雅黑" panose="020B0503020204020204" charset="-122"/>
                <a:cs typeface="微软雅黑" panose="020B0503020204020204" charset="-122"/>
              </a:rPr>
              <a:t>试 </a:t>
            </a:r>
            <a:r>
              <a:rPr sz="1000" b="1" dirty="0">
                <a:solidFill>
                  <a:srgbClr val="C00000"/>
                </a:solidFill>
                <a:latin typeface="微软雅黑" panose="020B0503020204020204" charset="-122"/>
                <a:cs typeface="微软雅黑" panose="020B0503020204020204" charset="-122"/>
              </a:rPr>
              <a:t>接</a:t>
            </a:r>
            <a:r>
              <a:rPr sz="1000" b="1" spc="-5" dirty="0">
                <a:solidFill>
                  <a:srgbClr val="C00000"/>
                </a:solidFill>
                <a:latin typeface="微软雅黑" panose="020B0503020204020204" charset="-122"/>
                <a:cs typeface="微软雅黑" panose="020B0503020204020204" charset="-122"/>
              </a:rPr>
              <a:t>口</a:t>
            </a:r>
            <a:endParaRPr sz="1000">
              <a:latin typeface="微软雅黑" panose="020B0503020204020204" charset="-122"/>
              <a:cs typeface="微软雅黑" panose="020B0503020204020204" charset="-122"/>
            </a:endParaRPr>
          </a:p>
        </p:txBody>
      </p:sp>
      <p:sp>
        <p:nvSpPr>
          <p:cNvPr id="37" name="object 37"/>
          <p:cNvSpPr txBox="1"/>
          <p:nvPr/>
        </p:nvSpPr>
        <p:spPr>
          <a:xfrm>
            <a:off x="5692140" y="2479548"/>
            <a:ext cx="1719580" cy="247015"/>
          </a:xfrm>
          <a:prstGeom prst="rect">
            <a:avLst/>
          </a:prstGeom>
          <a:solidFill>
            <a:srgbClr val="C00000"/>
          </a:solidFill>
        </p:spPr>
        <p:txBody>
          <a:bodyPr vert="horz" wrap="square" lIns="0" tIns="22860" rIns="0" bIns="0" rtlCol="0">
            <a:spAutoFit/>
          </a:bodyPr>
          <a:lstStyle/>
          <a:p>
            <a:pPr marL="401955">
              <a:lnSpc>
                <a:spcPct val="100000"/>
              </a:lnSpc>
              <a:spcBef>
                <a:spcPts val="180"/>
              </a:spcBef>
            </a:pPr>
            <a:r>
              <a:rPr sz="1200" b="1" dirty="0">
                <a:solidFill>
                  <a:srgbClr val="FFFFFF"/>
                </a:solidFill>
                <a:latin typeface="微软雅黑" panose="020B0503020204020204" charset="-122"/>
                <a:cs typeface="微软雅黑" panose="020B0503020204020204" charset="-122"/>
              </a:rPr>
              <a:t>扩展加速指令</a:t>
            </a:r>
            <a:endParaRPr sz="1200">
              <a:latin typeface="微软雅黑" panose="020B0503020204020204" charset="-122"/>
              <a:cs typeface="微软雅黑" panose="020B0503020204020204" charset="-122"/>
            </a:endParaRPr>
          </a:p>
        </p:txBody>
      </p:sp>
      <p:sp>
        <p:nvSpPr>
          <p:cNvPr id="38" name="object 38"/>
          <p:cNvSpPr/>
          <p:nvPr/>
        </p:nvSpPr>
        <p:spPr>
          <a:xfrm>
            <a:off x="6513055" y="2726829"/>
            <a:ext cx="76200" cy="358140"/>
          </a:xfrm>
          <a:custGeom>
            <a:avLst/>
            <a:gdLst/>
            <a:ahLst/>
            <a:cxnLst/>
            <a:rect l="l" t="t" r="r" b="b"/>
            <a:pathLst>
              <a:path w="76200" h="358139">
                <a:moveTo>
                  <a:pt x="34281" y="76138"/>
                </a:moveTo>
                <a:lnTo>
                  <a:pt x="0" y="75641"/>
                </a:lnTo>
                <a:lnTo>
                  <a:pt x="39192" y="0"/>
                </a:lnTo>
                <a:lnTo>
                  <a:pt x="66710" y="57086"/>
                </a:lnTo>
                <a:lnTo>
                  <a:pt x="34556" y="57086"/>
                </a:lnTo>
                <a:lnTo>
                  <a:pt x="34281" y="76138"/>
                </a:lnTo>
                <a:close/>
              </a:path>
              <a:path w="76200" h="358139">
                <a:moveTo>
                  <a:pt x="41900" y="76248"/>
                </a:moveTo>
                <a:lnTo>
                  <a:pt x="34281" y="76138"/>
                </a:lnTo>
                <a:lnTo>
                  <a:pt x="34556" y="57086"/>
                </a:lnTo>
                <a:lnTo>
                  <a:pt x="42176" y="57200"/>
                </a:lnTo>
                <a:lnTo>
                  <a:pt x="41900" y="76248"/>
                </a:lnTo>
                <a:close/>
              </a:path>
              <a:path w="76200" h="358139">
                <a:moveTo>
                  <a:pt x="76187" y="76746"/>
                </a:moveTo>
                <a:lnTo>
                  <a:pt x="41900" y="76248"/>
                </a:lnTo>
                <a:lnTo>
                  <a:pt x="42176" y="57200"/>
                </a:lnTo>
                <a:lnTo>
                  <a:pt x="34556" y="57086"/>
                </a:lnTo>
                <a:lnTo>
                  <a:pt x="66710" y="57086"/>
                </a:lnTo>
                <a:lnTo>
                  <a:pt x="76187" y="76746"/>
                </a:lnTo>
                <a:close/>
              </a:path>
              <a:path w="76200" h="358139">
                <a:moveTo>
                  <a:pt x="37820" y="358000"/>
                </a:moveTo>
                <a:lnTo>
                  <a:pt x="30213" y="357885"/>
                </a:lnTo>
                <a:lnTo>
                  <a:pt x="34281" y="76138"/>
                </a:lnTo>
                <a:lnTo>
                  <a:pt x="41900" y="76248"/>
                </a:lnTo>
                <a:lnTo>
                  <a:pt x="37820" y="358000"/>
                </a:lnTo>
                <a:close/>
              </a:path>
            </a:pathLst>
          </a:custGeom>
          <a:solidFill>
            <a:srgbClr val="C00000"/>
          </a:solidFill>
        </p:spPr>
        <p:txBody>
          <a:bodyPr wrap="square" lIns="0" tIns="0" rIns="0" bIns="0" rtlCol="0"/>
          <a:lstStyle/>
          <a:p/>
        </p:txBody>
      </p:sp>
      <p:sp>
        <p:nvSpPr>
          <p:cNvPr id="39" name="object 39"/>
          <p:cNvSpPr txBox="1"/>
          <p:nvPr/>
        </p:nvSpPr>
        <p:spPr>
          <a:xfrm>
            <a:off x="6382867" y="3087636"/>
            <a:ext cx="405765" cy="329565"/>
          </a:xfrm>
          <a:prstGeom prst="rect">
            <a:avLst/>
          </a:prstGeom>
        </p:spPr>
        <p:txBody>
          <a:bodyPr vert="horz" wrap="square" lIns="0" tIns="12065" rIns="0" bIns="0" rtlCol="0">
            <a:spAutoFit/>
          </a:bodyPr>
          <a:lstStyle/>
          <a:p>
            <a:pPr marL="12700" marR="5080">
              <a:lnSpc>
                <a:spcPct val="100000"/>
              </a:lnSpc>
              <a:spcBef>
                <a:spcPts val="95"/>
              </a:spcBef>
            </a:pPr>
            <a:r>
              <a:rPr sz="1000" b="1" dirty="0">
                <a:solidFill>
                  <a:srgbClr val="C00000"/>
                </a:solidFill>
                <a:latin typeface="微软雅黑" panose="020B0503020204020204" charset="-122"/>
                <a:cs typeface="微软雅黑" panose="020B0503020204020204" charset="-122"/>
              </a:rPr>
              <a:t>协处</a:t>
            </a:r>
            <a:r>
              <a:rPr sz="1000" b="1" spc="-5" dirty="0">
                <a:solidFill>
                  <a:srgbClr val="C00000"/>
                </a:solidFill>
                <a:latin typeface="微软雅黑" panose="020B0503020204020204" charset="-122"/>
                <a:cs typeface="微软雅黑" panose="020B0503020204020204" charset="-122"/>
              </a:rPr>
              <a:t>理 </a:t>
            </a:r>
            <a:r>
              <a:rPr sz="1000" b="1" dirty="0">
                <a:solidFill>
                  <a:srgbClr val="C00000"/>
                </a:solidFill>
                <a:latin typeface="微软雅黑" panose="020B0503020204020204" charset="-122"/>
                <a:cs typeface="微软雅黑" panose="020B0503020204020204" charset="-122"/>
              </a:rPr>
              <a:t>器接</a:t>
            </a:r>
            <a:r>
              <a:rPr sz="1000" b="1" spc="-5" dirty="0">
                <a:solidFill>
                  <a:srgbClr val="C00000"/>
                </a:solidFill>
                <a:latin typeface="微软雅黑" panose="020B0503020204020204" charset="-122"/>
                <a:cs typeface="微软雅黑" panose="020B0503020204020204" charset="-122"/>
              </a:rPr>
              <a:t>口</a:t>
            </a:r>
            <a:endParaRPr sz="1000">
              <a:latin typeface="微软雅黑" panose="020B0503020204020204" charset="-122"/>
              <a:cs typeface="微软雅黑" panose="020B0503020204020204" charset="-122"/>
            </a:endParaRPr>
          </a:p>
        </p:txBody>
      </p:sp>
      <p:sp>
        <p:nvSpPr>
          <p:cNvPr id="40" name="object 40"/>
          <p:cNvSpPr txBox="1"/>
          <p:nvPr/>
        </p:nvSpPr>
        <p:spPr>
          <a:xfrm>
            <a:off x="9614916" y="2479548"/>
            <a:ext cx="1351915" cy="256540"/>
          </a:xfrm>
          <a:prstGeom prst="rect">
            <a:avLst/>
          </a:prstGeom>
          <a:solidFill>
            <a:srgbClr val="C00000"/>
          </a:solidFill>
        </p:spPr>
        <p:txBody>
          <a:bodyPr vert="horz" wrap="square" lIns="0" tIns="26670" rIns="0" bIns="0" rtlCol="0">
            <a:spAutoFit/>
          </a:bodyPr>
          <a:lstStyle/>
          <a:p>
            <a:pPr marL="370205">
              <a:lnSpc>
                <a:spcPct val="100000"/>
              </a:lnSpc>
              <a:spcBef>
                <a:spcPts val="210"/>
              </a:spcBef>
            </a:pPr>
            <a:r>
              <a:rPr sz="1200" b="1" dirty="0">
                <a:solidFill>
                  <a:srgbClr val="FFFFFF"/>
                </a:solidFill>
                <a:latin typeface="微软雅黑" panose="020B0503020204020204" charset="-122"/>
                <a:cs typeface="微软雅黑" panose="020B0503020204020204" charset="-122"/>
              </a:rPr>
              <a:t>调试模块</a:t>
            </a:r>
            <a:endParaRPr sz="1200">
              <a:latin typeface="微软雅黑" panose="020B0503020204020204" charset="-122"/>
              <a:cs typeface="微软雅黑" panose="020B0503020204020204" charset="-122"/>
            </a:endParaRPr>
          </a:p>
        </p:txBody>
      </p:sp>
      <p:sp>
        <p:nvSpPr>
          <p:cNvPr id="41" name="object 41"/>
          <p:cNvSpPr/>
          <p:nvPr/>
        </p:nvSpPr>
        <p:spPr>
          <a:xfrm>
            <a:off x="8370811" y="2734906"/>
            <a:ext cx="76200" cy="358140"/>
          </a:xfrm>
          <a:custGeom>
            <a:avLst/>
            <a:gdLst/>
            <a:ahLst/>
            <a:cxnLst/>
            <a:rect l="l" t="t" r="r" b="b"/>
            <a:pathLst>
              <a:path w="76200" h="358139">
                <a:moveTo>
                  <a:pt x="41905" y="281861"/>
                </a:moveTo>
                <a:lnTo>
                  <a:pt x="34285" y="281751"/>
                </a:lnTo>
                <a:lnTo>
                  <a:pt x="38353" y="0"/>
                </a:lnTo>
                <a:lnTo>
                  <a:pt x="45974" y="114"/>
                </a:lnTo>
                <a:lnTo>
                  <a:pt x="41905" y="281861"/>
                </a:lnTo>
                <a:close/>
              </a:path>
              <a:path w="76200" h="358139">
                <a:moveTo>
                  <a:pt x="36995" y="358000"/>
                </a:moveTo>
                <a:lnTo>
                  <a:pt x="0" y="281254"/>
                </a:lnTo>
                <a:lnTo>
                  <a:pt x="34285" y="281751"/>
                </a:lnTo>
                <a:lnTo>
                  <a:pt x="34010" y="300799"/>
                </a:lnTo>
                <a:lnTo>
                  <a:pt x="41630" y="300913"/>
                </a:lnTo>
                <a:lnTo>
                  <a:pt x="66573" y="300913"/>
                </a:lnTo>
                <a:lnTo>
                  <a:pt x="36995" y="358000"/>
                </a:lnTo>
                <a:close/>
              </a:path>
              <a:path w="76200" h="358139">
                <a:moveTo>
                  <a:pt x="41630" y="300913"/>
                </a:moveTo>
                <a:lnTo>
                  <a:pt x="34010" y="300799"/>
                </a:lnTo>
                <a:lnTo>
                  <a:pt x="34285" y="281751"/>
                </a:lnTo>
                <a:lnTo>
                  <a:pt x="41905" y="281861"/>
                </a:lnTo>
                <a:lnTo>
                  <a:pt x="41630" y="300913"/>
                </a:lnTo>
                <a:close/>
              </a:path>
              <a:path w="76200" h="358139">
                <a:moveTo>
                  <a:pt x="66573" y="300913"/>
                </a:moveTo>
                <a:lnTo>
                  <a:pt x="41630" y="300913"/>
                </a:lnTo>
                <a:lnTo>
                  <a:pt x="41905" y="281861"/>
                </a:lnTo>
                <a:lnTo>
                  <a:pt x="76187" y="282359"/>
                </a:lnTo>
                <a:lnTo>
                  <a:pt x="66573" y="300913"/>
                </a:lnTo>
                <a:close/>
              </a:path>
            </a:pathLst>
          </a:custGeom>
          <a:solidFill>
            <a:srgbClr val="C00000"/>
          </a:solidFill>
        </p:spPr>
        <p:txBody>
          <a:bodyPr wrap="square" lIns="0" tIns="0" rIns="0" bIns="0" rtlCol="0"/>
          <a:lstStyle/>
          <a:p/>
        </p:txBody>
      </p:sp>
      <p:sp>
        <p:nvSpPr>
          <p:cNvPr id="42" name="object 42"/>
          <p:cNvSpPr/>
          <p:nvPr/>
        </p:nvSpPr>
        <p:spPr>
          <a:xfrm>
            <a:off x="10251096" y="2734906"/>
            <a:ext cx="76200" cy="358140"/>
          </a:xfrm>
          <a:custGeom>
            <a:avLst/>
            <a:gdLst/>
            <a:ahLst/>
            <a:cxnLst/>
            <a:rect l="l" t="t" r="r" b="b"/>
            <a:pathLst>
              <a:path w="76200" h="358139">
                <a:moveTo>
                  <a:pt x="41906" y="281861"/>
                </a:moveTo>
                <a:lnTo>
                  <a:pt x="34286" y="281751"/>
                </a:lnTo>
                <a:lnTo>
                  <a:pt x="38366" y="0"/>
                </a:lnTo>
                <a:lnTo>
                  <a:pt x="45986" y="114"/>
                </a:lnTo>
                <a:lnTo>
                  <a:pt x="41906" y="281861"/>
                </a:lnTo>
                <a:close/>
              </a:path>
              <a:path w="76200" h="358139">
                <a:moveTo>
                  <a:pt x="36995" y="358000"/>
                </a:moveTo>
                <a:lnTo>
                  <a:pt x="0" y="281254"/>
                </a:lnTo>
                <a:lnTo>
                  <a:pt x="34286" y="281751"/>
                </a:lnTo>
                <a:lnTo>
                  <a:pt x="34010" y="300799"/>
                </a:lnTo>
                <a:lnTo>
                  <a:pt x="41630" y="300913"/>
                </a:lnTo>
                <a:lnTo>
                  <a:pt x="66583" y="300913"/>
                </a:lnTo>
                <a:lnTo>
                  <a:pt x="36995" y="358000"/>
                </a:lnTo>
                <a:close/>
              </a:path>
              <a:path w="76200" h="358139">
                <a:moveTo>
                  <a:pt x="41630" y="300913"/>
                </a:moveTo>
                <a:lnTo>
                  <a:pt x="34010" y="300799"/>
                </a:lnTo>
                <a:lnTo>
                  <a:pt x="34286" y="281751"/>
                </a:lnTo>
                <a:lnTo>
                  <a:pt x="41906" y="281861"/>
                </a:lnTo>
                <a:lnTo>
                  <a:pt x="41630" y="300913"/>
                </a:lnTo>
                <a:close/>
              </a:path>
              <a:path w="76200" h="358139">
                <a:moveTo>
                  <a:pt x="66583" y="300913"/>
                </a:moveTo>
                <a:lnTo>
                  <a:pt x="41630" y="300913"/>
                </a:lnTo>
                <a:lnTo>
                  <a:pt x="41906" y="281861"/>
                </a:lnTo>
                <a:lnTo>
                  <a:pt x="76200" y="282359"/>
                </a:lnTo>
                <a:lnTo>
                  <a:pt x="66583" y="300913"/>
                </a:lnTo>
                <a:close/>
              </a:path>
            </a:pathLst>
          </a:custGeom>
          <a:solidFill>
            <a:srgbClr val="C00000"/>
          </a:solidFill>
        </p:spPr>
        <p:txBody>
          <a:bodyPr wrap="square" lIns="0" tIns="0" rIns="0" bIns="0" rtlCol="0"/>
          <a:lstStyle/>
          <a:p/>
        </p:txBody>
      </p:sp>
      <p:sp>
        <p:nvSpPr>
          <p:cNvPr id="43" name="object 43"/>
          <p:cNvSpPr txBox="1"/>
          <p:nvPr/>
        </p:nvSpPr>
        <p:spPr>
          <a:xfrm>
            <a:off x="7548371" y="2479548"/>
            <a:ext cx="1941830" cy="247015"/>
          </a:xfrm>
          <a:prstGeom prst="rect">
            <a:avLst/>
          </a:prstGeom>
          <a:solidFill>
            <a:srgbClr val="C00000"/>
          </a:solidFill>
        </p:spPr>
        <p:txBody>
          <a:bodyPr vert="horz" wrap="square" lIns="0" tIns="22860" rIns="0" bIns="0" rtlCol="0">
            <a:spAutoFit/>
          </a:bodyPr>
          <a:lstStyle/>
          <a:p>
            <a:pPr marL="589280">
              <a:lnSpc>
                <a:spcPct val="100000"/>
              </a:lnSpc>
              <a:spcBef>
                <a:spcPts val="180"/>
              </a:spcBef>
            </a:pPr>
            <a:r>
              <a:rPr sz="1200" b="1" dirty="0">
                <a:solidFill>
                  <a:srgbClr val="FFFFFF"/>
                </a:solidFill>
                <a:latin typeface="微软雅黑" panose="020B0503020204020204" charset="-122"/>
                <a:cs typeface="微软雅黑" panose="020B0503020204020204" charset="-122"/>
              </a:rPr>
              <a:t>中断控制器</a:t>
            </a:r>
            <a:endParaRPr sz="1200">
              <a:latin typeface="微软雅黑" panose="020B0503020204020204" charset="-122"/>
              <a:cs typeface="微软雅黑" panose="020B0503020204020204" charset="-122"/>
            </a:endParaRPr>
          </a:p>
        </p:txBody>
      </p:sp>
      <p:sp>
        <p:nvSpPr>
          <p:cNvPr id="44" name="object 44"/>
          <p:cNvSpPr/>
          <p:nvPr/>
        </p:nvSpPr>
        <p:spPr>
          <a:xfrm>
            <a:off x="10251681" y="2120988"/>
            <a:ext cx="76200" cy="358140"/>
          </a:xfrm>
          <a:custGeom>
            <a:avLst/>
            <a:gdLst/>
            <a:ahLst/>
            <a:cxnLst/>
            <a:rect l="l" t="t" r="r" b="b"/>
            <a:pathLst>
              <a:path w="76200" h="358139">
                <a:moveTo>
                  <a:pt x="41905" y="281861"/>
                </a:moveTo>
                <a:lnTo>
                  <a:pt x="34285" y="281751"/>
                </a:lnTo>
                <a:lnTo>
                  <a:pt x="38353" y="0"/>
                </a:lnTo>
                <a:lnTo>
                  <a:pt x="45974" y="114"/>
                </a:lnTo>
                <a:lnTo>
                  <a:pt x="41905" y="281861"/>
                </a:lnTo>
                <a:close/>
              </a:path>
              <a:path w="76200" h="358139">
                <a:moveTo>
                  <a:pt x="36995" y="358000"/>
                </a:moveTo>
                <a:lnTo>
                  <a:pt x="0" y="281254"/>
                </a:lnTo>
                <a:lnTo>
                  <a:pt x="34285" y="281751"/>
                </a:lnTo>
                <a:lnTo>
                  <a:pt x="34010" y="300799"/>
                </a:lnTo>
                <a:lnTo>
                  <a:pt x="41630" y="300913"/>
                </a:lnTo>
                <a:lnTo>
                  <a:pt x="66573" y="300913"/>
                </a:lnTo>
                <a:lnTo>
                  <a:pt x="36995" y="358000"/>
                </a:lnTo>
                <a:close/>
              </a:path>
              <a:path w="76200" h="358139">
                <a:moveTo>
                  <a:pt x="41630" y="300913"/>
                </a:moveTo>
                <a:lnTo>
                  <a:pt x="34010" y="300799"/>
                </a:lnTo>
                <a:lnTo>
                  <a:pt x="34285" y="281751"/>
                </a:lnTo>
                <a:lnTo>
                  <a:pt x="41905" y="281861"/>
                </a:lnTo>
                <a:lnTo>
                  <a:pt x="41630" y="300913"/>
                </a:lnTo>
                <a:close/>
              </a:path>
              <a:path w="76200" h="358139">
                <a:moveTo>
                  <a:pt x="66573" y="300913"/>
                </a:moveTo>
                <a:lnTo>
                  <a:pt x="41630" y="300913"/>
                </a:lnTo>
                <a:lnTo>
                  <a:pt x="41905" y="281861"/>
                </a:lnTo>
                <a:lnTo>
                  <a:pt x="76187" y="282359"/>
                </a:lnTo>
                <a:lnTo>
                  <a:pt x="66573" y="300913"/>
                </a:lnTo>
                <a:close/>
              </a:path>
            </a:pathLst>
          </a:custGeom>
          <a:solidFill>
            <a:srgbClr val="C00000"/>
          </a:solidFill>
        </p:spPr>
        <p:txBody>
          <a:bodyPr wrap="square" lIns="0" tIns="0" rIns="0" bIns="0" rtlCol="0"/>
          <a:lstStyle/>
          <a:p/>
        </p:txBody>
      </p:sp>
      <p:sp>
        <p:nvSpPr>
          <p:cNvPr id="45" name="object 45"/>
          <p:cNvSpPr txBox="1"/>
          <p:nvPr/>
        </p:nvSpPr>
        <p:spPr>
          <a:xfrm>
            <a:off x="10085006" y="1946960"/>
            <a:ext cx="409575"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C00000"/>
                </a:solidFill>
                <a:latin typeface="微软雅黑" panose="020B0503020204020204" charset="-122"/>
                <a:cs typeface="微软雅黑" panose="020B0503020204020204" charset="-122"/>
              </a:rPr>
              <a:t>J</a:t>
            </a:r>
            <a:r>
              <a:rPr sz="1200" b="1" spc="-100" dirty="0">
                <a:solidFill>
                  <a:srgbClr val="C00000"/>
                </a:solidFill>
                <a:latin typeface="微软雅黑" panose="020B0503020204020204" charset="-122"/>
                <a:cs typeface="微软雅黑" panose="020B0503020204020204" charset="-122"/>
              </a:rPr>
              <a:t>T</a:t>
            </a:r>
            <a:r>
              <a:rPr sz="1200" b="1" spc="-20" dirty="0">
                <a:solidFill>
                  <a:srgbClr val="C00000"/>
                </a:solidFill>
                <a:latin typeface="微软雅黑" panose="020B0503020204020204" charset="-122"/>
                <a:cs typeface="微软雅黑" panose="020B0503020204020204" charset="-122"/>
              </a:rPr>
              <a:t>A</a:t>
            </a:r>
            <a:r>
              <a:rPr sz="1200" b="1" dirty="0">
                <a:solidFill>
                  <a:srgbClr val="C00000"/>
                </a:solidFill>
                <a:latin typeface="微软雅黑" panose="020B0503020204020204" charset="-122"/>
                <a:cs typeface="微软雅黑" panose="020B0503020204020204" charset="-122"/>
              </a:rPr>
              <a:t>G</a:t>
            </a:r>
            <a:endParaRPr sz="1200">
              <a:latin typeface="微软雅黑" panose="020B0503020204020204" charset="-122"/>
              <a:cs typeface="微软雅黑" panose="020B0503020204020204" charset="-122"/>
            </a:endParaRPr>
          </a:p>
        </p:txBody>
      </p:sp>
      <p:sp>
        <p:nvSpPr>
          <p:cNvPr id="46" name="object 46"/>
          <p:cNvSpPr/>
          <p:nvPr/>
        </p:nvSpPr>
        <p:spPr>
          <a:xfrm>
            <a:off x="187452" y="2403348"/>
            <a:ext cx="5135880" cy="3892296"/>
          </a:xfrm>
          <a:prstGeom prst="rect">
            <a:avLst/>
          </a:prstGeom>
          <a:blipFill>
            <a:blip r:embed="rId6" cstate="print"/>
            <a:stretch>
              <a:fillRect/>
            </a:stretch>
          </a:blipFill>
        </p:spPr>
        <p:txBody>
          <a:bodyPr wrap="square" lIns="0" tIns="0" rIns="0" bIns="0" rtlCol="0"/>
          <a:lstStyle/>
          <a:p/>
        </p:txBody>
      </p:sp>
      <p:sp>
        <p:nvSpPr>
          <p:cNvPr id="47" name="object 47"/>
          <p:cNvSpPr/>
          <p:nvPr/>
        </p:nvSpPr>
        <p:spPr>
          <a:xfrm>
            <a:off x="4291863" y="5031828"/>
            <a:ext cx="1350010" cy="1029969"/>
          </a:xfrm>
          <a:custGeom>
            <a:avLst/>
            <a:gdLst/>
            <a:ahLst/>
            <a:cxnLst/>
            <a:rect l="l" t="t" r="r" b="b"/>
            <a:pathLst>
              <a:path w="1350010" h="1029970">
                <a:moveTo>
                  <a:pt x="1349514" y="1029614"/>
                </a:moveTo>
                <a:lnTo>
                  <a:pt x="0" y="1029614"/>
                </a:lnTo>
                <a:lnTo>
                  <a:pt x="0" y="0"/>
                </a:lnTo>
                <a:lnTo>
                  <a:pt x="1349514" y="0"/>
                </a:lnTo>
                <a:lnTo>
                  <a:pt x="1349514" y="6350"/>
                </a:lnTo>
                <a:lnTo>
                  <a:pt x="12700" y="6350"/>
                </a:lnTo>
                <a:lnTo>
                  <a:pt x="6350" y="12700"/>
                </a:lnTo>
                <a:lnTo>
                  <a:pt x="12700" y="12700"/>
                </a:lnTo>
                <a:lnTo>
                  <a:pt x="12700" y="1016914"/>
                </a:lnTo>
                <a:lnTo>
                  <a:pt x="6350" y="1016914"/>
                </a:lnTo>
                <a:lnTo>
                  <a:pt x="12700" y="1023264"/>
                </a:lnTo>
                <a:lnTo>
                  <a:pt x="1349514" y="1023264"/>
                </a:lnTo>
                <a:lnTo>
                  <a:pt x="1349514" y="1029614"/>
                </a:lnTo>
                <a:close/>
              </a:path>
              <a:path w="1350010" h="1029970">
                <a:moveTo>
                  <a:pt x="12700" y="12700"/>
                </a:moveTo>
                <a:lnTo>
                  <a:pt x="6350" y="12700"/>
                </a:lnTo>
                <a:lnTo>
                  <a:pt x="12700" y="6350"/>
                </a:lnTo>
                <a:lnTo>
                  <a:pt x="12700" y="12700"/>
                </a:lnTo>
                <a:close/>
              </a:path>
              <a:path w="1350010" h="1029970">
                <a:moveTo>
                  <a:pt x="1336814" y="12700"/>
                </a:moveTo>
                <a:lnTo>
                  <a:pt x="12700" y="12700"/>
                </a:lnTo>
                <a:lnTo>
                  <a:pt x="12700" y="6350"/>
                </a:lnTo>
                <a:lnTo>
                  <a:pt x="1336814" y="6350"/>
                </a:lnTo>
                <a:lnTo>
                  <a:pt x="1336814" y="12700"/>
                </a:lnTo>
                <a:close/>
              </a:path>
              <a:path w="1350010" h="1029970">
                <a:moveTo>
                  <a:pt x="1336814" y="1023264"/>
                </a:moveTo>
                <a:lnTo>
                  <a:pt x="1336814" y="6350"/>
                </a:lnTo>
                <a:lnTo>
                  <a:pt x="1343164" y="12700"/>
                </a:lnTo>
                <a:lnTo>
                  <a:pt x="1349514" y="12700"/>
                </a:lnTo>
                <a:lnTo>
                  <a:pt x="1349514" y="1016914"/>
                </a:lnTo>
                <a:lnTo>
                  <a:pt x="1343164" y="1016914"/>
                </a:lnTo>
                <a:lnTo>
                  <a:pt x="1336814" y="1023264"/>
                </a:lnTo>
                <a:close/>
              </a:path>
              <a:path w="1350010" h="1029970">
                <a:moveTo>
                  <a:pt x="1349514" y="12700"/>
                </a:moveTo>
                <a:lnTo>
                  <a:pt x="1343164" y="12700"/>
                </a:lnTo>
                <a:lnTo>
                  <a:pt x="1336814" y="6350"/>
                </a:lnTo>
                <a:lnTo>
                  <a:pt x="1349514" y="6350"/>
                </a:lnTo>
                <a:lnTo>
                  <a:pt x="1349514" y="12700"/>
                </a:lnTo>
                <a:close/>
              </a:path>
              <a:path w="1350010" h="1029970">
                <a:moveTo>
                  <a:pt x="12700" y="1023264"/>
                </a:moveTo>
                <a:lnTo>
                  <a:pt x="6350" y="1016914"/>
                </a:lnTo>
                <a:lnTo>
                  <a:pt x="12700" y="1016914"/>
                </a:lnTo>
                <a:lnTo>
                  <a:pt x="12700" y="1023264"/>
                </a:lnTo>
                <a:close/>
              </a:path>
              <a:path w="1350010" h="1029970">
                <a:moveTo>
                  <a:pt x="1336814" y="1023264"/>
                </a:moveTo>
                <a:lnTo>
                  <a:pt x="12700" y="1023264"/>
                </a:lnTo>
                <a:lnTo>
                  <a:pt x="12700" y="1016914"/>
                </a:lnTo>
                <a:lnTo>
                  <a:pt x="1336814" y="1016914"/>
                </a:lnTo>
                <a:lnTo>
                  <a:pt x="1336814" y="1023264"/>
                </a:lnTo>
                <a:close/>
              </a:path>
              <a:path w="1350010" h="1029970">
                <a:moveTo>
                  <a:pt x="1349514" y="1023264"/>
                </a:moveTo>
                <a:lnTo>
                  <a:pt x="1336814" y="1023264"/>
                </a:lnTo>
                <a:lnTo>
                  <a:pt x="1343164" y="1016914"/>
                </a:lnTo>
                <a:lnTo>
                  <a:pt x="1349514" y="1016914"/>
                </a:lnTo>
                <a:lnTo>
                  <a:pt x="1349514" y="1023264"/>
                </a:lnTo>
                <a:close/>
              </a:path>
            </a:pathLst>
          </a:custGeom>
          <a:solidFill>
            <a:srgbClr val="FFFFFF"/>
          </a:solidFill>
        </p:spPr>
        <p:txBody>
          <a:bodyPr wrap="square" lIns="0" tIns="0" rIns="0" bIns="0" rtlCol="0"/>
          <a:lstStyle/>
          <a:p/>
        </p:txBody>
      </p:sp>
      <p:sp>
        <p:nvSpPr>
          <p:cNvPr id="48" name="object 48"/>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5495925" cy="56642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蜂鸟E</a:t>
            </a:r>
            <a:r>
              <a:rPr sz="3600" spc="-5" dirty="0">
                <a:solidFill>
                  <a:srgbClr val="C00000"/>
                </a:solidFill>
              </a:rPr>
              <a:t>203</a:t>
            </a:r>
            <a:r>
              <a:rPr sz="3600" dirty="0">
                <a:solidFill>
                  <a:srgbClr val="C00000"/>
                </a:solidFill>
              </a:rPr>
              <a:t>模块层次划分</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p:nvPr/>
        </p:nvSpPr>
        <p:spPr>
          <a:xfrm>
            <a:off x="5275579" y="1548130"/>
            <a:ext cx="5989955" cy="4166870"/>
          </a:xfrm>
          <a:custGeom>
            <a:avLst/>
            <a:gdLst/>
            <a:ahLst/>
            <a:cxnLst/>
            <a:rect l="l" t="t" r="r" b="b"/>
            <a:pathLst>
              <a:path w="5989955" h="4166870">
                <a:moveTo>
                  <a:pt x="5989853" y="4166870"/>
                </a:moveTo>
                <a:lnTo>
                  <a:pt x="0" y="4166870"/>
                </a:lnTo>
                <a:lnTo>
                  <a:pt x="0" y="0"/>
                </a:lnTo>
                <a:lnTo>
                  <a:pt x="5989853" y="0"/>
                </a:lnTo>
                <a:lnTo>
                  <a:pt x="5989853" y="6350"/>
                </a:lnTo>
                <a:lnTo>
                  <a:pt x="12700" y="6350"/>
                </a:lnTo>
                <a:lnTo>
                  <a:pt x="6350" y="12700"/>
                </a:lnTo>
                <a:lnTo>
                  <a:pt x="12700" y="12700"/>
                </a:lnTo>
                <a:lnTo>
                  <a:pt x="12700" y="4154170"/>
                </a:lnTo>
                <a:lnTo>
                  <a:pt x="6350" y="4154170"/>
                </a:lnTo>
                <a:lnTo>
                  <a:pt x="12700" y="4160520"/>
                </a:lnTo>
                <a:lnTo>
                  <a:pt x="5989853" y="4160520"/>
                </a:lnTo>
                <a:lnTo>
                  <a:pt x="5989853" y="4166870"/>
                </a:lnTo>
                <a:close/>
              </a:path>
              <a:path w="5989955" h="4166870">
                <a:moveTo>
                  <a:pt x="12700" y="12700"/>
                </a:moveTo>
                <a:lnTo>
                  <a:pt x="6350" y="12700"/>
                </a:lnTo>
                <a:lnTo>
                  <a:pt x="12700" y="6350"/>
                </a:lnTo>
                <a:lnTo>
                  <a:pt x="12700" y="12700"/>
                </a:lnTo>
                <a:close/>
              </a:path>
              <a:path w="5989955" h="4166870">
                <a:moveTo>
                  <a:pt x="5977153" y="12700"/>
                </a:moveTo>
                <a:lnTo>
                  <a:pt x="12700" y="12700"/>
                </a:lnTo>
                <a:lnTo>
                  <a:pt x="12700" y="6350"/>
                </a:lnTo>
                <a:lnTo>
                  <a:pt x="5977153" y="6350"/>
                </a:lnTo>
                <a:lnTo>
                  <a:pt x="5977153" y="12700"/>
                </a:lnTo>
                <a:close/>
              </a:path>
              <a:path w="5989955" h="4166870">
                <a:moveTo>
                  <a:pt x="5977153" y="4160520"/>
                </a:moveTo>
                <a:lnTo>
                  <a:pt x="5977153" y="6350"/>
                </a:lnTo>
                <a:lnTo>
                  <a:pt x="5983503" y="12700"/>
                </a:lnTo>
                <a:lnTo>
                  <a:pt x="5989853" y="12700"/>
                </a:lnTo>
                <a:lnTo>
                  <a:pt x="5989853" y="4154170"/>
                </a:lnTo>
                <a:lnTo>
                  <a:pt x="5983503" y="4154170"/>
                </a:lnTo>
                <a:lnTo>
                  <a:pt x="5977153" y="4160520"/>
                </a:lnTo>
                <a:close/>
              </a:path>
              <a:path w="5989955" h="4166870">
                <a:moveTo>
                  <a:pt x="5989853" y="12700"/>
                </a:moveTo>
                <a:lnTo>
                  <a:pt x="5983503" y="12700"/>
                </a:lnTo>
                <a:lnTo>
                  <a:pt x="5977153" y="6350"/>
                </a:lnTo>
                <a:lnTo>
                  <a:pt x="5989853" y="6350"/>
                </a:lnTo>
                <a:lnTo>
                  <a:pt x="5989853" y="12700"/>
                </a:lnTo>
                <a:close/>
              </a:path>
              <a:path w="5989955" h="4166870">
                <a:moveTo>
                  <a:pt x="12700" y="4160520"/>
                </a:moveTo>
                <a:lnTo>
                  <a:pt x="6350" y="4154170"/>
                </a:lnTo>
                <a:lnTo>
                  <a:pt x="12700" y="4154170"/>
                </a:lnTo>
                <a:lnTo>
                  <a:pt x="12700" y="4160520"/>
                </a:lnTo>
                <a:close/>
              </a:path>
              <a:path w="5989955" h="4166870">
                <a:moveTo>
                  <a:pt x="5977153" y="4160520"/>
                </a:moveTo>
                <a:lnTo>
                  <a:pt x="12700" y="4160520"/>
                </a:lnTo>
                <a:lnTo>
                  <a:pt x="12700" y="4154170"/>
                </a:lnTo>
                <a:lnTo>
                  <a:pt x="5977153" y="4154170"/>
                </a:lnTo>
                <a:lnTo>
                  <a:pt x="5977153" y="4160520"/>
                </a:lnTo>
                <a:close/>
              </a:path>
              <a:path w="5989955" h="4166870">
                <a:moveTo>
                  <a:pt x="5989853" y="4160520"/>
                </a:moveTo>
                <a:lnTo>
                  <a:pt x="5977153" y="4160520"/>
                </a:lnTo>
                <a:lnTo>
                  <a:pt x="5983503" y="4154170"/>
                </a:lnTo>
                <a:lnTo>
                  <a:pt x="5989853" y="4154170"/>
                </a:lnTo>
                <a:lnTo>
                  <a:pt x="5989853" y="4160520"/>
                </a:lnTo>
                <a:close/>
              </a:path>
            </a:pathLst>
          </a:custGeom>
          <a:solidFill>
            <a:srgbClr val="C00000"/>
          </a:solidFill>
        </p:spPr>
        <p:txBody>
          <a:bodyPr wrap="square" lIns="0" tIns="0" rIns="0" bIns="0" rtlCol="0"/>
          <a:lstStyle/>
          <a:p/>
        </p:txBody>
      </p:sp>
      <p:sp>
        <p:nvSpPr>
          <p:cNvPr id="5" name="object 5"/>
          <p:cNvSpPr/>
          <p:nvPr/>
        </p:nvSpPr>
        <p:spPr>
          <a:xfrm>
            <a:off x="5349240" y="1874520"/>
            <a:ext cx="5852160" cy="2926079"/>
          </a:xfrm>
          <a:prstGeom prst="rect">
            <a:avLst/>
          </a:prstGeom>
          <a:blipFill>
            <a:blip r:embed="rId1" cstate="print"/>
            <a:stretch>
              <a:fillRect/>
            </a:stretch>
          </a:blipFill>
        </p:spPr>
        <p:txBody>
          <a:bodyPr wrap="square" lIns="0" tIns="0" rIns="0" bIns="0" rtlCol="0"/>
          <a:lstStyle/>
          <a:p/>
        </p:txBody>
      </p:sp>
      <p:sp>
        <p:nvSpPr>
          <p:cNvPr id="6" name="object 6"/>
          <p:cNvSpPr txBox="1"/>
          <p:nvPr/>
        </p:nvSpPr>
        <p:spPr>
          <a:xfrm>
            <a:off x="7435595" y="2048255"/>
            <a:ext cx="1685925" cy="408940"/>
          </a:xfrm>
          <a:prstGeom prst="rect">
            <a:avLst/>
          </a:prstGeom>
          <a:solidFill>
            <a:srgbClr val="C00000"/>
          </a:solidFill>
        </p:spPr>
        <p:txBody>
          <a:bodyPr vert="horz" wrap="square" lIns="0" tIns="67945" rIns="0" bIns="0" rtlCol="0">
            <a:spAutoFit/>
          </a:bodyPr>
          <a:lstStyle/>
          <a:p>
            <a:pPr marL="226695">
              <a:lnSpc>
                <a:spcPct val="100000"/>
              </a:lnSpc>
              <a:spcBef>
                <a:spcPts val="535"/>
              </a:spcBef>
            </a:pPr>
            <a:r>
              <a:rPr sz="1600" spc="-5" dirty="0">
                <a:solidFill>
                  <a:srgbClr val="FFFFFF"/>
                </a:solidFill>
                <a:latin typeface="微软雅黑" panose="020B0503020204020204" charset="-122"/>
                <a:cs typeface="微软雅黑" panose="020B0503020204020204" charset="-122"/>
              </a:rPr>
              <a:t>e203_clk_ctrl</a:t>
            </a:r>
            <a:endParaRPr sz="1600">
              <a:latin typeface="微软雅黑" panose="020B0503020204020204" charset="-122"/>
              <a:cs typeface="微软雅黑" panose="020B0503020204020204" charset="-122"/>
            </a:endParaRPr>
          </a:p>
        </p:txBody>
      </p:sp>
      <p:sp>
        <p:nvSpPr>
          <p:cNvPr id="7" name="object 7"/>
          <p:cNvSpPr txBox="1"/>
          <p:nvPr/>
        </p:nvSpPr>
        <p:spPr>
          <a:xfrm>
            <a:off x="9238488" y="2048255"/>
            <a:ext cx="1687195" cy="408940"/>
          </a:xfrm>
          <a:prstGeom prst="rect">
            <a:avLst/>
          </a:prstGeom>
          <a:solidFill>
            <a:srgbClr val="C00000"/>
          </a:solidFill>
        </p:spPr>
        <p:txBody>
          <a:bodyPr vert="horz" wrap="square" lIns="0" tIns="67945" rIns="0" bIns="0" rtlCol="0">
            <a:spAutoFit/>
          </a:bodyPr>
          <a:lstStyle/>
          <a:p>
            <a:pPr marL="172720">
              <a:lnSpc>
                <a:spcPct val="100000"/>
              </a:lnSpc>
              <a:spcBef>
                <a:spcPts val="535"/>
              </a:spcBef>
            </a:pPr>
            <a:r>
              <a:rPr sz="1600" spc="-5" dirty="0">
                <a:solidFill>
                  <a:srgbClr val="FFFFFF"/>
                </a:solidFill>
                <a:latin typeface="微软雅黑" panose="020B0503020204020204" charset="-122"/>
                <a:cs typeface="微软雅黑" panose="020B0503020204020204" charset="-122"/>
              </a:rPr>
              <a:t>e203_irq_sync</a:t>
            </a:r>
            <a:endParaRPr sz="1600">
              <a:latin typeface="微软雅黑" panose="020B0503020204020204" charset="-122"/>
              <a:cs typeface="微软雅黑" panose="020B0503020204020204" charset="-122"/>
            </a:endParaRPr>
          </a:p>
        </p:txBody>
      </p:sp>
      <p:sp>
        <p:nvSpPr>
          <p:cNvPr id="8" name="object 8"/>
          <p:cNvSpPr txBox="1"/>
          <p:nvPr/>
        </p:nvSpPr>
        <p:spPr>
          <a:xfrm>
            <a:off x="5646420" y="2549651"/>
            <a:ext cx="1687195" cy="408940"/>
          </a:xfrm>
          <a:prstGeom prst="rect">
            <a:avLst/>
          </a:prstGeom>
          <a:solidFill>
            <a:srgbClr val="C00000"/>
          </a:solidFill>
        </p:spPr>
        <p:txBody>
          <a:bodyPr vert="horz" wrap="square" lIns="0" tIns="67945" rIns="0" bIns="0" rtlCol="0">
            <a:spAutoFit/>
          </a:bodyPr>
          <a:lstStyle/>
          <a:p>
            <a:pPr marL="152400">
              <a:lnSpc>
                <a:spcPct val="100000"/>
              </a:lnSpc>
              <a:spcBef>
                <a:spcPts val="535"/>
              </a:spcBef>
            </a:pPr>
            <a:r>
              <a:rPr sz="1600" spc="-5" dirty="0">
                <a:solidFill>
                  <a:srgbClr val="FFFFFF"/>
                </a:solidFill>
                <a:latin typeface="微软雅黑" panose="020B0503020204020204" charset="-122"/>
                <a:cs typeface="微软雅黑" panose="020B0503020204020204" charset="-122"/>
              </a:rPr>
              <a:t>e203_itcm_ctrl</a:t>
            </a:r>
            <a:endParaRPr sz="1600">
              <a:latin typeface="微软雅黑" panose="020B0503020204020204" charset="-122"/>
              <a:cs typeface="微软雅黑" panose="020B0503020204020204" charset="-122"/>
            </a:endParaRPr>
          </a:p>
        </p:txBody>
      </p:sp>
      <p:sp>
        <p:nvSpPr>
          <p:cNvPr id="9" name="object 9"/>
          <p:cNvSpPr txBox="1"/>
          <p:nvPr/>
        </p:nvSpPr>
        <p:spPr>
          <a:xfrm>
            <a:off x="7435595" y="2549651"/>
            <a:ext cx="1685925" cy="408940"/>
          </a:xfrm>
          <a:prstGeom prst="rect">
            <a:avLst/>
          </a:prstGeom>
          <a:solidFill>
            <a:srgbClr val="C00000"/>
          </a:solidFill>
        </p:spPr>
        <p:txBody>
          <a:bodyPr vert="horz" wrap="square" lIns="0" tIns="67945" rIns="0" bIns="0" rtlCol="0">
            <a:spAutoFit/>
          </a:bodyPr>
          <a:lstStyle/>
          <a:p>
            <a:pPr marL="112395">
              <a:lnSpc>
                <a:spcPct val="100000"/>
              </a:lnSpc>
              <a:spcBef>
                <a:spcPts val="535"/>
              </a:spcBef>
            </a:pPr>
            <a:r>
              <a:rPr sz="1600" spc="-5" dirty="0">
                <a:solidFill>
                  <a:srgbClr val="FFFFFF"/>
                </a:solidFill>
                <a:latin typeface="微软雅黑" panose="020B0503020204020204" charset="-122"/>
                <a:cs typeface="微软雅黑" panose="020B0503020204020204" charset="-122"/>
              </a:rPr>
              <a:t>e203_dtcm_ctrl</a:t>
            </a:r>
            <a:endParaRPr sz="1600">
              <a:latin typeface="微软雅黑" panose="020B0503020204020204" charset="-122"/>
              <a:cs typeface="微软雅黑" panose="020B0503020204020204" charset="-122"/>
            </a:endParaRPr>
          </a:p>
        </p:txBody>
      </p:sp>
      <p:sp>
        <p:nvSpPr>
          <p:cNvPr id="10" name="object 10"/>
          <p:cNvSpPr txBox="1"/>
          <p:nvPr/>
        </p:nvSpPr>
        <p:spPr>
          <a:xfrm>
            <a:off x="9238488" y="2549651"/>
            <a:ext cx="1687195" cy="408940"/>
          </a:xfrm>
          <a:prstGeom prst="rect">
            <a:avLst/>
          </a:prstGeom>
          <a:solidFill>
            <a:srgbClr val="C00000"/>
          </a:solidFill>
        </p:spPr>
        <p:txBody>
          <a:bodyPr vert="horz" wrap="square" lIns="0" tIns="67945" rIns="0" bIns="0" rtlCol="0">
            <a:spAutoFit/>
          </a:bodyPr>
          <a:lstStyle/>
          <a:p>
            <a:pPr marL="123825">
              <a:lnSpc>
                <a:spcPct val="100000"/>
              </a:lnSpc>
              <a:spcBef>
                <a:spcPts val="535"/>
              </a:spcBef>
            </a:pPr>
            <a:r>
              <a:rPr sz="1600" spc="-5" dirty="0">
                <a:solidFill>
                  <a:srgbClr val="FFFFFF"/>
                </a:solidFill>
                <a:latin typeface="微软雅黑" panose="020B0503020204020204" charset="-122"/>
                <a:cs typeface="微软雅黑" panose="020B0503020204020204" charset="-122"/>
              </a:rPr>
              <a:t>e203_reset_ctrl</a:t>
            </a:r>
            <a:endParaRPr sz="1600">
              <a:latin typeface="微软雅黑" panose="020B0503020204020204" charset="-122"/>
              <a:cs typeface="微软雅黑" panose="020B0503020204020204" charset="-122"/>
            </a:endParaRPr>
          </a:p>
        </p:txBody>
      </p:sp>
      <p:sp>
        <p:nvSpPr>
          <p:cNvPr id="11" name="object 11"/>
          <p:cNvSpPr/>
          <p:nvPr/>
        </p:nvSpPr>
        <p:spPr>
          <a:xfrm>
            <a:off x="5440679" y="3063239"/>
            <a:ext cx="5669280" cy="1645919"/>
          </a:xfrm>
          <a:prstGeom prst="rect">
            <a:avLst/>
          </a:prstGeom>
          <a:blipFill>
            <a:blip r:embed="rId2" cstate="print"/>
            <a:stretch>
              <a:fillRect/>
            </a:stretch>
          </a:blipFill>
        </p:spPr>
        <p:txBody>
          <a:bodyPr wrap="square" lIns="0" tIns="0" rIns="0" bIns="0" rtlCol="0"/>
          <a:lstStyle/>
          <a:p/>
        </p:txBody>
      </p:sp>
      <p:sp>
        <p:nvSpPr>
          <p:cNvPr id="12" name="object 12"/>
          <p:cNvSpPr txBox="1"/>
          <p:nvPr/>
        </p:nvSpPr>
        <p:spPr>
          <a:xfrm>
            <a:off x="5646420" y="3509771"/>
            <a:ext cx="1687195" cy="408940"/>
          </a:xfrm>
          <a:prstGeom prst="rect">
            <a:avLst/>
          </a:prstGeom>
          <a:solidFill>
            <a:srgbClr val="C00000"/>
          </a:solidFill>
        </p:spPr>
        <p:txBody>
          <a:bodyPr vert="horz" wrap="square" lIns="0" tIns="67945" rIns="0" bIns="0" rtlCol="0">
            <a:spAutoFit/>
          </a:bodyPr>
          <a:lstStyle/>
          <a:p>
            <a:pPr marL="436245">
              <a:lnSpc>
                <a:spcPct val="100000"/>
              </a:lnSpc>
              <a:spcBef>
                <a:spcPts val="535"/>
              </a:spcBef>
            </a:pPr>
            <a:r>
              <a:rPr sz="1600" spc="-5" dirty="0">
                <a:solidFill>
                  <a:srgbClr val="FFFFFF"/>
                </a:solidFill>
                <a:latin typeface="微软雅黑" panose="020B0503020204020204" charset="-122"/>
                <a:cs typeface="微软雅黑" panose="020B0503020204020204" charset="-122"/>
              </a:rPr>
              <a:t>e203_ifu</a:t>
            </a:r>
            <a:endParaRPr sz="1600">
              <a:latin typeface="微软雅黑" panose="020B0503020204020204" charset="-122"/>
              <a:cs typeface="微软雅黑" panose="020B0503020204020204" charset="-122"/>
            </a:endParaRPr>
          </a:p>
        </p:txBody>
      </p:sp>
      <p:sp>
        <p:nvSpPr>
          <p:cNvPr id="13" name="object 13"/>
          <p:cNvSpPr txBox="1"/>
          <p:nvPr/>
        </p:nvSpPr>
        <p:spPr>
          <a:xfrm>
            <a:off x="7435595" y="3509771"/>
            <a:ext cx="1685925" cy="408940"/>
          </a:xfrm>
          <a:prstGeom prst="rect">
            <a:avLst/>
          </a:prstGeom>
          <a:solidFill>
            <a:srgbClr val="C00000"/>
          </a:solidFill>
        </p:spPr>
        <p:txBody>
          <a:bodyPr vert="horz" wrap="square" lIns="0" tIns="67945" rIns="0" bIns="0" rtlCol="0">
            <a:spAutoFit/>
          </a:bodyPr>
          <a:lstStyle/>
          <a:p>
            <a:pPr marL="387350">
              <a:lnSpc>
                <a:spcPct val="100000"/>
              </a:lnSpc>
              <a:spcBef>
                <a:spcPts val="535"/>
              </a:spcBef>
            </a:pPr>
            <a:r>
              <a:rPr sz="1600" spc="-5" dirty="0">
                <a:solidFill>
                  <a:srgbClr val="FFFFFF"/>
                </a:solidFill>
                <a:latin typeface="微软雅黑" panose="020B0503020204020204" charset="-122"/>
                <a:cs typeface="微软雅黑" panose="020B0503020204020204" charset="-122"/>
              </a:rPr>
              <a:t>e203_exu</a:t>
            </a:r>
            <a:endParaRPr sz="1600">
              <a:latin typeface="微软雅黑" panose="020B0503020204020204" charset="-122"/>
              <a:cs typeface="微软雅黑" panose="020B0503020204020204" charset="-122"/>
            </a:endParaRPr>
          </a:p>
        </p:txBody>
      </p:sp>
      <p:sp>
        <p:nvSpPr>
          <p:cNvPr id="14" name="object 14"/>
          <p:cNvSpPr txBox="1"/>
          <p:nvPr/>
        </p:nvSpPr>
        <p:spPr>
          <a:xfrm>
            <a:off x="9238488" y="3509771"/>
            <a:ext cx="1687195" cy="408940"/>
          </a:xfrm>
          <a:prstGeom prst="rect">
            <a:avLst/>
          </a:prstGeom>
          <a:solidFill>
            <a:srgbClr val="C00000"/>
          </a:solidFill>
        </p:spPr>
        <p:txBody>
          <a:bodyPr vert="horz" wrap="square" lIns="0" tIns="67945" rIns="0" bIns="0" rtlCol="0">
            <a:spAutoFit/>
          </a:bodyPr>
          <a:lstStyle/>
          <a:p>
            <a:pPr marL="424815">
              <a:lnSpc>
                <a:spcPct val="100000"/>
              </a:lnSpc>
              <a:spcBef>
                <a:spcPts val="535"/>
              </a:spcBef>
            </a:pPr>
            <a:r>
              <a:rPr sz="1600" spc="-5" dirty="0">
                <a:solidFill>
                  <a:srgbClr val="FFFFFF"/>
                </a:solidFill>
                <a:latin typeface="微软雅黑" panose="020B0503020204020204" charset="-122"/>
                <a:cs typeface="微软雅黑" panose="020B0503020204020204" charset="-122"/>
              </a:rPr>
              <a:t>e203_lsu</a:t>
            </a:r>
            <a:endParaRPr sz="1600">
              <a:latin typeface="微软雅黑" panose="020B0503020204020204" charset="-122"/>
              <a:cs typeface="微软雅黑" panose="020B0503020204020204" charset="-122"/>
            </a:endParaRPr>
          </a:p>
        </p:txBody>
      </p:sp>
      <p:sp>
        <p:nvSpPr>
          <p:cNvPr id="15" name="object 15"/>
          <p:cNvSpPr txBox="1"/>
          <p:nvPr/>
        </p:nvSpPr>
        <p:spPr>
          <a:xfrm>
            <a:off x="5646420" y="4035552"/>
            <a:ext cx="5279390" cy="408940"/>
          </a:xfrm>
          <a:prstGeom prst="rect">
            <a:avLst/>
          </a:prstGeom>
          <a:solidFill>
            <a:srgbClr val="C00000"/>
          </a:solidFill>
        </p:spPr>
        <p:txBody>
          <a:bodyPr vert="horz" wrap="square" lIns="0" tIns="69215" rIns="0" bIns="0" rtlCol="0">
            <a:spAutoFit/>
          </a:bodyPr>
          <a:lstStyle/>
          <a:p>
            <a:pPr algn="ctr">
              <a:lnSpc>
                <a:spcPct val="100000"/>
              </a:lnSpc>
              <a:spcBef>
                <a:spcPts val="545"/>
              </a:spcBef>
            </a:pPr>
            <a:r>
              <a:rPr sz="1600" spc="-5" dirty="0">
                <a:solidFill>
                  <a:srgbClr val="FFFFFF"/>
                </a:solidFill>
                <a:latin typeface="微软雅黑" panose="020B0503020204020204" charset="-122"/>
                <a:cs typeface="微软雅黑" panose="020B0503020204020204" charset="-122"/>
              </a:rPr>
              <a:t>e203_biu</a:t>
            </a:r>
            <a:endParaRPr sz="1600">
              <a:latin typeface="微软雅黑" panose="020B0503020204020204" charset="-122"/>
              <a:cs typeface="微软雅黑" panose="020B0503020204020204" charset="-122"/>
            </a:endParaRPr>
          </a:p>
        </p:txBody>
      </p:sp>
      <p:sp>
        <p:nvSpPr>
          <p:cNvPr id="16" name="object 16"/>
          <p:cNvSpPr/>
          <p:nvPr/>
        </p:nvSpPr>
        <p:spPr>
          <a:xfrm>
            <a:off x="5349240" y="4709159"/>
            <a:ext cx="5852160" cy="1051560"/>
          </a:xfrm>
          <a:prstGeom prst="rect">
            <a:avLst/>
          </a:prstGeom>
          <a:blipFill>
            <a:blip r:embed="rId3" cstate="print"/>
            <a:stretch>
              <a:fillRect/>
            </a:stretch>
          </a:blipFill>
        </p:spPr>
        <p:txBody>
          <a:bodyPr wrap="square" lIns="0" tIns="0" rIns="0" bIns="0" rtlCol="0"/>
          <a:lstStyle/>
          <a:p/>
        </p:txBody>
      </p:sp>
      <p:sp>
        <p:nvSpPr>
          <p:cNvPr id="17" name="object 17"/>
          <p:cNvSpPr txBox="1"/>
          <p:nvPr/>
        </p:nvSpPr>
        <p:spPr>
          <a:xfrm>
            <a:off x="5646420" y="5111496"/>
            <a:ext cx="2562225" cy="408940"/>
          </a:xfrm>
          <a:prstGeom prst="rect">
            <a:avLst/>
          </a:prstGeom>
          <a:solidFill>
            <a:srgbClr val="C00000"/>
          </a:solidFill>
        </p:spPr>
        <p:txBody>
          <a:bodyPr vert="horz" wrap="square" lIns="0" tIns="67945" rIns="0" bIns="0" rtlCol="0">
            <a:spAutoFit/>
          </a:bodyPr>
          <a:lstStyle/>
          <a:p>
            <a:pPr marL="554355">
              <a:lnSpc>
                <a:spcPct val="100000"/>
              </a:lnSpc>
              <a:spcBef>
                <a:spcPts val="535"/>
              </a:spcBef>
            </a:pPr>
            <a:r>
              <a:rPr sz="1600" spc="-5" dirty="0">
                <a:solidFill>
                  <a:srgbClr val="FFFFFF"/>
                </a:solidFill>
                <a:latin typeface="微软雅黑" panose="020B0503020204020204" charset="-122"/>
                <a:cs typeface="微软雅黑" panose="020B0503020204020204" charset="-122"/>
              </a:rPr>
              <a:t>e203_itcm_ram</a:t>
            </a:r>
            <a:endParaRPr sz="1600">
              <a:latin typeface="微软雅黑" panose="020B0503020204020204" charset="-122"/>
              <a:cs typeface="微软雅黑" panose="020B0503020204020204" charset="-122"/>
            </a:endParaRPr>
          </a:p>
        </p:txBody>
      </p:sp>
      <p:sp>
        <p:nvSpPr>
          <p:cNvPr id="18" name="object 18"/>
          <p:cNvSpPr txBox="1"/>
          <p:nvPr/>
        </p:nvSpPr>
        <p:spPr>
          <a:xfrm>
            <a:off x="8302752" y="5111496"/>
            <a:ext cx="2623185" cy="408940"/>
          </a:xfrm>
          <a:prstGeom prst="rect">
            <a:avLst/>
          </a:prstGeom>
          <a:solidFill>
            <a:srgbClr val="C00000"/>
          </a:solidFill>
        </p:spPr>
        <p:txBody>
          <a:bodyPr vert="horz" wrap="square" lIns="0" tIns="67945" rIns="0" bIns="0" rtlCol="0">
            <a:spAutoFit/>
          </a:bodyPr>
          <a:lstStyle/>
          <a:p>
            <a:pPr marL="545465">
              <a:lnSpc>
                <a:spcPct val="100000"/>
              </a:lnSpc>
              <a:spcBef>
                <a:spcPts val="535"/>
              </a:spcBef>
            </a:pPr>
            <a:r>
              <a:rPr sz="1600" spc="-5" dirty="0">
                <a:solidFill>
                  <a:srgbClr val="FFFFFF"/>
                </a:solidFill>
                <a:latin typeface="微软雅黑" panose="020B0503020204020204" charset="-122"/>
                <a:cs typeface="微软雅黑" panose="020B0503020204020204" charset="-122"/>
              </a:rPr>
              <a:t>e203_dtcm_ram</a:t>
            </a:r>
            <a:endParaRPr sz="1600">
              <a:latin typeface="微软雅黑" panose="020B0503020204020204" charset="-122"/>
              <a:cs typeface="微软雅黑" panose="020B0503020204020204" charset="-122"/>
            </a:endParaRPr>
          </a:p>
        </p:txBody>
      </p:sp>
      <p:sp>
        <p:nvSpPr>
          <p:cNvPr id="19" name="object 19"/>
          <p:cNvSpPr txBox="1"/>
          <p:nvPr/>
        </p:nvSpPr>
        <p:spPr>
          <a:xfrm>
            <a:off x="5725883" y="3180295"/>
            <a:ext cx="1050925" cy="268605"/>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C00000"/>
                </a:solidFill>
                <a:latin typeface="微软雅黑" panose="020B0503020204020204" charset="-122"/>
                <a:cs typeface="微软雅黑" panose="020B0503020204020204" charset="-122"/>
              </a:rPr>
              <a:t>e203_co</a:t>
            </a:r>
            <a:r>
              <a:rPr sz="1600" b="1" spc="-15" dirty="0">
                <a:solidFill>
                  <a:srgbClr val="C00000"/>
                </a:solidFill>
                <a:latin typeface="微软雅黑" panose="020B0503020204020204" charset="-122"/>
                <a:cs typeface="微软雅黑" panose="020B0503020204020204" charset="-122"/>
              </a:rPr>
              <a:t>r</a:t>
            </a:r>
            <a:r>
              <a:rPr sz="1600" b="1" spc="-5" dirty="0">
                <a:solidFill>
                  <a:srgbClr val="C00000"/>
                </a:solidFill>
                <a:latin typeface="微软雅黑" panose="020B0503020204020204" charset="-122"/>
                <a:cs typeface="微软雅黑" panose="020B0503020204020204" charset="-122"/>
              </a:rPr>
              <a:t>e</a:t>
            </a:r>
            <a:endParaRPr sz="1600">
              <a:latin typeface="微软雅黑" panose="020B0503020204020204" charset="-122"/>
              <a:cs typeface="微软雅黑" panose="020B0503020204020204" charset="-122"/>
            </a:endParaRPr>
          </a:p>
        </p:txBody>
      </p:sp>
      <p:sp>
        <p:nvSpPr>
          <p:cNvPr id="20" name="object 20"/>
          <p:cNvSpPr txBox="1"/>
          <p:nvPr/>
        </p:nvSpPr>
        <p:spPr>
          <a:xfrm>
            <a:off x="5725883" y="2077059"/>
            <a:ext cx="981075" cy="268605"/>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C00000"/>
                </a:solidFill>
                <a:latin typeface="微软雅黑" panose="020B0503020204020204" charset="-122"/>
                <a:cs typeface="微软雅黑" panose="020B0503020204020204" charset="-122"/>
              </a:rPr>
              <a:t>e203_cpu</a:t>
            </a:r>
            <a:endParaRPr sz="1600">
              <a:latin typeface="微软雅黑" panose="020B0503020204020204" charset="-122"/>
              <a:cs typeface="微软雅黑" panose="020B0503020204020204" charset="-122"/>
            </a:endParaRPr>
          </a:p>
        </p:txBody>
      </p:sp>
      <p:sp>
        <p:nvSpPr>
          <p:cNvPr id="21" name="object 21"/>
          <p:cNvSpPr txBox="1"/>
          <p:nvPr/>
        </p:nvSpPr>
        <p:spPr>
          <a:xfrm>
            <a:off x="5725883" y="4787213"/>
            <a:ext cx="1213485" cy="268605"/>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C00000"/>
                </a:solidFill>
                <a:latin typeface="微软雅黑" panose="020B0503020204020204" charset="-122"/>
                <a:cs typeface="微软雅黑" panose="020B0503020204020204" charset="-122"/>
              </a:rPr>
              <a:t>e203_srams</a:t>
            </a:r>
            <a:endParaRPr sz="1600">
              <a:latin typeface="微软雅黑" panose="020B0503020204020204" charset="-122"/>
              <a:cs typeface="微软雅黑" panose="020B0503020204020204" charset="-122"/>
            </a:endParaRPr>
          </a:p>
        </p:txBody>
      </p:sp>
      <p:sp>
        <p:nvSpPr>
          <p:cNvPr id="22" name="object 22"/>
          <p:cNvSpPr txBox="1"/>
          <p:nvPr/>
        </p:nvSpPr>
        <p:spPr>
          <a:xfrm>
            <a:off x="5547004" y="1584210"/>
            <a:ext cx="1423670" cy="268605"/>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C00000"/>
                </a:solidFill>
                <a:latin typeface="微软雅黑" panose="020B0503020204020204" charset="-122"/>
                <a:cs typeface="微软雅黑" panose="020B0503020204020204" charset="-122"/>
              </a:rPr>
              <a:t>e203_cpu_</a:t>
            </a:r>
            <a:r>
              <a:rPr sz="1600" b="1" spc="-15" dirty="0">
                <a:solidFill>
                  <a:srgbClr val="C00000"/>
                </a:solidFill>
                <a:latin typeface="微软雅黑" panose="020B0503020204020204" charset="-122"/>
                <a:cs typeface="微软雅黑" panose="020B0503020204020204" charset="-122"/>
              </a:rPr>
              <a:t>t</a:t>
            </a:r>
            <a:r>
              <a:rPr sz="1600" b="1" spc="-5" dirty="0">
                <a:solidFill>
                  <a:srgbClr val="C00000"/>
                </a:solidFill>
                <a:latin typeface="微软雅黑" panose="020B0503020204020204" charset="-122"/>
                <a:cs typeface="微软雅黑" panose="020B0503020204020204" charset="-122"/>
              </a:rPr>
              <a:t>op</a:t>
            </a:r>
            <a:endParaRPr sz="1600">
              <a:latin typeface="微软雅黑" panose="020B0503020204020204" charset="-122"/>
              <a:cs typeface="微软雅黑" panose="020B0503020204020204" charset="-122"/>
            </a:endParaRPr>
          </a:p>
        </p:txBody>
      </p:sp>
      <p:sp>
        <p:nvSpPr>
          <p:cNvPr id="23" name="object 23"/>
          <p:cNvSpPr txBox="1"/>
          <p:nvPr/>
        </p:nvSpPr>
        <p:spPr>
          <a:xfrm>
            <a:off x="600709" y="1524000"/>
            <a:ext cx="3826510" cy="4140200"/>
          </a:xfrm>
          <a:prstGeom prst="rect">
            <a:avLst/>
          </a:prstGeom>
        </p:spPr>
        <p:txBody>
          <a:bodyPr vert="horz" wrap="square" lIns="0" tIns="104140" rIns="0" bIns="0" rtlCol="0">
            <a:spAutoFit/>
          </a:bodyPr>
          <a:lstStyle/>
          <a:p>
            <a:pPr marL="12700">
              <a:lnSpc>
                <a:spcPct val="100000"/>
              </a:lnSpc>
              <a:spcBef>
                <a:spcPts val="820"/>
              </a:spcBef>
            </a:pPr>
            <a:r>
              <a:rPr sz="1200" b="1" spc="-5" dirty="0">
                <a:solidFill>
                  <a:srgbClr val="C00000"/>
                </a:solidFill>
                <a:latin typeface="微软雅黑" panose="020B0503020204020204" charset="-122"/>
                <a:cs typeface="微软雅黑" panose="020B0503020204020204" charset="-122"/>
              </a:rPr>
              <a:t>e203_cpu_top</a:t>
            </a:r>
            <a:r>
              <a:rPr sz="1200" dirty="0">
                <a:latin typeface="微软雅黑" panose="020B0503020204020204" charset="-122"/>
                <a:cs typeface="微软雅黑" panose="020B0503020204020204" charset="-122"/>
              </a:rPr>
              <a:t>是蜂鸟E203顶层模块</a:t>
            </a:r>
            <a:endParaRPr sz="1200">
              <a:latin typeface="微软雅黑" panose="020B0503020204020204" charset="-122"/>
              <a:cs typeface="微软雅黑" panose="020B0503020204020204" charset="-122"/>
            </a:endParaRPr>
          </a:p>
          <a:p>
            <a:pPr marL="274320" indent="-261620">
              <a:lnSpc>
                <a:spcPct val="100000"/>
              </a:lnSpc>
              <a:spcBef>
                <a:spcPts val="720"/>
              </a:spcBef>
              <a:buClr>
                <a:srgbClr val="000000"/>
              </a:buClr>
              <a:buFont typeface="Wingdings" panose="05000000000000000000"/>
              <a:buChar char=""/>
              <a:tabLst>
                <a:tab pos="273685" algn="l"/>
                <a:tab pos="274320" algn="l"/>
              </a:tabLst>
            </a:pPr>
            <a:r>
              <a:rPr sz="1200" b="1" dirty="0">
                <a:solidFill>
                  <a:srgbClr val="C00000"/>
                </a:solidFill>
                <a:latin typeface="微软雅黑" panose="020B0503020204020204" charset="-122"/>
                <a:cs typeface="微软雅黑" panose="020B0503020204020204" charset="-122"/>
              </a:rPr>
              <a:t>e203_cpu</a:t>
            </a:r>
            <a:r>
              <a:rPr sz="1200" dirty="0">
                <a:latin typeface="微软雅黑" panose="020B0503020204020204" charset="-122"/>
                <a:cs typeface="微软雅黑" panose="020B0503020204020204" charset="-122"/>
              </a:rPr>
              <a:t>，逻辑模块顶层</a:t>
            </a:r>
            <a:endParaRPr sz="1200">
              <a:latin typeface="微软雅黑" panose="020B0503020204020204" charset="-122"/>
              <a:cs typeface="微软雅黑" panose="020B0503020204020204" charset="-122"/>
            </a:endParaRPr>
          </a:p>
          <a:p>
            <a:pPr marL="800735" lvl="1" indent="-330835">
              <a:lnSpc>
                <a:spcPct val="100000"/>
              </a:lnSpc>
              <a:spcBef>
                <a:spcPts val="720"/>
              </a:spcBef>
              <a:buFont typeface="Wingdings" panose="05000000000000000000"/>
              <a:buChar char=""/>
              <a:tabLst>
                <a:tab pos="800100" algn="l"/>
                <a:tab pos="800735" algn="l"/>
              </a:tabLst>
            </a:pPr>
            <a:r>
              <a:rPr sz="1200" b="1" spc="-5" dirty="0">
                <a:solidFill>
                  <a:srgbClr val="C00000"/>
                </a:solidFill>
                <a:latin typeface="微软雅黑" panose="020B0503020204020204" charset="-122"/>
                <a:cs typeface="微软雅黑" panose="020B0503020204020204" charset="-122"/>
              </a:rPr>
              <a:t>e203_core</a:t>
            </a:r>
            <a:r>
              <a:rPr sz="1200" spc="-5" dirty="0">
                <a:latin typeface="微软雅黑" panose="020B0503020204020204" charset="-122"/>
                <a:cs typeface="微软雅黑" panose="020B0503020204020204" charset="-122"/>
              </a:rPr>
              <a:t>，</a:t>
            </a:r>
            <a:r>
              <a:rPr sz="1200" dirty="0">
                <a:latin typeface="微软雅黑" panose="020B0503020204020204" charset="-122"/>
                <a:cs typeface="微软雅黑" panose="020B0503020204020204" charset="-122"/>
              </a:rPr>
              <a:t>处理器核</a:t>
            </a:r>
            <a:endParaRPr sz="1200">
              <a:latin typeface="微软雅黑" panose="020B0503020204020204" charset="-122"/>
              <a:cs typeface="微软雅黑" panose="020B0503020204020204" charset="-122"/>
            </a:endParaRPr>
          </a:p>
          <a:p>
            <a:pPr marL="1212850" lvl="2" indent="-285750">
              <a:lnSpc>
                <a:spcPct val="100000"/>
              </a:lnSpc>
              <a:spcBef>
                <a:spcPts val="720"/>
              </a:spcBef>
              <a:buFont typeface="Wingdings" panose="05000000000000000000"/>
              <a:buChar char=""/>
              <a:tabLst>
                <a:tab pos="1212215" algn="l"/>
                <a:tab pos="1212850" algn="l"/>
              </a:tabLst>
            </a:pPr>
            <a:r>
              <a:rPr sz="1200" b="1" spc="-5" dirty="0">
                <a:solidFill>
                  <a:srgbClr val="C00000"/>
                </a:solidFill>
                <a:latin typeface="微软雅黑" panose="020B0503020204020204" charset="-122"/>
                <a:cs typeface="微软雅黑" panose="020B0503020204020204" charset="-122"/>
              </a:rPr>
              <a:t>e203_ifu</a:t>
            </a:r>
            <a:r>
              <a:rPr sz="1200" spc="-5" dirty="0">
                <a:latin typeface="微软雅黑" panose="020B0503020204020204" charset="-122"/>
                <a:cs typeface="微软雅黑" panose="020B0503020204020204" charset="-122"/>
              </a:rPr>
              <a:t>，</a:t>
            </a:r>
            <a:r>
              <a:rPr sz="1200" dirty="0">
                <a:latin typeface="微软雅黑" panose="020B0503020204020204" charset="-122"/>
                <a:cs typeface="微软雅黑" panose="020B0503020204020204" charset="-122"/>
              </a:rPr>
              <a:t>取指单元IFU</a:t>
            </a:r>
            <a:endParaRPr sz="1200">
              <a:latin typeface="微软雅黑" panose="020B0503020204020204" charset="-122"/>
              <a:cs typeface="微软雅黑" panose="020B0503020204020204" charset="-122"/>
            </a:endParaRPr>
          </a:p>
          <a:p>
            <a:pPr marL="1212850" lvl="2" indent="-285750">
              <a:lnSpc>
                <a:spcPct val="100000"/>
              </a:lnSpc>
              <a:spcBef>
                <a:spcPts val="720"/>
              </a:spcBef>
              <a:buFont typeface="Wingdings" panose="05000000000000000000"/>
              <a:buChar char=""/>
              <a:tabLst>
                <a:tab pos="1212215" algn="l"/>
                <a:tab pos="1212850" algn="l"/>
              </a:tabLst>
            </a:pPr>
            <a:r>
              <a:rPr sz="1200" b="1" spc="-5" dirty="0">
                <a:solidFill>
                  <a:srgbClr val="C00000"/>
                </a:solidFill>
                <a:latin typeface="微软雅黑" panose="020B0503020204020204" charset="-122"/>
                <a:cs typeface="微软雅黑" panose="020B0503020204020204" charset="-122"/>
              </a:rPr>
              <a:t>e203_exu</a:t>
            </a:r>
            <a:r>
              <a:rPr sz="1200" spc="-5" dirty="0">
                <a:latin typeface="微软雅黑" panose="020B0503020204020204" charset="-122"/>
                <a:cs typeface="微软雅黑" panose="020B0503020204020204" charset="-122"/>
              </a:rPr>
              <a:t>，</a:t>
            </a:r>
            <a:r>
              <a:rPr sz="1200" dirty="0">
                <a:latin typeface="微软雅黑" panose="020B0503020204020204" charset="-122"/>
                <a:cs typeface="微软雅黑" panose="020B0503020204020204" charset="-122"/>
              </a:rPr>
              <a:t>执行单元EXU</a:t>
            </a:r>
            <a:endParaRPr sz="1200">
              <a:latin typeface="微软雅黑" panose="020B0503020204020204" charset="-122"/>
              <a:cs typeface="微软雅黑" panose="020B0503020204020204" charset="-122"/>
            </a:endParaRPr>
          </a:p>
          <a:p>
            <a:pPr marL="1212850" lvl="2" indent="-285750">
              <a:lnSpc>
                <a:spcPct val="100000"/>
              </a:lnSpc>
              <a:spcBef>
                <a:spcPts val="720"/>
              </a:spcBef>
              <a:buFont typeface="Wingdings" panose="05000000000000000000"/>
              <a:buChar char=""/>
              <a:tabLst>
                <a:tab pos="1212215" algn="l"/>
                <a:tab pos="1212850" algn="l"/>
              </a:tabLst>
            </a:pPr>
            <a:r>
              <a:rPr sz="1200" b="1" spc="-5" dirty="0">
                <a:solidFill>
                  <a:srgbClr val="C00000"/>
                </a:solidFill>
                <a:latin typeface="微软雅黑" panose="020B0503020204020204" charset="-122"/>
                <a:cs typeface="微软雅黑" panose="020B0503020204020204" charset="-122"/>
              </a:rPr>
              <a:t>e203_lsu</a:t>
            </a:r>
            <a:r>
              <a:rPr sz="1200" spc="-5" dirty="0">
                <a:latin typeface="微软雅黑" panose="020B0503020204020204" charset="-122"/>
                <a:cs typeface="微软雅黑" panose="020B0503020204020204" charset="-122"/>
              </a:rPr>
              <a:t>，</a:t>
            </a:r>
            <a:r>
              <a:rPr sz="1200" dirty="0">
                <a:latin typeface="微软雅黑" panose="020B0503020204020204" charset="-122"/>
                <a:cs typeface="微软雅黑" panose="020B0503020204020204" charset="-122"/>
              </a:rPr>
              <a:t>存储器访问单元</a:t>
            </a:r>
            <a:r>
              <a:rPr sz="1200" spc="-5" dirty="0">
                <a:latin typeface="微软雅黑" panose="020B0503020204020204" charset="-122"/>
                <a:cs typeface="微软雅黑" panose="020B0503020204020204" charset="-122"/>
              </a:rPr>
              <a:t>LSU</a:t>
            </a:r>
            <a:endParaRPr sz="1200">
              <a:latin typeface="微软雅黑" panose="020B0503020204020204" charset="-122"/>
              <a:cs typeface="微软雅黑" panose="020B0503020204020204" charset="-122"/>
            </a:endParaRPr>
          </a:p>
          <a:p>
            <a:pPr marL="1212850" lvl="2" indent="-285750">
              <a:lnSpc>
                <a:spcPct val="100000"/>
              </a:lnSpc>
              <a:spcBef>
                <a:spcPts val="720"/>
              </a:spcBef>
              <a:buFont typeface="Wingdings" panose="05000000000000000000"/>
              <a:buChar char=""/>
              <a:tabLst>
                <a:tab pos="1212215" algn="l"/>
                <a:tab pos="1212850" algn="l"/>
              </a:tabLst>
            </a:pPr>
            <a:r>
              <a:rPr sz="1200" b="1" spc="-5" dirty="0">
                <a:solidFill>
                  <a:srgbClr val="C00000"/>
                </a:solidFill>
                <a:latin typeface="微软雅黑" panose="020B0503020204020204" charset="-122"/>
                <a:cs typeface="微软雅黑" panose="020B0503020204020204" charset="-122"/>
              </a:rPr>
              <a:t>e203_biu</a:t>
            </a:r>
            <a:r>
              <a:rPr sz="1200" spc="-5" dirty="0">
                <a:latin typeface="微软雅黑" panose="020B0503020204020204" charset="-122"/>
                <a:cs typeface="微软雅黑" panose="020B0503020204020204" charset="-122"/>
              </a:rPr>
              <a:t>，</a:t>
            </a:r>
            <a:r>
              <a:rPr sz="1200" dirty="0">
                <a:latin typeface="微软雅黑" panose="020B0503020204020204" charset="-122"/>
                <a:cs typeface="微软雅黑" panose="020B0503020204020204" charset="-122"/>
              </a:rPr>
              <a:t>总线接口单元BIU</a:t>
            </a:r>
            <a:endParaRPr sz="1200">
              <a:latin typeface="微软雅黑" panose="020B0503020204020204" charset="-122"/>
              <a:cs typeface="微软雅黑" panose="020B0503020204020204" charset="-122"/>
            </a:endParaRPr>
          </a:p>
          <a:p>
            <a:pPr marL="755650" lvl="1" indent="-285750">
              <a:lnSpc>
                <a:spcPct val="100000"/>
              </a:lnSpc>
              <a:spcBef>
                <a:spcPts val="720"/>
              </a:spcBef>
              <a:buFont typeface="Wingdings" panose="05000000000000000000"/>
              <a:buChar char=""/>
              <a:tabLst>
                <a:tab pos="755015" algn="l"/>
                <a:tab pos="755650" algn="l"/>
              </a:tabLst>
            </a:pPr>
            <a:r>
              <a:rPr sz="1200" b="1" spc="-5" dirty="0">
                <a:solidFill>
                  <a:srgbClr val="C00000"/>
                </a:solidFill>
                <a:latin typeface="微软雅黑" panose="020B0503020204020204" charset="-122"/>
                <a:cs typeface="微软雅黑" panose="020B0503020204020204" charset="-122"/>
              </a:rPr>
              <a:t>e203_clk_ctrl</a:t>
            </a:r>
            <a:r>
              <a:rPr sz="1200" spc="-5" dirty="0">
                <a:latin typeface="微软雅黑" panose="020B0503020204020204" charset="-122"/>
                <a:cs typeface="微软雅黑" panose="020B0503020204020204" charset="-122"/>
              </a:rPr>
              <a:t>，</a:t>
            </a:r>
            <a:r>
              <a:rPr sz="1200" dirty="0">
                <a:latin typeface="微软雅黑" panose="020B0503020204020204" charset="-122"/>
                <a:cs typeface="微软雅黑" panose="020B0503020204020204" charset="-122"/>
              </a:rPr>
              <a:t>控制各组件自动时钟门控</a:t>
            </a:r>
            <a:endParaRPr sz="1200">
              <a:latin typeface="微软雅黑" panose="020B0503020204020204" charset="-122"/>
              <a:cs typeface="微软雅黑" panose="020B0503020204020204" charset="-122"/>
            </a:endParaRPr>
          </a:p>
          <a:p>
            <a:pPr marL="755650" lvl="1" indent="-285750">
              <a:lnSpc>
                <a:spcPct val="100000"/>
              </a:lnSpc>
              <a:spcBef>
                <a:spcPts val="720"/>
              </a:spcBef>
              <a:buFont typeface="Wingdings" panose="05000000000000000000"/>
              <a:buChar char=""/>
              <a:tabLst>
                <a:tab pos="755015" algn="l"/>
                <a:tab pos="755650" algn="l"/>
              </a:tabLst>
            </a:pPr>
            <a:r>
              <a:rPr sz="1200" b="1" spc="-5" dirty="0">
                <a:solidFill>
                  <a:srgbClr val="C00000"/>
                </a:solidFill>
                <a:latin typeface="微软雅黑" panose="020B0503020204020204" charset="-122"/>
                <a:cs typeface="微软雅黑" panose="020B0503020204020204" charset="-122"/>
              </a:rPr>
              <a:t>e203_irq_sync</a:t>
            </a:r>
            <a:r>
              <a:rPr sz="1200" spc="-5" dirty="0">
                <a:latin typeface="微软雅黑" panose="020B0503020204020204" charset="-122"/>
                <a:cs typeface="微软雅黑" panose="020B0503020204020204" charset="-122"/>
              </a:rPr>
              <a:t>，</a:t>
            </a:r>
            <a:r>
              <a:rPr sz="1200" dirty="0">
                <a:latin typeface="微软雅黑" panose="020B0503020204020204" charset="-122"/>
                <a:cs typeface="微软雅黑" panose="020B0503020204020204" charset="-122"/>
              </a:rPr>
              <a:t>异步中断转同步</a:t>
            </a:r>
            <a:endParaRPr sz="1200">
              <a:latin typeface="微软雅黑" panose="020B0503020204020204" charset="-122"/>
              <a:cs typeface="微软雅黑" panose="020B0503020204020204" charset="-122"/>
            </a:endParaRPr>
          </a:p>
          <a:p>
            <a:pPr marL="755650" lvl="1" indent="-285750">
              <a:lnSpc>
                <a:spcPct val="100000"/>
              </a:lnSpc>
              <a:spcBef>
                <a:spcPts val="720"/>
              </a:spcBef>
              <a:buFont typeface="Wingdings" panose="05000000000000000000"/>
              <a:buChar char=""/>
              <a:tabLst>
                <a:tab pos="755015" algn="l"/>
                <a:tab pos="755650" algn="l"/>
              </a:tabLst>
            </a:pPr>
            <a:r>
              <a:rPr sz="1200" b="1" spc="-5" dirty="0">
                <a:solidFill>
                  <a:srgbClr val="C00000"/>
                </a:solidFill>
                <a:latin typeface="微软雅黑" panose="020B0503020204020204" charset="-122"/>
                <a:cs typeface="微软雅黑" panose="020B0503020204020204" charset="-122"/>
              </a:rPr>
              <a:t>e203_itcm_ctrl</a:t>
            </a:r>
            <a:r>
              <a:rPr sz="1200" spc="-5" dirty="0">
                <a:latin typeface="微软雅黑" panose="020B0503020204020204" charset="-122"/>
                <a:cs typeface="微软雅黑" panose="020B0503020204020204" charset="-122"/>
              </a:rPr>
              <a:t>，ITCM</a:t>
            </a:r>
            <a:r>
              <a:rPr sz="1200" dirty="0">
                <a:latin typeface="微软雅黑" panose="020B0503020204020204" charset="-122"/>
                <a:cs typeface="微软雅黑" panose="020B0503020204020204" charset="-122"/>
              </a:rPr>
              <a:t>访问控制</a:t>
            </a:r>
            <a:endParaRPr sz="1200">
              <a:latin typeface="微软雅黑" panose="020B0503020204020204" charset="-122"/>
              <a:cs typeface="微软雅黑" panose="020B0503020204020204" charset="-122"/>
            </a:endParaRPr>
          </a:p>
          <a:p>
            <a:pPr marL="755650" lvl="1" indent="-285750">
              <a:lnSpc>
                <a:spcPct val="100000"/>
              </a:lnSpc>
              <a:spcBef>
                <a:spcPts val="720"/>
              </a:spcBef>
              <a:buFont typeface="Wingdings" panose="05000000000000000000"/>
              <a:buChar char=""/>
              <a:tabLst>
                <a:tab pos="755015" algn="l"/>
                <a:tab pos="755650" algn="l"/>
              </a:tabLst>
            </a:pPr>
            <a:r>
              <a:rPr sz="1200" b="1" spc="-10" dirty="0">
                <a:solidFill>
                  <a:srgbClr val="C00000"/>
                </a:solidFill>
                <a:latin typeface="微软雅黑" panose="020B0503020204020204" charset="-122"/>
                <a:cs typeface="微软雅黑" panose="020B0503020204020204" charset="-122"/>
              </a:rPr>
              <a:t>e203_dtcm_ctrl</a:t>
            </a:r>
            <a:r>
              <a:rPr sz="1200" spc="-10" dirty="0">
                <a:latin typeface="微软雅黑" panose="020B0503020204020204" charset="-122"/>
                <a:cs typeface="微软雅黑" panose="020B0503020204020204" charset="-122"/>
              </a:rPr>
              <a:t>，DTCM</a:t>
            </a:r>
            <a:r>
              <a:rPr sz="1200" dirty="0">
                <a:latin typeface="微软雅黑" panose="020B0503020204020204" charset="-122"/>
                <a:cs typeface="微软雅黑" panose="020B0503020204020204" charset="-122"/>
              </a:rPr>
              <a:t>访问控制</a:t>
            </a:r>
            <a:endParaRPr sz="1200">
              <a:latin typeface="微软雅黑" panose="020B0503020204020204" charset="-122"/>
              <a:cs typeface="微软雅黑" panose="020B0503020204020204" charset="-122"/>
            </a:endParaRPr>
          </a:p>
          <a:p>
            <a:pPr marL="755650" lvl="1" indent="-285750">
              <a:lnSpc>
                <a:spcPct val="100000"/>
              </a:lnSpc>
              <a:spcBef>
                <a:spcPts val="720"/>
              </a:spcBef>
              <a:buFont typeface="Wingdings" panose="05000000000000000000"/>
              <a:buChar char=""/>
              <a:tabLst>
                <a:tab pos="755015" algn="l"/>
                <a:tab pos="755650" algn="l"/>
              </a:tabLst>
            </a:pPr>
            <a:r>
              <a:rPr sz="1200" b="1" spc="-5" dirty="0">
                <a:solidFill>
                  <a:srgbClr val="C00000"/>
                </a:solidFill>
                <a:latin typeface="微软雅黑" panose="020B0503020204020204" charset="-122"/>
                <a:cs typeface="微软雅黑" panose="020B0503020204020204" charset="-122"/>
              </a:rPr>
              <a:t>e203_reset_ctrl</a:t>
            </a:r>
            <a:r>
              <a:rPr sz="1200" spc="-5" dirty="0">
                <a:latin typeface="微软雅黑" panose="020B0503020204020204" charset="-122"/>
                <a:cs typeface="微软雅黑" panose="020B0503020204020204" charset="-122"/>
              </a:rPr>
              <a:t>，</a:t>
            </a:r>
            <a:r>
              <a:rPr sz="1200" dirty="0">
                <a:latin typeface="微软雅黑" panose="020B0503020204020204" charset="-122"/>
                <a:cs typeface="微软雅黑" panose="020B0503020204020204" charset="-122"/>
              </a:rPr>
              <a:t>将外部异步置位信号同步</a:t>
            </a:r>
            <a:endParaRPr sz="1200">
              <a:latin typeface="微软雅黑" panose="020B0503020204020204" charset="-122"/>
              <a:cs typeface="微软雅黑" panose="020B0503020204020204" charset="-122"/>
            </a:endParaRPr>
          </a:p>
          <a:p>
            <a:pPr marL="216535" indent="-203835">
              <a:lnSpc>
                <a:spcPct val="100000"/>
              </a:lnSpc>
              <a:spcBef>
                <a:spcPts val="720"/>
              </a:spcBef>
              <a:buFont typeface="Wingdings" panose="05000000000000000000"/>
              <a:buChar char=""/>
              <a:tabLst>
                <a:tab pos="216535" algn="l"/>
              </a:tabLst>
            </a:pPr>
            <a:r>
              <a:rPr sz="1200" b="1" spc="-5" dirty="0">
                <a:solidFill>
                  <a:srgbClr val="C00000"/>
                </a:solidFill>
                <a:latin typeface="微软雅黑" panose="020B0503020204020204" charset="-122"/>
                <a:cs typeface="微软雅黑" panose="020B0503020204020204" charset="-122"/>
              </a:rPr>
              <a:t>e203_srams</a:t>
            </a:r>
            <a:r>
              <a:rPr sz="1200" spc="-5" dirty="0">
                <a:latin typeface="微软雅黑" panose="020B0503020204020204" charset="-122"/>
                <a:cs typeface="微软雅黑" panose="020B0503020204020204" charset="-122"/>
              </a:rPr>
              <a:t>，SRAM</a:t>
            </a:r>
            <a:r>
              <a:rPr sz="1200" dirty="0">
                <a:latin typeface="微软雅黑" panose="020B0503020204020204" charset="-122"/>
                <a:cs typeface="微软雅黑" panose="020B0503020204020204" charset="-122"/>
              </a:rPr>
              <a:t>模块顶层</a:t>
            </a:r>
            <a:endParaRPr sz="1200">
              <a:latin typeface="微软雅黑" panose="020B0503020204020204" charset="-122"/>
              <a:cs typeface="微软雅黑" panose="020B0503020204020204" charset="-122"/>
            </a:endParaRPr>
          </a:p>
          <a:p>
            <a:pPr marL="800735" lvl="1" indent="-330835">
              <a:lnSpc>
                <a:spcPct val="100000"/>
              </a:lnSpc>
              <a:spcBef>
                <a:spcPts val="720"/>
              </a:spcBef>
              <a:buFont typeface="Wingdings" panose="05000000000000000000"/>
              <a:buChar char=""/>
              <a:tabLst>
                <a:tab pos="800100" algn="l"/>
                <a:tab pos="800735" algn="l"/>
              </a:tabLst>
            </a:pPr>
            <a:r>
              <a:rPr sz="1200" b="1" spc="-5" dirty="0">
                <a:solidFill>
                  <a:srgbClr val="C00000"/>
                </a:solidFill>
                <a:latin typeface="微软雅黑" panose="020B0503020204020204" charset="-122"/>
                <a:cs typeface="微软雅黑" panose="020B0503020204020204" charset="-122"/>
              </a:rPr>
              <a:t>e203_itcm_ram</a:t>
            </a:r>
            <a:r>
              <a:rPr sz="1200" spc="-5" dirty="0">
                <a:latin typeface="微软雅黑" panose="020B0503020204020204" charset="-122"/>
                <a:cs typeface="微软雅黑" panose="020B0503020204020204" charset="-122"/>
              </a:rPr>
              <a:t>，ITCM</a:t>
            </a:r>
            <a:r>
              <a:rPr sz="1200" dirty="0">
                <a:latin typeface="微软雅黑" panose="020B0503020204020204" charset="-122"/>
                <a:cs typeface="微软雅黑" panose="020B0503020204020204" charset="-122"/>
              </a:rPr>
              <a:t>指令紧耦合存储器</a:t>
            </a:r>
            <a:endParaRPr sz="1200">
              <a:latin typeface="微软雅黑" panose="020B0503020204020204" charset="-122"/>
              <a:cs typeface="微软雅黑" panose="020B0503020204020204" charset="-122"/>
            </a:endParaRPr>
          </a:p>
          <a:p>
            <a:pPr marL="800735" lvl="1" indent="-330835">
              <a:lnSpc>
                <a:spcPct val="100000"/>
              </a:lnSpc>
              <a:spcBef>
                <a:spcPts val="720"/>
              </a:spcBef>
              <a:buClr>
                <a:srgbClr val="000000"/>
              </a:buClr>
              <a:buFont typeface="Wingdings" panose="05000000000000000000"/>
              <a:buChar char=""/>
              <a:tabLst>
                <a:tab pos="800100" algn="l"/>
                <a:tab pos="800735" algn="l"/>
              </a:tabLst>
            </a:pPr>
            <a:r>
              <a:rPr sz="1200" b="1" spc="-10" dirty="0">
                <a:solidFill>
                  <a:srgbClr val="C00000"/>
                </a:solidFill>
                <a:latin typeface="微软雅黑" panose="020B0503020204020204" charset="-122"/>
                <a:cs typeface="微软雅黑" panose="020B0503020204020204" charset="-122"/>
              </a:rPr>
              <a:t>e203_dtcm_ram</a:t>
            </a:r>
            <a:r>
              <a:rPr sz="1200" spc="-10" dirty="0">
                <a:latin typeface="微软雅黑" panose="020B0503020204020204" charset="-122"/>
                <a:cs typeface="微软雅黑" panose="020B0503020204020204" charset="-122"/>
              </a:rPr>
              <a:t>，DTCM</a:t>
            </a:r>
            <a:r>
              <a:rPr sz="1200" dirty="0">
                <a:latin typeface="微软雅黑" panose="020B0503020204020204" charset="-122"/>
                <a:cs typeface="微软雅黑" panose="020B0503020204020204" charset="-122"/>
              </a:rPr>
              <a:t>数据紧耦合存储器</a:t>
            </a:r>
            <a:endParaRPr sz="1200">
              <a:latin typeface="微软雅黑" panose="020B0503020204020204" charset="-122"/>
              <a:cs typeface="微软雅黑" panose="020B0503020204020204" charset="-122"/>
            </a:endParaRPr>
          </a:p>
        </p:txBody>
      </p:sp>
      <p:sp>
        <p:nvSpPr>
          <p:cNvPr id="24" name="object 2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0369" y="412610"/>
            <a:ext cx="433324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蜂鸟E</a:t>
            </a:r>
            <a:r>
              <a:rPr sz="3600" spc="-5" dirty="0">
                <a:solidFill>
                  <a:srgbClr val="C00000"/>
                </a:solidFill>
              </a:rPr>
              <a:t>203</a:t>
            </a:r>
            <a:r>
              <a:rPr sz="3600" dirty="0">
                <a:solidFill>
                  <a:srgbClr val="C00000"/>
                </a:solidFill>
              </a:rPr>
              <a:t>流水线设计</a:t>
            </a:r>
            <a:endParaRPr sz="3600"/>
          </a:p>
        </p:txBody>
      </p:sp>
      <p:sp>
        <p:nvSpPr>
          <p:cNvPr id="3" name="object 3"/>
          <p:cNvSpPr/>
          <p:nvPr/>
        </p:nvSpPr>
        <p:spPr>
          <a:xfrm>
            <a:off x="0" y="377952"/>
            <a:ext cx="417830" cy="676910"/>
          </a:xfrm>
          <a:custGeom>
            <a:avLst/>
            <a:gdLst/>
            <a:ahLst/>
            <a:cxnLst/>
            <a:rect l="l" t="t" r="r" b="b"/>
            <a:pathLst>
              <a:path w="417830" h="676910">
                <a:moveTo>
                  <a:pt x="0" y="676656"/>
                </a:moveTo>
                <a:lnTo>
                  <a:pt x="0" y="0"/>
                </a:lnTo>
                <a:lnTo>
                  <a:pt x="417576" y="0"/>
                </a:lnTo>
                <a:lnTo>
                  <a:pt x="417576" y="676656"/>
                </a:lnTo>
                <a:lnTo>
                  <a:pt x="0" y="676656"/>
                </a:lnTo>
                <a:close/>
              </a:path>
            </a:pathLst>
          </a:custGeom>
          <a:solidFill>
            <a:srgbClr val="C00000"/>
          </a:solidFill>
        </p:spPr>
        <p:txBody>
          <a:bodyPr wrap="square" lIns="0" tIns="0" rIns="0" bIns="0" rtlCol="0"/>
          <a:lstStyle/>
          <a:p/>
        </p:txBody>
      </p:sp>
      <p:sp>
        <p:nvSpPr>
          <p:cNvPr id="4" name="object 4"/>
          <p:cNvSpPr txBox="1"/>
          <p:nvPr/>
        </p:nvSpPr>
        <p:spPr>
          <a:xfrm>
            <a:off x="546569" y="1476946"/>
            <a:ext cx="3764915" cy="1671320"/>
          </a:xfrm>
          <a:prstGeom prst="rect">
            <a:avLst/>
          </a:prstGeom>
        </p:spPr>
        <p:txBody>
          <a:bodyPr vert="horz" wrap="square" lIns="0" tIns="104139" rIns="0" bIns="0" rtlCol="0">
            <a:spAutoFit/>
          </a:bodyPr>
          <a:lstStyle/>
          <a:p>
            <a:pPr marL="12700">
              <a:lnSpc>
                <a:spcPct val="100000"/>
              </a:lnSpc>
              <a:spcBef>
                <a:spcPts val="820"/>
              </a:spcBef>
            </a:pPr>
            <a:r>
              <a:rPr sz="1200" dirty="0">
                <a:latin typeface="微软雅黑" panose="020B0503020204020204" charset="-122"/>
                <a:cs typeface="微软雅黑" panose="020B0503020204020204" charset="-122"/>
              </a:rPr>
              <a:t>经典的五级流水线设计,一条指令生命周期分为5个步骤</a:t>
            </a:r>
            <a:endParaRPr sz="1200">
              <a:latin typeface="微软雅黑" panose="020B0503020204020204" charset="-122"/>
              <a:cs typeface="微软雅黑" panose="020B0503020204020204" charset="-122"/>
            </a:endParaRPr>
          </a:p>
          <a:p>
            <a:pPr marL="412750" indent="-114300">
              <a:lnSpc>
                <a:spcPct val="100000"/>
              </a:lnSpc>
              <a:spcBef>
                <a:spcPts val="720"/>
              </a:spcBef>
              <a:buSzPct val="92000"/>
              <a:buFont typeface="Wingdings" panose="05000000000000000000"/>
              <a:buChar char=""/>
              <a:tabLst>
                <a:tab pos="412750" algn="l"/>
              </a:tabLst>
            </a:pPr>
            <a:r>
              <a:rPr sz="1200" b="1" dirty="0">
                <a:solidFill>
                  <a:srgbClr val="C00000"/>
                </a:solidFill>
                <a:latin typeface="微软雅黑" panose="020B0503020204020204" charset="-122"/>
                <a:cs typeface="微软雅黑" panose="020B0503020204020204" charset="-122"/>
              </a:rPr>
              <a:t>取指(IF)</a:t>
            </a:r>
            <a:r>
              <a:rPr sz="1200" dirty="0">
                <a:latin typeface="微软雅黑" panose="020B0503020204020204" charset="-122"/>
                <a:cs typeface="微软雅黑" panose="020B0503020204020204" charset="-122"/>
              </a:rPr>
              <a:t>：从存储器中取出指令</a:t>
            </a:r>
            <a:endParaRPr sz="1200">
              <a:latin typeface="微软雅黑" panose="020B0503020204020204" charset="-122"/>
              <a:cs typeface="微软雅黑" panose="020B0503020204020204" charset="-122"/>
            </a:endParaRPr>
          </a:p>
          <a:p>
            <a:pPr marL="412750" indent="-114300">
              <a:lnSpc>
                <a:spcPct val="100000"/>
              </a:lnSpc>
              <a:spcBef>
                <a:spcPts val="720"/>
              </a:spcBef>
              <a:buSzPct val="92000"/>
              <a:buFont typeface="Wingdings" panose="05000000000000000000"/>
              <a:buChar char=""/>
              <a:tabLst>
                <a:tab pos="412750" algn="l"/>
              </a:tabLst>
            </a:pPr>
            <a:r>
              <a:rPr sz="1200" b="1" dirty="0">
                <a:solidFill>
                  <a:srgbClr val="C00000"/>
                </a:solidFill>
                <a:latin typeface="微软雅黑" panose="020B0503020204020204" charset="-122"/>
                <a:cs typeface="微软雅黑" panose="020B0503020204020204" charset="-122"/>
              </a:rPr>
              <a:t>译码(ID)</a:t>
            </a:r>
            <a:r>
              <a:rPr sz="1200" dirty="0">
                <a:latin typeface="微软雅黑" panose="020B0503020204020204" charset="-122"/>
                <a:cs typeface="微软雅黑" panose="020B0503020204020204" charset="-122"/>
              </a:rPr>
              <a:t>：对指令进行解析获取操作类型和操作数</a:t>
            </a:r>
            <a:endParaRPr sz="1200">
              <a:latin typeface="微软雅黑" panose="020B0503020204020204" charset="-122"/>
              <a:cs typeface="微软雅黑" panose="020B0503020204020204" charset="-122"/>
            </a:endParaRPr>
          </a:p>
          <a:p>
            <a:pPr marL="412750" indent="-114300">
              <a:lnSpc>
                <a:spcPct val="100000"/>
              </a:lnSpc>
              <a:spcBef>
                <a:spcPts val="720"/>
              </a:spcBef>
              <a:buSzPct val="92000"/>
              <a:buFont typeface="Wingdings" panose="05000000000000000000"/>
              <a:buChar char=""/>
              <a:tabLst>
                <a:tab pos="412750" algn="l"/>
              </a:tabLst>
            </a:pPr>
            <a:r>
              <a:rPr sz="1200" b="1" dirty="0">
                <a:solidFill>
                  <a:srgbClr val="C00000"/>
                </a:solidFill>
                <a:latin typeface="微软雅黑" panose="020B0503020204020204" charset="-122"/>
                <a:cs typeface="微软雅黑" panose="020B0503020204020204" charset="-122"/>
              </a:rPr>
              <a:t>执行(EX)</a:t>
            </a:r>
            <a:r>
              <a:rPr sz="1200" dirty="0">
                <a:latin typeface="微软雅黑" panose="020B0503020204020204" charset="-122"/>
                <a:cs typeface="微软雅黑" panose="020B0503020204020204" charset="-122"/>
              </a:rPr>
              <a:t>：对译码后的指令进行运算</a:t>
            </a:r>
            <a:endParaRPr sz="1200">
              <a:latin typeface="微软雅黑" panose="020B0503020204020204" charset="-122"/>
              <a:cs typeface="微软雅黑" panose="020B0503020204020204" charset="-122"/>
            </a:endParaRPr>
          </a:p>
          <a:p>
            <a:pPr marL="412750" indent="-114300">
              <a:lnSpc>
                <a:spcPct val="100000"/>
              </a:lnSpc>
              <a:spcBef>
                <a:spcPts val="720"/>
              </a:spcBef>
              <a:buSzPct val="92000"/>
              <a:buFont typeface="Wingdings" panose="05000000000000000000"/>
              <a:buChar char=""/>
              <a:tabLst>
                <a:tab pos="412750" algn="l"/>
              </a:tabLst>
            </a:pPr>
            <a:r>
              <a:rPr sz="1200" b="1" dirty="0">
                <a:solidFill>
                  <a:srgbClr val="C00000"/>
                </a:solidFill>
                <a:latin typeface="微软雅黑" panose="020B0503020204020204" charset="-122"/>
                <a:cs typeface="微软雅黑" panose="020B0503020204020204" charset="-122"/>
              </a:rPr>
              <a:t>访存(M</a:t>
            </a:r>
            <a:r>
              <a:rPr sz="1200" b="1" spc="-5" dirty="0">
                <a:solidFill>
                  <a:srgbClr val="C00000"/>
                </a:solidFill>
                <a:latin typeface="微软雅黑" panose="020B0503020204020204" charset="-122"/>
                <a:cs typeface="微软雅黑" panose="020B0503020204020204" charset="-122"/>
              </a:rPr>
              <a:t>E</a:t>
            </a:r>
            <a:r>
              <a:rPr sz="1200" b="1" dirty="0">
                <a:solidFill>
                  <a:srgbClr val="C00000"/>
                </a:solidFill>
                <a:latin typeface="微软雅黑" panose="020B0503020204020204" charset="-122"/>
                <a:cs typeface="微软雅黑" panose="020B0503020204020204" charset="-122"/>
              </a:rPr>
              <a:t>M)</a:t>
            </a:r>
            <a:r>
              <a:rPr sz="1200" dirty="0">
                <a:latin typeface="微软雅黑" panose="020B0503020204020204" charset="-122"/>
                <a:cs typeface="微软雅黑" panose="020B0503020204020204" charset="-122"/>
              </a:rPr>
              <a:t>：从存储器中读出或写入数据</a:t>
            </a:r>
            <a:endParaRPr sz="1200">
              <a:latin typeface="微软雅黑" panose="020B0503020204020204" charset="-122"/>
              <a:cs typeface="微软雅黑" panose="020B0503020204020204" charset="-122"/>
            </a:endParaRPr>
          </a:p>
          <a:p>
            <a:pPr marL="412750" indent="-114300">
              <a:lnSpc>
                <a:spcPct val="100000"/>
              </a:lnSpc>
              <a:spcBef>
                <a:spcPts val="720"/>
              </a:spcBef>
              <a:buSzPct val="92000"/>
              <a:buFont typeface="Wingdings" panose="05000000000000000000"/>
              <a:buChar char=""/>
              <a:tabLst>
                <a:tab pos="412750" algn="l"/>
              </a:tabLst>
            </a:pPr>
            <a:r>
              <a:rPr sz="1200" b="1" dirty="0">
                <a:solidFill>
                  <a:srgbClr val="C00000"/>
                </a:solidFill>
                <a:latin typeface="微软雅黑" panose="020B0503020204020204" charset="-122"/>
                <a:cs typeface="微软雅黑" panose="020B0503020204020204" charset="-122"/>
              </a:rPr>
              <a:t>写回(</a:t>
            </a:r>
            <a:r>
              <a:rPr sz="1200" b="1" spc="-5" dirty="0">
                <a:solidFill>
                  <a:srgbClr val="C00000"/>
                </a:solidFill>
                <a:latin typeface="微软雅黑" panose="020B0503020204020204" charset="-122"/>
                <a:cs typeface="微软雅黑" panose="020B0503020204020204" charset="-122"/>
              </a:rPr>
              <a:t>WB</a:t>
            </a:r>
            <a:r>
              <a:rPr sz="1200" b="1" dirty="0">
                <a:solidFill>
                  <a:srgbClr val="C00000"/>
                </a:solidFill>
                <a:latin typeface="微软雅黑" panose="020B0503020204020204" charset="-122"/>
                <a:cs typeface="微软雅黑" panose="020B0503020204020204" charset="-122"/>
              </a:rPr>
              <a:t>)</a:t>
            </a:r>
            <a:r>
              <a:rPr sz="1200" dirty="0">
                <a:latin typeface="微软雅黑" panose="020B0503020204020204" charset="-122"/>
                <a:cs typeface="微软雅黑" panose="020B0503020204020204" charset="-122"/>
              </a:rPr>
              <a:t>：将执行结果写回通用寄存器组</a:t>
            </a:r>
            <a:endParaRPr sz="1200">
              <a:latin typeface="微软雅黑" panose="020B0503020204020204" charset="-122"/>
              <a:cs typeface="微软雅黑" panose="020B0503020204020204" charset="-122"/>
            </a:endParaRPr>
          </a:p>
        </p:txBody>
      </p:sp>
      <p:sp>
        <p:nvSpPr>
          <p:cNvPr id="5" name="object 5"/>
          <p:cNvSpPr/>
          <p:nvPr/>
        </p:nvSpPr>
        <p:spPr>
          <a:xfrm>
            <a:off x="622173" y="4106926"/>
            <a:ext cx="5895708" cy="1606740"/>
          </a:xfrm>
          <a:prstGeom prst="rect">
            <a:avLst/>
          </a:prstGeom>
          <a:blipFill>
            <a:blip r:embed="rId1" cstate="print"/>
            <a:stretch>
              <a:fillRect/>
            </a:stretch>
          </a:blipFill>
        </p:spPr>
        <p:txBody>
          <a:bodyPr wrap="square" lIns="0" tIns="0" rIns="0" bIns="0" rtlCol="0"/>
          <a:lstStyle/>
          <a:p/>
        </p:txBody>
      </p:sp>
      <p:sp>
        <p:nvSpPr>
          <p:cNvPr id="6" name="object 6"/>
          <p:cNvSpPr txBox="1"/>
          <p:nvPr/>
        </p:nvSpPr>
        <p:spPr>
          <a:xfrm>
            <a:off x="3491903" y="5348985"/>
            <a:ext cx="18859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00000"/>
                </a:solidFill>
                <a:latin typeface="Calibri" panose="020F0502020204030204"/>
                <a:cs typeface="Calibri" panose="020F0502020204030204"/>
              </a:rPr>
              <a:t>IF</a:t>
            </a:r>
            <a:endParaRPr sz="1800">
              <a:latin typeface="Calibri" panose="020F0502020204030204"/>
              <a:cs typeface="Calibri" panose="020F0502020204030204"/>
            </a:endParaRPr>
          </a:p>
        </p:txBody>
      </p:sp>
      <p:sp>
        <p:nvSpPr>
          <p:cNvPr id="7" name="object 7"/>
          <p:cNvSpPr txBox="1"/>
          <p:nvPr/>
        </p:nvSpPr>
        <p:spPr>
          <a:xfrm>
            <a:off x="4124401" y="5348985"/>
            <a:ext cx="224154"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00000"/>
                </a:solidFill>
                <a:latin typeface="Calibri" panose="020F0502020204030204"/>
                <a:cs typeface="Calibri" panose="020F0502020204030204"/>
              </a:rPr>
              <a:t>ID</a:t>
            </a:r>
            <a:endParaRPr sz="1800">
              <a:latin typeface="Calibri" panose="020F0502020204030204"/>
              <a:cs typeface="Calibri" panose="020F0502020204030204"/>
            </a:endParaRPr>
          </a:p>
        </p:txBody>
      </p:sp>
      <p:sp>
        <p:nvSpPr>
          <p:cNvPr id="8" name="object 8"/>
          <p:cNvSpPr txBox="1"/>
          <p:nvPr/>
        </p:nvSpPr>
        <p:spPr>
          <a:xfrm>
            <a:off x="4757546" y="5348985"/>
            <a:ext cx="255904"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00000"/>
                </a:solidFill>
                <a:latin typeface="Calibri" panose="020F0502020204030204"/>
                <a:cs typeface="Calibri" panose="020F0502020204030204"/>
              </a:rPr>
              <a:t>EX</a:t>
            </a:r>
            <a:endParaRPr sz="1800">
              <a:latin typeface="Calibri" panose="020F0502020204030204"/>
              <a:cs typeface="Calibri" panose="020F0502020204030204"/>
            </a:endParaRPr>
          </a:p>
        </p:txBody>
      </p:sp>
      <p:sp>
        <p:nvSpPr>
          <p:cNvPr id="9" name="object 9"/>
          <p:cNvSpPr txBox="1"/>
          <p:nvPr/>
        </p:nvSpPr>
        <p:spPr>
          <a:xfrm>
            <a:off x="5299874" y="5366130"/>
            <a:ext cx="471805" cy="268605"/>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C00000"/>
                </a:solidFill>
                <a:latin typeface="Calibri" panose="020F0502020204030204"/>
                <a:cs typeface="Calibri" panose="020F0502020204030204"/>
              </a:rPr>
              <a:t>M</a:t>
            </a:r>
            <a:r>
              <a:rPr sz="1600" spc="-5" dirty="0">
                <a:solidFill>
                  <a:srgbClr val="C00000"/>
                </a:solidFill>
                <a:latin typeface="Calibri" panose="020F0502020204030204"/>
                <a:cs typeface="Calibri" panose="020F0502020204030204"/>
              </a:rPr>
              <a:t>EM</a:t>
            </a:r>
            <a:endParaRPr sz="1600">
              <a:latin typeface="Calibri" panose="020F0502020204030204"/>
              <a:cs typeface="Calibri" panose="020F0502020204030204"/>
            </a:endParaRPr>
          </a:p>
        </p:txBody>
      </p:sp>
      <p:sp>
        <p:nvSpPr>
          <p:cNvPr id="10" name="object 10"/>
          <p:cNvSpPr txBox="1"/>
          <p:nvPr/>
        </p:nvSpPr>
        <p:spPr>
          <a:xfrm>
            <a:off x="6009843" y="5348985"/>
            <a:ext cx="35306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C00000"/>
                </a:solidFill>
                <a:latin typeface="Calibri" panose="020F0502020204030204"/>
                <a:cs typeface="Calibri" panose="020F0502020204030204"/>
              </a:rPr>
              <a:t>W</a:t>
            </a:r>
            <a:r>
              <a:rPr sz="1800" dirty="0">
                <a:solidFill>
                  <a:srgbClr val="C00000"/>
                </a:solidFill>
                <a:latin typeface="Calibri" panose="020F0502020204030204"/>
                <a:cs typeface="Calibri" panose="020F0502020204030204"/>
              </a:rPr>
              <a:t>B</a:t>
            </a:r>
            <a:endParaRPr sz="1800">
              <a:latin typeface="Calibri" panose="020F0502020204030204"/>
              <a:cs typeface="Calibri" panose="020F0502020204030204"/>
            </a:endParaRPr>
          </a:p>
        </p:txBody>
      </p:sp>
      <p:sp>
        <p:nvSpPr>
          <p:cNvPr id="11" name="object 11"/>
          <p:cNvSpPr txBox="1"/>
          <p:nvPr/>
        </p:nvSpPr>
        <p:spPr>
          <a:xfrm>
            <a:off x="1461909" y="5388495"/>
            <a:ext cx="93345" cy="268605"/>
          </a:xfrm>
          <a:prstGeom prst="rect">
            <a:avLst/>
          </a:prstGeom>
        </p:spPr>
        <p:txBody>
          <a:bodyPr vert="horz" wrap="square" lIns="0" tIns="12065" rIns="0" bIns="0" rtlCol="0">
            <a:spAutoFit/>
          </a:bodyPr>
          <a:lstStyle/>
          <a:p>
            <a:pPr marL="12700">
              <a:lnSpc>
                <a:spcPct val="100000"/>
              </a:lnSpc>
              <a:spcBef>
                <a:spcPts val="95"/>
              </a:spcBef>
            </a:pPr>
            <a:r>
              <a:rPr sz="1600" i="1" spc="-5" dirty="0">
                <a:solidFill>
                  <a:srgbClr val="C00000"/>
                </a:solidFill>
                <a:latin typeface="Calibri" panose="020F0502020204030204"/>
                <a:cs typeface="Calibri" panose="020F0502020204030204"/>
              </a:rPr>
              <a:t>t</a:t>
            </a:r>
            <a:endParaRPr sz="1600">
              <a:latin typeface="Calibri" panose="020F0502020204030204"/>
              <a:cs typeface="Calibri" panose="020F0502020204030204"/>
            </a:endParaRPr>
          </a:p>
        </p:txBody>
      </p:sp>
      <p:sp>
        <p:nvSpPr>
          <p:cNvPr id="12" name="object 12"/>
          <p:cNvSpPr txBox="1"/>
          <p:nvPr/>
        </p:nvSpPr>
        <p:spPr>
          <a:xfrm>
            <a:off x="739012" y="4798986"/>
            <a:ext cx="72390" cy="268605"/>
          </a:xfrm>
          <a:prstGeom prst="rect">
            <a:avLst/>
          </a:prstGeom>
        </p:spPr>
        <p:txBody>
          <a:bodyPr vert="horz" wrap="square" lIns="0" tIns="12065" rIns="0" bIns="0" rtlCol="0">
            <a:spAutoFit/>
          </a:bodyPr>
          <a:lstStyle/>
          <a:p>
            <a:pPr marL="12700">
              <a:lnSpc>
                <a:spcPct val="100000"/>
              </a:lnSpc>
              <a:spcBef>
                <a:spcPts val="95"/>
              </a:spcBef>
            </a:pPr>
            <a:r>
              <a:rPr sz="1600" i="1" spc="-5" dirty="0">
                <a:solidFill>
                  <a:srgbClr val="C00000"/>
                </a:solidFill>
                <a:latin typeface="Calibri" panose="020F0502020204030204"/>
                <a:cs typeface="Calibri" panose="020F0502020204030204"/>
              </a:rPr>
              <a:t>i</a:t>
            </a:r>
            <a:endParaRPr sz="1600">
              <a:latin typeface="Calibri" panose="020F0502020204030204"/>
              <a:cs typeface="Calibri" panose="020F0502020204030204"/>
            </a:endParaRPr>
          </a:p>
        </p:txBody>
      </p:sp>
      <p:sp>
        <p:nvSpPr>
          <p:cNvPr id="13" name="object 13"/>
          <p:cNvSpPr/>
          <p:nvPr/>
        </p:nvSpPr>
        <p:spPr>
          <a:xfrm>
            <a:off x="7444740" y="3680459"/>
            <a:ext cx="774700" cy="1018540"/>
          </a:xfrm>
          <a:custGeom>
            <a:avLst/>
            <a:gdLst/>
            <a:ahLst/>
            <a:cxnLst/>
            <a:rect l="l" t="t" r="r" b="b"/>
            <a:pathLst>
              <a:path w="774700" h="1018539">
                <a:moveTo>
                  <a:pt x="0" y="0"/>
                </a:moveTo>
                <a:lnTo>
                  <a:pt x="774192" y="0"/>
                </a:lnTo>
                <a:lnTo>
                  <a:pt x="774192" y="1018032"/>
                </a:lnTo>
                <a:lnTo>
                  <a:pt x="0" y="1018032"/>
                </a:lnTo>
                <a:lnTo>
                  <a:pt x="0" y="0"/>
                </a:lnTo>
                <a:close/>
              </a:path>
            </a:pathLst>
          </a:custGeom>
          <a:solidFill>
            <a:srgbClr val="D9D9D9"/>
          </a:solidFill>
        </p:spPr>
        <p:txBody>
          <a:bodyPr wrap="square" lIns="0" tIns="0" rIns="0" bIns="0" rtlCol="0"/>
          <a:lstStyle/>
          <a:p/>
        </p:txBody>
      </p:sp>
      <p:sp>
        <p:nvSpPr>
          <p:cNvPr id="14" name="object 14"/>
          <p:cNvSpPr/>
          <p:nvPr/>
        </p:nvSpPr>
        <p:spPr>
          <a:xfrm>
            <a:off x="7438605" y="3673830"/>
            <a:ext cx="787400" cy="1030605"/>
          </a:xfrm>
          <a:custGeom>
            <a:avLst/>
            <a:gdLst/>
            <a:ahLst/>
            <a:cxnLst/>
            <a:rect l="l" t="t" r="r" b="b"/>
            <a:pathLst>
              <a:path w="787400" h="1030604">
                <a:moveTo>
                  <a:pt x="787400" y="1030490"/>
                </a:moveTo>
                <a:lnTo>
                  <a:pt x="0" y="1030490"/>
                </a:lnTo>
                <a:lnTo>
                  <a:pt x="0" y="0"/>
                </a:lnTo>
                <a:lnTo>
                  <a:pt x="787400" y="0"/>
                </a:lnTo>
                <a:lnTo>
                  <a:pt x="787400" y="6350"/>
                </a:lnTo>
                <a:lnTo>
                  <a:pt x="12700" y="6350"/>
                </a:lnTo>
                <a:lnTo>
                  <a:pt x="6350" y="12700"/>
                </a:lnTo>
                <a:lnTo>
                  <a:pt x="12700" y="12700"/>
                </a:lnTo>
                <a:lnTo>
                  <a:pt x="12700" y="1017790"/>
                </a:lnTo>
                <a:lnTo>
                  <a:pt x="6350" y="1017790"/>
                </a:lnTo>
                <a:lnTo>
                  <a:pt x="12700" y="1024140"/>
                </a:lnTo>
                <a:lnTo>
                  <a:pt x="787400" y="1024140"/>
                </a:lnTo>
                <a:lnTo>
                  <a:pt x="787400" y="1030490"/>
                </a:lnTo>
                <a:close/>
              </a:path>
              <a:path w="787400" h="1030604">
                <a:moveTo>
                  <a:pt x="12700" y="12700"/>
                </a:moveTo>
                <a:lnTo>
                  <a:pt x="6350" y="12700"/>
                </a:lnTo>
                <a:lnTo>
                  <a:pt x="12700" y="6350"/>
                </a:lnTo>
                <a:lnTo>
                  <a:pt x="12700" y="12700"/>
                </a:lnTo>
                <a:close/>
              </a:path>
              <a:path w="787400" h="1030604">
                <a:moveTo>
                  <a:pt x="774700" y="12700"/>
                </a:moveTo>
                <a:lnTo>
                  <a:pt x="12700" y="12700"/>
                </a:lnTo>
                <a:lnTo>
                  <a:pt x="12700" y="6350"/>
                </a:lnTo>
                <a:lnTo>
                  <a:pt x="774700" y="6350"/>
                </a:lnTo>
                <a:lnTo>
                  <a:pt x="774700" y="12700"/>
                </a:lnTo>
                <a:close/>
              </a:path>
              <a:path w="787400" h="1030604">
                <a:moveTo>
                  <a:pt x="774700" y="1024140"/>
                </a:moveTo>
                <a:lnTo>
                  <a:pt x="774700" y="6350"/>
                </a:lnTo>
                <a:lnTo>
                  <a:pt x="781050" y="12700"/>
                </a:lnTo>
                <a:lnTo>
                  <a:pt x="787400" y="12700"/>
                </a:lnTo>
                <a:lnTo>
                  <a:pt x="787400" y="1017790"/>
                </a:lnTo>
                <a:lnTo>
                  <a:pt x="781050" y="1017790"/>
                </a:lnTo>
                <a:lnTo>
                  <a:pt x="774700" y="1024140"/>
                </a:lnTo>
                <a:close/>
              </a:path>
              <a:path w="787400" h="1030604">
                <a:moveTo>
                  <a:pt x="787400" y="12700"/>
                </a:moveTo>
                <a:lnTo>
                  <a:pt x="781050" y="12700"/>
                </a:lnTo>
                <a:lnTo>
                  <a:pt x="774700" y="6350"/>
                </a:lnTo>
                <a:lnTo>
                  <a:pt x="787400" y="6350"/>
                </a:lnTo>
                <a:lnTo>
                  <a:pt x="787400" y="12700"/>
                </a:lnTo>
                <a:close/>
              </a:path>
              <a:path w="787400" h="1030604">
                <a:moveTo>
                  <a:pt x="12700" y="1024140"/>
                </a:moveTo>
                <a:lnTo>
                  <a:pt x="6350" y="1017790"/>
                </a:lnTo>
                <a:lnTo>
                  <a:pt x="12700" y="1017790"/>
                </a:lnTo>
                <a:lnTo>
                  <a:pt x="12700" y="1024140"/>
                </a:lnTo>
                <a:close/>
              </a:path>
              <a:path w="787400" h="1030604">
                <a:moveTo>
                  <a:pt x="774700" y="1024140"/>
                </a:moveTo>
                <a:lnTo>
                  <a:pt x="12700" y="1024140"/>
                </a:lnTo>
                <a:lnTo>
                  <a:pt x="12700" y="1017790"/>
                </a:lnTo>
                <a:lnTo>
                  <a:pt x="774700" y="1017790"/>
                </a:lnTo>
                <a:lnTo>
                  <a:pt x="774700" y="1024140"/>
                </a:lnTo>
                <a:close/>
              </a:path>
              <a:path w="787400" h="1030604">
                <a:moveTo>
                  <a:pt x="787400" y="1024140"/>
                </a:moveTo>
                <a:lnTo>
                  <a:pt x="774700" y="1024140"/>
                </a:lnTo>
                <a:lnTo>
                  <a:pt x="781050" y="1017790"/>
                </a:lnTo>
                <a:lnTo>
                  <a:pt x="787400" y="1017790"/>
                </a:lnTo>
                <a:lnTo>
                  <a:pt x="787400" y="1024140"/>
                </a:lnTo>
                <a:close/>
              </a:path>
            </a:pathLst>
          </a:custGeom>
          <a:solidFill>
            <a:srgbClr val="C00000"/>
          </a:solidFill>
        </p:spPr>
        <p:txBody>
          <a:bodyPr wrap="square" lIns="0" tIns="0" rIns="0" bIns="0" rtlCol="0"/>
          <a:lstStyle/>
          <a:p/>
        </p:txBody>
      </p:sp>
      <p:sp>
        <p:nvSpPr>
          <p:cNvPr id="15" name="object 15"/>
          <p:cNvSpPr txBox="1"/>
          <p:nvPr/>
        </p:nvSpPr>
        <p:spPr>
          <a:xfrm>
            <a:off x="7625930" y="4024985"/>
            <a:ext cx="41275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alibri" panose="020F0502020204030204"/>
                <a:cs typeface="Calibri" panose="020F0502020204030204"/>
              </a:rPr>
              <a:t>E</a:t>
            </a:r>
            <a:r>
              <a:rPr sz="1800" b="1" spc="-5" dirty="0">
                <a:solidFill>
                  <a:srgbClr val="C00000"/>
                </a:solidFill>
                <a:latin typeface="Calibri" panose="020F0502020204030204"/>
                <a:cs typeface="Calibri" panose="020F0502020204030204"/>
              </a:rPr>
              <a:t>X</a:t>
            </a:r>
            <a:r>
              <a:rPr sz="1800" b="1" dirty="0">
                <a:solidFill>
                  <a:srgbClr val="C00000"/>
                </a:solidFill>
                <a:latin typeface="Calibri" panose="020F0502020204030204"/>
                <a:cs typeface="Calibri" panose="020F0502020204030204"/>
              </a:rPr>
              <a:t>U</a:t>
            </a:r>
            <a:endParaRPr sz="1800">
              <a:latin typeface="Calibri" panose="020F0502020204030204"/>
              <a:cs typeface="Calibri" panose="020F0502020204030204"/>
            </a:endParaRPr>
          </a:p>
        </p:txBody>
      </p:sp>
      <p:sp>
        <p:nvSpPr>
          <p:cNvPr id="16" name="object 16"/>
          <p:cNvSpPr/>
          <p:nvPr/>
        </p:nvSpPr>
        <p:spPr>
          <a:xfrm>
            <a:off x="6074664" y="3680459"/>
            <a:ext cx="897890" cy="350520"/>
          </a:xfrm>
          <a:custGeom>
            <a:avLst/>
            <a:gdLst/>
            <a:ahLst/>
            <a:cxnLst/>
            <a:rect l="l" t="t" r="r" b="b"/>
            <a:pathLst>
              <a:path w="897890" h="350520">
                <a:moveTo>
                  <a:pt x="0" y="0"/>
                </a:moveTo>
                <a:lnTo>
                  <a:pt x="897636" y="0"/>
                </a:lnTo>
                <a:lnTo>
                  <a:pt x="897636" y="350520"/>
                </a:lnTo>
                <a:lnTo>
                  <a:pt x="0" y="350520"/>
                </a:lnTo>
                <a:lnTo>
                  <a:pt x="0" y="0"/>
                </a:lnTo>
                <a:close/>
              </a:path>
            </a:pathLst>
          </a:custGeom>
          <a:solidFill>
            <a:srgbClr val="D9D9D9"/>
          </a:solidFill>
        </p:spPr>
        <p:txBody>
          <a:bodyPr wrap="square" lIns="0" tIns="0" rIns="0" bIns="0" rtlCol="0"/>
          <a:lstStyle/>
          <a:p/>
        </p:txBody>
      </p:sp>
      <p:sp>
        <p:nvSpPr>
          <p:cNvPr id="17" name="object 17"/>
          <p:cNvSpPr/>
          <p:nvPr/>
        </p:nvSpPr>
        <p:spPr>
          <a:xfrm>
            <a:off x="6067577" y="3673830"/>
            <a:ext cx="911225" cy="363220"/>
          </a:xfrm>
          <a:custGeom>
            <a:avLst/>
            <a:gdLst/>
            <a:ahLst/>
            <a:cxnLst/>
            <a:rect l="l" t="t" r="r" b="b"/>
            <a:pathLst>
              <a:path w="911225" h="363220">
                <a:moveTo>
                  <a:pt x="911199" y="362788"/>
                </a:moveTo>
                <a:lnTo>
                  <a:pt x="0" y="362788"/>
                </a:lnTo>
                <a:lnTo>
                  <a:pt x="0" y="0"/>
                </a:lnTo>
                <a:lnTo>
                  <a:pt x="911199" y="0"/>
                </a:lnTo>
                <a:lnTo>
                  <a:pt x="911199" y="6350"/>
                </a:lnTo>
                <a:lnTo>
                  <a:pt x="12700" y="6350"/>
                </a:lnTo>
                <a:lnTo>
                  <a:pt x="6350" y="12700"/>
                </a:lnTo>
                <a:lnTo>
                  <a:pt x="12700" y="12700"/>
                </a:lnTo>
                <a:lnTo>
                  <a:pt x="12700" y="350088"/>
                </a:lnTo>
                <a:lnTo>
                  <a:pt x="6350" y="350088"/>
                </a:lnTo>
                <a:lnTo>
                  <a:pt x="12700" y="356438"/>
                </a:lnTo>
                <a:lnTo>
                  <a:pt x="911199" y="356438"/>
                </a:lnTo>
                <a:lnTo>
                  <a:pt x="911199" y="362788"/>
                </a:lnTo>
                <a:close/>
              </a:path>
              <a:path w="911225" h="363220">
                <a:moveTo>
                  <a:pt x="12700" y="12700"/>
                </a:moveTo>
                <a:lnTo>
                  <a:pt x="6350" y="12700"/>
                </a:lnTo>
                <a:lnTo>
                  <a:pt x="12700" y="6350"/>
                </a:lnTo>
                <a:lnTo>
                  <a:pt x="12700" y="12700"/>
                </a:lnTo>
                <a:close/>
              </a:path>
              <a:path w="911225" h="363220">
                <a:moveTo>
                  <a:pt x="898499" y="12700"/>
                </a:moveTo>
                <a:lnTo>
                  <a:pt x="12700" y="12700"/>
                </a:lnTo>
                <a:lnTo>
                  <a:pt x="12700" y="6350"/>
                </a:lnTo>
                <a:lnTo>
                  <a:pt x="898499" y="6350"/>
                </a:lnTo>
                <a:lnTo>
                  <a:pt x="898499" y="12700"/>
                </a:lnTo>
                <a:close/>
              </a:path>
              <a:path w="911225" h="363220">
                <a:moveTo>
                  <a:pt x="898499" y="356438"/>
                </a:moveTo>
                <a:lnTo>
                  <a:pt x="898499" y="6350"/>
                </a:lnTo>
                <a:lnTo>
                  <a:pt x="904849" y="12700"/>
                </a:lnTo>
                <a:lnTo>
                  <a:pt x="911199" y="12700"/>
                </a:lnTo>
                <a:lnTo>
                  <a:pt x="911199" y="350088"/>
                </a:lnTo>
                <a:lnTo>
                  <a:pt x="904849" y="350088"/>
                </a:lnTo>
                <a:lnTo>
                  <a:pt x="898499" y="356438"/>
                </a:lnTo>
                <a:close/>
              </a:path>
              <a:path w="911225" h="363220">
                <a:moveTo>
                  <a:pt x="911199" y="12700"/>
                </a:moveTo>
                <a:lnTo>
                  <a:pt x="904849" y="12700"/>
                </a:lnTo>
                <a:lnTo>
                  <a:pt x="898499" y="6350"/>
                </a:lnTo>
                <a:lnTo>
                  <a:pt x="911199" y="6350"/>
                </a:lnTo>
                <a:lnTo>
                  <a:pt x="911199" y="12700"/>
                </a:lnTo>
                <a:close/>
              </a:path>
              <a:path w="911225" h="363220">
                <a:moveTo>
                  <a:pt x="12700" y="356438"/>
                </a:moveTo>
                <a:lnTo>
                  <a:pt x="6350" y="350088"/>
                </a:lnTo>
                <a:lnTo>
                  <a:pt x="12700" y="350088"/>
                </a:lnTo>
                <a:lnTo>
                  <a:pt x="12700" y="356438"/>
                </a:lnTo>
                <a:close/>
              </a:path>
              <a:path w="911225" h="363220">
                <a:moveTo>
                  <a:pt x="898499" y="356438"/>
                </a:moveTo>
                <a:lnTo>
                  <a:pt x="12700" y="356438"/>
                </a:lnTo>
                <a:lnTo>
                  <a:pt x="12700" y="350088"/>
                </a:lnTo>
                <a:lnTo>
                  <a:pt x="898499" y="350088"/>
                </a:lnTo>
                <a:lnTo>
                  <a:pt x="898499" y="356438"/>
                </a:lnTo>
                <a:close/>
              </a:path>
              <a:path w="911225" h="363220">
                <a:moveTo>
                  <a:pt x="911199" y="356438"/>
                </a:moveTo>
                <a:lnTo>
                  <a:pt x="898499" y="356438"/>
                </a:lnTo>
                <a:lnTo>
                  <a:pt x="904849" y="350088"/>
                </a:lnTo>
                <a:lnTo>
                  <a:pt x="911199" y="350088"/>
                </a:lnTo>
                <a:lnTo>
                  <a:pt x="911199" y="356438"/>
                </a:lnTo>
                <a:close/>
              </a:path>
            </a:pathLst>
          </a:custGeom>
          <a:solidFill>
            <a:srgbClr val="C00000"/>
          </a:solidFill>
        </p:spPr>
        <p:txBody>
          <a:bodyPr wrap="square" lIns="0" tIns="0" rIns="0" bIns="0" rtlCol="0"/>
          <a:lstStyle/>
          <a:p/>
        </p:txBody>
      </p:sp>
      <p:graphicFrame>
        <p:nvGraphicFramePr>
          <p:cNvPr id="18" name="object 18"/>
          <p:cNvGraphicFramePr>
            <a:graphicFrameLocks noGrp="1"/>
          </p:cNvGraphicFramePr>
          <p:nvPr/>
        </p:nvGraphicFramePr>
        <p:xfrm>
          <a:off x="872363" y="3680459"/>
          <a:ext cx="6100445" cy="1656080"/>
        </p:xfrm>
        <a:graphic>
          <a:graphicData uri="http://schemas.openxmlformats.org/drawingml/2006/table">
            <a:tbl>
              <a:tblPr firstRow="1" bandRow="1">
                <a:tableStyleId>{2D5ABB26-0587-4C30-8999-92F81FD0307C}</a:tableStyleId>
              </a:tblPr>
              <a:tblGrid>
                <a:gridCol w="1080135"/>
                <a:gridCol w="603885"/>
                <a:gridCol w="704215"/>
                <a:gridCol w="650239"/>
                <a:gridCol w="650239"/>
                <a:gridCol w="680085"/>
                <a:gridCol w="1731645"/>
              </a:tblGrid>
              <a:tr h="350520">
                <a:tc gridSpan="6">
                  <a:txBody>
                    <a:bodyPr/>
                    <a:lstStyle/>
                    <a:p>
                      <a:pPr>
                        <a:lnSpc>
                          <a:spcPct val="100000"/>
                        </a:lnSpc>
                      </a:pPr>
                      <a:endParaRPr sz="1300">
                        <a:latin typeface="Times New Roman" panose="02020603050405020304"/>
                        <a:cs typeface="Times New Roman" panose="02020603050405020304"/>
                      </a:endParaRPr>
                    </a:p>
                  </a:txBody>
                  <a:tcPr marL="0" marR="0" marT="0" marB="0"/>
                </a:tc>
                <a:tc hMerge="1">
                  <a:tcPr marL="0" marR="0" marT="0" marB="0"/>
                </a:tc>
                <a:tc hMerge="1">
                  <a:tcPr marL="0" marR="0" marT="0" marB="0"/>
                </a:tc>
                <a:tc hMerge="1">
                  <a:tcPr marL="0" marR="0" marT="0" marB="0"/>
                </a:tc>
                <a:tc hMerge="1">
                  <a:tcPr marL="0" marR="0" marT="0" marB="0"/>
                </a:tc>
                <a:tc hMerge="1">
                  <a:tcPr marL="0" marR="0" marT="0" marB="0"/>
                </a:tc>
                <a:tc>
                  <a:txBody>
                    <a:bodyPr/>
                    <a:lstStyle/>
                    <a:p>
                      <a:pPr marL="1124585">
                        <a:lnSpc>
                          <a:spcPct val="100000"/>
                        </a:lnSpc>
                        <a:spcBef>
                          <a:spcPts val="185"/>
                        </a:spcBef>
                      </a:pPr>
                      <a:r>
                        <a:rPr sz="1800" b="1" spc="-5" dirty="0">
                          <a:solidFill>
                            <a:srgbClr val="C00000"/>
                          </a:solidFill>
                          <a:latin typeface="Calibri" panose="020F0502020204030204"/>
                          <a:cs typeface="Calibri" panose="020F0502020204030204"/>
                        </a:rPr>
                        <a:t>IFU</a:t>
                      </a:r>
                      <a:endParaRPr sz="1800">
                        <a:latin typeface="Calibri" panose="020F0502020204030204"/>
                        <a:cs typeface="Calibri" panose="020F0502020204030204"/>
                      </a:endParaRPr>
                    </a:p>
                  </a:txBody>
                  <a:tcPr marL="0" marR="0" marT="23495" marB="0"/>
                </a:tc>
              </a:tr>
              <a:tr h="724681">
                <a:tc>
                  <a:txBody>
                    <a:bodyPr/>
                    <a:lstStyle/>
                    <a:p>
                      <a:pPr marL="31750">
                        <a:lnSpc>
                          <a:spcPct val="100000"/>
                        </a:lnSpc>
                        <a:spcBef>
                          <a:spcPts val="680"/>
                        </a:spcBef>
                        <a:tabLst>
                          <a:tab pos="663575" algn="l"/>
                        </a:tabLst>
                      </a:pPr>
                      <a:r>
                        <a:rPr sz="1800" dirty="0">
                          <a:solidFill>
                            <a:srgbClr val="C00000"/>
                          </a:solidFill>
                          <a:latin typeface="Calibri" panose="020F0502020204030204"/>
                          <a:cs typeface="Calibri" panose="020F0502020204030204"/>
                        </a:rPr>
                        <a:t>IF	ID</a:t>
                      </a:r>
                      <a:endParaRPr sz="1800">
                        <a:latin typeface="Calibri" panose="020F0502020204030204"/>
                        <a:cs typeface="Calibri" panose="020F0502020204030204"/>
                      </a:endParaRPr>
                    </a:p>
                    <a:p>
                      <a:pPr marL="681990">
                        <a:lnSpc>
                          <a:spcPct val="100000"/>
                        </a:lnSpc>
                        <a:spcBef>
                          <a:spcPts val="290"/>
                        </a:spcBef>
                      </a:pPr>
                      <a:r>
                        <a:rPr sz="1800" dirty="0">
                          <a:solidFill>
                            <a:srgbClr val="C00000"/>
                          </a:solidFill>
                          <a:latin typeface="Calibri" panose="020F0502020204030204"/>
                          <a:cs typeface="Calibri" panose="020F0502020204030204"/>
                        </a:rPr>
                        <a:t>IF</a:t>
                      </a:r>
                      <a:endParaRPr sz="1800">
                        <a:latin typeface="Calibri" panose="020F0502020204030204"/>
                        <a:cs typeface="Calibri" panose="020F0502020204030204"/>
                      </a:endParaRPr>
                    </a:p>
                  </a:txBody>
                  <a:tcPr marL="0" marR="0" marT="86360" marB="0"/>
                </a:tc>
                <a:tc>
                  <a:txBody>
                    <a:bodyPr/>
                    <a:lstStyle/>
                    <a:p>
                      <a:pPr marL="234315" marR="147955" indent="-17145">
                        <a:lnSpc>
                          <a:spcPct val="113000"/>
                        </a:lnSpc>
                        <a:spcBef>
                          <a:spcPts val="390"/>
                        </a:spcBef>
                      </a:pPr>
                      <a:r>
                        <a:rPr sz="1800" dirty="0">
                          <a:solidFill>
                            <a:srgbClr val="C00000"/>
                          </a:solidFill>
                          <a:latin typeface="Calibri" panose="020F0502020204030204"/>
                          <a:cs typeface="Calibri" panose="020F0502020204030204"/>
                        </a:rPr>
                        <a:t>EX  ID</a:t>
                      </a:r>
                      <a:endParaRPr sz="1800">
                        <a:latin typeface="Calibri" panose="020F0502020204030204"/>
                        <a:cs typeface="Calibri" panose="020F0502020204030204"/>
                      </a:endParaRPr>
                    </a:p>
                  </a:txBody>
                  <a:tcPr marL="0" marR="0" marT="49530" marB="0"/>
                </a:tc>
                <a:tc>
                  <a:txBody>
                    <a:bodyPr/>
                    <a:lstStyle/>
                    <a:p>
                      <a:pPr marL="53340" algn="ctr">
                        <a:lnSpc>
                          <a:spcPct val="100000"/>
                        </a:lnSpc>
                        <a:spcBef>
                          <a:spcPts val="810"/>
                        </a:spcBef>
                      </a:pPr>
                      <a:r>
                        <a:rPr sz="1600" spc="-5" dirty="0">
                          <a:solidFill>
                            <a:srgbClr val="C00000"/>
                          </a:solidFill>
                          <a:latin typeface="Calibri" panose="020F0502020204030204"/>
                          <a:cs typeface="Calibri" panose="020F0502020204030204"/>
                        </a:rPr>
                        <a:t>MEM</a:t>
                      </a:r>
                      <a:endParaRPr sz="1600">
                        <a:latin typeface="Calibri" panose="020F0502020204030204"/>
                        <a:cs typeface="Calibri" panose="020F0502020204030204"/>
                      </a:endParaRPr>
                    </a:p>
                    <a:p>
                      <a:pPr marL="53975" algn="ctr">
                        <a:lnSpc>
                          <a:spcPct val="100000"/>
                        </a:lnSpc>
                        <a:spcBef>
                          <a:spcPts val="400"/>
                        </a:spcBef>
                      </a:pPr>
                      <a:r>
                        <a:rPr sz="1800" dirty="0">
                          <a:solidFill>
                            <a:srgbClr val="C00000"/>
                          </a:solidFill>
                          <a:latin typeface="Calibri" panose="020F0502020204030204"/>
                          <a:cs typeface="Calibri" panose="020F0502020204030204"/>
                        </a:rPr>
                        <a:t>EX</a:t>
                      </a:r>
                      <a:endParaRPr sz="1800">
                        <a:latin typeface="Calibri" panose="020F0502020204030204"/>
                        <a:cs typeface="Calibri" panose="020F0502020204030204"/>
                      </a:endParaRPr>
                    </a:p>
                  </a:txBody>
                  <a:tcPr marL="0" marR="0" marT="102870" marB="0"/>
                </a:tc>
                <a:tc>
                  <a:txBody>
                    <a:bodyPr/>
                    <a:lstStyle/>
                    <a:p>
                      <a:pPr marL="101600" marR="93980" indent="77470">
                        <a:lnSpc>
                          <a:spcPct val="127000"/>
                        </a:lnSpc>
                        <a:spcBef>
                          <a:spcPts val="285"/>
                        </a:spcBef>
                      </a:pPr>
                      <a:r>
                        <a:rPr sz="1600" spc="-5" dirty="0">
                          <a:solidFill>
                            <a:srgbClr val="C00000"/>
                          </a:solidFill>
                          <a:latin typeface="Calibri" panose="020F0502020204030204"/>
                          <a:cs typeface="Calibri" panose="020F0502020204030204"/>
                        </a:rPr>
                        <a:t>WB  </a:t>
                      </a:r>
                      <a:r>
                        <a:rPr sz="1600" spc="5" dirty="0">
                          <a:solidFill>
                            <a:srgbClr val="C00000"/>
                          </a:solidFill>
                          <a:latin typeface="Calibri" panose="020F0502020204030204"/>
                          <a:cs typeface="Calibri" panose="020F0502020204030204"/>
                        </a:rPr>
                        <a:t>M</a:t>
                      </a:r>
                      <a:r>
                        <a:rPr sz="1600" dirty="0">
                          <a:solidFill>
                            <a:srgbClr val="C00000"/>
                          </a:solidFill>
                          <a:latin typeface="Calibri" panose="020F0502020204030204"/>
                          <a:cs typeface="Calibri" panose="020F0502020204030204"/>
                        </a:rPr>
                        <a:t>EM</a:t>
                      </a:r>
                      <a:endParaRPr sz="1600">
                        <a:latin typeface="Calibri" panose="020F0502020204030204"/>
                        <a:cs typeface="Calibri" panose="020F0502020204030204"/>
                      </a:endParaRPr>
                    </a:p>
                  </a:txBody>
                  <a:tcPr marL="0" marR="0" marT="36194" marB="0"/>
                </a:tc>
                <a:tc>
                  <a:txBody>
                    <a:bodyPr/>
                    <a:lstStyle/>
                    <a:p>
                      <a:pPr>
                        <a:lnSpc>
                          <a:spcPct val="100000"/>
                        </a:lnSpc>
                      </a:pPr>
                      <a:endParaRPr sz="1800">
                        <a:latin typeface="Times New Roman" panose="02020603050405020304"/>
                        <a:cs typeface="Times New Roman" panose="02020603050405020304"/>
                      </a:endParaRPr>
                    </a:p>
                    <a:p>
                      <a:pPr marL="161925">
                        <a:lnSpc>
                          <a:spcPct val="100000"/>
                        </a:lnSpc>
                        <a:spcBef>
                          <a:spcPts val="1060"/>
                        </a:spcBef>
                      </a:pPr>
                      <a:r>
                        <a:rPr sz="1800" spc="-5" dirty="0">
                          <a:solidFill>
                            <a:srgbClr val="C00000"/>
                          </a:solidFill>
                          <a:latin typeface="Calibri" panose="020F0502020204030204"/>
                          <a:cs typeface="Calibri" panose="020F0502020204030204"/>
                        </a:rPr>
                        <a:t>WB</a:t>
                      </a:r>
                      <a:endParaRPr sz="1800">
                        <a:latin typeface="Calibri" panose="020F0502020204030204"/>
                        <a:cs typeface="Calibri" panose="020F0502020204030204"/>
                      </a:endParaRPr>
                    </a:p>
                  </a:txBody>
                  <a:tcPr marL="0" marR="0" marT="0" marB="0"/>
                </a:tc>
                <a:tc>
                  <a:txBody>
                    <a:bodyPr/>
                    <a:lstStyle/>
                    <a:p>
                      <a:pPr>
                        <a:lnSpc>
                          <a:spcPct val="100000"/>
                        </a:lnSpc>
                      </a:pPr>
                      <a:endParaRPr sz="1300">
                        <a:latin typeface="Times New Roman" panose="02020603050405020304"/>
                        <a:cs typeface="Times New Roman" panose="02020603050405020304"/>
                      </a:endParaRPr>
                    </a:p>
                  </a:txBody>
                  <a:tcPr marL="0" marR="0" marT="0" marB="0"/>
                </a:tc>
                <a:tc>
                  <a:txBody>
                    <a:bodyPr/>
                    <a:lstStyle/>
                    <a:p>
                      <a:pPr>
                        <a:lnSpc>
                          <a:spcPct val="100000"/>
                        </a:lnSpc>
                      </a:pPr>
                      <a:endParaRPr sz="1300">
                        <a:latin typeface="Times New Roman" panose="02020603050405020304"/>
                        <a:cs typeface="Times New Roman" panose="02020603050405020304"/>
                      </a:endParaRPr>
                    </a:p>
                  </a:txBody>
                  <a:tcPr marL="0" marR="0" marT="0" marB="0"/>
                </a:tc>
              </a:tr>
              <a:tr h="580790">
                <a:tc>
                  <a:txBody>
                    <a:bodyPr/>
                    <a:lstStyle/>
                    <a:p>
                      <a:pPr>
                        <a:lnSpc>
                          <a:spcPct val="100000"/>
                        </a:lnSpc>
                      </a:pPr>
                      <a:endParaRPr sz="1300">
                        <a:latin typeface="Times New Roman" panose="02020603050405020304"/>
                        <a:cs typeface="Times New Roman" panose="02020603050405020304"/>
                      </a:endParaRPr>
                    </a:p>
                  </a:txBody>
                  <a:tcPr marL="0" marR="0" marT="0" marB="0"/>
                </a:tc>
                <a:tc>
                  <a:txBody>
                    <a:bodyPr/>
                    <a:lstStyle/>
                    <a:p>
                      <a:pPr marL="251460">
                        <a:lnSpc>
                          <a:spcPts val="2035"/>
                        </a:lnSpc>
                      </a:pPr>
                      <a:r>
                        <a:rPr sz="1800" dirty="0">
                          <a:solidFill>
                            <a:srgbClr val="C00000"/>
                          </a:solidFill>
                          <a:latin typeface="Calibri" panose="020F0502020204030204"/>
                          <a:cs typeface="Calibri" panose="020F0502020204030204"/>
                        </a:rPr>
                        <a:t>IF</a:t>
                      </a:r>
                      <a:endParaRPr sz="1800">
                        <a:latin typeface="Calibri" panose="020F0502020204030204"/>
                        <a:cs typeface="Calibri" panose="020F0502020204030204"/>
                      </a:endParaRPr>
                    </a:p>
                  </a:txBody>
                  <a:tcPr marL="0" marR="0" marT="0" marB="0"/>
                </a:tc>
                <a:tc>
                  <a:txBody>
                    <a:bodyPr/>
                    <a:lstStyle/>
                    <a:p>
                      <a:pPr marL="54610" algn="ctr">
                        <a:lnSpc>
                          <a:spcPts val="2035"/>
                        </a:lnSpc>
                      </a:pPr>
                      <a:r>
                        <a:rPr sz="1800" dirty="0">
                          <a:solidFill>
                            <a:srgbClr val="C00000"/>
                          </a:solidFill>
                          <a:latin typeface="Calibri" panose="020F0502020204030204"/>
                          <a:cs typeface="Calibri" panose="020F0502020204030204"/>
                        </a:rPr>
                        <a:t>ID</a:t>
                      </a:r>
                      <a:endParaRPr sz="1800">
                        <a:latin typeface="Calibri" panose="020F0502020204030204"/>
                        <a:cs typeface="Calibri" panose="020F0502020204030204"/>
                      </a:endParaRPr>
                    </a:p>
                    <a:p>
                      <a:pPr marL="54610" algn="ctr">
                        <a:lnSpc>
                          <a:spcPts val="2150"/>
                        </a:lnSpc>
                        <a:spcBef>
                          <a:spcPts val="285"/>
                        </a:spcBef>
                      </a:pPr>
                      <a:r>
                        <a:rPr sz="1800" dirty="0">
                          <a:solidFill>
                            <a:srgbClr val="C00000"/>
                          </a:solidFill>
                          <a:latin typeface="Calibri" panose="020F0502020204030204"/>
                          <a:cs typeface="Calibri" panose="020F0502020204030204"/>
                        </a:rPr>
                        <a:t>IF</a:t>
                      </a:r>
                      <a:endParaRPr sz="1800">
                        <a:latin typeface="Calibri" panose="020F0502020204030204"/>
                        <a:cs typeface="Calibri" panose="020F0502020204030204"/>
                      </a:endParaRPr>
                    </a:p>
                  </a:txBody>
                  <a:tcPr marL="0" marR="0" marT="0" marB="0"/>
                </a:tc>
                <a:tc>
                  <a:txBody>
                    <a:bodyPr/>
                    <a:lstStyle/>
                    <a:p>
                      <a:pPr algn="ctr">
                        <a:lnSpc>
                          <a:spcPts val="2035"/>
                        </a:lnSpc>
                      </a:pPr>
                      <a:r>
                        <a:rPr sz="1800" dirty="0">
                          <a:solidFill>
                            <a:srgbClr val="C00000"/>
                          </a:solidFill>
                          <a:latin typeface="Calibri" panose="020F0502020204030204"/>
                          <a:cs typeface="Calibri" panose="020F0502020204030204"/>
                        </a:rPr>
                        <a:t>EX</a:t>
                      </a:r>
                      <a:endParaRPr sz="1800">
                        <a:latin typeface="Calibri" panose="020F0502020204030204"/>
                        <a:cs typeface="Calibri" panose="020F0502020204030204"/>
                      </a:endParaRPr>
                    </a:p>
                    <a:p>
                      <a:pPr marL="1270" algn="ctr">
                        <a:lnSpc>
                          <a:spcPts val="2150"/>
                        </a:lnSpc>
                        <a:spcBef>
                          <a:spcPts val="285"/>
                        </a:spcBef>
                      </a:pPr>
                      <a:r>
                        <a:rPr sz="1800" dirty="0">
                          <a:solidFill>
                            <a:srgbClr val="C00000"/>
                          </a:solidFill>
                          <a:latin typeface="Calibri" panose="020F0502020204030204"/>
                          <a:cs typeface="Calibri" panose="020F0502020204030204"/>
                        </a:rPr>
                        <a:t>ID</a:t>
                      </a:r>
                      <a:endParaRPr sz="1800">
                        <a:latin typeface="Calibri" panose="020F0502020204030204"/>
                        <a:cs typeface="Calibri" panose="020F0502020204030204"/>
                      </a:endParaRPr>
                    </a:p>
                  </a:txBody>
                  <a:tcPr marL="0" marR="0" marT="0" marB="0"/>
                </a:tc>
                <a:tc>
                  <a:txBody>
                    <a:bodyPr/>
                    <a:lstStyle/>
                    <a:p>
                      <a:pPr algn="ctr">
                        <a:lnSpc>
                          <a:spcPct val="100000"/>
                        </a:lnSpc>
                        <a:spcBef>
                          <a:spcPts val="5"/>
                        </a:spcBef>
                      </a:pPr>
                      <a:r>
                        <a:rPr sz="1600" spc="-5" dirty="0">
                          <a:solidFill>
                            <a:srgbClr val="C00000"/>
                          </a:solidFill>
                          <a:latin typeface="Calibri" panose="020F0502020204030204"/>
                          <a:cs typeface="Calibri" panose="020F0502020204030204"/>
                        </a:rPr>
                        <a:t>MEM</a:t>
                      </a:r>
                      <a:endParaRPr sz="1600">
                        <a:latin typeface="Calibri" panose="020F0502020204030204"/>
                        <a:cs typeface="Calibri" panose="020F0502020204030204"/>
                      </a:endParaRPr>
                    </a:p>
                    <a:p>
                      <a:pPr algn="ctr">
                        <a:lnSpc>
                          <a:spcPts val="2150"/>
                        </a:lnSpc>
                        <a:spcBef>
                          <a:spcPts val="395"/>
                        </a:spcBef>
                      </a:pPr>
                      <a:r>
                        <a:rPr sz="1800" dirty="0">
                          <a:solidFill>
                            <a:srgbClr val="C00000"/>
                          </a:solidFill>
                          <a:latin typeface="Calibri" panose="020F0502020204030204"/>
                          <a:cs typeface="Calibri" panose="020F0502020204030204"/>
                        </a:rPr>
                        <a:t>EX</a:t>
                      </a:r>
                      <a:endParaRPr sz="1800">
                        <a:latin typeface="Calibri" panose="020F0502020204030204"/>
                        <a:cs typeface="Calibri" panose="020F0502020204030204"/>
                      </a:endParaRPr>
                    </a:p>
                  </a:txBody>
                  <a:tcPr marL="0" marR="0" marT="635" marB="0"/>
                </a:tc>
                <a:tc>
                  <a:txBody>
                    <a:bodyPr/>
                    <a:lstStyle/>
                    <a:p>
                      <a:pPr marL="161290">
                        <a:lnSpc>
                          <a:spcPts val="2035"/>
                        </a:lnSpc>
                      </a:pPr>
                      <a:r>
                        <a:rPr sz="1800" spc="-5" dirty="0">
                          <a:solidFill>
                            <a:srgbClr val="C00000"/>
                          </a:solidFill>
                          <a:latin typeface="Calibri" panose="020F0502020204030204"/>
                          <a:cs typeface="Calibri" panose="020F0502020204030204"/>
                        </a:rPr>
                        <a:t>WB</a:t>
                      </a:r>
                      <a:endParaRPr sz="1800">
                        <a:latin typeface="Calibri" panose="020F0502020204030204"/>
                        <a:cs typeface="Calibri" panose="020F0502020204030204"/>
                      </a:endParaRPr>
                    </a:p>
                    <a:p>
                      <a:pPr marL="101600">
                        <a:lnSpc>
                          <a:spcPct val="100000"/>
                        </a:lnSpc>
                        <a:spcBef>
                          <a:spcPts val="415"/>
                        </a:spcBef>
                      </a:pPr>
                      <a:r>
                        <a:rPr sz="1600" spc="-5" dirty="0">
                          <a:solidFill>
                            <a:srgbClr val="C00000"/>
                          </a:solidFill>
                          <a:latin typeface="Calibri" panose="020F0502020204030204"/>
                          <a:cs typeface="Calibri" panose="020F0502020204030204"/>
                        </a:rPr>
                        <a:t>MEM</a:t>
                      </a:r>
                      <a:endParaRPr sz="1600">
                        <a:latin typeface="Calibri" panose="020F0502020204030204"/>
                        <a:cs typeface="Calibri" panose="020F0502020204030204"/>
                      </a:endParaRPr>
                    </a:p>
                  </a:txBody>
                  <a:tcPr marL="0" marR="0" marT="0" marB="0"/>
                </a:tc>
                <a:tc>
                  <a:txBody>
                    <a:bodyPr/>
                    <a:lstStyle/>
                    <a:p>
                      <a:pPr>
                        <a:lnSpc>
                          <a:spcPct val="100000"/>
                        </a:lnSpc>
                        <a:spcBef>
                          <a:spcPts val="20"/>
                        </a:spcBef>
                      </a:pPr>
                      <a:endParaRPr sz="2000">
                        <a:latin typeface="Times New Roman" panose="02020603050405020304"/>
                        <a:cs typeface="Times New Roman" panose="02020603050405020304"/>
                      </a:endParaRPr>
                    </a:p>
                    <a:p>
                      <a:pPr marL="131445">
                        <a:lnSpc>
                          <a:spcPts val="2150"/>
                        </a:lnSpc>
                      </a:pPr>
                      <a:r>
                        <a:rPr sz="1800" spc="-5" dirty="0">
                          <a:solidFill>
                            <a:srgbClr val="C00000"/>
                          </a:solidFill>
                          <a:latin typeface="Calibri" panose="020F0502020204030204"/>
                          <a:cs typeface="Calibri" panose="020F0502020204030204"/>
                        </a:rPr>
                        <a:t>WB</a:t>
                      </a:r>
                      <a:endParaRPr sz="1800">
                        <a:latin typeface="Calibri" panose="020F0502020204030204"/>
                        <a:cs typeface="Calibri" panose="020F0502020204030204"/>
                      </a:endParaRPr>
                    </a:p>
                  </a:txBody>
                  <a:tcPr marL="0" marR="0" marT="2540" marB="0"/>
                </a:tc>
              </a:tr>
            </a:tbl>
          </a:graphicData>
        </a:graphic>
      </p:graphicFrame>
      <p:sp>
        <p:nvSpPr>
          <p:cNvPr id="19" name="object 19"/>
          <p:cNvSpPr/>
          <p:nvPr/>
        </p:nvSpPr>
        <p:spPr>
          <a:xfrm>
            <a:off x="8334654" y="4332503"/>
            <a:ext cx="1027430" cy="372110"/>
          </a:xfrm>
          <a:custGeom>
            <a:avLst/>
            <a:gdLst/>
            <a:ahLst/>
            <a:cxnLst/>
            <a:rect l="l" t="t" r="r" b="b"/>
            <a:pathLst>
              <a:path w="1027429" h="372110">
                <a:moveTo>
                  <a:pt x="1027036" y="371817"/>
                </a:moveTo>
                <a:lnTo>
                  <a:pt x="0" y="371817"/>
                </a:lnTo>
                <a:lnTo>
                  <a:pt x="0" y="0"/>
                </a:lnTo>
                <a:lnTo>
                  <a:pt x="1027036" y="0"/>
                </a:lnTo>
                <a:lnTo>
                  <a:pt x="1027036" y="6350"/>
                </a:lnTo>
                <a:lnTo>
                  <a:pt x="12700" y="6350"/>
                </a:lnTo>
                <a:lnTo>
                  <a:pt x="6350" y="12700"/>
                </a:lnTo>
                <a:lnTo>
                  <a:pt x="12700" y="12700"/>
                </a:lnTo>
                <a:lnTo>
                  <a:pt x="12700" y="359117"/>
                </a:lnTo>
                <a:lnTo>
                  <a:pt x="6350" y="359117"/>
                </a:lnTo>
                <a:lnTo>
                  <a:pt x="12700" y="365467"/>
                </a:lnTo>
                <a:lnTo>
                  <a:pt x="1027036" y="365467"/>
                </a:lnTo>
                <a:lnTo>
                  <a:pt x="1027036" y="371817"/>
                </a:lnTo>
                <a:close/>
              </a:path>
              <a:path w="1027429" h="372110">
                <a:moveTo>
                  <a:pt x="12700" y="12700"/>
                </a:moveTo>
                <a:lnTo>
                  <a:pt x="6350" y="12700"/>
                </a:lnTo>
                <a:lnTo>
                  <a:pt x="12700" y="6350"/>
                </a:lnTo>
                <a:lnTo>
                  <a:pt x="12700" y="12700"/>
                </a:lnTo>
                <a:close/>
              </a:path>
              <a:path w="1027429" h="372110">
                <a:moveTo>
                  <a:pt x="1014336" y="12700"/>
                </a:moveTo>
                <a:lnTo>
                  <a:pt x="12700" y="12700"/>
                </a:lnTo>
                <a:lnTo>
                  <a:pt x="12700" y="6350"/>
                </a:lnTo>
                <a:lnTo>
                  <a:pt x="1014336" y="6350"/>
                </a:lnTo>
                <a:lnTo>
                  <a:pt x="1014336" y="12700"/>
                </a:lnTo>
                <a:close/>
              </a:path>
              <a:path w="1027429" h="372110">
                <a:moveTo>
                  <a:pt x="1014336" y="365467"/>
                </a:moveTo>
                <a:lnTo>
                  <a:pt x="1014336" y="6350"/>
                </a:lnTo>
                <a:lnTo>
                  <a:pt x="1020686" y="12700"/>
                </a:lnTo>
                <a:lnTo>
                  <a:pt x="1027036" y="12700"/>
                </a:lnTo>
                <a:lnTo>
                  <a:pt x="1027036" y="359117"/>
                </a:lnTo>
                <a:lnTo>
                  <a:pt x="1020686" y="359117"/>
                </a:lnTo>
                <a:lnTo>
                  <a:pt x="1014336" y="365467"/>
                </a:lnTo>
                <a:close/>
              </a:path>
              <a:path w="1027429" h="372110">
                <a:moveTo>
                  <a:pt x="1027036" y="12700"/>
                </a:moveTo>
                <a:lnTo>
                  <a:pt x="1020686" y="12700"/>
                </a:lnTo>
                <a:lnTo>
                  <a:pt x="1014336" y="6350"/>
                </a:lnTo>
                <a:lnTo>
                  <a:pt x="1027036" y="6350"/>
                </a:lnTo>
                <a:lnTo>
                  <a:pt x="1027036" y="12700"/>
                </a:lnTo>
                <a:close/>
              </a:path>
              <a:path w="1027429" h="372110">
                <a:moveTo>
                  <a:pt x="12700" y="365467"/>
                </a:moveTo>
                <a:lnTo>
                  <a:pt x="6350" y="359117"/>
                </a:lnTo>
                <a:lnTo>
                  <a:pt x="12700" y="359117"/>
                </a:lnTo>
                <a:lnTo>
                  <a:pt x="12700" y="365467"/>
                </a:lnTo>
                <a:close/>
              </a:path>
              <a:path w="1027429" h="372110">
                <a:moveTo>
                  <a:pt x="1014336" y="365467"/>
                </a:moveTo>
                <a:lnTo>
                  <a:pt x="12700" y="365467"/>
                </a:lnTo>
                <a:lnTo>
                  <a:pt x="12700" y="359117"/>
                </a:lnTo>
                <a:lnTo>
                  <a:pt x="1014336" y="359117"/>
                </a:lnTo>
                <a:lnTo>
                  <a:pt x="1014336" y="365467"/>
                </a:lnTo>
                <a:close/>
              </a:path>
              <a:path w="1027429" h="372110">
                <a:moveTo>
                  <a:pt x="1027036" y="365467"/>
                </a:moveTo>
                <a:lnTo>
                  <a:pt x="1014336" y="365467"/>
                </a:lnTo>
                <a:lnTo>
                  <a:pt x="1020686" y="359117"/>
                </a:lnTo>
                <a:lnTo>
                  <a:pt x="1027036" y="359117"/>
                </a:lnTo>
                <a:lnTo>
                  <a:pt x="1027036" y="365467"/>
                </a:lnTo>
                <a:close/>
              </a:path>
            </a:pathLst>
          </a:custGeom>
          <a:solidFill>
            <a:srgbClr val="C00000"/>
          </a:solidFill>
        </p:spPr>
        <p:txBody>
          <a:bodyPr wrap="square" lIns="0" tIns="0" rIns="0" bIns="0" rtlCol="0"/>
          <a:lstStyle/>
          <a:p/>
        </p:txBody>
      </p:sp>
      <p:sp>
        <p:nvSpPr>
          <p:cNvPr id="20" name="object 20"/>
          <p:cNvSpPr/>
          <p:nvPr/>
        </p:nvSpPr>
        <p:spPr>
          <a:xfrm>
            <a:off x="9486900" y="4959096"/>
            <a:ext cx="749935" cy="360045"/>
          </a:xfrm>
          <a:custGeom>
            <a:avLst/>
            <a:gdLst/>
            <a:ahLst/>
            <a:cxnLst/>
            <a:rect l="l" t="t" r="r" b="b"/>
            <a:pathLst>
              <a:path w="749934" h="360045">
                <a:moveTo>
                  <a:pt x="0" y="359663"/>
                </a:moveTo>
                <a:lnTo>
                  <a:pt x="749807" y="359663"/>
                </a:lnTo>
                <a:lnTo>
                  <a:pt x="749807" y="0"/>
                </a:lnTo>
                <a:lnTo>
                  <a:pt x="0" y="0"/>
                </a:lnTo>
                <a:lnTo>
                  <a:pt x="0" y="359663"/>
                </a:lnTo>
                <a:close/>
              </a:path>
            </a:pathLst>
          </a:custGeom>
          <a:solidFill>
            <a:srgbClr val="D9D9D9"/>
          </a:solidFill>
        </p:spPr>
        <p:txBody>
          <a:bodyPr wrap="square" lIns="0" tIns="0" rIns="0" bIns="0" rtlCol="0"/>
          <a:lstStyle/>
          <a:p/>
        </p:txBody>
      </p:sp>
      <p:sp>
        <p:nvSpPr>
          <p:cNvPr id="21" name="object 21"/>
          <p:cNvSpPr/>
          <p:nvPr/>
        </p:nvSpPr>
        <p:spPr>
          <a:xfrm>
            <a:off x="8331707" y="4959096"/>
            <a:ext cx="9525" cy="360045"/>
          </a:xfrm>
          <a:custGeom>
            <a:avLst/>
            <a:gdLst/>
            <a:ahLst/>
            <a:cxnLst/>
            <a:rect l="l" t="t" r="r" b="b"/>
            <a:pathLst>
              <a:path w="9525" h="360045">
                <a:moveTo>
                  <a:pt x="0" y="359663"/>
                </a:moveTo>
                <a:lnTo>
                  <a:pt x="9144" y="359663"/>
                </a:lnTo>
                <a:lnTo>
                  <a:pt x="9144" y="0"/>
                </a:lnTo>
                <a:lnTo>
                  <a:pt x="0" y="0"/>
                </a:lnTo>
                <a:lnTo>
                  <a:pt x="0" y="359663"/>
                </a:lnTo>
                <a:close/>
              </a:path>
            </a:pathLst>
          </a:custGeom>
          <a:solidFill>
            <a:srgbClr val="D9D9D9"/>
          </a:solidFill>
        </p:spPr>
        <p:txBody>
          <a:bodyPr wrap="square" lIns="0" tIns="0" rIns="0" bIns="0" rtlCol="0"/>
          <a:lstStyle/>
          <a:p/>
        </p:txBody>
      </p:sp>
      <p:sp>
        <p:nvSpPr>
          <p:cNvPr id="22" name="object 22"/>
          <p:cNvSpPr/>
          <p:nvPr/>
        </p:nvSpPr>
        <p:spPr>
          <a:xfrm>
            <a:off x="8326069" y="4953279"/>
            <a:ext cx="1916430" cy="372110"/>
          </a:xfrm>
          <a:custGeom>
            <a:avLst/>
            <a:gdLst/>
            <a:ahLst/>
            <a:cxnLst/>
            <a:rect l="l" t="t" r="r" b="b"/>
            <a:pathLst>
              <a:path w="1916429" h="372110">
                <a:moveTo>
                  <a:pt x="1916341" y="371817"/>
                </a:moveTo>
                <a:lnTo>
                  <a:pt x="0" y="371817"/>
                </a:lnTo>
                <a:lnTo>
                  <a:pt x="0" y="0"/>
                </a:lnTo>
                <a:lnTo>
                  <a:pt x="1916341" y="0"/>
                </a:lnTo>
                <a:lnTo>
                  <a:pt x="1916341" y="6350"/>
                </a:lnTo>
                <a:lnTo>
                  <a:pt x="12700" y="6350"/>
                </a:lnTo>
                <a:lnTo>
                  <a:pt x="6350" y="12700"/>
                </a:lnTo>
                <a:lnTo>
                  <a:pt x="12700" y="12700"/>
                </a:lnTo>
                <a:lnTo>
                  <a:pt x="12700" y="359117"/>
                </a:lnTo>
                <a:lnTo>
                  <a:pt x="6350" y="359117"/>
                </a:lnTo>
                <a:lnTo>
                  <a:pt x="12700" y="365467"/>
                </a:lnTo>
                <a:lnTo>
                  <a:pt x="1916341" y="365467"/>
                </a:lnTo>
                <a:lnTo>
                  <a:pt x="1916341" y="371817"/>
                </a:lnTo>
                <a:close/>
              </a:path>
              <a:path w="1916429" h="372110">
                <a:moveTo>
                  <a:pt x="12700" y="12700"/>
                </a:moveTo>
                <a:lnTo>
                  <a:pt x="6350" y="12700"/>
                </a:lnTo>
                <a:lnTo>
                  <a:pt x="12700" y="6350"/>
                </a:lnTo>
                <a:lnTo>
                  <a:pt x="12700" y="12700"/>
                </a:lnTo>
                <a:close/>
              </a:path>
              <a:path w="1916429" h="372110">
                <a:moveTo>
                  <a:pt x="1903641" y="12700"/>
                </a:moveTo>
                <a:lnTo>
                  <a:pt x="12700" y="12700"/>
                </a:lnTo>
                <a:lnTo>
                  <a:pt x="12700" y="6350"/>
                </a:lnTo>
                <a:lnTo>
                  <a:pt x="1903641" y="6350"/>
                </a:lnTo>
                <a:lnTo>
                  <a:pt x="1903641" y="12700"/>
                </a:lnTo>
                <a:close/>
              </a:path>
              <a:path w="1916429" h="372110">
                <a:moveTo>
                  <a:pt x="1903641" y="365467"/>
                </a:moveTo>
                <a:lnTo>
                  <a:pt x="1903641" y="6350"/>
                </a:lnTo>
                <a:lnTo>
                  <a:pt x="1909991" y="12700"/>
                </a:lnTo>
                <a:lnTo>
                  <a:pt x="1916341" y="12700"/>
                </a:lnTo>
                <a:lnTo>
                  <a:pt x="1916341" y="359117"/>
                </a:lnTo>
                <a:lnTo>
                  <a:pt x="1909991" y="359117"/>
                </a:lnTo>
                <a:lnTo>
                  <a:pt x="1903641" y="365467"/>
                </a:lnTo>
                <a:close/>
              </a:path>
              <a:path w="1916429" h="372110">
                <a:moveTo>
                  <a:pt x="1916341" y="12700"/>
                </a:moveTo>
                <a:lnTo>
                  <a:pt x="1909991" y="12700"/>
                </a:lnTo>
                <a:lnTo>
                  <a:pt x="1903641" y="6350"/>
                </a:lnTo>
                <a:lnTo>
                  <a:pt x="1916341" y="6350"/>
                </a:lnTo>
                <a:lnTo>
                  <a:pt x="1916341" y="12700"/>
                </a:lnTo>
                <a:close/>
              </a:path>
              <a:path w="1916429" h="372110">
                <a:moveTo>
                  <a:pt x="12700" y="365467"/>
                </a:moveTo>
                <a:lnTo>
                  <a:pt x="6350" y="359117"/>
                </a:lnTo>
                <a:lnTo>
                  <a:pt x="12700" y="359117"/>
                </a:lnTo>
                <a:lnTo>
                  <a:pt x="12700" y="365467"/>
                </a:lnTo>
                <a:close/>
              </a:path>
              <a:path w="1916429" h="372110">
                <a:moveTo>
                  <a:pt x="1903641" y="365467"/>
                </a:moveTo>
                <a:lnTo>
                  <a:pt x="12700" y="365467"/>
                </a:lnTo>
                <a:lnTo>
                  <a:pt x="12700" y="359117"/>
                </a:lnTo>
                <a:lnTo>
                  <a:pt x="1903641" y="359117"/>
                </a:lnTo>
                <a:lnTo>
                  <a:pt x="1903641" y="365467"/>
                </a:lnTo>
                <a:close/>
              </a:path>
              <a:path w="1916429" h="372110">
                <a:moveTo>
                  <a:pt x="1916341" y="365467"/>
                </a:moveTo>
                <a:lnTo>
                  <a:pt x="1903641" y="365467"/>
                </a:lnTo>
                <a:lnTo>
                  <a:pt x="1909991" y="359117"/>
                </a:lnTo>
                <a:lnTo>
                  <a:pt x="1916341" y="359117"/>
                </a:lnTo>
                <a:lnTo>
                  <a:pt x="1916341" y="365467"/>
                </a:lnTo>
                <a:close/>
              </a:path>
            </a:pathLst>
          </a:custGeom>
          <a:solidFill>
            <a:srgbClr val="C00000"/>
          </a:solidFill>
        </p:spPr>
        <p:txBody>
          <a:bodyPr wrap="square" lIns="0" tIns="0" rIns="0" bIns="0" rtlCol="0"/>
          <a:lstStyle/>
          <a:p/>
        </p:txBody>
      </p:sp>
      <p:sp>
        <p:nvSpPr>
          <p:cNvPr id="23" name="object 23"/>
          <p:cNvSpPr/>
          <p:nvPr/>
        </p:nvSpPr>
        <p:spPr>
          <a:xfrm>
            <a:off x="9511283" y="5558028"/>
            <a:ext cx="725805" cy="360045"/>
          </a:xfrm>
          <a:custGeom>
            <a:avLst/>
            <a:gdLst/>
            <a:ahLst/>
            <a:cxnLst/>
            <a:rect l="l" t="t" r="r" b="b"/>
            <a:pathLst>
              <a:path w="725804" h="360045">
                <a:moveTo>
                  <a:pt x="0" y="359663"/>
                </a:moveTo>
                <a:lnTo>
                  <a:pt x="725423" y="359663"/>
                </a:lnTo>
                <a:lnTo>
                  <a:pt x="725423" y="0"/>
                </a:lnTo>
                <a:lnTo>
                  <a:pt x="0" y="0"/>
                </a:lnTo>
                <a:lnTo>
                  <a:pt x="0" y="359663"/>
                </a:lnTo>
                <a:close/>
              </a:path>
            </a:pathLst>
          </a:custGeom>
          <a:solidFill>
            <a:srgbClr val="D9D9D9"/>
          </a:solidFill>
        </p:spPr>
        <p:txBody>
          <a:bodyPr wrap="square" lIns="0" tIns="0" rIns="0" bIns="0" rtlCol="0"/>
          <a:lstStyle/>
          <a:p/>
        </p:txBody>
      </p:sp>
      <p:sp>
        <p:nvSpPr>
          <p:cNvPr id="24" name="object 24"/>
          <p:cNvSpPr/>
          <p:nvPr/>
        </p:nvSpPr>
        <p:spPr>
          <a:xfrm>
            <a:off x="8326069" y="5552401"/>
            <a:ext cx="1916430" cy="372110"/>
          </a:xfrm>
          <a:custGeom>
            <a:avLst/>
            <a:gdLst/>
            <a:ahLst/>
            <a:cxnLst/>
            <a:rect l="l" t="t" r="r" b="b"/>
            <a:pathLst>
              <a:path w="1916429" h="372110">
                <a:moveTo>
                  <a:pt x="1916341" y="371817"/>
                </a:moveTo>
                <a:lnTo>
                  <a:pt x="0" y="371817"/>
                </a:lnTo>
                <a:lnTo>
                  <a:pt x="0" y="0"/>
                </a:lnTo>
                <a:lnTo>
                  <a:pt x="1916341" y="0"/>
                </a:lnTo>
                <a:lnTo>
                  <a:pt x="1916341" y="6350"/>
                </a:lnTo>
                <a:lnTo>
                  <a:pt x="12700" y="6350"/>
                </a:lnTo>
                <a:lnTo>
                  <a:pt x="6350" y="12700"/>
                </a:lnTo>
                <a:lnTo>
                  <a:pt x="12700" y="12700"/>
                </a:lnTo>
                <a:lnTo>
                  <a:pt x="12700" y="359117"/>
                </a:lnTo>
                <a:lnTo>
                  <a:pt x="6350" y="359117"/>
                </a:lnTo>
                <a:lnTo>
                  <a:pt x="12700" y="365467"/>
                </a:lnTo>
                <a:lnTo>
                  <a:pt x="1916341" y="365467"/>
                </a:lnTo>
                <a:lnTo>
                  <a:pt x="1916341" y="371817"/>
                </a:lnTo>
                <a:close/>
              </a:path>
              <a:path w="1916429" h="372110">
                <a:moveTo>
                  <a:pt x="12700" y="12700"/>
                </a:moveTo>
                <a:lnTo>
                  <a:pt x="6350" y="12700"/>
                </a:lnTo>
                <a:lnTo>
                  <a:pt x="12700" y="6350"/>
                </a:lnTo>
                <a:lnTo>
                  <a:pt x="12700" y="12700"/>
                </a:lnTo>
                <a:close/>
              </a:path>
              <a:path w="1916429" h="372110">
                <a:moveTo>
                  <a:pt x="1903641" y="12700"/>
                </a:moveTo>
                <a:lnTo>
                  <a:pt x="12700" y="12700"/>
                </a:lnTo>
                <a:lnTo>
                  <a:pt x="12700" y="6350"/>
                </a:lnTo>
                <a:lnTo>
                  <a:pt x="1903641" y="6350"/>
                </a:lnTo>
                <a:lnTo>
                  <a:pt x="1903641" y="12700"/>
                </a:lnTo>
                <a:close/>
              </a:path>
              <a:path w="1916429" h="372110">
                <a:moveTo>
                  <a:pt x="1903641" y="365467"/>
                </a:moveTo>
                <a:lnTo>
                  <a:pt x="1903641" y="6350"/>
                </a:lnTo>
                <a:lnTo>
                  <a:pt x="1909991" y="12700"/>
                </a:lnTo>
                <a:lnTo>
                  <a:pt x="1916341" y="12700"/>
                </a:lnTo>
                <a:lnTo>
                  <a:pt x="1916341" y="359117"/>
                </a:lnTo>
                <a:lnTo>
                  <a:pt x="1909991" y="359117"/>
                </a:lnTo>
                <a:lnTo>
                  <a:pt x="1903641" y="365467"/>
                </a:lnTo>
                <a:close/>
              </a:path>
              <a:path w="1916429" h="372110">
                <a:moveTo>
                  <a:pt x="1916341" y="12700"/>
                </a:moveTo>
                <a:lnTo>
                  <a:pt x="1909991" y="12700"/>
                </a:lnTo>
                <a:lnTo>
                  <a:pt x="1903641" y="6350"/>
                </a:lnTo>
                <a:lnTo>
                  <a:pt x="1916341" y="6350"/>
                </a:lnTo>
                <a:lnTo>
                  <a:pt x="1916341" y="12700"/>
                </a:lnTo>
                <a:close/>
              </a:path>
              <a:path w="1916429" h="372110">
                <a:moveTo>
                  <a:pt x="12700" y="365467"/>
                </a:moveTo>
                <a:lnTo>
                  <a:pt x="6350" y="359117"/>
                </a:lnTo>
                <a:lnTo>
                  <a:pt x="12700" y="359117"/>
                </a:lnTo>
                <a:lnTo>
                  <a:pt x="12700" y="365467"/>
                </a:lnTo>
                <a:close/>
              </a:path>
              <a:path w="1916429" h="372110">
                <a:moveTo>
                  <a:pt x="1903641" y="365467"/>
                </a:moveTo>
                <a:lnTo>
                  <a:pt x="12700" y="365467"/>
                </a:lnTo>
                <a:lnTo>
                  <a:pt x="12700" y="359117"/>
                </a:lnTo>
                <a:lnTo>
                  <a:pt x="1903641" y="359117"/>
                </a:lnTo>
                <a:lnTo>
                  <a:pt x="1903641" y="365467"/>
                </a:lnTo>
                <a:close/>
              </a:path>
              <a:path w="1916429" h="372110">
                <a:moveTo>
                  <a:pt x="1916341" y="365467"/>
                </a:moveTo>
                <a:lnTo>
                  <a:pt x="1903641" y="365467"/>
                </a:lnTo>
                <a:lnTo>
                  <a:pt x="1909991" y="359117"/>
                </a:lnTo>
                <a:lnTo>
                  <a:pt x="1916341" y="359117"/>
                </a:lnTo>
                <a:lnTo>
                  <a:pt x="1916341" y="365467"/>
                </a:lnTo>
                <a:close/>
              </a:path>
            </a:pathLst>
          </a:custGeom>
          <a:solidFill>
            <a:srgbClr val="C00000"/>
          </a:solidFill>
        </p:spPr>
        <p:txBody>
          <a:bodyPr wrap="square" lIns="0" tIns="0" rIns="0" bIns="0" rtlCol="0"/>
          <a:lstStyle/>
          <a:p/>
        </p:txBody>
      </p:sp>
      <p:sp>
        <p:nvSpPr>
          <p:cNvPr id="25" name="object 25"/>
          <p:cNvSpPr txBox="1"/>
          <p:nvPr/>
        </p:nvSpPr>
        <p:spPr>
          <a:xfrm>
            <a:off x="8473440" y="4338828"/>
            <a:ext cx="882650" cy="360045"/>
          </a:xfrm>
          <a:prstGeom prst="rect">
            <a:avLst/>
          </a:prstGeom>
          <a:solidFill>
            <a:srgbClr val="D9D9D9"/>
          </a:solidFill>
        </p:spPr>
        <p:txBody>
          <a:bodyPr vert="horz" wrap="square" lIns="0" tIns="28575" rIns="0" bIns="0" rtlCol="0">
            <a:spAutoFit/>
          </a:bodyPr>
          <a:lstStyle/>
          <a:p>
            <a:pPr marL="323850">
              <a:lnSpc>
                <a:spcPct val="100000"/>
              </a:lnSpc>
              <a:spcBef>
                <a:spcPts val="225"/>
              </a:spcBef>
            </a:pPr>
            <a:r>
              <a:rPr sz="1800" b="1" spc="-5" dirty="0">
                <a:solidFill>
                  <a:srgbClr val="C00000"/>
                </a:solidFill>
                <a:latin typeface="Calibri" panose="020F0502020204030204"/>
                <a:cs typeface="Calibri" panose="020F0502020204030204"/>
              </a:rPr>
              <a:t>LSU</a:t>
            </a:r>
            <a:endParaRPr sz="1800">
              <a:latin typeface="Calibri" panose="020F0502020204030204"/>
              <a:cs typeface="Calibri" panose="020F0502020204030204"/>
            </a:endParaRPr>
          </a:p>
        </p:txBody>
      </p:sp>
      <p:sp>
        <p:nvSpPr>
          <p:cNvPr id="26" name="object 26"/>
          <p:cNvSpPr/>
          <p:nvPr/>
        </p:nvSpPr>
        <p:spPr>
          <a:xfrm>
            <a:off x="7127747" y="3680459"/>
            <a:ext cx="161925" cy="1018540"/>
          </a:xfrm>
          <a:custGeom>
            <a:avLst/>
            <a:gdLst/>
            <a:ahLst/>
            <a:cxnLst/>
            <a:rect l="l" t="t" r="r" b="b"/>
            <a:pathLst>
              <a:path w="161925" h="1018539">
                <a:moveTo>
                  <a:pt x="0" y="0"/>
                </a:moveTo>
                <a:lnTo>
                  <a:pt x="161544" y="0"/>
                </a:lnTo>
                <a:lnTo>
                  <a:pt x="161544" y="1018032"/>
                </a:lnTo>
                <a:lnTo>
                  <a:pt x="0" y="1018032"/>
                </a:lnTo>
                <a:lnTo>
                  <a:pt x="0" y="0"/>
                </a:lnTo>
                <a:close/>
              </a:path>
            </a:pathLst>
          </a:custGeom>
          <a:solidFill>
            <a:srgbClr val="C00000"/>
          </a:solidFill>
        </p:spPr>
        <p:txBody>
          <a:bodyPr wrap="square" lIns="0" tIns="0" rIns="0" bIns="0" rtlCol="0"/>
          <a:lstStyle/>
          <a:p/>
        </p:txBody>
      </p:sp>
      <p:sp>
        <p:nvSpPr>
          <p:cNvPr id="27" name="object 27"/>
          <p:cNvSpPr/>
          <p:nvPr/>
        </p:nvSpPr>
        <p:spPr>
          <a:xfrm>
            <a:off x="7121741" y="3673830"/>
            <a:ext cx="173355" cy="1030605"/>
          </a:xfrm>
          <a:custGeom>
            <a:avLst/>
            <a:gdLst/>
            <a:ahLst/>
            <a:cxnLst/>
            <a:rect l="l" t="t" r="r" b="b"/>
            <a:pathLst>
              <a:path w="173354" h="1030604">
                <a:moveTo>
                  <a:pt x="173278" y="1030490"/>
                </a:moveTo>
                <a:lnTo>
                  <a:pt x="0" y="1030490"/>
                </a:lnTo>
                <a:lnTo>
                  <a:pt x="0" y="0"/>
                </a:lnTo>
                <a:lnTo>
                  <a:pt x="173278" y="0"/>
                </a:lnTo>
                <a:lnTo>
                  <a:pt x="173278" y="6350"/>
                </a:lnTo>
                <a:lnTo>
                  <a:pt x="12700" y="6350"/>
                </a:lnTo>
                <a:lnTo>
                  <a:pt x="6350" y="12700"/>
                </a:lnTo>
                <a:lnTo>
                  <a:pt x="12700" y="12700"/>
                </a:lnTo>
                <a:lnTo>
                  <a:pt x="12700" y="1017790"/>
                </a:lnTo>
                <a:lnTo>
                  <a:pt x="6350" y="1017790"/>
                </a:lnTo>
                <a:lnTo>
                  <a:pt x="12700" y="1024140"/>
                </a:lnTo>
                <a:lnTo>
                  <a:pt x="173278" y="1024140"/>
                </a:lnTo>
                <a:lnTo>
                  <a:pt x="173278" y="1030490"/>
                </a:lnTo>
                <a:close/>
              </a:path>
              <a:path w="173354" h="1030604">
                <a:moveTo>
                  <a:pt x="12700" y="12700"/>
                </a:moveTo>
                <a:lnTo>
                  <a:pt x="6350" y="12700"/>
                </a:lnTo>
                <a:lnTo>
                  <a:pt x="12700" y="6350"/>
                </a:lnTo>
                <a:lnTo>
                  <a:pt x="12700" y="12700"/>
                </a:lnTo>
                <a:close/>
              </a:path>
              <a:path w="173354" h="1030604">
                <a:moveTo>
                  <a:pt x="160578" y="12700"/>
                </a:moveTo>
                <a:lnTo>
                  <a:pt x="12700" y="12700"/>
                </a:lnTo>
                <a:lnTo>
                  <a:pt x="12700" y="6350"/>
                </a:lnTo>
                <a:lnTo>
                  <a:pt x="160578" y="6350"/>
                </a:lnTo>
                <a:lnTo>
                  <a:pt x="160578" y="12700"/>
                </a:lnTo>
                <a:close/>
              </a:path>
              <a:path w="173354" h="1030604">
                <a:moveTo>
                  <a:pt x="160578" y="1024140"/>
                </a:moveTo>
                <a:lnTo>
                  <a:pt x="160578" y="6350"/>
                </a:lnTo>
                <a:lnTo>
                  <a:pt x="166928" y="12700"/>
                </a:lnTo>
                <a:lnTo>
                  <a:pt x="173278" y="12700"/>
                </a:lnTo>
                <a:lnTo>
                  <a:pt x="173278" y="1017790"/>
                </a:lnTo>
                <a:lnTo>
                  <a:pt x="166928" y="1017790"/>
                </a:lnTo>
                <a:lnTo>
                  <a:pt x="160578" y="1024140"/>
                </a:lnTo>
                <a:close/>
              </a:path>
              <a:path w="173354" h="1030604">
                <a:moveTo>
                  <a:pt x="173278" y="12700"/>
                </a:moveTo>
                <a:lnTo>
                  <a:pt x="166928" y="12700"/>
                </a:lnTo>
                <a:lnTo>
                  <a:pt x="160578" y="6350"/>
                </a:lnTo>
                <a:lnTo>
                  <a:pt x="173278" y="6350"/>
                </a:lnTo>
                <a:lnTo>
                  <a:pt x="173278" y="12700"/>
                </a:lnTo>
                <a:close/>
              </a:path>
              <a:path w="173354" h="1030604">
                <a:moveTo>
                  <a:pt x="12700" y="1024140"/>
                </a:moveTo>
                <a:lnTo>
                  <a:pt x="6350" y="1017790"/>
                </a:lnTo>
                <a:lnTo>
                  <a:pt x="12700" y="1017790"/>
                </a:lnTo>
                <a:lnTo>
                  <a:pt x="12700" y="1024140"/>
                </a:lnTo>
                <a:close/>
              </a:path>
              <a:path w="173354" h="1030604">
                <a:moveTo>
                  <a:pt x="160578" y="1024140"/>
                </a:moveTo>
                <a:lnTo>
                  <a:pt x="12700" y="1024140"/>
                </a:lnTo>
                <a:lnTo>
                  <a:pt x="12700" y="1017790"/>
                </a:lnTo>
                <a:lnTo>
                  <a:pt x="160578" y="1017790"/>
                </a:lnTo>
                <a:lnTo>
                  <a:pt x="160578" y="1024140"/>
                </a:lnTo>
                <a:close/>
              </a:path>
              <a:path w="173354" h="1030604">
                <a:moveTo>
                  <a:pt x="173278" y="1024140"/>
                </a:moveTo>
                <a:lnTo>
                  <a:pt x="160578" y="1024140"/>
                </a:lnTo>
                <a:lnTo>
                  <a:pt x="166928" y="1017790"/>
                </a:lnTo>
                <a:lnTo>
                  <a:pt x="173278" y="1017790"/>
                </a:lnTo>
                <a:lnTo>
                  <a:pt x="173278" y="1024140"/>
                </a:lnTo>
                <a:close/>
              </a:path>
            </a:pathLst>
          </a:custGeom>
          <a:solidFill>
            <a:srgbClr val="C00000"/>
          </a:solidFill>
        </p:spPr>
        <p:txBody>
          <a:bodyPr wrap="square" lIns="0" tIns="0" rIns="0" bIns="0" rtlCol="0"/>
          <a:lstStyle/>
          <a:p/>
        </p:txBody>
      </p:sp>
      <p:sp>
        <p:nvSpPr>
          <p:cNvPr id="28" name="object 28"/>
          <p:cNvSpPr/>
          <p:nvPr/>
        </p:nvSpPr>
        <p:spPr>
          <a:xfrm>
            <a:off x="8340852" y="4338828"/>
            <a:ext cx="132715" cy="358140"/>
          </a:xfrm>
          <a:custGeom>
            <a:avLst/>
            <a:gdLst/>
            <a:ahLst/>
            <a:cxnLst/>
            <a:rect l="l" t="t" r="r" b="b"/>
            <a:pathLst>
              <a:path w="132715" h="358139">
                <a:moveTo>
                  <a:pt x="0" y="0"/>
                </a:moveTo>
                <a:lnTo>
                  <a:pt x="132588" y="0"/>
                </a:lnTo>
                <a:lnTo>
                  <a:pt x="132588" y="358139"/>
                </a:lnTo>
                <a:lnTo>
                  <a:pt x="0" y="358139"/>
                </a:lnTo>
                <a:lnTo>
                  <a:pt x="0" y="0"/>
                </a:lnTo>
                <a:close/>
              </a:path>
            </a:pathLst>
          </a:custGeom>
          <a:solidFill>
            <a:srgbClr val="C00000"/>
          </a:solidFill>
        </p:spPr>
        <p:txBody>
          <a:bodyPr wrap="square" lIns="0" tIns="0" rIns="0" bIns="0" rtlCol="0"/>
          <a:lstStyle/>
          <a:p/>
        </p:txBody>
      </p:sp>
      <p:sp>
        <p:nvSpPr>
          <p:cNvPr id="29" name="object 29"/>
          <p:cNvSpPr/>
          <p:nvPr/>
        </p:nvSpPr>
        <p:spPr>
          <a:xfrm>
            <a:off x="8334654" y="4333100"/>
            <a:ext cx="144780" cy="370840"/>
          </a:xfrm>
          <a:custGeom>
            <a:avLst/>
            <a:gdLst/>
            <a:ahLst/>
            <a:cxnLst/>
            <a:rect l="l" t="t" r="r" b="b"/>
            <a:pathLst>
              <a:path w="144779" h="370839">
                <a:moveTo>
                  <a:pt x="144475" y="370611"/>
                </a:moveTo>
                <a:lnTo>
                  <a:pt x="0" y="370611"/>
                </a:lnTo>
                <a:lnTo>
                  <a:pt x="0" y="0"/>
                </a:lnTo>
                <a:lnTo>
                  <a:pt x="144475" y="0"/>
                </a:lnTo>
                <a:lnTo>
                  <a:pt x="144475" y="6350"/>
                </a:lnTo>
                <a:lnTo>
                  <a:pt x="12700" y="6350"/>
                </a:lnTo>
                <a:lnTo>
                  <a:pt x="6350" y="12700"/>
                </a:lnTo>
                <a:lnTo>
                  <a:pt x="12700" y="12700"/>
                </a:lnTo>
                <a:lnTo>
                  <a:pt x="12700" y="357911"/>
                </a:lnTo>
                <a:lnTo>
                  <a:pt x="6350" y="357911"/>
                </a:lnTo>
                <a:lnTo>
                  <a:pt x="12700" y="364261"/>
                </a:lnTo>
                <a:lnTo>
                  <a:pt x="144475" y="364261"/>
                </a:lnTo>
                <a:lnTo>
                  <a:pt x="144475" y="370611"/>
                </a:lnTo>
                <a:close/>
              </a:path>
              <a:path w="144779" h="370839">
                <a:moveTo>
                  <a:pt x="12700" y="12700"/>
                </a:moveTo>
                <a:lnTo>
                  <a:pt x="6350" y="12700"/>
                </a:lnTo>
                <a:lnTo>
                  <a:pt x="12700" y="6350"/>
                </a:lnTo>
                <a:lnTo>
                  <a:pt x="12700" y="12700"/>
                </a:lnTo>
                <a:close/>
              </a:path>
              <a:path w="144779" h="370839">
                <a:moveTo>
                  <a:pt x="131775" y="12700"/>
                </a:moveTo>
                <a:lnTo>
                  <a:pt x="12700" y="12700"/>
                </a:lnTo>
                <a:lnTo>
                  <a:pt x="12700" y="6350"/>
                </a:lnTo>
                <a:lnTo>
                  <a:pt x="131775" y="6350"/>
                </a:lnTo>
                <a:lnTo>
                  <a:pt x="131775" y="12700"/>
                </a:lnTo>
                <a:close/>
              </a:path>
              <a:path w="144779" h="370839">
                <a:moveTo>
                  <a:pt x="131775" y="364261"/>
                </a:moveTo>
                <a:lnTo>
                  <a:pt x="131775" y="6350"/>
                </a:lnTo>
                <a:lnTo>
                  <a:pt x="138125" y="12700"/>
                </a:lnTo>
                <a:lnTo>
                  <a:pt x="144475" y="12700"/>
                </a:lnTo>
                <a:lnTo>
                  <a:pt x="144475" y="357911"/>
                </a:lnTo>
                <a:lnTo>
                  <a:pt x="138125" y="357911"/>
                </a:lnTo>
                <a:lnTo>
                  <a:pt x="131775" y="364261"/>
                </a:lnTo>
                <a:close/>
              </a:path>
              <a:path w="144779" h="370839">
                <a:moveTo>
                  <a:pt x="144475" y="12700"/>
                </a:moveTo>
                <a:lnTo>
                  <a:pt x="138125" y="12700"/>
                </a:lnTo>
                <a:lnTo>
                  <a:pt x="131775" y="6350"/>
                </a:lnTo>
                <a:lnTo>
                  <a:pt x="144475" y="6350"/>
                </a:lnTo>
                <a:lnTo>
                  <a:pt x="144475" y="12700"/>
                </a:lnTo>
                <a:close/>
              </a:path>
              <a:path w="144779" h="370839">
                <a:moveTo>
                  <a:pt x="12700" y="364261"/>
                </a:moveTo>
                <a:lnTo>
                  <a:pt x="6350" y="357911"/>
                </a:lnTo>
                <a:lnTo>
                  <a:pt x="12700" y="357911"/>
                </a:lnTo>
                <a:lnTo>
                  <a:pt x="12700" y="364261"/>
                </a:lnTo>
                <a:close/>
              </a:path>
              <a:path w="144779" h="370839">
                <a:moveTo>
                  <a:pt x="131775" y="364261"/>
                </a:moveTo>
                <a:lnTo>
                  <a:pt x="12700" y="364261"/>
                </a:lnTo>
                <a:lnTo>
                  <a:pt x="12700" y="357911"/>
                </a:lnTo>
                <a:lnTo>
                  <a:pt x="131775" y="357911"/>
                </a:lnTo>
                <a:lnTo>
                  <a:pt x="131775" y="364261"/>
                </a:lnTo>
                <a:close/>
              </a:path>
              <a:path w="144779" h="370839">
                <a:moveTo>
                  <a:pt x="144475" y="364261"/>
                </a:moveTo>
                <a:lnTo>
                  <a:pt x="131775" y="364261"/>
                </a:lnTo>
                <a:lnTo>
                  <a:pt x="138125" y="357911"/>
                </a:lnTo>
                <a:lnTo>
                  <a:pt x="144475" y="357911"/>
                </a:lnTo>
                <a:lnTo>
                  <a:pt x="144475" y="364261"/>
                </a:lnTo>
                <a:close/>
              </a:path>
            </a:pathLst>
          </a:custGeom>
          <a:solidFill>
            <a:srgbClr val="C00000"/>
          </a:solidFill>
        </p:spPr>
        <p:txBody>
          <a:bodyPr wrap="square" lIns="0" tIns="0" rIns="0" bIns="0" rtlCol="0"/>
          <a:lstStyle/>
          <a:p/>
        </p:txBody>
      </p:sp>
      <p:sp>
        <p:nvSpPr>
          <p:cNvPr id="30" name="object 30"/>
          <p:cNvSpPr/>
          <p:nvPr/>
        </p:nvSpPr>
        <p:spPr>
          <a:xfrm>
            <a:off x="10248900" y="3464052"/>
            <a:ext cx="897890" cy="1045844"/>
          </a:xfrm>
          <a:custGeom>
            <a:avLst/>
            <a:gdLst/>
            <a:ahLst/>
            <a:cxnLst/>
            <a:rect l="l" t="t" r="r" b="b"/>
            <a:pathLst>
              <a:path w="897890" h="1045845">
                <a:moveTo>
                  <a:pt x="0" y="0"/>
                </a:moveTo>
                <a:lnTo>
                  <a:pt x="897636" y="0"/>
                </a:lnTo>
                <a:lnTo>
                  <a:pt x="897636" y="1045463"/>
                </a:lnTo>
                <a:lnTo>
                  <a:pt x="0" y="1045463"/>
                </a:lnTo>
                <a:lnTo>
                  <a:pt x="0" y="0"/>
                </a:lnTo>
                <a:close/>
              </a:path>
            </a:pathLst>
          </a:custGeom>
          <a:solidFill>
            <a:srgbClr val="D9D9D9"/>
          </a:solidFill>
        </p:spPr>
        <p:txBody>
          <a:bodyPr wrap="square" lIns="0" tIns="0" rIns="0" bIns="0" rtlCol="0"/>
          <a:lstStyle/>
          <a:p/>
        </p:txBody>
      </p:sp>
      <p:sp>
        <p:nvSpPr>
          <p:cNvPr id="31" name="object 31"/>
          <p:cNvSpPr/>
          <p:nvPr/>
        </p:nvSpPr>
        <p:spPr>
          <a:xfrm>
            <a:off x="10241965" y="3457282"/>
            <a:ext cx="911225" cy="1059180"/>
          </a:xfrm>
          <a:custGeom>
            <a:avLst/>
            <a:gdLst/>
            <a:ahLst/>
            <a:cxnLst/>
            <a:rect l="l" t="t" r="r" b="b"/>
            <a:pathLst>
              <a:path w="911225" h="1059179">
                <a:moveTo>
                  <a:pt x="911199" y="1058760"/>
                </a:moveTo>
                <a:lnTo>
                  <a:pt x="0" y="1058760"/>
                </a:lnTo>
                <a:lnTo>
                  <a:pt x="0" y="0"/>
                </a:lnTo>
                <a:lnTo>
                  <a:pt x="911199" y="0"/>
                </a:lnTo>
                <a:lnTo>
                  <a:pt x="911199" y="6350"/>
                </a:lnTo>
                <a:lnTo>
                  <a:pt x="12700" y="6350"/>
                </a:lnTo>
                <a:lnTo>
                  <a:pt x="6350" y="12700"/>
                </a:lnTo>
                <a:lnTo>
                  <a:pt x="12700" y="12700"/>
                </a:lnTo>
                <a:lnTo>
                  <a:pt x="12700" y="1046060"/>
                </a:lnTo>
                <a:lnTo>
                  <a:pt x="6350" y="1046060"/>
                </a:lnTo>
                <a:lnTo>
                  <a:pt x="12700" y="1052410"/>
                </a:lnTo>
                <a:lnTo>
                  <a:pt x="911199" y="1052410"/>
                </a:lnTo>
                <a:lnTo>
                  <a:pt x="911199" y="1058760"/>
                </a:lnTo>
                <a:close/>
              </a:path>
              <a:path w="911225" h="1059179">
                <a:moveTo>
                  <a:pt x="12700" y="12700"/>
                </a:moveTo>
                <a:lnTo>
                  <a:pt x="6350" y="12700"/>
                </a:lnTo>
                <a:lnTo>
                  <a:pt x="12700" y="6350"/>
                </a:lnTo>
                <a:lnTo>
                  <a:pt x="12700" y="12700"/>
                </a:lnTo>
                <a:close/>
              </a:path>
              <a:path w="911225" h="1059179">
                <a:moveTo>
                  <a:pt x="898499" y="12700"/>
                </a:moveTo>
                <a:lnTo>
                  <a:pt x="12700" y="12700"/>
                </a:lnTo>
                <a:lnTo>
                  <a:pt x="12700" y="6350"/>
                </a:lnTo>
                <a:lnTo>
                  <a:pt x="898499" y="6350"/>
                </a:lnTo>
                <a:lnTo>
                  <a:pt x="898499" y="12700"/>
                </a:lnTo>
                <a:close/>
              </a:path>
              <a:path w="911225" h="1059179">
                <a:moveTo>
                  <a:pt x="898499" y="1052410"/>
                </a:moveTo>
                <a:lnTo>
                  <a:pt x="898499" y="6350"/>
                </a:lnTo>
                <a:lnTo>
                  <a:pt x="904849" y="12700"/>
                </a:lnTo>
                <a:lnTo>
                  <a:pt x="911199" y="12700"/>
                </a:lnTo>
                <a:lnTo>
                  <a:pt x="911199" y="1046060"/>
                </a:lnTo>
                <a:lnTo>
                  <a:pt x="904849" y="1046060"/>
                </a:lnTo>
                <a:lnTo>
                  <a:pt x="898499" y="1052410"/>
                </a:lnTo>
                <a:close/>
              </a:path>
              <a:path w="911225" h="1059179">
                <a:moveTo>
                  <a:pt x="911199" y="12700"/>
                </a:moveTo>
                <a:lnTo>
                  <a:pt x="904849" y="12700"/>
                </a:lnTo>
                <a:lnTo>
                  <a:pt x="898499" y="6350"/>
                </a:lnTo>
                <a:lnTo>
                  <a:pt x="911199" y="6350"/>
                </a:lnTo>
                <a:lnTo>
                  <a:pt x="911199" y="12700"/>
                </a:lnTo>
                <a:close/>
              </a:path>
              <a:path w="911225" h="1059179">
                <a:moveTo>
                  <a:pt x="12700" y="1052410"/>
                </a:moveTo>
                <a:lnTo>
                  <a:pt x="6350" y="1046060"/>
                </a:lnTo>
                <a:lnTo>
                  <a:pt x="12700" y="1046060"/>
                </a:lnTo>
                <a:lnTo>
                  <a:pt x="12700" y="1052410"/>
                </a:lnTo>
                <a:close/>
              </a:path>
              <a:path w="911225" h="1059179">
                <a:moveTo>
                  <a:pt x="898499" y="1052410"/>
                </a:moveTo>
                <a:lnTo>
                  <a:pt x="12700" y="1052410"/>
                </a:lnTo>
                <a:lnTo>
                  <a:pt x="12700" y="1046060"/>
                </a:lnTo>
                <a:lnTo>
                  <a:pt x="898499" y="1046060"/>
                </a:lnTo>
                <a:lnTo>
                  <a:pt x="898499" y="1052410"/>
                </a:lnTo>
                <a:close/>
              </a:path>
              <a:path w="911225" h="1059179">
                <a:moveTo>
                  <a:pt x="911199" y="1052410"/>
                </a:moveTo>
                <a:lnTo>
                  <a:pt x="898499" y="1052410"/>
                </a:lnTo>
                <a:lnTo>
                  <a:pt x="904849" y="1046060"/>
                </a:lnTo>
                <a:lnTo>
                  <a:pt x="911199" y="1046060"/>
                </a:lnTo>
                <a:lnTo>
                  <a:pt x="911199" y="1052410"/>
                </a:lnTo>
                <a:close/>
              </a:path>
            </a:pathLst>
          </a:custGeom>
          <a:solidFill>
            <a:srgbClr val="C00000"/>
          </a:solidFill>
        </p:spPr>
        <p:txBody>
          <a:bodyPr wrap="square" lIns="0" tIns="0" rIns="0" bIns="0" rtlCol="0"/>
          <a:lstStyle/>
          <a:p/>
        </p:txBody>
      </p:sp>
      <p:sp>
        <p:nvSpPr>
          <p:cNvPr id="32" name="object 32"/>
          <p:cNvSpPr txBox="1"/>
          <p:nvPr/>
        </p:nvSpPr>
        <p:spPr>
          <a:xfrm>
            <a:off x="10382936" y="3720172"/>
            <a:ext cx="629285" cy="514350"/>
          </a:xfrm>
          <a:prstGeom prst="rect">
            <a:avLst/>
          </a:prstGeom>
        </p:spPr>
        <p:txBody>
          <a:bodyPr vert="horz" wrap="square" lIns="0" tIns="12700" rIns="0" bIns="0" rtlCol="0">
            <a:spAutoFit/>
          </a:bodyPr>
          <a:lstStyle/>
          <a:p>
            <a:pPr marL="85725" marR="79375" algn="ctr">
              <a:lnSpc>
                <a:spcPct val="100000"/>
              </a:lnSpc>
              <a:spcBef>
                <a:spcPts val="100"/>
              </a:spcBef>
            </a:pPr>
            <a:r>
              <a:rPr sz="1200" b="1" dirty="0">
                <a:solidFill>
                  <a:srgbClr val="C00000"/>
                </a:solidFill>
                <a:latin typeface="微软雅黑" panose="020B0503020204020204" charset="-122"/>
                <a:cs typeface="微软雅黑" panose="020B0503020204020204" charset="-122"/>
              </a:rPr>
              <a:t>通用寄 存器组</a:t>
            </a:r>
            <a:endParaRPr sz="1200">
              <a:latin typeface="微软雅黑" panose="020B0503020204020204" charset="-122"/>
              <a:cs typeface="微软雅黑" panose="020B0503020204020204" charset="-122"/>
            </a:endParaRPr>
          </a:p>
          <a:p>
            <a:pPr algn="ctr">
              <a:lnSpc>
                <a:spcPct val="100000"/>
              </a:lnSpc>
              <a:spcBef>
                <a:spcPts val="5"/>
              </a:spcBef>
            </a:pPr>
            <a:r>
              <a:rPr sz="800" spc="-5" dirty="0">
                <a:solidFill>
                  <a:srgbClr val="C00000"/>
                </a:solidFill>
                <a:latin typeface="微软雅黑" panose="020B0503020204020204" charset="-122"/>
                <a:cs typeface="微软雅黑" panose="020B0503020204020204" charset="-122"/>
              </a:rPr>
              <a:t>（位于EX</a:t>
            </a:r>
            <a:r>
              <a:rPr sz="800" spc="-10" dirty="0">
                <a:solidFill>
                  <a:srgbClr val="C00000"/>
                </a:solidFill>
                <a:latin typeface="微软雅黑" panose="020B0503020204020204" charset="-122"/>
                <a:cs typeface="微软雅黑" panose="020B0503020204020204" charset="-122"/>
              </a:rPr>
              <a:t>U</a:t>
            </a:r>
            <a:r>
              <a:rPr sz="800" spc="5" dirty="0">
                <a:solidFill>
                  <a:srgbClr val="C00000"/>
                </a:solidFill>
                <a:latin typeface="微软雅黑" panose="020B0503020204020204" charset="-122"/>
                <a:cs typeface="微软雅黑" panose="020B0503020204020204" charset="-122"/>
              </a:rPr>
              <a:t>）</a:t>
            </a:r>
            <a:endParaRPr sz="800">
              <a:latin typeface="微软雅黑" panose="020B0503020204020204" charset="-122"/>
              <a:cs typeface="微软雅黑" panose="020B0503020204020204" charset="-122"/>
            </a:endParaRPr>
          </a:p>
        </p:txBody>
      </p:sp>
      <p:sp>
        <p:nvSpPr>
          <p:cNvPr id="33" name="object 33"/>
          <p:cNvSpPr/>
          <p:nvPr/>
        </p:nvSpPr>
        <p:spPr>
          <a:xfrm>
            <a:off x="9713976" y="3680459"/>
            <a:ext cx="276225" cy="624840"/>
          </a:xfrm>
          <a:custGeom>
            <a:avLst/>
            <a:gdLst/>
            <a:ahLst/>
            <a:cxnLst/>
            <a:rect l="l" t="t" r="r" b="b"/>
            <a:pathLst>
              <a:path w="276225" h="624839">
                <a:moveTo>
                  <a:pt x="0" y="624839"/>
                </a:moveTo>
                <a:lnTo>
                  <a:pt x="0" y="0"/>
                </a:lnTo>
                <a:lnTo>
                  <a:pt x="275844" y="128015"/>
                </a:lnTo>
                <a:lnTo>
                  <a:pt x="275844" y="495300"/>
                </a:lnTo>
                <a:lnTo>
                  <a:pt x="0" y="624839"/>
                </a:lnTo>
                <a:close/>
              </a:path>
            </a:pathLst>
          </a:custGeom>
          <a:solidFill>
            <a:srgbClr val="D9D9D9"/>
          </a:solidFill>
        </p:spPr>
        <p:txBody>
          <a:bodyPr wrap="square" lIns="0" tIns="0" rIns="0" bIns="0" rtlCol="0"/>
          <a:lstStyle/>
          <a:p/>
        </p:txBody>
      </p:sp>
      <p:sp>
        <p:nvSpPr>
          <p:cNvPr id="34" name="object 34"/>
          <p:cNvSpPr/>
          <p:nvPr/>
        </p:nvSpPr>
        <p:spPr>
          <a:xfrm>
            <a:off x="9708133" y="3670198"/>
            <a:ext cx="287655" cy="644525"/>
          </a:xfrm>
          <a:custGeom>
            <a:avLst/>
            <a:gdLst/>
            <a:ahLst/>
            <a:cxnLst/>
            <a:rect l="l" t="t" r="r" b="b"/>
            <a:pathLst>
              <a:path w="287654" h="644525">
                <a:moveTo>
                  <a:pt x="0" y="644347"/>
                </a:moveTo>
                <a:lnTo>
                  <a:pt x="0" y="0"/>
                </a:lnTo>
                <a:lnTo>
                  <a:pt x="21342" y="9982"/>
                </a:lnTo>
                <a:lnTo>
                  <a:pt x="12700" y="9982"/>
                </a:lnTo>
                <a:lnTo>
                  <a:pt x="3670" y="15735"/>
                </a:lnTo>
                <a:lnTo>
                  <a:pt x="12700" y="19958"/>
                </a:lnTo>
                <a:lnTo>
                  <a:pt x="12700" y="624388"/>
                </a:lnTo>
                <a:lnTo>
                  <a:pt x="3670" y="628611"/>
                </a:lnTo>
                <a:lnTo>
                  <a:pt x="12700" y="634364"/>
                </a:lnTo>
                <a:lnTo>
                  <a:pt x="21344" y="634364"/>
                </a:lnTo>
                <a:lnTo>
                  <a:pt x="0" y="644347"/>
                </a:lnTo>
                <a:close/>
              </a:path>
              <a:path w="287654" h="644525">
                <a:moveTo>
                  <a:pt x="12700" y="19958"/>
                </a:moveTo>
                <a:lnTo>
                  <a:pt x="3670" y="15735"/>
                </a:lnTo>
                <a:lnTo>
                  <a:pt x="12700" y="9982"/>
                </a:lnTo>
                <a:lnTo>
                  <a:pt x="12700" y="19958"/>
                </a:lnTo>
                <a:close/>
              </a:path>
              <a:path w="287654" h="644525">
                <a:moveTo>
                  <a:pt x="274586" y="142446"/>
                </a:moveTo>
                <a:lnTo>
                  <a:pt x="12700" y="19958"/>
                </a:lnTo>
                <a:lnTo>
                  <a:pt x="12700" y="9982"/>
                </a:lnTo>
                <a:lnTo>
                  <a:pt x="21342" y="9982"/>
                </a:lnTo>
                <a:lnTo>
                  <a:pt x="287286" y="134365"/>
                </a:lnTo>
                <a:lnTo>
                  <a:pt x="287286" y="138404"/>
                </a:lnTo>
                <a:lnTo>
                  <a:pt x="274586" y="138404"/>
                </a:lnTo>
                <a:lnTo>
                  <a:pt x="274586" y="142446"/>
                </a:lnTo>
                <a:close/>
              </a:path>
              <a:path w="287654" h="644525">
                <a:moveTo>
                  <a:pt x="278244" y="144157"/>
                </a:moveTo>
                <a:lnTo>
                  <a:pt x="274586" y="142446"/>
                </a:lnTo>
                <a:lnTo>
                  <a:pt x="274586" y="138404"/>
                </a:lnTo>
                <a:lnTo>
                  <a:pt x="278244" y="144157"/>
                </a:lnTo>
                <a:close/>
              </a:path>
              <a:path w="287654" h="644525">
                <a:moveTo>
                  <a:pt x="287286" y="144157"/>
                </a:moveTo>
                <a:lnTo>
                  <a:pt x="278244" y="144157"/>
                </a:lnTo>
                <a:lnTo>
                  <a:pt x="274586" y="138404"/>
                </a:lnTo>
                <a:lnTo>
                  <a:pt x="287286" y="138404"/>
                </a:lnTo>
                <a:lnTo>
                  <a:pt x="287286" y="144157"/>
                </a:lnTo>
                <a:close/>
              </a:path>
              <a:path w="287654" h="644525">
                <a:moveTo>
                  <a:pt x="274586" y="501912"/>
                </a:moveTo>
                <a:lnTo>
                  <a:pt x="274586" y="142446"/>
                </a:lnTo>
                <a:lnTo>
                  <a:pt x="278244" y="144157"/>
                </a:lnTo>
                <a:lnTo>
                  <a:pt x="287286" y="144157"/>
                </a:lnTo>
                <a:lnTo>
                  <a:pt x="287286" y="500202"/>
                </a:lnTo>
                <a:lnTo>
                  <a:pt x="278244" y="500202"/>
                </a:lnTo>
                <a:lnTo>
                  <a:pt x="274586" y="501912"/>
                </a:lnTo>
                <a:close/>
              </a:path>
              <a:path w="287654" h="644525">
                <a:moveTo>
                  <a:pt x="274586" y="505942"/>
                </a:moveTo>
                <a:lnTo>
                  <a:pt x="274586" y="501912"/>
                </a:lnTo>
                <a:lnTo>
                  <a:pt x="278244" y="500202"/>
                </a:lnTo>
                <a:lnTo>
                  <a:pt x="274586" y="505942"/>
                </a:lnTo>
                <a:close/>
              </a:path>
              <a:path w="287654" h="644525">
                <a:moveTo>
                  <a:pt x="287286" y="505942"/>
                </a:moveTo>
                <a:lnTo>
                  <a:pt x="274586" y="505942"/>
                </a:lnTo>
                <a:lnTo>
                  <a:pt x="278244" y="500202"/>
                </a:lnTo>
                <a:lnTo>
                  <a:pt x="287286" y="500202"/>
                </a:lnTo>
                <a:lnTo>
                  <a:pt x="287286" y="505942"/>
                </a:lnTo>
                <a:close/>
              </a:path>
              <a:path w="287654" h="644525">
                <a:moveTo>
                  <a:pt x="21344" y="634364"/>
                </a:moveTo>
                <a:lnTo>
                  <a:pt x="12700" y="634364"/>
                </a:lnTo>
                <a:lnTo>
                  <a:pt x="12700" y="624388"/>
                </a:lnTo>
                <a:lnTo>
                  <a:pt x="274586" y="501912"/>
                </a:lnTo>
                <a:lnTo>
                  <a:pt x="274586" y="505942"/>
                </a:lnTo>
                <a:lnTo>
                  <a:pt x="287286" y="505942"/>
                </a:lnTo>
                <a:lnTo>
                  <a:pt x="287286" y="509993"/>
                </a:lnTo>
                <a:lnTo>
                  <a:pt x="21344" y="634364"/>
                </a:lnTo>
                <a:close/>
              </a:path>
              <a:path w="287654" h="644525">
                <a:moveTo>
                  <a:pt x="12700" y="634364"/>
                </a:moveTo>
                <a:lnTo>
                  <a:pt x="3670" y="628611"/>
                </a:lnTo>
                <a:lnTo>
                  <a:pt x="12700" y="624388"/>
                </a:lnTo>
                <a:lnTo>
                  <a:pt x="12700" y="634364"/>
                </a:lnTo>
                <a:close/>
              </a:path>
            </a:pathLst>
          </a:custGeom>
          <a:solidFill>
            <a:srgbClr val="C00000"/>
          </a:solidFill>
        </p:spPr>
        <p:txBody>
          <a:bodyPr wrap="square" lIns="0" tIns="0" rIns="0" bIns="0" rtlCol="0"/>
          <a:lstStyle/>
          <a:p/>
        </p:txBody>
      </p:sp>
      <p:sp>
        <p:nvSpPr>
          <p:cNvPr id="35" name="object 35"/>
          <p:cNvSpPr/>
          <p:nvPr/>
        </p:nvSpPr>
        <p:spPr>
          <a:xfrm>
            <a:off x="9988981" y="3950461"/>
            <a:ext cx="259715" cy="76200"/>
          </a:xfrm>
          <a:custGeom>
            <a:avLst/>
            <a:gdLst/>
            <a:ahLst/>
            <a:cxnLst/>
            <a:rect l="l" t="t" r="r" b="b"/>
            <a:pathLst>
              <a:path w="259715" h="76200">
                <a:moveTo>
                  <a:pt x="183946" y="76187"/>
                </a:moveTo>
                <a:lnTo>
                  <a:pt x="183232" y="41900"/>
                </a:lnTo>
                <a:lnTo>
                  <a:pt x="202272" y="41503"/>
                </a:lnTo>
                <a:lnTo>
                  <a:pt x="202120" y="33883"/>
                </a:lnTo>
                <a:lnTo>
                  <a:pt x="183065" y="33883"/>
                </a:lnTo>
                <a:lnTo>
                  <a:pt x="182359" y="0"/>
                </a:lnTo>
                <a:lnTo>
                  <a:pt x="253816" y="33883"/>
                </a:lnTo>
                <a:lnTo>
                  <a:pt x="202120" y="33883"/>
                </a:lnTo>
                <a:lnTo>
                  <a:pt x="183073" y="34280"/>
                </a:lnTo>
                <a:lnTo>
                  <a:pt x="254654" y="34280"/>
                </a:lnTo>
                <a:lnTo>
                  <a:pt x="259333" y="36499"/>
                </a:lnTo>
                <a:lnTo>
                  <a:pt x="183946" y="76187"/>
                </a:lnTo>
                <a:close/>
              </a:path>
              <a:path w="259715" h="76200">
                <a:moveTo>
                  <a:pt x="183232" y="41900"/>
                </a:moveTo>
                <a:lnTo>
                  <a:pt x="183073" y="34280"/>
                </a:lnTo>
                <a:lnTo>
                  <a:pt x="202120" y="33883"/>
                </a:lnTo>
                <a:lnTo>
                  <a:pt x="202272" y="41503"/>
                </a:lnTo>
                <a:lnTo>
                  <a:pt x="183232" y="41900"/>
                </a:lnTo>
                <a:close/>
              </a:path>
              <a:path w="259715" h="76200">
                <a:moveTo>
                  <a:pt x="165" y="45720"/>
                </a:moveTo>
                <a:lnTo>
                  <a:pt x="0" y="38100"/>
                </a:lnTo>
                <a:lnTo>
                  <a:pt x="183073" y="34280"/>
                </a:lnTo>
                <a:lnTo>
                  <a:pt x="183232" y="41900"/>
                </a:lnTo>
                <a:lnTo>
                  <a:pt x="165" y="45720"/>
                </a:lnTo>
                <a:close/>
              </a:path>
            </a:pathLst>
          </a:custGeom>
          <a:solidFill>
            <a:srgbClr val="C00000"/>
          </a:solidFill>
        </p:spPr>
        <p:txBody>
          <a:bodyPr wrap="square" lIns="0" tIns="0" rIns="0" bIns="0" rtlCol="0"/>
          <a:lstStyle/>
          <a:p/>
        </p:txBody>
      </p:sp>
      <p:sp>
        <p:nvSpPr>
          <p:cNvPr id="36" name="object 36"/>
          <p:cNvSpPr/>
          <p:nvPr/>
        </p:nvSpPr>
        <p:spPr>
          <a:xfrm>
            <a:off x="9355340" y="3945851"/>
            <a:ext cx="359410" cy="567690"/>
          </a:xfrm>
          <a:custGeom>
            <a:avLst/>
            <a:gdLst/>
            <a:ahLst/>
            <a:cxnLst/>
            <a:rect l="l" t="t" r="r" b="b"/>
            <a:pathLst>
              <a:path w="359409" h="567689">
                <a:moveTo>
                  <a:pt x="282943" y="76200"/>
                </a:moveTo>
                <a:lnTo>
                  <a:pt x="282943" y="0"/>
                </a:lnTo>
                <a:lnTo>
                  <a:pt x="351523" y="34289"/>
                </a:lnTo>
                <a:lnTo>
                  <a:pt x="301993" y="34289"/>
                </a:lnTo>
                <a:lnTo>
                  <a:pt x="301993" y="41910"/>
                </a:lnTo>
                <a:lnTo>
                  <a:pt x="351523" y="41910"/>
                </a:lnTo>
                <a:lnTo>
                  <a:pt x="282943" y="76200"/>
                </a:lnTo>
                <a:close/>
              </a:path>
              <a:path w="359409" h="567689">
                <a:moveTo>
                  <a:pt x="175768" y="563841"/>
                </a:moveTo>
                <a:lnTo>
                  <a:pt x="175768" y="34289"/>
                </a:lnTo>
                <a:lnTo>
                  <a:pt x="282943" y="34289"/>
                </a:lnTo>
                <a:lnTo>
                  <a:pt x="282943" y="38100"/>
                </a:lnTo>
                <a:lnTo>
                  <a:pt x="183388" y="38100"/>
                </a:lnTo>
                <a:lnTo>
                  <a:pt x="179577" y="41910"/>
                </a:lnTo>
                <a:lnTo>
                  <a:pt x="183388" y="41910"/>
                </a:lnTo>
                <a:lnTo>
                  <a:pt x="183388" y="560031"/>
                </a:lnTo>
                <a:lnTo>
                  <a:pt x="179577" y="560031"/>
                </a:lnTo>
                <a:lnTo>
                  <a:pt x="175768" y="563841"/>
                </a:lnTo>
                <a:close/>
              </a:path>
              <a:path w="359409" h="567689">
                <a:moveTo>
                  <a:pt x="351523" y="41910"/>
                </a:moveTo>
                <a:lnTo>
                  <a:pt x="301993" y="41910"/>
                </a:lnTo>
                <a:lnTo>
                  <a:pt x="301993" y="34289"/>
                </a:lnTo>
                <a:lnTo>
                  <a:pt x="351523" y="34289"/>
                </a:lnTo>
                <a:lnTo>
                  <a:pt x="359143" y="38100"/>
                </a:lnTo>
                <a:lnTo>
                  <a:pt x="351523" y="41910"/>
                </a:lnTo>
                <a:close/>
              </a:path>
              <a:path w="359409" h="567689">
                <a:moveTo>
                  <a:pt x="183388" y="41910"/>
                </a:moveTo>
                <a:lnTo>
                  <a:pt x="179577" y="41910"/>
                </a:lnTo>
                <a:lnTo>
                  <a:pt x="183388" y="38100"/>
                </a:lnTo>
                <a:lnTo>
                  <a:pt x="183388" y="41910"/>
                </a:lnTo>
                <a:close/>
              </a:path>
              <a:path w="359409" h="567689">
                <a:moveTo>
                  <a:pt x="282943" y="41910"/>
                </a:moveTo>
                <a:lnTo>
                  <a:pt x="183388" y="41910"/>
                </a:lnTo>
                <a:lnTo>
                  <a:pt x="183388" y="38100"/>
                </a:lnTo>
                <a:lnTo>
                  <a:pt x="282943" y="38100"/>
                </a:lnTo>
                <a:lnTo>
                  <a:pt x="282943" y="41910"/>
                </a:lnTo>
                <a:close/>
              </a:path>
              <a:path w="359409" h="567689">
                <a:moveTo>
                  <a:pt x="183388" y="567651"/>
                </a:moveTo>
                <a:lnTo>
                  <a:pt x="0" y="567651"/>
                </a:lnTo>
                <a:lnTo>
                  <a:pt x="0" y="560031"/>
                </a:lnTo>
                <a:lnTo>
                  <a:pt x="175768" y="560031"/>
                </a:lnTo>
                <a:lnTo>
                  <a:pt x="175768" y="563841"/>
                </a:lnTo>
                <a:lnTo>
                  <a:pt x="183388" y="563841"/>
                </a:lnTo>
                <a:lnTo>
                  <a:pt x="183388" y="567651"/>
                </a:lnTo>
                <a:close/>
              </a:path>
              <a:path w="359409" h="567689">
                <a:moveTo>
                  <a:pt x="183388" y="563841"/>
                </a:moveTo>
                <a:lnTo>
                  <a:pt x="175768" y="563841"/>
                </a:lnTo>
                <a:lnTo>
                  <a:pt x="179577" y="560031"/>
                </a:lnTo>
                <a:lnTo>
                  <a:pt x="183388" y="560031"/>
                </a:lnTo>
                <a:lnTo>
                  <a:pt x="183388" y="563841"/>
                </a:lnTo>
                <a:close/>
              </a:path>
            </a:pathLst>
          </a:custGeom>
          <a:solidFill>
            <a:srgbClr val="C00000"/>
          </a:solidFill>
        </p:spPr>
        <p:txBody>
          <a:bodyPr wrap="square" lIns="0" tIns="0" rIns="0" bIns="0" rtlCol="0"/>
          <a:lstStyle/>
          <a:p/>
        </p:txBody>
      </p:sp>
      <p:sp>
        <p:nvSpPr>
          <p:cNvPr id="37" name="object 37"/>
          <p:cNvSpPr/>
          <p:nvPr/>
        </p:nvSpPr>
        <p:spPr>
          <a:xfrm>
            <a:off x="9602203" y="4172229"/>
            <a:ext cx="1011555" cy="1570355"/>
          </a:xfrm>
          <a:custGeom>
            <a:avLst/>
            <a:gdLst/>
            <a:ahLst/>
            <a:cxnLst/>
            <a:rect l="l" t="t" r="r" b="b"/>
            <a:pathLst>
              <a:path w="1011554" h="1570354">
                <a:moveTo>
                  <a:pt x="1003909" y="676922"/>
                </a:moveTo>
                <a:lnTo>
                  <a:pt x="0" y="676922"/>
                </a:lnTo>
                <a:lnTo>
                  <a:pt x="0" y="0"/>
                </a:lnTo>
                <a:lnTo>
                  <a:pt x="7620" y="0"/>
                </a:lnTo>
                <a:lnTo>
                  <a:pt x="7620" y="669302"/>
                </a:lnTo>
                <a:lnTo>
                  <a:pt x="3810" y="669302"/>
                </a:lnTo>
                <a:lnTo>
                  <a:pt x="7620" y="673100"/>
                </a:lnTo>
                <a:lnTo>
                  <a:pt x="1003909" y="673100"/>
                </a:lnTo>
                <a:lnTo>
                  <a:pt x="1003909" y="676922"/>
                </a:lnTo>
                <a:close/>
              </a:path>
              <a:path w="1011554" h="1570354">
                <a:moveTo>
                  <a:pt x="7620" y="673100"/>
                </a:moveTo>
                <a:lnTo>
                  <a:pt x="3810" y="669302"/>
                </a:lnTo>
                <a:lnTo>
                  <a:pt x="7620" y="669302"/>
                </a:lnTo>
                <a:lnTo>
                  <a:pt x="7620" y="673100"/>
                </a:lnTo>
                <a:close/>
              </a:path>
              <a:path w="1011554" h="1570354">
                <a:moveTo>
                  <a:pt x="1011529" y="676922"/>
                </a:moveTo>
                <a:lnTo>
                  <a:pt x="1007719" y="676922"/>
                </a:lnTo>
                <a:lnTo>
                  <a:pt x="1003909" y="673100"/>
                </a:lnTo>
                <a:lnTo>
                  <a:pt x="7620" y="673100"/>
                </a:lnTo>
                <a:lnTo>
                  <a:pt x="7620" y="669302"/>
                </a:lnTo>
                <a:lnTo>
                  <a:pt x="1011529" y="669302"/>
                </a:lnTo>
                <a:lnTo>
                  <a:pt x="1011529" y="676922"/>
                </a:lnTo>
                <a:close/>
              </a:path>
              <a:path w="1011554" h="1570354">
                <a:moveTo>
                  <a:pt x="1003909" y="1566379"/>
                </a:moveTo>
                <a:lnTo>
                  <a:pt x="1003909" y="673100"/>
                </a:lnTo>
                <a:lnTo>
                  <a:pt x="1007719" y="676922"/>
                </a:lnTo>
                <a:lnTo>
                  <a:pt x="1011529" y="676922"/>
                </a:lnTo>
                <a:lnTo>
                  <a:pt x="1011529" y="1562569"/>
                </a:lnTo>
                <a:lnTo>
                  <a:pt x="1007719" y="1562569"/>
                </a:lnTo>
                <a:lnTo>
                  <a:pt x="1003909" y="1566379"/>
                </a:lnTo>
                <a:close/>
              </a:path>
              <a:path w="1011554" h="1570354">
                <a:moveTo>
                  <a:pt x="1011529" y="1570189"/>
                </a:moveTo>
                <a:lnTo>
                  <a:pt x="777887" y="1570189"/>
                </a:lnTo>
                <a:lnTo>
                  <a:pt x="777887" y="1562569"/>
                </a:lnTo>
                <a:lnTo>
                  <a:pt x="1003909" y="1562569"/>
                </a:lnTo>
                <a:lnTo>
                  <a:pt x="1003909" y="1566379"/>
                </a:lnTo>
                <a:lnTo>
                  <a:pt x="1011529" y="1566379"/>
                </a:lnTo>
                <a:lnTo>
                  <a:pt x="1011529" y="1570189"/>
                </a:lnTo>
                <a:close/>
              </a:path>
              <a:path w="1011554" h="1570354">
                <a:moveTo>
                  <a:pt x="1011529" y="1566379"/>
                </a:moveTo>
                <a:lnTo>
                  <a:pt x="1003909" y="1566379"/>
                </a:lnTo>
                <a:lnTo>
                  <a:pt x="1007719" y="1562569"/>
                </a:lnTo>
                <a:lnTo>
                  <a:pt x="1011529" y="1562569"/>
                </a:lnTo>
                <a:lnTo>
                  <a:pt x="1011529" y="1566379"/>
                </a:lnTo>
                <a:close/>
              </a:path>
            </a:pathLst>
          </a:custGeom>
          <a:solidFill>
            <a:srgbClr val="C00000"/>
          </a:solidFill>
        </p:spPr>
        <p:txBody>
          <a:bodyPr wrap="square" lIns="0" tIns="0" rIns="0" bIns="0" rtlCol="0"/>
          <a:lstStyle/>
          <a:p/>
        </p:txBody>
      </p:sp>
      <p:sp>
        <p:nvSpPr>
          <p:cNvPr id="38" name="object 38"/>
          <p:cNvSpPr/>
          <p:nvPr/>
        </p:nvSpPr>
        <p:spPr>
          <a:xfrm>
            <a:off x="10379989" y="5133473"/>
            <a:ext cx="238760" cy="0"/>
          </a:xfrm>
          <a:custGeom>
            <a:avLst/>
            <a:gdLst/>
            <a:ahLst/>
            <a:cxnLst/>
            <a:rect l="l" t="t" r="r" b="b"/>
            <a:pathLst>
              <a:path w="238759">
                <a:moveTo>
                  <a:pt x="0" y="0"/>
                </a:moveTo>
                <a:lnTo>
                  <a:pt x="238607" y="0"/>
                </a:lnTo>
              </a:path>
            </a:pathLst>
          </a:custGeom>
          <a:ln w="13627">
            <a:solidFill>
              <a:srgbClr val="C00000"/>
            </a:solidFill>
          </a:ln>
        </p:spPr>
        <p:txBody>
          <a:bodyPr wrap="square" lIns="0" tIns="0" rIns="0" bIns="0" rtlCol="0"/>
          <a:lstStyle/>
          <a:p/>
        </p:txBody>
      </p:sp>
      <p:sp>
        <p:nvSpPr>
          <p:cNvPr id="39" name="object 39"/>
          <p:cNvSpPr/>
          <p:nvPr/>
        </p:nvSpPr>
        <p:spPr>
          <a:xfrm>
            <a:off x="9605733" y="4131335"/>
            <a:ext cx="116116" cy="75996"/>
          </a:xfrm>
          <a:prstGeom prst="rect">
            <a:avLst/>
          </a:prstGeom>
          <a:blipFill>
            <a:blip r:embed="rId2" cstate="print"/>
            <a:stretch>
              <a:fillRect/>
            </a:stretch>
          </a:blipFill>
        </p:spPr>
        <p:txBody>
          <a:bodyPr wrap="square" lIns="0" tIns="0" rIns="0" bIns="0" rtlCol="0"/>
          <a:lstStyle/>
          <a:p/>
        </p:txBody>
      </p:sp>
      <p:sp>
        <p:nvSpPr>
          <p:cNvPr id="40" name="object 40"/>
          <p:cNvSpPr/>
          <p:nvPr/>
        </p:nvSpPr>
        <p:spPr>
          <a:xfrm>
            <a:off x="8227593" y="3820909"/>
            <a:ext cx="1494155" cy="76200"/>
          </a:xfrm>
          <a:custGeom>
            <a:avLst/>
            <a:gdLst/>
            <a:ahLst/>
            <a:cxnLst/>
            <a:rect l="l" t="t" r="r" b="b"/>
            <a:pathLst>
              <a:path w="1494154" h="76200">
                <a:moveTo>
                  <a:pt x="1486576" y="42011"/>
                </a:moveTo>
                <a:lnTo>
                  <a:pt x="1436471" y="42011"/>
                </a:lnTo>
                <a:lnTo>
                  <a:pt x="1436509" y="34391"/>
                </a:lnTo>
                <a:lnTo>
                  <a:pt x="1417461" y="34284"/>
                </a:lnTo>
                <a:lnTo>
                  <a:pt x="1417650" y="0"/>
                </a:lnTo>
                <a:lnTo>
                  <a:pt x="1493634" y="38531"/>
                </a:lnTo>
                <a:lnTo>
                  <a:pt x="1486576" y="42011"/>
                </a:lnTo>
                <a:close/>
              </a:path>
              <a:path w="1494154" h="76200">
                <a:moveTo>
                  <a:pt x="1417419" y="41904"/>
                </a:moveTo>
                <a:lnTo>
                  <a:pt x="0" y="33921"/>
                </a:lnTo>
                <a:lnTo>
                  <a:pt x="50" y="26301"/>
                </a:lnTo>
                <a:lnTo>
                  <a:pt x="1417461" y="34284"/>
                </a:lnTo>
                <a:lnTo>
                  <a:pt x="1417419" y="41904"/>
                </a:lnTo>
                <a:close/>
              </a:path>
              <a:path w="1494154" h="76200">
                <a:moveTo>
                  <a:pt x="1436471" y="42011"/>
                </a:moveTo>
                <a:lnTo>
                  <a:pt x="1417419" y="41904"/>
                </a:lnTo>
                <a:lnTo>
                  <a:pt x="1417461" y="34284"/>
                </a:lnTo>
                <a:lnTo>
                  <a:pt x="1436509" y="34391"/>
                </a:lnTo>
                <a:lnTo>
                  <a:pt x="1436471" y="42011"/>
                </a:lnTo>
                <a:close/>
              </a:path>
              <a:path w="1494154" h="76200">
                <a:moveTo>
                  <a:pt x="1417231" y="76200"/>
                </a:moveTo>
                <a:lnTo>
                  <a:pt x="1417419" y="41904"/>
                </a:lnTo>
                <a:lnTo>
                  <a:pt x="1486576" y="42011"/>
                </a:lnTo>
                <a:lnTo>
                  <a:pt x="1417231" y="76200"/>
                </a:lnTo>
                <a:close/>
              </a:path>
            </a:pathLst>
          </a:custGeom>
          <a:solidFill>
            <a:srgbClr val="C00000"/>
          </a:solidFill>
        </p:spPr>
        <p:txBody>
          <a:bodyPr wrap="square" lIns="0" tIns="0" rIns="0" bIns="0" rtlCol="0"/>
          <a:lstStyle/>
          <a:p/>
        </p:txBody>
      </p:sp>
      <p:sp>
        <p:nvSpPr>
          <p:cNvPr id="41" name="object 41"/>
          <p:cNvSpPr/>
          <p:nvPr/>
        </p:nvSpPr>
        <p:spPr>
          <a:xfrm>
            <a:off x="5850420" y="3455923"/>
            <a:ext cx="1986914" cy="429259"/>
          </a:xfrm>
          <a:custGeom>
            <a:avLst/>
            <a:gdLst/>
            <a:ahLst/>
            <a:cxnLst/>
            <a:rect l="l" t="t" r="r" b="b"/>
            <a:pathLst>
              <a:path w="1986915" h="429260">
                <a:moveTo>
                  <a:pt x="147916" y="394690"/>
                </a:moveTo>
                <a:lnTo>
                  <a:pt x="0" y="394690"/>
                </a:lnTo>
                <a:lnTo>
                  <a:pt x="0" y="0"/>
                </a:lnTo>
                <a:lnTo>
                  <a:pt x="1986305" y="0"/>
                </a:lnTo>
                <a:lnTo>
                  <a:pt x="1986305" y="3810"/>
                </a:lnTo>
                <a:lnTo>
                  <a:pt x="7619" y="3810"/>
                </a:lnTo>
                <a:lnTo>
                  <a:pt x="3810" y="7620"/>
                </a:lnTo>
                <a:lnTo>
                  <a:pt x="7619" y="7620"/>
                </a:lnTo>
                <a:lnTo>
                  <a:pt x="7619" y="387070"/>
                </a:lnTo>
                <a:lnTo>
                  <a:pt x="3810" y="387070"/>
                </a:lnTo>
                <a:lnTo>
                  <a:pt x="7619" y="390880"/>
                </a:lnTo>
                <a:lnTo>
                  <a:pt x="147916" y="390880"/>
                </a:lnTo>
                <a:lnTo>
                  <a:pt x="147916" y="394690"/>
                </a:lnTo>
                <a:close/>
              </a:path>
              <a:path w="1986915" h="429260">
                <a:moveTo>
                  <a:pt x="7619" y="7620"/>
                </a:moveTo>
                <a:lnTo>
                  <a:pt x="3810" y="7620"/>
                </a:lnTo>
                <a:lnTo>
                  <a:pt x="7619" y="3810"/>
                </a:lnTo>
                <a:lnTo>
                  <a:pt x="7619" y="7620"/>
                </a:lnTo>
                <a:close/>
              </a:path>
              <a:path w="1986915" h="429260">
                <a:moveTo>
                  <a:pt x="1978685" y="7620"/>
                </a:moveTo>
                <a:lnTo>
                  <a:pt x="7619" y="7620"/>
                </a:lnTo>
                <a:lnTo>
                  <a:pt x="7619" y="3810"/>
                </a:lnTo>
                <a:lnTo>
                  <a:pt x="1978685" y="3810"/>
                </a:lnTo>
                <a:lnTo>
                  <a:pt x="1978685" y="7620"/>
                </a:lnTo>
                <a:close/>
              </a:path>
              <a:path w="1986915" h="429260">
                <a:moveTo>
                  <a:pt x="1986305" y="215836"/>
                </a:moveTo>
                <a:lnTo>
                  <a:pt x="1978685" y="215836"/>
                </a:lnTo>
                <a:lnTo>
                  <a:pt x="1978685" y="3810"/>
                </a:lnTo>
                <a:lnTo>
                  <a:pt x="1982495" y="7620"/>
                </a:lnTo>
                <a:lnTo>
                  <a:pt x="1986305" y="7620"/>
                </a:lnTo>
                <a:lnTo>
                  <a:pt x="1986305" y="215836"/>
                </a:lnTo>
                <a:close/>
              </a:path>
              <a:path w="1986915" h="429260">
                <a:moveTo>
                  <a:pt x="1986305" y="7620"/>
                </a:moveTo>
                <a:lnTo>
                  <a:pt x="1982495" y="7620"/>
                </a:lnTo>
                <a:lnTo>
                  <a:pt x="1978685" y="3810"/>
                </a:lnTo>
                <a:lnTo>
                  <a:pt x="1986305" y="3810"/>
                </a:lnTo>
                <a:lnTo>
                  <a:pt x="1986305" y="7620"/>
                </a:lnTo>
                <a:close/>
              </a:path>
              <a:path w="1986915" h="429260">
                <a:moveTo>
                  <a:pt x="147916" y="428980"/>
                </a:moveTo>
                <a:lnTo>
                  <a:pt x="147916" y="352780"/>
                </a:lnTo>
                <a:lnTo>
                  <a:pt x="216496" y="387070"/>
                </a:lnTo>
                <a:lnTo>
                  <a:pt x="166966" y="387070"/>
                </a:lnTo>
                <a:lnTo>
                  <a:pt x="166966" y="394690"/>
                </a:lnTo>
                <a:lnTo>
                  <a:pt x="216496" y="394690"/>
                </a:lnTo>
                <a:lnTo>
                  <a:pt x="147916" y="428980"/>
                </a:lnTo>
                <a:close/>
              </a:path>
              <a:path w="1986915" h="429260">
                <a:moveTo>
                  <a:pt x="7619" y="390880"/>
                </a:moveTo>
                <a:lnTo>
                  <a:pt x="3810" y="387070"/>
                </a:lnTo>
                <a:lnTo>
                  <a:pt x="7619" y="387070"/>
                </a:lnTo>
                <a:lnTo>
                  <a:pt x="7619" y="390880"/>
                </a:lnTo>
                <a:close/>
              </a:path>
              <a:path w="1986915" h="429260">
                <a:moveTo>
                  <a:pt x="147916" y="390880"/>
                </a:moveTo>
                <a:lnTo>
                  <a:pt x="7619" y="390880"/>
                </a:lnTo>
                <a:lnTo>
                  <a:pt x="7619" y="387070"/>
                </a:lnTo>
                <a:lnTo>
                  <a:pt x="147916" y="387070"/>
                </a:lnTo>
                <a:lnTo>
                  <a:pt x="147916" y="390880"/>
                </a:lnTo>
                <a:close/>
              </a:path>
              <a:path w="1986915" h="429260">
                <a:moveTo>
                  <a:pt x="216496" y="394690"/>
                </a:moveTo>
                <a:lnTo>
                  <a:pt x="166966" y="394690"/>
                </a:lnTo>
                <a:lnTo>
                  <a:pt x="166966" y="387070"/>
                </a:lnTo>
                <a:lnTo>
                  <a:pt x="216496" y="387070"/>
                </a:lnTo>
                <a:lnTo>
                  <a:pt x="224116" y="390880"/>
                </a:lnTo>
                <a:lnTo>
                  <a:pt x="216496" y="394690"/>
                </a:lnTo>
                <a:close/>
              </a:path>
            </a:pathLst>
          </a:custGeom>
          <a:solidFill>
            <a:srgbClr val="C00000"/>
          </a:solidFill>
        </p:spPr>
        <p:txBody>
          <a:bodyPr wrap="square" lIns="0" tIns="0" rIns="0" bIns="0" rtlCol="0"/>
          <a:lstStyle/>
          <a:p/>
        </p:txBody>
      </p:sp>
      <p:sp>
        <p:nvSpPr>
          <p:cNvPr id="42" name="object 42"/>
          <p:cNvSpPr txBox="1"/>
          <p:nvPr/>
        </p:nvSpPr>
        <p:spPr>
          <a:xfrm>
            <a:off x="8473440" y="4959096"/>
            <a:ext cx="882650" cy="360045"/>
          </a:xfrm>
          <a:prstGeom prst="rect">
            <a:avLst/>
          </a:prstGeom>
          <a:solidFill>
            <a:srgbClr val="D9D9D9"/>
          </a:solidFill>
        </p:spPr>
        <p:txBody>
          <a:bodyPr vert="horz" wrap="square" lIns="0" tIns="78740" rIns="0" bIns="0" rtlCol="0">
            <a:spAutoFit/>
          </a:bodyPr>
          <a:lstStyle/>
          <a:p>
            <a:pPr marL="272415">
              <a:lnSpc>
                <a:spcPct val="100000"/>
              </a:lnSpc>
              <a:spcBef>
                <a:spcPts val="620"/>
              </a:spcBef>
            </a:pPr>
            <a:r>
              <a:rPr sz="1200" b="1" dirty="0">
                <a:solidFill>
                  <a:srgbClr val="C00000"/>
                </a:solidFill>
                <a:latin typeface="微软雅黑" panose="020B0503020204020204" charset="-122"/>
                <a:cs typeface="微软雅黑" panose="020B0503020204020204" charset="-122"/>
              </a:rPr>
              <a:t>长指令</a:t>
            </a:r>
            <a:endParaRPr sz="1200">
              <a:latin typeface="微软雅黑" panose="020B0503020204020204" charset="-122"/>
              <a:cs typeface="微软雅黑" panose="020B0503020204020204" charset="-122"/>
            </a:endParaRPr>
          </a:p>
        </p:txBody>
      </p:sp>
      <p:sp>
        <p:nvSpPr>
          <p:cNvPr id="43" name="object 43"/>
          <p:cNvSpPr txBox="1"/>
          <p:nvPr/>
        </p:nvSpPr>
        <p:spPr>
          <a:xfrm>
            <a:off x="8464295" y="5558028"/>
            <a:ext cx="916305" cy="360045"/>
          </a:xfrm>
          <a:prstGeom prst="rect">
            <a:avLst/>
          </a:prstGeom>
          <a:solidFill>
            <a:srgbClr val="D9D9D9"/>
          </a:solidFill>
        </p:spPr>
        <p:txBody>
          <a:bodyPr vert="horz" wrap="square" lIns="0" tIns="67310" rIns="0" bIns="0" rtlCol="0">
            <a:spAutoFit/>
          </a:bodyPr>
          <a:lstStyle/>
          <a:p>
            <a:pPr marL="361315">
              <a:lnSpc>
                <a:spcPct val="100000"/>
              </a:lnSpc>
              <a:spcBef>
                <a:spcPts val="530"/>
              </a:spcBef>
            </a:pPr>
            <a:r>
              <a:rPr sz="1400" b="1" dirty="0">
                <a:solidFill>
                  <a:srgbClr val="C00000"/>
                </a:solidFill>
                <a:latin typeface="微软雅黑" panose="020B0503020204020204" charset="-122"/>
                <a:cs typeface="微软雅黑" panose="020B0503020204020204" charset="-122"/>
              </a:rPr>
              <a:t>EAI</a:t>
            </a:r>
            <a:endParaRPr sz="1400">
              <a:latin typeface="微软雅黑" panose="020B0503020204020204" charset="-122"/>
              <a:cs typeface="微软雅黑" panose="020B0503020204020204" charset="-122"/>
            </a:endParaRPr>
          </a:p>
        </p:txBody>
      </p:sp>
      <p:sp>
        <p:nvSpPr>
          <p:cNvPr id="44" name="object 44"/>
          <p:cNvSpPr/>
          <p:nvPr/>
        </p:nvSpPr>
        <p:spPr>
          <a:xfrm>
            <a:off x="5861303" y="3032760"/>
            <a:ext cx="5287010" cy="303530"/>
          </a:xfrm>
          <a:custGeom>
            <a:avLst/>
            <a:gdLst/>
            <a:ahLst/>
            <a:cxnLst/>
            <a:rect l="l" t="t" r="r" b="b"/>
            <a:pathLst>
              <a:path w="5287009" h="303529">
                <a:moveTo>
                  <a:pt x="0" y="0"/>
                </a:moveTo>
                <a:lnTo>
                  <a:pt x="5286756" y="0"/>
                </a:lnTo>
                <a:lnTo>
                  <a:pt x="5286756" y="303275"/>
                </a:lnTo>
                <a:lnTo>
                  <a:pt x="0" y="303275"/>
                </a:lnTo>
                <a:lnTo>
                  <a:pt x="0" y="0"/>
                </a:lnTo>
                <a:close/>
              </a:path>
            </a:pathLst>
          </a:custGeom>
          <a:solidFill>
            <a:srgbClr val="D9D9D9"/>
          </a:solidFill>
        </p:spPr>
        <p:txBody>
          <a:bodyPr wrap="square" lIns="0" tIns="0" rIns="0" bIns="0" rtlCol="0"/>
          <a:lstStyle/>
          <a:p/>
        </p:txBody>
      </p:sp>
      <p:sp>
        <p:nvSpPr>
          <p:cNvPr id="45" name="object 45"/>
          <p:cNvSpPr/>
          <p:nvPr/>
        </p:nvSpPr>
        <p:spPr>
          <a:xfrm>
            <a:off x="5854903" y="3026587"/>
            <a:ext cx="5299075" cy="316230"/>
          </a:xfrm>
          <a:custGeom>
            <a:avLst/>
            <a:gdLst/>
            <a:ahLst/>
            <a:cxnLst/>
            <a:rect l="l" t="t" r="r" b="b"/>
            <a:pathLst>
              <a:path w="5299075" h="316229">
                <a:moveTo>
                  <a:pt x="5298871" y="315874"/>
                </a:moveTo>
                <a:lnTo>
                  <a:pt x="0" y="315874"/>
                </a:lnTo>
                <a:lnTo>
                  <a:pt x="0" y="0"/>
                </a:lnTo>
                <a:lnTo>
                  <a:pt x="5298871" y="0"/>
                </a:lnTo>
                <a:lnTo>
                  <a:pt x="5298871" y="6350"/>
                </a:lnTo>
                <a:lnTo>
                  <a:pt x="12700" y="6350"/>
                </a:lnTo>
                <a:lnTo>
                  <a:pt x="6350" y="12700"/>
                </a:lnTo>
                <a:lnTo>
                  <a:pt x="12700" y="12700"/>
                </a:lnTo>
                <a:lnTo>
                  <a:pt x="12700" y="303174"/>
                </a:lnTo>
                <a:lnTo>
                  <a:pt x="6350" y="303174"/>
                </a:lnTo>
                <a:lnTo>
                  <a:pt x="12700" y="309524"/>
                </a:lnTo>
                <a:lnTo>
                  <a:pt x="5298871" y="309524"/>
                </a:lnTo>
                <a:lnTo>
                  <a:pt x="5298871" y="315874"/>
                </a:lnTo>
                <a:close/>
              </a:path>
              <a:path w="5299075" h="316229">
                <a:moveTo>
                  <a:pt x="12700" y="12700"/>
                </a:moveTo>
                <a:lnTo>
                  <a:pt x="6350" y="12700"/>
                </a:lnTo>
                <a:lnTo>
                  <a:pt x="12700" y="6350"/>
                </a:lnTo>
                <a:lnTo>
                  <a:pt x="12700" y="12700"/>
                </a:lnTo>
                <a:close/>
              </a:path>
              <a:path w="5299075" h="316229">
                <a:moveTo>
                  <a:pt x="5286171" y="12700"/>
                </a:moveTo>
                <a:lnTo>
                  <a:pt x="12700" y="12700"/>
                </a:lnTo>
                <a:lnTo>
                  <a:pt x="12700" y="6350"/>
                </a:lnTo>
                <a:lnTo>
                  <a:pt x="5286171" y="6350"/>
                </a:lnTo>
                <a:lnTo>
                  <a:pt x="5286171" y="12700"/>
                </a:lnTo>
                <a:close/>
              </a:path>
              <a:path w="5299075" h="316229">
                <a:moveTo>
                  <a:pt x="5286171" y="309524"/>
                </a:moveTo>
                <a:lnTo>
                  <a:pt x="5286171" y="6350"/>
                </a:lnTo>
                <a:lnTo>
                  <a:pt x="5292521" y="12700"/>
                </a:lnTo>
                <a:lnTo>
                  <a:pt x="5298871" y="12700"/>
                </a:lnTo>
                <a:lnTo>
                  <a:pt x="5298871" y="303174"/>
                </a:lnTo>
                <a:lnTo>
                  <a:pt x="5292521" y="303174"/>
                </a:lnTo>
                <a:lnTo>
                  <a:pt x="5286171" y="309524"/>
                </a:lnTo>
                <a:close/>
              </a:path>
              <a:path w="5299075" h="316229">
                <a:moveTo>
                  <a:pt x="5298871" y="12700"/>
                </a:moveTo>
                <a:lnTo>
                  <a:pt x="5292521" y="12700"/>
                </a:lnTo>
                <a:lnTo>
                  <a:pt x="5286171" y="6350"/>
                </a:lnTo>
                <a:lnTo>
                  <a:pt x="5298871" y="6350"/>
                </a:lnTo>
                <a:lnTo>
                  <a:pt x="5298871" y="12700"/>
                </a:lnTo>
                <a:close/>
              </a:path>
              <a:path w="5299075" h="316229">
                <a:moveTo>
                  <a:pt x="12700" y="309524"/>
                </a:moveTo>
                <a:lnTo>
                  <a:pt x="6350" y="303174"/>
                </a:lnTo>
                <a:lnTo>
                  <a:pt x="12700" y="303174"/>
                </a:lnTo>
                <a:lnTo>
                  <a:pt x="12700" y="309524"/>
                </a:lnTo>
                <a:close/>
              </a:path>
              <a:path w="5299075" h="316229">
                <a:moveTo>
                  <a:pt x="5286171" y="309524"/>
                </a:moveTo>
                <a:lnTo>
                  <a:pt x="12700" y="309524"/>
                </a:lnTo>
                <a:lnTo>
                  <a:pt x="12700" y="303174"/>
                </a:lnTo>
                <a:lnTo>
                  <a:pt x="5286171" y="303174"/>
                </a:lnTo>
                <a:lnTo>
                  <a:pt x="5286171" y="309524"/>
                </a:lnTo>
                <a:close/>
              </a:path>
              <a:path w="5299075" h="316229">
                <a:moveTo>
                  <a:pt x="5298871" y="309524"/>
                </a:moveTo>
                <a:lnTo>
                  <a:pt x="5286171" y="309524"/>
                </a:lnTo>
                <a:lnTo>
                  <a:pt x="5292521" y="303174"/>
                </a:lnTo>
                <a:lnTo>
                  <a:pt x="5298871" y="303174"/>
                </a:lnTo>
                <a:lnTo>
                  <a:pt x="5298871" y="309524"/>
                </a:lnTo>
                <a:close/>
              </a:path>
            </a:pathLst>
          </a:custGeom>
          <a:solidFill>
            <a:srgbClr val="C00000"/>
          </a:solidFill>
        </p:spPr>
        <p:txBody>
          <a:bodyPr wrap="square" lIns="0" tIns="0" rIns="0" bIns="0" rtlCol="0"/>
          <a:lstStyle/>
          <a:p/>
        </p:txBody>
      </p:sp>
      <p:sp>
        <p:nvSpPr>
          <p:cNvPr id="46" name="object 46"/>
          <p:cNvSpPr txBox="1"/>
          <p:nvPr/>
        </p:nvSpPr>
        <p:spPr>
          <a:xfrm>
            <a:off x="5861303" y="3020542"/>
            <a:ext cx="5287010" cy="299720"/>
          </a:xfrm>
          <a:prstGeom prst="rect">
            <a:avLst/>
          </a:prstGeom>
        </p:spPr>
        <p:txBody>
          <a:bodyPr vert="horz" wrap="square" lIns="0" tIns="12700" rIns="0" bIns="0" rtlCol="0">
            <a:spAutoFit/>
          </a:bodyPr>
          <a:lstStyle/>
          <a:p>
            <a:pPr marL="12700" algn="ctr">
              <a:lnSpc>
                <a:spcPct val="100000"/>
              </a:lnSpc>
              <a:spcBef>
                <a:spcPts val="100"/>
              </a:spcBef>
            </a:pPr>
            <a:r>
              <a:rPr sz="1800" b="1" dirty="0">
                <a:solidFill>
                  <a:srgbClr val="C00000"/>
                </a:solidFill>
                <a:latin typeface="Calibri" panose="020F0502020204030204"/>
                <a:cs typeface="Calibri" panose="020F0502020204030204"/>
              </a:rPr>
              <a:t>BIU</a:t>
            </a:r>
            <a:endParaRPr sz="1800">
              <a:latin typeface="Calibri" panose="020F0502020204030204"/>
              <a:cs typeface="Calibri" panose="020F0502020204030204"/>
            </a:endParaRPr>
          </a:p>
        </p:txBody>
      </p:sp>
      <p:sp>
        <p:nvSpPr>
          <p:cNvPr id="47" name="object 47"/>
          <p:cNvSpPr txBox="1"/>
          <p:nvPr/>
        </p:nvSpPr>
        <p:spPr>
          <a:xfrm>
            <a:off x="5893409" y="1476946"/>
            <a:ext cx="5204460" cy="1122680"/>
          </a:xfrm>
          <a:prstGeom prst="rect">
            <a:avLst/>
          </a:prstGeom>
        </p:spPr>
        <p:txBody>
          <a:bodyPr vert="horz" wrap="square" lIns="0" tIns="12700" rIns="0" bIns="0" rtlCol="0">
            <a:spAutoFit/>
          </a:bodyPr>
          <a:lstStyle/>
          <a:p>
            <a:pPr marL="12700" marR="5080">
              <a:lnSpc>
                <a:spcPct val="150000"/>
              </a:lnSpc>
              <a:spcBef>
                <a:spcPts val="100"/>
              </a:spcBef>
            </a:pPr>
            <a:r>
              <a:rPr sz="1200" dirty="0">
                <a:latin typeface="微软雅黑" panose="020B0503020204020204" charset="-122"/>
                <a:cs typeface="微软雅黑" panose="020B0503020204020204" charset="-122"/>
              </a:rPr>
              <a:t>蜂鸟E203是个非严格意义的</a:t>
            </a:r>
            <a:r>
              <a:rPr sz="1200" b="1" dirty="0">
                <a:solidFill>
                  <a:srgbClr val="C00000"/>
                </a:solidFill>
                <a:latin typeface="微软雅黑" panose="020B0503020204020204" charset="-122"/>
                <a:cs typeface="微软雅黑" panose="020B0503020204020204" charset="-122"/>
              </a:rPr>
              <a:t>二级流水线结构</a:t>
            </a:r>
            <a:r>
              <a:rPr sz="1200" dirty="0">
                <a:latin typeface="微软雅黑" panose="020B0503020204020204" charset="-122"/>
                <a:cs typeface="微软雅黑" panose="020B0503020204020204" charset="-122"/>
              </a:rPr>
              <a:t>，第一级为</a:t>
            </a:r>
            <a:r>
              <a:rPr sz="1200" b="1" dirty="0">
                <a:solidFill>
                  <a:srgbClr val="C00000"/>
                </a:solidFill>
                <a:latin typeface="微软雅黑" panose="020B0503020204020204" charset="-122"/>
                <a:cs typeface="微软雅黑" panose="020B0503020204020204" charset="-122"/>
              </a:rPr>
              <a:t>IF</a:t>
            </a:r>
            <a:r>
              <a:rPr sz="1200" b="1" spc="-5" dirty="0">
                <a:solidFill>
                  <a:srgbClr val="C00000"/>
                </a:solidFill>
                <a:latin typeface="微软雅黑" panose="020B0503020204020204" charset="-122"/>
                <a:cs typeface="微软雅黑" panose="020B0503020204020204" charset="-122"/>
              </a:rPr>
              <a:t>U</a:t>
            </a:r>
            <a:r>
              <a:rPr sz="1200" dirty="0">
                <a:latin typeface="微软雅黑" panose="020B0503020204020204" charset="-122"/>
                <a:cs typeface="微软雅黑" panose="020B0503020204020204" charset="-122"/>
              </a:rPr>
              <a:t>完成取指，第二级 则包含了</a:t>
            </a:r>
            <a:r>
              <a:rPr sz="1200" b="1" spc="15" dirty="0">
                <a:solidFill>
                  <a:srgbClr val="C00000"/>
                </a:solidFill>
                <a:latin typeface="微软雅黑" panose="020B0503020204020204" charset="-122"/>
                <a:cs typeface="微软雅黑" panose="020B0503020204020204" charset="-122"/>
              </a:rPr>
              <a:t>E</a:t>
            </a:r>
            <a:r>
              <a:rPr sz="1200" b="1" spc="-5" dirty="0">
                <a:solidFill>
                  <a:srgbClr val="C00000"/>
                </a:solidFill>
                <a:latin typeface="微软雅黑" panose="020B0503020204020204" charset="-122"/>
                <a:cs typeface="微软雅黑" panose="020B0503020204020204" charset="-122"/>
              </a:rPr>
              <a:t>XU</a:t>
            </a:r>
            <a:r>
              <a:rPr sz="1200" dirty="0">
                <a:latin typeface="微软雅黑" panose="020B0503020204020204" charset="-122"/>
                <a:cs typeface="微软雅黑" panose="020B0503020204020204" charset="-122"/>
              </a:rPr>
              <a:t>进行译码，执行和写回。但对于通过</a:t>
            </a:r>
            <a:r>
              <a:rPr sz="1200" b="1" spc="-5" dirty="0">
                <a:solidFill>
                  <a:srgbClr val="C00000"/>
                </a:solidFill>
                <a:latin typeface="微软雅黑" panose="020B0503020204020204" charset="-122"/>
                <a:cs typeface="微软雅黑" panose="020B0503020204020204" charset="-122"/>
              </a:rPr>
              <a:t>LSU</a:t>
            </a:r>
            <a:r>
              <a:rPr sz="1200" dirty="0">
                <a:latin typeface="微软雅黑" panose="020B0503020204020204" charset="-122"/>
                <a:cs typeface="微软雅黑" panose="020B0503020204020204" charset="-122"/>
              </a:rPr>
              <a:t>进行访存，执行浮点运 算等长指令</a:t>
            </a:r>
            <a:r>
              <a:rPr sz="1200" spc="-5" dirty="0">
                <a:latin typeface="微软雅黑" panose="020B0503020204020204" charset="-122"/>
                <a:cs typeface="微软雅黑" panose="020B0503020204020204" charset="-122"/>
              </a:rPr>
              <a:t>(</a:t>
            </a:r>
            <a:r>
              <a:rPr sz="1200" dirty="0">
                <a:latin typeface="微软雅黑" panose="020B0503020204020204" charset="-122"/>
                <a:cs typeface="微软雅黑" panose="020B0503020204020204" charset="-122"/>
              </a:rPr>
              <a:t>多周期指令</a:t>
            </a:r>
            <a:r>
              <a:rPr sz="1200" spc="-5" dirty="0">
                <a:latin typeface="微软雅黑" panose="020B0503020204020204" charset="-122"/>
                <a:cs typeface="微软雅黑" panose="020B0503020204020204" charset="-122"/>
              </a:rPr>
              <a:t>)，</a:t>
            </a:r>
            <a:r>
              <a:rPr sz="1200" dirty="0">
                <a:latin typeface="微软雅黑" panose="020B0503020204020204" charset="-122"/>
                <a:cs typeface="微软雅黑" panose="020B0503020204020204" charset="-122"/>
              </a:rPr>
              <a:t>以及通过</a:t>
            </a:r>
            <a:r>
              <a:rPr sz="1200" b="1" dirty="0">
                <a:solidFill>
                  <a:srgbClr val="C00000"/>
                </a:solidFill>
                <a:latin typeface="微软雅黑" panose="020B0503020204020204" charset="-122"/>
                <a:cs typeface="微软雅黑" panose="020B0503020204020204" charset="-122"/>
              </a:rPr>
              <a:t>EAI</a:t>
            </a:r>
            <a:r>
              <a:rPr sz="1200" dirty="0">
                <a:latin typeface="微软雅黑" panose="020B0503020204020204" charset="-122"/>
                <a:cs typeface="微软雅黑" panose="020B0503020204020204" charset="-122"/>
              </a:rPr>
              <a:t>访问协处理器扩展则由第三级或更多 级完成，因此严格讲蜂鸟E203是一个</a:t>
            </a:r>
            <a:r>
              <a:rPr sz="1200" b="1" dirty="0">
                <a:solidFill>
                  <a:srgbClr val="C00000"/>
                </a:solidFill>
                <a:latin typeface="微软雅黑" panose="020B0503020204020204" charset="-122"/>
                <a:cs typeface="微软雅黑" panose="020B0503020204020204" charset="-122"/>
              </a:rPr>
              <a:t>变长流水线结构</a:t>
            </a:r>
            <a:r>
              <a:rPr sz="1200" dirty="0">
                <a:latin typeface="微软雅黑" panose="020B0503020204020204" charset="-122"/>
                <a:cs typeface="微软雅黑" panose="020B0503020204020204" charset="-122"/>
              </a:rPr>
              <a:t>。</a:t>
            </a:r>
            <a:endParaRPr sz="1200">
              <a:latin typeface="微软雅黑" panose="020B0503020204020204" charset="-122"/>
              <a:cs typeface="微软雅黑" panose="020B0503020204020204" charset="-122"/>
            </a:endParaRPr>
          </a:p>
        </p:txBody>
      </p:sp>
      <p:sp>
        <p:nvSpPr>
          <p:cNvPr id="48" name="object 48"/>
          <p:cNvSpPr txBox="1"/>
          <p:nvPr/>
        </p:nvSpPr>
        <p:spPr>
          <a:xfrm>
            <a:off x="9711652" y="3820744"/>
            <a:ext cx="278765" cy="329565"/>
          </a:xfrm>
          <a:prstGeom prst="rect">
            <a:avLst/>
          </a:prstGeom>
        </p:spPr>
        <p:txBody>
          <a:bodyPr vert="horz" wrap="square" lIns="0" tIns="12065" rIns="0" bIns="0" rtlCol="0">
            <a:spAutoFit/>
          </a:bodyPr>
          <a:lstStyle/>
          <a:p>
            <a:pPr marL="27940">
              <a:lnSpc>
                <a:spcPct val="100000"/>
              </a:lnSpc>
              <a:spcBef>
                <a:spcPts val="95"/>
              </a:spcBef>
            </a:pPr>
            <a:r>
              <a:rPr sz="1000" b="1" spc="-5" dirty="0">
                <a:solidFill>
                  <a:srgbClr val="C00000"/>
                </a:solidFill>
                <a:latin typeface="微软雅黑" panose="020B0503020204020204" charset="-122"/>
                <a:cs typeface="微软雅黑" panose="020B0503020204020204" charset="-122"/>
              </a:rPr>
              <a:t>WB</a:t>
            </a:r>
            <a:endParaRPr sz="1000">
              <a:latin typeface="微软雅黑" panose="020B0503020204020204" charset="-122"/>
              <a:cs typeface="微软雅黑" panose="020B0503020204020204" charset="-122"/>
            </a:endParaRPr>
          </a:p>
          <a:p>
            <a:pPr marL="12700">
              <a:lnSpc>
                <a:spcPct val="100000"/>
              </a:lnSpc>
            </a:pPr>
            <a:r>
              <a:rPr sz="1000" b="1" dirty="0">
                <a:solidFill>
                  <a:srgbClr val="C00000"/>
                </a:solidFill>
                <a:latin typeface="微软雅黑" panose="020B0503020204020204" charset="-122"/>
                <a:cs typeface="微软雅黑" panose="020B0503020204020204" charset="-122"/>
              </a:rPr>
              <a:t>仲</a:t>
            </a:r>
            <a:r>
              <a:rPr sz="1000" b="1" spc="-5" dirty="0">
                <a:solidFill>
                  <a:srgbClr val="C00000"/>
                </a:solidFill>
                <a:latin typeface="微软雅黑" panose="020B0503020204020204" charset="-122"/>
                <a:cs typeface="微软雅黑" panose="020B0503020204020204" charset="-122"/>
              </a:rPr>
              <a:t>裁</a:t>
            </a:r>
            <a:endParaRPr sz="1000">
              <a:latin typeface="微软雅黑" panose="020B0503020204020204" charset="-122"/>
              <a:cs typeface="微软雅黑" panose="020B0503020204020204" charset="-122"/>
            </a:endParaRPr>
          </a:p>
        </p:txBody>
      </p:sp>
      <p:sp>
        <p:nvSpPr>
          <p:cNvPr id="49" name="object 49"/>
          <p:cNvSpPr/>
          <p:nvPr/>
        </p:nvSpPr>
        <p:spPr>
          <a:xfrm>
            <a:off x="8340852" y="4957571"/>
            <a:ext cx="132715" cy="358140"/>
          </a:xfrm>
          <a:custGeom>
            <a:avLst/>
            <a:gdLst/>
            <a:ahLst/>
            <a:cxnLst/>
            <a:rect l="l" t="t" r="r" b="b"/>
            <a:pathLst>
              <a:path w="132715" h="358139">
                <a:moveTo>
                  <a:pt x="0" y="0"/>
                </a:moveTo>
                <a:lnTo>
                  <a:pt x="132588" y="0"/>
                </a:lnTo>
                <a:lnTo>
                  <a:pt x="132588" y="358139"/>
                </a:lnTo>
                <a:lnTo>
                  <a:pt x="0" y="358139"/>
                </a:lnTo>
                <a:lnTo>
                  <a:pt x="0" y="0"/>
                </a:lnTo>
                <a:close/>
              </a:path>
            </a:pathLst>
          </a:custGeom>
          <a:solidFill>
            <a:srgbClr val="C00000"/>
          </a:solidFill>
        </p:spPr>
        <p:txBody>
          <a:bodyPr wrap="square" lIns="0" tIns="0" rIns="0" bIns="0" rtlCol="0"/>
          <a:lstStyle/>
          <a:p/>
        </p:txBody>
      </p:sp>
      <p:sp>
        <p:nvSpPr>
          <p:cNvPr id="50" name="object 50"/>
          <p:cNvSpPr/>
          <p:nvPr/>
        </p:nvSpPr>
        <p:spPr>
          <a:xfrm>
            <a:off x="8334654" y="4950879"/>
            <a:ext cx="144780" cy="370840"/>
          </a:xfrm>
          <a:custGeom>
            <a:avLst/>
            <a:gdLst/>
            <a:ahLst/>
            <a:cxnLst/>
            <a:rect l="l" t="t" r="r" b="b"/>
            <a:pathLst>
              <a:path w="144779" h="370839">
                <a:moveTo>
                  <a:pt x="144475" y="370611"/>
                </a:moveTo>
                <a:lnTo>
                  <a:pt x="0" y="370611"/>
                </a:lnTo>
                <a:lnTo>
                  <a:pt x="0" y="0"/>
                </a:lnTo>
                <a:lnTo>
                  <a:pt x="144475" y="0"/>
                </a:lnTo>
                <a:lnTo>
                  <a:pt x="144475" y="6350"/>
                </a:lnTo>
                <a:lnTo>
                  <a:pt x="12700" y="6350"/>
                </a:lnTo>
                <a:lnTo>
                  <a:pt x="6350" y="12700"/>
                </a:lnTo>
                <a:lnTo>
                  <a:pt x="12700" y="12700"/>
                </a:lnTo>
                <a:lnTo>
                  <a:pt x="12700" y="357911"/>
                </a:lnTo>
                <a:lnTo>
                  <a:pt x="6350" y="357911"/>
                </a:lnTo>
                <a:lnTo>
                  <a:pt x="12700" y="364261"/>
                </a:lnTo>
                <a:lnTo>
                  <a:pt x="144475" y="364261"/>
                </a:lnTo>
                <a:lnTo>
                  <a:pt x="144475" y="370611"/>
                </a:lnTo>
                <a:close/>
              </a:path>
              <a:path w="144779" h="370839">
                <a:moveTo>
                  <a:pt x="12700" y="12700"/>
                </a:moveTo>
                <a:lnTo>
                  <a:pt x="6350" y="12700"/>
                </a:lnTo>
                <a:lnTo>
                  <a:pt x="12700" y="6350"/>
                </a:lnTo>
                <a:lnTo>
                  <a:pt x="12700" y="12700"/>
                </a:lnTo>
                <a:close/>
              </a:path>
              <a:path w="144779" h="370839">
                <a:moveTo>
                  <a:pt x="131775" y="12700"/>
                </a:moveTo>
                <a:lnTo>
                  <a:pt x="12700" y="12700"/>
                </a:lnTo>
                <a:lnTo>
                  <a:pt x="12700" y="6350"/>
                </a:lnTo>
                <a:lnTo>
                  <a:pt x="131775" y="6350"/>
                </a:lnTo>
                <a:lnTo>
                  <a:pt x="131775" y="12700"/>
                </a:lnTo>
                <a:close/>
              </a:path>
              <a:path w="144779" h="370839">
                <a:moveTo>
                  <a:pt x="131775" y="364261"/>
                </a:moveTo>
                <a:lnTo>
                  <a:pt x="131775" y="6350"/>
                </a:lnTo>
                <a:lnTo>
                  <a:pt x="138125" y="12700"/>
                </a:lnTo>
                <a:lnTo>
                  <a:pt x="144475" y="12700"/>
                </a:lnTo>
                <a:lnTo>
                  <a:pt x="144475" y="357911"/>
                </a:lnTo>
                <a:lnTo>
                  <a:pt x="138125" y="357911"/>
                </a:lnTo>
                <a:lnTo>
                  <a:pt x="131775" y="364261"/>
                </a:lnTo>
                <a:close/>
              </a:path>
              <a:path w="144779" h="370839">
                <a:moveTo>
                  <a:pt x="144475" y="12700"/>
                </a:moveTo>
                <a:lnTo>
                  <a:pt x="138125" y="12700"/>
                </a:lnTo>
                <a:lnTo>
                  <a:pt x="131775" y="6350"/>
                </a:lnTo>
                <a:lnTo>
                  <a:pt x="144475" y="6350"/>
                </a:lnTo>
                <a:lnTo>
                  <a:pt x="144475" y="12700"/>
                </a:lnTo>
                <a:close/>
              </a:path>
              <a:path w="144779" h="370839">
                <a:moveTo>
                  <a:pt x="12700" y="364261"/>
                </a:moveTo>
                <a:lnTo>
                  <a:pt x="6350" y="357911"/>
                </a:lnTo>
                <a:lnTo>
                  <a:pt x="12700" y="357911"/>
                </a:lnTo>
                <a:lnTo>
                  <a:pt x="12700" y="364261"/>
                </a:lnTo>
                <a:close/>
              </a:path>
              <a:path w="144779" h="370839">
                <a:moveTo>
                  <a:pt x="131775" y="364261"/>
                </a:moveTo>
                <a:lnTo>
                  <a:pt x="12700" y="364261"/>
                </a:lnTo>
                <a:lnTo>
                  <a:pt x="12700" y="357911"/>
                </a:lnTo>
                <a:lnTo>
                  <a:pt x="131775" y="357911"/>
                </a:lnTo>
                <a:lnTo>
                  <a:pt x="131775" y="364261"/>
                </a:lnTo>
                <a:close/>
              </a:path>
              <a:path w="144779" h="370839">
                <a:moveTo>
                  <a:pt x="144475" y="364261"/>
                </a:moveTo>
                <a:lnTo>
                  <a:pt x="131775" y="364261"/>
                </a:lnTo>
                <a:lnTo>
                  <a:pt x="138125" y="357911"/>
                </a:lnTo>
                <a:lnTo>
                  <a:pt x="144475" y="357911"/>
                </a:lnTo>
                <a:lnTo>
                  <a:pt x="144475" y="364261"/>
                </a:lnTo>
                <a:close/>
              </a:path>
            </a:pathLst>
          </a:custGeom>
          <a:solidFill>
            <a:srgbClr val="C00000"/>
          </a:solidFill>
        </p:spPr>
        <p:txBody>
          <a:bodyPr wrap="square" lIns="0" tIns="0" rIns="0" bIns="0" rtlCol="0"/>
          <a:lstStyle/>
          <a:p/>
        </p:txBody>
      </p:sp>
      <p:sp>
        <p:nvSpPr>
          <p:cNvPr id="51" name="object 51"/>
          <p:cNvSpPr/>
          <p:nvPr/>
        </p:nvSpPr>
        <p:spPr>
          <a:xfrm>
            <a:off x="8331707" y="5558028"/>
            <a:ext cx="132715" cy="358140"/>
          </a:xfrm>
          <a:custGeom>
            <a:avLst/>
            <a:gdLst/>
            <a:ahLst/>
            <a:cxnLst/>
            <a:rect l="l" t="t" r="r" b="b"/>
            <a:pathLst>
              <a:path w="132715" h="358139">
                <a:moveTo>
                  <a:pt x="0" y="0"/>
                </a:moveTo>
                <a:lnTo>
                  <a:pt x="132588" y="0"/>
                </a:lnTo>
                <a:lnTo>
                  <a:pt x="132588" y="358139"/>
                </a:lnTo>
                <a:lnTo>
                  <a:pt x="0" y="358139"/>
                </a:lnTo>
                <a:lnTo>
                  <a:pt x="0" y="0"/>
                </a:lnTo>
                <a:close/>
              </a:path>
            </a:pathLst>
          </a:custGeom>
          <a:solidFill>
            <a:srgbClr val="C00000"/>
          </a:solidFill>
        </p:spPr>
        <p:txBody>
          <a:bodyPr wrap="square" lIns="0" tIns="0" rIns="0" bIns="0" rtlCol="0"/>
          <a:lstStyle/>
          <a:p/>
        </p:txBody>
      </p:sp>
      <p:sp>
        <p:nvSpPr>
          <p:cNvPr id="52" name="object 52"/>
          <p:cNvSpPr/>
          <p:nvPr/>
        </p:nvSpPr>
        <p:spPr>
          <a:xfrm>
            <a:off x="8326069" y="5552401"/>
            <a:ext cx="144780" cy="370840"/>
          </a:xfrm>
          <a:custGeom>
            <a:avLst/>
            <a:gdLst/>
            <a:ahLst/>
            <a:cxnLst/>
            <a:rect l="l" t="t" r="r" b="b"/>
            <a:pathLst>
              <a:path w="144779" h="370839">
                <a:moveTo>
                  <a:pt x="144475" y="370611"/>
                </a:moveTo>
                <a:lnTo>
                  <a:pt x="0" y="370611"/>
                </a:lnTo>
                <a:lnTo>
                  <a:pt x="0" y="0"/>
                </a:lnTo>
                <a:lnTo>
                  <a:pt x="144475" y="0"/>
                </a:lnTo>
                <a:lnTo>
                  <a:pt x="144475" y="6350"/>
                </a:lnTo>
                <a:lnTo>
                  <a:pt x="12700" y="6350"/>
                </a:lnTo>
                <a:lnTo>
                  <a:pt x="6350" y="12700"/>
                </a:lnTo>
                <a:lnTo>
                  <a:pt x="12700" y="12700"/>
                </a:lnTo>
                <a:lnTo>
                  <a:pt x="12700" y="357911"/>
                </a:lnTo>
                <a:lnTo>
                  <a:pt x="6350" y="357911"/>
                </a:lnTo>
                <a:lnTo>
                  <a:pt x="12700" y="364261"/>
                </a:lnTo>
                <a:lnTo>
                  <a:pt x="144475" y="364261"/>
                </a:lnTo>
                <a:lnTo>
                  <a:pt x="144475" y="370611"/>
                </a:lnTo>
                <a:close/>
              </a:path>
              <a:path w="144779" h="370839">
                <a:moveTo>
                  <a:pt x="12700" y="12700"/>
                </a:moveTo>
                <a:lnTo>
                  <a:pt x="6350" y="12700"/>
                </a:lnTo>
                <a:lnTo>
                  <a:pt x="12700" y="6350"/>
                </a:lnTo>
                <a:lnTo>
                  <a:pt x="12700" y="12700"/>
                </a:lnTo>
                <a:close/>
              </a:path>
              <a:path w="144779" h="370839">
                <a:moveTo>
                  <a:pt x="131775" y="12700"/>
                </a:moveTo>
                <a:lnTo>
                  <a:pt x="12700" y="12700"/>
                </a:lnTo>
                <a:lnTo>
                  <a:pt x="12700" y="6350"/>
                </a:lnTo>
                <a:lnTo>
                  <a:pt x="131775" y="6350"/>
                </a:lnTo>
                <a:lnTo>
                  <a:pt x="131775" y="12700"/>
                </a:lnTo>
                <a:close/>
              </a:path>
              <a:path w="144779" h="370839">
                <a:moveTo>
                  <a:pt x="131775" y="364261"/>
                </a:moveTo>
                <a:lnTo>
                  <a:pt x="131775" y="6350"/>
                </a:lnTo>
                <a:lnTo>
                  <a:pt x="138125" y="12700"/>
                </a:lnTo>
                <a:lnTo>
                  <a:pt x="144475" y="12700"/>
                </a:lnTo>
                <a:lnTo>
                  <a:pt x="144475" y="357911"/>
                </a:lnTo>
                <a:lnTo>
                  <a:pt x="138125" y="357911"/>
                </a:lnTo>
                <a:lnTo>
                  <a:pt x="131775" y="364261"/>
                </a:lnTo>
                <a:close/>
              </a:path>
              <a:path w="144779" h="370839">
                <a:moveTo>
                  <a:pt x="144475" y="12700"/>
                </a:moveTo>
                <a:lnTo>
                  <a:pt x="138125" y="12700"/>
                </a:lnTo>
                <a:lnTo>
                  <a:pt x="131775" y="6350"/>
                </a:lnTo>
                <a:lnTo>
                  <a:pt x="144475" y="6350"/>
                </a:lnTo>
                <a:lnTo>
                  <a:pt x="144475" y="12700"/>
                </a:lnTo>
                <a:close/>
              </a:path>
              <a:path w="144779" h="370839">
                <a:moveTo>
                  <a:pt x="12700" y="364261"/>
                </a:moveTo>
                <a:lnTo>
                  <a:pt x="6350" y="357911"/>
                </a:lnTo>
                <a:lnTo>
                  <a:pt x="12700" y="357911"/>
                </a:lnTo>
                <a:lnTo>
                  <a:pt x="12700" y="364261"/>
                </a:lnTo>
                <a:close/>
              </a:path>
              <a:path w="144779" h="370839">
                <a:moveTo>
                  <a:pt x="131775" y="364261"/>
                </a:moveTo>
                <a:lnTo>
                  <a:pt x="12700" y="364261"/>
                </a:lnTo>
                <a:lnTo>
                  <a:pt x="12700" y="357911"/>
                </a:lnTo>
                <a:lnTo>
                  <a:pt x="131775" y="357911"/>
                </a:lnTo>
                <a:lnTo>
                  <a:pt x="131775" y="364261"/>
                </a:lnTo>
                <a:close/>
              </a:path>
              <a:path w="144779" h="370839">
                <a:moveTo>
                  <a:pt x="144475" y="364261"/>
                </a:moveTo>
                <a:lnTo>
                  <a:pt x="131775" y="364261"/>
                </a:lnTo>
                <a:lnTo>
                  <a:pt x="138125" y="357911"/>
                </a:lnTo>
                <a:lnTo>
                  <a:pt x="144475" y="357911"/>
                </a:lnTo>
                <a:lnTo>
                  <a:pt x="144475" y="364261"/>
                </a:lnTo>
                <a:close/>
              </a:path>
            </a:pathLst>
          </a:custGeom>
          <a:solidFill>
            <a:srgbClr val="C00000"/>
          </a:solidFill>
        </p:spPr>
        <p:txBody>
          <a:bodyPr wrap="square" lIns="0" tIns="0" rIns="0" bIns="0" rtlCol="0"/>
          <a:lstStyle/>
          <a:p/>
        </p:txBody>
      </p:sp>
      <p:sp>
        <p:nvSpPr>
          <p:cNvPr id="53" name="object 53"/>
          <p:cNvSpPr/>
          <p:nvPr/>
        </p:nvSpPr>
        <p:spPr>
          <a:xfrm>
            <a:off x="9355835" y="4957571"/>
            <a:ext cx="131445" cy="358140"/>
          </a:xfrm>
          <a:custGeom>
            <a:avLst/>
            <a:gdLst/>
            <a:ahLst/>
            <a:cxnLst/>
            <a:rect l="l" t="t" r="r" b="b"/>
            <a:pathLst>
              <a:path w="131445" h="358139">
                <a:moveTo>
                  <a:pt x="0" y="0"/>
                </a:moveTo>
                <a:lnTo>
                  <a:pt x="131064" y="0"/>
                </a:lnTo>
                <a:lnTo>
                  <a:pt x="131064" y="358139"/>
                </a:lnTo>
                <a:lnTo>
                  <a:pt x="0" y="358139"/>
                </a:lnTo>
                <a:lnTo>
                  <a:pt x="0" y="0"/>
                </a:lnTo>
                <a:close/>
              </a:path>
            </a:pathLst>
          </a:custGeom>
          <a:solidFill>
            <a:srgbClr val="C00000"/>
          </a:solidFill>
        </p:spPr>
        <p:txBody>
          <a:bodyPr wrap="square" lIns="0" tIns="0" rIns="0" bIns="0" rtlCol="0"/>
          <a:lstStyle/>
          <a:p/>
        </p:txBody>
      </p:sp>
      <p:sp>
        <p:nvSpPr>
          <p:cNvPr id="54" name="object 54"/>
          <p:cNvSpPr/>
          <p:nvPr/>
        </p:nvSpPr>
        <p:spPr>
          <a:xfrm>
            <a:off x="9348990" y="4950879"/>
            <a:ext cx="144780" cy="370840"/>
          </a:xfrm>
          <a:custGeom>
            <a:avLst/>
            <a:gdLst/>
            <a:ahLst/>
            <a:cxnLst/>
            <a:rect l="l" t="t" r="r" b="b"/>
            <a:pathLst>
              <a:path w="144779" h="370839">
                <a:moveTo>
                  <a:pt x="144462" y="370611"/>
                </a:moveTo>
                <a:lnTo>
                  <a:pt x="0" y="370611"/>
                </a:lnTo>
                <a:lnTo>
                  <a:pt x="0" y="0"/>
                </a:lnTo>
                <a:lnTo>
                  <a:pt x="144462" y="0"/>
                </a:lnTo>
                <a:lnTo>
                  <a:pt x="144462" y="6350"/>
                </a:lnTo>
                <a:lnTo>
                  <a:pt x="12700" y="6350"/>
                </a:lnTo>
                <a:lnTo>
                  <a:pt x="6350" y="12700"/>
                </a:lnTo>
                <a:lnTo>
                  <a:pt x="12700" y="12700"/>
                </a:lnTo>
                <a:lnTo>
                  <a:pt x="12700" y="357911"/>
                </a:lnTo>
                <a:lnTo>
                  <a:pt x="6350" y="357911"/>
                </a:lnTo>
                <a:lnTo>
                  <a:pt x="12700" y="364261"/>
                </a:lnTo>
                <a:lnTo>
                  <a:pt x="144462" y="364261"/>
                </a:lnTo>
                <a:lnTo>
                  <a:pt x="144462" y="370611"/>
                </a:lnTo>
                <a:close/>
              </a:path>
              <a:path w="144779" h="370839">
                <a:moveTo>
                  <a:pt x="12700" y="12700"/>
                </a:moveTo>
                <a:lnTo>
                  <a:pt x="6350" y="12700"/>
                </a:lnTo>
                <a:lnTo>
                  <a:pt x="12700" y="6350"/>
                </a:lnTo>
                <a:lnTo>
                  <a:pt x="12700" y="12700"/>
                </a:lnTo>
                <a:close/>
              </a:path>
              <a:path w="144779" h="370839">
                <a:moveTo>
                  <a:pt x="131762" y="12700"/>
                </a:moveTo>
                <a:lnTo>
                  <a:pt x="12700" y="12700"/>
                </a:lnTo>
                <a:lnTo>
                  <a:pt x="12700" y="6350"/>
                </a:lnTo>
                <a:lnTo>
                  <a:pt x="131762" y="6350"/>
                </a:lnTo>
                <a:lnTo>
                  <a:pt x="131762" y="12700"/>
                </a:lnTo>
                <a:close/>
              </a:path>
              <a:path w="144779" h="370839">
                <a:moveTo>
                  <a:pt x="131762" y="364261"/>
                </a:moveTo>
                <a:lnTo>
                  <a:pt x="131762" y="6350"/>
                </a:lnTo>
                <a:lnTo>
                  <a:pt x="138112" y="12700"/>
                </a:lnTo>
                <a:lnTo>
                  <a:pt x="144462" y="12700"/>
                </a:lnTo>
                <a:lnTo>
                  <a:pt x="144462" y="357911"/>
                </a:lnTo>
                <a:lnTo>
                  <a:pt x="138112" y="357911"/>
                </a:lnTo>
                <a:lnTo>
                  <a:pt x="131762" y="364261"/>
                </a:lnTo>
                <a:close/>
              </a:path>
              <a:path w="144779" h="370839">
                <a:moveTo>
                  <a:pt x="144462" y="12700"/>
                </a:moveTo>
                <a:lnTo>
                  <a:pt x="138112" y="12700"/>
                </a:lnTo>
                <a:lnTo>
                  <a:pt x="131762" y="6350"/>
                </a:lnTo>
                <a:lnTo>
                  <a:pt x="144462" y="6350"/>
                </a:lnTo>
                <a:lnTo>
                  <a:pt x="144462" y="12700"/>
                </a:lnTo>
                <a:close/>
              </a:path>
              <a:path w="144779" h="370839">
                <a:moveTo>
                  <a:pt x="12700" y="364261"/>
                </a:moveTo>
                <a:lnTo>
                  <a:pt x="6350" y="357911"/>
                </a:lnTo>
                <a:lnTo>
                  <a:pt x="12700" y="357911"/>
                </a:lnTo>
                <a:lnTo>
                  <a:pt x="12700" y="364261"/>
                </a:lnTo>
                <a:close/>
              </a:path>
              <a:path w="144779" h="370839">
                <a:moveTo>
                  <a:pt x="131762" y="364261"/>
                </a:moveTo>
                <a:lnTo>
                  <a:pt x="12700" y="364261"/>
                </a:lnTo>
                <a:lnTo>
                  <a:pt x="12700" y="357911"/>
                </a:lnTo>
                <a:lnTo>
                  <a:pt x="131762" y="357911"/>
                </a:lnTo>
                <a:lnTo>
                  <a:pt x="131762" y="364261"/>
                </a:lnTo>
                <a:close/>
              </a:path>
              <a:path w="144779" h="370839">
                <a:moveTo>
                  <a:pt x="144462" y="364261"/>
                </a:moveTo>
                <a:lnTo>
                  <a:pt x="131762" y="364261"/>
                </a:lnTo>
                <a:lnTo>
                  <a:pt x="138112" y="357911"/>
                </a:lnTo>
                <a:lnTo>
                  <a:pt x="144462" y="357911"/>
                </a:lnTo>
                <a:lnTo>
                  <a:pt x="144462" y="364261"/>
                </a:lnTo>
                <a:close/>
              </a:path>
            </a:pathLst>
          </a:custGeom>
          <a:solidFill>
            <a:srgbClr val="C00000"/>
          </a:solidFill>
        </p:spPr>
        <p:txBody>
          <a:bodyPr wrap="square" lIns="0" tIns="0" rIns="0" bIns="0" rtlCol="0"/>
          <a:lstStyle/>
          <a:p/>
        </p:txBody>
      </p:sp>
      <p:sp>
        <p:nvSpPr>
          <p:cNvPr id="55" name="object 55"/>
          <p:cNvSpPr/>
          <p:nvPr/>
        </p:nvSpPr>
        <p:spPr>
          <a:xfrm>
            <a:off x="9380219" y="5558028"/>
            <a:ext cx="131445" cy="358140"/>
          </a:xfrm>
          <a:custGeom>
            <a:avLst/>
            <a:gdLst/>
            <a:ahLst/>
            <a:cxnLst/>
            <a:rect l="l" t="t" r="r" b="b"/>
            <a:pathLst>
              <a:path w="131445" h="358139">
                <a:moveTo>
                  <a:pt x="0" y="0"/>
                </a:moveTo>
                <a:lnTo>
                  <a:pt x="131064" y="0"/>
                </a:lnTo>
                <a:lnTo>
                  <a:pt x="131064" y="358139"/>
                </a:lnTo>
                <a:lnTo>
                  <a:pt x="0" y="358139"/>
                </a:lnTo>
                <a:lnTo>
                  <a:pt x="0" y="0"/>
                </a:lnTo>
                <a:close/>
              </a:path>
            </a:pathLst>
          </a:custGeom>
          <a:solidFill>
            <a:srgbClr val="C00000"/>
          </a:solidFill>
        </p:spPr>
        <p:txBody>
          <a:bodyPr wrap="square" lIns="0" tIns="0" rIns="0" bIns="0" rtlCol="0"/>
          <a:lstStyle/>
          <a:p/>
        </p:txBody>
      </p:sp>
      <p:sp>
        <p:nvSpPr>
          <p:cNvPr id="56" name="object 56"/>
          <p:cNvSpPr/>
          <p:nvPr/>
        </p:nvSpPr>
        <p:spPr>
          <a:xfrm>
            <a:off x="9373501" y="5552401"/>
            <a:ext cx="144780" cy="370840"/>
          </a:xfrm>
          <a:custGeom>
            <a:avLst/>
            <a:gdLst/>
            <a:ahLst/>
            <a:cxnLst/>
            <a:rect l="l" t="t" r="r" b="b"/>
            <a:pathLst>
              <a:path w="144779" h="370839">
                <a:moveTo>
                  <a:pt x="144475" y="370611"/>
                </a:moveTo>
                <a:lnTo>
                  <a:pt x="0" y="370611"/>
                </a:lnTo>
                <a:lnTo>
                  <a:pt x="0" y="0"/>
                </a:lnTo>
                <a:lnTo>
                  <a:pt x="144475" y="0"/>
                </a:lnTo>
                <a:lnTo>
                  <a:pt x="144475" y="6350"/>
                </a:lnTo>
                <a:lnTo>
                  <a:pt x="12700" y="6350"/>
                </a:lnTo>
                <a:lnTo>
                  <a:pt x="6350" y="12700"/>
                </a:lnTo>
                <a:lnTo>
                  <a:pt x="12700" y="12700"/>
                </a:lnTo>
                <a:lnTo>
                  <a:pt x="12700" y="357911"/>
                </a:lnTo>
                <a:lnTo>
                  <a:pt x="6350" y="357911"/>
                </a:lnTo>
                <a:lnTo>
                  <a:pt x="12700" y="364261"/>
                </a:lnTo>
                <a:lnTo>
                  <a:pt x="144475" y="364261"/>
                </a:lnTo>
                <a:lnTo>
                  <a:pt x="144475" y="370611"/>
                </a:lnTo>
                <a:close/>
              </a:path>
              <a:path w="144779" h="370839">
                <a:moveTo>
                  <a:pt x="12700" y="12700"/>
                </a:moveTo>
                <a:lnTo>
                  <a:pt x="6350" y="12700"/>
                </a:lnTo>
                <a:lnTo>
                  <a:pt x="12700" y="6350"/>
                </a:lnTo>
                <a:lnTo>
                  <a:pt x="12700" y="12700"/>
                </a:lnTo>
                <a:close/>
              </a:path>
              <a:path w="144779" h="370839">
                <a:moveTo>
                  <a:pt x="131775" y="12700"/>
                </a:moveTo>
                <a:lnTo>
                  <a:pt x="12700" y="12700"/>
                </a:lnTo>
                <a:lnTo>
                  <a:pt x="12700" y="6350"/>
                </a:lnTo>
                <a:lnTo>
                  <a:pt x="131775" y="6350"/>
                </a:lnTo>
                <a:lnTo>
                  <a:pt x="131775" y="12700"/>
                </a:lnTo>
                <a:close/>
              </a:path>
              <a:path w="144779" h="370839">
                <a:moveTo>
                  <a:pt x="131775" y="364261"/>
                </a:moveTo>
                <a:lnTo>
                  <a:pt x="131775" y="6350"/>
                </a:lnTo>
                <a:lnTo>
                  <a:pt x="138125" y="12700"/>
                </a:lnTo>
                <a:lnTo>
                  <a:pt x="144475" y="12700"/>
                </a:lnTo>
                <a:lnTo>
                  <a:pt x="144475" y="357911"/>
                </a:lnTo>
                <a:lnTo>
                  <a:pt x="138125" y="357911"/>
                </a:lnTo>
                <a:lnTo>
                  <a:pt x="131775" y="364261"/>
                </a:lnTo>
                <a:close/>
              </a:path>
              <a:path w="144779" h="370839">
                <a:moveTo>
                  <a:pt x="144475" y="12700"/>
                </a:moveTo>
                <a:lnTo>
                  <a:pt x="138125" y="12700"/>
                </a:lnTo>
                <a:lnTo>
                  <a:pt x="131775" y="6350"/>
                </a:lnTo>
                <a:lnTo>
                  <a:pt x="144475" y="6350"/>
                </a:lnTo>
                <a:lnTo>
                  <a:pt x="144475" y="12700"/>
                </a:lnTo>
                <a:close/>
              </a:path>
              <a:path w="144779" h="370839">
                <a:moveTo>
                  <a:pt x="12700" y="364261"/>
                </a:moveTo>
                <a:lnTo>
                  <a:pt x="6350" y="357911"/>
                </a:lnTo>
                <a:lnTo>
                  <a:pt x="12700" y="357911"/>
                </a:lnTo>
                <a:lnTo>
                  <a:pt x="12700" y="364261"/>
                </a:lnTo>
                <a:close/>
              </a:path>
              <a:path w="144779" h="370839">
                <a:moveTo>
                  <a:pt x="131775" y="364261"/>
                </a:moveTo>
                <a:lnTo>
                  <a:pt x="12700" y="364261"/>
                </a:lnTo>
                <a:lnTo>
                  <a:pt x="12700" y="357911"/>
                </a:lnTo>
                <a:lnTo>
                  <a:pt x="131775" y="357911"/>
                </a:lnTo>
                <a:lnTo>
                  <a:pt x="131775" y="364261"/>
                </a:lnTo>
                <a:close/>
              </a:path>
              <a:path w="144779" h="370839">
                <a:moveTo>
                  <a:pt x="144475" y="364261"/>
                </a:moveTo>
                <a:lnTo>
                  <a:pt x="131775" y="364261"/>
                </a:lnTo>
                <a:lnTo>
                  <a:pt x="138125" y="357911"/>
                </a:lnTo>
                <a:lnTo>
                  <a:pt x="144475" y="357911"/>
                </a:lnTo>
                <a:lnTo>
                  <a:pt x="144475" y="364261"/>
                </a:lnTo>
                <a:close/>
              </a:path>
            </a:pathLst>
          </a:custGeom>
          <a:solidFill>
            <a:srgbClr val="C00000"/>
          </a:solidFill>
        </p:spPr>
        <p:txBody>
          <a:bodyPr wrap="square" lIns="0" tIns="0" rIns="0" bIns="0" rtlCol="0"/>
          <a:lstStyle/>
          <a:p/>
        </p:txBody>
      </p:sp>
      <p:sp>
        <p:nvSpPr>
          <p:cNvPr id="57" name="object 57"/>
          <p:cNvSpPr/>
          <p:nvPr/>
        </p:nvSpPr>
        <p:spPr>
          <a:xfrm>
            <a:off x="10248900" y="4957571"/>
            <a:ext cx="131445" cy="361315"/>
          </a:xfrm>
          <a:custGeom>
            <a:avLst/>
            <a:gdLst/>
            <a:ahLst/>
            <a:cxnLst/>
            <a:rect l="l" t="t" r="r" b="b"/>
            <a:pathLst>
              <a:path w="131445" h="361314">
                <a:moveTo>
                  <a:pt x="0" y="0"/>
                </a:moveTo>
                <a:lnTo>
                  <a:pt x="131064" y="0"/>
                </a:lnTo>
                <a:lnTo>
                  <a:pt x="131064" y="361188"/>
                </a:lnTo>
                <a:lnTo>
                  <a:pt x="0" y="361188"/>
                </a:lnTo>
                <a:lnTo>
                  <a:pt x="0" y="0"/>
                </a:lnTo>
                <a:close/>
              </a:path>
            </a:pathLst>
          </a:custGeom>
          <a:solidFill>
            <a:srgbClr val="C00000"/>
          </a:solidFill>
        </p:spPr>
        <p:txBody>
          <a:bodyPr wrap="square" lIns="0" tIns="0" rIns="0" bIns="0" rtlCol="0"/>
          <a:lstStyle/>
          <a:p/>
        </p:txBody>
      </p:sp>
      <p:sp>
        <p:nvSpPr>
          <p:cNvPr id="58" name="object 58"/>
          <p:cNvSpPr/>
          <p:nvPr/>
        </p:nvSpPr>
        <p:spPr>
          <a:xfrm>
            <a:off x="10241965" y="4950879"/>
            <a:ext cx="144780" cy="375285"/>
          </a:xfrm>
          <a:custGeom>
            <a:avLst/>
            <a:gdLst/>
            <a:ahLst/>
            <a:cxnLst/>
            <a:rect l="l" t="t" r="r" b="b"/>
            <a:pathLst>
              <a:path w="144779" h="375285">
                <a:moveTo>
                  <a:pt x="144475" y="374815"/>
                </a:moveTo>
                <a:lnTo>
                  <a:pt x="0" y="374815"/>
                </a:lnTo>
                <a:lnTo>
                  <a:pt x="0" y="0"/>
                </a:lnTo>
                <a:lnTo>
                  <a:pt x="144475" y="0"/>
                </a:lnTo>
                <a:lnTo>
                  <a:pt x="144475" y="6350"/>
                </a:lnTo>
                <a:lnTo>
                  <a:pt x="12700" y="6350"/>
                </a:lnTo>
                <a:lnTo>
                  <a:pt x="6350" y="12700"/>
                </a:lnTo>
                <a:lnTo>
                  <a:pt x="12700" y="12700"/>
                </a:lnTo>
                <a:lnTo>
                  <a:pt x="12700" y="362115"/>
                </a:lnTo>
                <a:lnTo>
                  <a:pt x="6350" y="362115"/>
                </a:lnTo>
                <a:lnTo>
                  <a:pt x="12700" y="368465"/>
                </a:lnTo>
                <a:lnTo>
                  <a:pt x="144475" y="368465"/>
                </a:lnTo>
                <a:lnTo>
                  <a:pt x="144475" y="374815"/>
                </a:lnTo>
                <a:close/>
              </a:path>
              <a:path w="144779" h="375285">
                <a:moveTo>
                  <a:pt x="12700" y="12700"/>
                </a:moveTo>
                <a:lnTo>
                  <a:pt x="6350" y="12700"/>
                </a:lnTo>
                <a:lnTo>
                  <a:pt x="12700" y="6350"/>
                </a:lnTo>
                <a:lnTo>
                  <a:pt x="12700" y="12700"/>
                </a:lnTo>
                <a:close/>
              </a:path>
              <a:path w="144779" h="375285">
                <a:moveTo>
                  <a:pt x="131775" y="12700"/>
                </a:moveTo>
                <a:lnTo>
                  <a:pt x="12700" y="12700"/>
                </a:lnTo>
                <a:lnTo>
                  <a:pt x="12700" y="6350"/>
                </a:lnTo>
                <a:lnTo>
                  <a:pt x="131775" y="6350"/>
                </a:lnTo>
                <a:lnTo>
                  <a:pt x="131775" y="12700"/>
                </a:lnTo>
                <a:close/>
              </a:path>
              <a:path w="144779" h="375285">
                <a:moveTo>
                  <a:pt x="131775" y="368465"/>
                </a:moveTo>
                <a:lnTo>
                  <a:pt x="131775" y="6350"/>
                </a:lnTo>
                <a:lnTo>
                  <a:pt x="138125" y="12700"/>
                </a:lnTo>
                <a:lnTo>
                  <a:pt x="144475" y="12700"/>
                </a:lnTo>
                <a:lnTo>
                  <a:pt x="144475" y="362115"/>
                </a:lnTo>
                <a:lnTo>
                  <a:pt x="138125" y="362115"/>
                </a:lnTo>
                <a:lnTo>
                  <a:pt x="131775" y="368465"/>
                </a:lnTo>
                <a:close/>
              </a:path>
              <a:path w="144779" h="375285">
                <a:moveTo>
                  <a:pt x="144475" y="12700"/>
                </a:moveTo>
                <a:lnTo>
                  <a:pt x="138125" y="12700"/>
                </a:lnTo>
                <a:lnTo>
                  <a:pt x="131775" y="6350"/>
                </a:lnTo>
                <a:lnTo>
                  <a:pt x="144475" y="6350"/>
                </a:lnTo>
                <a:lnTo>
                  <a:pt x="144475" y="12700"/>
                </a:lnTo>
                <a:close/>
              </a:path>
              <a:path w="144779" h="375285">
                <a:moveTo>
                  <a:pt x="12700" y="368465"/>
                </a:moveTo>
                <a:lnTo>
                  <a:pt x="6350" y="362115"/>
                </a:lnTo>
                <a:lnTo>
                  <a:pt x="12700" y="362115"/>
                </a:lnTo>
                <a:lnTo>
                  <a:pt x="12700" y="368465"/>
                </a:lnTo>
                <a:close/>
              </a:path>
              <a:path w="144779" h="375285">
                <a:moveTo>
                  <a:pt x="131775" y="368465"/>
                </a:moveTo>
                <a:lnTo>
                  <a:pt x="12700" y="368465"/>
                </a:lnTo>
                <a:lnTo>
                  <a:pt x="12700" y="362115"/>
                </a:lnTo>
                <a:lnTo>
                  <a:pt x="131775" y="362115"/>
                </a:lnTo>
                <a:lnTo>
                  <a:pt x="131775" y="368465"/>
                </a:lnTo>
                <a:close/>
              </a:path>
              <a:path w="144779" h="375285">
                <a:moveTo>
                  <a:pt x="144475" y="368465"/>
                </a:moveTo>
                <a:lnTo>
                  <a:pt x="131775" y="368465"/>
                </a:lnTo>
                <a:lnTo>
                  <a:pt x="138125" y="362115"/>
                </a:lnTo>
                <a:lnTo>
                  <a:pt x="144475" y="362115"/>
                </a:lnTo>
                <a:lnTo>
                  <a:pt x="144475" y="368465"/>
                </a:lnTo>
                <a:close/>
              </a:path>
            </a:pathLst>
          </a:custGeom>
          <a:solidFill>
            <a:srgbClr val="C00000"/>
          </a:solidFill>
        </p:spPr>
        <p:txBody>
          <a:bodyPr wrap="square" lIns="0" tIns="0" rIns="0" bIns="0" rtlCol="0"/>
          <a:lstStyle/>
          <a:p/>
        </p:txBody>
      </p:sp>
      <p:sp>
        <p:nvSpPr>
          <p:cNvPr id="59" name="object 59"/>
          <p:cNvSpPr/>
          <p:nvPr/>
        </p:nvSpPr>
        <p:spPr>
          <a:xfrm>
            <a:off x="10248900" y="5558028"/>
            <a:ext cx="131445" cy="358140"/>
          </a:xfrm>
          <a:custGeom>
            <a:avLst/>
            <a:gdLst/>
            <a:ahLst/>
            <a:cxnLst/>
            <a:rect l="l" t="t" r="r" b="b"/>
            <a:pathLst>
              <a:path w="131445" h="358139">
                <a:moveTo>
                  <a:pt x="0" y="0"/>
                </a:moveTo>
                <a:lnTo>
                  <a:pt x="131064" y="0"/>
                </a:lnTo>
                <a:lnTo>
                  <a:pt x="131064" y="358139"/>
                </a:lnTo>
                <a:lnTo>
                  <a:pt x="0" y="358139"/>
                </a:lnTo>
                <a:lnTo>
                  <a:pt x="0" y="0"/>
                </a:lnTo>
                <a:close/>
              </a:path>
            </a:pathLst>
          </a:custGeom>
          <a:solidFill>
            <a:srgbClr val="C00000"/>
          </a:solidFill>
        </p:spPr>
        <p:txBody>
          <a:bodyPr wrap="square" lIns="0" tIns="0" rIns="0" bIns="0" rtlCol="0"/>
          <a:lstStyle/>
          <a:p/>
        </p:txBody>
      </p:sp>
      <p:sp>
        <p:nvSpPr>
          <p:cNvPr id="60" name="object 60"/>
          <p:cNvSpPr/>
          <p:nvPr/>
        </p:nvSpPr>
        <p:spPr>
          <a:xfrm>
            <a:off x="10241965" y="5552401"/>
            <a:ext cx="144780" cy="370840"/>
          </a:xfrm>
          <a:custGeom>
            <a:avLst/>
            <a:gdLst/>
            <a:ahLst/>
            <a:cxnLst/>
            <a:rect l="l" t="t" r="r" b="b"/>
            <a:pathLst>
              <a:path w="144779" h="370839">
                <a:moveTo>
                  <a:pt x="144475" y="370611"/>
                </a:moveTo>
                <a:lnTo>
                  <a:pt x="0" y="370611"/>
                </a:lnTo>
                <a:lnTo>
                  <a:pt x="0" y="0"/>
                </a:lnTo>
                <a:lnTo>
                  <a:pt x="144475" y="0"/>
                </a:lnTo>
                <a:lnTo>
                  <a:pt x="144475" y="6350"/>
                </a:lnTo>
                <a:lnTo>
                  <a:pt x="12700" y="6350"/>
                </a:lnTo>
                <a:lnTo>
                  <a:pt x="6350" y="12700"/>
                </a:lnTo>
                <a:lnTo>
                  <a:pt x="12700" y="12700"/>
                </a:lnTo>
                <a:lnTo>
                  <a:pt x="12700" y="357911"/>
                </a:lnTo>
                <a:lnTo>
                  <a:pt x="6350" y="357911"/>
                </a:lnTo>
                <a:lnTo>
                  <a:pt x="12700" y="364261"/>
                </a:lnTo>
                <a:lnTo>
                  <a:pt x="144475" y="364261"/>
                </a:lnTo>
                <a:lnTo>
                  <a:pt x="144475" y="370611"/>
                </a:lnTo>
                <a:close/>
              </a:path>
              <a:path w="144779" h="370839">
                <a:moveTo>
                  <a:pt x="12700" y="12700"/>
                </a:moveTo>
                <a:lnTo>
                  <a:pt x="6350" y="12700"/>
                </a:lnTo>
                <a:lnTo>
                  <a:pt x="12700" y="6350"/>
                </a:lnTo>
                <a:lnTo>
                  <a:pt x="12700" y="12700"/>
                </a:lnTo>
                <a:close/>
              </a:path>
              <a:path w="144779" h="370839">
                <a:moveTo>
                  <a:pt x="131775" y="12700"/>
                </a:moveTo>
                <a:lnTo>
                  <a:pt x="12700" y="12700"/>
                </a:lnTo>
                <a:lnTo>
                  <a:pt x="12700" y="6350"/>
                </a:lnTo>
                <a:lnTo>
                  <a:pt x="131775" y="6350"/>
                </a:lnTo>
                <a:lnTo>
                  <a:pt x="131775" y="12700"/>
                </a:lnTo>
                <a:close/>
              </a:path>
              <a:path w="144779" h="370839">
                <a:moveTo>
                  <a:pt x="131775" y="364261"/>
                </a:moveTo>
                <a:lnTo>
                  <a:pt x="131775" y="6350"/>
                </a:lnTo>
                <a:lnTo>
                  <a:pt x="138125" y="12700"/>
                </a:lnTo>
                <a:lnTo>
                  <a:pt x="144475" y="12700"/>
                </a:lnTo>
                <a:lnTo>
                  <a:pt x="144475" y="357911"/>
                </a:lnTo>
                <a:lnTo>
                  <a:pt x="138125" y="357911"/>
                </a:lnTo>
                <a:lnTo>
                  <a:pt x="131775" y="364261"/>
                </a:lnTo>
                <a:close/>
              </a:path>
              <a:path w="144779" h="370839">
                <a:moveTo>
                  <a:pt x="144475" y="12700"/>
                </a:moveTo>
                <a:lnTo>
                  <a:pt x="138125" y="12700"/>
                </a:lnTo>
                <a:lnTo>
                  <a:pt x="131775" y="6350"/>
                </a:lnTo>
                <a:lnTo>
                  <a:pt x="144475" y="6350"/>
                </a:lnTo>
                <a:lnTo>
                  <a:pt x="144475" y="12700"/>
                </a:lnTo>
                <a:close/>
              </a:path>
              <a:path w="144779" h="370839">
                <a:moveTo>
                  <a:pt x="12700" y="364261"/>
                </a:moveTo>
                <a:lnTo>
                  <a:pt x="6350" y="357911"/>
                </a:lnTo>
                <a:lnTo>
                  <a:pt x="12700" y="357911"/>
                </a:lnTo>
                <a:lnTo>
                  <a:pt x="12700" y="364261"/>
                </a:lnTo>
                <a:close/>
              </a:path>
              <a:path w="144779" h="370839">
                <a:moveTo>
                  <a:pt x="131775" y="364261"/>
                </a:moveTo>
                <a:lnTo>
                  <a:pt x="12700" y="364261"/>
                </a:lnTo>
                <a:lnTo>
                  <a:pt x="12700" y="357911"/>
                </a:lnTo>
                <a:lnTo>
                  <a:pt x="131775" y="357911"/>
                </a:lnTo>
                <a:lnTo>
                  <a:pt x="131775" y="364261"/>
                </a:lnTo>
                <a:close/>
              </a:path>
              <a:path w="144779" h="370839">
                <a:moveTo>
                  <a:pt x="144475" y="364261"/>
                </a:moveTo>
                <a:lnTo>
                  <a:pt x="131775" y="364261"/>
                </a:lnTo>
                <a:lnTo>
                  <a:pt x="138125" y="357911"/>
                </a:lnTo>
                <a:lnTo>
                  <a:pt x="144475" y="357911"/>
                </a:lnTo>
                <a:lnTo>
                  <a:pt x="144475" y="364261"/>
                </a:lnTo>
                <a:close/>
              </a:path>
            </a:pathLst>
          </a:custGeom>
          <a:solidFill>
            <a:srgbClr val="C00000"/>
          </a:solidFill>
        </p:spPr>
        <p:txBody>
          <a:bodyPr wrap="square" lIns="0" tIns="0" rIns="0" bIns="0" rtlCol="0"/>
          <a:lstStyle/>
          <a:p/>
        </p:txBody>
      </p:sp>
      <p:sp>
        <p:nvSpPr>
          <p:cNvPr id="61" name="object 61"/>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4263" y="414121"/>
            <a:ext cx="387604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蜂鸟E</a:t>
            </a:r>
            <a:r>
              <a:rPr sz="3600" spc="-5" dirty="0">
                <a:solidFill>
                  <a:srgbClr val="C00000"/>
                </a:solidFill>
              </a:rPr>
              <a:t>203</a:t>
            </a:r>
            <a:r>
              <a:rPr sz="3600" dirty="0">
                <a:solidFill>
                  <a:srgbClr val="C00000"/>
                </a:solidFill>
              </a:rPr>
              <a:t>取指单元</a:t>
            </a:r>
            <a:endParaRPr sz="3600"/>
          </a:p>
        </p:txBody>
      </p:sp>
      <p:sp>
        <p:nvSpPr>
          <p:cNvPr id="3" name="object 3"/>
          <p:cNvSpPr/>
          <p:nvPr/>
        </p:nvSpPr>
        <p:spPr>
          <a:xfrm>
            <a:off x="0" y="377952"/>
            <a:ext cx="426720" cy="695325"/>
          </a:xfrm>
          <a:custGeom>
            <a:avLst/>
            <a:gdLst/>
            <a:ahLst/>
            <a:cxnLst/>
            <a:rect l="l" t="t" r="r" b="b"/>
            <a:pathLst>
              <a:path w="426720" h="695325">
                <a:moveTo>
                  <a:pt x="0" y="694944"/>
                </a:moveTo>
                <a:lnTo>
                  <a:pt x="0" y="0"/>
                </a:lnTo>
                <a:lnTo>
                  <a:pt x="426720" y="0"/>
                </a:lnTo>
                <a:lnTo>
                  <a:pt x="426720" y="694944"/>
                </a:lnTo>
                <a:lnTo>
                  <a:pt x="0" y="694944"/>
                </a:lnTo>
                <a:close/>
              </a:path>
            </a:pathLst>
          </a:custGeom>
          <a:solidFill>
            <a:srgbClr val="C00000"/>
          </a:solidFill>
        </p:spPr>
        <p:txBody>
          <a:bodyPr wrap="square" lIns="0" tIns="0" rIns="0" bIns="0" rtlCol="0"/>
          <a:lstStyle/>
          <a:p/>
        </p:txBody>
      </p:sp>
      <p:sp>
        <p:nvSpPr>
          <p:cNvPr id="4" name="object 4"/>
          <p:cNvSpPr txBox="1"/>
          <p:nvPr/>
        </p:nvSpPr>
        <p:spPr>
          <a:xfrm>
            <a:off x="684885" y="1579016"/>
            <a:ext cx="4170045" cy="665480"/>
          </a:xfrm>
          <a:prstGeom prst="rect">
            <a:avLst/>
          </a:prstGeom>
        </p:spPr>
        <p:txBody>
          <a:bodyPr vert="horz" wrap="square" lIns="0" tIns="12700" rIns="0" bIns="0" rtlCol="0">
            <a:spAutoFit/>
          </a:bodyPr>
          <a:lstStyle/>
          <a:p>
            <a:pPr marL="12700" marR="5080">
              <a:lnSpc>
                <a:spcPct val="150000"/>
              </a:lnSpc>
              <a:spcBef>
                <a:spcPts val="100"/>
              </a:spcBef>
            </a:pPr>
            <a:r>
              <a:rPr sz="1400" spc="-5" dirty="0">
                <a:latin typeface="微软雅黑" panose="020B0503020204020204" charset="-122"/>
                <a:cs typeface="微软雅黑" panose="020B0503020204020204" charset="-122"/>
              </a:rPr>
              <a:t>蜂鸟E203的设计强调超低功耗，小面积和实时性，</a:t>
            </a:r>
            <a:r>
              <a:rPr sz="1400" dirty="0">
                <a:latin typeface="微软雅黑" panose="020B0503020204020204" charset="-122"/>
                <a:cs typeface="微软雅黑" panose="020B0503020204020204" charset="-122"/>
              </a:rPr>
              <a:t>因 </a:t>
            </a:r>
            <a:r>
              <a:rPr sz="1400" dirty="0">
                <a:latin typeface="微软雅黑" panose="020B0503020204020204" charset="-122"/>
                <a:cs typeface="微软雅黑" panose="020B0503020204020204" charset="-122"/>
              </a:rPr>
              <a:t>此取舍后，采用了如下设计</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p:txBody>
      </p:sp>
      <p:sp>
        <p:nvSpPr>
          <p:cNvPr id="5" name="object 5"/>
          <p:cNvSpPr txBox="1"/>
          <p:nvPr/>
        </p:nvSpPr>
        <p:spPr>
          <a:xfrm>
            <a:off x="684885" y="2219096"/>
            <a:ext cx="4152265" cy="3225800"/>
          </a:xfrm>
          <a:prstGeom prst="rect">
            <a:avLst/>
          </a:prstGeom>
        </p:spPr>
        <p:txBody>
          <a:bodyPr vert="horz" wrap="square" lIns="0" tIns="12065" rIns="0" bIns="0" rtlCol="0">
            <a:spAutoFit/>
          </a:bodyPr>
          <a:lstStyle/>
          <a:p>
            <a:pPr marL="355600" marR="5080" indent="-342900">
              <a:lnSpc>
                <a:spcPct val="150000"/>
              </a:lnSpc>
              <a:spcBef>
                <a:spcPts val="95"/>
              </a:spcBef>
              <a:buFont typeface="Wingdings" panose="05000000000000000000"/>
              <a:buChar char=""/>
              <a:tabLst>
                <a:tab pos="354965" algn="l"/>
                <a:tab pos="355600" algn="l"/>
              </a:tabLst>
            </a:pPr>
            <a:r>
              <a:rPr sz="1400" dirty="0">
                <a:latin typeface="微软雅黑" panose="020B0503020204020204" charset="-122"/>
                <a:cs typeface="微软雅黑" panose="020B0503020204020204" charset="-122"/>
              </a:rPr>
              <a:t>对取回的地址进行简单译码</a:t>
            </a:r>
            <a:r>
              <a:rPr sz="1400" spc="-5" dirty="0">
                <a:latin typeface="微软雅黑" panose="020B0503020204020204" charset="-122"/>
                <a:cs typeface="微软雅黑" panose="020B0503020204020204" charset="-122"/>
              </a:rPr>
              <a:t>(Mini-Decode)</a:t>
            </a:r>
            <a:r>
              <a:rPr sz="1400" dirty="0">
                <a:latin typeface="微软雅黑" panose="020B0503020204020204" charset="-122"/>
                <a:cs typeface="微软雅黑" panose="020B0503020204020204" charset="-122"/>
              </a:rPr>
              <a:t>以</a:t>
            </a:r>
            <a:r>
              <a:rPr sz="1400" spc="5" dirty="0">
                <a:latin typeface="微软雅黑" panose="020B0503020204020204" charset="-122"/>
                <a:cs typeface="微软雅黑" panose="020B0503020204020204" charset="-122"/>
              </a:rPr>
              <a:t>确 </a:t>
            </a:r>
            <a:r>
              <a:rPr sz="1400" spc="-5" dirty="0">
                <a:latin typeface="微软雅黑" panose="020B0503020204020204" charset="-122"/>
                <a:cs typeface="微软雅黑" panose="020B0503020204020204" charset="-122"/>
              </a:rPr>
              <a:t>定是普通指令还是分支跳转指令，以提供PC生</a:t>
            </a:r>
            <a:r>
              <a:rPr sz="1400" dirty="0">
                <a:latin typeface="微软雅黑" panose="020B0503020204020204" charset="-122"/>
                <a:cs typeface="微软雅黑" panose="020B0503020204020204" charset="-122"/>
              </a:rPr>
              <a:t>成 </a:t>
            </a:r>
            <a:r>
              <a:rPr sz="1400" dirty="0">
                <a:latin typeface="微软雅黑" panose="020B0503020204020204" charset="-122"/>
                <a:cs typeface="微软雅黑" panose="020B0503020204020204" charset="-122"/>
              </a:rPr>
              <a:t>做决策</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355600" marR="55245" indent="-342900" algn="just">
              <a:lnSpc>
                <a:spcPct val="150000"/>
              </a:lnSpc>
              <a:buFont typeface="Wingdings" panose="05000000000000000000"/>
              <a:buChar char=""/>
              <a:tabLst>
                <a:tab pos="355600" algn="l"/>
              </a:tabLst>
            </a:pPr>
            <a:r>
              <a:rPr sz="1400" dirty="0">
                <a:latin typeface="微软雅黑" panose="020B0503020204020204" charset="-122"/>
                <a:cs typeface="微软雅黑" panose="020B0503020204020204" charset="-122"/>
              </a:rPr>
              <a:t>当遇到分支跳指令，采用简单的</a:t>
            </a:r>
            <a:r>
              <a:rPr sz="1400" dirty="0">
                <a:solidFill>
                  <a:srgbClr val="C00000"/>
                </a:solidFill>
                <a:latin typeface="微软雅黑" panose="020B0503020204020204" charset="-122"/>
                <a:cs typeface="微软雅黑" panose="020B0503020204020204" charset="-122"/>
              </a:rPr>
              <a:t>静态预测</a:t>
            </a:r>
            <a:r>
              <a:rPr sz="1400" dirty="0">
                <a:latin typeface="微软雅黑" panose="020B0503020204020204" charset="-122"/>
                <a:cs typeface="微软雅黑" panose="020B0503020204020204" charset="-122"/>
              </a:rPr>
              <a:t>，而</a:t>
            </a:r>
            <a:r>
              <a:rPr sz="1400" dirty="0">
                <a:latin typeface="微软雅黑" panose="020B0503020204020204" charset="-122"/>
                <a:cs typeface="微软雅黑" panose="020B0503020204020204" charset="-122"/>
              </a:rPr>
              <a:t>舍 </a:t>
            </a:r>
            <a:r>
              <a:rPr sz="1400" dirty="0">
                <a:latin typeface="微软雅黑" panose="020B0503020204020204" charset="-122"/>
                <a:cs typeface="微软雅黑" panose="020B0503020204020204" charset="-122"/>
              </a:rPr>
              <a:t>弃动态分支预测保证在效率的情况下逻辑足够</a:t>
            </a:r>
            <a:r>
              <a:rPr sz="1400" dirty="0">
                <a:latin typeface="微软雅黑" panose="020B0503020204020204" charset="-122"/>
                <a:cs typeface="微软雅黑" panose="020B0503020204020204" charset="-122"/>
              </a:rPr>
              <a:t>简 </a:t>
            </a:r>
            <a:r>
              <a:rPr sz="1400" dirty="0">
                <a:latin typeface="微软雅黑" panose="020B0503020204020204" charset="-122"/>
                <a:cs typeface="微软雅黑" panose="020B0503020204020204" charset="-122"/>
              </a:rPr>
              <a:t>单</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355600" marR="55245" indent="-342900">
              <a:lnSpc>
                <a:spcPct val="150000"/>
              </a:lnSpc>
              <a:buFont typeface="Wingdings" panose="05000000000000000000"/>
              <a:buChar char=""/>
              <a:tabLst>
                <a:tab pos="354965" algn="l"/>
                <a:tab pos="355600" algn="l"/>
              </a:tabLst>
            </a:pPr>
            <a:r>
              <a:rPr sz="1400" dirty="0">
                <a:latin typeface="微软雅黑" panose="020B0503020204020204" charset="-122"/>
                <a:cs typeface="微软雅黑" panose="020B0503020204020204" charset="-122"/>
              </a:rPr>
              <a:t>假设代码足够小，并且保证运行的实时性，选</a:t>
            </a:r>
            <a:r>
              <a:rPr sz="1400" dirty="0">
                <a:latin typeface="微软雅黑" panose="020B0503020204020204" charset="-122"/>
                <a:cs typeface="微软雅黑" panose="020B0503020204020204" charset="-122"/>
              </a:rPr>
              <a:t>择 </a:t>
            </a:r>
            <a:r>
              <a:rPr sz="1400" dirty="0">
                <a:latin typeface="微软雅黑" panose="020B0503020204020204" charset="-122"/>
                <a:cs typeface="微软雅黑" panose="020B0503020204020204" charset="-122"/>
              </a:rPr>
              <a:t>了</a:t>
            </a:r>
            <a:r>
              <a:rPr sz="1400" spc="-20" dirty="0">
                <a:solidFill>
                  <a:srgbClr val="C00000"/>
                </a:solidFill>
                <a:latin typeface="微软雅黑" panose="020B0503020204020204" charset="-122"/>
                <a:cs typeface="微软雅黑" panose="020B0503020204020204" charset="-122"/>
              </a:rPr>
              <a:t>ITCM</a:t>
            </a:r>
            <a:r>
              <a:rPr sz="1400" dirty="0">
                <a:latin typeface="微软雅黑" panose="020B0503020204020204" charset="-122"/>
                <a:cs typeface="微软雅黑" panose="020B0503020204020204" charset="-122"/>
              </a:rPr>
              <a:t>而舍弃了</a:t>
            </a:r>
            <a:r>
              <a:rPr sz="1400" spc="-5" dirty="0">
                <a:latin typeface="微软雅黑" panose="020B0503020204020204" charset="-122"/>
                <a:cs typeface="微软雅黑" panose="020B0503020204020204" charset="-122"/>
              </a:rPr>
              <a:t>I-Cache；</a:t>
            </a:r>
            <a:endParaRPr sz="1400">
              <a:latin typeface="微软雅黑" panose="020B0503020204020204" charset="-122"/>
              <a:cs typeface="微软雅黑" panose="020B0503020204020204" charset="-122"/>
            </a:endParaRPr>
          </a:p>
          <a:p>
            <a:pPr marL="355600" marR="55245" indent="-342900">
              <a:lnSpc>
                <a:spcPct val="150000"/>
              </a:lnSpc>
              <a:buFont typeface="Wingdings" panose="05000000000000000000"/>
              <a:buChar char=""/>
              <a:tabLst>
                <a:tab pos="354965" algn="l"/>
                <a:tab pos="355600" algn="l"/>
              </a:tabLst>
            </a:pPr>
            <a:r>
              <a:rPr sz="1400" dirty="0">
                <a:latin typeface="微软雅黑" panose="020B0503020204020204" charset="-122"/>
                <a:cs typeface="微软雅黑" panose="020B0503020204020204" charset="-122"/>
              </a:rPr>
              <a:t>假设大部分情况下无需访问外部存储器，因此</a:t>
            </a:r>
            <a:r>
              <a:rPr sz="1400" dirty="0">
                <a:latin typeface="微软雅黑" panose="020B0503020204020204" charset="-122"/>
                <a:cs typeface="微软雅黑" panose="020B0503020204020204" charset="-122"/>
              </a:rPr>
              <a:t>针 </a:t>
            </a:r>
            <a:r>
              <a:rPr sz="1400" dirty="0">
                <a:latin typeface="微软雅黑" panose="020B0503020204020204" charset="-122"/>
                <a:cs typeface="微软雅黑" panose="020B0503020204020204" charset="-122"/>
              </a:rPr>
              <a:t>对</a:t>
            </a:r>
            <a:r>
              <a:rPr sz="1400" spc="-20" dirty="0">
                <a:latin typeface="微软雅黑" panose="020B0503020204020204" charset="-122"/>
                <a:cs typeface="微软雅黑" panose="020B0503020204020204" charset="-122"/>
              </a:rPr>
              <a:t>ITCM</a:t>
            </a:r>
            <a:r>
              <a:rPr sz="1400" dirty="0">
                <a:latin typeface="微软雅黑" panose="020B0503020204020204" charset="-122"/>
                <a:cs typeface="微软雅黑" panose="020B0503020204020204" charset="-122"/>
              </a:rPr>
              <a:t>优化，而舍弃针对</a:t>
            </a:r>
            <a:r>
              <a:rPr sz="1400" spc="-5" dirty="0">
                <a:latin typeface="微软雅黑" panose="020B0503020204020204" charset="-122"/>
                <a:cs typeface="微软雅黑" panose="020B0503020204020204" charset="-122"/>
              </a:rPr>
              <a:t>BIU</a:t>
            </a:r>
            <a:r>
              <a:rPr sz="1400" dirty="0">
                <a:latin typeface="微软雅黑" panose="020B0503020204020204" charset="-122"/>
                <a:cs typeface="微软雅黑" panose="020B0503020204020204" charset="-122"/>
              </a:rPr>
              <a:t>的优化</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p:txBody>
      </p:sp>
      <p:sp>
        <p:nvSpPr>
          <p:cNvPr id="6" name="object 6"/>
          <p:cNvSpPr/>
          <p:nvPr/>
        </p:nvSpPr>
        <p:spPr>
          <a:xfrm>
            <a:off x="5733288" y="3557015"/>
            <a:ext cx="870585" cy="876300"/>
          </a:xfrm>
          <a:custGeom>
            <a:avLst/>
            <a:gdLst/>
            <a:ahLst/>
            <a:cxnLst/>
            <a:rect l="l" t="t" r="r" b="b"/>
            <a:pathLst>
              <a:path w="870584" h="876300">
                <a:moveTo>
                  <a:pt x="0" y="0"/>
                </a:moveTo>
                <a:lnTo>
                  <a:pt x="870204" y="0"/>
                </a:lnTo>
                <a:lnTo>
                  <a:pt x="870204" y="876300"/>
                </a:lnTo>
                <a:lnTo>
                  <a:pt x="0" y="876300"/>
                </a:lnTo>
                <a:lnTo>
                  <a:pt x="0" y="0"/>
                </a:lnTo>
                <a:close/>
              </a:path>
            </a:pathLst>
          </a:custGeom>
          <a:solidFill>
            <a:srgbClr val="D9D9D9"/>
          </a:solidFill>
        </p:spPr>
        <p:txBody>
          <a:bodyPr wrap="square" lIns="0" tIns="0" rIns="0" bIns="0" rtlCol="0"/>
          <a:lstStyle/>
          <a:p/>
        </p:txBody>
      </p:sp>
      <p:sp>
        <p:nvSpPr>
          <p:cNvPr id="7" name="object 7"/>
          <p:cNvSpPr/>
          <p:nvPr/>
        </p:nvSpPr>
        <p:spPr>
          <a:xfrm>
            <a:off x="5727306" y="3550665"/>
            <a:ext cx="882650" cy="890269"/>
          </a:xfrm>
          <a:custGeom>
            <a:avLst/>
            <a:gdLst/>
            <a:ahLst/>
            <a:cxnLst/>
            <a:rect l="l" t="t" r="r" b="b"/>
            <a:pathLst>
              <a:path w="882650" h="890270">
                <a:moveTo>
                  <a:pt x="882332" y="889673"/>
                </a:moveTo>
                <a:lnTo>
                  <a:pt x="0" y="889673"/>
                </a:lnTo>
                <a:lnTo>
                  <a:pt x="0" y="0"/>
                </a:lnTo>
                <a:lnTo>
                  <a:pt x="882332" y="0"/>
                </a:lnTo>
                <a:lnTo>
                  <a:pt x="882332" y="6350"/>
                </a:lnTo>
                <a:lnTo>
                  <a:pt x="12700" y="6350"/>
                </a:lnTo>
                <a:lnTo>
                  <a:pt x="6350" y="12700"/>
                </a:lnTo>
                <a:lnTo>
                  <a:pt x="12700" y="12700"/>
                </a:lnTo>
                <a:lnTo>
                  <a:pt x="12700" y="876973"/>
                </a:lnTo>
                <a:lnTo>
                  <a:pt x="6350" y="876973"/>
                </a:lnTo>
                <a:lnTo>
                  <a:pt x="12700" y="883323"/>
                </a:lnTo>
                <a:lnTo>
                  <a:pt x="882332" y="883323"/>
                </a:lnTo>
                <a:lnTo>
                  <a:pt x="882332" y="889673"/>
                </a:lnTo>
                <a:close/>
              </a:path>
              <a:path w="882650" h="890270">
                <a:moveTo>
                  <a:pt x="12700" y="12700"/>
                </a:moveTo>
                <a:lnTo>
                  <a:pt x="6350" y="12700"/>
                </a:lnTo>
                <a:lnTo>
                  <a:pt x="12700" y="6350"/>
                </a:lnTo>
                <a:lnTo>
                  <a:pt x="12700" y="12700"/>
                </a:lnTo>
                <a:close/>
              </a:path>
              <a:path w="882650" h="890270">
                <a:moveTo>
                  <a:pt x="869632" y="12700"/>
                </a:moveTo>
                <a:lnTo>
                  <a:pt x="12700" y="12700"/>
                </a:lnTo>
                <a:lnTo>
                  <a:pt x="12700" y="6350"/>
                </a:lnTo>
                <a:lnTo>
                  <a:pt x="869632" y="6350"/>
                </a:lnTo>
                <a:lnTo>
                  <a:pt x="869632" y="12700"/>
                </a:lnTo>
                <a:close/>
              </a:path>
              <a:path w="882650" h="890270">
                <a:moveTo>
                  <a:pt x="869632" y="883323"/>
                </a:moveTo>
                <a:lnTo>
                  <a:pt x="869632" y="6350"/>
                </a:lnTo>
                <a:lnTo>
                  <a:pt x="875982" y="12700"/>
                </a:lnTo>
                <a:lnTo>
                  <a:pt x="882332" y="12700"/>
                </a:lnTo>
                <a:lnTo>
                  <a:pt x="882332" y="876973"/>
                </a:lnTo>
                <a:lnTo>
                  <a:pt x="875982" y="876973"/>
                </a:lnTo>
                <a:lnTo>
                  <a:pt x="869632" y="883323"/>
                </a:lnTo>
                <a:close/>
              </a:path>
              <a:path w="882650" h="890270">
                <a:moveTo>
                  <a:pt x="882332" y="12700"/>
                </a:moveTo>
                <a:lnTo>
                  <a:pt x="875982" y="12700"/>
                </a:lnTo>
                <a:lnTo>
                  <a:pt x="869632" y="6350"/>
                </a:lnTo>
                <a:lnTo>
                  <a:pt x="882332" y="6350"/>
                </a:lnTo>
                <a:lnTo>
                  <a:pt x="882332" y="12700"/>
                </a:lnTo>
                <a:close/>
              </a:path>
              <a:path w="882650" h="890270">
                <a:moveTo>
                  <a:pt x="12700" y="883323"/>
                </a:moveTo>
                <a:lnTo>
                  <a:pt x="6350" y="876973"/>
                </a:lnTo>
                <a:lnTo>
                  <a:pt x="12700" y="876973"/>
                </a:lnTo>
                <a:lnTo>
                  <a:pt x="12700" y="883323"/>
                </a:lnTo>
                <a:close/>
              </a:path>
              <a:path w="882650" h="890270">
                <a:moveTo>
                  <a:pt x="869632" y="883323"/>
                </a:moveTo>
                <a:lnTo>
                  <a:pt x="12700" y="883323"/>
                </a:lnTo>
                <a:lnTo>
                  <a:pt x="12700" y="876973"/>
                </a:lnTo>
                <a:lnTo>
                  <a:pt x="869632" y="876973"/>
                </a:lnTo>
                <a:lnTo>
                  <a:pt x="869632" y="883323"/>
                </a:lnTo>
                <a:close/>
              </a:path>
              <a:path w="882650" h="890270">
                <a:moveTo>
                  <a:pt x="882332" y="883323"/>
                </a:moveTo>
                <a:lnTo>
                  <a:pt x="869632" y="883323"/>
                </a:lnTo>
                <a:lnTo>
                  <a:pt x="875982" y="876973"/>
                </a:lnTo>
                <a:lnTo>
                  <a:pt x="882332" y="876973"/>
                </a:lnTo>
                <a:lnTo>
                  <a:pt x="882332" y="883323"/>
                </a:lnTo>
                <a:close/>
              </a:path>
            </a:pathLst>
          </a:custGeom>
          <a:solidFill>
            <a:srgbClr val="C00000"/>
          </a:solidFill>
        </p:spPr>
        <p:txBody>
          <a:bodyPr wrap="square" lIns="0" tIns="0" rIns="0" bIns="0" rtlCol="0"/>
          <a:lstStyle/>
          <a:p/>
        </p:txBody>
      </p:sp>
      <p:sp>
        <p:nvSpPr>
          <p:cNvPr id="8" name="object 8"/>
          <p:cNvSpPr txBox="1"/>
          <p:nvPr/>
        </p:nvSpPr>
        <p:spPr>
          <a:xfrm>
            <a:off x="5733288" y="3698620"/>
            <a:ext cx="870585" cy="574040"/>
          </a:xfrm>
          <a:prstGeom prst="rect">
            <a:avLst/>
          </a:prstGeom>
        </p:spPr>
        <p:txBody>
          <a:bodyPr vert="horz" wrap="square" lIns="0" tIns="12700" rIns="0" bIns="0" rtlCol="0">
            <a:spAutoFit/>
          </a:bodyPr>
          <a:lstStyle/>
          <a:p>
            <a:pPr marL="153035" marR="122555" indent="-23495" algn="just">
              <a:lnSpc>
                <a:spcPct val="100000"/>
              </a:lnSpc>
              <a:spcBef>
                <a:spcPts val="100"/>
              </a:spcBef>
            </a:pPr>
            <a:r>
              <a:rPr sz="1200" b="1" dirty="0">
                <a:solidFill>
                  <a:srgbClr val="C00000"/>
                </a:solidFill>
                <a:latin typeface="微软雅黑" panose="020B0503020204020204" charset="-122"/>
                <a:cs typeface="微软雅黑" panose="020B0503020204020204" charset="-122"/>
              </a:rPr>
              <a:t>地址判断 和</a:t>
            </a:r>
            <a:r>
              <a:rPr sz="1200" b="1" spc="-5" dirty="0">
                <a:solidFill>
                  <a:srgbClr val="C00000"/>
                </a:solidFill>
                <a:latin typeface="微软雅黑" panose="020B0503020204020204" charset="-122"/>
                <a:cs typeface="微软雅黑" panose="020B0503020204020204" charset="-122"/>
              </a:rPr>
              <a:t>ICB</a:t>
            </a:r>
            <a:r>
              <a:rPr sz="1200" b="1" dirty="0">
                <a:solidFill>
                  <a:srgbClr val="C00000"/>
                </a:solidFill>
                <a:latin typeface="微软雅黑" panose="020B0503020204020204" charset="-122"/>
                <a:cs typeface="微软雅黑" panose="020B0503020204020204" charset="-122"/>
              </a:rPr>
              <a:t>总 线控制</a:t>
            </a:r>
            <a:endParaRPr sz="1200">
              <a:latin typeface="微软雅黑" panose="020B0503020204020204" charset="-122"/>
              <a:cs typeface="微软雅黑" panose="020B0503020204020204" charset="-122"/>
            </a:endParaRPr>
          </a:p>
        </p:txBody>
      </p:sp>
      <p:sp>
        <p:nvSpPr>
          <p:cNvPr id="9" name="object 9"/>
          <p:cNvSpPr/>
          <p:nvPr/>
        </p:nvSpPr>
        <p:spPr>
          <a:xfrm>
            <a:off x="6937247" y="2502407"/>
            <a:ext cx="341630" cy="881380"/>
          </a:xfrm>
          <a:custGeom>
            <a:avLst/>
            <a:gdLst/>
            <a:ahLst/>
            <a:cxnLst/>
            <a:rect l="l" t="t" r="r" b="b"/>
            <a:pathLst>
              <a:path w="341629" h="881379">
                <a:moveTo>
                  <a:pt x="0" y="0"/>
                </a:moveTo>
                <a:lnTo>
                  <a:pt x="341375" y="0"/>
                </a:lnTo>
                <a:lnTo>
                  <a:pt x="341375" y="880872"/>
                </a:lnTo>
                <a:lnTo>
                  <a:pt x="0" y="880872"/>
                </a:lnTo>
                <a:lnTo>
                  <a:pt x="0" y="0"/>
                </a:lnTo>
                <a:close/>
              </a:path>
            </a:pathLst>
          </a:custGeom>
          <a:solidFill>
            <a:srgbClr val="D9D9D9"/>
          </a:solidFill>
        </p:spPr>
        <p:txBody>
          <a:bodyPr wrap="square" lIns="0" tIns="0" rIns="0" bIns="0" rtlCol="0"/>
          <a:lstStyle/>
          <a:p/>
        </p:txBody>
      </p:sp>
      <p:sp>
        <p:nvSpPr>
          <p:cNvPr id="10" name="object 10"/>
          <p:cNvSpPr/>
          <p:nvPr/>
        </p:nvSpPr>
        <p:spPr>
          <a:xfrm>
            <a:off x="6927316" y="2492895"/>
            <a:ext cx="361950" cy="899794"/>
          </a:xfrm>
          <a:custGeom>
            <a:avLst/>
            <a:gdLst/>
            <a:ahLst/>
            <a:cxnLst/>
            <a:rect l="l" t="t" r="r" b="b"/>
            <a:pathLst>
              <a:path w="361950" h="899795">
                <a:moveTo>
                  <a:pt x="361391" y="899718"/>
                </a:moveTo>
                <a:lnTo>
                  <a:pt x="0" y="899718"/>
                </a:lnTo>
                <a:lnTo>
                  <a:pt x="0" y="0"/>
                </a:lnTo>
                <a:lnTo>
                  <a:pt x="361391" y="0"/>
                </a:lnTo>
                <a:lnTo>
                  <a:pt x="361391" y="9525"/>
                </a:lnTo>
                <a:lnTo>
                  <a:pt x="19050" y="9525"/>
                </a:lnTo>
                <a:lnTo>
                  <a:pt x="9525" y="19050"/>
                </a:lnTo>
                <a:lnTo>
                  <a:pt x="19050" y="19050"/>
                </a:lnTo>
                <a:lnTo>
                  <a:pt x="19050" y="880668"/>
                </a:lnTo>
                <a:lnTo>
                  <a:pt x="9525" y="880668"/>
                </a:lnTo>
                <a:lnTo>
                  <a:pt x="19050" y="890193"/>
                </a:lnTo>
                <a:lnTo>
                  <a:pt x="361391" y="890193"/>
                </a:lnTo>
                <a:lnTo>
                  <a:pt x="361391" y="899718"/>
                </a:lnTo>
                <a:close/>
              </a:path>
              <a:path w="361950" h="899795">
                <a:moveTo>
                  <a:pt x="19050" y="19050"/>
                </a:moveTo>
                <a:lnTo>
                  <a:pt x="9525" y="19050"/>
                </a:lnTo>
                <a:lnTo>
                  <a:pt x="19050" y="9525"/>
                </a:lnTo>
                <a:lnTo>
                  <a:pt x="19050" y="19050"/>
                </a:lnTo>
                <a:close/>
              </a:path>
              <a:path w="361950" h="899795">
                <a:moveTo>
                  <a:pt x="342341" y="19050"/>
                </a:moveTo>
                <a:lnTo>
                  <a:pt x="19050" y="19050"/>
                </a:lnTo>
                <a:lnTo>
                  <a:pt x="19050" y="9525"/>
                </a:lnTo>
                <a:lnTo>
                  <a:pt x="342341" y="9525"/>
                </a:lnTo>
                <a:lnTo>
                  <a:pt x="342341" y="19050"/>
                </a:lnTo>
                <a:close/>
              </a:path>
              <a:path w="361950" h="899795">
                <a:moveTo>
                  <a:pt x="342341" y="890193"/>
                </a:moveTo>
                <a:lnTo>
                  <a:pt x="342341" y="9525"/>
                </a:lnTo>
                <a:lnTo>
                  <a:pt x="351866" y="19050"/>
                </a:lnTo>
                <a:lnTo>
                  <a:pt x="361391" y="19050"/>
                </a:lnTo>
                <a:lnTo>
                  <a:pt x="361391" y="880668"/>
                </a:lnTo>
                <a:lnTo>
                  <a:pt x="351866" y="880668"/>
                </a:lnTo>
                <a:lnTo>
                  <a:pt x="342341" y="890193"/>
                </a:lnTo>
                <a:close/>
              </a:path>
              <a:path w="361950" h="899795">
                <a:moveTo>
                  <a:pt x="361391" y="19050"/>
                </a:moveTo>
                <a:lnTo>
                  <a:pt x="351866" y="19050"/>
                </a:lnTo>
                <a:lnTo>
                  <a:pt x="342341" y="9525"/>
                </a:lnTo>
                <a:lnTo>
                  <a:pt x="361391" y="9525"/>
                </a:lnTo>
                <a:lnTo>
                  <a:pt x="361391" y="19050"/>
                </a:lnTo>
                <a:close/>
              </a:path>
              <a:path w="361950" h="899795">
                <a:moveTo>
                  <a:pt x="19050" y="890193"/>
                </a:moveTo>
                <a:lnTo>
                  <a:pt x="9525" y="880668"/>
                </a:lnTo>
                <a:lnTo>
                  <a:pt x="19050" y="880668"/>
                </a:lnTo>
                <a:lnTo>
                  <a:pt x="19050" y="890193"/>
                </a:lnTo>
                <a:close/>
              </a:path>
              <a:path w="361950" h="899795">
                <a:moveTo>
                  <a:pt x="342341" y="890193"/>
                </a:moveTo>
                <a:lnTo>
                  <a:pt x="19050" y="890193"/>
                </a:lnTo>
                <a:lnTo>
                  <a:pt x="19050" y="880668"/>
                </a:lnTo>
                <a:lnTo>
                  <a:pt x="342341" y="880668"/>
                </a:lnTo>
                <a:lnTo>
                  <a:pt x="342341" y="890193"/>
                </a:lnTo>
                <a:close/>
              </a:path>
              <a:path w="361950" h="899795">
                <a:moveTo>
                  <a:pt x="361391" y="890193"/>
                </a:moveTo>
                <a:lnTo>
                  <a:pt x="342341" y="890193"/>
                </a:lnTo>
                <a:lnTo>
                  <a:pt x="351866" y="880668"/>
                </a:lnTo>
                <a:lnTo>
                  <a:pt x="361391" y="880668"/>
                </a:lnTo>
                <a:lnTo>
                  <a:pt x="361391" y="890193"/>
                </a:lnTo>
                <a:close/>
              </a:path>
            </a:pathLst>
          </a:custGeom>
          <a:solidFill>
            <a:srgbClr val="C00000"/>
          </a:solidFill>
        </p:spPr>
        <p:txBody>
          <a:bodyPr wrap="square" lIns="0" tIns="0" rIns="0" bIns="0" rtlCol="0"/>
          <a:lstStyle/>
          <a:p/>
        </p:txBody>
      </p:sp>
      <p:sp>
        <p:nvSpPr>
          <p:cNvPr id="11" name="object 11"/>
          <p:cNvSpPr/>
          <p:nvPr/>
        </p:nvSpPr>
        <p:spPr>
          <a:xfrm>
            <a:off x="6954011" y="3165348"/>
            <a:ext cx="297180" cy="205740"/>
          </a:xfrm>
          <a:custGeom>
            <a:avLst/>
            <a:gdLst/>
            <a:ahLst/>
            <a:cxnLst/>
            <a:rect l="l" t="t" r="r" b="b"/>
            <a:pathLst>
              <a:path w="297179" h="205739">
                <a:moveTo>
                  <a:pt x="297180" y="205739"/>
                </a:moveTo>
                <a:lnTo>
                  <a:pt x="0" y="205739"/>
                </a:lnTo>
                <a:lnTo>
                  <a:pt x="149352" y="0"/>
                </a:lnTo>
                <a:lnTo>
                  <a:pt x="297180" y="205739"/>
                </a:lnTo>
                <a:close/>
              </a:path>
            </a:pathLst>
          </a:custGeom>
          <a:solidFill>
            <a:srgbClr val="C00000"/>
          </a:solidFill>
        </p:spPr>
        <p:txBody>
          <a:bodyPr wrap="square" lIns="0" tIns="0" rIns="0" bIns="0" rtlCol="0"/>
          <a:lstStyle/>
          <a:p/>
        </p:txBody>
      </p:sp>
      <p:sp>
        <p:nvSpPr>
          <p:cNvPr id="12" name="object 12"/>
          <p:cNvSpPr/>
          <p:nvPr/>
        </p:nvSpPr>
        <p:spPr>
          <a:xfrm>
            <a:off x="6935139" y="3148520"/>
            <a:ext cx="335280" cy="231775"/>
          </a:xfrm>
          <a:custGeom>
            <a:avLst/>
            <a:gdLst/>
            <a:ahLst/>
            <a:cxnLst/>
            <a:rect l="l" t="t" r="r" b="b"/>
            <a:pathLst>
              <a:path w="335279" h="231775">
                <a:moveTo>
                  <a:pt x="335089" y="231762"/>
                </a:moveTo>
                <a:lnTo>
                  <a:pt x="0" y="231762"/>
                </a:lnTo>
                <a:lnTo>
                  <a:pt x="167551" y="0"/>
                </a:lnTo>
                <a:lnTo>
                  <a:pt x="183332" y="21831"/>
                </a:lnTo>
                <a:lnTo>
                  <a:pt x="159829" y="21831"/>
                </a:lnTo>
                <a:lnTo>
                  <a:pt x="167544" y="32504"/>
                </a:lnTo>
                <a:lnTo>
                  <a:pt x="37277" y="212712"/>
                </a:lnTo>
                <a:lnTo>
                  <a:pt x="18630" y="212712"/>
                </a:lnTo>
                <a:lnTo>
                  <a:pt x="26352" y="227825"/>
                </a:lnTo>
                <a:lnTo>
                  <a:pt x="332243" y="227825"/>
                </a:lnTo>
                <a:lnTo>
                  <a:pt x="335089" y="231762"/>
                </a:lnTo>
                <a:close/>
              </a:path>
              <a:path w="335279" h="231775">
                <a:moveTo>
                  <a:pt x="167544" y="32504"/>
                </a:moveTo>
                <a:lnTo>
                  <a:pt x="159829" y="21831"/>
                </a:lnTo>
                <a:lnTo>
                  <a:pt x="175260" y="21831"/>
                </a:lnTo>
                <a:lnTo>
                  <a:pt x="167544" y="32504"/>
                </a:lnTo>
                <a:close/>
              </a:path>
              <a:path w="335279" h="231775">
                <a:moveTo>
                  <a:pt x="308737" y="227825"/>
                </a:moveTo>
                <a:lnTo>
                  <a:pt x="167544" y="32504"/>
                </a:lnTo>
                <a:lnTo>
                  <a:pt x="175260" y="21831"/>
                </a:lnTo>
                <a:lnTo>
                  <a:pt x="183332" y="21831"/>
                </a:lnTo>
                <a:lnTo>
                  <a:pt x="321318" y="212712"/>
                </a:lnTo>
                <a:lnTo>
                  <a:pt x="316458" y="212712"/>
                </a:lnTo>
                <a:lnTo>
                  <a:pt x="308737" y="227825"/>
                </a:lnTo>
                <a:close/>
              </a:path>
              <a:path w="335279" h="231775">
                <a:moveTo>
                  <a:pt x="26352" y="227825"/>
                </a:moveTo>
                <a:lnTo>
                  <a:pt x="18630" y="212712"/>
                </a:lnTo>
                <a:lnTo>
                  <a:pt x="37277" y="212712"/>
                </a:lnTo>
                <a:lnTo>
                  <a:pt x="26352" y="227825"/>
                </a:lnTo>
                <a:close/>
              </a:path>
              <a:path w="335279" h="231775">
                <a:moveTo>
                  <a:pt x="308737" y="227825"/>
                </a:moveTo>
                <a:lnTo>
                  <a:pt x="26352" y="227825"/>
                </a:lnTo>
                <a:lnTo>
                  <a:pt x="37277" y="212712"/>
                </a:lnTo>
                <a:lnTo>
                  <a:pt x="297812" y="212712"/>
                </a:lnTo>
                <a:lnTo>
                  <a:pt x="308737" y="227825"/>
                </a:lnTo>
                <a:close/>
              </a:path>
              <a:path w="335279" h="231775">
                <a:moveTo>
                  <a:pt x="332243" y="227825"/>
                </a:moveTo>
                <a:lnTo>
                  <a:pt x="308737" y="227825"/>
                </a:lnTo>
                <a:lnTo>
                  <a:pt x="316458" y="212712"/>
                </a:lnTo>
                <a:lnTo>
                  <a:pt x="321318" y="212712"/>
                </a:lnTo>
                <a:lnTo>
                  <a:pt x="332243" y="227825"/>
                </a:lnTo>
                <a:close/>
              </a:path>
            </a:pathLst>
          </a:custGeom>
          <a:solidFill>
            <a:srgbClr val="C00000"/>
          </a:solidFill>
        </p:spPr>
        <p:txBody>
          <a:bodyPr wrap="square" lIns="0" tIns="0" rIns="0" bIns="0" rtlCol="0"/>
          <a:lstStyle/>
          <a:p/>
        </p:txBody>
      </p:sp>
      <p:sp>
        <p:nvSpPr>
          <p:cNvPr id="13" name="object 13"/>
          <p:cNvSpPr/>
          <p:nvPr/>
        </p:nvSpPr>
        <p:spPr>
          <a:xfrm>
            <a:off x="8305800" y="1900427"/>
            <a:ext cx="868680" cy="498475"/>
          </a:xfrm>
          <a:custGeom>
            <a:avLst/>
            <a:gdLst/>
            <a:ahLst/>
            <a:cxnLst/>
            <a:rect l="l" t="t" r="r" b="b"/>
            <a:pathLst>
              <a:path w="868679" h="498475">
                <a:moveTo>
                  <a:pt x="0" y="0"/>
                </a:moveTo>
                <a:lnTo>
                  <a:pt x="868679" y="0"/>
                </a:lnTo>
                <a:lnTo>
                  <a:pt x="868679" y="498348"/>
                </a:lnTo>
                <a:lnTo>
                  <a:pt x="0" y="498348"/>
                </a:lnTo>
                <a:lnTo>
                  <a:pt x="0" y="0"/>
                </a:lnTo>
                <a:close/>
              </a:path>
            </a:pathLst>
          </a:custGeom>
          <a:solidFill>
            <a:srgbClr val="D9D9D9"/>
          </a:solidFill>
        </p:spPr>
        <p:txBody>
          <a:bodyPr wrap="square" lIns="0" tIns="0" rIns="0" bIns="0" rtlCol="0"/>
          <a:lstStyle/>
          <a:p/>
        </p:txBody>
      </p:sp>
      <p:sp>
        <p:nvSpPr>
          <p:cNvPr id="14" name="object 14"/>
          <p:cNvSpPr/>
          <p:nvPr/>
        </p:nvSpPr>
        <p:spPr>
          <a:xfrm>
            <a:off x="8299208" y="1894763"/>
            <a:ext cx="882650" cy="509905"/>
          </a:xfrm>
          <a:custGeom>
            <a:avLst/>
            <a:gdLst/>
            <a:ahLst/>
            <a:cxnLst/>
            <a:rect l="l" t="t" r="r" b="b"/>
            <a:pathLst>
              <a:path w="882650" h="509905">
                <a:moveTo>
                  <a:pt x="882332" y="509778"/>
                </a:moveTo>
                <a:lnTo>
                  <a:pt x="0" y="509778"/>
                </a:lnTo>
                <a:lnTo>
                  <a:pt x="0" y="0"/>
                </a:lnTo>
                <a:lnTo>
                  <a:pt x="882332" y="0"/>
                </a:lnTo>
                <a:lnTo>
                  <a:pt x="882332" y="6350"/>
                </a:lnTo>
                <a:lnTo>
                  <a:pt x="12700" y="6350"/>
                </a:lnTo>
                <a:lnTo>
                  <a:pt x="6350" y="12700"/>
                </a:lnTo>
                <a:lnTo>
                  <a:pt x="12700" y="12700"/>
                </a:lnTo>
                <a:lnTo>
                  <a:pt x="12700" y="497078"/>
                </a:lnTo>
                <a:lnTo>
                  <a:pt x="6350" y="497078"/>
                </a:lnTo>
                <a:lnTo>
                  <a:pt x="12700" y="503428"/>
                </a:lnTo>
                <a:lnTo>
                  <a:pt x="882332" y="503428"/>
                </a:lnTo>
                <a:lnTo>
                  <a:pt x="882332" y="509778"/>
                </a:lnTo>
                <a:close/>
              </a:path>
              <a:path w="882650" h="509905">
                <a:moveTo>
                  <a:pt x="12700" y="12700"/>
                </a:moveTo>
                <a:lnTo>
                  <a:pt x="6350" y="12700"/>
                </a:lnTo>
                <a:lnTo>
                  <a:pt x="12700" y="6350"/>
                </a:lnTo>
                <a:lnTo>
                  <a:pt x="12700" y="12700"/>
                </a:lnTo>
                <a:close/>
              </a:path>
              <a:path w="882650" h="509905">
                <a:moveTo>
                  <a:pt x="869632" y="12700"/>
                </a:moveTo>
                <a:lnTo>
                  <a:pt x="12700" y="12700"/>
                </a:lnTo>
                <a:lnTo>
                  <a:pt x="12700" y="6350"/>
                </a:lnTo>
                <a:lnTo>
                  <a:pt x="869632" y="6350"/>
                </a:lnTo>
                <a:lnTo>
                  <a:pt x="869632" y="12700"/>
                </a:lnTo>
                <a:close/>
              </a:path>
              <a:path w="882650" h="509905">
                <a:moveTo>
                  <a:pt x="869632" y="503428"/>
                </a:moveTo>
                <a:lnTo>
                  <a:pt x="869632" y="6350"/>
                </a:lnTo>
                <a:lnTo>
                  <a:pt x="875982" y="12700"/>
                </a:lnTo>
                <a:lnTo>
                  <a:pt x="882332" y="12700"/>
                </a:lnTo>
                <a:lnTo>
                  <a:pt x="882332" y="497078"/>
                </a:lnTo>
                <a:lnTo>
                  <a:pt x="875982" y="497078"/>
                </a:lnTo>
                <a:lnTo>
                  <a:pt x="869632" y="503428"/>
                </a:lnTo>
                <a:close/>
              </a:path>
              <a:path w="882650" h="509905">
                <a:moveTo>
                  <a:pt x="882332" y="12700"/>
                </a:moveTo>
                <a:lnTo>
                  <a:pt x="875982" y="12700"/>
                </a:lnTo>
                <a:lnTo>
                  <a:pt x="869632" y="6350"/>
                </a:lnTo>
                <a:lnTo>
                  <a:pt x="882332" y="6350"/>
                </a:lnTo>
                <a:lnTo>
                  <a:pt x="882332" y="12700"/>
                </a:lnTo>
                <a:close/>
              </a:path>
              <a:path w="882650" h="509905">
                <a:moveTo>
                  <a:pt x="12700" y="503428"/>
                </a:moveTo>
                <a:lnTo>
                  <a:pt x="6350" y="497078"/>
                </a:lnTo>
                <a:lnTo>
                  <a:pt x="12700" y="497078"/>
                </a:lnTo>
                <a:lnTo>
                  <a:pt x="12700" y="503428"/>
                </a:lnTo>
                <a:close/>
              </a:path>
              <a:path w="882650" h="509905">
                <a:moveTo>
                  <a:pt x="869632" y="503428"/>
                </a:moveTo>
                <a:lnTo>
                  <a:pt x="12700" y="503428"/>
                </a:lnTo>
                <a:lnTo>
                  <a:pt x="12700" y="497078"/>
                </a:lnTo>
                <a:lnTo>
                  <a:pt x="869632" y="497078"/>
                </a:lnTo>
                <a:lnTo>
                  <a:pt x="869632" y="503428"/>
                </a:lnTo>
                <a:close/>
              </a:path>
              <a:path w="882650" h="509905">
                <a:moveTo>
                  <a:pt x="882332" y="503428"/>
                </a:moveTo>
                <a:lnTo>
                  <a:pt x="869632" y="503428"/>
                </a:lnTo>
                <a:lnTo>
                  <a:pt x="875982" y="497078"/>
                </a:lnTo>
                <a:lnTo>
                  <a:pt x="882332" y="497078"/>
                </a:lnTo>
                <a:lnTo>
                  <a:pt x="882332" y="503428"/>
                </a:lnTo>
                <a:close/>
              </a:path>
            </a:pathLst>
          </a:custGeom>
          <a:solidFill>
            <a:srgbClr val="C00000"/>
          </a:solidFill>
        </p:spPr>
        <p:txBody>
          <a:bodyPr wrap="square" lIns="0" tIns="0" rIns="0" bIns="0" rtlCol="0"/>
          <a:lstStyle/>
          <a:p/>
        </p:txBody>
      </p:sp>
      <p:sp>
        <p:nvSpPr>
          <p:cNvPr id="15" name="object 15"/>
          <p:cNvSpPr txBox="1"/>
          <p:nvPr/>
        </p:nvSpPr>
        <p:spPr>
          <a:xfrm>
            <a:off x="8305800" y="1912543"/>
            <a:ext cx="868680" cy="453390"/>
          </a:xfrm>
          <a:prstGeom prst="rect">
            <a:avLst/>
          </a:prstGeom>
        </p:spPr>
        <p:txBody>
          <a:bodyPr vert="horz" wrap="square" lIns="0" tIns="13335" rIns="0" bIns="0" rtlCol="0">
            <a:spAutoFit/>
          </a:bodyPr>
          <a:lstStyle/>
          <a:p>
            <a:pPr marL="278765" marR="175260" indent="-95250">
              <a:lnSpc>
                <a:spcPct val="100000"/>
              </a:lnSpc>
              <a:spcBef>
                <a:spcPts val="105"/>
              </a:spcBef>
            </a:pPr>
            <a:r>
              <a:rPr sz="1400" b="1" spc="-5" dirty="0">
                <a:solidFill>
                  <a:srgbClr val="C00000"/>
                </a:solidFill>
                <a:latin typeface="Calibri" panose="020F0502020204030204"/>
                <a:cs typeface="Calibri" panose="020F0502020204030204"/>
              </a:rPr>
              <a:t>Simpl</a:t>
            </a:r>
            <a:r>
              <a:rPr sz="1400" b="1" dirty="0">
                <a:solidFill>
                  <a:srgbClr val="C00000"/>
                </a:solidFill>
                <a:latin typeface="Calibri" panose="020F0502020204030204"/>
                <a:cs typeface="Calibri" panose="020F0502020204030204"/>
              </a:rPr>
              <a:t>e  </a:t>
            </a:r>
            <a:r>
              <a:rPr sz="1400" b="1" spc="-5" dirty="0">
                <a:solidFill>
                  <a:srgbClr val="C00000"/>
                </a:solidFill>
                <a:latin typeface="Calibri" panose="020F0502020204030204"/>
                <a:cs typeface="Calibri" panose="020F0502020204030204"/>
              </a:rPr>
              <a:t>BPU</a:t>
            </a:r>
            <a:endParaRPr sz="1400">
              <a:latin typeface="Calibri" panose="020F0502020204030204"/>
              <a:cs typeface="Calibri" panose="020F0502020204030204"/>
            </a:endParaRPr>
          </a:p>
        </p:txBody>
      </p:sp>
      <p:sp>
        <p:nvSpPr>
          <p:cNvPr id="16" name="object 16"/>
          <p:cNvSpPr/>
          <p:nvPr/>
        </p:nvSpPr>
        <p:spPr>
          <a:xfrm>
            <a:off x="5447258" y="1553794"/>
            <a:ext cx="4021454" cy="3110230"/>
          </a:xfrm>
          <a:custGeom>
            <a:avLst/>
            <a:gdLst/>
            <a:ahLst/>
            <a:cxnLst/>
            <a:rect l="l" t="t" r="r" b="b"/>
            <a:pathLst>
              <a:path w="4021454" h="3110229">
                <a:moveTo>
                  <a:pt x="4021239" y="3109722"/>
                </a:moveTo>
                <a:lnTo>
                  <a:pt x="0" y="3109722"/>
                </a:lnTo>
                <a:lnTo>
                  <a:pt x="0" y="0"/>
                </a:lnTo>
                <a:lnTo>
                  <a:pt x="4021239" y="0"/>
                </a:lnTo>
                <a:lnTo>
                  <a:pt x="4021239" y="14287"/>
                </a:lnTo>
                <a:lnTo>
                  <a:pt x="28575" y="14287"/>
                </a:lnTo>
                <a:lnTo>
                  <a:pt x="14287" y="28575"/>
                </a:lnTo>
                <a:lnTo>
                  <a:pt x="28575" y="28575"/>
                </a:lnTo>
                <a:lnTo>
                  <a:pt x="28575" y="3081147"/>
                </a:lnTo>
                <a:lnTo>
                  <a:pt x="14287" y="3081147"/>
                </a:lnTo>
                <a:lnTo>
                  <a:pt x="28575" y="3095434"/>
                </a:lnTo>
                <a:lnTo>
                  <a:pt x="4021239" y="3095434"/>
                </a:lnTo>
                <a:lnTo>
                  <a:pt x="4021239" y="3109722"/>
                </a:lnTo>
                <a:close/>
              </a:path>
              <a:path w="4021454" h="3110229">
                <a:moveTo>
                  <a:pt x="28575" y="28575"/>
                </a:moveTo>
                <a:lnTo>
                  <a:pt x="14287" y="28575"/>
                </a:lnTo>
                <a:lnTo>
                  <a:pt x="28575" y="14287"/>
                </a:lnTo>
                <a:lnTo>
                  <a:pt x="28575" y="28575"/>
                </a:lnTo>
                <a:close/>
              </a:path>
              <a:path w="4021454" h="3110229">
                <a:moveTo>
                  <a:pt x="3992664" y="28575"/>
                </a:moveTo>
                <a:lnTo>
                  <a:pt x="28575" y="28575"/>
                </a:lnTo>
                <a:lnTo>
                  <a:pt x="28575" y="14287"/>
                </a:lnTo>
                <a:lnTo>
                  <a:pt x="3992664" y="14287"/>
                </a:lnTo>
                <a:lnTo>
                  <a:pt x="3992664" y="28575"/>
                </a:lnTo>
                <a:close/>
              </a:path>
              <a:path w="4021454" h="3110229">
                <a:moveTo>
                  <a:pt x="3992664" y="3095434"/>
                </a:moveTo>
                <a:lnTo>
                  <a:pt x="3992664" y="14287"/>
                </a:lnTo>
                <a:lnTo>
                  <a:pt x="4006951" y="28575"/>
                </a:lnTo>
                <a:lnTo>
                  <a:pt x="4021239" y="28575"/>
                </a:lnTo>
                <a:lnTo>
                  <a:pt x="4021239" y="3081147"/>
                </a:lnTo>
                <a:lnTo>
                  <a:pt x="4006951" y="3081147"/>
                </a:lnTo>
                <a:lnTo>
                  <a:pt x="3992664" y="3095434"/>
                </a:lnTo>
                <a:close/>
              </a:path>
              <a:path w="4021454" h="3110229">
                <a:moveTo>
                  <a:pt x="4021239" y="28575"/>
                </a:moveTo>
                <a:lnTo>
                  <a:pt x="4006951" y="28575"/>
                </a:lnTo>
                <a:lnTo>
                  <a:pt x="3992664" y="14287"/>
                </a:lnTo>
                <a:lnTo>
                  <a:pt x="4021239" y="14287"/>
                </a:lnTo>
                <a:lnTo>
                  <a:pt x="4021239" y="28575"/>
                </a:lnTo>
                <a:close/>
              </a:path>
              <a:path w="4021454" h="3110229">
                <a:moveTo>
                  <a:pt x="28575" y="3095434"/>
                </a:moveTo>
                <a:lnTo>
                  <a:pt x="14287" y="3081147"/>
                </a:lnTo>
                <a:lnTo>
                  <a:pt x="28575" y="3081147"/>
                </a:lnTo>
                <a:lnTo>
                  <a:pt x="28575" y="3095434"/>
                </a:lnTo>
                <a:close/>
              </a:path>
              <a:path w="4021454" h="3110229">
                <a:moveTo>
                  <a:pt x="3992664" y="3095434"/>
                </a:moveTo>
                <a:lnTo>
                  <a:pt x="28575" y="3095434"/>
                </a:lnTo>
                <a:lnTo>
                  <a:pt x="28575" y="3081147"/>
                </a:lnTo>
                <a:lnTo>
                  <a:pt x="3992664" y="3081147"/>
                </a:lnTo>
                <a:lnTo>
                  <a:pt x="3992664" y="3095434"/>
                </a:lnTo>
                <a:close/>
              </a:path>
              <a:path w="4021454" h="3110229">
                <a:moveTo>
                  <a:pt x="4021239" y="3095434"/>
                </a:moveTo>
                <a:lnTo>
                  <a:pt x="3992664" y="3095434"/>
                </a:lnTo>
                <a:lnTo>
                  <a:pt x="4006951" y="3081147"/>
                </a:lnTo>
                <a:lnTo>
                  <a:pt x="4021239" y="3081147"/>
                </a:lnTo>
                <a:lnTo>
                  <a:pt x="4021239" y="3095434"/>
                </a:lnTo>
                <a:close/>
              </a:path>
            </a:pathLst>
          </a:custGeom>
          <a:solidFill>
            <a:srgbClr val="C00000"/>
          </a:solidFill>
        </p:spPr>
        <p:txBody>
          <a:bodyPr wrap="square" lIns="0" tIns="0" rIns="0" bIns="0" rtlCol="0"/>
          <a:lstStyle/>
          <a:p/>
        </p:txBody>
      </p:sp>
      <p:sp>
        <p:nvSpPr>
          <p:cNvPr id="17" name="object 17"/>
          <p:cNvSpPr/>
          <p:nvPr/>
        </p:nvSpPr>
        <p:spPr>
          <a:xfrm>
            <a:off x="5462015" y="4826508"/>
            <a:ext cx="5718175" cy="361315"/>
          </a:xfrm>
          <a:custGeom>
            <a:avLst/>
            <a:gdLst/>
            <a:ahLst/>
            <a:cxnLst/>
            <a:rect l="l" t="t" r="r" b="b"/>
            <a:pathLst>
              <a:path w="5718175" h="361314">
                <a:moveTo>
                  <a:pt x="0" y="0"/>
                </a:moveTo>
                <a:lnTo>
                  <a:pt x="5718047" y="0"/>
                </a:lnTo>
                <a:lnTo>
                  <a:pt x="5718047" y="361188"/>
                </a:lnTo>
                <a:lnTo>
                  <a:pt x="0" y="361188"/>
                </a:lnTo>
                <a:lnTo>
                  <a:pt x="0" y="0"/>
                </a:lnTo>
                <a:close/>
              </a:path>
            </a:pathLst>
          </a:custGeom>
          <a:solidFill>
            <a:srgbClr val="D9D9D9"/>
          </a:solidFill>
        </p:spPr>
        <p:txBody>
          <a:bodyPr wrap="square" lIns="0" tIns="0" rIns="0" bIns="0" rtlCol="0"/>
          <a:lstStyle/>
          <a:p/>
        </p:txBody>
      </p:sp>
      <p:sp>
        <p:nvSpPr>
          <p:cNvPr id="18" name="object 18"/>
          <p:cNvSpPr/>
          <p:nvPr/>
        </p:nvSpPr>
        <p:spPr>
          <a:xfrm>
            <a:off x="5455196" y="4819878"/>
            <a:ext cx="5731510" cy="375285"/>
          </a:xfrm>
          <a:custGeom>
            <a:avLst/>
            <a:gdLst/>
            <a:ahLst/>
            <a:cxnLst/>
            <a:rect l="l" t="t" r="r" b="b"/>
            <a:pathLst>
              <a:path w="5731509" h="375285">
                <a:moveTo>
                  <a:pt x="5731459" y="374713"/>
                </a:moveTo>
                <a:lnTo>
                  <a:pt x="0" y="374713"/>
                </a:lnTo>
                <a:lnTo>
                  <a:pt x="0" y="0"/>
                </a:lnTo>
                <a:lnTo>
                  <a:pt x="5731459" y="0"/>
                </a:lnTo>
                <a:lnTo>
                  <a:pt x="5731459" y="6350"/>
                </a:lnTo>
                <a:lnTo>
                  <a:pt x="12700" y="6350"/>
                </a:lnTo>
                <a:lnTo>
                  <a:pt x="6350" y="12700"/>
                </a:lnTo>
                <a:lnTo>
                  <a:pt x="12700" y="12700"/>
                </a:lnTo>
                <a:lnTo>
                  <a:pt x="12700" y="362013"/>
                </a:lnTo>
                <a:lnTo>
                  <a:pt x="6350" y="362013"/>
                </a:lnTo>
                <a:lnTo>
                  <a:pt x="12700" y="368363"/>
                </a:lnTo>
                <a:lnTo>
                  <a:pt x="5731459" y="368363"/>
                </a:lnTo>
                <a:lnTo>
                  <a:pt x="5731459" y="374713"/>
                </a:lnTo>
                <a:close/>
              </a:path>
              <a:path w="5731509" h="375285">
                <a:moveTo>
                  <a:pt x="12700" y="12700"/>
                </a:moveTo>
                <a:lnTo>
                  <a:pt x="6350" y="12700"/>
                </a:lnTo>
                <a:lnTo>
                  <a:pt x="12700" y="6350"/>
                </a:lnTo>
                <a:lnTo>
                  <a:pt x="12700" y="12700"/>
                </a:lnTo>
                <a:close/>
              </a:path>
              <a:path w="5731509" h="375285">
                <a:moveTo>
                  <a:pt x="5718759" y="12700"/>
                </a:moveTo>
                <a:lnTo>
                  <a:pt x="12700" y="12700"/>
                </a:lnTo>
                <a:lnTo>
                  <a:pt x="12700" y="6350"/>
                </a:lnTo>
                <a:lnTo>
                  <a:pt x="5718759" y="6350"/>
                </a:lnTo>
                <a:lnTo>
                  <a:pt x="5718759" y="12700"/>
                </a:lnTo>
                <a:close/>
              </a:path>
              <a:path w="5731509" h="375285">
                <a:moveTo>
                  <a:pt x="5718759" y="368363"/>
                </a:moveTo>
                <a:lnTo>
                  <a:pt x="5718759" y="6350"/>
                </a:lnTo>
                <a:lnTo>
                  <a:pt x="5725109" y="12700"/>
                </a:lnTo>
                <a:lnTo>
                  <a:pt x="5731459" y="12700"/>
                </a:lnTo>
                <a:lnTo>
                  <a:pt x="5731459" y="362013"/>
                </a:lnTo>
                <a:lnTo>
                  <a:pt x="5725109" y="362013"/>
                </a:lnTo>
                <a:lnTo>
                  <a:pt x="5718759" y="368363"/>
                </a:lnTo>
                <a:close/>
              </a:path>
              <a:path w="5731509" h="375285">
                <a:moveTo>
                  <a:pt x="5731459" y="12700"/>
                </a:moveTo>
                <a:lnTo>
                  <a:pt x="5725109" y="12700"/>
                </a:lnTo>
                <a:lnTo>
                  <a:pt x="5718759" y="6350"/>
                </a:lnTo>
                <a:lnTo>
                  <a:pt x="5731459" y="6350"/>
                </a:lnTo>
                <a:lnTo>
                  <a:pt x="5731459" y="12700"/>
                </a:lnTo>
                <a:close/>
              </a:path>
              <a:path w="5731509" h="375285">
                <a:moveTo>
                  <a:pt x="12700" y="368363"/>
                </a:moveTo>
                <a:lnTo>
                  <a:pt x="6350" y="362013"/>
                </a:lnTo>
                <a:lnTo>
                  <a:pt x="12700" y="362013"/>
                </a:lnTo>
                <a:lnTo>
                  <a:pt x="12700" y="368363"/>
                </a:lnTo>
                <a:close/>
              </a:path>
              <a:path w="5731509" h="375285">
                <a:moveTo>
                  <a:pt x="5718759" y="368363"/>
                </a:moveTo>
                <a:lnTo>
                  <a:pt x="12700" y="368363"/>
                </a:lnTo>
                <a:lnTo>
                  <a:pt x="12700" y="362013"/>
                </a:lnTo>
                <a:lnTo>
                  <a:pt x="5718759" y="362013"/>
                </a:lnTo>
                <a:lnTo>
                  <a:pt x="5718759" y="368363"/>
                </a:lnTo>
                <a:close/>
              </a:path>
              <a:path w="5731509" h="375285">
                <a:moveTo>
                  <a:pt x="5731459" y="368363"/>
                </a:moveTo>
                <a:lnTo>
                  <a:pt x="5718759" y="368363"/>
                </a:lnTo>
                <a:lnTo>
                  <a:pt x="5725109" y="362013"/>
                </a:lnTo>
                <a:lnTo>
                  <a:pt x="5731459" y="362013"/>
                </a:lnTo>
                <a:lnTo>
                  <a:pt x="5731459" y="368363"/>
                </a:lnTo>
                <a:close/>
              </a:path>
            </a:pathLst>
          </a:custGeom>
          <a:solidFill>
            <a:srgbClr val="C00000"/>
          </a:solidFill>
        </p:spPr>
        <p:txBody>
          <a:bodyPr wrap="square" lIns="0" tIns="0" rIns="0" bIns="0" rtlCol="0"/>
          <a:lstStyle/>
          <a:p/>
        </p:txBody>
      </p:sp>
      <p:sp>
        <p:nvSpPr>
          <p:cNvPr id="19" name="object 19"/>
          <p:cNvSpPr txBox="1"/>
          <p:nvPr/>
        </p:nvSpPr>
        <p:spPr>
          <a:xfrm>
            <a:off x="7399616" y="4826508"/>
            <a:ext cx="3780790" cy="361315"/>
          </a:xfrm>
          <a:prstGeom prst="rect">
            <a:avLst/>
          </a:prstGeom>
          <a:solidFill>
            <a:srgbClr val="D9D9D9"/>
          </a:solidFill>
        </p:spPr>
        <p:txBody>
          <a:bodyPr vert="horz" wrap="square" lIns="0" tIns="29845" rIns="0" bIns="0" rtlCol="0">
            <a:spAutoFit/>
          </a:bodyPr>
          <a:lstStyle/>
          <a:p>
            <a:pPr marL="675005">
              <a:lnSpc>
                <a:spcPct val="100000"/>
              </a:lnSpc>
              <a:spcBef>
                <a:spcPts val="235"/>
              </a:spcBef>
            </a:pPr>
            <a:r>
              <a:rPr sz="1800" b="1" spc="-15" dirty="0">
                <a:solidFill>
                  <a:srgbClr val="C00000"/>
                </a:solidFill>
                <a:latin typeface="Calibri" panose="020F0502020204030204"/>
                <a:cs typeface="Calibri" panose="020F0502020204030204"/>
              </a:rPr>
              <a:t>ITCM</a:t>
            </a:r>
            <a:endParaRPr sz="1800">
              <a:latin typeface="Calibri" panose="020F0502020204030204"/>
              <a:cs typeface="Calibri" panose="020F0502020204030204"/>
            </a:endParaRPr>
          </a:p>
        </p:txBody>
      </p:sp>
      <p:sp>
        <p:nvSpPr>
          <p:cNvPr id="20" name="object 20"/>
          <p:cNvSpPr/>
          <p:nvPr/>
        </p:nvSpPr>
        <p:spPr>
          <a:xfrm>
            <a:off x="5462015" y="5329428"/>
            <a:ext cx="5718175" cy="363220"/>
          </a:xfrm>
          <a:custGeom>
            <a:avLst/>
            <a:gdLst/>
            <a:ahLst/>
            <a:cxnLst/>
            <a:rect l="l" t="t" r="r" b="b"/>
            <a:pathLst>
              <a:path w="5718175" h="363220">
                <a:moveTo>
                  <a:pt x="0" y="0"/>
                </a:moveTo>
                <a:lnTo>
                  <a:pt x="5718047" y="0"/>
                </a:lnTo>
                <a:lnTo>
                  <a:pt x="5718047" y="362712"/>
                </a:lnTo>
                <a:lnTo>
                  <a:pt x="0" y="362712"/>
                </a:lnTo>
                <a:lnTo>
                  <a:pt x="0" y="0"/>
                </a:lnTo>
                <a:close/>
              </a:path>
            </a:pathLst>
          </a:custGeom>
          <a:solidFill>
            <a:srgbClr val="D9D9D9"/>
          </a:solidFill>
        </p:spPr>
        <p:txBody>
          <a:bodyPr wrap="square" lIns="0" tIns="0" rIns="0" bIns="0" rtlCol="0"/>
          <a:lstStyle/>
          <a:p/>
        </p:txBody>
      </p:sp>
      <p:sp>
        <p:nvSpPr>
          <p:cNvPr id="21" name="object 21"/>
          <p:cNvSpPr/>
          <p:nvPr/>
        </p:nvSpPr>
        <p:spPr>
          <a:xfrm>
            <a:off x="5455196" y="5323116"/>
            <a:ext cx="5731510" cy="375285"/>
          </a:xfrm>
          <a:custGeom>
            <a:avLst/>
            <a:gdLst/>
            <a:ahLst/>
            <a:cxnLst/>
            <a:rect l="l" t="t" r="r" b="b"/>
            <a:pathLst>
              <a:path w="5731509" h="375285">
                <a:moveTo>
                  <a:pt x="5731459" y="374726"/>
                </a:moveTo>
                <a:lnTo>
                  <a:pt x="0" y="374726"/>
                </a:lnTo>
                <a:lnTo>
                  <a:pt x="0" y="0"/>
                </a:lnTo>
                <a:lnTo>
                  <a:pt x="5731459" y="0"/>
                </a:lnTo>
                <a:lnTo>
                  <a:pt x="5731459" y="6350"/>
                </a:lnTo>
                <a:lnTo>
                  <a:pt x="12700" y="6350"/>
                </a:lnTo>
                <a:lnTo>
                  <a:pt x="6350" y="12700"/>
                </a:lnTo>
                <a:lnTo>
                  <a:pt x="12700" y="12700"/>
                </a:lnTo>
                <a:lnTo>
                  <a:pt x="12700" y="362026"/>
                </a:lnTo>
                <a:lnTo>
                  <a:pt x="6350" y="362026"/>
                </a:lnTo>
                <a:lnTo>
                  <a:pt x="12700" y="368376"/>
                </a:lnTo>
                <a:lnTo>
                  <a:pt x="5731459" y="368376"/>
                </a:lnTo>
                <a:lnTo>
                  <a:pt x="5731459" y="374726"/>
                </a:lnTo>
                <a:close/>
              </a:path>
              <a:path w="5731509" h="375285">
                <a:moveTo>
                  <a:pt x="12700" y="12700"/>
                </a:moveTo>
                <a:lnTo>
                  <a:pt x="6350" y="12700"/>
                </a:lnTo>
                <a:lnTo>
                  <a:pt x="12700" y="6350"/>
                </a:lnTo>
                <a:lnTo>
                  <a:pt x="12700" y="12700"/>
                </a:lnTo>
                <a:close/>
              </a:path>
              <a:path w="5731509" h="375285">
                <a:moveTo>
                  <a:pt x="5718759" y="12700"/>
                </a:moveTo>
                <a:lnTo>
                  <a:pt x="12700" y="12700"/>
                </a:lnTo>
                <a:lnTo>
                  <a:pt x="12700" y="6350"/>
                </a:lnTo>
                <a:lnTo>
                  <a:pt x="5718759" y="6350"/>
                </a:lnTo>
                <a:lnTo>
                  <a:pt x="5718759" y="12700"/>
                </a:lnTo>
                <a:close/>
              </a:path>
              <a:path w="5731509" h="375285">
                <a:moveTo>
                  <a:pt x="5718759" y="368376"/>
                </a:moveTo>
                <a:lnTo>
                  <a:pt x="5718759" y="6350"/>
                </a:lnTo>
                <a:lnTo>
                  <a:pt x="5725109" y="12700"/>
                </a:lnTo>
                <a:lnTo>
                  <a:pt x="5731459" y="12700"/>
                </a:lnTo>
                <a:lnTo>
                  <a:pt x="5731459" y="362026"/>
                </a:lnTo>
                <a:lnTo>
                  <a:pt x="5725109" y="362026"/>
                </a:lnTo>
                <a:lnTo>
                  <a:pt x="5718759" y="368376"/>
                </a:lnTo>
                <a:close/>
              </a:path>
              <a:path w="5731509" h="375285">
                <a:moveTo>
                  <a:pt x="5731459" y="12700"/>
                </a:moveTo>
                <a:lnTo>
                  <a:pt x="5725109" y="12700"/>
                </a:lnTo>
                <a:lnTo>
                  <a:pt x="5718759" y="6350"/>
                </a:lnTo>
                <a:lnTo>
                  <a:pt x="5731459" y="6350"/>
                </a:lnTo>
                <a:lnTo>
                  <a:pt x="5731459" y="12700"/>
                </a:lnTo>
                <a:close/>
              </a:path>
              <a:path w="5731509" h="375285">
                <a:moveTo>
                  <a:pt x="12700" y="368376"/>
                </a:moveTo>
                <a:lnTo>
                  <a:pt x="6350" y="362026"/>
                </a:lnTo>
                <a:lnTo>
                  <a:pt x="12700" y="362026"/>
                </a:lnTo>
                <a:lnTo>
                  <a:pt x="12700" y="368376"/>
                </a:lnTo>
                <a:close/>
              </a:path>
              <a:path w="5731509" h="375285">
                <a:moveTo>
                  <a:pt x="5718759" y="368376"/>
                </a:moveTo>
                <a:lnTo>
                  <a:pt x="12700" y="368376"/>
                </a:lnTo>
                <a:lnTo>
                  <a:pt x="12700" y="362026"/>
                </a:lnTo>
                <a:lnTo>
                  <a:pt x="5718759" y="362026"/>
                </a:lnTo>
                <a:lnTo>
                  <a:pt x="5718759" y="368376"/>
                </a:lnTo>
                <a:close/>
              </a:path>
              <a:path w="5731509" h="375285">
                <a:moveTo>
                  <a:pt x="5731459" y="368376"/>
                </a:moveTo>
                <a:lnTo>
                  <a:pt x="5718759" y="368376"/>
                </a:lnTo>
                <a:lnTo>
                  <a:pt x="5725109" y="362026"/>
                </a:lnTo>
                <a:lnTo>
                  <a:pt x="5731459" y="362026"/>
                </a:lnTo>
                <a:lnTo>
                  <a:pt x="5731459" y="368376"/>
                </a:lnTo>
                <a:close/>
              </a:path>
            </a:pathLst>
          </a:custGeom>
          <a:solidFill>
            <a:srgbClr val="C00000"/>
          </a:solidFill>
        </p:spPr>
        <p:txBody>
          <a:bodyPr wrap="square" lIns="0" tIns="0" rIns="0" bIns="0" rtlCol="0"/>
          <a:lstStyle/>
          <a:p/>
        </p:txBody>
      </p:sp>
      <p:sp>
        <p:nvSpPr>
          <p:cNvPr id="22" name="object 22"/>
          <p:cNvSpPr txBox="1"/>
          <p:nvPr/>
        </p:nvSpPr>
        <p:spPr>
          <a:xfrm>
            <a:off x="8151406" y="5347246"/>
            <a:ext cx="351790" cy="299720"/>
          </a:xfrm>
          <a:prstGeom prst="rect">
            <a:avLst/>
          </a:prstGeom>
        </p:spPr>
        <p:txBody>
          <a:bodyPr vert="horz" wrap="square" lIns="0" tIns="12700" rIns="0" bIns="0" rtlCol="0">
            <a:spAutoFit/>
          </a:bodyPr>
          <a:lstStyle/>
          <a:p>
            <a:pPr>
              <a:lnSpc>
                <a:spcPct val="100000"/>
              </a:lnSpc>
              <a:spcBef>
                <a:spcPts val="100"/>
              </a:spcBef>
            </a:pPr>
            <a:r>
              <a:rPr sz="1800" b="1" dirty="0">
                <a:solidFill>
                  <a:srgbClr val="C00000"/>
                </a:solidFill>
                <a:latin typeface="Calibri" panose="020F0502020204030204"/>
                <a:cs typeface="Calibri" panose="020F0502020204030204"/>
              </a:rPr>
              <a:t>BIU</a:t>
            </a:r>
            <a:endParaRPr sz="1800">
              <a:latin typeface="Calibri" panose="020F0502020204030204"/>
              <a:cs typeface="Calibri" panose="020F0502020204030204"/>
            </a:endParaRPr>
          </a:p>
        </p:txBody>
      </p:sp>
      <p:sp>
        <p:nvSpPr>
          <p:cNvPr id="23" name="object 23"/>
          <p:cNvSpPr/>
          <p:nvPr/>
        </p:nvSpPr>
        <p:spPr>
          <a:xfrm>
            <a:off x="9691116" y="1568196"/>
            <a:ext cx="332740" cy="1164590"/>
          </a:xfrm>
          <a:custGeom>
            <a:avLst/>
            <a:gdLst/>
            <a:ahLst/>
            <a:cxnLst/>
            <a:rect l="l" t="t" r="r" b="b"/>
            <a:pathLst>
              <a:path w="332740" h="1164589">
                <a:moveTo>
                  <a:pt x="0" y="0"/>
                </a:moveTo>
                <a:lnTo>
                  <a:pt x="332231" y="0"/>
                </a:lnTo>
                <a:lnTo>
                  <a:pt x="332231" y="1164336"/>
                </a:lnTo>
                <a:lnTo>
                  <a:pt x="0" y="1164336"/>
                </a:lnTo>
                <a:lnTo>
                  <a:pt x="0" y="0"/>
                </a:lnTo>
                <a:close/>
              </a:path>
            </a:pathLst>
          </a:custGeom>
          <a:solidFill>
            <a:srgbClr val="D9D9D9"/>
          </a:solidFill>
        </p:spPr>
        <p:txBody>
          <a:bodyPr wrap="square" lIns="0" tIns="0" rIns="0" bIns="0" rtlCol="0"/>
          <a:lstStyle/>
          <a:p/>
        </p:txBody>
      </p:sp>
      <p:sp>
        <p:nvSpPr>
          <p:cNvPr id="24" name="object 24"/>
          <p:cNvSpPr/>
          <p:nvPr/>
        </p:nvSpPr>
        <p:spPr>
          <a:xfrm>
            <a:off x="9681057" y="1557934"/>
            <a:ext cx="351790" cy="1183640"/>
          </a:xfrm>
          <a:custGeom>
            <a:avLst/>
            <a:gdLst/>
            <a:ahLst/>
            <a:cxnLst/>
            <a:rect l="l" t="t" r="r" b="b"/>
            <a:pathLst>
              <a:path w="351790" h="1183639">
                <a:moveTo>
                  <a:pt x="351345" y="1183424"/>
                </a:moveTo>
                <a:lnTo>
                  <a:pt x="0" y="1183424"/>
                </a:lnTo>
                <a:lnTo>
                  <a:pt x="0" y="0"/>
                </a:lnTo>
                <a:lnTo>
                  <a:pt x="351345" y="0"/>
                </a:lnTo>
                <a:lnTo>
                  <a:pt x="351345" y="9524"/>
                </a:lnTo>
                <a:lnTo>
                  <a:pt x="19050" y="9524"/>
                </a:lnTo>
                <a:lnTo>
                  <a:pt x="9525" y="19049"/>
                </a:lnTo>
                <a:lnTo>
                  <a:pt x="19050" y="19049"/>
                </a:lnTo>
                <a:lnTo>
                  <a:pt x="19050" y="1164374"/>
                </a:lnTo>
                <a:lnTo>
                  <a:pt x="9525" y="1164374"/>
                </a:lnTo>
                <a:lnTo>
                  <a:pt x="19050" y="1173899"/>
                </a:lnTo>
                <a:lnTo>
                  <a:pt x="351345" y="1173899"/>
                </a:lnTo>
                <a:lnTo>
                  <a:pt x="351345" y="1183424"/>
                </a:lnTo>
                <a:close/>
              </a:path>
              <a:path w="351790" h="1183639">
                <a:moveTo>
                  <a:pt x="19050" y="19049"/>
                </a:moveTo>
                <a:lnTo>
                  <a:pt x="9525" y="19049"/>
                </a:lnTo>
                <a:lnTo>
                  <a:pt x="19050" y="9524"/>
                </a:lnTo>
                <a:lnTo>
                  <a:pt x="19050" y="19049"/>
                </a:lnTo>
                <a:close/>
              </a:path>
              <a:path w="351790" h="1183639">
                <a:moveTo>
                  <a:pt x="332295" y="19049"/>
                </a:moveTo>
                <a:lnTo>
                  <a:pt x="19050" y="19049"/>
                </a:lnTo>
                <a:lnTo>
                  <a:pt x="19050" y="9524"/>
                </a:lnTo>
                <a:lnTo>
                  <a:pt x="332295" y="9524"/>
                </a:lnTo>
                <a:lnTo>
                  <a:pt x="332295" y="19049"/>
                </a:lnTo>
                <a:close/>
              </a:path>
              <a:path w="351790" h="1183639">
                <a:moveTo>
                  <a:pt x="332295" y="1173899"/>
                </a:moveTo>
                <a:lnTo>
                  <a:pt x="332295" y="9524"/>
                </a:lnTo>
                <a:lnTo>
                  <a:pt x="341820" y="19049"/>
                </a:lnTo>
                <a:lnTo>
                  <a:pt x="351345" y="19049"/>
                </a:lnTo>
                <a:lnTo>
                  <a:pt x="351345" y="1164374"/>
                </a:lnTo>
                <a:lnTo>
                  <a:pt x="341820" y="1164374"/>
                </a:lnTo>
                <a:lnTo>
                  <a:pt x="332295" y="1173899"/>
                </a:lnTo>
                <a:close/>
              </a:path>
              <a:path w="351790" h="1183639">
                <a:moveTo>
                  <a:pt x="351345" y="19049"/>
                </a:moveTo>
                <a:lnTo>
                  <a:pt x="341820" y="19049"/>
                </a:lnTo>
                <a:lnTo>
                  <a:pt x="332295" y="9524"/>
                </a:lnTo>
                <a:lnTo>
                  <a:pt x="351345" y="9524"/>
                </a:lnTo>
                <a:lnTo>
                  <a:pt x="351345" y="19049"/>
                </a:lnTo>
                <a:close/>
              </a:path>
              <a:path w="351790" h="1183639">
                <a:moveTo>
                  <a:pt x="19050" y="1173899"/>
                </a:moveTo>
                <a:lnTo>
                  <a:pt x="9525" y="1164374"/>
                </a:lnTo>
                <a:lnTo>
                  <a:pt x="19050" y="1164374"/>
                </a:lnTo>
                <a:lnTo>
                  <a:pt x="19050" y="1173899"/>
                </a:lnTo>
                <a:close/>
              </a:path>
              <a:path w="351790" h="1183639">
                <a:moveTo>
                  <a:pt x="332295" y="1173899"/>
                </a:moveTo>
                <a:lnTo>
                  <a:pt x="19050" y="1173899"/>
                </a:lnTo>
                <a:lnTo>
                  <a:pt x="19050" y="1164374"/>
                </a:lnTo>
                <a:lnTo>
                  <a:pt x="332295" y="1164374"/>
                </a:lnTo>
                <a:lnTo>
                  <a:pt x="332295" y="1173899"/>
                </a:lnTo>
                <a:close/>
              </a:path>
              <a:path w="351790" h="1183639">
                <a:moveTo>
                  <a:pt x="351345" y="1173899"/>
                </a:moveTo>
                <a:lnTo>
                  <a:pt x="332295" y="1173899"/>
                </a:lnTo>
                <a:lnTo>
                  <a:pt x="341820" y="1164374"/>
                </a:lnTo>
                <a:lnTo>
                  <a:pt x="351345" y="1164374"/>
                </a:lnTo>
                <a:lnTo>
                  <a:pt x="351345" y="1173899"/>
                </a:lnTo>
                <a:close/>
              </a:path>
            </a:pathLst>
          </a:custGeom>
          <a:solidFill>
            <a:srgbClr val="C00000"/>
          </a:solidFill>
        </p:spPr>
        <p:txBody>
          <a:bodyPr wrap="square" lIns="0" tIns="0" rIns="0" bIns="0" rtlCol="0"/>
          <a:lstStyle/>
          <a:p/>
        </p:txBody>
      </p:sp>
      <p:sp>
        <p:nvSpPr>
          <p:cNvPr id="25" name="object 25"/>
          <p:cNvSpPr/>
          <p:nvPr/>
        </p:nvSpPr>
        <p:spPr>
          <a:xfrm>
            <a:off x="9710928" y="2525267"/>
            <a:ext cx="297180" cy="207645"/>
          </a:xfrm>
          <a:custGeom>
            <a:avLst/>
            <a:gdLst/>
            <a:ahLst/>
            <a:cxnLst/>
            <a:rect l="l" t="t" r="r" b="b"/>
            <a:pathLst>
              <a:path w="297179" h="207644">
                <a:moveTo>
                  <a:pt x="297179" y="207263"/>
                </a:moveTo>
                <a:lnTo>
                  <a:pt x="0" y="207263"/>
                </a:lnTo>
                <a:lnTo>
                  <a:pt x="149351" y="0"/>
                </a:lnTo>
                <a:lnTo>
                  <a:pt x="297179" y="207263"/>
                </a:lnTo>
                <a:close/>
              </a:path>
            </a:pathLst>
          </a:custGeom>
          <a:solidFill>
            <a:srgbClr val="C00000"/>
          </a:solidFill>
        </p:spPr>
        <p:txBody>
          <a:bodyPr wrap="square" lIns="0" tIns="0" rIns="0" bIns="0" rtlCol="0"/>
          <a:lstStyle/>
          <a:p/>
        </p:txBody>
      </p:sp>
      <p:sp>
        <p:nvSpPr>
          <p:cNvPr id="26" name="object 26"/>
          <p:cNvSpPr/>
          <p:nvPr/>
        </p:nvSpPr>
        <p:spPr>
          <a:xfrm>
            <a:off x="9692005" y="2509596"/>
            <a:ext cx="335280" cy="231775"/>
          </a:xfrm>
          <a:custGeom>
            <a:avLst/>
            <a:gdLst/>
            <a:ahLst/>
            <a:cxnLst/>
            <a:rect l="l" t="t" r="r" b="b"/>
            <a:pathLst>
              <a:path w="335279" h="231775">
                <a:moveTo>
                  <a:pt x="335102" y="231762"/>
                </a:moveTo>
                <a:lnTo>
                  <a:pt x="0" y="231762"/>
                </a:lnTo>
                <a:lnTo>
                  <a:pt x="167551" y="0"/>
                </a:lnTo>
                <a:lnTo>
                  <a:pt x="183333" y="21831"/>
                </a:lnTo>
                <a:lnTo>
                  <a:pt x="159829" y="21831"/>
                </a:lnTo>
                <a:lnTo>
                  <a:pt x="167550" y="32512"/>
                </a:lnTo>
                <a:lnTo>
                  <a:pt x="37278" y="212712"/>
                </a:lnTo>
                <a:lnTo>
                  <a:pt x="18643" y="212712"/>
                </a:lnTo>
                <a:lnTo>
                  <a:pt x="26352" y="227825"/>
                </a:lnTo>
                <a:lnTo>
                  <a:pt x="332255" y="227825"/>
                </a:lnTo>
                <a:lnTo>
                  <a:pt x="335102" y="231762"/>
                </a:lnTo>
                <a:close/>
              </a:path>
              <a:path w="335279" h="231775">
                <a:moveTo>
                  <a:pt x="167550" y="32512"/>
                </a:moveTo>
                <a:lnTo>
                  <a:pt x="159829" y="21831"/>
                </a:lnTo>
                <a:lnTo>
                  <a:pt x="175272" y="21831"/>
                </a:lnTo>
                <a:lnTo>
                  <a:pt x="167550" y="32512"/>
                </a:lnTo>
                <a:close/>
              </a:path>
              <a:path w="335279" h="231775">
                <a:moveTo>
                  <a:pt x="308737" y="227825"/>
                </a:moveTo>
                <a:lnTo>
                  <a:pt x="167550" y="32512"/>
                </a:lnTo>
                <a:lnTo>
                  <a:pt x="175272" y="21831"/>
                </a:lnTo>
                <a:lnTo>
                  <a:pt x="183333" y="21831"/>
                </a:lnTo>
                <a:lnTo>
                  <a:pt x="321330" y="212712"/>
                </a:lnTo>
                <a:lnTo>
                  <a:pt x="316458" y="212712"/>
                </a:lnTo>
                <a:lnTo>
                  <a:pt x="308737" y="227825"/>
                </a:lnTo>
                <a:close/>
              </a:path>
              <a:path w="335279" h="231775">
                <a:moveTo>
                  <a:pt x="26352" y="227825"/>
                </a:moveTo>
                <a:lnTo>
                  <a:pt x="18643" y="212712"/>
                </a:lnTo>
                <a:lnTo>
                  <a:pt x="37278" y="212712"/>
                </a:lnTo>
                <a:lnTo>
                  <a:pt x="26352" y="227825"/>
                </a:lnTo>
                <a:close/>
              </a:path>
              <a:path w="335279" h="231775">
                <a:moveTo>
                  <a:pt x="308737" y="227825"/>
                </a:moveTo>
                <a:lnTo>
                  <a:pt x="26352" y="227825"/>
                </a:lnTo>
                <a:lnTo>
                  <a:pt x="37278" y="212712"/>
                </a:lnTo>
                <a:lnTo>
                  <a:pt x="297812" y="212712"/>
                </a:lnTo>
                <a:lnTo>
                  <a:pt x="308737" y="227825"/>
                </a:lnTo>
                <a:close/>
              </a:path>
              <a:path w="335279" h="231775">
                <a:moveTo>
                  <a:pt x="332255" y="227825"/>
                </a:moveTo>
                <a:lnTo>
                  <a:pt x="308737" y="227825"/>
                </a:lnTo>
                <a:lnTo>
                  <a:pt x="316458" y="212712"/>
                </a:lnTo>
                <a:lnTo>
                  <a:pt x="321330" y="212712"/>
                </a:lnTo>
                <a:lnTo>
                  <a:pt x="332255" y="227825"/>
                </a:lnTo>
                <a:close/>
              </a:path>
            </a:pathLst>
          </a:custGeom>
          <a:solidFill>
            <a:srgbClr val="C00000"/>
          </a:solidFill>
        </p:spPr>
        <p:txBody>
          <a:bodyPr wrap="square" lIns="0" tIns="0" rIns="0" bIns="0" rtlCol="0"/>
          <a:lstStyle/>
          <a:p/>
        </p:txBody>
      </p:sp>
      <p:sp>
        <p:nvSpPr>
          <p:cNvPr id="27" name="object 27"/>
          <p:cNvSpPr/>
          <p:nvPr/>
        </p:nvSpPr>
        <p:spPr>
          <a:xfrm>
            <a:off x="9701783" y="3485388"/>
            <a:ext cx="332740" cy="1164590"/>
          </a:xfrm>
          <a:custGeom>
            <a:avLst/>
            <a:gdLst/>
            <a:ahLst/>
            <a:cxnLst/>
            <a:rect l="l" t="t" r="r" b="b"/>
            <a:pathLst>
              <a:path w="332740" h="1164589">
                <a:moveTo>
                  <a:pt x="0" y="0"/>
                </a:moveTo>
                <a:lnTo>
                  <a:pt x="332231" y="0"/>
                </a:lnTo>
                <a:lnTo>
                  <a:pt x="332231" y="1164336"/>
                </a:lnTo>
                <a:lnTo>
                  <a:pt x="0" y="1164336"/>
                </a:lnTo>
                <a:lnTo>
                  <a:pt x="0" y="0"/>
                </a:lnTo>
                <a:close/>
              </a:path>
            </a:pathLst>
          </a:custGeom>
          <a:solidFill>
            <a:srgbClr val="D9D9D9"/>
          </a:solidFill>
        </p:spPr>
        <p:txBody>
          <a:bodyPr wrap="square" lIns="0" tIns="0" rIns="0" bIns="0" rtlCol="0"/>
          <a:lstStyle/>
          <a:p/>
        </p:txBody>
      </p:sp>
      <p:sp>
        <p:nvSpPr>
          <p:cNvPr id="28" name="object 28"/>
          <p:cNvSpPr/>
          <p:nvPr/>
        </p:nvSpPr>
        <p:spPr>
          <a:xfrm>
            <a:off x="9691713" y="3475329"/>
            <a:ext cx="351790" cy="1183640"/>
          </a:xfrm>
          <a:custGeom>
            <a:avLst/>
            <a:gdLst/>
            <a:ahLst/>
            <a:cxnLst/>
            <a:rect l="l" t="t" r="r" b="b"/>
            <a:pathLst>
              <a:path w="351790" h="1183639">
                <a:moveTo>
                  <a:pt x="351358" y="1183424"/>
                </a:moveTo>
                <a:lnTo>
                  <a:pt x="0" y="1183424"/>
                </a:lnTo>
                <a:lnTo>
                  <a:pt x="0" y="0"/>
                </a:lnTo>
                <a:lnTo>
                  <a:pt x="351358" y="0"/>
                </a:lnTo>
                <a:lnTo>
                  <a:pt x="351358" y="9525"/>
                </a:lnTo>
                <a:lnTo>
                  <a:pt x="19050" y="9525"/>
                </a:lnTo>
                <a:lnTo>
                  <a:pt x="9525" y="19050"/>
                </a:lnTo>
                <a:lnTo>
                  <a:pt x="19050" y="19050"/>
                </a:lnTo>
                <a:lnTo>
                  <a:pt x="19050" y="1164374"/>
                </a:lnTo>
                <a:lnTo>
                  <a:pt x="9525" y="1164374"/>
                </a:lnTo>
                <a:lnTo>
                  <a:pt x="19050" y="1173899"/>
                </a:lnTo>
                <a:lnTo>
                  <a:pt x="351358" y="1173899"/>
                </a:lnTo>
                <a:lnTo>
                  <a:pt x="351358" y="1183424"/>
                </a:lnTo>
                <a:close/>
              </a:path>
              <a:path w="351790" h="1183639">
                <a:moveTo>
                  <a:pt x="19050" y="19050"/>
                </a:moveTo>
                <a:lnTo>
                  <a:pt x="9525" y="19050"/>
                </a:lnTo>
                <a:lnTo>
                  <a:pt x="19050" y="9525"/>
                </a:lnTo>
                <a:lnTo>
                  <a:pt x="19050" y="19050"/>
                </a:lnTo>
                <a:close/>
              </a:path>
              <a:path w="351790" h="1183639">
                <a:moveTo>
                  <a:pt x="332308" y="19050"/>
                </a:moveTo>
                <a:lnTo>
                  <a:pt x="19050" y="19050"/>
                </a:lnTo>
                <a:lnTo>
                  <a:pt x="19050" y="9525"/>
                </a:lnTo>
                <a:lnTo>
                  <a:pt x="332308" y="9525"/>
                </a:lnTo>
                <a:lnTo>
                  <a:pt x="332308" y="19050"/>
                </a:lnTo>
                <a:close/>
              </a:path>
              <a:path w="351790" h="1183639">
                <a:moveTo>
                  <a:pt x="332308" y="1173899"/>
                </a:moveTo>
                <a:lnTo>
                  <a:pt x="332308" y="9525"/>
                </a:lnTo>
                <a:lnTo>
                  <a:pt x="341833" y="19050"/>
                </a:lnTo>
                <a:lnTo>
                  <a:pt x="351358" y="19050"/>
                </a:lnTo>
                <a:lnTo>
                  <a:pt x="351358" y="1164374"/>
                </a:lnTo>
                <a:lnTo>
                  <a:pt x="341833" y="1164374"/>
                </a:lnTo>
                <a:lnTo>
                  <a:pt x="332308" y="1173899"/>
                </a:lnTo>
                <a:close/>
              </a:path>
              <a:path w="351790" h="1183639">
                <a:moveTo>
                  <a:pt x="351358" y="19050"/>
                </a:moveTo>
                <a:lnTo>
                  <a:pt x="341833" y="19050"/>
                </a:lnTo>
                <a:lnTo>
                  <a:pt x="332308" y="9525"/>
                </a:lnTo>
                <a:lnTo>
                  <a:pt x="351358" y="9525"/>
                </a:lnTo>
                <a:lnTo>
                  <a:pt x="351358" y="19050"/>
                </a:lnTo>
                <a:close/>
              </a:path>
              <a:path w="351790" h="1183639">
                <a:moveTo>
                  <a:pt x="19050" y="1173899"/>
                </a:moveTo>
                <a:lnTo>
                  <a:pt x="9525" y="1164374"/>
                </a:lnTo>
                <a:lnTo>
                  <a:pt x="19050" y="1164374"/>
                </a:lnTo>
                <a:lnTo>
                  <a:pt x="19050" y="1173899"/>
                </a:lnTo>
                <a:close/>
              </a:path>
              <a:path w="351790" h="1183639">
                <a:moveTo>
                  <a:pt x="332308" y="1173899"/>
                </a:moveTo>
                <a:lnTo>
                  <a:pt x="19050" y="1173899"/>
                </a:lnTo>
                <a:lnTo>
                  <a:pt x="19050" y="1164374"/>
                </a:lnTo>
                <a:lnTo>
                  <a:pt x="332308" y="1164374"/>
                </a:lnTo>
                <a:lnTo>
                  <a:pt x="332308" y="1173899"/>
                </a:lnTo>
                <a:close/>
              </a:path>
              <a:path w="351790" h="1183639">
                <a:moveTo>
                  <a:pt x="351358" y="1173899"/>
                </a:moveTo>
                <a:lnTo>
                  <a:pt x="332308" y="1173899"/>
                </a:lnTo>
                <a:lnTo>
                  <a:pt x="341833" y="1164374"/>
                </a:lnTo>
                <a:lnTo>
                  <a:pt x="351358" y="1164374"/>
                </a:lnTo>
                <a:lnTo>
                  <a:pt x="351358" y="1173899"/>
                </a:lnTo>
                <a:close/>
              </a:path>
            </a:pathLst>
          </a:custGeom>
          <a:solidFill>
            <a:srgbClr val="C00000"/>
          </a:solidFill>
        </p:spPr>
        <p:txBody>
          <a:bodyPr wrap="square" lIns="0" tIns="0" rIns="0" bIns="0" rtlCol="0"/>
          <a:lstStyle/>
          <a:p/>
        </p:txBody>
      </p:sp>
      <p:sp>
        <p:nvSpPr>
          <p:cNvPr id="29" name="object 29"/>
          <p:cNvSpPr/>
          <p:nvPr/>
        </p:nvSpPr>
        <p:spPr>
          <a:xfrm>
            <a:off x="9721595" y="4443984"/>
            <a:ext cx="297180" cy="205740"/>
          </a:xfrm>
          <a:custGeom>
            <a:avLst/>
            <a:gdLst/>
            <a:ahLst/>
            <a:cxnLst/>
            <a:rect l="l" t="t" r="r" b="b"/>
            <a:pathLst>
              <a:path w="297179" h="205739">
                <a:moveTo>
                  <a:pt x="297179" y="205739"/>
                </a:moveTo>
                <a:lnTo>
                  <a:pt x="0" y="205739"/>
                </a:lnTo>
                <a:lnTo>
                  <a:pt x="149351" y="0"/>
                </a:lnTo>
                <a:lnTo>
                  <a:pt x="297179" y="205739"/>
                </a:lnTo>
                <a:close/>
              </a:path>
            </a:pathLst>
          </a:custGeom>
          <a:solidFill>
            <a:srgbClr val="C00000"/>
          </a:solidFill>
        </p:spPr>
        <p:txBody>
          <a:bodyPr wrap="square" lIns="0" tIns="0" rIns="0" bIns="0" rtlCol="0"/>
          <a:lstStyle/>
          <a:p/>
        </p:txBody>
      </p:sp>
      <p:sp>
        <p:nvSpPr>
          <p:cNvPr id="30" name="object 30"/>
          <p:cNvSpPr/>
          <p:nvPr/>
        </p:nvSpPr>
        <p:spPr>
          <a:xfrm>
            <a:off x="9702660" y="4426978"/>
            <a:ext cx="335280" cy="231775"/>
          </a:xfrm>
          <a:custGeom>
            <a:avLst/>
            <a:gdLst/>
            <a:ahLst/>
            <a:cxnLst/>
            <a:rect l="l" t="t" r="r" b="b"/>
            <a:pathLst>
              <a:path w="335279" h="231775">
                <a:moveTo>
                  <a:pt x="335102" y="231775"/>
                </a:moveTo>
                <a:lnTo>
                  <a:pt x="0" y="231775"/>
                </a:lnTo>
                <a:lnTo>
                  <a:pt x="167551" y="0"/>
                </a:lnTo>
                <a:lnTo>
                  <a:pt x="183342" y="21843"/>
                </a:lnTo>
                <a:lnTo>
                  <a:pt x="159829" y="21843"/>
                </a:lnTo>
                <a:lnTo>
                  <a:pt x="167551" y="32525"/>
                </a:lnTo>
                <a:lnTo>
                  <a:pt x="37281" y="212725"/>
                </a:lnTo>
                <a:lnTo>
                  <a:pt x="18643" y="212725"/>
                </a:lnTo>
                <a:lnTo>
                  <a:pt x="26365" y="227825"/>
                </a:lnTo>
                <a:lnTo>
                  <a:pt x="332246" y="227825"/>
                </a:lnTo>
                <a:lnTo>
                  <a:pt x="335102" y="231775"/>
                </a:lnTo>
                <a:close/>
              </a:path>
              <a:path w="335279" h="231775">
                <a:moveTo>
                  <a:pt x="167551" y="32525"/>
                </a:moveTo>
                <a:lnTo>
                  <a:pt x="159829" y="21843"/>
                </a:lnTo>
                <a:lnTo>
                  <a:pt x="175272" y="21843"/>
                </a:lnTo>
                <a:lnTo>
                  <a:pt x="167551" y="32525"/>
                </a:lnTo>
                <a:close/>
              </a:path>
              <a:path w="335279" h="231775">
                <a:moveTo>
                  <a:pt x="308736" y="227825"/>
                </a:moveTo>
                <a:lnTo>
                  <a:pt x="167551" y="32525"/>
                </a:lnTo>
                <a:lnTo>
                  <a:pt x="175272" y="21843"/>
                </a:lnTo>
                <a:lnTo>
                  <a:pt x="183342" y="21843"/>
                </a:lnTo>
                <a:lnTo>
                  <a:pt x="321330" y="212725"/>
                </a:lnTo>
                <a:lnTo>
                  <a:pt x="316458" y="212725"/>
                </a:lnTo>
                <a:lnTo>
                  <a:pt x="308736" y="227825"/>
                </a:lnTo>
                <a:close/>
              </a:path>
              <a:path w="335279" h="231775">
                <a:moveTo>
                  <a:pt x="26365" y="227825"/>
                </a:moveTo>
                <a:lnTo>
                  <a:pt x="18643" y="212725"/>
                </a:lnTo>
                <a:lnTo>
                  <a:pt x="37281" y="212725"/>
                </a:lnTo>
                <a:lnTo>
                  <a:pt x="26365" y="227825"/>
                </a:lnTo>
                <a:close/>
              </a:path>
              <a:path w="335279" h="231775">
                <a:moveTo>
                  <a:pt x="308736" y="227825"/>
                </a:moveTo>
                <a:lnTo>
                  <a:pt x="26365" y="227825"/>
                </a:lnTo>
                <a:lnTo>
                  <a:pt x="37281" y="212725"/>
                </a:lnTo>
                <a:lnTo>
                  <a:pt x="297820" y="212725"/>
                </a:lnTo>
                <a:lnTo>
                  <a:pt x="308736" y="227825"/>
                </a:lnTo>
                <a:close/>
              </a:path>
              <a:path w="335279" h="231775">
                <a:moveTo>
                  <a:pt x="332246" y="227825"/>
                </a:moveTo>
                <a:lnTo>
                  <a:pt x="308736" y="227825"/>
                </a:lnTo>
                <a:lnTo>
                  <a:pt x="316458" y="212725"/>
                </a:lnTo>
                <a:lnTo>
                  <a:pt x="321330" y="212725"/>
                </a:lnTo>
                <a:lnTo>
                  <a:pt x="332246" y="227825"/>
                </a:lnTo>
                <a:close/>
              </a:path>
            </a:pathLst>
          </a:custGeom>
          <a:solidFill>
            <a:srgbClr val="C00000"/>
          </a:solidFill>
        </p:spPr>
        <p:txBody>
          <a:bodyPr wrap="square" lIns="0" tIns="0" rIns="0" bIns="0" rtlCol="0"/>
          <a:lstStyle/>
          <a:p/>
        </p:txBody>
      </p:sp>
      <p:sp>
        <p:nvSpPr>
          <p:cNvPr id="31" name="object 31"/>
          <p:cNvSpPr/>
          <p:nvPr/>
        </p:nvSpPr>
        <p:spPr>
          <a:xfrm>
            <a:off x="10216756" y="1553171"/>
            <a:ext cx="1141095" cy="3107055"/>
          </a:xfrm>
          <a:custGeom>
            <a:avLst/>
            <a:gdLst/>
            <a:ahLst/>
            <a:cxnLst/>
            <a:rect l="l" t="t" r="r" b="b"/>
            <a:pathLst>
              <a:path w="1141095" h="3107054">
                <a:moveTo>
                  <a:pt x="1140853" y="3106635"/>
                </a:moveTo>
                <a:lnTo>
                  <a:pt x="0" y="3106635"/>
                </a:lnTo>
                <a:lnTo>
                  <a:pt x="0" y="0"/>
                </a:lnTo>
                <a:lnTo>
                  <a:pt x="1140853" y="0"/>
                </a:lnTo>
                <a:lnTo>
                  <a:pt x="1140853" y="14287"/>
                </a:lnTo>
                <a:lnTo>
                  <a:pt x="28575" y="14287"/>
                </a:lnTo>
                <a:lnTo>
                  <a:pt x="14287" y="28574"/>
                </a:lnTo>
                <a:lnTo>
                  <a:pt x="28575" y="28574"/>
                </a:lnTo>
                <a:lnTo>
                  <a:pt x="28575" y="3078060"/>
                </a:lnTo>
                <a:lnTo>
                  <a:pt x="14287" y="3078060"/>
                </a:lnTo>
                <a:lnTo>
                  <a:pt x="28575" y="3092348"/>
                </a:lnTo>
                <a:lnTo>
                  <a:pt x="1140853" y="3092348"/>
                </a:lnTo>
                <a:lnTo>
                  <a:pt x="1140853" y="3106635"/>
                </a:lnTo>
                <a:close/>
              </a:path>
              <a:path w="1141095" h="3107054">
                <a:moveTo>
                  <a:pt x="28575" y="28574"/>
                </a:moveTo>
                <a:lnTo>
                  <a:pt x="14287" y="28574"/>
                </a:lnTo>
                <a:lnTo>
                  <a:pt x="28575" y="14287"/>
                </a:lnTo>
                <a:lnTo>
                  <a:pt x="28575" y="28574"/>
                </a:lnTo>
                <a:close/>
              </a:path>
              <a:path w="1141095" h="3107054">
                <a:moveTo>
                  <a:pt x="1112278" y="28574"/>
                </a:moveTo>
                <a:lnTo>
                  <a:pt x="28575" y="28574"/>
                </a:lnTo>
                <a:lnTo>
                  <a:pt x="28575" y="14287"/>
                </a:lnTo>
                <a:lnTo>
                  <a:pt x="1112278" y="14287"/>
                </a:lnTo>
                <a:lnTo>
                  <a:pt x="1112278" y="28574"/>
                </a:lnTo>
                <a:close/>
              </a:path>
              <a:path w="1141095" h="3107054">
                <a:moveTo>
                  <a:pt x="1112278" y="3092348"/>
                </a:moveTo>
                <a:lnTo>
                  <a:pt x="1112278" y="14287"/>
                </a:lnTo>
                <a:lnTo>
                  <a:pt x="1126566" y="28574"/>
                </a:lnTo>
                <a:lnTo>
                  <a:pt x="1140853" y="28574"/>
                </a:lnTo>
                <a:lnTo>
                  <a:pt x="1140853" y="3078060"/>
                </a:lnTo>
                <a:lnTo>
                  <a:pt x="1126566" y="3078060"/>
                </a:lnTo>
                <a:lnTo>
                  <a:pt x="1112278" y="3092348"/>
                </a:lnTo>
                <a:close/>
              </a:path>
              <a:path w="1141095" h="3107054">
                <a:moveTo>
                  <a:pt x="1140853" y="28574"/>
                </a:moveTo>
                <a:lnTo>
                  <a:pt x="1126566" y="28574"/>
                </a:lnTo>
                <a:lnTo>
                  <a:pt x="1112278" y="14287"/>
                </a:lnTo>
                <a:lnTo>
                  <a:pt x="1140853" y="14287"/>
                </a:lnTo>
                <a:lnTo>
                  <a:pt x="1140853" y="28574"/>
                </a:lnTo>
                <a:close/>
              </a:path>
              <a:path w="1141095" h="3107054">
                <a:moveTo>
                  <a:pt x="28575" y="3092348"/>
                </a:moveTo>
                <a:lnTo>
                  <a:pt x="14287" y="3078060"/>
                </a:lnTo>
                <a:lnTo>
                  <a:pt x="28575" y="3078060"/>
                </a:lnTo>
                <a:lnTo>
                  <a:pt x="28575" y="3092348"/>
                </a:lnTo>
                <a:close/>
              </a:path>
              <a:path w="1141095" h="3107054">
                <a:moveTo>
                  <a:pt x="1112278" y="3092348"/>
                </a:moveTo>
                <a:lnTo>
                  <a:pt x="28575" y="3092348"/>
                </a:lnTo>
                <a:lnTo>
                  <a:pt x="28575" y="3078060"/>
                </a:lnTo>
                <a:lnTo>
                  <a:pt x="1112278" y="3078060"/>
                </a:lnTo>
                <a:lnTo>
                  <a:pt x="1112278" y="3092348"/>
                </a:lnTo>
                <a:close/>
              </a:path>
              <a:path w="1141095" h="3107054">
                <a:moveTo>
                  <a:pt x="1140853" y="3092348"/>
                </a:moveTo>
                <a:lnTo>
                  <a:pt x="1112278" y="3092348"/>
                </a:lnTo>
                <a:lnTo>
                  <a:pt x="1126566" y="3078060"/>
                </a:lnTo>
                <a:lnTo>
                  <a:pt x="1140853" y="3078060"/>
                </a:lnTo>
                <a:lnTo>
                  <a:pt x="1140853" y="3092348"/>
                </a:lnTo>
                <a:close/>
              </a:path>
            </a:pathLst>
          </a:custGeom>
          <a:solidFill>
            <a:srgbClr val="C00000"/>
          </a:solidFill>
        </p:spPr>
        <p:txBody>
          <a:bodyPr wrap="square" lIns="0" tIns="0" rIns="0" bIns="0" rtlCol="0"/>
          <a:lstStyle/>
          <a:p/>
        </p:txBody>
      </p:sp>
      <p:sp>
        <p:nvSpPr>
          <p:cNvPr id="32" name="object 32"/>
          <p:cNvSpPr txBox="1"/>
          <p:nvPr/>
        </p:nvSpPr>
        <p:spPr>
          <a:xfrm>
            <a:off x="10501909" y="1588833"/>
            <a:ext cx="52768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C00000"/>
                </a:solidFill>
                <a:latin typeface="Calibri" panose="020F0502020204030204"/>
                <a:cs typeface="Calibri" panose="020F0502020204030204"/>
              </a:rPr>
              <a:t>EX</a:t>
            </a:r>
            <a:r>
              <a:rPr sz="2400" dirty="0">
                <a:solidFill>
                  <a:srgbClr val="C00000"/>
                </a:solidFill>
                <a:latin typeface="Calibri" panose="020F0502020204030204"/>
                <a:cs typeface="Calibri" panose="020F0502020204030204"/>
              </a:rPr>
              <a:t>U</a:t>
            </a:r>
            <a:endParaRPr sz="2400">
              <a:latin typeface="Calibri" panose="020F0502020204030204"/>
              <a:cs typeface="Calibri" panose="020F0502020204030204"/>
            </a:endParaRPr>
          </a:p>
        </p:txBody>
      </p:sp>
      <p:sp>
        <p:nvSpPr>
          <p:cNvPr id="33" name="object 33"/>
          <p:cNvSpPr/>
          <p:nvPr/>
        </p:nvSpPr>
        <p:spPr>
          <a:xfrm>
            <a:off x="8305800" y="3480815"/>
            <a:ext cx="868680" cy="497205"/>
          </a:xfrm>
          <a:custGeom>
            <a:avLst/>
            <a:gdLst/>
            <a:ahLst/>
            <a:cxnLst/>
            <a:rect l="l" t="t" r="r" b="b"/>
            <a:pathLst>
              <a:path w="868679" h="497204">
                <a:moveTo>
                  <a:pt x="0" y="0"/>
                </a:moveTo>
                <a:lnTo>
                  <a:pt x="868679" y="0"/>
                </a:lnTo>
                <a:lnTo>
                  <a:pt x="868679" y="496824"/>
                </a:lnTo>
                <a:lnTo>
                  <a:pt x="0" y="496824"/>
                </a:lnTo>
                <a:lnTo>
                  <a:pt x="0" y="0"/>
                </a:lnTo>
                <a:close/>
              </a:path>
            </a:pathLst>
          </a:custGeom>
          <a:solidFill>
            <a:srgbClr val="D9D9D9"/>
          </a:solidFill>
        </p:spPr>
        <p:txBody>
          <a:bodyPr wrap="square" lIns="0" tIns="0" rIns="0" bIns="0" rtlCol="0"/>
          <a:lstStyle/>
          <a:p/>
        </p:txBody>
      </p:sp>
      <p:sp>
        <p:nvSpPr>
          <p:cNvPr id="34" name="object 34"/>
          <p:cNvSpPr/>
          <p:nvPr/>
        </p:nvSpPr>
        <p:spPr>
          <a:xfrm>
            <a:off x="8299208" y="3474808"/>
            <a:ext cx="882650" cy="509905"/>
          </a:xfrm>
          <a:custGeom>
            <a:avLst/>
            <a:gdLst/>
            <a:ahLst/>
            <a:cxnLst/>
            <a:rect l="l" t="t" r="r" b="b"/>
            <a:pathLst>
              <a:path w="882650" h="509904">
                <a:moveTo>
                  <a:pt x="882332" y="509777"/>
                </a:moveTo>
                <a:lnTo>
                  <a:pt x="0" y="509777"/>
                </a:lnTo>
                <a:lnTo>
                  <a:pt x="0" y="0"/>
                </a:lnTo>
                <a:lnTo>
                  <a:pt x="882332" y="0"/>
                </a:lnTo>
                <a:lnTo>
                  <a:pt x="882332" y="6350"/>
                </a:lnTo>
                <a:lnTo>
                  <a:pt x="12700" y="6350"/>
                </a:lnTo>
                <a:lnTo>
                  <a:pt x="6350" y="12700"/>
                </a:lnTo>
                <a:lnTo>
                  <a:pt x="12700" y="12700"/>
                </a:lnTo>
                <a:lnTo>
                  <a:pt x="12700" y="497077"/>
                </a:lnTo>
                <a:lnTo>
                  <a:pt x="6350" y="497077"/>
                </a:lnTo>
                <a:lnTo>
                  <a:pt x="12700" y="503427"/>
                </a:lnTo>
                <a:lnTo>
                  <a:pt x="882332" y="503427"/>
                </a:lnTo>
                <a:lnTo>
                  <a:pt x="882332" y="509777"/>
                </a:lnTo>
                <a:close/>
              </a:path>
              <a:path w="882650" h="509904">
                <a:moveTo>
                  <a:pt x="12700" y="12700"/>
                </a:moveTo>
                <a:lnTo>
                  <a:pt x="6350" y="12700"/>
                </a:lnTo>
                <a:lnTo>
                  <a:pt x="12700" y="6350"/>
                </a:lnTo>
                <a:lnTo>
                  <a:pt x="12700" y="12700"/>
                </a:lnTo>
                <a:close/>
              </a:path>
              <a:path w="882650" h="509904">
                <a:moveTo>
                  <a:pt x="869632" y="12700"/>
                </a:moveTo>
                <a:lnTo>
                  <a:pt x="12700" y="12700"/>
                </a:lnTo>
                <a:lnTo>
                  <a:pt x="12700" y="6350"/>
                </a:lnTo>
                <a:lnTo>
                  <a:pt x="869632" y="6350"/>
                </a:lnTo>
                <a:lnTo>
                  <a:pt x="869632" y="12700"/>
                </a:lnTo>
                <a:close/>
              </a:path>
              <a:path w="882650" h="509904">
                <a:moveTo>
                  <a:pt x="869632" y="503427"/>
                </a:moveTo>
                <a:lnTo>
                  <a:pt x="869632" y="6350"/>
                </a:lnTo>
                <a:lnTo>
                  <a:pt x="875982" y="12700"/>
                </a:lnTo>
                <a:lnTo>
                  <a:pt x="882332" y="12700"/>
                </a:lnTo>
                <a:lnTo>
                  <a:pt x="882332" y="497077"/>
                </a:lnTo>
                <a:lnTo>
                  <a:pt x="875982" y="497077"/>
                </a:lnTo>
                <a:lnTo>
                  <a:pt x="869632" y="503427"/>
                </a:lnTo>
                <a:close/>
              </a:path>
              <a:path w="882650" h="509904">
                <a:moveTo>
                  <a:pt x="882332" y="12700"/>
                </a:moveTo>
                <a:lnTo>
                  <a:pt x="875982" y="12700"/>
                </a:lnTo>
                <a:lnTo>
                  <a:pt x="869632" y="6350"/>
                </a:lnTo>
                <a:lnTo>
                  <a:pt x="882332" y="6350"/>
                </a:lnTo>
                <a:lnTo>
                  <a:pt x="882332" y="12700"/>
                </a:lnTo>
                <a:close/>
              </a:path>
              <a:path w="882650" h="509904">
                <a:moveTo>
                  <a:pt x="12700" y="503427"/>
                </a:moveTo>
                <a:lnTo>
                  <a:pt x="6350" y="497077"/>
                </a:lnTo>
                <a:lnTo>
                  <a:pt x="12700" y="497077"/>
                </a:lnTo>
                <a:lnTo>
                  <a:pt x="12700" y="503427"/>
                </a:lnTo>
                <a:close/>
              </a:path>
              <a:path w="882650" h="509904">
                <a:moveTo>
                  <a:pt x="869632" y="503427"/>
                </a:moveTo>
                <a:lnTo>
                  <a:pt x="12700" y="503427"/>
                </a:lnTo>
                <a:lnTo>
                  <a:pt x="12700" y="497077"/>
                </a:lnTo>
                <a:lnTo>
                  <a:pt x="869632" y="497077"/>
                </a:lnTo>
                <a:lnTo>
                  <a:pt x="869632" y="503427"/>
                </a:lnTo>
                <a:close/>
              </a:path>
              <a:path w="882650" h="509904">
                <a:moveTo>
                  <a:pt x="882332" y="503427"/>
                </a:moveTo>
                <a:lnTo>
                  <a:pt x="869632" y="503427"/>
                </a:lnTo>
                <a:lnTo>
                  <a:pt x="875982" y="497077"/>
                </a:lnTo>
                <a:lnTo>
                  <a:pt x="882332" y="497077"/>
                </a:lnTo>
                <a:lnTo>
                  <a:pt x="882332" y="503427"/>
                </a:lnTo>
                <a:close/>
              </a:path>
            </a:pathLst>
          </a:custGeom>
          <a:solidFill>
            <a:srgbClr val="C00000"/>
          </a:solidFill>
        </p:spPr>
        <p:txBody>
          <a:bodyPr wrap="square" lIns="0" tIns="0" rIns="0" bIns="0" rtlCol="0"/>
          <a:lstStyle/>
          <a:p/>
        </p:txBody>
      </p:sp>
      <p:sp>
        <p:nvSpPr>
          <p:cNvPr id="35" name="object 35"/>
          <p:cNvSpPr txBox="1"/>
          <p:nvPr/>
        </p:nvSpPr>
        <p:spPr>
          <a:xfrm>
            <a:off x="8305800" y="3492589"/>
            <a:ext cx="868680" cy="453390"/>
          </a:xfrm>
          <a:prstGeom prst="rect">
            <a:avLst/>
          </a:prstGeom>
        </p:spPr>
        <p:txBody>
          <a:bodyPr vert="horz" wrap="square" lIns="0" tIns="13335" rIns="0" bIns="0" rtlCol="0">
            <a:spAutoFit/>
          </a:bodyPr>
          <a:lstStyle/>
          <a:p>
            <a:pPr marL="156210" marR="147955" indent="108585">
              <a:lnSpc>
                <a:spcPct val="100000"/>
              </a:lnSpc>
              <a:spcBef>
                <a:spcPts val="105"/>
              </a:spcBef>
            </a:pPr>
            <a:r>
              <a:rPr sz="1400" b="1" spc="-5" dirty="0">
                <a:solidFill>
                  <a:srgbClr val="C00000"/>
                </a:solidFill>
                <a:latin typeface="Calibri" panose="020F0502020204030204"/>
                <a:cs typeface="Calibri" panose="020F0502020204030204"/>
              </a:rPr>
              <a:t>Mini  </a:t>
            </a:r>
            <a:r>
              <a:rPr sz="1400" b="1" spc="-5" dirty="0">
                <a:solidFill>
                  <a:srgbClr val="C00000"/>
                </a:solidFill>
                <a:latin typeface="Calibri" panose="020F0502020204030204"/>
                <a:cs typeface="Calibri" panose="020F0502020204030204"/>
              </a:rPr>
              <a:t>De</a:t>
            </a:r>
            <a:r>
              <a:rPr sz="1400" b="1" spc="-15" dirty="0">
                <a:solidFill>
                  <a:srgbClr val="C00000"/>
                </a:solidFill>
                <a:latin typeface="Calibri" panose="020F0502020204030204"/>
                <a:cs typeface="Calibri" panose="020F0502020204030204"/>
              </a:rPr>
              <a:t>c</a:t>
            </a:r>
            <a:r>
              <a:rPr sz="1400" b="1" spc="-5" dirty="0">
                <a:solidFill>
                  <a:srgbClr val="C00000"/>
                </a:solidFill>
                <a:latin typeface="Calibri" panose="020F0502020204030204"/>
                <a:cs typeface="Calibri" panose="020F0502020204030204"/>
              </a:rPr>
              <a:t>od</a:t>
            </a:r>
            <a:r>
              <a:rPr sz="1400" b="1" dirty="0">
                <a:solidFill>
                  <a:srgbClr val="C00000"/>
                </a:solidFill>
                <a:latin typeface="Calibri" panose="020F0502020204030204"/>
                <a:cs typeface="Calibri" panose="020F0502020204030204"/>
              </a:rPr>
              <a:t>e</a:t>
            </a:r>
            <a:endParaRPr sz="1400">
              <a:latin typeface="Calibri" panose="020F0502020204030204"/>
              <a:cs typeface="Calibri" panose="020F0502020204030204"/>
            </a:endParaRPr>
          </a:p>
        </p:txBody>
      </p:sp>
      <p:sp>
        <p:nvSpPr>
          <p:cNvPr id="36" name="object 36"/>
          <p:cNvSpPr/>
          <p:nvPr/>
        </p:nvSpPr>
        <p:spPr>
          <a:xfrm>
            <a:off x="7697723" y="2631948"/>
            <a:ext cx="1477010" cy="622300"/>
          </a:xfrm>
          <a:custGeom>
            <a:avLst/>
            <a:gdLst/>
            <a:ahLst/>
            <a:cxnLst/>
            <a:rect l="l" t="t" r="r" b="b"/>
            <a:pathLst>
              <a:path w="1477009" h="622300">
                <a:moveTo>
                  <a:pt x="0" y="0"/>
                </a:moveTo>
                <a:lnTo>
                  <a:pt x="1476755" y="0"/>
                </a:lnTo>
                <a:lnTo>
                  <a:pt x="1476755" y="621791"/>
                </a:lnTo>
                <a:lnTo>
                  <a:pt x="0" y="621791"/>
                </a:lnTo>
                <a:lnTo>
                  <a:pt x="0" y="0"/>
                </a:lnTo>
                <a:close/>
              </a:path>
            </a:pathLst>
          </a:custGeom>
          <a:solidFill>
            <a:srgbClr val="D9D9D9"/>
          </a:solidFill>
        </p:spPr>
        <p:txBody>
          <a:bodyPr wrap="square" lIns="0" tIns="0" rIns="0" bIns="0" rtlCol="0"/>
          <a:lstStyle/>
          <a:p/>
        </p:txBody>
      </p:sp>
      <p:sp>
        <p:nvSpPr>
          <p:cNvPr id="37" name="object 37"/>
          <p:cNvSpPr/>
          <p:nvPr/>
        </p:nvSpPr>
        <p:spPr>
          <a:xfrm>
            <a:off x="7691666" y="2624963"/>
            <a:ext cx="1490345" cy="635000"/>
          </a:xfrm>
          <a:custGeom>
            <a:avLst/>
            <a:gdLst/>
            <a:ahLst/>
            <a:cxnLst/>
            <a:rect l="l" t="t" r="r" b="b"/>
            <a:pathLst>
              <a:path w="1490345" h="635000">
                <a:moveTo>
                  <a:pt x="1489875" y="634974"/>
                </a:moveTo>
                <a:lnTo>
                  <a:pt x="0" y="634974"/>
                </a:lnTo>
                <a:lnTo>
                  <a:pt x="0" y="0"/>
                </a:lnTo>
                <a:lnTo>
                  <a:pt x="1489875" y="0"/>
                </a:lnTo>
                <a:lnTo>
                  <a:pt x="1489875" y="6350"/>
                </a:lnTo>
                <a:lnTo>
                  <a:pt x="12700" y="6350"/>
                </a:lnTo>
                <a:lnTo>
                  <a:pt x="6350" y="12700"/>
                </a:lnTo>
                <a:lnTo>
                  <a:pt x="12700" y="12700"/>
                </a:lnTo>
                <a:lnTo>
                  <a:pt x="12700" y="622274"/>
                </a:lnTo>
                <a:lnTo>
                  <a:pt x="6350" y="622274"/>
                </a:lnTo>
                <a:lnTo>
                  <a:pt x="12700" y="628624"/>
                </a:lnTo>
                <a:lnTo>
                  <a:pt x="1489875" y="628624"/>
                </a:lnTo>
                <a:lnTo>
                  <a:pt x="1489875" y="634974"/>
                </a:lnTo>
                <a:close/>
              </a:path>
              <a:path w="1490345" h="635000">
                <a:moveTo>
                  <a:pt x="12700" y="12700"/>
                </a:moveTo>
                <a:lnTo>
                  <a:pt x="6350" y="12700"/>
                </a:lnTo>
                <a:lnTo>
                  <a:pt x="12700" y="6350"/>
                </a:lnTo>
                <a:lnTo>
                  <a:pt x="12700" y="12700"/>
                </a:lnTo>
                <a:close/>
              </a:path>
              <a:path w="1490345" h="635000">
                <a:moveTo>
                  <a:pt x="1477175" y="12700"/>
                </a:moveTo>
                <a:lnTo>
                  <a:pt x="12700" y="12700"/>
                </a:lnTo>
                <a:lnTo>
                  <a:pt x="12700" y="6350"/>
                </a:lnTo>
                <a:lnTo>
                  <a:pt x="1477175" y="6350"/>
                </a:lnTo>
                <a:lnTo>
                  <a:pt x="1477175" y="12700"/>
                </a:lnTo>
                <a:close/>
              </a:path>
              <a:path w="1490345" h="635000">
                <a:moveTo>
                  <a:pt x="1477175" y="628624"/>
                </a:moveTo>
                <a:lnTo>
                  <a:pt x="1477175" y="6350"/>
                </a:lnTo>
                <a:lnTo>
                  <a:pt x="1483525" y="12700"/>
                </a:lnTo>
                <a:lnTo>
                  <a:pt x="1489875" y="12700"/>
                </a:lnTo>
                <a:lnTo>
                  <a:pt x="1489875" y="622274"/>
                </a:lnTo>
                <a:lnTo>
                  <a:pt x="1483525" y="622274"/>
                </a:lnTo>
                <a:lnTo>
                  <a:pt x="1477175" y="628624"/>
                </a:lnTo>
                <a:close/>
              </a:path>
              <a:path w="1490345" h="635000">
                <a:moveTo>
                  <a:pt x="1489875" y="12700"/>
                </a:moveTo>
                <a:lnTo>
                  <a:pt x="1483525" y="12700"/>
                </a:lnTo>
                <a:lnTo>
                  <a:pt x="1477175" y="6350"/>
                </a:lnTo>
                <a:lnTo>
                  <a:pt x="1489875" y="6350"/>
                </a:lnTo>
                <a:lnTo>
                  <a:pt x="1489875" y="12700"/>
                </a:lnTo>
                <a:close/>
              </a:path>
              <a:path w="1490345" h="635000">
                <a:moveTo>
                  <a:pt x="12700" y="628624"/>
                </a:moveTo>
                <a:lnTo>
                  <a:pt x="6350" y="622274"/>
                </a:lnTo>
                <a:lnTo>
                  <a:pt x="12700" y="622274"/>
                </a:lnTo>
                <a:lnTo>
                  <a:pt x="12700" y="628624"/>
                </a:lnTo>
                <a:close/>
              </a:path>
              <a:path w="1490345" h="635000">
                <a:moveTo>
                  <a:pt x="1477175" y="628624"/>
                </a:moveTo>
                <a:lnTo>
                  <a:pt x="12700" y="628624"/>
                </a:lnTo>
                <a:lnTo>
                  <a:pt x="12700" y="622274"/>
                </a:lnTo>
                <a:lnTo>
                  <a:pt x="1477175" y="622274"/>
                </a:lnTo>
                <a:lnTo>
                  <a:pt x="1477175" y="628624"/>
                </a:lnTo>
                <a:close/>
              </a:path>
              <a:path w="1490345" h="635000">
                <a:moveTo>
                  <a:pt x="1489875" y="628624"/>
                </a:moveTo>
                <a:lnTo>
                  <a:pt x="1477175" y="628624"/>
                </a:lnTo>
                <a:lnTo>
                  <a:pt x="1483525" y="622274"/>
                </a:lnTo>
                <a:lnTo>
                  <a:pt x="1489875" y="622274"/>
                </a:lnTo>
                <a:lnTo>
                  <a:pt x="1489875" y="628624"/>
                </a:lnTo>
                <a:close/>
              </a:path>
            </a:pathLst>
          </a:custGeom>
          <a:solidFill>
            <a:srgbClr val="C00000"/>
          </a:solidFill>
        </p:spPr>
        <p:txBody>
          <a:bodyPr wrap="square" lIns="0" tIns="0" rIns="0" bIns="0" rtlCol="0"/>
          <a:lstStyle/>
          <a:p/>
        </p:txBody>
      </p:sp>
      <p:sp>
        <p:nvSpPr>
          <p:cNvPr id="38" name="object 38"/>
          <p:cNvSpPr txBox="1"/>
          <p:nvPr/>
        </p:nvSpPr>
        <p:spPr>
          <a:xfrm>
            <a:off x="7697723" y="2828163"/>
            <a:ext cx="1477010" cy="208279"/>
          </a:xfrm>
          <a:prstGeom prst="rect">
            <a:avLst/>
          </a:prstGeom>
        </p:spPr>
        <p:txBody>
          <a:bodyPr vert="horz" wrap="square" lIns="0" tIns="12700" rIns="0" bIns="0" rtlCol="0">
            <a:spAutoFit/>
          </a:bodyPr>
          <a:lstStyle/>
          <a:p>
            <a:pPr marL="484505">
              <a:lnSpc>
                <a:spcPct val="100000"/>
              </a:lnSpc>
              <a:spcBef>
                <a:spcPts val="100"/>
              </a:spcBef>
            </a:pPr>
            <a:r>
              <a:rPr sz="1200" b="1" dirty="0">
                <a:solidFill>
                  <a:srgbClr val="C00000"/>
                </a:solidFill>
                <a:latin typeface="微软雅黑" panose="020B0503020204020204" charset="-122"/>
                <a:cs typeface="微软雅黑" panose="020B0503020204020204" charset="-122"/>
              </a:rPr>
              <a:t>PC生成</a:t>
            </a:r>
            <a:endParaRPr sz="1200">
              <a:latin typeface="微软雅黑" panose="020B0503020204020204" charset="-122"/>
              <a:cs typeface="微软雅黑" panose="020B0503020204020204" charset="-122"/>
            </a:endParaRPr>
          </a:p>
        </p:txBody>
      </p:sp>
      <p:sp>
        <p:nvSpPr>
          <p:cNvPr id="39" name="object 39"/>
          <p:cNvSpPr txBox="1"/>
          <p:nvPr/>
        </p:nvSpPr>
        <p:spPr>
          <a:xfrm>
            <a:off x="6937247" y="2726346"/>
            <a:ext cx="341630" cy="268605"/>
          </a:xfrm>
          <a:prstGeom prst="rect">
            <a:avLst/>
          </a:prstGeom>
        </p:spPr>
        <p:txBody>
          <a:bodyPr vert="horz" wrap="square" lIns="0" tIns="12065" rIns="0" bIns="0" rtlCol="0">
            <a:spAutoFit/>
          </a:bodyPr>
          <a:lstStyle/>
          <a:p>
            <a:pPr marL="87630">
              <a:lnSpc>
                <a:spcPct val="100000"/>
              </a:lnSpc>
              <a:spcBef>
                <a:spcPts val="95"/>
              </a:spcBef>
            </a:pPr>
            <a:r>
              <a:rPr sz="1600" b="1" spc="-5" dirty="0">
                <a:solidFill>
                  <a:srgbClr val="C00000"/>
                </a:solidFill>
                <a:latin typeface="Calibri" panose="020F0502020204030204"/>
                <a:cs typeface="Calibri" panose="020F0502020204030204"/>
              </a:rPr>
              <a:t>PC</a:t>
            </a:r>
            <a:endParaRPr sz="1600">
              <a:latin typeface="Calibri" panose="020F0502020204030204"/>
              <a:cs typeface="Calibri" panose="020F0502020204030204"/>
            </a:endParaRPr>
          </a:p>
        </p:txBody>
      </p:sp>
      <p:sp>
        <p:nvSpPr>
          <p:cNvPr id="40" name="object 40"/>
          <p:cNvSpPr txBox="1"/>
          <p:nvPr/>
        </p:nvSpPr>
        <p:spPr>
          <a:xfrm>
            <a:off x="5632551" y="1555178"/>
            <a:ext cx="514984" cy="451484"/>
          </a:xfrm>
          <a:prstGeom prst="rect">
            <a:avLst/>
          </a:prstGeom>
        </p:spPr>
        <p:txBody>
          <a:bodyPr vert="horz" wrap="square" lIns="0" tIns="12065" rIns="0" bIns="0" rtlCol="0">
            <a:spAutoFit/>
          </a:bodyPr>
          <a:lstStyle/>
          <a:p>
            <a:pPr marL="12700">
              <a:lnSpc>
                <a:spcPct val="100000"/>
              </a:lnSpc>
              <a:spcBef>
                <a:spcPts val="95"/>
              </a:spcBef>
            </a:pPr>
            <a:r>
              <a:rPr sz="2800" b="1" spc="-10" dirty="0">
                <a:solidFill>
                  <a:srgbClr val="C00000"/>
                </a:solidFill>
                <a:latin typeface="Calibri" panose="020F0502020204030204"/>
                <a:cs typeface="Calibri" panose="020F0502020204030204"/>
              </a:rPr>
              <a:t>I</a:t>
            </a:r>
            <a:r>
              <a:rPr sz="2800" b="1" spc="-5" dirty="0">
                <a:solidFill>
                  <a:srgbClr val="C00000"/>
                </a:solidFill>
                <a:latin typeface="Calibri" panose="020F0502020204030204"/>
                <a:cs typeface="Calibri" panose="020F0502020204030204"/>
              </a:rPr>
              <a:t>FU</a:t>
            </a:r>
            <a:endParaRPr sz="2800">
              <a:latin typeface="Calibri" panose="020F0502020204030204"/>
              <a:cs typeface="Calibri" panose="020F0502020204030204"/>
            </a:endParaRPr>
          </a:p>
        </p:txBody>
      </p:sp>
      <p:sp>
        <p:nvSpPr>
          <p:cNvPr id="41" name="object 41"/>
          <p:cNvSpPr/>
          <p:nvPr/>
        </p:nvSpPr>
        <p:spPr>
          <a:xfrm>
            <a:off x="7601711" y="3785615"/>
            <a:ext cx="280670" cy="654050"/>
          </a:xfrm>
          <a:custGeom>
            <a:avLst/>
            <a:gdLst/>
            <a:ahLst/>
            <a:cxnLst/>
            <a:rect l="l" t="t" r="r" b="b"/>
            <a:pathLst>
              <a:path w="280670" h="654050">
                <a:moveTo>
                  <a:pt x="0" y="653796"/>
                </a:moveTo>
                <a:lnTo>
                  <a:pt x="0" y="0"/>
                </a:lnTo>
                <a:lnTo>
                  <a:pt x="280416" y="131063"/>
                </a:lnTo>
                <a:lnTo>
                  <a:pt x="280416" y="522732"/>
                </a:lnTo>
                <a:lnTo>
                  <a:pt x="0" y="653796"/>
                </a:lnTo>
                <a:close/>
              </a:path>
            </a:pathLst>
          </a:custGeom>
          <a:solidFill>
            <a:srgbClr val="D9D9D9"/>
          </a:solidFill>
        </p:spPr>
        <p:txBody>
          <a:bodyPr wrap="square" lIns="0" tIns="0" rIns="0" bIns="0" rtlCol="0"/>
          <a:lstStyle/>
          <a:p/>
        </p:txBody>
      </p:sp>
      <p:sp>
        <p:nvSpPr>
          <p:cNvPr id="42" name="object 42"/>
          <p:cNvSpPr/>
          <p:nvPr/>
        </p:nvSpPr>
        <p:spPr>
          <a:xfrm>
            <a:off x="7595413" y="3774909"/>
            <a:ext cx="294005" cy="674370"/>
          </a:xfrm>
          <a:custGeom>
            <a:avLst/>
            <a:gdLst/>
            <a:ahLst/>
            <a:cxnLst/>
            <a:rect l="l" t="t" r="r" b="b"/>
            <a:pathLst>
              <a:path w="294004" h="674370">
                <a:moveTo>
                  <a:pt x="0" y="674306"/>
                </a:moveTo>
                <a:lnTo>
                  <a:pt x="0" y="0"/>
                </a:lnTo>
                <a:lnTo>
                  <a:pt x="21343" y="9982"/>
                </a:lnTo>
                <a:lnTo>
                  <a:pt x="12700" y="9982"/>
                </a:lnTo>
                <a:lnTo>
                  <a:pt x="3670" y="15735"/>
                </a:lnTo>
                <a:lnTo>
                  <a:pt x="12700" y="19958"/>
                </a:lnTo>
                <a:lnTo>
                  <a:pt x="12700" y="654347"/>
                </a:lnTo>
                <a:lnTo>
                  <a:pt x="3670" y="658571"/>
                </a:lnTo>
                <a:lnTo>
                  <a:pt x="12700" y="664324"/>
                </a:lnTo>
                <a:lnTo>
                  <a:pt x="21341" y="664324"/>
                </a:lnTo>
                <a:lnTo>
                  <a:pt x="0" y="674306"/>
                </a:lnTo>
                <a:close/>
              </a:path>
              <a:path w="294004" h="674370">
                <a:moveTo>
                  <a:pt x="12700" y="19958"/>
                </a:moveTo>
                <a:lnTo>
                  <a:pt x="3670" y="15735"/>
                </a:lnTo>
                <a:lnTo>
                  <a:pt x="12700" y="9982"/>
                </a:lnTo>
                <a:lnTo>
                  <a:pt x="12700" y="19958"/>
                </a:lnTo>
                <a:close/>
              </a:path>
              <a:path w="294004" h="674370">
                <a:moveTo>
                  <a:pt x="280898" y="145393"/>
                </a:moveTo>
                <a:lnTo>
                  <a:pt x="12700" y="19958"/>
                </a:lnTo>
                <a:lnTo>
                  <a:pt x="12700" y="9982"/>
                </a:lnTo>
                <a:lnTo>
                  <a:pt x="21343" y="9982"/>
                </a:lnTo>
                <a:lnTo>
                  <a:pt x="293598" y="137312"/>
                </a:lnTo>
                <a:lnTo>
                  <a:pt x="293598" y="141350"/>
                </a:lnTo>
                <a:lnTo>
                  <a:pt x="280898" y="141350"/>
                </a:lnTo>
                <a:lnTo>
                  <a:pt x="280898" y="145393"/>
                </a:lnTo>
                <a:close/>
              </a:path>
              <a:path w="294004" h="674370">
                <a:moveTo>
                  <a:pt x="284556" y="147104"/>
                </a:moveTo>
                <a:lnTo>
                  <a:pt x="280898" y="145393"/>
                </a:lnTo>
                <a:lnTo>
                  <a:pt x="280898" y="141350"/>
                </a:lnTo>
                <a:lnTo>
                  <a:pt x="284556" y="147104"/>
                </a:lnTo>
                <a:close/>
              </a:path>
              <a:path w="294004" h="674370">
                <a:moveTo>
                  <a:pt x="293598" y="147104"/>
                </a:moveTo>
                <a:lnTo>
                  <a:pt x="284556" y="147104"/>
                </a:lnTo>
                <a:lnTo>
                  <a:pt x="280898" y="141350"/>
                </a:lnTo>
                <a:lnTo>
                  <a:pt x="293598" y="141350"/>
                </a:lnTo>
                <a:lnTo>
                  <a:pt x="293598" y="147104"/>
                </a:lnTo>
                <a:close/>
              </a:path>
              <a:path w="294004" h="674370">
                <a:moveTo>
                  <a:pt x="280898" y="528900"/>
                </a:moveTo>
                <a:lnTo>
                  <a:pt x="280898" y="145393"/>
                </a:lnTo>
                <a:lnTo>
                  <a:pt x="284556" y="147104"/>
                </a:lnTo>
                <a:lnTo>
                  <a:pt x="293598" y="147104"/>
                </a:lnTo>
                <a:lnTo>
                  <a:pt x="293598" y="527189"/>
                </a:lnTo>
                <a:lnTo>
                  <a:pt x="284556" y="527189"/>
                </a:lnTo>
                <a:lnTo>
                  <a:pt x="280898" y="528900"/>
                </a:lnTo>
                <a:close/>
              </a:path>
              <a:path w="294004" h="674370">
                <a:moveTo>
                  <a:pt x="280898" y="532942"/>
                </a:moveTo>
                <a:lnTo>
                  <a:pt x="280898" y="528900"/>
                </a:lnTo>
                <a:lnTo>
                  <a:pt x="284556" y="527189"/>
                </a:lnTo>
                <a:lnTo>
                  <a:pt x="280898" y="532942"/>
                </a:lnTo>
                <a:close/>
              </a:path>
              <a:path w="294004" h="674370">
                <a:moveTo>
                  <a:pt x="293598" y="532942"/>
                </a:moveTo>
                <a:lnTo>
                  <a:pt x="280898" y="532942"/>
                </a:lnTo>
                <a:lnTo>
                  <a:pt x="284556" y="527189"/>
                </a:lnTo>
                <a:lnTo>
                  <a:pt x="293598" y="527189"/>
                </a:lnTo>
                <a:lnTo>
                  <a:pt x="293598" y="532942"/>
                </a:lnTo>
                <a:close/>
              </a:path>
              <a:path w="294004" h="674370">
                <a:moveTo>
                  <a:pt x="21341" y="664324"/>
                </a:moveTo>
                <a:lnTo>
                  <a:pt x="12700" y="664324"/>
                </a:lnTo>
                <a:lnTo>
                  <a:pt x="12700" y="654347"/>
                </a:lnTo>
                <a:lnTo>
                  <a:pt x="280898" y="528900"/>
                </a:lnTo>
                <a:lnTo>
                  <a:pt x="280898" y="532942"/>
                </a:lnTo>
                <a:lnTo>
                  <a:pt x="293598" y="532942"/>
                </a:lnTo>
                <a:lnTo>
                  <a:pt x="293598" y="536981"/>
                </a:lnTo>
                <a:lnTo>
                  <a:pt x="21341" y="664324"/>
                </a:lnTo>
                <a:close/>
              </a:path>
              <a:path w="294004" h="674370">
                <a:moveTo>
                  <a:pt x="12700" y="664324"/>
                </a:moveTo>
                <a:lnTo>
                  <a:pt x="3670" y="658571"/>
                </a:lnTo>
                <a:lnTo>
                  <a:pt x="12700" y="654347"/>
                </a:lnTo>
                <a:lnTo>
                  <a:pt x="12700" y="664324"/>
                </a:lnTo>
                <a:close/>
              </a:path>
            </a:pathLst>
          </a:custGeom>
          <a:solidFill>
            <a:srgbClr val="C00000"/>
          </a:solidFill>
        </p:spPr>
        <p:txBody>
          <a:bodyPr wrap="square" lIns="0" tIns="0" rIns="0" bIns="0" rtlCol="0"/>
          <a:lstStyle/>
          <a:p/>
        </p:txBody>
      </p:sp>
      <p:sp>
        <p:nvSpPr>
          <p:cNvPr id="43" name="object 43"/>
          <p:cNvSpPr/>
          <p:nvPr/>
        </p:nvSpPr>
        <p:spPr>
          <a:xfrm>
            <a:off x="5920676" y="4439449"/>
            <a:ext cx="76200" cy="377825"/>
          </a:xfrm>
          <a:custGeom>
            <a:avLst/>
            <a:gdLst/>
            <a:ahLst/>
            <a:cxnLst/>
            <a:rect l="l" t="t" r="r" b="b"/>
            <a:pathLst>
              <a:path w="76200" h="377825">
                <a:moveTo>
                  <a:pt x="41889" y="301440"/>
                </a:moveTo>
                <a:lnTo>
                  <a:pt x="34281" y="301250"/>
                </a:lnTo>
                <a:lnTo>
                  <a:pt x="41783" y="0"/>
                </a:lnTo>
                <a:lnTo>
                  <a:pt x="49402" y="190"/>
                </a:lnTo>
                <a:lnTo>
                  <a:pt x="41889" y="301440"/>
                </a:lnTo>
                <a:close/>
              </a:path>
              <a:path w="76200" h="377825">
                <a:moveTo>
                  <a:pt x="36182" y="377520"/>
                </a:moveTo>
                <a:lnTo>
                  <a:pt x="0" y="300393"/>
                </a:lnTo>
                <a:lnTo>
                  <a:pt x="34281" y="301250"/>
                </a:lnTo>
                <a:lnTo>
                  <a:pt x="33807" y="320294"/>
                </a:lnTo>
                <a:lnTo>
                  <a:pt x="41414" y="320484"/>
                </a:lnTo>
                <a:lnTo>
                  <a:pt x="66505" y="320484"/>
                </a:lnTo>
                <a:lnTo>
                  <a:pt x="36182" y="377520"/>
                </a:lnTo>
                <a:close/>
              </a:path>
              <a:path w="76200" h="377825">
                <a:moveTo>
                  <a:pt x="41414" y="320484"/>
                </a:moveTo>
                <a:lnTo>
                  <a:pt x="33807" y="320294"/>
                </a:lnTo>
                <a:lnTo>
                  <a:pt x="34281" y="301250"/>
                </a:lnTo>
                <a:lnTo>
                  <a:pt x="41889" y="301440"/>
                </a:lnTo>
                <a:lnTo>
                  <a:pt x="41414" y="320484"/>
                </a:lnTo>
                <a:close/>
              </a:path>
              <a:path w="76200" h="377825">
                <a:moveTo>
                  <a:pt x="66505" y="320484"/>
                </a:moveTo>
                <a:lnTo>
                  <a:pt x="41414" y="320484"/>
                </a:lnTo>
                <a:lnTo>
                  <a:pt x="41889" y="301440"/>
                </a:lnTo>
                <a:lnTo>
                  <a:pt x="76174" y="302298"/>
                </a:lnTo>
                <a:lnTo>
                  <a:pt x="66505" y="320484"/>
                </a:lnTo>
                <a:close/>
              </a:path>
            </a:pathLst>
          </a:custGeom>
          <a:solidFill>
            <a:srgbClr val="C00000"/>
          </a:solidFill>
        </p:spPr>
        <p:txBody>
          <a:bodyPr wrap="square" lIns="0" tIns="0" rIns="0" bIns="0" rtlCol="0"/>
          <a:lstStyle/>
          <a:p/>
        </p:txBody>
      </p:sp>
      <p:sp>
        <p:nvSpPr>
          <p:cNvPr id="44" name="object 44"/>
          <p:cNvSpPr/>
          <p:nvPr/>
        </p:nvSpPr>
        <p:spPr>
          <a:xfrm>
            <a:off x="6350939" y="4420996"/>
            <a:ext cx="76200" cy="896619"/>
          </a:xfrm>
          <a:custGeom>
            <a:avLst/>
            <a:gdLst/>
            <a:ahLst/>
            <a:cxnLst/>
            <a:rect l="l" t="t" r="r" b="b"/>
            <a:pathLst>
              <a:path w="76200" h="896620">
                <a:moveTo>
                  <a:pt x="41906" y="819983"/>
                </a:moveTo>
                <a:lnTo>
                  <a:pt x="34286" y="819903"/>
                </a:lnTo>
                <a:lnTo>
                  <a:pt x="42887" y="0"/>
                </a:lnTo>
                <a:lnTo>
                  <a:pt x="50507" y="76"/>
                </a:lnTo>
                <a:lnTo>
                  <a:pt x="41906" y="819983"/>
                </a:lnTo>
                <a:close/>
              </a:path>
              <a:path w="76200" h="896620">
                <a:moveTo>
                  <a:pt x="37287" y="896137"/>
                </a:moveTo>
                <a:lnTo>
                  <a:pt x="0" y="819543"/>
                </a:lnTo>
                <a:lnTo>
                  <a:pt x="34286" y="819903"/>
                </a:lnTo>
                <a:lnTo>
                  <a:pt x="34086" y="838949"/>
                </a:lnTo>
                <a:lnTo>
                  <a:pt x="41706" y="839038"/>
                </a:lnTo>
                <a:lnTo>
                  <a:pt x="66592" y="839038"/>
                </a:lnTo>
                <a:lnTo>
                  <a:pt x="37287" y="896137"/>
                </a:lnTo>
                <a:close/>
              </a:path>
              <a:path w="76200" h="896620">
                <a:moveTo>
                  <a:pt x="41706" y="839038"/>
                </a:moveTo>
                <a:lnTo>
                  <a:pt x="34086" y="838949"/>
                </a:lnTo>
                <a:lnTo>
                  <a:pt x="34286" y="819903"/>
                </a:lnTo>
                <a:lnTo>
                  <a:pt x="41906" y="819983"/>
                </a:lnTo>
                <a:lnTo>
                  <a:pt x="41706" y="839038"/>
                </a:lnTo>
                <a:close/>
              </a:path>
              <a:path w="76200" h="896620">
                <a:moveTo>
                  <a:pt x="66592" y="839038"/>
                </a:moveTo>
                <a:lnTo>
                  <a:pt x="41706" y="839038"/>
                </a:lnTo>
                <a:lnTo>
                  <a:pt x="41906" y="819983"/>
                </a:lnTo>
                <a:lnTo>
                  <a:pt x="76187" y="820343"/>
                </a:lnTo>
                <a:lnTo>
                  <a:pt x="66592" y="839038"/>
                </a:lnTo>
                <a:close/>
              </a:path>
            </a:pathLst>
          </a:custGeom>
          <a:solidFill>
            <a:srgbClr val="C00000"/>
          </a:solidFill>
        </p:spPr>
        <p:txBody>
          <a:bodyPr wrap="square" lIns="0" tIns="0" rIns="0" bIns="0" rtlCol="0"/>
          <a:lstStyle/>
          <a:p/>
        </p:txBody>
      </p:sp>
      <p:sp>
        <p:nvSpPr>
          <p:cNvPr id="45" name="object 45"/>
          <p:cNvSpPr/>
          <p:nvPr/>
        </p:nvSpPr>
        <p:spPr>
          <a:xfrm>
            <a:off x="7152525" y="3986860"/>
            <a:ext cx="0" cy="840105"/>
          </a:xfrm>
          <a:custGeom>
            <a:avLst/>
            <a:gdLst/>
            <a:ahLst/>
            <a:cxnLst/>
            <a:rect l="l" t="t" r="r" b="b"/>
            <a:pathLst>
              <a:path h="840104">
                <a:moveTo>
                  <a:pt x="0" y="0"/>
                </a:moveTo>
                <a:lnTo>
                  <a:pt x="0" y="839977"/>
                </a:lnTo>
              </a:path>
            </a:pathLst>
          </a:custGeom>
          <a:ln w="7620">
            <a:solidFill>
              <a:srgbClr val="C00000"/>
            </a:solidFill>
          </a:ln>
        </p:spPr>
        <p:txBody>
          <a:bodyPr wrap="square" lIns="0" tIns="0" rIns="0" bIns="0" rtlCol="0"/>
          <a:lstStyle/>
          <a:p/>
        </p:txBody>
      </p:sp>
      <p:sp>
        <p:nvSpPr>
          <p:cNvPr id="46" name="object 46"/>
          <p:cNvSpPr/>
          <p:nvPr/>
        </p:nvSpPr>
        <p:spPr>
          <a:xfrm>
            <a:off x="7394861" y="4226763"/>
            <a:ext cx="0" cy="1090930"/>
          </a:xfrm>
          <a:custGeom>
            <a:avLst/>
            <a:gdLst/>
            <a:ahLst/>
            <a:cxnLst/>
            <a:rect l="l" t="t" r="r" b="b"/>
            <a:pathLst>
              <a:path h="1090929">
                <a:moveTo>
                  <a:pt x="0" y="0"/>
                </a:moveTo>
                <a:lnTo>
                  <a:pt x="0" y="1090383"/>
                </a:lnTo>
              </a:path>
            </a:pathLst>
          </a:custGeom>
          <a:ln w="9512">
            <a:solidFill>
              <a:srgbClr val="C00000"/>
            </a:solidFill>
          </a:ln>
        </p:spPr>
        <p:txBody>
          <a:bodyPr wrap="square" lIns="0" tIns="0" rIns="0" bIns="0" rtlCol="0"/>
          <a:lstStyle/>
          <a:p/>
        </p:txBody>
      </p:sp>
      <p:sp>
        <p:nvSpPr>
          <p:cNvPr id="47" name="object 47"/>
          <p:cNvSpPr/>
          <p:nvPr/>
        </p:nvSpPr>
        <p:spPr>
          <a:xfrm>
            <a:off x="7149401" y="3948150"/>
            <a:ext cx="439420" cy="76200"/>
          </a:xfrm>
          <a:custGeom>
            <a:avLst/>
            <a:gdLst/>
            <a:ahLst/>
            <a:cxnLst/>
            <a:rect l="l" t="t" r="r" b="b"/>
            <a:pathLst>
              <a:path w="439420" h="76200">
                <a:moveTo>
                  <a:pt x="362686" y="76200"/>
                </a:moveTo>
                <a:lnTo>
                  <a:pt x="362686" y="0"/>
                </a:lnTo>
                <a:lnTo>
                  <a:pt x="431266" y="34289"/>
                </a:lnTo>
                <a:lnTo>
                  <a:pt x="381736" y="34289"/>
                </a:lnTo>
                <a:lnTo>
                  <a:pt x="381736" y="41910"/>
                </a:lnTo>
                <a:lnTo>
                  <a:pt x="431266" y="41910"/>
                </a:lnTo>
                <a:lnTo>
                  <a:pt x="362686" y="76200"/>
                </a:lnTo>
                <a:close/>
              </a:path>
              <a:path w="439420" h="76200">
                <a:moveTo>
                  <a:pt x="362686" y="41910"/>
                </a:moveTo>
                <a:lnTo>
                  <a:pt x="0" y="41910"/>
                </a:lnTo>
                <a:lnTo>
                  <a:pt x="0" y="34289"/>
                </a:lnTo>
                <a:lnTo>
                  <a:pt x="362686" y="34289"/>
                </a:lnTo>
                <a:lnTo>
                  <a:pt x="362686" y="41910"/>
                </a:lnTo>
                <a:close/>
              </a:path>
              <a:path w="439420" h="76200">
                <a:moveTo>
                  <a:pt x="431266" y="41910"/>
                </a:moveTo>
                <a:lnTo>
                  <a:pt x="381736" y="41910"/>
                </a:lnTo>
                <a:lnTo>
                  <a:pt x="381736" y="34289"/>
                </a:lnTo>
                <a:lnTo>
                  <a:pt x="431266" y="34289"/>
                </a:lnTo>
                <a:lnTo>
                  <a:pt x="438886" y="38100"/>
                </a:lnTo>
                <a:lnTo>
                  <a:pt x="431266" y="41910"/>
                </a:lnTo>
                <a:close/>
              </a:path>
            </a:pathLst>
          </a:custGeom>
          <a:solidFill>
            <a:srgbClr val="C00000"/>
          </a:solidFill>
        </p:spPr>
        <p:txBody>
          <a:bodyPr wrap="square" lIns="0" tIns="0" rIns="0" bIns="0" rtlCol="0"/>
          <a:lstStyle/>
          <a:p/>
        </p:txBody>
      </p:sp>
      <p:sp>
        <p:nvSpPr>
          <p:cNvPr id="48" name="object 48"/>
          <p:cNvSpPr/>
          <p:nvPr/>
        </p:nvSpPr>
        <p:spPr>
          <a:xfrm>
            <a:off x="7400188" y="4194835"/>
            <a:ext cx="188099" cy="76200"/>
          </a:xfrm>
          <a:prstGeom prst="rect">
            <a:avLst/>
          </a:prstGeom>
          <a:blipFill>
            <a:blip r:embed="rId1" cstate="print"/>
            <a:stretch>
              <a:fillRect/>
            </a:stretch>
          </a:blipFill>
        </p:spPr>
        <p:txBody>
          <a:bodyPr wrap="square" lIns="0" tIns="0" rIns="0" bIns="0" rtlCol="0"/>
          <a:lstStyle/>
          <a:p/>
        </p:txBody>
      </p:sp>
      <p:sp>
        <p:nvSpPr>
          <p:cNvPr id="49" name="object 49"/>
          <p:cNvSpPr/>
          <p:nvPr/>
        </p:nvSpPr>
        <p:spPr>
          <a:xfrm>
            <a:off x="7882966" y="4076941"/>
            <a:ext cx="1819275" cy="76200"/>
          </a:xfrm>
          <a:custGeom>
            <a:avLst/>
            <a:gdLst/>
            <a:ahLst/>
            <a:cxnLst/>
            <a:rect l="l" t="t" r="r" b="b"/>
            <a:pathLst>
              <a:path w="1819275" h="76200">
                <a:moveTo>
                  <a:pt x="1811401" y="41935"/>
                </a:moveTo>
                <a:lnTo>
                  <a:pt x="1761744" y="41935"/>
                </a:lnTo>
                <a:lnTo>
                  <a:pt x="1761756" y="34315"/>
                </a:lnTo>
                <a:lnTo>
                  <a:pt x="1742699" y="34289"/>
                </a:lnTo>
                <a:lnTo>
                  <a:pt x="1742744" y="0"/>
                </a:lnTo>
                <a:lnTo>
                  <a:pt x="1818894" y="38201"/>
                </a:lnTo>
                <a:lnTo>
                  <a:pt x="1811401" y="41935"/>
                </a:lnTo>
                <a:close/>
              </a:path>
              <a:path w="1819275" h="76200">
                <a:moveTo>
                  <a:pt x="1742688" y="41909"/>
                </a:moveTo>
                <a:lnTo>
                  <a:pt x="0" y="39547"/>
                </a:lnTo>
                <a:lnTo>
                  <a:pt x="12" y="31927"/>
                </a:lnTo>
                <a:lnTo>
                  <a:pt x="1742699" y="34289"/>
                </a:lnTo>
                <a:lnTo>
                  <a:pt x="1742688" y="41909"/>
                </a:lnTo>
                <a:close/>
              </a:path>
              <a:path w="1819275" h="76200">
                <a:moveTo>
                  <a:pt x="1761744" y="41935"/>
                </a:moveTo>
                <a:lnTo>
                  <a:pt x="1742688" y="41909"/>
                </a:lnTo>
                <a:lnTo>
                  <a:pt x="1742699" y="34289"/>
                </a:lnTo>
                <a:lnTo>
                  <a:pt x="1761756" y="34315"/>
                </a:lnTo>
                <a:lnTo>
                  <a:pt x="1761744" y="41935"/>
                </a:lnTo>
                <a:close/>
              </a:path>
              <a:path w="1819275" h="76200">
                <a:moveTo>
                  <a:pt x="1742643" y="76200"/>
                </a:moveTo>
                <a:lnTo>
                  <a:pt x="1742688" y="41909"/>
                </a:lnTo>
                <a:lnTo>
                  <a:pt x="1811401" y="41935"/>
                </a:lnTo>
                <a:lnTo>
                  <a:pt x="1742643" y="76200"/>
                </a:lnTo>
                <a:close/>
              </a:path>
            </a:pathLst>
          </a:custGeom>
          <a:solidFill>
            <a:srgbClr val="C00000"/>
          </a:solidFill>
        </p:spPr>
        <p:txBody>
          <a:bodyPr wrap="square" lIns="0" tIns="0" rIns="0" bIns="0" rtlCol="0"/>
          <a:lstStyle/>
          <a:p/>
        </p:txBody>
      </p:sp>
      <p:sp>
        <p:nvSpPr>
          <p:cNvPr id="50" name="object 50"/>
          <p:cNvSpPr/>
          <p:nvPr/>
        </p:nvSpPr>
        <p:spPr>
          <a:xfrm>
            <a:off x="8741321" y="3978198"/>
            <a:ext cx="0" cy="137160"/>
          </a:xfrm>
          <a:custGeom>
            <a:avLst/>
            <a:gdLst/>
            <a:ahLst/>
            <a:cxnLst/>
            <a:rect l="l" t="t" r="r" b="b"/>
            <a:pathLst>
              <a:path h="137160">
                <a:moveTo>
                  <a:pt x="0" y="0"/>
                </a:moveTo>
                <a:lnTo>
                  <a:pt x="0" y="136982"/>
                </a:lnTo>
              </a:path>
            </a:pathLst>
          </a:custGeom>
          <a:ln w="8864">
            <a:solidFill>
              <a:srgbClr val="C00000"/>
            </a:solidFill>
          </a:ln>
        </p:spPr>
        <p:txBody>
          <a:bodyPr wrap="square" lIns="0" tIns="0" rIns="0" bIns="0" rtlCol="0"/>
          <a:lstStyle/>
          <a:p/>
        </p:txBody>
      </p:sp>
      <p:sp>
        <p:nvSpPr>
          <p:cNvPr id="51" name="object 51"/>
          <p:cNvSpPr/>
          <p:nvPr/>
        </p:nvSpPr>
        <p:spPr>
          <a:xfrm>
            <a:off x="8703411" y="3264065"/>
            <a:ext cx="76200" cy="217106"/>
          </a:xfrm>
          <a:prstGeom prst="rect">
            <a:avLst/>
          </a:prstGeom>
          <a:blipFill>
            <a:blip r:embed="rId2" cstate="print"/>
            <a:stretch>
              <a:fillRect/>
            </a:stretch>
          </a:blipFill>
        </p:spPr>
        <p:txBody>
          <a:bodyPr wrap="square" lIns="0" tIns="0" rIns="0" bIns="0" rtlCol="0"/>
          <a:lstStyle/>
          <a:p/>
        </p:txBody>
      </p:sp>
      <p:sp>
        <p:nvSpPr>
          <p:cNvPr id="52" name="object 52"/>
          <p:cNvSpPr/>
          <p:nvPr/>
        </p:nvSpPr>
        <p:spPr>
          <a:xfrm>
            <a:off x="8701773" y="2398191"/>
            <a:ext cx="76580" cy="217081"/>
          </a:xfrm>
          <a:prstGeom prst="rect">
            <a:avLst/>
          </a:prstGeom>
          <a:blipFill>
            <a:blip r:embed="rId3" cstate="print"/>
            <a:stretch>
              <a:fillRect/>
            </a:stretch>
          </a:blipFill>
        </p:spPr>
        <p:txBody>
          <a:bodyPr wrap="square" lIns="0" tIns="0" rIns="0" bIns="0" rtlCol="0"/>
          <a:lstStyle/>
          <a:p/>
        </p:txBody>
      </p:sp>
      <p:sp>
        <p:nvSpPr>
          <p:cNvPr id="53" name="object 53"/>
          <p:cNvSpPr/>
          <p:nvPr/>
        </p:nvSpPr>
        <p:spPr>
          <a:xfrm>
            <a:off x="7279182" y="2904769"/>
            <a:ext cx="419100" cy="76200"/>
          </a:xfrm>
          <a:custGeom>
            <a:avLst/>
            <a:gdLst/>
            <a:ahLst/>
            <a:cxnLst/>
            <a:rect l="l" t="t" r="r" b="b"/>
            <a:pathLst>
              <a:path w="419100" h="76200">
                <a:moveTo>
                  <a:pt x="342621" y="34292"/>
                </a:moveTo>
                <a:lnTo>
                  <a:pt x="342569" y="0"/>
                </a:lnTo>
                <a:lnTo>
                  <a:pt x="411362" y="34264"/>
                </a:lnTo>
                <a:lnTo>
                  <a:pt x="361670" y="34264"/>
                </a:lnTo>
                <a:lnTo>
                  <a:pt x="342621" y="34292"/>
                </a:lnTo>
                <a:close/>
              </a:path>
              <a:path w="419100" h="76200">
                <a:moveTo>
                  <a:pt x="342632" y="41912"/>
                </a:moveTo>
                <a:lnTo>
                  <a:pt x="342621" y="34292"/>
                </a:lnTo>
                <a:lnTo>
                  <a:pt x="361670" y="34264"/>
                </a:lnTo>
                <a:lnTo>
                  <a:pt x="361683" y="41884"/>
                </a:lnTo>
                <a:lnTo>
                  <a:pt x="342632" y="41912"/>
                </a:lnTo>
                <a:close/>
              </a:path>
              <a:path w="419100" h="76200">
                <a:moveTo>
                  <a:pt x="342684" y="76200"/>
                </a:moveTo>
                <a:lnTo>
                  <a:pt x="342632" y="41912"/>
                </a:lnTo>
                <a:lnTo>
                  <a:pt x="361683" y="41884"/>
                </a:lnTo>
                <a:lnTo>
                  <a:pt x="361670" y="34264"/>
                </a:lnTo>
                <a:lnTo>
                  <a:pt x="411362" y="34264"/>
                </a:lnTo>
                <a:lnTo>
                  <a:pt x="418833" y="37985"/>
                </a:lnTo>
                <a:lnTo>
                  <a:pt x="342684" y="76200"/>
                </a:lnTo>
                <a:close/>
              </a:path>
              <a:path w="419100" h="76200">
                <a:moveTo>
                  <a:pt x="0" y="42418"/>
                </a:moveTo>
                <a:lnTo>
                  <a:pt x="0" y="34798"/>
                </a:lnTo>
                <a:lnTo>
                  <a:pt x="342621" y="34292"/>
                </a:lnTo>
                <a:lnTo>
                  <a:pt x="342632" y="41912"/>
                </a:lnTo>
                <a:lnTo>
                  <a:pt x="0" y="42418"/>
                </a:lnTo>
                <a:close/>
              </a:path>
            </a:pathLst>
          </a:custGeom>
          <a:solidFill>
            <a:srgbClr val="C00000"/>
          </a:solidFill>
        </p:spPr>
        <p:txBody>
          <a:bodyPr wrap="square" lIns="0" tIns="0" rIns="0" bIns="0" rtlCol="0"/>
          <a:lstStyle/>
          <a:p/>
        </p:txBody>
      </p:sp>
      <p:sp>
        <p:nvSpPr>
          <p:cNvPr id="54" name="object 54"/>
          <p:cNvSpPr/>
          <p:nvPr/>
        </p:nvSpPr>
        <p:spPr>
          <a:xfrm>
            <a:off x="6127038" y="2250135"/>
            <a:ext cx="76200" cy="1301750"/>
          </a:xfrm>
          <a:custGeom>
            <a:avLst/>
            <a:gdLst/>
            <a:ahLst/>
            <a:cxnLst/>
            <a:rect l="l" t="t" r="r" b="b"/>
            <a:pathLst>
              <a:path w="76200" h="1301750">
                <a:moveTo>
                  <a:pt x="41903" y="1225167"/>
                </a:moveTo>
                <a:lnTo>
                  <a:pt x="34283" y="1225094"/>
                </a:lnTo>
                <a:lnTo>
                  <a:pt x="46088" y="0"/>
                </a:lnTo>
                <a:lnTo>
                  <a:pt x="53708" y="76"/>
                </a:lnTo>
                <a:lnTo>
                  <a:pt x="41903" y="1225167"/>
                </a:lnTo>
                <a:close/>
              </a:path>
              <a:path w="76200" h="1301750">
                <a:moveTo>
                  <a:pt x="37363" y="1301330"/>
                </a:moveTo>
                <a:lnTo>
                  <a:pt x="0" y="1224762"/>
                </a:lnTo>
                <a:lnTo>
                  <a:pt x="34283" y="1225094"/>
                </a:lnTo>
                <a:lnTo>
                  <a:pt x="34099" y="1244142"/>
                </a:lnTo>
                <a:lnTo>
                  <a:pt x="41719" y="1244219"/>
                </a:lnTo>
                <a:lnTo>
                  <a:pt x="66603" y="1244219"/>
                </a:lnTo>
                <a:lnTo>
                  <a:pt x="37363" y="1301330"/>
                </a:lnTo>
                <a:close/>
              </a:path>
              <a:path w="76200" h="1301750">
                <a:moveTo>
                  <a:pt x="41719" y="1244219"/>
                </a:moveTo>
                <a:lnTo>
                  <a:pt x="34099" y="1244142"/>
                </a:lnTo>
                <a:lnTo>
                  <a:pt x="34283" y="1225094"/>
                </a:lnTo>
                <a:lnTo>
                  <a:pt x="41903" y="1225167"/>
                </a:lnTo>
                <a:lnTo>
                  <a:pt x="41719" y="1244219"/>
                </a:lnTo>
                <a:close/>
              </a:path>
              <a:path w="76200" h="1301750">
                <a:moveTo>
                  <a:pt x="66603" y="1244219"/>
                </a:moveTo>
                <a:lnTo>
                  <a:pt x="41719" y="1244219"/>
                </a:lnTo>
                <a:lnTo>
                  <a:pt x="41903" y="1225167"/>
                </a:lnTo>
                <a:lnTo>
                  <a:pt x="76187" y="1225499"/>
                </a:lnTo>
                <a:lnTo>
                  <a:pt x="66603" y="1244219"/>
                </a:lnTo>
                <a:close/>
              </a:path>
            </a:pathLst>
          </a:custGeom>
          <a:solidFill>
            <a:srgbClr val="C00000"/>
          </a:solidFill>
        </p:spPr>
        <p:txBody>
          <a:bodyPr wrap="square" lIns="0" tIns="0" rIns="0" bIns="0" rtlCol="0"/>
          <a:lstStyle/>
          <a:p/>
        </p:txBody>
      </p:sp>
      <p:sp>
        <p:nvSpPr>
          <p:cNvPr id="55" name="object 55"/>
          <p:cNvSpPr/>
          <p:nvPr/>
        </p:nvSpPr>
        <p:spPr>
          <a:xfrm>
            <a:off x="11180064" y="1309116"/>
            <a:ext cx="288290" cy="3446145"/>
          </a:xfrm>
          <a:custGeom>
            <a:avLst/>
            <a:gdLst/>
            <a:ahLst/>
            <a:cxnLst/>
            <a:rect l="l" t="t" r="r" b="b"/>
            <a:pathLst>
              <a:path w="288290" h="3446145">
                <a:moveTo>
                  <a:pt x="0" y="0"/>
                </a:moveTo>
                <a:lnTo>
                  <a:pt x="288035" y="0"/>
                </a:lnTo>
                <a:lnTo>
                  <a:pt x="288035" y="3445764"/>
                </a:lnTo>
                <a:lnTo>
                  <a:pt x="0" y="3445764"/>
                </a:lnTo>
                <a:lnTo>
                  <a:pt x="0" y="0"/>
                </a:lnTo>
                <a:close/>
              </a:path>
            </a:pathLst>
          </a:custGeom>
          <a:solidFill>
            <a:srgbClr val="FFFFFF"/>
          </a:solidFill>
        </p:spPr>
        <p:txBody>
          <a:bodyPr wrap="square" lIns="0" tIns="0" rIns="0" bIns="0" rtlCol="0"/>
          <a:lstStyle/>
          <a:p/>
        </p:txBody>
      </p:sp>
      <p:sp>
        <p:nvSpPr>
          <p:cNvPr id="56" name="object 56"/>
          <p:cNvSpPr/>
          <p:nvPr/>
        </p:nvSpPr>
        <p:spPr>
          <a:xfrm>
            <a:off x="7496123" y="1705127"/>
            <a:ext cx="2194560" cy="76200"/>
          </a:xfrm>
          <a:custGeom>
            <a:avLst/>
            <a:gdLst/>
            <a:ahLst/>
            <a:cxnLst/>
            <a:rect l="l" t="t" r="r" b="b"/>
            <a:pathLst>
              <a:path w="2194559" h="76200">
                <a:moveTo>
                  <a:pt x="2118258" y="76200"/>
                </a:moveTo>
                <a:lnTo>
                  <a:pt x="2118258" y="0"/>
                </a:lnTo>
                <a:lnTo>
                  <a:pt x="2186838" y="34289"/>
                </a:lnTo>
                <a:lnTo>
                  <a:pt x="2137308" y="34289"/>
                </a:lnTo>
                <a:lnTo>
                  <a:pt x="2137308" y="41910"/>
                </a:lnTo>
                <a:lnTo>
                  <a:pt x="2186838" y="41910"/>
                </a:lnTo>
                <a:lnTo>
                  <a:pt x="2118258" y="76200"/>
                </a:lnTo>
                <a:close/>
              </a:path>
              <a:path w="2194559" h="76200">
                <a:moveTo>
                  <a:pt x="2118258" y="41910"/>
                </a:moveTo>
                <a:lnTo>
                  <a:pt x="0" y="41910"/>
                </a:lnTo>
                <a:lnTo>
                  <a:pt x="0" y="34289"/>
                </a:lnTo>
                <a:lnTo>
                  <a:pt x="2118258" y="34289"/>
                </a:lnTo>
                <a:lnTo>
                  <a:pt x="2118258" y="41910"/>
                </a:lnTo>
                <a:close/>
              </a:path>
              <a:path w="2194559" h="76200">
                <a:moveTo>
                  <a:pt x="2186838" y="41910"/>
                </a:moveTo>
                <a:lnTo>
                  <a:pt x="2137308" y="41910"/>
                </a:lnTo>
                <a:lnTo>
                  <a:pt x="2137308" y="34289"/>
                </a:lnTo>
                <a:lnTo>
                  <a:pt x="2186838" y="34289"/>
                </a:lnTo>
                <a:lnTo>
                  <a:pt x="2194458" y="38100"/>
                </a:lnTo>
                <a:lnTo>
                  <a:pt x="2186838" y="41910"/>
                </a:lnTo>
                <a:close/>
              </a:path>
            </a:pathLst>
          </a:custGeom>
          <a:solidFill>
            <a:srgbClr val="C00000"/>
          </a:solidFill>
        </p:spPr>
        <p:txBody>
          <a:bodyPr wrap="square" lIns="0" tIns="0" rIns="0" bIns="0" rtlCol="0"/>
          <a:lstStyle/>
          <a:p/>
        </p:txBody>
      </p:sp>
      <p:sp>
        <p:nvSpPr>
          <p:cNvPr id="57" name="object 57"/>
          <p:cNvSpPr/>
          <p:nvPr/>
        </p:nvSpPr>
        <p:spPr>
          <a:xfrm>
            <a:off x="7846606" y="2248941"/>
            <a:ext cx="0" cy="382905"/>
          </a:xfrm>
          <a:custGeom>
            <a:avLst/>
            <a:gdLst/>
            <a:ahLst/>
            <a:cxnLst/>
            <a:rect l="l" t="t" r="r" b="b"/>
            <a:pathLst>
              <a:path h="382905">
                <a:moveTo>
                  <a:pt x="0" y="0"/>
                </a:moveTo>
                <a:lnTo>
                  <a:pt x="0" y="382371"/>
                </a:lnTo>
              </a:path>
            </a:pathLst>
          </a:custGeom>
          <a:ln w="7620">
            <a:solidFill>
              <a:srgbClr val="C00000"/>
            </a:solidFill>
          </a:ln>
        </p:spPr>
        <p:txBody>
          <a:bodyPr wrap="square" lIns="0" tIns="0" rIns="0" bIns="0" rtlCol="0"/>
          <a:lstStyle/>
          <a:p/>
        </p:txBody>
      </p:sp>
      <p:sp>
        <p:nvSpPr>
          <p:cNvPr id="58" name="object 58"/>
          <p:cNvSpPr/>
          <p:nvPr/>
        </p:nvSpPr>
        <p:spPr>
          <a:xfrm>
            <a:off x="6185077" y="2252027"/>
            <a:ext cx="1661795" cy="0"/>
          </a:xfrm>
          <a:custGeom>
            <a:avLst/>
            <a:gdLst/>
            <a:ahLst/>
            <a:cxnLst/>
            <a:rect l="l" t="t" r="r" b="b"/>
            <a:pathLst>
              <a:path w="1661795">
                <a:moveTo>
                  <a:pt x="0" y="0"/>
                </a:moveTo>
                <a:lnTo>
                  <a:pt x="1661541" y="0"/>
                </a:lnTo>
              </a:path>
            </a:pathLst>
          </a:custGeom>
          <a:ln w="13792">
            <a:solidFill>
              <a:srgbClr val="C00000"/>
            </a:solidFill>
          </a:ln>
        </p:spPr>
        <p:txBody>
          <a:bodyPr wrap="square" lIns="0" tIns="0" rIns="0" bIns="0" rtlCol="0"/>
          <a:lstStyle/>
          <a:p/>
        </p:txBody>
      </p:sp>
      <p:sp>
        <p:nvSpPr>
          <p:cNvPr id="59" name="object 59"/>
          <p:cNvSpPr/>
          <p:nvPr/>
        </p:nvSpPr>
        <p:spPr>
          <a:xfrm>
            <a:off x="6171920" y="2904591"/>
            <a:ext cx="765175" cy="76200"/>
          </a:xfrm>
          <a:custGeom>
            <a:avLst/>
            <a:gdLst/>
            <a:ahLst/>
            <a:cxnLst/>
            <a:rect l="l" t="t" r="r" b="b"/>
            <a:pathLst>
              <a:path w="765175" h="76200">
                <a:moveTo>
                  <a:pt x="757387" y="41922"/>
                </a:moveTo>
                <a:lnTo>
                  <a:pt x="707770" y="41922"/>
                </a:lnTo>
                <a:lnTo>
                  <a:pt x="707783" y="34302"/>
                </a:lnTo>
                <a:lnTo>
                  <a:pt x="688730" y="34287"/>
                </a:lnTo>
                <a:lnTo>
                  <a:pt x="688759" y="0"/>
                </a:lnTo>
                <a:lnTo>
                  <a:pt x="764920" y="38163"/>
                </a:lnTo>
                <a:lnTo>
                  <a:pt x="757387" y="41922"/>
                </a:lnTo>
                <a:close/>
              </a:path>
              <a:path w="765175" h="76200">
                <a:moveTo>
                  <a:pt x="688724" y="41907"/>
                </a:moveTo>
                <a:lnTo>
                  <a:pt x="0" y="41351"/>
                </a:lnTo>
                <a:lnTo>
                  <a:pt x="0" y="33731"/>
                </a:lnTo>
                <a:lnTo>
                  <a:pt x="688730" y="34287"/>
                </a:lnTo>
                <a:lnTo>
                  <a:pt x="688724" y="41907"/>
                </a:lnTo>
                <a:close/>
              </a:path>
              <a:path w="765175" h="76200">
                <a:moveTo>
                  <a:pt x="707770" y="41922"/>
                </a:moveTo>
                <a:lnTo>
                  <a:pt x="688724" y="41907"/>
                </a:lnTo>
                <a:lnTo>
                  <a:pt x="688730" y="34287"/>
                </a:lnTo>
                <a:lnTo>
                  <a:pt x="707783" y="34302"/>
                </a:lnTo>
                <a:lnTo>
                  <a:pt x="707770" y="41922"/>
                </a:lnTo>
                <a:close/>
              </a:path>
              <a:path w="765175" h="76200">
                <a:moveTo>
                  <a:pt x="688695" y="76200"/>
                </a:moveTo>
                <a:lnTo>
                  <a:pt x="688724" y="41907"/>
                </a:lnTo>
                <a:lnTo>
                  <a:pt x="757387" y="41922"/>
                </a:lnTo>
                <a:lnTo>
                  <a:pt x="688695" y="76200"/>
                </a:lnTo>
                <a:close/>
              </a:path>
            </a:pathLst>
          </a:custGeom>
          <a:solidFill>
            <a:srgbClr val="C00000"/>
          </a:solidFill>
        </p:spPr>
        <p:txBody>
          <a:bodyPr wrap="square" lIns="0" tIns="0" rIns="0" bIns="0" rtlCol="0"/>
          <a:lstStyle/>
          <a:p/>
        </p:txBody>
      </p:sp>
      <p:sp>
        <p:nvSpPr>
          <p:cNvPr id="60" name="object 60"/>
          <p:cNvSpPr/>
          <p:nvPr/>
        </p:nvSpPr>
        <p:spPr>
          <a:xfrm>
            <a:off x="7494866" y="1735823"/>
            <a:ext cx="0" cy="1206500"/>
          </a:xfrm>
          <a:custGeom>
            <a:avLst/>
            <a:gdLst/>
            <a:ahLst/>
            <a:cxnLst/>
            <a:rect l="l" t="t" r="r" b="b"/>
            <a:pathLst>
              <a:path h="1206500">
                <a:moveTo>
                  <a:pt x="0" y="0"/>
                </a:moveTo>
                <a:lnTo>
                  <a:pt x="0" y="1206322"/>
                </a:lnTo>
              </a:path>
            </a:pathLst>
          </a:custGeom>
          <a:ln w="10134">
            <a:solidFill>
              <a:srgbClr val="C00000"/>
            </a:solidFill>
          </a:ln>
        </p:spPr>
        <p:txBody>
          <a:bodyPr wrap="square" lIns="0" tIns="0" rIns="0" bIns="0" rtlCol="0"/>
          <a:lstStyle/>
          <a:p/>
        </p:txBody>
      </p:sp>
      <p:sp>
        <p:nvSpPr>
          <p:cNvPr id="61" name="object 61"/>
          <p:cNvSpPr/>
          <p:nvPr/>
        </p:nvSpPr>
        <p:spPr>
          <a:xfrm>
            <a:off x="9175191" y="2904870"/>
            <a:ext cx="1069340" cy="76200"/>
          </a:xfrm>
          <a:custGeom>
            <a:avLst/>
            <a:gdLst/>
            <a:ahLst/>
            <a:cxnLst/>
            <a:rect l="l" t="t" r="r" b="b"/>
            <a:pathLst>
              <a:path w="1069340" h="76200">
                <a:moveTo>
                  <a:pt x="76098" y="76199"/>
                </a:moveTo>
                <a:lnTo>
                  <a:pt x="0" y="37884"/>
                </a:lnTo>
                <a:lnTo>
                  <a:pt x="76314" y="0"/>
                </a:lnTo>
                <a:lnTo>
                  <a:pt x="76217" y="34239"/>
                </a:lnTo>
                <a:lnTo>
                  <a:pt x="57162" y="34239"/>
                </a:lnTo>
                <a:lnTo>
                  <a:pt x="57137" y="41859"/>
                </a:lnTo>
                <a:lnTo>
                  <a:pt x="76195" y="41914"/>
                </a:lnTo>
                <a:lnTo>
                  <a:pt x="76098" y="76199"/>
                </a:lnTo>
                <a:close/>
              </a:path>
              <a:path w="1069340" h="76200">
                <a:moveTo>
                  <a:pt x="76195" y="41914"/>
                </a:moveTo>
                <a:lnTo>
                  <a:pt x="57137" y="41859"/>
                </a:lnTo>
                <a:lnTo>
                  <a:pt x="57162" y="34239"/>
                </a:lnTo>
                <a:lnTo>
                  <a:pt x="76217" y="34294"/>
                </a:lnTo>
                <a:lnTo>
                  <a:pt x="76195" y="41914"/>
                </a:lnTo>
                <a:close/>
              </a:path>
              <a:path w="1069340" h="76200">
                <a:moveTo>
                  <a:pt x="76217" y="34294"/>
                </a:moveTo>
                <a:lnTo>
                  <a:pt x="57162" y="34239"/>
                </a:lnTo>
                <a:lnTo>
                  <a:pt x="76217" y="34239"/>
                </a:lnTo>
                <a:close/>
              </a:path>
              <a:path w="1069340" h="76200">
                <a:moveTo>
                  <a:pt x="1069009" y="44780"/>
                </a:moveTo>
                <a:lnTo>
                  <a:pt x="76195" y="41914"/>
                </a:lnTo>
                <a:lnTo>
                  <a:pt x="76217" y="34294"/>
                </a:lnTo>
                <a:lnTo>
                  <a:pt x="1069035" y="37160"/>
                </a:lnTo>
                <a:lnTo>
                  <a:pt x="1069009" y="44780"/>
                </a:lnTo>
                <a:close/>
              </a:path>
            </a:pathLst>
          </a:custGeom>
          <a:solidFill>
            <a:srgbClr val="C00000"/>
          </a:solidFill>
        </p:spPr>
        <p:txBody>
          <a:bodyPr wrap="square" lIns="0" tIns="0" rIns="0" bIns="0" rtlCol="0"/>
          <a:lstStyle/>
          <a:p/>
        </p:txBody>
      </p:sp>
      <p:sp>
        <p:nvSpPr>
          <p:cNvPr id="62" name="object 62"/>
          <p:cNvSpPr txBox="1"/>
          <p:nvPr/>
        </p:nvSpPr>
        <p:spPr>
          <a:xfrm>
            <a:off x="9596996" y="2970148"/>
            <a:ext cx="482600" cy="299720"/>
          </a:xfrm>
          <a:prstGeom prst="rect">
            <a:avLst/>
          </a:prstGeom>
        </p:spPr>
        <p:txBody>
          <a:bodyPr vert="horz" wrap="square" lIns="0" tIns="12700" rIns="0" bIns="0" rtlCol="0">
            <a:spAutoFit/>
          </a:bodyPr>
          <a:lstStyle/>
          <a:p>
            <a:pPr marL="69850" marR="5080" indent="-57150">
              <a:lnSpc>
                <a:spcPct val="100000"/>
              </a:lnSpc>
              <a:spcBef>
                <a:spcPts val="100"/>
              </a:spcBef>
            </a:pPr>
            <a:r>
              <a:rPr sz="900" b="1" dirty="0">
                <a:solidFill>
                  <a:srgbClr val="C00000"/>
                </a:solidFill>
                <a:latin typeface="微软雅黑" panose="020B0503020204020204" charset="-122"/>
                <a:cs typeface="微软雅黑" panose="020B0503020204020204" charset="-122"/>
              </a:rPr>
              <a:t>流水线冲 刷请求</a:t>
            </a:r>
            <a:endParaRPr sz="900">
              <a:latin typeface="微软雅黑" panose="020B0503020204020204" charset="-122"/>
              <a:cs typeface="微软雅黑" panose="020B0503020204020204" charset="-122"/>
            </a:endParaRPr>
          </a:p>
        </p:txBody>
      </p:sp>
      <p:sp>
        <p:nvSpPr>
          <p:cNvPr id="63" name="object 63"/>
          <p:cNvSpPr/>
          <p:nvPr/>
        </p:nvSpPr>
        <p:spPr>
          <a:xfrm>
            <a:off x="10008349" y="2111286"/>
            <a:ext cx="235864" cy="76174"/>
          </a:xfrm>
          <a:prstGeom prst="rect">
            <a:avLst/>
          </a:prstGeom>
          <a:blipFill>
            <a:blip r:embed="rId4" cstate="print"/>
            <a:stretch>
              <a:fillRect/>
            </a:stretch>
          </a:blipFill>
        </p:spPr>
        <p:txBody>
          <a:bodyPr wrap="square" lIns="0" tIns="0" rIns="0" bIns="0" rtlCol="0"/>
          <a:lstStyle/>
          <a:p/>
        </p:txBody>
      </p:sp>
      <p:sp>
        <p:nvSpPr>
          <p:cNvPr id="64" name="object 64"/>
          <p:cNvSpPr/>
          <p:nvPr/>
        </p:nvSpPr>
        <p:spPr>
          <a:xfrm>
            <a:off x="10038498" y="4101744"/>
            <a:ext cx="186905" cy="76187"/>
          </a:xfrm>
          <a:prstGeom prst="rect">
            <a:avLst/>
          </a:prstGeom>
          <a:blipFill>
            <a:blip r:embed="rId5" cstate="print"/>
            <a:stretch>
              <a:fillRect/>
            </a:stretch>
          </a:blipFill>
        </p:spPr>
        <p:txBody>
          <a:bodyPr wrap="square" lIns="0" tIns="0" rIns="0" bIns="0" rtlCol="0"/>
          <a:lstStyle/>
          <a:p/>
        </p:txBody>
      </p:sp>
      <p:sp>
        <p:nvSpPr>
          <p:cNvPr id="65" name="object 65"/>
          <p:cNvSpPr txBox="1"/>
          <p:nvPr/>
        </p:nvSpPr>
        <p:spPr>
          <a:xfrm>
            <a:off x="9691116" y="1967319"/>
            <a:ext cx="332740" cy="208279"/>
          </a:xfrm>
          <a:prstGeom prst="rect">
            <a:avLst/>
          </a:prstGeom>
        </p:spPr>
        <p:txBody>
          <a:bodyPr vert="horz" wrap="square" lIns="0" tIns="12700" rIns="0" bIns="0" rtlCol="0">
            <a:spAutoFit/>
          </a:bodyPr>
          <a:lstStyle/>
          <a:p>
            <a:pPr marL="92075">
              <a:lnSpc>
                <a:spcPct val="100000"/>
              </a:lnSpc>
              <a:spcBef>
                <a:spcPts val="100"/>
              </a:spcBef>
            </a:pPr>
            <a:r>
              <a:rPr sz="1200" b="1" dirty="0">
                <a:solidFill>
                  <a:srgbClr val="C00000"/>
                </a:solidFill>
                <a:latin typeface="Calibri" panose="020F0502020204030204"/>
                <a:cs typeface="Calibri" panose="020F0502020204030204"/>
              </a:rPr>
              <a:t>PC</a:t>
            </a:r>
            <a:endParaRPr sz="1200">
              <a:latin typeface="Calibri" panose="020F0502020204030204"/>
              <a:cs typeface="Calibri" panose="020F0502020204030204"/>
            </a:endParaRPr>
          </a:p>
        </p:txBody>
      </p:sp>
      <p:sp>
        <p:nvSpPr>
          <p:cNvPr id="66" name="object 66"/>
          <p:cNvSpPr txBox="1"/>
          <p:nvPr/>
        </p:nvSpPr>
        <p:spPr>
          <a:xfrm>
            <a:off x="9701783" y="3872369"/>
            <a:ext cx="332740" cy="208279"/>
          </a:xfrm>
          <a:prstGeom prst="rect">
            <a:avLst/>
          </a:prstGeom>
        </p:spPr>
        <p:txBody>
          <a:bodyPr vert="horz" wrap="square" lIns="0" tIns="12700" rIns="0" bIns="0" rtlCol="0">
            <a:spAutoFit/>
          </a:bodyPr>
          <a:lstStyle/>
          <a:p>
            <a:pPr marL="99060">
              <a:lnSpc>
                <a:spcPct val="100000"/>
              </a:lnSpc>
              <a:spcBef>
                <a:spcPts val="100"/>
              </a:spcBef>
            </a:pPr>
            <a:r>
              <a:rPr sz="1200" b="1" dirty="0">
                <a:solidFill>
                  <a:srgbClr val="C00000"/>
                </a:solidFill>
                <a:latin typeface="Calibri" panose="020F0502020204030204"/>
                <a:cs typeface="Calibri" panose="020F0502020204030204"/>
              </a:rPr>
              <a:t>IR</a:t>
            </a:r>
            <a:endParaRPr sz="1200">
              <a:latin typeface="Calibri" panose="020F0502020204030204"/>
              <a:cs typeface="Calibri" panose="020F0502020204030204"/>
            </a:endParaRPr>
          </a:p>
        </p:txBody>
      </p:sp>
      <p:sp>
        <p:nvSpPr>
          <p:cNvPr id="67" name="object 67"/>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7349" y="433044"/>
            <a:ext cx="387604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蜂鸟E</a:t>
            </a:r>
            <a:r>
              <a:rPr sz="3600" spc="-5" dirty="0">
                <a:solidFill>
                  <a:srgbClr val="C00000"/>
                </a:solidFill>
              </a:rPr>
              <a:t>203</a:t>
            </a:r>
            <a:r>
              <a:rPr sz="3600" dirty="0">
                <a:solidFill>
                  <a:srgbClr val="C00000"/>
                </a:solidFill>
              </a:rPr>
              <a:t>执行单元</a:t>
            </a:r>
            <a:endParaRPr sz="3600"/>
          </a:p>
        </p:txBody>
      </p:sp>
      <p:sp>
        <p:nvSpPr>
          <p:cNvPr id="3" name="object 3"/>
          <p:cNvSpPr/>
          <p:nvPr/>
        </p:nvSpPr>
        <p:spPr>
          <a:xfrm>
            <a:off x="0" y="397763"/>
            <a:ext cx="429895" cy="678180"/>
          </a:xfrm>
          <a:custGeom>
            <a:avLst/>
            <a:gdLst/>
            <a:ahLst/>
            <a:cxnLst/>
            <a:rect l="l" t="t" r="r" b="b"/>
            <a:pathLst>
              <a:path w="429895" h="678180">
                <a:moveTo>
                  <a:pt x="0" y="678180"/>
                </a:moveTo>
                <a:lnTo>
                  <a:pt x="0" y="0"/>
                </a:lnTo>
                <a:lnTo>
                  <a:pt x="429767" y="0"/>
                </a:lnTo>
                <a:lnTo>
                  <a:pt x="429767" y="678180"/>
                </a:lnTo>
                <a:lnTo>
                  <a:pt x="0" y="678180"/>
                </a:lnTo>
                <a:close/>
              </a:path>
            </a:pathLst>
          </a:custGeom>
          <a:solidFill>
            <a:srgbClr val="C00000"/>
          </a:solidFill>
        </p:spPr>
        <p:txBody>
          <a:bodyPr wrap="square" lIns="0" tIns="0" rIns="0" bIns="0" rtlCol="0"/>
          <a:lstStyle/>
          <a:p/>
        </p:txBody>
      </p:sp>
      <p:sp>
        <p:nvSpPr>
          <p:cNvPr id="4" name="object 4"/>
          <p:cNvSpPr/>
          <p:nvPr/>
        </p:nvSpPr>
        <p:spPr>
          <a:xfrm>
            <a:off x="5951220" y="1607819"/>
            <a:ext cx="334010" cy="1137285"/>
          </a:xfrm>
          <a:custGeom>
            <a:avLst/>
            <a:gdLst/>
            <a:ahLst/>
            <a:cxnLst/>
            <a:rect l="l" t="t" r="r" b="b"/>
            <a:pathLst>
              <a:path w="334010" h="1137285">
                <a:moveTo>
                  <a:pt x="0" y="0"/>
                </a:moveTo>
                <a:lnTo>
                  <a:pt x="333755" y="0"/>
                </a:lnTo>
                <a:lnTo>
                  <a:pt x="333755" y="1136903"/>
                </a:lnTo>
                <a:lnTo>
                  <a:pt x="0" y="1136903"/>
                </a:lnTo>
                <a:lnTo>
                  <a:pt x="0" y="0"/>
                </a:lnTo>
                <a:close/>
              </a:path>
            </a:pathLst>
          </a:custGeom>
          <a:solidFill>
            <a:srgbClr val="D9D9D9"/>
          </a:solidFill>
        </p:spPr>
        <p:txBody>
          <a:bodyPr wrap="square" lIns="0" tIns="0" rIns="0" bIns="0" rtlCol="0"/>
          <a:lstStyle/>
          <a:p/>
        </p:txBody>
      </p:sp>
      <p:sp>
        <p:nvSpPr>
          <p:cNvPr id="5" name="object 5"/>
          <p:cNvSpPr/>
          <p:nvPr/>
        </p:nvSpPr>
        <p:spPr>
          <a:xfrm>
            <a:off x="5941237" y="1598041"/>
            <a:ext cx="353060" cy="1156970"/>
          </a:xfrm>
          <a:custGeom>
            <a:avLst/>
            <a:gdLst/>
            <a:ahLst/>
            <a:cxnLst/>
            <a:rect l="l" t="t" r="r" b="b"/>
            <a:pathLst>
              <a:path w="353060" h="1156970">
                <a:moveTo>
                  <a:pt x="353021" y="1156779"/>
                </a:moveTo>
                <a:lnTo>
                  <a:pt x="0" y="1156779"/>
                </a:lnTo>
                <a:lnTo>
                  <a:pt x="0" y="0"/>
                </a:lnTo>
                <a:lnTo>
                  <a:pt x="353021" y="0"/>
                </a:lnTo>
                <a:lnTo>
                  <a:pt x="353021" y="9525"/>
                </a:lnTo>
                <a:lnTo>
                  <a:pt x="19050" y="9525"/>
                </a:lnTo>
                <a:lnTo>
                  <a:pt x="9525" y="19050"/>
                </a:lnTo>
                <a:lnTo>
                  <a:pt x="19050" y="19050"/>
                </a:lnTo>
                <a:lnTo>
                  <a:pt x="19050" y="1137729"/>
                </a:lnTo>
                <a:lnTo>
                  <a:pt x="9525" y="1137729"/>
                </a:lnTo>
                <a:lnTo>
                  <a:pt x="19050" y="1147254"/>
                </a:lnTo>
                <a:lnTo>
                  <a:pt x="353021" y="1147254"/>
                </a:lnTo>
                <a:lnTo>
                  <a:pt x="353021" y="1156779"/>
                </a:lnTo>
                <a:close/>
              </a:path>
              <a:path w="353060" h="1156970">
                <a:moveTo>
                  <a:pt x="19050" y="19050"/>
                </a:moveTo>
                <a:lnTo>
                  <a:pt x="9525" y="19050"/>
                </a:lnTo>
                <a:lnTo>
                  <a:pt x="19050" y="9525"/>
                </a:lnTo>
                <a:lnTo>
                  <a:pt x="19050" y="19050"/>
                </a:lnTo>
                <a:close/>
              </a:path>
              <a:path w="353060" h="1156970">
                <a:moveTo>
                  <a:pt x="333971" y="19050"/>
                </a:moveTo>
                <a:lnTo>
                  <a:pt x="19050" y="19050"/>
                </a:lnTo>
                <a:lnTo>
                  <a:pt x="19050" y="9525"/>
                </a:lnTo>
                <a:lnTo>
                  <a:pt x="333971" y="9525"/>
                </a:lnTo>
                <a:lnTo>
                  <a:pt x="333971" y="19050"/>
                </a:lnTo>
                <a:close/>
              </a:path>
              <a:path w="353060" h="1156970">
                <a:moveTo>
                  <a:pt x="333971" y="1147254"/>
                </a:moveTo>
                <a:lnTo>
                  <a:pt x="333971" y="9525"/>
                </a:lnTo>
                <a:lnTo>
                  <a:pt x="343496" y="19050"/>
                </a:lnTo>
                <a:lnTo>
                  <a:pt x="353021" y="19050"/>
                </a:lnTo>
                <a:lnTo>
                  <a:pt x="353021" y="1137729"/>
                </a:lnTo>
                <a:lnTo>
                  <a:pt x="343496" y="1137729"/>
                </a:lnTo>
                <a:lnTo>
                  <a:pt x="333971" y="1147254"/>
                </a:lnTo>
                <a:close/>
              </a:path>
              <a:path w="353060" h="1156970">
                <a:moveTo>
                  <a:pt x="353021" y="19050"/>
                </a:moveTo>
                <a:lnTo>
                  <a:pt x="343496" y="19050"/>
                </a:lnTo>
                <a:lnTo>
                  <a:pt x="333971" y="9525"/>
                </a:lnTo>
                <a:lnTo>
                  <a:pt x="353021" y="9525"/>
                </a:lnTo>
                <a:lnTo>
                  <a:pt x="353021" y="19050"/>
                </a:lnTo>
                <a:close/>
              </a:path>
              <a:path w="353060" h="1156970">
                <a:moveTo>
                  <a:pt x="19050" y="1147254"/>
                </a:moveTo>
                <a:lnTo>
                  <a:pt x="9525" y="1137729"/>
                </a:lnTo>
                <a:lnTo>
                  <a:pt x="19050" y="1137729"/>
                </a:lnTo>
                <a:lnTo>
                  <a:pt x="19050" y="1147254"/>
                </a:lnTo>
                <a:close/>
              </a:path>
              <a:path w="353060" h="1156970">
                <a:moveTo>
                  <a:pt x="333971" y="1147254"/>
                </a:moveTo>
                <a:lnTo>
                  <a:pt x="19050" y="1147254"/>
                </a:lnTo>
                <a:lnTo>
                  <a:pt x="19050" y="1137729"/>
                </a:lnTo>
                <a:lnTo>
                  <a:pt x="333971" y="1137729"/>
                </a:lnTo>
                <a:lnTo>
                  <a:pt x="333971" y="1147254"/>
                </a:lnTo>
                <a:close/>
              </a:path>
              <a:path w="353060" h="1156970">
                <a:moveTo>
                  <a:pt x="353021" y="1147254"/>
                </a:moveTo>
                <a:lnTo>
                  <a:pt x="333971" y="1147254"/>
                </a:lnTo>
                <a:lnTo>
                  <a:pt x="343496" y="1137729"/>
                </a:lnTo>
                <a:lnTo>
                  <a:pt x="353021" y="1137729"/>
                </a:lnTo>
                <a:lnTo>
                  <a:pt x="353021" y="1147254"/>
                </a:lnTo>
                <a:close/>
              </a:path>
            </a:pathLst>
          </a:custGeom>
          <a:solidFill>
            <a:srgbClr val="C00000"/>
          </a:solidFill>
        </p:spPr>
        <p:txBody>
          <a:bodyPr wrap="square" lIns="0" tIns="0" rIns="0" bIns="0" rtlCol="0"/>
          <a:lstStyle/>
          <a:p/>
        </p:txBody>
      </p:sp>
      <p:sp>
        <p:nvSpPr>
          <p:cNvPr id="6" name="object 6"/>
          <p:cNvSpPr/>
          <p:nvPr/>
        </p:nvSpPr>
        <p:spPr>
          <a:xfrm>
            <a:off x="5971032" y="2543555"/>
            <a:ext cx="299085" cy="201295"/>
          </a:xfrm>
          <a:custGeom>
            <a:avLst/>
            <a:gdLst/>
            <a:ahLst/>
            <a:cxnLst/>
            <a:rect l="l" t="t" r="r" b="b"/>
            <a:pathLst>
              <a:path w="299085" h="201294">
                <a:moveTo>
                  <a:pt x="298703" y="201168"/>
                </a:moveTo>
                <a:lnTo>
                  <a:pt x="0" y="201168"/>
                </a:lnTo>
                <a:lnTo>
                  <a:pt x="149351" y="0"/>
                </a:lnTo>
                <a:lnTo>
                  <a:pt x="298703" y="201168"/>
                </a:lnTo>
                <a:close/>
              </a:path>
            </a:pathLst>
          </a:custGeom>
          <a:solidFill>
            <a:srgbClr val="C00000"/>
          </a:solidFill>
        </p:spPr>
        <p:txBody>
          <a:bodyPr wrap="square" lIns="0" tIns="0" rIns="0" bIns="0" rtlCol="0"/>
          <a:lstStyle/>
          <a:p/>
        </p:txBody>
      </p:sp>
      <p:sp>
        <p:nvSpPr>
          <p:cNvPr id="7" name="object 7"/>
          <p:cNvSpPr/>
          <p:nvPr/>
        </p:nvSpPr>
        <p:spPr>
          <a:xfrm>
            <a:off x="5951982" y="2528061"/>
            <a:ext cx="337820" cy="227329"/>
          </a:xfrm>
          <a:custGeom>
            <a:avLst/>
            <a:gdLst/>
            <a:ahLst/>
            <a:cxnLst/>
            <a:rect l="l" t="t" r="r" b="b"/>
            <a:pathLst>
              <a:path w="337820" h="227330">
                <a:moveTo>
                  <a:pt x="337210" y="226758"/>
                </a:moveTo>
                <a:lnTo>
                  <a:pt x="0" y="226758"/>
                </a:lnTo>
                <a:lnTo>
                  <a:pt x="168605" y="0"/>
                </a:lnTo>
                <a:lnTo>
                  <a:pt x="184705" y="21653"/>
                </a:lnTo>
                <a:lnTo>
                  <a:pt x="160959" y="21653"/>
                </a:lnTo>
                <a:lnTo>
                  <a:pt x="168605" y="31935"/>
                </a:lnTo>
                <a:lnTo>
                  <a:pt x="37906" y="207708"/>
                </a:lnTo>
                <a:lnTo>
                  <a:pt x="18948" y="207708"/>
                </a:lnTo>
                <a:lnTo>
                  <a:pt x="26593" y="222923"/>
                </a:lnTo>
                <a:lnTo>
                  <a:pt x="334358" y="222923"/>
                </a:lnTo>
                <a:lnTo>
                  <a:pt x="337210" y="226758"/>
                </a:lnTo>
                <a:close/>
              </a:path>
              <a:path w="337820" h="227330">
                <a:moveTo>
                  <a:pt x="168605" y="31935"/>
                </a:moveTo>
                <a:lnTo>
                  <a:pt x="160959" y="21653"/>
                </a:lnTo>
                <a:lnTo>
                  <a:pt x="176250" y="21653"/>
                </a:lnTo>
                <a:lnTo>
                  <a:pt x="168605" y="31935"/>
                </a:lnTo>
                <a:close/>
              </a:path>
              <a:path w="337820" h="227330">
                <a:moveTo>
                  <a:pt x="310616" y="222923"/>
                </a:moveTo>
                <a:lnTo>
                  <a:pt x="168605" y="31935"/>
                </a:lnTo>
                <a:lnTo>
                  <a:pt x="176250" y="21653"/>
                </a:lnTo>
                <a:lnTo>
                  <a:pt x="184705" y="21653"/>
                </a:lnTo>
                <a:lnTo>
                  <a:pt x="323045" y="207708"/>
                </a:lnTo>
                <a:lnTo>
                  <a:pt x="318262" y="207708"/>
                </a:lnTo>
                <a:lnTo>
                  <a:pt x="310616" y="222923"/>
                </a:lnTo>
                <a:close/>
              </a:path>
              <a:path w="337820" h="227330">
                <a:moveTo>
                  <a:pt x="26593" y="222923"/>
                </a:moveTo>
                <a:lnTo>
                  <a:pt x="18948" y="207708"/>
                </a:lnTo>
                <a:lnTo>
                  <a:pt x="37906" y="207708"/>
                </a:lnTo>
                <a:lnTo>
                  <a:pt x="26593" y="222923"/>
                </a:lnTo>
                <a:close/>
              </a:path>
              <a:path w="337820" h="227330">
                <a:moveTo>
                  <a:pt x="310616" y="222923"/>
                </a:moveTo>
                <a:lnTo>
                  <a:pt x="26593" y="222923"/>
                </a:lnTo>
                <a:lnTo>
                  <a:pt x="37906" y="207708"/>
                </a:lnTo>
                <a:lnTo>
                  <a:pt x="299303" y="207708"/>
                </a:lnTo>
                <a:lnTo>
                  <a:pt x="310616" y="222923"/>
                </a:lnTo>
                <a:close/>
              </a:path>
              <a:path w="337820" h="227330">
                <a:moveTo>
                  <a:pt x="334358" y="222923"/>
                </a:moveTo>
                <a:lnTo>
                  <a:pt x="310616" y="222923"/>
                </a:lnTo>
                <a:lnTo>
                  <a:pt x="318262" y="207708"/>
                </a:lnTo>
                <a:lnTo>
                  <a:pt x="323045" y="207708"/>
                </a:lnTo>
                <a:lnTo>
                  <a:pt x="334358" y="222923"/>
                </a:lnTo>
                <a:close/>
              </a:path>
            </a:pathLst>
          </a:custGeom>
          <a:solidFill>
            <a:srgbClr val="C00000"/>
          </a:solidFill>
        </p:spPr>
        <p:txBody>
          <a:bodyPr wrap="square" lIns="0" tIns="0" rIns="0" bIns="0" rtlCol="0"/>
          <a:lstStyle/>
          <a:p/>
        </p:txBody>
      </p:sp>
      <p:sp>
        <p:nvSpPr>
          <p:cNvPr id="8" name="object 8"/>
          <p:cNvSpPr txBox="1"/>
          <p:nvPr/>
        </p:nvSpPr>
        <p:spPr>
          <a:xfrm>
            <a:off x="6026378" y="1996376"/>
            <a:ext cx="18796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C00000"/>
                </a:solidFill>
                <a:latin typeface="Calibri" panose="020F0502020204030204"/>
                <a:cs typeface="Calibri" panose="020F0502020204030204"/>
              </a:rPr>
              <a:t>PC</a:t>
            </a:r>
            <a:endParaRPr sz="1200">
              <a:latin typeface="Calibri" panose="020F0502020204030204"/>
              <a:cs typeface="Calibri" panose="020F0502020204030204"/>
            </a:endParaRPr>
          </a:p>
        </p:txBody>
      </p:sp>
      <p:sp>
        <p:nvSpPr>
          <p:cNvPr id="9" name="object 9"/>
          <p:cNvSpPr/>
          <p:nvPr/>
        </p:nvSpPr>
        <p:spPr>
          <a:xfrm>
            <a:off x="5961888" y="3480815"/>
            <a:ext cx="334010" cy="1138555"/>
          </a:xfrm>
          <a:custGeom>
            <a:avLst/>
            <a:gdLst/>
            <a:ahLst/>
            <a:cxnLst/>
            <a:rect l="l" t="t" r="r" b="b"/>
            <a:pathLst>
              <a:path w="334010" h="1138554">
                <a:moveTo>
                  <a:pt x="0" y="0"/>
                </a:moveTo>
                <a:lnTo>
                  <a:pt x="333756" y="0"/>
                </a:lnTo>
                <a:lnTo>
                  <a:pt x="333756" y="1138427"/>
                </a:lnTo>
                <a:lnTo>
                  <a:pt x="0" y="1138427"/>
                </a:lnTo>
                <a:lnTo>
                  <a:pt x="0" y="0"/>
                </a:lnTo>
                <a:close/>
              </a:path>
            </a:pathLst>
          </a:custGeom>
          <a:solidFill>
            <a:srgbClr val="D9D9D9"/>
          </a:solidFill>
        </p:spPr>
        <p:txBody>
          <a:bodyPr wrap="square" lIns="0" tIns="0" rIns="0" bIns="0" rtlCol="0"/>
          <a:lstStyle/>
          <a:p/>
        </p:txBody>
      </p:sp>
      <p:sp>
        <p:nvSpPr>
          <p:cNvPr id="10" name="object 10"/>
          <p:cNvSpPr/>
          <p:nvPr/>
        </p:nvSpPr>
        <p:spPr>
          <a:xfrm>
            <a:off x="5951956" y="3471570"/>
            <a:ext cx="353060" cy="1156970"/>
          </a:xfrm>
          <a:custGeom>
            <a:avLst/>
            <a:gdLst/>
            <a:ahLst/>
            <a:cxnLst/>
            <a:rect l="l" t="t" r="r" b="b"/>
            <a:pathLst>
              <a:path w="353060" h="1156970">
                <a:moveTo>
                  <a:pt x="353009" y="1156779"/>
                </a:moveTo>
                <a:lnTo>
                  <a:pt x="0" y="1156779"/>
                </a:lnTo>
                <a:lnTo>
                  <a:pt x="0" y="0"/>
                </a:lnTo>
                <a:lnTo>
                  <a:pt x="353009" y="0"/>
                </a:lnTo>
                <a:lnTo>
                  <a:pt x="353009" y="9525"/>
                </a:lnTo>
                <a:lnTo>
                  <a:pt x="19050" y="9525"/>
                </a:lnTo>
                <a:lnTo>
                  <a:pt x="9525" y="19050"/>
                </a:lnTo>
                <a:lnTo>
                  <a:pt x="19050" y="19050"/>
                </a:lnTo>
                <a:lnTo>
                  <a:pt x="19050" y="1137729"/>
                </a:lnTo>
                <a:lnTo>
                  <a:pt x="9525" y="1137729"/>
                </a:lnTo>
                <a:lnTo>
                  <a:pt x="19050" y="1147254"/>
                </a:lnTo>
                <a:lnTo>
                  <a:pt x="353009" y="1147254"/>
                </a:lnTo>
                <a:lnTo>
                  <a:pt x="353009" y="1156779"/>
                </a:lnTo>
                <a:close/>
              </a:path>
              <a:path w="353060" h="1156970">
                <a:moveTo>
                  <a:pt x="19050" y="19050"/>
                </a:moveTo>
                <a:lnTo>
                  <a:pt x="9525" y="19050"/>
                </a:lnTo>
                <a:lnTo>
                  <a:pt x="19050" y="9525"/>
                </a:lnTo>
                <a:lnTo>
                  <a:pt x="19050" y="19050"/>
                </a:lnTo>
                <a:close/>
              </a:path>
              <a:path w="353060" h="1156970">
                <a:moveTo>
                  <a:pt x="333959" y="19050"/>
                </a:moveTo>
                <a:lnTo>
                  <a:pt x="19050" y="19050"/>
                </a:lnTo>
                <a:lnTo>
                  <a:pt x="19050" y="9525"/>
                </a:lnTo>
                <a:lnTo>
                  <a:pt x="333959" y="9525"/>
                </a:lnTo>
                <a:lnTo>
                  <a:pt x="333959" y="19050"/>
                </a:lnTo>
                <a:close/>
              </a:path>
              <a:path w="353060" h="1156970">
                <a:moveTo>
                  <a:pt x="333959" y="1147254"/>
                </a:moveTo>
                <a:lnTo>
                  <a:pt x="333959" y="9525"/>
                </a:lnTo>
                <a:lnTo>
                  <a:pt x="343484" y="19050"/>
                </a:lnTo>
                <a:lnTo>
                  <a:pt x="353009" y="19050"/>
                </a:lnTo>
                <a:lnTo>
                  <a:pt x="353009" y="1137729"/>
                </a:lnTo>
                <a:lnTo>
                  <a:pt x="343484" y="1137729"/>
                </a:lnTo>
                <a:lnTo>
                  <a:pt x="333959" y="1147254"/>
                </a:lnTo>
                <a:close/>
              </a:path>
              <a:path w="353060" h="1156970">
                <a:moveTo>
                  <a:pt x="353009" y="19050"/>
                </a:moveTo>
                <a:lnTo>
                  <a:pt x="343484" y="19050"/>
                </a:lnTo>
                <a:lnTo>
                  <a:pt x="333959" y="9525"/>
                </a:lnTo>
                <a:lnTo>
                  <a:pt x="353009" y="9525"/>
                </a:lnTo>
                <a:lnTo>
                  <a:pt x="353009" y="19050"/>
                </a:lnTo>
                <a:close/>
              </a:path>
              <a:path w="353060" h="1156970">
                <a:moveTo>
                  <a:pt x="19050" y="1147254"/>
                </a:moveTo>
                <a:lnTo>
                  <a:pt x="9525" y="1137729"/>
                </a:lnTo>
                <a:lnTo>
                  <a:pt x="19050" y="1137729"/>
                </a:lnTo>
                <a:lnTo>
                  <a:pt x="19050" y="1147254"/>
                </a:lnTo>
                <a:close/>
              </a:path>
              <a:path w="353060" h="1156970">
                <a:moveTo>
                  <a:pt x="333959" y="1147254"/>
                </a:moveTo>
                <a:lnTo>
                  <a:pt x="19050" y="1147254"/>
                </a:lnTo>
                <a:lnTo>
                  <a:pt x="19050" y="1137729"/>
                </a:lnTo>
                <a:lnTo>
                  <a:pt x="333959" y="1137729"/>
                </a:lnTo>
                <a:lnTo>
                  <a:pt x="333959" y="1147254"/>
                </a:lnTo>
                <a:close/>
              </a:path>
              <a:path w="353060" h="1156970">
                <a:moveTo>
                  <a:pt x="353009" y="1147254"/>
                </a:moveTo>
                <a:lnTo>
                  <a:pt x="333959" y="1147254"/>
                </a:lnTo>
                <a:lnTo>
                  <a:pt x="343484" y="1137729"/>
                </a:lnTo>
                <a:lnTo>
                  <a:pt x="353009" y="1137729"/>
                </a:lnTo>
                <a:lnTo>
                  <a:pt x="353009" y="1147254"/>
                </a:lnTo>
                <a:close/>
              </a:path>
            </a:pathLst>
          </a:custGeom>
          <a:solidFill>
            <a:srgbClr val="C00000"/>
          </a:solidFill>
        </p:spPr>
        <p:txBody>
          <a:bodyPr wrap="square" lIns="0" tIns="0" rIns="0" bIns="0" rtlCol="0"/>
          <a:lstStyle/>
          <a:p/>
        </p:txBody>
      </p:sp>
      <p:sp>
        <p:nvSpPr>
          <p:cNvPr id="11" name="object 11"/>
          <p:cNvSpPr/>
          <p:nvPr/>
        </p:nvSpPr>
        <p:spPr>
          <a:xfrm>
            <a:off x="5981700" y="4418076"/>
            <a:ext cx="299085" cy="201295"/>
          </a:xfrm>
          <a:custGeom>
            <a:avLst/>
            <a:gdLst/>
            <a:ahLst/>
            <a:cxnLst/>
            <a:rect l="l" t="t" r="r" b="b"/>
            <a:pathLst>
              <a:path w="299085" h="201295">
                <a:moveTo>
                  <a:pt x="298703" y="201168"/>
                </a:moveTo>
                <a:lnTo>
                  <a:pt x="0" y="201168"/>
                </a:lnTo>
                <a:lnTo>
                  <a:pt x="149351" y="0"/>
                </a:lnTo>
                <a:lnTo>
                  <a:pt x="298703" y="201168"/>
                </a:lnTo>
                <a:close/>
              </a:path>
            </a:pathLst>
          </a:custGeom>
          <a:solidFill>
            <a:srgbClr val="C00000"/>
          </a:solidFill>
        </p:spPr>
        <p:txBody>
          <a:bodyPr wrap="square" lIns="0" tIns="0" rIns="0" bIns="0" rtlCol="0"/>
          <a:lstStyle/>
          <a:p/>
        </p:txBody>
      </p:sp>
      <p:sp>
        <p:nvSpPr>
          <p:cNvPr id="12" name="object 12"/>
          <p:cNvSpPr/>
          <p:nvPr/>
        </p:nvSpPr>
        <p:spPr>
          <a:xfrm>
            <a:off x="5962687" y="4401591"/>
            <a:ext cx="337820" cy="227329"/>
          </a:xfrm>
          <a:custGeom>
            <a:avLst/>
            <a:gdLst/>
            <a:ahLst/>
            <a:cxnLst/>
            <a:rect l="l" t="t" r="r" b="b"/>
            <a:pathLst>
              <a:path w="337820" h="227329">
                <a:moveTo>
                  <a:pt x="337210" y="226758"/>
                </a:moveTo>
                <a:lnTo>
                  <a:pt x="0" y="226758"/>
                </a:lnTo>
                <a:lnTo>
                  <a:pt x="168605" y="0"/>
                </a:lnTo>
                <a:lnTo>
                  <a:pt x="184705" y="21653"/>
                </a:lnTo>
                <a:lnTo>
                  <a:pt x="160972" y="21653"/>
                </a:lnTo>
                <a:lnTo>
                  <a:pt x="168611" y="31927"/>
                </a:lnTo>
                <a:lnTo>
                  <a:pt x="37918" y="207708"/>
                </a:lnTo>
                <a:lnTo>
                  <a:pt x="18961" y="207708"/>
                </a:lnTo>
                <a:lnTo>
                  <a:pt x="26606" y="222923"/>
                </a:lnTo>
                <a:lnTo>
                  <a:pt x="334358" y="222923"/>
                </a:lnTo>
                <a:lnTo>
                  <a:pt x="337210" y="226758"/>
                </a:lnTo>
                <a:close/>
              </a:path>
              <a:path w="337820" h="227329">
                <a:moveTo>
                  <a:pt x="168611" y="31927"/>
                </a:moveTo>
                <a:lnTo>
                  <a:pt x="160972" y="21653"/>
                </a:lnTo>
                <a:lnTo>
                  <a:pt x="176250" y="21653"/>
                </a:lnTo>
                <a:lnTo>
                  <a:pt x="168611" y="31927"/>
                </a:lnTo>
                <a:close/>
              </a:path>
              <a:path w="337820" h="227329">
                <a:moveTo>
                  <a:pt x="310616" y="222923"/>
                </a:moveTo>
                <a:lnTo>
                  <a:pt x="168611" y="31927"/>
                </a:lnTo>
                <a:lnTo>
                  <a:pt x="176250" y="21653"/>
                </a:lnTo>
                <a:lnTo>
                  <a:pt x="184705" y="21653"/>
                </a:lnTo>
                <a:lnTo>
                  <a:pt x="323045" y="207708"/>
                </a:lnTo>
                <a:lnTo>
                  <a:pt x="318262" y="207708"/>
                </a:lnTo>
                <a:lnTo>
                  <a:pt x="310616" y="222923"/>
                </a:lnTo>
                <a:close/>
              </a:path>
              <a:path w="337820" h="227329">
                <a:moveTo>
                  <a:pt x="26606" y="222923"/>
                </a:moveTo>
                <a:lnTo>
                  <a:pt x="18961" y="207708"/>
                </a:lnTo>
                <a:lnTo>
                  <a:pt x="37918" y="207708"/>
                </a:lnTo>
                <a:lnTo>
                  <a:pt x="26606" y="222923"/>
                </a:lnTo>
                <a:close/>
              </a:path>
              <a:path w="337820" h="227329">
                <a:moveTo>
                  <a:pt x="310616" y="222923"/>
                </a:moveTo>
                <a:lnTo>
                  <a:pt x="26606" y="222923"/>
                </a:lnTo>
                <a:lnTo>
                  <a:pt x="37918" y="207708"/>
                </a:lnTo>
                <a:lnTo>
                  <a:pt x="299304" y="207708"/>
                </a:lnTo>
                <a:lnTo>
                  <a:pt x="310616" y="222923"/>
                </a:lnTo>
                <a:close/>
              </a:path>
              <a:path w="337820" h="227329">
                <a:moveTo>
                  <a:pt x="334358" y="222923"/>
                </a:moveTo>
                <a:lnTo>
                  <a:pt x="310616" y="222923"/>
                </a:lnTo>
                <a:lnTo>
                  <a:pt x="318262" y="207708"/>
                </a:lnTo>
                <a:lnTo>
                  <a:pt x="323045" y="207708"/>
                </a:lnTo>
                <a:lnTo>
                  <a:pt x="334358" y="222923"/>
                </a:lnTo>
                <a:close/>
              </a:path>
            </a:pathLst>
          </a:custGeom>
          <a:solidFill>
            <a:srgbClr val="C00000"/>
          </a:solidFill>
        </p:spPr>
        <p:txBody>
          <a:bodyPr wrap="square" lIns="0" tIns="0" rIns="0" bIns="0" rtlCol="0"/>
          <a:lstStyle/>
          <a:p/>
        </p:txBody>
      </p:sp>
      <p:sp>
        <p:nvSpPr>
          <p:cNvPr id="13" name="object 13"/>
          <p:cNvSpPr txBox="1"/>
          <p:nvPr/>
        </p:nvSpPr>
        <p:spPr>
          <a:xfrm>
            <a:off x="6054864" y="3869905"/>
            <a:ext cx="1524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C00000"/>
                </a:solidFill>
                <a:latin typeface="Calibri" panose="020F0502020204030204"/>
                <a:cs typeface="Calibri" panose="020F0502020204030204"/>
              </a:rPr>
              <a:t>IR</a:t>
            </a:r>
            <a:endParaRPr sz="1200">
              <a:latin typeface="Calibri" panose="020F0502020204030204"/>
              <a:cs typeface="Calibri" panose="020F0502020204030204"/>
            </a:endParaRPr>
          </a:p>
        </p:txBody>
      </p:sp>
      <p:sp>
        <p:nvSpPr>
          <p:cNvPr id="14" name="object 14"/>
          <p:cNvSpPr/>
          <p:nvPr/>
        </p:nvSpPr>
        <p:spPr>
          <a:xfrm>
            <a:off x="6493509" y="1593278"/>
            <a:ext cx="5236210" cy="3036570"/>
          </a:xfrm>
          <a:custGeom>
            <a:avLst/>
            <a:gdLst/>
            <a:ahLst/>
            <a:cxnLst/>
            <a:rect l="l" t="t" r="r" b="b"/>
            <a:pathLst>
              <a:path w="5236209" h="3036570">
                <a:moveTo>
                  <a:pt x="5235892" y="3036227"/>
                </a:moveTo>
                <a:lnTo>
                  <a:pt x="0" y="3036227"/>
                </a:lnTo>
                <a:lnTo>
                  <a:pt x="0" y="0"/>
                </a:lnTo>
                <a:lnTo>
                  <a:pt x="5235892" y="0"/>
                </a:lnTo>
                <a:lnTo>
                  <a:pt x="5235892" y="14287"/>
                </a:lnTo>
                <a:lnTo>
                  <a:pt x="28574" y="14287"/>
                </a:lnTo>
                <a:lnTo>
                  <a:pt x="14287" y="28575"/>
                </a:lnTo>
                <a:lnTo>
                  <a:pt x="28574" y="28575"/>
                </a:lnTo>
                <a:lnTo>
                  <a:pt x="28574" y="3007652"/>
                </a:lnTo>
                <a:lnTo>
                  <a:pt x="14287" y="3007652"/>
                </a:lnTo>
                <a:lnTo>
                  <a:pt x="28574" y="3021939"/>
                </a:lnTo>
                <a:lnTo>
                  <a:pt x="5235892" y="3021939"/>
                </a:lnTo>
                <a:lnTo>
                  <a:pt x="5235892" y="3036227"/>
                </a:lnTo>
                <a:close/>
              </a:path>
              <a:path w="5236209" h="3036570">
                <a:moveTo>
                  <a:pt x="28574" y="28575"/>
                </a:moveTo>
                <a:lnTo>
                  <a:pt x="14287" y="28575"/>
                </a:lnTo>
                <a:lnTo>
                  <a:pt x="28574" y="14287"/>
                </a:lnTo>
                <a:lnTo>
                  <a:pt x="28574" y="28575"/>
                </a:lnTo>
                <a:close/>
              </a:path>
              <a:path w="5236209" h="3036570">
                <a:moveTo>
                  <a:pt x="5207317" y="28575"/>
                </a:moveTo>
                <a:lnTo>
                  <a:pt x="28574" y="28575"/>
                </a:lnTo>
                <a:lnTo>
                  <a:pt x="28574" y="14287"/>
                </a:lnTo>
                <a:lnTo>
                  <a:pt x="5207317" y="14287"/>
                </a:lnTo>
                <a:lnTo>
                  <a:pt x="5207317" y="28575"/>
                </a:lnTo>
                <a:close/>
              </a:path>
              <a:path w="5236209" h="3036570">
                <a:moveTo>
                  <a:pt x="5207317" y="3021939"/>
                </a:moveTo>
                <a:lnTo>
                  <a:pt x="5207317" y="14287"/>
                </a:lnTo>
                <a:lnTo>
                  <a:pt x="5221605" y="28575"/>
                </a:lnTo>
                <a:lnTo>
                  <a:pt x="5235892" y="28575"/>
                </a:lnTo>
                <a:lnTo>
                  <a:pt x="5235892" y="3007652"/>
                </a:lnTo>
                <a:lnTo>
                  <a:pt x="5221605" y="3007652"/>
                </a:lnTo>
                <a:lnTo>
                  <a:pt x="5207317" y="3021939"/>
                </a:lnTo>
                <a:close/>
              </a:path>
              <a:path w="5236209" h="3036570">
                <a:moveTo>
                  <a:pt x="5235892" y="28575"/>
                </a:moveTo>
                <a:lnTo>
                  <a:pt x="5221605" y="28575"/>
                </a:lnTo>
                <a:lnTo>
                  <a:pt x="5207317" y="14287"/>
                </a:lnTo>
                <a:lnTo>
                  <a:pt x="5235892" y="14287"/>
                </a:lnTo>
                <a:lnTo>
                  <a:pt x="5235892" y="28575"/>
                </a:lnTo>
                <a:close/>
              </a:path>
              <a:path w="5236209" h="3036570">
                <a:moveTo>
                  <a:pt x="28574" y="3021939"/>
                </a:moveTo>
                <a:lnTo>
                  <a:pt x="14287" y="3007652"/>
                </a:lnTo>
                <a:lnTo>
                  <a:pt x="28574" y="3007652"/>
                </a:lnTo>
                <a:lnTo>
                  <a:pt x="28574" y="3021939"/>
                </a:lnTo>
                <a:close/>
              </a:path>
              <a:path w="5236209" h="3036570">
                <a:moveTo>
                  <a:pt x="5207317" y="3021939"/>
                </a:moveTo>
                <a:lnTo>
                  <a:pt x="28574" y="3021939"/>
                </a:lnTo>
                <a:lnTo>
                  <a:pt x="28574" y="3007652"/>
                </a:lnTo>
                <a:lnTo>
                  <a:pt x="5207317" y="3007652"/>
                </a:lnTo>
                <a:lnTo>
                  <a:pt x="5207317" y="3021939"/>
                </a:lnTo>
                <a:close/>
              </a:path>
              <a:path w="5236209" h="3036570">
                <a:moveTo>
                  <a:pt x="5235892" y="3021939"/>
                </a:moveTo>
                <a:lnTo>
                  <a:pt x="5207317" y="3021939"/>
                </a:lnTo>
                <a:lnTo>
                  <a:pt x="5221605" y="3007652"/>
                </a:lnTo>
                <a:lnTo>
                  <a:pt x="5235892" y="3007652"/>
                </a:lnTo>
                <a:lnTo>
                  <a:pt x="5235892" y="3021939"/>
                </a:lnTo>
                <a:close/>
              </a:path>
            </a:pathLst>
          </a:custGeom>
          <a:solidFill>
            <a:srgbClr val="C00000"/>
          </a:solidFill>
        </p:spPr>
        <p:txBody>
          <a:bodyPr wrap="square" lIns="0" tIns="0" rIns="0" bIns="0" rtlCol="0"/>
          <a:lstStyle/>
          <a:p/>
        </p:txBody>
      </p:sp>
      <p:sp>
        <p:nvSpPr>
          <p:cNvPr id="15" name="object 15"/>
          <p:cNvSpPr txBox="1"/>
          <p:nvPr/>
        </p:nvSpPr>
        <p:spPr>
          <a:xfrm>
            <a:off x="10744251" y="1589976"/>
            <a:ext cx="626110" cy="451484"/>
          </a:xfrm>
          <a:prstGeom prst="rect">
            <a:avLst/>
          </a:prstGeom>
        </p:spPr>
        <p:txBody>
          <a:bodyPr vert="horz" wrap="square" lIns="0" tIns="12065" rIns="0" bIns="0" rtlCol="0">
            <a:spAutoFit/>
          </a:bodyPr>
          <a:lstStyle/>
          <a:p>
            <a:pPr marL="12700">
              <a:lnSpc>
                <a:spcPct val="100000"/>
              </a:lnSpc>
              <a:spcBef>
                <a:spcPts val="95"/>
              </a:spcBef>
            </a:pPr>
            <a:r>
              <a:rPr sz="2800" b="1" spc="-5" dirty="0">
                <a:solidFill>
                  <a:srgbClr val="C00000"/>
                </a:solidFill>
                <a:latin typeface="Calibri" panose="020F0502020204030204"/>
                <a:cs typeface="Calibri" panose="020F0502020204030204"/>
              </a:rPr>
              <a:t>EXU</a:t>
            </a:r>
            <a:endParaRPr sz="2800">
              <a:latin typeface="Calibri" panose="020F0502020204030204"/>
              <a:cs typeface="Calibri" panose="020F0502020204030204"/>
            </a:endParaRPr>
          </a:p>
        </p:txBody>
      </p:sp>
      <p:sp>
        <p:nvSpPr>
          <p:cNvPr id="16" name="object 16"/>
          <p:cNvSpPr/>
          <p:nvPr/>
        </p:nvSpPr>
        <p:spPr>
          <a:xfrm>
            <a:off x="5724550" y="1744637"/>
            <a:ext cx="5741403" cy="3905592"/>
          </a:xfrm>
          <a:prstGeom prst="rect">
            <a:avLst/>
          </a:prstGeom>
          <a:blipFill>
            <a:blip r:embed="rId1" cstate="print"/>
            <a:stretch>
              <a:fillRect/>
            </a:stretch>
          </a:blipFill>
        </p:spPr>
        <p:txBody>
          <a:bodyPr wrap="square" lIns="0" tIns="0" rIns="0" bIns="0" rtlCol="0"/>
          <a:lstStyle/>
          <a:p/>
        </p:txBody>
      </p:sp>
      <p:sp>
        <p:nvSpPr>
          <p:cNvPr id="17" name="object 17"/>
          <p:cNvSpPr txBox="1"/>
          <p:nvPr/>
        </p:nvSpPr>
        <p:spPr>
          <a:xfrm>
            <a:off x="5936322" y="2939084"/>
            <a:ext cx="482600" cy="299720"/>
          </a:xfrm>
          <a:prstGeom prst="rect">
            <a:avLst/>
          </a:prstGeom>
        </p:spPr>
        <p:txBody>
          <a:bodyPr vert="horz" wrap="square" lIns="0" tIns="12700" rIns="0" bIns="0" rtlCol="0">
            <a:spAutoFit/>
          </a:bodyPr>
          <a:lstStyle/>
          <a:p>
            <a:pPr marL="69850" marR="5080" indent="-57150">
              <a:lnSpc>
                <a:spcPct val="100000"/>
              </a:lnSpc>
              <a:spcBef>
                <a:spcPts val="100"/>
              </a:spcBef>
            </a:pPr>
            <a:r>
              <a:rPr sz="900" b="1" dirty="0">
                <a:solidFill>
                  <a:srgbClr val="C00000"/>
                </a:solidFill>
                <a:latin typeface="微软雅黑" panose="020B0503020204020204" charset="-122"/>
                <a:cs typeface="微软雅黑" panose="020B0503020204020204" charset="-122"/>
              </a:rPr>
              <a:t>流水线冲 刷请求</a:t>
            </a:r>
            <a:endParaRPr sz="900">
              <a:latin typeface="微软雅黑" panose="020B0503020204020204" charset="-122"/>
              <a:cs typeface="微软雅黑" panose="020B0503020204020204" charset="-122"/>
            </a:endParaRPr>
          </a:p>
        </p:txBody>
      </p:sp>
      <p:sp>
        <p:nvSpPr>
          <p:cNvPr id="18" name="object 18"/>
          <p:cNvSpPr txBox="1"/>
          <p:nvPr/>
        </p:nvSpPr>
        <p:spPr>
          <a:xfrm>
            <a:off x="9406687" y="2147861"/>
            <a:ext cx="482600" cy="391160"/>
          </a:xfrm>
          <a:prstGeom prst="rect">
            <a:avLst/>
          </a:prstGeom>
        </p:spPr>
        <p:txBody>
          <a:bodyPr vert="horz" wrap="square" lIns="0" tIns="12700" rIns="0" bIns="0" rtlCol="0">
            <a:spAutoFit/>
          </a:bodyPr>
          <a:lstStyle/>
          <a:p>
            <a:pPr marL="12700" marR="5080">
              <a:lnSpc>
                <a:spcPct val="100000"/>
              </a:lnSpc>
              <a:spcBef>
                <a:spcPts val="100"/>
              </a:spcBef>
            </a:pPr>
            <a:r>
              <a:rPr sz="1200" b="1" dirty="0">
                <a:solidFill>
                  <a:srgbClr val="C00000"/>
                </a:solidFill>
                <a:latin typeface="微软雅黑" panose="020B0503020204020204" charset="-122"/>
                <a:cs typeface="微软雅黑" panose="020B0503020204020204" charset="-122"/>
              </a:rPr>
              <a:t>通用寄 存器组</a:t>
            </a:r>
            <a:endParaRPr sz="1200">
              <a:latin typeface="微软雅黑" panose="020B0503020204020204" charset="-122"/>
              <a:cs typeface="微软雅黑" panose="020B0503020204020204" charset="-122"/>
            </a:endParaRPr>
          </a:p>
        </p:txBody>
      </p:sp>
      <p:sp>
        <p:nvSpPr>
          <p:cNvPr id="19" name="object 19"/>
          <p:cNvSpPr txBox="1"/>
          <p:nvPr/>
        </p:nvSpPr>
        <p:spPr>
          <a:xfrm>
            <a:off x="7087869" y="3288474"/>
            <a:ext cx="330200" cy="391160"/>
          </a:xfrm>
          <a:prstGeom prst="rect">
            <a:avLst/>
          </a:prstGeom>
        </p:spPr>
        <p:txBody>
          <a:bodyPr vert="horz" wrap="square" lIns="0" tIns="12700" rIns="0" bIns="0" rtlCol="0">
            <a:spAutoFit/>
          </a:bodyPr>
          <a:lstStyle/>
          <a:p>
            <a:pPr marL="12700" marR="5080">
              <a:lnSpc>
                <a:spcPct val="100000"/>
              </a:lnSpc>
              <a:spcBef>
                <a:spcPts val="100"/>
              </a:spcBef>
            </a:pPr>
            <a:r>
              <a:rPr sz="1200" b="1" dirty="0">
                <a:solidFill>
                  <a:srgbClr val="C00000"/>
                </a:solidFill>
                <a:latin typeface="微软雅黑" panose="020B0503020204020204" charset="-122"/>
                <a:cs typeface="微软雅黑" panose="020B0503020204020204" charset="-122"/>
              </a:rPr>
              <a:t>译码 派遣</a:t>
            </a:r>
            <a:endParaRPr sz="1200">
              <a:latin typeface="微软雅黑" panose="020B0503020204020204" charset="-122"/>
              <a:cs typeface="微软雅黑" panose="020B0503020204020204" charset="-122"/>
            </a:endParaRPr>
          </a:p>
        </p:txBody>
      </p:sp>
      <p:sp>
        <p:nvSpPr>
          <p:cNvPr id="20" name="object 20"/>
          <p:cNvSpPr txBox="1"/>
          <p:nvPr/>
        </p:nvSpPr>
        <p:spPr>
          <a:xfrm>
            <a:off x="8196770" y="3610229"/>
            <a:ext cx="338455"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C00000"/>
                </a:solidFill>
                <a:latin typeface="微软雅黑" panose="020B0503020204020204" charset="-122"/>
                <a:cs typeface="微软雅黑" panose="020B0503020204020204" charset="-122"/>
              </a:rPr>
              <a:t>A</a:t>
            </a:r>
            <a:r>
              <a:rPr sz="1200" b="1" spc="-30" dirty="0">
                <a:solidFill>
                  <a:srgbClr val="C00000"/>
                </a:solidFill>
                <a:latin typeface="微软雅黑" panose="020B0503020204020204" charset="-122"/>
                <a:cs typeface="微软雅黑" panose="020B0503020204020204" charset="-122"/>
              </a:rPr>
              <a:t>L</a:t>
            </a:r>
            <a:r>
              <a:rPr sz="1200" b="1" dirty="0">
                <a:solidFill>
                  <a:srgbClr val="C00000"/>
                </a:solidFill>
                <a:latin typeface="微软雅黑" panose="020B0503020204020204" charset="-122"/>
                <a:cs typeface="微软雅黑" panose="020B0503020204020204" charset="-122"/>
              </a:rPr>
              <a:t>U</a:t>
            </a:r>
            <a:endParaRPr sz="1200">
              <a:latin typeface="微软雅黑" panose="020B0503020204020204" charset="-122"/>
              <a:cs typeface="微软雅黑" panose="020B0503020204020204" charset="-122"/>
            </a:endParaRPr>
          </a:p>
        </p:txBody>
      </p:sp>
      <p:sp>
        <p:nvSpPr>
          <p:cNvPr id="21" name="object 21"/>
          <p:cNvSpPr txBox="1"/>
          <p:nvPr/>
        </p:nvSpPr>
        <p:spPr>
          <a:xfrm>
            <a:off x="7059955" y="4185754"/>
            <a:ext cx="381635"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C00000"/>
                </a:solidFill>
                <a:latin typeface="微软雅黑" panose="020B0503020204020204" charset="-122"/>
                <a:cs typeface="微软雅黑" panose="020B0503020204020204" charset="-122"/>
              </a:rPr>
              <a:t>O</a:t>
            </a:r>
            <a:r>
              <a:rPr sz="1200" b="1" dirty="0">
                <a:solidFill>
                  <a:srgbClr val="C00000"/>
                </a:solidFill>
                <a:latin typeface="微软雅黑" panose="020B0503020204020204" charset="-122"/>
                <a:cs typeface="微软雅黑" panose="020B0503020204020204" charset="-122"/>
              </a:rPr>
              <a:t>I</a:t>
            </a:r>
            <a:r>
              <a:rPr sz="1200" b="1" spc="-5" dirty="0">
                <a:solidFill>
                  <a:srgbClr val="C00000"/>
                </a:solidFill>
                <a:latin typeface="微软雅黑" panose="020B0503020204020204" charset="-122"/>
                <a:cs typeface="微软雅黑" panose="020B0503020204020204" charset="-122"/>
              </a:rPr>
              <a:t>T</a:t>
            </a:r>
            <a:r>
              <a:rPr sz="1200" b="1" dirty="0">
                <a:solidFill>
                  <a:srgbClr val="C00000"/>
                </a:solidFill>
                <a:latin typeface="微软雅黑" panose="020B0503020204020204" charset="-122"/>
                <a:cs typeface="微软雅黑" panose="020B0503020204020204" charset="-122"/>
              </a:rPr>
              <a:t>F</a:t>
            </a:r>
            <a:endParaRPr sz="1200">
              <a:latin typeface="微软雅黑" panose="020B0503020204020204" charset="-122"/>
              <a:cs typeface="微软雅黑" panose="020B0503020204020204" charset="-122"/>
            </a:endParaRPr>
          </a:p>
        </p:txBody>
      </p:sp>
      <p:sp>
        <p:nvSpPr>
          <p:cNvPr id="22" name="object 22"/>
          <p:cNvSpPr txBox="1"/>
          <p:nvPr/>
        </p:nvSpPr>
        <p:spPr>
          <a:xfrm>
            <a:off x="7455166" y="1780831"/>
            <a:ext cx="786765" cy="1031240"/>
          </a:xfrm>
          <a:prstGeom prst="rect">
            <a:avLst/>
          </a:prstGeom>
        </p:spPr>
        <p:txBody>
          <a:bodyPr vert="horz" wrap="square" lIns="0" tIns="12700" rIns="0" bIns="0" rtlCol="0">
            <a:spAutoFit/>
          </a:bodyPr>
          <a:lstStyle/>
          <a:p>
            <a:pPr marL="8890" algn="ctr">
              <a:lnSpc>
                <a:spcPct val="100000"/>
              </a:lnSpc>
              <a:spcBef>
                <a:spcPts val="100"/>
              </a:spcBef>
            </a:pPr>
            <a:r>
              <a:rPr sz="1200" b="1" dirty="0">
                <a:solidFill>
                  <a:srgbClr val="C00000"/>
                </a:solidFill>
                <a:latin typeface="微软雅黑" panose="020B0503020204020204" charset="-122"/>
                <a:cs typeface="微软雅黑" panose="020B0503020204020204" charset="-122"/>
              </a:rPr>
              <a:t>交付</a:t>
            </a:r>
            <a:endParaRPr sz="1200">
              <a:latin typeface="微软雅黑" panose="020B0503020204020204" charset="-122"/>
              <a:cs typeface="微软雅黑" panose="020B0503020204020204" charset="-122"/>
            </a:endParaRPr>
          </a:p>
          <a:p>
            <a:pPr algn="ctr">
              <a:lnSpc>
                <a:spcPct val="100000"/>
              </a:lnSpc>
              <a:spcBef>
                <a:spcPts val="740"/>
              </a:spcBef>
            </a:pPr>
            <a:r>
              <a:rPr sz="1000" dirty="0">
                <a:solidFill>
                  <a:srgbClr val="C00000"/>
                </a:solidFill>
                <a:latin typeface="微软雅黑" panose="020B0503020204020204" charset="-122"/>
                <a:cs typeface="微软雅黑" panose="020B0503020204020204" charset="-122"/>
              </a:rPr>
              <a:t>中</a:t>
            </a:r>
            <a:r>
              <a:rPr sz="1000" spc="-5" dirty="0">
                <a:solidFill>
                  <a:srgbClr val="C00000"/>
                </a:solidFill>
                <a:latin typeface="微软雅黑" panose="020B0503020204020204" charset="-122"/>
                <a:cs typeface="微软雅黑" panose="020B0503020204020204" charset="-122"/>
              </a:rPr>
              <a:t>断</a:t>
            </a:r>
            <a:endParaRPr sz="1000">
              <a:latin typeface="微软雅黑" panose="020B0503020204020204" charset="-122"/>
              <a:cs typeface="微软雅黑" panose="020B0503020204020204" charset="-122"/>
            </a:endParaRPr>
          </a:p>
          <a:p>
            <a:pPr algn="ctr">
              <a:lnSpc>
                <a:spcPct val="100000"/>
              </a:lnSpc>
              <a:spcBef>
                <a:spcPts val="1095"/>
              </a:spcBef>
            </a:pPr>
            <a:r>
              <a:rPr sz="1000" dirty="0">
                <a:solidFill>
                  <a:srgbClr val="C00000"/>
                </a:solidFill>
                <a:latin typeface="微软雅黑" panose="020B0503020204020204" charset="-122"/>
                <a:cs typeface="微软雅黑" panose="020B0503020204020204" charset="-122"/>
              </a:rPr>
              <a:t>异</a:t>
            </a:r>
            <a:r>
              <a:rPr sz="1000" spc="-5" dirty="0">
                <a:solidFill>
                  <a:srgbClr val="C00000"/>
                </a:solidFill>
                <a:latin typeface="微软雅黑" panose="020B0503020204020204" charset="-122"/>
                <a:cs typeface="微软雅黑" panose="020B0503020204020204" charset="-122"/>
              </a:rPr>
              <a:t>常</a:t>
            </a:r>
            <a:endParaRPr sz="1000">
              <a:latin typeface="微软雅黑" panose="020B0503020204020204" charset="-122"/>
              <a:cs typeface="微软雅黑" panose="020B0503020204020204" charset="-122"/>
            </a:endParaRPr>
          </a:p>
          <a:p>
            <a:pPr algn="ctr">
              <a:lnSpc>
                <a:spcPct val="100000"/>
              </a:lnSpc>
              <a:spcBef>
                <a:spcPts val="1040"/>
              </a:spcBef>
            </a:pPr>
            <a:r>
              <a:rPr sz="1000" dirty="0">
                <a:solidFill>
                  <a:srgbClr val="C00000"/>
                </a:solidFill>
                <a:latin typeface="微软雅黑" panose="020B0503020204020204" charset="-122"/>
                <a:cs typeface="微软雅黑" panose="020B0503020204020204" charset="-122"/>
              </a:rPr>
              <a:t>分支预测解</a:t>
            </a:r>
            <a:r>
              <a:rPr sz="1000" spc="-5" dirty="0">
                <a:solidFill>
                  <a:srgbClr val="C00000"/>
                </a:solidFill>
                <a:latin typeface="微软雅黑" panose="020B0503020204020204" charset="-122"/>
                <a:cs typeface="微软雅黑" panose="020B0503020204020204" charset="-122"/>
              </a:rPr>
              <a:t>析</a:t>
            </a:r>
            <a:endParaRPr sz="1000">
              <a:latin typeface="微软雅黑" panose="020B0503020204020204" charset="-122"/>
              <a:cs typeface="微软雅黑" panose="020B0503020204020204" charset="-122"/>
            </a:endParaRPr>
          </a:p>
        </p:txBody>
      </p:sp>
      <p:sp>
        <p:nvSpPr>
          <p:cNvPr id="23" name="object 23"/>
          <p:cNvSpPr txBox="1"/>
          <p:nvPr/>
        </p:nvSpPr>
        <p:spPr>
          <a:xfrm>
            <a:off x="9270441" y="4161701"/>
            <a:ext cx="482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C00000"/>
                </a:solidFill>
                <a:latin typeface="微软雅黑" panose="020B0503020204020204" charset="-122"/>
                <a:cs typeface="微软雅黑" panose="020B0503020204020204" charset="-122"/>
              </a:rPr>
              <a:t>长指令</a:t>
            </a:r>
            <a:endParaRPr sz="1200">
              <a:latin typeface="微软雅黑" panose="020B0503020204020204" charset="-122"/>
              <a:cs typeface="微软雅黑" panose="020B0503020204020204" charset="-122"/>
            </a:endParaRPr>
          </a:p>
        </p:txBody>
      </p:sp>
      <p:sp>
        <p:nvSpPr>
          <p:cNvPr id="24" name="object 24"/>
          <p:cNvSpPr txBox="1"/>
          <p:nvPr/>
        </p:nvSpPr>
        <p:spPr>
          <a:xfrm>
            <a:off x="9335973" y="4775758"/>
            <a:ext cx="318770" cy="779780"/>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C00000"/>
                </a:solidFill>
                <a:latin typeface="微软雅黑" panose="020B0503020204020204" charset="-122"/>
                <a:cs typeface="微软雅黑" panose="020B0503020204020204" charset="-122"/>
              </a:rPr>
              <a:t>LS</a:t>
            </a:r>
            <a:r>
              <a:rPr sz="1200" b="1" dirty="0">
                <a:solidFill>
                  <a:srgbClr val="C00000"/>
                </a:solidFill>
                <a:latin typeface="微软雅黑" panose="020B0503020204020204" charset="-122"/>
                <a:cs typeface="微软雅黑" panose="020B0503020204020204" charset="-122"/>
              </a:rPr>
              <a:t>U</a:t>
            </a:r>
            <a:endParaRPr sz="1200">
              <a:latin typeface="微软雅黑" panose="020B0503020204020204" charset="-122"/>
              <a:cs typeface="微软雅黑" panose="020B0503020204020204" charset="-122"/>
            </a:endParaRPr>
          </a:p>
          <a:p>
            <a:pPr>
              <a:lnSpc>
                <a:spcPct val="100000"/>
              </a:lnSpc>
            </a:pPr>
            <a:endParaRPr sz="1600">
              <a:latin typeface="Times New Roman" panose="02020603050405020304"/>
              <a:cs typeface="Times New Roman" panose="02020603050405020304"/>
            </a:endParaRPr>
          </a:p>
          <a:p>
            <a:pPr marL="31750">
              <a:lnSpc>
                <a:spcPct val="100000"/>
              </a:lnSpc>
              <a:spcBef>
                <a:spcPts val="1215"/>
              </a:spcBef>
            </a:pPr>
            <a:r>
              <a:rPr sz="1200" b="1" dirty="0">
                <a:solidFill>
                  <a:srgbClr val="C00000"/>
                </a:solidFill>
                <a:latin typeface="微软雅黑" panose="020B0503020204020204" charset="-122"/>
                <a:cs typeface="微软雅黑" panose="020B0503020204020204" charset="-122"/>
              </a:rPr>
              <a:t>EAI</a:t>
            </a:r>
            <a:endParaRPr sz="1200">
              <a:latin typeface="微软雅黑" panose="020B0503020204020204" charset="-122"/>
              <a:cs typeface="微软雅黑" panose="020B0503020204020204" charset="-122"/>
            </a:endParaRPr>
          </a:p>
        </p:txBody>
      </p:sp>
      <p:sp>
        <p:nvSpPr>
          <p:cNvPr id="25" name="object 25"/>
          <p:cNvSpPr txBox="1"/>
          <p:nvPr/>
        </p:nvSpPr>
        <p:spPr>
          <a:xfrm>
            <a:off x="10947539" y="3611676"/>
            <a:ext cx="380365" cy="238125"/>
          </a:xfrm>
          <a:prstGeom prst="rect">
            <a:avLst/>
          </a:prstGeom>
        </p:spPr>
        <p:txBody>
          <a:bodyPr vert="horz" wrap="square" lIns="0" tIns="12065" rIns="0" bIns="0" rtlCol="0">
            <a:spAutoFit/>
          </a:bodyPr>
          <a:lstStyle/>
          <a:p>
            <a:pPr marL="57150" marR="5080" indent="-44450">
              <a:lnSpc>
                <a:spcPct val="100000"/>
              </a:lnSpc>
              <a:spcBef>
                <a:spcPts val="95"/>
              </a:spcBef>
            </a:pPr>
            <a:r>
              <a:rPr sz="700" b="1" dirty="0">
                <a:solidFill>
                  <a:srgbClr val="C00000"/>
                </a:solidFill>
                <a:latin typeface="微软雅黑" panose="020B0503020204020204" charset="-122"/>
                <a:cs typeface="微软雅黑" panose="020B0503020204020204" charset="-122"/>
              </a:rPr>
              <a:t>长指令</a:t>
            </a:r>
            <a:r>
              <a:rPr sz="700" b="1" spc="-5" dirty="0">
                <a:solidFill>
                  <a:srgbClr val="C00000"/>
                </a:solidFill>
                <a:latin typeface="微软雅黑" panose="020B0503020204020204" charset="-122"/>
                <a:cs typeface="微软雅黑" panose="020B0503020204020204" charset="-122"/>
              </a:rPr>
              <a:t>写 </a:t>
            </a:r>
            <a:r>
              <a:rPr sz="700" b="1" dirty="0">
                <a:solidFill>
                  <a:srgbClr val="C00000"/>
                </a:solidFill>
                <a:latin typeface="微软雅黑" panose="020B0503020204020204" charset="-122"/>
                <a:cs typeface="微软雅黑" panose="020B0503020204020204" charset="-122"/>
              </a:rPr>
              <a:t>回仲</a:t>
            </a:r>
            <a:r>
              <a:rPr sz="700" b="1" spc="-5" dirty="0">
                <a:solidFill>
                  <a:srgbClr val="C00000"/>
                </a:solidFill>
                <a:latin typeface="微软雅黑" panose="020B0503020204020204" charset="-122"/>
                <a:cs typeface="微软雅黑" panose="020B0503020204020204" charset="-122"/>
              </a:rPr>
              <a:t>裁</a:t>
            </a:r>
            <a:endParaRPr sz="700">
              <a:latin typeface="微软雅黑" panose="020B0503020204020204" charset="-122"/>
              <a:cs typeface="微软雅黑" panose="020B0503020204020204" charset="-122"/>
            </a:endParaRPr>
          </a:p>
        </p:txBody>
      </p:sp>
      <p:sp>
        <p:nvSpPr>
          <p:cNvPr id="26" name="object 26"/>
          <p:cNvSpPr txBox="1"/>
          <p:nvPr/>
        </p:nvSpPr>
        <p:spPr>
          <a:xfrm>
            <a:off x="9894316" y="3139224"/>
            <a:ext cx="291465" cy="238125"/>
          </a:xfrm>
          <a:prstGeom prst="rect">
            <a:avLst/>
          </a:prstGeom>
        </p:spPr>
        <p:txBody>
          <a:bodyPr vert="horz" wrap="square" lIns="0" tIns="12065" rIns="0" bIns="0" rtlCol="0">
            <a:spAutoFit/>
          </a:bodyPr>
          <a:lstStyle/>
          <a:p>
            <a:pPr marL="12700" marR="5080">
              <a:lnSpc>
                <a:spcPct val="100000"/>
              </a:lnSpc>
              <a:spcBef>
                <a:spcPts val="95"/>
              </a:spcBef>
            </a:pPr>
            <a:r>
              <a:rPr sz="700" b="1" dirty="0">
                <a:solidFill>
                  <a:srgbClr val="C00000"/>
                </a:solidFill>
                <a:latin typeface="微软雅黑" panose="020B0503020204020204" charset="-122"/>
                <a:cs typeface="微软雅黑" panose="020B0503020204020204" charset="-122"/>
              </a:rPr>
              <a:t>最终</a:t>
            </a:r>
            <a:r>
              <a:rPr sz="700" b="1" spc="-5" dirty="0">
                <a:solidFill>
                  <a:srgbClr val="C00000"/>
                </a:solidFill>
                <a:latin typeface="微软雅黑" panose="020B0503020204020204" charset="-122"/>
                <a:cs typeface="微软雅黑" panose="020B0503020204020204" charset="-122"/>
              </a:rPr>
              <a:t>写 </a:t>
            </a:r>
            <a:r>
              <a:rPr sz="700" b="1" dirty="0">
                <a:solidFill>
                  <a:srgbClr val="C00000"/>
                </a:solidFill>
                <a:latin typeface="微软雅黑" panose="020B0503020204020204" charset="-122"/>
                <a:cs typeface="微软雅黑" panose="020B0503020204020204" charset="-122"/>
              </a:rPr>
              <a:t>回仲</a:t>
            </a:r>
            <a:r>
              <a:rPr sz="700" b="1" spc="-5" dirty="0">
                <a:solidFill>
                  <a:srgbClr val="C00000"/>
                </a:solidFill>
                <a:latin typeface="微软雅黑" panose="020B0503020204020204" charset="-122"/>
                <a:cs typeface="微软雅黑" panose="020B0503020204020204" charset="-122"/>
              </a:rPr>
              <a:t>裁</a:t>
            </a:r>
            <a:endParaRPr sz="700">
              <a:latin typeface="微软雅黑" panose="020B0503020204020204" charset="-122"/>
              <a:cs typeface="微软雅黑" panose="020B0503020204020204" charset="-122"/>
            </a:endParaRPr>
          </a:p>
        </p:txBody>
      </p:sp>
      <p:sp>
        <p:nvSpPr>
          <p:cNvPr id="27" name="object 27"/>
          <p:cNvSpPr txBox="1"/>
          <p:nvPr/>
        </p:nvSpPr>
        <p:spPr>
          <a:xfrm>
            <a:off x="9081375" y="2583497"/>
            <a:ext cx="283210" cy="333375"/>
          </a:xfrm>
          <a:prstGeom prst="rect">
            <a:avLst/>
          </a:prstGeom>
        </p:spPr>
        <p:txBody>
          <a:bodyPr vert="eaVert" wrap="square" lIns="0" tIns="0" rIns="0" bIns="0" rtlCol="0">
            <a:spAutoFit/>
          </a:bodyPr>
          <a:lstStyle/>
          <a:p>
            <a:pPr marL="12700">
              <a:lnSpc>
                <a:spcPct val="70000"/>
              </a:lnSpc>
            </a:pPr>
            <a:r>
              <a:rPr sz="800" b="1" spc="-5" dirty="0">
                <a:solidFill>
                  <a:srgbClr val="C00000"/>
                </a:solidFill>
                <a:latin typeface="微软雅黑" panose="020B0503020204020204" charset="-122"/>
                <a:cs typeface="微软雅黑" panose="020B0503020204020204" charset="-122"/>
              </a:rPr>
              <a:t>读端</a:t>
            </a:r>
            <a:r>
              <a:rPr sz="800" b="1" dirty="0">
                <a:solidFill>
                  <a:srgbClr val="C00000"/>
                </a:solidFill>
                <a:latin typeface="微软雅黑" panose="020B0503020204020204" charset="-122"/>
                <a:cs typeface="微软雅黑" panose="020B0503020204020204" charset="-122"/>
              </a:rPr>
              <a:t>口</a:t>
            </a:r>
            <a:endParaRPr sz="800">
              <a:latin typeface="微软雅黑" panose="020B0503020204020204" charset="-122"/>
              <a:cs typeface="微软雅黑" panose="020B0503020204020204" charset="-122"/>
            </a:endParaRPr>
          </a:p>
          <a:p>
            <a:pPr marL="14605">
              <a:lnSpc>
                <a:spcPct val="100000"/>
              </a:lnSpc>
              <a:spcBef>
                <a:spcPts val="260"/>
              </a:spcBef>
            </a:pPr>
            <a:r>
              <a:rPr sz="800" b="1" spc="-5" dirty="0">
                <a:solidFill>
                  <a:srgbClr val="C00000"/>
                </a:solidFill>
                <a:latin typeface="微软雅黑" panose="020B0503020204020204" charset="-122"/>
                <a:cs typeface="微软雅黑" panose="020B0503020204020204" charset="-122"/>
              </a:rPr>
              <a:t>读端</a:t>
            </a:r>
            <a:r>
              <a:rPr sz="800" b="1" dirty="0">
                <a:solidFill>
                  <a:srgbClr val="C00000"/>
                </a:solidFill>
                <a:latin typeface="微软雅黑" panose="020B0503020204020204" charset="-122"/>
                <a:cs typeface="微软雅黑" panose="020B0503020204020204" charset="-122"/>
              </a:rPr>
              <a:t>口</a:t>
            </a:r>
            <a:endParaRPr sz="800">
              <a:latin typeface="微软雅黑" panose="020B0503020204020204" charset="-122"/>
              <a:cs typeface="微软雅黑" panose="020B0503020204020204" charset="-122"/>
            </a:endParaRPr>
          </a:p>
        </p:txBody>
      </p:sp>
      <p:sp>
        <p:nvSpPr>
          <p:cNvPr id="28" name="object 28"/>
          <p:cNvSpPr txBox="1"/>
          <p:nvPr/>
        </p:nvSpPr>
        <p:spPr>
          <a:xfrm>
            <a:off x="9064462" y="2887662"/>
            <a:ext cx="315595" cy="91440"/>
          </a:xfrm>
          <a:prstGeom prst="rect">
            <a:avLst/>
          </a:prstGeom>
        </p:spPr>
        <p:txBody>
          <a:bodyPr vert="vert" wrap="square" lIns="0" tIns="19050" rIns="0" bIns="0" rtlCol="0">
            <a:spAutoFit/>
          </a:bodyPr>
          <a:lstStyle/>
          <a:p>
            <a:pPr marL="12700">
              <a:lnSpc>
                <a:spcPct val="100000"/>
              </a:lnSpc>
              <a:spcBef>
                <a:spcPts val="150"/>
              </a:spcBef>
            </a:pPr>
            <a:r>
              <a:rPr sz="800" b="1" dirty="0">
                <a:solidFill>
                  <a:srgbClr val="C00000"/>
                </a:solidFill>
                <a:latin typeface="微软雅黑" panose="020B0503020204020204" charset="-122"/>
                <a:cs typeface="微软雅黑" panose="020B0503020204020204" charset="-122"/>
              </a:rPr>
              <a:t>2</a:t>
            </a:r>
            <a:endParaRPr sz="800">
              <a:latin typeface="微软雅黑" panose="020B0503020204020204" charset="-122"/>
              <a:cs typeface="微软雅黑" panose="020B0503020204020204" charset="-122"/>
            </a:endParaRPr>
          </a:p>
          <a:p>
            <a:pPr marL="14605">
              <a:lnSpc>
                <a:spcPct val="100000"/>
              </a:lnSpc>
              <a:spcBef>
                <a:spcPts val="260"/>
              </a:spcBef>
            </a:pPr>
            <a:r>
              <a:rPr sz="800" b="1" dirty="0">
                <a:solidFill>
                  <a:srgbClr val="C00000"/>
                </a:solidFill>
                <a:latin typeface="微软雅黑" panose="020B0503020204020204" charset="-122"/>
                <a:cs typeface="微软雅黑" panose="020B0503020204020204" charset="-122"/>
              </a:rPr>
              <a:t>1</a:t>
            </a:r>
            <a:endParaRPr sz="800">
              <a:latin typeface="微软雅黑" panose="020B0503020204020204" charset="-122"/>
              <a:cs typeface="微软雅黑" panose="020B0503020204020204" charset="-122"/>
            </a:endParaRPr>
          </a:p>
        </p:txBody>
      </p:sp>
      <p:sp>
        <p:nvSpPr>
          <p:cNvPr id="29" name="object 29"/>
          <p:cNvSpPr txBox="1"/>
          <p:nvPr/>
        </p:nvSpPr>
        <p:spPr>
          <a:xfrm>
            <a:off x="9964801" y="2640520"/>
            <a:ext cx="127635" cy="330835"/>
          </a:xfrm>
          <a:prstGeom prst="rect">
            <a:avLst/>
          </a:prstGeom>
        </p:spPr>
        <p:txBody>
          <a:bodyPr vert="eaVert" wrap="square" lIns="0" tIns="0" rIns="0" bIns="0" rtlCol="0">
            <a:spAutoFit/>
          </a:bodyPr>
          <a:lstStyle/>
          <a:p>
            <a:pPr marL="12700">
              <a:lnSpc>
                <a:spcPct val="70000"/>
              </a:lnSpc>
            </a:pPr>
            <a:r>
              <a:rPr sz="800" b="1" spc="-5" dirty="0">
                <a:solidFill>
                  <a:srgbClr val="C00000"/>
                </a:solidFill>
                <a:latin typeface="微软雅黑" panose="020B0503020204020204" charset="-122"/>
                <a:cs typeface="微软雅黑" panose="020B0503020204020204" charset="-122"/>
              </a:rPr>
              <a:t>写端</a:t>
            </a:r>
            <a:r>
              <a:rPr sz="800" b="1" dirty="0">
                <a:solidFill>
                  <a:srgbClr val="C00000"/>
                </a:solidFill>
                <a:latin typeface="微软雅黑" panose="020B0503020204020204" charset="-122"/>
                <a:cs typeface="微软雅黑" panose="020B0503020204020204" charset="-122"/>
              </a:rPr>
              <a:t>口</a:t>
            </a:r>
            <a:endParaRPr sz="800">
              <a:latin typeface="微软雅黑" panose="020B0503020204020204" charset="-122"/>
              <a:cs typeface="微软雅黑" panose="020B0503020204020204" charset="-122"/>
            </a:endParaRPr>
          </a:p>
        </p:txBody>
      </p:sp>
      <p:sp>
        <p:nvSpPr>
          <p:cNvPr id="30" name="object 30"/>
          <p:cNvSpPr/>
          <p:nvPr/>
        </p:nvSpPr>
        <p:spPr>
          <a:xfrm>
            <a:off x="4800371" y="1593875"/>
            <a:ext cx="927735" cy="3039745"/>
          </a:xfrm>
          <a:custGeom>
            <a:avLst/>
            <a:gdLst/>
            <a:ahLst/>
            <a:cxnLst/>
            <a:rect l="l" t="t" r="r" b="b"/>
            <a:pathLst>
              <a:path w="927735" h="3039745">
                <a:moveTo>
                  <a:pt x="927125" y="3039237"/>
                </a:moveTo>
                <a:lnTo>
                  <a:pt x="0" y="3039237"/>
                </a:lnTo>
                <a:lnTo>
                  <a:pt x="0" y="0"/>
                </a:lnTo>
                <a:lnTo>
                  <a:pt x="927125" y="0"/>
                </a:lnTo>
                <a:lnTo>
                  <a:pt x="927125" y="14287"/>
                </a:lnTo>
                <a:lnTo>
                  <a:pt x="28575" y="14287"/>
                </a:lnTo>
                <a:lnTo>
                  <a:pt x="14287" y="28574"/>
                </a:lnTo>
                <a:lnTo>
                  <a:pt x="28575" y="28574"/>
                </a:lnTo>
                <a:lnTo>
                  <a:pt x="28575" y="3010661"/>
                </a:lnTo>
                <a:lnTo>
                  <a:pt x="14287" y="3010661"/>
                </a:lnTo>
                <a:lnTo>
                  <a:pt x="28575" y="3024949"/>
                </a:lnTo>
                <a:lnTo>
                  <a:pt x="927125" y="3024949"/>
                </a:lnTo>
                <a:lnTo>
                  <a:pt x="927125" y="3039237"/>
                </a:lnTo>
                <a:close/>
              </a:path>
              <a:path w="927735" h="3039745">
                <a:moveTo>
                  <a:pt x="28575" y="28574"/>
                </a:moveTo>
                <a:lnTo>
                  <a:pt x="14287" y="28574"/>
                </a:lnTo>
                <a:lnTo>
                  <a:pt x="28575" y="14287"/>
                </a:lnTo>
                <a:lnTo>
                  <a:pt x="28575" y="28574"/>
                </a:lnTo>
                <a:close/>
              </a:path>
              <a:path w="927735" h="3039745">
                <a:moveTo>
                  <a:pt x="898550" y="28574"/>
                </a:moveTo>
                <a:lnTo>
                  <a:pt x="28575" y="28574"/>
                </a:lnTo>
                <a:lnTo>
                  <a:pt x="28575" y="14287"/>
                </a:lnTo>
                <a:lnTo>
                  <a:pt x="898550" y="14287"/>
                </a:lnTo>
                <a:lnTo>
                  <a:pt x="898550" y="28574"/>
                </a:lnTo>
                <a:close/>
              </a:path>
              <a:path w="927735" h="3039745">
                <a:moveTo>
                  <a:pt x="898550" y="3024949"/>
                </a:moveTo>
                <a:lnTo>
                  <a:pt x="898550" y="14287"/>
                </a:lnTo>
                <a:lnTo>
                  <a:pt x="912837" y="28574"/>
                </a:lnTo>
                <a:lnTo>
                  <a:pt x="927125" y="28574"/>
                </a:lnTo>
                <a:lnTo>
                  <a:pt x="927125" y="3010662"/>
                </a:lnTo>
                <a:lnTo>
                  <a:pt x="912837" y="3010661"/>
                </a:lnTo>
                <a:lnTo>
                  <a:pt x="898550" y="3024949"/>
                </a:lnTo>
                <a:close/>
              </a:path>
              <a:path w="927735" h="3039745">
                <a:moveTo>
                  <a:pt x="927125" y="28574"/>
                </a:moveTo>
                <a:lnTo>
                  <a:pt x="912837" y="28574"/>
                </a:lnTo>
                <a:lnTo>
                  <a:pt x="898550" y="14287"/>
                </a:lnTo>
                <a:lnTo>
                  <a:pt x="927125" y="14287"/>
                </a:lnTo>
                <a:lnTo>
                  <a:pt x="927125" y="28574"/>
                </a:lnTo>
                <a:close/>
              </a:path>
              <a:path w="927735" h="3039745">
                <a:moveTo>
                  <a:pt x="28575" y="3024949"/>
                </a:moveTo>
                <a:lnTo>
                  <a:pt x="14287" y="3010661"/>
                </a:lnTo>
                <a:lnTo>
                  <a:pt x="28575" y="3010661"/>
                </a:lnTo>
                <a:lnTo>
                  <a:pt x="28575" y="3024949"/>
                </a:lnTo>
                <a:close/>
              </a:path>
              <a:path w="927735" h="3039745">
                <a:moveTo>
                  <a:pt x="898550" y="3024949"/>
                </a:moveTo>
                <a:lnTo>
                  <a:pt x="28575" y="3024949"/>
                </a:lnTo>
                <a:lnTo>
                  <a:pt x="28575" y="3010661"/>
                </a:lnTo>
                <a:lnTo>
                  <a:pt x="898550" y="3010661"/>
                </a:lnTo>
                <a:lnTo>
                  <a:pt x="898550" y="3024949"/>
                </a:lnTo>
                <a:close/>
              </a:path>
              <a:path w="927735" h="3039745">
                <a:moveTo>
                  <a:pt x="927125" y="3024949"/>
                </a:moveTo>
                <a:lnTo>
                  <a:pt x="898550" y="3024949"/>
                </a:lnTo>
                <a:lnTo>
                  <a:pt x="912837" y="3010661"/>
                </a:lnTo>
                <a:lnTo>
                  <a:pt x="927125" y="3010662"/>
                </a:lnTo>
                <a:lnTo>
                  <a:pt x="927125" y="3024949"/>
                </a:lnTo>
                <a:close/>
              </a:path>
            </a:pathLst>
          </a:custGeom>
          <a:solidFill>
            <a:srgbClr val="C00000"/>
          </a:solidFill>
        </p:spPr>
        <p:txBody>
          <a:bodyPr wrap="square" lIns="0" tIns="0" rIns="0" bIns="0" rtlCol="0"/>
          <a:lstStyle/>
          <a:p/>
        </p:txBody>
      </p:sp>
      <p:sp>
        <p:nvSpPr>
          <p:cNvPr id="31" name="object 31"/>
          <p:cNvSpPr txBox="1"/>
          <p:nvPr/>
        </p:nvSpPr>
        <p:spPr>
          <a:xfrm>
            <a:off x="5130698" y="1623631"/>
            <a:ext cx="43815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00000"/>
                </a:solidFill>
                <a:latin typeface="Calibri" panose="020F0502020204030204"/>
                <a:cs typeface="Calibri" panose="020F0502020204030204"/>
              </a:rPr>
              <a:t>IFU</a:t>
            </a:r>
            <a:endParaRPr sz="2400">
              <a:latin typeface="Calibri" panose="020F0502020204030204"/>
              <a:cs typeface="Calibri" panose="020F0502020204030204"/>
            </a:endParaRPr>
          </a:p>
        </p:txBody>
      </p:sp>
      <p:sp>
        <p:nvSpPr>
          <p:cNvPr id="32" name="object 32"/>
          <p:cNvSpPr/>
          <p:nvPr/>
        </p:nvSpPr>
        <p:spPr>
          <a:xfrm>
            <a:off x="4655820" y="1370075"/>
            <a:ext cx="440690" cy="3512820"/>
          </a:xfrm>
          <a:custGeom>
            <a:avLst/>
            <a:gdLst/>
            <a:ahLst/>
            <a:cxnLst/>
            <a:rect l="l" t="t" r="r" b="b"/>
            <a:pathLst>
              <a:path w="440689" h="3512820">
                <a:moveTo>
                  <a:pt x="0" y="0"/>
                </a:moveTo>
                <a:lnTo>
                  <a:pt x="440436" y="0"/>
                </a:lnTo>
                <a:lnTo>
                  <a:pt x="440436" y="3512820"/>
                </a:lnTo>
                <a:lnTo>
                  <a:pt x="0" y="3512820"/>
                </a:lnTo>
                <a:lnTo>
                  <a:pt x="0" y="0"/>
                </a:lnTo>
                <a:close/>
              </a:path>
            </a:pathLst>
          </a:custGeom>
          <a:solidFill>
            <a:srgbClr val="FFFFFF"/>
          </a:solidFill>
        </p:spPr>
        <p:txBody>
          <a:bodyPr wrap="square" lIns="0" tIns="0" rIns="0" bIns="0" rtlCol="0"/>
          <a:lstStyle/>
          <a:p/>
        </p:txBody>
      </p:sp>
      <p:sp>
        <p:nvSpPr>
          <p:cNvPr id="33" name="object 33"/>
          <p:cNvSpPr/>
          <p:nvPr/>
        </p:nvSpPr>
        <p:spPr>
          <a:xfrm>
            <a:off x="5696140" y="2070760"/>
            <a:ext cx="249593" cy="76187"/>
          </a:xfrm>
          <a:prstGeom prst="rect">
            <a:avLst/>
          </a:prstGeom>
          <a:blipFill>
            <a:blip r:embed="rId2" cstate="print"/>
            <a:stretch>
              <a:fillRect/>
            </a:stretch>
          </a:blipFill>
        </p:spPr>
        <p:txBody>
          <a:bodyPr wrap="square" lIns="0" tIns="0" rIns="0" bIns="0" rtlCol="0"/>
          <a:lstStyle/>
          <a:p/>
        </p:txBody>
      </p:sp>
      <p:sp>
        <p:nvSpPr>
          <p:cNvPr id="34" name="object 34"/>
          <p:cNvSpPr/>
          <p:nvPr/>
        </p:nvSpPr>
        <p:spPr>
          <a:xfrm>
            <a:off x="5732055" y="4012387"/>
            <a:ext cx="249593" cy="76187"/>
          </a:xfrm>
          <a:prstGeom prst="rect">
            <a:avLst/>
          </a:prstGeom>
          <a:blipFill>
            <a:blip r:embed="rId2" cstate="print"/>
            <a:stretch>
              <a:fillRect/>
            </a:stretch>
          </a:blipFill>
        </p:spPr>
        <p:txBody>
          <a:bodyPr wrap="square" lIns="0" tIns="0" rIns="0" bIns="0" rtlCol="0"/>
          <a:lstStyle/>
          <a:p/>
        </p:txBody>
      </p:sp>
      <p:sp>
        <p:nvSpPr>
          <p:cNvPr id="35" name="object 35"/>
          <p:cNvSpPr txBox="1"/>
          <p:nvPr/>
        </p:nvSpPr>
        <p:spPr>
          <a:xfrm>
            <a:off x="421436" y="1414831"/>
            <a:ext cx="4224655" cy="3225800"/>
          </a:xfrm>
          <a:prstGeom prst="rect">
            <a:avLst/>
          </a:prstGeom>
        </p:spPr>
        <p:txBody>
          <a:bodyPr vert="horz" wrap="square" lIns="0" tIns="118745" rIns="0" bIns="0" rtlCol="0">
            <a:spAutoFit/>
          </a:bodyPr>
          <a:lstStyle/>
          <a:p>
            <a:pPr marL="12700">
              <a:lnSpc>
                <a:spcPct val="100000"/>
              </a:lnSpc>
              <a:spcBef>
                <a:spcPts val="935"/>
              </a:spcBef>
            </a:pPr>
            <a:r>
              <a:rPr sz="1400" dirty="0">
                <a:latin typeface="微软雅黑" panose="020B0503020204020204" charset="-122"/>
                <a:cs typeface="微软雅黑" panose="020B0503020204020204" charset="-122"/>
              </a:rPr>
              <a:t>蜂鸟</a:t>
            </a:r>
            <a:r>
              <a:rPr sz="1400" spc="-5" dirty="0">
                <a:latin typeface="微软雅黑" panose="020B0503020204020204" charset="-122"/>
                <a:cs typeface="微软雅黑" panose="020B0503020204020204" charset="-122"/>
              </a:rPr>
              <a:t>E203</a:t>
            </a:r>
            <a:r>
              <a:rPr sz="1400" dirty="0">
                <a:latin typeface="微软雅黑" panose="020B0503020204020204" charset="-122"/>
                <a:cs typeface="微软雅黑" panose="020B0503020204020204" charset="-122"/>
              </a:rPr>
              <a:t>的执行单元设计思路如下</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355600" marR="43815" indent="-342900">
              <a:lnSpc>
                <a:spcPct val="150000"/>
              </a:lnSpc>
              <a:buFont typeface="Wingdings" panose="05000000000000000000"/>
              <a:buChar char=""/>
              <a:tabLst>
                <a:tab pos="354965" algn="l"/>
                <a:tab pos="355600" algn="l"/>
              </a:tabLst>
            </a:pPr>
            <a:r>
              <a:rPr sz="1400" spc="-5" dirty="0">
                <a:latin typeface="微软雅黑" panose="020B0503020204020204" charset="-122"/>
                <a:cs typeface="微软雅黑" panose="020B0503020204020204" charset="-122"/>
              </a:rPr>
              <a:t>将取指单元IFU通过IR寄存器发送给</a:t>
            </a:r>
            <a:r>
              <a:rPr sz="1400" dirty="0">
                <a:latin typeface="微软雅黑" panose="020B0503020204020204" charset="-122"/>
                <a:cs typeface="微软雅黑" panose="020B0503020204020204" charset="-122"/>
              </a:rPr>
              <a:t>E</a:t>
            </a:r>
            <a:r>
              <a:rPr sz="1400" spc="-5" dirty="0">
                <a:latin typeface="微软雅黑" panose="020B0503020204020204" charset="-122"/>
                <a:cs typeface="微软雅黑" panose="020B0503020204020204" charset="-122"/>
              </a:rPr>
              <a:t>XU的指令</a:t>
            </a:r>
            <a:r>
              <a:rPr sz="1400" dirty="0">
                <a:latin typeface="微软雅黑" panose="020B0503020204020204" charset="-122"/>
                <a:cs typeface="微软雅黑" panose="020B0503020204020204" charset="-122"/>
              </a:rPr>
              <a:t>进 </a:t>
            </a:r>
            <a:r>
              <a:rPr sz="1400" dirty="0">
                <a:latin typeface="微软雅黑" panose="020B0503020204020204" charset="-122"/>
                <a:cs typeface="微软雅黑" panose="020B0503020204020204" charset="-122"/>
              </a:rPr>
              <a:t>行译码和派遣</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355600" marR="73660" indent="-342900">
              <a:lnSpc>
                <a:spcPct val="150000"/>
              </a:lnSpc>
              <a:buFont typeface="Wingdings" panose="05000000000000000000"/>
              <a:buChar char=""/>
              <a:tabLst>
                <a:tab pos="354965" algn="l"/>
                <a:tab pos="355600" algn="l"/>
              </a:tabLst>
            </a:pPr>
            <a:r>
              <a:rPr sz="1400" dirty="0">
                <a:latin typeface="微软雅黑" panose="020B0503020204020204" charset="-122"/>
                <a:cs typeface="微软雅黑" panose="020B0503020204020204" charset="-122"/>
              </a:rPr>
              <a:t>通过译码出的操作数寄存器索引</a:t>
            </a:r>
            <a:r>
              <a:rPr sz="1400" dirty="0">
                <a:latin typeface="微软雅黑" panose="020B0503020204020204" charset="-122"/>
                <a:cs typeface="微软雅黑" panose="020B0503020204020204" charset="-122"/>
              </a:rPr>
              <a:t>(</a:t>
            </a:r>
            <a:r>
              <a:rPr sz="1400" spc="-5" dirty="0">
                <a:latin typeface="微软雅黑" panose="020B0503020204020204" charset="-122"/>
                <a:cs typeface="微软雅黑" panose="020B0503020204020204" charset="-122"/>
              </a:rPr>
              <a:t>Index</a:t>
            </a:r>
            <a:r>
              <a:rPr sz="1400" dirty="0">
                <a:latin typeface="微软雅黑" panose="020B0503020204020204" charset="-122"/>
                <a:cs typeface="微软雅黑" panose="020B0503020204020204" charset="-122"/>
              </a:rPr>
              <a:t>)</a:t>
            </a:r>
            <a:r>
              <a:rPr sz="1400" dirty="0">
                <a:latin typeface="微软雅黑" panose="020B0503020204020204" charset="-122"/>
                <a:cs typeface="微软雅黑" panose="020B0503020204020204" charset="-122"/>
              </a:rPr>
              <a:t>读取通</a:t>
            </a:r>
            <a:r>
              <a:rPr sz="1400" dirty="0">
                <a:latin typeface="微软雅黑" panose="020B0503020204020204" charset="-122"/>
                <a:cs typeface="微软雅黑" panose="020B0503020204020204" charset="-122"/>
              </a:rPr>
              <a:t>用 </a:t>
            </a:r>
            <a:r>
              <a:rPr sz="1400" dirty="0">
                <a:latin typeface="微软雅黑" panose="020B0503020204020204" charset="-122"/>
                <a:cs typeface="微软雅黑" panose="020B0503020204020204" charset="-122"/>
              </a:rPr>
              <a:t>寄存器组中的数据</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355600" indent="-342900">
              <a:lnSpc>
                <a:spcPct val="100000"/>
              </a:lnSpc>
              <a:spcBef>
                <a:spcPts val="840"/>
              </a:spcBef>
              <a:buFont typeface="Wingdings" panose="05000000000000000000"/>
              <a:buChar char=""/>
              <a:tabLst>
                <a:tab pos="354965" algn="l"/>
                <a:tab pos="355600" algn="l"/>
              </a:tabLst>
            </a:pPr>
            <a:r>
              <a:rPr sz="1400" dirty="0">
                <a:latin typeface="微软雅黑" panose="020B0503020204020204" charset="-122"/>
                <a:cs typeface="微软雅黑" panose="020B0503020204020204" charset="-122"/>
              </a:rPr>
              <a:t>通过</a:t>
            </a:r>
            <a:r>
              <a:rPr sz="1400" spc="-5" dirty="0">
                <a:latin typeface="微软雅黑" panose="020B0503020204020204" charset="-122"/>
                <a:cs typeface="微软雅黑" panose="020B0503020204020204" charset="-122"/>
              </a:rPr>
              <a:t>OITF</a:t>
            </a:r>
            <a:r>
              <a:rPr sz="1400" dirty="0">
                <a:latin typeface="微软雅黑" panose="020B0503020204020204" charset="-122"/>
                <a:cs typeface="微软雅黑" panose="020B0503020204020204" charset="-122"/>
              </a:rPr>
              <a:t>维护指令的数据相关性</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355600" marR="5080" indent="-342900">
              <a:lnSpc>
                <a:spcPct val="150000"/>
              </a:lnSpc>
              <a:buFont typeface="Wingdings" panose="05000000000000000000"/>
              <a:buChar char=""/>
              <a:tabLst>
                <a:tab pos="354965" algn="l"/>
                <a:tab pos="355600" algn="l"/>
              </a:tabLst>
            </a:pPr>
            <a:r>
              <a:rPr sz="1400" dirty="0">
                <a:latin typeface="微软雅黑" panose="020B0503020204020204" charset="-122"/>
                <a:cs typeface="微软雅黑" panose="020B0503020204020204" charset="-122"/>
              </a:rPr>
              <a:t>将指令派遣</a:t>
            </a:r>
            <a:r>
              <a:rPr sz="1400" spc="-10" dirty="0">
                <a:latin typeface="微软雅黑" panose="020B0503020204020204" charset="-122"/>
                <a:cs typeface="微软雅黑" panose="020B0503020204020204" charset="-122"/>
              </a:rPr>
              <a:t>(Dispatch)</a:t>
            </a:r>
            <a:r>
              <a:rPr sz="1400" dirty="0">
                <a:latin typeface="微软雅黑" panose="020B0503020204020204" charset="-122"/>
                <a:cs typeface="微软雅黑" panose="020B0503020204020204" charset="-122"/>
              </a:rPr>
              <a:t>给</a:t>
            </a:r>
            <a:r>
              <a:rPr sz="1400" spc="-10" dirty="0">
                <a:latin typeface="微软雅黑" panose="020B0503020204020204" charset="-122"/>
                <a:cs typeface="微软雅黑" panose="020B0503020204020204" charset="-122"/>
              </a:rPr>
              <a:t>ALU,</a:t>
            </a:r>
            <a:r>
              <a:rPr sz="1400" spc="-35" dirty="0">
                <a:latin typeface="微软雅黑" panose="020B0503020204020204" charset="-122"/>
                <a:cs typeface="微软雅黑" panose="020B0503020204020204" charset="-122"/>
              </a:rPr>
              <a:t> </a:t>
            </a:r>
            <a:r>
              <a:rPr sz="1400" dirty="0">
                <a:latin typeface="微软雅黑" panose="020B0503020204020204" charset="-122"/>
                <a:cs typeface="微软雅黑" panose="020B0503020204020204" charset="-122"/>
              </a:rPr>
              <a:t>长指令</a:t>
            </a:r>
            <a:r>
              <a:rPr sz="1400" spc="-5" dirty="0">
                <a:latin typeface="微软雅黑" panose="020B0503020204020204" charset="-122"/>
                <a:cs typeface="微软雅黑" panose="020B0503020204020204" charset="-122"/>
              </a:rPr>
              <a:t>，LSU</a:t>
            </a:r>
            <a:r>
              <a:rPr sz="1400" dirty="0">
                <a:latin typeface="微软雅黑" panose="020B0503020204020204" charset="-122"/>
                <a:cs typeface="微软雅黑" panose="020B0503020204020204" charset="-122"/>
              </a:rPr>
              <a:t>和EAI  等运算单元执行</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355600" indent="-342900">
              <a:lnSpc>
                <a:spcPct val="100000"/>
              </a:lnSpc>
              <a:spcBef>
                <a:spcPts val="840"/>
              </a:spcBef>
              <a:buFont typeface="Wingdings" panose="05000000000000000000"/>
              <a:buChar char=""/>
              <a:tabLst>
                <a:tab pos="354965" algn="l"/>
                <a:tab pos="355600" algn="l"/>
              </a:tabLst>
            </a:pPr>
            <a:r>
              <a:rPr sz="1400" dirty="0">
                <a:latin typeface="微软雅黑" panose="020B0503020204020204" charset="-122"/>
                <a:cs typeface="微软雅黑" panose="020B0503020204020204" charset="-122"/>
              </a:rPr>
              <a:t>将指令交付</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355600" indent="-342900">
              <a:lnSpc>
                <a:spcPct val="100000"/>
              </a:lnSpc>
              <a:spcBef>
                <a:spcPts val="840"/>
              </a:spcBef>
              <a:buFont typeface="Wingdings" panose="05000000000000000000"/>
              <a:buChar char=""/>
              <a:tabLst>
                <a:tab pos="354965" algn="l"/>
                <a:tab pos="355600" algn="l"/>
              </a:tabLst>
            </a:pPr>
            <a:r>
              <a:rPr sz="1400" dirty="0">
                <a:latin typeface="微软雅黑" panose="020B0503020204020204" charset="-122"/>
                <a:cs typeface="微软雅黑" panose="020B0503020204020204" charset="-122"/>
              </a:rPr>
              <a:t>将指令运算的结果写回通用通用寄存器组</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p:txBody>
      </p:sp>
      <p:sp>
        <p:nvSpPr>
          <p:cNvPr id="36" name="object 36"/>
          <p:cNvSpPr/>
          <p:nvPr/>
        </p:nvSpPr>
        <p:spPr>
          <a:xfrm>
            <a:off x="8655875" y="2406218"/>
            <a:ext cx="247713" cy="76187"/>
          </a:xfrm>
          <a:prstGeom prst="rect">
            <a:avLst/>
          </a:prstGeom>
          <a:blipFill>
            <a:blip r:embed="rId3" cstate="print"/>
            <a:stretch>
              <a:fillRect/>
            </a:stretch>
          </a:blipFill>
        </p:spPr>
        <p:txBody>
          <a:bodyPr wrap="square" lIns="0" tIns="0" rIns="0" bIns="0" rtlCol="0"/>
          <a:lstStyle/>
          <a:p/>
        </p:txBody>
      </p:sp>
      <p:sp>
        <p:nvSpPr>
          <p:cNvPr id="37" name="object 37"/>
          <p:cNvSpPr/>
          <p:nvPr/>
        </p:nvSpPr>
        <p:spPr>
          <a:xfrm>
            <a:off x="8899105" y="2446959"/>
            <a:ext cx="0" cy="667385"/>
          </a:xfrm>
          <a:custGeom>
            <a:avLst/>
            <a:gdLst/>
            <a:ahLst/>
            <a:cxnLst/>
            <a:rect l="l" t="t" r="r" b="b"/>
            <a:pathLst>
              <a:path h="667385">
                <a:moveTo>
                  <a:pt x="0" y="0"/>
                </a:moveTo>
                <a:lnTo>
                  <a:pt x="0" y="667194"/>
                </a:lnTo>
              </a:path>
            </a:pathLst>
          </a:custGeom>
          <a:ln w="16433">
            <a:solidFill>
              <a:srgbClr val="C00000"/>
            </a:solidFill>
          </a:ln>
        </p:spPr>
        <p:txBody>
          <a:bodyPr wrap="square" lIns="0" tIns="0" rIns="0" bIns="0" rtlCol="0"/>
          <a:lstStyle/>
          <a:p/>
        </p:txBody>
      </p:sp>
      <p:sp>
        <p:nvSpPr>
          <p:cNvPr id="38" name="object 38"/>
          <p:cNvSpPr/>
          <p:nvPr/>
        </p:nvSpPr>
        <p:spPr>
          <a:xfrm>
            <a:off x="8529142" y="3110483"/>
            <a:ext cx="375285" cy="0"/>
          </a:xfrm>
          <a:custGeom>
            <a:avLst/>
            <a:gdLst/>
            <a:ahLst/>
            <a:cxnLst/>
            <a:rect l="l" t="t" r="r" b="b"/>
            <a:pathLst>
              <a:path w="375284">
                <a:moveTo>
                  <a:pt x="0" y="0"/>
                </a:moveTo>
                <a:lnTo>
                  <a:pt x="375094" y="0"/>
                </a:lnTo>
              </a:path>
            </a:pathLst>
          </a:custGeom>
          <a:ln w="16052">
            <a:solidFill>
              <a:srgbClr val="C00000"/>
            </a:solidFill>
          </a:ln>
        </p:spPr>
        <p:txBody>
          <a:bodyPr wrap="square" lIns="0" tIns="0" rIns="0" bIns="0" rtlCol="0"/>
          <a:lstStyle/>
          <a:p/>
        </p:txBody>
      </p:sp>
      <p:sp>
        <p:nvSpPr>
          <p:cNvPr id="39" name="object 39"/>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083808" y="2891027"/>
            <a:ext cx="5448299" cy="3241548"/>
          </a:xfrm>
          <a:prstGeom prst="rect">
            <a:avLst/>
          </a:prstGeom>
          <a:blipFill>
            <a:blip r:embed="rId1" cstate="print"/>
            <a:stretch>
              <a:fillRect/>
            </a:stretch>
          </a:blipFill>
        </p:spPr>
        <p:txBody>
          <a:bodyPr wrap="square" lIns="0" tIns="0" rIns="0" bIns="0" rtlCol="0"/>
          <a:lstStyle/>
          <a:p/>
        </p:txBody>
      </p:sp>
      <p:sp>
        <p:nvSpPr>
          <p:cNvPr id="3" name="object 3"/>
          <p:cNvSpPr/>
          <p:nvPr/>
        </p:nvSpPr>
        <p:spPr>
          <a:xfrm>
            <a:off x="6078220" y="2884792"/>
            <a:ext cx="5460365" cy="3255010"/>
          </a:xfrm>
          <a:custGeom>
            <a:avLst/>
            <a:gdLst/>
            <a:ahLst/>
            <a:cxnLst/>
            <a:rect l="l" t="t" r="r" b="b"/>
            <a:pathLst>
              <a:path w="5460365" h="3255010">
                <a:moveTo>
                  <a:pt x="5460364" y="3254387"/>
                </a:moveTo>
                <a:lnTo>
                  <a:pt x="0" y="3254387"/>
                </a:lnTo>
                <a:lnTo>
                  <a:pt x="0" y="0"/>
                </a:lnTo>
                <a:lnTo>
                  <a:pt x="5460364" y="0"/>
                </a:lnTo>
                <a:lnTo>
                  <a:pt x="5460364" y="6350"/>
                </a:lnTo>
                <a:lnTo>
                  <a:pt x="12700" y="6350"/>
                </a:lnTo>
                <a:lnTo>
                  <a:pt x="6350" y="12700"/>
                </a:lnTo>
                <a:lnTo>
                  <a:pt x="12700" y="12700"/>
                </a:lnTo>
                <a:lnTo>
                  <a:pt x="12700" y="3241687"/>
                </a:lnTo>
                <a:lnTo>
                  <a:pt x="6350" y="3241687"/>
                </a:lnTo>
                <a:lnTo>
                  <a:pt x="12700" y="3248037"/>
                </a:lnTo>
                <a:lnTo>
                  <a:pt x="5460364" y="3248037"/>
                </a:lnTo>
                <a:lnTo>
                  <a:pt x="5460364" y="3254387"/>
                </a:lnTo>
                <a:close/>
              </a:path>
              <a:path w="5460365" h="3255010">
                <a:moveTo>
                  <a:pt x="12700" y="12700"/>
                </a:moveTo>
                <a:lnTo>
                  <a:pt x="6350" y="12700"/>
                </a:lnTo>
                <a:lnTo>
                  <a:pt x="12700" y="6350"/>
                </a:lnTo>
                <a:lnTo>
                  <a:pt x="12700" y="12700"/>
                </a:lnTo>
                <a:close/>
              </a:path>
              <a:path w="5460365" h="3255010">
                <a:moveTo>
                  <a:pt x="5447664" y="12700"/>
                </a:moveTo>
                <a:lnTo>
                  <a:pt x="12700" y="12700"/>
                </a:lnTo>
                <a:lnTo>
                  <a:pt x="12700" y="6350"/>
                </a:lnTo>
                <a:lnTo>
                  <a:pt x="5447664" y="6350"/>
                </a:lnTo>
                <a:lnTo>
                  <a:pt x="5447664" y="12700"/>
                </a:lnTo>
                <a:close/>
              </a:path>
              <a:path w="5460365" h="3255010">
                <a:moveTo>
                  <a:pt x="5447664" y="3248037"/>
                </a:moveTo>
                <a:lnTo>
                  <a:pt x="5447664" y="6350"/>
                </a:lnTo>
                <a:lnTo>
                  <a:pt x="5454014" y="12700"/>
                </a:lnTo>
                <a:lnTo>
                  <a:pt x="5460364" y="12700"/>
                </a:lnTo>
                <a:lnTo>
                  <a:pt x="5460364" y="3241687"/>
                </a:lnTo>
                <a:lnTo>
                  <a:pt x="5454014" y="3241687"/>
                </a:lnTo>
                <a:lnTo>
                  <a:pt x="5447664" y="3248037"/>
                </a:lnTo>
                <a:close/>
              </a:path>
              <a:path w="5460365" h="3255010">
                <a:moveTo>
                  <a:pt x="5460364" y="12700"/>
                </a:moveTo>
                <a:lnTo>
                  <a:pt x="5454014" y="12700"/>
                </a:lnTo>
                <a:lnTo>
                  <a:pt x="5447664" y="6350"/>
                </a:lnTo>
                <a:lnTo>
                  <a:pt x="5460364" y="6350"/>
                </a:lnTo>
                <a:lnTo>
                  <a:pt x="5460364" y="12700"/>
                </a:lnTo>
                <a:close/>
              </a:path>
              <a:path w="5460365" h="3255010">
                <a:moveTo>
                  <a:pt x="12700" y="3248037"/>
                </a:moveTo>
                <a:lnTo>
                  <a:pt x="6350" y="3241687"/>
                </a:lnTo>
                <a:lnTo>
                  <a:pt x="12700" y="3241687"/>
                </a:lnTo>
                <a:lnTo>
                  <a:pt x="12700" y="3248037"/>
                </a:lnTo>
                <a:close/>
              </a:path>
              <a:path w="5460365" h="3255010">
                <a:moveTo>
                  <a:pt x="5447664" y="3248037"/>
                </a:moveTo>
                <a:lnTo>
                  <a:pt x="12700" y="3248037"/>
                </a:lnTo>
                <a:lnTo>
                  <a:pt x="12700" y="3241687"/>
                </a:lnTo>
                <a:lnTo>
                  <a:pt x="5447664" y="3241687"/>
                </a:lnTo>
                <a:lnTo>
                  <a:pt x="5447664" y="3248037"/>
                </a:lnTo>
                <a:close/>
              </a:path>
              <a:path w="5460365" h="3255010">
                <a:moveTo>
                  <a:pt x="5460364" y="3248037"/>
                </a:moveTo>
                <a:lnTo>
                  <a:pt x="5447664" y="3248037"/>
                </a:lnTo>
                <a:lnTo>
                  <a:pt x="5454014" y="3241687"/>
                </a:lnTo>
                <a:lnTo>
                  <a:pt x="5460364" y="3241687"/>
                </a:lnTo>
                <a:lnTo>
                  <a:pt x="5460364" y="3248037"/>
                </a:lnTo>
                <a:close/>
              </a:path>
            </a:pathLst>
          </a:custGeom>
          <a:solidFill>
            <a:srgbClr val="C00000"/>
          </a:solidFill>
        </p:spPr>
        <p:txBody>
          <a:bodyPr wrap="square" lIns="0" tIns="0" rIns="0" bIns="0" rtlCol="0"/>
          <a:lstStyle/>
          <a:p/>
        </p:txBody>
      </p:sp>
      <p:sp>
        <p:nvSpPr>
          <p:cNvPr id="4" name="object 4"/>
          <p:cNvSpPr/>
          <p:nvPr/>
        </p:nvSpPr>
        <p:spPr>
          <a:xfrm>
            <a:off x="422148" y="2891027"/>
            <a:ext cx="5426964" cy="2606040"/>
          </a:xfrm>
          <a:prstGeom prst="rect">
            <a:avLst/>
          </a:prstGeom>
          <a:blipFill>
            <a:blip r:embed="rId2" cstate="print"/>
            <a:stretch>
              <a:fillRect/>
            </a:stretch>
          </a:blipFill>
        </p:spPr>
        <p:txBody>
          <a:bodyPr wrap="square" lIns="0" tIns="0" rIns="0" bIns="0" rtlCol="0"/>
          <a:lstStyle/>
          <a:p/>
        </p:txBody>
      </p:sp>
      <p:sp>
        <p:nvSpPr>
          <p:cNvPr id="5" name="object 5"/>
          <p:cNvSpPr/>
          <p:nvPr/>
        </p:nvSpPr>
        <p:spPr>
          <a:xfrm>
            <a:off x="415467" y="2884792"/>
            <a:ext cx="5439410" cy="2618740"/>
          </a:xfrm>
          <a:custGeom>
            <a:avLst/>
            <a:gdLst/>
            <a:ahLst/>
            <a:cxnLst/>
            <a:rect l="l" t="t" r="r" b="b"/>
            <a:pathLst>
              <a:path w="5439410" h="2618740">
                <a:moveTo>
                  <a:pt x="5439295" y="2618447"/>
                </a:moveTo>
                <a:lnTo>
                  <a:pt x="0" y="2618447"/>
                </a:lnTo>
                <a:lnTo>
                  <a:pt x="0" y="0"/>
                </a:lnTo>
                <a:lnTo>
                  <a:pt x="5439295" y="0"/>
                </a:lnTo>
                <a:lnTo>
                  <a:pt x="5439295" y="6350"/>
                </a:lnTo>
                <a:lnTo>
                  <a:pt x="12700" y="6350"/>
                </a:lnTo>
                <a:lnTo>
                  <a:pt x="6350" y="12700"/>
                </a:lnTo>
                <a:lnTo>
                  <a:pt x="12700" y="12700"/>
                </a:lnTo>
                <a:lnTo>
                  <a:pt x="12700" y="2605747"/>
                </a:lnTo>
                <a:lnTo>
                  <a:pt x="6350" y="2605747"/>
                </a:lnTo>
                <a:lnTo>
                  <a:pt x="12700" y="2612097"/>
                </a:lnTo>
                <a:lnTo>
                  <a:pt x="5439295" y="2612097"/>
                </a:lnTo>
                <a:lnTo>
                  <a:pt x="5439295" y="2618447"/>
                </a:lnTo>
                <a:close/>
              </a:path>
              <a:path w="5439410" h="2618740">
                <a:moveTo>
                  <a:pt x="12700" y="12700"/>
                </a:moveTo>
                <a:lnTo>
                  <a:pt x="6350" y="12700"/>
                </a:lnTo>
                <a:lnTo>
                  <a:pt x="12700" y="6350"/>
                </a:lnTo>
                <a:lnTo>
                  <a:pt x="12700" y="12700"/>
                </a:lnTo>
                <a:close/>
              </a:path>
              <a:path w="5439410" h="2618740">
                <a:moveTo>
                  <a:pt x="5426595" y="12700"/>
                </a:moveTo>
                <a:lnTo>
                  <a:pt x="12700" y="12700"/>
                </a:lnTo>
                <a:lnTo>
                  <a:pt x="12700" y="6350"/>
                </a:lnTo>
                <a:lnTo>
                  <a:pt x="5426595" y="6350"/>
                </a:lnTo>
                <a:lnTo>
                  <a:pt x="5426595" y="12700"/>
                </a:lnTo>
                <a:close/>
              </a:path>
              <a:path w="5439410" h="2618740">
                <a:moveTo>
                  <a:pt x="5426595" y="2612097"/>
                </a:moveTo>
                <a:lnTo>
                  <a:pt x="5426595" y="6350"/>
                </a:lnTo>
                <a:lnTo>
                  <a:pt x="5432945" y="12700"/>
                </a:lnTo>
                <a:lnTo>
                  <a:pt x="5439295" y="12700"/>
                </a:lnTo>
                <a:lnTo>
                  <a:pt x="5439295" y="2605747"/>
                </a:lnTo>
                <a:lnTo>
                  <a:pt x="5432945" y="2605747"/>
                </a:lnTo>
                <a:lnTo>
                  <a:pt x="5426595" y="2612097"/>
                </a:lnTo>
                <a:close/>
              </a:path>
              <a:path w="5439410" h="2618740">
                <a:moveTo>
                  <a:pt x="5439295" y="12700"/>
                </a:moveTo>
                <a:lnTo>
                  <a:pt x="5432945" y="12700"/>
                </a:lnTo>
                <a:lnTo>
                  <a:pt x="5426595" y="6350"/>
                </a:lnTo>
                <a:lnTo>
                  <a:pt x="5439295" y="6350"/>
                </a:lnTo>
                <a:lnTo>
                  <a:pt x="5439295" y="12700"/>
                </a:lnTo>
                <a:close/>
              </a:path>
              <a:path w="5439410" h="2618740">
                <a:moveTo>
                  <a:pt x="12700" y="2612097"/>
                </a:moveTo>
                <a:lnTo>
                  <a:pt x="6350" y="2605747"/>
                </a:lnTo>
                <a:lnTo>
                  <a:pt x="12700" y="2605747"/>
                </a:lnTo>
                <a:lnTo>
                  <a:pt x="12700" y="2612097"/>
                </a:lnTo>
                <a:close/>
              </a:path>
              <a:path w="5439410" h="2618740">
                <a:moveTo>
                  <a:pt x="5426595" y="2612097"/>
                </a:moveTo>
                <a:lnTo>
                  <a:pt x="12700" y="2612097"/>
                </a:lnTo>
                <a:lnTo>
                  <a:pt x="12700" y="2605747"/>
                </a:lnTo>
                <a:lnTo>
                  <a:pt x="5426595" y="2605747"/>
                </a:lnTo>
                <a:lnTo>
                  <a:pt x="5426595" y="2612097"/>
                </a:lnTo>
                <a:close/>
              </a:path>
              <a:path w="5439410" h="2618740">
                <a:moveTo>
                  <a:pt x="5439295" y="2612097"/>
                </a:moveTo>
                <a:lnTo>
                  <a:pt x="5426595" y="2612097"/>
                </a:lnTo>
                <a:lnTo>
                  <a:pt x="5432945" y="2605747"/>
                </a:lnTo>
                <a:lnTo>
                  <a:pt x="5439295" y="2605747"/>
                </a:lnTo>
                <a:lnTo>
                  <a:pt x="5439295" y="2612097"/>
                </a:lnTo>
                <a:close/>
              </a:path>
            </a:pathLst>
          </a:custGeom>
          <a:solidFill>
            <a:srgbClr val="C00000"/>
          </a:solidFill>
        </p:spPr>
        <p:txBody>
          <a:bodyPr wrap="square" lIns="0" tIns="0" rIns="0" bIns="0" rtlCol="0"/>
          <a:lstStyle/>
          <a:p/>
        </p:txBody>
      </p:sp>
      <p:sp>
        <p:nvSpPr>
          <p:cNvPr id="6" name="object 6"/>
          <p:cNvSpPr txBox="1">
            <a:spLocks noGrp="1"/>
          </p:cNvSpPr>
          <p:nvPr>
            <p:ph type="title"/>
          </p:nvPr>
        </p:nvSpPr>
        <p:spPr>
          <a:xfrm>
            <a:off x="676910" y="413385"/>
            <a:ext cx="5758815" cy="56642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蜂鸟E</a:t>
            </a:r>
            <a:r>
              <a:rPr sz="3600" spc="-5" dirty="0">
                <a:solidFill>
                  <a:srgbClr val="C00000"/>
                </a:solidFill>
              </a:rPr>
              <a:t>203</a:t>
            </a:r>
            <a:r>
              <a:rPr sz="3600" dirty="0">
                <a:solidFill>
                  <a:srgbClr val="C00000"/>
                </a:solidFill>
              </a:rPr>
              <a:t>存储架构设计</a:t>
            </a:r>
            <a:endParaRPr sz="3600"/>
          </a:p>
        </p:txBody>
      </p:sp>
      <p:sp>
        <p:nvSpPr>
          <p:cNvPr id="7" name="object 7"/>
          <p:cNvSpPr/>
          <p:nvPr/>
        </p:nvSpPr>
        <p:spPr>
          <a:xfrm>
            <a:off x="0" y="377952"/>
            <a:ext cx="422275" cy="684530"/>
          </a:xfrm>
          <a:custGeom>
            <a:avLst/>
            <a:gdLst/>
            <a:ahLst/>
            <a:cxnLst/>
            <a:rect l="l" t="t" r="r" b="b"/>
            <a:pathLst>
              <a:path w="422275" h="684530">
                <a:moveTo>
                  <a:pt x="0" y="684276"/>
                </a:moveTo>
                <a:lnTo>
                  <a:pt x="0" y="0"/>
                </a:lnTo>
                <a:lnTo>
                  <a:pt x="422148" y="0"/>
                </a:lnTo>
                <a:lnTo>
                  <a:pt x="422148" y="684276"/>
                </a:lnTo>
                <a:lnTo>
                  <a:pt x="0" y="684276"/>
                </a:lnTo>
                <a:close/>
              </a:path>
            </a:pathLst>
          </a:custGeom>
          <a:solidFill>
            <a:srgbClr val="C00000"/>
          </a:solidFill>
        </p:spPr>
        <p:txBody>
          <a:bodyPr wrap="square" lIns="0" tIns="0" rIns="0" bIns="0" rtlCol="0"/>
          <a:lstStyle/>
          <a:p/>
        </p:txBody>
      </p:sp>
      <p:sp>
        <p:nvSpPr>
          <p:cNvPr id="8" name="object 8"/>
          <p:cNvSpPr/>
          <p:nvPr/>
        </p:nvSpPr>
        <p:spPr>
          <a:xfrm>
            <a:off x="1648967" y="3441191"/>
            <a:ext cx="3004185" cy="455930"/>
          </a:xfrm>
          <a:custGeom>
            <a:avLst/>
            <a:gdLst/>
            <a:ahLst/>
            <a:cxnLst/>
            <a:rect l="l" t="t" r="r" b="b"/>
            <a:pathLst>
              <a:path w="3004185" h="455929">
                <a:moveTo>
                  <a:pt x="0" y="0"/>
                </a:moveTo>
                <a:lnTo>
                  <a:pt x="3003804" y="0"/>
                </a:lnTo>
                <a:lnTo>
                  <a:pt x="3003804" y="455675"/>
                </a:lnTo>
                <a:lnTo>
                  <a:pt x="0" y="455675"/>
                </a:lnTo>
                <a:lnTo>
                  <a:pt x="0" y="0"/>
                </a:lnTo>
                <a:close/>
              </a:path>
            </a:pathLst>
          </a:custGeom>
          <a:solidFill>
            <a:srgbClr val="D9D9D9"/>
          </a:solidFill>
        </p:spPr>
        <p:txBody>
          <a:bodyPr wrap="square" lIns="0" tIns="0" rIns="0" bIns="0" rtlCol="0"/>
          <a:lstStyle/>
          <a:p/>
        </p:txBody>
      </p:sp>
      <p:sp>
        <p:nvSpPr>
          <p:cNvPr id="9" name="object 9"/>
          <p:cNvSpPr/>
          <p:nvPr/>
        </p:nvSpPr>
        <p:spPr>
          <a:xfrm>
            <a:off x="1643341" y="3435006"/>
            <a:ext cx="3016885" cy="468630"/>
          </a:xfrm>
          <a:custGeom>
            <a:avLst/>
            <a:gdLst/>
            <a:ahLst/>
            <a:cxnLst/>
            <a:rect l="l" t="t" r="r" b="b"/>
            <a:pathLst>
              <a:path w="3016885" h="468629">
                <a:moveTo>
                  <a:pt x="3016389" y="468058"/>
                </a:moveTo>
                <a:lnTo>
                  <a:pt x="0" y="468058"/>
                </a:lnTo>
                <a:lnTo>
                  <a:pt x="0" y="0"/>
                </a:lnTo>
                <a:lnTo>
                  <a:pt x="3016389" y="0"/>
                </a:lnTo>
                <a:lnTo>
                  <a:pt x="3016389" y="6350"/>
                </a:lnTo>
                <a:lnTo>
                  <a:pt x="12700" y="6350"/>
                </a:lnTo>
                <a:lnTo>
                  <a:pt x="6350" y="12700"/>
                </a:lnTo>
                <a:lnTo>
                  <a:pt x="12700" y="12700"/>
                </a:lnTo>
                <a:lnTo>
                  <a:pt x="12700" y="455358"/>
                </a:lnTo>
                <a:lnTo>
                  <a:pt x="6350" y="455358"/>
                </a:lnTo>
                <a:lnTo>
                  <a:pt x="12700" y="461708"/>
                </a:lnTo>
                <a:lnTo>
                  <a:pt x="3016389" y="461708"/>
                </a:lnTo>
                <a:lnTo>
                  <a:pt x="3016389" y="468058"/>
                </a:lnTo>
                <a:close/>
              </a:path>
              <a:path w="3016885" h="468629">
                <a:moveTo>
                  <a:pt x="12700" y="12700"/>
                </a:moveTo>
                <a:lnTo>
                  <a:pt x="6350" y="12700"/>
                </a:lnTo>
                <a:lnTo>
                  <a:pt x="12700" y="6350"/>
                </a:lnTo>
                <a:lnTo>
                  <a:pt x="12700" y="12700"/>
                </a:lnTo>
                <a:close/>
              </a:path>
              <a:path w="3016885" h="468629">
                <a:moveTo>
                  <a:pt x="3003689" y="12700"/>
                </a:moveTo>
                <a:lnTo>
                  <a:pt x="12700" y="12700"/>
                </a:lnTo>
                <a:lnTo>
                  <a:pt x="12700" y="6350"/>
                </a:lnTo>
                <a:lnTo>
                  <a:pt x="3003689" y="6350"/>
                </a:lnTo>
                <a:lnTo>
                  <a:pt x="3003689" y="12700"/>
                </a:lnTo>
                <a:close/>
              </a:path>
              <a:path w="3016885" h="468629">
                <a:moveTo>
                  <a:pt x="3003689" y="461708"/>
                </a:moveTo>
                <a:lnTo>
                  <a:pt x="3003689" y="6350"/>
                </a:lnTo>
                <a:lnTo>
                  <a:pt x="3010039" y="12700"/>
                </a:lnTo>
                <a:lnTo>
                  <a:pt x="3016389" y="12700"/>
                </a:lnTo>
                <a:lnTo>
                  <a:pt x="3016389" y="455358"/>
                </a:lnTo>
                <a:lnTo>
                  <a:pt x="3010039" y="455358"/>
                </a:lnTo>
                <a:lnTo>
                  <a:pt x="3003689" y="461708"/>
                </a:lnTo>
                <a:close/>
              </a:path>
              <a:path w="3016885" h="468629">
                <a:moveTo>
                  <a:pt x="3016389" y="12700"/>
                </a:moveTo>
                <a:lnTo>
                  <a:pt x="3010039" y="12700"/>
                </a:lnTo>
                <a:lnTo>
                  <a:pt x="3003689" y="6350"/>
                </a:lnTo>
                <a:lnTo>
                  <a:pt x="3016389" y="6350"/>
                </a:lnTo>
                <a:lnTo>
                  <a:pt x="3016389" y="12700"/>
                </a:lnTo>
                <a:close/>
              </a:path>
              <a:path w="3016885" h="468629">
                <a:moveTo>
                  <a:pt x="12700" y="461708"/>
                </a:moveTo>
                <a:lnTo>
                  <a:pt x="6350" y="455358"/>
                </a:lnTo>
                <a:lnTo>
                  <a:pt x="12700" y="455358"/>
                </a:lnTo>
                <a:lnTo>
                  <a:pt x="12700" y="461708"/>
                </a:lnTo>
                <a:close/>
              </a:path>
              <a:path w="3016885" h="468629">
                <a:moveTo>
                  <a:pt x="3003689" y="461708"/>
                </a:moveTo>
                <a:lnTo>
                  <a:pt x="12700" y="461708"/>
                </a:lnTo>
                <a:lnTo>
                  <a:pt x="12700" y="455358"/>
                </a:lnTo>
                <a:lnTo>
                  <a:pt x="3003689" y="455358"/>
                </a:lnTo>
                <a:lnTo>
                  <a:pt x="3003689" y="461708"/>
                </a:lnTo>
                <a:close/>
              </a:path>
              <a:path w="3016885" h="468629">
                <a:moveTo>
                  <a:pt x="3016389" y="461708"/>
                </a:moveTo>
                <a:lnTo>
                  <a:pt x="3003689" y="461708"/>
                </a:lnTo>
                <a:lnTo>
                  <a:pt x="3010039" y="455358"/>
                </a:lnTo>
                <a:lnTo>
                  <a:pt x="3016389" y="455358"/>
                </a:lnTo>
                <a:lnTo>
                  <a:pt x="3016389" y="461708"/>
                </a:lnTo>
                <a:close/>
              </a:path>
            </a:pathLst>
          </a:custGeom>
          <a:solidFill>
            <a:srgbClr val="C00000"/>
          </a:solidFill>
        </p:spPr>
        <p:txBody>
          <a:bodyPr wrap="square" lIns="0" tIns="0" rIns="0" bIns="0" rtlCol="0"/>
          <a:lstStyle/>
          <a:p/>
        </p:txBody>
      </p:sp>
      <p:sp>
        <p:nvSpPr>
          <p:cNvPr id="10" name="object 10"/>
          <p:cNvSpPr txBox="1"/>
          <p:nvPr/>
        </p:nvSpPr>
        <p:spPr>
          <a:xfrm>
            <a:off x="2922866" y="3555022"/>
            <a:ext cx="469900" cy="208279"/>
          </a:xfrm>
          <a:prstGeom prst="rect">
            <a:avLst/>
          </a:prstGeom>
        </p:spPr>
        <p:txBody>
          <a:bodyPr vert="horz" wrap="square" lIns="0" tIns="12700" rIns="0" bIns="0" rtlCol="0">
            <a:spAutoFit/>
          </a:bodyPr>
          <a:lstStyle/>
          <a:p>
            <a:pPr>
              <a:lnSpc>
                <a:spcPct val="100000"/>
              </a:lnSpc>
              <a:spcBef>
                <a:spcPts val="100"/>
              </a:spcBef>
            </a:pPr>
            <a:r>
              <a:rPr sz="1200" b="1" dirty="0">
                <a:solidFill>
                  <a:srgbClr val="C00000"/>
                </a:solidFill>
                <a:latin typeface="微软雅黑" panose="020B0503020204020204" charset="-122"/>
                <a:cs typeface="微软雅黑" panose="020B0503020204020204" charset="-122"/>
              </a:rPr>
              <a:t>存储器</a:t>
            </a:r>
            <a:endParaRPr sz="1200">
              <a:latin typeface="微软雅黑" panose="020B0503020204020204" charset="-122"/>
              <a:cs typeface="微软雅黑" panose="020B0503020204020204" charset="-122"/>
            </a:endParaRPr>
          </a:p>
        </p:txBody>
      </p:sp>
      <p:sp>
        <p:nvSpPr>
          <p:cNvPr id="11" name="object 11"/>
          <p:cNvSpPr/>
          <p:nvPr/>
        </p:nvSpPr>
        <p:spPr>
          <a:xfrm>
            <a:off x="1648967" y="4209288"/>
            <a:ext cx="3005455" cy="1057910"/>
          </a:xfrm>
          <a:custGeom>
            <a:avLst/>
            <a:gdLst/>
            <a:ahLst/>
            <a:cxnLst/>
            <a:rect l="l" t="t" r="r" b="b"/>
            <a:pathLst>
              <a:path w="3005454" h="1057910">
                <a:moveTo>
                  <a:pt x="0" y="0"/>
                </a:moveTo>
                <a:lnTo>
                  <a:pt x="3005328" y="0"/>
                </a:lnTo>
                <a:lnTo>
                  <a:pt x="3005328" y="1057656"/>
                </a:lnTo>
                <a:lnTo>
                  <a:pt x="0" y="1057656"/>
                </a:lnTo>
                <a:lnTo>
                  <a:pt x="0" y="0"/>
                </a:lnTo>
                <a:close/>
              </a:path>
            </a:pathLst>
          </a:custGeom>
          <a:solidFill>
            <a:srgbClr val="F1F1F1"/>
          </a:solidFill>
        </p:spPr>
        <p:txBody>
          <a:bodyPr wrap="square" lIns="0" tIns="0" rIns="0" bIns="0" rtlCol="0"/>
          <a:lstStyle/>
          <a:p/>
        </p:txBody>
      </p:sp>
      <p:sp>
        <p:nvSpPr>
          <p:cNvPr id="12" name="object 12"/>
          <p:cNvSpPr/>
          <p:nvPr/>
        </p:nvSpPr>
        <p:spPr>
          <a:xfrm>
            <a:off x="1643341" y="4202264"/>
            <a:ext cx="3017520" cy="1071245"/>
          </a:xfrm>
          <a:custGeom>
            <a:avLst/>
            <a:gdLst/>
            <a:ahLst/>
            <a:cxnLst/>
            <a:rect l="l" t="t" r="r" b="b"/>
            <a:pathLst>
              <a:path w="3017520" h="1071245">
                <a:moveTo>
                  <a:pt x="3017012" y="1071168"/>
                </a:moveTo>
                <a:lnTo>
                  <a:pt x="0" y="1071168"/>
                </a:lnTo>
                <a:lnTo>
                  <a:pt x="0" y="0"/>
                </a:lnTo>
                <a:lnTo>
                  <a:pt x="3017012" y="0"/>
                </a:lnTo>
                <a:lnTo>
                  <a:pt x="3017012" y="6350"/>
                </a:lnTo>
                <a:lnTo>
                  <a:pt x="12700" y="6350"/>
                </a:lnTo>
                <a:lnTo>
                  <a:pt x="6350" y="12700"/>
                </a:lnTo>
                <a:lnTo>
                  <a:pt x="12700" y="12700"/>
                </a:lnTo>
                <a:lnTo>
                  <a:pt x="12700" y="1058468"/>
                </a:lnTo>
                <a:lnTo>
                  <a:pt x="6350" y="1058468"/>
                </a:lnTo>
                <a:lnTo>
                  <a:pt x="12700" y="1064818"/>
                </a:lnTo>
                <a:lnTo>
                  <a:pt x="3017012" y="1064818"/>
                </a:lnTo>
                <a:lnTo>
                  <a:pt x="3017012" y="1071168"/>
                </a:lnTo>
                <a:close/>
              </a:path>
              <a:path w="3017520" h="1071245">
                <a:moveTo>
                  <a:pt x="12700" y="12700"/>
                </a:moveTo>
                <a:lnTo>
                  <a:pt x="6350" y="12700"/>
                </a:lnTo>
                <a:lnTo>
                  <a:pt x="12700" y="6350"/>
                </a:lnTo>
                <a:lnTo>
                  <a:pt x="12700" y="12700"/>
                </a:lnTo>
                <a:close/>
              </a:path>
              <a:path w="3017520" h="1071245">
                <a:moveTo>
                  <a:pt x="3004312" y="12700"/>
                </a:moveTo>
                <a:lnTo>
                  <a:pt x="12700" y="12700"/>
                </a:lnTo>
                <a:lnTo>
                  <a:pt x="12700" y="6350"/>
                </a:lnTo>
                <a:lnTo>
                  <a:pt x="3004312" y="6350"/>
                </a:lnTo>
                <a:lnTo>
                  <a:pt x="3004312" y="12700"/>
                </a:lnTo>
                <a:close/>
              </a:path>
              <a:path w="3017520" h="1071245">
                <a:moveTo>
                  <a:pt x="3004312" y="1064818"/>
                </a:moveTo>
                <a:lnTo>
                  <a:pt x="3004312" y="6350"/>
                </a:lnTo>
                <a:lnTo>
                  <a:pt x="3010662" y="12700"/>
                </a:lnTo>
                <a:lnTo>
                  <a:pt x="3017012" y="12700"/>
                </a:lnTo>
                <a:lnTo>
                  <a:pt x="3017012" y="1058468"/>
                </a:lnTo>
                <a:lnTo>
                  <a:pt x="3010662" y="1058468"/>
                </a:lnTo>
                <a:lnTo>
                  <a:pt x="3004312" y="1064818"/>
                </a:lnTo>
                <a:close/>
              </a:path>
              <a:path w="3017520" h="1071245">
                <a:moveTo>
                  <a:pt x="3017012" y="12700"/>
                </a:moveTo>
                <a:lnTo>
                  <a:pt x="3010662" y="12700"/>
                </a:lnTo>
                <a:lnTo>
                  <a:pt x="3004312" y="6350"/>
                </a:lnTo>
                <a:lnTo>
                  <a:pt x="3017012" y="6350"/>
                </a:lnTo>
                <a:lnTo>
                  <a:pt x="3017012" y="12700"/>
                </a:lnTo>
                <a:close/>
              </a:path>
              <a:path w="3017520" h="1071245">
                <a:moveTo>
                  <a:pt x="12700" y="1064818"/>
                </a:moveTo>
                <a:lnTo>
                  <a:pt x="6350" y="1058468"/>
                </a:lnTo>
                <a:lnTo>
                  <a:pt x="12700" y="1058468"/>
                </a:lnTo>
                <a:lnTo>
                  <a:pt x="12700" y="1064818"/>
                </a:lnTo>
                <a:close/>
              </a:path>
              <a:path w="3017520" h="1071245">
                <a:moveTo>
                  <a:pt x="3004312" y="1064818"/>
                </a:moveTo>
                <a:lnTo>
                  <a:pt x="12700" y="1064818"/>
                </a:lnTo>
                <a:lnTo>
                  <a:pt x="12700" y="1058468"/>
                </a:lnTo>
                <a:lnTo>
                  <a:pt x="3004312" y="1058468"/>
                </a:lnTo>
                <a:lnTo>
                  <a:pt x="3004312" y="1064818"/>
                </a:lnTo>
                <a:close/>
              </a:path>
              <a:path w="3017520" h="1071245">
                <a:moveTo>
                  <a:pt x="3017012" y="1064818"/>
                </a:moveTo>
                <a:lnTo>
                  <a:pt x="3004312" y="1064818"/>
                </a:lnTo>
                <a:lnTo>
                  <a:pt x="3010662" y="1058468"/>
                </a:lnTo>
                <a:lnTo>
                  <a:pt x="3017012" y="1058468"/>
                </a:lnTo>
                <a:lnTo>
                  <a:pt x="3017012" y="1064818"/>
                </a:lnTo>
                <a:close/>
              </a:path>
            </a:pathLst>
          </a:custGeom>
          <a:solidFill>
            <a:srgbClr val="C00000"/>
          </a:solidFill>
        </p:spPr>
        <p:txBody>
          <a:bodyPr wrap="square" lIns="0" tIns="0" rIns="0" bIns="0" rtlCol="0"/>
          <a:lstStyle/>
          <a:p/>
        </p:txBody>
      </p:sp>
      <p:sp>
        <p:nvSpPr>
          <p:cNvPr id="13" name="object 13"/>
          <p:cNvSpPr/>
          <p:nvPr/>
        </p:nvSpPr>
        <p:spPr>
          <a:xfrm>
            <a:off x="1781555" y="4547615"/>
            <a:ext cx="1123315" cy="455930"/>
          </a:xfrm>
          <a:custGeom>
            <a:avLst/>
            <a:gdLst/>
            <a:ahLst/>
            <a:cxnLst/>
            <a:rect l="l" t="t" r="r" b="b"/>
            <a:pathLst>
              <a:path w="1123314" h="455929">
                <a:moveTo>
                  <a:pt x="0" y="0"/>
                </a:moveTo>
                <a:lnTo>
                  <a:pt x="1123188" y="0"/>
                </a:lnTo>
                <a:lnTo>
                  <a:pt x="1123188" y="455675"/>
                </a:lnTo>
                <a:lnTo>
                  <a:pt x="0" y="455675"/>
                </a:lnTo>
                <a:lnTo>
                  <a:pt x="0" y="0"/>
                </a:lnTo>
                <a:close/>
              </a:path>
            </a:pathLst>
          </a:custGeom>
          <a:solidFill>
            <a:srgbClr val="D9D9D9"/>
          </a:solidFill>
        </p:spPr>
        <p:txBody>
          <a:bodyPr wrap="square" lIns="0" tIns="0" rIns="0" bIns="0" rtlCol="0"/>
          <a:lstStyle/>
          <a:p/>
        </p:txBody>
      </p:sp>
      <p:sp>
        <p:nvSpPr>
          <p:cNvPr id="14" name="object 14"/>
          <p:cNvSpPr/>
          <p:nvPr/>
        </p:nvSpPr>
        <p:spPr>
          <a:xfrm>
            <a:off x="1775371" y="4541507"/>
            <a:ext cx="1135380" cy="468630"/>
          </a:xfrm>
          <a:custGeom>
            <a:avLst/>
            <a:gdLst/>
            <a:ahLst/>
            <a:cxnLst/>
            <a:rect l="l" t="t" r="r" b="b"/>
            <a:pathLst>
              <a:path w="1135380" h="468629">
                <a:moveTo>
                  <a:pt x="1135202" y="468071"/>
                </a:moveTo>
                <a:lnTo>
                  <a:pt x="0" y="468071"/>
                </a:lnTo>
                <a:lnTo>
                  <a:pt x="0" y="0"/>
                </a:lnTo>
                <a:lnTo>
                  <a:pt x="1135202" y="0"/>
                </a:lnTo>
                <a:lnTo>
                  <a:pt x="1135202" y="6350"/>
                </a:lnTo>
                <a:lnTo>
                  <a:pt x="12700" y="6350"/>
                </a:lnTo>
                <a:lnTo>
                  <a:pt x="6350" y="12700"/>
                </a:lnTo>
                <a:lnTo>
                  <a:pt x="12700" y="12700"/>
                </a:lnTo>
                <a:lnTo>
                  <a:pt x="12700" y="455371"/>
                </a:lnTo>
                <a:lnTo>
                  <a:pt x="6350" y="455371"/>
                </a:lnTo>
                <a:lnTo>
                  <a:pt x="12700" y="461721"/>
                </a:lnTo>
                <a:lnTo>
                  <a:pt x="1135202" y="461721"/>
                </a:lnTo>
                <a:lnTo>
                  <a:pt x="1135202" y="468071"/>
                </a:lnTo>
                <a:close/>
              </a:path>
              <a:path w="1135380" h="468629">
                <a:moveTo>
                  <a:pt x="12700" y="12700"/>
                </a:moveTo>
                <a:lnTo>
                  <a:pt x="6350" y="12700"/>
                </a:lnTo>
                <a:lnTo>
                  <a:pt x="12700" y="6350"/>
                </a:lnTo>
                <a:lnTo>
                  <a:pt x="12700" y="12700"/>
                </a:lnTo>
                <a:close/>
              </a:path>
              <a:path w="1135380" h="468629">
                <a:moveTo>
                  <a:pt x="1122502" y="12700"/>
                </a:moveTo>
                <a:lnTo>
                  <a:pt x="12700" y="12700"/>
                </a:lnTo>
                <a:lnTo>
                  <a:pt x="12700" y="6350"/>
                </a:lnTo>
                <a:lnTo>
                  <a:pt x="1122502" y="6350"/>
                </a:lnTo>
                <a:lnTo>
                  <a:pt x="1122502" y="12700"/>
                </a:lnTo>
                <a:close/>
              </a:path>
              <a:path w="1135380" h="468629">
                <a:moveTo>
                  <a:pt x="1122502" y="461721"/>
                </a:moveTo>
                <a:lnTo>
                  <a:pt x="1122502" y="6350"/>
                </a:lnTo>
                <a:lnTo>
                  <a:pt x="1128852" y="12700"/>
                </a:lnTo>
                <a:lnTo>
                  <a:pt x="1135202" y="12700"/>
                </a:lnTo>
                <a:lnTo>
                  <a:pt x="1135202" y="455371"/>
                </a:lnTo>
                <a:lnTo>
                  <a:pt x="1128852" y="455371"/>
                </a:lnTo>
                <a:lnTo>
                  <a:pt x="1122502" y="461721"/>
                </a:lnTo>
                <a:close/>
              </a:path>
              <a:path w="1135380" h="468629">
                <a:moveTo>
                  <a:pt x="1135202" y="12700"/>
                </a:moveTo>
                <a:lnTo>
                  <a:pt x="1128852" y="12700"/>
                </a:lnTo>
                <a:lnTo>
                  <a:pt x="1122502" y="6350"/>
                </a:lnTo>
                <a:lnTo>
                  <a:pt x="1135202" y="6350"/>
                </a:lnTo>
                <a:lnTo>
                  <a:pt x="1135202" y="12700"/>
                </a:lnTo>
                <a:close/>
              </a:path>
              <a:path w="1135380" h="468629">
                <a:moveTo>
                  <a:pt x="12700" y="461721"/>
                </a:moveTo>
                <a:lnTo>
                  <a:pt x="6350" y="455371"/>
                </a:lnTo>
                <a:lnTo>
                  <a:pt x="12700" y="455371"/>
                </a:lnTo>
                <a:lnTo>
                  <a:pt x="12700" y="461721"/>
                </a:lnTo>
                <a:close/>
              </a:path>
              <a:path w="1135380" h="468629">
                <a:moveTo>
                  <a:pt x="1122502" y="461721"/>
                </a:moveTo>
                <a:lnTo>
                  <a:pt x="12700" y="461721"/>
                </a:lnTo>
                <a:lnTo>
                  <a:pt x="12700" y="455371"/>
                </a:lnTo>
                <a:lnTo>
                  <a:pt x="1122502" y="455371"/>
                </a:lnTo>
                <a:lnTo>
                  <a:pt x="1122502" y="461721"/>
                </a:lnTo>
                <a:close/>
              </a:path>
              <a:path w="1135380" h="468629">
                <a:moveTo>
                  <a:pt x="1135202" y="461721"/>
                </a:moveTo>
                <a:lnTo>
                  <a:pt x="1122502" y="461721"/>
                </a:lnTo>
                <a:lnTo>
                  <a:pt x="1128852" y="455371"/>
                </a:lnTo>
                <a:lnTo>
                  <a:pt x="1135202" y="455371"/>
                </a:lnTo>
                <a:lnTo>
                  <a:pt x="1135202" y="461721"/>
                </a:lnTo>
                <a:close/>
              </a:path>
            </a:pathLst>
          </a:custGeom>
          <a:solidFill>
            <a:srgbClr val="C00000"/>
          </a:solidFill>
        </p:spPr>
        <p:txBody>
          <a:bodyPr wrap="square" lIns="0" tIns="0" rIns="0" bIns="0" rtlCol="0"/>
          <a:lstStyle/>
          <a:p/>
        </p:txBody>
      </p:sp>
      <p:sp>
        <p:nvSpPr>
          <p:cNvPr id="15" name="object 15"/>
          <p:cNvSpPr txBox="1"/>
          <p:nvPr/>
        </p:nvSpPr>
        <p:spPr>
          <a:xfrm>
            <a:off x="2113826" y="4661522"/>
            <a:ext cx="469900" cy="208279"/>
          </a:xfrm>
          <a:prstGeom prst="rect">
            <a:avLst/>
          </a:prstGeom>
        </p:spPr>
        <p:txBody>
          <a:bodyPr vert="horz" wrap="square" lIns="0" tIns="12700" rIns="0" bIns="0" rtlCol="0">
            <a:spAutoFit/>
          </a:bodyPr>
          <a:lstStyle/>
          <a:p>
            <a:pPr>
              <a:lnSpc>
                <a:spcPct val="100000"/>
              </a:lnSpc>
              <a:spcBef>
                <a:spcPts val="100"/>
              </a:spcBef>
            </a:pPr>
            <a:r>
              <a:rPr sz="1200" b="1" dirty="0">
                <a:solidFill>
                  <a:srgbClr val="C00000"/>
                </a:solidFill>
                <a:latin typeface="微软雅黑" panose="020B0503020204020204" charset="-122"/>
                <a:cs typeface="微软雅黑" panose="020B0503020204020204" charset="-122"/>
              </a:rPr>
              <a:t>运算器</a:t>
            </a:r>
            <a:endParaRPr sz="1200">
              <a:latin typeface="微软雅黑" panose="020B0503020204020204" charset="-122"/>
              <a:cs typeface="微软雅黑" panose="020B0503020204020204" charset="-122"/>
            </a:endParaRPr>
          </a:p>
        </p:txBody>
      </p:sp>
      <p:sp>
        <p:nvSpPr>
          <p:cNvPr id="16" name="object 16"/>
          <p:cNvSpPr/>
          <p:nvPr/>
        </p:nvSpPr>
        <p:spPr>
          <a:xfrm>
            <a:off x="3267455" y="4547615"/>
            <a:ext cx="1158240" cy="455930"/>
          </a:xfrm>
          <a:custGeom>
            <a:avLst/>
            <a:gdLst/>
            <a:ahLst/>
            <a:cxnLst/>
            <a:rect l="l" t="t" r="r" b="b"/>
            <a:pathLst>
              <a:path w="1158239" h="455929">
                <a:moveTo>
                  <a:pt x="0" y="0"/>
                </a:moveTo>
                <a:lnTo>
                  <a:pt x="1158239" y="0"/>
                </a:lnTo>
                <a:lnTo>
                  <a:pt x="1158239" y="455675"/>
                </a:lnTo>
                <a:lnTo>
                  <a:pt x="0" y="455675"/>
                </a:lnTo>
                <a:lnTo>
                  <a:pt x="0" y="0"/>
                </a:lnTo>
                <a:close/>
              </a:path>
            </a:pathLst>
          </a:custGeom>
          <a:solidFill>
            <a:srgbClr val="D9D9D9"/>
          </a:solidFill>
        </p:spPr>
        <p:txBody>
          <a:bodyPr wrap="square" lIns="0" tIns="0" rIns="0" bIns="0" rtlCol="0"/>
          <a:lstStyle/>
          <a:p/>
        </p:txBody>
      </p:sp>
      <p:sp>
        <p:nvSpPr>
          <p:cNvPr id="17" name="object 17"/>
          <p:cNvSpPr/>
          <p:nvPr/>
        </p:nvSpPr>
        <p:spPr>
          <a:xfrm>
            <a:off x="3260471" y="4541507"/>
            <a:ext cx="1171575" cy="468630"/>
          </a:xfrm>
          <a:custGeom>
            <a:avLst/>
            <a:gdLst/>
            <a:ahLst/>
            <a:cxnLst/>
            <a:rect l="l" t="t" r="r" b="b"/>
            <a:pathLst>
              <a:path w="1171575" h="468629">
                <a:moveTo>
                  <a:pt x="1171168" y="468071"/>
                </a:moveTo>
                <a:lnTo>
                  <a:pt x="0" y="468071"/>
                </a:lnTo>
                <a:lnTo>
                  <a:pt x="0" y="0"/>
                </a:lnTo>
                <a:lnTo>
                  <a:pt x="1171168" y="0"/>
                </a:lnTo>
                <a:lnTo>
                  <a:pt x="1171168" y="6350"/>
                </a:lnTo>
                <a:lnTo>
                  <a:pt x="12700" y="6350"/>
                </a:lnTo>
                <a:lnTo>
                  <a:pt x="6350" y="12700"/>
                </a:lnTo>
                <a:lnTo>
                  <a:pt x="12700" y="12700"/>
                </a:lnTo>
                <a:lnTo>
                  <a:pt x="12700" y="455371"/>
                </a:lnTo>
                <a:lnTo>
                  <a:pt x="6350" y="455371"/>
                </a:lnTo>
                <a:lnTo>
                  <a:pt x="12700" y="461721"/>
                </a:lnTo>
                <a:lnTo>
                  <a:pt x="1171168" y="461721"/>
                </a:lnTo>
                <a:lnTo>
                  <a:pt x="1171168" y="468071"/>
                </a:lnTo>
                <a:close/>
              </a:path>
              <a:path w="1171575" h="468629">
                <a:moveTo>
                  <a:pt x="12700" y="12700"/>
                </a:moveTo>
                <a:lnTo>
                  <a:pt x="6350" y="12700"/>
                </a:lnTo>
                <a:lnTo>
                  <a:pt x="12700" y="6350"/>
                </a:lnTo>
                <a:lnTo>
                  <a:pt x="12700" y="12700"/>
                </a:lnTo>
                <a:close/>
              </a:path>
              <a:path w="1171575" h="468629">
                <a:moveTo>
                  <a:pt x="1158468" y="12700"/>
                </a:moveTo>
                <a:lnTo>
                  <a:pt x="12700" y="12700"/>
                </a:lnTo>
                <a:lnTo>
                  <a:pt x="12700" y="6350"/>
                </a:lnTo>
                <a:lnTo>
                  <a:pt x="1158468" y="6350"/>
                </a:lnTo>
                <a:lnTo>
                  <a:pt x="1158468" y="12700"/>
                </a:lnTo>
                <a:close/>
              </a:path>
              <a:path w="1171575" h="468629">
                <a:moveTo>
                  <a:pt x="1158468" y="461721"/>
                </a:moveTo>
                <a:lnTo>
                  <a:pt x="1158468" y="6350"/>
                </a:lnTo>
                <a:lnTo>
                  <a:pt x="1164818" y="12700"/>
                </a:lnTo>
                <a:lnTo>
                  <a:pt x="1171168" y="12700"/>
                </a:lnTo>
                <a:lnTo>
                  <a:pt x="1171168" y="455371"/>
                </a:lnTo>
                <a:lnTo>
                  <a:pt x="1164818" y="455371"/>
                </a:lnTo>
                <a:lnTo>
                  <a:pt x="1158468" y="461721"/>
                </a:lnTo>
                <a:close/>
              </a:path>
              <a:path w="1171575" h="468629">
                <a:moveTo>
                  <a:pt x="1171168" y="12700"/>
                </a:moveTo>
                <a:lnTo>
                  <a:pt x="1164818" y="12700"/>
                </a:lnTo>
                <a:lnTo>
                  <a:pt x="1158468" y="6350"/>
                </a:lnTo>
                <a:lnTo>
                  <a:pt x="1171168" y="6350"/>
                </a:lnTo>
                <a:lnTo>
                  <a:pt x="1171168" y="12700"/>
                </a:lnTo>
                <a:close/>
              </a:path>
              <a:path w="1171575" h="468629">
                <a:moveTo>
                  <a:pt x="12700" y="461721"/>
                </a:moveTo>
                <a:lnTo>
                  <a:pt x="6350" y="455371"/>
                </a:lnTo>
                <a:lnTo>
                  <a:pt x="12700" y="455371"/>
                </a:lnTo>
                <a:lnTo>
                  <a:pt x="12700" y="461721"/>
                </a:lnTo>
                <a:close/>
              </a:path>
              <a:path w="1171575" h="468629">
                <a:moveTo>
                  <a:pt x="1158468" y="461721"/>
                </a:moveTo>
                <a:lnTo>
                  <a:pt x="12700" y="461721"/>
                </a:lnTo>
                <a:lnTo>
                  <a:pt x="12700" y="455371"/>
                </a:lnTo>
                <a:lnTo>
                  <a:pt x="1158468" y="455371"/>
                </a:lnTo>
                <a:lnTo>
                  <a:pt x="1158468" y="461721"/>
                </a:lnTo>
                <a:close/>
              </a:path>
              <a:path w="1171575" h="468629">
                <a:moveTo>
                  <a:pt x="1171168" y="461721"/>
                </a:moveTo>
                <a:lnTo>
                  <a:pt x="1158468" y="461721"/>
                </a:lnTo>
                <a:lnTo>
                  <a:pt x="1164818" y="455371"/>
                </a:lnTo>
                <a:lnTo>
                  <a:pt x="1171168" y="455371"/>
                </a:lnTo>
                <a:lnTo>
                  <a:pt x="1171168" y="461721"/>
                </a:lnTo>
                <a:close/>
              </a:path>
            </a:pathLst>
          </a:custGeom>
          <a:solidFill>
            <a:srgbClr val="C00000"/>
          </a:solidFill>
        </p:spPr>
        <p:txBody>
          <a:bodyPr wrap="square" lIns="0" tIns="0" rIns="0" bIns="0" rtlCol="0"/>
          <a:lstStyle/>
          <a:p/>
        </p:txBody>
      </p:sp>
      <p:sp>
        <p:nvSpPr>
          <p:cNvPr id="18" name="object 18"/>
          <p:cNvSpPr txBox="1"/>
          <p:nvPr/>
        </p:nvSpPr>
        <p:spPr>
          <a:xfrm>
            <a:off x="3617340" y="4661522"/>
            <a:ext cx="469900" cy="208279"/>
          </a:xfrm>
          <a:prstGeom prst="rect">
            <a:avLst/>
          </a:prstGeom>
        </p:spPr>
        <p:txBody>
          <a:bodyPr vert="horz" wrap="square" lIns="0" tIns="12700" rIns="0" bIns="0" rtlCol="0">
            <a:spAutoFit/>
          </a:bodyPr>
          <a:lstStyle/>
          <a:p>
            <a:pPr>
              <a:lnSpc>
                <a:spcPct val="100000"/>
              </a:lnSpc>
              <a:spcBef>
                <a:spcPts val="100"/>
              </a:spcBef>
            </a:pPr>
            <a:r>
              <a:rPr sz="1200" b="1" dirty="0">
                <a:solidFill>
                  <a:srgbClr val="C00000"/>
                </a:solidFill>
                <a:latin typeface="微软雅黑" panose="020B0503020204020204" charset="-122"/>
                <a:cs typeface="微软雅黑" panose="020B0503020204020204" charset="-122"/>
              </a:rPr>
              <a:t>控制器</a:t>
            </a:r>
            <a:endParaRPr sz="1200">
              <a:latin typeface="微软雅黑" panose="020B0503020204020204" charset="-122"/>
              <a:cs typeface="微软雅黑" panose="020B0503020204020204" charset="-122"/>
            </a:endParaRPr>
          </a:p>
        </p:txBody>
      </p:sp>
      <p:sp>
        <p:nvSpPr>
          <p:cNvPr id="19" name="object 19"/>
          <p:cNvSpPr txBox="1"/>
          <p:nvPr/>
        </p:nvSpPr>
        <p:spPr>
          <a:xfrm>
            <a:off x="2878124" y="4268711"/>
            <a:ext cx="469900" cy="208279"/>
          </a:xfrm>
          <a:prstGeom prst="rect">
            <a:avLst/>
          </a:prstGeom>
        </p:spPr>
        <p:txBody>
          <a:bodyPr vert="horz" wrap="square" lIns="0" tIns="12700" rIns="0" bIns="0" rtlCol="0">
            <a:spAutoFit/>
          </a:bodyPr>
          <a:lstStyle/>
          <a:p>
            <a:pPr>
              <a:lnSpc>
                <a:spcPct val="100000"/>
              </a:lnSpc>
              <a:spcBef>
                <a:spcPts val="100"/>
              </a:spcBef>
            </a:pPr>
            <a:r>
              <a:rPr sz="1200" b="1" dirty="0">
                <a:solidFill>
                  <a:srgbClr val="C00000"/>
                </a:solidFill>
                <a:latin typeface="微软雅黑" panose="020B0503020204020204" charset="-122"/>
                <a:cs typeface="微软雅黑" panose="020B0503020204020204" charset="-122"/>
              </a:rPr>
              <a:t>处理器</a:t>
            </a:r>
            <a:endParaRPr sz="1200">
              <a:latin typeface="微软雅黑" panose="020B0503020204020204" charset="-122"/>
              <a:cs typeface="微软雅黑" panose="020B0503020204020204" charset="-122"/>
            </a:endParaRPr>
          </a:p>
        </p:txBody>
      </p:sp>
      <p:sp>
        <p:nvSpPr>
          <p:cNvPr id="20" name="object 20"/>
          <p:cNvSpPr/>
          <p:nvPr/>
        </p:nvSpPr>
        <p:spPr>
          <a:xfrm>
            <a:off x="5167884" y="3441191"/>
            <a:ext cx="487680" cy="1826260"/>
          </a:xfrm>
          <a:custGeom>
            <a:avLst/>
            <a:gdLst/>
            <a:ahLst/>
            <a:cxnLst/>
            <a:rect l="l" t="t" r="r" b="b"/>
            <a:pathLst>
              <a:path w="487679" h="1826260">
                <a:moveTo>
                  <a:pt x="0" y="0"/>
                </a:moveTo>
                <a:lnTo>
                  <a:pt x="487679" y="0"/>
                </a:lnTo>
                <a:lnTo>
                  <a:pt x="487679" y="1825752"/>
                </a:lnTo>
                <a:lnTo>
                  <a:pt x="0" y="1825752"/>
                </a:lnTo>
                <a:lnTo>
                  <a:pt x="0" y="0"/>
                </a:lnTo>
                <a:close/>
              </a:path>
            </a:pathLst>
          </a:custGeom>
          <a:solidFill>
            <a:srgbClr val="D9D9D9"/>
          </a:solidFill>
        </p:spPr>
        <p:txBody>
          <a:bodyPr wrap="square" lIns="0" tIns="0" rIns="0" bIns="0" rtlCol="0"/>
          <a:lstStyle/>
          <a:p/>
        </p:txBody>
      </p:sp>
      <p:sp>
        <p:nvSpPr>
          <p:cNvPr id="21" name="object 21"/>
          <p:cNvSpPr/>
          <p:nvPr/>
        </p:nvSpPr>
        <p:spPr>
          <a:xfrm>
            <a:off x="5162105" y="3435006"/>
            <a:ext cx="499745" cy="1838325"/>
          </a:xfrm>
          <a:custGeom>
            <a:avLst/>
            <a:gdLst/>
            <a:ahLst/>
            <a:cxnLst/>
            <a:rect l="l" t="t" r="r" b="b"/>
            <a:pathLst>
              <a:path w="499745" h="1838325">
                <a:moveTo>
                  <a:pt x="499262" y="1837816"/>
                </a:moveTo>
                <a:lnTo>
                  <a:pt x="0" y="1837816"/>
                </a:lnTo>
                <a:lnTo>
                  <a:pt x="0" y="0"/>
                </a:lnTo>
                <a:lnTo>
                  <a:pt x="499262" y="0"/>
                </a:lnTo>
                <a:lnTo>
                  <a:pt x="499262" y="6350"/>
                </a:lnTo>
                <a:lnTo>
                  <a:pt x="12700" y="6350"/>
                </a:lnTo>
                <a:lnTo>
                  <a:pt x="6350" y="12700"/>
                </a:lnTo>
                <a:lnTo>
                  <a:pt x="12700" y="12700"/>
                </a:lnTo>
                <a:lnTo>
                  <a:pt x="12700" y="1825116"/>
                </a:lnTo>
                <a:lnTo>
                  <a:pt x="6350" y="1825116"/>
                </a:lnTo>
                <a:lnTo>
                  <a:pt x="12700" y="1831466"/>
                </a:lnTo>
                <a:lnTo>
                  <a:pt x="499262" y="1831466"/>
                </a:lnTo>
                <a:lnTo>
                  <a:pt x="499262" y="1837816"/>
                </a:lnTo>
                <a:close/>
              </a:path>
              <a:path w="499745" h="1838325">
                <a:moveTo>
                  <a:pt x="12700" y="12700"/>
                </a:moveTo>
                <a:lnTo>
                  <a:pt x="6350" y="12700"/>
                </a:lnTo>
                <a:lnTo>
                  <a:pt x="12700" y="6350"/>
                </a:lnTo>
                <a:lnTo>
                  <a:pt x="12700" y="12700"/>
                </a:lnTo>
                <a:close/>
              </a:path>
              <a:path w="499745" h="1838325">
                <a:moveTo>
                  <a:pt x="486562" y="12700"/>
                </a:moveTo>
                <a:lnTo>
                  <a:pt x="12700" y="12700"/>
                </a:lnTo>
                <a:lnTo>
                  <a:pt x="12700" y="6350"/>
                </a:lnTo>
                <a:lnTo>
                  <a:pt x="486562" y="6350"/>
                </a:lnTo>
                <a:lnTo>
                  <a:pt x="486562" y="12700"/>
                </a:lnTo>
                <a:close/>
              </a:path>
              <a:path w="499745" h="1838325">
                <a:moveTo>
                  <a:pt x="486562" y="1831466"/>
                </a:moveTo>
                <a:lnTo>
                  <a:pt x="486562" y="6350"/>
                </a:lnTo>
                <a:lnTo>
                  <a:pt x="492912" y="12700"/>
                </a:lnTo>
                <a:lnTo>
                  <a:pt x="499262" y="12700"/>
                </a:lnTo>
                <a:lnTo>
                  <a:pt x="499262" y="1825116"/>
                </a:lnTo>
                <a:lnTo>
                  <a:pt x="492912" y="1825116"/>
                </a:lnTo>
                <a:lnTo>
                  <a:pt x="486562" y="1831466"/>
                </a:lnTo>
                <a:close/>
              </a:path>
              <a:path w="499745" h="1838325">
                <a:moveTo>
                  <a:pt x="499262" y="12700"/>
                </a:moveTo>
                <a:lnTo>
                  <a:pt x="492912" y="12700"/>
                </a:lnTo>
                <a:lnTo>
                  <a:pt x="486562" y="6350"/>
                </a:lnTo>
                <a:lnTo>
                  <a:pt x="499262" y="6350"/>
                </a:lnTo>
                <a:lnTo>
                  <a:pt x="499262" y="12700"/>
                </a:lnTo>
                <a:close/>
              </a:path>
              <a:path w="499745" h="1838325">
                <a:moveTo>
                  <a:pt x="12700" y="1831466"/>
                </a:moveTo>
                <a:lnTo>
                  <a:pt x="6350" y="1825116"/>
                </a:lnTo>
                <a:lnTo>
                  <a:pt x="12700" y="1825116"/>
                </a:lnTo>
                <a:lnTo>
                  <a:pt x="12700" y="1831466"/>
                </a:lnTo>
                <a:close/>
              </a:path>
              <a:path w="499745" h="1838325">
                <a:moveTo>
                  <a:pt x="486562" y="1831466"/>
                </a:moveTo>
                <a:lnTo>
                  <a:pt x="12700" y="1831466"/>
                </a:lnTo>
                <a:lnTo>
                  <a:pt x="12700" y="1825116"/>
                </a:lnTo>
                <a:lnTo>
                  <a:pt x="486562" y="1825116"/>
                </a:lnTo>
                <a:lnTo>
                  <a:pt x="486562" y="1831466"/>
                </a:lnTo>
                <a:close/>
              </a:path>
              <a:path w="499745" h="1838325">
                <a:moveTo>
                  <a:pt x="499262" y="1831466"/>
                </a:moveTo>
                <a:lnTo>
                  <a:pt x="486562" y="1831466"/>
                </a:lnTo>
                <a:lnTo>
                  <a:pt x="492912" y="1825116"/>
                </a:lnTo>
                <a:lnTo>
                  <a:pt x="499262" y="1825116"/>
                </a:lnTo>
                <a:lnTo>
                  <a:pt x="499262" y="1831466"/>
                </a:lnTo>
                <a:close/>
              </a:path>
            </a:pathLst>
          </a:custGeom>
          <a:solidFill>
            <a:srgbClr val="C00000"/>
          </a:solidFill>
        </p:spPr>
        <p:txBody>
          <a:bodyPr wrap="square" lIns="0" tIns="0" rIns="0" bIns="0" rtlCol="0"/>
          <a:lstStyle/>
          <a:p/>
        </p:txBody>
      </p:sp>
      <p:sp>
        <p:nvSpPr>
          <p:cNvPr id="22" name="object 22"/>
          <p:cNvSpPr txBox="1"/>
          <p:nvPr/>
        </p:nvSpPr>
        <p:spPr>
          <a:xfrm>
            <a:off x="5332920" y="4036986"/>
            <a:ext cx="177800" cy="635000"/>
          </a:xfrm>
          <a:prstGeom prst="rect">
            <a:avLst/>
          </a:prstGeom>
        </p:spPr>
        <p:txBody>
          <a:bodyPr vert="eaVert" wrap="square" lIns="0" tIns="0" rIns="0" bIns="0" rtlCol="0">
            <a:spAutoFit/>
          </a:bodyPr>
          <a:lstStyle/>
          <a:p>
            <a:pPr marL="12700">
              <a:lnSpc>
                <a:spcPct val="65000"/>
              </a:lnSpc>
            </a:pPr>
            <a:r>
              <a:rPr sz="1200" b="1" dirty="0">
                <a:solidFill>
                  <a:srgbClr val="C00000"/>
                </a:solidFill>
                <a:latin typeface="微软雅黑" panose="020B0503020204020204" charset="-122"/>
                <a:cs typeface="微软雅黑" panose="020B0503020204020204" charset="-122"/>
              </a:rPr>
              <a:t>输出设备</a:t>
            </a:r>
            <a:endParaRPr sz="1200">
              <a:latin typeface="微软雅黑" panose="020B0503020204020204" charset="-122"/>
              <a:cs typeface="微软雅黑" panose="020B0503020204020204" charset="-122"/>
            </a:endParaRPr>
          </a:p>
        </p:txBody>
      </p:sp>
      <p:sp>
        <p:nvSpPr>
          <p:cNvPr id="23" name="object 23"/>
          <p:cNvSpPr/>
          <p:nvPr/>
        </p:nvSpPr>
        <p:spPr>
          <a:xfrm>
            <a:off x="598931" y="3441191"/>
            <a:ext cx="486409" cy="1826260"/>
          </a:xfrm>
          <a:custGeom>
            <a:avLst/>
            <a:gdLst/>
            <a:ahLst/>
            <a:cxnLst/>
            <a:rect l="l" t="t" r="r" b="b"/>
            <a:pathLst>
              <a:path w="486409" h="1826260">
                <a:moveTo>
                  <a:pt x="0" y="0"/>
                </a:moveTo>
                <a:lnTo>
                  <a:pt x="486156" y="0"/>
                </a:lnTo>
                <a:lnTo>
                  <a:pt x="486156" y="1825752"/>
                </a:lnTo>
                <a:lnTo>
                  <a:pt x="0" y="1825752"/>
                </a:lnTo>
                <a:lnTo>
                  <a:pt x="0" y="0"/>
                </a:lnTo>
                <a:close/>
              </a:path>
            </a:pathLst>
          </a:custGeom>
          <a:solidFill>
            <a:srgbClr val="D9D9D9"/>
          </a:solidFill>
        </p:spPr>
        <p:txBody>
          <a:bodyPr wrap="square" lIns="0" tIns="0" rIns="0" bIns="0" rtlCol="0"/>
          <a:lstStyle/>
          <a:p/>
        </p:txBody>
      </p:sp>
      <p:sp>
        <p:nvSpPr>
          <p:cNvPr id="24" name="object 24"/>
          <p:cNvSpPr/>
          <p:nvPr/>
        </p:nvSpPr>
        <p:spPr>
          <a:xfrm>
            <a:off x="592112" y="3435006"/>
            <a:ext cx="499745" cy="1838325"/>
          </a:xfrm>
          <a:custGeom>
            <a:avLst/>
            <a:gdLst/>
            <a:ahLst/>
            <a:cxnLst/>
            <a:rect l="l" t="t" r="r" b="b"/>
            <a:pathLst>
              <a:path w="499744" h="1838325">
                <a:moveTo>
                  <a:pt x="499275" y="1837816"/>
                </a:moveTo>
                <a:lnTo>
                  <a:pt x="0" y="1837816"/>
                </a:lnTo>
                <a:lnTo>
                  <a:pt x="0" y="0"/>
                </a:lnTo>
                <a:lnTo>
                  <a:pt x="499275" y="0"/>
                </a:lnTo>
                <a:lnTo>
                  <a:pt x="499275" y="6350"/>
                </a:lnTo>
                <a:lnTo>
                  <a:pt x="12700" y="6350"/>
                </a:lnTo>
                <a:lnTo>
                  <a:pt x="6350" y="12700"/>
                </a:lnTo>
                <a:lnTo>
                  <a:pt x="12700" y="12700"/>
                </a:lnTo>
                <a:lnTo>
                  <a:pt x="12700" y="1825116"/>
                </a:lnTo>
                <a:lnTo>
                  <a:pt x="6350" y="1825116"/>
                </a:lnTo>
                <a:lnTo>
                  <a:pt x="12700" y="1831466"/>
                </a:lnTo>
                <a:lnTo>
                  <a:pt x="499275" y="1831466"/>
                </a:lnTo>
                <a:lnTo>
                  <a:pt x="499275" y="1837816"/>
                </a:lnTo>
                <a:close/>
              </a:path>
              <a:path w="499744" h="1838325">
                <a:moveTo>
                  <a:pt x="12700" y="12700"/>
                </a:moveTo>
                <a:lnTo>
                  <a:pt x="6350" y="12700"/>
                </a:lnTo>
                <a:lnTo>
                  <a:pt x="12700" y="6350"/>
                </a:lnTo>
                <a:lnTo>
                  <a:pt x="12700" y="12700"/>
                </a:lnTo>
                <a:close/>
              </a:path>
              <a:path w="499744" h="1838325">
                <a:moveTo>
                  <a:pt x="486575" y="12700"/>
                </a:moveTo>
                <a:lnTo>
                  <a:pt x="12700" y="12700"/>
                </a:lnTo>
                <a:lnTo>
                  <a:pt x="12700" y="6350"/>
                </a:lnTo>
                <a:lnTo>
                  <a:pt x="486575" y="6350"/>
                </a:lnTo>
                <a:lnTo>
                  <a:pt x="486575" y="12700"/>
                </a:lnTo>
                <a:close/>
              </a:path>
              <a:path w="499744" h="1838325">
                <a:moveTo>
                  <a:pt x="486575" y="1831466"/>
                </a:moveTo>
                <a:lnTo>
                  <a:pt x="486575" y="6350"/>
                </a:lnTo>
                <a:lnTo>
                  <a:pt x="492925" y="12700"/>
                </a:lnTo>
                <a:lnTo>
                  <a:pt x="499275" y="12700"/>
                </a:lnTo>
                <a:lnTo>
                  <a:pt x="499275" y="1825116"/>
                </a:lnTo>
                <a:lnTo>
                  <a:pt x="492925" y="1825116"/>
                </a:lnTo>
                <a:lnTo>
                  <a:pt x="486575" y="1831466"/>
                </a:lnTo>
                <a:close/>
              </a:path>
              <a:path w="499744" h="1838325">
                <a:moveTo>
                  <a:pt x="499275" y="12700"/>
                </a:moveTo>
                <a:lnTo>
                  <a:pt x="492925" y="12700"/>
                </a:lnTo>
                <a:lnTo>
                  <a:pt x="486575" y="6350"/>
                </a:lnTo>
                <a:lnTo>
                  <a:pt x="499275" y="6350"/>
                </a:lnTo>
                <a:lnTo>
                  <a:pt x="499275" y="12700"/>
                </a:lnTo>
                <a:close/>
              </a:path>
              <a:path w="499744" h="1838325">
                <a:moveTo>
                  <a:pt x="12700" y="1831466"/>
                </a:moveTo>
                <a:lnTo>
                  <a:pt x="6350" y="1825116"/>
                </a:lnTo>
                <a:lnTo>
                  <a:pt x="12700" y="1825116"/>
                </a:lnTo>
                <a:lnTo>
                  <a:pt x="12700" y="1831466"/>
                </a:lnTo>
                <a:close/>
              </a:path>
              <a:path w="499744" h="1838325">
                <a:moveTo>
                  <a:pt x="486575" y="1831466"/>
                </a:moveTo>
                <a:lnTo>
                  <a:pt x="12700" y="1831466"/>
                </a:lnTo>
                <a:lnTo>
                  <a:pt x="12700" y="1825116"/>
                </a:lnTo>
                <a:lnTo>
                  <a:pt x="486575" y="1825116"/>
                </a:lnTo>
                <a:lnTo>
                  <a:pt x="486575" y="1831466"/>
                </a:lnTo>
                <a:close/>
              </a:path>
              <a:path w="499744" h="1838325">
                <a:moveTo>
                  <a:pt x="499275" y="1831466"/>
                </a:moveTo>
                <a:lnTo>
                  <a:pt x="486575" y="1831466"/>
                </a:lnTo>
                <a:lnTo>
                  <a:pt x="492925" y="1825116"/>
                </a:lnTo>
                <a:lnTo>
                  <a:pt x="499275" y="1825116"/>
                </a:lnTo>
                <a:lnTo>
                  <a:pt x="499275" y="1831466"/>
                </a:lnTo>
                <a:close/>
              </a:path>
            </a:pathLst>
          </a:custGeom>
          <a:solidFill>
            <a:srgbClr val="C00000"/>
          </a:solidFill>
        </p:spPr>
        <p:txBody>
          <a:bodyPr wrap="square" lIns="0" tIns="0" rIns="0" bIns="0" rtlCol="0"/>
          <a:lstStyle/>
          <a:p/>
        </p:txBody>
      </p:sp>
      <p:sp>
        <p:nvSpPr>
          <p:cNvPr id="25" name="object 25"/>
          <p:cNvSpPr txBox="1"/>
          <p:nvPr/>
        </p:nvSpPr>
        <p:spPr>
          <a:xfrm>
            <a:off x="762927" y="4036986"/>
            <a:ext cx="177800" cy="635000"/>
          </a:xfrm>
          <a:prstGeom prst="rect">
            <a:avLst/>
          </a:prstGeom>
        </p:spPr>
        <p:txBody>
          <a:bodyPr vert="eaVert" wrap="square" lIns="0" tIns="0" rIns="0" bIns="0" rtlCol="0">
            <a:spAutoFit/>
          </a:bodyPr>
          <a:lstStyle/>
          <a:p>
            <a:pPr marL="12700">
              <a:lnSpc>
                <a:spcPct val="65000"/>
              </a:lnSpc>
            </a:pPr>
            <a:r>
              <a:rPr sz="1200" b="1" dirty="0">
                <a:solidFill>
                  <a:srgbClr val="C00000"/>
                </a:solidFill>
                <a:latin typeface="微软雅黑" panose="020B0503020204020204" charset="-122"/>
                <a:cs typeface="微软雅黑" panose="020B0503020204020204" charset="-122"/>
              </a:rPr>
              <a:t>输入设备</a:t>
            </a:r>
            <a:endParaRPr sz="1200">
              <a:latin typeface="微软雅黑" panose="020B0503020204020204" charset="-122"/>
              <a:cs typeface="微软雅黑" panose="020B0503020204020204" charset="-122"/>
            </a:endParaRPr>
          </a:p>
        </p:txBody>
      </p:sp>
      <p:sp>
        <p:nvSpPr>
          <p:cNvPr id="26" name="object 26"/>
          <p:cNvSpPr/>
          <p:nvPr/>
        </p:nvSpPr>
        <p:spPr>
          <a:xfrm>
            <a:off x="1173480" y="3573779"/>
            <a:ext cx="387350" cy="190500"/>
          </a:xfrm>
          <a:custGeom>
            <a:avLst/>
            <a:gdLst/>
            <a:ahLst/>
            <a:cxnLst/>
            <a:rect l="l" t="t" r="r" b="b"/>
            <a:pathLst>
              <a:path w="387350" h="190500">
                <a:moveTo>
                  <a:pt x="292607" y="190500"/>
                </a:moveTo>
                <a:lnTo>
                  <a:pt x="292607" y="143256"/>
                </a:lnTo>
                <a:lnTo>
                  <a:pt x="0" y="143256"/>
                </a:lnTo>
                <a:lnTo>
                  <a:pt x="0" y="47244"/>
                </a:lnTo>
                <a:lnTo>
                  <a:pt x="292607" y="47244"/>
                </a:lnTo>
                <a:lnTo>
                  <a:pt x="292607" y="0"/>
                </a:lnTo>
                <a:lnTo>
                  <a:pt x="387095" y="96012"/>
                </a:lnTo>
                <a:lnTo>
                  <a:pt x="292607" y="190500"/>
                </a:lnTo>
                <a:close/>
              </a:path>
            </a:pathLst>
          </a:custGeom>
          <a:solidFill>
            <a:srgbClr val="FFFFFF"/>
          </a:solidFill>
        </p:spPr>
        <p:txBody>
          <a:bodyPr wrap="square" lIns="0" tIns="0" rIns="0" bIns="0" rtlCol="0"/>
          <a:lstStyle/>
          <a:p/>
        </p:txBody>
      </p:sp>
      <p:sp>
        <p:nvSpPr>
          <p:cNvPr id="27" name="object 27"/>
          <p:cNvSpPr/>
          <p:nvPr/>
        </p:nvSpPr>
        <p:spPr>
          <a:xfrm>
            <a:off x="1166698" y="3558565"/>
            <a:ext cx="403860" cy="220979"/>
          </a:xfrm>
          <a:custGeom>
            <a:avLst/>
            <a:gdLst/>
            <a:ahLst/>
            <a:cxnLst/>
            <a:rect l="l" t="t" r="r" b="b"/>
            <a:pathLst>
              <a:path w="403859" h="220979">
                <a:moveTo>
                  <a:pt x="292862" y="62903"/>
                </a:moveTo>
                <a:lnTo>
                  <a:pt x="292862" y="0"/>
                </a:lnTo>
                <a:lnTo>
                  <a:pt x="308190" y="15328"/>
                </a:lnTo>
                <a:lnTo>
                  <a:pt x="305562" y="15328"/>
                </a:lnTo>
                <a:lnTo>
                  <a:pt x="294728" y="19812"/>
                </a:lnTo>
                <a:lnTo>
                  <a:pt x="305562" y="30646"/>
                </a:lnTo>
                <a:lnTo>
                  <a:pt x="305562" y="56553"/>
                </a:lnTo>
                <a:lnTo>
                  <a:pt x="299212" y="56553"/>
                </a:lnTo>
                <a:lnTo>
                  <a:pt x="292862" y="62903"/>
                </a:lnTo>
                <a:close/>
              </a:path>
              <a:path w="403859" h="220979">
                <a:moveTo>
                  <a:pt x="305562" y="30646"/>
                </a:moveTo>
                <a:lnTo>
                  <a:pt x="294728" y="19812"/>
                </a:lnTo>
                <a:lnTo>
                  <a:pt x="305562" y="15328"/>
                </a:lnTo>
                <a:lnTo>
                  <a:pt x="305562" y="30646"/>
                </a:lnTo>
                <a:close/>
              </a:path>
              <a:path w="403859" h="220979">
                <a:moveTo>
                  <a:pt x="385375" y="110470"/>
                </a:moveTo>
                <a:lnTo>
                  <a:pt x="305562" y="30646"/>
                </a:lnTo>
                <a:lnTo>
                  <a:pt x="305562" y="15328"/>
                </a:lnTo>
                <a:lnTo>
                  <a:pt x="308190" y="15328"/>
                </a:lnTo>
                <a:lnTo>
                  <a:pt x="398843" y="105981"/>
                </a:lnTo>
                <a:lnTo>
                  <a:pt x="389864" y="105981"/>
                </a:lnTo>
                <a:lnTo>
                  <a:pt x="385375" y="110470"/>
                </a:lnTo>
                <a:close/>
              </a:path>
              <a:path w="403859" h="220979">
                <a:moveTo>
                  <a:pt x="292862" y="164388"/>
                </a:moveTo>
                <a:lnTo>
                  <a:pt x="0" y="164388"/>
                </a:lnTo>
                <a:lnTo>
                  <a:pt x="0" y="56553"/>
                </a:lnTo>
                <a:lnTo>
                  <a:pt x="292862" y="56553"/>
                </a:lnTo>
                <a:lnTo>
                  <a:pt x="292862" y="62903"/>
                </a:lnTo>
                <a:lnTo>
                  <a:pt x="12700" y="62903"/>
                </a:lnTo>
                <a:lnTo>
                  <a:pt x="6350" y="69253"/>
                </a:lnTo>
                <a:lnTo>
                  <a:pt x="12700" y="69253"/>
                </a:lnTo>
                <a:lnTo>
                  <a:pt x="12700" y="151688"/>
                </a:lnTo>
                <a:lnTo>
                  <a:pt x="6350" y="151688"/>
                </a:lnTo>
                <a:lnTo>
                  <a:pt x="12700" y="158038"/>
                </a:lnTo>
                <a:lnTo>
                  <a:pt x="292862" y="158038"/>
                </a:lnTo>
                <a:lnTo>
                  <a:pt x="292862" y="164388"/>
                </a:lnTo>
                <a:close/>
              </a:path>
              <a:path w="403859" h="220979">
                <a:moveTo>
                  <a:pt x="305562" y="69253"/>
                </a:moveTo>
                <a:lnTo>
                  <a:pt x="12700" y="69253"/>
                </a:lnTo>
                <a:lnTo>
                  <a:pt x="12700" y="62903"/>
                </a:lnTo>
                <a:lnTo>
                  <a:pt x="292862" y="62903"/>
                </a:lnTo>
                <a:lnTo>
                  <a:pt x="299212" y="56553"/>
                </a:lnTo>
                <a:lnTo>
                  <a:pt x="305562" y="56553"/>
                </a:lnTo>
                <a:lnTo>
                  <a:pt x="305562" y="69253"/>
                </a:lnTo>
                <a:close/>
              </a:path>
              <a:path w="403859" h="220979">
                <a:moveTo>
                  <a:pt x="12700" y="69253"/>
                </a:moveTo>
                <a:lnTo>
                  <a:pt x="6350" y="69253"/>
                </a:lnTo>
                <a:lnTo>
                  <a:pt x="12700" y="62903"/>
                </a:lnTo>
                <a:lnTo>
                  <a:pt x="12700" y="69253"/>
                </a:lnTo>
                <a:close/>
              </a:path>
              <a:path w="403859" h="220979">
                <a:moveTo>
                  <a:pt x="389864" y="114960"/>
                </a:moveTo>
                <a:lnTo>
                  <a:pt x="385375" y="110470"/>
                </a:lnTo>
                <a:lnTo>
                  <a:pt x="389864" y="105981"/>
                </a:lnTo>
                <a:lnTo>
                  <a:pt x="389864" y="114960"/>
                </a:lnTo>
                <a:close/>
              </a:path>
              <a:path w="403859" h="220979">
                <a:moveTo>
                  <a:pt x="398856" y="114960"/>
                </a:moveTo>
                <a:lnTo>
                  <a:pt x="389864" y="114960"/>
                </a:lnTo>
                <a:lnTo>
                  <a:pt x="389864" y="105981"/>
                </a:lnTo>
                <a:lnTo>
                  <a:pt x="398843" y="105981"/>
                </a:lnTo>
                <a:lnTo>
                  <a:pt x="403339" y="110477"/>
                </a:lnTo>
                <a:lnTo>
                  <a:pt x="398856" y="114960"/>
                </a:lnTo>
                <a:close/>
              </a:path>
              <a:path w="403859" h="220979">
                <a:moveTo>
                  <a:pt x="308203" y="205612"/>
                </a:moveTo>
                <a:lnTo>
                  <a:pt x="305562" y="205612"/>
                </a:lnTo>
                <a:lnTo>
                  <a:pt x="305562" y="190295"/>
                </a:lnTo>
                <a:lnTo>
                  <a:pt x="385375" y="110470"/>
                </a:lnTo>
                <a:lnTo>
                  <a:pt x="389864" y="114960"/>
                </a:lnTo>
                <a:lnTo>
                  <a:pt x="398856" y="114960"/>
                </a:lnTo>
                <a:lnTo>
                  <a:pt x="308203" y="205612"/>
                </a:lnTo>
                <a:close/>
              </a:path>
              <a:path w="403859" h="220979">
                <a:moveTo>
                  <a:pt x="12700" y="158038"/>
                </a:moveTo>
                <a:lnTo>
                  <a:pt x="6350" y="151688"/>
                </a:lnTo>
                <a:lnTo>
                  <a:pt x="12700" y="151688"/>
                </a:lnTo>
                <a:lnTo>
                  <a:pt x="12700" y="158038"/>
                </a:lnTo>
                <a:close/>
              </a:path>
              <a:path w="403859" h="220979">
                <a:moveTo>
                  <a:pt x="305562" y="164388"/>
                </a:moveTo>
                <a:lnTo>
                  <a:pt x="299212" y="164388"/>
                </a:lnTo>
                <a:lnTo>
                  <a:pt x="292862" y="158038"/>
                </a:lnTo>
                <a:lnTo>
                  <a:pt x="12700" y="158038"/>
                </a:lnTo>
                <a:lnTo>
                  <a:pt x="12700" y="151688"/>
                </a:lnTo>
                <a:lnTo>
                  <a:pt x="305562" y="151688"/>
                </a:lnTo>
                <a:lnTo>
                  <a:pt x="305562" y="164388"/>
                </a:lnTo>
                <a:close/>
              </a:path>
              <a:path w="403859" h="220979">
                <a:moveTo>
                  <a:pt x="292862" y="220954"/>
                </a:moveTo>
                <a:lnTo>
                  <a:pt x="292862" y="158038"/>
                </a:lnTo>
                <a:lnTo>
                  <a:pt x="299212" y="164388"/>
                </a:lnTo>
                <a:lnTo>
                  <a:pt x="305562" y="164388"/>
                </a:lnTo>
                <a:lnTo>
                  <a:pt x="305562" y="190295"/>
                </a:lnTo>
                <a:lnTo>
                  <a:pt x="294728" y="201129"/>
                </a:lnTo>
                <a:lnTo>
                  <a:pt x="305562" y="205612"/>
                </a:lnTo>
                <a:lnTo>
                  <a:pt x="308203" y="205612"/>
                </a:lnTo>
                <a:lnTo>
                  <a:pt x="292862" y="220954"/>
                </a:lnTo>
                <a:close/>
              </a:path>
              <a:path w="403859" h="220979">
                <a:moveTo>
                  <a:pt x="305562" y="205612"/>
                </a:moveTo>
                <a:lnTo>
                  <a:pt x="294728" y="201129"/>
                </a:lnTo>
                <a:lnTo>
                  <a:pt x="305562" y="190295"/>
                </a:lnTo>
                <a:lnTo>
                  <a:pt x="305562" y="205612"/>
                </a:lnTo>
                <a:close/>
              </a:path>
            </a:pathLst>
          </a:custGeom>
          <a:solidFill>
            <a:srgbClr val="C00000"/>
          </a:solidFill>
        </p:spPr>
        <p:txBody>
          <a:bodyPr wrap="square" lIns="0" tIns="0" rIns="0" bIns="0" rtlCol="0"/>
          <a:lstStyle/>
          <a:p/>
        </p:txBody>
      </p:sp>
      <p:sp>
        <p:nvSpPr>
          <p:cNvPr id="28" name="object 28"/>
          <p:cNvSpPr/>
          <p:nvPr/>
        </p:nvSpPr>
        <p:spPr>
          <a:xfrm>
            <a:off x="4719828" y="3573779"/>
            <a:ext cx="388620" cy="190500"/>
          </a:xfrm>
          <a:custGeom>
            <a:avLst/>
            <a:gdLst/>
            <a:ahLst/>
            <a:cxnLst/>
            <a:rect l="l" t="t" r="r" b="b"/>
            <a:pathLst>
              <a:path w="388620" h="190500">
                <a:moveTo>
                  <a:pt x="292608" y="190500"/>
                </a:moveTo>
                <a:lnTo>
                  <a:pt x="292608" y="143256"/>
                </a:lnTo>
                <a:lnTo>
                  <a:pt x="0" y="143256"/>
                </a:lnTo>
                <a:lnTo>
                  <a:pt x="0" y="47244"/>
                </a:lnTo>
                <a:lnTo>
                  <a:pt x="292608" y="47244"/>
                </a:lnTo>
                <a:lnTo>
                  <a:pt x="292608" y="0"/>
                </a:lnTo>
                <a:lnTo>
                  <a:pt x="388620" y="96012"/>
                </a:lnTo>
                <a:lnTo>
                  <a:pt x="292608" y="190500"/>
                </a:lnTo>
                <a:close/>
              </a:path>
            </a:pathLst>
          </a:custGeom>
          <a:solidFill>
            <a:srgbClr val="FFFFFF"/>
          </a:solidFill>
        </p:spPr>
        <p:txBody>
          <a:bodyPr wrap="square" lIns="0" tIns="0" rIns="0" bIns="0" rtlCol="0"/>
          <a:lstStyle/>
          <a:p/>
        </p:txBody>
      </p:sp>
      <p:sp>
        <p:nvSpPr>
          <p:cNvPr id="29" name="object 29"/>
          <p:cNvSpPr/>
          <p:nvPr/>
        </p:nvSpPr>
        <p:spPr>
          <a:xfrm>
            <a:off x="4713351" y="3558565"/>
            <a:ext cx="403860" cy="220979"/>
          </a:xfrm>
          <a:custGeom>
            <a:avLst/>
            <a:gdLst/>
            <a:ahLst/>
            <a:cxnLst/>
            <a:rect l="l" t="t" r="r" b="b"/>
            <a:pathLst>
              <a:path w="403860" h="220979">
                <a:moveTo>
                  <a:pt x="292862" y="62903"/>
                </a:moveTo>
                <a:lnTo>
                  <a:pt x="292862" y="0"/>
                </a:lnTo>
                <a:lnTo>
                  <a:pt x="308190" y="15328"/>
                </a:lnTo>
                <a:lnTo>
                  <a:pt x="305562" y="15328"/>
                </a:lnTo>
                <a:lnTo>
                  <a:pt x="294728" y="19812"/>
                </a:lnTo>
                <a:lnTo>
                  <a:pt x="305562" y="30645"/>
                </a:lnTo>
                <a:lnTo>
                  <a:pt x="305562" y="56553"/>
                </a:lnTo>
                <a:lnTo>
                  <a:pt x="299212" y="56553"/>
                </a:lnTo>
                <a:lnTo>
                  <a:pt x="292862" y="62903"/>
                </a:lnTo>
                <a:close/>
              </a:path>
              <a:path w="403860" h="220979">
                <a:moveTo>
                  <a:pt x="305562" y="30645"/>
                </a:moveTo>
                <a:lnTo>
                  <a:pt x="294728" y="19812"/>
                </a:lnTo>
                <a:lnTo>
                  <a:pt x="305562" y="15328"/>
                </a:lnTo>
                <a:lnTo>
                  <a:pt x="305562" y="30645"/>
                </a:lnTo>
                <a:close/>
              </a:path>
              <a:path w="403860" h="220979">
                <a:moveTo>
                  <a:pt x="385387" y="110470"/>
                </a:moveTo>
                <a:lnTo>
                  <a:pt x="305562" y="30645"/>
                </a:lnTo>
                <a:lnTo>
                  <a:pt x="305562" y="15328"/>
                </a:lnTo>
                <a:lnTo>
                  <a:pt x="308190" y="15328"/>
                </a:lnTo>
                <a:lnTo>
                  <a:pt x="398843" y="105981"/>
                </a:lnTo>
                <a:lnTo>
                  <a:pt x="389877" y="105981"/>
                </a:lnTo>
                <a:lnTo>
                  <a:pt x="385387" y="110470"/>
                </a:lnTo>
                <a:close/>
              </a:path>
              <a:path w="403860" h="220979">
                <a:moveTo>
                  <a:pt x="292862" y="164388"/>
                </a:moveTo>
                <a:lnTo>
                  <a:pt x="0" y="164388"/>
                </a:lnTo>
                <a:lnTo>
                  <a:pt x="0" y="56553"/>
                </a:lnTo>
                <a:lnTo>
                  <a:pt x="292862" y="56553"/>
                </a:lnTo>
                <a:lnTo>
                  <a:pt x="292862" y="62903"/>
                </a:lnTo>
                <a:lnTo>
                  <a:pt x="12700" y="62903"/>
                </a:lnTo>
                <a:lnTo>
                  <a:pt x="6350" y="69253"/>
                </a:lnTo>
                <a:lnTo>
                  <a:pt x="12700" y="69253"/>
                </a:lnTo>
                <a:lnTo>
                  <a:pt x="12700" y="151688"/>
                </a:lnTo>
                <a:lnTo>
                  <a:pt x="6350" y="151688"/>
                </a:lnTo>
                <a:lnTo>
                  <a:pt x="12700" y="158038"/>
                </a:lnTo>
                <a:lnTo>
                  <a:pt x="292862" y="158038"/>
                </a:lnTo>
                <a:lnTo>
                  <a:pt x="292862" y="164388"/>
                </a:lnTo>
                <a:close/>
              </a:path>
              <a:path w="403860" h="220979">
                <a:moveTo>
                  <a:pt x="305562" y="69253"/>
                </a:moveTo>
                <a:lnTo>
                  <a:pt x="12700" y="69253"/>
                </a:lnTo>
                <a:lnTo>
                  <a:pt x="12700" y="62903"/>
                </a:lnTo>
                <a:lnTo>
                  <a:pt x="292862" y="62903"/>
                </a:lnTo>
                <a:lnTo>
                  <a:pt x="299212" y="56553"/>
                </a:lnTo>
                <a:lnTo>
                  <a:pt x="305562" y="56553"/>
                </a:lnTo>
                <a:lnTo>
                  <a:pt x="305562" y="69253"/>
                </a:lnTo>
                <a:close/>
              </a:path>
              <a:path w="403860" h="220979">
                <a:moveTo>
                  <a:pt x="12700" y="69253"/>
                </a:moveTo>
                <a:lnTo>
                  <a:pt x="6350" y="69253"/>
                </a:lnTo>
                <a:lnTo>
                  <a:pt x="12700" y="62903"/>
                </a:lnTo>
                <a:lnTo>
                  <a:pt x="12700" y="69253"/>
                </a:lnTo>
                <a:close/>
              </a:path>
              <a:path w="403860" h="220979">
                <a:moveTo>
                  <a:pt x="389877" y="114960"/>
                </a:moveTo>
                <a:lnTo>
                  <a:pt x="385387" y="110470"/>
                </a:lnTo>
                <a:lnTo>
                  <a:pt x="389877" y="105981"/>
                </a:lnTo>
                <a:lnTo>
                  <a:pt x="389877" y="114960"/>
                </a:lnTo>
                <a:close/>
              </a:path>
              <a:path w="403860" h="220979">
                <a:moveTo>
                  <a:pt x="398856" y="114960"/>
                </a:moveTo>
                <a:lnTo>
                  <a:pt x="389877" y="114960"/>
                </a:lnTo>
                <a:lnTo>
                  <a:pt x="389877" y="105981"/>
                </a:lnTo>
                <a:lnTo>
                  <a:pt x="398843" y="105981"/>
                </a:lnTo>
                <a:lnTo>
                  <a:pt x="403339" y="110477"/>
                </a:lnTo>
                <a:lnTo>
                  <a:pt x="398856" y="114960"/>
                </a:lnTo>
                <a:close/>
              </a:path>
              <a:path w="403860" h="220979">
                <a:moveTo>
                  <a:pt x="308203" y="205612"/>
                </a:moveTo>
                <a:lnTo>
                  <a:pt x="305562" y="205612"/>
                </a:lnTo>
                <a:lnTo>
                  <a:pt x="305562" y="190296"/>
                </a:lnTo>
                <a:lnTo>
                  <a:pt x="385394" y="110477"/>
                </a:lnTo>
                <a:lnTo>
                  <a:pt x="389877" y="114960"/>
                </a:lnTo>
                <a:lnTo>
                  <a:pt x="398856" y="114960"/>
                </a:lnTo>
                <a:lnTo>
                  <a:pt x="308203" y="205612"/>
                </a:lnTo>
                <a:close/>
              </a:path>
              <a:path w="403860" h="220979">
                <a:moveTo>
                  <a:pt x="12700" y="158038"/>
                </a:moveTo>
                <a:lnTo>
                  <a:pt x="6350" y="151688"/>
                </a:lnTo>
                <a:lnTo>
                  <a:pt x="12700" y="151688"/>
                </a:lnTo>
                <a:lnTo>
                  <a:pt x="12700" y="158038"/>
                </a:lnTo>
                <a:close/>
              </a:path>
              <a:path w="403860" h="220979">
                <a:moveTo>
                  <a:pt x="305562" y="164388"/>
                </a:moveTo>
                <a:lnTo>
                  <a:pt x="299212" y="164388"/>
                </a:lnTo>
                <a:lnTo>
                  <a:pt x="292862" y="158038"/>
                </a:lnTo>
                <a:lnTo>
                  <a:pt x="12700" y="158038"/>
                </a:lnTo>
                <a:lnTo>
                  <a:pt x="12700" y="151688"/>
                </a:lnTo>
                <a:lnTo>
                  <a:pt x="305562" y="151688"/>
                </a:lnTo>
                <a:lnTo>
                  <a:pt x="305562" y="164388"/>
                </a:lnTo>
                <a:close/>
              </a:path>
              <a:path w="403860" h="220979">
                <a:moveTo>
                  <a:pt x="292862" y="220954"/>
                </a:moveTo>
                <a:lnTo>
                  <a:pt x="292862" y="158038"/>
                </a:lnTo>
                <a:lnTo>
                  <a:pt x="299212" y="164388"/>
                </a:lnTo>
                <a:lnTo>
                  <a:pt x="305562" y="164388"/>
                </a:lnTo>
                <a:lnTo>
                  <a:pt x="305562" y="190296"/>
                </a:lnTo>
                <a:lnTo>
                  <a:pt x="294728" y="201129"/>
                </a:lnTo>
                <a:lnTo>
                  <a:pt x="305562" y="205612"/>
                </a:lnTo>
                <a:lnTo>
                  <a:pt x="308203" y="205612"/>
                </a:lnTo>
                <a:lnTo>
                  <a:pt x="292862" y="220954"/>
                </a:lnTo>
                <a:close/>
              </a:path>
              <a:path w="403860" h="220979">
                <a:moveTo>
                  <a:pt x="305562" y="205612"/>
                </a:moveTo>
                <a:lnTo>
                  <a:pt x="294728" y="201129"/>
                </a:lnTo>
                <a:lnTo>
                  <a:pt x="305562" y="190296"/>
                </a:lnTo>
                <a:lnTo>
                  <a:pt x="305562" y="205612"/>
                </a:lnTo>
                <a:close/>
              </a:path>
            </a:pathLst>
          </a:custGeom>
          <a:solidFill>
            <a:srgbClr val="C00000"/>
          </a:solidFill>
        </p:spPr>
        <p:txBody>
          <a:bodyPr wrap="square" lIns="0" tIns="0" rIns="0" bIns="0" rtlCol="0"/>
          <a:lstStyle/>
          <a:p/>
        </p:txBody>
      </p:sp>
      <p:sp>
        <p:nvSpPr>
          <p:cNvPr id="30" name="object 30"/>
          <p:cNvSpPr/>
          <p:nvPr/>
        </p:nvSpPr>
        <p:spPr>
          <a:xfrm>
            <a:off x="1999488" y="4002023"/>
            <a:ext cx="203200" cy="441959"/>
          </a:xfrm>
          <a:custGeom>
            <a:avLst/>
            <a:gdLst/>
            <a:ahLst/>
            <a:cxnLst/>
            <a:rect l="l" t="t" r="r" b="b"/>
            <a:pathLst>
              <a:path w="203200" h="441960">
                <a:moveTo>
                  <a:pt x="152400" y="339851"/>
                </a:moveTo>
                <a:lnTo>
                  <a:pt x="50292" y="339851"/>
                </a:lnTo>
                <a:lnTo>
                  <a:pt x="50292" y="0"/>
                </a:lnTo>
                <a:lnTo>
                  <a:pt x="152400" y="0"/>
                </a:lnTo>
                <a:lnTo>
                  <a:pt x="152400" y="339851"/>
                </a:lnTo>
                <a:close/>
              </a:path>
              <a:path w="203200" h="441960">
                <a:moveTo>
                  <a:pt x="102107" y="441960"/>
                </a:moveTo>
                <a:lnTo>
                  <a:pt x="0" y="339851"/>
                </a:lnTo>
                <a:lnTo>
                  <a:pt x="202692" y="339851"/>
                </a:lnTo>
                <a:lnTo>
                  <a:pt x="102107" y="441960"/>
                </a:lnTo>
                <a:close/>
              </a:path>
            </a:pathLst>
          </a:custGeom>
          <a:solidFill>
            <a:srgbClr val="FFFFFF"/>
          </a:solidFill>
        </p:spPr>
        <p:txBody>
          <a:bodyPr wrap="square" lIns="0" tIns="0" rIns="0" bIns="0" rtlCol="0"/>
          <a:lstStyle/>
          <a:p/>
        </p:txBody>
      </p:sp>
      <p:sp>
        <p:nvSpPr>
          <p:cNvPr id="31" name="object 31"/>
          <p:cNvSpPr/>
          <p:nvPr/>
        </p:nvSpPr>
        <p:spPr>
          <a:xfrm>
            <a:off x="1983943" y="3995546"/>
            <a:ext cx="234315" cy="457200"/>
          </a:xfrm>
          <a:custGeom>
            <a:avLst/>
            <a:gdLst/>
            <a:ahLst/>
            <a:cxnLst/>
            <a:rect l="l" t="t" r="r" b="b"/>
            <a:pathLst>
              <a:path w="234314" h="457200">
                <a:moveTo>
                  <a:pt x="59804" y="346087"/>
                </a:moveTo>
                <a:lnTo>
                  <a:pt x="59804" y="0"/>
                </a:lnTo>
                <a:lnTo>
                  <a:pt x="174167" y="0"/>
                </a:lnTo>
                <a:lnTo>
                  <a:pt x="174167" y="6350"/>
                </a:lnTo>
                <a:lnTo>
                  <a:pt x="72504" y="6350"/>
                </a:lnTo>
                <a:lnTo>
                  <a:pt x="66154" y="12700"/>
                </a:lnTo>
                <a:lnTo>
                  <a:pt x="72504" y="12700"/>
                </a:lnTo>
                <a:lnTo>
                  <a:pt x="72504" y="339737"/>
                </a:lnTo>
                <a:lnTo>
                  <a:pt x="66154" y="339737"/>
                </a:lnTo>
                <a:lnTo>
                  <a:pt x="59804" y="346087"/>
                </a:lnTo>
                <a:close/>
              </a:path>
              <a:path w="234314" h="457200">
                <a:moveTo>
                  <a:pt x="72504" y="12700"/>
                </a:moveTo>
                <a:lnTo>
                  <a:pt x="66154" y="12700"/>
                </a:lnTo>
                <a:lnTo>
                  <a:pt x="72504" y="6350"/>
                </a:lnTo>
                <a:lnTo>
                  <a:pt x="72504" y="12700"/>
                </a:lnTo>
                <a:close/>
              </a:path>
              <a:path w="234314" h="457200">
                <a:moveTo>
                  <a:pt x="161467" y="12700"/>
                </a:moveTo>
                <a:lnTo>
                  <a:pt x="72504" y="12700"/>
                </a:lnTo>
                <a:lnTo>
                  <a:pt x="72504" y="6350"/>
                </a:lnTo>
                <a:lnTo>
                  <a:pt x="161467" y="6350"/>
                </a:lnTo>
                <a:lnTo>
                  <a:pt x="161467" y="12700"/>
                </a:lnTo>
                <a:close/>
              </a:path>
              <a:path w="234314" h="457200">
                <a:moveTo>
                  <a:pt x="203301" y="352437"/>
                </a:moveTo>
                <a:lnTo>
                  <a:pt x="161467" y="352437"/>
                </a:lnTo>
                <a:lnTo>
                  <a:pt x="161467" y="6350"/>
                </a:lnTo>
                <a:lnTo>
                  <a:pt x="167817" y="12700"/>
                </a:lnTo>
                <a:lnTo>
                  <a:pt x="174167" y="12700"/>
                </a:lnTo>
                <a:lnTo>
                  <a:pt x="174167" y="339737"/>
                </a:lnTo>
                <a:lnTo>
                  <a:pt x="167817" y="339737"/>
                </a:lnTo>
                <a:lnTo>
                  <a:pt x="174167" y="346087"/>
                </a:lnTo>
                <a:lnTo>
                  <a:pt x="209651" y="346087"/>
                </a:lnTo>
                <a:lnTo>
                  <a:pt x="203301" y="352437"/>
                </a:lnTo>
                <a:close/>
              </a:path>
              <a:path w="234314" h="457200">
                <a:moveTo>
                  <a:pt x="174167" y="12700"/>
                </a:moveTo>
                <a:lnTo>
                  <a:pt x="167817" y="12700"/>
                </a:lnTo>
                <a:lnTo>
                  <a:pt x="161467" y="6350"/>
                </a:lnTo>
                <a:lnTo>
                  <a:pt x="174167" y="6350"/>
                </a:lnTo>
                <a:lnTo>
                  <a:pt x="174167" y="12700"/>
                </a:lnTo>
                <a:close/>
              </a:path>
              <a:path w="234314" h="457200">
                <a:moveTo>
                  <a:pt x="116992" y="456717"/>
                </a:moveTo>
                <a:lnTo>
                  <a:pt x="0" y="339737"/>
                </a:lnTo>
                <a:lnTo>
                  <a:pt x="59804" y="339737"/>
                </a:lnTo>
                <a:lnTo>
                  <a:pt x="59804" y="341591"/>
                </a:lnTo>
                <a:lnTo>
                  <a:pt x="19824" y="341591"/>
                </a:lnTo>
                <a:lnTo>
                  <a:pt x="15328" y="352437"/>
                </a:lnTo>
                <a:lnTo>
                  <a:pt x="30670" y="352437"/>
                </a:lnTo>
                <a:lnTo>
                  <a:pt x="116986" y="438753"/>
                </a:lnTo>
                <a:lnTo>
                  <a:pt x="112496" y="443242"/>
                </a:lnTo>
                <a:lnTo>
                  <a:pt x="130467" y="443242"/>
                </a:lnTo>
                <a:lnTo>
                  <a:pt x="116992" y="456717"/>
                </a:lnTo>
                <a:close/>
              </a:path>
              <a:path w="234314" h="457200">
                <a:moveTo>
                  <a:pt x="72504" y="346087"/>
                </a:moveTo>
                <a:lnTo>
                  <a:pt x="59804" y="346087"/>
                </a:lnTo>
                <a:lnTo>
                  <a:pt x="66154" y="339737"/>
                </a:lnTo>
                <a:lnTo>
                  <a:pt x="72504" y="339737"/>
                </a:lnTo>
                <a:lnTo>
                  <a:pt x="72504" y="346087"/>
                </a:lnTo>
                <a:close/>
              </a:path>
              <a:path w="234314" h="457200">
                <a:moveTo>
                  <a:pt x="174167" y="346087"/>
                </a:moveTo>
                <a:lnTo>
                  <a:pt x="167817" y="339737"/>
                </a:lnTo>
                <a:lnTo>
                  <a:pt x="174167" y="339737"/>
                </a:lnTo>
                <a:lnTo>
                  <a:pt x="174167" y="346087"/>
                </a:lnTo>
                <a:close/>
              </a:path>
              <a:path w="234314" h="457200">
                <a:moveTo>
                  <a:pt x="209651" y="346087"/>
                </a:moveTo>
                <a:lnTo>
                  <a:pt x="174167" y="346087"/>
                </a:lnTo>
                <a:lnTo>
                  <a:pt x="174167" y="339737"/>
                </a:lnTo>
                <a:lnTo>
                  <a:pt x="233972" y="339737"/>
                </a:lnTo>
                <a:lnTo>
                  <a:pt x="232117" y="341591"/>
                </a:lnTo>
                <a:lnTo>
                  <a:pt x="214147" y="341591"/>
                </a:lnTo>
                <a:lnTo>
                  <a:pt x="209651" y="346087"/>
                </a:lnTo>
                <a:close/>
              </a:path>
              <a:path w="234314" h="457200">
                <a:moveTo>
                  <a:pt x="30670" y="352437"/>
                </a:moveTo>
                <a:lnTo>
                  <a:pt x="15328" y="352437"/>
                </a:lnTo>
                <a:lnTo>
                  <a:pt x="19824" y="341591"/>
                </a:lnTo>
                <a:lnTo>
                  <a:pt x="30670" y="352437"/>
                </a:lnTo>
                <a:close/>
              </a:path>
              <a:path w="234314" h="457200">
                <a:moveTo>
                  <a:pt x="72504" y="352437"/>
                </a:moveTo>
                <a:lnTo>
                  <a:pt x="30670" y="352437"/>
                </a:lnTo>
                <a:lnTo>
                  <a:pt x="19824" y="341591"/>
                </a:lnTo>
                <a:lnTo>
                  <a:pt x="59804" y="341591"/>
                </a:lnTo>
                <a:lnTo>
                  <a:pt x="59804" y="346087"/>
                </a:lnTo>
                <a:lnTo>
                  <a:pt x="72504" y="346087"/>
                </a:lnTo>
                <a:lnTo>
                  <a:pt x="72504" y="352437"/>
                </a:lnTo>
                <a:close/>
              </a:path>
              <a:path w="234314" h="457200">
                <a:moveTo>
                  <a:pt x="130467" y="443242"/>
                </a:moveTo>
                <a:lnTo>
                  <a:pt x="121475" y="443242"/>
                </a:lnTo>
                <a:lnTo>
                  <a:pt x="116986" y="438753"/>
                </a:lnTo>
                <a:lnTo>
                  <a:pt x="214147" y="341591"/>
                </a:lnTo>
                <a:lnTo>
                  <a:pt x="218643" y="352437"/>
                </a:lnTo>
                <a:lnTo>
                  <a:pt x="221272" y="352437"/>
                </a:lnTo>
                <a:lnTo>
                  <a:pt x="130467" y="443242"/>
                </a:lnTo>
                <a:close/>
              </a:path>
              <a:path w="234314" h="457200">
                <a:moveTo>
                  <a:pt x="221272" y="352437"/>
                </a:moveTo>
                <a:lnTo>
                  <a:pt x="218643" y="352437"/>
                </a:lnTo>
                <a:lnTo>
                  <a:pt x="214147" y="341591"/>
                </a:lnTo>
                <a:lnTo>
                  <a:pt x="232117" y="341591"/>
                </a:lnTo>
                <a:lnTo>
                  <a:pt x="221272" y="352437"/>
                </a:lnTo>
                <a:close/>
              </a:path>
              <a:path w="234314" h="457200">
                <a:moveTo>
                  <a:pt x="121475" y="443242"/>
                </a:moveTo>
                <a:lnTo>
                  <a:pt x="112496" y="443242"/>
                </a:lnTo>
                <a:lnTo>
                  <a:pt x="116986" y="438753"/>
                </a:lnTo>
                <a:lnTo>
                  <a:pt x="121475" y="443242"/>
                </a:lnTo>
                <a:close/>
              </a:path>
            </a:pathLst>
          </a:custGeom>
          <a:solidFill>
            <a:srgbClr val="C00000"/>
          </a:solidFill>
        </p:spPr>
        <p:txBody>
          <a:bodyPr wrap="square" lIns="0" tIns="0" rIns="0" bIns="0" rtlCol="0"/>
          <a:lstStyle/>
          <a:p/>
        </p:txBody>
      </p:sp>
      <p:sp>
        <p:nvSpPr>
          <p:cNvPr id="32" name="object 32"/>
          <p:cNvSpPr/>
          <p:nvPr/>
        </p:nvSpPr>
        <p:spPr>
          <a:xfrm>
            <a:off x="2441448" y="4002023"/>
            <a:ext cx="193675" cy="440690"/>
          </a:xfrm>
          <a:custGeom>
            <a:avLst/>
            <a:gdLst/>
            <a:ahLst/>
            <a:cxnLst/>
            <a:rect l="l" t="t" r="r" b="b"/>
            <a:pathLst>
              <a:path w="193675" h="440689">
                <a:moveTo>
                  <a:pt x="193547" y="96012"/>
                </a:moveTo>
                <a:lnTo>
                  <a:pt x="0" y="96012"/>
                </a:lnTo>
                <a:lnTo>
                  <a:pt x="97535" y="0"/>
                </a:lnTo>
                <a:lnTo>
                  <a:pt x="193547" y="96012"/>
                </a:lnTo>
                <a:close/>
              </a:path>
              <a:path w="193675" h="440689">
                <a:moveTo>
                  <a:pt x="146303" y="440436"/>
                </a:moveTo>
                <a:lnTo>
                  <a:pt x="48768" y="440436"/>
                </a:lnTo>
                <a:lnTo>
                  <a:pt x="48768" y="96012"/>
                </a:lnTo>
                <a:lnTo>
                  <a:pt x="146303" y="96012"/>
                </a:lnTo>
                <a:lnTo>
                  <a:pt x="146303" y="440436"/>
                </a:lnTo>
                <a:close/>
              </a:path>
            </a:pathLst>
          </a:custGeom>
          <a:solidFill>
            <a:srgbClr val="FFFFFF"/>
          </a:solidFill>
        </p:spPr>
        <p:txBody>
          <a:bodyPr wrap="square" lIns="0" tIns="0" rIns="0" bIns="0" rtlCol="0"/>
          <a:lstStyle/>
          <a:p/>
        </p:txBody>
      </p:sp>
      <p:sp>
        <p:nvSpPr>
          <p:cNvPr id="33" name="object 33"/>
          <p:cNvSpPr/>
          <p:nvPr/>
        </p:nvSpPr>
        <p:spPr>
          <a:xfrm>
            <a:off x="2426195" y="3992613"/>
            <a:ext cx="224790" cy="457200"/>
          </a:xfrm>
          <a:custGeom>
            <a:avLst/>
            <a:gdLst/>
            <a:ahLst/>
            <a:cxnLst/>
            <a:rect l="l" t="t" r="r" b="b"/>
            <a:pathLst>
              <a:path w="224789" h="457200">
                <a:moveTo>
                  <a:pt x="57480" y="112331"/>
                </a:moveTo>
                <a:lnTo>
                  <a:pt x="0" y="112331"/>
                </a:lnTo>
                <a:lnTo>
                  <a:pt x="112331" y="0"/>
                </a:lnTo>
                <a:lnTo>
                  <a:pt x="125806" y="13474"/>
                </a:lnTo>
                <a:lnTo>
                  <a:pt x="107848" y="13474"/>
                </a:lnTo>
                <a:lnTo>
                  <a:pt x="112337" y="17964"/>
                </a:lnTo>
                <a:lnTo>
                  <a:pt x="30670" y="99631"/>
                </a:lnTo>
                <a:lnTo>
                  <a:pt x="15328" y="99631"/>
                </a:lnTo>
                <a:lnTo>
                  <a:pt x="19824" y="110477"/>
                </a:lnTo>
                <a:lnTo>
                  <a:pt x="57480" y="110477"/>
                </a:lnTo>
                <a:lnTo>
                  <a:pt x="57480" y="112331"/>
                </a:lnTo>
                <a:close/>
              </a:path>
              <a:path w="224789" h="457200">
                <a:moveTo>
                  <a:pt x="112337" y="17964"/>
                </a:moveTo>
                <a:lnTo>
                  <a:pt x="107848" y="13474"/>
                </a:lnTo>
                <a:lnTo>
                  <a:pt x="116827" y="13474"/>
                </a:lnTo>
                <a:lnTo>
                  <a:pt x="112337" y="17964"/>
                </a:lnTo>
                <a:close/>
              </a:path>
              <a:path w="224789" h="457200">
                <a:moveTo>
                  <a:pt x="204851" y="110477"/>
                </a:moveTo>
                <a:lnTo>
                  <a:pt x="112337" y="17964"/>
                </a:lnTo>
                <a:lnTo>
                  <a:pt x="116827" y="13474"/>
                </a:lnTo>
                <a:lnTo>
                  <a:pt x="125806" y="13474"/>
                </a:lnTo>
                <a:lnTo>
                  <a:pt x="211963" y="99631"/>
                </a:lnTo>
                <a:lnTo>
                  <a:pt x="209334" y="99631"/>
                </a:lnTo>
                <a:lnTo>
                  <a:pt x="204851" y="110477"/>
                </a:lnTo>
                <a:close/>
              </a:path>
              <a:path w="224789" h="457200">
                <a:moveTo>
                  <a:pt x="19824" y="110477"/>
                </a:moveTo>
                <a:lnTo>
                  <a:pt x="15328" y="99631"/>
                </a:lnTo>
                <a:lnTo>
                  <a:pt x="30670" y="99631"/>
                </a:lnTo>
                <a:lnTo>
                  <a:pt x="19824" y="110477"/>
                </a:lnTo>
                <a:close/>
              </a:path>
              <a:path w="224789" h="457200">
                <a:moveTo>
                  <a:pt x="57480" y="110477"/>
                </a:moveTo>
                <a:lnTo>
                  <a:pt x="19824" y="110477"/>
                </a:lnTo>
                <a:lnTo>
                  <a:pt x="30670" y="99631"/>
                </a:lnTo>
                <a:lnTo>
                  <a:pt x="70180" y="99631"/>
                </a:lnTo>
                <a:lnTo>
                  <a:pt x="70180" y="105981"/>
                </a:lnTo>
                <a:lnTo>
                  <a:pt x="57480" y="105981"/>
                </a:lnTo>
                <a:lnTo>
                  <a:pt x="57480" y="110477"/>
                </a:lnTo>
                <a:close/>
              </a:path>
              <a:path w="224789" h="457200">
                <a:moveTo>
                  <a:pt x="154482" y="450367"/>
                </a:moveTo>
                <a:lnTo>
                  <a:pt x="154482" y="99631"/>
                </a:lnTo>
                <a:lnTo>
                  <a:pt x="194005" y="99631"/>
                </a:lnTo>
                <a:lnTo>
                  <a:pt x="200355" y="105981"/>
                </a:lnTo>
                <a:lnTo>
                  <a:pt x="167182" y="105981"/>
                </a:lnTo>
                <a:lnTo>
                  <a:pt x="160832" y="112331"/>
                </a:lnTo>
                <a:lnTo>
                  <a:pt x="167182" y="112331"/>
                </a:lnTo>
                <a:lnTo>
                  <a:pt x="167182" y="444017"/>
                </a:lnTo>
                <a:lnTo>
                  <a:pt x="160832" y="444017"/>
                </a:lnTo>
                <a:lnTo>
                  <a:pt x="154482" y="450367"/>
                </a:lnTo>
                <a:close/>
              </a:path>
              <a:path w="224789" h="457200">
                <a:moveTo>
                  <a:pt x="222808" y="110477"/>
                </a:moveTo>
                <a:lnTo>
                  <a:pt x="204851" y="110477"/>
                </a:lnTo>
                <a:lnTo>
                  <a:pt x="209334" y="99631"/>
                </a:lnTo>
                <a:lnTo>
                  <a:pt x="211963" y="99631"/>
                </a:lnTo>
                <a:lnTo>
                  <a:pt x="222808" y="110477"/>
                </a:lnTo>
                <a:close/>
              </a:path>
              <a:path w="224789" h="457200">
                <a:moveTo>
                  <a:pt x="167182" y="456717"/>
                </a:moveTo>
                <a:lnTo>
                  <a:pt x="57480" y="456717"/>
                </a:lnTo>
                <a:lnTo>
                  <a:pt x="57480" y="105981"/>
                </a:lnTo>
                <a:lnTo>
                  <a:pt x="63830" y="112331"/>
                </a:lnTo>
                <a:lnTo>
                  <a:pt x="70180" y="112331"/>
                </a:lnTo>
                <a:lnTo>
                  <a:pt x="70180" y="444017"/>
                </a:lnTo>
                <a:lnTo>
                  <a:pt x="63830" y="444017"/>
                </a:lnTo>
                <a:lnTo>
                  <a:pt x="70180" y="450367"/>
                </a:lnTo>
                <a:lnTo>
                  <a:pt x="167182" y="450367"/>
                </a:lnTo>
                <a:lnTo>
                  <a:pt x="167182" y="456717"/>
                </a:lnTo>
                <a:close/>
              </a:path>
              <a:path w="224789" h="457200">
                <a:moveTo>
                  <a:pt x="70180" y="112331"/>
                </a:moveTo>
                <a:lnTo>
                  <a:pt x="63830" y="112331"/>
                </a:lnTo>
                <a:lnTo>
                  <a:pt x="57480" y="105981"/>
                </a:lnTo>
                <a:lnTo>
                  <a:pt x="70180" y="105981"/>
                </a:lnTo>
                <a:lnTo>
                  <a:pt x="70180" y="112331"/>
                </a:lnTo>
                <a:close/>
              </a:path>
              <a:path w="224789" h="457200">
                <a:moveTo>
                  <a:pt x="167182" y="112331"/>
                </a:moveTo>
                <a:lnTo>
                  <a:pt x="160832" y="112331"/>
                </a:lnTo>
                <a:lnTo>
                  <a:pt x="167182" y="105981"/>
                </a:lnTo>
                <a:lnTo>
                  <a:pt x="167182" y="112331"/>
                </a:lnTo>
                <a:close/>
              </a:path>
              <a:path w="224789" h="457200">
                <a:moveTo>
                  <a:pt x="224663" y="112331"/>
                </a:moveTo>
                <a:lnTo>
                  <a:pt x="167182" y="112331"/>
                </a:lnTo>
                <a:lnTo>
                  <a:pt x="167182" y="105981"/>
                </a:lnTo>
                <a:lnTo>
                  <a:pt x="200355" y="105981"/>
                </a:lnTo>
                <a:lnTo>
                  <a:pt x="204851" y="110477"/>
                </a:lnTo>
                <a:lnTo>
                  <a:pt x="222808" y="110477"/>
                </a:lnTo>
                <a:lnTo>
                  <a:pt x="224663" y="112331"/>
                </a:lnTo>
                <a:close/>
              </a:path>
              <a:path w="224789" h="457200">
                <a:moveTo>
                  <a:pt x="70180" y="450367"/>
                </a:moveTo>
                <a:lnTo>
                  <a:pt x="63830" y="444017"/>
                </a:lnTo>
                <a:lnTo>
                  <a:pt x="70180" y="444017"/>
                </a:lnTo>
                <a:lnTo>
                  <a:pt x="70180" y="450367"/>
                </a:lnTo>
                <a:close/>
              </a:path>
              <a:path w="224789" h="457200">
                <a:moveTo>
                  <a:pt x="154482" y="450367"/>
                </a:moveTo>
                <a:lnTo>
                  <a:pt x="70180" y="450367"/>
                </a:lnTo>
                <a:lnTo>
                  <a:pt x="70180" y="444017"/>
                </a:lnTo>
                <a:lnTo>
                  <a:pt x="154482" y="444017"/>
                </a:lnTo>
                <a:lnTo>
                  <a:pt x="154482" y="450367"/>
                </a:lnTo>
                <a:close/>
              </a:path>
              <a:path w="224789" h="457200">
                <a:moveTo>
                  <a:pt x="167182" y="450367"/>
                </a:moveTo>
                <a:lnTo>
                  <a:pt x="154482" y="450367"/>
                </a:lnTo>
                <a:lnTo>
                  <a:pt x="160832" y="444017"/>
                </a:lnTo>
                <a:lnTo>
                  <a:pt x="167182" y="444017"/>
                </a:lnTo>
                <a:lnTo>
                  <a:pt x="167182" y="450367"/>
                </a:lnTo>
                <a:close/>
              </a:path>
            </a:pathLst>
          </a:custGeom>
          <a:solidFill>
            <a:srgbClr val="C00000"/>
          </a:solidFill>
        </p:spPr>
        <p:txBody>
          <a:bodyPr wrap="square" lIns="0" tIns="0" rIns="0" bIns="0" rtlCol="0"/>
          <a:lstStyle/>
          <a:p/>
        </p:txBody>
      </p:sp>
      <p:sp>
        <p:nvSpPr>
          <p:cNvPr id="34" name="object 34"/>
          <p:cNvSpPr/>
          <p:nvPr/>
        </p:nvSpPr>
        <p:spPr>
          <a:xfrm>
            <a:off x="3645408" y="4002023"/>
            <a:ext cx="184785" cy="441959"/>
          </a:xfrm>
          <a:custGeom>
            <a:avLst/>
            <a:gdLst/>
            <a:ahLst/>
            <a:cxnLst/>
            <a:rect l="l" t="t" r="r" b="b"/>
            <a:pathLst>
              <a:path w="184785" h="441960">
                <a:moveTo>
                  <a:pt x="138683" y="348996"/>
                </a:moveTo>
                <a:lnTo>
                  <a:pt x="45719" y="348996"/>
                </a:lnTo>
                <a:lnTo>
                  <a:pt x="45719" y="0"/>
                </a:lnTo>
                <a:lnTo>
                  <a:pt x="138683" y="0"/>
                </a:lnTo>
                <a:lnTo>
                  <a:pt x="138683" y="348996"/>
                </a:lnTo>
                <a:close/>
              </a:path>
              <a:path w="184785" h="441960">
                <a:moveTo>
                  <a:pt x="91439" y="441960"/>
                </a:moveTo>
                <a:lnTo>
                  <a:pt x="0" y="348996"/>
                </a:lnTo>
                <a:lnTo>
                  <a:pt x="184403" y="348996"/>
                </a:lnTo>
                <a:lnTo>
                  <a:pt x="91439" y="441960"/>
                </a:lnTo>
                <a:close/>
              </a:path>
            </a:pathLst>
          </a:custGeom>
          <a:solidFill>
            <a:srgbClr val="D9D9D9"/>
          </a:solidFill>
        </p:spPr>
        <p:txBody>
          <a:bodyPr wrap="square" lIns="0" tIns="0" rIns="0" bIns="0" rtlCol="0"/>
          <a:lstStyle/>
          <a:p/>
        </p:txBody>
      </p:sp>
      <p:sp>
        <p:nvSpPr>
          <p:cNvPr id="35" name="object 35"/>
          <p:cNvSpPr/>
          <p:nvPr/>
        </p:nvSpPr>
        <p:spPr>
          <a:xfrm>
            <a:off x="3629596" y="3995546"/>
            <a:ext cx="215900" cy="457200"/>
          </a:xfrm>
          <a:custGeom>
            <a:avLst/>
            <a:gdLst/>
            <a:ahLst/>
            <a:cxnLst/>
            <a:rect l="l" t="t" r="r" b="b"/>
            <a:pathLst>
              <a:path w="215900" h="457200">
                <a:moveTo>
                  <a:pt x="55156" y="355384"/>
                </a:moveTo>
                <a:lnTo>
                  <a:pt x="55156" y="0"/>
                </a:lnTo>
                <a:lnTo>
                  <a:pt x="160210" y="0"/>
                </a:lnTo>
                <a:lnTo>
                  <a:pt x="160210" y="6350"/>
                </a:lnTo>
                <a:lnTo>
                  <a:pt x="67856" y="6350"/>
                </a:lnTo>
                <a:lnTo>
                  <a:pt x="61506" y="12700"/>
                </a:lnTo>
                <a:lnTo>
                  <a:pt x="67856" y="12700"/>
                </a:lnTo>
                <a:lnTo>
                  <a:pt x="67856" y="349034"/>
                </a:lnTo>
                <a:lnTo>
                  <a:pt x="61506" y="349034"/>
                </a:lnTo>
                <a:lnTo>
                  <a:pt x="55156" y="355384"/>
                </a:lnTo>
                <a:close/>
              </a:path>
              <a:path w="215900" h="457200">
                <a:moveTo>
                  <a:pt x="67856" y="12700"/>
                </a:moveTo>
                <a:lnTo>
                  <a:pt x="61506" y="12700"/>
                </a:lnTo>
                <a:lnTo>
                  <a:pt x="67856" y="6350"/>
                </a:lnTo>
                <a:lnTo>
                  <a:pt x="67856" y="12700"/>
                </a:lnTo>
                <a:close/>
              </a:path>
              <a:path w="215900" h="457200">
                <a:moveTo>
                  <a:pt x="147510" y="12700"/>
                </a:moveTo>
                <a:lnTo>
                  <a:pt x="67856" y="12700"/>
                </a:lnTo>
                <a:lnTo>
                  <a:pt x="67856" y="6350"/>
                </a:lnTo>
                <a:lnTo>
                  <a:pt x="147510" y="6350"/>
                </a:lnTo>
                <a:lnTo>
                  <a:pt x="147510" y="12700"/>
                </a:lnTo>
                <a:close/>
              </a:path>
              <a:path w="215900" h="457200">
                <a:moveTo>
                  <a:pt x="184696" y="361734"/>
                </a:moveTo>
                <a:lnTo>
                  <a:pt x="147510" y="361734"/>
                </a:lnTo>
                <a:lnTo>
                  <a:pt x="147510" y="6350"/>
                </a:lnTo>
                <a:lnTo>
                  <a:pt x="153860" y="12700"/>
                </a:lnTo>
                <a:lnTo>
                  <a:pt x="160210" y="12700"/>
                </a:lnTo>
                <a:lnTo>
                  <a:pt x="160210" y="349034"/>
                </a:lnTo>
                <a:lnTo>
                  <a:pt x="153860" y="349034"/>
                </a:lnTo>
                <a:lnTo>
                  <a:pt x="160210" y="355384"/>
                </a:lnTo>
                <a:lnTo>
                  <a:pt x="191046" y="355384"/>
                </a:lnTo>
                <a:lnTo>
                  <a:pt x="184696" y="361734"/>
                </a:lnTo>
                <a:close/>
              </a:path>
              <a:path w="215900" h="457200">
                <a:moveTo>
                  <a:pt x="160210" y="12700"/>
                </a:moveTo>
                <a:lnTo>
                  <a:pt x="153860" y="12700"/>
                </a:lnTo>
                <a:lnTo>
                  <a:pt x="147510" y="6350"/>
                </a:lnTo>
                <a:lnTo>
                  <a:pt x="160210" y="6350"/>
                </a:lnTo>
                <a:lnTo>
                  <a:pt x="160210" y="12700"/>
                </a:lnTo>
                <a:close/>
              </a:path>
              <a:path w="215900" h="457200">
                <a:moveTo>
                  <a:pt x="107683" y="456717"/>
                </a:moveTo>
                <a:lnTo>
                  <a:pt x="0" y="349034"/>
                </a:lnTo>
                <a:lnTo>
                  <a:pt x="55156" y="349034"/>
                </a:lnTo>
                <a:lnTo>
                  <a:pt x="55156" y="350888"/>
                </a:lnTo>
                <a:lnTo>
                  <a:pt x="19812" y="350888"/>
                </a:lnTo>
                <a:lnTo>
                  <a:pt x="15328" y="361734"/>
                </a:lnTo>
                <a:lnTo>
                  <a:pt x="30657" y="361734"/>
                </a:lnTo>
                <a:lnTo>
                  <a:pt x="107676" y="438753"/>
                </a:lnTo>
                <a:lnTo>
                  <a:pt x="103187" y="443242"/>
                </a:lnTo>
                <a:lnTo>
                  <a:pt x="121157" y="443242"/>
                </a:lnTo>
                <a:lnTo>
                  <a:pt x="107683" y="456717"/>
                </a:lnTo>
                <a:close/>
              </a:path>
              <a:path w="215900" h="457200">
                <a:moveTo>
                  <a:pt x="67856" y="355384"/>
                </a:moveTo>
                <a:lnTo>
                  <a:pt x="55156" y="355384"/>
                </a:lnTo>
                <a:lnTo>
                  <a:pt x="61506" y="349034"/>
                </a:lnTo>
                <a:lnTo>
                  <a:pt x="67856" y="349034"/>
                </a:lnTo>
                <a:lnTo>
                  <a:pt x="67856" y="355384"/>
                </a:lnTo>
                <a:close/>
              </a:path>
              <a:path w="215900" h="457200">
                <a:moveTo>
                  <a:pt x="160210" y="355384"/>
                </a:moveTo>
                <a:lnTo>
                  <a:pt x="153860" y="349034"/>
                </a:lnTo>
                <a:lnTo>
                  <a:pt x="160210" y="349034"/>
                </a:lnTo>
                <a:lnTo>
                  <a:pt x="160210" y="355384"/>
                </a:lnTo>
                <a:close/>
              </a:path>
              <a:path w="215900" h="457200">
                <a:moveTo>
                  <a:pt x="191046" y="355384"/>
                </a:moveTo>
                <a:lnTo>
                  <a:pt x="160210" y="355384"/>
                </a:lnTo>
                <a:lnTo>
                  <a:pt x="160210" y="349034"/>
                </a:lnTo>
                <a:lnTo>
                  <a:pt x="215366" y="349034"/>
                </a:lnTo>
                <a:lnTo>
                  <a:pt x="213512" y="350888"/>
                </a:lnTo>
                <a:lnTo>
                  <a:pt x="195541" y="350888"/>
                </a:lnTo>
                <a:lnTo>
                  <a:pt x="191046" y="355384"/>
                </a:lnTo>
                <a:close/>
              </a:path>
              <a:path w="215900" h="457200">
                <a:moveTo>
                  <a:pt x="30657" y="361734"/>
                </a:moveTo>
                <a:lnTo>
                  <a:pt x="15328" y="361734"/>
                </a:lnTo>
                <a:lnTo>
                  <a:pt x="19812" y="350888"/>
                </a:lnTo>
                <a:lnTo>
                  <a:pt x="30657" y="361734"/>
                </a:lnTo>
                <a:close/>
              </a:path>
              <a:path w="215900" h="457200">
                <a:moveTo>
                  <a:pt x="67856" y="361734"/>
                </a:moveTo>
                <a:lnTo>
                  <a:pt x="30657" y="361734"/>
                </a:lnTo>
                <a:lnTo>
                  <a:pt x="19812" y="350888"/>
                </a:lnTo>
                <a:lnTo>
                  <a:pt x="55156" y="350888"/>
                </a:lnTo>
                <a:lnTo>
                  <a:pt x="55156" y="355384"/>
                </a:lnTo>
                <a:lnTo>
                  <a:pt x="67856" y="355384"/>
                </a:lnTo>
                <a:lnTo>
                  <a:pt x="67856" y="361734"/>
                </a:lnTo>
                <a:close/>
              </a:path>
              <a:path w="215900" h="457200">
                <a:moveTo>
                  <a:pt x="121157" y="443242"/>
                </a:moveTo>
                <a:lnTo>
                  <a:pt x="112166" y="443242"/>
                </a:lnTo>
                <a:lnTo>
                  <a:pt x="107676" y="438753"/>
                </a:lnTo>
                <a:lnTo>
                  <a:pt x="195541" y="350888"/>
                </a:lnTo>
                <a:lnTo>
                  <a:pt x="200037" y="361734"/>
                </a:lnTo>
                <a:lnTo>
                  <a:pt x="202666" y="361734"/>
                </a:lnTo>
                <a:lnTo>
                  <a:pt x="121157" y="443242"/>
                </a:lnTo>
                <a:close/>
              </a:path>
              <a:path w="215900" h="457200">
                <a:moveTo>
                  <a:pt x="202666" y="361734"/>
                </a:moveTo>
                <a:lnTo>
                  <a:pt x="200037" y="361734"/>
                </a:lnTo>
                <a:lnTo>
                  <a:pt x="195541" y="350888"/>
                </a:lnTo>
                <a:lnTo>
                  <a:pt x="213512" y="350888"/>
                </a:lnTo>
                <a:lnTo>
                  <a:pt x="202666" y="361734"/>
                </a:lnTo>
                <a:close/>
              </a:path>
              <a:path w="215900" h="457200">
                <a:moveTo>
                  <a:pt x="112166" y="443242"/>
                </a:moveTo>
                <a:lnTo>
                  <a:pt x="103187" y="443242"/>
                </a:lnTo>
                <a:lnTo>
                  <a:pt x="107676" y="438753"/>
                </a:lnTo>
                <a:lnTo>
                  <a:pt x="112166" y="443242"/>
                </a:lnTo>
                <a:close/>
              </a:path>
            </a:pathLst>
          </a:custGeom>
          <a:solidFill>
            <a:srgbClr val="C00000"/>
          </a:solidFill>
        </p:spPr>
        <p:txBody>
          <a:bodyPr wrap="square" lIns="0" tIns="0" rIns="0" bIns="0" rtlCol="0"/>
          <a:lstStyle/>
          <a:p/>
        </p:txBody>
      </p:sp>
      <p:sp>
        <p:nvSpPr>
          <p:cNvPr id="36" name="object 36"/>
          <p:cNvSpPr/>
          <p:nvPr/>
        </p:nvSpPr>
        <p:spPr>
          <a:xfrm>
            <a:off x="2904223" y="4745647"/>
            <a:ext cx="363220" cy="76200"/>
          </a:xfrm>
          <a:custGeom>
            <a:avLst/>
            <a:gdLst/>
            <a:ahLst/>
            <a:cxnLst/>
            <a:rect l="l" t="t" r="r" b="b"/>
            <a:pathLst>
              <a:path w="363220" h="76200">
                <a:moveTo>
                  <a:pt x="76200" y="76200"/>
                </a:moveTo>
                <a:lnTo>
                  <a:pt x="0" y="38100"/>
                </a:lnTo>
                <a:lnTo>
                  <a:pt x="76200" y="0"/>
                </a:lnTo>
                <a:lnTo>
                  <a:pt x="76200" y="34289"/>
                </a:lnTo>
                <a:lnTo>
                  <a:pt x="57150" y="34289"/>
                </a:lnTo>
                <a:lnTo>
                  <a:pt x="57150" y="41910"/>
                </a:lnTo>
                <a:lnTo>
                  <a:pt x="76200" y="41910"/>
                </a:lnTo>
                <a:lnTo>
                  <a:pt x="76200" y="76200"/>
                </a:lnTo>
                <a:close/>
              </a:path>
              <a:path w="363220" h="76200">
                <a:moveTo>
                  <a:pt x="76200" y="41910"/>
                </a:moveTo>
                <a:lnTo>
                  <a:pt x="57150" y="41910"/>
                </a:lnTo>
                <a:lnTo>
                  <a:pt x="57150" y="34289"/>
                </a:lnTo>
                <a:lnTo>
                  <a:pt x="76200" y="34289"/>
                </a:lnTo>
                <a:lnTo>
                  <a:pt x="76200" y="41910"/>
                </a:lnTo>
                <a:close/>
              </a:path>
              <a:path w="363220" h="76200">
                <a:moveTo>
                  <a:pt x="362597" y="41910"/>
                </a:moveTo>
                <a:lnTo>
                  <a:pt x="76200" y="41910"/>
                </a:lnTo>
                <a:lnTo>
                  <a:pt x="76200" y="34289"/>
                </a:lnTo>
                <a:lnTo>
                  <a:pt x="362597" y="34289"/>
                </a:lnTo>
                <a:lnTo>
                  <a:pt x="362597" y="41910"/>
                </a:lnTo>
                <a:close/>
              </a:path>
            </a:pathLst>
          </a:custGeom>
          <a:solidFill>
            <a:srgbClr val="C00000"/>
          </a:solidFill>
        </p:spPr>
        <p:txBody>
          <a:bodyPr wrap="square" lIns="0" tIns="0" rIns="0" bIns="0" rtlCol="0"/>
          <a:lstStyle/>
          <a:p/>
        </p:txBody>
      </p:sp>
      <p:sp>
        <p:nvSpPr>
          <p:cNvPr id="37" name="object 37"/>
          <p:cNvSpPr/>
          <p:nvPr/>
        </p:nvSpPr>
        <p:spPr>
          <a:xfrm>
            <a:off x="4425238" y="4752721"/>
            <a:ext cx="728345" cy="76200"/>
          </a:xfrm>
          <a:custGeom>
            <a:avLst/>
            <a:gdLst/>
            <a:ahLst/>
            <a:cxnLst/>
            <a:rect l="l" t="t" r="r" b="b"/>
            <a:pathLst>
              <a:path w="728345" h="76200">
                <a:moveTo>
                  <a:pt x="721793" y="42113"/>
                </a:moveTo>
                <a:lnTo>
                  <a:pt x="671156" y="42113"/>
                </a:lnTo>
                <a:lnTo>
                  <a:pt x="671233" y="34505"/>
                </a:lnTo>
                <a:lnTo>
                  <a:pt x="652192" y="34299"/>
                </a:lnTo>
                <a:lnTo>
                  <a:pt x="652564" y="0"/>
                </a:lnTo>
                <a:lnTo>
                  <a:pt x="728344" y="38925"/>
                </a:lnTo>
                <a:lnTo>
                  <a:pt x="721793" y="42113"/>
                </a:lnTo>
                <a:close/>
              </a:path>
              <a:path w="728345" h="76200">
                <a:moveTo>
                  <a:pt x="652110" y="41906"/>
                </a:moveTo>
                <a:lnTo>
                  <a:pt x="0" y="34836"/>
                </a:lnTo>
                <a:lnTo>
                  <a:pt x="88" y="27216"/>
                </a:lnTo>
                <a:lnTo>
                  <a:pt x="652192" y="34299"/>
                </a:lnTo>
                <a:lnTo>
                  <a:pt x="652110" y="41906"/>
                </a:lnTo>
                <a:close/>
              </a:path>
              <a:path w="728345" h="76200">
                <a:moveTo>
                  <a:pt x="671156" y="42113"/>
                </a:moveTo>
                <a:lnTo>
                  <a:pt x="652110" y="41906"/>
                </a:lnTo>
                <a:lnTo>
                  <a:pt x="652192" y="34299"/>
                </a:lnTo>
                <a:lnTo>
                  <a:pt x="671233" y="34505"/>
                </a:lnTo>
                <a:lnTo>
                  <a:pt x="671156" y="42113"/>
                </a:lnTo>
                <a:close/>
              </a:path>
              <a:path w="728345" h="76200">
                <a:moveTo>
                  <a:pt x="651738" y="76200"/>
                </a:moveTo>
                <a:lnTo>
                  <a:pt x="652110" y="41906"/>
                </a:lnTo>
                <a:lnTo>
                  <a:pt x="671156" y="42113"/>
                </a:lnTo>
                <a:lnTo>
                  <a:pt x="721793" y="42113"/>
                </a:lnTo>
                <a:lnTo>
                  <a:pt x="651738" y="76200"/>
                </a:lnTo>
                <a:close/>
              </a:path>
            </a:pathLst>
          </a:custGeom>
          <a:solidFill>
            <a:srgbClr val="C00000"/>
          </a:solidFill>
        </p:spPr>
        <p:txBody>
          <a:bodyPr wrap="square" lIns="0" tIns="0" rIns="0" bIns="0" rtlCol="0"/>
          <a:lstStyle/>
          <a:p/>
        </p:txBody>
      </p:sp>
      <p:sp>
        <p:nvSpPr>
          <p:cNvPr id="38" name="object 38"/>
          <p:cNvSpPr/>
          <p:nvPr/>
        </p:nvSpPr>
        <p:spPr>
          <a:xfrm>
            <a:off x="4110735" y="3871188"/>
            <a:ext cx="76200" cy="650875"/>
          </a:xfrm>
          <a:custGeom>
            <a:avLst/>
            <a:gdLst/>
            <a:ahLst/>
            <a:cxnLst/>
            <a:rect l="l" t="t" r="r" b="b"/>
            <a:pathLst>
              <a:path w="76200" h="650875">
                <a:moveTo>
                  <a:pt x="34289" y="76200"/>
                </a:moveTo>
                <a:lnTo>
                  <a:pt x="0" y="76200"/>
                </a:lnTo>
                <a:lnTo>
                  <a:pt x="38100" y="0"/>
                </a:lnTo>
                <a:lnTo>
                  <a:pt x="66675" y="57150"/>
                </a:lnTo>
                <a:lnTo>
                  <a:pt x="34289" y="57150"/>
                </a:lnTo>
                <a:lnTo>
                  <a:pt x="34289" y="76200"/>
                </a:lnTo>
                <a:close/>
              </a:path>
              <a:path w="76200" h="650875">
                <a:moveTo>
                  <a:pt x="41910" y="650519"/>
                </a:moveTo>
                <a:lnTo>
                  <a:pt x="34289" y="650519"/>
                </a:lnTo>
                <a:lnTo>
                  <a:pt x="34289" y="57150"/>
                </a:lnTo>
                <a:lnTo>
                  <a:pt x="41910" y="57150"/>
                </a:lnTo>
                <a:lnTo>
                  <a:pt x="41910" y="650519"/>
                </a:lnTo>
                <a:close/>
              </a:path>
              <a:path w="76200" h="650875">
                <a:moveTo>
                  <a:pt x="76200" y="76200"/>
                </a:moveTo>
                <a:lnTo>
                  <a:pt x="41910" y="76200"/>
                </a:lnTo>
                <a:lnTo>
                  <a:pt x="41910" y="57150"/>
                </a:lnTo>
                <a:lnTo>
                  <a:pt x="66675" y="57150"/>
                </a:lnTo>
                <a:lnTo>
                  <a:pt x="76200" y="76200"/>
                </a:lnTo>
                <a:close/>
              </a:path>
            </a:pathLst>
          </a:custGeom>
          <a:solidFill>
            <a:srgbClr val="C00000"/>
          </a:solidFill>
        </p:spPr>
        <p:txBody>
          <a:bodyPr wrap="square" lIns="0" tIns="0" rIns="0" bIns="0" rtlCol="0"/>
          <a:lstStyle/>
          <a:p/>
        </p:txBody>
      </p:sp>
      <p:sp>
        <p:nvSpPr>
          <p:cNvPr id="39" name="object 39"/>
          <p:cNvSpPr/>
          <p:nvPr/>
        </p:nvSpPr>
        <p:spPr>
          <a:xfrm>
            <a:off x="3845121" y="5011064"/>
            <a:ext cx="0" cy="143510"/>
          </a:xfrm>
          <a:custGeom>
            <a:avLst/>
            <a:gdLst/>
            <a:ahLst/>
            <a:cxnLst/>
            <a:rect l="l" t="t" r="r" b="b"/>
            <a:pathLst>
              <a:path h="143510">
                <a:moveTo>
                  <a:pt x="0" y="0"/>
                </a:moveTo>
                <a:lnTo>
                  <a:pt x="0" y="143001"/>
                </a:lnTo>
              </a:path>
            </a:pathLst>
          </a:custGeom>
          <a:ln w="10096">
            <a:solidFill>
              <a:srgbClr val="C00000"/>
            </a:solidFill>
          </a:ln>
        </p:spPr>
        <p:txBody>
          <a:bodyPr wrap="square" lIns="0" tIns="0" rIns="0" bIns="0" rtlCol="0"/>
          <a:lstStyle/>
          <a:p/>
        </p:txBody>
      </p:sp>
      <p:sp>
        <p:nvSpPr>
          <p:cNvPr id="40" name="object 40"/>
          <p:cNvSpPr/>
          <p:nvPr/>
        </p:nvSpPr>
        <p:spPr>
          <a:xfrm>
            <a:off x="1094333" y="5090007"/>
            <a:ext cx="2759075" cy="76200"/>
          </a:xfrm>
          <a:custGeom>
            <a:avLst/>
            <a:gdLst/>
            <a:ahLst/>
            <a:cxnLst/>
            <a:rect l="l" t="t" r="r" b="b"/>
            <a:pathLst>
              <a:path w="2759075" h="76200">
                <a:moveTo>
                  <a:pt x="76072" y="76200"/>
                </a:moveTo>
                <a:lnTo>
                  <a:pt x="0" y="37845"/>
                </a:lnTo>
                <a:lnTo>
                  <a:pt x="76314" y="0"/>
                </a:lnTo>
                <a:lnTo>
                  <a:pt x="76205" y="34226"/>
                </a:lnTo>
                <a:lnTo>
                  <a:pt x="57162" y="34226"/>
                </a:lnTo>
                <a:lnTo>
                  <a:pt x="57137" y="41846"/>
                </a:lnTo>
                <a:lnTo>
                  <a:pt x="76181" y="41909"/>
                </a:lnTo>
                <a:lnTo>
                  <a:pt x="76072" y="76200"/>
                </a:lnTo>
                <a:close/>
              </a:path>
              <a:path w="2759075" h="76200">
                <a:moveTo>
                  <a:pt x="76181" y="41909"/>
                </a:moveTo>
                <a:lnTo>
                  <a:pt x="57137" y="41846"/>
                </a:lnTo>
                <a:lnTo>
                  <a:pt x="57162" y="34226"/>
                </a:lnTo>
                <a:lnTo>
                  <a:pt x="76205" y="34289"/>
                </a:lnTo>
                <a:lnTo>
                  <a:pt x="76181" y="41909"/>
                </a:lnTo>
                <a:close/>
              </a:path>
              <a:path w="2759075" h="76200">
                <a:moveTo>
                  <a:pt x="76205" y="34289"/>
                </a:moveTo>
                <a:lnTo>
                  <a:pt x="57162" y="34226"/>
                </a:lnTo>
                <a:lnTo>
                  <a:pt x="76205" y="34226"/>
                </a:lnTo>
                <a:close/>
              </a:path>
              <a:path w="2759075" h="76200">
                <a:moveTo>
                  <a:pt x="2758833" y="50774"/>
                </a:moveTo>
                <a:lnTo>
                  <a:pt x="76181" y="41909"/>
                </a:lnTo>
                <a:lnTo>
                  <a:pt x="76205" y="34289"/>
                </a:lnTo>
                <a:lnTo>
                  <a:pt x="2758859" y="43154"/>
                </a:lnTo>
                <a:lnTo>
                  <a:pt x="2758833" y="50774"/>
                </a:lnTo>
                <a:close/>
              </a:path>
            </a:pathLst>
          </a:custGeom>
          <a:solidFill>
            <a:srgbClr val="C00000"/>
          </a:solidFill>
        </p:spPr>
        <p:txBody>
          <a:bodyPr wrap="square" lIns="0" tIns="0" rIns="0" bIns="0" rtlCol="0"/>
          <a:lstStyle/>
          <a:p/>
        </p:txBody>
      </p:sp>
      <p:sp>
        <p:nvSpPr>
          <p:cNvPr id="41" name="object 41"/>
          <p:cNvSpPr/>
          <p:nvPr/>
        </p:nvSpPr>
        <p:spPr>
          <a:xfrm>
            <a:off x="7313676" y="3441191"/>
            <a:ext cx="3004185" cy="455930"/>
          </a:xfrm>
          <a:custGeom>
            <a:avLst/>
            <a:gdLst/>
            <a:ahLst/>
            <a:cxnLst/>
            <a:rect l="l" t="t" r="r" b="b"/>
            <a:pathLst>
              <a:path w="3004184" h="455929">
                <a:moveTo>
                  <a:pt x="0" y="0"/>
                </a:moveTo>
                <a:lnTo>
                  <a:pt x="3003804" y="0"/>
                </a:lnTo>
                <a:lnTo>
                  <a:pt x="3003804" y="455675"/>
                </a:lnTo>
                <a:lnTo>
                  <a:pt x="0" y="455675"/>
                </a:lnTo>
                <a:lnTo>
                  <a:pt x="0" y="0"/>
                </a:lnTo>
                <a:close/>
              </a:path>
            </a:pathLst>
          </a:custGeom>
          <a:solidFill>
            <a:srgbClr val="D9D9D9"/>
          </a:solidFill>
        </p:spPr>
        <p:txBody>
          <a:bodyPr wrap="square" lIns="0" tIns="0" rIns="0" bIns="0" rtlCol="0"/>
          <a:lstStyle/>
          <a:p/>
        </p:txBody>
      </p:sp>
      <p:sp>
        <p:nvSpPr>
          <p:cNvPr id="42" name="object 42"/>
          <p:cNvSpPr/>
          <p:nvPr/>
        </p:nvSpPr>
        <p:spPr>
          <a:xfrm>
            <a:off x="7306716" y="3434397"/>
            <a:ext cx="3016885" cy="468630"/>
          </a:xfrm>
          <a:custGeom>
            <a:avLst/>
            <a:gdLst/>
            <a:ahLst/>
            <a:cxnLst/>
            <a:rect l="l" t="t" r="r" b="b"/>
            <a:pathLst>
              <a:path w="3016884" h="468629">
                <a:moveTo>
                  <a:pt x="3016389" y="468071"/>
                </a:moveTo>
                <a:lnTo>
                  <a:pt x="0" y="468071"/>
                </a:lnTo>
                <a:lnTo>
                  <a:pt x="0" y="0"/>
                </a:lnTo>
                <a:lnTo>
                  <a:pt x="3016389" y="0"/>
                </a:lnTo>
                <a:lnTo>
                  <a:pt x="3016389" y="6350"/>
                </a:lnTo>
                <a:lnTo>
                  <a:pt x="12700" y="6350"/>
                </a:lnTo>
                <a:lnTo>
                  <a:pt x="6350" y="12700"/>
                </a:lnTo>
                <a:lnTo>
                  <a:pt x="12700" y="12700"/>
                </a:lnTo>
                <a:lnTo>
                  <a:pt x="12700" y="455371"/>
                </a:lnTo>
                <a:lnTo>
                  <a:pt x="6350" y="455371"/>
                </a:lnTo>
                <a:lnTo>
                  <a:pt x="12700" y="461721"/>
                </a:lnTo>
                <a:lnTo>
                  <a:pt x="3016389" y="461721"/>
                </a:lnTo>
                <a:lnTo>
                  <a:pt x="3016389" y="468071"/>
                </a:lnTo>
                <a:close/>
              </a:path>
              <a:path w="3016884" h="468629">
                <a:moveTo>
                  <a:pt x="12700" y="12700"/>
                </a:moveTo>
                <a:lnTo>
                  <a:pt x="6350" y="12700"/>
                </a:lnTo>
                <a:lnTo>
                  <a:pt x="12700" y="6350"/>
                </a:lnTo>
                <a:lnTo>
                  <a:pt x="12700" y="12700"/>
                </a:lnTo>
                <a:close/>
              </a:path>
              <a:path w="3016884" h="468629">
                <a:moveTo>
                  <a:pt x="3003689" y="12700"/>
                </a:moveTo>
                <a:lnTo>
                  <a:pt x="12700" y="12700"/>
                </a:lnTo>
                <a:lnTo>
                  <a:pt x="12700" y="6350"/>
                </a:lnTo>
                <a:lnTo>
                  <a:pt x="3003689" y="6350"/>
                </a:lnTo>
                <a:lnTo>
                  <a:pt x="3003689" y="12700"/>
                </a:lnTo>
                <a:close/>
              </a:path>
              <a:path w="3016884" h="468629">
                <a:moveTo>
                  <a:pt x="3003689" y="461721"/>
                </a:moveTo>
                <a:lnTo>
                  <a:pt x="3003689" y="6350"/>
                </a:lnTo>
                <a:lnTo>
                  <a:pt x="3010039" y="12700"/>
                </a:lnTo>
                <a:lnTo>
                  <a:pt x="3016389" y="12700"/>
                </a:lnTo>
                <a:lnTo>
                  <a:pt x="3016389" y="455371"/>
                </a:lnTo>
                <a:lnTo>
                  <a:pt x="3010039" y="455371"/>
                </a:lnTo>
                <a:lnTo>
                  <a:pt x="3003689" y="461721"/>
                </a:lnTo>
                <a:close/>
              </a:path>
              <a:path w="3016884" h="468629">
                <a:moveTo>
                  <a:pt x="3016389" y="12700"/>
                </a:moveTo>
                <a:lnTo>
                  <a:pt x="3010039" y="12700"/>
                </a:lnTo>
                <a:lnTo>
                  <a:pt x="3003689" y="6350"/>
                </a:lnTo>
                <a:lnTo>
                  <a:pt x="3016389" y="6350"/>
                </a:lnTo>
                <a:lnTo>
                  <a:pt x="3016389" y="12700"/>
                </a:lnTo>
                <a:close/>
              </a:path>
              <a:path w="3016884" h="468629">
                <a:moveTo>
                  <a:pt x="12700" y="461721"/>
                </a:moveTo>
                <a:lnTo>
                  <a:pt x="6350" y="455371"/>
                </a:lnTo>
                <a:lnTo>
                  <a:pt x="12700" y="455371"/>
                </a:lnTo>
                <a:lnTo>
                  <a:pt x="12700" y="461721"/>
                </a:lnTo>
                <a:close/>
              </a:path>
              <a:path w="3016884" h="468629">
                <a:moveTo>
                  <a:pt x="3003689" y="461721"/>
                </a:moveTo>
                <a:lnTo>
                  <a:pt x="12700" y="461721"/>
                </a:lnTo>
                <a:lnTo>
                  <a:pt x="12700" y="455371"/>
                </a:lnTo>
                <a:lnTo>
                  <a:pt x="3003689" y="455371"/>
                </a:lnTo>
                <a:lnTo>
                  <a:pt x="3003689" y="461721"/>
                </a:lnTo>
                <a:close/>
              </a:path>
              <a:path w="3016884" h="468629">
                <a:moveTo>
                  <a:pt x="3016389" y="461721"/>
                </a:moveTo>
                <a:lnTo>
                  <a:pt x="3003689" y="461721"/>
                </a:lnTo>
                <a:lnTo>
                  <a:pt x="3010039" y="455371"/>
                </a:lnTo>
                <a:lnTo>
                  <a:pt x="3016389" y="455371"/>
                </a:lnTo>
                <a:lnTo>
                  <a:pt x="3016389" y="461721"/>
                </a:lnTo>
                <a:close/>
              </a:path>
            </a:pathLst>
          </a:custGeom>
          <a:solidFill>
            <a:srgbClr val="C00000"/>
          </a:solidFill>
        </p:spPr>
        <p:txBody>
          <a:bodyPr wrap="square" lIns="0" tIns="0" rIns="0" bIns="0" rtlCol="0"/>
          <a:lstStyle/>
          <a:p/>
        </p:txBody>
      </p:sp>
      <p:sp>
        <p:nvSpPr>
          <p:cNvPr id="43" name="object 43"/>
          <p:cNvSpPr txBox="1"/>
          <p:nvPr/>
        </p:nvSpPr>
        <p:spPr>
          <a:xfrm>
            <a:off x="8433841" y="3554412"/>
            <a:ext cx="774700" cy="208279"/>
          </a:xfrm>
          <a:prstGeom prst="rect">
            <a:avLst/>
          </a:prstGeom>
        </p:spPr>
        <p:txBody>
          <a:bodyPr vert="horz" wrap="square" lIns="0" tIns="12700" rIns="0" bIns="0" rtlCol="0">
            <a:spAutoFit/>
          </a:bodyPr>
          <a:lstStyle/>
          <a:p>
            <a:pPr>
              <a:lnSpc>
                <a:spcPct val="100000"/>
              </a:lnSpc>
              <a:spcBef>
                <a:spcPts val="100"/>
              </a:spcBef>
            </a:pPr>
            <a:r>
              <a:rPr sz="1200" b="1" dirty="0">
                <a:solidFill>
                  <a:srgbClr val="C00000"/>
                </a:solidFill>
                <a:latin typeface="微软雅黑" panose="020B0503020204020204" charset="-122"/>
                <a:cs typeface="微软雅黑" panose="020B0503020204020204" charset="-122"/>
              </a:rPr>
              <a:t>数据存储器</a:t>
            </a:r>
            <a:endParaRPr sz="1200">
              <a:latin typeface="微软雅黑" panose="020B0503020204020204" charset="-122"/>
              <a:cs typeface="微软雅黑" panose="020B0503020204020204" charset="-122"/>
            </a:endParaRPr>
          </a:p>
        </p:txBody>
      </p:sp>
      <p:sp>
        <p:nvSpPr>
          <p:cNvPr id="44" name="object 44"/>
          <p:cNvSpPr/>
          <p:nvPr/>
        </p:nvSpPr>
        <p:spPr>
          <a:xfrm>
            <a:off x="7313676" y="4207764"/>
            <a:ext cx="3004185" cy="1059180"/>
          </a:xfrm>
          <a:custGeom>
            <a:avLst/>
            <a:gdLst/>
            <a:ahLst/>
            <a:cxnLst/>
            <a:rect l="l" t="t" r="r" b="b"/>
            <a:pathLst>
              <a:path w="3004184" h="1059179">
                <a:moveTo>
                  <a:pt x="0" y="0"/>
                </a:moveTo>
                <a:lnTo>
                  <a:pt x="3003804" y="0"/>
                </a:lnTo>
                <a:lnTo>
                  <a:pt x="3003804" y="1059180"/>
                </a:lnTo>
                <a:lnTo>
                  <a:pt x="0" y="1059180"/>
                </a:lnTo>
                <a:lnTo>
                  <a:pt x="0" y="0"/>
                </a:lnTo>
                <a:close/>
              </a:path>
            </a:pathLst>
          </a:custGeom>
          <a:solidFill>
            <a:srgbClr val="F1F1F1"/>
          </a:solidFill>
        </p:spPr>
        <p:txBody>
          <a:bodyPr wrap="square" lIns="0" tIns="0" rIns="0" bIns="0" rtlCol="0"/>
          <a:lstStyle/>
          <a:p/>
        </p:txBody>
      </p:sp>
      <p:sp>
        <p:nvSpPr>
          <p:cNvPr id="45" name="object 45"/>
          <p:cNvSpPr/>
          <p:nvPr/>
        </p:nvSpPr>
        <p:spPr>
          <a:xfrm>
            <a:off x="7306716" y="4201655"/>
            <a:ext cx="3017520" cy="1071245"/>
          </a:xfrm>
          <a:custGeom>
            <a:avLst/>
            <a:gdLst/>
            <a:ahLst/>
            <a:cxnLst/>
            <a:rect l="l" t="t" r="r" b="b"/>
            <a:pathLst>
              <a:path w="3017520" h="1071245">
                <a:moveTo>
                  <a:pt x="3016999" y="1071168"/>
                </a:moveTo>
                <a:lnTo>
                  <a:pt x="0" y="1071168"/>
                </a:lnTo>
                <a:lnTo>
                  <a:pt x="0" y="0"/>
                </a:lnTo>
                <a:lnTo>
                  <a:pt x="3016999" y="0"/>
                </a:lnTo>
                <a:lnTo>
                  <a:pt x="3016999" y="6350"/>
                </a:lnTo>
                <a:lnTo>
                  <a:pt x="12700" y="6350"/>
                </a:lnTo>
                <a:lnTo>
                  <a:pt x="6350" y="12700"/>
                </a:lnTo>
                <a:lnTo>
                  <a:pt x="12700" y="12700"/>
                </a:lnTo>
                <a:lnTo>
                  <a:pt x="12700" y="1058468"/>
                </a:lnTo>
                <a:lnTo>
                  <a:pt x="6350" y="1058468"/>
                </a:lnTo>
                <a:lnTo>
                  <a:pt x="12700" y="1064818"/>
                </a:lnTo>
                <a:lnTo>
                  <a:pt x="3016999" y="1064818"/>
                </a:lnTo>
                <a:lnTo>
                  <a:pt x="3016999" y="1071168"/>
                </a:lnTo>
                <a:close/>
              </a:path>
              <a:path w="3017520" h="1071245">
                <a:moveTo>
                  <a:pt x="12700" y="12700"/>
                </a:moveTo>
                <a:lnTo>
                  <a:pt x="6350" y="12700"/>
                </a:lnTo>
                <a:lnTo>
                  <a:pt x="12700" y="6350"/>
                </a:lnTo>
                <a:lnTo>
                  <a:pt x="12700" y="12700"/>
                </a:lnTo>
                <a:close/>
              </a:path>
              <a:path w="3017520" h="1071245">
                <a:moveTo>
                  <a:pt x="3004299" y="12700"/>
                </a:moveTo>
                <a:lnTo>
                  <a:pt x="12700" y="12700"/>
                </a:lnTo>
                <a:lnTo>
                  <a:pt x="12700" y="6350"/>
                </a:lnTo>
                <a:lnTo>
                  <a:pt x="3004299" y="6350"/>
                </a:lnTo>
                <a:lnTo>
                  <a:pt x="3004299" y="12700"/>
                </a:lnTo>
                <a:close/>
              </a:path>
              <a:path w="3017520" h="1071245">
                <a:moveTo>
                  <a:pt x="3004299" y="1064818"/>
                </a:moveTo>
                <a:lnTo>
                  <a:pt x="3004299" y="6350"/>
                </a:lnTo>
                <a:lnTo>
                  <a:pt x="3010649" y="12700"/>
                </a:lnTo>
                <a:lnTo>
                  <a:pt x="3016999" y="12700"/>
                </a:lnTo>
                <a:lnTo>
                  <a:pt x="3016999" y="1058468"/>
                </a:lnTo>
                <a:lnTo>
                  <a:pt x="3010649" y="1058468"/>
                </a:lnTo>
                <a:lnTo>
                  <a:pt x="3004299" y="1064818"/>
                </a:lnTo>
                <a:close/>
              </a:path>
              <a:path w="3017520" h="1071245">
                <a:moveTo>
                  <a:pt x="3016999" y="12700"/>
                </a:moveTo>
                <a:lnTo>
                  <a:pt x="3010649" y="12700"/>
                </a:lnTo>
                <a:lnTo>
                  <a:pt x="3004299" y="6350"/>
                </a:lnTo>
                <a:lnTo>
                  <a:pt x="3016999" y="6350"/>
                </a:lnTo>
                <a:lnTo>
                  <a:pt x="3016999" y="12700"/>
                </a:lnTo>
                <a:close/>
              </a:path>
              <a:path w="3017520" h="1071245">
                <a:moveTo>
                  <a:pt x="12700" y="1064818"/>
                </a:moveTo>
                <a:lnTo>
                  <a:pt x="6350" y="1058468"/>
                </a:lnTo>
                <a:lnTo>
                  <a:pt x="12700" y="1058468"/>
                </a:lnTo>
                <a:lnTo>
                  <a:pt x="12700" y="1064818"/>
                </a:lnTo>
                <a:close/>
              </a:path>
              <a:path w="3017520" h="1071245">
                <a:moveTo>
                  <a:pt x="3004299" y="1064818"/>
                </a:moveTo>
                <a:lnTo>
                  <a:pt x="12700" y="1064818"/>
                </a:lnTo>
                <a:lnTo>
                  <a:pt x="12700" y="1058468"/>
                </a:lnTo>
                <a:lnTo>
                  <a:pt x="3004299" y="1058468"/>
                </a:lnTo>
                <a:lnTo>
                  <a:pt x="3004299" y="1064818"/>
                </a:lnTo>
                <a:close/>
              </a:path>
              <a:path w="3017520" h="1071245">
                <a:moveTo>
                  <a:pt x="3016999" y="1064818"/>
                </a:moveTo>
                <a:lnTo>
                  <a:pt x="3004299" y="1064818"/>
                </a:lnTo>
                <a:lnTo>
                  <a:pt x="3010649" y="1058468"/>
                </a:lnTo>
                <a:lnTo>
                  <a:pt x="3016999" y="1058468"/>
                </a:lnTo>
                <a:lnTo>
                  <a:pt x="3016999" y="1064818"/>
                </a:lnTo>
                <a:close/>
              </a:path>
            </a:pathLst>
          </a:custGeom>
          <a:solidFill>
            <a:srgbClr val="C00000"/>
          </a:solidFill>
        </p:spPr>
        <p:txBody>
          <a:bodyPr wrap="square" lIns="0" tIns="0" rIns="0" bIns="0" rtlCol="0"/>
          <a:lstStyle/>
          <a:p/>
        </p:txBody>
      </p:sp>
      <p:sp>
        <p:nvSpPr>
          <p:cNvPr id="46" name="object 46"/>
          <p:cNvSpPr/>
          <p:nvPr/>
        </p:nvSpPr>
        <p:spPr>
          <a:xfrm>
            <a:off x="7444740" y="4547615"/>
            <a:ext cx="1123315" cy="455930"/>
          </a:xfrm>
          <a:custGeom>
            <a:avLst/>
            <a:gdLst/>
            <a:ahLst/>
            <a:cxnLst/>
            <a:rect l="l" t="t" r="r" b="b"/>
            <a:pathLst>
              <a:path w="1123315" h="455929">
                <a:moveTo>
                  <a:pt x="0" y="0"/>
                </a:moveTo>
                <a:lnTo>
                  <a:pt x="1123188" y="0"/>
                </a:lnTo>
                <a:lnTo>
                  <a:pt x="1123188" y="455675"/>
                </a:lnTo>
                <a:lnTo>
                  <a:pt x="0" y="455675"/>
                </a:lnTo>
                <a:lnTo>
                  <a:pt x="0" y="0"/>
                </a:lnTo>
                <a:close/>
              </a:path>
            </a:pathLst>
          </a:custGeom>
          <a:solidFill>
            <a:srgbClr val="D9D9D9"/>
          </a:solidFill>
        </p:spPr>
        <p:txBody>
          <a:bodyPr wrap="square" lIns="0" tIns="0" rIns="0" bIns="0" rtlCol="0"/>
          <a:lstStyle/>
          <a:p/>
        </p:txBody>
      </p:sp>
      <p:sp>
        <p:nvSpPr>
          <p:cNvPr id="47" name="object 47"/>
          <p:cNvSpPr/>
          <p:nvPr/>
        </p:nvSpPr>
        <p:spPr>
          <a:xfrm>
            <a:off x="7438732" y="4540897"/>
            <a:ext cx="1135380" cy="468630"/>
          </a:xfrm>
          <a:custGeom>
            <a:avLst/>
            <a:gdLst/>
            <a:ahLst/>
            <a:cxnLst/>
            <a:rect l="l" t="t" r="r" b="b"/>
            <a:pathLst>
              <a:path w="1135379" h="468629">
                <a:moveTo>
                  <a:pt x="1135214" y="468071"/>
                </a:moveTo>
                <a:lnTo>
                  <a:pt x="0" y="468071"/>
                </a:lnTo>
                <a:lnTo>
                  <a:pt x="0" y="0"/>
                </a:lnTo>
                <a:lnTo>
                  <a:pt x="1135214" y="0"/>
                </a:lnTo>
                <a:lnTo>
                  <a:pt x="1135214" y="6350"/>
                </a:lnTo>
                <a:lnTo>
                  <a:pt x="12700" y="6350"/>
                </a:lnTo>
                <a:lnTo>
                  <a:pt x="6350" y="12700"/>
                </a:lnTo>
                <a:lnTo>
                  <a:pt x="12700" y="12700"/>
                </a:lnTo>
                <a:lnTo>
                  <a:pt x="12700" y="455371"/>
                </a:lnTo>
                <a:lnTo>
                  <a:pt x="6350" y="455371"/>
                </a:lnTo>
                <a:lnTo>
                  <a:pt x="12700" y="461721"/>
                </a:lnTo>
                <a:lnTo>
                  <a:pt x="1135214" y="461721"/>
                </a:lnTo>
                <a:lnTo>
                  <a:pt x="1135214" y="468071"/>
                </a:lnTo>
                <a:close/>
              </a:path>
              <a:path w="1135379" h="468629">
                <a:moveTo>
                  <a:pt x="12700" y="12700"/>
                </a:moveTo>
                <a:lnTo>
                  <a:pt x="6350" y="12700"/>
                </a:lnTo>
                <a:lnTo>
                  <a:pt x="12700" y="6350"/>
                </a:lnTo>
                <a:lnTo>
                  <a:pt x="12700" y="12700"/>
                </a:lnTo>
                <a:close/>
              </a:path>
              <a:path w="1135379" h="468629">
                <a:moveTo>
                  <a:pt x="1122514" y="12700"/>
                </a:moveTo>
                <a:lnTo>
                  <a:pt x="12700" y="12700"/>
                </a:lnTo>
                <a:lnTo>
                  <a:pt x="12700" y="6350"/>
                </a:lnTo>
                <a:lnTo>
                  <a:pt x="1122514" y="6350"/>
                </a:lnTo>
                <a:lnTo>
                  <a:pt x="1122514" y="12700"/>
                </a:lnTo>
                <a:close/>
              </a:path>
              <a:path w="1135379" h="468629">
                <a:moveTo>
                  <a:pt x="1122514" y="461721"/>
                </a:moveTo>
                <a:lnTo>
                  <a:pt x="1122514" y="6350"/>
                </a:lnTo>
                <a:lnTo>
                  <a:pt x="1128864" y="12700"/>
                </a:lnTo>
                <a:lnTo>
                  <a:pt x="1135214" y="12700"/>
                </a:lnTo>
                <a:lnTo>
                  <a:pt x="1135214" y="455371"/>
                </a:lnTo>
                <a:lnTo>
                  <a:pt x="1128864" y="455371"/>
                </a:lnTo>
                <a:lnTo>
                  <a:pt x="1122514" y="461721"/>
                </a:lnTo>
                <a:close/>
              </a:path>
              <a:path w="1135379" h="468629">
                <a:moveTo>
                  <a:pt x="1135214" y="12700"/>
                </a:moveTo>
                <a:lnTo>
                  <a:pt x="1128864" y="12700"/>
                </a:lnTo>
                <a:lnTo>
                  <a:pt x="1122514" y="6350"/>
                </a:lnTo>
                <a:lnTo>
                  <a:pt x="1135214" y="6350"/>
                </a:lnTo>
                <a:lnTo>
                  <a:pt x="1135214" y="12700"/>
                </a:lnTo>
                <a:close/>
              </a:path>
              <a:path w="1135379" h="468629">
                <a:moveTo>
                  <a:pt x="12700" y="461721"/>
                </a:moveTo>
                <a:lnTo>
                  <a:pt x="6350" y="455371"/>
                </a:lnTo>
                <a:lnTo>
                  <a:pt x="12700" y="455371"/>
                </a:lnTo>
                <a:lnTo>
                  <a:pt x="12700" y="461721"/>
                </a:lnTo>
                <a:close/>
              </a:path>
              <a:path w="1135379" h="468629">
                <a:moveTo>
                  <a:pt x="1122514" y="461721"/>
                </a:moveTo>
                <a:lnTo>
                  <a:pt x="12700" y="461721"/>
                </a:lnTo>
                <a:lnTo>
                  <a:pt x="12700" y="455371"/>
                </a:lnTo>
                <a:lnTo>
                  <a:pt x="1122514" y="455371"/>
                </a:lnTo>
                <a:lnTo>
                  <a:pt x="1122514" y="461721"/>
                </a:lnTo>
                <a:close/>
              </a:path>
              <a:path w="1135379" h="468629">
                <a:moveTo>
                  <a:pt x="1135214" y="461721"/>
                </a:moveTo>
                <a:lnTo>
                  <a:pt x="1122514" y="461721"/>
                </a:lnTo>
                <a:lnTo>
                  <a:pt x="1128864" y="455371"/>
                </a:lnTo>
                <a:lnTo>
                  <a:pt x="1135214" y="455371"/>
                </a:lnTo>
                <a:lnTo>
                  <a:pt x="1135214" y="461721"/>
                </a:lnTo>
                <a:close/>
              </a:path>
            </a:pathLst>
          </a:custGeom>
          <a:solidFill>
            <a:srgbClr val="C00000"/>
          </a:solidFill>
        </p:spPr>
        <p:txBody>
          <a:bodyPr wrap="square" lIns="0" tIns="0" rIns="0" bIns="0" rtlCol="0"/>
          <a:lstStyle/>
          <a:p/>
        </p:txBody>
      </p:sp>
      <p:sp>
        <p:nvSpPr>
          <p:cNvPr id="48" name="object 48"/>
          <p:cNvSpPr txBox="1"/>
          <p:nvPr/>
        </p:nvSpPr>
        <p:spPr>
          <a:xfrm>
            <a:off x="7777188" y="4660912"/>
            <a:ext cx="469900" cy="208279"/>
          </a:xfrm>
          <a:prstGeom prst="rect">
            <a:avLst/>
          </a:prstGeom>
        </p:spPr>
        <p:txBody>
          <a:bodyPr vert="horz" wrap="square" lIns="0" tIns="12700" rIns="0" bIns="0" rtlCol="0">
            <a:spAutoFit/>
          </a:bodyPr>
          <a:lstStyle/>
          <a:p>
            <a:pPr>
              <a:lnSpc>
                <a:spcPct val="100000"/>
              </a:lnSpc>
              <a:spcBef>
                <a:spcPts val="100"/>
              </a:spcBef>
            </a:pPr>
            <a:r>
              <a:rPr sz="1200" b="1" dirty="0">
                <a:solidFill>
                  <a:srgbClr val="C00000"/>
                </a:solidFill>
                <a:latin typeface="微软雅黑" panose="020B0503020204020204" charset="-122"/>
                <a:cs typeface="微软雅黑" panose="020B0503020204020204" charset="-122"/>
              </a:rPr>
              <a:t>运算器</a:t>
            </a:r>
            <a:endParaRPr sz="1200">
              <a:latin typeface="微软雅黑" panose="020B0503020204020204" charset="-122"/>
              <a:cs typeface="微软雅黑" panose="020B0503020204020204" charset="-122"/>
            </a:endParaRPr>
          </a:p>
        </p:txBody>
      </p:sp>
      <p:sp>
        <p:nvSpPr>
          <p:cNvPr id="49" name="object 49"/>
          <p:cNvSpPr/>
          <p:nvPr/>
        </p:nvSpPr>
        <p:spPr>
          <a:xfrm>
            <a:off x="8930640" y="4547615"/>
            <a:ext cx="1158240" cy="455930"/>
          </a:xfrm>
          <a:custGeom>
            <a:avLst/>
            <a:gdLst/>
            <a:ahLst/>
            <a:cxnLst/>
            <a:rect l="l" t="t" r="r" b="b"/>
            <a:pathLst>
              <a:path w="1158240" h="455929">
                <a:moveTo>
                  <a:pt x="0" y="0"/>
                </a:moveTo>
                <a:lnTo>
                  <a:pt x="1158240" y="0"/>
                </a:lnTo>
                <a:lnTo>
                  <a:pt x="1158240" y="455675"/>
                </a:lnTo>
                <a:lnTo>
                  <a:pt x="0" y="455675"/>
                </a:lnTo>
                <a:lnTo>
                  <a:pt x="0" y="0"/>
                </a:lnTo>
                <a:close/>
              </a:path>
            </a:pathLst>
          </a:custGeom>
          <a:solidFill>
            <a:srgbClr val="D9D9D9"/>
          </a:solidFill>
        </p:spPr>
        <p:txBody>
          <a:bodyPr wrap="square" lIns="0" tIns="0" rIns="0" bIns="0" rtlCol="0"/>
          <a:lstStyle/>
          <a:p/>
        </p:txBody>
      </p:sp>
      <p:sp>
        <p:nvSpPr>
          <p:cNvPr id="50" name="object 50"/>
          <p:cNvSpPr/>
          <p:nvPr/>
        </p:nvSpPr>
        <p:spPr>
          <a:xfrm>
            <a:off x="8923845" y="4540897"/>
            <a:ext cx="1171575" cy="468630"/>
          </a:xfrm>
          <a:custGeom>
            <a:avLst/>
            <a:gdLst/>
            <a:ahLst/>
            <a:cxnLst/>
            <a:rect l="l" t="t" r="r" b="b"/>
            <a:pathLst>
              <a:path w="1171575" h="468629">
                <a:moveTo>
                  <a:pt x="1171155" y="468071"/>
                </a:moveTo>
                <a:lnTo>
                  <a:pt x="0" y="468071"/>
                </a:lnTo>
                <a:lnTo>
                  <a:pt x="0" y="0"/>
                </a:lnTo>
                <a:lnTo>
                  <a:pt x="1171155" y="0"/>
                </a:lnTo>
                <a:lnTo>
                  <a:pt x="1171155" y="6350"/>
                </a:lnTo>
                <a:lnTo>
                  <a:pt x="12700" y="6350"/>
                </a:lnTo>
                <a:lnTo>
                  <a:pt x="6350" y="12700"/>
                </a:lnTo>
                <a:lnTo>
                  <a:pt x="12700" y="12700"/>
                </a:lnTo>
                <a:lnTo>
                  <a:pt x="12700" y="455371"/>
                </a:lnTo>
                <a:lnTo>
                  <a:pt x="6350" y="455371"/>
                </a:lnTo>
                <a:lnTo>
                  <a:pt x="12700" y="461721"/>
                </a:lnTo>
                <a:lnTo>
                  <a:pt x="1171155" y="461721"/>
                </a:lnTo>
                <a:lnTo>
                  <a:pt x="1171155" y="468071"/>
                </a:lnTo>
                <a:close/>
              </a:path>
              <a:path w="1171575" h="468629">
                <a:moveTo>
                  <a:pt x="12700" y="12700"/>
                </a:moveTo>
                <a:lnTo>
                  <a:pt x="6350" y="12700"/>
                </a:lnTo>
                <a:lnTo>
                  <a:pt x="12700" y="6350"/>
                </a:lnTo>
                <a:lnTo>
                  <a:pt x="12700" y="12700"/>
                </a:lnTo>
                <a:close/>
              </a:path>
              <a:path w="1171575" h="468629">
                <a:moveTo>
                  <a:pt x="1158455" y="12700"/>
                </a:moveTo>
                <a:lnTo>
                  <a:pt x="12700" y="12700"/>
                </a:lnTo>
                <a:lnTo>
                  <a:pt x="12700" y="6350"/>
                </a:lnTo>
                <a:lnTo>
                  <a:pt x="1158455" y="6350"/>
                </a:lnTo>
                <a:lnTo>
                  <a:pt x="1158455" y="12700"/>
                </a:lnTo>
                <a:close/>
              </a:path>
              <a:path w="1171575" h="468629">
                <a:moveTo>
                  <a:pt x="1158455" y="461721"/>
                </a:moveTo>
                <a:lnTo>
                  <a:pt x="1158455" y="6350"/>
                </a:lnTo>
                <a:lnTo>
                  <a:pt x="1164805" y="12700"/>
                </a:lnTo>
                <a:lnTo>
                  <a:pt x="1171155" y="12700"/>
                </a:lnTo>
                <a:lnTo>
                  <a:pt x="1171155" y="455371"/>
                </a:lnTo>
                <a:lnTo>
                  <a:pt x="1164805" y="455371"/>
                </a:lnTo>
                <a:lnTo>
                  <a:pt x="1158455" y="461721"/>
                </a:lnTo>
                <a:close/>
              </a:path>
              <a:path w="1171575" h="468629">
                <a:moveTo>
                  <a:pt x="1171155" y="12700"/>
                </a:moveTo>
                <a:lnTo>
                  <a:pt x="1164805" y="12700"/>
                </a:lnTo>
                <a:lnTo>
                  <a:pt x="1158455" y="6350"/>
                </a:lnTo>
                <a:lnTo>
                  <a:pt x="1171155" y="6350"/>
                </a:lnTo>
                <a:lnTo>
                  <a:pt x="1171155" y="12700"/>
                </a:lnTo>
                <a:close/>
              </a:path>
              <a:path w="1171575" h="468629">
                <a:moveTo>
                  <a:pt x="12700" y="461721"/>
                </a:moveTo>
                <a:lnTo>
                  <a:pt x="6350" y="455371"/>
                </a:lnTo>
                <a:lnTo>
                  <a:pt x="12700" y="455371"/>
                </a:lnTo>
                <a:lnTo>
                  <a:pt x="12700" y="461721"/>
                </a:lnTo>
                <a:close/>
              </a:path>
              <a:path w="1171575" h="468629">
                <a:moveTo>
                  <a:pt x="1158455" y="461721"/>
                </a:moveTo>
                <a:lnTo>
                  <a:pt x="12700" y="461721"/>
                </a:lnTo>
                <a:lnTo>
                  <a:pt x="12700" y="455371"/>
                </a:lnTo>
                <a:lnTo>
                  <a:pt x="1158455" y="455371"/>
                </a:lnTo>
                <a:lnTo>
                  <a:pt x="1158455" y="461721"/>
                </a:lnTo>
                <a:close/>
              </a:path>
              <a:path w="1171575" h="468629">
                <a:moveTo>
                  <a:pt x="1171155" y="461721"/>
                </a:moveTo>
                <a:lnTo>
                  <a:pt x="1158455" y="461721"/>
                </a:lnTo>
                <a:lnTo>
                  <a:pt x="1164805" y="455371"/>
                </a:lnTo>
                <a:lnTo>
                  <a:pt x="1171155" y="455371"/>
                </a:lnTo>
                <a:lnTo>
                  <a:pt x="1171155" y="461721"/>
                </a:lnTo>
                <a:close/>
              </a:path>
            </a:pathLst>
          </a:custGeom>
          <a:solidFill>
            <a:srgbClr val="C00000"/>
          </a:solidFill>
        </p:spPr>
        <p:txBody>
          <a:bodyPr wrap="square" lIns="0" tIns="0" rIns="0" bIns="0" rtlCol="0"/>
          <a:lstStyle/>
          <a:p/>
        </p:txBody>
      </p:sp>
      <p:sp>
        <p:nvSpPr>
          <p:cNvPr id="51" name="object 51"/>
          <p:cNvSpPr txBox="1"/>
          <p:nvPr/>
        </p:nvSpPr>
        <p:spPr>
          <a:xfrm>
            <a:off x="9280715" y="4660912"/>
            <a:ext cx="469900" cy="208279"/>
          </a:xfrm>
          <a:prstGeom prst="rect">
            <a:avLst/>
          </a:prstGeom>
        </p:spPr>
        <p:txBody>
          <a:bodyPr vert="horz" wrap="square" lIns="0" tIns="12700" rIns="0" bIns="0" rtlCol="0">
            <a:spAutoFit/>
          </a:bodyPr>
          <a:lstStyle/>
          <a:p>
            <a:pPr>
              <a:lnSpc>
                <a:spcPct val="100000"/>
              </a:lnSpc>
              <a:spcBef>
                <a:spcPts val="100"/>
              </a:spcBef>
            </a:pPr>
            <a:r>
              <a:rPr sz="1200" b="1" dirty="0">
                <a:solidFill>
                  <a:srgbClr val="C00000"/>
                </a:solidFill>
                <a:latin typeface="微软雅黑" panose="020B0503020204020204" charset="-122"/>
                <a:cs typeface="微软雅黑" panose="020B0503020204020204" charset="-122"/>
              </a:rPr>
              <a:t>控制器</a:t>
            </a:r>
            <a:endParaRPr sz="1200">
              <a:latin typeface="微软雅黑" panose="020B0503020204020204" charset="-122"/>
              <a:cs typeface="微软雅黑" panose="020B0503020204020204" charset="-122"/>
            </a:endParaRPr>
          </a:p>
        </p:txBody>
      </p:sp>
      <p:sp>
        <p:nvSpPr>
          <p:cNvPr id="52" name="object 52"/>
          <p:cNvSpPr txBox="1"/>
          <p:nvPr/>
        </p:nvSpPr>
        <p:spPr>
          <a:xfrm>
            <a:off x="8541499" y="4268114"/>
            <a:ext cx="469900" cy="208279"/>
          </a:xfrm>
          <a:prstGeom prst="rect">
            <a:avLst/>
          </a:prstGeom>
        </p:spPr>
        <p:txBody>
          <a:bodyPr vert="horz" wrap="square" lIns="0" tIns="12700" rIns="0" bIns="0" rtlCol="0">
            <a:spAutoFit/>
          </a:bodyPr>
          <a:lstStyle/>
          <a:p>
            <a:pPr>
              <a:lnSpc>
                <a:spcPct val="100000"/>
              </a:lnSpc>
              <a:spcBef>
                <a:spcPts val="100"/>
              </a:spcBef>
            </a:pPr>
            <a:r>
              <a:rPr sz="1200" b="1" dirty="0">
                <a:solidFill>
                  <a:srgbClr val="C00000"/>
                </a:solidFill>
                <a:latin typeface="微软雅黑" panose="020B0503020204020204" charset="-122"/>
                <a:cs typeface="微软雅黑" panose="020B0503020204020204" charset="-122"/>
              </a:rPr>
              <a:t>处理器</a:t>
            </a:r>
            <a:endParaRPr sz="1200">
              <a:latin typeface="微软雅黑" panose="020B0503020204020204" charset="-122"/>
              <a:cs typeface="微软雅黑" panose="020B0503020204020204" charset="-122"/>
            </a:endParaRPr>
          </a:p>
        </p:txBody>
      </p:sp>
      <p:sp>
        <p:nvSpPr>
          <p:cNvPr id="53" name="object 53"/>
          <p:cNvSpPr/>
          <p:nvPr/>
        </p:nvSpPr>
        <p:spPr>
          <a:xfrm>
            <a:off x="10831068" y="3441191"/>
            <a:ext cx="487680" cy="2557780"/>
          </a:xfrm>
          <a:custGeom>
            <a:avLst/>
            <a:gdLst/>
            <a:ahLst/>
            <a:cxnLst/>
            <a:rect l="l" t="t" r="r" b="b"/>
            <a:pathLst>
              <a:path w="487679" h="2557779">
                <a:moveTo>
                  <a:pt x="0" y="0"/>
                </a:moveTo>
                <a:lnTo>
                  <a:pt x="487679" y="0"/>
                </a:lnTo>
                <a:lnTo>
                  <a:pt x="487679" y="2557272"/>
                </a:lnTo>
                <a:lnTo>
                  <a:pt x="0" y="2557272"/>
                </a:lnTo>
                <a:lnTo>
                  <a:pt x="0" y="0"/>
                </a:lnTo>
                <a:close/>
              </a:path>
            </a:pathLst>
          </a:custGeom>
          <a:solidFill>
            <a:srgbClr val="D9D9D9"/>
          </a:solidFill>
        </p:spPr>
        <p:txBody>
          <a:bodyPr wrap="square" lIns="0" tIns="0" rIns="0" bIns="0" rtlCol="0"/>
          <a:lstStyle/>
          <a:p/>
        </p:txBody>
      </p:sp>
      <p:sp>
        <p:nvSpPr>
          <p:cNvPr id="54" name="object 54"/>
          <p:cNvSpPr/>
          <p:nvPr/>
        </p:nvSpPr>
        <p:spPr>
          <a:xfrm>
            <a:off x="10825480" y="3434397"/>
            <a:ext cx="499745" cy="2571115"/>
          </a:xfrm>
          <a:custGeom>
            <a:avLst/>
            <a:gdLst/>
            <a:ahLst/>
            <a:cxnLst/>
            <a:rect l="l" t="t" r="r" b="b"/>
            <a:pathLst>
              <a:path w="499745" h="2571115">
                <a:moveTo>
                  <a:pt x="499262" y="2571026"/>
                </a:moveTo>
                <a:lnTo>
                  <a:pt x="0" y="2571026"/>
                </a:lnTo>
                <a:lnTo>
                  <a:pt x="0" y="0"/>
                </a:lnTo>
                <a:lnTo>
                  <a:pt x="499262" y="0"/>
                </a:lnTo>
                <a:lnTo>
                  <a:pt x="499262" y="6350"/>
                </a:lnTo>
                <a:lnTo>
                  <a:pt x="12700" y="6350"/>
                </a:lnTo>
                <a:lnTo>
                  <a:pt x="6350" y="12700"/>
                </a:lnTo>
                <a:lnTo>
                  <a:pt x="12700" y="12700"/>
                </a:lnTo>
                <a:lnTo>
                  <a:pt x="12700" y="2558326"/>
                </a:lnTo>
                <a:lnTo>
                  <a:pt x="6350" y="2558326"/>
                </a:lnTo>
                <a:lnTo>
                  <a:pt x="12700" y="2564676"/>
                </a:lnTo>
                <a:lnTo>
                  <a:pt x="499262" y="2564676"/>
                </a:lnTo>
                <a:lnTo>
                  <a:pt x="499262" y="2571026"/>
                </a:lnTo>
                <a:close/>
              </a:path>
              <a:path w="499745" h="2571115">
                <a:moveTo>
                  <a:pt x="12700" y="12700"/>
                </a:moveTo>
                <a:lnTo>
                  <a:pt x="6350" y="12700"/>
                </a:lnTo>
                <a:lnTo>
                  <a:pt x="12700" y="6350"/>
                </a:lnTo>
                <a:lnTo>
                  <a:pt x="12700" y="12700"/>
                </a:lnTo>
                <a:close/>
              </a:path>
              <a:path w="499745" h="2571115">
                <a:moveTo>
                  <a:pt x="486562" y="12700"/>
                </a:moveTo>
                <a:lnTo>
                  <a:pt x="12700" y="12700"/>
                </a:lnTo>
                <a:lnTo>
                  <a:pt x="12700" y="6350"/>
                </a:lnTo>
                <a:lnTo>
                  <a:pt x="486562" y="6350"/>
                </a:lnTo>
                <a:lnTo>
                  <a:pt x="486562" y="12700"/>
                </a:lnTo>
                <a:close/>
              </a:path>
              <a:path w="499745" h="2571115">
                <a:moveTo>
                  <a:pt x="486562" y="2564676"/>
                </a:moveTo>
                <a:lnTo>
                  <a:pt x="486562" y="6350"/>
                </a:lnTo>
                <a:lnTo>
                  <a:pt x="492912" y="12700"/>
                </a:lnTo>
                <a:lnTo>
                  <a:pt x="499262" y="12700"/>
                </a:lnTo>
                <a:lnTo>
                  <a:pt x="499262" y="2558326"/>
                </a:lnTo>
                <a:lnTo>
                  <a:pt x="492912" y="2558326"/>
                </a:lnTo>
                <a:lnTo>
                  <a:pt x="486562" y="2564676"/>
                </a:lnTo>
                <a:close/>
              </a:path>
              <a:path w="499745" h="2571115">
                <a:moveTo>
                  <a:pt x="499262" y="12700"/>
                </a:moveTo>
                <a:lnTo>
                  <a:pt x="492912" y="12700"/>
                </a:lnTo>
                <a:lnTo>
                  <a:pt x="486562" y="6350"/>
                </a:lnTo>
                <a:lnTo>
                  <a:pt x="499262" y="6350"/>
                </a:lnTo>
                <a:lnTo>
                  <a:pt x="499262" y="12700"/>
                </a:lnTo>
                <a:close/>
              </a:path>
              <a:path w="499745" h="2571115">
                <a:moveTo>
                  <a:pt x="12700" y="2564676"/>
                </a:moveTo>
                <a:lnTo>
                  <a:pt x="6350" y="2558326"/>
                </a:lnTo>
                <a:lnTo>
                  <a:pt x="12700" y="2558326"/>
                </a:lnTo>
                <a:lnTo>
                  <a:pt x="12700" y="2564676"/>
                </a:lnTo>
                <a:close/>
              </a:path>
              <a:path w="499745" h="2571115">
                <a:moveTo>
                  <a:pt x="486562" y="2564676"/>
                </a:moveTo>
                <a:lnTo>
                  <a:pt x="12700" y="2564676"/>
                </a:lnTo>
                <a:lnTo>
                  <a:pt x="12700" y="2558326"/>
                </a:lnTo>
                <a:lnTo>
                  <a:pt x="486562" y="2558326"/>
                </a:lnTo>
                <a:lnTo>
                  <a:pt x="486562" y="2564676"/>
                </a:lnTo>
                <a:close/>
              </a:path>
              <a:path w="499745" h="2571115">
                <a:moveTo>
                  <a:pt x="499262" y="2564676"/>
                </a:moveTo>
                <a:lnTo>
                  <a:pt x="486562" y="2564676"/>
                </a:lnTo>
                <a:lnTo>
                  <a:pt x="492912" y="2558326"/>
                </a:lnTo>
                <a:lnTo>
                  <a:pt x="499262" y="2558326"/>
                </a:lnTo>
                <a:lnTo>
                  <a:pt x="499262" y="2564676"/>
                </a:lnTo>
                <a:close/>
              </a:path>
            </a:pathLst>
          </a:custGeom>
          <a:solidFill>
            <a:srgbClr val="C00000"/>
          </a:solidFill>
        </p:spPr>
        <p:txBody>
          <a:bodyPr wrap="square" lIns="0" tIns="0" rIns="0" bIns="0" rtlCol="0"/>
          <a:lstStyle/>
          <a:p/>
        </p:txBody>
      </p:sp>
      <p:sp>
        <p:nvSpPr>
          <p:cNvPr id="55" name="object 55"/>
          <p:cNvSpPr txBox="1"/>
          <p:nvPr/>
        </p:nvSpPr>
        <p:spPr>
          <a:xfrm>
            <a:off x="10996294" y="4402772"/>
            <a:ext cx="177800" cy="635000"/>
          </a:xfrm>
          <a:prstGeom prst="rect">
            <a:avLst/>
          </a:prstGeom>
        </p:spPr>
        <p:txBody>
          <a:bodyPr vert="eaVert" wrap="square" lIns="0" tIns="0" rIns="0" bIns="0" rtlCol="0">
            <a:spAutoFit/>
          </a:bodyPr>
          <a:lstStyle/>
          <a:p>
            <a:pPr marL="12700">
              <a:lnSpc>
                <a:spcPct val="65000"/>
              </a:lnSpc>
            </a:pPr>
            <a:r>
              <a:rPr sz="1200" b="1" dirty="0">
                <a:solidFill>
                  <a:srgbClr val="C00000"/>
                </a:solidFill>
                <a:latin typeface="微软雅黑" panose="020B0503020204020204" charset="-122"/>
                <a:cs typeface="微软雅黑" panose="020B0503020204020204" charset="-122"/>
              </a:rPr>
              <a:t>输出设备</a:t>
            </a:r>
            <a:endParaRPr sz="1200">
              <a:latin typeface="微软雅黑" panose="020B0503020204020204" charset="-122"/>
              <a:cs typeface="微软雅黑" panose="020B0503020204020204" charset="-122"/>
            </a:endParaRPr>
          </a:p>
        </p:txBody>
      </p:sp>
      <p:sp>
        <p:nvSpPr>
          <p:cNvPr id="56" name="object 56"/>
          <p:cNvSpPr/>
          <p:nvPr/>
        </p:nvSpPr>
        <p:spPr>
          <a:xfrm>
            <a:off x="6271259" y="3432047"/>
            <a:ext cx="486409" cy="2566670"/>
          </a:xfrm>
          <a:custGeom>
            <a:avLst/>
            <a:gdLst/>
            <a:ahLst/>
            <a:cxnLst/>
            <a:rect l="l" t="t" r="r" b="b"/>
            <a:pathLst>
              <a:path w="486409" h="2566670">
                <a:moveTo>
                  <a:pt x="0" y="0"/>
                </a:moveTo>
                <a:lnTo>
                  <a:pt x="486156" y="0"/>
                </a:lnTo>
                <a:lnTo>
                  <a:pt x="486156" y="2566416"/>
                </a:lnTo>
                <a:lnTo>
                  <a:pt x="0" y="2566416"/>
                </a:lnTo>
                <a:lnTo>
                  <a:pt x="0" y="0"/>
                </a:lnTo>
                <a:close/>
              </a:path>
            </a:pathLst>
          </a:custGeom>
          <a:solidFill>
            <a:srgbClr val="D9D9D9"/>
          </a:solidFill>
        </p:spPr>
        <p:txBody>
          <a:bodyPr wrap="square" lIns="0" tIns="0" rIns="0" bIns="0" rtlCol="0"/>
          <a:lstStyle/>
          <a:p/>
        </p:txBody>
      </p:sp>
      <p:sp>
        <p:nvSpPr>
          <p:cNvPr id="57" name="object 57"/>
          <p:cNvSpPr/>
          <p:nvPr/>
        </p:nvSpPr>
        <p:spPr>
          <a:xfrm>
            <a:off x="6264783" y="3425888"/>
            <a:ext cx="499745" cy="2580005"/>
          </a:xfrm>
          <a:custGeom>
            <a:avLst/>
            <a:gdLst/>
            <a:ahLst/>
            <a:cxnLst/>
            <a:rect l="l" t="t" r="r" b="b"/>
            <a:pathLst>
              <a:path w="499745" h="2580004">
                <a:moveTo>
                  <a:pt x="499262" y="2579535"/>
                </a:moveTo>
                <a:lnTo>
                  <a:pt x="0" y="2579535"/>
                </a:lnTo>
                <a:lnTo>
                  <a:pt x="0" y="0"/>
                </a:lnTo>
                <a:lnTo>
                  <a:pt x="499262" y="0"/>
                </a:lnTo>
                <a:lnTo>
                  <a:pt x="499262" y="6350"/>
                </a:lnTo>
                <a:lnTo>
                  <a:pt x="12700" y="6350"/>
                </a:lnTo>
                <a:lnTo>
                  <a:pt x="6350" y="12700"/>
                </a:lnTo>
                <a:lnTo>
                  <a:pt x="12700" y="12700"/>
                </a:lnTo>
                <a:lnTo>
                  <a:pt x="12700" y="2566835"/>
                </a:lnTo>
                <a:lnTo>
                  <a:pt x="6350" y="2566835"/>
                </a:lnTo>
                <a:lnTo>
                  <a:pt x="12700" y="2573185"/>
                </a:lnTo>
                <a:lnTo>
                  <a:pt x="499262" y="2573185"/>
                </a:lnTo>
                <a:lnTo>
                  <a:pt x="499262" y="2579535"/>
                </a:lnTo>
                <a:close/>
              </a:path>
              <a:path w="499745" h="2580004">
                <a:moveTo>
                  <a:pt x="12700" y="12700"/>
                </a:moveTo>
                <a:lnTo>
                  <a:pt x="6350" y="12700"/>
                </a:lnTo>
                <a:lnTo>
                  <a:pt x="12700" y="6350"/>
                </a:lnTo>
                <a:lnTo>
                  <a:pt x="12700" y="12700"/>
                </a:lnTo>
                <a:close/>
              </a:path>
              <a:path w="499745" h="2580004">
                <a:moveTo>
                  <a:pt x="486562" y="12700"/>
                </a:moveTo>
                <a:lnTo>
                  <a:pt x="12700" y="12700"/>
                </a:lnTo>
                <a:lnTo>
                  <a:pt x="12700" y="6350"/>
                </a:lnTo>
                <a:lnTo>
                  <a:pt x="486562" y="6350"/>
                </a:lnTo>
                <a:lnTo>
                  <a:pt x="486562" y="12700"/>
                </a:lnTo>
                <a:close/>
              </a:path>
              <a:path w="499745" h="2580004">
                <a:moveTo>
                  <a:pt x="486562" y="2573185"/>
                </a:moveTo>
                <a:lnTo>
                  <a:pt x="486562" y="6350"/>
                </a:lnTo>
                <a:lnTo>
                  <a:pt x="492912" y="12700"/>
                </a:lnTo>
                <a:lnTo>
                  <a:pt x="499262" y="12700"/>
                </a:lnTo>
                <a:lnTo>
                  <a:pt x="499262" y="2566835"/>
                </a:lnTo>
                <a:lnTo>
                  <a:pt x="492912" y="2566835"/>
                </a:lnTo>
                <a:lnTo>
                  <a:pt x="486562" y="2573185"/>
                </a:lnTo>
                <a:close/>
              </a:path>
              <a:path w="499745" h="2580004">
                <a:moveTo>
                  <a:pt x="499262" y="12700"/>
                </a:moveTo>
                <a:lnTo>
                  <a:pt x="492912" y="12700"/>
                </a:lnTo>
                <a:lnTo>
                  <a:pt x="486562" y="6350"/>
                </a:lnTo>
                <a:lnTo>
                  <a:pt x="499262" y="6350"/>
                </a:lnTo>
                <a:lnTo>
                  <a:pt x="499262" y="12700"/>
                </a:lnTo>
                <a:close/>
              </a:path>
              <a:path w="499745" h="2580004">
                <a:moveTo>
                  <a:pt x="12700" y="2573185"/>
                </a:moveTo>
                <a:lnTo>
                  <a:pt x="6350" y="2566835"/>
                </a:lnTo>
                <a:lnTo>
                  <a:pt x="12700" y="2566835"/>
                </a:lnTo>
                <a:lnTo>
                  <a:pt x="12700" y="2573185"/>
                </a:lnTo>
                <a:close/>
              </a:path>
              <a:path w="499745" h="2580004">
                <a:moveTo>
                  <a:pt x="486562" y="2573185"/>
                </a:moveTo>
                <a:lnTo>
                  <a:pt x="12700" y="2573185"/>
                </a:lnTo>
                <a:lnTo>
                  <a:pt x="12700" y="2566835"/>
                </a:lnTo>
                <a:lnTo>
                  <a:pt x="486562" y="2566835"/>
                </a:lnTo>
                <a:lnTo>
                  <a:pt x="486562" y="2573185"/>
                </a:lnTo>
                <a:close/>
              </a:path>
              <a:path w="499745" h="2580004">
                <a:moveTo>
                  <a:pt x="499262" y="2573185"/>
                </a:moveTo>
                <a:lnTo>
                  <a:pt x="486562" y="2573185"/>
                </a:lnTo>
                <a:lnTo>
                  <a:pt x="492912" y="2566835"/>
                </a:lnTo>
                <a:lnTo>
                  <a:pt x="499262" y="2566835"/>
                </a:lnTo>
                <a:lnTo>
                  <a:pt x="499262" y="2573185"/>
                </a:lnTo>
                <a:close/>
              </a:path>
            </a:pathLst>
          </a:custGeom>
          <a:solidFill>
            <a:srgbClr val="C00000"/>
          </a:solidFill>
        </p:spPr>
        <p:txBody>
          <a:bodyPr wrap="square" lIns="0" tIns="0" rIns="0" bIns="0" rtlCol="0"/>
          <a:lstStyle/>
          <a:p/>
        </p:txBody>
      </p:sp>
      <p:sp>
        <p:nvSpPr>
          <p:cNvPr id="58" name="object 58"/>
          <p:cNvSpPr txBox="1"/>
          <p:nvPr/>
        </p:nvSpPr>
        <p:spPr>
          <a:xfrm>
            <a:off x="6435597" y="4398708"/>
            <a:ext cx="177800" cy="635000"/>
          </a:xfrm>
          <a:prstGeom prst="rect">
            <a:avLst/>
          </a:prstGeom>
        </p:spPr>
        <p:txBody>
          <a:bodyPr vert="eaVert" wrap="square" lIns="0" tIns="0" rIns="0" bIns="0" rtlCol="0">
            <a:spAutoFit/>
          </a:bodyPr>
          <a:lstStyle/>
          <a:p>
            <a:pPr marL="12700">
              <a:lnSpc>
                <a:spcPct val="65000"/>
              </a:lnSpc>
            </a:pPr>
            <a:r>
              <a:rPr sz="1200" b="1" dirty="0">
                <a:solidFill>
                  <a:srgbClr val="C00000"/>
                </a:solidFill>
                <a:latin typeface="微软雅黑" panose="020B0503020204020204" charset="-122"/>
                <a:cs typeface="微软雅黑" panose="020B0503020204020204" charset="-122"/>
              </a:rPr>
              <a:t>输入设备</a:t>
            </a:r>
            <a:endParaRPr sz="1200">
              <a:latin typeface="微软雅黑" panose="020B0503020204020204" charset="-122"/>
              <a:cs typeface="微软雅黑" panose="020B0503020204020204" charset="-122"/>
            </a:endParaRPr>
          </a:p>
        </p:txBody>
      </p:sp>
      <p:sp>
        <p:nvSpPr>
          <p:cNvPr id="59" name="object 59"/>
          <p:cNvSpPr/>
          <p:nvPr/>
        </p:nvSpPr>
        <p:spPr>
          <a:xfrm>
            <a:off x="6836664" y="3573779"/>
            <a:ext cx="387350" cy="190500"/>
          </a:xfrm>
          <a:custGeom>
            <a:avLst/>
            <a:gdLst/>
            <a:ahLst/>
            <a:cxnLst/>
            <a:rect l="l" t="t" r="r" b="b"/>
            <a:pathLst>
              <a:path w="387350" h="190500">
                <a:moveTo>
                  <a:pt x="292607" y="190500"/>
                </a:moveTo>
                <a:lnTo>
                  <a:pt x="292607" y="141732"/>
                </a:lnTo>
                <a:lnTo>
                  <a:pt x="0" y="141732"/>
                </a:lnTo>
                <a:lnTo>
                  <a:pt x="0" y="47244"/>
                </a:lnTo>
                <a:lnTo>
                  <a:pt x="292607" y="47244"/>
                </a:lnTo>
                <a:lnTo>
                  <a:pt x="292607" y="0"/>
                </a:lnTo>
                <a:lnTo>
                  <a:pt x="387095" y="94487"/>
                </a:lnTo>
                <a:lnTo>
                  <a:pt x="292607" y="190500"/>
                </a:lnTo>
                <a:close/>
              </a:path>
            </a:pathLst>
          </a:custGeom>
          <a:solidFill>
            <a:srgbClr val="FFFFFF"/>
          </a:solidFill>
        </p:spPr>
        <p:txBody>
          <a:bodyPr wrap="square" lIns="0" tIns="0" rIns="0" bIns="0" rtlCol="0"/>
          <a:lstStyle/>
          <a:p/>
        </p:txBody>
      </p:sp>
      <p:sp>
        <p:nvSpPr>
          <p:cNvPr id="60" name="object 60"/>
          <p:cNvSpPr/>
          <p:nvPr/>
        </p:nvSpPr>
        <p:spPr>
          <a:xfrm>
            <a:off x="6830073" y="3557955"/>
            <a:ext cx="403860" cy="220979"/>
          </a:xfrm>
          <a:custGeom>
            <a:avLst/>
            <a:gdLst/>
            <a:ahLst/>
            <a:cxnLst/>
            <a:rect l="l" t="t" r="r" b="b"/>
            <a:pathLst>
              <a:path w="403859" h="220979">
                <a:moveTo>
                  <a:pt x="292861" y="62903"/>
                </a:moveTo>
                <a:lnTo>
                  <a:pt x="292861" y="0"/>
                </a:lnTo>
                <a:lnTo>
                  <a:pt x="308190" y="15328"/>
                </a:lnTo>
                <a:lnTo>
                  <a:pt x="305561" y="15328"/>
                </a:lnTo>
                <a:lnTo>
                  <a:pt x="294716" y="19812"/>
                </a:lnTo>
                <a:lnTo>
                  <a:pt x="305561" y="30657"/>
                </a:lnTo>
                <a:lnTo>
                  <a:pt x="305561" y="56553"/>
                </a:lnTo>
                <a:lnTo>
                  <a:pt x="299211" y="56553"/>
                </a:lnTo>
                <a:lnTo>
                  <a:pt x="292861" y="62903"/>
                </a:lnTo>
                <a:close/>
              </a:path>
              <a:path w="403859" h="220979">
                <a:moveTo>
                  <a:pt x="305561" y="30657"/>
                </a:moveTo>
                <a:lnTo>
                  <a:pt x="294716" y="19812"/>
                </a:lnTo>
                <a:lnTo>
                  <a:pt x="305561" y="15328"/>
                </a:lnTo>
                <a:lnTo>
                  <a:pt x="305561" y="30657"/>
                </a:lnTo>
                <a:close/>
              </a:path>
              <a:path w="403859" h="220979">
                <a:moveTo>
                  <a:pt x="385375" y="110470"/>
                </a:moveTo>
                <a:lnTo>
                  <a:pt x="305561" y="30657"/>
                </a:lnTo>
                <a:lnTo>
                  <a:pt x="305561" y="15328"/>
                </a:lnTo>
                <a:lnTo>
                  <a:pt x="308190" y="15328"/>
                </a:lnTo>
                <a:lnTo>
                  <a:pt x="398843" y="105981"/>
                </a:lnTo>
                <a:lnTo>
                  <a:pt x="389864" y="105981"/>
                </a:lnTo>
                <a:lnTo>
                  <a:pt x="385375" y="110470"/>
                </a:lnTo>
                <a:close/>
              </a:path>
              <a:path w="403859" h="220979">
                <a:moveTo>
                  <a:pt x="292861" y="164401"/>
                </a:moveTo>
                <a:lnTo>
                  <a:pt x="0" y="164401"/>
                </a:lnTo>
                <a:lnTo>
                  <a:pt x="0" y="56553"/>
                </a:lnTo>
                <a:lnTo>
                  <a:pt x="292861" y="56553"/>
                </a:lnTo>
                <a:lnTo>
                  <a:pt x="292861" y="62903"/>
                </a:lnTo>
                <a:lnTo>
                  <a:pt x="12700" y="62903"/>
                </a:lnTo>
                <a:lnTo>
                  <a:pt x="6350" y="69253"/>
                </a:lnTo>
                <a:lnTo>
                  <a:pt x="12700" y="69253"/>
                </a:lnTo>
                <a:lnTo>
                  <a:pt x="12700" y="151701"/>
                </a:lnTo>
                <a:lnTo>
                  <a:pt x="6350" y="151701"/>
                </a:lnTo>
                <a:lnTo>
                  <a:pt x="12700" y="158051"/>
                </a:lnTo>
                <a:lnTo>
                  <a:pt x="292861" y="158051"/>
                </a:lnTo>
                <a:lnTo>
                  <a:pt x="292861" y="164401"/>
                </a:lnTo>
                <a:close/>
              </a:path>
              <a:path w="403859" h="220979">
                <a:moveTo>
                  <a:pt x="305561" y="69253"/>
                </a:moveTo>
                <a:lnTo>
                  <a:pt x="12700" y="69253"/>
                </a:lnTo>
                <a:lnTo>
                  <a:pt x="12700" y="62903"/>
                </a:lnTo>
                <a:lnTo>
                  <a:pt x="292861" y="62903"/>
                </a:lnTo>
                <a:lnTo>
                  <a:pt x="299211" y="56553"/>
                </a:lnTo>
                <a:lnTo>
                  <a:pt x="305561" y="56553"/>
                </a:lnTo>
                <a:lnTo>
                  <a:pt x="305561" y="69253"/>
                </a:lnTo>
                <a:close/>
              </a:path>
              <a:path w="403859" h="220979">
                <a:moveTo>
                  <a:pt x="12700" y="69253"/>
                </a:moveTo>
                <a:lnTo>
                  <a:pt x="6350" y="69253"/>
                </a:lnTo>
                <a:lnTo>
                  <a:pt x="12700" y="62903"/>
                </a:lnTo>
                <a:lnTo>
                  <a:pt x="12700" y="69253"/>
                </a:lnTo>
                <a:close/>
              </a:path>
              <a:path w="403859" h="220979">
                <a:moveTo>
                  <a:pt x="389864" y="114960"/>
                </a:moveTo>
                <a:lnTo>
                  <a:pt x="385375" y="110470"/>
                </a:lnTo>
                <a:lnTo>
                  <a:pt x="389864" y="105981"/>
                </a:lnTo>
                <a:lnTo>
                  <a:pt x="389864" y="114960"/>
                </a:lnTo>
                <a:close/>
              </a:path>
              <a:path w="403859" h="220979">
                <a:moveTo>
                  <a:pt x="398856" y="114960"/>
                </a:moveTo>
                <a:lnTo>
                  <a:pt x="389864" y="114960"/>
                </a:lnTo>
                <a:lnTo>
                  <a:pt x="389864" y="105981"/>
                </a:lnTo>
                <a:lnTo>
                  <a:pt x="398843" y="105981"/>
                </a:lnTo>
                <a:lnTo>
                  <a:pt x="403339" y="110477"/>
                </a:lnTo>
                <a:lnTo>
                  <a:pt x="398856" y="114960"/>
                </a:lnTo>
                <a:close/>
              </a:path>
              <a:path w="403859" h="220979">
                <a:moveTo>
                  <a:pt x="308190" y="205625"/>
                </a:moveTo>
                <a:lnTo>
                  <a:pt x="305561" y="205625"/>
                </a:lnTo>
                <a:lnTo>
                  <a:pt x="305561" y="190284"/>
                </a:lnTo>
                <a:lnTo>
                  <a:pt x="385381" y="110477"/>
                </a:lnTo>
                <a:lnTo>
                  <a:pt x="389864" y="114960"/>
                </a:lnTo>
                <a:lnTo>
                  <a:pt x="398856" y="114960"/>
                </a:lnTo>
                <a:lnTo>
                  <a:pt x="308190" y="205625"/>
                </a:lnTo>
                <a:close/>
              </a:path>
              <a:path w="403859" h="220979">
                <a:moveTo>
                  <a:pt x="12700" y="158051"/>
                </a:moveTo>
                <a:lnTo>
                  <a:pt x="6350" y="151701"/>
                </a:lnTo>
                <a:lnTo>
                  <a:pt x="12700" y="151701"/>
                </a:lnTo>
                <a:lnTo>
                  <a:pt x="12700" y="158051"/>
                </a:lnTo>
                <a:close/>
              </a:path>
              <a:path w="403859" h="220979">
                <a:moveTo>
                  <a:pt x="305561" y="164401"/>
                </a:moveTo>
                <a:lnTo>
                  <a:pt x="299211" y="164401"/>
                </a:lnTo>
                <a:lnTo>
                  <a:pt x="292861" y="158051"/>
                </a:lnTo>
                <a:lnTo>
                  <a:pt x="12700" y="158051"/>
                </a:lnTo>
                <a:lnTo>
                  <a:pt x="12700" y="151701"/>
                </a:lnTo>
                <a:lnTo>
                  <a:pt x="305561" y="151701"/>
                </a:lnTo>
                <a:lnTo>
                  <a:pt x="305561" y="164401"/>
                </a:lnTo>
                <a:close/>
              </a:path>
              <a:path w="403859" h="220979">
                <a:moveTo>
                  <a:pt x="292861" y="220954"/>
                </a:moveTo>
                <a:lnTo>
                  <a:pt x="292861" y="158051"/>
                </a:lnTo>
                <a:lnTo>
                  <a:pt x="299211" y="164401"/>
                </a:lnTo>
                <a:lnTo>
                  <a:pt x="305561" y="164401"/>
                </a:lnTo>
                <a:lnTo>
                  <a:pt x="305561" y="190284"/>
                </a:lnTo>
                <a:lnTo>
                  <a:pt x="294716" y="201129"/>
                </a:lnTo>
                <a:lnTo>
                  <a:pt x="305561" y="205625"/>
                </a:lnTo>
                <a:lnTo>
                  <a:pt x="308190" y="205625"/>
                </a:lnTo>
                <a:lnTo>
                  <a:pt x="292861" y="220954"/>
                </a:lnTo>
                <a:close/>
              </a:path>
              <a:path w="403859" h="220979">
                <a:moveTo>
                  <a:pt x="305561" y="205625"/>
                </a:moveTo>
                <a:lnTo>
                  <a:pt x="294716" y="201129"/>
                </a:lnTo>
                <a:lnTo>
                  <a:pt x="305561" y="190284"/>
                </a:lnTo>
                <a:lnTo>
                  <a:pt x="305561" y="205625"/>
                </a:lnTo>
                <a:close/>
              </a:path>
            </a:pathLst>
          </a:custGeom>
          <a:solidFill>
            <a:srgbClr val="C00000"/>
          </a:solidFill>
        </p:spPr>
        <p:txBody>
          <a:bodyPr wrap="square" lIns="0" tIns="0" rIns="0" bIns="0" rtlCol="0"/>
          <a:lstStyle/>
          <a:p/>
        </p:txBody>
      </p:sp>
      <p:sp>
        <p:nvSpPr>
          <p:cNvPr id="61" name="object 61"/>
          <p:cNvSpPr/>
          <p:nvPr/>
        </p:nvSpPr>
        <p:spPr>
          <a:xfrm>
            <a:off x="10383011" y="3573779"/>
            <a:ext cx="388620" cy="190500"/>
          </a:xfrm>
          <a:custGeom>
            <a:avLst/>
            <a:gdLst/>
            <a:ahLst/>
            <a:cxnLst/>
            <a:rect l="l" t="t" r="r" b="b"/>
            <a:pathLst>
              <a:path w="388620" h="190500">
                <a:moveTo>
                  <a:pt x="292608" y="190500"/>
                </a:moveTo>
                <a:lnTo>
                  <a:pt x="292608" y="141732"/>
                </a:lnTo>
                <a:lnTo>
                  <a:pt x="0" y="141732"/>
                </a:lnTo>
                <a:lnTo>
                  <a:pt x="0" y="47244"/>
                </a:lnTo>
                <a:lnTo>
                  <a:pt x="292608" y="47244"/>
                </a:lnTo>
                <a:lnTo>
                  <a:pt x="292608" y="0"/>
                </a:lnTo>
                <a:lnTo>
                  <a:pt x="388620" y="94487"/>
                </a:lnTo>
                <a:lnTo>
                  <a:pt x="292608" y="190500"/>
                </a:lnTo>
                <a:close/>
              </a:path>
            </a:pathLst>
          </a:custGeom>
          <a:solidFill>
            <a:srgbClr val="FFFFFF"/>
          </a:solidFill>
        </p:spPr>
        <p:txBody>
          <a:bodyPr wrap="square" lIns="0" tIns="0" rIns="0" bIns="0" rtlCol="0"/>
          <a:lstStyle/>
          <a:p/>
        </p:txBody>
      </p:sp>
      <p:sp>
        <p:nvSpPr>
          <p:cNvPr id="62" name="object 62"/>
          <p:cNvSpPr/>
          <p:nvPr/>
        </p:nvSpPr>
        <p:spPr>
          <a:xfrm>
            <a:off x="10376725" y="3557955"/>
            <a:ext cx="403860" cy="220979"/>
          </a:xfrm>
          <a:custGeom>
            <a:avLst/>
            <a:gdLst/>
            <a:ahLst/>
            <a:cxnLst/>
            <a:rect l="l" t="t" r="r" b="b"/>
            <a:pathLst>
              <a:path w="403859" h="220979">
                <a:moveTo>
                  <a:pt x="292861" y="62903"/>
                </a:moveTo>
                <a:lnTo>
                  <a:pt x="292861" y="0"/>
                </a:lnTo>
                <a:lnTo>
                  <a:pt x="308190" y="15328"/>
                </a:lnTo>
                <a:lnTo>
                  <a:pt x="305561" y="15328"/>
                </a:lnTo>
                <a:lnTo>
                  <a:pt x="294728" y="19812"/>
                </a:lnTo>
                <a:lnTo>
                  <a:pt x="305561" y="30646"/>
                </a:lnTo>
                <a:lnTo>
                  <a:pt x="305561" y="56553"/>
                </a:lnTo>
                <a:lnTo>
                  <a:pt x="299211" y="56553"/>
                </a:lnTo>
                <a:lnTo>
                  <a:pt x="292861" y="62903"/>
                </a:lnTo>
                <a:close/>
              </a:path>
              <a:path w="403859" h="220979">
                <a:moveTo>
                  <a:pt x="305561" y="30646"/>
                </a:moveTo>
                <a:lnTo>
                  <a:pt x="294728" y="19812"/>
                </a:lnTo>
                <a:lnTo>
                  <a:pt x="305561" y="15328"/>
                </a:lnTo>
                <a:lnTo>
                  <a:pt x="305561" y="30646"/>
                </a:lnTo>
                <a:close/>
              </a:path>
              <a:path w="403859" h="220979">
                <a:moveTo>
                  <a:pt x="385375" y="110470"/>
                </a:moveTo>
                <a:lnTo>
                  <a:pt x="305561" y="30646"/>
                </a:lnTo>
                <a:lnTo>
                  <a:pt x="305561" y="15328"/>
                </a:lnTo>
                <a:lnTo>
                  <a:pt x="308190" y="15328"/>
                </a:lnTo>
                <a:lnTo>
                  <a:pt x="398843" y="105981"/>
                </a:lnTo>
                <a:lnTo>
                  <a:pt x="389864" y="105981"/>
                </a:lnTo>
                <a:lnTo>
                  <a:pt x="385375" y="110470"/>
                </a:lnTo>
                <a:close/>
              </a:path>
              <a:path w="403859" h="220979">
                <a:moveTo>
                  <a:pt x="292861" y="164401"/>
                </a:moveTo>
                <a:lnTo>
                  <a:pt x="0" y="164401"/>
                </a:lnTo>
                <a:lnTo>
                  <a:pt x="0" y="56553"/>
                </a:lnTo>
                <a:lnTo>
                  <a:pt x="292861" y="56553"/>
                </a:lnTo>
                <a:lnTo>
                  <a:pt x="292861" y="62903"/>
                </a:lnTo>
                <a:lnTo>
                  <a:pt x="12700" y="62903"/>
                </a:lnTo>
                <a:lnTo>
                  <a:pt x="6350" y="69253"/>
                </a:lnTo>
                <a:lnTo>
                  <a:pt x="12700" y="69253"/>
                </a:lnTo>
                <a:lnTo>
                  <a:pt x="12700" y="151701"/>
                </a:lnTo>
                <a:lnTo>
                  <a:pt x="6350" y="151701"/>
                </a:lnTo>
                <a:lnTo>
                  <a:pt x="12700" y="158051"/>
                </a:lnTo>
                <a:lnTo>
                  <a:pt x="292861" y="158051"/>
                </a:lnTo>
                <a:lnTo>
                  <a:pt x="292861" y="164401"/>
                </a:lnTo>
                <a:close/>
              </a:path>
              <a:path w="403859" h="220979">
                <a:moveTo>
                  <a:pt x="305561" y="69253"/>
                </a:moveTo>
                <a:lnTo>
                  <a:pt x="12700" y="69253"/>
                </a:lnTo>
                <a:lnTo>
                  <a:pt x="12700" y="62903"/>
                </a:lnTo>
                <a:lnTo>
                  <a:pt x="292861" y="62903"/>
                </a:lnTo>
                <a:lnTo>
                  <a:pt x="299211" y="56553"/>
                </a:lnTo>
                <a:lnTo>
                  <a:pt x="305561" y="56553"/>
                </a:lnTo>
                <a:lnTo>
                  <a:pt x="305561" y="69253"/>
                </a:lnTo>
                <a:close/>
              </a:path>
              <a:path w="403859" h="220979">
                <a:moveTo>
                  <a:pt x="12700" y="69253"/>
                </a:moveTo>
                <a:lnTo>
                  <a:pt x="6350" y="69253"/>
                </a:lnTo>
                <a:lnTo>
                  <a:pt x="12700" y="62903"/>
                </a:lnTo>
                <a:lnTo>
                  <a:pt x="12700" y="69253"/>
                </a:lnTo>
                <a:close/>
              </a:path>
              <a:path w="403859" h="220979">
                <a:moveTo>
                  <a:pt x="389864" y="114960"/>
                </a:moveTo>
                <a:lnTo>
                  <a:pt x="385375" y="110470"/>
                </a:lnTo>
                <a:lnTo>
                  <a:pt x="389864" y="105981"/>
                </a:lnTo>
                <a:lnTo>
                  <a:pt x="389864" y="114960"/>
                </a:lnTo>
                <a:close/>
              </a:path>
              <a:path w="403859" h="220979">
                <a:moveTo>
                  <a:pt x="398856" y="114960"/>
                </a:moveTo>
                <a:lnTo>
                  <a:pt x="389864" y="114960"/>
                </a:lnTo>
                <a:lnTo>
                  <a:pt x="389864" y="105981"/>
                </a:lnTo>
                <a:lnTo>
                  <a:pt x="398843" y="105981"/>
                </a:lnTo>
                <a:lnTo>
                  <a:pt x="403339" y="110477"/>
                </a:lnTo>
                <a:lnTo>
                  <a:pt x="398856" y="114960"/>
                </a:lnTo>
                <a:close/>
              </a:path>
              <a:path w="403859" h="220979">
                <a:moveTo>
                  <a:pt x="308190" y="205625"/>
                </a:moveTo>
                <a:lnTo>
                  <a:pt x="305561" y="205625"/>
                </a:lnTo>
                <a:lnTo>
                  <a:pt x="305561" y="190295"/>
                </a:lnTo>
                <a:lnTo>
                  <a:pt x="385375" y="110470"/>
                </a:lnTo>
                <a:lnTo>
                  <a:pt x="389864" y="114960"/>
                </a:lnTo>
                <a:lnTo>
                  <a:pt x="398856" y="114960"/>
                </a:lnTo>
                <a:lnTo>
                  <a:pt x="308190" y="205625"/>
                </a:lnTo>
                <a:close/>
              </a:path>
              <a:path w="403859" h="220979">
                <a:moveTo>
                  <a:pt x="12700" y="158051"/>
                </a:moveTo>
                <a:lnTo>
                  <a:pt x="6350" y="151701"/>
                </a:lnTo>
                <a:lnTo>
                  <a:pt x="12700" y="151701"/>
                </a:lnTo>
                <a:lnTo>
                  <a:pt x="12700" y="158051"/>
                </a:lnTo>
                <a:close/>
              </a:path>
              <a:path w="403859" h="220979">
                <a:moveTo>
                  <a:pt x="305561" y="164401"/>
                </a:moveTo>
                <a:lnTo>
                  <a:pt x="299211" y="164401"/>
                </a:lnTo>
                <a:lnTo>
                  <a:pt x="292861" y="158051"/>
                </a:lnTo>
                <a:lnTo>
                  <a:pt x="12700" y="158051"/>
                </a:lnTo>
                <a:lnTo>
                  <a:pt x="12700" y="151701"/>
                </a:lnTo>
                <a:lnTo>
                  <a:pt x="305561" y="151701"/>
                </a:lnTo>
                <a:lnTo>
                  <a:pt x="305561" y="164401"/>
                </a:lnTo>
                <a:close/>
              </a:path>
              <a:path w="403859" h="220979">
                <a:moveTo>
                  <a:pt x="292861" y="220954"/>
                </a:moveTo>
                <a:lnTo>
                  <a:pt x="292861" y="158051"/>
                </a:lnTo>
                <a:lnTo>
                  <a:pt x="299211" y="164401"/>
                </a:lnTo>
                <a:lnTo>
                  <a:pt x="305561" y="164401"/>
                </a:lnTo>
                <a:lnTo>
                  <a:pt x="305561" y="190295"/>
                </a:lnTo>
                <a:lnTo>
                  <a:pt x="294728" y="201129"/>
                </a:lnTo>
                <a:lnTo>
                  <a:pt x="305561" y="205625"/>
                </a:lnTo>
                <a:lnTo>
                  <a:pt x="308190" y="205625"/>
                </a:lnTo>
                <a:lnTo>
                  <a:pt x="292861" y="220954"/>
                </a:lnTo>
                <a:close/>
              </a:path>
              <a:path w="403859" h="220979">
                <a:moveTo>
                  <a:pt x="305561" y="205625"/>
                </a:moveTo>
                <a:lnTo>
                  <a:pt x="294728" y="201129"/>
                </a:lnTo>
                <a:lnTo>
                  <a:pt x="305561" y="190295"/>
                </a:lnTo>
                <a:lnTo>
                  <a:pt x="305561" y="205625"/>
                </a:lnTo>
                <a:close/>
              </a:path>
            </a:pathLst>
          </a:custGeom>
          <a:solidFill>
            <a:srgbClr val="C00000"/>
          </a:solidFill>
        </p:spPr>
        <p:txBody>
          <a:bodyPr wrap="square" lIns="0" tIns="0" rIns="0" bIns="0" rtlCol="0"/>
          <a:lstStyle/>
          <a:p/>
        </p:txBody>
      </p:sp>
      <p:sp>
        <p:nvSpPr>
          <p:cNvPr id="63" name="object 63"/>
          <p:cNvSpPr/>
          <p:nvPr/>
        </p:nvSpPr>
        <p:spPr>
          <a:xfrm>
            <a:off x="7662671" y="4002023"/>
            <a:ext cx="203200" cy="440690"/>
          </a:xfrm>
          <a:custGeom>
            <a:avLst/>
            <a:gdLst/>
            <a:ahLst/>
            <a:cxnLst/>
            <a:rect l="l" t="t" r="r" b="b"/>
            <a:pathLst>
              <a:path w="203200" h="440689">
                <a:moveTo>
                  <a:pt x="152400" y="338327"/>
                </a:moveTo>
                <a:lnTo>
                  <a:pt x="50292" y="338327"/>
                </a:lnTo>
                <a:lnTo>
                  <a:pt x="50292" y="0"/>
                </a:lnTo>
                <a:lnTo>
                  <a:pt x="152400" y="0"/>
                </a:lnTo>
                <a:lnTo>
                  <a:pt x="152400" y="338327"/>
                </a:lnTo>
                <a:close/>
              </a:path>
              <a:path w="203200" h="440689">
                <a:moveTo>
                  <a:pt x="102107" y="440436"/>
                </a:moveTo>
                <a:lnTo>
                  <a:pt x="0" y="338327"/>
                </a:lnTo>
                <a:lnTo>
                  <a:pt x="202692" y="338327"/>
                </a:lnTo>
                <a:lnTo>
                  <a:pt x="102107" y="440436"/>
                </a:lnTo>
                <a:close/>
              </a:path>
            </a:pathLst>
          </a:custGeom>
          <a:solidFill>
            <a:srgbClr val="FFFFFF"/>
          </a:solidFill>
        </p:spPr>
        <p:txBody>
          <a:bodyPr wrap="square" lIns="0" tIns="0" rIns="0" bIns="0" rtlCol="0"/>
          <a:lstStyle/>
          <a:p/>
        </p:txBody>
      </p:sp>
      <p:sp>
        <p:nvSpPr>
          <p:cNvPr id="64" name="object 64"/>
          <p:cNvSpPr/>
          <p:nvPr/>
        </p:nvSpPr>
        <p:spPr>
          <a:xfrm>
            <a:off x="7647317" y="3994937"/>
            <a:ext cx="234315" cy="457200"/>
          </a:xfrm>
          <a:custGeom>
            <a:avLst/>
            <a:gdLst/>
            <a:ahLst/>
            <a:cxnLst/>
            <a:rect l="l" t="t" r="r" b="b"/>
            <a:pathLst>
              <a:path w="234315" h="457200">
                <a:moveTo>
                  <a:pt x="59804" y="346087"/>
                </a:moveTo>
                <a:lnTo>
                  <a:pt x="59804" y="0"/>
                </a:lnTo>
                <a:lnTo>
                  <a:pt x="174155" y="0"/>
                </a:lnTo>
                <a:lnTo>
                  <a:pt x="174155" y="6350"/>
                </a:lnTo>
                <a:lnTo>
                  <a:pt x="72504" y="6350"/>
                </a:lnTo>
                <a:lnTo>
                  <a:pt x="66154" y="12700"/>
                </a:lnTo>
                <a:lnTo>
                  <a:pt x="72504" y="12700"/>
                </a:lnTo>
                <a:lnTo>
                  <a:pt x="72504" y="339737"/>
                </a:lnTo>
                <a:lnTo>
                  <a:pt x="66154" y="339737"/>
                </a:lnTo>
                <a:lnTo>
                  <a:pt x="59804" y="346087"/>
                </a:lnTo>
                <a:close/>
              </a:path>
              <a:path w="234315" h="457200">
                <a:moveTo>
                  <a:pt x="72504" y="12700"/>
                </a:moveTo>
                <a:lnTo>
                  <a:pt x="66154" y="12700"/>
                </a:lnTo>
                <a:lnTo>
                  <a:pt x="72504" y="6350"/>
                </a:lnTo>
                <a:lnTo>
                  <a:pt x="72504" y="12700"/>
                </a:lnTo>
                <a:close/>
              </a:path>
              <a:path w="234315" h="457200">
                <a:moveTo>
                  <a:pt x="161455" y="12700"/>
                </a:moveTo>
                <a:lnTo>
                  <a:pt x="72504" y="12700"/>
                </a:lnTo>
                <a:lnTo>
                  <a:pt x="72504" y="6350"/>
                </a:lnTo>
                <a:lnTo>
                  <a:pt x="161455" y="6350"/>
                </a:lnTo>
                <a:lnTo>
                  <a:pt x="161455" y="12700"/>
                </a:lnTo>
                <a:close/>
              </a:path>
              <a:path w="234315" h="457200">
                <a:moveTo>
                  <a:pt x="203302" y="352437"/>
                </a:moveTo>
                <a:lnTo>
                  <a:pt x="161455" y="352437"/>
                </a:lnTo>
                <a:lnTo>
                  <a:pt x="161455" y="6350"/>
                </a:lnTo>
                <a:lnTo>
                  <a:pt x="167805" y="12700"/>
                </a:lnTo>
                <a:lnTo>
                  <a:pt x="174155" y="12700"/>
                </a:lnTo>
                <a:lnTo>
                  <a:pt x="174155" y="339737"/>
                </a:lnTo>
                <a:lnTo>
                  <a:pt x="167805" y="339737"/>
                </a:lnTo>
                <a:lnTo>
                  <a:pt x="174155" y="346087"/>
                </a:lnTo>
                <a:lnTo>
                  <a:pt x="209652" y="346087"/>
                </a:lnTo>
                <a:lnTo>
                  <a:pt x="203302" y="352437"/>
                </a:lnTo>
                <a:close/>
              </a:path>
              <a:path w="234315" h="457200">
                <a:moveTo>
                  <a:pt x="174155" y="12700"/>
                </a:moveTo>
                <a:lnTo>
                  <a:pt x="167805" y="12700"/>
                </a:lnTo>
                <a:lnTo>
                  <a:pt x="161455" y="6350"/>
                </a:lnTo>
                <a:lnTo>
                  <a:pt x="174155" y="6350"/>
                </a:lnTo>
                <a:lnTo>
                  <a:pt x="174155" y="12700"/>
                </a:lnTo>
                <a:close/>
              </a:path>
              <a:path w="234315" h="457200">
                <a:moveTo>
                  <a:pt x="116979" y="456717"/>
                </a:moveTo>
                <a:lnTo>
                  <a:pt x="0" y="339737"/>
                </a:lnTo>
                <a:lnTo>
                  <a:pt x="59804" y="339737"/>
                </a:lnTo>
                <a:lnTo>
                  <a:pt x="59804" y="341591"/>
                </a:lnTo>
                <a:lnTo>
                  <a:pt x="19824" y="341591"/>
                </a:lnTo>
                <a:lnTo>
                  <a:pt x="15328" y="352437"/>
                </a:lnTo>
                <a:lnTo>
                  <a:pt x="30669" y="352437"/>
                </a:lnTo>
                <a:lnTo>
                  <a:pt x="116986" y="438765"/>
                </a:lnTo>
                <a:lnTo>
                  <a:pt x="112496" y="443255"/>
                </a:lnTo>
                <a:lnTo>
                  <a:pt x="130441" y="443255"/>
                </a:lnTo>
                <a:lnTo>
                  <a:pt x="116979" y="456717"/>
                </a:lnTo>
                <a:close/>
              </a:path>
              <a:path w="234315" h="457200">
                <a:moveTo>
                  <a:pt x="72504" y="346087"/>
                </a:moveTo>
                <a:lnTo>
                  <a:pt x="59804" y="346087"/>
                </a:lnTo>
                <a:lnTo>
                  <a:pt x="66154" y="339737"/>
                </a:lnTo>
                <a:lnTo>
                  <a:pt x="72504" y="339737"/>
                </a:lnTo>
                <a:lnTo>
                  <a:pt x="72504" y="346087"/>
                </a:lnTo>
                <a:close/>
              </a:path>
              <a:path w="234315" h="457200">
                <a:moveTo>
                  <a:pt x="174155" y="346087"/>
                </a:moveTo>
                <a:lnTo>
                  <a:pt x="167805" y="339737"/>
                </a:lnTo>
                <a:lnTo>
                  <a:pt x="174155" y="339737"/>
                </a:lnTo>
                <a:lnTo>
                  <a:pt x="174155" y="346087"/>
                </a:lnTo>
                <a:close/>
              </a:path>
              <a:path w="234315" h="457200">
                <a:moveTo>
                  <a:pt x="209652" y="346087"/>
                </a:moveTo>
                <a:lnTo>
                  <a:pt x="174155" y="346087"/>
                </a:lnTo>
                <a:lnTo>
                  <a:pt x="174155" y="339737"/>
                </a:lnTo>
                <a:lnTo>
                  <a:pt x="233959" y="339737"/>
                </a:lnTo>
                <a:lnTo>
                  <a:pt x="232105" y="341591"/>
                </a:lnTo>
                <a:lnTo>
                  <a:pt x="214147" y="341591"/>
                </a:lnTo>
                <a:lnTo>
                  <a:pt x="209652" y="346087"/>
                </a:lnTo>
                <a:close/>
              </a:path>
              <a:path w="234315" h="457200">
                <a:moveTo>
                  <a:pt x="30669" y="352437"/>
                </a:moveTo>
                <a:lnTo>
                  <a:pt x="15328" y="352437"/>
                </a:lnTo>
                <a:lnTo>
                  <a:pt x="19824" y="341591"/>
                </a:lnTo>
                <a:lnTo>
                  <a:pt x="30669" y="352437"/>
                </a:lnTo>
                <a:close/>
              </a:path>
              <a:path w="234315" h="457200">
                <a:moveTo>
                  <a:pt x="72504" y="352437"/>
                </a:moveTo>
                <a:lnTo>
                  <a:pt x="30669" y="352437"/>
                </a:lnTo>
                <a:lnTo>
                  <a:pt x="19824" y="341591"/>
                </a:lnTo>
                <a:lnTo>
                  <a:pt x="59804" y="341591"/>
                </a:lnTo>
                <a:lnTo>
                  <a:pt x="59804" y="346087"/>
                </a:lnTo>
                <a:lnTo>
                  <a:pt x="72504" y="346087"/>
                </a:lnTo>
                <a:lnTo>
                  <a:pt x="72504" y="352437"/>
                </a:lnTo>
                <a:close/>
              </a:path>
              <a:path w="234315" h="457200">
                <a:moveTo>
                  <a:pt x="130441" y="443255"/>
                </a:moveTo>
                <a:lnTo>
                  <a:pt x="121475" y="443255"/>
                </a:lnTo>
                <a:lnTo>
                  <a:pt x="116986" y="438765"/>
                </a:lnTo>
                <a:lnTo>
                  <a:pt x="214147" y="341591"/>
                </a:lnTo>
                <a:lnTo>
                  <a:pt x="218630" y="352437"/>
                </a:lnTo>
                <a:lnTo>
                  <a:pt x="221259" y="352437"/>
                </a:lnTo>
                <a:lnTo>
                  <a:pt x="130441" y="443255"/>
                </a:lnTo>
                <a:close/>
              </a:path>
              <a:path w="234315" h="457200">
                <a:moveTo>
                  <a:pt x="221259" y="352437"/>
                </a:moveTo>
                <a:lnTo>
                  <a:pt x="218630" y="352437"/>
                </a:lnTo>
                <a:lnTo>
                  <a:pt x="214147" y="341591"/>
                </a:lnTo>
                <a:lnTo>
                  <a:pt x="232105" y="341591"/>
                </a:lnTo>
                <a:lnTo>
                  <a:pt x="221259" y="352437"/>
                </a:lnTo>
                <a:close/>
              </a:path>
              <a:path w="234315" h="457200">
                <a:moveTo>
                  <a:pt x="121475" y="443255"/>
                </a:moveTo>
                <a:lnTo>
                  <a:pt x="112496" y="443255"/>
                </a:lnTo>
                <a:lnTo>
                  <a:pt x="116986" y="438765"/>
                </a:lnTo>
                <a:lnTo>
                  <a:pt x="121475" y="443255"/>
                </a:lnTo>
                <a:close/>
              </a:path>
            </a:pathLst>
          </a:custGeom>
          <a:solidFill>
            <a:srgbClr val="C00000"/>
          </a:solidFill>
        </p:spPr>
        <p:txBody>
          <a:bodyPr wrap="square" lIns="0" tIns="0" rIns="0" bIns="0" rtlCol="0"/>
          <a:lstStyle/>
          <a:p/>
        </p:txBody>
      </p:sp>
      <p:sp>
        <p:nvSpPr>
          <p:cNvPr id="65" name="object 65"/>
          <p:cNvSpPr/>
          <p:nvPr/>
        </p:nvSpPr>
        <p:spPr>
          <a:xfrm>
            <a:off x="8104631" y="4000500"/>
            <a:ext cx="193675" cy="441959"/>
          </a:xfrm>
          <a:custGeom>
            <a:avLst/>
            <a:gdLst/>
            <a:ahLst/>
            <a:cxnLst/>
            <a:rect l="l" t="t" r="r" b="b"/>
            <a:pathLst>
              <a:path w="193675" h="441960">
                <a:moveTo>
                  <a:pt x="193548" y="97536"/>
                </a:moveTo>
                <a:lnTo>
                  <a:pt x="0" y="97536"/>
                </a:lnTo>
                <a:lnTo>
                  <a:pt x="97536" y="0"/>
                </a:lnTo>
                <a:lnTo>
                  <a:pt x="193548" y="97536"/>
                </a:lnTo>
                <a:close/>
              </a:path>
              <a:path w="193675" h="441960">
                <a:moveTo>
                  <a:pt x="146303" y="441960"/>
                </a:moveTo>
                <a:lnTo>
                  <a:pt x="48768" y="441960"/>
                </a:lnTo>
                <a:lnTo>
                  <a:pt x="48768" y="97536"/>
                </a:lnTo>
                <a:lnTo>
                  <a:pt x="146303" y="97536"/>
                </a:lnTo>
                <a:lnTo>
                  <a:pt x="146303" y="441960"/>
                </a:lnTo>
                <a:close/>
              </a:path>
            </a:pathLst>
          </a:custGeom>
          <a:solidFill>
            <a:srgbClr val="FFFFFF"/>
          </a:solidFill>
        </p:spPr>
        <p:txBody>
          <a:bodyPr wrap="square" lIns="0" tIns="0" rIns="0" bIns="0" rtlCol="0"/>
          <a:lstStyle/>
          <a:p/>
        </p:txBody>
      </p:sp>
      <p:sp>
        <p:nvSpPr>
          <p:cNvPr id="66" name="object 66"/>
          <p:cNvSpPr/>
          <p:nvPr/>
        </p:nvSpPr>
        <p:spPr>
          <a:xfrm>
            <a:off x="8089569" y="3992003"/>
            <a:ext cx="224790" cy="457200"/>
          </a:xfrm>
          <a:custGeom>
            <a:avLst/>
            <a:gdLst/>
            <a:ahLst/>
            <a:cxnLst/>
            <a:rect l="l" t="t" r="r" b="b"/>
            <a:pathLst>
              <a:path w="224790" h="457200">
                <a:moveTo>
                  <a:pt x="57480" y="112331"/>
                </a:moveTo>
                <a:lnTo>
                  <a:pt x="0" y="112331"/>
                </a:lnTo>
                <a:lnTo>
                  <a:pt x="112331" y="0"/>
                </a:lnTo>
                <a:lnTo>
                  <a:pt x="125806" y="13474"/>
                </a:lnTo>
                <a:lnTo>
                  <a:pt x="107835" y="13474"/>
                </a:lnTo>
                <a:lnTo>
                  <a:pt x="112325" y="17964"/>
                </a:lnTo>
                <a:lnTo>
                  <a:pt x="30657" y="99631"/>
                </a:lnTo>
                <a:lnTo>
                  <a:pt x="15328" y="99631"/>
                </a:lnTo>
                <a:lnTo>
                  <a:pt x="19811" y="110477"/>
                </a:lnTo>
                <a:lnTo>
                  <a:pt x="57480" y="110477"/>
                </a:lnTo>
                <a:lnTo>
                  <a:pt x="57480" y="112331"/>
                </a:lnTo>
                <a:close/>
              </a:path>
              <a:path w="224790" h="457200">
                <a:moveTo>
                  <a:pt x="112325" y="17964"/>
                </a:moveTo>
                <a:lnTo>
                  <a:pt x="107835" y="13474"/>
                </a:lnTo>
                <a:lnTo>
                  <a:pt x="116814" y="13474"/>
                </a:lnTo>
                <a:lnTo>
                  <a:pt x="112325" y="17964"/>
                </a:lnTo>
                <a:close/>
              </a:path>
              <a:path w="224790" h="457200">
                <a:moveTo>
                  <a:pt x="204838" y="110477"/>
                </a:moveTo>
                <a:lnTo>
                  <a:pt x="112325" y="17964"/>
                </a:lnTo>
                <a:lnTo>
                  <a:pt x="116814" y="13474"/>
                </a:lnTo>
                <a:lnTo>
                  <a:pt x="125806" y="13474"/>
                </a:lnTo>
                <a:lnTo>
                  <a:pt x="211962" y="99631"/>
                </a:lnTo>
                <a:lnTo>
                  <a:pt x="209334" y="99631"/>
                </a:lnTo>
                <a:lnTo>
                  <a:pt x="204838" y="110477"/>
                </a:lnTo>
                <a:close/>
              </a:path>
              <a:path w="224790" h="457200">
                <a:moveTo>
                  <a:pt x="19811" y="110477"/>
                </a:moveTo>
                <a:lnTo>
                  <a:pt x="15328" y="99631"/>
                </a:lnTo>
                <a:lnTo>
                  <a:pt x="30657" y="99631"/>
                </a:lnTo>
                <a:lnTo>
                  <a:pt x="19811" y="110477"/>
                </a:lnTo>
                <a:close/>
              </a:path>
              <a:path w="224790" h="457200">
                <a:moveTo>
                  <a:pt x="57480" y="110477"/>
                </a:moveTo>
                <a:lnTo>
                  <a:pt x="19811" y="110477"/>
                </a:lnTo>
                <a:lnTo>
                  <a:pt x="30657" y="99631"/>
                </a:lnTo>
                <a:lnTo>
                  <a:pt x="70180" y="99631"/>
                </a:lnTo>
                <a:lnTo>
                  <a:pt x="70180" y="105981"/>
                </a:lnTo>
                <a:lnTo>
                  <a:pt x="57480" y="105981"/>
                </a:lnTo>
                <a:lnTo>
                  <a:pt x="57480" y="110477"/>
                </a:lnTo>
                <a:close/>
              </a:path>
              <a:path w="224790" h="457200">
                <a:moveTo>
                  <a:pt x="154482" y="450367"/>
                </a:moveTo>
                <a:lnTo>
                  <a:pt x="154482" y="99631"/>
                </a:lnTo>
                <a:lnTo>
                  <a:pt x="193992" y="99631"/>
                </a:lnTo>
                <a:lnTo>
                  <a:pt x="200342" y="105981"/>
                </a:lnTo>
                <a:lnTo>
                  <a:pt x="167182" y="105981"/>
                </a:lnTo>
                <a:lnTo>
                  <a:pt x="160832" y="112331"/>
                </a:lnTo>
                <a:lnTo>
                  <a:pt x="167182" y="112331"/>
                </a:lnTo>
                <a:lnTo>
                  <a:pt x="167182" y="444017"/>
                </a:lnTo>
                <a:lnTo>
                  <a:pt x="160832" y="444017"/>
                </a:lnTo>
                <a:lnTo>
                  <a:pt x="154482" y="450367"/>
                </a:lnTo>
                <a:close/>
              </a:path>
              <a:path w="224790" h="457200">
                <a:moveTo>
                  <a:pt x="222808" y="110477"/>
                </a:moveTo>
                <a:lnTo>
                  <a:pt x="204838" y="110477"/>
                </a:lnTo>
                <a:lnTo>
                  <a:pt x="209334" y="99631"/>
                </a:lnTo>
                <a:lnTo>
                  <a:pt x="211962" y="99631"/>
                </a:lnTo>
                <a:lnTo>
                  <a:pt x="222808" y="110477"/>
                </a:lnTo>
                <a:close/>
              </a:path>
              <a:path w="224790" h="457200">
                <a:moveTo>
                  <a:pt x="167182" y="456717"/>
                </a:moveTo>
                <a:lnTo>
                  <a:pt x="57480" y="456717"/>
                </a:lnTo>
                <a:lnTo>
                  <a:pt x="57480" y="105981"/>
                </a:lnTo>
                <a:lnTo>
                  <a:pt x="63830" y="112331"/>
                </a:lnTo>
                <a:lnTo>
                  <a:pt x="70180" y="112331"/>
                </a:lnTo>
                <a:lnTo>
                  <a:pt x="70180" y="444017"/>
                </a:lnTo>
                <a:lnTo>
                  <a:pt x="63830" y="444017"/>
                </a:lnTo>
                <a:lnTo>
                  <a:pt x="70180" y="450367"/>
                </a:lnTo>
                <a:lnTo>
                  <a:pt x="167182" y="450367"/>
                </a:lnTo>
                <a:lnTo>
                  <a:pt x="167182" y="456717"/>
                </a:lnTo>
                <a:close/>
              </a:path>
              <a:path w="224790" h="457200">
                <a:moveTo>
                  <a:pt x="70180" y="112331"/>
                </a:moveTo>
                <a:lnTo>
                  <a:pt x="63830" y="112331"/>
                </a:lnTo>
                <a:lnTo>
                  <a:pt x="57480" y="105981"/>
                </a:lnTo>
                <a:lnTo>
                  <a:pt x="70180" y="105981"/>
                </a:lnTo>
                <a:lnTo>
                  <a:pt x="70180" y="112331"/>
                </a:lnTo>
                <a:close/>
              </a:path>
              <a:path w="224790" h="457200">
                <a:moveTo>
                  <a:pt x="167182" y="112331"/>
                </a:moveTo>
                <a:lnTo>
                  <a:pt x="160832" y="112331"/>
                </a:lnTo>
                <a:lnTo>
                  <a:pt x="167182" y="105981"/>
                </a:lnTo>
                <a:lnTo>
                  <a:pt x="167182" y="112331"/>
                </a:lnTo>
                <a:close/>
              </a:path>
              <a:path w="224790" h="457200">
                <a:moveTo>
                  <a:pt x="224662" y="112331"/>
                </a:moveTo>
                <a:lnTo>
                  <a:pt x="167182" y="112331"/>
                </a:lnTo>
                <a:lnTo>
                  <a:pt x="167182" y="105981"/>
                </a:lnTo>
                <a:lnTo>
                  <a:pt x="200342" y="105981"/>
                </a:lnTo>
                <a:lnTo>
                  <a:pt x="204838" y="110477"/>
                </a:lnTo>
                <a:lnTo>
                  <a:pt x="222808" y="110477"/>
                </a:lnTo>
                <a:lnTo>
                  <a:pt x="224662" y="112331"/>
                </a:lnTo>
                <a:close/>
              </a:path>
              <a:path w="224790" h="457200">
                <a:moveTo>
                  <a:pt x="70180" y="450367"/>
                </a:moveTo>
                <a:lnTo>
                  <a:pt x="63830" y="444017"/>
                </a:lnTo>
                <a:lnTo>
                  <a:pt x="70180" y="444017"/>
                </a:lnTo>
                <a:lnTo>
                  <a:pt x="70180" y="450367"/>
                </a:lnTo>
                <a:close/>
              </a:path>
              <a:path w="224790" h="457200">
                <a:moveTo>
                  <a:pt x="154482" y="450367"/>
                </a:moveTo>
                <a:lnTo>
                  <a:pt x="70180" y="450367"/>
                </a:lnTo>
                <a:lnTo>
                  <a:pt x="70180" y="444017"/>
                </a:lnTo>
                <a:lnTo>
                  <a:pt x="154482" y="444017"/>
                </a:lnTo>
                <a:lnTo>
                  <a:pt x="154482" y="450367"/>
                </a:lnTo>
                <a:close/>
              </a:path>
              <a:path w="224790" h="457200">
                <a:moveTo>
                  <a:pt x="167182" y="450367"/>
                </a:moveTo>
                <a:lnTo>
                  <a:pt x="154482" y="450367"/>
                </a:lnTo>
                <a:lnTo>
                  <a:pt x="160832" y="444017"/>
                </a:lnTo>
                <a:lnTo>
                  <a:pt x="167182" y="444017"/>
                </a:lnTo>
                <a:lnTo>
                  <a:pt x="167182" y="450367"/>
                </a:lnTo>
                <a:close/>
              </a:path>
            </a:pathLst>
          </a:custGeom>
          <a:solidFill>
            <a:srgbClr val="C00000"/>
          </a:solidFill>
        </p:spPr>
        <p:txBody>
          <a:bodyPr wrap="square" lIns="0" tIns="0" rIns="0" bIns="0" rtlCol="0"/>
          <a:lstStyle/>
          <a:p/>
        </p:txBody>
      </p:sp>
      <p:sp>
        <p:nvSpPr>
          <p:cNvPr id="67" name="object 67"/>
          <p:cNvSpPr/>
          <p:nvPr/>
        </p:nvSpPr>
        <p:spPr>
          <a:xfrm>
            <a:off x="9625583" y="5126735"/>
            <a:ext cx="195580" cy="368935"/>
          </a:xfrm>
          <a:custGeom>
            <a:avLst/>
            <a:gdLst/>
            <a:ahLst/>
            <a:cxnLst/>
            <a:rect l="l" t="t" r="r" b="b"/>
            <a:pathLst>
              <a:path w="195579" h="368935">
                <a:moveTo>
                  <a:pt x="195072" y="97536"/>
                </a:moveTo>
                <a:lnTo>
                  <a:pt x="0" y="97536"/>
                </a:lnTo>
                <a:lnTo>
                  <a:pt x="97536" y="0"/>
                </a:lnTo>
                <a:lnTo>
                  <a:pt x="195072" y="97536"/>
                </a:lnTo>
                <a:close/>
              </a:path>
              <a:path w="195579" h="368935">
                <a:moveTo>
                  <a:pt x="146304" y="368808"/>
                </a:moveTo>
                <a:lnTo>
                  <a:pt x="48768" y="368808"/>
                </a:lnTo>
                <a:lnTo>
                  <a:pt x="48768" y="97536"/>
                </a:lnTo>
                <a:lnTo>
                  <a:pt x="146304" y="97536"/>
                </a:lnTo>
                <a:lnTo>
                  <a:pt x="146304" y="368808"/>
                </a:lnTo>
                <a:close/>
              </a:path>
            </a:pathLst>
          </a:custGeom>
          <a:solidFill>
            <a:srgbClr val="D9D9D9"/>
          </a:solidFill>
        </p:spPr>
        <p:txBody>
          <a:bodyPr wrap="square" lIns="0" tIns="0" rIns="0" bIns="0" rtlCol="0"/>
          <a:lstStyle/>
          <a:p/>
        </p:txBody>
      </p:sp>
      <p:sp>
        <p:nvSpPr>
          <p:cNvPr id="68" name="object 68"/>
          <p:cNvSpPr/>
          <p:nvPr/>
        </p:nvSpPr>
        <p:spPr>
          <a:xfrm>
            <a:off x="9610928" y="5118265"/>
            <a:ext cx="224790" cy="384810"/>
          </a:xfrm>
          <a:custGeom>
            <a:avLst/>
            <a:gdLst/>
            <a:ahLst/>
            <a:cxnLst/>
            <a:rect l="l" t="t" r="r" b="b"/>
            <a:pathLst>
              <a:path w="224790" h="384810">
                <a:moveTo>
                  <a:pt x="57480" y="112331"/>
                </a:moveTo>
                <a:lnTo>
                  <a:pt x="0" y="112331"/>
                </a:lnTo>
                <a:lnTo>
                  <a:pt x="112344" y="0"/>
                </a:lnTo>
                <a:lnTo>
                  <a:pt x="125818" y="13474"/>
                </a:lnTo>
                <a:lnTo>
                  <a:pt x="107848" y="13474"/>
                </a:lnTo>
                <a:lnTo>
                  <a:pt x="112337" y="17964"/>
                </a:lnTo>
                <a:lnTo>
                  <a:pt x="30670" y="99631"/>
                </a:lnTo>
                <a:lnTo>
                  <a:pt x="15328" y="99631"/>
                </a:lnTo>
                <a:lnTo>
                  <a:pt x="19824" y="110477"/>
                </a:lnTo>
                <a:lnTo>
                  <a:pt x="57480" y="110477"/>
                </a:lnTo>
                <a:lnTo>
                  <a:pt x="57480" y="112331"/>
                </a:lnTo>
                <a:close/>
              </a:path>
              <a:path w="224790" h="384810">
                <a:moveTo>
                  <a:pt x="112337" y="17964"/>
                </a:moveTo>
                <a:lnTo>
                  <a:pt x="107848" y="13474"/>
                </a:lnTo>
                <a:lnTo>
                  <a:pt x="116827" y="13474"/>
                </a:lnTo>
                <a:lnTo>
                  <a:pt x="112337" y="17964"/>
                </a:lnTo>
                <a:close/>
              </a:path>
              <a:path w="224790" h="384810">
                <a:moveTo>
                  <a:pt x="204850" y="110477"/>
                </a:moveTo>
                <a:lnTo>
                  <a:pt x="112337" y="17964"/>
                </a:lnTo>
                <a:lnTo>
                  <a:pt x="116827" y="13474"/>
                </a:lnTo>
                <a:lnTo>
                  <a:pt x="125818" y="13474"/>
                </a:lnTo>
                <a:lnTo>
                  <a:pt x="211975" y="99631"/>
                </a:lnTo>
                <a:lnTo>
                  <a:pt x="209346" y="99631"/>
                </a:lnTo>
                <a:lnTo>
                  <a:pt x="204850" y="110477"/>
                </a:lnTo>
                <a:close/>
              </a:path>
              <a:path w="224790" h="384810">
                <a:moveTo>
                  <a:pt x="19824" y="110477"/>
                </a:moveTo>
                <a:lnTo>
                  <a:pt x="15328" y="99631"/>
                </a:lnTo>
                <a:lnTo>
                  <a:pt x="30670" y="99631"/>
                </a:lnTo>
                <a:lnTo>
                  <a:pt x="19824" y="110477"/>
                </a:lnTo>
                <a:close/>
              </a:path>
              <a:path w="224790" h="384810">
                <a:moveTo>
                  <a:pt x="57480" y="110477"/>
                </a:moveTo>
                <a:lnTo>
                  <a:pt x="19824" y="110477"/>
                </a:lnTo>
                <a:lnTo>
                  <a:pt x="30670" y="99631"/>
                </a:lnTo>
                <a:lnTo>
                  <a:pt x="70180" y="99631"/>
                </a:lnTo>
                <a:lnTo>
                  <a:pt x="70180" y="105981"/>
                </a:lnTo>
                <a:lnTo>
                  <a:pt x="57480" y="105981"/>
                </a:lnTo>
                <a:lnTo>
                  <a:pt x="57480" y="110477"/>
                </a:lnTo>
                <a:close/>
              </a:path>
              <a:path w="224790" h="384810">
                <a:moveTo>
                  <a:pt x="154482" y="378015"/>
                </a:moveTo>
                <a:lnTo>
                  <a:pt x="154482" y="99631"/>
                </a:lnTo>
                <a:lnTo>
                  <a:pt x="194005" y="99631"/>
                </a:lnTo>
                <a:lnTo>
                  <a:pt x="200355" y="105981"/>
                </a:lnTo>
                <a:lnTo>
                  <a:pt x="167182" y="105981"/>
                </a:lnTo>
                <a:lnTo>
                  <a:pt x="160832" y="112331"/>
                </a:lnTo>
                <a:lnTo>
                  <a:pt x="167182" y="112331"/>
                </a:lnTo>
                <a:lnTo>
                  <a:pt x="167182" y="371665"/>
                </a:lnTo>
                <a:lnTo>
                  <a:pt x="160832" y="371665"/>
                </a:lnTo>
                <a:lnTo>
                  <a:pt x="154482" y="378015"/>
                </a:lnTo>
                <a:close/>
              </a:path>
              <a:path w="224790" h="384810">
                <a:moveTo>
                  <a:pt x="222821" y="110477"/>
                </a:moveTo>
                <a:lnTo>
                  <a:pt x="204850" y="110477"/>
                </a:lnTo>
                <a:lnTo>
                  <a:pt x="209346" y="99631"/>
                </a:lnTo>
                <a:lnTo>
                  <a:pt x="211975" y="99631"/>
                </a:lnTo>
                <a:lnTo>
                  <a:pt x="222821" y="110477"/>
                </a:lnTo>
                <a:close/>
              </a:path>
              <a:path w="224790" h="384810">
                <a:moveTo>
                  <a:pt x="167182" y="384365"/>
                </a:moveTo>
                <a:lnTo>
                  <a:pt x="57480" y="384365"/>
                </a:lnTo>
                <a:lnTo>
                  <a:pt x="57480" y="105981"/>
                </a:lnTo>
                <a:lnTo>
                  <a:pt x="63830" y="112331"/>
                </a:lnTo>
                <a:lnTo>
                  <a:pt x="70180" y="112331"/>
                </a:lnTo>
                <a:lnTo>
                  <a:pt x="70180" y="371665"/>
                </a:lnTo>
                <a:lnTo>
                  <a:pt x="63830" y="371665"/>
                </a:lnTo>
                <a:lnTo>
                  <a:pt x="70180" y="378015"/>
                </a:lnTo>
                <a:lnTo>
                  <a:pt x="167182" y="378015"/>
                </a:lnTo>
                <a:lnTo>
                  <a:pt x="167182" y="384365"/>
                </a:lnTo>
                <a:close/>
              </a:path>
              <a:path w="224790" h="384810">
                <a:moveTo>
                  <a:pt x="70180" y="112331"/>
                </a:moveTo>
                <a:lnTo>
                  <a:pt x="63830" y="112331"/>
                </a:lnTo>
                <a:lnTo>
                  <a:pt x="57480" y="105981"/>
                </a:lnTo>
                <a:lnTo>
                  <a:pt x="70180" y="105981"/>
                </a:lnTo>
                <a:lnTo>
                  <a:pt x="70180" y="112331"/>
                </a:lnTo>
                <a:close/>
              </a:path>
              <a:path w="224790" h="384810">
                <a:moveTo>
                  <a:pt x="167182" y="112331"/>
                </a:moveTo>
                <a:lnTo>
                  <a:pt x="160832" y="112331"/>
                </a:lnTo>
                <a:lnTo>
                  <a:pt x="167182" y="105981"/>
                </a:lnTo>
                <a:lnTo>
                  <a:pt x="167182" y="112331"/>
                </a:lnTo>
                <a:close/>
              </a:path>
              <a:path w="224790" h="384810">
                <a:moveTo>
                  <a:pt x="224675" y="112331"/>
                </a:moveTo>
                <a:lnTo>
                  <a:pt x="167182" y="112331"/>
                </a:lnTo>
                <a:lnTo>
                  <a:pt x="167182" y="105981"/>
                </a:lnTo>
                <a:lnTo>
                  <a:pt x="200355" y="105981"/>
                </a:lnTo>
                <a:lnTo>
                  <a:pt x="204850" y="110477"/>
                </a:lnTo>
                <a:lnTo>
                  <a:pt x="222821" y="110477"/>
                </a:lnTo>
                <a:lnTo>
                  <a:pt x="224675" y="112331"/>
                </a:lnTo>
                <a:close/>
              </a:path>
              <a:path w="224790" h="384810">
                <a:moveTo>
                  <a:pt x="70180" y="378015"/>
                </a:moveTo>
                <a:lnTo>
                  <a:pt x="63830" y="371665"/>
                </a:lnTo>
                <a:lnTo>
                  <a:pt x="70180" y="371665"/>
                </a:lnTo>
                <a:lnTo>
                  <a:pt x="70180" y="378015"/>
                </a:lnTo>
                <a:close/>
              </a:path>
              <a:path w="224790" h="384810">
                <a:moveTo>
                  <a:pt x="154482" y="378015"/>
                </a:moveTo>
                <a:lnTo>
                  <a:pt x="70180" y="378015"/>
                </a:lnTo>
                <a:lnTo>
                  <a:pt x="70180" y="371665"/>
                </a:lnTo>
                <a:lnTo>
                  <a:pt x="154482" y="371665"/>
                </a:lnTo>
                <a:lnTo>
                  <a:pt x="154482" y="378015"/>
                </a:lnTo>
                <a:close/>
              </a:path>
              <a:path w="224790" h="384810">
                <a:moveTo>
                  <a:pt x="167182" y="378015"/>
                </a:moveTo>
                <a:lnTo>
                  <a:pt x="154482" y="378015"/>
                </a:lnTo>
                <a:lnTo>
                  <a:pt x="160832" y="371665"/>
                </a:lnTo>
                <a:lnTo>
                  <a:pt x="167182" y="371665"/>
                </a:lnTo>
                <a:lnTo>
                  <a:pt x="167182" y="378015"/>
                </a:lnTo>
                <a:close/>
              </a:path>
            </a:pathLst>
          </a:custGeom>
          <a:solidFill>
            <a:srgbClr val="C00000"/>
          </a:solidFill>
        </p:spPr>
        <p:txBody>
          <a:bodyPr wrap="square" lIns="0" tIns="0" rIns="0" bIns="0" rtlCol="0"/>
          <a:lstStyle/>
          <a:p/>
        </p:txBody>
      </p:sp>
      <p:sp>
        <p:nvSpPr>
          <p:cNvPr id="69" name="object 69"/>
          <p:cNvSpPr/>
          <p:nvPr/>
        </p:nvSpPr>
        <p:spPr>
          <a:xfrm>
            <a:off x="8567597" y="4745037"/>
            <a:ext cx="363220" cy="76200"/>
          </a:xfrm>
          <a:custGeom>
            <a:avLst/>
            <a:gdLst/>
            <a:ahLst/>
            <a:cxnLst/>
            <a:rect l="l" t="t" r="r" b="b"/>
            <a:pathLst>
              <a:path w="363220" h="76200">
                <a:moveTo>
                  <a:pt x="76200" y="76200"/>
                </a:moveTo>
                <a:lnTo>
                  <a:pt x="0" y="38100"/>
                </a:lnTo>
                <a:lnTo>
                  <a:pt x="76200" y="0"/>
                </a:lnTo>
                <a:lnTo>
                  <a:pt x="76200" y="34289"/>
                </a:lnTo>
                <a:lnTo>
                  <a:pt x="57150" y="34289"/>
                </a:lnTo>
                <a:lnTo>
                  <a:pt x="57150" y="41910"/>
                </a:lnTo>
                <a:lnTo>
                  <a:pt x="76200" y="41910"/>
                </a:lnTo>
                <a:lnTo>
                  <a:pt x="76200" y="76200"/>
                </a:lnTo>
                <a:close/>
              </a:path>
              <a:path w="363220" h="76200">
                <a:moveTo>
                  <a:pt x="76200" y="41910"/>
                </a:moveTo>
                <a:lnTo>
                  <a:pt x="57150" y="41910"/>
                </a:lnTo>
                <a:lnTo>
                  <a:pt x="57150" y="34289"/>
                </a:lnTo>
                <a:lnTo>
                  <a:pt x="76200" y="34289"/>
                </a:lnTo>
                <a:lnTo>
                  <a:pt x="76200" y="41910"/>
                </a:lnTo>
                <a:close/>
              </a:path>
              <a:path w="363220" h="76200">
                <a:moveTo>
                  <a:pt x="362597" y="41910"/>
                </a:moveTo>
                <a:lnTo>
                  <a:pt x="76200" y="41910"/>
                </a:lnTo>
                <a:lnTo>
                  <a:pt x="76200" y="34289"/>
                </a:lnTo>
                <a:lnTo>
                  <a:pt x="362597" y="34289"/>
                </a:lnTo>
                <a:lnTo>
                  <a:pt x="362597" y="41910"/>
                </a:lnTo>
                <a:close/>
              </a:path>
            </a:pathLst>
          </a:custGeom>
          <a:solidFill>
            <a:srgbClr val="C00000"/>
          </a:solidFill>
        </p:spPr>
        <p:txBody>
          <a:bodyPr wrap="square" lIns="0" tIns="0" rIns="0" bIns="0" rtlCol="0"/>
          <a:lstStyle/>
          <a:p/>
        </p:txBody>
      </p:sp>
      <p:sp>
        <p:nvSpPr>
          <p:cNvPr id="70" name="object 70"/>
          <p:cNvSpPr/>
          <p:nvPr/>
        </p:nvSpPr>
        <p:spPr>
          <a:xfrm>
            <a:off x="10088613" y="4752124"/>
            <a:ext cx="728345" cy="76200"/>
          </a:xfrm>
          <a:custGeom>
            <a:avLst/>
            <a:gdLst/>
            <a:ahLst/>
            <a:cxnLst/>
            <a:rect l="l" t="t" r="r" b="b"/>
            <a:pathLst>
              <a:path w="728345" h="76200">
                <a:moveTo>
                  <a:pt x="721766" y="42113"/>
                </a:moveTo>
                <a:lnTo>
                  <a:pt x="671156" y="42113"/>
                </a:lnTo>
                <a:lnTo>
                  <a:pt x="671233" y="34493"/>
                </a:lnTo>
                <a:lnTo>
                  <a:pt x="652179" y="34286"/>
                </a:lnTo>
                <a:lnTo>
                  <a:pt x="652551" y="0"/>
                </a:lnTo>
                <a:lnTo>
                  <a:pt x="728345" y="38912"/>
                </a:lnTo>
                <a:lnTo>
                  <a:pt x="721766" y="42113"/>
                </a:lnTo>
                <a:close/>
              </a:path>
              <a:path w="728345" h="76200">
                <a:moveTo>
                  <a:pt x="652097" y="41906"/>
                </a:moveTo>
                <a:lnTo>
                  <a:pt x="0" y="34823"/>
                </a:lnTo>
                <a:lnTo>
                  <a:pt x="76" y="27203"/>
                </a:lnTo>
                <a:lnTo>
                  <a:pt x="652179" y="34286"/>
                </a:lnTo>
                <a:lnTo>
                  <a:pt x="652097" y="41906"/>
                </a:lnTo>
                <a:close/>
              </a:path>
              <a:path w="728345" h="76200">
                <a:moveTo>
                  <a:pt x="671156" y="42113"/>
                </a:moveTo>
                <a:lnTo>
                  <a:pt x="652097" y="41906"/>
                </a:lnTo>
                <a:lnTo>
                  <a:pt x="652179" y="34286"/>
                </a:lnTo>
                <a:lnTo>
                  <a:pt x="671233" y="34493"/>
                </a:lnTo>
                <a:lnTo>
                  <a:pt x="671156" y="42113"/>
                </a:lnTo>
                <a:close/>
              </a:path>
              <a:path w="728345" h="76200">
                <a:moveTo>
                  <a:pt x="651725" y="76187"/>
                </a:moveTo>
                <a:lnTo>
                  <a:pt x="652097" y="41906"/>
                </a:lnTo>
                <a:lnTo>
                  <a:pt x="671156" y="42113"/>
                </a:lnTo>
                <a:lnTo>
                  <a:pt x="721766" y="42113"/>
                </a:lnTo>
                <a:lnTo>
                  <a:pt x="651725" y="76187"/>
                </a:lnTo>
                <a:close/>
              </a:path>
            </a:pathLst>
          </a:custGeom>
          <a:solidFill>
            <a:srgbClr val="C00000"/>
          </a:solidFill>
        </p:spPr>
        <p:txBody>
          <a:bodyPr wrap="square" lIns="0" tIns="0" rIns="0" bIns="0" rtlCol="0"/>
          <a:lstStyle/>
          <a:p/>
        </p:txBody>
      </p:sp>
      <p:sp>
        <p:nvSpPr>
          <p:cNvPr id="71" name="object 71"/>
          <p:cNvSpPr/>
          <p:nvPr/>
        </p:nvSpPr>
        <p:spPr>
          <a:xfrm>
            <a:off x="9470821" y="3905237"/>
            <a:ext cx="76200" cy="633730"/>
          </a:xfrm>
          <a:custGeom>
            <a:avLst/>
            <a:gdLst/>
            <a:ahLst/>
            <a:cxnLst/>
            <a:rect l="l" t="t" r="r" b="b"/>
            <a:pathLst>
              <a:path w="76200" h="633729">
                <a:moveTo>
                  <a:pt x="0" y="76707"/>
                </a:moveTo>
                <a:lnTo>
                  <a:pt x="37058" y="0"/>
                </a:lnTo>
                <a:lnTo>
                  <a:pt x="66588" y="57086"/>
                </a:lnTo>
                <a:lnTo>
                  <a:pt x="41643" y="57086"/>
                </a:lnTo>
                <a:lnTo>
                  <a:pt x="34023" y="57188"/>
                </a:lnTo>
                <a:lnTo>
                  <a:pt x="34284" y="76239"/>
                </a:lnTo>
                <a:lnTo>
                  <a:pt x="0" y="76707"/>
                </a:lnTo>
                <a:close/>
              </a:path>
              <a:path w="76200" h="633729">
                <a:moveTo>
                  <a:pt x="34284" y="76239"/>
                </a:moveTo>
                <a:lnTo>
                  <a:pt x="34023" y="57188"/>
                </a:lnTo>
                <a:lnTo>
                  <a:pt x="41643" y="57086"/>
                </a:lnTo>
                <a:lnTo>
                  <a:pt x="41904" y="76135"/>
                </a:lnTo>
                <a:lnTo>
                  <a:pt x="34284" y="76239"/>
                </a:lnTo>
                <a:close/>
              </a:path>
              <a:path w="76200" h="633729">
                <a:moveTo>
                  <a:pt x="41904" y="76135"/>
                </a:moveTo>
                <a:lnTo>
                  <a:pt x="41643" y="57086"/>
                </a:lnTo>
                <a:lnTo>
                  <a:pt x="66588" y="57086"/>
                </a:lnTo>
                <a:lnTo>
                  <a:pt x="76200" y="75666"/>
                </a:lnTo>
                <a:lnTo>
                  <a:pt x="41904" y="76135"/>
                </a:lnTo>
                <a:close/>
              </a:path>
              <a:path w="76200" h="633729">
                <a:moveTo>
                  <a:pt x="41922" y="633552"/>
                </a:moveTo>
                <a:lnTo>
                  <a:pt x="34284" y="76239"/>
                </a:lnTo>
                <a:lnTo>
                  <a:pt x="41904" y="76135"/>
                </a:lnTo>
                <a:lnTo>
                  <a:pt x="49542" y="633450"/>
                </a:lnTo>
                <a:lnTo>
                  <a:pt x="41922" y="633552"/>
                </a:lnTo>
                <a:close/>
              </a:path>
            </a:pathLst>
          </a:custGeom>
          <a:solidFill>
            <a:srgbClr val="C00000"/>
          </a:solidFill>
        </p:spPr>
        <p:txBody>
          <a:bodyPr wrap="square" lIns="0" tIns="0" rIns="0" bIns="0" rtlCol="0"/>
          <a:lstStyle/>
          <a:p/>
        </p:txBody>
      </p:sp>
      <p:sp>
        <p:nvSpPr>
          <p:cNvPr id="72" name="object 72"/>
          <p:cNvSpPr/>
          <p:nvPr/>
        </p:nvSpPr>
        <p:spPr>
          <a:xfrm>
            <a:off x="9517792" y="5002555"/>
            <a:ext cx="0" cy="143510"/>
          </a:xfrm>
          <a:custGeom>
            <a:avLst/>
            <a:gdLst/>
            <a:ahLst/>
            <a:cxnLst/>
            <a:rect l="l" t="t" r="r" b="b"/>
            <a:pathLst>
              <a:path h="143510">
                <a:moveTo>
                  <a:pt x="0" y="0"/>
                </a:moveTo>
                <a:lnTo>
                  <a:pt x="0" y="143001"/>
                </a:lnTo>
              </a:path>
            </a:pathLst>
          </a:custGeom>
          <a:ln w="10096">
            <a:solidFill>
              <a:srgbClr val="C00000"/>
            </a:solidFill>
          </a:ln>
        </p:spPr>
        <p:txBody>
          <a:bodyPr wrap="square" lIns="0" tIns="0" rIns="0" bIns="0" rtlCol="0"/>
          <a:lstStyle/>
          <a:p/>
        </p:txBody>
      </p:sp>
      <p:sp>
        <p:nvSpPr>
          <p:cNvPr id="73" name="object 73"/>
          <p:cNvSpPr/>
          <p:nvPr/>
        </p:nvSpPr>
        <p:spPr>
          <a:xfrm>
            <a:off x="6757695" y="5089397"/>
            <a:ext cx="2759075" cy="76200"/>
          </a:xfrm>
          <a:custGeom>
            <a:avLst/>
            <a:gdLst/>
            <a:ahLst/>
            <a:cxnLst/>
            <a:rect l="l" t="t" r="r" b="b"/>
            <a:pathLst>
              <a:path w="2759075" h="76200">
                <a:moveTo>
                  <a:pt x="76073" y="76200"/>
                </a:moveTo>
                <a:lnTo>
                  <a:pt x="0" y="37846"/>
                </a:lnTo>
                <a:lnTo>
                  <a:pt x="76326" y="0"/>
                </a:lnTo>
                <a:lnTo>
                  <a:pt x="76212" y="34226"/>
                </a:lnTo>
                <a:lnTo>
                  <a:pt x="57162" y="34226"/>
                </a:lnTo>
                <a:lnTo>
                  <a:pt x="57137" y="41846"/>
                </a:lnTo>
                <a:lnTo>
                  <a:pt x="76187" y="41909"/>
                </a:lnTo>
                <a:lnTo>
                  <a:pt x="76073" y="76200"/>
                </a:lnTo>
                <a:close/>
              </a:path>
              <a:path w="2759075" h="76200">
                <a:moveTo>
                  <a:pt x="76187" y="41909"/>
                </a:moveTo>
                <a:lnTo>
                  <a:pt x="57137" y="41846"/>
                </a:lnTo>
                <a:lnTo>
                  <a:pt x="57162" y="34226"/>
                </a:lnTo>
                <a:lnTo>
                  <a:pt x="76212" y="34289"/>
                </a:lnTo>
                <a:lnTo>
                  <a:pt x="76187" y="41909"/>
                </a:lnTo>
                <a:close/>
              </a:path>
              <a:path w="2759075" h="76200">
                <a:moveTo>
                  <a:pt x="76212" y="34289"/>
                </a:moveTo>
                <a:lnTo>
                  <a:pt x="57162" y="34226"/>
                </a:lnTo>
                <a:lnTo>
                  <a:pt x="76212" y="34226"/>
                </a:lnTo>
                <a:close/>
              </a:path>
              <a:path w="2759075" h="76200">
                <a:moveTo>
                  <a:pt x="2758846" y="50774"/>
                </a:moveTo>
                <a:lnTo>
                  <a:pt x="76187" y="41909"/>
                </a:lnTo>
                <a:lnTo>
                  <a:pt x="76212" y="34289"/>
                </a:lnTo>
                <a:lnTo>
                  <a:pt x="2758871" y="43167"/>
                </a:lnTo>
                <a:lnTo>
                  <a:pt x="2758846" y="50774"/>
                </a:lnTo>
                <a:close/>
              </a:path>
            </a:pathLst>
          </a:custGeom>
          <a:solidFill>
            <a:srgbClr val="C00000"/>
          </a:solidFill>
        </p:spPr>
        <p:txBody>
          <a:bodyPr wrap="square" lIns="0" tIns="0" rIns="0" bIns="0" rtlCol="0"/>
          <a:lstStyle/>
          <a:p/>
        </p:txBody>
      </p:sp>
      <p:sp>
        <p:nvSpPr>
          <p:cNvPr id="74" name="object 74"/>
          <p:cNvSpPr/>
          <p:nvPr/>
        </p:nvSpPr>
        <p:spPr>
          <a:xfrm>
            <a:off x="7313676" y="5544311"/>
            <a:ext cx="3004185" cy="454659"/>
          </a:xfrm>
          <a:custGeom>
            <a:avLst/>
            <a:gdLst/>
            <a:ahLst/>
            <a:cxnLst/>
            <a:rect l="l" t="t" r="r" b="b"/>
            <a:pathLst>
              <a:path w="3004184" h="454660">
                <a:moveTo>
                  <a:pt x="0" y="0"/>
                </a:moveTo>
                <a:lnTo>
                  <a:pt x="3003804" y="0"/>
                </a:lnTo>
                <a:lnTo>
                  <a:pt x="3003804" y="454151"/>
                </a:lnTo>
                <a:lnTo>
                  <a:pt x="0" y="454151"/>
                </a:lnTo>
                <a:lnTo>
                  <a:pt x="0" y="0"/>
                </a:lnTo>
                <a:close/>
              </a:path>
            </a:pathLst>
          </a:custGeom>
          <a:solidFill>
            <a:srgbClr val="D9D9D9"/>
          </a:solidFill>
        </p:spPr>
        <p:txBody>
          <a:bodyPr wrap="square" lIns="0" tIns="0" rIns="0" bIns="0" rtlCol="0"/>
          <a:lstStyle/>
          <a:p/>
        </p:txBody>
      </p:sp>
      <p:sp>
        <p:nvSpPr>
          <p:cNvPr id="75" name="object 75"/>
          <p:cNvSpPr/>
          <p:nvPr/>
        </p:nvSpPr>
        <p:spPr>
          <a:xfrm>
            <a:off x="7307338" y="5537352"/>
            <a:ext cx="3016885" cy="468630"/>
          </a:xfrm>
          <a:custGeom>
            <a:avLst/>
            <a:gdLst/>
            <a:ahLst/>
            <a:cxnLst/>
            <a:rect l="l" t="t" r="r" b="b"/>
            <a:pathLst>
              <a:path w="3016884" h="468629">
                <a:moveTo>
                  <a:pt x="3016377" y="468071"/>
                </a:moveTo>
                <a:lnTo>
                  <a:pt x="0" y="468071"/>
                </a:lnTo>
                <a:lnTo>
                  <a:pt x="0" y="0"/>
                </a:lnTo>
                <a:lnTo>
                  <a:pt x="3016377" y="0"/>
                </a:lnTo>
                <a:lnTo>
                  <a:pt x="3016377" y="6350"/>
                </a:lnTo>
                <a:lnTo>
                  <a:pt x="12700" y="6350"/>
                </a:lnTo>
                <a:lnTo>
                  <a:pt x="6350" y="12700"/>
                </a:lnTo>
                <a:lnTo>
                  <a:pt x="12700" y="12700"/>
                </a:lnTo>
                <a:lnTo>
                  <a:pt x="12700" y="455371"/>
                </a:lnTo>
                <a:lnTo>
                  <a:pt x="6350" y="455371"/>
                </a:lnTo>
                <a:lnTo>
                  <a:pt x="12700" y="461721"/>
                </a:lnTo>
                <a:lnTo>
                  <a:pt x="3016377" y="461721"/>
                </a:lnTo>
                <a:lnTo>
                  <a:pt x="3016377" y="468071"/>
                </a:lnTo>
                <a:close/>
              </a:path>
              <a:path w="3016884" h="468629">
                <a:moveTo>
                  <a:pt x="12700" y="12700"/>
                </a:moveTo>
                <a:lnTo>
                  <a:pt x="6350" y="12700"/>
                </a:lnTo>
                <a:lnTo>
                  <a:pt x="12700" y="6350"/>
                </a:lnTo>
                <a:lnTo>
                  <a:pt x="12700" y="12700"/>
                </a:lnTo>
                <a:close/>
              </a:path>
              <a:path w="3016884" h="468629">
                <a:moveTo>
                  <a:pt x="3003677" y="12700"/>
                </a:moveTo>
                <a:lnTo>
                  <a:pt x="12700" y="12700"/>
                </a:lnTo>
                <a:lnTo>
                  <a:pt x="12700" y="6350"/>
                </a:lnTo>
                <a:lnTo>
                  <a:pt x="3003677" y="6350"/>
                </a:lnTo>
                <a:lnTo>
                  <a:pt x="3003677" y="12700"/>
                </a:lnTo>
                <a:close/>
              </a:path>
              <a:path w="3016884" h="468629">
                <a:moveTo>
                  <a:pt x="3003677" y="461721"/>
                </a:moveTo>
                <a:lnTo>
                  <a:pt x="3003677" y="6350"/>
                </a:lnTo>
                <a:lnTo>
                  <a:pt x="3010027" y="12700"/>
                </a:lnTo>
                <a:lnTo>
                  <a:pt x="3016377" y="12700"/>
                </a:lnTo>
                <a:lnTo>
                  <a:pt x="3016377" y="455371"/>
                </a:lnTo>
                <a:lnTo>
                  <a:pt x="3010027" y="455371"/>
                </a:lnTo>
                <a:lnTo>
                  <a:pt x="3003677" y="461721"/>
                </a:lnTo>
                <a:close/>
              </a:path>
              <a:path w="3016884" h="468629">
                <a:moveTo>
                  <a:pt x="3016377" y="12700"/>
                </a:moveTo>
                <a:lnTo>
                  <a:pt x="3010027" y="12700"/>
                </a:lnTo>
                <a:lnTo>
                  <a:pt x="3003677" y="6350"/>
                </a:lnTo>
                <a:lnTo>
                  <a:pt x="3016377" y="6350"/>
                </a:lnTo>
                <a:lnTo>
                  <a:pt x="3016377" y="12700"/>
                </a:lnTo>
                <a:close/>
              </a:path>
              <a:path w="3016884" h="468629">
                <a:moveTo>
                  <a:pt x="12700" y="461721"/>
                </a:moveTo>
                <a:lnTo>
                  <a:pt x="6350" y="455371"/>
                </a:lnTo>
                <a:lnTo>
                  <a:pt x="12700" y="455371"/>
                </a:lnTo>
                <a:lnTo>
                  <a:pt x="12700" y="461721"/>
                </a:lnTo>
                <a:close/>
              </a:path>
              <a:path w="3016884" h="468629">
                <a:moveTo>
                  <a:pt x="3003677" y="461721"/>
                </a:moveTo>
                <a:lnTo>
                  <a:pt x="12700" y="461721"/>
                </a:lnTo>
                <a:lnTo>
                  <a:pt x="12700" y="455371"/>
                </a:lnTo>
                <a:lnTo>
                  <a:pt x="3003677" y="455371"/>
                </a:lnTo>
                <a:lnTo>
                  <a:pt x="3003677" y="461721"/>
                </a:lnTo>
                <a:close/>
              </a:path>
              <a:path w="3016884" h="468629">
                <a:moveTo>
                  <a:pt x="3016377" y="461721"/>
                </a:moveTo>
                <a:lnTo>
                  <a:pt x="3003677" y="461721"/>
                </a:lnTo>
                <a:lnTo>
                  <a:pt x="3010027" y="455371"/>
                </a:lnTo>
                <a:lnTo>
                  <a:pt x="3016377" y="455371"/>
                </a:lnTo>
                <a:lnTo>
                  <a:pt x="3016377" y="461721"/>
                </a:lnTo>
                <a:close/>
              </a:path>
            </a:pathLst>
          </a:custGeom>
          <a:solidFill>
            <a:srgbClr val="C00000"/>
          </a:solidFill>
        </p:spPr>
        <p:txBody>
          <a:bodyPr wrap="square" lIns="0" tIns="0" rIns="0" bIns="0" rtlCol="0"/>
          <a:lstStyle/>
          <a:p/>
        </p:txBody>
      </p:sp>
      <p:sp>
        <p:nvSpPr>
          <p:cNvPr id="76" name="object 76"/>
          <p:cNvSpPr txBox="1"/>
          <p:nvPr/>
        </p:nvSpPr>
        <p:spPr>
          <a:xfrm>
            <a:off x="7313676" y="5657367"/>
            <a:ext cx="3004185" cy="208279"/>
          </a:xfrm>
          <a:prstGeom prst="rect">
            <a:avLst/>
          </a:prstGeom>
        </p:spPr>
        <p:txBody>
          <a:bodyPr vert="horz" wrap="square" lIns="0" tIns="12700" rIns="0" bIns="0" rtlCol="0">
            <a:spAutoFit/>
          </a:bodyPr>
          <a:lstStyle/>
          <a:p>
            <a:pPr algn="ctr">
              <a:lnSpc>
                <a:spcPct val="100000"/>
              </a:lnSpc>
              <a:spcBef>
                <a:spcPts val="100"/>
              </a:spcBef>
            </a:pPr>
            <a:r>
              <a:rPr sz="1200" b="1" dirty="0">
                <a:solidFill>
                  <a:srgbClr val="C00000"/>
                </a:solidFill>
                <a:latin typeface="微软雅黑" panose="020B0503020204020204" charset="-122"/>
                <a:cs typeface="微软雅黑" panose="020B0503020204020204" charset="-122"/>
              </a:rPr>
              <a:t>指令存储器</a:t>
            </a:r>
            <a:endParaRPr sz="1200">
              <a:latin typeface="微软雅黑" panose="020B0503020204020204" charset="-122"/>
              <a:cs typeface="微软雅黑" panose="020B0503020204020204" charset="-122"/>
            </a:endParaRPr>
          </a:p>
        </p:txBody>
      </p:sp>
      <p:sp>
        <p:nvSpPr>
          <p:cNvPr id="77" name="object 77"/>
          <p:cNvSpPr txBox="1"/>
          <p:nvPr/>
        </p:nvSpPr>
        <p:spPr>
          <a:xfrm>
            <a:off x="677202" y="1076972"/>
            <a:ext cx="10693400" cy="2166620"/>
          </a:xfrm>
          <a:prstGeom prst="rect">
            <a:avLst/>
          </a:prstGeom>
        </p:spPr>
        <p:txBody>
          <a:bodyPr vert="horz" wrap="square" lIns="0" tIns="12700" rIns="0" bIns="0" rtlCol="0">
            <a:spAutoFit/>
          </a:bodyPr>
          <a:lstStyle/>
          <a:p>
            <a:pPr marL="12700" marR="5080" algn="just">
              <a:lnSpc>
                <a:spcPct val="150000"/>
              </a:lnSpc>
              <a:spcBef>
                <a:spcPts val="100"/>
              </a:spcBef>
            </a:pPr>
            <a:r>
              <a:rPr sz="1200" dirty="0">
                <a:latin typeface="微软雅黑" panose="020B0503020204020204" charset="-122"/>
                <a:cs typeface="微软雅黑" panose="020B0503020204020204" charset="-122"/>
              </a:rPr>
              <a:t>根据现代计算机体系结构是一定会有存储器来存放数据和指令的，存在</a:t>
            </a:r>
            <a:r>
              <a:rPr sz="1200" b="1" dirty="0">
                <a:solidFill>
                  <a:srgbClr val="C00000"/>
                </a:solidFill>
                <a:latin typeface="微软雅黑" panose="020B0503020204020204" charset="-122"/>
                <a:cs typeface="微软雅黑" panose="020B0503020204020204" charset="-122"/>
              </a:rPr>
              <a:t>冯诺依曼结构(或称为普林斯顿)</a:t>
            </a:r>
            <a:r>
              <a:rPr sz="1200" dirty="0">
                <a:latin typeface="微软雅黑" panose="020B0503020204020204" charset="-122"/>
                <a:cs typeface="微软雅黑" panose="020B0503020204020204" charset="-122"/>
              </a:rPr>
              <a:t>和</a:t>
            </a:r>
            <a:r>
              <a:rPr sz="1200" b="1" dirty="0">
                <a:solidFill>
                  <a:srgbClr val="C00000"/>
                </a:solidFill>
                <a:latin typeface="微软雅黑" panose="020B0503020204020204" charset="-122"/>
                <a:cs typeface="微软雅黑" panose="020B0503020204020204" charset="-122"/>
              </a:rPr>
              <a:t>哈佛结构</a:t>
            </a:r>
            <a:r>
              <a:rPr sz="1200" dirty="0">
                <a:latin typeface="微软雅黑" panose="020B0503020204020204" charset="-122"/>
                <a:cs typeface="微软雅黑" panose="020B0503020204020204" charset="-122"/>
              </a:rPr>
              <a:t>两者设计风格，前者把指令和数据放在同一个 存储空间实现简单可有效减少处理器功耗和面积，后者将指令和数据分开来存放大大提高了数据吞吐率但结构比冯诺依曼结构复杂。蜂鸟可以根据配置成不同的 结构</a:t>
            </a:r>
            <a:endParaRPr sz="1200">
              <a:latin typeface="微软雅黑" panose="020B0503020204020204" charset="-122"/>
              <a:cs typeface="微软雅黑" panose="020B0503020204020204" charset="-122"/>
            </a:endParaRPr>
          </a:p>
          <a:p>
            <a:pPr marL="184150" indent="-171450" algn="just">
              <a:lnSpc>
                <a:spcPct val="100000"/>
              </a:lnSpc>
              <a:spcBef>
                <a:spcPts val="720"/>
              </a:spcBef>
              <a:buFont typeface="Wingdings" panose="05000000000000000000"/>
              <a:buChar char=""/>
              <a:tabLst>
                <a:tab pos="184150" algn="l"/>
              </a:tabLst>
            </a:pPr>
            <a:r>
              <a:rPr sz="1200" dirty="0">
                <a:latin typeface="微软雅黑" panose="020B0503020204020204" charset="-122"/>
                <a:cs typeface="微软雅黑" panose="020B0503020204020204" charset="-122"/>
              </a:rPr>
              <a:t>同时具备</a:t>
            </a:r>
            <a:r>
              <a:rPr sz="1200" spc="-20" dirty="0">
                <a:latin typeface="微软雅黑" panose="020B0503020204020204" charset="-122"/>
                <a:cs typeface="微软雅黑" panose="020B0503020204020204" charset="-122"/>
              </a:rPr>
              <a:t>ITCM</a:t>
            </a:r>
            <a:r>
              <a:rPr sz="1200" dirty="0">
                <a:latin typeface="微软雅黑" panose="020B0503020204020204" charset="-122"/>
                <a:cs typeface="微软雅黑" panose="020B0503020204020204" charset="-122"/>
              </a:rPr>
              <a:t>和</a:t>
            </a:r>
            <a:r>
              <a:rPr sz="1200" spc="-35" dirty="0">
                <a:latin typeface="微软雅黑" panose="020B0503020204020204" charset="-122"/>
                <a:cs typeface="微软雅黑" panose="020B0503020204020204" charset="-122"/>
              </a:rPr>
              <a:t>DTCM</a:t>
            </a:r>
            <a:r>
              <a:rPr sz="1200" dirty="0">
                <a:latin typeface="微软雅黑" panose="020B0503020204020204" charset="-122"/>
                <a:cs typeface="微软雅黑" panose="020B0503020204020204" charset="-122"/>
              </a:rPr>
              <a:t>的配置，并分别用来存储指令和数据，这种配置构成了</a:t>
            </a:r>
            <a:r>
              <a:rPr sz="1200" b="1" dirty="0">
                <a:solidFill>
                  <a:srgbClr val="C00000"/>
                </a:solidFill>
                <a:latin typeface="微软雅黑" panose="020B0503020204020204" charset="-122"/>
                <a:cs typeface="微软雅黑" panose="020B0503020204020204" charset="-122"/>
              </a:rPr>
              <a:t>哈佛结构</a:t>
            </a:r>
            <a:r>
              <a:rPr sz="1200" dirty="0">
                <a:latin typeface="微软雅黑" panose="020B0503020204020204" charset="-122"/>
                <a:cs typeface="微软雅黑" panose="020B0503020204020204" charset="-122"/>
              </a:rPr>
              <a:t>，也是蜂鸟E203的典型结构，后续讨论都是以此配置为基础；</a:t>
            </a:r>
            <a:endParaRPr sz="1200">
              <a:latin typeface="微软雅黑" panose="020B0503020204020204" charset="-122"/>
              <a:cs typeface="微软雅黑" panose="020B0503020204020204" charset="-122"/>
            </a:endParaRPr>
          </a:p>
          <a:p>
            <a:pPr marL="184150" indent="-171450" algn="just">
              <a:lnSpc>
                <a:spcPct val="100000"/>
              </a:lnSpc>
              <a:spcBef>
                <a:spcPts val="720"/>
              </a:spcBef>
              <a:buFont typeface="Wingdings" panose="05000000000000000000"/>
              <a:buChar char=""/>
              <a:tabLst>
                <a:tab pos="184150" algn="l"/>
              </a:tabLst>
            </a:pPr>
            <a:r>
              <a:rPr sz="1200" dirty="0">
                <a:latin typeface="微软雅黑" panose="020B0503020204020204" charset="-122"/>
                <a:cs typeface="微软雅黑" panose="020B0503020204020204" charset="-122"/>
              </a:rPr>
              <a:t>同时具备</a:t>
            </a:r>
            <a:r>
              <a:rPr sz="1200" spc="-20" dirty="0">
                <a:latin typeface="微软雅黑" panose="020B0503020204020204" charset="-122"/>
                <a:cs typeface="微软雅黑" panose="020B0503020204020204" charset="-122"/>
              </a:rPr>
              <a:t>ITCM</a:t>
            </a:r>
            <a:r>
              <a:rPr sz="1200" dirty="0">
                <a:latin typeface="微软雅黑" panose="020B0503020204020204" charset="-122"/>
                <a:cs typeface="微软雅黑" panose="020B0503020204020204" charset="-122"/>
              </a:rPr>
              <a:t>和</a:t>
            </a:r>
            <a:r>
              <a:rPr sz="1200" spc="-35" dirty="0">
                <a:latin typeface="微软雅黑" panose="020B0503020204020204" charset="-122"/>
                <a:cs typeface="微软雅黑" panose="020B0503020204020204" charset="-122"/>
              </a:rPr>
              <a:t>DTCM</a:t>
            </a:r>
            <a:r>
              <a:rPr sz="1200" dirty="0">
                <a:latin typeface="微软雅黑" panose="020B0503020204020204" charset="-122"/>
                <a:cs typeface="微软雅黑" panose="020B0503020204020204" charset="-122"/>
              </a:rPr>
              <a:t>的配置，利用</a:t>
            </a:r>
            <a:r>
              <a:rPr sz="1200" spc="-20" dirty="0">
                <a:latin typeface="微软雅黑" panose="020B0503020204020204" charset="-122"/>
                <a:cs typeface="微软雅黑" panose="020B0503020204020204" charset="-122"/>
              </a:rPr>
              <a:t>ITCM</a:t>
            </a:r>
            <a:r>
              <a:rPr sz="1200" dirty="0">
                <a:latin typeface="微软雅黑" panose="020B0503020204020204" charset="-122"/>
                <a:cs typeface="微软雅黑" panose="020B0503020204020204" charset="-122"/>
              </a:rPr>
              <a:t>除了存储指令外还可以存储数据，在这种配置下，实际为</a:t>
            </a:r>
            <a:r>
              <a:rPr sz="1200" b="1" dirty="0">
                <a:solidFill>
                  <a:srgbClr val="C00000"/>
                </a:solidFill>
                <a:latin typeface="微软雅黑" panose="020B0503020204020204" charset="-122"/>
                <a:cs typeface="微软雅黑" panose="020B0503020204020204" charset="-122"/>
              </a:rPr>
              <a:t>冯诺依曼和哈佛混合结构</a:t>
            </a:r>
            <a:r>
              <a:rPr sz="1200" dirty="0">
                <a:latin typeface="微软雅黑" panose="020B0503020204020204" charset="-122"/>
                <a:cs typeface="微软雅黑" panose="020B0503020204020204" charset="-122"/>
              </a:rPr>
              <a:t>；</a:t>
            </a:r>
            <a:endParaRPr sz="1200">
              <a:latin typeface="微软雅黑" panose="020B0503020204020204" charset="-122"/>
              <a:cs typeface="微软雅黑" panose="020B0503020204020204" charset="-122"/>
            </a:endParaRPr>
          </a:p>
          <a:p>
            <a:pPr marL="184150" indent="-171450" algn="just">
              <a:lnSpc>
                <a:spcPct val="100000"/>
              </a:lnSpc>
              <a:spcBef>
                <a:spcPts val="720"/>
              </a:spcBef>
              <a:buFont typeface="Wingdings" panose="05000000000000000000"/>
              <a:buChar char=""/>
              <a:tabLst>
                <a:tab pos="184150" algn="l"/>
              </a:tabLst>
            </a:pPr>
            <a:r>
              <a:rPr sz="1200" dirty="0">
                <a:latin typeface="微软雅黑" panose="020B0503020204020204" charset="-122"/>
                <a:cs typeface="微软雅黑" panose="020B0503020204020204" charset="-122"/>
              </a:rPr>
              <a:t>只保留</a:t>
            </a:r>
            <a:r>
              <a:rPr sz="1200" spc="-20" dirty="0">
                <a:latin typeface="微软雅黑" panose="020B0503020204020204" charset="-122"/>
                <a:cs typeface="微软雅黑" panose="020B0503020204020204" charset="-122"/>
              </a:rPr>
              <a:t>ITCM</a:t>
            </a:r>
            <a:r>
              <a:rPr sz="1200" dirty="0">
                <a:latin typeface="微软雅黑" panose="020B0503020204020204" charset="-122"/>
                <a:cs typeface="微软雅黑" panose="020B0503020204020204" charset="-122"/>
              </a:rPr>
              <a:t>和配置，由于</a:t>
            </a:r>
            <a:r>
              <a:rPr sz="1200" spc="-20" dirty="0">
                <a:latin typeface="微软雅黑" panose="020B0503020204020204" charset="-122"/>
                <a:cs typeface="微软雅黑" panose="020B0503020204020204" charset="-122"/>
              </a:rPr>
              <a:t>ITCM</a:t>
            </a:r>
            <a:r>
              <a:rPr sz="1200" dirty="0">
                <a:latin typeface="微软雅黑" panose="020B0503020204020204" charset="-122"/>
                <a:cs typeface="微软雅黑" panose="020B0503020204020204" charset="-122"/>
              </a:rPr>
              <a:t>除了存储指令外也可以用于存储数据，在这种配置下其实为</a:t>
            </a:r>
            <a:r>
              <a:rPr sz="1200" b="1" dirty="0">
                <a:solidFill>
                  <a:srgbClr val="C00000"/>
                </a:solidFill>
                <a:latin typeface="微软雅黑" panose="020B0503020204020204" charset="-122"/>
                <a:cs typeface="微软雅黑" panose="020B0503020204020204" charset="-122"/>
              </a:rPr>
              <a:t>冯诺依曼结构</a:t>
            </a:r>
            <a:r>
              <a:rPr sz="1200" dirty="0">
                <a:latin typeface="微软雅黑" panose="020B0503020204020204" charset="-122"/>
                <a:cs typeface="微软雅黑" panose="020B0503020204020204" charset="-122"/>
              </a:rPr>
              <a:t>。</a:t>
            </a:r>
            <a:endParaRPr sz="1200">
              <a:latin typeface="微软雅黑" panose="020B0503020204020204" charset="-122"/>
              <a:cs typeface="微软雅黑" panose="020B0503020204020204" charset="-122"/>
            </a:endParaRPr>
          </a:p>
          <a:p>
            <a:pPr>
              <a:lnSpc>
                <a:spcPct val="100000"/>
              </a:lnSpc>
              <a:spcBef>
                <a:spcPts val="20"/>
              </a:spcBef>
            </a:pPr>
            <a:endParaRPr sz="1700">
              <a:latin typeface="Times New Roman" panose="02020603050405020304"/>
              <a:cs typeface="Times New Roman" panose="02020603050405020304"/>
            </a:endParaRPr>
          </a:p>
          <a:p>
            <a:pPr marL="1864995">
              <a:lnSpc>
                <a:spcPct val="100000"/>
              </a:lnSpc>
              <a:tabLst>
                <a:tab pos="7731125" algn="l"/>
              </a:tabLst>
            </a:pPr>
            <a:r>
              <a:rPr sz="1600" b="1" dirty="0">
                <a:solidFill>
                  <a:srgbClr val="C00000"/>
                </a:solidFill>
                <a:latin typeface="微软雅黑" panose="020B0503020204020204" charset="-122"/>
                <a:cs typeface="微软雅黑" panose="020B0503020204020204" charset="-122"/>
              </a:rPr>
              <a:t>冯诺依曼结</a:t>
            </a:r>
            <a:r>
              <a:rPr sz="1600" b="1" spc="-5" dirty="0">
                <a:solidFill>
                  <a:srgbClr val="C00000"/>
                </a:solidFill>
                <a:latin typeface="微软雅黑" panose="020B0503020204020204" charset="-122"/>
                <a:cs typeface="微软雅黑" panose="020B0503020204020204" charset="-122"/>
              </a:rPr>
              <a:t>构	</a:t>
            </a:r>
            <a:r>
              <a:rPr sz="1600" b="1" dirty="0">
                <a:solidFill>
                  <a:srgbClr val="C00000"/>
                </a:solidFill>
                <a:latin typeface="微软雅黑" panose="020B0503020204020204" charset="-122"/>
                <a:cs typeface="微软雅黑" panose="020B0503020204020204" charset="-122"/>
              </a:rPr>
              <a:t>哈佛结</a:t>
            </a:r>
            <a:r>
              <a:rPr sz="1600" b="1" spc="-5" dirty="0">
                <a:solidFill>
                  <a:srgbClr val="C00000"/>
                </a:solidFill>
                <a:latin typeface="微软雅黑" panose="020B0503020204020204" charset="-122"/>
                <a:cs typeface="微软雅黑" panose="020B0503020204020204" charset="-122"/>
              </a:rPr>
              <a:t>构</a:t>
            </a:r>
            <a:endParaRPr sz="1600">
              <a:latin typeface="微软雅黑" panose="020B0503020204020204" charset="-122"/>
              <a:cs typeface="微软雅黑" panose="020B0503020204020204" charset="-122"/>
            </a:endParaRPr>
          </a:p>
        </p:txBody>
      </p:sp>
      <p:sp>
        <p:nvSpPr>
          <p:cNvPr id="78" name="object 78"/>
          <p:cNvSpPr/>
          <p:nvPr/>
        </p:nvSpPr>
        <p:spPr>
          <a:xfrm>
            <a:off x="1730120" y="5803785"/>
            <a:ext cx="403860" cy="220979"/>
          </a:xfrm>
          <a:custGeom>
            <a:avLst/>
            <a:gdLst/>
            <a:ahLst/>
            <a:cxnLst/>
            <a:rect l="l" t="t" r="r" b="b"/>
            <a:pathLst>
              <a:path w="403860" h="220979">
                <a:moveTo>
                  <a:pt x="292862" y="62903"/>
                </a:moveTo>
                <a:lnTo>
                  <a:pt x="292862" y="0"/>
                </a:lnTo>
                <a:lnTo>
                  <a:pt x="308190" y="15328"/>
                </a:lnTo>
                <a:lnTo>
                  <a:pt x="305562" y="15328"/>
                </a:lnTo>
                <a:lnTo>
                  <a:pt x="294728" y="19824"/>
                </a:lnTo>
                <a:lnTo>
                  <a:pt x="305562" y="30657"/>
                </a:lnTo>
                <a:lnTo>
                  <a:pt x="305562" y="56553"/>
                </a:lnTo>
                <a:lnTo>
                  <a:pt x="299212" y="56553"/>
                </a:lnTo>
                <a:lnTo>
                  <a:pt x="292862" y="62903"/>
                </a:lnTo>
                <a:close/>
              </a:path>
              <a:path w="403860" h="220979">
                <a:moveTo>
                  <a:pt x="305562" y="30657"/>
                </a:moveTo>
                <a:lnTo>
                  <a:pt x="294728" y="19824"/>
                </a:lnTo>
                <a:lnTo>
                  <a:pt x="305562" y="15328"/>
                </a:lnTo>
                <a:lnTo>
                  <a:pt x="305562" y="30657"/>
                </a:lnTo>
                <a:close/>
              </a:path>
              <a:path w="403860" h="220979">
                <a:moveTo>
                  <a:pt x="385387" y="110483"/>
                </a:moveTo>
                <a:lnTo>
                  <a:pt x="305562" y="30657"/>
                </a:lnTo>
                <a:lnTo>
                  <a:pt x="305562" y="15328"/>
                </a:lnTo>
                <a:lnTo>
                  <a:pt x="308190" y="15328"/>
                </a:lnTo>
                <a:lnTo>
                  <a:pt x="398856" y="105994"/>
                </a:lnTo>
                <a:lnTo>
                  <a:pt x="389877" y="105994"/>
                </a:lnTo>
                <a:lnTo>
                  <a:pt x="385387" y="110483"/>
                </a:lnTo>
                <a:close/>
              </a:path>
              <a:path w="403860" h="220979">
                <a:moveTo>
                  <a:pt x="292862" y="164401"/>
                </a:moveTo>
                <a:lnTo>
                  <a:pt x="0" y="164401"/>
                </a:lnTo>
                <a:lnTo>
                  <a:pt x="0" y="56553"/>
                </a:lnTo>
                <a:lnTo>
                  <a:pt x="292862" y="56553"/>
                </a:lnTo>
                <a:lnTo>
                  <a:pt x="292862" y="62903"/>
                </a:lnTo>
                <a:lnTo>
                  <a:pt x="12700" y="62903"/>
                </a:lnTo>
                <a:lnTo>
                  <a:pt x="6350" y="69253"/>
                </a:lnTo>
                <a:lnTo>
                  <a:pt x="12700" y="69253"/>
                </a:lnTo>
                <a:lnTo>
                  <a:pt x="12700" y="151701"/>
                </a:lnTo>
                <a:lnTo>
                  <a:pt x="6350" y="151701"/>
                </a:lnTo>
                <a:lnTo>
                  <a:pt x="12700" y="158051"/>
                </a:lnTo>
                <a:lnTo>
                  <a:pt x="292862" y="158051"/>
                </a:lnTo>
                <a:lnTo>
                  <a:pt x="292862" y="164401"/>
                </a:lnTo>
                <a:close/>
              </a:path>
              <a:path w="403860" h="220979">
                <a:moveTo>
                  <a:pt x="305562" y="69253"/>
                </a:moveTo>
                <a:lnTo>
                  <a:pt x="12700" y="69253"/>
                </a:lnTo>
                <a:lnTo>
                  <a:pt x="12700" y="62903"/>
                </a:lnTo>
                <a:lnTo>
                  <a:pt x="292862" y="62903"/>
                </a:lnTo>
                <a:lnTo>
                  <a:pt x="299212" y="56553"/>
                </a:lnTo>
                <a:lnTo>
                  <a:pt x="305562" y="56553"/>
                </a:lnTo>
                <a:lnTo>
                  <a:pt x="305562" y="69253"/>
                </a:lnTo>
                <a:close/>
              </a:path>
              <a:path w="403860" h="220979">
                <a:moveTo>
                  <a:pt x="12700" y="69253"/>
                </a:moveTo>
                <a:lnTo>
                  <a:pt x="6350" y="69253"/>
                </a:lnTo>
                <a:lnTo>
                  <a:pt x="12700" y="62903"/>
                </a:lnTo>
                <a:lnTo>
                  <a:pt x="12700" y="69253"/>
                </a:lnTo>
                <a:close/>
              </a:path>
              <a:path w="403860" h="220979">
                <a:moveTo>
                  <a:pt x="389877" y="114973"/>
                </a:moveTo>
                <a:lnTo>
                  <a:pt x="385394" y="110477"/>
                </a:lnTo>
                <a:lnTo>
                  <a:pt x="389877" y="105994"/>
                </a:lnTo>
                <a:lnTo>
                  <a:pt x="389877" y="114973"/>
                </a:lnTo>
                <a:close/>
              </a:path>
              <a:path w="403860" h="220979">
                <a:moveTo>
                  <a:pt x="398843" y="114973"/>
                </a:moveTo>
                <a:lnTo>
                  <a:pt x="389877" y="114973"/>
                </a:lnTo>
                <a:lnTo>
                  <a:pt x="389877" y="105994"/>
                </a:lnTo>
                <a:lnTo>
                  <a:pt x="398856" y="105994"/>
                </a:lnTo>
                <a:lnTo>
                  <a:pt x="403332" y="110483"/>
                </a:lnTo>
                <a:lnTo>
                  <a:pt x="398843" y="114973"/>
                </a:lnTo>
                <a:close/>
              </a:path>
              <a:path w="403860" h="220979">
                <a:moveTo>
                  <a:pt x="308190" y="205625"/>
                </a:moveTo>
                <a:lnTo>
                  <a:pt x="305562" y="205625"/>
                </a:lnTo>
                <a:lnTo>
                  <a:pt x="305562" y="190309"/>
                </a:lnTo>
                <a:lnTo>
                  <a:pt x="385387" y="110483"/>
                </a:lnTo>
                <a:lnTo>
                  <a:pt x="389877" y="114973"/>
                </a:lnTo>
                <a:lnTo>
                  <a:pt x="398843" y="114973"/>
                </a:lnTo>
                <a:lnTo>
                  <a:pt x="308190" y="205625"/>
                </a:lnTo>
                <a:close/>
              </a:path>
              <a:path w="403860" h="220979">
                <a:moveTo>
                  <a:pt x="12700" y="158051"/>
                </a:moveTo>
                <a:lnTo>
                  <a:pt x="6350" y="151701"/>
                </a:lnTo>
                <a:lnTo>
                  <a:pt x="12700" y="151701"/>
                </a:lnTo>
                <a:lnTo>
                  <a:pt x="12700" y="158051"/>
                </a:lnTo>
                <a:close/>
              </a:path>
              <a:path w="403860" h="220979">
                <a:moveTo>
                  <a:pt x="305562" y="164401"/>
                </a:moveTo>
                <a:lnTo>
                  <a:pt x="299212" y="164401"/>
                </a:lnTo>
                <a:lnTo>
                  <a:pt x="292862" y="158051"/>
                </a:lnTo>
                <a:lnTo>
                  <a:pt x="12700" y="158051"/>
                </a:lnTo>
                <a:lnTo>
                  <a:pt x="12700" y="151701"/>
                </a:lnTo>
                <a:lnTo>
                  <a:pt x="305562" y="151701"/>
                </a:lnTo>
                <a:lnTo>
                  <a:pt x="305562" y="164401"/>
                </a:lnTo>
                <a:close/>
              </a:path>
              <a:path w="403860" h="220979">
                <a:moveTo>
                  <a:pt x="292862" y="220954"/>
                </a:moveTo>
                <a:lnTo>
                  <a:pt x="292862" y="158051"/>
                </a:lnTo>
                <a:lnTo>
                  <a:pt x="299212" y="164401"/>
                </a:lnTo>
                <a:lnTo>
                  <a:pt x="305562" y="164401"/>
                </a:lnTo>
                <a:lnTo>
                  <a:pt x="305562" y="190309"/>
                </a:lnTo>
                <a:lnTo>
                  <a:pt x="294728" y="201142"/>
                </a:lnTo>
                <a:lnTo>
                  <a:pt x="305562" y="205625"/>
                </a:lnTo>
                <a:lnTo>
                  <a:pt x="308190" y="205625"/>
                </a:lnTo>
                <a:lnTo>
                  <a:pt x="292862" y="220954"/>
                </a:lnTo>
                <a:close/>
              </a:path>
              <a:path w="403860" h="220979">
                <a:moveTo>
                  <a:pt x="305562" y="205625"/>
                </a:moveTo>
                <a:lnTo>
                  <a:pt x="294728" y="201142"/>
                </a:lnTo>
                <a:lnTo>
                  <a:pt x="305562" y="190309"/>
                </a:lnTo>
                <a:lnTo>
                  <a:pt x="305562" y="205625"/>
                </a:lnTo>
                <a:close/>
              </a:path>
            </a:pathLst>
          </a:custGeom>
          <a:solidFill>
            <a:srgbClr val="C00000"/>
          </a:solidFill>
        </p:spPr>
        <p:txBody>
          <a:bodyPr wrap="square" lIns="0" tIns="0" rIns="0" bIns="0" rtlCol="0"/>
          <a:lstStyle/>
          <a:p/>
        </p:txBody>
      </p:sp>
      <p:sp>
        <p:nvSpPr>
          <p:cNvPr id="79" name="object 79"/>
          <p:cNvSpPr/>
          <p:nvPr/>
        </p:nvSpPr>
        <p:spPr>
          <a:xfrm>
            <a:off x="3157727" y="5818632"/>
            <a:ext cx="388620" cy="190500"/>
          </a:xfrm>
          <a:custGeom>
            <a:avLst/>
            <a:gdLst/>
            <a:ahLst/>
            <a:cxnLst/>
            <a:rect l="l" t="t" r="r" b="b"/>
            <a:pathLst>
              <a:path w="388620" h="190500">
                <a:moveTo>
                  <a:pt x="294132" y="190500"/>
                </a:moveTo>
                <a:lnTo>
                  <a:pt x="294132" y="143255"/>
                </a:lnTo>
                <a:lnTo>
                  <a:pt x="0" y="143255"/>
                </a:lnTo>
                <a:lnTo>
                  <a:pt x="0" y="48767"/>
                </a:lnTo>
                <a:lnTo>
                  <a:pt x="294132" y="48767"/>
                </a:lnTo>
                <a:lnTo>
                  <a:pt x="294132" y="0"/>
                </a:lnTo>
                <a:lnTo>
                  <a:pt x="388620" y="96012"/>
                </a:lnTo>
                <a:lnTo>
                  <a:pt x="294132" y="190500"/>
                </a:lnTo>
                <a:close/>
              </a:path>
            </a:pathLst>
          </a:custGeom>
          <a:solidFill>
            <a:srgbClr val="D9D9D9"/>
          </a:solidFill>
        </p:spPr>
        <p:txBody>
          <a:bodyPr wrap="square" lIns="0" tIns="0" rIns="0" bIns="0" rtlCol="0"/>
          <a:lstStyle/>
          <a:p/>
        </p:txBody>
      </p:sp>
      <p:sp>
        <p:nvSpPr>
          <p:cNvPr id="80" name="object 80"/>
          <p:cNvSpPr/>
          <p:nvPr/>
        </p:nvSpPr>
        <p:spPr>
          <a:xfrm>
            <a:off x="3152000" y="5803785"/>
            <a:ext cx="403860" cy="220979"/>
          </a:xfrm>
          <a:custGeom>
            <a:avLst/>
            <a:gdLst/>
            <a:ahLst/>
            <a:cxnLst/>
            <a:rect l="l" t="t" r="r" b="b"/>
            <a:pathLst>
              <a:path w="403860" h="220979">
                <a:moveTo>
                  <a:pt x="292874" y="62903"/>
                </a:moveTo>
                <a:lnTo>
                  <a:pt x="292874" y="0"/>
                </a:lnTo>
                <a:lnTo>
                  <a:pt x="308203" y="15328"/>
                </a:lnTo>
                <a:lnTo>
                  <a:pt x="305574" y="15328"/>
                </a:lnTo>
                <a:lnTo>
                  <a:pt x="294728" y="19824"/>
                </a:lnTo>
                <a:lnTo>
                  <a:pt x="305574" y="30670"/>
                </a:lnTo>
                <a:lnTo>
                  <a:pt x="305574" y="56553"/>
                </a:lnTo>
                <a:lnTo>
                  <a:pt x="299224" y="56553"/>
                </a:lnTo>
                <a:lnTo>
                  <a:pt x="292874" y="62903"/>
                </a:lnTo>
                <a:close/>
              </a:path>
              <a:path w="403860" h="220979">
                <a:moveTo>
                  <a:pt x="305574" y="30670"/>
                </a:moveTo>
                <a:lnTo>
                  <a:pt x="294728" y="19824"/>
                </a:lnTo>
                <a:lnTo>
                  <a:pt x="305574" y="15328"/>
                </a:lnTo>
                <a:lnTo>
                  <a:pt x="305574" y="30670"/>
                </a:lnTo>
                <a:close/>
              </a:path>
              <a:path w="403860" h="220979">
                <a:moveTo>
                  <a:pt x="385387" y="110483"/>
                </a:moveTo>
                <a:lnTo>
                  <a:pt x="305574" y="30670"/>
                </a:lnTo>
                <a:lnTo>
                  <a:pt x="305574" y="15328"/>
                </a:lnTo>
                <a:lnTo>
                  <a:pt x="308203" y="15328"/>
                </a:lnTo>
                <a:lnTo>
                  <a:pt x="398868" y="105994"/>
                </a:lnTo>
                <a:lnTo>
                  <a:pt x="389877" y="105994"/>
                </a:lnTo>
                <a:lnTo>
                  <a:pt x="385387" y="110483"/>
                </a:lnTo>
                <a:close/>
              </a:path>
              <a:path w="403860" h="220979">
                <a:moveTo>
                  <a:pt x="292874" y="164401"/>
                </a:moveTo>
                <a:lnTo>
                  <a:pt x="0" y="164401"/>
                </a:lnTo>
                <a:lnTo>
                  <a:pt x="0" y="56553"/>
                </a:lnTo>
                <a:lnTo>
                  <a:pt x="292874" y="56553"/>
                </a:lnTo>
                <a:lnTo>
                  <a:pt x="292874" y="62903"/>
                </a:lnTo>
                <a:lnTo>
                  <a:pt x="12700" y="62903"/>
                </a:lnTo>
                <a:lnTo>
                  <a:pt x="6350" y="69253"/>
                </a:lnTo>
                <a:lnTo>
                  <a:pt x="12700" y="69253"/>
                </a:lnTo>
                <a:lnTo>
                  <a:pt x="12700" y="151701"/>
                </a:lnTo>
                <a:lnTo>
                  <a:pt x="6350" y="151701"/>
                </a:lnTo>
                <a:lnTo>
                  <a:pt x="12700" y="158051"/>
                </a:lnTo>
                <a:lnTo>
                  <a:pt x="292874" y="158051"/>
                </a:lnTo>
                <a:lnTo>
                  <a:pt x="292874" y="164401"/>
                </a:lnTo>
                <a:close/>
              </a:path>
              <a:path w="403860" h="220979">
                <a:moveTo>
                  <a:pt x="305574" y="69253"/>
                </a:moveTo>
                <a:lnTo>
                  <a:pt x="12700" y="69253"/>
                </a:lnTo>
                <a:lnTo>
                  <a:pt x="12700" y="62903"/>
                </a:lnTo>
                <a:lnTo>
                  <a:pt x="292874" y="62903"/>
                </a:lnTo>
                <a:lnTo>
                  <a:pt x="299224" y="56553"/>
                </a:lnTo>
                <a:lnTo>
                  <a:pt x="305574" y="56553"/>
                </a:lnTo>
                <a:lnTo>
                  <a:pt x="305574" y="69253"/>
                </a:lnTo>
                <a:close/>
              </a:path>
              <a:path w="403860" h="220979">
                <a:moveTo>
                  <a:pt x="12700" y="69253"/>
                </a:moveTo>
                <a:lnTo>
                  <a:pt x="6350" y="69253"/>
                </a:lnTo>
                <a:lnTo>
                  <a:pt x="12700" y="62903"/>
                </a:lnTo>
                <a:lnTo>
                  <a:pt x="12700" y="69253"/>
                </a:lnTo>
                <a:close/>
              </a:path>
              <a:path w="403860" h="220979">
                <a:moveTo>
                  <a:pt x="389877" y="114973"/>
                </a:moveTo>
                <a:lnTo>
                  <a:pt x="385394" y="110477"/>
                </a:lnTo>
                <a:lnTo>
                  <a:pt x="389877" y="105994"/>
                </a:lnTo>
                <a:lnTo>
                  <a:pt x="389877" y="114973"/>
                </a:lnTo>
                <a:close/>
              </a:path>
              <a:path w="403860" h="220979">
                <a:moveTo>
                  <a:pt x="398856" y="114973"/>
                </a:moveTo>
                <a:lnTo>
                  <a:pt x="389877" y="114973"/>
                </a:lnTo>
                <a:lnTo>
                  <a:pt x="389877" y="105994"/>
                </a:lnTo>
                <a:lnTo>
                  <a:pt x="398868" y="105994"/>
                </a:lnTo>
                <a:lnTo>
                  <a:pt x="403345" y="110483"/>
                </a:lnTo>
                <a:lnTo>
                  <a:pt x="398856" y="114973"/>
                </a:lnTo>
                <a:close/>
              </a:path>
              <a:path w="403860" h="220979">
                <a:moveTo>
                  <a:pt x="308203" y="205625"/>
                </a:moveTo>
                <a:lnTo>
                  <a:pt x="305574" y="205625"/>
                </a:lnTo>
                <a:lnTo>
                  <a:pt x="305574" y="190296"/>
                </a:lnTo>
                <a:lnTo>
                  <a:pt x="385387" y="110483"/>
                </a:lnTo>
                <a:lnTo>
                  <a:pt x="389877" y="114973"/>
                </a:lnTo>
                <a:lnTo>
                  <a:pt x="398856" y="114973"/>
                </a:lnTo>
                <a:lnTo>
                  <a:pt x="308203" y="205625"/>
                </a:lnTo>
                <a:close/>
              </a:path>
              <a:path w="403860" h="220979">
                <a:moveTo>
                  <a:pt x="12700" y="158051"/>
                </a:moveTo>
                <a:lnTo>
                  <a:pt x="6350" y="151701"/>
                </a:lnTo>
                <a:lnTo>
                  <a:pt x="12700" y="151701"/>
                </a:lnTo>
                <a:lnTo>
                  <a:pt x="12700" y="158051"/>
                </a:lnTo>
                <a:close/>
              </a:path>
              <a:path w="403860" h="220979">
                <a:moveTo>
                  <a:pt x="305574" y="164401"/>
                </a:moveTo>
                <a:lnTo>
                  <a:pt x="299224" y="164401"/>
                </a:lnTo>
                <a:lnTo>
                  <a:pt x="292874" y="158051"/>
                </a:lnTo>
                <a:lnTo>
                  <a:pt x="12700" y="158051"/>
                </a:lnTo>
                <a:lnTo>
                  <a:pt x="12700" y="151701"/>
                </a:lnTo>
                <a:lnTo>
                  <a:pt x="305574" y="151701"/>
                </a:lnTo>
                <a:lnTo>
                  <a:pt x="305574" y="164401"/>
                </a:lnTo>
                <a:close/>
              </a:path>
              <a:path w="403860" h="220979">
                <a:moveTo>
                  <a:pt x="292874" y="220954"/>
                </a:moveTo>
                <a:lnTo>
                  <a:pt x="292874" y="158051"/>
                </a:lnTo>
                <a:lnTo>
                  <a:pt x="299224" y="164401"/>
                </a:lnTo>
                <a:lnTo>
                  <a:pt x="305574" y="164401"/>
                </a:lnTo>
                <a:lnTo>
                  <a:pt x="305574" y="190296"/>
                </a:lnTo>
                <a:lnTo>
                  <a:pt x="294728" y="201142"/>
                </a:lnTo>
                <a:lnTo>
                  <a:pt x="305574" y="205625"/>
                </a:lnTo>
                <a:lnTo>
                  <a:pt x="308203" y="205625"/>
                </a:lnTo>
                <a:lnTo>
                  <a:pt x="292874" y="220954"/>
                </a:lnTo>
                <a:close/>
              </a:path>
              <a:path w="403860" h="220979">
                <a:moveTo>
                  <a:pt x="305574" y="205625"/>
                </a:moveTo>
                <a:lnTo>
                  <a:pt x="294728" y="201142"/>
                </a:lnTo>
                <a:lnTo>
                  <a:pt x="305574" y="190296"/>
                </a:lnTo>
                <a:lnTo>
                  <a:pt x="305574" y="205625"/>
                </a:lnTo>
                <a:close/>
              </a:path>
            </a:pathLst>
          </a:custGeom>
          <a:solidFill>
            <a:srgbClr val="C00000"/>
          </a:solidFill>
        </p:spPr>
        <p:txBody>
          <a:bodyPr wrap="square" lIns="0" tIns="0" rIns="0" bIns="0" rtlCol="0"/>
          <a:lstStyle/>
          <a:p/>
        </p:txBody>
      </p:sp>
      <p:sp>
        <p:nvSpPr>
          <p:cNvPr id="81" name="object 81"/>
          <p:cNvSpPr/>
          <p:nvPr/>
        </p:nvSpPr>
        <p:spPr>
          <a:xfrm>
            <a:off x="4732718" y="5875858"/>
            <a:ext cx="415290" cy="76200"/>
          </a:xfrm>
          <a:custGeom>
            <a:avLst/>
            <a:gdLst/>
            <a:ahLst/>
            <a:cxnLst/>
            <a:rect l="l" t="t" r="r" b="b"/>
            <a:pathLst>
              <a:path w="415289" h="76200">
                <a:moveTo>
                  <a:pt x="339090" y="76200"/>
                </a:moveTo>
                <a:lnTo>
                  <a:pt x="339090" y="0"/>
                </a:lnTo>
                <a:lnTo>
                  <a:pt x="407670" y="34289"/>
                </a:lnTo>
                <a:lnTo>
                  <a:pt x="358140" y="34289"/>
                </a:lnTo>
                <a:lnTo>
                  <a:pt x="358140" y="41910"/>
                </a:lnTo>
                <a:lnTo>
                  <a:pt x="407670" y="41910"/>
                </a:lnTo>
                <a:lnTo>
                  <a:pt x="339090" y="76200"/>
                </a:lnTo>
                <a:close/>
              </a:path>
              <a:path w="415289" h="76200">
                <a:moveTo>
                  <a:pt x="339090" y="41910"/>
                </a:moveTo>
                <a:lnTo>
                  <a:pt x="0" y="41910"/>
                </a:lnTo>
                <a:lnTo>
                  <a:pt x="0" y="34289"/>
                </a:lnTo>
                <a:lnTo>
                  <a:pt x="339090" y="34289"/>
                </a:lnTo>
                <a:lnTo>
                  <a:pt x="339090" y="41910"/>
                </a:lnTo>
                <a:close/>
              </a:path>
              <a:path w="415289" h="76200">
                <a:moveTo>
                  <a:pt x="407670" y="41910"/>
                </a:moveTo>
                <a:lnTo>
                  <a:pt x="358140" y="41910"/>
                </a:lnTo>
                <a:lnTo>
                  <a:pt x="358140" y="34289"/>
                </a:lnTo>
                <a:lnTo>
                  <a:pt x="407670" y="34289"/>
                </a:lnTo>
                <a:lnTo>
                  <a:pt x="415290" y="38100"/>
                </a:lnTo>
                <a:lnTo>
                  <a:pt x="407670" y="41910"/>
                </a:lnTo>
                <a:close/>
              </a:path>
            </a:pathLst>
          </a:custGeom>
          <a:solidFill>
            <a:srgbClr val="C00000"/>
          </a:solidFill>
        </p:spPr>
        <p:txBody>
          <a:bodyPr wrap="square" lIns="0" tIns="0" rIns="0" bIns="0" rtlCol="0"/>
          <a:lstStyle/>
          <a:p/>
        </p:txBody>
      </p:sp>
      <p:sp>
        <p:nvSpPr>
          <p:cNvPr id="82" name="object 82"/>
          <p:cNvSpPr txBox="1"/>
          <p:nvPr/>
        </p:nvSpPr>
        <p:spPr>
          <a:xfrm>
            <a:off x="1216355" y="5800356"/>
            <a:ext cx="482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C00000"/>
                </a:solidFill>
                <a:latin typeface="微软雅黑" panose="020B0503020204020204" charset="-122"/>
                <a:cs typeface="微软雅黑" panose="020B0503020204020204" charset="-122"/>
              </a:rPr>
              <a:t>数据流</a:t>
            </a:r>
            <a:endParaRPr sz="1200">
              <a:latin typeface="微软雅黑" panose="020B0503020204020204" charset="-122"/>
              <a:cs typeface="微软雅黑" panose="020B0503020204020204" charset="-122"/>
            </a:endParaRPr>
          </a:p>
        </p:txBody>
      </p:sp>
      <p:sp>
        <p:nvSpPr>
          <p:cNvPr id="83" name="object 83"/>
          <p:cNvSpPr txBox="1"/>
          <p:nvPr/>
        </p:nvSpPr>
        <p:spPr>
          <a:xfrm>
            <a:off x="2641955" y="5800356"/>
            <a:ext cx="482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C00000"/>
                </a:solidFill>
                <a:latin typeface="微软雅黑" panose="020B0503020204020204" charset="-122"/>
                <a:cs typeface="微软雅黑" panose="020B0503020204020204" charset="-122"/>
              </a:rPr>
              <a:t>指令流</a:t>
            </a:r>
            <a:endParaRPr sz="1200">
              <a:latin typeface="微软雅黑" panose="020B0503020204020204" charset="-122"/>
              <a:cs typeface="微软雅黑" panose="020B0503020204020204" charset="-122"/>
            </a:endParaRPr>
          </a:p>
        </p:txBody>
      </p:sp>
      <p:sp>
        <p:nvSpPr>
          <p:cNvPr id="84" name="object 84"/>
          <p:cNvSpPr txBox="1"/>
          <p:nvPr/>
        </p:nvSpPr>
        <p:spPr>
          <a:xfrm>
            <a:off x="4245457" y="5800356"/>
            <a:ext cx="482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C00000"/>
                </a:solidFill>
                <a:latin typeface="微软雅黑" panose="020B0503020204020204" charset="-122"/>
                <a:cs typeface="微软雅黑" panose="020B0503020204020204" charset="-122"/>
              </a:rPr>
              <a:t>控制流</a:t>
            </a:r>
            <a:endParaRPr sz="1200">
              <a:latin typeface="微软雅黑" panose="020B0503020204020204" charset="-122"/>
              <a:cs typeface="微软雅黑" panose="020B0503020204020204" charset="-122"/>
            </a:endParaRPr>
          </a:p>
        </p:txBody>
      </p:sp>
      <p:sp>
        <p:nvSpPr>
          <p:cNvPr id="85" name="object 85"/>
          <p:cNvSpPr/>
          <p:nvPr/>
        </p:nvSpPr>
        <p:spPr>
          <a:xfrm>
            <a:off x="388810" y="5628551"/>
            <a:ext cx="5492750" cy="511175"/>
          </a:xfrm>
          <a:custGeom>
            <a:avLst/>
            <a:gdLst/>
            <a:ahLst/>
            <a:cxnLst/>
            <a:rect l="l" t="t" r="r" b="b"/>
            <a:pathLst>
              <a:path w="5492750" h="511175">
                <a:moveTo>
                  <a:pt x="6350" y="504278"/>
                </a:moveTo>
                <a:lnTo>
                  <a:pt x="0" y="504278"/>
                </a:lnTo>
                <a:lnTo>
                  <a:pt x="0" y="453478"/>
                </a:lnTo>
                <a:lnTo>
                  <a:pt x="12700" y="453478"/>
                </a:lnTo>
                <a:lnTo>
                  <a:pt x="12700" y="497928"/>
                </a:lnTo>
                <a:lnTo>
                  <a:pt x="6350" y="497928"/>
                </a:lnTo>
                <a:lnTo>
                  <a:pt x="6350" y="504278"/>
                </a:lnTo>
                <a:close/>
              </a:path>
              <a:path w="5492750" h="511175">
                <a:moveTo>
                  <a:pt x="49403" y="510628"/>
                </a:moveTo>
                <a:lnTo>
                  <a:pt x="6350" y="510628"/>
                </a:lnTo>
                <a:lnTo>
                  <a:pt x="6350" y="497928"/>
                </a:lnTo>
                <a:lnTo>
                  <a:pt x="12700" y="497928"/>
                </a:lnTo>
                <a:lnTo>
                  <a:pt x="12700" y="504278"/>
                </a:lnTo>
                <a:lnTo>
                  <a:pt x="49403" y="504278"/>
                </a:lnTo>
                <a:lnTo>
                  <a:pt x="49403" y="510628"/>
                </a:lnTo>
                <a:close/>
              </a:path>
              <a:path w="5492750" h="511175">
                <a:moveTo>
                  <a:pt x="49403" y="504278"/>
                </a:moveTo>
                <a:lnTo>
                  <a:pt x="12700" y="504278"/>
                </a:lnTo>
                <a:lnTo>
                  <a:pt x="12700" y="497928"/>
                </a:lnTo>
                <a:lnTo>
                  <a:pt x="49403" y="497928"/>
                </a:lnTo>
                <a:lnTo>
                  <a:pt x="49403" y="504278"/>
                </a:lnTo>
                <a:close/>
              </a:path>
              <a:path w="5492750" h="511175">
                <a:moveTo>
                  <a:pt x="12700" y="415378"/>
                </a:moveTo>
                <a:lnTo>
                  <a:pt x="0" y="415378"/>
                </a:lnTo>
                <a:lnTo>
                  <a:pt x="0" y="364578"/>
                </a:lnTo>
                <a:lnTo>
                  <a:pt x="12700" y="364578"/>
                </a:lnTo>
                <a:lnTo>
                  <a:pt x="12700" y="415378"/>
                </a:lnTo>
                <a:close/>
              </a:path>
              <a:path w="5492750" h="511175">
                <a:moveTo>
                  <a:pt x="12700" y="326478"/>
                </a:moveTo>
                <a:lnTo>
                  <a:pt x="0" y="326478"/>
                </a:lnTo>
                <a:lnTo>
                  <a:pt x="0" y="275678"/>
                </a:lnTo>
                <a:lnTo>
                  <a:pt x="12700" y="275678"/>
                </a:lnTo>
                <a:lnTo>
                  <a:pt x="12700" y="326478"/>
                </a:lnTo>
                <a:close/>
              </a:path>
              <a:path w="5492750" h="511175">
                <a:moveTo>
                  <a:pt x="12700" y="237578"/>
                </a:moveTo>
                <a:lnTo>
                  <a:pt x="0" y="237578"/>
                </a:lnTo>
                <a:lnTo>
                  <a:pt x="0" y="186778"/>
                </a:lnTo>
                <a:lnTo>
                  <a:pt x="12700" y="186778"/>
                </a:lnTo>
                <a:lnTo>
                  <a:pt x="12700" y="237578"/>
                </a:lnTo>
                <a:close/>
              </a:path>
              <a:path w="5492750" h="511175">
                <a:moveTo>
                  <a:pt x="12700" y="148678"/>
                </a:moveTo>
                <a:lnTo>
                  <a:pt x="0" y="148678"/>
                </a:lnTo>
                <a:lnTo>
                  <a:pt x="0" y="97878"/>
                </a:lnTo>
                <a:lnTo>
                  <a:pt x="12700" y="97878"/>
                </a:lnTo>
                <a:lnTo>
                  <a:pt x="12700" y="148678"/>
                </a:lnTo>
                <a:close/>
              </a:path>
              <a:path w="5492750" h="511175">
                <a:moveTo>
                  <a:pt x="12700" y="59778"/>
                </a:moveTo>
                <a:lnTo>
                  <a:pt x="0" y="59778"/>
                </a:lnTo>
                <a:lnTo>
                  <a:pt x="0" y="8978"/>
                </a:lnTo>
                <a:lnTo>
                  <a:pt x="12700" y="8978"/>
                </a:lnTo>
                <a:lnTo>
                  <a:pt x="12700" y="59778"/>
                </a:lnTo>
                <a:close/>
              </a:path>
              <a:path w="5492750" h="511175">
                <a:moveTo>
                  <a:pt x="92621" y="12700"/>
                </a:moveTo>
                <a:lnTo>
                  <a:pt x="41821" y="12700"/>
                </a:lnTo>
                <a:lnTo>
                  <a:pt x="41821" y="0"/>
                </a:lnTo>
                <a:lnTo>
                  <a:pt x="92621" y="0"/>
                </a:lnTo>
                <a:lnTo>
                  <a:pt x="92621" y="12700"/>
                </a:lnTo>
                <a:close/>
              </a:path>
              <a:path w="5492750" h="511175">
                <a:moveTo>
                  <a:pt x="181521" y="12700"/>
                </a:moveTo>
                <a:lnTo>
                  <a:pt x="130721" y="12700"/>
                </a:lnTo>
                <a:lnTo>
                  <a:pt x="130721" y="0"/>
                </a:lnTo>
                <a:lnTo>
                  <a:pt x="181521" y="0"/>
                </a:lnTo>
                <a:lnTo>
                  <a:pt x="181521" y="12700"/>
                </a:lnTo>
                <a:close/>
              </a:path>
              <a:path w="5492750" h="511175">
                <a:moveTo>
                  <a:pt x="270421" y="12700"/>
                </a:moveTo>
                <a:lnTo>
                  <a:pt x="219621" y="12700"/>
                </a:lnTo>
                <a:lnTo>
                  <a:pt x="219621" y="0"/>
                </a:lnTo>
                <a:lnTo>
                  <a:pt x="270421" y="0"/>
                </a:lnTo>
                <a:lnTo>
                  <a:pt x="270421" y="12700"/>
                </a:lnTo>
                <a:close/>
              </a:path>
              <a:path w="5492750" h="511175">
                <a:moveTo>
                  <a:pt x="359321" y="12700"/>
                </a:moveTo>
                <a:lnTo>
                  <a:pt x="308521" y="12700"/>
                </a:lnTo>
                <a:lnTo>
                  <a:pt x="308521" y="0"/>
                </a:lnTo>
                <a:lnTo>
                  <a:pt x="359321" y="0"/>
                </a:lnTo>
                <a:lnTo>
                  <a:pt x="359321" y="12700"/>
                </a:lnTo>
                <a:close/>
              </a:path>
              <a:path w="5492750" h="511175">
                <a:moveTo>
                  <a:pt x="448221" y="12700"/>
                </a:moveTo>
                <a:lnTo>
                  <a:pt x="397421" y="12700"/>
                </a:lnTo>
                <a:lnTo>
                  <a:pt x="397421" y="0"/>
                </a:lnTo>
                <a:lnTo>
                  <a:pt x="448221" y="0"/>
                </a:lnTo>
                <a:lnTo>
                  <a:pt x="448221" y="12700"/>
                </a:lnTo>
                <a:close/>
              </a:path>
              <a:path w="5492750" h="511175">
                <a:moveTo>
                  <a:pt x="537121" y="12700"/>
                </a:moveTo>
                <a:lnTo>
                  <a:pt x="486321" y="12700"/>
                </a:lnTo>
                <a:lnTo>
                  <a:pt x="486321" y="0"/>
                </a:lnTo>
                <a:lnTo>
                  <a:pt x="537121" y="0"/>
                </a:lnTo>
                <a:lnTo>
                  <a:pt x="537121" y="12700"/>
                </a:lnTo>
                <a:close/>
              </a:path>
              <a:path w="5492750" h="511175">
                <a:moveTo>
                  <a:pt x="626021" y="12700"/>
                </a:moveTo>
                <a:lnTo>
                  <a:pt x="575221" y="12700"/>
                </a:lnTo>
                <a:lnTo>
                  <a:pt x="575221" y="0"/>
                </a:lnTo>
                <a:lnTo>
                  <a:pt x="626021" y="0"/>
                </a:lnTo>
                <a:lnTo>
                  <a:pt x="626021" y="12700"/>
                </a:lnTo>
                <a:close/>
              </a:path>
              <a:path w="5492750" h="511175">
                <a:moveTo>
                  <a:pt x="714921" y="12700"/>
                </a:moveTo>
                <a:lnTo>
                  <a:pt x="664121" y="12700"/>
                </a:lnTo>
                <a:lnTo>
                  <a:pt x="664121" y="0"/>
                </a:lnTo>
                <a:lnTo>
                  <a:pt x="714921" y="0"/>
                </a:lnTo>
                <a:lnTo>
                  <a:pt x="714921" y="12700"/>
                </a:lnTo>
                <a:close/>
              </a:path>
              <a:path w="5492750" h="511175">
                <a:moveTo>
                  <a:pt x="803821" y="12700"/>
                </a:moveTo>
                <a:lnTo>
                  <a:pt x="753021" y="12700"/>
                </a:lnTo>
                <a:lnTo>
                  <a:pt x="753021" y="0"/>
                </a:lnTo>
                <a:lnTo>
                  <a:pt x="803821" y="0"/>
                </a:lnTo>
                <a:lnTo>
                  <a:pt x="803821" y="12700"/>
                </a:lnTo>
                <a:close/>
              </a:path>
              <a:path w="5492750" h="511175">
                <a:moveTo>
                  <a:pt x="892721" y="12700"/>
                </a:moveTo>
                <a:lnTo>
                  <a:pt x="841921" y="12700"/>
                </a:lnTo>
                <a:lnTo>
                  <a:pt x="841921" y="0"/>
                </a:lnTo>
                <a:lnTo>
                  <a:pt x="892721" y="0"/>
                </a:lnTo>
                <a:lnTo>
                  <a:pt x="892721" y="12700"/>
                </a:lnTo>
                <a:close/>
              </a:path>
              <a:path w="5492750" h="511175">
                <a:moveTo>
                  <a:pt x="981621" y="12700"/>
                </a:moveTo>
                <a:lnTo>
                  <a:pt x="930821" y="12700"/>
                </a:lnTo>
                <a:lnTo>
                  <a:pt x="930821" y="0"/>
                </a:lnTo>
                <a:lnTo>
                  <a:pt x="981621" y="0"/>
                </a:lnTo>
                <a:lnTo>
                  <a:pt x="981621" y="12700"/>
                </a:lnTo>
                <a:close/>
              </a:path>
              <a:path w="5492750" h="511175">
                <a:moveTo>
                  <a:pt x="1070521" y="12700"/>
                </a:moveTo>
                <a:lnTo>
                  <a:pt x="1019721" y="12700"/>
                </a:lnTo>
                <a:lnTo>
                  <a:pt x="1019721" y="0"/>
                </a:lnTo>
                <a:lnTo>
                  <a:pt x="1070521" y="0"/>
                </a:lnTo>
                <a:lnTo>
                  <a:pt x="1070521" y="12700"/>
                </a:lnTo>
                <a:close/>
              </a:path>
              <a:path w="5492750" h="511175">
                <a:moveTo>
                  <a:pt x="1159421" y="12700"/>
                </a:moveTo>
                <a:lnTo>
                  <a:pt x="1108621" y="12700"/>
                </a:lnTo>
                <a:lnTo>
                  <a:pt x="1108621" y="0"/>
                </a:lnTo>
                <a:lnTo>
                  <a:pt x="1159421" y="0"/>
                </a:lnTo>
                <a:lnTo>
                  <a:pt x="1159421" y="12700"/>
                </a:lnTo>
                <a:close/>
              </a:path>
              <a:path w="5492750" h="511175">
                <a:moveTo>
                  <a:pt x="1248321" y="12700"/>
                </a:moveTo>
                <a:lnTo>
                  <a:pt x="1197521" y="12700"/>
                </a:lnTo>
                <a:lnTo>
                  <a:pt x="1197521" y="0"/>
                </a:lnTo>
                <a:lnTo>
                  <a:pt x="1248321" y="0"/>
                </a:lnTo>
                <a:lnTo>
                  <a:pt x="1248321" y="12700"/>
                </a:lnTo>
                <a:close/>
              </a:path>
              <a:path w="5492750" h="511175">
                <a:moveTo>
                  <a:pt x="1337221" y="12700"/>
                </a:moveTo>
                <a:lnTo>
                  <a:pt x="1286421" y="12700"/>
                </a:lnTo>
                <a:lnTo>
                  <a:pt x="1286421" y="0"/>
                </a:lnTo>
                <a:lnTo>
                  <a:pt x="1337221" y="0"/>
                </a:lnTo>
                <a:lnTo>
                  <a:pt x="1337221" y="12700"/>
                </a:lnTo>
                <a:close/>
              </a:path>
              <a:path w="5492750" h="511175">
                <a:moveTo>
                  <a:pt x="1426121" y="12700"/>
                </a:moveTo>
                <a:lnTo>
                  <a:pt x="1375321" y="12700"/>
                </a:lnTo>
                <a:lnTo>
                  <a:pt x="1375321" y="0"/>
                </a:lnTo>
                <a:lnTo>
                  <a:pt x="1426121" y="0"/>
                </a:lnTo>
                <a:lnTo>
                  <a:pt x="1426121" y="12700"/>
                </a:lnTo>
                <a:close/>
              </a:path>
              <a:path w="5492750" h="511175">
                <a:moveTo>
                  <a:pt x="1515021" y="12700"/>
                </a:moveTo>
                <a:lnTo>
                  <a:pt x="1464221" y="12700"/>
                </a:lnTo>
                <a:lnTo>
                  <a:pt x="1464221" y="0"/>
                </a:lnTo>
                <a:lnTo>
                  <a:pt x="1515021" y="0"/>
                </a:lnTo>
                <a:lnTo>
                  <a:pt x="1515021" y="12700"/>
                </a:lnTo>
                <a:close/>
              </a:path>
              <a:path w="5492750" h="511175">
                <a:moveTo>
                  <a:pt x="1603921" y="12700"/>
                </a:moveTo>
                <a:lnTo>
                  <a:pt x="1553121" y="12700"/>
                </a:lnTo>
                <a:lnTo>
                  <a:pt x="1553121" y="0"/>
                </a:lnTo>
                <a:lnTo>
                  <a:pt x="1603921" y="0"/>
                </a:lnTo>
                <a:lnTo>
                  <a:pt x="1603921" y="12700"/>
                </a:lnTo>
                <a:close/>
              </a:path>
              <a:path w="5492750" h="511175">
                <a:moveTo>
                  <a:pt x="1692821" y="12700"/>
                </a:moveTo>
                <a:lnTo>
                  <a:pt x="1642021" y="12700"/>
                </a:lnTo>
                <a:lnTo>
                  <a:pt x="1642021" y="0"/>
                </a:lnTo>
                <a:lnTo>
                  <a:pt x="1692821" y="0"/>
                </a:lnTo>
                <a:lnTo>
                  <a:pt x="1692821" y="12700"/>
                </a:lnTo>
                <a:close/>
              </a:path>
              <a:path w="5492750" h="511175">
                <a:moveTo>
                  <a:pt x="1781721" y="12700"/>
                </a:moveTo>
                <a:lnTo>
                  <a:pt x="1730921" y="12700"/>
                </a:lnTo>
                <a:lnTo>
                  <a:pt x="1730921" y="0"/>
                </a:lnTo>
                <a:lnTo>
                  <a:pt x="1781721" y="0"/>
                </a:lnTo>
                <a:lnTo>
                  <a:pt x="1781721" y="12700"/>
                </a:lnTo>
                <a:close/>
              </a:path>
              <a:path w="5492750" h="511175">
                <a:moveTo>
                  <a:pt x="1870621" y="12700"/>
                </a:moveTo>
                <a:lnTo>
                  <a:pt x="1819821" y="12700"/>
                </a:lnTo>
                <a:lnTo>
                  <a:pt x="1819821" y="0"/>
                </a:lnTo>
                <a:lnTo>
                  <a:pt x="1870621" y="0"/>
                </a:lnTo>
                <a:lnTo>
                  <a:pt x="1870621" y="12700"/>
                </a:lnTo>
                <a:close/>
              </a:path>
              <a:path w="5492750" h="511175">
                <a:moveTo>
                  <a:pt x="1959521" y="12700"/>
                </a:moveTo>
                <a:lnTo>
                  <a:pt x="1908721" y="12700"/>
                </a:lnTo>
                <a:lnTo>
                  <a:pt x="1908721" y="0"/>
                </a:lnTo>
                <a:lnTo>
                  <a:pt x="1959521" y="0"/>
                </a:lnTo>
                <a:lnTo>
                  <a:pt x="1959521" y="12700"/>
                </a:lnTo>
                <a:close/>
              </a:path>
              <a:path w="5492750" h="511175">
                <a:moveTo>
                  <a:pt x="2048421" y="12700"/>
                </a:moveTo>
                <a:lnTo>
                  <a:pt x="1997621" y="12700"/>
                </a:lnTo>
                <a:lnTo>
                  <a:pt x="1997621" y="0"/>
                </a:lnTo>
                <a:lnTo>
                  <a:pt x="2048421" y="0"/>
                </a:lnTo>
                <a:lnTo>
                  <a:pt x="2048421" y="12700"/>
                </a:lnTo>
                <a:close/>
              </a:path>
              <a:path w="5492750" h="511175">
                <a:moveTo>
                  <a:pt x="2137321" y="12700"/>
                </a:moveTo>
                <a:lnTo>
                  <a:pt x="2086521" y="12700"/>
                </a:lnTo>
                <a:lnTo>
                  <a:pt x="2086521" y="0"/>
                </a:lnTo>
                <a:lnTo>
                  <a:pt x="2137321" y="0"/>
                </a:lnTo>
                <a:lnTo>
                  <a:pt x="2137321" y="12700"/>
                </a:lnTo>
                <a:close/>
              </a:path>
              <a:path w="5492750" h="511175">
                <a:moveTo>
                  <a:pt x="2226221" y="12700"/>
                </a:moveTo>
                <a:lnTo>
                  <a:pt x="2175421" y="12700"/>
                </a:lnTo>
                <a:lnTo>
                  <a:pt x="2175421" y="0"/>
                </a:lnTo>
                <a:lnTo>
                  <a:pt x="2226221" y="0"/>
                </a:lnTo>
                <a:lnTo>
                  <a:pt x="2226221" y="12700"/>
                </a:lnTo>
                <a:close/>
              </a:path>
              <a:path w="5492750" h="511175">
                <a:moveTo>
                  <a:pt x="2315121" y="12700"/>
                </a:moveTo>
                <a:lnTo>
                  <a:pt x="2264321" y="12700"/>
                </a:lnTo>
                <a:lnTo>
                  <a:pt x="2264321" y="0"/>
                </a:lnTo>
                <a:lnTo>
                  <a:pt x="2315121" y="0"/>
                </a:lnTo>
                <a:lnTo>
                  <a:pt x="2315121" y="12700"/>
                </a:lnTo>
                <a:close/>
              </a:path>
              <a:path w="5492750" h="511175">
                <a:moveTo>
                  <a:pt x="2404021" y="12700"/>
                </a:moveTo>
                <a:lnTo>
                  <a:pt x="2353221" y="12700"/>
                </a:lnTo>
                <a:lnTo>
                  <a:pt x="2353221" y="0"/>
                </a:lnTo>
                <a:lnTo>
                  <a:pt x="2404021" y="0"/>
                </a:lnTo>
                <a:lnTo>
                  <a:pt x="2404021" y="12700"/>
                </a:lnTo>
                <a:close/>
              </a:path>
              <a:path w="5492750" h="511175">
                <a:moveTo>
                  <a:pt x="2492921" y="12700"/>
                </a:moveTo>
                <a:lnTo>
                  <a:pt x="2442121" y="12700"/>
                </a:lnTo>
                <a:lnTo>
                  <a:pt x="2442121" y="0"/>
                </a:lnTo>
                <a:lnTo>
                  <a:pt x="2492921" y="0"/>
                </a:lnTo>
                <a:lnTo>
                  <a:pt x="2492921" y="12700"/>
                </a:lnTo>
                <a:close/>
              </a:path>
              <a:path w="5492750" h="511175">
                <a:moveTo>
                  <a:pt x="2581821" y="12700"/>
                </a:moveTo>
                <a:lnTo>
                  <a:pt x="2531021" y="12700"/>
                </a:lnTo>
                <a:lnTo>
                  <a:pt x="2531021" y="0"/>
                </a:lnTo>
                <a:lnTo>
                  <a:pt x="2581821" y="0"/>
                </a:lnTo>
                <a:lnTo>
                  <a:pt x="2581821" y="12700"/>
                </a:lnTo>
                <a:close/>
              </a:path>
              <a:path w="5492750" h="511175">
                <a:moveTo>
                  <a:pt x="2670721" y="12700"/>
                </a:moveTo>
                <a:lnTo>
                  <a:pt x="2619921" y="12700"/>
                </a:lnTo>
                <a:lnTo>
                  <a:pt x="2619921" y="0"/>
                </a:lnTo>
                <a:lnTo>
                  <a:pt x="2670721" y="0"/>
                </a:lnTo>
                <a:lnTo>
                  <a:pt x="2670721" y="12700"/>
                </a:lnTo>
                <a:close/>
              </a:path>
              <a:path w="5492750" h="511175">
                <a:moveTo>
                  <a:pt x="2759621" y="12700"/>
                </a:moveTo>
                <a:lnTo>
                  <a:pt x="2708821" y="12700"/>
                </a:lnTo>
                <a:lnTo>
                  <a:pt x="2708821" y="0"/>
                </a:lnTo>
                <a:lnTo>
                  <a:pt x="2759621" y="0"/>
                </a:lnTo>
                <a:lnTo>
                  <a:pt x="2759621" y="12700"/>
                </a:lnTo>
                <a:close/>
              </a:path>
              <a:path w="5492750" h="511175">
                <a:moveTo>
                  <a:pt x="2848521" y="12700"/>
                </a:moveTo>
                <a:lnTo>
                  <a:pt x="2797721" y="12700"/>
                </a:lnTo>
                <a:lnTo>
                  <a:pt x="2797721" y="0"/>
                </a:lnTo>
                <a:lnTo>
                  <a:pt x="2848521" y="0"/>
                </a:lnTo>
                <a:lnTo>
                  <a:pt x="2848521" y="12700"/>
                </a:lnTo>
                <a:close/>
              </a:path>
              <a:path w="5492750" h="511175">
                <a:moveTo>
                  <a:pt x="2937421" y="12700"/>
                </a:moveTo>
                <a:lnTo>
                  <a:pt x="2886621" y="12700"/>
                </a:lnTo>
                <a:lnTo>
                  <a:pt x="2886621" y="0"/>
                </a:lnTo>
                <a:lnTo>
                  <a:pt x="2937421" y="0"/>
                </a:lnTo>
                <a:lnTo>
                  <a:pt x="2937421" y="12700"/>
                </a:lnTo>
                <a:close/>
              </a:path>
              <a:path w="5492750" h="511175">
                <a:moveTo>
                  <a:pt x="3026321" y="12700"/>
                </a:moveTo>
                <a:lnTo>
                  <a:pt x="2975521" y="12700"/>
                </a:lnTo>
                <a:lnTo>
                  <a:pt x="2975521" y="0"/>
                </a:lnTo>
                <a:lnTo>
                  <a:pt x="3026321" y="0"/>
                </a:lnTo>
                <a:lnTo>
                  <a:pt x="3026321" y="12700"/>
                </a:lnTo>
                <a:close/>
              </a:path>
              <a:path w="5492750" h="511175">
                <a:moveTo>
                  <a:pt x="3115221" y="12700"/>
                </a:moveTo>
                <a:lnTo>
                  <a:pt x="3064421" y="12700"/>
                </a:lnTo>
                <a:lnTo>
                  <a:pt x="3064421" y="0"/>
                </a:lnTo>
                <a:lnTo>
                  <a:pt x="3115221" y="0"/>
                </a:lnTo>
                <a:lnTo>
                  <a:pt x="3115221" y="12700"/>
                </a:lnTo>
                <a:close/>
              </a:path>
              <a:path w="5492750" h="511175">
                <a:moveTo>
                  <a:pt x="3204121" y="12700"/>
                </a:moveTo>
                <a:lnTo>
                  <a:pt x="3153321" y="12700"/>
                </a:lnTo>
                <a:lnTo>
                  <a:pt x="3153321" y="0"/>
                </a:lnTo>
                <a:lnTo>
                  <a:pt x="3204121" y="0"/>
                </a:lnTo>
                <a:lnTo>
                  <a:pt x="3204121" y="12700"/>
                </a:lnTo>
                <a:close/>
              </a:path>
              <a:path w="5492750" h="511175">
                <a:moveTo>
                  <a:pt x="3293021" y="12700"/>
                </a:moveTo>
                <a:lnTo>
                  <a:pt x="3242221" y="12700"/>
                </a:lnTo>
                <a:lnTo>
                  <a:pt x="3242221" y="0"/>
                </a:lnTo>
                <a:lnTo>
                  <a:pt x="3293021" y="0"/>
                </a:lnTo>
                <a:lnTo>
                  <a:pt x="3293021" y="12700"/>
                </a:lnTo>
                <a:close/>
              </a:path>
              <a:path w="5492750" h="511175">
                <a:moveTo>
                  <a:pt x="3381921" y="12700"/>
                </a:moveTo>
                <a:lnTo>
                  <a:pt x="3331121" y="12700"/>
                </a:lnTo>
                <a:lnTo>
                  <a:pt x="3331121" y="0"/>
                </a:lnTo>
                <a:lnTo>
                  <a:pt x="3381921" y="0"/>
                </a:lnTo>
                <a:lnTo>
                  <a:pt x="3381921" y="12700"/>
                </a:lnTo>
                <a:close/>
              </a:path>
              <a:path w="5492750" h="511175">
                <a:moveTo>
                  <a:pt x="3470821" y="12700"/>
                </a:moveTo>
                <a:lnTo>
                  <a:pt x="3420021" y="12700"/>
                </a:lnTo>
                <a:lnTo>
                  <a:pt x="3420021" y="0"/>
                </a:lnTo>
                <a:lnTo>
                  <a:pt x="3470821" y="0"/>
                </a:lnTo>
                <a:lnTo>
                  <a:pt x="3470821" y="12700"/>
                </a:lnTo>
                <a:close/>
              </a:path>
              <a:path w="5492750" h="511175">
                <a:moveTo>
                  <a:pt x="3559721" y="12700"/>
                </a:moveTo>
                <a:lnTo>
                  <a:pt x="3508921" y="12700"/>
                </a:lnTo>
                <a:lnTo>
                  <a:pt x="3508921" y="0"/>
                </a:lnTo>
                <a:lnTo>
                  <a:pt x="3559721" y="0"/>
                </a:lnTo>
                <a:lnTo>
                  <a:pt x="3559721" y="12700"/>
                </a:lnTo>
                <a:close/>
              </a:path>
              <a:path w="5492750" h="511175">
                <a:moveTo>
                  <a:pt x="3648621" y="12700"/>
                </a:moveTo>
                <a:lnTo>
                  <a:pt x="3597821" y="12700"/>
                </a:lnTo>
                <a:lnTo>
                  <a:pt x="3597821" y="0"/>
                </a:lnTo>
                <a:lnTo>
                  <a:pt x="3648621" y="0"/>
                </a:lnTo>
                <a:lnTo>
                  <a:pt x="3648621" y="12700"/>
                </a:lnTo>
                <a:close/>
              </a:path>
              <a:path w="5492750" h="511175">
                <a:moveTo>
                  <a:pt x="3737521" y="12700"/>
                </a:moveTo>
                <a:lnTo>
                  <a:pt x="3686721" y="12700"/>
                </a:lnTo>
                <a:lnTo>
                  <a:pt x="3686721" y="0"/>
                </a:lnTo>
                <a:lnTo>
                  <a:pt x="3737521" y="0"/>
                </a:lnTo>
                <a:lnTo>
                  <a:pt x="3737521" y="12700"/>
                </a:lnTo>
                <a:close/>
              </a:path>
              <a:path w="5492750" h="511175">
                <a:moveTo>
                  <a:pt x="3826421" y="12700"/>
                </a:moveTo>
                <a:lnTo>
                  <a:pt x="3775621" y="12700"/>
                </a:lnTo>
                <a:lnTo>
                  <a:pt x="3775621" y="0"/>
                </a:lnTo>
                <a:lnTo>
                  <a:pt x="3826421" y="0"/>
                </a:lnTo>
                <a:lnTo>
                  <a:pt x="3826421" y="12700"/>
                </a:lnTo>
                <a:close/>
              </a:path>
              <a:path w="5492750" h="511175">
                <a:moveTo>
                  <a:pt x="3915321" y="12700"/>
                </a:moveTo>
                <a:lnTo>
                  <a:pt x="3864521" y="12700"/>
                </a:lnTo>
                <a:lnTo>
                  <a:pt x="3864521" y="0"/>
                </a:lnTo>
                <a:lnTo>
                  <a:pt x="3915321" y="0"/>
                </a:lnTo>
                <a:lnTo>
                  <a:pt x="3915321" y="12700"/>
                </a:lnTo>
                <a:close/>
              </a:path>
              <a:path w="5492750" h="511175">
                <a:moveTo>
                  <a:pt x="4004221" y="12700"/>
                </a:moveTo>
                <a:lnTo>
                  <a:pt x="3953421" y="12700"/>
                </a:lnTo>
                <a:lnTo>
                  <a:pt x="3953421" y="0"/>
                </a:lnTo>
                <a:lnTo>
                  <a:pt x="4004221" y="0"/>
                </a:lnTo>
                <a:lnTo>
                  <a:pt x="4004221" y="12700"/>
                </a:lnTo>
                <a:close/>
              </a:path>
              <a:path w="5492750" h="511175">
                <a:moveTo>
                  <a:pt x="4093121" y="12700"/>
                </a:moveTo>
                <a:lnTo>
                  <a:pt x="4042321" y="12700"/>
                </a:lnTo>
                <a:lnTo>
                  <a:pt x="4042321" y="0"/>
                </a:lnTo>
                <a:lnTo>
                  <a:pt x="4093121" y="0"/>
                </a:lnTo>
                <a:lnTo>
                  <a:pt x="4093121" y="12700"/>
                </a:lnTo>
                <a:close/>
              </a:path>
              <a:path w="5492750" h="511175">
                <a:moveTo>
                  <a:pt x="4182021" y="12700"/>
                </a:moveTo>
                <a:lnTo>
                  <a:pt x="4131221" y="12700"/>
                </a:lnTo>
                <a:lnTo>
                  <a:pt x="4131221" y="0"/>
                </a:lnTo>
                <a:lnTo>
                  <a:pt x="4182021" y="0"/>
                </a:lnTo>
                <a:lnTo>
                  <a:pt x="4182021" y="12700"/>
                </a:lnTo>
                <a:close/>
              </a:path>
              <a:path w="5492750" h="511175">
                <a:moveTo>
                  <a:pt x="4270921" y="12700"/>
                </a:moveTo>
                <a:lnTo>
                  <a:pt x="4220121" y="12700"/>
                </a:lnTo>
                <a:lnTo>
                  <a:pt x="4220121" y="0"/>
                </a:lnTo>
                <a:lnTo>
                  <a:pt x="4270921" y="0"/>
                </a:lnTo>
                <a:lnTo>
                  <a:pt x="4270921" y="12700"/>
                </a:lnTo>
                <a:close/>
              </a:path>
              <a:path w="5492750" h="511175">
                <a:moveTo>
                  <a:pt x="4359821" y="12700"/>
                </a:moveTo>
                <a:lnTo>
                  <a:pt x="4309021" y="12700"/>
                </a:lnTo>
                <a:lnTo>
                  <a:pt x="4309021" y="0"/>
                </a:lnTo>
                <a:lnTo>
                  <a:pt x="4359821" y="0"/>
                </a:lnTo>
                <a:lnTo>
                  <a:pt x="4359821" y="12700"/>
                </a:lnTo>
                <a:close/>
              </a:path>
              <a:path w="5492750" h="511175">
                <a:moveTo>
                  <a:pt x="4448721" y="12700"/>
                </a:moveTo>
                <a:lnTo>
                  <a:pt x="4397921" y="12700"/>
                </a:lnTo>
                <a:lnTo>
                  <a:pt x="4397921" y="0"/>
                </a:lnTo>
                <a:lnTo>
                  <a:pt x="4448721" y="0"/>
                </a:lnTo>
                <a:lnTo>
                  <a:pt x="4448721" y="12700"/>
                </a:lnTo>
                <a:close/>
              </a:path>
              <a:path w="5492750" h="511175">
                <a:moveTo>
                  <a:pt x="4537621" y="12700"/>
                </a:moveTo>
                <a:lnTo>
                  <a:pt x="4486821" y="12700"/>
                </a:lnTo>
                <a:lnTo>
                  <a:pt x="4486821" y="0"/>
                </a:lnTo>
                <a:lnTo>
                  <a:pt x="4537621" y="0"/>
                </a:lnTo>
                <a:lnTo>
                  <a:pt x="4537621" y="12700"/>
                </a:lnTo>
                <a:close/>
              </a:path>
              <a:path w="5492750" h="511175">
                <a:moveTo>
                  <a:pt x="4626521" y="12700"/>
                </a:moveTo>
                <a:lnTo>
                  <a:pt x="4575721" y="12700"/>
                </a:lnTo>
                <a:lnTo>
                  <a:pt x="4575721" y="0"/>
                </a:lnTo>
                <a:lnTo>
                  <a:pt x="4626521" y="0"/>
                </a:lnTo>
                <a:lnTo>
                  <a:pt x="4626521" y="12700"/>
                </a:lnTo>
                <a:close/>
              </a:path>
              <a:path w="5492750" h="511175">
                <a:moveTo>
                  <a:pt x="4715421" y="12700"/>
                </a:moveTo>
                <a:lnTo>
                  <a:pt x="4664621" y="12700"/>
                </a:lnTo>
                <a:lnTo>
                  <a:pt x="4664621" y="0"/>
                </a:lnTo>
                <a:lnTo>
                  <a:pt x="4715421" y="0"/>
                </a:lnTo>
                <a:lnTo>
                  <a:pt x="4715421" y="12700"/>
                </a:lnTo>
                <a:close/>
              </a:path>
              <a:path w="5492750" h="511175">
                <a:moveTo>
                  <a:pt x="4804321" y="12700"/>
                </a:moveTo>
                <a:lnTo>
                  <a:pt x="4753521" y="12700"/>
                </a:lnTo>
                <a:lnTo>
                  <a:pt x="4753521" y="0"/>
                </a:lnTo>
                <a:lnTo>
                  <a:pt x="4804321" y="0"/>
                </a:lnTo>
                <a:lnTo>
                  <a:pt x="4804321" y="12700"/>
                </a:lnTo>
                <a:close/>
              </a:path>
              <a:path w="5492750" h="511175">
                <a:moveTo>
                  <a:pt x="4893221" y="12700"/>
                </a:moveTo>
                <a:lnTo>
                  <a:pt x="4842421" y="12700"/>
                </a:lnTo>
                <a:lnTo>
                  <a:pt x="4842421" y="0"/>
                </a:lnTo>
                <a:lnTo>
                  <a:pt x="4893221" y="0"/>
                </a:lnTo>
                <a:lnTo>
                  <a:pt x="4893221" y="12700"/>
                </a:lnTo>
                <a:close/>
              </a:path>
              <a:path w="5492750" h="511175">
                <a:moveTo>
                  <a:pt x="4982121" y="12700"/>
                </a:moveTo>
                <a:lnTo>
                  <a:pt x="4931321" y="12700"/>
                </a:lnTo>
                <a:lnTo>
                  <a:pt x="4931321" y="0"/>
                </a:lnTo>
                <a:lnTo>
                  <a:pt x="4982121" y="0"/>
                </a:lnTo>
                <a:lnTo>
                  <a:pt x="4982121" y="12700"/>
                </a:lnTo>
                <a:close/>
              </a:path>
              <a:path w="5492750" h="511175">
                <a:moveTo>
                  <a:pt x="5071021" y="12700"/>
                </a:moveTo>
                <a:lnTo>
                  <a:pt x="5020221" y="12700"/>
                </a:lnTo>
                <a:lnTo>
                  <a:pt x="5020221" y="0"/>
                </a:lnTo>
                <a:lnTo>
                  <a:pt x="5071021" y="0"/>
                </a:lnTo>
                <a:lnTo>
                  <a:pt x="5071021" y="12700"/>
                </a:lnTo>
                <a:close/>
              </a:path>
              <a:path w="5492750" h="511175">
                <a:moveTo>
                  <a:pt x="5159921" y="12700"/>
                </a:moveTo>
                <a:lnTo>
                  <a:pt x="5109121" y="12700"/>
                </a:lnTo>
                <a:lnTo>
                  <a:pt x="5109121" y="0"/>
                </a:lnTo>
                <a:lnTo>
                  <a:pt x="5159921" y="0"/>
                </a:lnTo>
                <a:lnTo>
                  <a:pt x="5159921" y="12700"/>
                </a:lnTo>
                <a:close/>
              </a:path>
              <a:path w="5492750" h="511175">
                <a:moveTo>
                  <a:pt x="5248821" y="12700"/>
                </a:moveTo>
                <a:lnTo>
                  <a:pt x="5198021" y="12700"/>
                </a:lnTo>
                <a:lnTo>
                  <a:pt x="5198021" y="0"/>
                </a:lnTo>
                <a:lnTo>
                  <a:pt x="5248821" y="0"/>
                </a:lnTo>
                <a:lnTo>
                  <a:pt x="5248821" y="12700"/>
                </a:lnTo>
                <a:close/>
              </a:path>
              <a:path w="5492750" h="511175">
                <a:moveTo>
                  <a:pt x="5337721" y="12700"/>
                </a:moveTo>
                <a:lnTo>
                  <a:pt x="5286921" y="12700"/>
                </a:lnTo>
                <a:lnTo>
                  <a:pt x="5286921" y="0"/>
                </a:lnTo>
                <a:lnTo>
                  <a:pt x="5337721" y="0"/>
                </a:lnTo>
                <a:lnTo>
                  <a:pt x="5337721" y="12700"/>
                </a:lnTo>
                <a:close/>
              </a:path>
              <a:path w="5492750" h="511175">
                <a:moveTo>
                  <a:pt x="5426621" y="12700"/>
                </a:moveTo>
                <a:lnTo>
                  <a:pt x="5375821" y="12700"/>
                </a:lnTo>
                <a:lnTo>
                  <a:pt x="5375821" y="0"/>
                </a:lnTo>
                <a:lnTo>
                  <a:pt x="5426621" y="0"/>
                </a:lnTo>
                <a:lnTo>
                  <a:pt x="5426621" y="12700"/>
                </a:lnTo>
                <a:close/>
              </a:path>
              <a:path w="5492750" h="511175">
                <a:moveTo>
                  <a:pt x="5479897" y="12700"/>
                </a:moveTo>
                <a:lnTo>
                  <a:pt x="5464721" y="12700"/>
                </a:lnTo>
                <a:lnTo>
                  <a:pt x="5464721" y="0"/>
                </a:lnTo>
                <a:lnTo>
                  <a:pt x="5492597" y="0"/>
                </a:lnTo>
                <a:lnTo>
                  <a:pt x="5492597" y="6350"/>
                </a:lnTo>
                <a:lnTo>
                  <a:pt x="5479897" y="6350"/>
                </a:lnTo>
                <a:lnTo>
                  <a:pt x="5479897" y="12700"/>
                </a:lnTo>
                <a:close/>
              </a:path>
              <a:path w="5492750" h="511175">
                <a:moveTo>
                  <a:pt x="5492597" y="35623"/>
                </a:moveTo>
                <a:lnTo>
                  <a:pt x="5479897" y="35623"/>
                </a:lnTo>
                <a:lnTo>
                  <a:pt x="5479897" y="6350"/>
                </a:lnTo>
                <a:lnTo>
                  <a:pt x="5486247" y="12700"/>
                </a:lnTo>
                <a:lnTo>
                  <a:pt x="5492597" y="12700"/>
                </a:lnTo>
                <a:lnTo>
                  <a:pt x="5492597" y="35623"/>
                </a:lnTo>
                <a:close/>
              </a:path>
              <a:path w="5492750" h="511175">
                <a:moveTo>
                  <a:pt x="5492597" y="12700"/>
                </a:moveTo>
                <a:lnTo>
                  <a:pt x="5486247" y="12700"/>
                </a:lnTo>
                <a:lnTo>
                  <a:pt x="5479897" y="6350"/>
                </a:lnTo>
                <a:lnTo>
                  <a:pt x="5492597" y="6350"/>
                </a:lnTo>
                <a:lnTo>
                  <a:pt x="5492597" y="12700"/>
                </a:lnTo>
                <a:close/>
              </a:path>
              <a:path w="5492750" h="511175">
                <a:moveTo>
                  <a:pt x="5492597" y="124523"/>
                </a:moveTo>
                <a:lnTo>
                  <a:pt x="5479897" y="124523"/>
                </a:lnTo>
                <a:lnTo>
                  <a:pt x="5479897" y="73723"/>
                </a:lnTo>
                <a:lnTo>
                  <a:pt x="5492597" y="73723"/>
                </a:lnTo>
                <a:lnTo>
                  <a:pt x="5492597" y="124523"/>
                </a:lnTo>
                <a:close/>
              </a:path>
              <a:path w="5492750" h="511175">
                <a:moveTo>
                  <a:pt x="5492597" y="213423"/>
                </a:moveTo>
                <a:lnTo>
                  <a:pt x="5479897" y="213423"/>
                </a:lnTo>
                <a:lnTo>
                  <a:pt x="5479897" y="162623"/>
                </a:lnTo>
                <a:lnTo>
                  <a:pt x="5492597" y="162623"/>
                </a:lnTo>
                <a:lnTo>
                  <a:pt x="5492597" y="213423"/>
                </a:lnTo>
                <a:close/>
              </a:path>
              <a:path w="5492750" h="511175">
                <a:moveTo>
                  <a:pt x="5492597" y="302323"/>
                </a:moveTo>
                <a:lnTo>
                  <a:pt x="5479897" y="302323"/>
                </a:lnTo>
                <a:lnTo>
                  <a:pt x="5479897" y="251523"/>
                </a:lnTo>
                <a:lnTo>
                  <a:pt x="5492597" y="251523"/>
                </a:lnTo>
                <a:lnTo>
                  <a:pt x="5492597" y="302323"/>
                </a:lnTo>
                <a:close/>
              </a:path>
              <a:path w="5492750" h="511175">
                <a:moveTo>
                  <a:pt x="5492597" y="391223"/>
                </a:moveTo>
                <a:lnTo>
                  <a:pt x="5479897" y="391223"/>
                </a:lnTo>
                <a:lnTo>
                  <a:pt x="5479897" y="340423"/>
                </a:lnTo>
                <a:lnTo>
                  <a:pt x="5492597" y="340423"/>
                </a:lnTo>
                <a:lnTo>
                  <a:pt x="5492597" y="391223"/>
                </a:lnTo>
                <a:close/>
              </a:path>
              <a:path w="5492750" h="511175">
                <a:moveTo>
                  <a:pt x="5492597" y="480123"/>
                </a:moveTo>
                <a:lnTo>
                  <a:pt x="5479897" y="480123"/>
                </a:lnTo>
                <a:lnTo>
                  <a:pt x="5479897" y="429323"/>
                </a:lnTo>
                <a:lnTo>
                  <a:pt x="5492597" y="429323"/>
                </a:lnTo>
                <a:lnTo>
                  <a:pt x="5492597" y="480123"/>
                </a:lnTo>
                <a:close/>
              </a:path>
              <a:path w="5492750" h="511175">
                <a:moveTo>
                  <a:pt x="5472303" y="510628"/>
                </a:moveTo>
                <a:lnTo>
                  <a:pt x="5421503" y="510628"/>
                </a:lnTo>
                <a:lnTo>
                  <a:pt x="5421503" y="497928"/>
                </a:lnTo>
                <a:lnTo>
                  <a:pt x="5472303" y="497928"/>
                </a:lnTo>
                <a:lnTo>
                  <a:pt x="5472303" y="510628"/>
                </a:lnTo>
                <a:close/>
              </a:path>
              <a:path w="5492750" h="511175">
                <a:moveTo>
                  <a:pt x="5383403" y="510628"/>
                </a:moveTo>
                <a:lnTo>
                  <a:pt x="5332603" y="510628"/>
                </a:lnTo>
                <a:lnTo>
                  <a:pt x="5332603" y="497928"/>
                </a:lnTo>
                <a:lnTo>
                  <a:pt x="5383403" y="497928"/>
                </a:lnTo>
                <a:lnTo>
                  <a:pt x="5383403" y="510628"/>
                </a:lnTo>
                <a:close/>
              </a:path>
              <a:path w="5492750" h="511175">
                <a:moveTo>
                  <a:pt x="5294503" y="510628"/>
                </a:moveTo>
                <a:lnTo>
                  <a:pt x="5243703" y="510628"/>
                </a:lnTo>
                <a:lnTo>
                  <a:pt x="5243703" y="497928"/>
                </a:lnTo>
                <a:lnTo>
                  <a:pt x="5294503" y="497928"/>
                </a:lnTo>
                <a:lnTo>
                  <a:pt x="5294503" y="510628"/>
                </a:lnTo>
                <a:close/>
              </a:path>
              <a:path w="5492750" h="511175">
                <a:moveTo>
                  <a:pt x="5205603" y="510628"/>
                </a:moveTo>
                <a:lnTo>
                  <a:pt x="5154803" y="510628"/>
                </a:lnTo>
                <a:lnTo>
                  <a:pt x="5154803" y="497928"/>
                </a:lnTo>
                <a:lnTo>
                  <a:pt x="5205603" y="497928"/>
                </a:lnTo>
                <a:lnTo>
                  <a:pt x="5205603" y="510628"/>
                </a:lnTo>
                <a:close/>
              </a:path>
              <a:path w="5492750" h="511175">
                <a:moveTo>
                  <a:pt x="5116703" y="510628"/>
                </a:moveTo>
                <a:lnTo>
                  <a:pt x="5065903" y="510628"/>
                </a:lnTo>
                <a:lnTo>
                  <a:pt x="5065903" y="497928"/>
                </a:lnTo>
                <a:lnTo>
                  <a:pt x="5116703" y="497928"/>
                </a:lnTo>
                <a:lnTo>
                  <a:pt x="5116703" y="510628"/>
                </a:lnTo>
                <a:close/>
              </a:path>
              <a:path w="5492750" h="511175">
                <a:moveTo>
                  <a:pt x="5027803" y="510628"/>
                </a:moveTo>
                <a:lnTo>
                  <a:pt x="4977003" y="510628"/>
                </a:lnTo>
                <a:lnTo>
                  <a:pt x="4977003" y="497928"/>
                </a:lnTo>
                <a:lnTo>
                  <a:pt x="5027803" y="497928"/>
                </a:lnTo>
                <a:lnTo>
                  <a:pt x="5027803" y="510628"/>
                </a:lnTo>
                <a:close/>
              </a:path>
              <a:path w="5492750" h="511175">
                <a:moveTo>
                  <a:pt x="4938903" y="510628"/>
                </a:moveTo>
                <a:lnTo>
                  <a:pt x="4888103" y="510628"/>
                </a:lnTo>
                <a:lnTo>
                  <a:pt x="4888103" y="497928"/>
                </a:lnTo>
                <a:lnTo>
                  <a:pt x="4938903" y="497928"/>
                </a:lnTo>
                <a:lnTo>
                  <a:pt x="4938903" y="510628"/>
                </a:lnTo>
                <a:close/>
              </a:path>
              <a:path w="5492750" h="511175">
                <a:moveTo>
                  <a:pt x="4850003" y="510628"/>
                </a:moveTo>
                <a:lnTo>
                  <a:pt x="4799203" y="510628"/>
                </a:lnTo>
                <a:lnTo>
                  <a:pt x="4799203" y="497928"/>
                </a:lnTo>
                <a:lnTo>
                  <a:pt x="4850003" y="497928"/>
                </a:lnTo>
                <a:lnTo>
                  <a:pt x="4850003" y="510628"/>
                </a:lnTo>
                <a:close/>
              </a:path>
              <a:path w="5492750" h="511175">
                <a:moveTo>
                  <a:pt x="4761103" y="510628"/>
                </a:moveTo>
                <a:lnTo>
                  <a:pt x="4710303" y="510628"/>
                </a:lnTo>
                <a:lnTo>
                  <a:pt x="4710303" y="497928"/>
                </a:lnTo>
                <a:lnTo>
                  <a:pt x="4761103" y="497928"/>
                </a:lnTo>
                <a:lnTo>
                  <a:pt x="4761103" y="510628"/>
                </a:lnTo>
                <a:close/>
              </a:path>
              <a:path w="5492750" h="511175">
                <a:moveTo>
                  <a:pt x="4672203" y="510628"/>
                </a:moveTo>
                <a:lnTo>
                  <a:pt x="4621403" y="510628"/>
                </a:lnTo>
                <a:lnTo>
                  <a:pt x="4621403" y="497928"/>
                </a:lnTo>
                <a:lnTo>
                  <a:pt x="4672203" y="497928"/>
                </a:lnTo>
                <a:lnTo>
                  <a:pt x="4672203" y="510628"/>
                </a:lnTo>
                <a:close/>
              </a:path>
              <a:path w="5492750" h="511175">
                <a:moveTo>
                  <a:pt x="4583303" y="510628"/>
                </a:moveTo>
                <a:lnTo>
                  <a:pt x="4532503" y="510628"/>
                </a:lnTo>
                <a:lnTo>
                  <a:pt x="4532503" y="497928"/>
                </a:lnTo>
                <a:lnTo>
                  <a:pt x="4583303" y="497928"/>
                </a:lnTo>
                <a:lnTo>
                  <a:pt x="4583303" y="510628"/>
                </a:lnTo>
                <a:close/>
              </a:path>
              <a:path w="5492750" h="511175">
                <a:moveTo>
                  <a:pt x="4494403" y="510628"/>
                </a:moveTo>
                <a:lnTo>
                  <a:pt x="4443603" y="510628"/>
                </a:lnTo>
                <a:lnTo>
                  <a:pt x="4443603" y="497928"/>
                </a:lnTo>
                <a:lnTo>
                  <a:pt x="4494403" y="497928"/>
                </a:lnTo>
                <a:lnTo>
                  <a:pt x="4494403" y="510628"/>
                </a:lnTo>
                <a:close/>
              </a:path>
              <a:path w="5492750" h="511175">
                <a:moveTo>
                  <a:pt x="4405503" y="510628"/>
                </a:moveTo>
                <a:lnTo>
                  <a:pt x="4354703" y="510628"/>
                </a:lnTo>
                <a:lnTo>
                  <a:pt x="4354703" y="497928"/>
                </a:lnTo>
                <a:lnTo>
                  <a:pt x="4405503" y="497928"/>
                </a:lnTo>
                <a:lnTo>
                  <a:pt x="4405503" y="510628"/>
                </a:lnTo>
                <a:close/>
              </a:path>
              <a:path w="5492750" h="511175">
                <a:moveTo>
                  <a:pt x="4316603" y="510628"/>
                </a:moveTo>
                <a:lnTo>
                  <a:pt x="4265803" y="510628"/>
                </a:lnTo>
                <a:lnTo>
                  <a:pt x="4265803" y="497928"/>
                </a:lnTo>
                <a:lnTo>
                  <a:pt x="4316603" y="497928"/>
                </a:lnTo>
                <a:lnTo>
                  <a:pt x="4316603" y="510628"/>
                </a:lnTo>
                <a:close/>
              </a:path>
              <a:path w="5492750" h="511175">
                <a:moveTo>
                  <a:pt x="4227703" y="510628"/>
                </a:moveTo>
                <a:lnTo>
                  <a:pt x="4176903" y="510628"/>
                </a:lnTo>
                <a:lnTo>
                  <a:pt x="4176903" y="497928"/>
                </a:lnTo>
                <a:lnTo>
                  <a:pt x="4227703" y="497928"/>
                </a:lnTo>
                <a:lnTo>
                  <a:pt x="4227703" y="510628"/>
                </a:lnTo>
                <a:close/>
              </a:path>
              <a:path w="5492750" h="511175">
                <a:moveTo>
                  <a:pt x="4138803" y="510628"/>
                </a:moveTo>
                <a:lnTo>
                  <a:pt x="4088003" y="510628"/>
                </a:lnTo>
                <a:lnTo>
                  <a:pt x="4088003" y="497928"/>
                </a:lnTo>
                <a:lnTo>
                  <a:pt x="4138803" y="497928"/>
                </a:lnTo>
                <a:lnTo>
                  <a:pt x="4138803" y="510628"/>
                </a:lnTo>
                <a:close/>
              </a:path>
              <a:path w="5492750" h="511175">
                <a:moveTo>
                  <a:pt x="4049903" y="510628"/>
                </a:moveTo>
                <a:lnTo>
                  <a:pt x="3999103" y="510628"/>
                </a:lnTo>
                <a:lnTo>
                  <a:pt x="3999103" y="497928"/>
                </a:lnTo>
                <a:lnTo>
                  <a:pt x="4049903" y="497928"/>
                </a:lnTo>
                <a:lnTo>
                  <a:pt x="4049903" y="510628"/>
                </a:lnTo>
                <a:close/>
              </a:path>
              <a:path w="5492750" h="511175">
                <a:moveTo>
                  <a:pt x="3961003" y="510628"/>
                </a:moveTo>
                <a:lnTo>
                  <a:pt x="3910203" y="510628"/>
                </a:lnTo>
                <a:lnTo>
                  <a:pt x="3910203" y="497928"/>
                </a:lnTo>
                <a:lnTo>
                  <a:pt x="3961003" y="497928"/>
                </a:lnTo>
                <a:lnTo>
                  <a:pt x="3961003" y="510628"/>
                </a:lnTo>
                <a:close/>
              </a:path>
              <a:path w="5492750" h="511175">
                <a:moveTo>
                  <a:pt x="3872103" y="510628"/>
                </a:moveTo>
                <a:lnTo>
                  <a:pt x="3821303" y="510628"/>
                </a:lnTo>
                <a:lnTo>
                  <a:pt x="3821303" y="497928"/>
                </a:lnTo>
                <a:lnTo>
                  <a:pt x="3872103" y="497928"/>
                </a:lnTo>
                <a:lnTo>
                  <a:pt x="3872103" y="510628"/>
                </a:lnTo>
                <a:close/>
              </a:path>
              <a:path w="5492750" h="511175">
                <a:moveTo>
                  <a:pt x="3783203" y="510628"/>
                </a:moveTo>
                <a:lnTo>
                  <a:pt x="3732403" y="510628"/>
                </a:lnTo>
                <a:lnTo>
                  <a:pt x="3732403" y="497928"/>
                </a:lnTo>
                <a:lnTo>
                  <a:pt x="3783203" y="497928"/>
                </a:lnTo>
                <a:lnTo>
                  <a:pt x="3783203" y="510628"/>
                </a:lnTo>
                <a:close/>
              </a:path>
              <a:path w="5492750" h="511175">
                <a:moveTo>
                  <a:pt x="3694303" y="510628"/>
                </a:moveTo>
                <a:lnTo>
                  <a:pt x="3643503" y="510628"/>
                </a:lnTo>
                <a:lnTo>
                  <a:pt x="3643503" y="497928"/>
                </a:lnTo>
                <a:lnTo>
                  <a:pt x="3694303" y="497928"/>
                </a:lnTo>
                <a:lnTo>
                  <a:pt x="3694303" y="510628"/>
                </a:lnTo>
                <a:close/>
              </a:path>
              <a:path w="5492750" h="511175">
                <a:moveTo>
                  <a:pt x="3605403" y="510628"/>
                </a:moveTo>
                <a:lnTo>
                  <a:pt x="3554603" y="510628"/>
                </a:lnTo>
                <a:lnTo>
                  <a:pt x="3554603" y="497928"/>
                </a:lnTo>
                <a:lnTo>
                  <a:pt x="3605403" y="497928"/>
                </a:lnTo>
                <a:lnTo>
                  <a:pt x="3605403" y="510628"/>
                </a:lnTo>
                <a:close/>
              </a:path>
              <a:path w="5492750" h="511175">
                <a:moveTo>
                  <a:pt x="3516503" y="510628"/>
                </a:moveTo>
                <a:lnTo>
                  <a:pt x="3465703" y="510628"/>
                </a:lnTo>
                <a:lnTo>
                  <a:pt x="3465703" y="497928"/>
                </a:lnTo>
                <a:lnTo>
                  <a:pt x="3516503" y="497928"/>
                </a:lnTo>
                <a:lnTo>
                  <a:pt x="3516503" y="510628"/>
                </a:lnTo>
                <a:close/>
              </a:path>
              <a:path w="5492750" h="511175">
                <a:moveTo>
                  <a:pt x="3427603" y="510628"/>
                </a:moveTo>
                <a:lnTo>
                  <a:pt x="3376803" y="510628"/>
                </a:lnTo>
                <a:lnTo>
                  <a:pt x="3376803" y="497928"/>
                </a:lnTo>
                <a:lnTo>
                  <a:pt x="3427603" y="497928"/>
                </a:lnTo>
                <a:lnTo>
                  <a:pt x="3427603" y="510628"/>
                </a:lnTo>
                <a:close/>
              </a:path>
              <a:path w="5492750" h="511175">
                <a:moveTo>
                  <a:pt x="3338703" y="510628"/>
                </a:moveTo>
                <a:lnTo>
                  <a:pt x="3287903" y="510628"/>
                </a:lnTo>
                <a:lnTo>
                  <a:pt x="3287903" y="497928"/>
                </a:lnTo>
                <a:lnTo>
                  <a:pt x="3338703" y="497928"/>
                </a:lnTo>
                <a:lnTo>
                  <a:pt x="3338703" y="510628"/>
                </a:lnTo>
                <a:close/>
              </a:path>
              <a:path w="5492750" h="511175">
                <a:moveTo>
                  <a:pt x="3249803" y="510628"/>
                </a:moveTo>
                <a:lnTo>
                  <a:pt x="3199003" y="510628"/>
                </a:lnTo>
                <a:lnTo>
                  <a:pt x="3199003" y="497928"/>
                </a:lnTo>
                <a:lnTo>
                  <a:pt x="3249803" y="497928"/>
                </a:lnTo>
                <a:lnTo>
                  <a:pt x="3249803" y="510628"/>
                </a:lnTo>
                <a:close/>
              </a:path>
              <a:path w="5492750" h="511175">
                <a:moveTo>
                  <a:pt x="3160903" y="510628"/>
                </a:moveTo>
                <a:lnTo>
                  <a:pt x="3110103" y="510628"/>
                </a:lnTo>
                <a:lnTo>
                  <a:pt x="3110103" y="497928"/>
                </a:lnTo>
                <a:lnTo>
                  <a:pt x="3160903" y="497928"/>
                </a:lnTo>
                <a:lnTo>
                  <a:pt x="3160903" y="510628"/>
                </a:lnTo>
                <a:close/>
              </a:path>
              <a:path w="5492750" h="511175">
                <a:moveTo>
                  <a:pt x="3072003" y="510628"/>
                </a:moveTo>
                <a:lnTo>
                  <a:pt x="3021203" y="510628"/>
                </a:lnTo>
                <a:lnTo>
                  <a:pt x="3021203" y="497928"/>
                </a:lnTo>
                <a:lnTo>
                  <a:pt x="3072003" y="497928"/>
                </a:lnTo>
                <a:lnTo>
                  <a:pt x="3072003" y="510628"/>
                </a:lnTo>
                <a:close/>
              </a:path>
              <a:path w="5492750" h="511175">
                <a:moveTo>
                  <a:pt x="2983103" y="510628"/>
                </a:moveTo>
                <a:lnTo>
                  <a:pt x="2932303" y="510628"/>
                </a:lnTo>
                <a:lnTo>
                  <a:pt x="2932303" y="497928"/>
                </a:lnTo>
                <a:lnTo>
                  <a:pt x="2983103" y="497928"/>
                </a:lnTo>
                <a:lnTo>
                  <a:pt x="2983103" y="510628"/>
                </a:lnTo>
                <a:close/>
              </a:path>
              <a:path w="5492750" h="511175">
                <a:moveTo>
                  <a:pt x="2894203" y="510628"/>
                </a:moveTo>
                <a:lnTo>
                  <a:pt x="2843403" y="510628"/>
                </a:lnTo>
                <a:lnTo>
                  <a:pt x="2843403" y="497928"/>
                </a:lnTo>
                <a:lnTo>
                  <a:pt x="2894203" y="497928"/>
                </a:lnTo>
                <a:lnTo>
                  <a:pt x="2894203" y="510628"/>
                </a:lnTo>
                <a:close/>
              </a:path>
              <a:path w="5492750" h="511175">
                <a:moveTo>
                  <a:pt x="2805303" y="510628"/>
                </a:moveTo>
                <a:lnTo>
                  <a:pt x="2754503" y="510628"/>
                </a:lnTo>
                <a:lnTo>
                  <a:pt x="2754503" y="497928"/>
                </a:lnTo>
                <a:lnTo>
                  <a:pt x="2805303" y="497928"/>
                </a:lnTo>
                <a:lnTo>
                  <a:pt x="2805303" y="510628"/>
                </a:lnTo>
                <a:close/>
              </a:path>
              <a:path w="5492750" h="511175">
                <a:moveTo>
                  <a:pt x="2716403" y="510628"/>
                </a:moveTo>
                <a:lnTo>
                  <a:pt x="2665603" y="510628"/>
                </a:lnTo>
                <a:lnTo>
                  <a:pt x="2665603" y="497928"/>
                </a:lnTo>
                <a:lnTo>
                  <a:pt x="2716403" y="497928"/>
                </a:lnTo>
                <a:lnTo>
                  <a:pt x="2716403" y="510628"/>
                </a:lnTo>
                <a:close/>
              </a:path>
              <a:path w="5492750" h="511175">
                <a:moveTo>
                  <a:pt x="2627503" y="510628"/>
                </a:moveTo>
                <a:lnTo>
                  <a:pt x="2576703" y="510628"/>
                </a:lnTo>
                <a:lnTo>
                  <a:pt x="2576703" y="497928"/>
                </a:lnTo>
                <a:lnTo>
                  <a:pt x="2627503" y="497928"/>
                </a:lnTo>
                <a:lnTo>
                  <a:pt x="2627503" y="510628"/>
                </a:lnTo>
                <a:close/>
              </a:path>
              <a:path w="5492750" h="511175">
                <a:moveTo>
                  <a:pt x="2538603" y="510628"/>
                </a:moveTo>
                <a:lnTo>
                  <a:pt x="2487803" y="510628"/>
                </a:lnTo>
                <a:lnTo>
                  <a:pt x="2487803" y="497928"/>
                </a:lnTo>
                <a:lnTo>
                  <a:pt x="2538603" y="497928"/>
                </a:lnTo>
                <a:lnTo>
                  <a:pt x="2538603" y="510628"/>
                </a:lnTo>
                <a:close/>
              </a:path>
              <a:path w="5492750" h="511175">
                <a:moveTo>
                  <a:pt x="2449703" y="510628"/>
                </a:moveTo>
                <a:lnTo>
                  <a:pt x="2398903" y="510628"/>
                </a:lnTo>
                <a:lnTo>
                  <a:pt x="2398903" y="497928"/>
                </a:lnTo>
                <a:lnTo>
                  <a:pt x="2449703" y="497928"/>
                </a:lnTo>
                <a:lnTo>
                  <a:pt x="2449703" y="510628"/>
                </a:lnTo>
                <a:close/>
              </a:path>
              <a:path w="5492750" h="511175">
                <a:moveTo>
                  <a:pt x="2360803" y="510628"/>
                </a:moveTo>
                <a:lnTo>
                  <a:pt x="2310003" y="510628"/>
                </a:lnTo>
                <a:lnTo>
                  <a:pt x="2310003" y="497928"/>
                </a:lnTo>
                <a:lnTo>
                  <a:pt x="2360803" y="497928"/>
                </a:lnTo>
                <a:lnTo>
                  <a:pt x="2360803" y="510628"/>
                </a:lnTo>
                <a:close/>
              </a:path>
              <a:path w="5492750" h="511175">
                <a:moveTo>
                  <a:pt x="2271903" y="510628"/>
                </a:moveTo>
                <a:lnTo>
                  <a:pt x="2221103" y="510628"/>
                </a:lnTo>
                <a:lnTo>
                  <a:pt x="2221103" y="497928"/>
                </a:lnTo>
                <a:lnTo>
                  <a:pt x="2271903" y="497928"/>
                </a:lnTo>
                <a:lnTo>
                  <a:pt x="2271903" y="510628"/>
                </a:lnTo>
                <a:close/>
              </a:path>
              <a:path w="5492750" h="511175">
                <a:moveTo>
                  <a:pt x="2183003" y="510628"/>
                </a:moveTo>
                <a:lnTo>
                  <a:pt x="2132203" y="510628"/>
                </a:lnTo>
                <a:lnTo>
                  <a:pt x="2132203" y="497928"/>
                </a:lnTo>
                <a:lnTo>
                  <a:pt x="2183003" y="497928"/>
                </a:lnTo>
                <a:lnTo>
                  <a:pt x="2183003" y="510628"/>
                </a:lnTo>
                <a:close/>
              </a:path>
              <a:path w="5492750" h="511175">
                <a:moveTo>
                  <a:pt x="2094102" y="510628"/>
                </a:moveTo>
                <a:lnTo>
                  <a:pt x="2043302" y="510628"/>
                </a:lnTo>
                <a:lnTo>
                  <a:pt x="2043302" y="497928"/>
                </a:lnTo>
                <a:lnTo>
                  <a:pt x="2094102" y="497928"/>
                </a:lnTo>
                <a:lnTo>
                  <a:pt x="2094102" y="510628"/>
                </a:lnTo>
                <a:close/>
              </a:path>
              <a:path w="5492750" h="511175">
                <a:moveTo>
                  <a:pt x="2005202" y="510628"/>
                </a:moveTo>
                <a:lnTo>
                  <a:pt x="1954402" y="510628"/>
                </a:lnTo>
                <a:lnTo>
                  <a:pt x="1954402" y="497928"/>
                </a:lnTo>
                <a:lnTo>
                  <a:pt x="2005202" y="497928"/>
                </a:lnTo>
                <a:lnTo>
                  <a:pt x="2005202" y="510628"/>
                </a:lnTo>
                <a:close/>
              </a:path>
              <a:path w="5492750" h="511175">
                <a:moveTo>
                  <a:pt x="1916302" y="510628"/>
                </a:moveTo>
                <a:lnTo>
                  <a:pt x="1865502" y="510628"/>
                </a:lnTo>
                <a:lnTo>
                  <a:pt x="1865502" y="497928"/>
                </a:lnTo>
                <a:lnTo>
                  <a:pt x="1916302" y="497928"/>
                </a:lnTo>
                <a:lnTo>
                  <a:pt x="1916302" y="510628"/>
                </a:lnTo>
                <a:close/>
              </a:path>
              <a:path w="5492750" h="511175">
                <a:moveTo>
                  <a:pt x="1827402" y="510628"/>
                </a:moveTo>
                <a:lnTo>
                  <a:pt x="1776602" y="510628"/>
                </a:lnTo>
                <a:lnTo>
                  <a:pt x="1776602" y="497928"/>
                </a:lnTo>
                <a:lnTo>
                  <a:pt x="1827402" y="497928"/>
                </a:lnTo>
                <a:lnTo>
                  <a:pt x="1827402" y="510628"/>
                </a:lnTo>
                <a:close/>
              </a:path>
              <a:path w="5492750" h="511175">
                <a:moveTo>
                  <a:pt x="1738502" y="510628"/>
                </a:moveTo>
                <a:lnTo>
                  <a:pt x="1687702" y="510628"/>
                </a:lnTo>
                <a:lnTo>
                  <a:pt x="1687702" y="497928"/>
                </a:lnTo>
                <a:lnTo>
                  <a:pt x="1738502" y="497928"/>
                </a:lnTo>
                <a:lnTo>
                  <a:pt x="1738502" y="510628"/>
                </a:lnTo>
                <a:close/>
              </a:path>
              <a:path w="5492750" h="511175">
                <a:moveTo>
                  <a:pt x="1649602" y="510628"/>
                </a:moveTo>
                <a:lnTo>
                  <a:pt x="1598803" y="510628"/>
                </a:lnTo>
                <a:lnTo>
                  <a:pt x="1598803" y="497928"/>
                </a:lnTo>
                <a:lnTo>
                  <a:pt x="1649602" y="497928"/>
                </a:lnTo>
                <a:lnTo>
                  <a:pt x="1649602" y="510628"/>
                </a:lnTo>
                <a:close/>
              </a:path>
              <a:path w="5492750" h="511175">
                <a:moveTo>
                  <a:pt x="1560703" y="510628"/>
                </a:moveTo>
                <a:lnTo>
                  <a:pt x="1509903" y="510628"/>
                </a:lnTo>
                <a:lnTo>
                  <a:pt x="1509903" y="497928"/>
                </a:lnTo>
                <a:lnTo>
                  <a:pt x="1560703" y="497928"/>
                </a:lnTo>
                <a:lnTo>
                  <a:pt x="1560703" y="510628"/>
                </a:lnTo>
                <a:close/>
              </a:path>
              <a:path w="5492750" h="511175">
                <a:moveTo>
                  <a:pt x="1471803" y="510628"/>
                </a:moveTo>
                <a:lnTo>
                  <a:pt x="1421003" y="510628"/>
                </a:lnTo>
                <a:lnTo>
                  <a:pt x="1421003" y="497928"/>
                </a:lnTo>
                <a:lnTo>
                  <a:pt x="1471803" y="497928"/>
                </a:lnTo>
                <a:lnTo>
                  <a:pt x="1471803" y="510628"/>
                </a:lnTo>
                <a:close/>
              </a:path>
              <a:path w="5492750" h="511175">
                <a:moveTo>
                  <a:pt x="1382903" y="510628"/>
                </a:moveTo>
                <a:lnTo>
                  <a:pt x="1332103" y="510628"/>
                </a:lnTo>
                <a:lnTo>
                  <a:pt x="1332103" y="497928"/>
                </a:lnTo>
                <a:lnTo>
                  <a:pt x="1382903" y="497928"/>
                </a:lnTo>
                <a:lnTo>
                  <a:pt x="1382903" y="510628"/>
                </a:lnTo>
                <a:close/>
              </a:path>
              <a:path w="5492750" h="511175">
                <a:moveTo>
                  <a:pt x="1294003" y="510628"/>
                </a:moveTo>
                <a:lnTo>
                  <a:pt x="1243203" y="510628"/>
                </a:lnTo>
                <a:lnTo>
                  <a:pt x="1243203" y="497928"/>
                </a:lnTo>
                <a:lnTo>
                  <a:pt x="1294003" y="497928"/>
                </a:lnTo>
                <a:lnTo>
                  <a:pt x="1294003" y="510628"/>
                </a:lnTo>
                <a:close/>
              </a:path>
              <a:path w="5492750" h="511175">
                <a:moveTo>
                  <a:pt x="1205103" y="510628"/>
                </a:moveTo>
                <a:lnTo>
                  <a:pt x="1154303" y="510628"/>
                </a:lnTo>
                <a:lnTo>
                  <a:pt x="1154303" y="497928"/>
                </a:lnTo>
                <a:lnTo>
                  <a:pt x="1205103" y="497928"/>
                </a:lnTo>
                <a:lnTo>
                  <a:pt x="1205103" y="510628"/>
                </a:lnTo>
                <a:close/>
              </a:path>
              <a:path w="5492750" h="511175">
                <a:moveTo>
                  <a:pt x="1116203" y="510628"/>
                </a:moveTo>
                <a:lnTo>
                  <a:pt x="1065403" y="510628"/>
                </a:lnTo>
                <a:lnTo>
                  <a:pt x="1065403" y="497928"/>
                </a:lnTo>
                <a:lnTo>
                  <a:pt x="1116203" y="497928"/>
                </a:lnTo>
                <a:lnTo>
                  <a:pt x="1116203" y="510628"/>
                </a:lnTo>
                <a:close/>
              </a:path>
              <a:path w="5492750" h="511175">
                <a:moveTo>
                  <a:pt x="1027303" y="510628"/>
                </a:moveTo>
                <a:lnTo>
                  <a:pt x="976503" y="510628"/>
                </a:lnTo>
                <a:lnTo>
                  <a:pt x="976503" y="497928"/>
                </a:lnTo>
                <a:lnTo>
                  <a:pt x="1027303" y="497928"/>
                </a:lnTo>
                <a:lnTo>
                  <a:pt x="1027303" y="510628"/>
                </a:lnTo>
                <a:close/>
              </a:path>
              <a:path w="5492750" h="511175">
                <a:moveTo>
                  <a:pt x="938403" y="510628"/>
                </a:moveTo>
                <a:lnTo>
                  <a:pt x="887603" y="510628"/>
                </a:lnTo>
                <a:lnTo>
                  <a:pt x="887603" y="497928"/>
                </a:lnTo>
                <a:lnTo>
                  <a:pt x="938403" y="497928"/>
                </a:lnTo>
                <a:lnTo>
                  <a:pt x="938403" y="510628"/>
                </a:lnTo>
                <a:close/>
              </a:path>
              <a:path w="5492750" h="511175">
                <a:moveTo>
                  <a:pt x="849503" y="510628"/>
                </a:moveTo>
                <a:lnTo>
                  <a:pt x="798703" y="510628"/>
                </a:lnTo>
                <a:lnTo>
                  <a:pt x="798703" y="497928"/>
                </a:lnTo>
                <a:lnTo>
                  <a:pt x="849503" y="497928"/>
                </a:lnTo>
                <a:lnTo>
                  <a:pt x="849503" y="510628"/>
                </a:lnTo>
                <a:close/>
              </a:path>
              <a:path w="5492750" h="511175">
                <a:moveTo>
                  <a:pt x="760603" y="510628"/>
                </a:moveTo>
                <a:lnTo>
                  <a:pt x="709803" y="510628"/>
                </a:lnTo>
                <a:lnTo>
                  <a:pt x="709803" y="497928"/>
                </a:lnTo>
                <a:lnTo>
                  <a:pt x="760603" y="497928"/>
                </a:lnTo>
                <a:lnTo>
                  <a:pt x="760603" y="510628"/>
                </a:lnTo>
                <a:close/>
              </a:path>
              <a:path w="5492750" h="511175">
                <a:moveTo>
                  <a:pt x="671703" y="510628"/>
                </a:moveTo>
                <a:lnTo>
                  <a:pt x="620903" y="510628"/>
                </a:lnTo>
                <a:lnTo>
                  <a:pt x="620903" y="497928"/>
                </a:lnTo>
                <a:lnTo>
                  <a:pt x="671703" y="497928"/>
                </a:lnTo>
                <a:lnTo>
                  <a:pt x="671703" y="510628"/>
                </a:lnTo>
                <a:close/>
              </a:path>
              <a:path w="5492750" h="511175">
                <a:moveTo>
                  <a:pt x="582803" y="510628"/>
                </a:moveTo>
                <a:lnTo>
                  <a:pt x="532003" y="510628"/>
                </a:lnTo>
                <a:lnTo>
                  <a:pt x="532003" y="497928"/>
                </a:lnTo>
                <a:lnTo>
                  <a:pt x="582803" y="497928"/>
                </a:lnTo>
                <a:lnTo>
                  <a:pt x="582803" y="510628"/>
                </a:lnTo>
                <a:close/>
              </a:path>
              <a:path w="5492750" h="511175">
                <a:moveTo>
                  <a:pt x="493903" y="510628"/>
                </a:moveTo>
                <a:lnTo>
                  <a:pt x="443103" y="510628"/>
                </a:lnTo>
                <a:lnTo>
                  <a:pt x="443103" y="497928"/>
                </a:lnTo>
                <a:lnTo>
                  <a:pt x="493903" y="497928"/>
                </a:lnTo>
                <a:lnTo>
                  <a:pt x="493903" y="510628"/>
                </a:lnTo>
                <a:close/>
              </a:path>
              <a:path w="5492750" h="511175">
                <a:moveTo>
                  <a:pt x="405003" y="510628"/>
                </a:moveTo>
                <a:lnTo>
                  <a:pt x="354203" y="510628"/>
                </a:lnTo>
                <a:lnTo>
                  <a:pt x="354203" y="497928"/>
                </a:lnTo>
                <a:lnTo>
                  <a:pt x="405003" y="497928"/>
                </a:lnTo>
                <a:lnTo>
                  <a:pt x="405003" y="510628"/>
                </a:lnTo>
                <a:close/>
              </a:path>
              <a:path w="5492750" h="511175">
                <a:moveTo>
                  <a:pt x="316103" y="510628"/>
                </a:moveTo>
                <a:lnTo>
                  <a:pt x="265303" y="510628"/>
                </a:lnTo>
                <a:lnTo>
                  <a:pt x="265303" y="497928"/>
                </a:lnTo>
                <a:lnTo>
                  <a:pt x="316103" y="497928"/>
                </a:lnTo>
                <a:lnTo>
                  <a:pt x="316103" y="510628"/>
                </a:lnTo>
                <a:close/>
              </a:path>
              <a:path w="5492750" h="511175">
                <a:moveTo>
                  <a:pt x="227203" y="510628"/>
                </a:moveTo>
                <a:lnTo>
                  <a:pt x="176403" y="510628"/>
                </a:lnTo>
                <a:lnTo>
                  <a:pt x="176403" y="497928"/>
                </a:lnTo>
                <a:lnTo>
                  <a:pt x="227203" y="497928"/>
                </a:lnTo>
                <a:lnTo>
                  <a:pt x="227203" y="510628"/>
                </a:lnTo>
                <a:close/>
              </a:path>
              <a:path w="5492750" h="511175">
                <a:moveTo>
                  <a:pt x="138303" y="510628"/>
                </a:moveTo>
                <a:lnTo>
                  <a:pt x="87503" y="510628"/>
                </a:lnTo>
                <a:lnTo>
                  <a:pt x="87503" y="497928"/>
                </a:lnTo>
                <a:lnTo>
                  <a:pt x="138303" y="497928"/>
                </a:lnTo>
                <a:lnTo>
                  <a:pt x="138303" y="510628"/>
                </a:lnTo>
                <a:close/>
              </a:path>
            </a:pathLst>
          </a:custGeom>
          <a:solidFill>
            <a:srgbClr val="C00000"/>
          </a:solidFill>
        </p:spPr>
        <p:txBody>
          <a:bodyPr wrap="square" lIns="0" tIns="0" rIns="0" bIns="0" rtlCol="0"/>
          <a:lstStyle/>
          <a:p/>
        </p:txBody>
      </p:sp>
      <p:sp>
        <p:nvSpPr>
          <p:cNvPr id="86" name="object 86"/>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5478145" cy="56642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蜂鸟E</a:t>
            </a:r>
            <a:r>
              <a:rPr sz="3600" spc="-5" dirty="0">
                <a:solidFill>
                  <a:srgbClr val="C00000"/>
                </a:solidFill>
              </a:rPr>
              <a:t>203</a:t>
            </a:r>
            <a:r>
              <a:rPr sz="3600" dirty="0">
                <a:solidFill>
                  <a:srgbClr val="C00000"/>
                </a:solidFill>
              </a:rPr>
              <a:t>存储架构设计</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511175" y="1618615"/>
            <a:ext cx="205422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微软雅黑" panose="020B0503020204020204" charset="-122"/>
                <a:cs typeface="微软雅黑" panose="020B0503020204020204" charset="-122"/>
              </a:rPr>
              <a:t>蜂鸟E203的存储子系统设计：</a:t>
            </a:r>
            <a:endParaRPr sz="1200">
              <a:latin typeface="微软雅黑" panose="020B0503020204020204" charset="-122"/>
              <a:cs typeface="微软雅黑" panose="020B0503020204020204" charset="-122"/>
            </a:endParaRPr>
          </a:p>
        </p:txBody>
      </p:sp>
      <p:sp>
        <p:nvSpPr>
          <p:cNvPr id="5" name="object 5"/>
          <p:cNvSpPr txBox="1"/>
          <p:nvPr/>
        </p:nvSpPr>
        <p:spPr>
          <a:xfrm>
            <a:off x="511175" y="1801494"/>
            <a:ext cx="3704590" cy="3317240"/>
          </a:xfrm>
          <a:prstGeom prst="rect">
            <a:avLst/>
          </a:prstGeom>
        </p:spPr>
        <p:txBody>
          <a:bodyPr vert="horz" wrap="square" lIns="0" tIns="12700" rIns="0" bIns="0" rtlCol="0">
            <a:spAutoFit/>
          </a:bodyPr>
          <a:lstStyle/>
          <a:p>
            <a:pPr marL="298450" marR="127635" indent="-285750" algn="just">
              <a:lnSpc>
                <a:spcPct val="150000"/>
              </a:lnSpc>
              <a:spcBef>
                <a:spcPts val="100"/>
              </a:spcBef>
              <a:buFont typeface="Wingdings" panose="05000000000000000000"/>
              <a:buChar char=""/>
              <a:tabLst>
                <a:tab pos="298450" algn="l"/>
              </a:tabLst>
            </a:pPr>
            <a:r>
              <a:rPr sz="1200" dirty="0">
                <a:latin typeface="微软雅黑" panose="020B0503020204020204" charset="-122"/>
                <a:cs typeface="微软雅黑" panose="020B0503020204020204" charset="-122"/>
              </a:rPr>
              <a:t>采用哈佛结构</a:t>
            </a:r>
            <a:r>
              <a:rPr sz="1200" spc="-15" dirty="0">
                <a:latin typeface="微软雅黑" panose="020B0503020204020204" charset="-122"/>
                <a:cs typeface="微软雅黑" panose="020B0503020204020204" charset="-122"/>
              </a:rPr>
              <a:t>，ITCM</a:t>
            </a:r>
            <a:r>
              <a:rPr sz="1200" dirty="0">
                <a:latin typeface="微软雅黑" panose="020B0503020204020204" charset="-122"/>
                <a:cs typeface="微软雅黑" panose="020B0503020204020204" charset="-122"/>
              </a:rPr>
              <a:t>作为指令存储部件</a:t>
            </a:r>
            <a:r>
              <a:rPr sz="1200" spc="-25" dirty="0">
                <a:latin typeface="微软雅黑" panose="020B0503020204020204" charset="-122"/>
                <a:cs typeface="微软雅黑" panose="020B0503020204020204" charset="-122"/>
              </a:rPr>
              <a:t>，DTCM  </a:t>
            </a:r>
            <a:r>
              <a:rPr sz="1200" dirty="0">
                <a:latin typeface="微软雅黑" panose="020B0503020204020204" charset="-122"/>
                <a:cs typeface="微软雅黑" panose="020B0503020204020204" charset="-122"/>
              </a:rPr>
              <a:t>作为数据存储部件（如果使用I</a:t>
            </a:r>
            <a:r>
              <a:rPr sz="1200" spc="-60" dirty="0">
                <a:latin typeface="微软雅黑" panose="020B0503020204020204" charset="-122"/>
                <a:cs typeface="微软雅黑" panose="020B0503020204020204" charset="-122"/>
              </a:rPr>
              <a:t>T</a:t>
            </a:r>
            <a:r>
              <a:rPr sz="1200" dirty="0">
                <a:latin typeface="微软雅黑" panose="020B0503020204020204" charset="-122"/>
                <a:cs typeface="微软雅黑" panose="020B0503020204020204" charset="-122"/>
              </a:rPr>
              <a:t>C</a:t>
            </a:r>
            <a:r>
              <a:rPr sz="1200" spc="-5" dirty="0">
                <a:latin typeface="微软雅黑" panose="020B0503020204020204" charset="-122"/>
                <a:cs typeface="微软雅黑" panose="020B0503020204020204" charset="-122"/>
              </a:rPr>
              <a:t>M</a:t>
            </a:r>
            <a:r>
              <a:rPr sz="1200" dirty="0">
                <a:latin typeface="微软雅黑" panose="020B0503020204020204" charset="-122"/>
                <a:cs typeface="微软雅黑" panose="020B0503020204020204" charset="-122"/>
              </a:rPr>
              <a:t>存储数据的能 力实为混合结构）；</a:t>
            </a:r>
            <a:endParaRPr sz="1200">
              <a:latin typeface="微软雅黑" panose="020B0503020204020204" charset="-122"/>
              <a:cs typeface="微软雅黑" panose="020B0503020204020204" charset="-122"/>
            </a:endParaRPr>
          </a:p>
          <a:p>
            <a:pPr marL="298450" marR="198755" indent="-285750">
              <a:lnSpc>
                <a:spcPct val="150000"/>
              </a:lnSpc>
              <a:buFont typeface="Wingdings" panose="05000000000000000000"/>
              <a:buChar char=""/>
              <a:tabLst>
                <a:tab pos="297815" algn="l"/>
                <a:tab pos="298450" algn="l"/>
              </a:tabLst>
            </a:pPr>
            <a:r>
              <a:rPr sz="1200" dirty="0">
                <a:latin typeface="微软雅黑" panose="020B0503020204020204" charset="-122"/>
                <a:cs typeface="微软雅黑" panose="020B0503020204020204" charset="-122"/>
              </a:rPr>
              <a:t>因为假设面向的应用领域代码足够小，因此没有 采用带缓存</a:t>
            </a:r>
            <a:r>
              <a:rPr sz="1200" spc="-5" dirty="0">
                <a:latin typeface="微软雅黑" panose="020B0503020204020204" charset="-122"/>
                <a:cs typeface="微软雅黑" panose="020B0503020204020204" charset="-122"/>
              </a:rPr>
              <a:t>(Cache)</a:t>
            </a:r>
            <a:r>
              <a:rPr sz="1200" dirty="0">
                <a:latin typeface="微软雅黑" panose="020B0503020204020204" charset="-122"/>
                <a:cs typeface="微软雅黑" panose="020B0503020204020204" charset="-122"/>
              </a:rPr>
              <a:t>的设计；</a:t>
            </a:r>
            <a:endParaRPr sz="1200">
              <a:latin typeface="微软雅黑" panose="020B0503020204020204" charset="-122"/>
              <a:cs typeface="微软雅黑" panose="020B0503020204020204" charset="-122"/>
            </a:endParaRPr>
          </a:p>
          <a:p>
            <a:pPr marL="298450" indent="-285750">
              <a:lnSpc>
                <a:spcPct val="100000"/>
              </a:lnSpc>
              <a:spcBef>
                <a:spcPts val="720"/>
              </a:spcBef>
              <a:buFont typeface="Wingdings" panose="05000000000000000000"/>
              <a:buChar char=""/>
              <a:tabLst>
                <a:tab pos="297815" algn="l"/>
                <a:tab pos="298450" algn="l"/>
              </a:tabLst>
            </a:pPr>
            <a:r>
              <a:rPr sz="1200" spc="-5" dirty="0">
                <a:latin typeface="微软雅黑" panose="020B0503020204020204" charset="-122"/>
                <a:cs typeface="微软雅黑" panose="020B0503020204020204" charset="-122"/>
              </a:rPr>
              <a:t>LSU</a:t>
            </a:r>
            <a:r>
              <a:rPr sz="1200" dirty="0">
                <a:latin typeface="微软雅黑" panose="020B0503020204020204" charset="-122"/>
                <a:cs typeface="微软雅黑" panose="020B0503020204020204" charset="-122"/>
              </a:rPr>
              <a:t>作为存储器访问的控制模块；</a:t>
            </a:r>
            <a:endParaRPr sz="1200">
              <a:latin typeface="微软雅黑" panose="020B0503020204020204" charset="-122"/>
              <a:cs typeface="微软雅黑" panose="020B0503020204020204" charset="-122"/>
            </a:endParaRPr>
          </a:p>
          <a:p>
            <a:pPr marL="298450" marR="159385" indent="-285750">
              <a:lnSpc>
                <a:spcPct val="150000"/>
              </a:lnSpc>
              <a:buFont typeface="Wingdings" panose="05000000000000000000"/>
              <a:buChar char=""/>
              <a:tabLst>
                <a:tab pos="297815" algn="l"/>
                <a:tab pos="298450" algn="l"/>
              </a:tabLst>
            </a:pPr>
            <a:r>
              <a:rPr sz="1200" dirty="0">
                <a:latin typeface="微软雅黑" panose="020B0503020204020204" charset="-122"/>
                <a:cs typeface="微软雅黑" panose="020B0503020204020204" charset="-122"/>
              </a:rPr>
              <a:t>A</a:t>
            </a:r>
            <a:r>
              <a:rPr sz="1200" spc="-25" dirty="0">
                <a:latin typeface="微软雅黑" panose="020B0503020204020204" charset="-122"/>
                <a:cs typeface="微软雅黑" panose="020B0503020204020204" charset="-122"/>
              </a:rPr>
              <a:t>L</a:t>
            </a:r>
            <a:r>
              <a:rPr sz="1200" spc="-5" dirty="0">
                <a:latin typeface="微软雅黑" panose="020B0503020204020204" charset="-122"/>
                <a:cs typeface="微软雅黑" panose="020B0503020204020204" charset="-122"/>
              </a:rPr>
              <a:t>U</a:t>
            </a:r>
            <a:r>
              <a:rPr sz="1200" dirty="0">
                <a:latin typeface="微软雅黑" panose="020B0503020204020204" charset="-122"/>
                <a:cs typeface="微软雅黑" panose="020B0503020204020204" charset="-122"/>
              </a:rPr>
              <a:t>的子模块</a:t>
            </a:r>
            <a:r>
              <a:rPr sz="1200" spc="-20" dirty="0">
                <a:latin typeface="微软雅黑" panose="020B0503020204020204" charset="-122"/>
                <a:cs typeface="微软雅黑" panose="020B0503020204020204" charset="-122"/>
              </a:rPr>
              <a:t>A</a:t>
            </a:r>
            <a:r>
              <a:rPr sz="1200" spc="-5" dirty="0">
                <a:latin typeface="微软雅黑" panose="020B0503020204020204" charset="-122"/>
                <a:cs typeface="微软雅黑" panose="020B0503020204020204" charset="-122"/>
              </a:rPr>
              <a:t>GU</a:t>
            </a:r>
            <a:r>
              <a:rPr sz="1200" dirty="0">
                <a:latin typeface="微软雅黑" panose="020B0503020204020204" charset="-122"/>
                <a:cs typeface="微软雅黑" panose="020B0503020204020204" charset="-122"/>
              </a:rPr>
              <a:t>为读</a:t>
            </a:r>
            <a:r>
              <a:rPr sz="1200" spc="-5" dirty="0">
                <a:latin typeface="微软雅黑" panose="020B0503020204020204" charset="-122"/>
                <a:cs typeface="微软雅黑" panose="020B0503020204020204" charset="-122"/>
              </a:rPr>
              <a:t>(L</a:t>
            </a:r>
            <a:r>
              <a:rPr sz="1200" spc="-20" dirty="0">
                <a:latin typeface="微软雅黑" panose="020B0503020204020204" charset="-122"/>
                <a:cs typeface="微软雅黑" panose="020B0503020204020204" charset="-122"/>
              </a:rPr>
              <a:t>o</a:t>
            </a:r>
            <a:r>
              <a:rPr sz="1200" dirty="0">
                <a:latin typeface="微软雅黑" panose="020B0503020204020204" charset="-122"/>
                <a:cs typeface="微软雅黑" panose="020B0503020204020204" charset="-122"/>
              </a:rPr>
              <a:t>ad</a:t>
            </a:r>
            <a:r>
              <a:rPr sz="1200" spc="-5" dirty="0">
                <a:latin typeface="微软雅黑" panose="020B0503020204020204" charset="-122"/>
                <a:cs typeface="微软雅黑" panose="020B0503020204020204" charset="-122"/>
              </a:rPr>
              <a:t>)</a:t>
            </a:r>
            <a:r>
              <a:rPr sz="1200" dirty="0">
                <a:latin typeface="微软雅黑" panose="020B0503020204020204" charset="-122"/>
                <a:cs typeface="微软雅黑" panose="020B0503020204020204" charset="-122"/>
              </a:rPr>
              <a:t>和写</a:t>
            </a:r>
            <a:r>
              <a:rPr sz="1200" spc="-5" dirty="0">
                <a:latin typeface="微软雅黑" panose="020B0503020204020204" charset="-122"/>
                <a:cs typeface="微软雅黑" panose="020B0503020204020204" charset="-122"/>
              </a:rPr>
              <a:t>(</a:t>
            </a:r>
            <a:r>
              <a:rPr sz="1200" spc="-45" dirty="0">
                <a:latin typeface="微软雅黑" panose="020B0503020204020204" charset="-122"/>
                <a:cs typeface="微软雅黑" panose="020B0503020204020204" charset="-122"/>
              </a:rPr>
              <a:t>S</a:t>
            </a:r>
            <a:r>
              <a:rPr sz="1200" spc="-15" dirty="0">
                <a:latin typeface="微软雅黑" panose="020B0503020204020204" charset="-122"/>
                <a:cs typeface="微软雅黑" panose="020B0503020204020204" charset="-122"/>
              </a:rPr>
              <a:t>t</a:t>
            </a:r>
            <a:r>
              <a:rPr sz="1200" dirty="0">
                <a:latin typeface="微软雅黑" panose="020B0503020204020204" charset="-122"/>
                <a:cs typeface="微软雅黑" panose="020B0503020204020204" charset="-122"/>
              </a:rPr>
              <a:t>o</a:t>
            </a:r>
            <a:r>
              <a:rPr sz="1200" spc="-20" dirty="0">
                <a:latin typeface="微软雅黑" panose="020B0503020204020204" charset="-122"/>
                <a:cs typeface="微软雅黑" panose="020B0503020204020204" charset="-122"/>
              </a:rPr>
              <a:t>r</a:t>
            </a:r>
            <a:r>
              <a:rPr sz="1200" spc="-5" dirty="0">
                <a:latin typeface="微软雅黑" panose="020B0503020204020204" charset="-122"/>
                <a:cs typeface="微软雅黑" panose="020B0503020204020204" charset="-122"/>
              </a:rPr>
              <a:t>e)</a:t>
            </a:r>
            <a:r>
              <a:rPr sz="1200" dirty="0">
                <a:latin typeface="微软雅黑" panose="020B0503020204020204" charset="-122"/>
                <a:cs typeface="微软雅黑" panose="020B0503020204020204" charset="-122"/>
              </a:rPr>
              <a:t>指令以 及A扩展生成存储器访问地址。读写指令需要将 其第一个寄存器索引的源操作数和符号位扩展立 即数相加得到最终地址，会用到加法器，为了节 省面积复用</a:t>
            </a:r>
            <a:r>
              <a:rPr sz="1200" spc="-10" dirty="0">
                <a:latin typeface="微软雅黑" panose="020B0503020204020204" charset="-122"/>
                <a:cs typeface="微软雅黑" panose="020B0503020204020204" charset="-122"/>
              </a:rPr>
              <a:t>ALU</a:t>
            </a:r>
            <a:r>
              <a:rPr sz="1200" dirty="0">
                <a:latin typeface="微软雅黑" panose="020B0503020204020204" charset="-122"/>
                <a:cs typeface="微软雅黑" panose="020B0503020204020204" charset="-122"/>
              </a:rPr>
              <a:t>的加法器用于访存地址的计算；</a:t>
            </a:r>
            <a:endParaRPr sz="1200">
              <a:latin typeface="微软雅黑" panose="020B0503020204020204" charset="-122"/>
              <a:cs typeface="微软雅黑" panose="020B0503020204020204" charset="-122"/>
            </a:endParaRPr>
          </a:p>
          <a:p>
            <a:pPr marL="298450" indent="-285750">
              <a:lnSpc>
                <a:spcPct val="100000"/>
              </a:lnSpc>
              <a:spcBef>
                <a:spcPts val="720"/>
              </a:spcBef>
              <a:buFont typeface="Wingdings" panose="05000000000000000000"/>
              <a:buChar char=""/>
              <a:tabLst>
                <a:tab pos="297815" algn="l"/>
                <a:tab pos="298450" algn="l"/>
              </a:tabLst>
            </a:pPr>
            <a:r>
              <a:rPr sz="1200" dirty="0">
                <a:latin typeface="微软雅黑" panose="020B0503020204020204" charset="-122"/>
                <a:cs typeface="微软雅黑" panose="020B0503020204020204" charset="-122"/>
              </a:rPr>
              <a:t>可以通过BI</a:t>
            </a:r>
            <a:r>
              <a:rPr sz="1200" spc="-5" dirty="0">
                <a:latin typeface="微软雅黑" panose="020B0503020204020204" charset="-122"/>
                <a:cs typeface="微软雅黑" panose="020B0503020204020204" charset="-122"/>
              </a:rPr>
              <a:t>U</a:t>
            </a:r>
            <a:r>
              <a:rPr sz="1200" dirty="0">
                <a:latin typeface="微软雅黑" panose="020B0503020204020204" charset="-122"/>
                <a:cs typeface="微软雅黑" panose="020B0503020204020204" charset="-122"/>
              </a:rPr>
              <a:t>的系统存储接口ICB访问外部存储器。</a:t>
            </a:r>
            <a:endParaRPr sz="1200">
              <a:latin typeface="微软雅黑" panose="020B0503020204020204" charset="-122"/>
              <a:cs typeface="微软雅黑" panose="020B0503020204020204" charset="-122"/>
            </a:endParaRPr>
          </a:p>
        </p:txBody>
      </p:sp>
      <p:sp>
        <p:nvSpPr>
          <p:cNvPr id="6" name="object 6"/>
          <p:cNvSpPr/>
          <p:nvPr/>
        </p:nvSpPr>
        <p:spPr>
          <a:xfrm>
            <a:off x="6893839" y="4279811"/>
            <a:ext cx="3865245" cy="862330"/>
          </a:xfrm>
          <a:custGeom>
            <a:avLst/>
            <a:gdLst/>
            <a:ahLst/>
            <a:cxnLst/>
            <a:rect l="l" t="t" r="r" b="b"/>
            <a:pathLst>
              <a:path w="3865245" h="862329">
                <a:moveTo>
                  <a:pt x="3865245" y="862164"/>
                </a:moveTo>
                <a:lnTo>
                  <a:pt x="0" y="862164"/>
                </a:lnTo>
                <a:lnTo>
                  <a:pt x="0" y="0"/>
                </a:lnTo>
                <a:lnTo>
                  <a:pt x="3865245" y="0"/>
                </a:lnTo>
                <a:lnTo>
                  <a:pt x="3865245" y="14287"/>
                </a:lnTo>
                <a:lnTo>
                  <a:pt x="28575" y="14287"/>
                </a:lnTo>
                <a:lnTo>
                  <a:pt x="14287" y="28575"/>
                </a:lnTo>
                <a:lnTo>
                  <a:pt x="28575" y="28575"/>
                </a:lnTo>
                <a:lnTo>
                  <a:pt x="28575" y="833589"/>
                </a:lnTo>
                <a:lnTo>
                  <a:pt x="14287" y="833589"/>
                </a:lnTo>
                <a:lnTo>
                  <a:pt x="28575" y="847877"/>
                </a:lnTo>
                <a:lnTo>
                  <a:pt x="3865245" y="847877"/>
                </a:lnTo>
                <a:lnTo>
                  <a:pt x="3865245" y="862164"/>
                </a:lnTo>
                <a:close/>
              </a:path>
              <a:path w="3865245" h="862329">
                <a:moveTo>
                  <a:pt x="28575" y="28575"/>
                </a:moveTo>
                <a:lnTo>
                  <a:pt x="14287" y="28575"/>
                </a:lnTo>
                <a:lnTo>
                  <a:pt x="28575" y="14287"/>
                </a:lnTo>
                <a:lnTo>
                  <a:pt x="28575" y="28575"/>
                </a:lnTo>
                <a:close/>
              </a:path>
              <a:path w="3865245" h="862329">
                <a:moveTo>
                  <a:pt x="3836670" y="28575"/>
                </a:moveTo>
                <a:lnTo>
                  <a:pt x="28575" y="28575"/>
                </a:lnTo>
                <a:lnTo>
                  <a:pt x="28575" y="14287"/>
                </a:lnTo>
                <a:lnTo>
                  <a:pt x="3836670" y="14287"/>
                </a:lnTo>
                <a:lnTo>
                  <a:pt x="3836670" y="28575"/>
                </a:lnTo>
                <a:close/>
              </a:path>
              <a:path w="3865245" h="862329">
                <a:moveTo>
                  <a:pt x="3836670" y="847877"/>
                </a:moveTo>
                <a:lnTo>
                  <a:pt x="3836670" y="14287"/>
                </a:lnTo>
                <a:lnTo>
                  <a:pt x="3850957" y="28575"/>
                </a:lnTo>
                <a:lnTo>
                  <a:pt x="3865245" y="28575"/>
                </a:lnTo>
                <a:lnTo>
                  <a:pt x="3865245" y="833589"/>
                </a:lnTo>
                <a:lnTo>
                  <a:pt x="3850957" y="833589"/>
                </a:lnTo>
                <a:lnTo>
                  <a:pt x="3836670" y="847877"/>
                </a:lnTo>
                <a:close/>
              </a:path>
              <a:path w="3865245" h="862329">
                <a:moveTo>
                  <a:pt x="3865245" y="28575"/>
                </a:moveTo>
                <a:lnTo>
                  <a:pt x="3850957" y="28575"/>
                </a:lnTo>
                <a:lnTo>
                  <a:pt x="3836670" y="14287"/>
                </a:lnTo>
                <a:lnTo>
                  <a:pt x="3865245" y="14287"/>
                </a:lnTo>
                <a:lnTo>
                  <a:pt x="3865245" y="28575"/>
                </a:lnTo>
                <a:close/>
              </a:path>
              <a:path w="3865245" h="862329">
                <a:moveTo>
                  <a:pt x="28575" y="847877"/>
                </a:moveTo>
                <a:lnTo>
                  <a:pt x="14287" y="833589"/>
                </a:lnTo>
                <a:lnTo>
                  <a:pt x="28575" y="833589"/>
                </a:lnTo>
                <a:lnTo>
                  <a:pt x="28575" y="847877"/>
                </a:lnTo>
                <a:close/>
              </a:path>
              <a:path w="3865245" h="862329">
                <a:moveTo>
                  <a:pt x="3836670" y="847877"/>
                </a:moveTo>
                <a:lnTo>
                  <a:pt x="28575" y="847877"/>
                </a:lnTo>
                <a:lnTo>
                  <a:pt x="28575" y="833589"/>
                </a:lnTo>
                <a:lnTo>
                  <a:pt x="3836670" y="833589"/>
                </a:lnTo>
                <a:lnTo>
                  <a:pt x="3836670" y="847877"/>
                </a:lnTo>
                <a:close/>
              </a:path>
              <a:path w="3865245" h="862329">
                <a:moveTo>
                  <a:pt x="3865245" y="847877"/>
                </a:moveTo>
                <a:lnTo>
                  <a:pt x="3836670" y="847877"/>
                </a:lnTo>
                <a:lnTo>
                  <a:pt x="3850957" y="833589"/>
                </a:lnTo>
                <a:lnTo>
                  <a:pt x="3865245" y="833589"/>
                </a:lnTo>
                <a:lnTo>
                  <a:pt x="3865245" y="847877"/>
                </a:lnTo>
                <a:close/>
              </a:path>
            </a:pathLst>
          </a:custGeom>
          <a:solidFill>
            <a:srgbClr val="C00000"/>
          </a:solidFill>
        </p:spPr>
        <p:txBody>
          <a:bodyPr wrap="square" lIns="0" tIns="0" rIns="0" bIns="0" rtlCol="0"/>
          <a:lstStyle/>
          <a:p/>
        </p:txBody>
      </p:sp>
      <p:sp>
        <p:nvSpPr>
          <p:cNvPr id="7" name="object 7"/>
          <p:cNvSpPr/>
          <p:nvPr/>
        </p:nvSpPr>
        <p:spPr>
          <a:xfrm>
            <a:off x="4523232" y="1559052"/>
            <a:ext cx="6529070" cy="370840"/>
          </a:xfrm>
          <a:custGeom>
            <a:avLst/>
            <a:gdLst/>
            <a:ahLst/>
            <a:cxnLst/>
            <a:rect l="l" t="t" r="r" b="b"/>
            <a:pathLst>
              <a:path w="6529070" h="370839">
                <a:moveTo>
                  <a:pt x="0" y="0"/>
                </a:moveTo>
                <a:lnTo>
                  <a:pt x="6528815" y="0"/>
                </a:lnTo>
                <a:lnTo>
                  <a:pt x="6528815" y="370332"/>
                </a:lnTo>
                <a:lnTo>
                  <a:pt x="0" y="370332"/>
                </a:lnTo>
                <a:lnTo>
                  <a:pt x="0" y="0"/>
                </a:lnTo>
                <a:close/>
              </a:path>
            </a:pathLst>
          </a:custGeom>
          <a:solidFill>
            <a:srgbClr val="D9D9D9"/>
          </a:solidFill>
        </p:spPr>
        <p:txBody>
          <a:bodyPr wrap="square" lIns="0" tIns="0" rIns="0" bIns="0" rtlCol="0"/>
          <a:lstStyle/>
          <a:p/>
        </p:txBody>
      </p:sp>
      <p:sp>
        <p:nvSpPr>
          <p:cNvPr id="8" name="object 8"/>
          <p:cNvSpPr/>
          <p:nvPr/>
        </p:nvSpPr>
        <p:spPr>
          <a:xfrm>
            <a:off x="4517542" y="1552054"/>
            <a:ext cx="6541134" cy="384175"/>
          </a:xfrm>
          <a:custGeom>
            <a:avLst/>
            <a:gdLst/>
            <a:ahLst/>
            <a:cxnLst/>
            <a:rect l="l" t="t" r="r" b="b"/>
            <a:pathLst>
              <a:path w="6541134" h="384175">
                <a:moveTo>
                  <a:pt x="6541046" y="383730"/>
                </a:moveTo>
                <a:lnTo>
                  <a:pt x="0" y="383730"/>
                </a:lnTo>
                <a:lnTo>
                  <a:pt x="0" y="0"/>
                </a:lnTo>
                <a:lnTo>
                  <a:pt x="6541046" y="0"/>
                </a:lnTo>
                <a:lnTo>
                  <a:pt x="6541046" y="6350"/>
                </a:lnTo>
                <a:lnTo>
                  <a:pt x="12700" y="6350"/>
                </a:lnTo>
                <a:lnTo>
                  <a:pt x="6350" y="12700"/>
                </a:lnTo>
                <a:lnTo>
                  <a:pt x="12700" y="12700"/>
                </a:lnTo>
                <a:lnTo>
                  <a:pt x="12700" y="371030"/>
                </a:lnTo>
                <a:lnTo>
                  <a:pt x="6350" y="371030"/>
                </a:lnTo>
                <a:lnTo>
                  <a:pt x="12700" y="377380"/>
                </a:lnTo>
                <a:lnTo>
                  <a:pt x="6541046" y="377380"/>
                </a:lnTo>
                <a:lnTo>
                  <a:pt x="6541046" y="383730"/>
                </a:lnTo>
                <a:close/>
              </a:path>
              <a:path w="6541134" h="384175">
                <a:moveTo>
                  <a:pt x="12700" y="12700"/>
                </a:moveTo>
                <a:lnTo>
                  <a:pt x="6350" y="12700"/>
                </a:lnTo>
                <a:lnTo>
                  <a:pt x="12700" y="6350"/>
                </a:lnTo>
                <a:lnTo>
                  <a:pt x="12700" y="12700"/>
                </a:lnTo>
                <a:close/>
              </a:path>
              <a:path w="6541134" h="384175">
                <a:moveTo>
                  <a:pt x="6528346" y="12700"/>
                </a:moveTo>
                <a:lnTo>
                  <a:pt x="12700" y="12700"/>
                </a:lnTo>
                <a:lnTo>
                  <a:pt x="12700" y="6350"/>
                </a:lnTo>
                <a:lnTo>
                  <a:pt x="6528346" y="6350"/>
                </a:lnTo>
                <a:lnTo>
                  <a:pt x="6528346" y="12700"/>
                </a:lnTo>
                <a:close/>
              </a:path>
              <a:path w="6541134" h="384175">
                <a:moveTo>
                  <a:pt x="6528346" y="377380"/>
                </a:moveTo>
                <a:lnTo>
                  <a:pt x="6528346" y="6350"/>
                </a:lnTo>
                <a:lnTo>
                  <a:pt x="6534696" y="12700"/>
                </a:lnTo>
                <a:lnTo>
                  <a:pt x="6541046" y="12700"/>
                </a:lnTo>
                <a:lnTo>
                  <a:pt x="6541046" y="371030"/>
                </a:lnTo>
                <a:lnTo>
                  <a:pt x="6534696" y="371030"/>
                </a:lnTo>
                <a:lnTo>
                  <a:pt x="6528346" y="377380"/>
                </a:lnTo>
                <a:close/>
              </a:path>
              <a:path w="6541134" h="384175">
                <a:moveTo>
                  <a:pt x="6541046" y="12700"/>
                </a:moveTo>
                <a:lnTo>
                  <a:pt x="6534696" y="12700"/>
                </a:lnTo>
                <a:lnTo>
                  <a:pt x="6528346" y="6350"/>
                </a:lnTo>
                <a:lnTo>
                  <a:pt x="6541046" y="6350"/>
                </a:lnTo>
                <a:lnTo>
                  <a:pt x="6541046" y="12700"/>
                </a:lnTo>
                <a:close/>
              </a:path>
              <a:path w="6541134" h="384175">
                <a:moveTo>
                  <a:pt x="12700" y="377380"/>
                </a:moveTo>
                <a:lnTo>
                  <a:pt x="6350" y="371030"/>
                </a:lnTo>
                <a:lnTo>
                  <a:pt x="12700" y="371030"/>
                </a:lnTo>
                <a:lnTo>
                  <a:pt x="12700" y="377380"/>
                </a:lnTo>
                <a:close/>
              </a:path>
              <a:path w="6541134" h="384175">
                <a:moveTo>
                  <a:pt x="6528346" y="377380"/>
                </a:moveTo>
                <a:lnTo>
                  <a:pt x="12700" y="377380"/>
                </a:lnTo>
                <a:lnTo>
                  <a:pt x="12700" y="371030"/>
                </a:lnTo>
                <a:lnTo>
                  <a:pt x="6528346" y="371030"/>
                </a:lnTo>
                <a:lnTo>
                  <a:pt x="6528346" y="377380"/>
                </a:lnTo>
                <a:close/>
              </a:path>
              <a:path w="6541134" h="384175">
                <a:moveTo>
                  <a:pt x="6541046" y="377380"/>
                </a:moveTo>
                <a:lnTo>
                  <a:pt x="6528346" y="377380"/>
                </a:lnTo>
                <a:lnTo>
                  <a:pt x="6534696" y="371030"/>
                </a:lnTo>
                <a:lnTo>
                  <a:pt x="6541046" y="371030"/>
                </a:lnTo>
                <a:lnTo>
                  <a:pt x="6541046" y="377380"/>
                </a:lnTo>
                <a:close/>
              </a:path>
            </a:pathLst>
          </a:custGeom>
          <a:solidFill>
            <a:srgbClr val="C00000"/>
          </a:solidFill>
        </p:spPr>
        <p:txBody>
          <a:bodyPr wrap="square" lIns="0" tIns="0" rIns="0" bIns="0" rtlCol="0"/>
          <a:lstStyle/>
          <a:p/>
        </p:txBody>
      </p:sp>
      <p:sp>
        <p:nvSpPr>
          <p:cNvPr id="9" name="object 9"/>
          <p:cNvSpPr/>
          <p:nvPr/>
        </p:nvSpPr>
        <p:spPr>
          <a:xfrm>
            <a:off x="5304154" y="2190978"/>
            <a:ext cx="1022350" cy="1797685"/>
          </a:xfrm>
          <a:custGeom>
            <a:avLst/>
            <a:gdLst/>
            <a:ahLst/>
            <a:cxnLst/>
            <a:rect l="l" t="t" r="r" b="b"/>
            <a:pathLst>
              <a:path w="1022350" h="1797685">
                <a:moveTo>
                  <a:pt x="1022197" y="1797646"/>
                </a:moveTo>
                <a:lnTo>
                  <a:pt x="0" y="1797646"/>
                </a:lnTo>
                <a:lnTo>
                  <a:pt x="0" y="0"/>
                </a:lnTo>
                <a:lnTo>
                  <a:pt x="1022197" y="0"/>
                </a:lnTo>
                <a:lnTo>
                  <a:pt x="1022197" y="14287"/>
                </a:lnTo>
                <a:lnTo>
                  <a:pt x="28575" y="14287"/>
                </a:lnTo>
                <a:lnTo>
                  <a:pt x="14287" y="28574"/>
                </a:lnTo>
                <a:lnTo>
                  <a:pt x="28575" y="28574"/>
                </a:lnTo>
                <a:lnTo>
                  <a:pt x="28575" y="1769071"/>
                </a:lnTo>
                <a:lnTo>
                  <a:pt x="14287" y="1769071"/>
                </a:lnTo>
                <a:lnTo>
                  <a:pt x="28575" y="1783359"/>
                </a:lnTo>
                <a:lnTo>
                  <a:pt x="1022197" y="1783359"/>
                </a:lnTo>
                <a:lnTo>
                  <a:pt x="1022197" y="1797646"/>
                </a:lnTo>
                <a:close/>
              </a:path>
              <a:path w="1022350" h="1797685">
                <a:moveTo>
                  <a:pt x="28575" y="28574"/>
                </a:moveTo>
                <a:lnTo>
                  <a:pt x="14287" y="28574"/>
                </a:lnTo>
                <a:lnTo>
                  <a:pt x="28575" y="14287"/>
                </a:lnTo>
                <a:lnTo>
                  <a:pt x="28575" y="28574"/>
                </a:lnTo>
                <a:close/>
              </a:path>
              <a:path w="1022350" h="1797685">
                <a:moveTo>
                  <a:pt x="993622" y="28574"/>
                </a:moveTo>
                <a:lnTo>
                  <a:pt x="28575" y="28574"/>
                </a:lnTo>
                <a:lnTo>
                  <a:pt x="28575" y="14287"/>
                </a:lnTo>
                <a:lnTo>
                  <a:pt x="993622" y="14287"/>
                </a:lnTo>
                <a:lnTo>
                  <a:pt x="993622" y="28574"/>
                </a:lnTo>
                <a:close/>
              </a:path>
              <a:path w="1022350" h="1797685">
                <a:moveTo>
                  <a:pt x="993622" y="1783359"/>
                </a:moveTo>
                <a:lnTo>
                  <a:pt x="993622" y="14287"/>
                </a:lnTo>
                <a:lnTo>
                  <a:pt x="1007910" y="28574"/>
                </a:lnTo>
                <a:lnTo>
                  <a:pt x="1022197" y="28574"/>
                </a:lnTo>
                <a:lnTo>
                  <a:pt x="1022197" y="1769071"/>
                </a:lnTo>
                <a:lnTo>
                  <a:pt x="1007910" y="1769071"/>
                </a:lnTo>
                <a:lnTo>
                  <a:pt x="993622" y="1783359"/>
                </a:lnTo>
                <a:close/>
              </a:path>
              <a:path w="1022350" h="1797685">
                <a:moveTo>
                  <a:pt x="1022197" y="28574"/>
                </a:moveTo>
                <a:lnTo>
                  <a:pt x="1007910" y="28574"/>
                </a:lnTo>
                <a:lnTo>
                  <a:pt x="993622" y="14287"/>
                </a:lnTo>
                <a:lnTo>
                  <a:pt x="1022197" y="14287"/>
                </a:lnTo>
                <a:lnTo>
                  <a:pt x="1022197" y="28574"/>
                </a:lnTo>
                <a:close/>
              </a:path>
              <a:path w="1022350" h="1797685">
                <a:moveTo>
                  <a:pt x="28575" y="1783359"/>
                </a:moveTo>
                <a:lnTo>
                  <a:pt x="14287" y="1769071"/>
                </a:lnTo>
                <a:lnTo>
                  <a:pt x="28575" y="1769071"/>
                </a:lnTo>
                <a:lnTo>
                  <a:pt x="28575" y="1783359"/>
                </a:lnTo>
                <a:close/>
              </a:path>
              <a:path w="1022350" h="1797685">
                <a:moveTo>
                  <a:pt x="993622" y="1783359"/>
                </a:moveTo>
                <a:lnTo>
                  <a:pt x="28575" y="1783359"/>
                </a:lnTo>
                <a:lnTo>
                  <a:pt x="28575" y="1769071"/>
                </a:lnTo>
                <a:lnTo>
                  <a:pt x="993622" y="1769071"/>
                </a:lnTo>
                <a:lnTo>
                  <a:pt x="993622" y="1783359"/>
                </a:lnTo>
                <a:close/>
              </a:path>
              <a:path w="1022350" h="1797685">
                <a:moveTo>
                  <a:pt x="1022197" y="1783359"/>
                </a:moveTo>
                <a:lnTo>
                  <a:pt x="993622" y="1783359"/>
                </a:lnTo>
                <a:lnTo>
                  <a:pt x="1007910" y="1769071"/>
                </a:lnTo>
                <a:lnTo>
                  <a:pt x="1022197" y="1769071"/>
                </a:lnTo>
                <a:lnTo>
                  <a:pt x="1022197" y="1783359"/>
                </a:lnTo>
                <a:close/>
              </a:path>
            </a:pathLst>
          </a:custGeom>
          <a:solidFill>
            <a:srgbClr val="C00000"/>
          </a:solidFill>
        </p:spPr>
        <p:txBody>
          <a:bodyPr wrap="square" lIns="0" tIns="0" rIns="0" bIns="0" rtlCol="0"/>
          <a:lstStyle/>
          <a:p/>
        </p:txBody>
      </p:sp>
      <p:sp>
        <p:nvSpPr>
          <p:cNvPr id="10" name="object 10"/>
          <p:cNvSpPr/>
          <p:nvPr/>
        </p:nvSpPr>
        <p:spPr>
          <a:xfrm>
            <a:off x="6893839" y="5250700"/>
            <a:ext cx="3865245" cy="784860"/>
          </a:xfrm>
          <a:custGeom>
            <a:avLst/>
            <a:gdLst/>
            <a:ahLst/>
            <a:cxnLst/>
            <a:rect l="l" t="t" r="r" b="b"/>
            <a:pathLst>
              <a:path w="3865245" h="784860">
                <a:moveTo>
                  <a:pt x="3864648" y="784656"/>
                </a:moveTo>
                <a:lnTo>
                  <a:pt x="0" y="784656"/>
                </a:lnTo>
                <a:lnTo>
                  <a:pt x="0" y="0"/>
                </a:lnTo>
                <a:lnTo>
                  <a:pt x="3864648" y="0"/>
                </a:lnTo>
                <a:lnTo>
                  <a:pt x="3864648" y="14287"/>
                </a:lnTo>
                <a:lnTo>
                  <a:pt x="28575" y="14287"/>
                </a:lnTo>
                <a:lnTo>
                  <a:pt x="14287" y="28575"/>
                </a:lnTo>
                <a:lnTo>
                  <a:pt x="28575" y="28575"/>
                </a:lnTo>
                <a:lnTo>
                  <a:pt x="28575" y="756081"/>
                </a:lnTo>
                <a:lnTo>
                  <a:pt x="14287" y="756081"/>
                </a:lnTo>
                <a:lnTo>
                  <a:pt x="28575" y="770369"/>
                </a:lnTo>
                <a:lnTo>
                  <a:pt x="3864648" y="770369"/>
                </a:lnTo>
                <a:lnTo>
                  <a:pt x="3864648" y="784656"/>
                </a:lnTo>
                <a:close/>
              </a:path>
              <a:path w="3865245" h="784860">
                <a:moveTo>
                  <a:pt x="28575" y="28575"/>
                </a:moveTo>
                <a:lnTo>
                  <a:pt x="14287" y="28575"/>
                </a:lnTo>
                <a:lnTo>
                  <a:pt x="28575" y="14287"/>
                </a:lnTo>
                <a:lnTo>
                  <a:pt x="28575" y="28575"/>
                </a:lnTo>
                <a:close/>
              </a:path>
              <a:path w="3865245" h="784860">
                <a:moveTo>
                  <a:pt x="3836073" y="28575"/>
                </a:moveTo>
                <a:lnTo>
                  <a:pt x="28575" y="28575"/>
                </a:lnTo>
                <a:lnTo>
                  <a:pt x="28575" y="14287"/>
                </a:lnTo>
                <a:lnTo>
                  <a:pt x="3836073" y="14287"/>
                </a:lnTo>
                <a:lnTo>
                  <a:pt x="3836073" y="28575"/>
                </a:lnTo>
                <a:close/>
              </a:path>
              <a:path w="3865245" h="784860">
                <a:moveTo>
                  <a:pt x="3836073" y="770369"/>
                </a:moveTo>
                <a:lnTo>
                  <a:pt x="3836073" y="14287"/>
                </a:lnTo>
                <a:lnTo>
                  <a:pt x="3850360" y="28575"/>
                </a:lnTo>
                <a:lnTo>
                  <a:pt x="3864648" y="28575"/>
                </a:lnTo>
                <a:lnTo>
                  <a:pt x="3864648" y="756081"/>
                </a:lnTo>
                <a:lnTo>
                  <a:pt x="3850360" y="756081"/>
                </a:lnTo>
                <a:lnTo>
                  <a:pt x="3836073" y="770369"/>
                </a:lnTo>
                <a:close/>
              </a:path>
              <a:path w="3865245" h="784860">
                <a:moveTo>
                  <a:pt x="3864648" y="28575"/>
                </a:moveTo>
                <a:lnTo>
                  <a:pt x="3850360" y="28575"/>
                </a:lnTo>
                <a:lnTo>
                  <a:pt x="3836073" y="14287"/>
                </a:lnTo>
                <a:lnTo>
                  <a:pt x="3864648" y="14287"/>
                </a:lnTo>
                <a:lnTo>
                  <a:pt x="3864648" y="28575"/>
                </a:lnTo>
                <a:close/>
              </a:path>
              <a:path w="3865245" h="784860">
                <a:moveTo>
                  <a:pt x="28575" y="770369"/>
                </a:moveTo>
                <a:lnTo>
                  <a:pt x="14287" y="756081"/>
                </a:lnTo>
                <a:lnTo>
                  <a:pt x="28575" y="756081"/>
                </a:lnTo>
                <a:lnTo>
                  <a:pt x="28575" y="770369"/>
                </a:lnTo>
                <a:close/>
              </a:path>
              <a:path w="3865245" h="784860">
                <a:moveTo>
                  <a:pt x="3836073" y="770369"/>
                </a:moveTo>
                <a:lnTo>
                  <a:pt x="28575" y="770369"/>
                </a:lnTo>
                <a:lnTo>
                  <a:pt x="28575" y="756081"/>
                </a:lnTo>
                <a:lnTo>
                  <a:pt x="3836073" y="756081"/>
                </a:lnTo>
                <a:lnTo>
                  <a:pt x="3836073" y="770369"/>
                </a:lnTo>
                <a:close/>
              </a:path>
              <a:path w="3865245" h="784860">
                <a:moveTo>
                  <a:pt x="3864648" y="770369"/>
                </a:moveTo>
                <a:lnTo>
                  <a:pt x="3836073" y="770369"/>
                </a:lnTo>
                <a:lnTo>
                  <a:pt x="3850360" y="756081"/>
                </a:lnTo>
                <a:lnTo>
                  <a:pt x="3864648" y="756081"/>
                </a:lnTo>
                <a:lnTo>
                  <a:pt x="3864648" y="770369"/>
                </a:lnTo>
                <a:close/>
              </a:path>
            </a:pathLst>
          </a:custGeom>
          <a:solidFill>
            <a:srgbClr val="C00000"/>
          </a:solidFill>
        </p:spPr>
        <p:txBody>
          <a:bodyPr wrap="square" lIns="0" tIns="0" rIns="0" bIns="0" rtlCol="0"/>
          <a:lstStyle/>
          <a:p/>
        </p:txBody>
      </p:sp>
      <p:sp>
        <p:nvSpPr>
          <p:cNvPr id="11" name="object 11"/>
          <p:cNvSpPr/>
          <p:nvPr/>
        </p:nvSpPr>
        <p:spPr>
          <a:xfrm>
            <a:off x="6406146" y="2191588"/>
            <a:ext cx="4661535" cy="1797050"/>
          </a:xfrm>
          <a:custGeom>
            <a:avLst/>
            <a:gdLst/>
            <a:ahLst/>
            <a:cxnLst/>
            <a:rect l="l" t="t" r="r" b="b"/>
            <a:pathLst>
              <a:path w="4661534" h="1797050">
                <a:moveTo>
                  <a:pt x="4660976" y="1796427"/>
                </a:moveTo>
                <a:lnTo>
                  <a:pt x="0" y="1796427"/>
                </a:lnTo>
                <a:lnTo>
                  <a:pt x="0" y="0"/>
                </a:lnTo>
                <a:lnTo>
                  <a:pt x="4660976" y="0"/>
                </a:lnTo>
                <a:lnTo>
                  <a:pt x="4660976" y="14287"/>
                </a:lnTo>
                <a:lnTo>
                  <a:pt x="28575" y="14287"/>
                </a:lnTo>
                <a:lnTo>
                  <a:pt x="14287" y="28574"/>
                </a:lnTo>
                <a:lnTo>
                  <a:pt x="28575" y="28574"/>
                </a:lnTo>
                <a:lnTo>
                  <a:pt x="28575" y="1767852"/>
                </a:lnTo>
                <a:lnTo>
                  <a:pt x="14287" y="1767852"/>
                </a:lnTo>
                <a:lnTo>
                  <a:pt x="28575" y="1782140"/>
                </a:lnTo>
                <a:lnTo>
                  <a:pt x="4660976" y="1782140"/>
                </a:lnTo>
                <a:lnTo>
                  <a:pt x="4660976" y="1796427"/>
                </a:lnTo>
                <a:close/>
              </a:path>
              <a:path w="4661534" h="1797050">
                <a:moveTo>
                  <a:pt x="28575" y="28574"/>
                </a:moveTo>
                <a:lnTo>
                  <a:pt x="14287" y="28574"/>
                </a:lnTo>
                <a:lnTo>
                  <a:pt x="28575" y="14287"/>
                </a:lnTo>
                <a:lnTo>
                  <a:pt x="28575" y="28574"/>
                </a:lnTo>
                <a:close/>
              </a:path>
              <a:path w="4661534" h="1797050">
                <a:moveTo>
                  <a:pt x="4632401" y="28574"/>
                </a:moveTo>
                <a:lnTo>
                  <a:pt x="28575" y="28574"/>
                </a:lnTo>
                <a:lnTo>
                  <a:pt x="28575" y="14287"/>
                </a:lnTo>
                <a:lnTo>
                  <a:pt x="4632401" y="14287"/>
                </a:lnTo>
                <a:lnTo>
                  <a:pt x="4632401" y="28574"/>
                </a:lnTo>
                <a:close/>
              </a:path>
              <a:path w="4661534" h="1797050">
                <a:moveTo>
                  <a:pt x="4632401" y="1782140"/>
                </a:moveTo>
                <a:lnTo>
                  <a:pt x="4632401" y="14287"/>
                </a:lnTo>
                <a:lnTo>
                  <a:pt x="4646688" y="28574"/>
                </a:lnTo>
                <a:lnTo>
                  <a:pt x="4660976" y="28574"/>
                </a:lnTo>
                <a:lnTo>
                  <a:pt x="4660976" y="1767852"/>
                </a:lnTo>
                <a:lnTo>
                  <a:pt x="4646688" y="1767852"/>
                </a:lnTo>
                <a:lnTo>
                  <a:pt x="4632401" y="1782140"/>
                </a:lnTo>
                <a:close/>
              </a:path>
              <a:path w="4661534" h="1797050">
                <a:moveTo>
                  <a:pt x="4660976" y="28574"/>
                </a:moveTo>
                <a:lnTo>
                  <a:pt x="4646688" y="28574"/>
                </a:lnTo>
                <a:lnTo>
                  <a:pt x="4632401" y="14287"/>
                </a:lnTo>
                <a:lnTo>
                  <a:pt x="4660976" y="14287"/>
                </a:lnTo>
                <a:lnTo>
                  <a:pt x="4660976" y="28574"/>
                </a:lnTo>
                <a:close/>
              </a:path>
              <a:path w="4661534" h="1797050">
                <a:moveTo>
                  <a:pt x="28575" y="1782140"/>
                </a:moveTo>
                <a:lnTo>
                  <a:pt x="14287" y="1767852"/>
                </a:lnTo>
                <a:lnTo>
                  <a:pt x="28575" y="1767852"/>
                </a:lnTo>
                <a:lnTo>
                  <a:pt x="28575" y="1782140"/>
                </a:lnTo>
                <a:close/>
              </a:path>
              <a:path w="4661534" h="1797050">
                <a:moveTo>
                  <a:pt x="4632401" y="1782140"/>
                </a:moveTo>
                <a:lnTo>
                  <a:pt x="28575" y="1782140"/>
                </a:lnTo>
                <a:lnTo>
                  <a:pt x="28575" y="1767852"/>
                </a:lnTo>
                <a:lnTo>
                  <a:pt x="4632401" y="1767852"/>
                </a:lnTo>
                <a:lnTo>
                  <a:pt x="4632401" y="1782140"/>
                </a:lnTo>
                <a:close/>
              </a:path>
              <a:path w="4661534" h="1797050">
                <a:moveTo>
                  <a:pt x="4660976" y="1782140"/>
                </a:moveTo>
                <a:lnTo>
                  <a:pt x="4632401" y="1782140"/>
                </a:lnTo>
                <a:lnTo>
                  <a:pt x="4646688" y="1767852"/>
                </a:lnTo>
                <a:lnTo>
                  <a:pt x="4660976" y="1767852"/>
                </a:lnTo>
                <a:lnTo>
                  <a:pt x="4660976" y="1782140"/>
                </a:lnTo>
                <a:close/>
              </a:path>
            </a:pathLst>
          </a:custGeom>
          <a:solidFill>
            <a:srgbClr val="C00000"/>
          </a:solidFill>
        </p:spPr>
        <p:txBody>
          <a:bodyPr wrap="square" lIns="0" tIns="0" rIns="0" bIns="0" rtlCol="0"/>
          <a:lstStyle/>
          <a:p/>
        </p:txBody>
      </p:sp>
      <p:sp>
        <p:nvSpPr>
          <p:cNvPr id="12" name="object 12"/>
          <p:cNvSpPr txBox="1"/>
          <p:nvPr/>
        </p:nvSpPr>
        <p:spPr>
          <a:xfrm>
            <a:off x="6520763" y="2174252"/>
            <a:ext cx="575945" cy="451484"/>
          </a:xfrm>
          <a:prstGeom prst="rect">
            <a:avLst/>
          </a:prstGeom>
        </p:spPr>
        <p:txBody>
          <a:bodyPr vert="horz" wrap="square" lIns="0" tIns="12065" rIns="0" bIns="0" rtlCol="0">
            <a:spAutoFit/>
          </a:bodyPr>
          <a:lstStyle/>
          <a:p>
            <a:pPr marL="12700">
              <a:lnSpc>
                <a:spcPct val="100000"/>
              </a:lnSpc>
              <a:spcBef>
                <a:spcPts val="95"/>
              </a:spcBef>
            </a:pPr>
            <a:r>
              <a:rPr sz="2800" b="1" spc="-5" dirty="0">
                <a:solidFill>
                  <a:srgbClr val="C00000"/>
                </a:solidFill>
                <a:latin typeface="Calibri" panose="020F0502020204030204"/>
                <a:cs typeface="Calibri" panose="020F0502020204030204"/>
              </a:rPr>
              <a:t>LSU</a:t>
            </a:r>
            <a:endParaRPr sz="2800">
              <a:latin typeface="Calibri" panose="020F0502020204030204"/>
              <a:cs typeface="Calibri" panose="020F0502020204030204"/>
            </a:endParaRPr>
          </a:p>
        </p:txBody>
      </p:sp>
      <p:sp>
        <p:nvSpPr>
          <p:cNvPr id="13" name="object 13"/>
          <p:cNvSpPr/>
          <p:nvPr/>
        </p:nvSpPr>
        <p:spPr>
          <a:xfrm>
            <a:off x="6821423" y="2788920"/>
            <a:ext cx="264160" cy="634365"/>
          </a:xfrm>
          <a:custGeom>
            <a:avLst/>
            <a:gdLst/>
            <a:ahLst/>
            <a:cxnLst/>
            <a:rect l="l" t="t" r="r" b="b"/>
            <a:pathLst>
              <a:path w="264159" h="634364">
                <a:moveTo>
                  <a:pt x="0" y="633983"/>
                </a:moveTo>
                <a:lnTo>
                  <a:pt x="0" y="0"/>
                </a:lnTo>
                <a:lnTo>
                  <a:pt x="263651" y="123443"/>
                </a:lnTo>
                <a:lnTo>
                  <a:pt x="263651" y="510539"/>
                </a:lnTo>
                <a:lnTo>
                  <a:pt x="0" y="633983"/>
                </a:lnTo>
                <a:close/>
              </a:path>
            </a:pathLst>
          </a:custGeom>
          <a:solidFill>
            <a:srgbClr val="D9D9D9"/>
          </a:solidFill>
        </p:spPr>
        <p:txBody>
          <a:bodyPr wrap="square" lIns="0" tIns="0" rIns="0" bIns="0" rtlCol="0"/>
          <a:lstStyle/>
          <a:p/>
        </p:txBody>
      </p:sp>
      <p:sp>
        <p:nvSpPr>
          <p:cNvPr id="14" name="object 14"/>
          <p:cNvSpPr/>
          <p:nvPr/>
        </p:nvSpPr>
        <p:spPr>
          <a:xfrm>
            <a:off x="6814604" y="2779280"/>
            <a:ext cx="276860" cy="653415"/>
          </a:xfrm>
          <a:custGeom>
            <a:avLst/>
            <a:gdLst/>
            <a:ahLst/>
            <a:cxnLst/>
            <a:rect l="l" t="t" r="r" b="b"/>
            <a:pathLst>
              <a:path w="276859" h="653414">
                <a:moveTo>
                  <a:pt x="0" y="653376"/>
                </a:moveTo>
                <a:lnTo>
                  <a:pt x="0" y="0"/>
                </a:lnTo>
                <a:lnTo>
                  <a:pt x="21343" y="9982"/>
                </a:lnTo>
                <a:lnTo>
                  <a:pt x="12700" y="9982"/>
                </a:lnTo>
                <a:lnTo>
                  <a:pt x="3657" y="15722"/>
                </a:lnTo>
                <a:lnTo>
                  <a:pt x="12700" y="19951"/>
                </a:lnTo>
                <a:lnTo>
                  <a:pt x="12700" y="633424"/>
                </a:lnTo>
                <a:lnTo>
                  <a:pt x="3657" y="637654"/>
                </a:lnTo>
                <a:lnTo>
                  <a:pt x="12700" y="643407"/>
                </a:lnTo>
                <a:lnTo>
                  <a:pt x="21316" y="643407"/>
                </a:lnTo>
                <a:lnTo>
                  <a:pt x="0" y="653376"/>
                </a:lnTo>
                <a:close/>
              </a:path>
              <a:path w="276859" h="653414">
                <a:moveTo>
                  <a:pt x="12700" y="19951"/>
                </a:moveTo>
                <a:lnTo>
                  <a:pt x="3657" y="15722"/>
                </a:lnTo>
                <a:lnTo>
                  <a:pt x="12700" y="9982"/>
                </a:lnTo>
                <a:lnTo>
                  <a:pt x="12700" y="19951"/>
                </a:lnTo>
                <a:close/>
              </a:path>
              <a:path w="276859" h="653414">
                <a:moveTo>
                  <a:pt x="263867" y="137430"/>
                </a:moveTo>
                <a:lnTo>
                  <a:pt x="12700" y="19951"/>
                </a:lnTo>
                <a:lnTo>
                  <a:pt x="12700" y="9982"/>
                </a:lnTo>
                <a:lnTo>
                  <a:pt x="21343" y="9982"/>
                </a:lnTo>
                <a:lnTo>
                  <a:pt x="276567" y="129349"/>
                </a:lnTo>
                <a:lnTo>
                  <a:pt x="276567" y="133388"/>
                </a:lnTo>
                <a:lnTo>
                  <a:pt x="263867" y="133388"/>
                </a:lnTo>
                <a:lnTo>
                  <a:pt x="263867" y="137430"/>
                </a:lnTo>
                <a:close/>
              </a:path>
              <a:path w="276859" h="653414">
                <a:moveTo>
                  <a:pt x="267525" y="139141"/>
                </a:moveTo>
                <a:lnTo>
                  <a:pt x="263867" y="137430"/>
                </a:lnTo>
                <a:lnTo>
                  <a:pt x="263867" y="133388"/>
                </a:lnTo>
                <a:lnTo>
                  <a:pt x="267525" y="139141"/>
                </a:lnTo>
                <a:close/>
              </a:path>
              <a:path w="276859" h="653414">
                <a:moveTo>
                  <a:pt x="276567" y="139141"/>
                </a:moveTo>
                <a:lnTo>
                  <a:pt x="267525" y="139141"/>
                </a:lnTo>
                <a:lnTo>
                  <a:pt x="263867" y="133388"/>
                </a:lnTo>
                <a:lnTo>
                  <a:pt x="276567" y="133388"/>
                </a:lnTo>
                <a:lnTo>
                  <a:pt x="276567" y="139141"/>
                </a:lnTo>
                <a:close/>
              </a:path>
              <a:path w="276859" h="653414">
                <a:moveTo>
                  <a:pt x="263867" y="515946"/>
                </a:moveTo>
                <a:lnTo>
                  <a:pt x="263867" y="137430"/>
                </a:lnTo>
                <a:lnTo>
                  <a:pt x="267525" y="139141"/>
                </a:lnTo>
                <a:lnTo>
                  <a:pt x="276567" y="139141"/>
                </a:lnTo>
                <a:lnTo>
                  <a:pt x="276567" y="514235"/>
                </a:lnTo>
                <a:lnTo>
                  <a:pt x="267525" y="514235"/>
                </a:lnTo>
                <a:lnTo>
                  <a:pt x="263867" y="515946"/>
                </a:lnTo>
                <a:close/>
              </a:path>
              <a:path w="276859" h="653414">
                <a:moveTo>
                  <a:pt x="263867" y="519988"/>
                </a:moveTo>
                <a:lnTo>
                  <a:pt x="263867" y="515946"/>
                </a:lnTo>
                <a:lnTo>
                  <a:pt x="267525" y="514235"/>
                </a:lnTo>
                <a:lnTo>
                  <a:pt x="263867" y="519988"/>
                </a:lnTo>
                <a:close/>
              </a:path>
              <a:path w="276859" h="653414">
                <a:moveTo>
                  <a:pt x="276567" y="519988"/>
                </a:moveTo>
                <a:lnTo>
                  <a:pt x="263867" y="519988"/>
                </a:lnTo>
                <a:lnTo>
                  <a:pt x="267525" y="514235"/>
                </a:lnTo>
                <a:lnTo>
                  <a:pt x="276567" y="514235"/>
                </a:lnTo>
                <a:lnTo>
                  <a:pt x="276567" y="519988"/>
                </a:lnTo>
                <a:close/>
              </a:path>
              <a:path w="276859" h="653414">
                <a:moveTo>
                  <a:pt x="21316" y="643407"/>
                </a:moveTo>
                <a:lnTo>
                  <a:pt x="12700" y="643407"/>
                </a:lnTo>
                <a:lnTo>
                  <a:pt x="12700" y="633424"/>
                </a:lnTo>
                <a:lnTo>
                  <a:pt x="263867" y="515946"/>
                </a:lnTo>
                <a:lnTo>
                  <a:pt x="263867" y="519988"/>
                </a:lnTo>
                <a:lnTo>
                  <a:pt x="276567" y="519988"/>
                </a:lnTo>
                <a:lnTo>
                  <a:pt x="276567" y="524027"/>
                </a:lnTo>
                <a:lnTo>
                  <a:pt x="21316" y="643407"/>
                </a:lnTo>
                <a:close/>
              </a:path>
              <a:path w="276859" h="653414">
                <a:moveTo>
                  <a:pt x="12700" y="643407"/>
                </a:moveTo>
                <a:lnTo>
                  <a:pt x="3657" y="637654"/>
                </a:lnTo>
                <a:lnTo>
                  <a:pt x="12700" y="633424"/>
                </a:lnTo>
                <a:lnTo>
                  <a:pt x="12700" y="643407"/>
                </a:lnTo>
                <a:close/>
              </a:path>
            </a:pathLst>
          </a:custGeom>
          <a:solidFill>
            <a:srgbClr val="C00000"/>
          </a:solidFill>
        </p:spPr>
        <p:txBody>
          <a:bodyPr wrap="square" lIns="0" tIns="0" rIns="0" bIns="0" rtlCol="0"/>
          <a:lstStyle/>
          <a:p/>
        </p:txBody>
      </p:sp>
      <p:sp>
        <p:nvSpPr>
          <p:cNvPr id="15" name="object 15"/>
          <p:cNvSpPr/>
          <p:nvPr/>
        </p:nvSpPr>
        <p:spPr>
          <a:xfrm>
            <a:off x="7360919" y="2715767"/>
            <a:ext cx="562610" cy="783590"/>
          </a:xfrm>
          <a:custGeom>
            <a:avLst/>
            <a:gdLst/>
            <a:ahLst/>
            <a:cxnLst/>
            <a:rect l="l" t="t" r="r" b="b"/>
            <a:pathLst>
              <a:path w="562609" h="783589">
                <a:moveTo>
                  <a:pt x="0" y="0"/>
                </a:moveTo>
                <a:lnTo>
                  <a:pt x="562355" y="0"/>
                </a:lnTo>
                <a:lnTo>
                  <a:pt x="562355" y="783335"/>
                </a:lnTo>
                <a:lnTo>
                  <a:pt x="0" y="783335"/>
                </a:lnTo>
                <a:lnTo>
                  <a:pt x="0" y="0"/>
                </a:lnTo>
                <a:close/>
              </a:path>
            </a:pathLst>
          </a:custGeom>
          <a:solidFill>
            <a:srgbClr val="D9D9D9"/>
          </a:solidFill>
        </p:spPr>
        <p:txBody>
          <a:bodyPr wrap="square" lIns="0" tIns="0" rIns="0" bIns="0" rtlCol="0"/>
          <a:lstStyle/>
          <a:p/>
        </p:txBody>
      </p:sp>
      <p:sp>
        <p:nvSpPr>
          <p:cNvPr id="16" name="object 16"/>
          <p:cNvSpPr/>
          <p:nvPr/>
        </p:nvSpPr>
        <p:spPr>
          <a:xfrm>
            <a:off x="7354709" y="2709684"/>
            <a:ext cx="575310" cy="796290"/>
          </a:xfrm>
          <a:custGeom>
            <a:avLst/>
            <a:gdLst/>
            <a:ahLst/>
            <a:cxnLst/>
            <a:rect l="l" t="t" r="r" b="b"/>
            <a:pathLst>
              <a:path w="575309" h="796289">
                <a:moveTo>
                  <a:pt x="575182" y="796239"/>
                </a:moveTo>
                <a:lnTo>
                  <a:pt x="0" y="796239"/>
                </a:lnTo>
                <a:lnTo>
                  <a:pt x="0" y="0"/>
                </a:lnTo>
                <a:lnTo>
                  <a:pt x="575182" y="0"/>
                </a:lnTo>
                <a:lnTo>
                  <a:pt x="575182" y="6350"/>
                </a:lnTo>
                <a:lnTo>
                  <a:pt x="12700" y="6350"/>
                </a:lnTo>
                <a:lnTo>
                  <a:pt x="6350" y="12700"/>
                </a:lnTo>
                <a:lnTo>
                  <a:pt x="12700" y="12700"/>
                </a:lnTo>
                <a:lnTo>
                  <a:pt x="12700" y="783539"/>
                </a:lnTo>
                <a:lnTo>
                  <a:pt x="6350" y="783539"/>
                </a:lnTo>
                <a:lnTo>
                  <a:pt x="12700" y="789889"/>
                </a:lnTo>
                <a:lnTo>
                  <a:pt x="575182" y="789889"/>
                </a:lnTo>
                <a:lnTo>
                  <a:pt x="575182" y="796239"/>
                </a:lnTo>
                <a:close/>
              </a:path>
              <a:path w="575309" h="796289">
                <a:moveTo>
                  <a:pt x="12700" y="12700"/>
                </a:moveTo>
                <a:lnTo>
                  <a:pt x="6350" y="12700"/>
                </a:lnTo>
                <a:lnTo>
                  <a:pt x="12700" y="6350"/>
                </a:lnTo>
                <a:lnTo>
                  <a:pt x="12700" y="12700"/>
                </a:lnTo>
                <a:close/>
              </a:path>
              <a:path w="575309" h="796289">
                <a:moveTo>
                  <a:pt x="562482" y="12700"/>
                </a:moveTo>
                <a:lnTo>
                  <a:pt x="12700" y="12700"/>
                </a:lnTo>
                <a:lnTo>
                  <a:pt x="12700" y="6350"/>
                </a:lnTo>
                <a:lnTo>
                  <a:pt x="562482" y="6350"/>
                </a:lnTo>
                <a:lnTo>
                  <a:pt x="562482" y="12700"/>
                </a:lnTo>
                <a:close/>
              </a:path>
              <a:path w="575309" h="796289">
                <a:moveTo>
                  <a:pt x="562482" y="789889"/>
                </a:moveTo>
                <a:lnTo>
                  <a:pt x="562482" y="6350"/>
                </a:lnTo>
                <a:lnTo>
                  <a:pt x="568832" y="12700"/>
                </a:lnTo>
                <a:lnTo>
                  <a:pt x="575182" y="12700"/>
                </a:lnTo>
                <a:lnTo>
                  <a:pt x="575182" y="783539"/>
                </a:lnTo>
                <a:lnTo>
                  <a:pt x="568832" y="783539"/>
                </a:lnTo>
                <a:lnTo>
                  <a:pt x="562482" y="789889"/>
                </a:lnTo>
                <a:close/>
              </a:path>
              <a:path w="575309" h="796289">
                <a:moveTo>
                  <a:pt x="575182" y="12700"/>
                </a:moveTo>
                <a:lnTo>
                  <a:pt x="568832" y="12700"/>
                </a:lnTo>
                <a:lnTo>
                  <a:pt x="562482" y="6350"/>
                </a:lnTo>
                <a:lnTo>
                  <a:pt x="575182" y="6350"/>
                </a:lnTo>
                <a:lnTo>
                  <a:pt x="575182" y="12700"/>
                </a:lnTo>
                <a:close/>
              </a:path>
              <a:path w="575309" h="796289">
                <a:moveTo>
                  <a:pt x="12700" y="789889"/>
                </a:moveTo>
                <a:lnTo>
                  <a:pt x="6350" y="783539"/>
                </a:lnTo>
                <a:lnTo>
                  <a:pt x="12700" y="783539"/>
                </a:lnTo>
                <a:lnTo>
                  <a:pt x="12700" y="789889"/>
                </a:lnTo>
                <a:close/>
              </a:path>
              <a:path w="575309" h="796289">
                <a:moveTo>
                  <a:pt x="562482" y="789889"/>
                </a:moveTo>
                <a:lnTo>
                  <a:pt x="12700" y="789889"/>
                </a:lnTo>
                <a:lnTo>
                  <a:pt x="12700" y="783539"/>
                </a:lnTo>
                <a:lnTo>
                  <a:pt x="562482" y="783539"/>
                </a:lnTo>
                <a:lnTo>
                  <a:pt x="562482" y="789889"/>
                </a:lnTo>
                <a:close/>
              </a:path>
              <a:path w="575309" h="796289">
                <a:moveTo>
                  <a:pt x="575182" y="789889"/>
                </a:moveTo>
                <a:lnTo>
                  <a:pt x="562482" y="789889"/>
                </a:lnTo>
                <a:lnTo>
                  <a:pt x="568832" y="783539"/>
                </a:lnTo>
                <a:lnTo>
                  <a:pt x="575182" y="783539"/>
                </a:lnTo>
                <a:lnTo>
                  <a:pt x="575182" y="789889"/>
                </a:lnTo>
                <a:close/>
              </a:path>
            </a:pathLst>
          </a:custGeom>
          <a:solidFill>
            <a:srgbClr val="C00000"/>
          </a:solidFill>
        </p:spPr>
        <p:txBody>
          <a:bodyPr wrap="square" lIns="0" tIns="0" rIns="0" bIns="0" rtlCol="0"/>
          <a:lstStyle/>
          <a:p/>
        </p:txBody>
      </p:sp>
      <p:sp>
        <p:nvSpPr>
          <p:cNvPr id="17" name="object 17"/>
          <p:cNvSpPr txBox="1"/>
          <p:nvPr/>
        </p:nvSpPr>
        <p:spPr>
          <a:xfrm>
            <a:off x="7360919" y="2902089"/>
            <a:ext cx="562610" cy="391160"/>
          </a:xfrm>
          <a:prstGeom prst="rect">
            <a:avLst/>
          </a:prstGeom>
        </p:spPr>
        <p:txBody>
          <a:bodyPr vert="horz" wrap="square" lIns="0" tIns="12700" rIns="0" bIns="0" rtlCol="0">
            <a:spAutoFit/>
          </a:bodyPr>
          <a:lstStyle/>
          <a:p>
            <a:pPr marL="128270" marR="121285">
              <a:lnSpc>
                <a:spcPct val="100000"/>
              </a:lnSpc>
              <a:spcBef>
                <a:spcPts val="100"/>
              </a:spcBef>
            </a:pPr>
            <a:r>
              <a:rPr sz="1200" b="1" dirty="0">
                <a:solidFill>
                  <a:srgbClr val="C00000"/>
                </a:solidFill>
                <a:latin typeface="微软雅黑" panose="020B0503020204020204" charset="-122"/>
                <a:cs typeface="微软雅黑" panose="020B0503020204020204" charset="-122"/>
              </a:rPr>
              <a:t>地址 判断</a:t>
            </a:r>
            <a:endParaRPr sz="1200">
              <a:latin typeface="微软雅黑" panose="020B0503020204020204" charset="-122"/>
              <a:cs typeface="微软雅黑" panose="020B0503020204020204" charset="-122"/>
            </a:endParaRPr>
          </a:p>
        </p:txBody>
      </p:sp>
      <p:sp>
        <p:nvSpPr>
          <p:cNvPr id="18" name="object 18"/>
          <p:cNvSpPr/>
          <p:nvPr/>
        </p:nvSpPr>
        <p:spPr>
          <a:xfrm>
            <a:off x="9715500" y="2790444"/>
            <a:ext cx="264160" cy="634365"/>
          </a:xfrm>
          <a:custGeom>
            <a:avLst/>
            <a:gdLst/>
            <a:ahLst/>
            <a:cxnLst/>
            <a:rect l="l" t="t" r="r" b="b"/>
            <a:pathLst>
              <a:path w="264159" h="634364">
                <a:moveTo>
                  <a:pt x="0" y="633983"/>
                </a:moveTo>
                <a:lnTo>
                  <a:pt x="0" y="0"/>
                </a:lnTo>
                <a:lnTo>
                  <a:pt x="263651" y="123443"/>
                </a:lnTo>
                <a:lnTo>
                  <a:pt x="263651" y="510539"/>
                </a:lnTo>
                <a:lnTo>
                  <a:pt x="0" y="633983"/>
                </a:lnTo>
                <a:close/>
              </a:path>
            </a:pathLst>
          </a:custGeom>
          <a:solidFill>
            <a:srgbClr val="D9D9D9"/>
          </a:solidFill>
        </p:spPr>
        <p:txBody>
          <a:bodyPr wrap="square" lIns="0" tIns="0" rIns="0" bIns="0" rtlCol="0"/>
          <a:lstStyle/>
          <a:p/>
        </p:txBody>
      </p:sp>
      <p:sp>
        <p:nvSpPr>
          <p:cNvPr id="19" name="object 19"/>
          <p:cNvSpPr/>
          <p:nvPr/>
        </p:nvSpPr>
        <p:spPr>
          <a:xfrm>
            <a:off x="9708895" y="2781109"/>
            <a:ext cx="276860" cy="653415"/>
          </a:xfrm>
          <a:custGeom>
            <a:avLst/>
            <a:gdLst/>
            <a:ahLst/>
            <a:cxnLst/>
            <a:rect l="l" t="t" r="r" b="b"/>
            <a:pathLst>
              <a:path w="276859" h="653414">
                <a:moveTo>
                  <a:pt x="0" y="653389"/>
                </a:moveTo>
                <a:lnTo>
                  <a:pt x="0" y="0"/>
                </a:lnTo>
                <a:lnTo>
                  <a:pt x="21343" y="9982"/>
                </a:lnTo>
                <a:lnTo>
                  <a:pt x="12700" y="9982"/>
                </a:lnTo>
                <a:lnTo>
                  <a:pt x="3657" y="15735"/>
                </a:lnTo>
                <a:lnTo>
                  <a:pt x="12700" y="19964"/>
                </a:lnTo>
                <a:lnTo>
                  <a:pt x="12700" y="633424"/>
                </a:lnTo>
                <a:lnTo>
                  <a:pt x="3657" y="637654"/>
                </a:lnTo>
                <a:lnTo>
                  <a:pt x="12700" y="643407"/>
                </a:lnTo>
                <a:lnTo>
                  <a:pt x="21341" y="643407"/>
                </a:lnTo>
                <a:lnTo>
                  <a:pt x="0" y="653389"/>
                </a:lnTo>
                <a:close/>
              </a:path>
              <a:path w="276859" h="653414">
                <a:moveTo>
                  <a:pt x="12700" y="19964"/>
                </a:moveTo>
                <a:lnTo>
                  <a:pt x="3657" y="15735"/>
                </a:lnTo>
                <a:lnTo>
                  <a:pt x="12700" y="9982"/>
                </a:lnTo>
                <a:lnTo>
                  <a:pt x="12700" y="19964"/>
                </a:lnTo>
                <a:close/>
              </a:path>
              <a:path w="276859" h="653414">
                <a:moveTo>
                  <a:pt x="263867" y="137430"/>
                </a:moveTo>
                <a:lnTo>
                  <a:pt x="12700" y="19964"/>
                </a:lnTo>
                <a:lnTo>
                  <a:pt x="12700" y="9982"/>
                </a:lnTo>
                <a:lnTo>
                  <a:pt x="21343" y="9982"/>
                </a:lnTo>
                <a:lnTo>
                  <a:pt x="276567" y="129349"/>
                </a:lnTo>
                <a:lnTo>
                  <a:pt x="276567" y="133388"/>
                </a:lnTo>
                <a:lnTo>
                  <a:pt x="263867" y="133388"/>
                </a:lnTo>
                <a:lnTo>
                  <a:pt x="263867" y="137430"/>
                </a:lnTo>
                <a:close/>
              </a:path>
              <a:path w="276859" h="653414">
                <a:moveTo>
                  <a:pt x="267525" y="139141"/>
                </a:moveTo>
                <a:lnTo>
                  <a:pt x="263867" y="137430"/>
                </a:lnTo>
                <a:lnTo>
                  <a:pt x="263867" y="133388"/>
                </a:lnTo>
                <a:lnTo>
                  <a:pt x="267525" y="139141"/>
                </a:lnTo>
                <a:close/>
              </a:path>
              <a:path w="276859" h="653414">
                <a:moveTo>
                  <a:pt x="276567" y="139141"/>
                </a:moveTo>
                <a:lnTo>
                  <a:pt x="267525" y="139141"/>
                </a:lnTo>
                <a:lnTo>
                  <a:pt x="263867" y="133388"/>
                </a:lnTo>
                <a:lnTo>
                  <a:pt x="276567" y="133388"/>
                </a:lnTo>
                <a:lnTo>
                  <a:pt x="276567" y="139141"/>
                </a:lnTo>
                <a:close/>
              </a:path>
              <a:path w="276859" h="653414">
                <a:moveTo>
                  <a:pt x="263867" y="515946"/>
                </a:moveTo>
                <a:lnTo>
                  <a:pt x="263867" y="137430"/>
                </a:lnTo>
                <a:lnTo>
                  <a:pt x="267525" y="139141"/>
                </a:lnTo>
                <a:lnTo>
                  <a:pt x="276567" y="139141"/>
                </a:lnTo>
                <a:lnTo>
                  <a:pt x="276567" y="514235"/>
                </a:lnTo>
                <a:lnTo>
                  <a:pt x="267525" y="514235"/>
                </a:lnTo>
                <a:lnTo>
                  <a:pt x="263867" y="515946"/>
                </a:lnTo>
                <a:close/>
              </a:path>
              <a:path w="276859" h="653414">
                <a:moveTo>
                  <a:pt x="263867" y="519988"/>
                </a:moveTo>
                <a:lnTo>
                  <a:pt x="263867" y="515946"/>
                </a:lnTo>
                <a:lnTo>
                  <a:pt x="267525" y="514235"/>
                </a:lnTo>
                <a:lnTo>
                  <a:pt x="263867" y="519988"/>
                </a:lnTo>
                <a:close/>
              </a:path>
              <a:path w="276859" h="653414">
                <a:moveTo>
                  <a:pt x="276567" y="519988"/>
                </a:moveTo>
                <a:lnTo>
                  <a:pt x="263867" y="519988"/>
                </a:lnTo>
                <a:lnTo>
                  <a:pt x="267525" y="514235"/>
                </a:lnTo>
                <a:lnTo>
                  <a:pt x="276567" y="514235"/>
                </a:lnTo>
                <a:lnTo>
                  <a:pt x="276567" y="519988"/>
                </a:lnTo>
                <a:close/>
              </a:path>
              <a:path w="276859" h="653414">
                <a:moveTo>
                  <a:pt x="21341" y="643407"/>
                </a:moveTo>
                <a:lnTo>
                  <a:pt x="12700" y="643407"/>
                </a:lnTo>
                <a:lnTo>
                  <a:pt x="12700" y="633424"/>
                </a:lnTo>
                <a:lnTo>
                  <a:pt x="263867" y="515946"/>
                </a:lnTo>
                <a:lnTo>
                  <a:pt x="263867" y="519988"/>
                </a:lnTo>
                <a:lnTo>
                  <a:pt x="276567" y="519988"/>
                </a:lnTo>
                <a:lnTo>
                  <a:pt x="276567" y="524027"/>
                </a:lnTo>
                <a:lnTo>
                  <a:pt x="21341" y="643407"/>
                </a:lnTo>
                <a:close/>
              </a:path>
              <a:path w="276859" h="653414">
                <a:moveTo>
                  <a:pt x="12700" y="643407"/>
                </a:moveTo>
                <a:lnTo>
                  <a:pt x="3657" y="637654"/>
                </a:lnTo>
                <a:lnTo>
                  <a:pt x="12700" y="633424"/>
                </a:lnTo>
                <a:lnTo>
                  <a:pt x="12700" y="643407"/>
                </a:lnTo>
                <a:close/>
              </a:path>
            </a:pathLst>
          </a:custGeom>
          <a:solidFill>
            <a:srgbClr val="C00000"/>
          </a:solidFill>
        </p:spPr>
        <p:txBody>
          <a:bodyPr wrap="square" lIns="0" tIns="0" rIns="0" bIns="0" rtlCol="0"/>
          <a:lstStyle/>
          <a:p/>
        </p:txBody>
      </p:sp>
      <p:sp>
        <p:nvSpPr>
          <p:cNvPr id="20" name="object 20"/>
          <p:cNvSpPr/>
          <p:nvPr/>
        </p:nvSpPr>
        <p:spPr>
          <a:xfrm>
            <a:off x="10264140" y="2714244"/>
            <a:ext cx="547370" cy="783590"/>
          </a:xfrm>
          <a:custGeom>
            <a:avLst/>
            <a:gdLst/>
            <a:ahLst/>
            <a:cxnLst/>
            <a:rect l="l" t="t" r="r" b="b"/>
            <a:pathLst>
              <a:path w="547370" h="783589">
                <a:moveTo>
                  <a:pt x="0" y="0"/>
                </a:moveTo>
                <a:lnTo>
                  <a:pt x="547116" y="0"/>
                </a:lnTo>
                <a:lnTo>
                  <a:pt x="547116" y="783335"/>
                </a:lnTo>
                <a:lnTo>
                  <a:pt x="0" y="783335"/>
                </a:lnTo>
                <a:lnTo>
                  <a:pt x="0" y="0"/>
                </a:lnTo>
                <a:close/>
              </a:path>
            </a:pathLst>
          </a:custGeom>
          <a:solidFill>
            <a:srgbClr val="D9D9D9"/>
          </a:solidFill>
        </p:spPr>
        <p:txBody>
          <a:bodyPr wrap="square" lIns="0" tIns="0" rIns="0" bIns="0" rtlCol="0"/>
          <a:lstStyle/>
          <a:p/>
        </p:txBody>
      </p:sp>
      <p:sp>
        <p:nvSpPr>
          <p:cNvPr id="21" name="object 21"/>
          <p:cNvSpPr/>
          <p:nvPr/>
        </p:nvSpPr>
        <p:spPr>
          <a:xfrm>
            <a:off x="10258412" y="2707843"/>
            <a:ext cx="559435" cy="796290"/>
          </a:xfrm>
          <a:custGeom>
            <a:avLst/>
            <a:gdLst/>
            <a:ahLst/>
            <a:cxnLst/>
            <a:rect l="l" t="t" r="r" b="b"/>
            <a:pathLst>
              <a:path w="559434" h="796289">
                <a:moveTo>
                  <a:pt x="559282" y="796251"/>
                </a:moveTo>
                <a:lnTo>
                  <a:pt x="0" y="796251"/>
                </a:lnTo>
                <a:lnTo>
                  <a:pt x="0" y="0"/>
                </a:lnTo>
                <a:lnTo>
                  <a:pt x="559282" y="0"/>
                </a:lnTo>
                <a:lnTo>
                  <a:pt x="559282" y="6350"/>
                </a:lnTo>
                <a:lnTo>
                  <a:pt x="12700" y="6350"/>
                </a:lnTo>
                <a:lnTo>
                  <a:pt x="6350" y="12700"/>
                </a:lnTo>
                <a:lnTo>
                  <a:pt x="12700" y="12700"/>
                </a:lnTo>
                <a:lnTo>
                  <a:pt x="12700" y="783551"/>
                </a:lnTo>
                <a:lnTo>
                  <a:pt x="6350" y="783551"/>
                </a:lnTo>
                <a:lnTo>
                  <a:pt x="12700" y="789901"/>
                </a:lnTo>
                <a:lnTo>
                  <a:pt x="559282" y="789901"/>
                </a:lnTo>
                <a:lnTo>
                  <a:pt x="559282" y="796251"/>
                </a:lnTo>
                <a:close/>
              </a:path>
              <a:path w="559434" h="796289">
                <a:moveTo>
                  <a:pt x="12700" y="12700"/>
                </a:moveTo>
                <a:lnTo>
                  <a:pt x="6350" y="12700"/>
                </a:lnTo>
                <a:lnTo>
                  <a:pt x="12700" y="6350"/>
                </a:lnTo>
                <a:lnTo>
                  <a:pt x="12700" y="12700"/>
                </a:lnTo>
                <a:close/>
              </a:path>
              <a:path w="559434" h="796289">
                <a:moveTo>
                  <a:pt x="546582" y="12700"/>
                </a:moveTo>
                <a:lnTo>
                  <a:pt x="12700" y="12700"/>
                </a:lnTo>
                <a:lnTo>
                  <a:pt x="12700" y="6350"/>
                </a:lnTo>
                <a:lnTo>
                  <a:pt x="546582" y="6350"/>
                </a:lnTo>
                <a:lnTo>
                  <a:pt x="546582" y="12700"/>
                </a:lnTo>
                <a:close/>
              </a:path>
              <a:path w="559434" h="796289">
                <a:moveTo>
                  <a:pt x="546582" y="789901"/>
                </a:moveTo>
                <a:lnTo>
                  <a:pt x="546582" y="6350"/>
                </a:lnTo>
                <a:lnTo>
                  <a:pt x="552932" y="12700"/>
                </a:lnTo>
                <a:lnTo>
                  <a:pt x="559282" y="12700"/>
                </a:lnTo>
                <a:lnTo>
                  <a:pt x="559282" y="783551"/>
                </a:lnTo>
                <a:lnTo>
                  <a:pt x="552932" y="783551"/>
                </a:lnTo>
                <a:lnTo>
                  <a:pt x="546582" y="789901"/>
                </a:lnTo>
                <a:close/>
              </a:path>
              <a:path w="559434" h="796289">
                <a:moveTo>
                  <a:pt x="559282" y="12700"/>
                </a:moveTo>
                <a:lnTo>
                  <a:pt x="552932" y="12700"/>
                </a:lnTo>
                <a:lnTo>
                  <a:pt x="546582" y="6350"/>
                </a:lnTo>
                <a:lnTo>
                  <a:pt x="559282" y="6350"/>
                </a:lnTo>
                <a:lnTo>
                  <a:pt x="559282" y="12700"/>
                </a:lnTo>
                <a:close/>
              </a:path>
              <a:path w="559434" h="796289">
                <a:moveTo>
                  <a:pt x="12700" y="789901"/>
                </a:moveTo>
                <a:lnTo>
                  <a:pt x="6350" y="783551"/>
                </a:lnTo>
                <a:lnTo>
                  <a:pt x="12700" y="783551"/>
                </a:lnTo>
                <a:lnTo>
                  <a:pt x="12700" y="789901"/>
                </a:lnTo>
                <a:close/>
              </a:path>
              <a:path w="559434" h="796289">
                <a:moveTo>
                  <a:pt x="546582" y="789901"/>
                </a:moveTo>
                <a:lnTo>
                  <a:pt x="12700" y="789901"/>
                </a:lnTo>
                <a:lnTo>
                  <a:pt x="12700" y="783551"/>
                </a:lnTo>
                <a:lnTo>
                  <a:pt x="546582" y="783551"/>
                </a:lnTo>
                <a:lnTo>
                  <a:pt x="546582" y="789901"/>
                </a:lnTo>
                <a:close/>
              </a:path>
              <a:path w="559434" h="796289">
                <a:moveTo>
                  <a:pt x="559282" y="789901"/>
                </a:moveTo>
                <a:lnTo>
                  <a:pt x="546582" y="789901"/>
                </a:lnTo>
                <a:lnTo>
                  <a:pt x="552932" y="783551"/>
                </a:lnTo>
                <a:lnTo>
                  <a:pt x="559282" y="783551"/>
                </a:lnTo>
                <a:lnTo>
                  <a:pt x="559282" y="789901"/>
                </a:lnTo>
                <a:close/>
              </a:path>
            </a:pathLst>
          </a:custGeom>
          <a:solidFill>
            <a:srgbClr val="C00000"/>
          </a:solidFill>
        </p:spPr>
        <p:txBody>
          <a:bodyPr wrap="square" lIns="0" tIns="0" rIns="0" bIns="0" rtlCol="0"/>
          <a:lstStyle/>
          <a:p/>
        </p:txBody>
      </p:sp>
      <p:sp>
        <p:nvSpPr>
          <p:cNvPr id="22" name="object 22"/>
          <p:cNvSpPr txBox="1"/>
          <p:nvPr/>
        </p:nvSpPr>
        <p:spPr>
          <a:xfrm>
            <a:off x="10264140" y="2900248"/>
            <a:ext cx="547370" cy="391160"/>
          </a:xfrm>
          <a:prstGeom prst="rect">
            <a:avLst/>
          </a:prstGeom>
        </p:spPr>
        <p:txBody>
          <a:bodyPr vert="horz" wrap="square" lIns="0" tIns="12700" rIns="0" bIns="0" rtlCol="0">
            <a:spAutoFit/>
          </a:bodyPr>
          <a:lstStyle/>
          <a:p>
            <a:pPr marL="120650" marR="113030">
              <a:lnSpc>
                <a:spcPct val="100000"/>
              </a:lnSpc>
              <a:spcBef>
                <a:spcPts val="100"/>
              </a:spcBef>
            </a:pPr>
            <a:r>
              <a:rPr sz="1200" b="1" dirty="0">
                <a:solidFill>
                  <a:srgbClr val="C00000"/>
                </a:solidFill>
                <a:latin typeface="微软雅黑" panose="020B0503020204020204" charset="-122"/>
                <a:cs typeface="微软雅黑" panose="020B0503020204020204" charset="-122"/>
              </a:rPr>
              <a:t>数据 对齐</a:t>
            </a:r>
            <a:endParaRPr sz="1200">
              <a:latin typeface="微软雅黑" panose="020B0503020204020204" charset="-122"/>
              <a:cs typeface="微软雅黑" panose="020B0503020204020204" charset="-122"/>
            </a:endParaRPr>
          </a:p>
        </p:txBody>
      </p:sp>
      <p:sp>
        <p:nvSpPr>
          <p:cNvPr id="23" name="object 23"/>
          <p:cNvSpPr/>
          <p:nvPr/>
        </p:nvSpPr>
        <p:spPr>
          <a:xfrm>
            <a:off x="4510201" y="2190369"/>
            <a:ext cx="673100" cy="1797685"/>
          </a:xfrm>
          <a:custGeom>
            <a:avLst/>
            <a:gdLst/>
            <a:ahLst/>
            <a:cxnLst/>
            <a:rect l="l" t="t" r="r" b="b"/>
            <a:pathLst>
              <a:path w="673100" h="1797685">
                <a:moveTo>
                  <a:pt x="672922" y="1797646"/>
                </a:moveTo>
                <a:lnTo>
                  <a:pt x="0" y="1797646"/>
                </a:lnTo>
                <a:lnTo>
                  <a:pt x="0" y="0"/>
                </a:lnTo>
                <a:lnTo>
                  <a:pt x="672922" y="0"/>
                </a:lnTo>
                <a:lnTo>
                  <a:pt x="672922" y="14287"/>
                </a:lnTo>
                <a:lnTo>
                  <a:pt x="28575" y="14287"/>
                </a:lnTo>
                <a:lnTo>
                  <a:pt x="14287" y="28574"/>
                </a:lnTo>
                <a:lnTo>
                  <a:pt x="28575" y="28574"/>
                </a:lnTo>
                <a:lnTo>
                  <a:pt x="28575" y="1769071"/>
                </a:lnTo>
                <a:lnTo>
                  <a:pt x="14287" y="1769071"/>
                </a:lnTo>
                <a:lnTo>
                  <a:pt x="28575" y="1783359"/>
                </a:lnTo>
                <a:lnTo>
                  <a:pt x="672922" y="1783359"/>
                </a:lnTo>
                <a:lnTo>
                  <a:pt x="672922" y="1797646"/>
                </a:lnTo>
                <a:close/>
              </a:path>
              <a:path w="673100" h="1797685">
                <a:moveTo>
                  <a:pt x="28575" y="28574"/>
                </a:moveTo>
                <a:lnTo>
                  <a:pt x="14287" y="28574"/>
                </a:lnTo>
                <a:lnTo>
                  <a:pt x="28575" y="14287"/>
                </a:lnTo>
                <a:lnTo>
                  <a:pt x="28575" y="28574"/>
                </a:lnTo>
                <a:close/>
              </a:path>
              <a:path w="673100" h="1797685">
                <a:moveTo>
                  <a:pt x="644347" y="28574"/>
                </a:moveTo>
                <a:lnTo>
                  <a:pt x="28575" y="28574"/>
                </a:lnTo>
                <a:lnTo>
                  <a:pt x="28575" y="14287"/>
                </a:lnTo>
                <a:lnTo>
                  <a:pt x="644347" y="14287"/>
                </a:lnTo>
                <a:lnTo>
                  <a:pt x="644347" y="28574"/>
                </a:lnTo>
                <a:close/>
              </a:path>
              <a:path w="673100" h="1797685">
                <a:moveTo>
                  <a:pt x="644347" y="1783359"/>
                </a:moveTo>
                <a:lnTo>
                  <a:pt x="644347" y="14287"/>
                </a:lnTo>
                <a:lnTo>
                  <a:pt x="658634" y="28574"/>
                </a:lnTo>
                <a:lnTo>
                  <a:pt x="672922" y="28574"/>
                </a:lnTo>
                <a:lnTo>
                  <a:pt x="672922" y="1769071"/>
                </a:lnTo>
                <a:lnTo>
                  <a:pt x="658634" y="1769071"/>
                </a:lnTo>
                <a:lnTo>
                  <a:pt x="644347" y="1783359"/>
                </a:lnTo>
                <a:close/>
              </a:path>
              <a:path w="673100" h="1797685">
                <a:moveTo>
                  <a:pt x="672922" y="28574"/>
                </a:moveTo>
                <a:lnTo>
                  <a:pt x="658634" y="28574"/>
                </a:lnTo>
                <a:lnTo>
                  <a:pt x="644347" y="14287"/>
                </a:lnTo>
                <a:lnTo>
                  <a:pt x="672922" y="14287"/>
                </a:lnTo>
                <a:lnTo>
                  <a:pt x="672922" y="28574"/>
                </a:lnTo>
                <a:close/>
              </a:path>
              <a:path w="673100" h="1797685">
                <a:moveTo>
                  <a:pt x="28575" y="1783359"/>
                </a:moveTo>
                <a:lnTo>
                  <a:pt x="14287" y="1769071"/>
                </a:lnTo>
                <a:lnTo>
                  <a:pt x="28575" y="1769071"/>
                </a:lnTo>
                <a:lnTo>
                  <a:pt x="28575" y="1783359"/>
                </a:lnTo>
                <a:close/>
              </a:path>
              <a:path w="673100" h="1797685">
                <a:moveTo>
                  <a:pt x="644347" y="1783359"/>
                </a:moveTo>
                <a:lnTo>
                  <a:pt x="28575" y="1783359"/>
                </a:lnTo>
                <a:lnTo>
                  <a:pt x="28575" y="1769071"/>
                </a:lnTo>
                <a:lnTo>
                  <a:pt x="644347" y="1769071"/>
                </a:lnTo>
                <a:lnTo>
                  <a:pt x="644347" y="1783359"/>
                </a:lnTo>
                <a:close/>
              </a:path>
              <a:path w="673100" h="1797685">
                <a:moveTo>
                  <a:pt x="672922" y="1783359"/>
                </a:moveTo>
                <a:lnTo>
                  <a:pt x="644347" y="1783359"/>
                </a:lnTo>
                <a:lnTo>
                  <a:pt x="658634" y="1769071"/>
                </a:lnTo>
                <a:lnTo>
                  <a:pt x="672922" y="1769071"/>
                </a:lnTo>
                <a:lnTo>
                  <a:pt x="672922" y="1783359"/>
                </a:lnTo>
                <a:close/>
              </a:path>
            </a:pathLst>
          </a:custGeom>
          <a:solidFill>
            <a:srgbClr val="C00000"/>
          </a:solidFill>
        </p:spPr>
        <p:txBody>
          <a:bodyPr wrap="square" lIns="0" tIns="0" rIns="0" bIns="0" rtlCol="0"/>
          <a:lstStyle/>
          <a:p/>
        </p:txBody>
      </p:sp>
      <p:sp>
        <p:nvSpPr>
          <p:cNvPr id="24" name="object 24"/>
          <p:cNvSpPr/>
          <p:nvPr/>
        </p:nvSpPr>
        <p:spPr>
          <a:xfrm>
            <a:off x="8334756" y="4416552"/>
            <a:ext cx="127000" cy="591820"/>
          </a:xfrm>
          <a:custGeom>
            <a:avLst/>
            <a:gdLst/>
            <a:ahLst/>
            <a:cxnLst/>
            <a:rect l="l" t="t" r="r" b="b"/>
            <a:pathLst>
              <a:path w="127000" h="591820">
                <a:moveTo>
                  <a:pt x="0" y="0"/>
                </a:moveTo>
                <a:lnTo>
                  <a:pt x="126492" y="0"/>
                </a:lnTo>
                <a:lnTo>
                  <a:pt x="126492" y="591312"/>
                </a:lnTo>
                <a:lnTo>
                  <a:pt x="0" y="591312"/>
                </a:lnTo>
                <a:lnTo>
                  <a:pt x="0" y="0"/>
                </a:lnTo>
                <a:close/>
              </a:path>
            </a:pathLst>
          </a:custGeom>
          <a:solidFill>
            <a:srgbClr val="C00000"/>
          </a:solidFill>
        </p:spPr>
        <p:txBody>
          <a:bodyPr wrap="square" lIns="0" tIns="0" rIns="0" bIns="0" rtlCol="0"/>
          <a:lstStyle/>
          <a:p/>
        </p:txBody>
      </p:sp>
      <p:sp>
        <p:nvSpPr>
          <p:cNvPr id="25" name="object 25"/>
          <p:cNvSpPr/>
          <p:nvPr/>
        </p:nvSpPr>
        <p:spPr>
          <a:xfrm>
            <a:off x="8328304" y="4409795"/>
            <a:ext cx="139065" cy="605155"/>
          </a:xfrm>
          <a:custGeom>
            <a:avLst/>
            <a:gdLst/>
            <a:ahLst/>
            <a:cxnLst/>
            <a:rect l="l" t="t" r="r" b="b"/>
            <a:pathLst>
              <a:path w="139065" h="605154">
                <a:moveTo>
                  <a:pt x="138734" y="604634"/>
                </a:moveTo>
                <a:lnTo>
                  <a:pt x="0" y="604634"/>
                </a:lnTo>
                <a:lnTo>
                  <a:pt x="0" y="0"/>
                </a:lnTo>
                <a:lnTo>
                  <a:pt x="138734" y="0"/>
                </a:lnTo>
                <a:lnTo>
                  <a:pt x="138734" y="6350"/>
                </a:lnTo>
                <a:lnTo>
                  <a:pt x="12700" y="6350"/>
                </a:lnTo>
                <a:lnTo>
                  <a:pt x="6350" y="12700"/>
                </a:lnTo>
                <a:lnTo>
                  <a:pt x="12700" y="12700"/>
                </a:lnTo>
                <a:lnTo>
                  <a:pt x="12700" y="591934"/>
                </a:lnTo>
                <a:lnTo>
                  <a:pt x="6350" y="591934"/>
                </a:lnTo>
                <a:lnTo>
                  <a:pt x="12700" y="598284"/>
                </a:lnTo>
                <a:lnTo>
                  <a:pt x="138734" y="598284"/>
                </a:lnTo>
                <a:lnTo>
                  <a:pt x="138734" y="604634"/>
                </a:lnTo>
                <a:close/>
              </a:path>
              <a:path w="139065" h="605154">
                <a:moveTo>
                  <a:pt x="12700" y="12700"/>
                </a:moveTo>
                <a:lnTo>
                  <a:pt x="6350" y="12700"/>
                </a:lnTo>
                <a:lnTo>
                  <a:pt x="12700" y="6350"/>
                </a:lnTo>
                <a:lnTo>
                  <a:pt x="12700" y="12700"/>
                </a:lnTo>
                <a:close/>
              </a:path>
              <a:path w="139065" h="605154">
                <a:moveTo>
                  <a:pt x="126034" y="12700"/>
                </a:moveTo>
                <a:lnTo>
                  <a:pt x="12700" y="12700"/>
                </a:lnTo>
                <a:lnTo>
                  <a:pt x="12700" y="6350"/>
                </a:lnTo>
                <a:lnTo>
                  <a:pt x="126034" y="6350"/>
                </a:lnTo>
                <a:lnTo>
                  <a:pt x="126034" y="12700"/>
                </a:lnTo>
                <a:close/>
              </a:path>
              <a:path w="139065" h="605154">
                <a:moveTo>
                  <a:pt x="126034" y="598284"/>
                </a:moveTo>
                <a:lnTo>
                  <a:pt x="126034" y="6350"/>
                </a:lnTo>
                <a:lnTo>
                  <a:pt x="132384" y="12700"/>
                </a:lnTo>
                <a:lnTo>
                  <a:pt x="138734" y="12700"/>
                </a:lnTo>
                <a:lnTo>
                  <a:pt x="138734" y="591934"/>
                </a:lnTo>
                <a:lnTo>
                  <a:pt x="132384" y="591934"/>
                </a:lnTo>
                <a:lnTo>
                  <a:pt x="126034" y="598284"/>
                </a:lnTo>
                <a:close/>
              </a:path>
              <a:path w="139065" h="605154">
                <a:moveTo>
                  <a:pt x="138734" y="12700"/>
                </a:moveTo>
                <a:lnTo>
                  <a:pt x="132384" y="12700"/>
                </a:lnTo>
                <a:lnTo>
                  <a:pt x="126034" y="6350"/>
                </a:lnTo>
                <a:lnTo>
                  <a:pt x="138734" y="6350"/>
                </a:lnTo>
                <a:lnTo>
                  <a:pt x="138734" y="12700"/>
                </a:lnTo>
                <a:close/>
              </a:path>
              <a:path w="139065" h="605154">
                <a:moveTo>
                  <a:pt x="12700" y="598284"/>
                </a:moveTo>
                <a:lnTo>
                  <a:pt x="6350" y="591934"/>
                </a:lnTo>
                <a:lnTo>
                  <a:pt x="12700" y="591934"/>
                </a:lnTo>
                <a:lnTo>
                  <a:pt x="12700" y="598284"/>
                </a:lnTo>
                <a:close/>
              </a:path>
              <a:path w="139065" h="605154">
                <a:moveTo>
                  <a:pt x="126034" y="598284"/>
                </a:moveTo>
                <a:lnTo>
                  <a:pt x="12700" y="598284"/>
                </a:lnTo>
                <a:lnTo>
                  <a:pt x="12700" y="591934"/>
                </a:lnTo>
                <a:lnTo>
                  <a:pt x="126034" y="591934"/>
                </a:lnTo>
                <a:lnTo>
                  <a:pt x="126034" y="598284"/>
                </a:lnTo>
                <a:close/>
              </a:path>
              <a:path w="139065" h="605154">
                <a:moveTo>
                  <a:pt x="138734" y="598284"/>
                </a:moveTo>
                <a:lnTo>
                  <a:pt x="126034" y="598284"/>
                </a:lnTo>
                <a:lnTo>
                  <a:pt x="132384" y="591934"/>
                </a:lnTo>
                <a:lnTo>
                  <a:pt x="138734" y="591934"/>
                </a:lnTo>
                <a:lnTo>
                  <a:pt x="138734" y="598284"/>
                </a:lnTo>
                <a:close/>
              </a:path>
            </a:pathLst>
          </a:custGeom>
          <a:solidFill>
            <a:srgbClr val="C00000"/>
          </a:solidFill>
        </p:spPr>
        <p:txBody>
          <a:bodyPr wrap="square" lIns="0" tIns="0" rIns="0" bIns="0" rtlCol="0"/>
          <a:lstStyle/>
          <a:p/>
        </p:txBody>
      </p:sp>
      <p:sp>
        <p:nvSpPr>
          <p:cNvPr id="26" name="object 26"/>
          <p:cNvSpPr/>
          <p:nvPr/>
        </p:nvSpPr>
        <p:spPr>
          <a:xfrm>
            <a:off x="8461247" y="4415028"/>
            <a:ext cx="730250" cy="591820"/>
          </a:xfrm>
          <a:custGeom>
            <a:avLst/>
            <a:gdLst/>
            <a:ahLst/>
            <a:cxnLst/>
            <a:rect l="l" t="t" r="r" b="b"/>
            <a:pathLst>
              <a:path w="730250" h="591820">
                <a:moveTo>
                  <a:pt x="0" y="0"/>
                </a:moveTo>
                <a:lnTo>
                  <a:pt x="729996" y="0"/>
                </a:lnTo>
                <a:lnTo>
                  <a:pt x="729996" y="591312"/>
                </a:lnTo>
                <a:lnTo>
                  <a:pt x="0" y="591312"/>
                </a:lnTo>
                <a:lnTo>
                  <a:pt x="0" y="0"/>
                </a:lnTo>
                <a:close/>
              </a:path>
            </a:pathLst>
          </a:custGeom>
          <a:solidFill>
            <a:srgbClr val="D9D9D9"/>
          </a:solidFill>
        </p:spPr>
        <p:txBody>
          <a:bodyPr wrap="square" lIns="0" tIns="0" rIns="0" bIns="0" rtlCol="0"/>
          <a:lstStyle/>
          <a:p/>
        </p:txBody>
      </p:sp>
      <p:sp>
        <p:nvSpPr>
          <p:cNvPr id="27" name="object 27"/>
          <p:cNvSpPr/>
          <p:nvPr/>
        </p:nvSpPr>
        <p:spPr>
          <a:xfrm>
            <a:off x="8454352" y="4408576"/>
            <a:ext cx="743585" cy="605155"/>
          </a:xfrm>
          <a:custGeom>
            <a:avLst/>
            <a:gdLst/>
            <a:ahLst/>
            <a:cxnLst/>
            <a:rect l="l" t="t" r="r" b="b"/>
            <a:pathLst>
              <a:path w="743584" h="605154">
                <a:moveTo>
                  <a:pt x="743038" y="604634"/>
                </a:moveTo>
                <a:lnTo>
                  <a:pt x="0" y="604634"/>
                </a:lnTo>
                <a:lnTo>
                  <a:pt x="0" y="0"/>
                </a:lnTo>
                <a:lnTo>
                  <a:pt x="743038" y="0"/>
                </a:lnTo>
                <a:lnTo>
                  <a:pt x="743038" y="6350"/>
                </a:lnTo>
                <a:lnTo>
                  <a:pt x="12700" y="6350"/>
                </a:lnTo>
                <a:lnTo>
                  <a:pt x="6350" y="12700"/>
                </a:lnTo>
                <a:lnTo>
                  <a:pt x="12700" y="12700"/>
                </a:lnTo>
                <a:lnTo>
                  <a:pt x="12700" y="591934"/>
                </a:lnTo>
                <a:lnTo>
                  <a:pt x="6350" y="591934"/>
                </a:lnTo>
                <a:lnTo>
                  <a:pt x="12700" y="598284"/>
                </a:lnTo>
                <a:lnTo>
                  <a:pt x="743038" y="598284"/>
                </a:lnTo>
                <a:lnTo>
                  <a:pt x="743038" y="604634"/>
                </a:lnTo>
                <a:close/>
              </a:path>
              <a:path w="743584" h="605154">
                <a:moveTo>
                  <a:pt x="12700" y="12700"/>
                </a:moveTo>
                <a:lnTo>
                  <a:pt x="6350" y="12700"/>
                </a:lnTo>
                <a:lnTo>
                  <a:pt x="12700" y="6350"/>
                </a:lnTo>
                <a:lnTo>
                  <a:pt x="12700" y="12700"/>
                </a:lnTo>
                <a:close/>
              </a:path>
              <a:path w="743584" h="605154">
                <a:moveTo>
                  <a:pt x="730338" y="12700"/>
                </a:moveTo>
                <a:lnTo>
                  <a:pt x="12700" y="12700"/>
                </a:lnTo>
                <a:lnTo>
                  <a:pt x="12700" y="6350"/>
                </a:lnTo>
                <a:lnTo>
                  <a:pt x="730338" y="6350"/>
                </a:lnTo>
                <a:lnTo>
                  <a:pt x="730338" y="12700"/>
                </a:lnTo>
                <a:close/>
              </a:path>
              <a:path w="743584" h="605154">
                <a:moveTo>
                  <a:pt x="730338" y="598284"/>
                </a:moveTo>
                <a:lnTo>
                  <a:pt x="730338" y="6350"/>
                </a:lnTo>
                <a:lnTo>
                  <a:pt x="736688" y="12700"/>
                </a:lnTo>
                <a:lnTo>
                  <a:pt x="743038" y="12700"/>
                </a:lnTo>
                <a:lnTo>
                  <a:pt x="743038" y="591934"/>
                </a:lnTo>
                <a:lnTo>
                  <a:pt x="736688" y="591934"/>
                </a:lnTo>
                <a:lnTo>
                  <a:pt x="730338" y="598284"/>
                </a:lnTo>
                <a:close/>
              </a:path>
              <a:path w="743584" h="605154">
                <a:moveTo>
                  <a:pt x="743038" y="12700"/>
                </a:moveTo>
                <a:lnTo>
                  <a:pt x="736688" y="12700"/>
                </a:lnTo>
                <a:lnTo>
                  <a:pt x="730338" y="6350"/>
                </a:lnTo>
                <a:lnTo>
                  <a:pt x="743038" y="6350"/>
                </a:lnTo>
                <a:lnTo>
                  <a:pt x="743038" y="12700"/>
                </a:lnTo>
                <a:close/>
              </a:path>
              <a:path w="743584" h="605154">
                <a:moveTo>
                  <a:pt x="12700" y="598284"/>
                </a:moveTo>
                <a:lnTo>
                  <a:pt x="6350" y="591934"/>
                </a:lnTo>
                <a:lnTo>
                  <a:pt x="12700" y="591934"/>
                </a:lnTo>
                <a:lnTo>
                  <a:pt x="12700" y="598284"/>
                </a:lnTo>
                <a:close/>
              </a:path>
              <a:path w="743584" h="605154">
                <a:moveTo>
                  <a:pt x="730338" y="598284"/>
                </a:moveTo>
                <a:lnTo>
                  <a:pt x="12700" y="598284"/>
                </a:lnTo>
                <a:lnTo>
                  <a:pt x="12700" y="591934"/>
                </a:lnTo>
                <a:lnTo>
                  <a:pt x="730338" y="591934"/>
                </a:lnTo>
                <a:lnTo>
                  <a:pt x="730338" y="598284"/>
                </a:lnTo>
                <a:close/>
              </a:path>
              <a:path w="743584" h="605154">
                <a:moveTo>
                  <a:pt x="743038" y="598284"/>
                </a:moveTo>
                <a:lnTo>
                  <a:pt x="730338" y="598284"/>
                </a:lnTo>
                <a:lnTo>
                  <a:pt x="736688" y="591934"/>
                </a:lnTo>
                <a:lnTo>
                  <a:pt x="743038" y="591934"/>
                </a:lnTo>
                <a:lnTo>
                  <a:pt x="743038" y="598284"/>
                </a:lnTo>
                <a:close/>
              </a:path>
            </a:pathLst>
          </a:custGeom>
          <a:solidFill>
            <a:srgbClr val="C00000"/>
          </a:solidFill>
        </p:spPr>
        <p:txBody>
          <a:bodyPr wrap="square" lIns="0" tIns="0" rIns="0" bIns="0" rtlCol="0"/>
          <a:lstStyle/>
          <a:p/>
        </p:txBody>
      </p:sp>
      <p:sp>
        <p:nvSpPr>
          <p:cNvPr id="28" name="object 28"/>
          <p:cNvSpPr txBox="1"/>
          <p:nvPr/>
        </p:nvSpPr>
        <p:spPr>
          <a:xfrm>
            <a:off x="8461247" y="4564151"/>
            <a:ext cx="730250" cy="268605"/>
          </a:xfrm>
          <a:prstGeom prst="rect">
            <a:avLst/>
          </a:prstGeom>
        </p:spPr>
        <p:txBody>
          <a:bodyPr vert="horz" wrap="square" lIns="0" tIns="12065" rIns="0" bIns="0" rtlCol="0">
            <a:spAutoFit/>
          </a:bodyPr>
          <a:lstStyle/>
          <a:p>
            <a:pPr marL="116840">
              <a:lnSpc>
                <a:spcPct val="100000"/>
              </a:lnSpc>
              <a:spcBef>
                <a:spcPts val="95"/>
              </a:spcBef>
            </a:pPr>
            <a:r>
              <a:rPr sz="1600" spc="-5" dirty="0">
                <a:solidFill>
                  <a:srgbClr val="C00000"/>
                </a:solidFill>
                <a:latin typeface="Calibri" panose="020F0502020204030204"/>
                <a:cs typeface="Calibri" panose="020F0502020204030204"/>
              </a:rPr>
              <a:t>SRAM</a:t>
            </a:r>
            <a:endParaRPr sz="1600">
              <a:latin typeface="Calibri" panose="020F0502020204030204"/>
              <a:cs typeface="Calibri" panose="020F0502020204030204"/>
            </a:endParaRPr>
          </a:p>
        </p:txBody>
      </p:sp>
      <p:sp>
        <p:nvSpPr>
          <p:cNvPr id="29" name="object 29"/>
          <p:cNvSpPr/>
          <p:nvPr/>
        </p:nvSpPr>
        <p:spPr>
          <a:xfrm>
            <a:off x="8324557" y="4875047"/>
            <a:ext cx="147916" cy="129616"/>
          </a:xfrm>
          <a:prstGeom prst="rect">
            <a:avLst/>
          </a:prstGeom>
          <a:blipFill>
            <a:blip r:embed="rId1" cstate="print"/>
            <a:stretch>
              <a:fillRect/>
            </a:stretch>
          </a:blipFill>
        </p:spPr>
        <p:txBody>
          <a:bodyPr wrap="square" lIns="0" tIns="0" rIns="0" bIns="0" rtlCol="0"/>
          <a:lstStyle/>
          <a:p/>
        </p:txBody>
      </p:sp>
      <p:sp>
        <p:nvSpPr>
          <p:cNvPr id="30" name="object 30"/>
          <p:cNvSpPr/>
          <p:nvPr/>
        </p:nvSpPr>
        <p:spPr>
          <a:xfrm>
            <a:off x="8334756" y="5346191"/>
            <a:ext cx="127000" cy="593090"/>
          </a:xfrm>
          <a:custGeom>
            <a:avLst/>
            <a:gdLst/>
            <a:ahLst/>
            <a:cxnLst/>
            <a:rect l="l" t="t" r="r" b="b"/>
            <a:pathLst>
              <a:path w="127000" h="593089">
                <a:moveTo>
                  <a:pt x="0" y="0"/>
                </a:moveTo>
                <a:lnTo>
                  <a:pt x="126492" y="0"/>
                </a:lnTo>
                <a:lnTo>
                  <a:pt x="126492" y="592836"/>
                </a:lnTo>
                <a:lnTo>
                  <a:pt x="0" y="592836"/>
                </a:lnTo>
                <a:lnTo>
                  <a:pt x="0" y="0"/>
                </a:lnTo>
                <a:close/>
              </a:path>
            </a:pathLst>
          </a:custGeom>
          <a:solidFill>
            <a:srgbClr val="C00000"/>
          </a:solidFill>
        </p:spPr>
        <p:txBody>
          <a:bodyPr wrap="square" lIns="0" tIns="0" rIns="0" bIns="0" rtlCol="0"/>
          <a:lstStyle/>
          <a:p/>
        </p:txBody>
      </p:sp>
      <p:sp>
        <p:nvSpPr>
          <p:cNvPr id="31" name="object 31"/>
          <p:cNvSpPr/>
          <p:nvPr/>
        </p:nvSpPr>
        <p:spPr>
          <a:xfrm>
            <a:off x="8328888" y="5340413"/>
            <a:ext cx="139065" cy="605155"/>
          </a:xfrm>
          <a:custGeom>
            <a:avLst/>
            <a:gdLst/>
            <a:ahLst/>
            <a:cxnLst/>
            <a:rect l="l" t="t" r="r" b="b"/>
            <a:pathLst>
              <a:path w="139065" h="605154">
                <a:moveTo>
                  <a:pt x="138747" y="604621"/>
                </a:moveTo>
                <a:lnTo>
                  <a:pt x="0" y="604621"/>
                </a:lnTo>
                <a:lnTo>
                  <a:pt x="0" y="0"/>
                </a:lnTo>
                <a:lnTo>
                  <a:pt x="138747" y="0"/>
                </a:lnTo>
                <a:lnTo>
                  <a:pt x="138747" y="6350"/>
                </a:lnTo>
                <a:lnTo>
                  <a:pt x="12700" y="6350"/>
                </a:lnTo>
                <a:lnTo>
                  <a:pt x="6350" y="12700"/>
                </a:lnTo>
                <a:lnTo>
                  <a:pt x="12700" y="12700"/>
                </a:lnTo>
                <a:lnTo>
                  <a:pt x="12700" y="591921"/>
                </a:lnTo>
                <a:lnTo>
                  <a:pt x="6350" y="591921"/>
                </a:lnTo>
                <a:lnTo>
                  <a:pt x="12700" y="598271"/>
                </a:lnTo>
                <a:lnTo>
                  <a:pt x="138747" y="598271"/>
                </a:lnTo>
                <a:lnTo>
                  <a:pt x="138747" y="604621"/>
                </a:lnTo>
                <a:close/>
              </a:path>
              <a:path w="139065" h="605154">
                <a:moveTo>
                  <a:pt x="12700" y="12700"/>
                </a:moveTo>
                <a:lnTo>
                  <a:pt x="6350" y="12700"/>
                </a:lnTo>
                <a:lnTo>
                  <a:pt x="12700" y="6350"/>
                </a:lnTo>
                <a:lnTo>
                  <a:pt x="12700" y="12700"/>
                </a:lnTo>
                <a:close/>
              </a:path>
              <a:path w="139065" h="605154">
                <a:moveTo>
                  <a:pt x="126047" y="12700"/>
                </a:moveTo>
                <a:lnTo>
                  <a:pt x="12700" y="12700"/>
                </a:lnTo>
                <a:lnTo>
                  <a:pt x="12700" y="6350"/>
                </a:lnTo>
                <a:lnTo>
                  <a:pt x="126047" y="6350"/>
                </a:lnTo>
                <a:lnTo>
                  <a:pt x="126047" y="12700"/>
                </a:lnTo>
                <a:close/>
              </a:path>
              <a:path w="139065" h="605154">
                <a:moveTo>
                  <a:pt x="126047" y="598271"/>
                </a:moveTo>
                <a:lnTo>
                  <a:pt x="126047" y="6350"/>
                </a:lnTo>
                <a:lnTo>
                  <a:pt x="132397" y="12700"/>
                </a:lnTo>
                <a:lnTo>
                  <a:pt x="138747" y="12700"/>
                </a:lnTo>
                <a:lnTo>
                  <a:pt x="138747" y="591921"/>
                </a:lnTo>
                <a:lnTo>
                  <a:pt x="132397" y="591921"/>
                </a:lnTo>
                <a:lnTo>
                  <a:pt x="126047" y="598271"/>
                </a:lnTo>
                <a:close/>
              </a:path>
              <a:path w="139065" h="605154">
                <a:moveTo>
                  <a:pt x="138747" y="12700"/>
                </a:moveTo>
                <a:lnTo>
                  <a:pt x="132397" y="12700"/>
                </a:lnTo>
                <a:lnTo>
                  <a:pt x="126047" y="6350"/>
                </a:lnTo>
                <a:lnTo>
                  <a:pt x="138747" y="6350"/>
                </a:lnTo>
                <a:lnTo>
                  <a:pt x="138747" y="12700"/>
                </a:lnTo>
                <a:close/>
              </a:path>
              <a:path w="139065" h="605154">
                <a:moveTo>
                  <a:pt x="12700" y="598271"/>
                </a:moveTo>
                <a:lnTo>
                  <a:pt x="6350" y="591921"/>
                </a:lnTo>
                <a:lnTo>
                  <a:pt x="12700" y="591921"/>
                </a:lnTo>
                <a:lnTo>
                  <a:pt x="12700" y="598271"/>
                </a:lnTo>
                <a:close/>
              </a:path>
              <a:path w="139065" h="605154">
                <a:moveTo>
                  <a:pt x="126047" y="598271"/>
                </a:moveTo>
                <a:lnTo>
                  <a:pt x="12700" y="598271"/>
                </a:lnTo>
                <a:lnTo>
                  <a:pt x="12700" y="591921"/>
                </a:lnTo>
                <a:lnTo>
                  <a:pt x="126047" y="591921"/>
                </a:lnTo>
                <a:lnTo>
                  <a:pt x="126047" y="598271"/>
                </a:lnTo>
                <a:close/>
              </a:path>
              <a:path w="139065" h="605154">
                <a:moveTo>
                  <a:pt x="138747" y="598271"/>
                </a:moveTo>
                <a:lnTo>
                  <a:pt x="126047" y="598271"/>
                </a:lnTo>
                <a:lnTo>
                  <a:pt x="132397" y="591921"/>
                </a:lnTo>
                <a:lnTo>
                  <a:pt x="138747" y="591921"/>
                </a:lnTo>
                <a:lnTo>
                  <a:pt x="138747" y="598271"/>
                </a:lnTo>
                <a:close/>
              </a:path>
            </a:pathLst>
          </a:custGeom>
          <a:solidFill>
            <a:srgbClr val="C00000"/>
          </a:solidFill>
        </p:spPr>
        <p:txBody>
          <a:bodyPr wrap="square" lIns="0" tIns="0" rIns="0" bIns="0" rtlCol="0"/>
          <a:lstStyle/>
          <a:p/>
        </p:txBody>
      </p:sp>
      <p:sp>
        <p:nvSpPr>
          <p:cNvPr id="32" name="object 32"/>
          <p:cNvSpPr/>
          <p:nvPr/>
        </p:nvSpPr>
        <p:spPr>
          <a:xfrm>
            <a:off x="8461247" y="5346191"/>
            <a:ext cx="730250" cy="591820"/>
          </a:xfrm>
          <a:custGeom>
            <a:avLst/>
            <a:gdLst/>
            <a:ahLst/>
            <a:cxnLst/>
            <a:rect l="l" t="t" r="r" b="b"/>
            <a:pathLst>
              <a:path w="730250" h="591820">
                <a:moveTo>
                  <a:pt x="0" y="0"/>
                </a:moveTo>
                <a:lnTo>
                  <a:pt x="729996" y="0"/>
                </a:lnTo>
                <a:lnTo>
                  <a:pt x="729996" y="591312"/>
                </a:lnTo>
                <a:lnTo>
                  <a:pt x="0" y="591312"/>
                </a:lnTo>
                <a:lnTo>
                  <a:pt x="0" y="0"/>
                </a:lnTo>
                <a:close/>
              </a:path>
            </a:pathLst>
          </a:custGeom>
          <a:solidFill>
            <a:srgbClr val="D9D9D9"/>
          </a:solidFill>
        </p:spPr>
        <p:txBody>
          <a:bodyPr wrap="square" lIns="0" tIns="0" rIns="0" bIns="0" rtlCol="0"/>
          <a:lstStyle/>
          <a:p/>
        </p:txBody>
      </p:sp>
      <p:sp>
        <p:nvSpPr>
          <p:cNvPr id="33" name="object 33"/>
          <p:cNvSpPr/>
          <p:nvPr/>
        </p:nvSpPr>
        <p:spPr>
          <a:xfrm>
            <a:off x="8454935" y="5339194"/>
            <a:ext cx="743585" cy="605155"/>
          </a:xfrm>
          <a:custGeom>
            <a:avLst/>
            <a:gdLst/>
            <a:ahLst/>
            <a:cxnLst/>
            <a:rect l="l" t="t" r="r" b="b"/>
            <a:pathLst>
              <a:path w="743584" h="605154">
                <a:moveTo>
                  <a:pt x="743038" y="604621"/>
                </a:moveTo>
                <a:lnTo>
                  <a:pt x="0" y="604621"/>
                </a:lnTo>
                <a:lnTo>
                  <a:pt x="0" y="0"/>
                </a:lnTo>
                <a:lnTo>
                  <a:pt x="743038" y="0"/>
                </a:lnTo>
                <a:lnTo>
                  <a:pt x="743038" y="6350"/>
                </a:lnTo>
                <a:lnTo>
                  <a:pt x="12700" y="6350"/>
                </a:lnTo>
                <a:lnTo>
                  <a:pt x="6350" y="12700"/>
                </a:lnTo>
                <a:lnTo>
                  <a:pt x="12700" y="12700"/>
                </a:lnTo>
                <a:lnTo>
                  <a:pt x="12700" y="591921"/>
                </a:lnTo>
                <a:lnTo>
                  <a:pt x="6350" y="591921"/>
                </a:lnTo>
                <a:lnTo>
                  <a:pt x="12700" y="598271"/>
                </a:lnTo>
                <a:lnTo>
                  <a:pt x="743038" y="598271"/>
                </a:lnTo>
                <a:lnTo>
                  <a:pt x="743038" y="604621"/>
                </a:lnTo>
                <a:close/>
              </a:path>
              <a:path w="743584" h="605154">
                <a:moveTo>
                  <a:pt x="12700" y="12700"/>
                </a:moveTo>
                <a:lnTo>
                  <a:pt x="6350" y="12700"/>
                </a:lnTo>
                <a:lnTo>
                  <a:pt x="12700" y="6350"/>
                </a:lnTo>
                <a:lnTo>
                  <a:pt x="12700" y="12700"/>
                </a:lnTo>
                <a:close/>
              </a:path>
              <a:path w="743584" h="605154">
                <a:moveTo>
                  <a:pt x="730338" y="12700"/>
                </a:moveTo>
                <a:lnTo>
                  <a:pt x="12700" y="12700"/>
                </a:lnTo>
                <a:lnTo>
                  <a:pt x="12700" y="6350"/>
                </a:lnTo>
                <a:lnTo>
                  <a:pt x="730338" y="6350"/>
                </a:lnTo>
                <a:lnTo>
                  <a:pt x="730338" y="12700"/>
                </a:lnTo>
                <a:close/>
              </a:path>
              <a:path w="743584" h="605154">
                <a:moveTo>
                  <a:pt x="730338" y="598271"/>
                </a:moveTo>
                <a:lnTo>
                  <a:pt x="730338" y="6350"/>
                </a:lnTo>
                <a:lnTo>
                  <a:pt x="736688" y="12700"/>
                </a:lnTo>
                <a:lnTo>
                  <a:pt x="743038" y="12700"/>
                </a:lnTo>
                <a:lnTo>
                  <a:pt x="743038" y="591921"/>
                </a:lnTo>
                <a:lnTo>
                  <a:pt x="736688" y="591921"/>
                </a:lnTo>
                <a:lnTo>
                  <a:pt x="730338" y="598271"/>
                </a:lnTo>
                <a:close/>
              </a:path>
              <a:path w="743584" h="605154">
                <a:moveTo>
                  <a:pt x="743038" y="12700"/>
                </a:moveTo>
                <a:lnTo>
                  <a:pt x="736688" y="12700"/>
                </a:lnTo>
                <a:lnTo>
                  <a:pt x="730338" y="6350"/>
                </a:lnTo>
                <a:lnTo>
                  <a:pt x="743038" y="6350"/>
                </a:lnTo>
                <a:lnTo>
                  <a:pt x="743038" y="12700"/>
                </a:lnTo>
                <a:close/>
              </a:path>
              <a:path w="743584" h="605154">
                <a:moveTo>
                  <a:pt x="12700" y="598271"/>
                </a:moveTo>
                <a:lnTo>
                  <a:pt x="6350" y="591921"/>
                </a:lnTo>
                <a:lnTo>
                  <a:pt x="12700" y="591921"/>
                </a:lnTo>
                <a:lnTo>
                  <a:pt x="12700" y="598271"/>
                </a:lnTo>
                <a:close/>
              </a:path>
              <a:path w="743584" h="605154">
                <a:moveTo>
                  <a:pt x="730338" y="598271"/>
                </a:moveTo>
                <a:lnTo>
                  <a:pt x="12700" y="598271"/>
                </a:lnTo>
                <a:lnTo>
                  <a:pt x="12700" y="591921"/>
                </a:lnTo>
                <a:lnTo>
                  <a:pt x="730338" y="591921"/>
                </a:lnTo>
                <a:lnTo>
                  <a:pt x="730338" y="598271"/>
                </a:lnTo>
                <a:close/>
              </a:path>
              <a:path w="743584" h="605154">
                <a:moveTo>
                  <a:pt x="743038" y="598271"/>
                </a:moveTo>
                <a:lnTo>
                  <a:pt x="730338" y="598271"/>
                </a:lnTo>
                <a:lnTo>
                  <a:pt x="736688" y="591921"/>
                </a:lnTo>
                <a:lnTo>
                  <a:pt x="743038" y="591921"/>
                </a:lnTo>
                <a:lnTo>
                  <a:pt x="743038" y="598271"/>
                </a:lnTo>
                <a:close/>
              </a:path>
            </a:pathLst>
          </a:custGeom>
          <a:solidFill>
            <a:srgbClr val="C00000"/>
          </a:solidFill>
        </p:spPr>
        <p:txBody>
          <a:bodyPr wrap="square" lIns="0" tIns="0" rIns="0" bIns="0" rtlCol="0"/>
          <a:lstStyle/>
          <a:p/>
        </p:txBody>
      </p:sp>
      <p:sp>
        <p:nvSpPr>
          <p:cNvPr id="34" name="object 34"/>
          <p:cNvSpPr txBox="1"/>
          <p:nvPr/>
        </p:nvSpPr>
        <p:spPr>
          <a:xfrm>
            <a:off x="8461247" y="5494756"/>
            <a:ext cx="730250" cy="268605"/>
          </a:xfrm>
          <a:prstGeom prst="rect">
            <a:avLst/>
          </a:prstGeom>
        </p:spPr>
        <p:txBody>
          <a:bodyPr vert="horz" wrap="square" lIns="0" tIns="12065" rIns="0" bIns="0" rtlCol="0">
            <a:spAutoFit/>
          </a:bodyPr>
          <a:lstStyle/>
          <a:p>
            <a:pPr marL="117475">
              <a:lnSpc>
                <a:spcPct val="100000"/>
              </a:lnSpc>
              <a:spcBef>
                <a:spcPts val="95"/>
              </a:spcBef>
            </a:pPr>
            <a:r>
              <a:rPr sz="1600" spc="-5" dirty="0">
                <a:solidFill>
                  <a:srgbClr val="C00000"/>
                </a:solidFill>
                <a:latin typeface="Calibri" panose="020F0502020204030204"/>
                <a:cs typeface="Calibri" panose="020F0502020204030204"/>
              </a:rPr>
              <a:t>SRAM</a:t>
            </a:r>
            <a:endParaRPr sz="1600">
              <a:latin typeface="Calibri" panose="020F0502020204030204"/>
              <a:cs typeface="Calibri" panose="020F0502020204030204"/>
            </a:endParaRPr>
          </a:p>
        </p:txBody>
      </p:sp>
      <p:sp>
        <p:nvSpPr>
          <p:cNvPr id="35" name="object 35"/>
          <p:cNvSpPr/>
          <p:nvPr/>
        </p:nvSpPr>
        <p:spPr>
          <a:xfrm>
            <a:off x="8325142" y="5805652"/>
            <a:ext cx="147916" cy="129616"/>
          </a:xfrm>
          <a:prstGeom prst="rect">
            <a:avLst/>
          </a:prstGeom>
          <a:blipFill>
            <a:blip r:embed="rId2" cstate="print"/>
            <a:stretch>
              <a:fillRect/>
            </a:stretch>
          </a:blipFill>
        </p:spPr>
        <p:txBody>
          <a:bodyPr wrap="square" lIns="0" tIns="0" rIns="0" bIns="0" rtlCol="0"/>
          <a:lstStyle/>
          <a:p/>
        </p:txBody>
      </p:sp>
      <p:sp>
        <p:nvSpPr>
          <p:cNvPr id="36" name="object 36"/>
          <p:cNvSpPr/>
          <p:nvPr/>
        </p:nvSpPr>
        <p:spPr>
          <a:xfrm>
            <a:off x="7924800" y="4395215"/>
            <a:ext cx="264160" cy="634365"/>
          </a:xfrm>
          <a:custGeom>
            <a:avLst/>
            <a:gdLst/>
            <a:ahLst/>
            <a:cxnLst/>
            <a:rect l="l" t="t" r="r" b="b"/>
            <a:pathLst>
              <a:path w="264159" h="634364">
                <a:moveTo>
                  <a:pt x="0" y="633984"/>
                </a:moveTo>
                <a:lnTo>
                  <a:pt x="0" y="0"/>
                </a:lnTo>
                <a:lnTo>
                  <a:pt x="263651" y="123444"/>
                </a:lnTo>
                <a:lnTo>
                  <a:pt x="263651" y="510539"/>
                </a:lnTo>
                <a:lnTo>
                  <a:pt x="0" y="633984"/>
                </a:lnTo>
                <a:close/>
              </a:path>
            </a:pathLst>
          </a:custGeom>
          <a:solidFill>
            <a:srgbClr val="D9D9D9"/>
          </a:solidFill>
        </p:spPr>
        <p:txBody>
          <a:bodyPr wrap="square" lIns="0" tIns="0" rIns="0" bIns="0" rtlCol="0"/>
          <a:lstStyle/>
          <a:p/>
        </p:txBody>
      </p:sp>
      <p:sp>
        <p:nvSpPr>
          <p:cNvPr id="37" name="object 37"/>
          <p:cNvSpPr/>
          <p:nvPr/>
        </p:nvSpPr>
        <p:spPr>
          <a:xfrm>
            <a:off x="7917777" y="4385424"/>
            <a:ext cx="276860" cy="653415"/>
          </a:xfrm>
          <a:custGeom>
            <a:avLst/>
            <a:gdLst/>
            <a:ahLst/>
            <a:cxnLst/>
            <a:rect l="l" t="t" r="r" b="b"/>
            <a:pathLst>
              <a:path w="276859" h="653414">
                <a:moveTo>
                  <a:pt x="0" y="653376"/>
                </a:moveTo>
                <a:lnTo>
                  <a:pt x="0" y="0"/>
                </a:lnTo>
                <a:lnTo>
                  <a:pt x="21316" y="9969"/>
                </a:lnTo>
                <a:lnTo>
                  <a:pt x="12700" y="9969"/>
                </a:lnTo>
                <a:lnTo>
                  <a:pt x="3657" y="15722"/>
                </a:lnTo>
                <a:lnTo>
                  <a:pt x="12700" y="19951"/>
                </a:lnTo>
                <a:lnTo>
                  <a:pt x="12700" y="633424"/>
                </a:lnTo>
                <a:lnTo>
                  <a:pt x="3657" y="637654"/>
                </a:lnTo>
                <a:lnTo>
                  <a:pt x="12700" y="643394"/>
                </a:lnTo>
                <a:lnTo>
                  <a:pt x="21343" y="643394"/>
                </a:lnTo>
                <a:lnTo>
                  <a:pt x="0" y="653376"/>
                </a:lnTo>
                <a:close/>
              </a:path>
              <a:path w="276859" h="653414">
                <a:moveTo>
                  <a:pt x="12700" y="19951"/>
                </a:moveTo>
                <a:lnTo>
                  <a:pt x="3657" y="15722"/>
                </a:lnTo>
                <a:lnTo>
                  <a:pt x="12700" y="9969"/>
                </a:lnTo>
                <a:lnTo>
                  <a:pt x="12700" y="19951"/>
                </a:lnTo>
                <a:close/>
              </a:path>
              <a:path w="276859" h="653414">
                <a:moveTo>
                  <a:pt x="263867" y="137430"/>
                </a:moveTo>
                <a:lnTo>
                  <a:pt x="12700" y="19951"/>
                </a:lnTo>
                <a:lnTo>
                  <a:pt x="12700" y="9969"/>
                </a:lnTo>
                <a:lnTo>
                  <a:pt x="21316" y="9969"/>
                </a:lnTo>
                <a:lnTo>
                  <a:pt x="276567" y="129349"/>
                </a:lnTo>
                <a:lnTo>
                  <a:pt x="276567" y="133388"/>
                </a:lnTo>
                <a:lnTo>
                  <a:pt x="263867" y="133388"/>
                </a:lnTo>
                <a:lnTo>
                  <a:pt x="263867" y="137430"/>
                </a:lnTo>
                <a:close/>
              </a:path>
              <a:path w="276859" h="653414">
                <a:moveTo>
                  <a:pt x="267525" y="139141"/>
                </a:moveTo>
                <a:lnTo>
                  <a:pt x="263867" y="137430"/>
                </a:lnTo>
                <a:lnTo>
                  <a:pt x="263867" y="133388"/>
                </a:lnTo>
                <a:lnTo>
                  <a:pt x="267525" y="139141"/>
                </a:lnTo>
                <a:close/>
              </a:path>
              <a:path w="276859" h="653414">
                <a:moveTo>
                  <a:pt x="276567" y="139141"/>
                </a:moveTo>
                <a:lnTo>
                  <a:pt x="267525" y="139141"/>
                </a:lnTo>
                <a:lnTo>
                  <a:pt x="263867" y="133388"/>
                </a:lnTo>
                <a:lnTo>
                  <a:pt x="276567" y="133388"/>
                </a:lnTo>
                <a:lnTo>
                  <a:pt x="276567" y="139141"/>
                </a:lnTo>
                <a:close/>
              </a:path>
              <a:path w="276859" h="653414">
                <a:moveTo>
                  <a:pt x="263867" y="515946"/>
                </a:moveTo>
                <a:lnTo>
                  <a:pt x="263867" y="137430"/>
                </a:lnTo>
                <a:lnTo>
                  <a:pt x="267525" y="139141"/>
                </a:lnTo>
                <a:lnTo>
                  <a:pt x="276567" y="139141"/>
                </a:lnTo>
                <a:lnTo>
                  <a:pt x="276567" y="514235"/>
                </a:lnTo>
                <a:lnTo>
                  <a:pt x="267525" y="514235"/>
                </a:lnTo>
                <a:lnTo>
                  <a:pt x="263867" y="515946"/>
                </a:lnTo>
                <a:close/>
              </a:path>
              <a:path w="276859" h="653414">
                <a:moveTo>
                  <a:pt x="263867" y="519988"/>
                </a:moveTo>
                <a:lnTo>
                  <a:pt x="263867" y="515946"/>
                </a:lnTo>
                <a:lnTo>
                  <a:pt x="267525" y="514235"/>
                </a:lnTo>
                <a:lnTo>
                  <a:pt x="263867" y="519988"/>
                </a:lnTo>
                <a:close/>
              </a:path>
              <a:path w="276859" h="653414">
                <a:moveTo>
                  <a:pt x="276567" y="519988"/>
                </a:moveTo>
                <a:lnTo>
                  <a:pt x="263867" y="519988"/>
                </a:lnTo>
                <a:lnTo>
                  <a:pt x="267525" y="514235"/>
                </a:lnTo>
                <a:lnTo>
                  <a:pt x="276567" y="514235"/>
                </a:lnTo>
                <a:lnTo>
                  <a:pt x="276567" y="519988"/>
                </a:lnTo>
                <a:close/>
              </a:path>
              <a:path w="276859" h="653414">
                <a:moveTo>
                  <a:pt x="21343" y="643394"/>
                </a:moveTo>
                <a:lnTo>
                  <a:pt x="12700" y="643394"/>
                </a:lnTo>
                <a:lnTo>
                  <a:pt x="12700" y="633424"/>
                </a:lnTo>
                <a:lnTo>
                  <a:pt x="263867" y="515946"/>
                </a:lnTo>
                <a:lnTo>
                  <a:pt x="263867" y="519988"/>
                </a:lnTo>
                <a:lnTo>
                  <a:pt x="276567" y="519988"/>
                </a:lnTo>
                <a:lnTo>
                  <a:pt x="276567" y="524027"/>
                </a:lnTo>
                <a:lnTo>
                  <a:pt x="21343" y="643394"/>
                </a:lnTo>
                <a:close/>
              </a:path>
              <a:path w="276859" h="653414">
                <a:moveTo>
                  <a:pt x="12700" y="643394"/>
                </a:moveTo>
                <a:lnTo>
                  <a:pt x="3657" y="637654"/>
                </a:lnTo>
                <a:lnTo>
                  <a:pt x="12700" y="633424"/>
                </a:lnTo>
                <a:lnTo>
                  <a:pt x="12700" y="643394"/>
                </a:lnTo>
                <a:close/>
              </a:path>
            </a:pathLst>
          </a:custGeom>
          <a:solidFill>
            <a:srgbClr val="C00000"/>
          </a:solidFill>
        </p:spPr>
        <p:txBody>
          <a:bodyPr wrap="square" lIns="0" tIns="0" rIns="0" bIns="0" rtlCol="0"/>
          <a:lstStyle/>
          <a:p/>
        </p:txBody>
      </p:sp>
      <p:sp>
        <p:nvSpPr>
          <p:cNvPr id="38" name="object 38"/>
          <p:cNvSpPr/>
          <p:nvPr/>
        </p:nvSpPr>
        <p:spPr>
          <a:xfrm>
            <a:off x="7924800" y="5326379"/>
            <a:ext cx="264160" cy="632460"/>
          </a:xfrm>
          <a:custGeom>
            <a:avLst/>
            <a:gdLst/>
            <a:ahLst/>
            <a:cxnLst/>
            <a:rect l="l" t="t" r="r" b="b"/>
            <a:pathLst>
              <a:path w="264159" h="632460">
                <a:moveTo>
                  <a:pt x="0" y="632460"/>
                </a:moveTo>
                <a:lnTo>
                  <a:pt x="0" y="0"/>
                </a:lnTo>
                <a:lnTo>
                  <a:pt x="263651" y="123444"/>
                </a:lnTo>
                <a:lnTo>
                  <a:pt x="263651" y="509016"/>
                </a:lnTo>
                <a:lnTo>
                  <a:pt x="0" y="632460"/>
                </a:lnTo>
                <a:close/>
              </a:path>
            </a:pathLst>
          </a:custGeom>
          <a:solidFill>
            <a:srgbClr val="D9D9D9"/>
          </a:solidFill>
        </p:spPr>
        <p:txBody>
          <a:bodyPr wrap="square" lIns="0" tIns="0" rIns="0" bIns="0" rtlCol="0"/>
          <a:lstStyle/>
          <a:p/>
        </p:txBody>
      </p:sp>
      <p:sp>
        <p:nvSpPr>
          <p:cNvPr id="39" name="object 39"/>
          <p:cNvSpPr/>
          <p:nvPr/>
        </p:nvSpPr>
        <p:spPr>
          <a:xfrm>
            <a:off x="7917777" y="5316029"/>
            <a:ext cx="276860" cy="653415"/>
          </a:xfrm>
          <a:custGeom>
            <a:avLst/>
            <a:gdLst/>
            <a:ahLst/>
            <a:cxnLst/>
            <a:rect l="l" t="t" r="r" b="b"/>
            <a:pathLst>
              <a:path w="276859" h="653414">
                <a:moveTo>
                  <a:pt x="0" y="653389"/>
                </a:moveTo>
                <a:lnTo>
                  <a:pt x="0" y="0"/>
                </a:lnTo>
                <a:lnTo>
                  <a:pt x="21343" y="9982"/>
                </a:lnTo>
                <a:lnTo>
                  <a:pt x="12700" y="9982"/>
                </a:lnTo>
                <a:lnTo>
                  <a:pt x="3657" y="15735"/>
                </a:lnTo>
                <a:lnTo>
                  <a:pt x="12700" y="19964"/>
                </a:lnTo>
                <a:lnTo>
                  <a:pt x="12700" y="633424"/>
                </a:lnTo>
                <a:lnTo>
                  <a:pt x="3657" y="637654"/>
                </a:lnTo>
                <a:lnTo>
                  <a:pt x="12700" y="643407"/>
                </a:lnTo>
                <a:lnTo>
                  <a:pt x="21343" y="643407"/>
                </a:lnTo>
                <a:lnTo>
                  <a:pt x="0" y="653389"/>
                </a:lnTo>
                <a:close/>
              </a:path>
              <a:path w="276859" h="653414">
                <a:moveTo>
                  <a:pt x="12700" y="19964"/>
                </a:moveTo>
                <a:lnTo>
                  <a:pt x="3657" y="15735"/>
                </a:lnTo>
                <a:lnTo>
                  <a:pt x="12700" y="9982"/>
                </a:lnTo>
                <a:lnTo>
                  <a:pt x="12700" y="19964"/>
                </a:lnTo>
                <a:close/>
              </a:path>
              <a:path w="276859" h="653414">
                <a:moveTo>
                  <a:pt x="263867" y="137430"/>
                </a:moveTo>
                <a:lnTo>
                  <a:pt x="12700" y="19964"/>
                </a:lnTo>
                <a:lnTo>
                  <a:pt x="12700" y="9982"/>
                </a:lnTo>
                <a:lnTo>
                  <a:pt x="21343" y="9982"/>
                </a:lnTo>
                <a:lnTo>
                  <a:pt x="276567" y="129349"/>
                </a:lnTo>
                <a:lnTo>
                  <a:pt x="276567" y="133388"/>
                </a:lnTo>
                <a:lnTo>
                  <a:pt x="263867" y="133388"/>
                </a:lnTo>
                <a:lnTo>
                  <a:pt x="263867" y="137430"/>
                </a:lnTo>
                <a:close/>
              </a:path>
              <a:path w="276859" h="653414">
                <a:moveTo>
                  <a:pt x="267525" y="139141"/>
                </a:moveTo>
                <a:lnTo>
                  <a:pt x="263867" y="137430"/>
                </a:lnTo>
                <a:lnTo>
                  <a:pt x="263867" y="133388"/>
                </a:lnTo>
                <a:lnTo>
                  <a:pt x="267525" y="139141"/>
                </a:lnTo>
                <a:close/>
              </a:path>
              <a:path w="276859" h="653414">
                <a:moveTo>
                  <a:pt x="276567" y="139141"/>
                </a:moveTo>
                <a:lnTo>
                  <a:pt x="267525" y="139141"/>
                </a:lnTo>
                <a:lnTo>
                  <a:pt x="263867" y="133388"/>
                </a:lnTo>
                <a:lnTo>
                  <a:pt x="276567" y="133388"/>
                </a:lnTo>
                <a:lnTo>
                  <a:pt x="276567" y="139141"/>
                </a:lnTo>
                <a:close/>
              </a:path>
              <a:path w="276859" h="653414">
                <a:moveTo>
                  <a:pt x="263867" y="515946"/>
                </a:moveTo>
                <a:lnTo>
                  <a:pt x="263867" y="137430"/>
                </a:lnTo>
                <a:lnTo>
                  <a:pt x="267525" y="139141"/>
                </a:lnTo>
                <a:lnTo>
                  <a:pt x="276567" y="139141"/>
                </a:lnTo>
                <a:lnTo>
                  <a:pt x="276567" y="514235"/>
                </a:lnTo>
                <a:lnTo>
                  <a:pt x="267525" y="514235"/>
                </a:lnTo>
                <a:lnTo>
                  <a:pt x="263867" y="515946"/>
                </a:lnTo>
                <a:close/>
              </a:path>
              <a:path w="276859" h="653414">
                <a:moveTo>
                  <a:pt x="263867" y="519988"/>
                </a:moveTo>
                <a:lnTo>
                  <a:pt x="263867" y="515946"/>
                </a:lnTo>
                <a:lnTo>
                  <a:pt x="267525" y="514235"/>
                </a:lnTo>
                <a:lnTo>
                  <a:pt x="263867" y="519988"/>
                </a:lnTo>
                <a:close/>
              </a:path>
              <a:path w="276859" h="653414">
                <a:moveTo>
                  <a:pt x="276567" y="519988"/>
                </a:moveTo>
                <a:lnTo>
                  <a:pt x="263867" y="519988"/>
                </a:lnTo>
                <a:lnTo>
                  <a:pt x="267525" y="514235"/>
                </a:lnTo>
                <a:lnTo>
                  <a:pt x="276567" y="514235"/>
                </a:lnTo>
                <a:lnTo>
                  <a:pt x="276567" y="519988"/>
                </a:lnTo>
                <a:close/>
              </a:path>
              <a:path w="276859" h="653414">
                <a:moveTo>
                  <a:pt x="21343" y="643407"/>
                </a:moveTo>
                <a:lnTo>
                  <a:pt x="12700" y="643407"/>
                </a:lnTo>
                <a:lnTo>
                  <a:pt x="12700" y="633424"/>
                </a:lnTo>
                <a:lnTo>
                  <a:pt x="263867" y="515946"/>
                </a:lnTo>
                <a:lnTo>
                  <a:pt x="263867" y="519988"/>
                </a:lnTo>
                <a:lnTo>
                  <a:pt x="276567" y="519988"/>
                </a:lnTo>
                <a:lnTo>
                  <a:pt x="276567" y="524040"/>
                </a:lnTo>
                <a:lnTo>
                  <a:pt x="21343" y="643407"/>
                </a:lnTo>
                <a:close/>
              </a:path>
              <a:path w="276859" h="653414">
                <a:moveTo>
                  <a:pt x="12700" y="643407"/>
                </a:moveTo>
                <a:lnTo>
                  <a:pt x="3657" y="637654"/>
                </a:lnTo>
                <a:lnTo>
                  <a:pt x="12700" y="633424"/>
                </a:lnTo>
                <a:lnTo>
                  <a:pt x="12700" y="643407"/>
                </a:lnTo>
                <a:close/>
              </a:path>
            </a:pathLst>
          </a:custGeom>
          <a:solidFill>
            <a:srgbClr val="C00000"/>
          </a:solidFill>
        </p:spPr>
        <p:txBody>
          <a:bodyPr wrap="square" lIns="0" tIns="0" rIns="0" bIns="0" rtlCol="0"/>
          <a:lstStyle/>
          <a:p/>
        </p:txBody>
      </p:sp>
      <p:sp>
        <p:nvSpPr>
          <p:cNvPr id="40" name="object 40"/>
          <p:cNvSpPr/>
          <p:nvPr/>
        </p:nvSpPr>
        <p:spPr>
          <a:xfrm>
            <a:off x="8187994" y="4666081"/>
            <a:ext cx="146659" cy="76200"/>
          </a:xfrm>
          <a:prstGeom prst="rect">
            <a:avLst/>
          </a:prstGeom>
          <a:blipFill>
            <a:blip r:embed="rId3" cstate="print"/>
            <a:stretch>
              <a:fillRect/>
            </a:stretch>
          </a:blipFill>
        </p:spPr>
        <p:txBody>
          <a:bodyPr wrap="square" lIns="0" tIns="0" rIns="0" bIns="0" rtlCol="0"/>
          <a:lstStyle/>
          <a:p/>
        </p:txBody>
      </p:sp>
      <p:sp>
        <p:nvSpPr>
          <p:cNvPr id="41" name="object 41"/>
          <p:cNvSpPr/>
          <p:nvPr/>
        </p:nvSpPr>
        <p:spPr>
          <a:xfrm>
            <a:off x="8187994" y="5603405"/>
            <a:ext cx="146659" cy="76200"/>
          </a:xfrm>
          <a:prstGeom prst="rect">
            <a:avLst/>
          </a:prstGeom>
          <a:blipFill>
            <a:blip r:embed="rId3" cstate="print"/>
            <a:stretch>
              <a:fillRect/>
            </a:stretch>
          </a:blipFill>
        </p:spPr>
        <p:txBody>
          <a:bodyPr wrap="square" lIns="0" tIns="0" rIns="0" bIns="0" rtlCol="0"/>
          <a:lstStyle/>
          <a:p/>
        </p:txBody>
      </p:sp>
      <p:sp>
        <p:nvSpPr>
          <p:cNvPr id="42" name="object 42"/>
          <p:cNvSpPr/>
          <p:nvPr/>
        </p:nvSpPr>
        <p:spPr>
          <a:xfrm>
            <a:off x="7524203" y="3489185"/>
            <a:ext cx="0" cy="1990725"/>
          </a:xfrm>
          <a:custGeom>
            <a:avLst/>
            <a:gdLst/>
            <a:ahLst/>
            <a:cxnLst/>
            <a:rect l="l" t="t" r="r" b="b"/>
            <a:pathLst>
              <a:path h="1990725">
                <a:moveTo>
                  <a:pt x="0" y="0"/>
                </a:moveTo>
                <a:lnTo>
                  <a:pt x="0" y="1990623"/>
                </a:lnTo>
              </a:path>
            </a:pathLst>
          </a:custGeom>
          <a:ln w="18592">
            <a:solidFill>
              <a:srgbClr val="C00000"/>
            </a:solidFill>
          </a:ln>
        </p:spPr>
        <p:txBody>
          <a:bodyPr wrap="square" lIns="0" tIns="0" rIns="0" bIns="0" rtlCol="0"/>
          <a:lstStyle/>
          <a:p/>
        </p:txBody>
      </p:sp>
      <p:sp>
        <p:nvSpPr>
          <p:cNvPr id="43" name="object 43"/>
          <p:cNvSpPr/>
          <p:nvPr/>
        </p:nvSpPr>
        <p:spPr>
          <a:xfrm>
            <a:off x="7754493" y="3499573"/>
            <a:ext cx="0" cy="1090930"/>
          </a:xfrm>
          <a:custGeom>
            <a:avLst/>
            <a:gdLst/>
            <a:ahLst/>
            <a:cxnLst/>
            <a:rect l="l" t="t" r="r" b="b"/>
            <a:pathLst>
              <a:path h="1090929">
                <a:moveTo>
                  <a:pt x="0" y="0"/>
                </a:moveTo>
                <a:lnTo>
                  <a:pt x="0" y="1090498"/>
                </a:lnTo>
              </a:path>
            </a:pathLst>
          </a:custGeom>
          <a:ln w="12700">
            <a:solidFill>
              <a:srgbClr val="C00000"/>
            </a:solidFill>
          </a:ln>
        </p:spPr>
        <p:txBody>
          <a:bodyPr wrap="square" lIns="0" tIns="0" rIns="0" bIns="0" rtlCol="0"/>
          <a:lstStyle/>
          <a:p/>
        </p:txBody>
      </p:sp>
      <p:sp>
        <p:nvSpPr>
          <p:cNvPr id="44" name="object 44"/>
          <p:cNvSpPr/>
          <p:nvPr/>
        </p:nvSpPr>
        <p:spPr>
          <a:xfrm>
            <a:off x="7757400" y="4552531"/>
            <a:ext cx="166141" cy="76187"/>
          </a:xfrm>
          <a:prstGeom prst="rect">
            <a:avLst/>
          </a:prstGeom>
          <a:blipFill>
            <a:blip r:embed="rId4" cstate="print"/>
            <a:stretch>
              <a:fillRect/>
            </a:stretch>
          </a:blipFill>
        </p:spPr>
        <p:txBody>
          <a:bodyPr wrap="square" lIns="0" tIns="0" rIns="0" bIns="0" rtlCol="0"/>
          <a:lstStyle/>
          <a:p/>
        </p:txBody>
      </p:sp>
      <p:sp>
        <p:nvSpPr>
          <p:cNvPr id="45" name="object 45"/>
          <p:cNvSpPr/>
          <p:nvPr/>
        </p:nvSpPr>
        <p:spPr>
          <a:xfrm>
            <a:off x="7517130" y="5431929"/>
            <a:ext cx="396240" cy="76200"/>
          </a:xfrm>
          <a:custGeom>
            <a:avLst/>
            <a:gdLst/>
            <a:ahLst/>
            <a:cxnLst/>
            <a:rect l="l" t="t" r="r" b="b"/>
            <a:pathLst>
              <a:path w="396240" h="76200">
                <a:moveTo>
                  <a:pt x="319608" y="76200"/>
                </a:moveTo>
                <a:lnTo>
                  <a:pt x="319608" y="0"/>
                </a:lnTo>
                <a:lnTo>
                  <a:pt x="383108" y="31750"/>
                </a:lnTo>
                <a:lnTo>
                  <a:pt x="338658" y="31750"/>
                </a:lnTo>
                <a:lnTo>
                  <a:pt x="338658" y="44450"/>
                </a:lnTo>
                <a:lnTo>
                  <a:pt x="383108" y="44450"/>
                </a:lnTo>
                <a:lnTo>
                  <a:pt x="319608" y="76200"/>
                </a:lnTo>
                <a:close/>
              </a:path>
              <a:path w="396240" h="76200">
                <a:moveTo>
                  <a:pt x="319608" y="44450"/>
                </a:moveTo>
                <a:lnTo>
                  <a:pt x="0" y="44450"/>
                </a:lnTo>
                <a:lnTo>
                  <a:pt x="0" y="31750"/>
                </a:lnTo>
                <a:lnTo>
                  <a:pt x="319608" y="31750"/>
                </a:lnTo>
                <a:lnTo>
                  <a:pt x="319608" y="44450"/>
                </a:lnTo>
                <a:close/>
              </a:path>
              <a:path w="396240" h="76200">
                <a:moveTo>
                  <a:pt x="383108" y="44450"/>
                </a:moveTo>
                <a:lnTo>
                  <a:pt x="338658" y="44450"/>
                </a:lnTo>
                <a:lnTo>
                  <a:pt x="338658" y="31750"/>
                </a:lnTo>
                <a:lnTo>
                  <a:pt x="383108" y="31750"/>
                </a:lnTo>
                <a:lnTo>
                  <a:pt x="395808" y="38100"/>
                </a:lnTo>
                <a:lnTo>
                  <a:pt x="383108" y="44450"/>
                </a:lnTo>
                <a:close/>
              </a:path>
            </a:pathLst>
          </a:custGeom>
          <a:solidFill>
            <a:srgbClr val="C00000"/>
          </a:solidFill>
        </p:spPr>
        <p:txBody>
          <a:bodyPr wrap="square" lIns="0" tIns="0" rIns="0" bIns="0" rtlCol="0"/>
          <a:lstStyle/>
          <a:p/>
        </p:txBody>
      </p:sp>
      <p:sp>
        <p:nvSpPr>
          <p:cNvPr id="46" name="object 46"/>
          <p:cNvSpPr/>
          <p:nvPr/>
        </p:nvSpPr>
        <p:spPr>
          <a:xfrm>
            <a:off x="6276124" y="4842636"/>
            <a:ext cx="1637030" cy="76200"/>
          </a:xfrm>
          <a:custGeom>
            <a:avLst/>
            <a:gdLst/>
            <a:ahLst/>
            <a:cxnLst/>
            <a:rect l="l" t="t" r="r" b="b"/>
            <a:pathLst>
              <a:path w="1637029" h="76200">
                <a:moveTo>
                  <a:pt x="1560597" y="31748"/>
                </a:moveTo>
                <a:lnTo>
                  <a:pt x="1560512" y="0"/>
                </a:lnTo>
                <a:lnTo>
                  <a:pt x="1624335" y="31699"/>
                </a:lnTo>
                <a:lnTo>
                  <a:pt x="1579651" y="31699"/>
                </a:lnTo>
                <a:lnTo>
                  <a:pt x="1560597" y="31748"/>
                </a:lnTo>
                <a:close/>
              </a:path>
              <a:path w="1637029" h="76200">
                <a:moveTo>
                  <a:pt x="1560631" y="44448"/>
                </a:moveTo>
                <a:lnTo>
                  <a:pt x="1560597" y="31748"/>
                </a:lnTo>
                <a:lnTo>
                  <a:pt x="1579651" y="31699"/>
                </a:lnTo>
                <a:lnTo>
                  <a:pt x="1579676" y="44399"/>
                </a:lnTo>
                <a:lnTo>
                  <a:pt x="1560631" y="44448"/>
                </a:lnTo>
                <a:close/>
              </a:path>
              <a:path w="1637029" h="76200">
                <a:moveTo>
                  <a:pt x="1560715" y="76200"/>
                </a:moveTo>
                <a:lnTo>
                  <a:pt x="1560631" y="44448"/>
                </a:lnTo>
                <a:lnTo>
                  <a:pt x="1579676" y="44399"/>
                </a:lnTo>
                <a:lnTo>
                  <a:pt x="1579651" y="31699"/>
                </a:lnTo>
                <a:lnTo>
                  <a:pt x="1624335" y="31699"/>
                </a:lnTo>
                <a:lnTo>
                  <a:pt x="1636814" y="37896"/>
                </a:lnTo>
                <a:lnTo>
                  <a:pt x="1560715" y="76200"/>
                </a:lnTo>
                <a:close/>
              </a:path>
              <a:path w="1637029" h="76200">
                <a:moveTo>
                  <a:pt x="25" y="48526"/>
                </a:moveTo>
                <a:lnTo>
                  <a:pt x="0" y="35826"/>
                </a:lnTo>
                <a:lnTo>
                  <a:pt x="1560597" y="31748"/>
                </a:lnTo>
                <a:lnTo>
                  <a:pt x="1560631" y="44448"/>
                </a:lnTo>
                <a:lnTo>
                  <a:pt x="25" y="48526"/>
                </a:lnTo>
                <a:close/>
              </a:path>
            </a:pathLst>
          </a:custGeom>
          <a:solidFill>
            <a:srgbClr val="C00000"/>
          </a:solidFill>
        </p:spPr>
        <p:txBody>
          <a:bodyPr wrap="square" lIns="0" tIns="0" rIns="0" bIns="0" rtlCol="0"/>
          <a:lstStyle/>
          <a:p/>
        </p:txBody>
      </p:sp>
      <p:sp>
        <p:nvSpPr>
          <p:cNvPr id="47" name="object 47"/>
          <p:cNvSpPr/>
          <p:nvPr/>
        </p:nvSpPr>
        <p:spPr>
          <a:xfrm>
            <a:off x="4844897" y="5603417"/>
            <a:ext cx="3068320" cy="76200"/>
          </a:xfrm>
          <a:custGeom>
            <a:avLst/>
            <a:gdLst/>
            <a:ahLst/>
            <a:cxnLst/>
            <a:rect l="l" t="t" r="r" b="b"/>
            <a:pathLst>
              <a:path w="3068320" h="76200">
                <a:moveTo>
                  <a:pt x="2991838" y="31753"/>
                </a:moveTo>
                <a:lnTo>
                  <a:pt x="2991827" y="0"/>
                </a:lnTo>
                <a:lnTo>
                  <a:pt x="3055359" y="31750"/>
                </a:lnTo>
                <a:lnTo>
                  <a:pt x="2991838" y="31753"/>
                </a:lnTo>
                <a:close/>
              </a:path>
              <a:path w="3068320" h="76200">
                <a:moveTo>
                  <a:pt x="2991840" y="44453"/>
                </a:moveTo>
                <a:lnTo>
                  <a:pt x="2991838" y="31753"/>
                </a:lnTo>
                <a:lnTo>
                  <a:pt x="3010890" y="31750"/>
                </a:lnTo>
                <a:lnTo>
                  <a:pt x="3010890" y="44450"/>
                </a:lnTo>
                <a:lnTo>
                  <a:pt x="2991840" y="44453"/>
                </a:lnTo>
                <a:close/>
              </a:path>
              <a:path w="3068320" h="76200">
                <a:moveTo>
                  <a:pt x="2991840" y="76200"/>
                </a:moveTo>
                <a:lnTo>
                  <a:pt x="2991840" y="44453"/>
                </a:lnTo>
                <a:lnTo>
                  <a:pt x="3010890" y="44450"/>
                </a:lnTo>
                <a:lnTo>
                  <a:pt x="3010890" y="31750"/>
                </a:lnTo>
                <a:lnTo>
                  <a:pt x="3055367" y="31753"/>
                </a:lnTo>
                <a:lnTo>
                  <a:pt x="3068040" y="38087"/>
                </a:lnTo>
                <a:lnTo>
                  <a:pt x="2991840" y="76200"/>
                </a:lnTo>
                <a:close/>
              </a:path>
              <a:path w="3068320" h="76200">
                <a:moveTo>
                  <a:pt x="0" y="45046"/>
                </a:moveTo>
                <a:lnTo>
                  <a:pt x="0" y="32346"/>
                </a:lnTo>
                <a:lnTo>
                  <a:pt x="2991838" y="31753"/>
                </a:lnTo>
                <a:lnTo>
                  <a:pt x="2991840" y="44453"/>
                </a:lnTo>
                <a:lnTo>
                  <a:pt x="0" y="45046"/>
                </a:lnTo>
                <a:close/>
              </a:path>
            </a:pathLst>
          </a:custGeom>
          <a:solidFill>
            <a:srgbClr val="C00000"/>
          </a:solidFill>
        </p:spPr>
        <p:txBody>
          <a:bodyPr wrap="square" lIns="0" tIns="0" rIns="0" bIns="0" rtlCol="0"/>
          <a:lstStyle/>
          <a:p/>
        </p:txBody>
      </p:sp>
      <p:sp>
        <p:nvSpPr>
          <p:cNvPr id="48" name="object 48"/>
          <p:cNvSpPr/>
          <p:nvPr/>
        </p:nvSpPr>
        <p:spPr>
          <a:xfrm>
            <a:off x="6323825" y="5780608"/>
            <a:ext cx="1600835" cy="76200"/>
          </a:xfrm>
          <a:custGeom>
            <a:avLst/>
            <a:gdLst/>
            <a:ahLst/>
            <a:cxnLst/>
            <a:rect l="l" t="t" r="r" b="b"/>
            <a:pathLst>
              <a:path w="1600834" h="76200">
                <a:moveTo>
                  <a:pt x="1524082" y="31744"/>
                </a:moveTo>
                <a:lnTo>
                  <a:pt x="1523987" y="0"/>
                </a:lnTo>
                <a:lnTo>
                  <a:pt x="1587859" y="31686"/>
                </a:lnTo>
                <a:lnTo>
                  <a:pt x="1543126" y="31686"/>
                </a:lnTo>
                <a:lnTo>
                  <a:pt x="1524082" y="31744"/>
                </a:lnTo>
                <a:close/>
              </a:path>
              <a:path w="1600834" h="76200">
                <a:moveTo>
                  <a:pt x="1524120" y="44444"/>
                </a:moveTo>
                <a:lnTo>
                  <a:pt x="1524082" y="31744"/>
                </a:lnTo>
                <a:lnTo>
                  <a:pt x="1543126" y="31686"/>
                </a:lnTo>
                <a:lnTo>
                  <a:pt x="1543176" y="44386"/>
                </a:lnTo>
                <a:lnTo>
                  <a:pt x="1524120" y="44444"/>
                </a:lnTo>
                <a:close/>
              </a:path>
              <a:path w="1600834" h="76200">
                <a:moveTo>
                  <a:pt x="1524215" y="76200"/>
                </a:moveTo>
                <a:lnTo>
                  <a:pt x="1524120" y="44444"/>
                </a:lnTo>
                <a:lnTo>
                  <a:pt x="1543176" y="44386"/>
                </a:lnTo>
                <a:lnTo>
                  <a:pt x="1543126" y="31686"/>
                </a:lnTo>
                <a:lnTo>
                  <a:pt x="1587859" y="31686"/>
                </a:lnTo>
                <a:lnTo>
                  <a:pt x="1600301" y="37858"/>
                </a:lnTo>
                <a:lnTo>
                  <a:pt x="1524215" y="76200"/>
                </a:lnTo>
                <a:close/>
              </a:path>
              <a:path w="1600834" h="76200">
                <a:moveTo>
                  <a:pt x="38" y="49098"/>
                </a:moveTo>
                <a:lnTo>
                  <a:pt x="0" y="36398"/>
                </a:lnTo>
                <a:lnTo>
                  <a:pt x="1524082" y="31744"/>
                </a:lnTo>
                <a:lnTo>
                  <a:pt x="1524120" y="44444"/>
                </a:lnTo>
                <a:lnTo>
                  <a:pt x="38" y="49098"/>
                </a:lnTo>
                <a:close/>
              </a:path>
            </a:pathLst>
          </a:custGeom>
          <a:solidFill>
            <a:srgbClr val="C00000"/>
          </a:solidFill>
        </p:spPr>
        <p:txBody>
          <a:bodyPr wrap="square" lIns="0" tIns="0" rIns="0" bIns="0" rtlCol="0"/>
          <a:lstStyle/>
          <a:p/>
        </p:txBody>
      </p:sp>
      <p:sp>
        <p:nvSpPr>
          <p:cNvPr id="49" name="object 49"/>
          <p:cNvSpPr/>
          <p:nvPr/>
        </p:nvSpPr>
        <p:spPr>
          <a:xfrm>
            <a:off x="4846370" y="3973728"/>
            <a:ext cx="0" cy="1664335"/>
          </a:xfrm>
          <a:custGeom>
            <a:avLst/>
            <a:gdLst/>
            <a:ahLst/>
            <a:cxnLst/>
            <a:rect l="l" t="t" r="r" b="b"/>
            <a:pathLst>
              <a:path h="1664335">
                <a:moveTo>
                  <a:pt x="0" y="0"/>
                </a:moveTo>
                <a:lnTo>
                  <a:pt x="0" y="1664119"/>
                </a:lnTo>
              </a:path>
            </a:pathLst>
          </a:custGeom>
          <a:ln w="19634">
            <a:solidFill>
              <a:srgbClr val="C00000"/>
            </a:solidFill>
          </a:ln>
        </p:spPr>
        <p:txBody>
          <a:bodyPr wrap="square" lIns="0" tIns="0" rIns="0" bIns="0" rtlCol="0"/>
          <a:lstStyle/>
          <a:p/>
        </p:txBody>
      </p:sp>
      <p:sp>
        <p:nvSpPr>
          <p:cNvPr id="50" name="object 50"/>
          <p:cNvSpPr txBox="1"/>
          <p:nvPr/>
        </p:nvSpPr>
        <p:spPr>
          <a:xfrm>
            <a:off x="9829545" y="4281004"/>
            <a:ext cx="785495" cy="391160"/>
          </a:xfrm>
          <a:prstGeom prst="rect">
            <a:avLst/>
          </a:prstGeom>
        </p:spPr>
        <p:txBody>
          <a:bodyPr vert="horz" wrap="square" lIns="0" tIns="12700" rIns="0" bIns="0" rtlCol="0">
            <a:spAutoFit/>
          </a:bodyPr>
          <a:lstStyle/>
          <a:p>
            <a:pPr marL="12700">
              <a:lnSpc>
                <a:spcPct val="100000"/>
              </a:lnSpc>
              <a:spcBef>
                <a:spcPts val="100"/>
              </a:spcBef>
            </a:pPr>
            <a:r>
              <a:rPr sz="2400" b="1" spc="-35" dirty="0">
                <a:solidFill>
                  <a:srgbClr val="C00000"/>
                </a:solidFill>
                <a:latin typeface="Calibri" panose="020F0502020204030204"/>
                <a:cs typeface="Calibri" panose="020F0502020204030204"/>
              </a:rPr>
              <a:t>D</a:t>
            </a:r>
            <a:r>
              <a:rPr sz="2400" b="1" spc="-55" dirty="0">
                <a:solidFill>
                  <a:srgbClr val="C00000"/>
                </a:solidFill>
                <a:latin typeface="Calibri" panose="020F0502020204030204"/>
                <a:cs typeface="Calibri" panose="020F0502020204030204"/>
              </a:rPr>
              <a:t>T</a:t>
            </a:r>
            <a:r>
              <a:rPr sz="2400" b="1" spc="-5" dirty="0">
                <a:solidFill>
                  <a:srgbClr val="C00000"/>
                </a:solidFill>
                <a:latin typeface="Calibri" panose="020F0502020204030204"/>
                <a:cs typeface="Calibri" panose="020F0502020204030204"/>
              </a:rPr>
              <a:t>C</a:t>
            </a:r>
            <a:r>
              <a:rPr sz="2400" b="1" dirty="0">
                <a:solidFill>
                  <a:srgbClr val="C00000"/>
                </a:solidFill>
                <a:latin typeface="Calibri" panose="020F0502020204030204"/>
                <a:cs typeface="Calibri" panose="020F0502020204030204"/>
              </a:rPr>
              <a:t>M</a:t>
            </a:r>
            <a:endParaRPr sz="2400">
              <a:latin typeface="Calibri" panose="020F0502020204030204"/>
              <a:cs typeface="Calibri" panose="020F0502020204030204"/>
            </a:endParaRPr>
          </a:p>
        </p:txBody>
      </p:sp>
      <p:sp>
        <p:nvSpPr>
          <p:cNvPr id="51" name="object 51"/>
          <p:cNvSpPr txBox="1"/>
          <p:nvPr/>
        </p:nvSpPr>
        <p:spPr>
          <a:xfrm>
            <a:off x="5672518" y="4676241"/>
            <a:ext cx="657860" cy="329565"/>
          </a:xfrm>
          <a:prstGeom prst="rect">
            <a:avLst/>
          </a:prstGeom>
        </p:spPr>
        <p:txBody>
          <a:bodyPr vert="horz" wrap="square" lIns="0" tIns="12065" rIns="0" bIns="0" rtlCol="0">
            <a:spAutoFit/>
          </a:bodyPr>
          <a:lstStyle/>
          <a:p>
            <a:pPr marL="74930" marR="5080" indent="-62230">
              <a:lnSpc>
                <a:spcPct val="100000"/>
              </a:lnSpc>
              <a:spcBef>
                <a:spcPts val="95"/>
              </a:spcBef>
            </a:pPr>
            <a:r>
              <a:rPr sz="1000" spc="-5" dirty="0">
                <a:solidFill>
                  <a:srgbClr val="C00000"/>
                </a:solidFill>
                <a:latin typeface="微软雅黑" panose="020B0503020204020204" charset="-122"/>
                <a:cs typeface="微软雅黑" panose="020B0503020204020204" charset="-122"/>
              </a:rPr>
              <a:t>DTCM</a:t>
            </a:r>
            <a:r>
              <a:rPr sz="1000" dirty="0">
                <a:solidFill>
                  <a:srgbClr val="C00000"/>
                </a:solidFill>
                <a:latin typeface="微软雅黑" panose="020B0503020204020204" charset="-122"/>
                <a:cs typeface="微软雅黑" panose="020B0503020204020204" charset="-122"/>
              </a:rPr>
              <a:t>外</a:t>
            </a:r>
            <a:r>
              <a:rPr sz="1000" spc="-5" dirty="0">
                <a:solidFill>
                  <a:srgbClr val="C00000"/>
                </a:solidFill>
                <a:latin typeface="微软雅黑" panose="020B0503020204020204" charset="-122"/>
                <a:cs typeface="微软雅黑" panose="020B0503020204020204" charset="-122"/>
              </a:rPr>
              <a:t>部 </a:t>
            </a:r>
            <a:r>
              <a:rPr sz="1000" dirty="0">
                <a:solidFill>
                  <a:srgbClr val="C00000"/>
                </a:solidFill>
                <a:latin typeface="微软雅黑" panose="020B0503020204020204" charset="-122"/>
                <a:cs typeface="微软雅黑" panose="020B0503020204020204" charset="-122"/>
              </a:rPr>
              <a:t>访问接</a:t>
            </a:r>
            <a:r>
              <a:rPr sz="1000" spc="-5" dirty="0">
                <a:solidFill>
                  <a:srgbClr val="C00000"/>
                </a:solidFill>
                <a:latin typeface="微软雅黑" panose="020B0503020204020204" charset="-122"/>
                <a:cs typeface="微软雅黑" panose="020B0503020204020204" charset="-122"/>
              </a:rPr>
              <a:t>口</a:t>
            </a:r>
            <a:endParaRPr sz="1000">
              <a:latin typeface="微软雅黑" panose="020B0503020204020204" charset="-122"/>
              <a:cs typeface="微软雅黑" panose="020B0503020204020204" charset="-122"/>
            </a:endParaRPr>
          </a:p>
        </p:txBody>
      </p:sp>
      <p:sp>
        <p:nvSpPr>
          <p:cNvPr id="52" name="object 52"/>
          <p:cNvSpPr txBox="1"/>
          <p:nvPr/>
        </p:nvSpPr>
        <p:spPr>
          <a:xfrm>
            <a:off x="5638241" y="5705094"/>
            <a:ext cx="725170" cy="329565"/>
          </a:xfrm>
          <a:prstGeom prst="rect">
            <a:avLst/>
          </a:prstGeom>
        </p:spPr>
        <p:txBody>
          <a:bodyPr vert="horz" wrap="square" lIns="0" tIns="12065" rIns="0" bIns="0" rtlCol="0">
            <a:spAutoFit/>
          </a:bodyPr>
          <a:lstStyle/>
          <a:p>
            <a:pPr marL="172085" marR="5080" indent="-160020">
              <a:lnSpc>
                <a:spcPct val="100000"/>
              </a:lnSpc>
              <a:spcBef>
                <a:spcPts val="95"/>
              </a:spcBef>
            </a:pPr>
            <a:r>
              <a:rPr sz="1000" spc="-5" dirty="0">
                <a:solidFill>
                  <a:srgbClr val="C00000"/>
                </a:solidFill>
                <a:latin typeface="微软雅黑" panose="020B0503020204020204" charset="-122"/>
                <a:cs typeface="微软雅黑" panose="020B0503020204020204" charset="-122"/>
              </a:rPr>
              <a:t>ITCM</a:t>
            </a:r>
            <a:r>
              <a:rPr sz="1000" dirty="0">
                <a:solidFill>
                  <a:srgbClr val="C00000"/>
                </a:solidFill>
                <a:latin typeface="微软雅黑" panose="020B0503020204020204" charset="-122"/>
                <a:cs typeface="微软雅黑" panose="020B0503020204020204" charset="-122"/>
              </a:rPr>
              <a:t>外部</a:t>
            </a:r>
            <a:r>
              <a:rPr sz="1000" spc="-5" dirty="0">
                <a:solidFill>
                  <a:srgbClr val="C00000"/>
                </a:solidFill>
                <a:latin typeface="微软雅黑" panose="020B0503020204020204" charset="-122"/>
                <a:cs typeface="微软雅黑" panose="020B0503020204020204" charset="-122"/>
              </a:rPr>
              <a:t>访 </a:t>
            </a:r>
            <a:r>
              <a:rPr sz="1000" dirty="0">
                <a:solidFill>
                  <a:srgbClr val="C00000"/>
                </a:solidFill>
                <a:latin typeface="微软雅黑" panose="020B0503020204020204" charset="-122"/>
                <a:cs typeface="微软雅黑" panose="020B0503020204020204" charset="-122"/>
              </a:rPr>
              <a:t>问接</a:t>
            </a:r>
            <a:r>
              <a:rPr sz="1000" spc="-5" dirty="0">
                <a:solidFill>
                  <a:srgbClr val="C00000"/>
                </a:solidFill>
                <a:latin typeface="微软雅黑" panose="020B0503020204020204" charset="-122"/>
                <a:cs typeface="微软雅黑" panose="020B0503020204020204" charset="-122"/>
              </a:rPr>
              <a:t>口</a:t>
            </a:r>
            <a:endParaRPr sz="1000">
              <a:latin typeface="微软雅黑" panose="020B0503020204020204" charset="-122"/>
              <a:cs typeface="微软雅黑" panose="020B0503020204020204" charset="-122"/>
            </a:endParaRPr>
          </a:p>
        </p:txBody>
      </p:sp>
      <p:sp>
        <p:nvSpPr>
          <p:cNvPr id="53" name="object 53"/>
          <p:cNvSpPr/>
          <p:nvPr/>
        </p:nvSpPr>
        <p:spPr>
          <a:xfrm>
            <a:off x="6606984" y="3195269"/>
            <a:ext cx="210438" cy="76161"/>
          </a:xfrm>
          <a:prstGeom prst="rect">
            <a:avLst/>
          </a:prstGeom>
          <a:blipFill>
            <a:blip r:embed="rId5" cstate="print"/>
            <a:stretch>
              <a:fillRect/>
            </a:stretch>
          </a:blipFill>
        </p:spPr>
        <p:txBody>
          <a:bodyPr wrap="square" lIns="0" tIns="0" rIns="0" bIns="0" rtlCol="0"/>
          <a:lstStyle/>
          <a:p/>
        </p:txBody>
      </p:sp>
      <p:sp>
        <p:nvSpPr>
          <p:cNvPr id="54" name="object 54"/>
          <p:cNvSpPr txBox="1"/>
          <p:nvPr/>
        </p:nvSpPr>
        <p:spPr>
          <a:xfrm>
            <a:off x="9882885" y="5248833"/>
            <a:ext cx="67881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C00000"/>
                </a:solidFill>
                <a:latin typeface="Calibri" panose="020F0502020204030204"/>
                <a:cs typeface="Calibri" panose="020F0502020204030204"/>
              </a:rPr>
              <a:t>I</a:t>
            </a:r>
            <a:r>
              <a:rPr sz="2400" b="1" spc="-55" dirty="0">
                <a:solidFill>
                  <a:srgbClr val="C00000"/>
                </a:solidFill>
                <a:latin typeface="Calibri" panose="020F0502020204030204"/>
                <a:cs typeface="Calibri" panose="020F0502020204030204"/>
              </a:rPr>
              <a:t>T</a:t>
            </a:r>
            <a:r>
              <a:rPr sz="2400" b="1" spc="-5" dirty="0">
                <a:solidFill>
                  <a:srgbClr val="C00000"/>
                </a:solidFill>
                <a:latin typeface="Calibri" panose="020F0502020204030204"/>
                <a:cs typeface="Calibri" panose="020F0502020204030204"/>
              </a:rPr>
              <a:t>C</a:t>
            </a:r>
            <a:r>
              <a:rPr sz="2400" b="1" dirty="0">
                <a:solidFill>
                  <a:srgbClr val="C00000"/>
                </a:solidFill>
                <a:latin typeface="Calibri" panose="020F0502020204030204"/>
                <a:cs typeface="Calibri" panose="020F0502020204030204"/>
              </a:rPr>
              <a:t>M</a:t>
            </a:r>
            <a:endParaRPr sz="2400">
              <a:latin typeface="Calibri" panose="020F0502020204030204"/>
              <a:cs typeface="Calibri" panose="020F0502020204030204"/>
            </a:endParaRPr>
          </a:p>
        </p:txBody>
      </p:sp>
      <p:sp>
        <p:nvSpPr>
          <p:cNvPr id="55" name="object 55"/>
          <p:cNvSpPr/>
          <p:nvPr/>
        </p:nvSpPr>
        <p:spPr>
          <a:xfrm>
            <a:off x="9190825" y="4699660"/>
            <a:ext cx="144145" cy="17780"/>
          </a:xfrm>
          <a:custGeom>
            <a:avLst/>
            <a:gdLst/>
            <a:ahLst/>
            <a:cxnLst/>
            <a:rect l="l" t="t" r="r" b="b"/>
            <a:pathLst>
              <a:path w="144145" h="17779">
                <a:moveTo>
                  <a:pt x="431" y="17576"/>
                </a:moveTo>
                <a:lnTo>
                  <a:pt x="0" y="4889"/>
                </a:lnTo>
                <a:lnTo>
                  <a:pt x="143713" y="0"/>
                </a:lnTo>
                <a:lnTo>
                  <a:pt x="144145" y="12700"/>
                </a:lnTo>
                <a:lnTo>
                  <a:pt x="431" y="17576"/>
                </a:lnTo>
                <a:close/>
              </a:path>
            </a:pathLst>
          </a:custGeom>
          <a:solidFill>
            <a:srgbClr val="C00000"/>
          </a:solidFill>
        </p:spPr>
        <p:txBody>
          <a:bodyPr wrap="square" lIns="0" tIns="0" rIns="0" bIns="0" rtlCol="0"/>
          <a:lstStyle/>
          <a:p/>
        </p:txBody>
      </p:sp>
      <p:sp>
        <p:nvSpPr>
          <p:cNvPr id="56" name="object 56"/>
          <p:cNvSpPr/>
          <p:nvPr/>
        </p:nvSpPr>
        <p:spPr>
          <a:xfrm>
            <a:off x="9336519" y="3107791"/>
            <a:ext cx="0" cy="1598295"/>
          </a:xfrm>
          <a:custGeom>
            <a:avLst/>
            <a:gdLst/>
            <a:ahLst/>
            <a:cxnLst/>
            <a:rect l="l" t="t" r="r" b="b"/>
            <a:pathLst>
              <a:path h="1598295">
                <a:moveTo>
                  <a:pt x="0" y="0"/>
                </a:moveTo>
                <a:lnTo>
                  <a:pt x="0" y="1598231"/>
                </a:lnTo>
              </a:path>
            </a:pathLst>
          </a:custGeom>
          <a:ln w="16230">
            <a:solidFill>
              <a:srgbClr val="C00000"/>
            </a:solidFill>
          </a:ln>
        </p:spPr>
        <p:txBody>
          <a:bodyPr wrap="square" lIns="0" tIns="0" rIns="0" bIns="0" rtlCol="0"/>
          <a:lstStyle/>
          <a:p/>
        </p:txBody>
      </p:sp>
      <p:sp>
        <p:nvSpPr>
          <p:cNvPr id="57" name="object 57"/>
          <p:cNvSpPr/>
          <p:nvPr/>
        </p:nvSpPr>
        <p:spPr>
          <a:xfrm>
            <a:off x="9338284" y="3061766"/>
            <a:ext cx="377190" cy="76200"/>
          </a:xfrm>
          <a:custGeom>
            <a:avLst/>
            <a:gdLst/>
            <a:ahLst/>
            <a:cxnLst/>
            <a:rect l="l" t="t" r="r" b="b"/>
            <a:pathLst>
              <a:path w="377190" h="76200">
                <a:moveTo>
                  <a:pt x="300761" y="76200"/>
                </a:moveTo>
                <a:lnTo>
                  <a:pt x="300761" y="0"/>
                </a:lnTo>
                <a:lnTo>
                  <a:pt x="364261" y="31750"/>
                </a:lnTo>
                <a:lnTo>
                  <a:pt x="319811" y="31750"/>
                </a:lnTo>
                <a:lnTo>
                  <a:pt x="319811" y="44450"/>
                </a:lnTo>
                <a:lnTo>
                  <a:pt x="364261" y="44450"/>
                </a:lnTo>
                <a:lnTo>
                  <a:pt x="300761" y="76200"/>
                </a:lnTo>
                <a:close/>
              </a:path>
              <a:path w="377190" h="76200">
                <a:moveTo>
                  <a:pt x="300761" y="44450"/>
                </a:moveTo>
                <a:lnTo>
                  <a:pt x="0" y="44450"/>
                </a:lnTo>
                <a:lnTo>
                  <a:pt x="0" y="31750"/>
                </a:lnTo>
                <a:lnTo>
                  <a:pt x="300761" y="31750"/>
                </a:lnTo>
                <a:lnTo>
                  <a:pt x="300761" y="44450"/>
                </a:lnTo>
                <a:close/>
              </a:path>
              <a:path w="377190" h="76200">
                <a:moveTo>
                  <a:pt x="364261" y="44450"/>
                </a:moveTo>
                <a:lnTo>
                  <a:pt x="319811" y="44450"/>
                </a:lnTo>
                <a:lnTo>
                  <a:pt x="319811" y="31750"/>
                </a:lnTo>
                <a:lnTo>
                  <a:pt x="364261" y="31750"/>
                </a:lnTo>
                <a:lnTo>
                  <a:pt x="376961" y="38100"/>
                </a:lnTo>
                <a:lnTo>
                  <a:pt x="364261" y="44450"/>
                </a:lnTo>
                <a:close/>
              </a:path>
            </a:pathLst>
          </a:custGeom>
          <a:solidFill>
            <a:srgbClr val="C00000"/>
          </a:solidFill>
        </p:spPr>
        <p:txBody>
          <a:bodyPr wrap="square" lIns="0" tIns="0" rIns="0" bIns="0" rtlCol="0"/>
          <a:lstStyle/>
          <a:p/>
        </p:txBody>
      </p:sp>
      <p:sp>
        <p:nvSpPr>
          <p:cNvPr id="58" name="object 58"/>
          <p:cNvSpPr/>
          <p:nvPr/>
        </p:nvSpPr>
        <p:spPr>
          <a:xfrm>
            <a:off x="9522638" y="3268027"/>
            <a:ext cx="184353" cy="76200"/>
          </a:xfrm>
          <a:prstGeom prst="rect">
            <a:avLst/>
          </a:prstGeom>
          <a:blipFill>
            <a:blip r:embed="rId6" cstate="print"/>
            <a:stretch>
              <a:fillRect/>
            </a:stretch>
          </a:blipFill>
        </p:spPr>
        <p:txBody>
          <a:bodyPr wrap="square" lIns="0" tIns="0" rIns="0" bIns="0" rtlCol="0"/>
          <a:lstStyle/>
          <a:p/>
        </p:txBody>
      </p:sp>
      <p:sp>
        <p:nvSpPr>
          <p:cNvPr id="59" name="object 59"/>
          <p:cNvSpPr/>
          <p:nvPr/>
        </p:nvSpPr>
        <p:spPr>
          <a:xfrm>
            <a:off x="9522638" y="3306127"/>
            <a:ext cx="0" cy="2334260"/>
          </a:xfrm>
          <a:custGeom>
            <a:avLst/>
            <a:gdLst/>
            <a:ahLst/>
            <a:cxnLst/>
            <a:rect l="l" t="t" r="r" b="b"/>
            <a:pathLst>
              <a:path h="2334260">
                <a:moveTo>
                  <a:pt x="0" y="0"/>
                </a:moveTo>
                <a:lnTo>
                  <a:pt x="0" y="2334158"/>
                </a:lnTo>
              </a:path>
            </a:pathLst>
          </a:custGeom>
          <a:ln w="12700">
            <a:solidFill>
              <a:srgbClr val="C00000"/>
            </a:solidFill>
          </a:ln>
        </p:spPr>
        <p:txBody>
          <a:bodyPr wrap="square" lIns="0" tIns="0" rIns="0" bIns="0" rtlCol="0"/>
          <a:lstStyle/>
          <a:p/>
        </p:txBody>
      </p:sp>
      <p:sp>
        <p:nvSpPr>
          <p:cNvPr id="60" name="object 60"/>
          <p:cNvSpPr/>
          <p:nvPr/>
        </p:nvSpPr>
        <p:spPr>
          <a:xfrm>
            <a:off x="9191459" y="5636926"/>
            <a:ext cx="338455" cy="0"/>
          </a:xfrm>
          <a:custGeom>
            <a:avLst/>
            <a:gdLst/>
            <a:ahLst/>
            <a:cxnLst/>
            <a:rect l="l" t="t" r="r" b="b"/>
            <a:pathLst>
              <a:path w="338454">
                <a:moveTo>
                  <a:pt x="0" y="0"/>
                </a:moveTo>
                <a:lnTo>
                  <a:pt x="338416" y="0"/>
                </a:lnTo>
              </a:path>
            </a:pathLst>
          </a:custGeom>
          <a:ln w="21856">
            <a:solidFill>
              <a:srgbClr val="C00000"/>
            </a:solidFill>
          </a:ln>
        </p:spPr>
        <p:txBody>
          <a:bodyPr wrap="square" lIns="0" tIns="0" rIns="0" bIns="0" rtlCol="0"/>
          <a:lstStyle/>
          <a:p/>
        </p:txBody>
      </p:sp>
      <p:sp>
        <p:nvSpPr>
          <p:cNvPr id="61" name="object 61"/>
          <p:cNvSpPr/>
          <p:nvPr/>
        </p:nvSpPr>
        <p:spPr>
          <a:xfrm>
            <a:off x="9503498" y="1922043"/>
            <a:ext cx="0" cy="988060"/>
          </a:xfrm>
          <a:custGeom>
            <a:avLst/>
            <a:gdLst/>
            <a:ahLst/>
            <a:cxnLst/>
            <a:rect l="l" t="t" r="r" b="b"/>
            <a:pathLst>
              <a:path h="988060">
                <a:moveTo>
                  <a:pt x="0" y="0"/>
                </a:moveTo>
                <a:lnTo>
                  <a:pt x="0" y="987488"/>
                </a:lnTo>
              </a:path>
            </a:pathLst>
          </a:custGeom>
          <a:ln w="25526">
            <a:solidFill>
              <a:srgbClr val="C00000"/>
            </a:solidFill>
          </a:ln>
        </p:spPr>
        <p:txBody>
          <a:bodyPr wrap="square" lIns="0" tIns="0" rIns="0" bIns="0" rtlCol="0"/>
          <a:lstStyle/>
          <a:p/>
        </p:txBody>
      </p:sp>
      <p:sp>
        <p:nvSpPr>
          <p:cNvPr id="62" name="object 62"/>
          <p:cNvSpPr/>
          <p:nvPr/>
        </p:nvSpPr>
        <p:spPr>
          <a:xfrm>
            <a:off x="9507855" y="2872524"/>
            <a:ext cx="206209" cy="76200"/>
          </a:xfrm>
          <a:prstGeom prst="rect">
            <a:avLst/>
          </a:prstGeom>
          <a:blipFill>
            <a:blip r:embed="rId7" cstate="print"/>
            <a:stretch>
              <a:fillRect/>
            </a:stretch>
          </a:blipFill>
        </p:spPr>
        <p:txBody>
          <a:bodyPr wrap="square" lIns="0" tIns="0" rIns="0" bIns="0" rtlCol="0"/>
          <a:lstStyle/>
          <a:p/>
        </p:txBody>
      </p:sp>
      <p:sp>
        <p:nvSpPr>
          <p:cNvPr id="63" name="object 63"/>
          <p:cNvSpPr/>
          <p:nvPr/>
        </p:nvSpPr>
        <p:spPr>
          <a:xfrm>
            <a:off x="9979062" y="3060420"/>
            <a:ext cx="285750" cy="76200"/>
          </a:xfrm>
          <a:custGeom>
            <a:avLst/>
            <a:gdLst/>
            <a:ahLst/>
            <a:cxnLst/>
            <a:rect l="l" t="t" r="r" b="b"/>
            <a:pathLst>
              <a:path w="285750" h="76200">
                <a:moveTo>
                  <a:pt x="209753" y="76200"/>
                </a:moveTo>
                <a:lnTo>
                  <a:pt x="209546" y="44457"/>
                </a:lnTo>
                <a:lnTo>
                  <a:pt x="228600" y="44335"/>
                </a:lnTo>
                <a:lnTo>
                  <a:pt x="228511" y="31635"/>
                </a:lnTo>
                <a:lnTo>
                  <a:pt x="209463" y="31635"/>
                </a:lnTo>
                <a:lnTo>
                  <a:pt x="209257" y="0"/>
                </a:lnTo>
                <a:lnTo>
                  <a:pt x="273543" y="31635"/>
                </a:lnTo>
                <a:lnTo>
                  <a:pt x="228511" y="31635"/>
                </a:lnTo>
                <a:lnTo>
                  <a:pt x="273791" y="31757"/>
                </a:lnTo>
                <a:lnTo>
                  <a:pt x="285699" y="37617"/>
                </a:lnTo>
                <a:lnTo>
                  <a:pt x="209753" y="76200"/>
                </a:lnTo>
                <a:close/>
              </a:path>
              <a:path w="285750" h="76200">
                <a:moveTo>
                  <a:pt x="209546" y="44457"/>
                </a:moveTo>
                <a:lnTo>
                  <a:pt x="209464" y="31757"/>
                </a:lnTo>
                <a:lnTo>
                  <a:pt x="228511" y="31635"/>
                </a:lnTo>
                <a:lnTo>
                  <a:pt x="228600" y="44335"/>
                </a:lnTo>
                <a:lnTo>
                  <a:pt x="209546" y="44457"/>
                </a:lnTo>
                <a:close/>
              </a:path>
              <a:path w="285750" h="76200">
                <a:moveTo>
                  <a:pt x="88" y="45796"/>
                </a:moveTo>
                <a:lnTo>
                  <a:pt x="0" y="33096"/>
                </a:lnTo>
                <a:lnTo>
                  <a:pt x="209464" y="31757"/>
                </a:lnTo>
                <a:lnTo>
                  <a:pt x="209546" y="44457"/>
                </a:lnTo>
                <a:lnTo>
                  <a:pt x="88" y="45796"/>
                </a:lnTo>
                <a:close/>
              </a:path>
            </a:pathLst>
          </a:custGeom>
          <a:solidFill>
            <a:srgbClr val="C00000"/>
          </a:solidFill>
        </p:spPr>
        <p:txBody>
          <a:bodyPr wrap="square" lIns="0" tIns="0" rIns="0" bIns="0" rtlCol="0"/>
          <a:lstStyle/>
          <a:p/>
        </p:txBody>
      </p:sp>
      <p:sp>
        <p:nvSpPr>
          <p:cNvPr id="64" name="object 64"/>
          <p:cNvSpPr/>
          <p:nvPr/>
        </p:nvSpPr>
        <p:spPr>
          <a:xfrm>
            <a:off x="7084771" y="3061258"/>
            <a:ext cx="276860" cy="76200"/>
          </a:xfrm>
          <a:custGeom>
            <a:avLst/>
            <a:gdLst/>
            <a:ahLst/>
            <a:cxnLst/>
            <a:rect l="l" t="t" r="r" b="b"/>
            <a:pathLst>
              <a:path w="276859" h="76200">
                <a:moveTo>
                  <a:pt x="264148" y="44577"/>
                </a:moveTo>
                <a:lnTo>
                  <a:pt x="219087" y="44577"/>
                </a:lnTo>
                <a:lnTo>
                  <a:pt x="219176" y="31877"/>
                </a:lnTo>
                <a:lnTo>
                  <a:pt x="200130" y="31751"/>
                </a:lnTo>
                <a:lnTo>
                  <a:pt x="200342" y="0"/>
                </a:lnTo>
                <a:lnTo>
                  <a:pt x="276288" y="38608"/>
                </a:lnTo>
                <a:lnTo>
                  <a:pt x="264148" y="44577"/>
                </a:lnTo>
                <a:close/>
              </a:path>
              <a:path w="276859" h="76200">
                <a:moveTo>
                  <a:pt x="200046" y="44451"/>
                </a:moveTo>
                <a:lnTo>
                  <a:pt x="0" y="43129"/>
                </a:lnTo>
                <a:lnTo>
                  <a:pt x="88" y="30429"/>
                </a:lnTo>
                <a:lnTo>
                  <a:pt x="200130" y="31751"/>
                </a:lnTo>
                <a:lnTo>
                  <a:pt x="200046" y="44451"/>
                </a:lnTo>
                <a:close/>
              </a:path>
              <a:path w="276859" h="76200">
                <a:moveTo>
                  <a:pt x="219087" y="44577"/>
                </a:moveTo>
                <a:lnTo>
                  <a:pt x="200046" y="44451"/>
                </a:lnTo>
                <a:lnTo>
                  <a:pt x="200130" y="31751"/>
                </a:lnTo>
                <a:lnTo>
                  <a:pt x="219176" y="31877"/>
                </a:lnTo>
                <a:lnTo>
                  <a:pt x="219087" y="44577"/>
                </a:lnTo>
                <a:close/>
              </a:path>
              <a:path w="276859" h="76200">
                <a:moveTo>
                  <a:pt x="199834" y="76200"/>
                </a:moveTo>
                <a:lnTo>
                  <a:pt x="200046" y="44451"/>
                </a:lnTo>
                <a:lnTo>
                  <a:pt x="264148" y="44577"/>
                </a:lnTo>
                <a:lnTo>
                  <a:pt x="199834" y="76200"/>
                </a:lnTo>
                <a:close/>
              </a:path>
            </a:pathLst>
          </a:custGeom>
          <a:solidFill>
            <a:srgbClr val="C00000"/>
          </a:solidFill>
        </p:spPr>
        <p:txBody>
          <a:bodyPr wrap="square" lIns="0" tIns="0" rIns="0" bIns="0" rtlCol="0"/>
          <a:lstStyle/>
          <a:p/>
        </p:txBody>
      </p:sp>
      <p:sp>
        <p:nvSpPr>
          <p:cNvPr id="65" name="object 65"/>
          <p:cNvSpPr/>
          <p:nvPr/>
        </p:nvSpPr>
        <p:spPr>
          <a:xfrm>
            <a:off x="6617157" y="3218814"/>
            <a:ext cx="0" cy="1185545"/>
          </a:xfrm>
          <a:custGeom>
            <a:avLst/>
            <a:gdLst/>
            <a:ahLst/>
            <a:cxnLst/>
            <a:rect l="l" t="t" r="r" b="b"/>
            <a:pathLst>
              <a:path h="1185545">
                <a:moveTo>
                  <a:pt x="0" y="0"/>
                </a:moveTo>
                <a:lnTo>
                  <a:pt x="0" y="1185176"/>
                </a:lnTo>
              </a:path>
            </a:pathLst>
          </a:custGeom>
          <a:ln w="22123">
            <a:solidFill>
              <a:srgbClr val="C00000"/>
            </a:solidFill>
          </a:ln>
        </p:spPr>
        <p:txBody>
          <a:bodyPr wrap="square" lIns="0" tIns="0" rIns="0" bIns="0" rtlCol="0"/>
          <a:lstStyle/>
          <a:p/>
        </p:txBody>
      </p:sp>
      <p:sp>
        <p:nvSpPr>
          <p:cNvPr id="66" name="object 66"/>
          <p:cNvSpPr/>
          <p:nvPr/>
        </p:nvSpPr>
        <p:spPr>
          <a:xfrm>
            <a:off x="6239027" y="4395393"/>
            <a:ext cx="382905" cy="0"/>
          </a:xfrm>
          <a:custGeom>
            <a:avLst/>
            <a:gdLst/>
            <a:ahLst/>
            <a:cxnLst/>
            <a:rect l="l" t="t" r="r" b="b"/>
            <a:pathLst>
              <a:path w="382904">
                <a:moveTo>
                  <a:pt x="0" y="0"/>
                </a:moveTo>
                <a:lnTo>
                  <a:pt x="382841" y="0"/>
                </a:lnTo>
              </a:path>
            </a:pathLst>
          </a:custGeom>
          <a:ln w="19050">
            <a:solidFill>
              <a:srgbClr val="C00000"/>
            </a:solidFill>
          </a:ln>
        </p:spPr>
        <p:txBody>
          <a:bodyPr wrap="square" lIns="0" tIns="0" rIns="0" bIns="0" rtlCol="0"/>
          <a:lstStyle/>
          <a:p/>
        </p:txBody>
      </p:sp>
      <p:sp>
        <p:nvSpPr>
          <p:cNvPr id="67" name="object 67"/>
          <p:cNvSpPr/>
          <p:nvPr/>
        </p:nvSpPr>
        <p:spPr>
          <a:xfrm>
            <a:off x="7594383" y="1921497"/>
            <a:ext cx="76200" cy="786765"/>
          </a:xfrm>
          <a:custGeom>
            <a:avLst/>
            <a:gdLst/>
            <a:ahLst/>
            <a:cxnLst/>
            <a:rect l="l" t="t" r="r" b="b"/>
            <a:pathLst>
              <a:path w="76200" h="786764">
                <a:moveTo>
                  <a:pt x="0" y="76733"/>
                </a:moveTo>
                <a:lnTo>
                  <a:pt x="37020" y="0"/>
                </a:lnTo>
                <a:lnTo>
                  <a:pt x="66571" y="57061"/>
                </a:lnTo>
                <a:lnTo>
                  <a:pt x="44183" y="57061"/>
                </a:lnTo>
                <a:lnTo>
                  <a:pt x="31483" y="57238"/>
                </a:lnTo>
                <a:lnTo>
                  <a:pt x="31754" y="76283"/>
                </a:lnTo>
                <a:lnTo>
                  <a:pt x="0" y="76733"/>
                </a:lnTo>
                <a:close/>
              </a:path>
              <a:path w="76200" h="786764">
                <a:moveTo>
                  <a:pt x="31754" y="76283"/>
                </a:moveTo>
                <a:lnTo>
                  <a:pt x="31483" y="57238"/>
                </a:lnTo>
                <a:lnTo>
                  <a:pt x="44183" y="57061"/>
                </a:lnTo>
                <a:lnTo>
                  <a:pt x="44454" y="76103"/>
                </a:lnTo>
                <a:lnTo>
                  <a:pt x="31754" y="76283"/>
                </a:lnTo>
                <a:close/>
              </a:path>
              <a:path w="76200" h="786764">
                <a:moveTo>
                  <a:pt x="44454" y="76103"/>
                </a:moveTo>
                <a:lnTo>
                  <a:pt x="44183" y="57061"/>
                </a:lnTo>
                <a:lnTo>
                  <a:pt x="66571" y="57061"/>
                </a:lnTo>
                <a:lnTo>
                  <a:pt x="76200" y="75653"/>
                </a:lnTo>
                <a:lnTo>
                  <a:pt x="44454" y="76103"/>
                </a:lnTo>
                <a:close/>
              </a:path>
              <a:path w="76200" h="786764">
                <a:moveTo>
                  <a:pt x="41859" y="786688"/>
                </a:moveTo>
                <a:lnTo>
                  <a:pt x="31754" y="76283"/>
                </a:lnTo>
                <a:lnTo>
                  <a:pt x="44454" y="76103"/>
                </a:lnTo>
                <a:lnTo>
                  <a:pt x="54559" y="786511"/>
                </a:lnTo>
                <a:lnTo>
                  <a:pt x="41859" y="786688"/>
                </a:lnTo>
                <a:close/>
              </a:path>
            </a:pathLst>
          </a:custGeom>
          <a:solidFill>
            <a:srgbClr val="C00000"/>
          </a:solidFill>
        </p:spPr>
        <p:txBody>
          <a:bodyPr wrap="square" lIns="0" tIns="0" rIns="0" bIns="0" rtlCol="0"/>
          <a:lstStyle/>
          <a:p/>
        </p:txBody>
      </p:sp>
      <p:sp>
        <p:nvSpPr>
          <p:cNvPr id="68" name="object 68"/>
          <p:cNvSpPr txBox="1"/>
          <p:nvPr/>
        </p:nvSpPr>
        <p:spPr>
          <a:xfrm>
            <a:off x="5397817" y="4185615"/>
            <a:ext cx="983615" cy="177165"/>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C00000"/>
                </a:solidFill>
                <a:latin typeface="微软雅黑" panose="020B0503020204020204" charset="-122"/>
                <a:cs typeface="微软雅黑" panose="020B0503020204020204" charset="-122"/>
              </a:rPr>
              <a:t>EAI</a:t>
            </a:r>
            <a:r>
              <a:rPr sz="1000" dirty="0">
                <a:solidFill>
                  <a:srgbClr val="C00000"/>
                </a:solidFill>
                <a:latin typeface="微软雅黑" panose="020B0503020204020204" charset="-122"/>
                <a:cs typeface="微软雅黑" panose="020B0503020204020204" charset="-122"/>
              </a:rPr>
              <a:t>协处理器访</a:t>
            </a:r>
            <a:r>
              <a:rPr sz="1000" spc="-5" dirty="0">
                <a:solidFill>
                  <a:srgbClr val="C00000"/>
                </a:solidFill>
                <a:latin typeface="微软雅黑" panose="020B0503020204020204" charset="-122"/>
                <a:cs typeface="微软雅黑" panose="020B0503020204020204" charset="-122"/>
              </a:rPr>
              <a:t>问</a:t>
            </a:r>
            <a:endParaRPr sz="1000">
              <a:latin typeface="微软雅黑" panose="020B0503020204020204" charset="-122"/>
              <a:cs typeface="微软雅黑" panose="020B0503020204020204" charset="-122"/>
            </a:endParaRPr>
          </a:p>
        </p:txBody>
      </p:sp>
      <p:sp>
        <p:nvSpPr>
          <p:cNvPr id="69" name="object 69"/>
          <p:cNvSpPr txBox="1"/>
          <p:nvPr/>
        </p:nvSpPr>
        <p:spPr>
          <a:xfrm>
            <a:off x="5533072" y="4338015"/>
            <a:ext cx="714375" cy="177165"/>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C00000"/>
                </a:solidFill>
                <a:latin typeface="微软雅黑" panose="020B0503020204020204" charset="-122"/>
                <a:cs typeface="微软雅黑" panose="020B0503020204020204" charset="-122"/>
              </a:rPr>
              <a:t>LSU</a:t>
            </a:r>
            <a:r>
              <a:rPr sz="1000" dirty="0">
                <a:solidFill>
                  <a:srgbClr val="C00000"/>
                </a:solidFill>
                <a:latin typeface="微软雅黑" panose="020B0503020204020204" charset="-122"/>
                <a:cs typeface="微软雅黑" panose="020B0503020204020204" charset="-122"/>
              </a:rPr>
              <a:t>接口</a:t>
            </a:r>
            <a:r>
              <a:rPr sz="1000" spc="-5" dirty="0">
                <a:solidFill>
                  <a:srgbClr val="C00000"/>
                </a:solidFill>
                <a:latin typeface="微软雅黑" panose="020B0503020204020204" charset="-122"/>
                <a:cs typeface="微软雅黑" panose="020B0503020204020204" charset="-122"/>
              </a:rPr>
              <a:t>ICB</a:t>
            </a:r>
            <a:endParaRPr sz="1000">
              <a:latin typeface="微软雅黑" panose="020B0503020204020204" charset="-122"/>
              <a:cs typeface="微软雅黑" panose="020B0503020204020204" charset="-122"/>
            </a:endParaRPr>
          </a:p>
        </p:txBody>
      </p:sp>
      <p:sp>
        <p:nvSpPr>
          <p:cNvPr id="70" name="object 70"/>
          <p:cNvSpPr txBox="1"/>
          <p:nvPr/>
        </p:nvSpPr>
        <p:spPr>
          <a:xfrm>
            <a:off x="11091583" y="2786494"/>
            <a:ext cx="534035" cy="270510"/>
          </a:xfrm>
          <a:prstGeom prst="rect">
            <a:avLst/>
          </a:prstGeom>
        </p:spPr>
        <p:txBody>
          <a:bodyPr vert="horz" wrap="square" lIns="0" tIns="13335" rIns="0" bIns="0" rtlCol="0">
            <a:spAutoFit/>
          </a:bodyPr>
          <a:lstStyle/>
          <a:p>
            <a:pPr marL="63500" marR="5080" indent="-50800">
              <a:lnSpc>
                <a:spcPct val="100000"/>
              </a:lnSpc>
              <a:spcBef>
                <a:spcPts val="105"/>
              </a:spcBef>
            </a:pPr>
            <a:r>
              <a:rPr sz="800" dirty="0">
                <a:solidFill>
                  <a:srgbClr val="C00000"/>
                </a:solidFill>
                <a:latin typeface="微软雅黑" panose="020B0503020204020204" charset="-122"/>
                <a:cs typeface="微软雅黑" panose="020B0503020204020204" charset="-122"/>
              </a:rPr>
              <a:t>写回结果</a:t>
            </a:r>
            <a:r>
              <a:rPr sz="800" dirty="0">
                <a:solidFill>
                  <a:srgbClr val="C00000"/>
                </a:solidFill>
                <a:latin typeface="微软雅黑" panose="020B0503020204020204" charset="-122"/>
                <a:cs typeface="微软雅黑" panose="020B0503020204020204" charset="-122"/>
              </a:rPr>
              <a:t>到 </a:t>
            </a:r>
            <a:r>
              <a:rPr sz="800" dirty="0">
                <a:solidFill>
                  <a:srgbClr val="C00000"/>
                </a:solidFill>
                <a:latin typeface="微软雅黑" panose="020B0503020204020204" charset="-122"/>
                <a:cs typeface="微软雅黑" panose="020B0503020204020204" charset="-122"/>
              </a:rPr>
              <a:t>寄存器</a:t>
            </a:r>
            <a:r>
              <a:rPr sz="800" spc="5" dirty="0">
                <a:solidFill>
                  <a:srgbClr val="C00000"/>
                </a:solidFill>
                <a:latin typeface="微软雅黑" panose="020B0503020204020204" charset="-122"/>
                <a:cs typeface="微软雅黑" panose="020B0503020204020204" charset="-122"/>
              </a:rPr>
              <a:t>组</a:t>
            </a:r>
            <a:endParaRPr sz="800">
              <a:latin typeface="微软雅黑" panose="020B0503020204020204" charset="-122"/>
              <a:cs typeface="微软雅黑" panose="020B0503020204020204" charset="-122"/>
            </a:endParaRPr>
          </a:p>
        </p:txBody>
      </p:sp>
      <p:sp>
        <p:nvSpPr>
          <p:cNvPr id="71" name="object 71"/>
          <p:cNvSpPr/>
          <p:nvPr/>
        </p:nvSpPr>
        <p:spPr>
          <a:xfrm>
            <a:off x="10811281" y="3055886"/>
            <a:ext cx="447040" cy="76200"/>
          </a:xfrm>
          <a:custGeom>
            <a:avLst/>
            <a:gdLst/>
            <a:ahLst/>
            <a:cxnLst/>
            <a:rect l="l" t="t" r="r" b="b"/>
            <a:pathLst>
              <a:path w="447040" h="76200">
                <a:moveTo>
                  <a:pt x="370738" y="76200"/>
                </a:moveTo>
                <a:lnTo>
                  <a:pt x="370394" y="44454"/>
                </a:lnTo>
                <a:lnTo>
                  <a:pt x="389445" y="44246"/>
                </a:lnTo>
                <a:lnTo>
                  <a:pt x="389305" y="31546"/>
                </a:lnTo>
                <a:lnTo>
                  <a:pt x="370254" y="31546"/>
                </a:lnTo>
                <a:lnTo>
                  <a:pt x="369912" y="0"/>
                </a:lnTo>
                <a:lnTo>
                  <a:pt x="434747" y="31546"/>
                </a:lnTo>
                <a:lnTo>
                  <a:pt x="389305" y="31546"/>
                </a:lnTo>
                <a:lnTo>
                  <a:pt x="370256" y="31754"/>
                </a:lnTo>
                <a:lnTo>
                  <a:pt x="435175" y="31754"/>
                </a:lnTo>
                <a:lnTo>
                  <a:pt x="446519" y="37274"/>
                </a:lnTo>
                <a:lnTo>
                  <a:pt x="370738" y="76200"/>
                </a:lnTo>
                <a:close/>
              </a:path>
              <a:path w="447040" h="76200">
                <a:moveTo>
                  <a:pt x="370394" y="44454"/>
                </a:moveTo>
                <a:lnTo>
                  <a:pt x="370256" y="31754"/>
                </a:lnTo>
                <a:lnTo>
                  <a:pt x="389305" y="31546"/>
                </a:lnTo>
                <a:lnTo>
                  <a:pt x="389445" y="44246"/>
                </a:lnTo>
                <a:lnTo>
                  <a:pt x="370394" y="44454"/>
                </a:lnTo>
                <a:close/>
              </a:path>
              <a:path w="447040" h="76200">
                <a:moveTo>
                  <a:pt x="139" y="48501"/>
                </a:moveTo>
                <a:lnTo>
                  <a:pt x="0" y="35801"/>
                </a:lnTo>
                <a:lnTo>
                  <a:pt x="370256" y="31754"/>
                </a:lnTo>
                <a:lnTo>
                  <a:pt x="370394" y="44454"/>
                </a:lnTo>
                <a:lnTo>
                  <a:pt x="139" y="48501"/>
                </a:lnTo>
                <a:close/>
              </a:path>
            </a:pathLst>
          </a:custGeom>
          <a:solidFill>
            <a:srgbClr val="C00000"/>
          </a:solidFill>
        </p:spPr>
        <p:txBody>
          <a:bodyPr wrap="square" lIns="0" tIns="0" rIns="0" bIns="0" rtlCol="0"/>
          <a:lstStyle/>
          <a:p/>
        </p:txBody>
      </p:sp>
      <p:sp>
        <p:nvSpPr>
          <p:cNvPr id="72" name="object 72"/>
          <p:cNvSpPr/>
          <p:nvPr/>
        </p:nvSpPr>
        <p:spPr>
          <a:xfrm>
            <a:off x="9471786" y="1283195"/>
            <a:ext cx="76200" cy="275590"/>
          </a:xfrm>
          <a:custGeom>
            <a:avLst/>
            <a:gdLst/>
            <a:ahLst/>
            <a:cxnLst/>
            <a:rect l="l" t="t" r="r" b="b"/>
            <a:pathLst>
              <a:path w="76200" h="275590">
                <a:moveTo>
                  <a:pt x="0" y="77152"/>
                </a:moveTo>
                <a:lnTo>
                  <a:pt x="36131" y="0"/>
                </a:lnTo>
                <a:lnTo>
                  <a:pt x="66469" y="56972"/>
                </a:lnTo>
                <a:lnTo>
                  <a:pt x="43942" y="56972"/>
                </a:lnTo>
                <a:lnTo>
                  <a:pt x="31254" y="57289"/>
                </a:lnTo>
                <a:lnTo>
                  <a:pt x="31743" y="76337"/>
                </a:lnTo>
                <a:lnTo>
                  <a:pt x="0" y="77152"/>
                </a:lnTo>
                <a:close/>
              </a:path>
              <a:path w="76200" h="275590">
                <a:moveTo>
                  <a:pt x="31743" y="76337"/>
                </a:moveTo>
                <a:lnTo>
                  <a:pt x="31254" y="57289"/>
                </a:lnTo>
                <a:lnTo>
                  <a:pt x="43942" y="56972"/>
                </a:lnTo>
                <a:lnTo>
                  <a:pt x="44430" y="76011"/>
                </a:lnTo>
                <a:lnTo>
                  <a:pt x="31743" y="76337"/>
                </a:lnTo>
                <a:close/>
              </a:path>
              <a:path w="76200" h="275590">
                <a:moveTo>
                  <a:pt x="44430" y="76011"/>
                </a:moveTo>
                <a:lnTo>
                  <a:pt x="43942" y="56972"/>
                </a:lnTo>
                <a:lnTo>
                  <a:pt x="66469" y="56972"/>
                </a:lnTo>
                <a:lnTo>
                  <a:pt x="76174" y="75196"/>
                </a:lnTo>
                <a:lnTo>
                  <a:pt x="44430" y="76011"/>
                </a:lnTo>
                <a:close/>
              </a:path>
              <a:path w="76200" h="275590">
                <a:moveTo>
                  <a:pt x="36855" y="275374"/>
                </a:moveTo>
                <a:lnTo>
                  <a:pt x="31743" y="76337"/>
                </a:lnTo>
                <a:lnTo>
                  <a:pt x="44430" y="76011"/>
                </a:lnTo>
                <a:lnTo>
                  <a:pt x="49542" y="275056"/>
                </a:lnTo>
                <a:lnTo>
                  <a:pt x="36855" y="275374"/>
                </a:lnTo>
                <a:close/>
              </a:path>
            </a:pathLst>
          </a:custGeom>
          <a:solidFill>
            <a:srgbClr val="C00000"/>
          </a:solidFill>
        </p:spPr>
        <p:txBody>
          <a:bodyPr wrap="square" lIns="0" tIns="0" rIns="0" bIns="0" rtlCol="0"/>
          <a:lstStyle/>
          <a:p/>
        </p:txBody>
      </p:sp>
      <p:sp>
        <p:nvSpPr>
          <p:cNvPr id="73" name="object 73"/>
          <p:cNvSpPr/>
          <p:nvPr/>
        </p:nvSpPr>
        <p:spPr>
          <a:xfrm>
            <a:off x="10928553" y="3109023"/>
            <a:ext cx="0" cy="597535"/>
          </a:xfrm>
          <a:custGeom>
            <a:avLst/>
            <a:gdLst/>
            <a:ahLst/>
            <a:cxnLst/>
            <a:rect l="l" t="t" r="r" b="b"/>
            <a:pathLst>
              <a:path h="597535">
                <a:moveTo>
                  <a:pt x="0" y="0"/>
                </a:moveTo>
                <a:lnTo>
                  <a:pt x="0" y="597420"/>
                </a:lnTo>
              </a:path>
            </a:pathLst>
          </a:custGeom>
          <a:ln w="12700">
            <a:solidFill>
              <a:srgbClr val="C00000"/>
            </a:solidFill>
          </a:ln>
        </p:spPr>
        <p:txBody>
          <a:bodyPr wrap="square" lIns="0" tIns="0" rIns="0" bIns="0" rtlCol="0"/>
          <a:lstStyle/>
          <a:p/>
        </p:txBody>
      </p:sp>
      <p:sp>
        <p:nvSpPr>
          <p:cNvPr id="74" name="object 74"/>
          <p:cNvSpPr/>
          <p:nvPr/>
        </p:nvSpPr>
        <p:spPr>
          <a:xfrm>
            <a:off x="10928401" y="3662362"/>
            <a:ext cx="312420" cy="76200"/>
          </a:xfrm>
          <a:custGeom>
            <a:avLst/>
            <a:gdLst/>
            <a:ahLst/>
            <a:cxnLst/>
            <a:rect l="l" t="t" r="r" b="b"/>
            <a:pathLst>
              <a:path w="312420" h="76200">
                <a:moveTo>
                  <a:pt x="237108" y="76174"/>
                </a:moveTo>
                <a:lnTo>
                  <a:pt x="236304" y="44426"/>
                </a:lnTo>
                <a:lnTo>
                  <a:pt x="255346" y="43941"/>
                </a:lnTo>
                <a:lnTo>
                  <a:pt x="255028" y="31254"/>
                </a:lnTo>
                <a:lnTo>
                  <a:pt x="235970" y="31254"/>
                </a:lnTo>
                <a:lnTo>
                  <a:pt x="235178" y="0"/>
                </a:lnTo>
                <a:lnTo>
                  <a:pt x="301883" y="31254"/>
                </a:lnTo>
                <a:lnTo>
                  <a:pt x="255028" y="31254"/>
                </a:lnTo>
                <a:lnTo>
                  <a:pt x="235982" y="31738"/>
                </a:lnTo>
                <a:lnTo>
                  <a:pt x="302915" y="31738"/>
                </a:lnTo>
                <a:lnTo>
                  <a:pt x="312318" y="36144"/>
                </a:lnTo>
                <a:lnTo>
                  <a:pt x="237108" y="76174"/>
                </a:lnTo>
                <a:close/>
              </a:path>
              <a:path w="312420" h="76200">
                <a:moveTo>
                  <a:pt x="236304" y="44426"/>
                </a:moveTo>
                <a:lnTo>
                  <a:pt x="235982" y="31738"/>
                </a:lnTo>
                <a:lnTo>
                  <a:pt x="255028" y="31254"/>
                </a:lnTo>
                <a:lnTo>
                  <a:pt x="255346" y="43941"/>
                </a:lnTo>
                <a:lnTo>
                  <a:pt x="236304" y="44426"/>
                </a:lnTo>
                <a:close/>
              </a:path>
              <a:path w="312420" h="76200">
                <a:moveTo>
                  <a:pt x="317" y="50431"/>
                </a:moveTo>
                <a:lnTo>
                  <a:pt x="0" y="37731"/>
                </a:lnTo>
                <a:lnTo>
                  <a:pt x="235982" y="31738"/>
                </a:lnTo>
                <a:lnTo>
                  <a:pt x="236304" y="44426"/>
                </a:lnTo>
                <a:lnTo>
                  <a:pt x="317" y="50431"/>
                </a:lnTo>
                <a:close/>
              </a:path>
            </a:pathLst>
          </a:custGeom>
          <a:solidFill>
            <a:srgbClr val="C00000"/>
          </a:solidFill>
        </p:spPr>
        <p:txBody>
          <a:bodyPr wrap="square" lIns="0" tIns="0" rIns="0" bIns="0" rtlCol="0"/>
          <a:lstStyle/>
          <a:p/>
        </p:txBody>
      </p:sp>
      <p:sp>
        <p:nvSpPr>
          <p:cNvPr id="75" name="object 75"/>
          <p:cNvSpPr txBox="1"/>
          <p:nvPr/>
        </p:nvSpPr>
        <p:spPr>
          <a:xfrm>
            <a:off x="11141773" y="3703739"/>
            <a:ext cx="618490" cy="392430"/>
          </a:xfrm>
          <a:prstGeom prst="rect">
            <a:avLst/>
          </a:prstGeom>
        </p:spPr>
        <p:txBody>
          <a:bodyPr vert="horz" wrap="square" lIns="0" tIns="13335" rIns="0" bIns="0" rtlCol="0">
            <a:spAutoFit/>
          </a:bodyPr>
          <a:lstStyle/>
          <a:p>
            <a:pPr marL="12700" marR="5080" algn="ctr">
              <a:lnSpc>
                <a:spcPct val="100000"/>
              </a:lnSpc>
              <a:spcBef>
                <a:spcPts val="105"/>
              </a:spcBef>
            </a:pPr>
            <a:r>
              <a:rPr sz="800" spc="-5" dirty="0">
                <a:solidFill>
                  <a:srgbClr val="C00000"/>
                </a:solidFill>
                <a:latin typeface="微软雅黑" panose="020B0503020204020204" charset="-122"/>
                <a:cs typeface="微软雅黑" panose="020B0503020204020204" charset="-122"/>
              </a:rPr>
              <a:t>LS</a:t>
            </a:r>
            <a:r>
              <a:rPr sz="800" spc="-10" dirty="0">
                <a:solidFill>
                  <a:srgbClr val="C00000"/>
                </a:solidFill>
                <a:latin typeface="微软雅黑" panose="020B0503020204020204" charset="-122"/>
                <a:cs typeface="微软雅黑" panose="020B0503020204020204" charset="-122"/>
              </a:rPr>
              <a:t>U</a:t>
            </a:r>
            <a:r>
              <a:rPr sz="800" dirty="0">
                <a:solidFill>
                  <a:srgbClr val="C00000"/>
                </a:solidFill>
                <a:latin typeface="微软雅黑" panose="020B0503020204020204" charset="-122"/>
                <a:cs typeface="微软雅黑" panose="020B0503020204020204" charset="-122"/>
              </a:rPr>
              <a:t>返回结</a:t>
            </a:r>
            <a:r>
              <a:rPr sz="800" dirty="0">
                <a:solidFill>
                  <a:srgbClr val="C00000"/>
                </a:solidFill>
                <a:latin typeface="微软雅黑" panose="020B0503020204020204" charset="-122"/>
                <a:cs typeface="微软雅黑" panose="020B0503020204020204" charset="-122"/>
              </a:rPr>
              <a:t>果 </a:t>
            </a:r>
            <a:r>
              <a:rPr sz="800" spc="-5" dirty="0">
                <a:solidFill>
                  <a:srgbClr val="C00000"/>
                </a:solidFill>
                <a:latin typeface="微软雅黑" panose="020B0503020204020204" charset="-122"/>
                <a:cs typeface="微软雅黑" panose="020B0503020204020204" charset="-122"/>
              </a:rPr>
              <a:t>至EAI协处</a:t>
            </a:r>
            <a:r>
              <a:rPr sz="800" dirty="0">
                <a:solidFill>
                  <a:srgbClr val="C00000"/>
                </a:solidFill>
                <a:latin typeface="微软雅黑" panose="020B0503020204020204" charset="-122"/>
                <a:cs typeface="微软雅黑" panose="020B0503020204020204" charset="-122"/>
              </a:rPr>
              <a:t>理 </a:t>
            </a:r>
            <a:r>
              <a:rPr sz="800" spc="5" dirty="0">
                <a:solidFill>
                  <a:srgbClr val="C00000"/>
                </a:solidFill>
                <a:latin typeface="微软雅黑" panose="020B0503020204020204" charset="-122"/>
                <a:cs typeface="微软雅黑" panose="020B0503020204020204" charset="-122"/>
              </a:rPr>
              <a:t>器</a:t>
            </a:r>
            <a:endParaRPr sz="800">
              <a:latin typeface="微软雅黑" panose="020B0503020204020204" charset="-122"/>
              <a:cs typeface="微软雅黑" panose="020B0503020204020204" charset="-122"/>
            </a:endParaRPr>
          </a:p>
        </p:txBody>
      </p:sp>
      <p:sp>
        <p:nvSpPr>
          <p:cNvPr id="76" name="object 76"/>
          <p:cNvSpPr/>
          <p:nvPr/>
        </p:nvSpPr>
        <p:spPr>
          <a:xfrm>
            <a:off x="5460491" y="2561844"/>
            <a:ext cx="710565" cy="1039494"/>
          </a:xfrm>
          <a:custGeom>
            <a:avLst/>
            <a:gdLst/>
            <a:ahLst/>
            <a:cxnLst/>
            <a:rect l="l" t="t" r="r" b="b"/>
            <a:pathLst>
              <a:path w="710564" h="1039495">
                <a:moveTo>
                  <a:pt x="0" y="0"/>
                </a:moveTo>
                <a:lnTo>
                  <a:pt x="710184" y="0"/>
                </a:lnTo>
                <a:lnTo>
                  <a:pt x="710184" y="1039367"/>
                </a:lnTo>
                <a:lnTo>
                  <a:pt x="0" y="1039367"/>
                </a:lnTo>
                <a:lnTo>
                  <a:pt x="0" y="0"/>
                </a:lnTo>
                <a:close/>
              </a:path>
            </a:pathLst>
          </a:custGeom>
          <a:solidFill>
            <a:srgbClr val="F1F1F1"/>
          </a:solidFill>
        </p:spPr>
        <p:txBody>
          <a:bodyPr wrap="square" lIns="0" tIns="0" rIns="0" bIns="0" rtlCol="0"/>
          <a:lstStyle/>
          <a:p/>
        </p:txBody>
      </p:sp>
      <p:sp>
        <p:nvSpPr>
          <p:cNvPr id="77" name="object 77"/>
          <p:cNvSpPr/>
          <p:nvPr/>
        </p:nvSpPr>
        <p:spPr>
          <a:xfrm>
            <a:off x="5453443" y="2555900"/>
            <a:ext cx="723265" cy="1051560"/>
          </a:xfrm>
          <a:custGeom>
            <a:avLst/>
            <a:gdLst/>
            <a:ahLst/>
            <a:cxnLst/>
            <a:rect l="l" t="t" r="r" b="b"/>
            <a:pathLst>
              <a:path w="723264" h="1051560">
                <a:moveTo>
                  <a:pt x="723023" y="1051318"/>
                </a:moveTo>
                <a:lnTo>
                  <a:pt x="0" y="1051318"/>
                </a:lnTo>
                <a:lnTo>
                  <a:pt x="0" y="0"/>
                </a:lnTo>
                <a:lnTo>
                  <a:pt x="723023" y="0"/>
                </a:lnTo>
                <a:lnTo>
                  <a:pt x="723023" y="6350"/>
                </a:lnTo>
                <a:lnTo>
                  <a:pt x="12700" y="6350"/>
                </a:lnTo>
                <a:lnTo>
                  <a:pt x="6350" y="12700"/>
                </a:lnTo>
                <a:lnTo>
                  <a:pt x="12700" y="12700"/>
                </a:lnTo>
                <a:lnTo>
                  <a:pt x="12700" y="1038618"/>
                </a:lnTo>
                <a:lnTo>
                  <a:pt x="6350" y="1038618"/>
                </a:lnTo>
                <a:lnTo>
                  <a:pt x="12700" y="1044968"/>
                </a:lnTo>
                <a:lnTo>
                  <a:pt x="723023" y="1044968"/>
                </a:lnTo>
                <a:lnTo>
                  <a:pt x="723023" y="1051318"/>
                </a:lnTo>
                <a:close/>
              </a:path>
              <a:path w="723264" h="1051560">
                <a:moveTo>
                  <a:pt x="12700" y="12700"/>
                </a:moveTo>
                <a:lnTo>
                  <a:pt x="6350" y="12700"/>
                </a:lnTo>
                <a:lnTo>
                  <a:pt x="12700" y="6350"/>
                </a:lnTo>
                <a:lnTo>
                  <a:pt x="12700" y="12700"/>
                </a:lnTo>
                <a:close/>
              </a:path>
              <a:path w="723264" h="1051560">
                <a:moveTo>
                  <a:pt x="710323" y="12700"/>
                </a:moveTo>
                <a:lnTo>
                  <a:pt x="12700" y="12700"/>
                </a:lnTo>
                <a:lnTo>
                  <a:pt x="12700" y="6350"/>
                </a:lnTo>
                <a:lnTo>
                  <a:pt x="710323" y="6350"/>
                </a:lnTo>
                <a:lnTo>
                  <a:pt x="710323" y="12700"/>
                </a:lnTo>
                <a:close/>
              </a:path>
              <a:path w="723264" h="1051560">
                <a:moveTo>
                  <a:pt x="710323" y="1044968"/>
                </a:moveTo>
                <a:lnTo>
                  <a:pt x="710323" y="6350"/>
                </a:lnTo>
                <a:lnTo>
                  <a:pt x="716673" y="12700"/>
                </a:lnTo>
                <a:lnTo>
                  <a:pt x="723023" y="12700"/>
                </a:lnTo>
                <a:lnTo>
                  <a:pt x="723023" y="1038618"/>
                </a:lnTo>
                <a:lnTo>
                  <a:pt x="716673" y="1038618"/>
                </a:lnTo>
                <a:lnTo>
                  <a:pt x="710323" y="1044968"/>
                </a:lnTo>
                <a:close/>
              </a:path>
              <a:path w="723264" h="1051560">
                <a:moveTo>
                  <a:pt x="723023" y="12700"/>
                </a:moveTo>
                <a:lnTo>
                  <a:pt x="716673" y="12700"/>
                </a:lnTo>
                <a:lnTo>
                  <a:pt x="710323" y="6350"/>
                </a:lnTo>
                <a:lnTo>
                  <a:pt x="723023" y="6350"/>
                </a:lnTo>
                <a:lnTo>
                  <a:pt x="723023" y="12700"/>
                </a:lnTo>
                <a:close/>
              </a:path>
              <a:path w="723264" h="1051560">
                <a:moveTo>
                  <a:pt x="12700" y="1044968"/>
                </a:moveTo>
                <a:lnTo>
                  <a:pt x="6350" y="1038618"/>
                </a:lnTo>
                <a:lnTo>
                  <a:pt x="12700" y="1038618"/>
                </a:lnTo>
                <a:lnTo>
                  <a:pt x="12700" y="1044968"/>
                </a:lnTo>
                <a:close/>
              </a:path>
              <a:path w="723264" h="1051560">
                <a:moveTo>
                  <a:pt x="710323" y="1044968"/>
                </a:moveTo>
                <a:lnTo>
                  <a:pt x="12700" y="1044968"/>
                </a:lnTo>
                <a:lnTo>
                  <a:pt x="12700" y="1038618"/>
                </a:lnTo>
                <a:lnTo>
                  <a:pt x="710323" y="1038618"/>
                </a:lnTo>
                <a:lnTo>
                  <a:pt x="710323" y="1044968"/>
                </a:lnTo>
                <a:close/>
              </a:path>
              <a:path w="723264" h="1051560">
                <a:moveTo>
                  <a:pt x="723023" y="1044968"/>
                </a:moveTo>
                <a:lnTo>
                  <a:pt x="710323" y="1044968"/>
                </a:lnTo>
                <a:lnTo>
                  <a:pt x="716673" y="1038618"/>
                </a:lnTo>
                <a:lnTo>
                  <a:pt x="723023" y="1038618"/>
                </a:lnTo>
                <a:lnTo>
                  <a:pt x="723023" y="1044968"/>
                </a:lnTo>
                <a:close/>
              </a:path>
            </a:pathLst>
          </a:custGeom>
          <a:solidFill>
            <a:srgbClr val="C00000"/>
          </a:solidFill>
        </p:spPr>
        <p:txBody>
          <a:bodyPr wrap="square" lIns="0" tIns="0" rIns="0" bIns="0" rtlCol="0"/>
          <a:lstStyle/>
          <a:p/>
        </p:txBody>
      </p:sp>
      <p:sp>
        <p:nvSpPr>
          <p:cNvPr id="78" name="object 78"/>
          <p:cNvSpPr txBox="1"/>
          <p:nvPr/>
        </p:nvSpPr>
        <p:spPr>
          <a:xfrm>
            <a:off x="5638063" y="3212541"/>
            <a:ext cx="354330" cy="268605"/>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C00000"/>
                </a:solidFill>
                <a:latin typeface="Calibri" panose="020F0502020204030204"/>
                <a:cs typeface="Calibri" panose="020F0502020204030204"/>
              </a:rPr>
              <a:t>A</a:t>
            </a:r>
            <a:r>
              <a:rPr sz="1600" spc="-40" dirty="0">
                <a:solidFill>
                  <a:srgbClr val="C00000"/>
                </a:solidFill>
                <a:latin typeface="Calibri" panose="020F0502020204030204"/>
                <a:cs typeface="Calibri" panose="020F0502020204030204"/>
              </a:rPr>
              <a:t>L</a:t>
            </a:r>
            <a:r>
              <a:rPr sz="1600" spc="-5" dirty="0">
                <a:solidFill>
                  <a:srgbClr val="C00000"/>
                </a:solidFill>
                <a:latin typeface="Calibri" panose="020F0502020204030204"/>
                <a:cs typeface="Calibri" panose="020F0502020204030204"/>
              </a:rPr>
              <a:t>U</a:t>
            </a:r>
            <a:endParaRPr sz="1600">
              <a:latin typeface="Calibri" panose="020F0502020204030204"/>
              <a:cs typeface="Calibri" panose="020F0502020204030204"/>
            </a:endParaRPr>
          </a:p>
        </p:txBody>
      </p:sp>
      <p:sp>
        <p:nvSpPr>
          <p:cNvPr id="79" name="object 79"/>
          <p:cNvSpPr/>
          <p:nvPr/>
        </p:nvSpPr>
        <p:spPr>
          <a:xfrm>
            <a:off x="5541264" y="2788920"/>
            <a:ext cx="485140" cy="373380"/>
          </a:xfrm>
          <a:custGeom>
            <a:avLst/>
            <a:gdLst/>
            <a:ahLst/>
            <a:cxnLst/>
            <a:rect l="l" t="t" r="r" b="b"/>
            <a:pathLst>
              <a:path w="485139" h="373380">
                <a:moveTo>
                  <a:pt x="0" y="0"/>
                </a:moveTo>
                <a:lnTo>
                  <a:pt x="484632" y="0"/>
                </a:lnTo>
                <a:lnTo>
                  <a:pt x="484632" y="373379"/>
                </a:lnTo>
                <a:lnTo>
                  <a:pt x="0" y="373379"/>
                </a:lnTo>
                <a:lnTo>
                  <a:pt x="0" y="0"/>
                </a:lnTo>
                <a:close/>
              </a:path>
            </a:pathLst>
          </a:custGeom>
          <a:solidFill>
            <a:srgbClr val="D9D9D9"/>
          </a:solidFill>
        </p:spPr>
        <p:txBody>
          <a:bodyPr wrap="square" lIns="0" tIns="0" rIns="0" bIns="0" rtlCol="0"/>
          <a:lstStyle/>
          <a:p/>
        </p:txBody>
      </p:sp>
      <p:sp>
        <p:nvSpPr>
          <p:cNvPr id="80" name="object 80"/>
          <p:cNvSpPr/>
          <p:nvPr/>
        </p:nvSpPr>
        <p:spPr>
          <a:xfrm>
            <a:off x="5534723" y="2782912"/>
            <a:ext cx="497840" cy="386715"/>
          </a:xfrm>
          <a:custGeom>
            <a:avLst/>
            <a:gdLst/>
            <a:ahLst/>
            <a:cxnLst/>
            <a:rect l="l" t="t" r="r" b="b"/>
            <a:pathLst>
              <a:path w="497839" h="386714">
                <a:moveTo>
                  <a:pt x="497446" y="386156"/>
                </a:moveTo>
                <a:lnTo>
                  <a:pt x="0" y="386156"/>
                </a:lnTo>
                <a:lnTo>
                  <a:pt x="0" y="0"/>
                </a:lnTo>
                <a:lnTo>
                  <a:pt x="497446" y="0"/>
                </a:lnTo>
                <a:lnTo>
                  <a:pt x="497446" y="6350"/>
                </a:lnTo>
                <a:lnTo>
                  <a:pt x="12700" y="6350"/>
                </a:lnTo>
                <a:lnTo>
                  <a:pt x="6350" y="12700"/>
                </a:lnTo>
                <a:lnTo>
                  <a:pt x="12700" y="12700"/>
                </a:lnTo>
                <a:lnTo>
                  <a:pt x="12700" y="373456"/>
                </a:lnTo>
                <a:lnTo>
                  <a:pt x="6350" y="373456"/>
                </a:lnTo>
                <a:lnTo>
                  <a:pt x="12700" y="379806"/>
                </a:lnTo>
                <a:lnTo>
                  <a:pt x="497446" y="379806"/>
                </a:lnTo>
                <a:lnTo>
                  <a:pt x="497446" y="386156"/>
                </a:lnTo>
                <a:close/>
              </a:path>
              <a:path w="497839" h="386714">
                <a:moveTo>
                  <a:pt x="12700" y="12700"/>
                </a:moveTo>
                <a:lnTo>
                  <a:pt x="6350" y="12700"/>
                </a:lnTo>
                <a:lnTo>
                  <a:pt x="12700" y="6350"/>
                </a:lnTo>
                <a:lnTo>
                  <a:pt x="12700" y="12700"/>
                </a:lnTo>
                <a:close/>
              </a:path>
              <a:path w="497839" h="386714">
                <a:moveTo>
                  <a:pt x="484746" y="12700"/>
                </a:moveTo>
                <a:lnTo>
                  <a:pt x="12700" y="12700"/>
                </a:lnTo>
                <a:lnTo>
                  <a:pt x="12700" y="6350"/>
                </a:lnTo>
                <a:lnTo>
                  <a:pt x="484746" y="6350"/>
                </a:lnTo>
                <a:lnTo>
                  <a:pt x="484746" y="12700"/>
                </a:lnTo>
                <a:close/>
              </a:path>
              <a:path w="497839" h="386714">
                <a:moveTo>
                  <a:pt x="484746" y="379806"/>
                </a:moveTo>
                <a:lnTo>
                  <a:pt x="484746" y="6350"/>
                </a:lnTo>
                <a:lnTo>
                  <a:pt x="491096" y="12700"/>
                </a:lnTo>
                <a:lnTo>
                  <a:pt x="497446" y="12700"/>
                </a:lnTo>
                <a:lnTo>
                  <a:pt x="497446" y="373456"/>
                </a:lnTo>
                <a:lnTo>
                  <a:pt x="491096" y="373456"/>
                </a:lnTo>
                <a:lnTo>
                  <a:pt x="484746" y="379806"/>
                </a:lnTo>
                <a:close/>
              </a:path>
              <a:path w="497839" h="386714">
                <a:moveTo>
                  <a:pt x="497446" y="12700"/>
                </a:moveTo>
                <a:lnTo>
                  <a:pt x="491096" y="12700"/>
                </a:lnTo>
                <a:lnTo>
                  <a:pt x="484746" y="6350"/>
                </a:lnTo>
                <a:lnTo>
                  <a:pt x="497446" y="6350"/>
                </a:lnTo>
                <a:lnTo>
                  <a:pt x="497446" y="12700"/>
                </a:lnTo>
                <a:close/>
              </a:path>
              <a:path w="497839" h="386714">
                <a:moveTo>
                  <a:pt x="12700" y="379806"/>
                </a:moveTo>
                <a:lnTo>
                  <a:pt x="6350" y="373456"/>
                </a:lnTo>
                <a:lnTo>
                  <a:pt x="12700" y="373456"/>
                </a:lnTo>
                <a:lnTo>
                  <a:pt x="12700" y="379806"/>
                </a:lnTo>
                <a:close/>
              </a:path>
              <a:path w="497839" h="386714">
                <a:moveTo>
                  <a:pt x="484746" y="379806"/>
                </a:moveTo>
                <a:lnTo>
                  <a:pt x="12700" y="379806"/>
                </a:lnTo>
                <a:lnTo>
                  <a:pt x="12700" y="373456"/>
                </a:lnTo>
                <a:lnTo>
                  <a:pt x="484746" y="373456"/>
                </a:lnTo>
                <a:lnTo>
                  <a:pt x="484746" y="379806"/>
                </a:lnTo>
                <a:close/>
              </a:path>
              <a:path w="497839" h="386714">
                <a:moveTo>
                  <a:pt x="497446" y="379806"/>
                </a:moveTo>
                <a:lnTo>
                  <a:pt x="484746" y="379806"/>
                </a:lnTo>
                <a:lnTo>
                  <a:pt x="491096" y="373456"/>
                </a:lnTo>
                <a:lnTo>
                  <a:pt x="497446" y="373456"/>
                </a:lnTo>
                <a:lnTo>
                  <a:pt x="497446" y="379806"/>
                </a:lnTo>
                <a:close/>
              </a:path>
            </a:pathLst>
          </a:custGeom>
          <a:solidFill>
            <a:srgbClr val="C00000"/>
          </a:solidFill>
        </p:spPr>
        <p:txBody>
          <a:bodyPr wrap="square" lIns="0" tIns="0" rIns="0" bIns="0" rtlCol="0"/>
          <a:lstStyle/>
          <a:p/>
        </p:txBody>
      </p:sp>
      <p:sp>
        <p:nvSpPr>
          <p:cNvPr id="81" name="object 81"/>
          <p:cNvSpPr/>
          <p:nvPr/>
        </p:nvSpPr>
        <p:spPr>
          <a:xfrm>
            <a:off x="6025172" y="2923882"/>
            <a:ext cx="805815" cy="76200"/>
          </a:xfrm>
          <a:custGeom>
            <a:avLst/>
            <a:gdLst/>
            <a:ahLst/>
            <a:cxnLst/>
            <a:rect l="l" t="t" r="r" b="b"/>
            <a:pathLst>
              <a:path w="805815" h="76200">
                <a:moveTo>
                  <a:pt x="729907" y="76200"/>
                </a:moveTo>
                <a:lnTo>
                  <a:pt x="729642" y="44443"/>
                </a:lnTo>
                <a:lnTo>
                  <a:pt x="748703" y="44284"/>
                </a:lnTo>
                <a:lnTo>
                  <a:pt x="748588" y="31584"/>
                </a:lnTo>
                <a:lnTo>
                  <a:pt x="729535" y="31584"/>
                </a:lnTo>
                <a:lnTo>
                  <a:pt x="729272" y="0"/>
                </a:lnTo>
                <a:lnTo>
                  <a:pt x="793780" y="31584"/>
                </a:lnTo>
                <a:lnTo>
                  <a:pt x="748588" y="31584"/>
                </a:lnTo>
                <a:lnTo>
                  <a:pt x="794104" y="31743"/>
                </a:lnTo>
                <a:lnTo>
                  <a:pt x="805789" y="37465"/>
                </a:lnTo>
                <a:lnTo>
                  <a:pt x="729907" y="76200"/>
                </a:lnTo>
                <a:close/>
              </a:path>
              <a:path w="805815" h="76200">
                <a:moveTo>
                  <a:pt x="729642" y="44443"/>
                </a:moveTo>
                <a:lnTo>
                  <a:pt x="729536" y="31743"/>
                </a:lnTo>
                <a:lnTo>
                  <a:pt x="748588" y="31584"/>
                </a:lnTo>
                <a:lnTo>
                  <a:pt x="748703" y="44284"/>
                </a:lnTo>
                <a:lnTo>
                  <a:pt x="729642" y="44443"/>
                </a:lnTo>
                <a:close/>
              </a:path>
              <a:path w="805815" h="76200">
                <a:moveTo>
                  <a:pt x="114" y="50520"/>
                </a:moveTo>
                <a:lnTo>
                  <a:pt x="0" y="37820"/>
                </a:lnTo>
                <a:lnTo>
                  <a:pt x="729536" y="31743"/>
                </a:lnTo>
                <a:lnTo>
                  <a:pt x="729642" y="44443"/>
                </a:lnTo>
                <a:lnTo>
                  <a:pt x="114" y="50520"/>
                </a:lnTo>
                <a:close/>
              </a:path>
            </a:pathLst>
          </a:custGeom>
          <a:solidFill>
            <a:srgbClr val="C00000"/>
          </a:solidFill>
        </p:spPr>
        <p:txBody>
          <a:bodyPr wrap="square" lIns="0" tIns="0" rIns="0" bIns="0" rtlCol="0"/>
          <a:lstStyle/>
          <a:p/>
        </p:txBody>
      </p:sp>
      <p:sp>
        <p:nvSpPr>
          <p:cNvPr id="82" name="object 82"/>
          <p:cNvSpPr txBox="1"/>
          <p:nvPr/>
        </p:nvSpPr>
        <p:spPr>
          <a:xfrm>
            <a:off x="7160374" y="1613458"/>
            <a:ext cx="964565" cy="329565"/>
          </a:xfrm>
          <a:prstGeom prst="rect">
            <a:avLst/>
          </a:prstGeom>
        </p:spPr>
        <p:txBody>
          <a:bodyPr vert="horz" wrap="square" lIns="0" tIns="12065" rIns="0" bIns="0" rtlCol="0">
            <a:spAutoFit/>
          </a:bodyPr>
          <a:lstStyle/>
          <a:p>
            <a:pPr marL="375285" marR="5080" indent="-375285">
              <a:lnSpc>
                <a:spcPct val="100000"/>
              </a:lnSpc>
              <a:spcBef>
                <a:spcPts val="95"/>
              </a:spcBef>
            </a:pPr>
            <a:r>
              <a:rPr sz="1000" spc="-5" dirty="0">
                <a:solidFill>
                  <a:srgbClr val="C00000"/>
                </a:solidFill>
                <a:latin typeface="微软雅黑" panose="020B0503020204020204" charset="-122"/>
                <a:cs typeface="微软雅黑" panose="020B0503020204020204" charset="-122"/>
              </a:rPr>
              <a:t>LSU</a:t>
            </a:r>
            <a:r>
              <a:rPr sz="1000" dirty="0">
                <a:solidFill>
                  <a:srgbClr val="C00000"/>
                </a:solidFill>
                <a:latin typeface="微软雅黑" panose="020B0503020204020204" charset="-122"/>
                <a:cs typeface="微软雅黑" panose="020B0503020204020204" charset="-122"/>
              </a:rPr>
              <a:t>访问</a:t>
            </a:r>
            <a:r>
              <a:rPr sz="1000" spc="-5" dirty="0">
                <a:solidFill>
                  <a:srgbClr val="C00000"/>
                </a:solidFill>
                <a:latin typeface="微软雅黑" panose="020B0503020204020204" charset="-122"/>
                <a:cs typeface="微软雅黑" panose="020B0503020204020204" charset="-122"/>
              </a:rPr>
              <a:t>BIU</a:t>
            </a:r>
            <a:r>
              <a:rPr sz="1000" dirty="0">
                <a:solidFill>
                  <a:srgbClr val="C00000"/>
                </a:solidFill>
                <a:latin typeface="微软雅黑" panose="020B0503020204020204" charset="-122"/>
                <a:cs typeface="微软雅黑" panose="020B0503020204020204" charset="-122"/>
              </a:rPr>
              <a:t>接</a:t>
            </a:r>
            <a:r>
              <a:rPr sz="1000" spc="-5" dirty="0">
                <a:solidFill>
                  <a:srgbClr val="C00000"/>
                </a:solidFill>
                <a:latin typeface="微软雅黑" panose="020B0503020204020204" charset="-122"/>
                <a:cs typeface="微软雅黑" panose="020B0503020204020204" charset="-122"/>
              </a:rPr>
              <a:t>口  </a:t>
            </a:r>
            <a:r>
              <a:rPr sz="1000" spc="-5" dirty="0">
                <a:solidFill>
                  <a:srgbClr val="C00000"/>
                </a:solidFill>
                <a:latin typeface="微软雅黑" panose="020B0503020204020204" charset="-122"/>
                <a:cs typeface="微软雅黑" panose="020B0503020204020204" charset="-122"/>
              </a:rPr>
              <a:t>ICB</a:t>
            </a:r>
            <a:endParaRPr sz="1000">
              <a:latin typeface="微软雅黑" panose="020B0503020204020204" charset="-122"/>
              <a:cs typeface="微软雅黑" panose="020B0503020204020204" charset="-122"/>
            </a:endParaRPr>
          </a:p>
        </p:txBody>
      </p:sp>
      <p:sp>
        <p:nvSpPr>
          <p:cNvPr id="83" name="object 83"/>
          <p:cNvSpPr txBox="1"/>
          <p:nvPr/>
        </p:nvSpPr>
        <p:spPr>
          <a:xfrm>
            <a:off x="10351160" y="1593468"/>
            <a:ext cx="389255" cy="331470"/>
          </a:xfrm>
          <a:prstGeom prst="rect">
            <a:avLst/>
          </a:prstGeom>
        </p:spPr>
        <p:txBody>
          <a:bodyPr vert="horz" wrap="square" lIns="0" tIns="13335" rIns="0" bIns="0" rtlCol="0">
            <a:spAutoFit/>
          </a:bodyPr>
          <a:lstStyle/>
          <a:p>
            <a:pPr>
              <a:lnSpc>
                <a:spcPct val="100000"/>
              </a:lnSpc>
              <a:spcBef>
                <a:spcPts val="105"/>
              </a:spcBef>
            </a:pPr>
            <a:r>
              <a:rPr sz="2000" b="1" spc="-5" dirty="0">
                <a:solidFill>
                  <a:srgbClr val="C00000"/>
                </a:solidFill>
                <a:latin typeface="Calibri" panose="020F0502020204030204"/>
                <a:cs typeface="Calibri" panose="020F0502020204030204"/>
              </a:rPr>
              <a:t>B</a:t>
            </a:r>
            <a:r>
              <a:rPr sz="2000" b="1" dirty="0">
                <a:solidFill>
                  <a:srgbClr val="C00000"/>
                </a:solidFill>
                <a:latin typeface="Calibri" panose="020F0502020204030204"/>
                <a:cs typeface="Calibri" panose="020F0502020204030204"/>
              </a:rPr>
              <a:t>IU</a:t>
            </a:r>
            <a:endParaRPr sz="2000">
              <a:latin typeface="Calibri" panose="020F0502020204030204"/>
              <a:cs typeface="Calibri" panose="020F0502020204030204"/>
            </a:endParaRPr>
          </a:p>
        </p:txBody>
      </p:sp>
      <p:sp>
        <p:nvSpPr>
          <p:cNvPr id="84" name="object 84"/>
          <p:cNvSpPr txBox="1"/>
          <p:nvPr/>
        </p:nvSpPr>
        <p:spPr>
          <a:xfrm>
            <a:off x="4624070" y="1605533"/>
            <a:ext cx="1413510" cy="1437640"/>
          </a:xfrm>
          <a:prstGeom prst="rect">
            <a:avLst/>
          </a:prstGeom>
        </p:spPr>
        <p:txBody>
          <a:bodyPr vert="horz" wrap="square" lIns="0" tIns="12065" rIns="0" bIns="0" rtlCol="0">
            <a:spAutoFit/>
          </a:bodyPr>
          <a:lstStyle/>
          <a:p>
            <a:pPr marL="424180" marR="421005" indent="-358140">
              <a:lnSpc>
                <a:spcPct val="100000"/>
              </a:lnSpc>
              <a:spcBef>
                <a:spcPts val="95"/>
              </a:spcBef>
            </a:pPr>
            <a:r>
              <a:rPr sz="1000" spc="-5" dirty="0">
                <a:solidFill>
                  <a:srgbClr val="C00000"/>
                </a:solidFill>
                <a:latin typeface="微软雅黑" panose="020B0503020204020204" charset="-122"/>
                <a:cs typeface="微软雅黑" panose="020B0503020204020204" charset="-122"/>
              </a:rPr>
              <a:t>IFU</a:t>
            </a:r>
            <a:r>
              <a:rPr sz="1000" dirty="0">
                <a:solidFill>
                  <a:srgbClr val="C00000"/>
                </a:solidFill>
                <a:latin typeface="微软雅黑" panose="020B0503020204020204" charset="-122"/>
                <a:cs typeface="微软雅黑" panose="020B0503020204020204" charset="-122"/>
              </a:rPr>
              <a:t>访问</a:t>
            </a:r>
            <a:r>
              <a:rPr sz="1000" spc="-5" dirty="0">
                <a:solidFill>
                  <a:srgbClr val="C00000"/>
                </a:solidFill>
                <a:latin typeface="微软雅黑" panose="020B0503020204020204" charset="-122"/>
                <a:cs typeface="微软雅黑" panose="020B0503020204020204" charset="-122"/>
              </a:rPr>
              <a:t>BIU</a:t>
            </a:r>
            <a:r>
              <a:rPr sz="1000" dirty="0">
                <a:solidFill>
                  <a:srgbClr val="C00000"/>
                </a:solidFill>
                <a:latin typeface="微软雅黑" panose="020B0503020204020204" charset="-122"/>
                <a:cs typeface="微软雅黑" panose="020B0503020204020204" charset="-122"/>
              </a:rPr>
              <a:t>接</a:t>
            </a:r>
            <a:r>
              <a:rPr sz="1000" spc="-5" dirty="0">
                <a:solidFill>
                  <a:srgbClr val="C00000"/>
                </a:solidFill>
                <a:latin typeface="微软雅黑" panose="020B0503020204020204" charset="-122"/>
                <a:cs typeface="微软雅黑" panose="020B0503020204020204" charset="-122"/>
              </a:rPr>
              <a:t>口  </a:t>
            </a:r>
            <a:r>
              <a:rPr sz="1000" spc="-5" dirty="0">
                <a:solidFill>
                  <a:srgbClr val="C00000"/>
                </a:solidFill>
                <a:latin typeface="微软雅黑" panose="020B0503020204020204" charset="-122"/>
                <a:cs typeface="微软雅黑" panose="020B0503020204020204" charset="-122"/>
              </a:rPr>
              <a:t>ICB</a:t>
            </a:r>
            <a:endParaRPr sz="1000">
              <a:latin typeface="微软雅黑" panose="020B0503020204020204" charset="-122"/>
              <a:cs typeface="微软雅黑" panose="020B0503020204020204" charset="-122"/>
            </a:endParaRPr>
          </a:p>
          <a:p>
            <a:pPr>
              <a:lnSpc>
                <a:spcPct val="100000"/>
              </a:lnSpc>
              <a:spcBef>
                <a:spcPts val="5"/>
              </a:spcBef>
            </a:pPr>
            <a:endParaRPr sz="1750">
              <a:latin typeface="Times New Roman" panose="02020603050405020304"/>
              <a:cs typeface="Times New Roman" panose="02020603050405020304"/>
            </a:endParaRPr>
          </a:p>
          <a:p>
            <a:pPr marL="12700">
              <a:lnSpc>
                <a:spcPct val="100000"/>
              </a:lnSpc>
              <a:spcBef>
                <a:spcPts val="5"/>
              </a:spcBef>
              <a:tabLst>
                <a:tab pos="980440" algn="l"/>
              </a:tabLst>
            </a:pPr>
            <a:r>
              <a:rPr sz="2000" spc="-5" dirty="0">
                <a:solidFill>
                  <a:srgbClr val="C00000"/>
                </a:solidFill>
                <a:latin typeface="Calibri" panose="020F0502020204030204"/>
                <a:cs typeface="Calibri" panose="020F0502020204030204"/>
              </a:rPr>
              <a:t>IF</a:t>
            </a:r>
            <a:r>
              <a:rPr sz="2000" dirty="0">
                <a:solidFill>
                  <a:srgbClr val="C00000"/>
                </a:solidFill>
                <a:latin typeface="Calibri" panose="020F0502020204030204"/>
                <a:cs typeface="Calibri" panose="020F0502020204030204"/>
              </a:rPr>
              <a:t>U</a:t>
            </a:r>
            <a:r>
              <a:rPr sz="2000" dirty="0">
                <a:solidFill>
                  <a:srgbClr val="C00000"/>
                </a:solidFill>
                <a:latin typeface="Calibri" panose="020F0502020204030204"/>
                <a:cs typeface="Calibri" panose="020F0502020204030204"/>
              </a:rPr>
              <a:t>	</a:t>
            </a:r>
            <a:r>
              <a:rPr sz="2000" spc="-5" dirty="0">
                <a:solidFill>
                  <a:srgbClr val="C00000"/>
                </a:solidFill>
                <a:latin typeface="Calibri" panose="020F0502020204030204"/>
                <a:cs typeface="Calibri" panose="020F0502020204030204"/>
              </a:rPr>
              <a:t>EX</a:t>
            </a:r>
            <a:r>
              <a:rPr sz="2000" dirty="0">
                <a:solidFill>
                  <a:srgbClr val="C00000"/>
                </a:solidFill>
                <a:latin typeface="Calibri" panose="020F0502020204030204"/>
                <a:cs typeface="Calibri" panose="020F0502020204030204"/>
              </a:rPr>
              <a:t>U</a:t>
            </a:r>
            <a:endParaRPr sz="2000">
              <a:latin typeface="Calibri" panose="020F0502020204030204"/>
              <a:cs typeface="Calibri" panose="020F0502020204030204"/>
            </a:endParaRPr>
          </a:p>
          <a:p>
            <a:pPr>
              <a:lnSpc>
                <a:spcPct val="100000"/>
              </a:lnSpc>
            </a:pPr>
            <a:endParaRPr sz="2900">
              <a:latin typeface="Times New Roman" panose="02020603050405020304"/>
              <a:cs typeface="Times New Roman" panose="02020603050405020304"/>
            </a:endParaRPr>
          </a:p>
          <a:p>
            <a:pPr marR="129540" algn="r">
              <a:lnSpc>
                <a:spcPct val="100000"/>
              </a:lnSpc>
            </a:pPr>
            <a:r>
              <a:rPr sz="800" b="1" spc="-10" dirty="0">
                <a:solidFill>
                  <a:srgbClr val="C00000"/>
                </a:solidFill>
                <a:latin typeface="微软雅黑" panose="020B0503020204020204" charset="-122"/>
                <a:cs typeface="微软雅黑" panose="020B0503020204020204" charset="-122"/>
              </a:rPr>
              <a:t>AG</a:t>
            </a:r>
            <a:r>
              <a:rPr sz="800" b="1" dirty="0">
                <a:solidFill>
                  <a:srgbClr val="C00000"/>
                </a:solidFill>
                <a:latin typeface="微软雅黑" panose="020B0503020204020204" charset="-122"/>
                <a:cs typeface="微软雅黑" panose="020B0503020204020204" charset="-122"/>
              </a:rPr>
              <a:t>U</a:t>
            </a:r>
            <a:endParaRPr sz="800">
              <a:latin typeface="微软雅黑" panose="020B0503020204020204" charset="-122"/>
              <a:cs typeface="微软雅黑" panose="020B0503020204020204" charset="-122"/>
            </a:endParaRPr>
          </a:p>
        </p:txBody>
      </p:sp>
      <p:sp>
        <p:nvSpPr>
          <p:cNvPr id="85" name="object 85"/>
          <p:cNvSpPr txBox="1"/>
          <p:nvPr/>
        </p:nvSpPr>
        <p:spPr>
          <a:xfrm>
            <a:off x="9008465" y="1076960"/>
            <a:ext cx="989330" cy="177165"/>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C00000"/>
                </a:solidFill>
                <a:latin typeface="微软雅黑" panose="020B0503020204020204" charset="-122"/>
                <a:cs typeface="微软雅黑" panose="020B0503020204020204" charset="-122"/>
              </a:rPr>
              <a:t>系统存储接口</a:t>
            </a:r>
            <a:r>
              <a:rPr sz="1000" spc="-5" dirty="0">
                <a:solidFill>
                  <a:srgbClr val="C00000"/>
                </a:solidFill>
                <a:latin typeface="微软雅黑" panose="020B0503020204020204" charset="-122"/>
                <a:cs typeface="微软雅黑" panose="020B0503020204020204" charset="-122"/>
              </a:rPr>
              <a:t>ICB</a:t>
            </a:r>
            <a:endParaRPr sz="1000">
              <a:latin typeface="微软雅黑" panose="020B0503020204020204" charset="-122"/>
              <a:cs typeface="微软雅黑" panose="020B0503020204020204" charset="-122"/>
            </a:endParaRPr>
          </a:p>
        </p:txBody>
      </p:sp>
      <p:sp>
        <p:nvSpPr>
          <p:cNvPr id="86" name="object 86"/>
          <p:cNvSpPr/>
          <p:nvPr/>
        </p:nvSpPr>
        <p:spPr>
          <a:xfrm>
            <a:off x="4774933" y="1917839"/>
            <a:ext cx="76200" cy="288290"/>
          </a:xfrm>
          <a:custGeom>
            <a:avLst/>
            <a:gdLst/>
            <a:ahLst/>
            <a:cxnLst/>
            <a:rect l="l" t="t" r="r" b="b"/>
            <a:pathLst>
              <a:path w="76200" h="288289">
                <a:moveTo>
                  <a:pt x="31742" y="76083"/>
                </a:moveTo>
                <a:lnTo>
                  <a:pt x="0" y="75565"/>
                </a:lnTo>
                <a:lnTo>
                  <a:pt x="39331" y="0"/>
                </a:lnTo>
                <a:lnTo>
                  <a:pt x="66699" y="57035"/>
                </a:lnTo>
                <a:lnTo>
                  <a:pt x="32054" y="57035"/>
                </a:lnTo>
                <a:lnTo>
                  <a:pt x="31742" y="76083"/>
                </a:lnTo>
                <a:close/>
              </a:path>
              <a:path w="76200" h="288289">
                <a:moveTo>
                  <a:pt x="44442" y="76291"/>
                </a:moveTo>
                <a:lnTo>
                  <a:pt x="31742" y="76083"/>
                </a:lnTo>
                <a:lnTo>
                  <a:pt x="32054" y="57035"/>
                </a:lnTo>
                <a:lnTo>
                  <a:pt x="44754" y="57251"/>
                </a:lnTo>
                <a:lnTo>
                  <a:pt x="44442" y="76291"/>
                </a:lnTo>
                <a:close/>
              </a:path>
              <a:path w="76200" h="288289">
                <a:moveTo>
                  <a:pt x="76187" y="76809"/>
                </a:moveTo>
                <a:lnTo>
                  <a:pt x="44442" y="76291"/>
                </a:lnTo>
                <a:lnTo>
                  <a:pt x="44754" y="57251"/>
                </a:lnTo>
                <a:lnTo>
                  <a:pt x="32054" y="57035"/>
                </a:lnTo>
                <a:lnTo>
                  <a:pt x="66699" y="57035"/>
                </a:lnTo>
                <a:lnTo>
                  <a:pt x="76187" y="76809"/>
                </a:lnTo>
                <a:close/>
              </a:path>
              <a:path w="76200" h="288289">
                <a:moveTo>
                  <a:pt x="40970" y="288137"/>
                </a:moveTo>
                <a:lnTo>
                  <a:pt x="28270" y="287921"/>
                </a:lnTo>
                <a:lnTo>
                  <a:pt x="31742" y="76083"/>
                </a:lnTo>
                <a:lnTo>
                  <a:pt x="44442" y="76291"/>
                </a:lnTo>
                <a:lnTo>
                  <a:pt x="40970" y="288137"/>
                </a:lnTo>
                <a:close/>
              </a:path>
            </a:pathLst>
          </a:custGeom>
          <a:solidFill>
            <a:srgbClr val="C00000"/>
          </a:solidFill>
        </p:spPr>
        <p:txBody>
          <a:bodyPr wrap="square" lIns="0" tIns="0" rIns="0" bIns="0" rtlCol="0"/>
          <a:lstStyle/>
          <a:p/>
        </p:txBody>
      </p:sp>
      <p:sp>
        <p:nvSpPr>
          <p:cNvPr id="87" name="object 87"/>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465074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蜂鸟E</a:t>
            </a:r>
            <a:r>
              <a:rPr sz="3600" spc="-5" dirty="0">
                <a:solidFill>
                  <a:srgbClr val="C00000"/>
                </a:solidFill>
              </a:rPr>
              <a:t>203</a:t>
            </a:r>
            <a:r>
              <a:rPr sz="3600" dirty="0">
                <a:solidFill>
                  <a:srgbClr val="C00000"/>
                </a:solidFill>
              </a:rPr>
              <a:t>总线协议ICB</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968375" y="1266214"/>
            <a:ext cx="4704715" cy="2822575"/>
          </a:xfrm>
          <a:prstGeom prst="rect">
            <a:avLst/>
          </a:prstGeom>
        </p:spPr>
        <p:txBody>
          <a:bodyPr vert="horz" wrap="square" lIns="0" tIns="109220" rIns="0" bIns="0" rtlCol="0">
            <a:spAutoFit/>
          </a:bodyPr>
          <a:lstStyle/>
          <a:p>
            <a:pPr marL="12700">
              <a:lnSpc>
                <a:spcPct val="100000"/>
              </a:lnSpc>
              <a:spcBef>
                <a:spcPts val="860"/>
              </a:spcBef>
            </a:pPr>
            <a:r>
              <a:rPr sz="1200" dirty="0">
                <a:latin typeface="微软雅黑" panose="020B0503020204020204" charset="-122"/>
                <a:cs typeface="微软雅黑" panose="020B0503020204020204" charset="-122"/>
              </a:rPr>
              <a:t>常见的片上总线协议包括：</a:t>
            </a:r>
            <a:endParaRPr sz="1200">
              <a:latin typeface="微软雅黑" panose="020B0503020204020204" charset="-122"/>
              <a:cs typeface="微软雅黑" panose="020B0503020204020204" charset="-122"/>
            </a:endParaRPr>
          </a:p>
          <a:p>
            <a:pPr marL="298450" indent="-285750">
              <a:lnSpc>
                <a:spcPct val="100000"/>
              </a:lnSpc>
              <a:spcBef>
                <a:spcPts val="625"/>
              </a:spcBef>
              <a:buFont typeface="Wingdings" panose="05000000000000000000"/>
              <a:buChar char=""/>
              <a:tabLst>
                <a:tab pos="297815" algn="l"/>
                <a:tab pos="298450" algn="l"/>
              </a:tabLst>
            </a:pPr>
            <a:r>
              <a:rPr sz="1000" b="1" spc="-5" dirty="0">
                <a:solidFill>
                  <a:srgbClr val="C00000"/>
                </a:solidFill>
                <a:latin typeface="微软雅黑" panose="020B0503020204020204" charset="-122"/>
                <a:cs typeface="微软雅黑" panose="020B0503020204020204" charset="-122"/>
              </a:rPr>
              <a:t>AXI </a:t>
            </a:r>
            <a:r>
              <a:rPr sz="1000" spc="-5" dirty="0">
                <a:latin typeface="微软雅黑" panose="020B0503020204020204" charset="-122"/>
                <a:cs typeface="微软雅黑" panose="020B0503020204020204" charset="-122"/>
              </a:rPr>
              <a:t>(Advanced eXtensible</a:t>
            </a:r>
            <a:r>
              <a:rPr sz="1000" dirty="0">
                <a:latin typeface="微软雅黑" panose="020B0503020204020204" charset="-122"/>
                <a:cs typeface="微软雅黑" panose="020B0503020204020204" charset="-122"/>
              </a:rPr>
              <a:t> </a:t>
            </a:r>
            <a:r>
              <a:rPr sz="1000" spc="-5" dirty="0">
                <a:latin typeface="微软雅黑" panose="020B0503020204020204" charset="-122"/>
                <a:cs typeface="微软雅黑" panose="020B0503020204020204" charset="-122"/>
              </a:rPr>
              <a:t>Interface)</a:t>
            </a:r>
            <a:endParaRPr sz="1000">
              <a:latin typeface="微软雅黑" panose="020B0503020204020204" charset="-122"/>
              <a:cs typeface="微软雅黑" panose="020B0503020204020204" charset="-122"/>
            </a:endParaRPr>
          </a:p>
          <a:p>
            <a:pPr marL="755650" lvl="1" indent="-285750">
              <a:lnSpc>
                <a:spcPct val="100000"/>
              </a:lnSpc>
              <a:spcBef>
                <a:spcPts val="600"/>
              </a:spcBef>
              <a:buFont typeface="Wingdings" panose="05000000000000000000"/>
              <a:buChar char=""/>
              <a:tabLst>
                <a:tab pos="755015" algn="l"/>
                <a:tab pos="755650" algn="l"/>
              </a:tabLst>
            </a:pPr>
            <a:r>
              <a:rPr sz="1000" dirty="0">
                <a:latin typeface="微软雅黑" panose="020B0503020204020204" charset="-122"/>
                <a:cs typeface="微软雅黑" panose="020B0503020204020204" charset="-122"/>
              </a:rPr>
              <a:t>优：应用广泛，高吞吐率，易于添加流水线级数，支持多个滞外交</a:t>
            </a:r>
            <a:r>
              <a:rPr sz="1000" spc="-5" dirty="0">
                <a:latin typeface="微软雅黑" panose="020B0503020204020204" charset="-122"/>
                <a:cs typeface="微软雅黑" panose="020B0503020204020204" charset="-122"/>
              </a:rPr>
              <a:t>易</a:t>
            </a:r>
            <a:endParaRPr sz="1000">
              <a:latin typeface="微软雅黑" panose="020B0503020204020204" charset="-122"/>
              <a:cs typeface="微软雅黑" panose="020B0503020204020204" charset="-122"/>
            </a:endParaRPr>
          </a:p>
          <a:p>
            <a:pPr marL="755650" lvl="1" indent="-285750">
              <a:lnSpc>
                <a:spcPct val="100000"/>
              </a:lnSpc>
              <a:spcBef>
                <a:spcPts val="600"/>
              </a:spcBef>
              <a:buFont typeface="Wingdings" panose="05000000000000000000"/>
              <a:buChar char=""/>
              <a:tabLst>
                <a:tab pos="755015" algn="l"/>
                <a:tab pos="755650" algn="l"/>
              </a:tabLst>
            </a:pPr>
            <a:r>
              <a:rPr sz="1000" dirty="0">
                <a:latin typeface="微软雅黑" panose="020B0503020204020204" charset="-122"/>
                <a:cs typeface="微软雅黑" panose="020B0503020204020204" charset="-122"/>
              </a:rPr>
              <a:t>缺：控制复杂，硬件开销大，不适用超低功耗</a:t>
            </a:r>
            <a:r>
              <a:rPr sz="1000" spc="-5" dirty="0">
                <a:latin typeface="微软雅黑" panose="020B0503020204020204" charset="-122"/>
                <a:cs typeface="微软雅黑" panose="020B0503020204020204" charset="-122"/>
              </a:rPr>
              <a:t>SoC</a:t>
            </a:r>
            <a:endParaRPr sz="1000">
              <a:latin typeface="微软雅黑" panose="020B0503020204020204" charset="-122"/>
              <a:cs typeface="微软雅黑" panose="020B0503020204020204" charset="-122"/>
            </a:endParaRPr>
          </a:p>
          <a:p>
            <a:pPr marL="298450" indent="-285750">
              <a:lnSpc>
                <a:spcPct val="100000"/>
              </a:lnSpc>
              <a:spcBef>
                <a:spcPts val="600"/>
              </a:spcBef>
              <a:buFont typeface="Wingdings" panose="05000000000000000000"/>
              <a:buChar char=""/>
              <a:tabLst>
                <a:tab pos="297815" algn="l"/>
                <a:tab pos="298450" algn="l"/>
              </a:tabLst>
            </a:pPr>
            <a:r>
              <a:rPr sz="1000" b="1" spc="-5" dirty="0">
                <a:solidFill>
                  <a:srgbClr val="C00000"/>
                </a:solidFill>
                <a:latin typeface="微软雅黑" panose="020B0503020204020204" charset="-122"/>
                <a:cs typeface="微软雅黑" panose="020B0503020204020204" charset="-122"/>
              </a:rPr>
              <a:t>AHB </a:t>
            </a:r>
            <a:r>
              <a:rPr sz="1000" spc="-5" dirty="0">
                <a:latin typeface="微软雅黑" panose="020B0503020204020204" charset="-122"/>
                <a:cs typeface="微软雅黑" panose="020B0503020204020204" charset="-122"/>
              </a:rPr>
              <a:t>(Advanced High Performace</a:t>
            </a:r>
            <a:r>
              <a:rPr sz="1000" spc="5" dirty="0">
                <a:latin typeface="微软雅黑" panose="020B0503020204020204" charset="-122"/>
                <a:cs typeface="微软雅黑" panose="020B0503020204020204" charset="-122"/>
              </a:rPr>
              <a:t> </a:t>
            </a:r>
            <a:r>
              <a:rPr sz="1000" spc="-5" dirty="0">
                <a:latin typeface="微软雅黑" panose="020B0503020204020204" charset="-122"/>
                <a:cs typeface="微软雅黑" panose="020B0503020204020204" charset="-122"/>
              </a:rPr>
              <a:t>Bus)</a:t>
            </a:r>
            <a:endParaRPr sz="1000">
              <a:latin typeface="微软雅黑" panose="020B0503020204020204" charset="-122"/>
              <a:cs typeface="微软雅黑" panose="020B0503020204020204" charset="-122"/>
            </a:endParaRPr>
          </a:p>
          <a:p>
            <a:pPr marL="755650" lvl="1" indent="-285750">
              <a:lnSpc>
                <a:spcPct val="100000"/>
              </a:lnSpc>
              <a:spcBef>
                <a:spcPts val="600"/>
              </a:spcBef>
              <a:buFont typeface="Wingdings" panose="05000000000000000000"/>
              <a:buChar char=""/>
              <a:tabLst>
                <a:tab pos="755015" algn="l"/>
                <a:tab pos="755650" algn="l"/>
              </a:tabLst>
            </a:pPr>
            <a:r>
              <a:rPr sz="1000" dirty="0">
                <a:latin typeface="微软雅黑" panose="020B0503020204020204" charset="-122"/>
                <a:cs typeface="微软雅黑" panose="020B0503020204020204" charset="-122"/>
              </a:rPr>
              <a:t>优：应用广泛，高性能功耗</a:t>
            </a:r>
            <a:r>
              <a:rPr sz="1000" spc="-5" dirty="0">
                <a:latin typeface="微软雅黑" panose="020B0503020204020204" charset="-122"/>
                <a:cs typeface="微软雅黑" panose="020B0503020204020204" charset="-122"/>
              </a:rPr>
              <a:t>低</a:t>
            </a:r>
            <a:endParaRPr sz="1000">
              <a:latin typeface="微软雅黑" panose="020B0503020204020204" charset="-122"/>
              <a:cs typeface="微软雅黑" panose="020B0503020204020204" charset="-122"/>
            </a:endParaRPr>
          </a:p>
          <a:p>
            <a:pPr marL="755650" marR="5080" lvl="1" indent="-285750">
              <a:lnSpc>
                <a:spcPct val="150000"/>
              </a:lnSpc>
              <a:buFont typeface="Wingdings" panose="05000000000000000000"/>
              <a:buChar char=""/>
              <a:tabLst>
                <a:tab pos="755015" algn="l"/>
                <a:tab pos="755650" algn="l"/>
              </a:tabLst>
            </a:pPr>
            <a:r>
              <a:rPr sz="1000" dirty="0">
                <a:latin typeface="微软雅黑" panose="020B0503020204020204" charset="-122"/>
                <a:cs typeface="微软雅黑" panose="020B0503020204020204" charset="-122"/>
              </a:rPr>
              <a:t>缺：不易添加流水线级数，不支持多个滞外交易，握手协议别扭，跨</a:t>
            </a:r>
            <a:r>
              <a:rPr sz="1000" spc="-5" dirty="0">
                <a:latin typeface="微软雅黑" panose="020B0503020204020204" charset="-122"/>
                <a:cs typeface="微软雅黑" panose="020B0503020204020204" charset="-122"/>
              </a:rPr>
              <a:t>时 </a:t>
            </a:r>
            <a:r>
              <a:rPr sz="1000" dirty="0">
                <a:latin typeface="微软雅黑" panose="020B0503020204020204" charset="-122"/>
                <a:cs typeface="微软雅黑" panose="020B0503020204020204" charset="-122"/>
              </a:rPr>
              <a:t>钟域或者整数倍时钟域困</a:t>
            </a:r>
            <a:r>
              <a:rPr sz="1000" spc="-5" dirty="0">
                <a:latin typeface="微软雅黑" panose="020B0503020204020204" charset="-122"/>
                <a:cs typeface="微软雅黑" panose="020B0503020204020204" charset="-122"/>
              </a:rPr>
              <a:t>难</a:t>
            </a:r>
            <a:endParaRPr sz="1000">
              <a:latin typeface="微软雅黑" panose="020B0503020204020204" charset="-122"/>
              <a:cs typeface="微软雅黑" panose="020B0503020204020204" charset="-122"/>
            </a:endParaRPr>
          </a:p>
          <a:p>
            <a:pPr marL="298450" indent="-285750">
              <a:lnSpc>
                <a:spcPct val="100000"/>
              </a:lnSpc>
              <a:spcBef>
                <a:spcPts val="600"/>
              </a:spcBef>
              <a:buFont typeface="Wingdings" panose="05000000000000000000"/>
              <a:buChar char=""/>
              <a:tabLst>
                <a:tab pos="297815" algn="l"/>
                <a:tab pos="298450" algn="l"/>
              </a:tabLst>
            </a:pPr>
            <a:r>
              <a:rPr sz="1000" b="1" spc="-5" dirty="0">
                <a:solidFill>
                  <a:srgbClr val="C00000"/>
                </a:solidFill>
                <a:latin typeface="微软雅黑" panose="020B0503020204020204" charset="-122"/>
                <a:cs typeface="微软雅黑" panose="020B0503020204020204" charset="-122"/>
              </a:rPr>
              <a:t>APB </a:t>
            </a:r>
            <a:r>
              <a:rPr sz="1000" spc="-5" dirty="0">
                <a:latin typeface="微软雅黑" panose="020B0503020204020204" charset="-122"/>
                <a:cs typeface="微软雅黑" panose="020B0503020204020204" charset="-122"/>
              </a:rPr>
              <a:t>(Avanced Peripheral Performance</a:t>
            </a:r>
            <a:r>
              <a:rPr sz="1000" dirty="0">
                <a:latin typeface="微软雅黑" panose="020B0503020204020204" charset="-122"/>
                <a:cs typeface="微软雅黑" panose="020B0503020204020204" charset="-122"/>
              </a:rPr>
              <a:t> </a:t>
            </a:r>
            <a:r>
              <a:rPr sz="1000" spc="-5" dirty="0">
                <a:latin typeface="微软雅黑" panose="020B0503020204020204" charset="-122"/>
                <a:cs typeface="微软雅黑" panose="020B0503020204020204" charset="-122"/>
              </a:rPr>
              <a:t>Bus)</a:t>
            </a:r>
            <a:endParaRPr sz="1000">
              <a:latin typeface="微软雅黑" panose="020B0503020204020204" charset="-122"/>
              <a:cs typeface="微软雅黑" panose="020B0503020204020204" charset="-122"/>
            </a:endParaRPr>
          </a:p>
          <a:p>
            <a:pPr marL="755650" lvl="1" indent="-285750">
              <a:lnSpc>
                <a:spcPct val="100000"/>
              </a:lnSpc>
              <a:spcBef>
                <a:spcPts val="600"/>
              </a:spcBef>
              <a:buFont typeface="Wingdings" panose="05000000000000000000"/>
              <a:buChar char=""/>
              <a:tabLst>
                <a:tab pos="755015" algn="l"/>
                <a:tab pos="755650" algn="l"/>
              </a:tabLst>
            </a:pPr>
            <a:r>
              <a:rPr sz="1000" dirty="0">
                <a:latin typeface="微软雅黑" panose="020B0503020204020204" charset="-122"/>
                <a:cs typeface="微软雅黑" panose="020B0503020204020204" charset="-122"/>
              </a:rPr>
              <a:t>优：控制简单，便于与低速周边外设连</a:t>
            </a:r>
            <a:r>
              <a:rPr sz="1000" spc="-5" dirty="0">
                <a:latin typeface="微软雅黑" panose="020B0503020204020204" charset="-122"/>
                <a:cs typeface="微软雅黑" panose="020B0503020204020204" charset="-122"/>
              </a:rPr>
              <a:t>接</a:t>
            </a:r>
            <a:endParaRPr sz="1000">
              <a:latin typeface="微软雅黑" panose="020B0503020204020204" charset="-122"/>
              <a:cs typeface="微软雅黑" panose="020B0503020204020204" charset="-122"/>
            </a:endParaRPr>
          </a:p>
          <a:p>
            <a:pPr marL="755650" lvl="1" indent="-285750">
              <a:lnSpc>
                <a:spcPct val="100000"/>
              </a:lnSpc>
              <a:spcBef>
                <a:spcPts val="600"/>
              </a:spcBef>
              <a:buFont typeface="Wingdings" panose="05000000000000000000"/>
              <a:buChar char=""/>
              <a:tabLst>
                <a:tab pos="755015" algn="l"/>
                <a:tab pos="755650" algn="l"/>
              </a:tabLst>
            </a:pPr>
            <a:r>
              <a:rPr sz="1000" dirty="0">
                <a:latin typeface="微软雅黑" panose="020B0503020204020204" charset="-122"/>
                <a:cs typeface="微软雅黑" panose="020B0503020204020204" charset="-122"/>
              </a:rPr>
              <a:t>缺：吞吐率低，不适合用作数据总</a:t>
            </a:r>
            <a:r>
              <a:rPr sz="1000" spc="-5" dirty="0">
                <a:latin typeface="微软雅黑" panose="020B0503020204020204" charset="-122"/>
                <a:cs typeface="微软雅黑" panose="020B0503020204020204" charset="-122"/>
              </a:rPr>
              <a:t>线</a:t>
            </a:r>
            <a:endParaRPr sz="1000">
              <a:latin typeface="微软雅黑" panose="020B0503020204020204" charset="-122"/>
              <a:cs typeface="微软雅黑" panose="020B0503020204020204" charset="-122"/>
            </a:endParaRPr>
          </a:p>
          <a:p>
            <a:pPr marL="298450" indent="-285750">
              <a:lnSpc>
                <a:spcPct val="100000"/>
              </a:lnSpc>
              <a:spcBef>
                <a:spcPts val="600"/>
              </a:spcBef>
              <a:buFont typeface="Wingdings" panose="05000000000000000000"/>
              <a:buChar char=""/>
              <a:tabLst>
                <a:tab pos="297815" algn="l"/>
                <a:tab pos="298450" algn="l"/>
              </a:tabLst>
            </a:pPr>
            <a:r>
              <a:rPr sz="1000" b="1" spc="-5" dirty="0">
                <a:solidFill>
                  <a:srgbClr val="C00000"/>
                </a:solidFill>
                <a:latin typeface="微软雅黑" panose="020B0503020204020204" charset="-122"/>
                <a:cs typeface="微软雅黑" panose="020B0503020204020204" charset="-122"/>
              </a:rPr>
              <a:t>TileLink</a:t>
            </a:r>
            <a:r>
              <a:rPr sz="1000" spc="-5" dirty="0">
                <a:latin typeface="微软雅黑" panose="020B0503020204020204" charset="-122"/>
                <a:cs typeface="微软雅黑" panose="020B0503020204020204" charset="-122"/>
              </a:rPr>
              <a:t>，</a:t>
            </a:r>
            <a:r>
              <a:rPr sz="1000" dirty="0">
                <a:latin typeface="微软雅黑" panose="020B0503020204020204" charset="-122"/>
                <a:cs typeface="微软雅黑" panose="020B0503020204020204" charset="-122"/>
              </a:rPr>
              <a:t>由伯克利大学定</a:t>
            </a:r>
            <a:r>
              <a:rPr sz="1000" spc="-5" dirty="0">
                <a:latin typeface="微软雅黑" panose="020B0503020204020204" charset="-122"/>
                <a:cs typeface="微软雅黑" panose="020B0503020204020204" charset="-122"/>
              </a:rPr>
              <a:t>义</a:t>
            </a:r>
            <a:endParaRPr sz="1000">
              <a:latin typeface="微软雅黑" panose="020B0503020204020204" charset="-122"/>
              <a:cs typeface="微软雅黑" panose="020B0503020204020204" charset="-122"/>
            </a:endParaRPr>
          </a:p>
        </p:txBody>
      </p:sp>
      <p:sp>
        <p:nvSpPr>
          <p:cNvPr id="5" name="object 5"/>
          <p:cNvSpPr/>
          <p:nvPr/>
        </p:nvSpPr>
        <p:spPr>
          <a:xfrm>
            <a:off x="5075872" y="5105717"/>
            <a:ext cx="462915" cy="1242060"/>
          </a:xfrm>
          <a:custGeom>
            <a:avLst/>
            <a:gdLst/>
            <a:ahLst/>
            <a:cxnLst/>
            <a:rect l="l" t="t" r="r" b="b"/>
            <a:pathLst>
              <a:path w="462914" h="1242060">
                <a:moveTo>
                  <a:pt x="462914" y="1242060"/>
                </a:moveTo>
                <a:lnTo>
                  <a:pt x="0" y="1242060"/>
                </a:lnTo>
                <a:lnTo>
                  <a:pt x="0" y="0"/>
                </a:lnTo>
                <a:lnTo>
                  <a:pt x="462914" y="0"/>
                </a:lnTo>
                <a:lnTo>
                  <a:pt x="462914" y="14287"/>
                </a:lnTo>
                <a:lnTo>
                  <a:pt x="28575" y="14287"/>
                </a:lnTo>
                <a:lnTo>
                  <a:pt x="14287" y="28575"/>
                </a:lnTo>
                <a:lnTo>
                  <a:pt x="28575" y="28575"/>
                </a:lnTo>
                <a:lnTo>
                  <a:pt x="28575" y="1213485"/>
                </a:lnTo>
                <a:lnTo>
                  <a:pt x="14287" y="1213485"/>
                </a:lnTo>
                <a:lnTo>
                  <a:pt x="28575" y="1227772"/>
                </a:lnTo>
                <a:lnTo>
                  <a:pt x="462914" y="1227772"/>
                </a:lnTo>
                <a:lnTo>
                  <a:pt x="462914" y="1242060"/>
                </a:lnTo>
                <a:close/>
              </a:path>
              <a:path w="462914" h="1242060">
                <a:moveTo>
                  <a:pt x="28575" y="28575"/>
                </a:moveTo>
                <a:lnTo>
                  <a:pt x="14287" y="28575"/>
                </a:lnTo>
                <a:lnTo>
                  <a:pt x="28575" y="14287"/>
                </a:lnTo>
                <a:lnTo>
                  <a:pt x="28575" y="28575"/>
                </a:lnTo>
                <a:close/>
              </a:path>
              <a:path w="462914" h="1242060">
                <a:moveTo>
                  <a:pt x="434339" y="28575"/>
                </a:moveTo>
                <a:lnTo>
                  <a:pt x="28575" y="28575"/>
                </a:lnTo>
                <a:lnTo>
                  <a:pt x="28575" y="14287"/>
                </a:lnTo>
                <a:lnTo>
                  <a:pt x="434339" y="14287"/>
                </a:lnTo>
                <a:lnTo>
                  <a:pt x="434339" y="28575"/>
                </a:lnTo>
                <a:close/>
              </a:path>
              <a:path w="462914" h="1242060">
                <a:moveTo>
                  <a:pt x="434339" y="1227772"/>
                </a:moveTo>
                <a:lnTo>
                  <a:pt x="434339" y="14287"/>
                </a:lnTo>
                <a:lnTo>
                  <a:pt x="448627" y="28575"/>
                </a:lnTo>
                <a:lnTo>
                  <a:pt x="462914" y="28575"/>
                </a:lnTo>
                <a:lnTo>
                  <a:pt x="462914" y="1213485"/>
                </a:lnTo>
                <a:lnTo>
                  <a:pt x="448627" y="1213485"/>
                </a:lnTo>
                <a:lnTo>
                  <a:pt x="434339" y="1227772"/>
                </a:lnTo>
                <a:close/>
              </a:path>
              <a:path w="462914" h="1242060">
                <a:moveTo>
                  <a:pt x="462914" y="28575"/>
                </a:moveTo>
                <a:lnTo>
                  <a:pt x="448627" y="28575"/>
                </a:lnTo>
                <a:lnTo>
                  <a:pt x="434339" y="14287"/>
                </a:lnTo>
                <a:lnTo>
                  <a:pt x="462914" y="14287"/>
                </a:lnTo>
                <a:lnTo>
                  <a:pt x="462914" y="28575"/>
                </a:lnTo>
                <a:close/>
              </a:path>
              <a:path w="462914" h="1242060">
                <a:moveTo>
                  <a:pt x="28575" y="1227772"/>
                </a:moveTo>
                <a:lnTo>
                  <a:pt x="14287" y="1213485"/>
                </a:lnTo>
                <a:lnTo>
                  <a:pt x="28575" y="1213485"/>
                </a:lnTo>
                <a:lnTo>
                  <a:pt x="28575" y="1227772"/>
                </a:lnTo>
                <a:close/>
              </a:path>
              <a:path w="462914" h="1242060">
                <a:moveTo>
                  <a:pt x="434339" y="1227772"/>
                </a:moveTo>
                <a:lnTo>
                  <a:pt x="28575" y="1227772"/>
                </a:lnTo>
                <a:lnTo>
                  <a:pt x="28575" y="1213485"/>
                </a:lnTo>
                <a:lnTo>
                  <a:pt x="434339" y="1213485"/>
                </a:lnTo>
                <a:lnTo>
                  <a:pt x="434339" y="1227772"/>
                </a:lnTo>
                <a:close/>
              </a:path>
              <a:path w="462914" h="1242060">
                <a:moveTo>
                  <a:pt x="462914" y="1227772"/>
                </a:moveTo>
                <a:lnTo>
                  <a:pt x="434339" y="1227772"/>
                </a:lnTo>
                <a:lnTo>
                  <a:pt x="448627" y="1213485"/>
                </a:lnTo>
                <a:lnTo>
                  <a:pt x="462914" y="1213485"/>
                </a:lnTo>
                <a:lnTo>
                  <a:pt x="462914" y="1227772"/>
                </a:lnTo>
                <a:close/>
              </a:path>
            </a:pathLst>
          </a:custGeom>
          <a:solidFill>
            <a:srgbClr val="C00000"/>
          </a:solidFill>
        </p:spPr>
        <p:txBody>
          <a:bodyPr wrap="square" lIns="0" tIns="0" rIns="0" bIns="0" rtlCol="0"/>
          <a:lstStyle/>
          <a:p/>
        </p:txBody>
      </p:sp>
      <p:sp>
        <p:nvSpPr>
          <p:cNvPr id="6" name="object 6"/>
          <p:cNvSpPr/>
          <p:nvPr/>
        </p:nvSpPr>
        <p:spPr>
          <a:xfrm>
            <a:off x="1024572" y="5105717"/>
            <a:ext cx="462915" cy="1242060"/>
          </a:xfrm>
          <a:custGeom>
            <a:avLst/>
            <a:gdLst/>
            <a:ahLst/>
            <a:cxnLst/>
            <a:rect l="l" t="t" r="r" b="b"/>
            <a:pathLst>
              <a:path w="462915" h="1242060">
                <a:moveTo>
                  <a:pt x="462915" y="1242060"/>
                </a:moveTo>
                <a:lnTo>
                  <a:pt x="0" y="1242060"/>
                </a:lnTo>
                <a:lnTo>
                  <a:pt x="0" y="0"/>
                </a:lnTo>
                <a:lnTo>
                  <a:pt x="462915" y="0"/>
                </a:lnTo>
                <a:lnTo>
                  <a:pt x="462915" y="14287"/>
                </a:lnTo>
                <a:lnTo>
                  <a:pt x="28575" y="14287"/>
                </a:lnTo>
                <a:lnTo>
                  <a:pt x="14287" y="28575"/>
                </a:lnTo>
                <a:lnTo>
                  <a:pt x="28575" y="28575"/>
                </a:lnTo>
                <a:lnTo>
                  <a:pt x="28575" y="1213485"/>
                </a:lnTo>
                <a:lnTo>
                  <a:pt x="14287" y="1213485"/>
                </a:lnTo>
                <a:lnTo>
                  <a:pt x="28575" y="1227772"/>
                </a:lnTo>
                <a:lnTo>
                  <a:pt x="462915" y="1227772"/>
                </a:lnTo>
                <a:lnTo>
                  <a:pt x="462915" y="1242060"/>
                </a:lnTo>
                <a:close/>
              </a:path>
              <a:path w="462915" h="1242060">
                <a:moveTo>
                  <a:pt x="28575" y="28575"/>
                </a:moveTo>
                <a:lnTo>
                  <a:pt x="14287" y="28575"/>
                </a:lnTo>
                <a:lnTo>
                  <a:pt x="28575" y="14287"/>
                </a:lnTo>
                <a:lnTo>
                  <a:pt x="28575" y="28575"/>
                </a:lnTo>
                <a:close/>
              </a:path>
              <a:path w="462915" h="1242060">
                <a:moveTo>
                  <a:pt x="434340" y="28575"/>
                </a:moveTo>
                <a:lnTo>
                  <a:pt x="28575" y="28575"/>
                </a:lnTo>
                <a:lnTo>
                  <a:pt x="28575" y="14287"/>
                </a:lnTo>
                <a:lnTo>
                  <a:pt x="434340" y="14287"/>
                </a:lnTo>
                <a:lnTo>
                  <a:pt x="434340" y="28575"/>
                </a:lnTo>
                <a:close/>
              </a:path>
              <a:path w="462915" h="1242060">
                <a:moveTo>
                  <a:pt x="434340" y="1227772"/>
                </a:moveTo>
                <a:lnTo>
                  <a:pt x="434340" y="14287"/>
                </a:lnTo>
                <a:lnTo>
                  <a:pt x="448627" y="28575"/>
                </a:lnTo>
                <a:lnTo>
                  <a:pt x="462915" y="28575"/>
                </a:lnTo>
                <a:lnTo>
                  <a:pt x="462915" y="1213485"/>
                </a:lnTo>
                <a:lnTo>
                  <a:pt x="448627" y="1213485"/>
                </a:lnTo>
                <a:lnTo>
                  <a:pt x="434340" y="1227772"/>
                </a:lnTo>
                <a:close/>
              </a:path>
              <a:path w="462915" h="1242060">
                <a:moveTo>
                  <a:pt x="462915" y="28575"/>
                </a:moveTo>
                <a:lnTo>
                  <a:pt x="448627" y="28575"/>
                </a:lnTo>
                <a:lnTo>
                  <a:pt x="434340" y="14287"/>
                </a:lnTo>
                <a:lnTo>
                  <a:pt x="462915" y="14287"/>
                </a:lnTo>
                <a:lnTo>
                  <a:pt x="462915" y="28575"/>
                </a:lnTo>
                <a:close/>
              </a:path>
              <a:path w="462915" h="1242060">
                <a:moveTo>
                  <a:pt x="28575" y="1227772"/>
                </a:moveTo>
                <a:lnTo>
                  <a:pt x="14287" y="1213485"/>
                </a:lnTo>
                <a:lnTo>
                  <a:pt x="28575" y="1213485"/>
                </a:lnTo>
                <a:lnTo>
                  <a:pt x="28575" y="1227772"/>
                </a:lnTo>
                <a:close/>
              </a:path>
              <a:path w="462915" h="1242060">
                <a:moveTo>
                  <a:pt x="434340" y="1227772"/>
                </a:moveTo>
                <a:lnTo>
                  <a:pt x="28575" y="1227772"/>
                </a:lnTo>
                <a:lnTo>
                  <a:pt x="28575" y="1213485"/>
                </a:lnTo>
                <a:lnTo>
                  <a:pt x="434340" y="1213485"/>
                </a:lnTo>
                <a:lnTo>
                  <a:pt x="434340" y="1227772"/>
                </a:lnTo>
                <a:close/>
              </a:path>
              <a:path w="462915" h="1242060">
                <a:moveTo>
                  <a:pt x="462915" y="1227772"/>
                </a:moveTo>
                <a:lnTo>
                  <a:pt x="434340" y="1227772"/>
                </a:lnTo>
                <a:lnTo>
                  <a:pt x="448627" y="1213485"/>
                </a:lnTo>
                <a:lnTo>
                  <a:pt x="462915" y="1213485"/>
                </a:lnTo>
                <a:lnTo>
                  <a:pt x="462915" y="1227772"/>
                </a:lnTo>
                <a:close/>
              </a:path>
            </a:pathLst>
          </a:custGeom>
          <a:solidFill>
            <a:srgbClr val="C00000"/>
          </a:solidFill>
        </p:spPr>
        <p:txBody>
          <a:bodyPr wrap="square" lIns="0" tIns="0" rIns="0" bIns="0" rtlCol="0"/>
          <a:lstStyle/>
          <a:p/>
        </p:txBody>
      </p:sp>
      <p:sp>
        <p:nvSpPr>
          <p:cNvPr id="7" name="object 7"/>
          <p:cNvSpPr txBox="1"/>
          <p:nvPr/>
        </p:nvSpPr>
        <p:spPr>
          <a:xfrm>
            <a:off x="1129030" y="5273040"/>
            <a:ext cx="254000" cy="848360"/>
          </a:xfrm>
          <a:prstGeom prst="rect">
            <a:avLst/>
          </a:prstGeom>
        </p:spPr>
        <p:txBody>
          <a:bodyPr vert="horz" wrap="square" lIns="0" tIns="12700" rIns="0" bIns="0" rtlCol="0">
            <a:spAutoFit/>
          </a:bodyPr>
          <a:lstStyle/>
          <a:p>
            <a:pPr marL="12700" marR="5080" algn="just">
              <a:lnSpc>
                <a:spcPct val="100000"/>
              </a:lnSpc>
              <a:spcBef>
                <a:spcPts val="100"/>
              </a:spcBef>
            </a:pPr>
            <a:r>
              <a:rPr sz="1800" dirty="0">
                <a:solidFill>
                  <a:srgbClr val="C00000"/>
                </a:solidFill>
                <a:latin typeface="微软雅黑" panose="020B0503020204020204" charset="-122"/>
                <a:cs typeface="微软雅黑" panose="020B0503020204020204" charset="-122"/>
              </a:rPr>
              <a:t>主 接 口</a:t>
            </a:r>
            <a:endParaRPr sz="1800">
              <a:latin typeface="微软雅黑" panose="020B0503020204020204" charset="-122"/>
              <a:cs typeface="微软雅黑" panose="020B0503020204020204" charset="-122"/>
            </a:endParaRPr>
          </a:p>
        </p:txBody>
      </p:sp>
      <p:sp>
        <p:nvSpPr>
          <p:cNvPr id="8" name="object 8"/>
          <p:cNvSpPr txBox="1"/>
          <p:nvPr/>
        </p:nvSpPr>
        <p:spPr>
          <a:xfrm>
            <a:off x="5180329" y="5324475"/>
            <a:ext cx="254000" cy="848360"/>
          </a:xfrm>
          <a:prstGeom prst="rect">
            <a:avLst/>
          </a:prstGeom>
        </p:spPr>
        <p:txBody>
          <a:bodyPr vert="horz" wrap="square" lIns="0" tIns="12700" rIns="0" bIns="0" rtlCol="0">
            <a:spAutoFit/>
          </a:bodyPr>
          <a:lstStyle/>
          <a:p>
            <a:pPr marL="12700" marR="5080" algn="just">
              <a:lnSpc>
                <a:spcPct val="100000"/>
              </a:lnSpc>
              <a:spcBef>
                <a:spcPts val="100"/>
              </a:spcBef>
            </a:pPr>
            <a:r>
              <a:rPr sz="1800" dirty="0">
                <a:solidFill>
                  <a:srgbClr val="C00000"/>
                </a:solidFill>
                <a:latin typeface="微软雅黑" panose="020B0503020204020204" charset="-122"/>
                <a:cs typeface="微软雅黑" panose="020B0503020204020204" charset="-122"/>
              </a:rPr>
              <a:t>从 接 口</a:t>
            </a:r>
            <a:endParaRPr sz="1800">
              <a:latin typeface="微软雅黑" panose="020B0503020204020204" charset="-122"/>
              <a:cs typeface="微软雅黑" panose="020B0503020204020204" charset="-122"/>
            </a:endParaRPr>
          </a:p>
        </p:txBody>
      </p:sp>
      <p:sp>
        <p:nvSpPr>
          <p:cNvPr id="9" name="object 9"/>
          <p:cNvSpPr/>
          <p:nvPr/>
        </p:nvSpPr>
        <p:spPr>
          <a:xfrm>
            <a:off x="1471930" y="5114290"/>
            <a:ext cx="3625215" cy="375285"/>
          </a:xfrm>
          <a:custGeom>
            <a:avLst/>
            <a:gdLst/>
            <a:ahLst/>
            <a:cxnLst/>
            <a:rect l="l" t="t" r="r" b="b"/>
            <a:pathLst>
              <a:path w="3625215" h="375285">
                <a:moveTo>
                  <a:pt x="3625215" y="375285"/>
                </a:moveTo>
                <a:lnTo>
                  <a:pt x="0" y="375285"/>
                </a:lnTo>
                <a:lnTo>
                  <a:pt x="0" y="0"/>
                </a:lnTo>
                <a:lnTo>
                  <a:pt x="3625215" y="0"/>
                </a:lnTo>
                <a:lnTo>
                  <a:pt x="3625215" y="6350"/>
                </a:lnTo>
                <a:lnTo>
                  <a:pt x="12700" y="6350"/>
                </a:lnTo>
                <a:lnTo>
                  <a:pt x="6350" y="12700"/>
                </a:lnTo>
                <a:lnTo>
                  <a:pt x="12700" y="12700"/>
                </a:lnTo>
                <a:lnTo>
                  <a:pt x="12700" y="362585"/>
                </a:lnTo>
                <a:lnTo>
                  <a:pt x="6350" y="362585"/>
                </a:lnTo>
                <a:lnTo>
                  <a:pt x="12700" y="368935"/>
                </a:lnTo>
                <a:lnTo>
                  <a:pt x="3625215" y="368935"/>
                </a:lnTo>
                <a:lnTo>
                  <a:pt x="3625215" y="375285"/>
                </a:lnTo>
                <a:close/>
              </a:path>
              <a:path w="3625215" h="375285">
                <a:moveTo>
                  <a:pt x="12700" y="12700"/>
                </a:moveTo>
                <a:lnTo>
                  <a:pt x="6350" y="12700"/>
                </a:lnTo>
                <a:lnTo>
                  <a:pt x="12700" y="6350"/>
                </a:lnTo>
                <a:lnTo>
                  <a:pt x="12700" y="12700"/>
                </a:lnTo>
                <a:close/>
              </a:path>
              <a:path w="3625215" h="375285">
                <a:moveTo>
                  <a:pt x="3612515" y="12700"/>
                </a:moveTo>
                <a:lnTo>
                  <a:pt x="12700" y="12700"/>
                </a:lnTo>
                <a:lnTo>
                  <a:pt x="12700" y="6350"/>
                </a:lnTo>
                <a:lnTo>
                  <a:pt x="3612515" y="6350"/>
                </a:lnTo>
                <a:lnTo>
                  <a:pt x="3612515" y="12700"/>
                </a:lnTo>
                <a:close/>
              </a:path>
              <a:path w="3625215" h="375285">
                <a:moveTo>
                  <a:pt x="3612515" y="368935"/>
                </a:moveTo>
                <a:lnTo>
                  <a:pt x="3612515" y="6350"/>
                </a:lnTo>
                <a:lnTo>
                  <a:pt x="3618865" y="12700"/>
                </a:lnTo>
                <a:lnTo>
                  <a:pt x="3625215" y="12700"/>
                </a:lnTo>
                <a:lnTo>
                  <a:pt x="3625215" y="362585"/>
                </a:lnTo>
                <a:lnTo>
                  <a:pt x="3618865" y="362585"/>
                </a:lnTo>
                <a:lnTo>
                  <a:pt x="3612515" y="368935"/>
                </a:lnTo>
                <a:close/>
              </a:path>
              <a:path w="3625215" h="375285">
                <a:moveTo>
                  <a:pt x="3625215" y="12700"/>
                </a:moveTo>
                <a:lnTo>
                  <a:pt x="3618865" y="12700"/>
                </a:lnTo>
                <a:lnTo>
                  <a:pt x="3612515" y="6350"/>
                </a:lnTo>
                <a:lnTo>
                  <a:pt x="3625215" y="6350"/>
                </a:lnTo>
                <a:lnTo>
                  <a:pt x="3625215" y="12700"/>
                </a:lnTo>
                <a:close/>
              </a:path>
              <a:path w="3625215" h="375285">
                <a:moveTo>
                  <a:pt x="12700" y="368935"/>
                </a:moveTo>
                <a:lnTo>
                  <a:pt x="6350" y="362585"/>
                </a:lnTo>
                <a:lnTo>
                  <a:pt x="12700" y="362585"/>
                </a:lnTo>
                <a:lnTo>
                  <a:pt x="12700" y="368935"/>
                </a:lnTo>
                <a:close/>
              </a:path>
              <a:path w="3625215" h="375285">
                <a:moveTo>
                  <a:pt x="3612515" y="368935"/>
                </a:moveTo>
                <a:lnTo>
                  <a:pt x="12700" y="368935"/>
                </a:lnTo>
                <a:lnTo>
                  <a:pt x="12700" y="362585"/>
                </a:lnTo>
                <a:lnTo>
                  <a:pt x="3612515" y="362585"/>
                </a:lnTo>
                <a:lnTo>
                  <a:pt x="3612515" y="368935"/>
                </a:lnTo>
                <a:close/>
              </a:path>
              <a:path w="3625215" h="375285">
                <a:moveTo>
                  <a:pt x="3625215" y="368935"/>
                </a:moveTo>
                <a:lnTo>
                  <a:pt x="3612515" y="368935"/>
                </a:lnTo>
                <a:lnTo>
                  <a:pt x="3618865" y="362585"/>
                </a:lnTo>
                <a:lnTo>
                  <a:pt x="3625215" y="362585"/>
                </a:lnTo>
                <a:lnTo>
                  <a:pt x="3625215" y="368935"/>
                </a:lnTo>
                <a:close/>
              </a:path>
            </a:pathLst>
          </a:custGeom>
          <a:solidFill>
            <a:srgbClr val="C00000"/>
          </a:solidFill>
        </p:spPr>
        <p:txBody>
          <a:bodyPr wrap="square" lIns="0" tIns="0" rIns="0" bIns="0" rtlCol="0"/>
          <a:lstStyle/>
          <a:p/>
        </p:txBody>
      </p:sp>
      <p:sp>
        <p:nvSpPr>
          <p:cNvPr id="10" name="object 10"/>
          <p:cNvSpPr/>
          <p:nvPr/>
        </p:nvSpPr>
        <p:spPr>
          <a:xfrm>
            <a:off x="1466850" y="5965190"/>
            <a:ext cx="3623310" cy="375285"/>
          </a:xfrm>
          <a:custGeom>
            <a:avLst/>
            <a:gdLst/>
            <a:ahLst/>
            <a:cxnLst/>
            <a:rect l="l" t="t" r="r" b="b"/>
            <a:pathLst>
              <a:path w="3623310" h="375285">
                <a:moveTo>
                  <a:pt x="3623310" y="375285"/>
                </a:moveTo>
                <a:lnTo>
                  <a:pt x="0" y="375285"/>
                </a:lnTo>
                <a:lnTo>
                  <a:pt x="0" y="0"/>
                </a:lnTo>
                <a:lnTo>
                  <a:pt x="3623310" y="0"/>
                </a:lnTo>
                <a:lnTo>
                  <a:pt x="3623310" y="6350"/>
                </a:lnTo>
                <a:lnTo>
                  <a:pt x="12700" y="6350"/>
                </a:lnTo>
                <a:lnTo>
                  <a:pt x="6350" y="12700"/>
                </a:lnTo>
                <a:lnTo>
                  <a:pt x="12700" y="12700"/>
                </a:lnTo>
                <a:lnTo>
                  <a:pt x="12700" y="362585"/>
                </a:lnTo>
                <a:lnTo>
                  <a:pt x="6350" y="362585"/>
                </a:lnTo>
                <a:lnTo>
                  <a:pt x="12700" y="368935"/>
                </a:lnTo>
                <a:lnTo>
                  <a:pt x="3623310" y="368935"/>
                </a:lnTo>
                <a:lnTo>
                  <a:pt x="3623310" y="375285"/>
                </a:lnTo>
                <a:close/>
              </a:path>
              <a:path w="3623310" h="375285">
                <a:moveTo>
                  <a:pt x="12700" y="12700"/>
                </a:moveTo>
                <a:lnTo>
                  <a:pt x="6350" y="12700"/>
                </a:lnTo>
                <a:lnTo>
                  <a:pt x="12700" y="6350"/>
                </a:lnTo>
                <a:lnTo>
                  <a:pt x="12700" y="12700"/>
                </a:lnTo>
                <a:close/>
              </a:path>
              <a:path w="3623310" h="375285">
                <a:moveTo>
                  <a:pt x="3610610" y="12700"/>
                </a:moveTo>
                <a:lnTo>
                  <a:pt x="12700" y="12700"/>
                </a:lnTo>
                <a:lnTo>
                  <a:pt x="12700" y="6350"/>
                </a:lnTo>
                <a:lnTo>
                  <a:pt x="3610610" y="6350"/>
                </a:lnTo>
                <a:lnTo>
                  <a:pt x="3610610" y="12700"/>
                </a:lnTo>
                <a:close/>
              </a:path>
              <a:path w="3623310" h="375285">
                <a:moveTo>
                  <a:pt x="3610610" y="368935"/>
                </a:moveTo>
                <a:lnTo>
                  <a:pt x="3610610" y="6350"/>
                </a:lnTo>
                <a:lnTo>
                  <a:pt x="3616960" y="12700"/>
                </a:lnTo>
                <a:lnTo>
                  <a:pt x="3623310" y="12700"/>
                </a:lnTo>
                <a:lnTo>
                  <a:pt x="3623310" y="362585"/>
                </a:lnTo>
                <a:lnTo>
                  <a:pt x="3616960" y="362585"/>
                </a:lnTo>
                <a:lnTo>
                  <a:pt x="3610610" y="368935"/>
                </a:lnTo>
                <a:close/>
              </a:path>
              <a:path w="3623310" h="375285">
                <a:moveTo>
                  <a:pt x="3623310" y="12700"/>
                </a:moveTo>
                <a:lnTo>
                  <a:pt x="3616960" y="12700"/>
                </a:lnTo>
                <a:lnTo>
                  <a:pt x="3610610" y="6350"/>
                </a:lnTo>
                <a:lnTo>
                  <a:pt x="3623310" y="6350"/>
                </a:lnTo>
                <a:lnTo>
                  <a:pt x="3623310" y="12700"/>
                </a:lnTo>
                <a:close/>
              </a:path>
              <a:path w="3623310" h="375285">
                <a:moveTo>
                  <a:pt x="12700" y="368935"/>
                </a:moveTo>
                <a:lnTo>
                  <a:pt x="6350" y="362585"/>
                </a:lnTo>
                <a:lnTo>
                  <a:pt x="12700" y="362585"/>
                </a:lnTo>
                <a:lnTo>
                  <a:pt x="12700" y="368935"/>
                </a:lnTo>
                <a:close/>
              </a:path>
              <a:path w="3623310" h="375285">
                <a:moveTo>
                  <a:pt x="3610610" y="368935"/>
                </a:moveTo>
                <a:lnTo>
                  <a:pt x="12700" y="368935"/>
                </a:lnTo>
                <a:lnTo>
                  <a:pt x="12700" y="362585"/>
                </a:lnTo>
                <a:lnTo>
                  <a:pt x="3610610" y="362585"/>
                </a:lnTo>
                <a:lnTo>
                  <a:pt x="3610610" y="368935"/>
                </a:lnTo>
                <a:close/>
              </a:path>
              <a:path w="3623310" h="375285">
                <a:moveTo>
                  <a:pt x="3623310" y="368935"/>
                </a:moveTo>
                <a:lnTo>
                  <a:pt x="3610610" y="368935"/>
                </a:lnTo>
                <a:lnTo>
                  <a:pt x="3616960" y="362585"/>
                </a:lnTo>
                <a:lnTo>
                  <a:pt x="3623310" y="362585"/>
                </a:lnTo>
                <a:lnTo>
                  <a:pt x="3623310" y="368935"/>
                </a:lnTo>
                <a:close/>
              </a:path>
            </a:pathLst>
          </a:custGeom>
          <a:solidFill>
            <a:srgbClr val="C00000"/>
          </a:solidFill>
        </p:spPr>
        <p:txBody>
          <a:bodyPr wrap="square" lIns="0" tIns="0" rIns="0" bIns="0" rtlCol="0"/>
          <a:lstStyle/>
          <a:p/>
        </p:txBody>
      </p:sp>
      <p:sp>
        <p:nvSpPr>
          <p:cNvPr id="11" name="object 11"/>
          <p:cNvSpPr/>
          <p:nvPr/>
        </p:nvSpPr>
        <p:spPr>
          <a:xfrm>
            <a:off x="4398264" y="5207508"/>
            <a:ext cx="398145" cy="198120"/>
          </a:xfrm>
          <a:custGeom>
            <a:avLst/>
            <a:gdLst/>
            <a:ahLst/>
            <a:cxnLst/>
            <a:rect l="l" t="t" r="r" b="b"/>
            <a:pathLst>
              <a:path w="398145" h="198120">
                <a:moveTo>
                  <a:pt x="297180" y="198119"/>
                </a:moveTo>
                <a:lnTo>
                  <a:pt x="297180" y="147827"/>
                </a:lnTo>
                <a:lnTo>
                  <a:pt x="0" y="147827"/>
                </a:lnTo>
                <a:lnTo>
                  <a:pt x="0" y="48767"/>
                </a:lnTo>
                <a:lnTo>
                  <a:pt x="297180" y="48767"/>
                </a:lnTo>
                <a:lnTo>
                  <a:pt x="297180" y="0"/>
                </a:lnTo>
                <a:lnTo>
                  <a:pt x="397763" y="99059"/>
                </a:lnTo>
                <a:lnTo>
                  <a:pt x="297180" y="198119"/>
                </a:lnTo>
                <a:close/>
              </a:path>
            </a:pathLst>
          </a:custGeom>
          <a:solidFill>
            <a:srgbClr val="D9D9D9"/>
          </a:solidFill>
        </p:spPr>
        <p:txBody>
          <a:bodyPr wrap="square" lIns="0" tIns="0" rIns="0" bIns="0" rtlCol="0"/>
          <a:lstStyle/>
          <a:p/>
        </p:txBody>
      </p:sp>
      <p:sp>
        <p:nvSpPr>
          <p:cNvPr id="12" name="object 12"/>
          <p:cNvSpPr/>
          <p:nvPr/>
        </p:nvSpPr>
        <p:spPr>
          <a:xfrm>
            <a:off x="4393247" y="5195506"/>
            <a:ext cx="409575" cy="222250"/>
          </a:xfrm>
          <a:custGeom>
            <a:avLst/>
            <a:gdLst/>
            <a:ahLst/>
            <a:cxnLst/>
            <a:rect l="l" t="t" r="r" b="b"/>
            <a:pathLst>
              <a:path w="409575" h="222250">
                <a:moveTo>
                  <a:pt x="298132" y="61188"/>
                </a:moveTo>
                <a:lnTo>
                  <a:pt x="298132" y="0"/>
                </a:lnTo>
                <a:lnTo>
                  <a:pt x="309625" y="11493"/>
                </a:lnTo>
                <a:lnTo>
                  <a:pt x="307657" y="11493"/>
                </a:lnTo>
                <a:lnTo>
                  <a:pt x="299529" y="14858"/>
                </a:lnTo>
                <a:lnTo>
                  <a:pt x="307657" y="22986"/>
                </a:lnTo>
                <a:lnTo>
                  <a:pt x="307657" y="56426"/>
                </a:lnTo>
                <a:lnTo>
                  <a:pt x="302894" y="56426"/>
                </a:lnTo>
                <a:lnTo>
                  <a:pt x="298132" y="61188"/>
                </a:lnTo>
                <a:close/>
              </a:path>
              <a:path w="409575" h="222250">
                <a:moveTo>
                  <a:pt x="307657" y="22986"/>
                </a:moveTo>
                <a:lnTo>
                  <a:pt x="299529" y="14858"/>
                </a:lnTo>
                <a:lnTo>
                  <a:pt x="307657" y="11493"/>
                </a:lnTo>
                <a:lnTo>
                  <a:pt x="307657" y="22986"/>
                </a:lnTo>
                <a:close/>
              </a:path>
              <a:path w="409575" h="222250">
                <a:moveTo>
                  <a:pt x="395541" y="110870"/>
                </a:moveTo>
                <a:lnTo>
                  <a:pt x="307657" y="22986"/>
                </a:lnTo>
                <a:lnTo>
                  <a:pt x="307657" y="11493"/>
                </a:lnTo>
                <a:lnTo>
                  <a:pt x="309625" y="11493"/>
                </a:lnTo>
                <a:lnTo>
                  <a:pt x="405638" y="107505"/>
                </a:lnTo>
                <a:lnTo>
                  <a:pt x="398906" y="107505"/>
                </a:lnTo>
                <a:lnTo>
                  <a:pt x="395541" y="110870"/>
                </a:lnTo>
                <a:close/>
              </a:path>
              <a:path w="409575" h="222250">
                <a:moveTo>
                  <a:pt x="298132" y="165315"/>
                </a:moveTo>
                <a:lnTo>
                  <a:pt x="0" y="165315"/>
                </a:lnTo>
                <a:lnTo>
                  <a:pt x="0" y="56426"/>
                </a:lnTo>
                <a:lnTo>
                  <a:pt x="298132" y="56426"/>
                </a:lnTo>
                <a:lnTo>
                  <a:pt x="298132" y="61188"/>
                </a:lnTo>
                <a:lnTo>
                  <a:pt x="9525" y="61188"/>
                </a:lnTo>
                <a:lnTo>
                  <a:pt x="4762" y="65951"/>
                </a:lnTo>
                <a:lnTo>
                  <a:pt x="9525" y="65951"/>
                </a:lnTo>
                <a:lnTo>
                  <a:pt x="9525" y="155790"/>
                </a:lnTo>
                <a:lnTo>
                  <a:pt x="4762" y="155790"/>
                </a:lnTo>
                <a:lnTo>
                  <a:pt x="9525" y="160553"/>
                </a:lnTo>
                <a:lnTo>
                  <a:pt x="298132" y="160553"/>
                </a:lnTo>
                <a:lnTo>
                  <a:pt x="298132" y="165315"/>
                </a:lnTo>
                <a:close/>
              </a:path>
              <a:path w="409575" h="222250">
                <a:moveTo>
                  <a:pt x="307657" y="65951"/>
                </a:moveTo>
                <a:lnTo>
                  <a:pt x="9525" y="65951"/>
                </a:lnTo>
                <a:lnTo>
                  <a:pt x="9525" y="61188"/>
                </a:lnTo>
                <a:lnTo>
                  <a:pt x="298132" y="61188"/>
                </a:lnTo>
                <a:lnTo>
                  <a:pt x="302894" y="56426"/>
                </a:lnTo>
                <a:lnTo>
                  <a:pt x="307657" y="56426"/>
                </a:lnTo>
                <a:lnTo>
                  <a:pt x="307657" y="65951"/>
                </a:lnTo>
                <a:close/>
              </a:path>
              <a:path w="409575" h="222250">
                <a:moveTo>
                  <a:pt x="9525" y="65951"/>
                </a:moveTo>
                <a:lnTo>
                  <a:pt x="4762" y="65951"/>
                </a:lnTo>
                <a:lnTo>
                  <a:pt x="9525" y="61188"/>
                </a:lnTo>
                <a:lnTo>
                  <a:pt x="9525" y="65951"/>
                </a:lnTo>
                <a:close/>
              </a:path>
              <a:path w="409575" h="222250">
                <a:moveTo>
                  <a:pt x="398906" y="114236"/>
                </a:moveTo>
                <a:lnTo>
                  <a:pt x="395541" y="110870"/>
                </a:lnTo>
                <a:lnTo>
                  <a:pt x="398906" y="107505"/>
                </a:lnTo>
                <a:lnTo>
                  <a:pt x="398906" y="114236"/>
                </a:lnTo>
                <a:close/>
              </a:path>
              <a:path w="409575" h="222250">
                <a:moveTo>
                  <a:pt x="405638" y="114236"/>
                </a:moveTo>
                <a:lnTo>
                  <a:pt x="398906" y="114236"/>
                </a:lnTo>
                <a:lnTo>
                  <a:pt x="398906" y="107505"/>
                </a:lnTo>
                <a:lnTo>
                  <a:pt x="405638" y="107505"/>
                </a:lnTo>
                <a:lnTo>
                  <a:pt x="409003" y="110870"/>
                </a:lnTo>
                <a:lnTo>
                  <a:pt x="405638" y="114236"/>
                </a:lnTo>
                <a:close/>
              </a:path>
              <a:path w="409575" h="222250">
                <a:moveTo>
                  <a:pt x="309625" y="210248"/>
                </a:moveTo>
                <a:lnTo>
                  <a:pt x="307657" y="210248"/>
                </a:lnTo>
                <a:lnTo>
                  <a:pt x="307657" y="198754"/>
                </a:lnTo>
                <a:lnTo>
                  <a:pt x="395541" y="110870"/>
                </a:lnTo>
                <a:lnTo>
                  <a:pt x="398906" y="114236"/>
                </a:lnTo>
                <a:lnTo>
                  <a:pt x="405638" y="114236"/>
                </a:lnTo>
                <a:lnTo>
                  <a:pt x="309625" y="210248"/>
                </a:lnTo>
                <a:close/>
              </a:path>
              <a:path w="409575" h="222250">
                <a:moveTo>
                  <a:pt x="9525" y="160553"/>
                </a:moveTo>
                <a:lnTo>
                  <a:pt x="4762" y="155790"/>
                </a:lnTo>
                <a:lnTo>
                  <a:pt x="9525" y="155790"/>
                </a:lnTo>
                <a:lnTo>
                  <a:pt x="9525" y="160553"/>
                </a:lnTo>
                <a:close/>
              </a:path>
              <a:path w="409575" h="222250">
                <a:moveTo>
                  <a:pt x="307657" y="165315"/>
                </a:moveTo>
                <a:lnTo>
                  <a:pt x="302894" y="165315"/>
                </a:lnTo>
                <a:lnTo>
                  <a:pt x="298132" y="160553"/>
                </a:lnTo>
                <a:lnTo>
                  <a:pt x="9525" y="160553"/>
                </a:lnTo>
                <a:lnTo>
                  <a:pt x="9525" y="155790"/>
                </a:lnTo>
                <a:lnTo>
                  <a:pt x="307657" y="155790"/>
                </a:lnTo>
                <a:lnTo>
                  <a:pt x="307657" y="165315"/>
                </a:lnTo>
                <a:close/>
              </a:path>
              <a:path w="409575" h="222250">
                <a:moveTo>
                  <a:pt x="298132" y="221741"/>
                </a:moveTo>
                <a:lnTo>
                  <a:pt x="298132" y="160553"/>
                </a:lnTo>
                <a:lnTo>
                  <a:pt x="302894" y="165315"/>
                </a:lnTo>
                <a:lnTo>
                  <a:pt x="307657" y="165315"/>
                </a:lnTo>
                <a:lnTo>
                  <a:pt x="307657" y="198754"/>
                </a:lnTo>
                <a:lnTo>
                  <a:pt x="299529" y="206882"/>
                </a:lnTo>
                <a:lnTo>
                  <a:pt x="307657" y="210248"/>
                </a:lnTo>
                <a:lnTo>
                  <a:pt x="309625" y="210248"/>
                </a:lnTo>
                <a:lnTo>
                  <a:pt x="298132" y="221741"/>
                </a:lnTo>
                <a:close/>
              </a:path>
              <a:path w="409575" h="222250">
                <a:moveTo>
                  <a:pt x="307657" y="210248"/>
                </a:moveTo>
                <a:lnTo>
                  <a:pt x="299529" y="206882"/>
                </a:lnTo>
                <a:lnTo>
                  <a:pt x="307657" y="198754"/>
                </a:lnTo>
                <a:lnTo>
                  <a:pt x="307657" y="210248"/>
                </a:lnTo>
                <a:close/>
              </a:path>
            </a:pathLst>
          </a:custGeom>
          <a:solidFill>
            <a:srgbClr val="C00000"/>
          </a:solidFill>
        </p:spPr>
        <p:txBody>
          <a:bodyPr wrap="square" lIns="0" tIns="0" rIns="0" bIns="0" rtlCol="0"/>
          <a:lstStyle/>
          <a:p/>
        </p:txBody>
      </p:sp>
      <p:sp>
        <p:nvSpPr>
          <p:cNvPr id="13" name="object 13"/>
          <p:cNvSpPr/>
          <p:nvPr/>
        </p:nvSpPr>
        <p:spPr>
          <a:xfrm>
            <a:off x="1744979" y="6053328"/>
            <a:ext cx="398145" cy="200025"/>
          </a:xfrm>
          <a:custGeom>
            <a:avLst/>
            <a:gdLst/>
            <a:ahLst/>
            <a:cxnLst/>
            <a:rect l="l" t="t" r="r" b="b"/>
            <a:pathLst>
              <a:path w="398144" h="200025">
                <a:moveTo>
                  <a:pt x="99059" y="199644"/>
                </a:moveTo>
                <a:lnTo>
                  <a:pt x="0" y="99060"/>
                </a:lnTo>
                <a:lnTo>
                  <a:pt x="99059" y="0"/>
                </a:lnTo>
                <a:lnTo>
                  <a:pt x="99059" y="50292"/>
                </a:lnTo>
                <a:lnTo>
                  <a:pt x="397763" y="50292"/>
                </a:lnTo>
                <a:lnTo>
                  <a:pt x="397763" y="149351"/>
                </a:lnTo>
                <a:lnTo>
                  <a:pt x="99059" y="149351"/>
                </a:lnTo>
                <a:lnTo>
                  <a:pt x="99059" y="199644"/>
                </a:lnTo>
                <a:close/>
              </a:path>
            </a:pathLst>
          </a:custGeom>
          <a:solidFill>
            <a:srgbClr val="D9D9D9"/>
          </a:solidFill>
        </p:spPr>
        <p:txBody>
          <a:bodyPr wrap="square" lIns="0" tIns="0" rIns="0" bIns="0" rtlCol="0"/>
          <a:lstStyle/>
          <a:p/>
        </p:txBody>
      </p:sp>
      <p:sp>
        <p:nvSpPr>
          <p:cNvPr id="14" name="object 14"/>
          <p:cNvSpPr/>
          <p:nvPr/>
        </p:nvSpPr>
        <p:spPr>
          <a:xfrm>
            <a:off x="1738248" y="6041961"/>
            <a:ext cx="409575" cy="222250"/>
          </a:xfrm>
          <a:custGeom>
            <a:avLst/>
            <a:gdLst/>
            <a:ahLst/>
            <a:cxnLst/>
            <a:rect l="l" t="t" r="r" b="b"/>
            <a:pathLst>
              <a:path w="409575" h="222250">
                <a:moveTo>
                  <a:pt x="110870" y="221741"/>
                </a:moveTo>
                <a:lnTo>
                  <a:pt x="0" y="110871"/>
                </a:lnTo>
                <a:lnTo>
                  <a:pt x="110870" y="0"/>
                </a:lnTo>
                <a:lnTo>
                  <a:pt x="110870" y="11493"/>
                </a:lnTo>
                <a:lnTo>
                  <a:pt x="101345" y="11493"/>
                </a:lnTo>
                <a:lnTo>
                  <a:pt x="101345" y="22987"/>
                </a:lnTo>
                <a:lnTo>
                  <a:pt x="16827" y="107505"/>
                </a:lnTo>
                <a:lnTo>
                  <a:pt x="10096" y="107505"/>
                </a:lnTo>
                <a:lnTo>
                  <a:pt x="10096" y="114236"/>
                </a:lnTo>
                <a:lnTo>
                  <a:pt x="16827" y="114236"/>
                </a:lnTo>
                <a:lnTo>
                  <a:pt x="101345" y="198754"/>
                </a:lnTo>
                <a:lnTo>
                  <a:pt x="101345" y="210248"/>
                </a:lnTo>
                <a:lnTo>
                  <a:pt x="110870" y="210248"/>
                </a:lnTo>
                <a:lnTo>
                  <a:pt x="110870" y="221741"/>
                </a:lnTo>
                <a:close/>
              </a:path>
              <a:path w="409575" h="222250">
                <a:moveTo>
                  <a:pt x="101345" y="22987"/>
                </a:moveTo>
                <a:lnTo>
                  <a:pt x="101345" y="11493"/>
                </a:lnTo>
                <a:lnTo>
                  <a:pt x="109474" y="14859"/>
                </a:lnTo>
                <a:lnTo>
                  <a:pt x="101345" y="22987"/>
                </a:lnTo>
                <a:close/>
              </a:path>
              <a:path w="409575" h="222250">
                <a:moveTo>
                  <a:pt x="399478" y="65951"/>
                </a:moveTo>
                <a:lnTo>
                  <a:pt x="101345" y="65951"/>
                </a:lnTo>
                <a:lnTo>
                  <a:pt x="101345" y="22987"/>
                </a:lnTo>
                <a:lnTo>
                  <a:pt x="109474" y="14859"/>
                </a:lnTo>
                <a:lnTo>
                  <a:pt x="101345" y="11493"/>
                </a:lnTo>
                <a:lnTo>
                  <a:pt x="110870" y="11493"/>
                </a:lnTo>
                <a:lnTo>
                  <a:pt x="110870" y="56426"/>
                </a:lnTo>
                <a:lnTo>
                  <a:pt x="106108" y="56426"/>
                </a:lnTo>
                <a:lnTo>
                  <a:pt x="110870" y="61188"/>
                </a:lnTo>
                <a:lnTo>
                  <a:pt x="399478" y="61188"/>
                </a:lnTo>
                <a:lnTo>
                  <a:pt x="399478" y="65951"/>
                </a:lnTo>
                <a:close/>
              </a:path>
              <a:path w="409575" h="222250">
                <a:moveTo>
                  <a:pt x="110870" y="61188"/>
                </a:moveTo>
                <a:lnTo>
                  <a:pt x="106108" y="56426"/>
                </a:lnTo>
                <a:lnTo>
                  <a:pt x="110870" y="56426"/>
                </a:lnTo>
                <a:lnTo>
                  <a:pt x="110870" y="61188"/>
                </a:lnTo>
                <a:close/>
              </a:path>
              <a:path w="409575" h="222250">
                <a:moveTo>
                  <a:pt x="409003" y="65951"/>
                </a:moveTo>
                <a:lnTo>
                  <a:pt x="404240" y="65951"/>
                </a:lnTo>
                <a:lnTo>
                  <a:pt x="399478" y="61188"/>
                </a:lnTo>
                <a:lnTo>
                  <a:pt x="110870" y="61188"/>
                </a:lnTo>
                <a:lnTo>
                  <a:pt x="110870" y="56426"/>
                </a:lnTo>
                <a:lnTo>
                  <a:pt x="409003" y="56426"/>
                </a:lnTo>
                <a:lnTo>
                  <a:pt x="409003" y="65951"/>
                </a:lnTo>
                <a:close/>
              </a:path>
              <a:path w="409575" h="222250">
                <a:moveTo>
                  <a:pt x="399478" y="160553"/>
                </a:moveTo>
                <a:lnTo>
                  <a:pt x="399478" y="61188"/>
                </a:lnTo>
                <a:lnTo>
                  <a:pt x="404240" y="65951"/>
                </a:lnTo>
                <a:lnTo>
                  <a:pt x="409003" y="65951"/>
                </a:lnTo>
                <a:lnTo>
                  <a:pt x="409003" y="155790"/>
                </a:lnTo>
                <a:lnTo>
                  <a:pt x="404240" y="155790"/>
                </a:lnTo>
                <a:lnTo>
                  <a:pt x="399478" y="160553"/>
                </a:lnTo>
                <a:close/>
              </a:path>
              <a:path w="409575" h="222250">
                <a:moveTo>
                  <a:pt x="10096" y="114236"/>
                </a:moveTo>
                <a:lnTo>
                  <a:pt x="10096" y="107505"/>
                </a:lnTo>
                <a:lnTo>
                  <a:pt x="13462" y="110871"/>
                </a:lnTo>
                <a:lnTo>
                  <a:pt x="10096" y="114236"/>
                </a:lnTo>
                <a:close/>
              </a:path>
              <a:path w="409575" h="222250">
                <a:moveTo>
                  <a:pt x="13462" y="110871"/>
                </a:moveTo>
                <a:lnTo>
                  <a:pt x="10096" y="107505"/>
                </a:lnTo>
                <a:lnTo>
                  <a:pt x="16827" y="107505"/>
                </a:lnTo>
                <a:lnTo>
                  <a:pt x="13462" y="110871"/>
                </a:lnTo>
                <a:close/>
              </a:path>
              <a:path w="409575" h="222250">
                <a:moveTo>
                  <a:pt x="16827" y="114236"/>
                </a:moveTo>
                <a:lnTo>
                  <a:pt x="10096" y="114236"/>
                </a:lnTo>
                <a:lnTo>
                  <a:pt x="13462" y="110871"/>
                </a:lnTo>
                <a:lnTo>
                  <a:pt x="16827" y="114236"/>
                </a:lnTo>
                <a:close/>
              </a:path>
              <a:path w="409575" h="222250">
                <a:moveTo>
                  <a:pt x="110870" y="210248"/>
                </a:moveTo>
                <a:lnTo>
                  <a:pt x="101345" y="210248"/>
                </a:lnTo>
                <a:lnTo>
                  <a:pt x="109474" y="206883"/>
                </a:lnTo>
                <a:lnTo>
                  <a:pt x="101345" y="198754"/>
                </a:lnTo>
                <a:lnTo>
                  <a:pt x="101345" y="155790"/>
                </a:lnTo>
                <a:lnTo>
                  <a:pt x="399478" y="155790"/>
                </a:lnTo>
                <a:lnTo>
                  <a:pt x="399478" y="160553"/>
                </a:lnTo>
                <a:lnTo>
                  <a:pt x="110870" y="160553"/>
                </a:lnTo>
                <a:lnTo>
                  <a:pt x="106108" y="165315"/>
                </a:lnTo>
                <a:lnTo>
                  <a:pt x="110870" y="165315"/>
                </a:lnTo>
                <a:lnTo>
                  <a:pt x="110870" y="210248"/>
                </a:lnTo>
                <a:close/>
              </a:path>
              <a:path w="409575" h="222250">
                <a:moveTo>
                  <a:pt x="409003" y="165315"/>
                </a:moveTo>
                <a:lnTo>
                  <a:pt x="110870" y="165315"/>
                </a:lnTo>
                <a:lnTo>
                  <a:pt x="110870" y="160553"/>
                </a:lnTo>
                <a:lnTo>
                  <a:pt x="399478" y="160553"/>
                </a:lnTo>
                <a:lnTo>
                  <a:pt x="404240" y="155790"/>
                </a:lnTo>
                <a:lnTo>
                  <a:pt x="409003" y="155790"/>
                </a:lnTo>
                <a:lnTo>
                  <a:pt x="409003" y="165315"/>
                </a:lnTo>
                <a:close/>
              </a:path>
              <a:path w="409575" h="222250">
                <a:moveTo>
                  <a:pt x="110870" y="165315"/>
                </a:moveTo>
                <a:lnTo>
                  <a:pt x="106108" y="165315"/>
                </a:lnTo>
                <a:lnTo>
                  <a:pt x="110870" y="160553"/>
                </a:lnTo>
                <a:lnTo>
                  <a:pt x="110870" y="165315"/>
                </a:lnTo>
                <a:close/>
              </a:path>
              <a:path w="409575" h="222250">
                <a:moveTo>
                  <a:pt x="101345" y="210248"/>
                </a:moveTo>
                <a:lnTo>
                  <a:pt x="101345" y="198754"/>
                </a:lnTo>
                <a:lnTo>
                  <a:pt x="109474" y="206883"/>
                </a:lnTo>
                <a:lnTo>
                  <a:pt x="101345" y="210248"/>
                </a:lnTo>
                <a:close/>
              </a:path>
            </a:pathLst>
          </a:custGeom>
          <a:solidFill>
            <a:srgbClr val="C00000"/>
          </a:solidFill>
        </p:spPr>
        <p:txBody>
          <a:bodyPr wrap="square" lIns="0" tIns="0" rIns="0" bIns="0" rtlCol="0"/>
          <a:lstStyle/>
          <a:p/>
        </p:txBody>
      </p:sp>
      <p:sp>
        <p:nvSpPr>
          <p:cNvPr id="15" name="object 15"/>
          <p:cNvSpPr/>
          <p:nvPr/>
        </p:nvSpPr>
        <p:spPr>
          <a:xfrm>
            <a:off x="1490472" y="5120640"/>
            <a:ext cx="658495" cy="363220"/>
          </a:xfrm>
          <a:custGeom>
            <a:avLst/>
            <a:gdLst/>
            <a:ahLst/>
            <a:cxnLst/>
            <a:rect l="l" t="t" r="r" b="b"/>
            <a:pathLst>
              <a:path w="658494" h="363220">
                <a:moveTo>
                  <a:pt x="0" y="0"/>
                </a:moveTo>
                <a:lnTo>
                  <a:pt x="658367" y="0"/>
                </a:lnTo>
                <a:lnTo>
                  <a:pt x="658367" y="362712"/>
                </a:lnTo>
                <a:lnTo>
                  <a:pt x="0" y="362712"/>
                </a:lnTo>
                <a:lnTo>
                  <a:pt x="0" y="0"/>
                </a:lnTo>
                <a:close/>
              </a:path>
            </a:pathLst>
          </a:custGeom>
          <a:solidFill>
            <a:srgbClr val="F1F1F1"/>
          </a:solidFill>
        </p:spPr>
        <p:txBody>
          <a:bodyPr wrap="square" lIns="0" tIns="0" rIns="0" bIns="0" rtlCol="0"/>
          <a:lstStyle/>
          <a:p/>
        </p:txBody>
      </p:sp>
      <p:sp>
        <p:nvSpPr>
          <p:cNvPr id="16" name="object 16"/>
          <p:cNvSpPr/>
          <p:nvPr/>
        </p:nvSpPr>
        <p:spPr>
          <a:xfrm>
            <a:off x="1484630" y="5114290"/>
            <a:ext cx="669925" cy="375285"/>
          </a:xfrm>
          <a:custGeom>
            <a:avLst/>
            <a:gdLst/>
            <a:ahLst/>
            <a:cxnLst/>
            <a:rect l="l" t="t" r="r" b="b"/>
            <a:pathLst>
              <a:path w="669925" h="375285">
                <a:moveTo>
                  <a:pt x="669925" y="375285"/>
                </a:moveTo>
                <a:lnTo>
                  <a:pt x="0" y="375285"/>
                </a:lnTo>
                <a:lnTo>
                  <a:pt x="0" y="0"/>
                </a:lnTo>
                <a:lnTo>
                  <a:pt x="669925" y="0"/>
                </a:lnTo>
                <a:lnTo>
                  <a:pt x="669925" y="6350"/>
                </a:lnTo>
                <a:lnTo>
                  <a:pt x="12700" y="6350"/>
                </a:lnTo>
                <a:lnTo>
                  <a:pt x="6350" y="12700"/>
                </a:lnTo>
                <a:lnTo>
                  <a:pt x="12700" y="12700"/>
                </a:lnTo>
                <a:lnTo>
                  <a:pt x="12700" y="362585"/>
                </a:lnTo>
                <a:lnTo>
                  <a:pt x="6350" y="362585"/>
                </a:lnTo>
                <a:lnTo>
                  <a:pt x="12700" y="368935"/>
                </a:lnTo>
                <a:lnTo>
                  <a:pt x="669925" y="368935"/>
                </a:lnTo>
                <a:lnTo>
                  <a:pt x="669925" y="375285"/>
                </a:lnTo>
                <a:close/>
              </a:path>
              <a:path w="669925" h="375285">
                <a:moveTo>
                  <a:pt x="12700" y="12700"/>
                </a:moveTo>
                <a:lnTo>
                  <a:pt x="6350" y="12700"/>
                </a:lnTo>
                <a:lnTo>
                  <a:pt x="12700" y="6350"/>
                </a:lnTo>
                <a:lnTo>
                  <a:pt x="12700" y="12700"/>
                </a:lnTo>
                <a:close/>
              </a:path>
              <a:path w="669925" h="375285">
                <a:moveTo>
                  <a:pt x="657225" y="12700"/>
                </a:moveTo>
                <a:lnTo>
                  <a:pt x="12700" y="12700"/>
                </a:lnTo>
                <a:lnTo>
                  <a:pt x="12700" y="6350"/>
                </a:lnTo>
                <a:lnTo>
                  <a:pt x="657225" y="6350"/>
                </a:lnTo>
                <a:lnTo>
                  <a:pt x="657225" y="12700"/>
                </a:lnTo>
                <a:close/>
              </a:path>
              <a:path w="669925" h="375285">
                <a:moveTo>
                  <a:pt x="657225" y="368935"/>
                </a:moveTo>
                <a:lnTo>
                  <a:pt x="657225" y="6350"/>
                </a:lnTo>
                <a:lnTo>
                  <a:pt x="663575" y="12700"/>
                </a:lnTo>
                <a:lnTo>
                  <a:pt x="669925" y="12700"/>
                </a:lnTo>
                <a:lnTo>
                  <a:pt x="669925" y="362585"/>
                </a:lnTo>
                <a:lnTo>
                  <a:pt x="663575" y="362585"/>
                </a:lnTo>
                <a:lnTo>
                  <a:pt x="657225" y="368935"/>
                </a:lnTo>
                <a:close/>
              </a:path>
              <a:path w="669925" h="375285">
                <a:moveTo>
                  <a:pt x="669925" y="12700"/>
                </a:moveTo>
                <a:lnTo>
                  <a:pt x="663575" y="12700"/>
                </a:lnTo>
                <a:lnTo>
                  <a:pt x="657225" y="6350"/>
                </a:lnTo>
                <a:lnTo>
                  <a:pt x="669925" y="6350"/>
                </a:lnTo>
                <a:lnTo>
                  <a:pt x="669925" y="12700"/>
                </a:lnTo>
                <a:close/>
              </a:path>
              <a:path w="669925" h="375285">
                <a:moveTo>
                  <a:pt x="12700" y="368935"/>
                </a:moveTo>
                <a:lnTo>
                  <a:pt x="6350" y="362585"/>
                </a:lnTo>
                <a:lnTo>
                  <a:pt x="12700" y="362585"/>
                </a:lnTo>
                <a:lnTo>
                  <a:pt x="12700" y="368935"/>
                </a:lnTo>
                <a:close/>
              </a:path>
              <a:path w="669925" h="375285">
                <a:moveTo>
                  <a:pt x="657225" y="368935"/>
                </a:moveTo>
                <a:lnTo>
                  <a:pt x="12700" y="368935"/>
                </a:lnTo>
                <a:lnTo>
                  <a:pt x="12700" y="362585"/>
                </a:lnTo>
                <a:lnTo>
                  <a:pt x="657225" y="362585"/>
                </a:lnTo>
                <a:lnTo>
                  <a:pt x="657225" y="368935"/>
                </a:lnTo>
                <a:close/>
              </a:path>
              <a:path w="669925" h="375285">
                <a:moveTo>
                  <a:pt x="669925" y="368935"/>
                </a:moveTo>
                <a:lnTo>
                  <a:pt x="657225" y="368935"/>
                </a:lnTo>
                <a:lnTo>
                  <a:pt x="663575" y="362585"/>
                </a:lnTo>
                <a:lnTo>
                  <a:pt x="669925" y="362585"/>
                </a:lnTo>
                <a:lnTo>
                  <a:pt x="669925" y="368935"/>
                </a:lnTo>
                <a:close/>
              </a:path>
            </a:pathLst>
          </a:custGeom>
          <a:solidFill>
            <a:srgbClr val="C00000"/>
          </a:solidFill>
        </p:spPr>
        <p:txBody>
          <a:bodyPr wrap="square" lIns="0" tIns="0" rIns="0" bIns="0" rtlCol="0"/>
          <a:lstStyle/>
          <a:p/>
        </p:txBody>
      </p:sp>
      <p:sp>
        <p:nvSpPr>
          <p:cNvPr id="17" name="object 17"/>
          <p:cNvSpPr/>
          <p:nvPr/>
        </p:nvSpPr>
        <p:spPr>
          <a:xfrm>
            <a:off x="2142744" y="5120640"/>
            <a:ext cx="657225" cy="363220"/>
          </a:xfrm>
          <a:custGeom>
            <a:avLst/>
            <a:gdLst/>
            <a:ahLst/>
            <a:cxnLst/>
            <a:rect l="l" t="t" r="r" b="b"/>
            <a:pathLst>
              <a:path w="657225" h="363220">
                <a:moveTo>
                  <a:pt x="0" y="0"/>
                </a:moveTo>
                <a:lnTo>
                  <a:pt x="656844" y="0"/>
                </a:lnTo>
                <a:lnTo>
                  <a:pt x="656844" y="362712"/>
                </a:lnTo>
                <a:lnTo>
                  <a:pt x="0" y="362712"/>
                </a:lnTo>
                <a:lnTo>
                  <a:pt x="0" y="0"/>
                </a:lnTo>
                <a:close/>
              </a:path>
            </a:pathLst>
          </a:custGeom>
          <a:solidFill>
            <a:srgbClr val="F1F1F1"/>
          </a:solidFill>
        </p:spPr>
        <p:txBody>
          <a:bodyPr wrap="square" lIns="0" tIns="0" rIns="0" bIns="0" rtlCol="0"/>
          <a:lstStyle/>
          <a:p/>
        </p:txBody>
      </p:sp>
      <p:sp>
        <p:nvSpPr>
          <p:cNvPr id="18" name="object 18"/>
          <p:cNvSpPr/>
          <p:nvPr/>
        </p:nvSpPr>
        <p:spPr>
          <a:xfrm>
            <a:off x="2136139" y="5114290"/>
            <a:ext cx="669925" cy="375285"/>
          </a:xfrm>
          <a:custGeom>
            <a:avLst/>
            <a:gdLst/>
            <a:ahLst/>
            <a:cxnLst/>
            <a:rect l="l" t="t" r="r" b="b"/>
            <a:pathLst>
              <a:path w="669925" h="375285">
                <a:moveTo>
                  <a:pt x="669925" y="375285"/>
                </a:moveTo>
                <a:lnTo>
                  <a:pt x="0" y="375285"/>
                </a:lnTo>
                <a:lnTo>
                  <a:pt x="0" y="0"/>
                </a:lnTo>
                <a:lnTo>
                  <a:pt x="669925" y="0"/>
                </a:lnTo>
                <a:lnTo>
                  <a:pt x="669925" y="6350"/>
                </a:lnTo>
                <a:lnTo>
                  <a:pt x="12700" y="6350"/>
                </a:lnTo>
                <a:lnTo>
                  <a:pt x="6350" y="12700"/>
                </a:lnTo>
                <a:lnTo>
                  <a:pt x="12700" y="12700"/>
                </a:lnTo>
                <a:lnTo>
                  <a:pt x="12700" y="362585"/>
                </a:lnTo>
                <a:lnTo>
                  <a:pt x="6350" y="362585"/>
                </a:lnTo>
                <a:lnTo>
                  <a:pt x="12700" y="368935"/>
                </a:lnTo>
                <a:lnTo>
                  <a:pt x="669925" y="368935"/>
                </a:lnTo>
                <a:lnTo>
                  <a:pt x="669925" y="375285"/>
                </a:lnTo>
                <a:close/>
              </a:path>
              <a:path w="669925" h="375285">
                <a:moveTo>
                  <a:pt x="12700" y="12700"/>
                </a:moveTo>
                <a:lnTo>
                  <a:pt x="6350" y="12700"/>
                </a:lnTo>
                <a:lnTo>
                  <a:pt x="12700" y="6350"/>
                </a:lnTo>
                <a:lnTo>
                  <a:pt x="12700" y="12700"/>
                </a:lnTo>
                <a:close/>
              </a:path>
              <a:path w="669925" h="375285">
                <a:moveTo>
                  <a:pt x="657225" y="12700"/>
                </a:moveTo>
                <a:lnTo>
                  <a:pt x="12700" y="12700"/>
                </a:lnTo>
                <a:lnTo>
                  <a:pt x="12700" y="6350"/>
                </a:lnTo>
                <a:lnTo>
                  <a:pt x="657225" y="6350"/>
                </a:lnTo>
                <a:lnTo>
                  <a:pt x="657225" y="12700"/>
                </a:lnTo>
                <a:close/>
              </a:path>
              <a:path w="669925" h="375285">
                <a:moveTo>
                  <a:pt x="657225" y="368935"/>
                </a:moveTo>
                <a:lnTo>
                  <a:pt x="657225" y="6350"/>
                </a:lnTo>
                <a:lnTo>
                  <a:pt x="663575" y="12700"/>
                </a:lnTo>
                <a:lnTo>
                  <a:pt x="669925" y="12700"/>
                </a:lnTo>
                <a:lnTo>
                  <a:pt x="669925" y="362585"/>
                </a:lnTo>
                <a:lnTo>
                  <a:pt x="663575" y="362585"/>
                </a:lnTo>
                <a:lnTo>
                  <a:pt x="657225" y="368935"/>
                </a:lnTo>
                <a:close/>
              </a:path>
              <a:path w="669925" h="375285">
                <a:moveTo>
                  <a:pt x="669925" y="12700"/>
                </a:moveTo>
                <a:lnTo>
                  <a:pt x="663575" y="12700"/>
                </a:lnTo>
                <a:lnTo>
                  <a:pt x="657225" y="6350"/>
                </a:lnTo>
                <a:lnTo>
                  <a:pt x="669925" y="6350"/>
                </a:lnTo>
                <a:lnTo>
                  <a:pt x="669925" y="12700"/>
                </a:lnTo>
                <a:close/>
              </a:path>
              <a:path w="669925" h="375285">
                <a:moveTo>
                  <a:pt x="12700" y="368935"/>
                </a:moveTo>
                <a:lnTo>
                  <a:pt x="6350" y="362585"/>
                </a:lnTo>
                <a:lnTo>
                  <a:pt x="12700" y="362585"/>
                </a:lnTo>
                <a:lnTo>
                  <a:pt x="12700" y="368935"/>
                </a:lnTo>
                <a:close/>
              </a:path>
              <a:path w="669925" h="375285">
                <a:moveTo>
                  <a:pt x="657225" y="368935"/>
                </a:moveTo>
                <a:lnTo>
                  <a:pt x="12700" y="368935"/>
                </a:lnTo>
                <a:lnTo>
                  <a:pt x="12700" y="362585"/>
                </a:lnTo>
                <a:lnTo>
                  <a:pt x="657225" y="362585"/>
                </a:lnTo>
                <a:lnTo>
                  <a:pt x="657225" y="368935"/>
                </a:lnTo>
                <a:close/>
              </a:path>
              <a:path w="669925" h="375285">
                <a:moveTo>
                  <a:pt x="669925" y="368935"/>
                </a:moveTo>
                <a:lnTo>
                  <a:pt x="657225" y="368935"/>
                </a:lnTo>
                <a:lnTo>
                  <a:pt x="663575" y="362585"/>
                </a:lnTo>
                <a:lnTo>
                  <a:pt x="669925" y="362585"/>
                </a:lnTo>
                <a:lnTo>
                  <a:pt x="669925" y="368935"/>
                </a:lnTo>
                <a:close/>
              </a:path>
            </a:pathLst>
          </a:custGeom>
          <a:solidFill>
            <a:srgbClr val="C00000"/>
          </a:solidFill>
        </p:spPr>
        <p:txBody>
          <a:bodyPr wrap="square" lIns="0" tIns="0" rIns="0" bIns="0" rtlCol="0"/>
          <a:lstStyle/>
          <a:p/>
        </p:txBody>
      </p:sp>
      <p:sp>
        <p:nvSpPr>
          <p:cNvPr id="19" name="object 19"/>
          <p:cNvSpPr/>
          <p:nvPr/>
        </p:nvSpPr>
        <p:spPr>
          <a:xfrm>
            <a:off x="2799588" y="5120640"/>
            <a:ext cx="640080" cy="363220"/>
          </a:xfrm>
          <a:custGeom>
            <a:avLst/>
            <a:gdLst/>
            <a:ahLst/>
            <a:cxnLst/>
            <a:rect l="l" t="t" r="r" b="b"/>
            <a:pathLst>
              <a:path w="640079" h="363220">
                <a:moveTo>
                  <a:pt x="0" y="362712"/>
                </a:moveTo>
                <a:lnTo>
                  <a:pt x="640079" y="362712"/>
                </a:lnTo>
                <a:lnTo>
                  <a:pt x="640079" y="0"/>
                </a:lnTo>
                <a:lnTo>
                  <a:pt x="0" y="0"/>
                </a:lnTo>
                <a:lnTo>
                  <a:pt x="0" y="362712"/>
                </a:lnTo>
                <a:close/>
              </a:path>
            </a:pathLst>
          </a:custGeom>
          <a:solidFill>
            <a:srgbClr val="F1F1F1"/>
          </a:solidFill>
        </p:spPr>
        <p:txBody>
          <a:bodyPr wrap="square" lIns="0" tIns="0" rIns="0" bIns="0" rtlCol="0"/>
          <a:lstStyle/>
          <a:p/>
        </p:txBody>
      </p:sp>
      <p:sp>
        <p:nvSpPr>
          <p:cNvPr id="20" name="object 20"/>
          <p:cNvSpPr/>
          <p:nvPr/>
        </p:nvSpPr>
        <p:spPr>
          <a:xfrm>
            <a:off x="2793364" y="5114290"/>
            <a:ext cx="669925" cy="375285"/>
          </a:xfrm>
          <a:custGeom>
            <a:avLst/>
            <a:gdLst/>
            <a:ahLst/>
            <a:cxnLst/>
            <a:rect l="l" t="t" r="r" b="b"/>
            <a:pathLst>
              <a:path w="669925" h="375285">
                <a:moveTo>
                  <a:pt x="669925" y="375285"/>
                </a:moveTo>
                <a:lnTo>
                  <a:pt x="0" y="375285"/>
                </a:lnTo>
                <a:lnTo>
                  <a:pt x="0" y="0"/>
                </a:lnTo>
                <a:lnTo>
                  <a:pt x="669925" y="0"/>
                </a:lnTo>
                <a:lnTo>
                  <a:pt x="669925" y="6350"/>
                </a:lnTo>
                <a:lnTo>
                  <a:pt x="12700" y="6350"/>
                </a:lnTo>
                <a:lnTo>
                  <a:pt x="6350" y="12700"/>
                </a:lnTo>
                <a:lnTo>
                  <a:pt x="12700" y="12700"/>
                </a:lnTo>
                <a:lnTo>
                  <a:pt x="12700" y="362585"/>
                </a:lnTo>
                <a:lnTo>
                  <a:pt x="6350" y="362585"/>
                </a:lnTo>
                <a:lnTo>
                  <a:pt x="12700" y="368935"/>
                </a:lnTo>
                <a:lnTo>
                  <a:pt x="669925" y="368935"/>
                </a:lnTo>
                <a:lnTo>
                  <a:pt x="669925" y="375285"/>
                </a:lnTo>
                <a:close/>
              </a:path>
              <a:path w="669925" h="375285">
                <a:moveTo>
                  <a:pt x="12700" y="12700"/>
                </a:moveTo>
                <a:lnTo>
                  <a:pt x="6350" y="12700"/>
                </a:lnTo>
                <a:lnTo>
                  <a:pt x="12700" y="6350"/>
                </a:lnTo>
                <a:lnTo>
                  <a:pt x="12700" y="12700"/>
                </a:lnTo>
                <a:close/>
              </a:path>
              <a:path w="669925" h="375285">
                <a:moveTo>
                  <a:pt x="657225" y="12700"/>
                </a:moveTo>
                <a:lnTo>
                  <a:pt x="12700" y="12700"/>
                </a:lnTo>
                <a:lnTo>
                  <a:pt x="12700" y="6350"/>
                </a:lnTo>
                <a:lnTo>
                  <a:pt x="657225" y="6350"/>
                </a:lnTo>
                <a:lnTo>
                  <a:pt x="657225" y="12700"/>
                </a:lnTo>
                <a:close/>
              </a:path>
              <a:path w="669925" h="375285">
                <a:moveTo>
                  <a:pt x="657225" y="368935"/>
                </a:moveTo>
                <a:lnTo>
                  <a:pt x="657225" y="6350"/>
                </a:lnTo>
                <a:lnTo>
                  <a:pt x="663575" y="12700"/>
                </a:lnTo>
                <a:lnTo>
                  <a:pt x="669925" y="12700"/>
                </a:lnTo>
                <a:lnTo>
                  <a:pt x="669925" y="362585"/>
                </a:lnTo>
                <a:lnTo>
                  <a:pt x="663575" y="362585"/>
                </a:lnTo>
                <a:lnTo>
                  <a:pt x="657225" y="368935"/>
                </a:lnTo>
                <a:close/>
              </a:path>
              <a:path w="669925" h="375285">
                <a:moveTo>
                  <a:pt x="669925" y="12700"/>
                </a:moveTo>
                <a:lnTo>
                  <a:pt x="663575" y="12700"/>
                </a:lnTo>
                <a:lnTo>
                  <a:pt x="657225" y="6350"/>
                </a:lnTo>
                <a:lnTo>
                  <a:pt x="669925" y="6350"/>
                </a:lnTo>
                <a:lnTo>
                  <a:pt x="669925" y="12700"/>
                </a:lnTo>
                <a:close/>
              </a:path>
              <a:path w="669925" h="375285">
                <a:moveTo>
                  <a:pt x="12700" y="368935"/>
                </a:moveTo>
                <a:lnTo>
                  <a:pt x="6350" y="362585"/>
                </a:lnTo>
                <a:lnTo>
                  <a:pt x="12700" y="362585"/>
                </a:lnTo>
                <a:lnTo>
                  <a:pt x="12700" y="368935"/>
                </a:lnTo>
                <a:close/>
              </a:path>
              <a:path w="669925" h="375285">
                <a:moveTo>
                  <a:pt x="657225" y="368935"/>
                </a:moveTo>
                <a:lnTo>
                  <a:pt x="12700" y="368935"/>
                </a:lnTo>
                <a:lnTo>
                  <a:pt x="12700" y="362585"/>
                </a:lnTo>
                <a:lnTo>
                  <a:pt x="657225" y="362585"/>
                </a:lnTo>
                <a:lnTo>
                  <a:pt x="657225" y="368935"/>
                </a:lnTo>
                <a:close/>
              </a:path>
              <a:path w="669925" h="375285">
                <a:moveTo>
                  <a:pt x="669925" y="368935"/>
                </a:moveTo>
                <a:lnTo>
                  <a:pt x="657225" y="368935"/>
                </a:lnTo>
                <a:lnTo>
                  <a:pt x="663575" y="362585"/>
                </a:lnTo>
                <a:lnTo>
                  <a:pt x="669925" y="362585"/>
                </a:lnTo>
                <a:lnTo>
                  <a:pt x="669925" y="368935"/>
                </a:lnTo>
                <a:close/>
              </a:path>
            </a:pathLst>
          </a:custGeom>
          <a:solidFill>
            <a:srgbClr val="C00000"/>
          </a:solidFill>
        </p:spPr>
        <p:txBody>
          <a:bodyPr wrap="square" lIns="0" tIns="0" rIns="0" bIns="0" rtlCol="0"/>
          <a:lstStyle/>
          <a:p/>
        </p:txBody>
      </p:sp>
      <p:sp>
        <p:nvSpPr>
          <p:cNvPr id="21" name="object 21"/>
          <p:cNvSpPr/>
          <p:nvPr/>
        </p:nvSpPr>
        <p:spPr>
          <a:xfrm>
            <a:off x="3439667" y="5120640"/>
            <a:ext cx="657225" cy="363220"/>
          </a:xfrm>
          <a:custGeom>
            <a:avLst/>
            <a:gdLst/>
            <a:ahLst/>
            <a:cxnLst/>
            <a:rect l="l" t="t" r="r" b="b"/>
            <a:pathLst>
              <a:path w="657225" h="363220">
                <a:moveTo>
                  <a:pt x="0" y="0"/>
                </a:moveTo>
                <a:lnTo>
                  <a:pt x="656843" y="0"/>
                </a:lnTo>
                <a:lnTo>
                  <a:pt x="656843" y="362712"/>
                </a:lnTo>
                <a:lnTo>
                  <a:pt x="0" y="362712"/>
                </a:lnTo>
                <a:lnTo>
                  <a:pt x="0" y="0"/>
                </a:lnTo>
                <a:close/>
              </a:path>
            </a:pathLst>
          </a:custGeom>
          <a:solidFill>
            <a:srgbClr val="F1F1F1"/>
          </a:solidFill>
        </p:spPr>
        <p:txBody>
          <a:bodyPr wrap="square" lIns="0" tIns="0" rIns="0" bIns="0" rtlCol="0"/>
          <a:lstStyle/>
          <a:p/>
        </p:txBody>
      </p:sp>
      <p:sp>
        <p:nvSpPr>
          <p:cNvPr id="22" name="object 22"/>
          <p:cNvSpPr/>
          <p:nvPr/>
        </p:nvSpPr>
        <p:spPr>
          <a:xfrm>
            <a:off x="3433445" y="5114290"/>
            <a:ext cx="669925" cy="375285"/>
          </a:xfrm>
          <a:custGeom>
            <a:avLst/>
            <a:gdLst/>
            <a:ahLst/>
            <a:cxnLst/>
            <a:rect l="l" t="t" r="r" b="b"/>
            <a:pathLst>
              <a:path w="669925" h="375285">
                <a:moveTo>
                  <a:pt x="669925" y="375285"/>
                </a:moveTo>
                <a:lnTo>
                  <a:pt x="0" y="375285"/>
                </a:lnTo>
                <a:lnTo>
                  <a:pt x="0" y="0"/>
                </a:lnTo>
                <a:lnTo>
                  <a:pt x="669925" y="0"/>
                </a:lnTo>
                <a:lnTo>
                  <a:pt x="669925" y="6350"/>
                </a:lnTo>
                <a:lnTo>
                  <a:pt x="12700" y="6350"/>
                </a:lnTo>
                <a:lnTo>
                  <a:pt x="6350" y="12700"/>
                </a:lnTo>
                <a:lnTo>
                  <a:pt x="12700" y="12700"/>
                </a:lnTo>
                <a:lnTo>
                  <a:pt x="12700" y="362585"/>
                </a:lnTo>
                <a:lnTo>
                  <a:pt x="6350" y="362585"/>
                </a:lnTo>
                <a:lnTo>
                  <a:pt x="12700" y="368935"/>
                </a:lnTo>
                <a:lnTo>
                  <a:pt x="669925" y="368935"/>
                </a:lnTo>
                <a:lnTo>
                  <a:pt x="669925" y="375285"/>
                </a:lnTo>
                <a:close/>
              </a:path>
              <a:path w="669925" h="375285">
                <a:moveTo>
                  <a:pt x="12700" y="12700"/>
                </a:moveTo>
                <a:lnTo>
                  <a:pt x="6350" y="12700"/>
                </a:lnTo>
                <a:lnTo>
                  <a:pt x="12700" y="6350"/>
                </a:lnTo>
                <a:lnTo>
                  <a:pt x="12700" y="12700"/>
                </a:lnTo>
                <a:close/>
              </a:path>
              <a:path w="669925" h="375285">
                <a:moveTo>
                  <a:pt x="657225" y="12700"/>
                </a:moveTo>
                <a:lnTo>
                  <a:pt x="12700" y="12700"/>
                </a:lnTo>
                <a:lnTo>
                  <a:pt x="12700" y="6350"/>
                </a:lnTo>
                <a:lnTo>
                  <a:pt x="657225" y="6350"/>
                </a:lnTo>
                <a:lnTo>
                  <a:pt x="657225" y="12700"/>
                </a:lnTo>
                <a:close/>
              </a:path>
              <a:path w="669925" h="375285">
                <a:moveTo>
                  <a:pt x="657225" y="368935"/>
                </a:moveTo>
                <a:lnTo>
                  <a:pt x="657225" y="6350"/>
                </a:lnTo>
                <a:lnTo>
                  <a:pt x="663575" y="12700"/>
                </a:lnTo>
                <a:lnTo>
                  <a:pt x="669925" y="12700"/>
                </a:lnTo>
                <a:lnTo>
                  <a:pt x="669925" y="362585"/>
                </a:lnTo>
                <a:lnTo>
                  <a:pt x="663575" y="362585"/>
                </a:lnTo>
                <a:lnTo>
                  <a:pt x="657225" y="368935"/>
                </a:lnTo>
                <a:close/>
              </a:path>
              <a:path w="669925" h="375285">
                <a:moveTo>
                  <a:pt x="669925" y="12700"/>
                </a:moveTo>
                <a:lnTo>
                  <a:pt x="663575" y="12700"/>
                </a:lnTo>
                <a:lnTo>
                  <a:pt x="657225" y="6350"/>
                </a:lnTo>
                <a:lnTo>
                  <a:pt x="669925" y="6350"/>
                </a:lnTo>
                <a:lnTo>
                  <a:pt x="669925" y="12700"/>
                </a:lnTo>
                <a:close/>
              </a:path>
              <a:path w="669925" h="375285">
                <a:moveTo>
                  <a:pt x="12700" y="368935"/>
                </a:moveTo>
                <a:lnTo>
                  <a:pt x="6350" y="362585"/>
                </a:lnTo>
                <a:lnTo>
                  <a:pt x="12700" y="362585"/>
                </a:lnTo>
                <a:lnTo>
                  <a:pt x="12700" y="368935"/>
                </a:lnTo>
                <a:close/>
              </a:path>
              <a:path w="669925" h="375285">
                <a:moveTo>
                  <a:pt x="657225" y="368935"/>
                </a:moveTo>
                <a:lnTo>
                  <a:pt x="12700" y="368935"/>
                </a:lnTo>
                <a:lnTo>
                  <a:pt x="12700" y="362585"/>
                </a:lnTo>
                <a:lnTo>
                  <a:pt x="657225" y="362585"/>
                </a:lnTo>
                <a:lnTo>
                  <a:pt x="657225" y="368935"/>
                </a:lnTo>
                <a:close/>
              </a:path>
              <a:path w="669925" h="375285">
                <a:moveTo>
                  <a:pt x="669925" y="368935"/>
                </a:moveTo>
                <a:lnTo>
                  <a:pt x="657225" y="368935"/>
                </a:lnTo>
                <a:lnTo>
                  <a:pt x="663575" y="362585"/>
                </a:lnTo>
                <a:lnTo>
                  <a:pt x="669925" y="362585"/>
                </a:lnTo>
                <a:lnTo>
                  <a:pt x="669925" y="368935"/>
                </a:lnTo>
                <a:close/>
              </a:path>
            </a:pathLst>
          </a:custGeom>
          <a:solidFill>
            <a:srgbClr val="C00000"/>
          </a:solidFill>
        </p:spPr>
        <p:txBody>
          <a:bodyPr wrap="square" lIns="0" tIns="0" rIns="0" bIns="0" rtlCol="0"/>
          <a:lstStyle/>
          <a:p/>
        </p:txBody>
      </p:sp>
      <p:sp>
        <p:nvSpPr>
          <p:cNvPr id="23" name="object 23"/>
          <p:cNvSpPr txBox="1"/>
          <p:nvPr/>
        </p:nvSpPr>
        <p:spPr>
          <a:xfrm>
            <a:off x="1490472" y="5159375"/>
            <a:ext cx="2606040" cy="270510"/>
          </a:xfrm>
          <a:prstGeom prst="rect">
            <a:avLst/>
          </a:prstGeom>
        </p:spPr>
        <p:txBody>
          <a:bodyPr vert="horz" wrap="square" lIns="0" tIns="13335" rIns="0" bIns="0" rtlCol="0">
            <a:spAutoFit/>
          </a:bodyPr>
          <a:lstStyle/>
          <a:p>
            <a:pPr marL="175895" marR="116840" indent="-50800">
              <a:lnSpc>
                <a:spcPct val="100000"/>
              </a:lnSpc>
              <a:spcBef>
                <a:spcPts val="105"/>
              </a:spcBef>
              <a:tabLst>
                <a:tab pos="776605" algn="l"/>
                <a:tab pos="827405" algn="l"/>
                <a:tab pos="1433830" algn="l"/>
                <a:tab pos="1484630" algn="l"/>
                <a:tab pos="2073910" algn="l"/>
                <a:tab pos="2124710" algn="l"/>
              </a:tabLst>
            </a:pPr>
            <a:r>
              <a:rPr sz="800" dirty="0">
                <a:solidFill>
                  <a:srgbClr val="C00000"/>
                </a:solidFill>
                <a:latin typeface="微软雅黑" panose="020B0503020204020204" charset="-122"/>
                <a:cs typeface="微软雅黑" panose="020B0503020204020204" charset="-122"/>
              </a:rPr>
              <a:t>地址和</a:t>
            </a:r>
            <a:r>
              <a:rPr sz="800" spc="5" dirty="0">
                <a:solidFill>
                  <a:srgbClr val="C00000"/>
                </a:solidFill>
                <a:latin typeface="微软雅黑" panose="020B0503020204020204" charset="-122"/>
                <a:cs typeface="微软雅黑" panose="020B0503020204020204" charset="-122"/>
              </a:rPr>
              <a:t>控</a:t>
            </a:r>
            <a:r>
              <a:rPr sz="800" dirty="0">
                <a:solidFill>
                  <a:srgbClr val="C00000"/>
                </a:solidFill>
                <a:latin typeface="微软雅黑" panose="020B0503020204020204" charset="-122"/>
                <a:cs typeface="微软雅黑" panose="020B0503020204020204" charset="-122"/>
              </a:rPr>
              <a:t>	</a:t>
            </a:r>
            <a:r>
              <a:rPr sz="800" dirty="0">
                <a:solidFill>
                  <a:srgbClr val="C00000"/>
                </a:solidFill>
                <a:latin typeface="微软雅黑" panose="020B0503020204020204" charset="-122"/>
                <a:cs typeface="微软雅黑" panose="020B0503020204020204" charset="-122"/>
              </a:rPr>
              <a:t>地址和</a:t>
            </a:r>
            <a:r>
              <a:rPr sz="800" spc="5" dirty="0">
                <a:solidFill>
                  <a:srgbClr val="C00000"/>
                </a:solidFill>
                <a:latin typeface="微软雅黑" panose="020B0503020204020204" charset="-122"/>
                <a:cs typeface="微软雅黑" panose="020B0503020204020204" charset="-122"/>
              </a:rPr>
              <a:t>控</a:t>
            </a:r>
            <a:r>
              <a:rPr sz="800" dirty="0">
                <a:solidFill>
                  <a:srgbClr val="C00000"/>
                </a:solidFill>
                <a:latin typeface="微软雅黑" panose="020B0503020204020204" charset="-122"/>
                <a:cs typeface="微软雅黑" panose="020B0503020204020204" charset="-122"/>
              </a:rPr>
              <a:t>	</a:t>
            </a:r>
            <a:r>
              <a:rPr sz="800" dirty="0">
                <a:solidFill>
                  <a:srgbClr val="C00000"/>
                </a:solidFill>
                <a:latin typeface="微软雅黑" panose="020B0503020204020204" charset="-122"/>
                <a:cs typeface="微软雅黑" panose="020B0503020204020204" charset="-122"/>
              </a:rPr>
              <a:t>地址和</a:t>
            </a:r>
            <a:r>
              <a:rPr sz="800" spc="5" dirty="0">
                <a:solidFill>
                  <a:srgbClr val="C00000"/>
                </a:solidFill>
                <a:latin typeface="微软雅黑" panose="020B0503020204020204" charset="-122"/>
                <a:cs typeface="微软雅黑" panose="020B0503020204020204" charset="-122"/>
              </a:rPr>
              <a:t>控</a:t>
            </a:r>
            <a:r>
              <a:rPr sz="800" dirty="0">
                <a:solidFill>
                  <a:srgbClr val="C00000"/>
                </a:solidFill>
                <a:latin typeface="微软雅黑" panose="020B0503020204020204" charset="-122"/>
                <a:cs typeface="微软雅黑" panose="020B0503020204020204" charset="-122"/>
              </a:rPr>
              <a:t>	</a:t>
            </a:r>
            <a:r>
              <a:rPr sz="800" dirty="0">
                <a:solidFill>
                  <a:srgbClr val="C00000"/>
                </a:solidFill>
                <a:latin typeface="微软雅黑" panose="020B0503020204020204" charset="-122"/>
                <a:cs typeface="微软雅黑" panose="020B0503020204020204" charset="-122"/>
              </a:rPr>
              <a:t>地址和</a:t>
            </a:r>
            <a:r>
              <a:rPr sz="800" dirty="0">
                <a:solidFill>
                  <a:srgbClr val="C00000"/>
                </a:solidFill>
                <a:latin typeface="微软雅黑" panose="020B0503020204020204" charset="-122"/>
                <a:cs typeface="微软雅黑" panose="020B0503020204020204" charset="-122"/>
              </a:rPr>
              <a:t>控 </a:t>
            </a:r>
            <a:r>
              <a:rPr sz="800" dirty="0">
                <a:solidFill>
                  <a:srgbClr val="C00000"/>
                </a:solidFill>
                <a:latin typeface="微软雅黑" panose="020B0503020204020204" charset="-122"/>
                <a:cs typeface="微软雅黑" panose="020B0503020204020204" charset="-122"/>
              </a:rPr>
              <a:t>制信</a:t>
            </a:r>
            <a:r>
              <a:rPr sz="800" spc="5" dirty="0">
                <a:solidFill>
                  <a:srgbClr val="C00000"/>
                </a:solidFill>
                <a:latin typeface="微软雅黑" panose="020B0503020204020204" charset="-122"/>
                <a:cs typeface="微软雅黑" panose="020B0503020204020204" charset="-122"/>
              </a:rPr>
              <a:t>息		</a:t>
            </a:r>
            <a:r>
              <a:rPr sz="800" dirty="0">
                <a:solidFill>
                  <a:srgbClr val="C00000"/>
                </a:solidFill>
                <a:latin typeface="微软雅黑" panose="020B0503020204020204" charset="-122"/>
                <a:cs typeface="微软雅黑" panose="020B0503020204020204" charset="-122"/>
              </a:rPr>
              <a:t>制信</a:t>
            </a:r>
            <a:r>
              <a:rPr sz="800" spc="5" dirty="0">
                <a:solidFill>
                  <a:srgbClr val="C00000"/>
                </a:solidFill>
                <a:latin typeface="微软雅黑" panose="020B0503020204020204" charset="-122"/>
                <a:cs typeface="微软雅黑" panose="020B0503020204020204" charset="-122"/>
              </a:rPr>
              <a:t>息		</a:t>
            </a:r>
            <a:r>
              <a:rPr sz="800" dirty="0">
                <a:solidFill>
                  <a:srgbClr val="C00000"/>
                </a:solidFill>
                <a:latin typeface="微软雅黑" panose="020B0503020204020204" charset="-122"/>
                <a:cs typeface="微软雅黑" panose="020B0503020204020204" charset="-122"/>
              </a:rPr>
              <a:t>制信</a:t>
            </a:r>
            <a:r>
              <a:rPr sz="800" spc="5" dirty="0">
                <a:solidFill>
                  <a:srgbClr val="C00000"/>
                </a:solidFill>
                <a:latin typeface="微软雅黑" panose="020B0503020204020204" charset="-122"/>
                <a:cs typeface="微软雅黑" panose="020B0503020204020204" charset="-122"/>
              </a:rPr>
              <a:t>息		</a:t>
            </a:r>
            <a:r>
              <a:rPr sz="800" dirty="0">
                <a:solidFill>
                  <a:srgbClr val="C00000"/>
                </a:solidFill>
                <a:latin typeface="微软雅黑" panose="020B0503020204020204" charset="-122"/>
                <a:cs typeface="微软雅黑" panose="020B0503020204020204" charset="-122"/>
              </a:rPr>
              <a:t>制信</a:t>
            </a:r>
            <a:r>
              <a:rPr sz="800" spc="5" dirty="0">
                <a:solidFill>
                  <a:srgbClr val="C00000"/>
                </a:solidFill>
                <a:latin typeface="微软雅黑" panose="020B0503020204020204" charset="-122"/>
                <a:cs typeface="微软雅黑" panose="020B0503020204020204" charset="-122"/>
              </a:rPr>
              <a:t>息</a:t>
            </a:r>
            <a:endParaRPr sz="800">
              <a:latin typeface="微软雅黑" panose="020B0503020204020204" charset="-122"/>
              <a:cs typeface="微软雅黑" panose="020B0503020204020204" charset="-122"/>
            </a:endParaRPr>
          </a:p>
        </p:txBody>
      </p:sp>
      <p:sp>
        <p:nvSpPr>
          <p:cNvPr id="24" name="object 24"/>
          <p:cNvSpPr/>
          <p:nvPr/>
        </p:nvSpPr>
        <p:spPr>
          <a:xfrm>
            <a:off x="4415028" y="5971032"/>
            <a:ext cx="657225" cy="363220"/>
          </a:xfrm>
          <a:custGeom>
            <a:avLst/>
            <a:gdLst/>
            <a:ahLst/>
            <a:cxnLst/>
            <a:rect l="l" t="t" r="r" b="b"/>
            <a:pathLst>
              <a:path w="657225" h="363220">
                <a:moveTo>
                  <a:pt x="0" y="0"/>
                </a:moveTo>
                <a:lnTo>
                  <a:pt x="656844" y="0"/>
                </a:lnTo>
                <a:lnTo>
                  <a:pt x="656844" y="362712"/>
                </a:lnTo>
                <a:lnTo>
                  <a:pt x="0" y="362712"/>
                </a:lnTo>
                <a:lnTo>
                  <a:pt x="0" y="0"/>
                </a:lnTo>
                <a:close/>
              </a:path>
            </a:pathLst>
          </a:custGeom>
          <a:solidFill>
            <a:srgbClr val="F1F1F1"/>
          </a:solidFill>
        </p:spPr>
        <p:txBody>
          <a:bodyPr wrap="square" lIns="0" tIns="0" rIns="0" bIns="0" rtlCol="0"/>
          <a:lstStyle/>
          <a:p/>
        </p:txBody>
      </p:sp>
      <p:sp>
        <p:nvSpPr>
          <p:cNvPr id="25" name="object 25"/>
          <p:cNvSpPr/>
          <p:nvPr/>
        </p:nvSpPr>
        <p:spPr>
          <a:xfrm>
            <a:off x="4408804" y="5965190"/>
            <a:ext cx="669925" cy="375285"/>
          </a:xfrm>
          <a:custGeom>
            <a:avLst/>
            <a:gdLst/>
            <a:ahLst/>
            <a:cxnLst/>
            <a:rect l="l" t="t" r="r" b="b"/>
            <a:pathLst>
              <a:path w="669925" h="375285">
                <a:moveTo>
                  <a:pt x="669925" y="375285"/>
                </a:moveTo>
                <a:lnTo>
                  <a:pt x="0" y="375285"/>
                </a:lnTo>
                <a:lnTo>
                  <a:pt x="0" y="0"/>
                </a:lnTo>
                <a:lnTo>
                  <a:pt x="669925" y="0"/>
                </a:lnTo>
                <a:lnTo>
                  <a:pt x="669925" y="6350"/>
                </a:lnTo>
                <a:lnTo>
                  <a:pt x="12700" y="6350"/>
                </a:lnTo>
                <a:lnTo>
                  <a:pt x="6350" y="12700"/>
                </a:lnTo>
                <a:lnTo>
                  <a:pt x="12700" y="12700"/>
                </a:lnTo>
                <a:lnTo>
                  <a:pt x="12700" y="362585"/>
                </a:lnTo>
                <a:lnTo>
                  <a:pt x="6350" y="362585"/>
                </a:lnTo>
                <a:lnTo>
                  <a:pt x="12700" y="368935"/>
                </a:lnTo>
                <a:lnTo>
                  <a:pt x="669925" y="368935"/>
                </a:lnTo>
                <a:lnTo>
                  <a:pt x="669925" y="375285"/>
                </a:lnTo>
                <a:close/>
              </a:path>
              <a:path w="669925" h="375285">
                <a:moveTo>
                  <a:pt x="12700" y="12700"/>
                </a:moveTo>
                <a:lnTo>
                  <a:pt x="6350" y="12700"/>
                </a:lnTo>
                <a:lnTo>
                  <a:pt x="12700" y="6350"/>
                </a:lnTo>
                <a:lnTo>
                  <a:pt x="12700" y="12700"/>
                </a:lnTo>
                <a:close/>
              </a:path>
              <a:path w="669925" h="375285">
                <a:moveTo>
                  <a:pt x="657225" y="12700"/>
                </a:moveTo>
                <a:lnTo>
                  <a:pt x="12700" y="12700"/>
                </a:lnTo>
                <a:lnTo>
                  <a:pt x="12700" y="6350"/>
                </a:lnTo>
                <a:lnTo>
                  <a:pt x="657225" y="6350"/>
                </a:lnTo>
                <a:lnTo>
                  <a:pt x="657225" y="12700"/>
                </a:lnTo>
                <a:close/>
              </a:path>
              <a:path w="669925" h="375285">
                <a:moveTo>
                  <a:pt x="657225" y="368935"/>
                </a:moveTo>
                <a:lnTo>
                  <a:pt x="657225" y="6350"/>
                </a:lnTo>
                <a:lnTo>
                  <a:pt x="663575" y="12700"/>
                </a:lnTo>
                <a:lnTo>
                  <a:pt x="669925" y="12700"/>
                </a:lnTo>
                <a:lnTo>
                  <a:pt x="669925" y="362585"/>
                </a:lnTo>
                <a:lnTo>
                  <a:pt x="663575" y="362585"/>
                </a:lnTo>
                <a:lnTo>
                  <a:pt x="657225" y="368935"/>
                </a:lnTo>
                <a:close/>
              </a:path>
              <a:path w="669925" h="375285">
                <a:moveTo>
                  <a:pt x="669925" y="12700"/>
                </a:moveTo>
                <a:lnTo>
                  <a:pt x="663575" y="12700"/>
                </a:lnTo>
                <a:lnTo>
                  <a:pt x="657225" y="6350"/>
                </a:lnTo>
                <a:lnTo>
                  <a:pt x="669925" y="6350"/>
                </a:lnTo>
                <a:lnTo>
                  <a:pt x="669925" y="12700"/>
                </a:lnTo>
                <a:close/>
              </a:path>
              <a:path w="669925" h="375285">
                <a:moveTo>
                  <a:pt x="12700" y="368935"/>
                </a:moveTo>
                <a:lnTo>
                  <a:pt x="6350" y="362585"/>
                </a:lnTo>
                <a:lnTo>
                  <a:pt x="12700" y="362585"/>
                </a:lnTo>
                <a:lnTo>
                  <a:pt x="12700" y="368935"/>
                </a:lnTo>
                <a:close/>
              </a:path>
              <a:path w="669925" h="375285">
                <a:moveTo>
                  <a:pt x="657225" y="368935"/>
                </a:moveTo>
                <a:lnTo>
                  <a:pt x="12700" y="368935"/>
                </a:lnTo>
                <a:lnTo>
                  <a:pt x="12700" y="362585"/>
                </a:lnTo>
                <a:lnTo>
                  <a:pt x="657225" y="362585"/>
                </a:lnTo>
                <a:lnTo>
                  <a:pt x="657225" y="368935"/>
                </a:lnTo>
                <a:close/>
              </a:path>
              <a:path w="669925" h="375285">
                <a:moveTo>
                  <a:pt x="669925" y="368935"/>
                </a:moveTo>
                <a:lnTo>
                  <a:pt x="657225" y="368935"/>
                </a:lnTo>
                <a:lnTo>
                  <a:pt x="663575" y="362585"/>
                </a:lnTo>
                <a:lnTo>
                  <a:pt x="669925" y="362585"/>
                </a:lnTo>
                <a:lnTo>
                  <a:pt x="669925" y="368935"/>
                </a:lnTo>
                <a:close/>
              </a:path>
            </a:pathLst>
          </a:custGeom>
          <a:solidFill>
            <a:srgbClr val="C00000"/>
          </a:solidFill>
        </p:spPr>
        <p:txBody>
          <a:bodyPr wrap="square" lIns="0" tIns="0" rIns="0" bIns="0" rtlCol="0"/>
          <a:lstStyle/>
          <a:p/>
        </p:txBody>
      </p:sp>
      <p:sp>
        <p:nvSpPr>
          <p:cNvPr id="26" name="object 26"/>
          <p:cNvSpPr/>
          <p:nvPr/>
        </p:nvSpPr>
        <p:spPr>
          <a:xfrm>
            <a:off x="3758184" y="5971032"/>
            <a:ext cx="657225" cy="363220"/>
          </a:xfrm>
          <a:custGeom>
            <a:avLst/>
            <a:gdLst/>
            <a:ahLst/>
            <a:cxnLst/>
            <a:rect l="l" t="t" r="r" b="b"/>
            <a:pathLst>
              <a:path w="657225" h="363220">
                <a:moveTo>
                  <a:pt x="0" y="0"/>
                </a:moveTo>
                <a:lnTo>
                  <a:pt x="656843" y="0"/>
                </a:lnTo>
                <a:lnTo>
                  <a:pt x="656843" y="362712"/>
                </a:lnTo>
                <a:lnTo>
                  <a:pt x="0" y="362712"/>
                </a:lnTo>
                <a:lnTo>
                  <a:pt x="0" y="0"/>
                </a:lnTo>
                <a:close/>
              </a:path>
            </a:pathLst>
          </a:custGeom>
          <a:solidFill>
            <a:srgbClr val="F1F1F1"/>
          </a:solidFill>
        </p:spPr>
        <p:txBody>
          <a:bodyPr wrap="square" lIns="0" tIns="0" rIns="0" bIns="0" rtlCol="0"/>
          <a:lstStyle/>
          <a:p/>
        </p:txBody>
      </p:sp>
      <p:sp>
        <p:nvSpPr>
          <p:cNvPr id="27" name="object 27"/>
          <p:cNvSpPr/>
          <p:nvPr/>
        </p:nvSpPr>
        <p:spPr>
          <a:xfrm>
            <a:off x="3751579" y="5965190"/>
            <a:ext cx="669925" cy="375285"/>
          </a:xfrm>
          <a:custGeom>
            <a:avLst/>
            <a:gdLst/>
            <a:ahLst/>
            <a:cxnLst/>
            <a:rect l="l" t="t" r="r" b="b"/>
            <a:pathLst>
              <a:path w="669925" h="375285">
                <a:moveTo>
                  <a:pt x="669925" y="375285"/>
                </a:moveTo>
                <a:lnTo>
                  <a:pt x="0" y="375285"/>
                </a:lnTo>
                <a:lnTo>
                  <a:pt x="0" y="0"/>
                </a:lnTo>
                <a:lnTo>
                  <a:pt x="669925" y="0"/>
                </a:lnTo>
                <a:lnTo>
                  <a:pt x="669925" y="6350"/>
                </a:lnTo>
                <a:lnTo>
                  <a:pt x="12700" y="6350"/>
                </a:lnTo>
                <a:lnTo>
                  <a:pt x="6350" y="12700"/>
                </a:lnTo>
                <a:lnTo>
                  <a:pt x="12700" y="12700"/>
                </a:lnTo>
                <a:lnTo>
                  <a:pt x="12700" y="362585"/>
                </a:lnTo>
                <a:lnTo>
                  <a:pt x="6350" y="362585"/>
                </a:lnTo>
                <a:lnTo>
                  <a:pt x="12700" y="368935"/>
                </a:lnTo>
                <a:lnTo>
                  <a:pt x="669925" y="368935"/>
                </a:lnTo>
                <a:lnTo>
                  <a:pt x="669925" y="375285"/>
                </a:lnTo>
                <a:close/>
              </a:path>
              <a:path w="669925" h="375285">
                <a:moveTo>
                  <a:pt x="12700" y="12700"/>
                </a:moveTo>
                <a:lnTo>
                  <a:pt x="6350" y="12700"/>
                </a:lnTo>
                <a:lnTo>
                  <a:pt x="12700" y="6350"/>
                </a:lnTo>
                <a:lnTo>
                  <a:pt x="12700" y="12700"/>
                </a:lnTo>
                <a:close/>
              </a:path>
              <a:path w="669925" h="375285">
                <a:moveTo>
                  <a:pt x="657225" y="12700"/>
                </a:moveTo>
                <a:lnTo>
                  <a:pt x="12700" y="12700"/>
                </a:lnTo>
                <a:lnTo>
                  <a:pt x="12700" y="6350"/>
                </a:lnTo>
                <a:lnTo>
                  <a:pt x="657225" y="6350"/>
                </a:lnTo>
                <a:lnTo>
                  <a:pt x="657225" y="12700"/>
                </a:lnTo>
                <a:close/>
              </a:path>
              <a:path w="669925" h="375285">
                <a:moveTo>
                  <a:pt x="657225" y="368935"/>
                </a:moveTo>
                <a:lnTo>
                  <a:pt x="657225" y="6350"/>
                </a:lnTo>
                <a:lnTo>
                  <a:pt x="663575" y="12700"/>
                </a:lnTo>
                <a:lnTo>
                  <a:pt x="669925" y="12700"/>
                </a:lnTo>
                <a:lnTo>
                  <a:pt x="669925" y="362585"/>
                </a:lnTo>
                <a:lnTo>
                  <a:pt x="663575" y="362585"/>
                </a:lnTo>
                <a:lnTo>
                  <a:pt x="657225" y="368935"/>
                </a:lnTo>
                <a:close/>
              </a:path>
              <a:path w="669925" h="375285">
                <a:moveTo>
                  <a:pt x="669925" y="12700"/>
                </a:moveTo>
                <a:lnTo>
                  <a:pt x="663575" y="12700"/>
                </a:lnTo>
                <a:lnTo>
                  <a:pt x="657225" y="6350"/>
                </a:lnTo>
                <a:lnTo>
                  <a:pt x="669925" y="6350"/>
                </a:lnTo>
                <a:lnTo>
                  <a:pt x="669925" y="12700"/>
                </a:lnTo>
                <a:close/>
              </a:path>
              <a:path w="669925" h="375285">
                <a:moveTo>
                  <a:pt x="12700" y="368935"/>
                </a:moveTo>
                <a:lnTo>
                  <a:pt x="6350" y="362585"/>
                </a:lnTo>
                <a:lnTo>
                  <a:pt x="12700" y="362585"/>
                </a:lnTo>
                <a:lnTo>
                  <a:pt x="12700" y="368935"/>
                </a:lnTo>
                <a:close/>
              </a:path>
              <a:path w="669925" h="375285">
                <a:moveTo>
                  <a:pt x="657225" y="368935"/>
                </a:moveTo>
                <a:lnTo>
                  <a:pt x="12700" y="368935"/>
                </a:lnTo>
                <a:lnTo>
                  <a:pt x="12700" y="362585"/>
                </a:lnTo>
                <a:lnTo>
                  <a:pt x="657225" y="362585"/>
                </a:lnTo>
                <a:lnTo>
                  <a:pt x="657225" y="368935"/>
                </a:lnTo>
                <a:close/>
              </a:path>
              <a:path w="669925" h="375285">
                <a:moveTo>
                  <a:pt x="669925" y="368935"/>
                </a:moveTo>
                <a:lnTo>
                  <a:pt x="657225" y="368935"/>
                </a:lnTo>
                <a:lnTo>
                  <a:pt x="663575" y="362585"/>
                </a:lnTo>
                <a:lnTo>
                  <a:pt x="669925" y="362585"/>
                </a:lnTo>
                <a:lnTo>
                  <a:pt x="669925" y="368935"/>
                </a:lnTo>
                <a:close/>
              </a:path>
            </a:pathLst>
          </a:custGeom>
          <a:solidFill>
            <a:srgbClr val="C00000"/>
          </a:solidFill>
        </p:spPr>
        <p:txBody>
          <a:bodyPr wrap="square" lIns="0" tIns="0" rIns="0" bIns="0" rtlCol="0"/>
          <a:lstStyle/>
          <a:p/>
        </p:txBody>
      </p:sp>
      <p:sp>
        <p:nvSpPr>
          <p:cNvPr id="28" name="object 28"/>
          <p:cNvSpPr/>
          <p:nvPr/>
        </p:nvSpPr>
        <p:spPr>
          <a:xfrm>
            <a:off x="3092195" y="5971032"/>
            <a:ext cx="657225" cy="363220"/>
          </a:xfrm>
          <a:custGeom>
            <a:avLst/>
            <a:gdLst/>
            <a:ahLst/>
            <a:cxnLst/>
            <a:rect l="l" t="t" r="r" b="b"/>
            <a:pathLst>
              <a:path w="657225" h="363220">
                <a:moveTo>
                  <a:pt x="0" y="0"/>
                </a:moveTo>
                <a:lnTo>
                  <a:pt x="656844" y="0"/>
                </a:lnTo>
                <a:lnTo>
                  <a:pt x="656844" y="362712"/>
                </a:lnTo>
                <a:lnTo>
                  <a:pt x="0" y="362712"/>
                </a:lnTo>
                <a:lnTo>
                  <a:pt x="0" y="0"/>
                </a:lnTo>
                <a:close/>
              </a:path>
            </a:pathLst>
          </a:custGeom>
          <a:solidFill>
            <a:srgbClr val="F1F1F1"/>
          </a:solidFill>
        </p:spPr>
        <p:txBody>
          <a:bodyPr wrap="square" lIns="0" tIns="0" rIns="0" bIns="0" rtlCol="0"/>
          <a:lstStyle/>
          <a:p/>
        </p:txBody>
      </p:sp>
      <p:sp>
        <p:nvSpPr>
          <p:cNvPr id="29" name="object 29"/>
          <p:cNvSpPr/>
          <p:nvPr/>
        </p:nvSpPr>
        <p:spPr>
          <a:xfrm>
            <a:off x="3086100" y="5965190"/>
            <a:ext cx="669925" cy="375285"/>
          </a:xfrm>
          <a:custGeom>
            <a:avLst/>
            <a:gdLst/>
            <a:ahLst/>
            <a:cxnLst/>
            <a:rect l="l" t="t" r="r" b="b"/>
            <a:pathLst>
              <a:path w="669925" h="375285">
                <a:moveTo>
                  <a:pt x="669925" y="375285"/>
                </a:moveTo>
                <a:lnTo>
                  <a:pt x="0" y="375285"/>
                </a:lnTo>
                <a:lnTo>
                  <a:pt x="0" y="0"/>
                </a:lnTo>
                <a:lnTo>
                  <a:pt x="669925" y="0"/>
                </a:lnTo>
                <a:lnTo>
                  <a:pt x="669925" y="6350"/>
                </a:lnTo>
                <a:lnTo>
                  <a:pt x="12700" y="6350"/>
                </a:lnTo>
                <a:lnTo>
                  <a:pt x="6350" y="12700"/>
                </a:lnTo>
                <a:lnTo>
                  <a:pt x="12700" y="12700"/>
                </a:lnTo>
                <a:lnTo>
                  <a:pt x="12700" y="362585"/>
                </a:lnTo>
                <a:lnTo>
                  <a:pt x="6350" y="362585"/>
                </a:lnTo>
                <a:lnTo>
                  <a:pt x="12700" y="368935"/>
                </a:lnTo>
                <a:lnTo>
                  <a:pt x="669925" y="368935"/>
                </a:lnTo>
                <a:lnTo>
                  <a:pt x="669925" y="375285"/>
                </a:lnTo>
                <a:close/>
              </a:path>
              <a:path w="669925" h="375285">
                <a:moveTo>
                  <a:pt x="12700" y="12700"/>
                </a:moveTo>
                <a:lnTo>
                  <a:pt x="6350" y="12700"/>
                </a:lnTo>
                <a:lnTo>
                  <a:pt x="12700" y="6350"/>
                </a:lnTo>
                <a:lnTo>
                  <a:pt x="12700" y="12700"/>
                </a:lnTo>
                <a:close/>
              </a:path>
              <a:path w="669925" h="375285">
                <a:moveTo>
                  <a:pt x="657225" y="12700"/>
                </a:moveTo>
                <a:lnTo>
                  <a:pt x="12700" y="12700"/>
                </a:lnTo>
                <a:lnTo>
                  <a:pt x="12700" y="6350"/>
                </a:lnTo>
                <a:lnTo>
                  <a:pt x="657225" y="6350"/>
                </a:lnTo>
                <a:lnTo>
                  <a:pt x="657225" y="12700"/>
                </a:lnTo>
                <a:close/>
              </a:path>
              <a:path w="669925" h="375285">
                <a:moveTo>
                  <a:pt x="657225" y="368935"/>
                </a:moveTo>
                <a:lnTo>
                  <a:pt x="657225" y="6350"/>
                </a:lnTo>
                <a:lnTo>
                  <a:pt x="663575" y="12700"/>
                </a:lnTo>
                <a:lnTo>
                  <a:pt x="669925" y="12700"/>
                </a:lnTo>
                <a:lnTo>
                  <a:pt x="669925" y="362585"/>
                </a:lnTo>
                <a:lnTo>
                  <a:pt x="663575" y="362585"/>
                </a:lnTo>
                <a:lnTo>
                  <a:pt x="657225" y="368935"/>
                </a:lnTo>
                <a:close/>
              </a:path>
              <a:path w="669925" h="375285">
                <a:moveTo>
                  <a:pt x="669925" y="12700"/>
                </a:moveTo>
                <a:lnTo>
                  <a:pt x="663575" y="12700"/>
                </a:lnTo>
                <a:lnTo>
                  <a:pt x="657225" y="6350"/>
                </a:lnTo>
                <a:lnTo>
                  <a:pt x="669925" y="6350"/>
                </a:lnTo>
                <a:lnTo>
                  <a:pt x="669925" y="12700"/>
                </a:lnTo>
                <a:close/>
              </a:path>
              <a:path w="669925" h="375285">
                <a:moveTo>
                  <a:pt x="12700" y="368935"/>
                </a:moveTo>
                <a:lnTo>
                  <a:pt x="6350" y="362585"/>
                </a:lnTo>
                <a:lnTo>
                  <a:pt x="12700" y="362585"/>
                </a:lnTo>
                <a:lnTo>
                  <a:pt x="12700" y="368935"/>
                </a:lnTo>
                <a:close/>
              </a:path>
              <a:path w="669925" h="375285">
                <a:moveTo>
                  <a:pt x="657225" y="368935"/>
                </a:moveTo>
                <a:lnTo>
                  <a:pt x="12700" y="368935"/>
                </a:lnTo>
                <a:lnTo>
                  <a:pt x="12700" y="362585"/>
                </a:lnTo>
                <a:lnTo>
                  <a:pt x="657225" y="362585"/>
                </a:lnTo>
                <a:lnTo>
                  <a:pt x="657225" y="368935"/>
                </a:lnTo>
                <a:close/>
              </a:path>
              <a:path w="669925" h="375285">
                <a:moveTo>
                  <a:pt x="669925" y="368935"/>
                </a:moveTo>
                <a:lnTo>
                  <a:pt x="657225" y="368935"/>
                </a:lnTo>
                <a:lnTo>
                  <a:pt x="663575" y="362585"/>
                </a:lnTo>
                <a:lnTo>
                  <a:pt x="669925" y="362585"/>
                </a:lnTo>
                <a:lnTo>
                  <a:pt x="669925" y="368935"/>
                </a:lnTo>
                <a:close/>
              </a:path>
            </a:pathLst>
          </a:custGeom>
          <a:solidFill>
            <a:srgbClr val="C00000"/>
          </a:solidFill>
        </p:spPr>
        <p:txBody>
          <a:bodyPr wrap="square" lIns="0" tIns="0" rIns="0" bIns="0" rtlCol="0"/>
          <a:lstStyle/>
          <a:p/>
        </p:txBody>
      </p:sp>
      <p:sp>
        <p:nvSpPr>
          <p:cNvPr id="30" name="object 30"/>
          <p:cNvSpPr/>
          <p:nvPr/>
        </p:nvSpPr>
        <p:spPr>
          <a:xfrm>
            <a:off x="2435351" y="5971032"/>
            <a:ext cx="657225" cy="363220"/>
          </a:xfrm>
          <a:custGeom>
            <a:avLst/>
            <a:gdLst/>
            <a:ahLst/>
            <a:cxnLst/>
            <a:rect l="l" t="t" r="r" b="b"/>
            <a:pathLst>
              <a:path w="657225" h="363220">
                <a:moveTo>
                  <a:pt x="0" y="0"/>
                </a:moveTo>
                <a:lnTo>
                  <a:pt x="656844" y="0"/>
                </a:lnTo>
                <a:lnTo>
                  <a:pt x="656844" y="362712"/>
                </a:lnTo>
                <a:lnTo>
                  <a:pt x="0" y="362712"/>
                </a:lnTo>
                <a:lnTo>
                  <a:pt x="0" y="0"/>
                </a:lnTo>
                <a:close/>
              </a:path>
            </a:pathLst>
          </a:custGeom>
          <a:solidFill>
            <a:srgbClr val="F1F1F1"/>
          </a:solidFill>
        </p:spPr>
        <p:txBody>
          <a:bodyPr wrap="square" lIns="0" tIns="0" rIns="0" bIns="0" rtlCol="0"/>
          <a:lstStyle/>
          <a:p/>
        </p:txBody>
      </p:sp>
      <p:sp>
        <p:nvSpPr>
          <p:cNvPr id="31" name="object 31"/>
          <p:cNvSpPr/>
          <p:nvPr/>
        </p:nvSpPr>
        <p:spPr>
          <a:xfrm>
            <a:off x="2428875" y="5965190"/>
            <a:ext cx="669925" cy="375285"/>
          </a:xfrm>
          <a:custGeom>
            <a:avLst/>
            <a:gdLst/>
            <a:ahLst/>
            <a:cxnLst/>
            <a:rect l="l" t="t" r="r" b="b"/>
            <a:pathLst>
              <a:path w="669925" h="375285">
                <a:moveTo>
                  <a:pt x="669925" y="375285"/>
                </a:moveTo>
                <a:lnTo>
                  <a:pt x="0" y="375285"/>
                </a:lnTo>
                <a:lnTo>
                  <a:pt x="0" y="0"/>
                </a:lnTo>
                <a:lnTo>
                  <a:pt x="669925" y="0"/>
                </a:lnTo>
                <a:lnTo>
                  <a:pt x="669925" y="6350"/>
                </a:lnTo>
                <a:lnTo>
                  <a:pt x="12700" y="6350"/>
                </a:lnTo>
                <a:lnTo>
                  <a:pt x="6350" y="12700"/>
                </a:lnTo>
                <a:lnTo>
                  <a:pt x="12700" y="12700"/>
                </a:lnTo>
                <a:lnTo>
                  <a:pt x="12700" y="362585"/>
                </a:lnTo>
                <a:lnTo>
                  <a:pt x="6350" y="362585"/>
                </a:lnTo>
                <a:lnTo>
                  <a:pt x="12700" y="368935"/>
                </a:lnTo>
                <a:lnTo>
                  <a:pt x="669925" y="368935"/>
                </a:lnTo>
                <a:lnTo>
                  <a:pt x="669925" y="375285"/>
                </a:lnTo>
                <a:close/>
              </a:path>
              <a:path w="669925" h="375285">
                <a:moveTo>
                  <a:pt x="12700" y="12700"/>
                </a:moveTo>
                <a:lnTo>
                  <a:pt x="6350" y="12700"/>
                </a:lnTo>
                <a:lnTo>
                  <a:pt x="12700" y="6350"/>
                </a:lnTo>
                <a:lnTo>
                  <a:pt x="12700" y="12700"/>
                </a:lnTo>
                <a:close/>
              </a:path>
              <a:path w="669925" h="375285">
                <a:moveTo>
                  <a:pt x="657225" y="12700"/>
                </a:moveTo>
                <a:lnTo>
                  <a:pt x="12700" y="12700"/>
                </a:lnTo>
                <a:lnTo>
                  <a:pt x="12700" y="6350"/>
                </a:lnTo>
                <a:lnTo>
                  <a:pt x="657225" y="6350"/>
                </a:lnTo>
                <a:lnTo>
                  <a:pt x="657225" y="12700"/>
                </a:lnTo>
                <a:close/>
              </a:path>
              <a:path w="669925" h="375285">
                <a:moveTo>
                  <a:pt x="657225" y="368935"/>
                </a:moveTo>
                <a:lnTo>
                  <a:pt x="657225" y="6350"/>
                </a:lnTo>
                <a:lnTo>
                  <a:pt x="663575" y="12700"/>
                </a:lnTo>
                <a:lnTo>
                  <a:pt x="669925" y="12700"/>
                </a:lnTo>
                <a:lnTo>
                  <a:pt x="669925" y="362585"/>
                </a:lnTo>
                <a:lnTo>
                  <a:pt x="663575" y="362585"/>
                </a:lnTo>
                <a:lnTo>
                  <a:pt x="657225" y="368935"/>
                </a:lnTo>
                <a:close/>
              </a:path>
              <a:path w="669925" h="375285">
                <a:moveTo>
                  <a:pt x="669925" y="12700"/>
                </a:moveTo>
                <a:lnTo>
                  <a:pt x="663575" y="12700"/>
                </a:lnTo>
                <a:lnTo>
                  <a:pt x="657225" y="6350"/>
                </a:lnTo>
                <a:lnTo>
                  <a:pt x="669925" y="6350"/>
                </a:lnTo>
                <a:lnTo>
                  <a:pt x="669925" y="12700"/>
                </a:lnTo>
                <a:close/>
              </a:path>
              <a:path w="669925" h="375285">
                <a:moveTo>
                  <a:pt x="12700" y="368935"/>
                </a:moveTo>
                <a:lnTo>
                  <a:pt x="6350" y="362585"/>
                </a:lnTo>
                <a:lnTo>
                  <a:pt x="12700" y="362585"/>
                </a:lnTo>
                <a:lnTo>
                  <a:pt x="12700" y="368935"/>
                </a:lnTo>
                <a:close/>
              </a:path>
              <a:path w="669925" h="375285">
                <a:moveTo>
                  <a:pt x="657225" y="368935"/>
                </a:moveTo>
                <a:lnTo>
                  <a:pt x="12700" y="368935"/>
                </a:lnTo>
                <a:lnTo>
                  <a:pt x="12700" y="362585"/>
                </a:lnTo>
                <a:lnTo>
                  <a:pt x="657225" y="362585"/>
                </a:lnTo>
                <a:lnTo>
                  <a:pt x="657225" y="368935"/>
                </a:lnTo>
                <a:close/>
              </a:path>
              <a:path w="669925" h="375285">
                <a:moveTo>
                  <a:pt x="669925" y="368935"/>
                </a:moveTo>
                <a:lnTo>
                  <a:pt x="657225" y="368935"/>
                </a:lnTo>
                <a:lnTo>
                  <a:pt x="663575" y="362585"/>
                </a:lnTo>
                <a:lnTo>
                  <a:pt x="669925" y="362585"/>
                </a:lnTo>
                <a:lnTo>
                  <a:pt x="669925" y="368935"/>
                </a:lnTo>
                <a:close/>
              </a:path>
            </a:pathLst>
          </a:custGeom>
          <a:solidFill>
            <a:srgbClr val="C00000"/>
          </a:solidFill>
        </p:spPr>
        <p:txBody>
          <a:bodyPr wrap="square" lIns="0" tIns="0" rIns="0" bIns="0" rtlCol="0"/>
          <a:lstStyle/>
          <a:p/>
        </p:txBody>
      </p:sp>
      <p:sp>
        <p:nvSpPr>
          <p:cNvPr id="32" name="object 32"/>
          <p:cNvSpPr txBox="1"/>
          <p:nvPr/>
        </p:nvSpPr>
        <p:spPr>
          <a:xfrm>
            <a:off x="2435351" y="6071234"/>
            <a:ext cx="2636520" cy="148590"/>
          </a:xfrm>
          <a:prstGeom prst="rect">
            <a:avLst/>
          </a:prstGeom>
        </p:spPr>
        <p:txBody>
          <a:bodyPr vert="horz" wrap="square" lIns="0" tIns="13335" rIns="0" bIns="0" rtlCol="0">
            <a:spAutoFit/>
          </a:bodyPr>
          <a:lstStyle/>
          <a:p>
            <a:pPr marL="124460">
              <a:lnSpc>
                <a:spcPct val="100000"/>
              </a:lnSpc>
              <a:spcBef>
                <a:spcPts val="105"/>
              </a:spcBef>
              <a:tabLst>
                <a:tab pos="781685" algn="l"/>
                <a:tab pos="1447165" algn="l"/>
                <a:tab pos="2104390" algn="l"/>
              </a:tabLst>
            </a:pPr>
            <a:r>
              <a:rPr sz="800" dirty="0">
                <a:solidFill>
                  <a:srgbClr val="C00000"/>
                </a:solidFill>
                <a:latin typeface="微软雅黑" panose="020B0503020204020204" charset="-122"/>
                <a:cs typeface="微软雅黑" panose="020B0503020204020204" charset="-122"/>
              </a:rPr>
              <a:t>返回结</a:t>
            </a:r>
            <a:r>
              <a:rPr sz="800" spc="5" dirty="0">
                <a:solidFill>
                  <a:srgbClr val="C00000"/>
                </a:solidFill>
                <a:latin typeface="微软雅黑" panose="020B0503020204020204" charset="-122"/>
                <a:cs typeface="微软雅黑" panose="020B0503020204020204" charset="-122"/>
              </a:rPr>
              <a:t>果	</a:t>
            </a:r>
            <a:r>
              <a:rPr sz="800" dirty="0">
                <a:solidFill>
                  <a:srgbClr val="C00000"/>
                </a:solidFill>
                <a:latin typeface="微软雅黑" panose="020B0503020204020204" charset="-122"/>
                <a:cs typeface="微软雅黑" panose="020B0503020204020204" charset="-122"/>
              </a:rPr>
              <a:t>返回结</a:t>
            </a:r>
            <a:r>
              <a:rPr sz="800" spc="5" dirty="0">
                <a:solidFill>
                  <a:srgbClr val="C00000"/>
                </a:solidFill>
                <a:latin typeface="微软雅黑" panose="020B0503020204020204" charset="-122"/>
                <a:cs typeface="微软雅黑" panose="020B0503020204020204" charset="-122"/>
              </a:rPr>
              <a:t>果	</a:t>
            </a:r>
            <a:r>
              <a:rPr sz="800" dirty="0">
                <a:solidFill>
                  <a:srgbClr val="C00000"/>
                </a:solidFill>
                <a:latin typeface="微软雅黑" panose="020B0503020204020204" charset="-122"/>
                <a:cs typeface="微软雅黑" panose="020B0503020204020204" charset="-122"/>
              </a:rPr>
              <a:t>返回结</a:t>
            </a:r>
            <a:r>
              <a:rPr sz="800" spc="5" dirty="0">
                <a:solidFill>
                  <a:srgbClr val="C00000"/>
                </a:solidFill>
                <a:latin typeface="微软雅黑" panose="020B0503020204020204" charset="-122"/>
                <a:cs typeface="微软雅黑" panose="020B0503020204020204" charset="-122"/>
              </a:rPr>
              <a:t>果	</a:t>
            </a:r>
            <a:r>
              <a:rPr sz="800" dirty="0">
                <a:solidFill>
                  <a:srgbClr val="C00000"/>
                </a:solidFill>
                <a:latin typeface="微软雅黑" panose="020B0503020204020204" charset="-122"/>
                <a:cs typeface="微软雅黑" panose="020B0503020204020204" charset="-122"/>
              </a:rPr>
              <a:t>返回结</a:t>
            </a:r>
            <a:r>
              <a:rPr sz="800" spc="5" dirty="0">
                <a:solidFill>
                  <a:srgbClr val="C00000"/>
                </a:solidFill>
                <a:latin typeface="微软雅黑" panose="020B0503020204020204" charset="-122"/>
                <a:cs typeface="微软雅黑" panose="020B0503020204020204" charset="-122"/>
              </a:rPr>
              <a:t>果</a:t>
            </a:r>
            <a:endParaRPr sz="800">
              <a:latin typeface="微软雅黑" panose="020B0503020204020204" charset="-122"/>
              <a:cs typeface="微软雅黑" panose="020B0503020204020204" charset="-122"/>
            </a:endParaRPr>
          </a:p>
        </p:txBody>
      </p:sp>
      <p:sp>
        <p:nvSpPr>
          <p:cNvPr id="33" name="object 33"/>
          <p:cNvSpPr txBox="1"/>
          <p:nvPr/>
        </p:nvSpPr>
        <p:spPr>
          <a:xfrm>
            <a:off x="1425575" y="4063238"/>
            <a:ext cx="3521710" cy="1001394"/>
          </a:xfrm>
          <a:prstGeom prst="rect">
            <a:avLst/>
          </a:prstGeom>
        </p:spPr>
        <p:txBody>
          <a:bodyPr vert="horz" wrap="square" lIns="0" tIns="88900" rIns="0" bIns="0" rtlCol="0">
            <a:spAutoFit/>
          </a:bodyPr>
          <a:lstStyle/>
          <a:p>
            <a:pPr marL="298450" indent="-285750">
              <a:lnSpc>
                <a:spcPct val="100000"/>
              </a:lnSpc>
              <a:spcBef>
                <a:spcPts val="700"/>
              </a:spcBef>
              <a:buFont typeface="Wingdings" panose="05000000000000000000"/>
              <a:buChar char=""/>
              <a:tabLst>
                <a:tab pos="297815" algn="l"/>
                <a:tab pos="298450" algn="l"/>
              </a:tabLst>
            </a:pPr>
            <a:r>
              <a:rPr sz="1000" dirty="0">
                <a:latin typeface="微软雅黑" panose="020B0503020204020204" charset="-122"/>
                <a:cs typeface="微软雅黑" panose="020B0503020204020204" charset="-122"/>
              </a:rPr>
              <a:t>优：高性能，支持缓存一致</a:t>
            </a:r>
            <a:r>
              <a:rPr sz="1000" spc="-5" dirty="0">
                <a:latin typeface="微软雅黑" panose="020B0503020204020204" charset="-122"/>
                <a:cs typeface="微软雅黑" panose="020B0503020204020204" charset="-122"/>
              </a:rPr>
              <a:t>性</a:t>
            </a:r>
            <a:endParaRPr sz="1000">
              <a:latin typeface="微软雅黑" panose="020B0503020204020204" charset="-122"/>
              <a:cs typeface="微软雅黑" panose="020B0503020204020204" charset="-122"/>
            </a:endParaRPr>
          </a:p>
          <a:p>
            <a:pPr marL="298450" indent="-285750">
              <a:lnSpc>
                <a:spcPct val="100000"/>
              </a:lnSpc>
              <a:spcBef>
                <a:spcPts val="600"/>
              </a:spcBef>
              <a:buFont typeface="Wingdings" panose="05000000000000000000"/>
              <a:buChar char=""/>
              <a:tabLst>
                <a:tab pos="297815" algn="l"/>
                <a:tab pos="298450" algn="l"/>
              </a:tabLst>
            </a:pPr>
            <a:r>
              <a:rPr sz="1000" dirty="0">
                <a:latin typeface="微软雅黑" panose="020B0503020204020204" charset="-122"/>
                <a:cs typeface="微软雅黑" panose="020B0503020204020204" charset="-122"/>
              </a:rPr>
              <a:t>缺：目前应用不广泛，实现复杂，不适用超低功耗</a:t>
            </a:r>
            <a:r>
              <a:rPr sz="1000" spc="-5" dirty="0">
                <a:latin typeface="微软雅黑" panose="020B0503020204020204" charset="-122"/>
                <a:cs typeface="微软雅黑" panose="020B0503020204020204" charset="-122"/>
              </a:rPr>
              <a:t>SoC</a:t>
            </a:r>
            <a:endParaRPr sz="1000">
              <a:latin typeface="微软雅黑" panose="020B0503020204020204" charset="-122"/>
              <a:cs typeface="微软雅黑" panose="020B0503020204020204" charset="-122"/>
            </a:endParaRPr>
          </a:p>
          <a:p>
            <a:pPr>
              <a:lnSpc>
                <a:spcPct val="100000"/>
              </a:lnSpc>
            </a:pPr>
            <a:endParaRPr sz="1300">
              <a:latin typeface="Times New Roman" panose="02020603050405020304"/>
              <a:cs typeface="Times New Roman" panose="02020603050405020304"/>
            </a:endParaRPr>
          </a:p>
          <a:p>
            <a:pPr marR="5080" algn="r">
              <a:lnSpc>
                <a:spcPct val="100000"/>
              </a:lnSpc>
              <a:spcBef>
                <a:spcPts val="1145"/>
              </a:spcBef>
            </a:pPr>
            <a:r>
              <a:rPr sz="1200" b="1" dirty="0">
                <a:solidFill>
                  <a:srgbClr val="C00000"/>
                </a:solidFill>
                <a:latin typeface="微软雅黑" panose="020B0503020204020204" charset="-122"/>
                <a:cs typeface="微软雅黑" panose="020B0503020204020204" charset="-122"/>
              </a:rPr>
              <a:t>命令通道</a:t>
            </a:r>
            <a:endParaRPr sz="1200">
              <a:latin typeface="微软雅黑" panose="020B0503020204020204" charset="-122"/>
              <a:cs typeface="微软雅黑" panose="020B0503020204020204" charset="-122"/>
            </a:endParaRPr>
          </a:p>
        </p:txBody>
      </p:sp>
      <p:sp>
        <p:nvSpPr>
          <p:cNvPr id="34" name="object 34"/>
          <p:cNvSpPr txBox="1"/>
          <p:nvPr/>
        </p:nvSpPr>
        <p:spPr>
          <a:xfrm>
            <a:off x="1626235" y="5706745"/>
            <a:ext cx="6350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C00000"/>
                </a:solidFill>
                <a:latin typeface="微软雅黑" panose="020B0503020204020204" charset="-122"/>
                <a:cs typeface="微软雅黑" panose="020B0503020204020204" charset="-122"/>
              </a:rPr>
              <a:t>返回通道</a:t>
            </a:r>
            <a:endParaRPr sz="1200">
              <a:latin typeface="微软雅黑" panose="020B0503020204020204" charset="-122"/>
              <a:cs typeface="微软雅黑" panose="020B0503020204020204" charset="-122"/>
            </a:endParaRPr>
          </a:p>
        </p:txBody>
      </p:sp>
      <p:sp>
        <p:nvSpPr>
          <p:cNvPr id="35" name="object 35"/>
          <p:cNvSpPr txBox="1"/>
          <p:nvPr/>
        </p:nvSpPr>
        <p:spPr>
          <a:xfrm>
            <a:off x="2581910" y="5581015"/>
            <a:ext cx="1393825" cy="240029"/>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C00000"/>
                </a:solidFill>
                <a:latin typeface="微软雅黑" panose="020B0503020204020204" charset="-122"/>
                <a:cs typeface="微软雅黑" panose="020B0503020204020204" charset="-122"/>
              </a:rPr>
              <a:t>IC</a:t>
            </a:r>
            <a:r>
              <a:rPr sz="1400" b="1" spc="-10" dirty="0">
                <a:solidFill>
                  <a:srgbClr val="C00000"/>
                </a:solidFill>
                <a:latin typeface="微软雅黑" panose="020B0503020204020204" charset="-122"/>
                <a:cs typeface="微软雅黑" panose="020B0503020204020204" charset="-122"/>
              </a:rPr>
              <a:t>B</a:t>
            </a:r>
            <a:r>
              <a:rPr sz="1400" b="1" dirty="0">
                <a:solidFill>
                  <a:srgbClr val="C00000"/>
                </a:solidFill>
                <a:latin typeface="微软雅黑" panose="020B0503020204020204" charset="-122"/>
                <a:cs typeface="微软雅黑" panose="020B0503020204020204" charset="-122"/>
              </a:rPr>
              <a:t>总线通道结</a:t>
            </a:r>
            <a:r>
              <a:rPr sz="1400" b="1" spc="5" dirty="0">
                <a:solidFill>
                  <a:srgbClr val="C00000"/>
                </a:solidFill>
                <a:latin typeface="微软雅黑" panose="020B0503020204020204" charset="-122"/>
                <a:cs typeface="微软雅黑" panose="020B0503020204020204" charset="-122"/>
              </a:rPr>
              <a:t>构</a:t>
            </a:r>
            <a:endParaRPr sz="1400">
              <a:latin typeface="微软雅黑" panose="020B0503020204020204" charset="-122"/>
              <a:cs typeface="微软雅黑" panose="020B0503020204020204" charset="-122"/>
            </a:endParaRPr>
          </a:p>
        </p:txBody>
      </p:sp>
      <p:graphicFrame>
        <p:nvGraphicFramePr>
          <p:cNvPr id="36" name="object 36"/>
          <p:cNvGraphicFramePr>
            <a:graphicFrameLocks noGrp="1"/>
          </p:cNvGraphicFramePr>
          <p:nvPr/>
        </p:nvGraphicFramePr>
        <p:xfrm>
          <a:off x="6546850" y="3978275"/>
          <a:ext cx="4834890" cy="2390140"/>
        </p:xfrm>
        <a:graphic>
          <a:graphicData uri="http://schemas.openxmlformats.org/drawingml/2006/table">
            <a:tbl>
              <a:tblPr firstRow="1" bandRow="1">
                <a:tableStyleId>{2D5ABB26-0587-4C30-8999-92F81FD0307C}</a:tableStyleId>
              </a:tblPr>
              <a:tblGrid>
                <a:gridCol w="264160"/>
                <a:gridCol w="497840"/>
                <a:gridCol w="526415"/>
                <a:gridCol w="554354"/>
                <a:gridCol w="995044"/>
                <a:gridCol w="1978025"/>
              </a:tblGrid>
              <a:tr h="243839">
                <a:tc>
                  <a:txBody>
                    <a:bodyPr/>
                    <a:lstStyle/>
                    <a:p>
                      <a:pPr>
                        <a:lnSpc>
                          <a:spcPct val="100000"/>
                        </a:lnSpc>
                      </a:pPr>
                      <a:endParaRPr sz="9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00000"/>
                    </a:solidFill>
                  </a:tcPr>
                </a:tc>
                <a:tc>
                  <a:txBody>
                    <a:bodyPr/>
                    <a:lstStyle/>
                    <a:p>
                      <a:pPr marL="121920">
                        <a:lnSpc>
                          <a:spcPct val="100000"/>
                        </a:lnSpc>
                        <a:spcBef>
                          <a:spcPts val="340"/>
                        </a:spcBef>
                      </a:pPr>
                      <a:r>
                        <a:rPr sz="1000" b="1" dirty="0">
                          <a:solidFill>
                            <a:srgbClr val="FFFFFF"/>
                          </a:solidFill>
                          <a:latin typeface="微软雅黑" panose="020B0503020204020204" charset="-122"/>
                          <a:cs typeface="微软雅黑" panose="020B0503020204020204" charset="-122"/>
                        </a:rPr>
                        <a:t>通</a:t>
                      </a:r>
                      <a:r>
                        <a:rPr sz="1000" b="1" spc="-5" dirty="0">
                          <a:solidFill>
                            <a:srgbClr val="FFFFFF"/>
                          </a:solidFill>
                          <a:latin typeface="微软雅黑" panose="020B0503020204020204" charset="-122"/>
                          <a:cs typeface="微软雅黑" panose="020B0503020204020204" charset="-122"/>
                        </a:rPr>
                        <a:t>道</a:t>
                      </a:r>
                      <a:endParaRPr sz="10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00000"/>
                    </a:solidFill>
                  </a:tcPr>
                </a:tc>
                <a:tc>
                  <a:txBody>
                    <a:bodyPr/>
                    <a:lstStyle/>
                    <a:p>
                      <a:pPr algn="ctr">
                        <a:lnSpc>
                          <a:spcPct val="100000"/>
                        </a:lnSpc>
                        <a:spcBef>
                          <a:spcPts val="340"/>
                        </a:spcBef>
                      </a:pPr>
                      <a:r>
                        <a:rPr sz="1000" b="1" dirty="0">
                          <a:solidFill>
                            <a:srgbClr val="FFFFFF"/>
                          </a:solidFill>
                          <a:latin typeface="微软雅黑" panose="020B0503020204020204" charset="-122"/>
                          <a:cs typeface="微软雅黑" panose="020B0503020204020204" charset="-122"/>
                        </a:rPr>
                        <a:t>方</a:t>
                      </a:r>
                      <a:r>
                        <a:rPr sz="1000" b="1" spc="-5" dirty="0">
                          <a:solidFill>
                            <a:srgbClr val="FFFFFF"/>
                          </a:solidFill>
                          <a:latin typeface="微软雅黑" panose="020B0503020204020204" charset="-122"/>
                          <a:cs typeface="微软雅黑" panose="020B0503020204020204" charset="-122"/>
                        </a:rPr>
                        <a:t>向</a:t>
                      </a:r>
                      <a:endParaRPr sz="10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00000"/>
                    </a:solidFill>
                  </a:tcPr>
                </a:tc>
                <a:tc>
                  <a:txBody>
                    <a:bodyPr/>
                    <a:lstStyle/>
                    <a:p>
                      <a:pPr algn="ctr">
                        <a:lnSpc>
                          <a:spcPct val="100000"/>
                        </a:lnSpc>
                        <a:spcBef>
                          <a:spcPts val="340"/>
                        </a:spcBef>
                      </a:pPr>
                      <a:r>
                        <a:rPr sz="1000" b="1" dirty="0">
                          <a:solidFill>
                            <a:srgbClr val="FFFFFF"/>
                          </a:solidFill>
                          <a:latin typeface="微软雅黑" panose="020B0503020204020204" charset="-122"/>
                          <a:cs typeface="微软雅黑" panose="020B0503020204020204" charset="-122"/>
                        </a:rPr>
                        <a:t>宽</a:t>
                      </a:r>
                      <a:r>
                        <a:rPr sz="1000" b="1" spc="-5" dirty="0">
                          <a:solidFill>
                            <a:srgbClr val="FFFFFF"/>
                          </a:solidFill>
                          <a:latin typeface="微软雅黑" panose="020B0503020204020204" charset="-122"/>
                          <a:cs typeface="微软雅黑" panose="020B0503020204020204" charset="-122"/>
                        </a:rPr>
                        <a:t>度</a:t>
                      </a:r>
                      <a:endParaRPr sz="10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00000"/>
                    </a:solidFill>
                  </a:tcPr>
                </a:tc>
                <a:tc>
                  <a:txBody>
                    <a:bodyPr/>
                    <a:lstStyle/>
                    <a:p>
                      <a:pPr marL="306070">
                        <a:lnSpc>
                          <a:spcPct val="100000"/>
                        </a:lnSpc>
                        <a:spcBef>
                          <a:spcPts val="340"/>
                        </a:spcBef>
                      </a:pPr>
                      <a:r>
                        <a:rPr sz="1000" b="1" dirty="0">
                          <a:solidFill>
                            <a:srgbClr val="FFFFFF"/>
                          </a:solidFill>
                          <a:latin typeface="微软雅黑" panose="020B0503020204020204" charset="-122"/>
                          <a:cs typeface="微软雅黑" panose="020B0503020204020204" charset="-122"/>
                        </a:rPr>
                        <a:t>信号</a:t>
                      </a:r>
                      <a:r>
                        <a:rPr sz="1000" b="1" spc="-5" dirty="0">
                          <a:solidFill>
                            <a:srgbClr val="FFFFFF"/>
                          </a:solidFill>
                          <a:latin typeface="微软雅黑" panose="020B0503020204020204" charset="-122"/>
                          <a:cs typeface="微软雅黑" panose="020B0503020204020204" charset="-122"/>
                        </a:rPr>
                        <a:t>名</a:t>
                      </a:r>
                      <a:endParaRPr sz="10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00000"/>
                    </a:solidFill>
                  </a:tcPr>
                </a:tc>
                <a:tc>
                  <a:txBody>
                    <a:bodyPr/>
                    <a:lstStyle/>
                    <a:p>
                      <a:pPr algn="ctr">
                        <a:lnSpc>
                          <a:spcPct val="100000"/>
                        </a:lnSpc>
                        <a:spcBef>
                          <a:spcPts val="340"/>
                        </a:spcBef>
                      </a:pPr>
                      <a:r>
                        <a:rPr sz="1000" b="1" dirty="0">
                          <a:solidFill>
                            <a:srgbClr val="FFFFFF"/>
                          </a:solidFill>
                          <a:latin typeface="微软雅黑" panose="020B0503020204020204" charset="-122"/>
                          <a:cs typeface="微软雅黑" panose="020B0503020204020204" charset="-122"/>
                        </a:rPr>
                        <a:t>介</a:t>
                      </a:r>
                      <a:r>
                        <a:rPr sz="1000" b="1" spc="-5" dirty="0">
                          <a:solidFill>
                            <a:srgbClr val="FFFFFF"/>
                          </a:solidFill>
                          <a:latin typeface="微软雅黑" panose="020B0503020204020204" charset="-122"/>
                          <a:cs typeface="微软雅黑" panose="020B0503020204020204" charset="-122"/>
                        </a:rPr>
                        <a:t>绍</a:t>
                      </a:r>
                      <a:endParaRPr sz="10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00000"/>
                    </a:solidFill>
                  </a:tcPr>
                </a:tc>
              </a:tr>
              <a:tr h="213360">
                <a:tc rowSpan="10">
                  <a:txBody>
                    <a:bodyPr/>
                    <a:lstStyle/>
                    <a:p>
                      <a:pPr>
                        <a:lnSpc>
                          <a:spcPct val="100000"/>
                        </a:lnSpc>
                      </a:pPr>
                      <a:endParaRPr sz="1200">
                        <a:latin typeface="Times New Roman" panose="02020603050405020304"/>
                        <a:cs typeface="Times New Roman" panose="02020603050405020304"/>
                      </a:endParaRPr>
                    </a:p>
                    <a:p>
                      <a:pPr>
                        <a:lnSpc>
                          <a:spcPct val="100000"/>
                        </a:lnSpc>
                      </a:pPr>
                      <a:endParaRPr sz="1200">
                        <a:latin typeface="Times New Roman" panose="02020603050405020304"/>
                        <a:cs typeface="Times New Roman" panose="02020603050405020304"/>
                      </a:endParaRPr>
                    </a:p>
                    <a:p>
                      <a:pPr>
                        <a:lnSpc>
                          <a:spcPct val="100000"/>
                        </a:lnSpc>
                      </a:pPr>
                      <a:endParaRPr sz="1600">
                        <a:latin typeface="Times New Roman" panose="02020603050405020304"/>
                        <a:cs typeface="Times New Roman" panose="02020603050405020304"/>
                      </a:endParaRPr>
                    </a:p>
                    <a:p>
                      <a:pPr marL="92075" marR="85090" indent="20320" algn="just">
                        <a:lnSpc>
                          <a:spcPct val="100000"/>
                        </a:lnSpc>
                      </a:pPr>
                      <a:r>
                        <a:rPr sz="900" b="1" dirty="0">
                          <a:latin typeface="微软雅黑" panose="020B0503020204020204" charset="-122"/>
                          <a:cs typeface="微软雅黑" panose="020B0503020204020204" charset="-122"/>
                        </a:rPr>
                        <a:t>I  C  B</a:t>
                      </a:r>
                      <a:endParaRPr sz="900">
                        <a:latin typeface="微软雅黑" panose="020B0503020204020204" charset="-122"/>
                        <a:cs typeface="微软雅黑" panose="020B0503020204020204" charset="-122"/>
                      </a:endParaRPr>
                    </a:p>
                    <a:p>
                      <a:pPr marL="74295" marR="67945" algn="just">
                        <a:lnSpc>
                          <a:spcPct val="100000"/>
                        </a:lnSpc>
                      </a:pPr>
                      <a:r>
                        <a:rPr sz="900" b="1" dirty="0">
                          <a:latin typeface="微软雅黑" panose="020B0503020204020204" charset="-122"/>
                          <a:cs typeface="微软雅黑" panose="020B0503020204020204" charset="-122"/>
                        </a:rPr>
                        <a:t>总 线 信 号</a:t>
                      </a:r>
                      <a:endParaRPr sz="900">
                        <a:latin typeface="微软雅黑" panose="020B0503020204020204" charset="-122"/>
                        <a:cs typeface="微软雅黑" panose="020B0503020204020204" charset="-122"/>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tc rowSpan="6">
                  <a:txBody>
                    <a:bodyPr/>
                    <a:lstStyle/>
                    <a:p>
                      <a:pPr>
                        <a:lnSpc>
                          <a:spcPct val="100000"/>
                        </a:lnSpc>
                      </a:pPr>
                      <a:endParaRPr sz="1200">
                        <a:latin typeface="Times New Roman" panose="02020603050405020304"/>
                        <a:cs typeface="Times New Roman" panose="02020603050405020304"/>
                      </a:endParaRPr>
                    </a:p>
                    <a:p>
                      <a:pPr>
                        <a:lnSpc>
                          <a:spcPct val="100000"/>
                        </a:lnSpc>
                      </a:pPr>
                      <a:endParaRPr sz="1200">
                        <a:latin typeface="Times New Roman" panose="02020603050405020304"/>
                        <a:cs typeface="Times New Roman" panose="02020603050405020304"/>
                      </a:endParaRPr>
                    </a:p>
                    <a:p>
                      <a:pPr>
                        <a:lnSpc>
                          <a:spcPct val="100000"/>
                        </a:lnSpc>
                        <a:spcBef>
                          <a:spcPts val="30"/>
                        </a:spcBef>
                      </a:pPr>
                      <a:endParaRPr sz="1000">
                        <a:latin typeface="Times New Roman" panose="02020603050405020304"/>
                        <a:cs typeface="Times New Roman" panose="02020603050405020304"/>
                      </a:endParaRPr>
                    </a:p>
                    <a:p>
                      <a:pPr marL="134620" marR="127635">
                        <a:lnSpc>
                          <a:spcPct val="100000"/>
                        </a:lnSpc>
                      </a:pPr>
                      <a:r>
                        <a:rPr sz="900" b="1" dirty="0">
                          <a:latin typeface="微软雅黑" panose="020B0503020204020204" charset="-122"/>
                          <a:cs typeface="微软雅黑" panose="020B0503020204020204" charset="-122"/>
                        </a:rPr>
                        <a:t>命令 通道</a:t>
                      </a:r>
                      <a:endParaRPr sz="900">
                        <a:latin typeface="微软雅黑" panose="020B0503020204020204" charset="-122"/>
                        <a:cs typeface="微软雅黑" panose="020B0503020204020204" charset="-122"/>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tc>
                  <a:txBody>
                    <a:bodyPr/>
                    <a:lstStyle/>
                    <a:p>
                      <a:pPr algn="ctr">
                        <a:lnSpc>
                          <a:spcPct val="100000"/>
                        </a:lnSpc>
                        <a:spcBef>
                          <a:spcPts val="340"/>
                        </a:spcBef>
                      </a:pPr>
                      <a:r>
                        <a:rPr sz="800" dirty="0">
                          <a:latin typeface="微软雅黑" panose="020B0503020204020204" charset="-122"/>
                          <a:cs typeface="微软雅黑" panose="020B0503020204020204" charset="-122"/>
                        </a:rPr>
                        <a:t>输</a:t>
                      </a:r>
                      <a:r>
                        <a:rPr sz="800" spc="5" dirty="0">
                          <a:latin typeface="微软雅黑" panose="020B0503020204020204" charset="-122"/>
                          <a:cs typeface="微软雅黑" panose="020B0503020204020204" charset="-122"/>
                        </a:rPr>
                        <a:t>出</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9D9D9"/>
                    </a:solidFill>
                  </a:tcPr>
                </a:tc>
                <a:tc>
                  <a:txBody>
                    <a:bodyPr/>
                    <a:lstStyle/>
                    <a:p>
                      <a:pPr algn="ctr">
                        <a:lnSpc>
                          <a:spcPct val="100000"/>
                        </a:lnSpc>
                        <a:spcBef>
                          <a:spcPts val="340"/>
                        </a:spcBef>
                      </a:pPr>
                      <a:r>
                        <a:rPr sz="800" dirty="0">
                          <a:latin typeface="微软雅黑" panose="020B0503020204020204" charset="-122"/>
                          <a:cs typeface="微软雅黑" panose="020B0503020204020204" charset="-122"/>
                        </a:rPr>
                        <a:t>1</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9D9D9"/>
                    </a:solidFill>
                  </a:tcPr>
                </a:tc>
                <a:tc>
                  <a:txBody>
                    <a:bodyPr/>
                    <a:lstStyle/>
                    <a:p>
                      <a:pPr marR="152400" algn="r">
                        <a:lnSpc>
                          <a:spcPct val="100000"/>
                        </a:lnSpc>
                        <a:spcBef>
                          <a:spcPts val="340"/>
                        </a:spcBef>
                      </a:pPr>
                      <a:r>
                        <a:rPr sz="800" dirty="0">
                          <a:latin typeface="微软雅黑" panose="020B0503020204020204" charset="-122"/>
                          <a:cs typeface="微软雅黑" panose="020B0503020204020204" charset="-122"/>
                        </a:rPr>
                        <a:t>i</a:t>
                      </a:r>
                      <a:r>
                        <a:rPr sz="800" spc="-5" dirty="0">
                          <a:latin typeface="微软雅黑" panose="020B0503020204020204" charset="-122"/>
                          <a:cs typeface="微软雅黑" panose="020B0503020204020204" charset="-122"/>
                        </a:rPr>
                        <a:t>cb_cmd_va</a:t>
                      </a:r>
                      <a:r>
                        <a:rPr sz="800" dirty="0">
                          <a:latin typeface="微软雅黑" panose="020B0503020204020204" charset="-122"/>
                          <a:cs typeface="微软雅黑" panose="020B0503020204020204" charset="-122"/>
                        </a:rPr>
                        <a:t>lid</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9D9D9"/>
                    </a:solidFill>
                  </a:tcPr>
                </a:tc>
                <a:tc>
                  <a:txBody>
                    <a:bodyPr/>
                    <a:lstStyle/>
                    <a:p>
                      <a:pPr marL="90805">
                        <a:lnSpc>
                          <a:spcPct val="100000"/>
                        </a:lnSpc>
                        <a:spcBef>
                          <a:spcPts val="340"/>
                        </a:spcBef>
                      </a:pPr>
                      <a:r>
                        <a:rPr sz="800" dirty="0">
                          <a:latin typeface="微软雅黑" panose="020B0503020204020204" charset="-122"/>
                          <a:cs typeface="微软雅黑" panose="020B0503020204020204" charset="-122"/>
                        </a:rPr>
                        <a:t>主设备向从设备发送读写请求信</a:t>
                      </a:r>
                      <a:r>
                        <a:rPr sz="800" spc="5" dirty="0">
                          <a:latin typeface="微软雅黑" panose="020B0503020204020204" charset="-122"/>
                          <a:cs typeface="微软雅黑" panose="020B0503020204020204" charset="-122"/>
                        </a:rPr>
                        <a:t>号</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9D9D9"/>
                    </a:solidFill>
                  </a:tcPr>
                </a:tc>
              </a:tr>
              <a:tr h="213360">
                <a:tc vMerge="1">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tc vMerge="1">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tc>
                  <a:txBody>
                    <a:bodyPr/>
                    <a:lstStyle/>
                    <a:p>
                      <a:pPr algn="ctr">
                        <a:lnSpc>
                          <a:spcPct val="100000"/>
                        </a:lnSpc>
                        <a:spcBef>
                          <a:spcPts val="340"/>
                        </a:spcBef>
                      </a:pPr>
                      <a:r>
                        <a:rPr sz="800" dirty="0">
                          <a:latin typeface="微软雅黑" panose="020B0503020204020204" charset="-122"/>
                          <a:cs typeface="微软雅黑" panose="020B0503020204020204" charset="-122"/>
                        </a:rPr>
                        <a:t>输</a:t>
                      </a:r>
                      <a:r>
                        <a:rPr sz="800" spc="5" dirty="0">
                          <a:latin typeface="微软雅黑" panose="020B0503020204020204" charset="-122"/>
                          <a:cs typeface="微软雅黑" panose="020B0503020204020204" charset="-122"/>
                        </a:rPr>
                        <a:t>入</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algn="ctr">
                        <a:lnSpc>
                          <a:spcPct val="100000"/>
                        </a:lnSpc>
                        <a:spcBef>
                          <a:spcPts val="340"/>
                        </a:spcBef>
                      </a:pPr>
                      <a:r>
                        <a:rPr sz="800" dirty="0">
                          <a:latin typeface="微软雅黑" panose="020B0503020204020204" charset="-122"/>
                          <a:cs typeface="微软雅黑" panose="020B0503020204020204" charset="-122"/>
                        </a:rPr>
                        <a:t>1</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R="131445" algn="r">
                        <a:lnSpc>
                          <a:spcPct val="100000"/>
                        </a:lnSpc>
                        <a:spcBef>
                          <a:spcPts val="340"/>
                        </a:spcBef>
                      </a:pPr>
                      <a:r>
                        <a:rPr sz="800" dirty="0">
                          <a:latin typeface="微软雅黑" panose="020B0503020204020204" charset="-122"/>
                          <a:cs typeface="微软雅黑" panose="020B0503020204020204" charset="-122"/>
                        </a:rPr>
                        <a:t>i</a:t>
                      </a:r>
                      <a:r>
                        <a:rPr sz="800" spc="-5" dirty="0">
                          <a:latin typeface="微软雅黑" panose="020B0503020204020204" charset="-122"/>
                          <a:cs typeface="微软雅黑" panose="020B0503020204020204" charset="-122"/>
                        </a:rPr>
                        <a:t>cb_cmd_read</a:t>
                      </a:r>
                      <a:r>
                        <a:rPr sz="800" dirty="0">
                          <a:latin typeface="微软雅黑" panose="020B0503020204020204" charset="-122"/>
                          <a:cs typeface="微软雅黑" panose="020B0503020204020204" charset="-122"/>
                        </a:rPr>
                        <a:t>y</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L="90805">
                        <a:lnSpc>
                          <a:spcPct val="100000"/>
                        </a:lnSpc>
                        <a:spcBef>
                          <a:spcPts val="340"/>
                        </a:spcBef>
                      </a:pPr>
                      <a:r>
                        <a:rPr sz="800" dirty="0">
                          <a:latin typeface="微软雅黑" panose="020B0503020204020204" charset="-122"/>
                          <a:cs typeface="微软雅黑" panose="020B0503020204020204" charset="-122"/>
                        </a:rPr>
                        <a:t>从设备向主设备返回读写接受信</a:t>
                      </a:r>
                      <a:r>
                        <a:rPr sz="800" spc="5" dirty="0">
                          <a:latin typeface="微软雅黑" panose="020B0503020204020204" charset="-122"/>
                          <a:cs typeface="微软雅黑" panose="020B0503020204020204" charset="-122"/>
                        </a:rPr>
                        <a:t>号</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r>
              <a:tr h="213360">
                <a:tc vMerge="1">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tc vMerge="1">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tc>
                  <a:txBody>
                    <a:bodyPr/>
                    <a:lstStyle/>
                    <a:p>
                      <a:pPr algn="ctr">
                        <a:lnSpc>
                          <a:spcPct val="100000"/>
                        </a:lnSpc>
                        <a:spcBef>
                          <a:spcPts val="340"/>
                        </a:spcBef>
                      </a:pPr>
                      <a:r>
                        <a:rPr sz="800" dirty="0">
                          <a:latin typeface="微软雅黑" panose="020B0503020204020204" charset="-122"/>
                          <a:cs typeface="微软雅黑" panose="020B0503020204020204" charset="-122"/>
                        </a:rPr>
                        <a:t>输</a:t>
                      </a:r>
                      <a:r>
                        <a:rPr sz="800" spc="5" dirty="0">
                          <a:latin typeface="微软雅黑" panose="020B0503020204020204" charset="-122"/>
                          <a:cs typeface="微软雅黑" panose="020B0503020204020204" charset="-122"/>
                        </a:rPr>
                        <a:t>出</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algn="ctr">
                        <a:lnSpc>
                          <a:spcPct val="100000"/>
                        </a:lnSpc>
                        <a:spcBef>
                          <a:spcPts val="340"/>
                        </a:spcBef>
                      </a:pPr>
                      <a:r>
                        <a:rPr sz="800" dirty="0">
                          <a:latin typeface="微软雅黑" panose="020B0503020204020204" charset="-122"/>
                          <a:cs typeface="微软雅黑" panose="020B0503020204020204" charset="-122"/>
                        </a:rPr>
                        <a:t>DW</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marR="154940" algn="r">
                        <a:lnSpc>
                          <a:spcPct val="100000"/>
                        </a:lnSpc>
                        <a:spcBef>
                          <a:spcPts val="340"/>
                        </a:spcBef>
                      </a:pPr>
                      <a:r>
                        <a:rPr sz="800" dirty="0">
                          <a:latin typeface="微软雅黑" panose="020B0503020204020204" charset="-122"/>
                          <a:cs typeface="微软雅黑" panose="020B0503020204020204" charset="-122"/>
                        </a:rPr>
                        <a:t>i</a:t>
                      </a:r>
                      <a:r>
                        <a:rPr sz="800" spc="-5" dirty="0">
                          <a:latin typeface="微软雅黑" panose="020B0503020204020204" charset="-122"/>
                          <a:cs typeface="微软雅黑" panose="020B0503020204020204" charset="-122"/>
                        </a:rPr>
                        <a:t>cb_cmd_add</a:t>
                      </a:r>
                      <a:r>
                        <a:rPr sz="800" dirty="0">
                          <a:latin typeface="微软雅黑" panose="020B0503020204020204" charset="-122"/>
                          <a:cs typeface="微软雅黑" panose="020B0503020204020204" charset="-122"/>
                        </a:rPr>
                        <a:t>r</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marL="90805">
                        <a:lnSpc>
                          <a:spcPct val="100000"/>
                        </a:lnSpc>
                        <a:spcBef>
                          <a:spcPts val="340"/>
                        </a:spcBef>
                      </a:pPr>
                      <a:r>
                        <a:rPr sz="800" dirty="0">
                          <a:latin typeface="微软雅黑" panose="020B0503020204020204" charset="-122"/>
                          <a:cs typeface="微软雅黑" panose="020B0503020204020204" charset="-122"/>
                        </a:rPr>
                        <a:t>读写地</a:t>
                      </a:r>
                      <a:r>
                        <a:rPr sz="800" spc="5" dirty="0">
                          <a:latin typeface="微软雅黑" panose="020B0503020204020204" charset="-122"/>
                          <a:cs typeface="微软雅黑" panose="020B0503020204020204" charset="-122"/>
                        </a:rPr>
                        <a:t>址</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r>
              <a:tr h="213359">
                <a:tc vMerge="1">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tc vMerge="1">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tc>
                  <a:txBody>
                    <a:bodyPr/>
                    <a:lstStyle/>
                    <a:p>
                      <a:pPr algn="ctr">
                        <a:lnSpc>
                          <a:spcPct val="100000"/>
                        </a:lnSpc>
                        <a:spcBef>
                          <a:spcPts val="340"/>
                        </a:spcBef>
                      </a:pPr>
                      <a:r>
                        <a:rPr sz="800" dirty="0">
                          <a:latin typeface="微软雅黑" panose="020B0503020204020204" charset="-122"/>
                          <a:cs typeface="微软雅黑" panose="020B0503020204020204" charset="-122"/>
                        </a:rPr>
                        <a:t>输</a:t>
                      </a:r>
                      <a:r>
                        <a:rPr sz="800" spc="5" dirty="0">
                          <a:latin typeface="微软雅黑" panose="020B0503020204020204" charset="-122"/>
                          <a:cs typeface="微软雅黑" panose="020B0503020204020204" charset="-122"/>
                        </a:rPr>
                        <a:t>出</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algn="ctr">
                        <a:lnSpc>
                          <a:spcPct val="100000"/>
                        </a:lnSpc>
                        <a:spcBef>
                          <a:spcPts val="340"/>
                        </a:spcBef>
                      </a:pPr>
                      <a:r>
                        <a:rPr sz="800" dirty="0">
                          <a:latin typeface="微软雅黑" panose="020B0503020204020204" charset="-122"/>
                          <a:cs typeface="微软雅黑" panose="020B0503020204020204" charset="-122"/>
                        </a:rPr>
                        <a:t>1</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R="158115" algn="r">
                        <a:lnSpc>
                          <a:spcPct val="100000"/>
                        </a:lnSpc>
                        <a:spcBef>
                          <a:spcPts val="340"/>
                        </a:spcBef>
                      </a:pPr>
                      <a:r>
                        <a:rPr sz="800" dirty="0">
                          <a:latin typeface="微软雅黑" panose="020B0503020204020204" charset="-122"/>
                          <a:cs typeface="微软雅黑" panose="020B0503020204020204" charset="-122"/>
                        </a:rPr>
                        <a:t>i</a:t>
                      </a:r>
                      <a:r>
                        <a:rPr sz="800" spc="-5" dirty="0">
                          <a:latin typeface="微软雅黑" panose="020B0503020204020204" charset="-122"/>
                          <a:cs typeface="微软雅黑" panose="020B0503020204020204" charset="-122"/>
                        </a:rPr>
                        <a:t>cb_cmd_rea</a:t>
                      </a:r>
                      <a:r>
                        <a:rPr sz="800" dirty="0">
                          <a:latin typeface="微软雅黑" panose="020B0503020204020204" charset="-122"/>
                          <a:cs typeface="微软雅黑" panose="020B0503020204020204" charset="-122"/>
                        </a:rPr>
                        <a:t>d</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L="90805">
                        <a:lnSpc>
                          <a:spcPct val="100000"/>
                        </a:lnSpc>
                        <a:spcBef>
                          <a:spcPts val="340"/>
                        </a:spcBef>
                      </a:pPr>
                      <a:r>
                        <a:rPr sz="800" dirty="0">
                          <a:latin typeface="微软雅黑" panose="020B0503020204020204" charset="-122"/>
                          <a:cs typeface="微软雅黑" panose="020B0503020204020204" charset="-122"/>
                        </a:rPr>
                        <a:t>读或是写操作的指</a:t>
                      </a:r>
                      <a:r>
                        <a:rPr sz="800" spc="5" dirty="0">
                          <a:latin typeface="微软雅黑" panose="020B0503020204020204" charset="-122"/>
                          <a:cs typeface="微软雅黑" panose="020B0503020204020204" charset="-122"/>
                        </a:rPr>
                        <a:t>示</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r>
              <a:tr h="213360">
                <a:tc vMerge="1">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tc vMerge="1">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tc>
                  <a:txBody>
                    <a:bodyPr/>
                    <a:lstStyle/>
                    <a:p>
                      <a:pPr algn="ctr">
                        <a:lnSpc>
                          <a:spcPct val="100000"/>
                        </a:lnSpc>
                        <a:spcBef>
                          <a:spcPts val="340"/>
                        </a:spcBef>
                      </a:pPr>
                      <a:r>
                        <a:rPr sz="800" dirty="0">
                          <a:latin typeface="微软雅黑" panose="020B0503020204020204" charset="-122"/>
                          <a:cs typeface="微软雅黑" panose="020B0503020204020204" charset="-122"/>
                        </a:rPr>
                        <a:t>输</a:t>
                      </a:r>
                      <a:r>
                        <a:rPr sz="800" spc="5" dirty="0">
                          <a:latin typeface="微软雅黑" panose="020B0503020204020204" charset="-122"/>
                          <a:cs typeface="微软雅黑" panose="020B0503020204020204" charset="-122"/>
                        </a:rPr>
                        <a:t>出</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algn="ctr">
                        <a:lnSpc>
                          <a:spcPct val="100000"/>
                        </a:lnSpc>
                        <a:spcBef>
                          <a:spcPts val="340"/>
                        </a:spcBef>
                      </a:pPr>
                      <a:r>
                        <a:rPr sz="800" dirty="0">
                          <a:latin typeface="微软雅黑" panose="020B0503020204020204" charset="-122"/>
                          <a:cs typeface="微软雅黑" panose="020B0503020204020204" charset="-122"/>
                        </a:rPr>
                        <a:t>DW</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marR="119380" algn="r">
                        <a:lnSpc>
                          <a:spcPct val="100000"/>
                        </a:lnSpc>
                        <a:spcBef>
                          <a:spcPts val="340"/>
                        </a:spcBef>
                      </a:pPr>
                      <a:r>
                        <a:rPr sz="800" dirty="0">
                          <a:latin typeface="微软雅黑" panose="020B0503020204020204" charset="-122"/>
                          <a:cs typeface="微软雅黑" panose="020B0503020204020204" charset="-122"/>
                        </a:rPr>
                        <a:t>i</a:t>
                      </a:r>
                      <a:r>
                        <a:rPr sz="800" spc="-5" dirty="0">
                          <a:latin typeface="微软雅黑" panose="020B0503020204020204" charset="-122"/>
                          <a:cs typeface="微软雅黑" panose="020B0503020204020204" charset="-122"/>
                        </a:rPr>
                        <a:t>cb_cmd_</a:t>
                      </a:r>
                      <a:r>
                        <a:rPr sz="800" spc="-10" dirty="0">
                          <a:latin typeface="微软雅黑" panose="020B0503020204020204" charset="-122"/>
                          <a:cs typeface="微软雅黑" panose="020B0503020204020204" charset="-122"/>
                        </a:rPr>
                        <a:t>w</a:t>
                      </a:r>
                      <a:r>
                        <a:rPr sz="800" spc="-5" dirty="0">
                          <a:latin typeface="微软雅黑" panose="020B0503020204020204" charset="-122"/>
                          <a:cs typeface="微软雅黑" panose="020B0503020204020204" charset="-122"/>
                        </a:rPr>
                        <a:t>da</a:t>
                      </a:r>
                      <a:r>
                        <a:rPr sz="800" dirty="0">
                          <a:latin typeface="微软雅黑" panose="020B0503020204020204" charset="-122"/>
                          <a:cs typeface="微软雅黑" panose="020B0503020204020204" charset="-122"/>
                        </a:rPr>
                        <a:t>ta</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marL="90805">
                        <a:lnSpc>
                          <a:spcPct val="100000"/>
                        </a:lnSpc>
                        <a:spcBef>
                          <a:spcPts val="340"/>
                        </a:spcBef>
                      </a:pPr>
                      <a:r>
                        <a:rPr sz="800" dirty="0">
                          <a:latin typeface="微软雅黑" panose="020B0503020204020204" charset="-122"/>
                          <a:cs typeface="微软雅黑" panose="020B0503020204020204" charset="-122"/>
                        </a:rPr>
                        <a:t>写操作的数</a:t>
                      </a:r>
                      <a:r>
                        <a:rPr sz="800" spc="5" dirty="0">
                          <a:latin typeface="微软雅黑" panose="020B0503020204020204" charset="-122"/>
                          <a:cs typeface="微软雅黑" panose="020B0503020204020204" charset="-122"/>
                        </a:rPr>
                        <a:t>据</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r>
              <a:tr h="213360">
                <a:tc vMerge="1">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tc vMerge="1">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tc>
                  <a:txBody>
                    <a:bodyPr/>
                    <a:lstStyle/>
                    <a:p>
                      <a:pPr algn="ctr">
                        <a:lnSpc>
                          <a:spcPct val="100000"/>
                        </a:lnSpc>
                        <a:spcBef>
                          <a:spcPts val="340"/>
                        </a:spcBef>
                      </a:pPr>
                      <a:r>
                        <a:rPr sz="800" dirty="0">
                          <a:latin typeface="微软雅黑" panose="020B0503020204020204" charset="-122"/>
                          <a:cs typeface="微软雅黑" panose="020B0503020204020204" charset="-122"/>
                        </a:rPr>
                        <a:t>输</a:t>
                      </a:r>
                      <a:r>
                        <a:rPr sz="800" spc="5" dirty="0">
                          <a:latin typeface="微软雅黑" panose="020B0503020204020204" charset="-122"/>
                          <a:cs typeface="微软雅黑" panose="020B0503020204020204" charset="-122"/>
                        </a:rPr>
                        <a:t>出</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algn="ctr">
                        <a:lnSpc>
                          <a:spcPct val="100000"/>
                        </a:lnSpc>
                        <a:spcBef>
                          <a:spcPts val="340"/>
                        </a:spcBef>
                      </a:pPr>
                      <a:r>
                        <a:rPr sz="800" spc="-5" dirty="0">
                          <a:latin typeface="微软雅黑" panose="020B0503020204020204" charset="-122"/>
                          <a:cs typeface="微软雅黑" panose="020B0503020204020204" charset="-122"/>
                        </a:rPr>
                        <a:t>DW/8</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R="100330" algn="r">
                        <a:lnSpc>
                          <a:spcPct val="100000"/>
                        </a:lnSpc>
                        <a:spcBef>
                          <a:spcPts val="340"/>
                        </a:spcBef>
                      </a:pPr>
                      <a:r>
                        <a:rPr sz="800" dirty="0">
                          <a:latin typeface="微软雅黑" panose="020B0503020204020204" charset="-122"/>
                          <a:cs typeface="微软雅黑" panose="020B0503020204020204" charset="-122"/>
                        </a:rPr>
                        <a:t>i</a:t>
                      </a:r>
                      <a:r>
                        <a:rPr sz="800" spc="-5" dirty="0">
                          <a:latin typeface="微软雅黑" panose="020B0503020204020204" charset="-122"/>
                          <a:cs typeface="微软雅黑" panose="020B0503020204020204" charset="-122"/>
                        </a:rPr>
                        <a:t>cb_cmd_</a:t>
                      </a:r>
                      <a:r>
                        <a:rPr sz="800" spc="-10" dirty="0">
                          <a:latin typeface="微软雅黑" panose="020B0503020204020204" charset="-122"/>
                          <a:cs typeface="微软雅黑" panose="020B0503020204020204" charset="-122"/>
                        </a:rPr>
                        <a:t>w</a:t>
                      </a:r>
                      <a:r>
                        <a:rPr sz="800" spc="-5" dirty="0">
                          <a:latin typeface="微软雅黑" panose="020B0503020204020204" charset="-122"/>
                          <a:cs typeface="微软雅黑" panose="020B0503020204020204" charset="-122"/>
                        </a:rPr>
                        <a:t>mas</a:t>
                      </a:r>
                      <a:r>
                        <a:rPr sz="800" dirty="0">
                          <a:latin typeface="微软雅黑" panose="020B0503020204020204" charset="-122"/>
                          <a:cs typeface="微软雅黑" panose="020B0503020204020204" charset="-122"/>
                        </a:rPr>
                        <a:t>k</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L="90805">
                        <a:lnSpc>
                          <a:spcPct val="100000"/>
                        </a:lnSpc>
                        <a:spcBef>
                          <a:spcPts val="340"/>
                        </a:spcBef>
                      </a:pPr>
                      <a:r>
                        <a:rPr sz="800" dirty="0">
                          <a:latin typeface="微软雅黑" panose="020B0503020204020204" charset="-122"/>
                          <a:cs typeface="微软雅黑" panose="020B0503020204020204" charset="-122"/>
                        </a:rPr>
                        <a:t>写操作的字节掩</a:t>
                      </a:r>
                      <a:r>
                        <a:rPr sz="800" spc="5" dirty="0">
                          <a:latin typeface="微软雅黑" panose="020B0503020204020204" charset="-122"/>
                          <a:cs typeface="微软雅黑" panose="020B0503020204020204" charset="-122"/>
                        </a:rPr>
                        <a:t>码</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r>
              <a:tr h="213360">
                <a:tc vMerge="1">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tc rowSpan="4">
                  <a:txBody>
                    <a:bodyPr/>
                    <a:lstStyle/>
                    <a:p>
                      <a:pPr>
                        <a:lnSpc>
                          <a:spcPct val="100000"/>
                        </a:lnSpc>
                      </a:pPr>
                      <a:endParaRPr sz="1200">
                        <a:latin typeface="Times New Roman" panose="02020603050405020304"/>
                        <a:cs typeface="Times New Roman" panose="02020603050405020304"/>
                      </a:endParaRPr>
                    </a:p>
                    <a:p>
                      <a:pPr marL="134620" marR="127635">
                        <a:lnSpc>
                          <a:spcPct val="100000"/>
                        </a:lnSpc>
                        <a:spcBef>
                          <a:spcPts val="880"/>
                        </a:spcBef>
                      </a:pPr>
                      <a:r>
                        <a:rPr sz="900" b="1" dirty="0">
                          <a:latin typeface="微软雅黑" panose="020B0503020204020204" charset="-122"/>
                          <a:cs typeface="微软雅黑" panose="020B0503020204020204" charset="-122"/>
                        </a:rPr>
                        <a:t>反馈 通道</a:t>
                      </a:r>
                      <a:endParaRPr sz="900">
                        <a:latin typeface="微软雅黑" panose="020B0503020204020204" charset="-122"/>
                        <a:cs typeface="微软雅黑" panose="020B0503020204020204" charset="-122"/>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algn="ctr">
                        <a:lnSpc>
                          <a:spcPct val="100000"/>
                        </a:lnSpc>
                        <a:spcBef>
                          <a:spcPts val="340"/>
                        </a:spcBef>
                      </a:pPr>
                      <a:r>
                        <a:rPr sz="800" dirty="0">
                          <a:latin typeface="微软雅黑" panose="020B0503020204020204" charset="-122"/>
                          <a:cs typeface="微软雅黑" panose="020B0503020204020204" charset="-122"/>
                        </a:rPr>
                        <a:t>输</a:t>
                      </a:r>
                      <a:r>
                        <a:rPr sz="800" spc="5" dirty="0">
                          <a:latin typeface="微软雅黑" panose="020B0503020204020204" charset="-122"/>
                          <a:cs typeface="微软雅黑" panose="020B0503020204020204" charset="-122"/>
                        </a:rPr>
                        <a:t>入</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algn="ctr">
                        <a:lnSpc>
                          <a:spcPct val="100000"/>
                        </a:lnSpc>
                        <a:spcBef>
                          <a:spcPts val="340"/>
                        </a:spcBef>
                      </a:pPr>
                      <a:r>
                        <a:rPr sz="800" dirty="0">
                          <a:latin typeface="微软雅黑" panose="020B0503020204020204" charset="-122"/>
                          <a:cs typeface="微软雅黑" panose="020B0503020204020204" charset="-122"/>
                        </a:rPr>
                        <a:t>1</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marL="190500">
                        <a:lnSpc>
                          <a:spcPct val="100000"/>
                        </a:lnSpc>
                        <a:spcBef>
                          <a:spcPts val="340"/>
                        </a:spcBef>
                      </a:pPr>
                      <a:r>
                        <a:rPr sz="800" spc="-5" dirty="0">
                          <a:latin typeface="微软雅黑" panose="020B0503020204020204" charset="-122"/>
                          <a:cs typeface="微软雅黑" panose="020B0503020204020204" charset="-122"/>
                        </a:rPr>
                        <a:t>icb_rsp_valid</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marL="90805">
                        <a:lnSpc>
                          <a:spcPct val="100000"/>
                        </a:lnSpc>
                        <a:spcBef>
                          <a:spcPts val="340"/>
                        </a:spcBef>
                      </a:pPr>
                      <a:r>
                        <a:rPr sz="800" dirty="0">
                          <a:latin typeface="微软雅黑" panose="020B0503020204020204" charset="-122"/>
                          <a:cs typeface="微软雅黑" panose="020B0503020204020204" charset="-122"/>
                        </a:rPr>
                        <a:t>从设备向主设备发送读写反馈请求信</a:t>
                      </a:r>
                      <a:r>
                        <a:rPr sz="800" spc="5" dirty="0">
                          <a:latin typeface="微软雅黑" panose="020B0503020204020204" charset="-122"/>
                          <a:cs typeface="微软雅黑" panose="020B0503020204020204" charset="-122"/>
                        </a:rPr>
                        <a:t>号</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r>
              <a:tr h="213360">
                <a:tc vMerge="1">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tc vMerge="1">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algn="ctr">
                        <a:lnSpc>
                          <a:spcPct val="100000"/>
                        </a:lnSpc>
                        <a:spcBef>
                          <a:spcPts val="340"/>
                        </a:spcBef>
                      </a:pPr>
                      <a:r>
                        <a:rPr sz="800" dirty="0">
                          <a:latin typeface="微软雅黑" panose="020B0503020204020204" charset="-122"/>
                          <a:cs typeface="微软雅黑" panose="020B0503020204020204" charset="-122"/>
                        </a:rPr>
                        <a:t>输</a:t>
                      </a:r>
                      <a:r>
                        <a:rPr sz="800" spc="5" dirty="0">
                          <a:latin typeface="微软雅黑" panose="020B0503020204020204" charset="-122"/>
                          <a:cs typeface="微软雅黑" panose="020B0503020204020204" charset="-122"/>
                        </a:rPr>
                        <a:t>出</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algn="ctr">
                        <a:lnSpc>
                          <a:spcPct val="100000"/>
                        </a:lnSpc>
                        <a:spcBef>
                          <a:spcPts val="340"/>
                        </a:spcBef>
                      </a:pPr>
                      <a:r>
                        <a:rPr sz="800" dirty="0">
                          <a:latin typeface="微软雅黑" panose="020B0503020204020204" charset="-122"/>
                          <a:cs typeface="微软雅黑" panose="020B0503020204020204" charset="-122"/>
                        </a:rPr>
                        <a:t>1</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R="161290" algn="r">
                        <a:lnSpc>
                          <a:spcPct val="100000"/>
                        </a:lnSpc>
                        <a:spcBef>
                          <a:spcPts val="340"/>
                        </a:spcBef>
                      </a:pPr>
                      <a:r>
                        <a:rPr sz="800" dirty="0">
                          <a:latin typeface="微软雅黑" panose="020B0503020204020204" charset="-122"/>
                          <a:cs typeface="微软雅黑" panose="020B0503020204020204" charset="-122"/>
                        </a:rPr>
                        <a:t>i</a:t>
                      </a:r>
                      <a:r>
                        <a:rPr sz="800" spc="-5" dirty="0">
                          <a:latin typeface="微软雅黑" panose="020B0503020204020204" charset="-122"/>
                          <a:cs typeface="微软雅黑" panose="020B0503020204020204" charset="-122"/>
                        </a:rPr>
                        <a:t>cb_rsp_read</a:t>
                      </a:r>
                      <a:r>
                        <a:rPr sz="800" dirty="0">
                          <a:latin typeface="微软雅黑" panose="020B0503020204020204" charset="-122"/>
                          <a:cs typeface="微软雅黑" panose="020B0503020204020204" charset="-122"/>
                        </a:rPr>
                        <a:t>y</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L="90805">
                        <a:lnSpc>
                          <a:spcPct val="100000"/>
                        </a:lnSpc>
                        <a:spcBef>
                          <a:spcPts val="340"/>
                        </a:spcBef>
                      </a:pPr>
                      <a:r>
                        <a:rPr sz="800" dirty="0">
                          <a:latin typeface="微软雅黑" panose="020B0503020204020204" charset="-122"/>
                          <a:cs typeface="微软雅黑" panose="020B0503020204020204" charset="-122"/>
                        </a:rPr>
                        <a:t>主设备向从设备返回读写反馈接受信</a:t>
                      </a:r>
                      <a:r>
                        <a:rPr sz="800" spc="5" dirty="0">
                          <a:latin typeface="微软雅黑" panose="020B0503020204020204" charset="-122"/>
                          <a:cs typeface="微软雅黑" panose="020B0503020204020204" charset="-122"/>
                        </a:rPr>
                        <a:t>号</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r>
              <a:tr h="213359">
                <a:tc vMerge="1">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tc vMerge="1">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algn="ctr">
                        <a:lnSpc>
                          <a:spcPct val="100000"/>
                        </a:lnSpc>
                        <a:spcBef>
                          <a:spcPts val="340"/>
                        </a:spcBef>
                      </a:pPr>
                      <a:r>
                        <a:rPr sz="800" dirty="0">
                          <a:latin typeface="微软雅黑" panose="020B0503020204020204" charset="-122"/>
                          <a:cs typeface="微软雅黑" panose="020B0503020204020204" charset="-122"/>
                        </a:rPr>
                        <a:t>输</a:t>
                      </a:r>
                      <a:r>
                        <a:rPr sz="800" spc="5" dirty="0">
                          <a:latin typeface="微软雅黑" panose="020B0503020204020204" charset="-122"/>
                          <a:cs typeface="微软雅黑" panose="020B0503020204020204" charset="-122"/>
                        </a:rPr>
                        <a:t>入</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algn="ctr">
                        <a:lnSpc>
                          <a:spcPct val="100000"/>
                        </a:lnSpc>
                        <a:spcBef>
                          <a:spcPts val="340"/>
                        </a:spcBef>
                      </a:pPr>
                      <a:r>
                        <a:rPr sz="800" dirty="0">
                          <a:latin typeface="微软雅黑" panose="020B0503020204020204" charset="-122"/>
                          <a:cs typeface="微软雅黑" panose="020B0503020204020204" charset="-122"/>
                        </a:rPr>
                        <a:t>DW</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marL="177800">
                        <a:lnSpc>
                          <a:spcPct val="100000"/>
                        </a:lnSpc>
                        <a:spcBef>
                          <a:spcPts val="340"/>
                        </a:spcBef>
                      </a:pPr>
                      <a:r>
                        <a:rPr sz="800" spc="-5" dirty="0">
                          <a:latin typeface="微软雅黑" panose="020B0503020204020204" charset="-122"/>
                          <a:cs typeface="微软雅黑" panose="020B0503020204020204" charset="-122"/>
                        </a:rPr>
                        <a:t>icb_rsp_rdata</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marL="90805">
                        <a:lnSpc>
                          <a:spcPct val="100000"/>
                        </a:lnSpc>
                        <a:spcBef>
                          <a:spcPts val="340"/>
                        </a:spcBef>
                      </a:pPr>
                      <a:r>
                        <a:rPr sz="800" dirty="0">
                          <a:latin typeface="微软雅黑" panose="020B0503020204020204" charset="-122"/>
                          <a:cs typeface="微软雅黑" panose="020B0503020204020204" charset="-122"/>
                        </a:rPr>
                        <a:t>读反馈的数</a:t>
                      </a:r>
                      <a:r>
                        <a:rPr sz="800" spc="5" dirty="0">
                          <a:latin typeface="微软雅黑" panose="020B0503020204020204" charset="-122"/>
                          <a:cs typeface="微软雅黑" panose="020B0503020204020204" charset="-122"/>
                        </a:rPr>
                        <a:t>据</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r>
              <a:tr h="213360">
                <a:tc vMerge="1">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tc vMerge="1">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9D9D9"/>
                    </a:solidFill>
                  </a:tcPr>
                </a:tc>
                <a:tc>
                  <a:txBody>
                    <a:bodyPr/>
                    <a:lstStyle/>
                    <a:p>
                      <a:pPr algn="ctr">
                        <a:lnSpc>
                          <a:spcPct val="100000"/>
                        </a:lnSpc>
                        <a:spcBef>
                          <a:spcPts val="340"/>
                        </a:spcBef>
                      </a:pPr>
                      <a:r>
                        <a:rPr sz="800" dirty="0">
                          <a:latin typeface="微软雅黑" panose="020B0503020204020204" charset="-122"/>
                          <a:cs typeface="微软雅黑" panose="020B0503020204020204" charset="-122"/>
                        </a:rPr>
                        <a:t>输</a:t>
                      </a:r>
                      <a:r>
                        <a:rPr sz="800" spc="5" dirty="0">
                          <a:latin typeface="微软雅黑" panose="020B0503020204020204" charset="-122"/>
                          <a:cs typeface="微软雅黑" panose="020B0503020204020204" charset="-122"/>
                        </a:rPr>
                        <a:t>入</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algn="ctr">
                        <a:lnSpc>
                          <a:spcPct val="100000"/>
                        </a:lnSpc>
                        <a:spcBef>
                          <a:spcPts val="340"/>
                        </a:spcBef>
                      </a:pPr>
                      <a:r>
                        <a:rPr sz="800" dirty="0">
                          <a:latin typeface="微软雅黑" panose="020B0503020204020204" charset="-122"/>
                          <a:cs typeface="微软雅黑" panose="020B0503020204020204" charset="-122"/>
                        </a:rPr>
                        <a:t>1</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L="236855">
                        <a:lnSpc>
                          <a:spcPct val="100000"/>
                        </a:lnSpc>
                        <a:spcBef>
                          <a:spcPts val="340"/>
                        </a:spcBef>
                      </a:pPr>
                      <a:r>
                        <a:rPr sz="800" spc="-5" dirty="0">
                          <a:latin typeface="微软雅黑" panose="020B0503020204020204" charset="-122"/>
                          <a:cs typeface="微软雅黑" panose="020B0503020204020204" charset="-122"/>
                        </a:rPr>
                        <a:t>icb_rsp_err</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L="90805">
                        <a:lnSpc>
                          <a:spcPct val="100000"/>
                        </a:lnSpc>
                        <a:spcBef>
                          <a:spcPts val="340"/>
                        </a:spcBef>
                      </a:pPr>
                      <a:r>
                        <a:rPr sz="800" dirty="0">
                          <a:latin typeface="微软雅黑" panose="020B0503020204020204" charset="-122"/>
                          <a:cs typeface="微软雅黑" panose="020B0503020204020204" charset="-122"/>
                        </a:rPr>
                        <a:t>读或者写反馈的错误标</a:t>
                      </a:r>
                      <a:r>
                        <a:rPr sz="800" spc="5" dirty="0">
                          <a:latin typeface="微软雅黑" panose="020B0503020204020204" charset="-122"/>
                          <a:cs typeface="微软雅黑" panose="020B0503020204020204" charset="-122"/>
                        </a:rPr>
                        <a:t>志</a:t>
                      </a:r>
                      <a:endParaRPr sz="800">
                        <a:latin typeface="微软雅黑" panose="020B0503020204020204" charset="-122"/>
                        <a:cs typeface="微软雅黑" panose="020B0503020204020204" charset="-122"/>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r>
            </a:tbl>
          </a:graphicData>
        </a:graphic>
      </p:graphicFrame>
      <p:sp>
        <p:nvSpPr>
          <p:cNvPr id="37" name="object 37"/>
          <p:cNvSpPr txBox="1"/>
          <p:nvPr/>
        </p:nvSpPr>
        <p:spPr>
          <a:xfrm>
            <a:off x="6435725" y="1271269"/>
            <a:ext cx="5287645" cy="574040"/>
          </a:xfrm>
          <a:prstGeom prst="rect">
            <a:avLst/>
          </a:prstGeom>
        </p:spPr>
        <p:txBody>
          <a:bodyPr vert="horz" wrap="square" lIns="0" tIns="104139" rIns="0" bIns="0" rtlCol="0">
            <a:spAutoFit/>
          </a:bodyPr>
          <a:lstStyle/>
          <a:p>
            <a:pPr marL="12700">
              <a:lnSpc>
                <a:spcPct val="100000"/>
              </a:lnSpc>
              <a:spcBef>
                <a:spcPts val="820"/>
              </a:spcBef>
            </a:pPr>
            <a:r>
              <a:rPr sz="1200" dirty="0">
                <a:latin typeface="微软雅黑" panose="020B0503020204020204" charset="-122"/>
                <a:cs typeface="微软雅黑" panose="020B0503020204020204" charset="-122"/>
              </a:rPr>
              <a:t>蜂鸟E203结合AXI总线和AHB总线的优点定义了一种自定义总线协议</a:t>
            </a:r>
            <a:endParaRPr sz="1200">
              <a:latin typeface="微软雅黑" panose="020B0503020204020204" charset="-122"/>
              <a:cs typeface="微软雅黑" panose="020B0503020204020204" charset="-122"/>
            </a:endParaRPr>
          </a:p>
          <a:p>
            <a:pPr marL="12700">
              <a:lnSpc>
                <a:spcPct val="100000"/>
              </a:lnSpc>
              <a:spcBef>
                <a:spcPts val="720"/>
              </a:spcBef>
            </a:pPr>
            <a:r>
              <a:rPr sz="1200" b="1" spc="-5" dirty="0">
                <a:solidFill>
                  <a:srgbClr val="C00000"/>
                </a:solidFill>
                <a:latin typeface="微软雅黑" panose="020B0503020204020204" charset="-122"/>
                <a:cs typeface="微软雅黑" panose="020B0503020204020204" charset="-122"/>
              </a:rPr>
              <a:t>ICB(Internal</a:t>
            </a:r>
            <a:r>
              <a:rPr sz="1200" b="1" spc="-15" dirty="0">
                <a:solidFill>
                  <a:srgbClr val="C00000"/>
                </a:solidFill>
                <a:latin typeface="微软雅黑" panose="020B0503020204020204" charset="-122"/>
                <a:cs typeface="微软雅黑" panose="020B0503020204020204" charset="-122"/>
              </a:rPr>
              <a:t> </a:t>
            </a:r>
            <a:r>
              <a:rPr sz="1200" b="1" spc="-5" dirty="0">
                <a:solidFill>
                  <a:srgbClr val="C00000"/>
                </a:solidFill>
                <a:latin typeface="微软雅黑" panose="020B0503020204020204" charset="-122"/>
                <a:cs typeface="微软雅黑" panose="020B0503020204020204" charset="-122"/>
              </a:rPr>
              <a:t>Chip</a:t>
            </a:r>
            <a:r>
              <a:rPr sz="1200" b="1" spc="-15" dirty="0">
                <a:solidFill>
                  <a:srgbClr val="C00000"/>
                </a:solidFill>
                <a:latin typeface="微软雅黑" panose="020B0503020204020204" charset="-122"/>
                <a:cs typeface="微软雅黑" panose="020B0503020204020204" charset="-122"/>
              </a:rPr>
              <a:t> </a:t>
            </a:r>
            <a:r>
              <a:rPr sz="1200" b="1" spc="-5" dirty="0">
                <a:solidFill>
                  <a:srgbClr val="C00000"/>
                </a:solidFill>
                <a:latin typeface="微软雅黑" panose="020B0503020204020204" charset="-122"/>
                <a:cs typeface="微软雅黑" panose="020B0503020204020204" charset="-122"/>
              </a:rPr>
              <a:t>Bus)</a:t>
            </a:r>
            <a:r>
              <a:rPr sz="1200" spc="-5" dirty="0">
                <a:latin typeface="微软雅黑" panose="020B0503020204020204" charset="-122"/>
                <a:cs typeface="微软雅黑" panose="020B0503020204020204" charset="-122"/>
              </a:rPr>
              <a:t>,</a:t>
            </a:r>
            <a:r>
              <a:rPr sz="1200" spc="-10" dirty="0">
                <a:latin typeface="微软雅黑" panose="020B0503020204020204" charset="-122"/>
                <a:cs typeface="微软雅黑" panose="020B0503020204020204" charset="-122"/>
              </a:rPr>
              <a:t> </a:t>
            </a:r>
            <a:r>
              <a:rPr sz="1200" dirty="0">
                <a:latin typeface="微软雅黑" panose="020B0503020204020204" charset="-122"/>
                <a:cs typeface="微软雅黑" panose="020B0503020204020204" charset="-122"/>
              </a:rPr>
              <a:t>用于处理器内核内部以及SoC总线使用，其特点包括</a:t>
            </a:r>
            <a:endParaRPr sz="1200">
              <a:latin typeface="微软雅黑" panose="020B0503020204020204" charset="-122"/>
              <a:cs typeface="微软雅黑" panose="020B0503020204020204" charset="-122"/>
            </a:endParaRPr>
          </a:p>
        </p:txBody>
      </p:sp>
      <p:sp>
        <p:nvSpPr>
          <p:cNvPr id="38" name="object 38"/>
          <p:cNvSpPr txBox="1"/>
          <p:nvPr/>
        </p:nvSpPr>
        <p:spPr>
          <a:xfrm>
            <a:off x="6435725" y="1822957"/>
            <a:ext cx="5263515" cy="2082800"/>
          </a:xfrm>
          <a:prstGeom prst="rect">
            <a:avLst/>
          </a:prstGeom>
        </p:spPr>
        <p:txBody>
          <a:bodyPr vert="horz" wrap="square" lIns="0" tIns="88900" rIns="0" bIns="0" rtlCol="0">
            <a:spAutoFit/>
          </a:bodyPr>
          <a:lstStyle/>
          <a:p>
            <a:pPr marL="298450" indent="-285750">
              <a:lnSpc>
                <a:spcPct val="100000"/>
              </a:lnSpc>
              <a:spcBef>
                <a:spcPts val="700"/>
              </a:spcBef>
              <a:buFont typeface="Wingdings" panose="05000000000000000000"/>
              <a:buChar char=""/>
              <a:tabLst>
                <a:tab pos="297815" algn="l"/>
                <a:tab pos="298450" algn="l"/>
              </a:tabLst>
            </a:pPr>
            <a:r>
              <a:rPr sz="1000" dirty="0">
                <a:latin typeface="微软雅黑" panose="020B0503020204020204" charset="-122"/>
                <a:cs typeface="微软雅黑" panose="020B0503020204020204" charset="-122"/>
              </a:rPr>
              <a:t>分离的地址和数据阶段</a:t>
            </a:r>
            <a:r>
              <a:rPr sz="1000" spc="-5" dirty="0">
                <a:latin typeface="微软雅黑" panose="020B0503020204020204" charset="-122"/>
                <a:cs typeface="微软雅黑" panose="020B0503020204020204" charset="-122"/>
              </a:rPr>
              <a:t>(</a:t>
            </a:r>
            <a:r>
              <a:rPr sz="1000" dirty="0">
                <a:latin typeface="微软雅黑" panose="020B0503020204020204" charset="-122"/>
                <a:cs typeface="微软雅黑" panose="020B0503020204020204" charset="-122"/>
              </a:rPr>
              <a:t>同</a:t>
            </a:r>
            <a:r>
              <a:rPr sz="1000" spc="-5" dirty="0">
                <a:latin typeface="微软雅黑" panose="020B0503020204020204" charset="-122"/>
                <a:cs typeface="微软雅黑" panose="020B0503020204020204" charset="-122"/>
              </a:rPr>
              <a:t>AIX)；</a:t>
            </a:r>
            <a:endParaRPr sz="1000">
              <a:latin typeface="微软雅黑" panose="020B0503020204020204" charset="-122"/>
              <a:cs typeface="微软雅黑" panose="020B0503020204020204" charset="-122"/>
            </a:endParaRPr>
          </a:p>
          <a:p>
            <a:pPr marL="298450" indent="-285750">
              <a:lnSpc>
                <a:spcPct val="100000"/>
              </a:lnSpc>
              <a:spcBef>
                <a:spcPts val="600"/>
              </a:spcBef>
              <a:buFont typeface="Wingdings" panose="05000000000000000000"/>
              <a:buChar char=""/>
              <a:tabLst>
                <a:tab pos="297815" algn="l"/>
                <a:tab pos="298450" algn="l"/>
              </a:tabLst>
            </a:pPr>
            <a:r>
              <a:rPr sz="1000" dirty="0">
                <a:latin typeface="微软雅黑" panose="020B0503020204020204" charset="-122"/>
                <a:cs typeface="微软雅黑" panose="020B0503020204020204" charset="-122"/>
              </a:rPr>
              <a:t>采用地址区间寻址，支持任意的主从数目，如一主一从，一主多从，多主一从等拓扑结</a:t>
            </a:r>
            <a:r>
              <a:rPr sz="1000" spc="-5" dirty="0">
                <a:latin typeface="微软雅黑" panose="020B0503020204020204" charset="-122"/>
                <a:cs typeface="微软雅黑" panose="020B0503020204020204" charset="-122"/>
              </a:rPr>
              <a:t>构</a:t>
            </a:r>
            <a:endParaRPr sz="1000">
              <a:latin typeface="微软雅黑" panose="020B0503020204020204" charset="-122"/>
              <a:cs typeface="微软雅黑" panose="020B0503020204020204" charset="-122"/>
            </a:endParaRPr>
          </a:p>
          <a:p>
            <a:pPr marL="298450">
              <a:lnSpc>
                <a:spcPct val="100000"/>
              </a:lnSpc>
              <a:spcBef>
                <a:spcPts val="600"/>
              </a:spcBef>
            </a:pPr>
            <a:r>
              <a:rPr sz="1000" spc="-5" dirty="0">
                <a:latin typeface="微软雅黑" panose="020B0503020204020204" charset="-122"/>
                <a:cs typeface="微软雅黑" panose="020B0503020204020204" charset="-122"/>
              </a:rPr>
              <a:t>(</a:t>
            </a:r>
            <a:r>
              <a:rPr sz="1000" dirty="0">
                <a:latin typeface="微软雅黑" panose="020B0503020204020204" charset="-122"/>
                <a:cs typeface="微软雅黑" panose="020B0503020204020204" charset="-122"/>
              </a:rPr>
              <a:t>同</a:t>
            </a:r>
            <a:r>
              <a:rPr sz="1000" spc="-5" dirty="0">
                <a:latin typeface="微软雅黑" panose="020B0503020204020204" charset="-122"/>
                <a:cs typeface="微软雅黑" panose="020B0503020204020204" charset="-122"/>
              </a:rPr>
              <a:t>AXI)；</a:t>
            </a:r>
            <a:endParaRPr sz="1000">
              <a:latin typeface="微软雅黑" panose="020B0503020204020204" charset="-122"/>
              <a:cs typeface="微软雅黑" panose="020B0503020204020204" charset="-122"/>
            </a:endParaRPr>
          </a:p>
          <a:p>
            <a:pPr marL="298450" indent="-285750">
              <a:lnSpc>
                <a:spcPct val="100000"/>
              </a:lnSpc>
              <a:spcBef>
                <a:spcPts val="600"/>
              </a:spcBef>
              <a:buFont typeface="Wingdings" panose="05000000000000000000"/>
              <a:buChar char=""/>
              <a:tabLst>
                <a:tab pos="297815" algn="l"/>
                <a:tab pos="298450" algn="l"/>
              </a:tabLst>
            </a:pPr>
            <a:r>
              <a:rPr sz="1000" dirty="0">
                <a:latin typeface="微软雅黑" panose="020B0503020204020204" charset="-122"/>
                <a:cs typeface="微软雅黑" panose="020B0503020204020204" charset="-122"/>
              </a:rPr>
              <a:t>每个读或写操作在地址通道上产生地址</a:t>
            </a:r>
            <a:r>
              <a:rPr sz="1000" spc="-5" dirty="0">
                <a:latin typeface="微软雅黑" panose="020B0503020204020204" charset="-122"/>
                <a:cs typeface="微软雅黑" panose="020B0503020204020204" charset="-122"/>
              </a:rPr>
              <a:t>,</a:t>
            </a:r>
            <a:r>
              <a:rPr sz="1000" spc="-10" dirty="0">
                <a:latin typeface="微软雅黑" panose="020B0503020204020204" charset="-122"/>
                <a:cs typeface="微软雅黑" panose="020B0503020204020204" charset="-122"/>
              </a:rPr>
              <a:t> </a:t>
            </a:r>
            <a:r>
              <a:rPr sz="1000" dirty="0">
                <a:latin typeface="微软雅黑" panose="020B0503020204020204" charset="-122"/>
                <a:cs typeface="微软雅黑" panose="020B0503020204020204" charset="-122"/>
              </a:rPr>
              <a:t>而不是像</a:t>
            </a:r>
            <a:r>
              <a:rPr sz="1000" spc="-5" dirty="0">
                <a:latin typeface="微软雅黑" panose="020B0503020204020204" charset="-122"/>
                <a:cs typeface="微软雅黑" panose="020B0503020204020204" charset="-122"/>
              </a:rPr>
              <a:t>AXI</a:t>
            </a:r>
            <a:r>
              <a:rPr sz="1000" dirty="0">
                <a:latin typeface="微软雅黑" panose="020B0503020204020204" charset="-122"/>
                <a:cs typeface="微软雅黑" panose="020B0503020204020204" charset="-122"/>
              </a:rPr>
              <a:t>只产生起始地址</a:t>
            </a:r>
            <a:r>
              <a:rPr sz="1000" spc="-5" dirty="0">
                <a:latin typeface="微软雅黑" panose="020B0503020204020204" charset="-122"/>
                <a:cs typeface="微软雅黑" panose="020B0503020204020204" charset="-122"/>
              </a:rPr>
              <a:t>(</a:t>
            </a:r>
            <a:r>
              <a:rPr sz="1000" dirty="0">
                <a:latin typeface="微软雅黑" panose="020B0503020204020204" charset="-122"/>
                <a:cs typeface="微软雅黑" panose="020B0503020204020204" charset="-122"/>
              </a:rPr>
              <a:t>同</a:t>
            </a:r>
            <a:r>
              <a:rPr sz="1000" spc="-5" dirty="0">
                <a:latin typeface="微软雅黑" panose="020B0503020204020204" charset="-122"/>
                <a:cs typeface="微软雅黑" panose="020B0503020204020204" charset="-122"/>
              </a:rPr>
              <a:t>AHB)；</a:t>
            </a:r>
            <a:endParaRPr sz="1000">
              <a:latin typeface="微软雅黑" panose="020B0503020204020204" charset="-122"/>
              <a:cs typeface="微软雅黑" panose="020B0503020204020204" charset="-122"/>
            </a:endParaRPr>
          </a:p>
          <a:p>
            <a:pPr marL="298450" indent="-285750">
              <a:lnSpc>
                <a:spcPct val="100000"/>
              </a:lnSpc>
              <a:spcBef>
                <a:spcPts val="600"/>
              </a:spcBef>
              <a:buFont typeface="Wingdings" panose="05000000000000000000"/>
              <a:buChar char=""/>
              <a:tabLst>
                <a:tab pos="297815" algn="l"/>
                <a:tab pos="298450" algn="l"/>
              </a:tabLst>
            </a:pPr>
            <a:r>
              <a:rPr sz="1000" dirty="0">
                <a:latin typeface="微软雅黑" panose="020B0503020204020204" charset="-122"/>
                <a:cs typeface="微软雅黑" panose="020B0503020204020204" charset="-122"/>
              </a:rPr>
              <a:t>支持地址非对齐的数据访问，使用字节掩码来控制部分写操作（同</a:t>
            </a:r>
            <a:r>
              <a:rPr sz="1000" spc="-5" dirty="0">
                <a:latin typeface="微软雅黑" panose="020B0503020204020204" charset="-122"/>
                <a:cs typeface="微软雅黑" panose="020B0503020204020204" charset="-122"/>
              </a:rPr>
              <a:t>AXI）；</a:t>
            </a:r>
            <a:endParaRPr sz="1000">
              <a:latin typeface="微软雅黑" panose="020B0503020204020204" charset="-122"/>
              <a:cs typeface="微软雅黑" panose="020B0503020204020204" charset="-122"/>
            </a:endParaRPr>
          </a:p>
          <a:p>
            <a:pPr marL="298450" indent="-285750">
              <a:lnSpc>
                <a:spcPct val="100000"/>
              </a:lnSpc>
              <a:spcBef>
                <a:spcPts val="600"/>
              </a:spcBef>
              <a:buFont typeface="Wingdings" panose="05000000000000000000"/>
              <a:buChar char=""/>
              <a:tabLst>
                <a:tab pos="297815" algn="l"/>
                <a:tab pos="298450" algn="l"/>
              </a:tabLst>
            </a:pPr>
            <a:r>
              <a:rPr sz="1000" dirty="0">
                <a:latin typeface="微软雅黑" panose="020B0503020204020204" charset="-122"/>
                <a:cs typeface="微软雅黑" panose="020B0503020204020204" charset="-122"/>
              </a:rPr>
              <a:t>支持多个滞外交易</a:t>
            </a:r>
            <a:r>
              <a:rPr sz="1000" spc="-5" dirty="0">
                <a:latin typeface="微软雅黑" panose="020B0503020204020204" charset="-122"/>
                <a:cs typeface="微软雅黑" panose="020B0503020204020204" charset="-122"/>
              </a:rPr>
              <a:t>(</a:t>
            </a:r>
            <a:r>
              <a:rPr sz="1000" dirty="0">
                <a:latin typeface="微软雅黑" panose="020B0503020204020204" charset="-122"/>
                <a:cs typeface="微软雅黑" panose="020B0503020204020204" charset="-122"/>
              </a:rPr>
              <a:t>同</a:t>
            </a:r>
            <a:r>
              <a:rPr sz="1000" spc="-5" dirty="0">
                <a:latin typeface="微软雅黑" panose="020B0503020204020204" charset="-122"/>
                <a:cs typeface="微软雅黑" panose="020B0503020204020204" charset="-122"/>
              </a:rPr>
              <a:t>AXI)；</a:t>
            </a:r>
            <a:endParaRPr sz="1000">
              <a:latin typeface="微软雅黑" panose="020B0503020204020204" charset="-122"/>
              <a:cs typeface="微软雅黑" panose="020B0503020204020204" charset="-122"/>
            </a:endParaRPr>
          </a:p>
          <a:p>
            <a:pPr marL="298450" indent="-285750">
              <a:lnSpc>
                <a:spcPct val="100000"/>
              </a:lnSpc>
              <a:spcBef>
                <a:spcPts val="600"/>
              </a:spcBef>
              <a:buFont typeface="Wingdings" panose="05000000000000000000"/>
              <a:buChar char=""/>
              <a:tabLst>
                <a:tab pos="297815" algn="l"/>
                <a:tab pos="298450" algn="l"/>
              </a:tabLst>
            </a:pPr>
            <a:r>
              <a:rPr sz="1000" dirty="0">
                <a:latin typeface="微软雅黑" panose="020B0503020204020204" charset="-122"/>
                <a:cs typeface="微软雅黑" panose="020B0503020204020204" charset="-122"/>
              </a:rPr>
              <a:t>不支持乱序返回乱序完成，反馈通道必须按顺序返回结果</a:t>
            </a:r>
            <a:r>
              <a:rPr sz="1000" spc="-5" dirty="0">
                <a:latin typeface="微软雅黑" panose="020B0503020204020204" charset="-122"/>
                <a:cs typeface="微软雅黑" panose="020B0503020204020204" charset="-122"/>
              </a:rPr>
              <a:t>(</a:t>
            </a:r>
            <a:r>
              <a:rPr sz="1000" dirty="0">
                <a:latin typeface="微软雅黑" panose="020B0503020204020204" charset="-122"/>
                <a:cs typeface="微软雅黑" panose="020B0503020204020204" charset="-122"/>
              </a:rPr>
              <a:t>同</a:t>
            </a:r>
            <a:r>
              <a:rPr sz="1000" spc="-5" dirty="0">
                <a:latin typeface="微软雅黑" panose="020B0503020204020204" charset="-122"/>
                <a:cs typeface="微软雅黑" panose="020B0503020204020204" charset="-122"/>
              </a:rPr>
              <a:t>AHB)；</a:t>
            </a:r>
            <a:endParaRPr sz="1000">
              <a:latin typeface="微软雅黑" panose="020B0503020204020204" charset="-122"/>
              <a:cs typeface="微软雅黑" panose="020B0503020204020204" charset="-122"/>
            </a:endParaRPr>
          </a:p>
          <a:p>
            <a:pPr marL="298450" indent="-285750">
              <a:lnSpc>
                <a:spcPct val="100000"/>
              </a:lnSpc>
              <a:spcBef>
                <a:spcPts val="600"/>
              </a:spcBef>
              <a:buFont typeface="Wingdings" panose="05000000000000000000"/>
              <a:buChar char=""/>
              <a:tabLst>
                <a:tab pos="297815" algn="l"/>
                <a:tab pos="298450" algn="l"/>
              </a:tabLst>
            </a:pPr>
            <a:r>
              <a:rPr sz="1000" dirty="0">
                <a:latin typeface="微软雅黑" panose="020B0503020204020204" charset="-122"/>
                <a:cs typeface="微软雅黑" panose="020B0503020204020204" charset="-122"/>
              </a:rPr>
              <a:t>易于添加流水线级数以获得高频的时序；（同</a:t>
            </a:r>
            <a:r>
              <a:rPr sz="1000" spc="-5" dirty="0">
                <a:latin typeface="微软雅黑" panose="020B0503020204020204" charset="-122"/>
                <a:cs typeface="微软雅黑" panose="020B0503020204020204" charset="-122"/>
              </a:rPr>
              <a:t>AXI</a:t>
            </a:r>
            <a:r>
              <a:rPr sz="1000" dirty="0">
                <a:latin typeface="微软雅黑" panose="020B0503020204020204" charset="-122"/>
                <a:cs typeface="微软雅黑" panose="020B0503020204020204" charset="-122"/>
              </a:rPr>
              <a:t>）</a:t>
            </a:r>
            <a:r>
              <a:rPr sz="1000" spc="-5" dirty="0">
                <a:latin typeface="微软雅黑" panose="020B0503020204020204" charset="-122"/>
                <a:cs typeface="微软雅黑" panose="020B0503020204020204" charset="-122"/>
              </a:rPr>
              <a:t>;</a:t>
            </a:r>
            <a:endParaRPr sz="1000">
              <a:latin typeface="微软雅黑" panose="020B0503020204020204" charset="-122"/>
              <a:cs typeface="微软雅黑" panose="020B0503020204020204" charset="-122"/>
            </a:endParaRPr>
          </a:p>
          <a:p>
            <a:pPr marL="298450" indent="-285750">
              <a:lnSpc>
                <a:spcPct val="100000"/>
              </a:lnSpc>
              <a:spcBef>
                <a:spcPts val="600"/>
              </a:spcBef>
              <a:buFont typeface="Wingdings" panose="05000000000000000000"/>
              <a:buChar char=""/>
              <a:tabLst>
                <a:tab pos="297815" algn="l"/>
                <a:tab pos="298450" algn="l"/>
              </a:tabLst>
            </a:pPr>
            <a:r>
              <a:rPr sz="1000" dirty="0">
                <a:latin typeface="微软雅黑" panose="020B0503020204020204" charset="-122"/>
                <a:cs typeface="微软雅黑" panose="020B0503020204020204" charset="-122"/>
              </a:rPr>
              <a:t>协议定义简单，易于桥接转换成其他常见片上总线</a:t>
            </a:r>
            <a:r>
              <a:rPr sz="1000" spc="-5" dirty="0">
                <a:latin typeface="微软雅黑" panose="020B0503020204020204" charset="-122"/>
                <a:cs typeface="微软雅黑" panose="020B0503020204020204" charset="-122"/>
              </a:rPr>
              <a:t>。</a:t>
            </a:r>
            <a:endParaRPr sz="1000">
              <a:latin typeface="微软雅黑" panose="020B0503020204020204" charset="-122"/>
              <a:cs typeface="微软雅黑" panose="020B0503020204020204" charset="-122"/>
            </a:endParaRPr>
          </a:p>
        </p:txBody>
      </p:sp>
      <p:sp>
        <p:nvSpPr>
          <p:cNvPr id="39" name="object 39"/>
          <p:cNvSpPr/>
          <p:nvPr/>
        </p:nvSpPr>
        <p:spPr>
          <a:xfrm>
            <a:off x="6096000" y="1373505"/>
            <a:ext cx="0" cy="5151120"/>
          </a:xfrm>
          <a:custGeom>
            <a:avLst/>
            <a:gdLst/>
            <a:ahLst/>
            <a:cxnLst/>
            <a:rect l="l" t="t" r="r" b="b"/>
            <a:pathLst>
              <a:path h="5151120">
                <a:moveTo>
                  <a:pt x="0" y="0"/>
                </a:moveTo>
                <a:lnTo>
                  <a:pt x="0" y="5151120"/>
                </a:lnTo>
              </a:path>
            </a:pathLst>
          </a:custGeom>
          <a:ln w="7620">
            <a:solidFill>
              <a:srgbClr val="C00000"/>
            </a:solidFill>
          </a:ln>
        </p:spPr>
        <p:txBody>
          <a:bodyPr wrap="square" lIns="0" tIns="0" rIns="0" bIns="0" rtlCol="0"/>
          <a:lstStyle/>
          <a:p/>
        </p:txBody>
      </p:sp>
      <p:sp>
        <p:nvSpPr>
          <p:cNvPr id="40" name="object 40"/>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5270500" cy="56642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蜂鸟E</a:t>
            </a:r>
            <a:r>
              <a:rPr sz="3600" spc="-5" dirty="0">
                <a:solidFill>
                  <a:srgbClr val="C00000"/>
                </a:solidFill>
              </a:rPr>
              <a:t>203</a:t>
            </a:r>
            <a:r>
              <a:rPr sz="3600" dirty="0">
                <a:solidFill>
                  <a:srgbClr val="C00000"/>
                </a:solidFill>
              </a:rPr>
              <a:t>总线接口单元</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511175" y="1759585"/>
            <a:ext cx="4677410" cy="240029"/>
          </a:xfrm>
          <a:prstGeom prst="rect">
            <a:avLst/>
          </a:prstGeom>
        </p:spPr>
        <p:txBody>
          <a:bodyPr vert="horz" wrap="square" lIns="0" tIns="13335" rIns="0" bIns="0" rtlCol="0">
            <a:spAutoFit/>
          </a:bodyPr>
          <a:lstStyle/>
          <a:p>
            <a:pPr marL="12700">
              <a:lnSpc>
                <a:spcPct val="100000"/>
              </a:lnSpc>
              <a:spcBef>
                <a:spcPts val="105"/>
              </a:spcBef>
            </a:pPr>
            <a:r>
              <a:rPr sz="1400" dirty="0">
                <a:latin typeface="微软雅黑" panose="020B0503020204020204" charset="-122"/>
                <a:cs typeface="微软雅黑" panose="020B0503020204020204" charset="-122"/>
              </a:rPr>
              <a:t>蜂鸟</a:t>
            </a:r>
            <a:r>
              <a:rPr sz="1400" spc="-5" dirty="0">
                <a:latin typeface="微软雅黑" panose="020B0503020204020204" charset="-122"/>
                <a:cs typeface="微软雅黑" panose="020B0503020204020204" charset="-122"/>
              </a:rPr>
              <a:t>E203</a:t>
            </a:r>
            <a:r>
              <a:rPr sz="1400" dirty="0">
                <a:latin typeface="微软雅黑" panose="020B0503020204020204" charset="-122"/>
                <a:cs typeface="微软雅黑" panose="020B0503020204020204" charset="-122"/>
              </a:rPr>
              <a:t>的总线接口单元</a:t>
            </a:r>
            <a:r>
              <a:rPr sz="1400" spc="-5" dirty="0">
                <a:latin typeface="微软雅黑" panose="020B0503020204020204" charset="-122"/>
                <a:cs typeface="微软雅黑" panose="020B0503020204020204" charset="-122"/>
              </a:rPr>
              <a:t>BIU(Bus Interface Unit)</a:t>
            </a:r>
            <a:r>
              <a:rPr sz="1400" dirty="0">
                <a:latin typeface="微软雅黑" panose="020B0503020204020204" charset="-122"/>
                <a:cs typeface="微软雅黑" panose="020B0503020204020204" charset="-122"/>
              </a:rPr>
              <a:t>设计如</a:t>
            </a:r>
            <a:r>
              <a:rPr sz="1400" spc="5" dirty="0">
                <a:latin typeface="微软雅黑" panose="020B0503020204020204" charset="-122"/>
                <a:cs typeface="微软雅黑" panose="020B0503020204020204" charset="-122"/>
              </a:rPr>
              <a:t>下</a:t>
            </a:r>
            <a:endParaRPr sz="1400">
              <a:latin typeface="微软雅黑" panose="020B0503020204020204" charset="-122"/>
              <a:cs typeface="微软雅黑" panose="020B0503020204020204" charset="-122"/>
            </a:endParaRPr>
          </a:p>
        </p:txBody>
      </p:sp>
      <p:sp>
        <p:nvSpPr>
          <p:cNvPr id="5" name="object 5"/>
          <p:cNvSpPr txBox="1"/>
          <p:nvPr/>
        </p:nvSpPr>
        <p:spPr>
          <a:xfrm>
            <a:off x="511175" y="1973706"/>
            <a:ext cx="6458585" cy="3545840"/>
          </a:xfrm>
          <a:prstGeom prst="rect">
            <a:avLst/>
          </a:prstGeom>
        </p:spPr>
        <p:txBody>
          <a:bodyPr vert="horz" wrap="square" lIns="0" tIns="119380" rIns="0" bIns="0" rtlCol="0">
            <a:spAutoFit/>
          </a:bodyPr>
          <a:lstStyle/>
          <a:p>
            <a:pPr marL="298450" indent="-285750">
              <a:lnSpc>
                <a:spcPct val="100000"/>
              </a:lnSpc>
              <a:spcBef>
                <a:spcPts val="940"/>
              </a:spcBef>
              <a:buFont typeface="Wingdings" panose="05000000000000000000"/>
              <a:buChar char=""/>
              <a:tabLst>
                <a:tab pos="297815" algn="l"/>
                <a:tab pos="298450" algn="l"/>
              </a:tabLst>
            </a:pPr>
            <a:r>
              <a:rPr sz="1400" dirty="0">
                <a:latin typeface="微软雅黑" panose="020B0503020204020204" charset="-122"/>
                <a:cs typeface="微软雅黑" panose="020B0503020204020204" charset="-122"/>
              </a:rPr>
              <a:t>具备两组输入</a:t>
            </a:r>
            <a:r>
              <a:rPr sz="1400" spc="-5" dirty="0">
                <a:latin typeface="微软雅黑" panose="020B0503020204020204" charset="-122"/>
                <a:cs typeface="微软雅黑" panose="020B0503020204020204" charset="-122"/>
              </a:rPr>
              <a:t>ICB</a:t>
            </a:r>
            <a:r>
              <a:rPr sz="1400" dirty="0">
                <a:latin typeface="微软雅黑" panose="020B0503020204020204" charset="-122"/>
                <a:cs typeface="微软雅黑" panose="020B0503020204020204" charset="-122"/>
              </a:rPr>
              <a:t>总线接口，分别来自</a:t>
            </a:r>
            <a:r>
              <a:rPr sz="1400" spc="-5" dirty="0">
                <a:latin typeface="微软雅黑" panose="020B0503020204020204" charset="-122"/>
                <a:cs typeface="微软雅黑" panose="020B0503020204020204" charset="-122"/>
              </a:rPr>
              <a:t>LSU</a:t>
            </a:r>
            <a:r>
              <a:rPr sz="1400" dirty="0">
                <a:latin typeface="微软雅黑" panose="020B0503020204020204" charset="-122"/>
                <a:cs typeface="微软雅黑" panose="020B0503020204020204" charset="-122"/>
              </a:rPr>
              <a:t>和</a:t>
            </a:r>
            <a:r>
              <a:rPr sz="1400" spc="-5" dirty="0">
                <a:latin typeface="微软雅黑" panose="020B0503020204020204" charset="-122"/>
                <a:cs typeface="微软雅黑" panose="020B0503020204020204" charset="-122"/>
              </a:rPr>
              <a:t>IFU，</a:t>
            </a:r>
            <a:r>
              <a:rPr sz="1400" dirty="0">
                <a:latin typeface="微软雅黑" panose="020B0503020204020204" charset="-122"/>
                <a:cs typeface="微软雅黑" panose="020B0503020204020204" charset="-122"/>
              </a:rPr>
              <a:t>用于访问外部存储和设备</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298450" marR="147955" indent="-285750">
              <a:lnSpc>
                <a:spcPct val="150000"/>
              </a:lnSpc>
              <a:buFont typeface="Wingdings" panose="05000000000000000000"/>
              <a:buChar char=""/>
              <a:tabLst>
                <a:tab pos="297815" algn="l"/>
                <a:tab pos="298450" algn="l"/>
              </a:tabLst>
            </a:pPr>
            <a:r>
              <a:rPr sz="1400" spc="-5" dirty="0">
                <a:latin typeface="微软雅黑" panose="020B0503020204020204" charset="-122"/>
                <a:cs typeface="微软雅黑" panose="020B0503020204020204" charset="-122"/>
              </a:rPr>
              <a:t>两个输入ICB总线接口经过一个ICB汇合模块，将其汇合成一组ICB总线，采</a:t>
            </a:r>
            <a:r>
              <a:rPr sz="1400" dirty="0">
                <a:latin typeface="微软雅黑" panose="020B0503020204020204" charset="-122"/>
                <a:cs typeface="微软雅黑" panose="020B0503020204020204" charset="-122"/>
              </a:rPr>
              <a:t>用 </a:t>
            </a:r>
            <a:r>
              <a:rPr sz="1400" dirty="0">
                <a:latin typeface="微软雅黑" panose="020B0503020204020204" charset="-122"/>
                <a:cs typeface="微软雅黑" panose="020B0503020204020204" charset="-122"/>
              </a:rPr>
              <a:t>的仲裁机制为优先级仲裁</a:t>
            </a:r>
            <a:r>
              <a:rPr sz="1400" spc="-5" dirty="0">
                <a:latin typeface="微软雅黑" panose="020B0503020204020204" charset="-122"/>
                <a:cs typeface="微软雅黑" panose="020B0503020204020204" charset="-122"/>
              </a:rPr>
              <a:t>，LSU</a:t>
            </a:r>
            <a:r>
              <a:rPr sz="1400" dirty="0">
                <a:latin typeface="微软雅黑" panose="020B0503020204020204" charset="-122"/>
                <a:cs typeface="微软雅黑" panose="020B0503020204020204" charset="-122"/>
              </a:rPr>
              <a:t>总线具有更高优先级</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298450" marR="575310" indent="-285750">
              <a:lnSpc>
                <a:spcPct val="150000"/>
              </a:lnSpc>
              <a:buFont typeface="Wingdings" panose="05000000000000000000"/>
              <a:buChar char=""/>
              <a:tabLst>
                <a:tab pos="297815" algn="l"/>
                <a:tab pos="298450" algn="l"/>
              </a:tabLst>
            </a:pPr>
            <a:r>
              <a:rPr sz="1400" dirty="0">
                <a:latin typeface="微软雅黑" panose="020B0503020204020204" charset="-122"/>
                <a:cs typeface="微软雅黑" panose="020B0503020204020204" charset="-122"/>
              </a:rPr>
              <a:t>为砍断外界与处理器核内部的时序路径，加入一组乒乓缓存</a:t>
            </a:r>
            <a:r>
              <a:rPr sz="1400" dirty="0">
                <a:latin typeface="微软雅黑" panose="020B0503020204020204" charset="-122"/>
                <a:cs typeface="微软雅黑" panose="020B0503020204020204" charset="-122"/>
              </a:rPr>
              <a:t>(</a:t>
            </a:r>
            <a:r>
              <a:rPr sz="1400" spc="-5" dirty="0">
                <a:latin typeface="微软雅黑" panose="020B0503020204020204" charset="-122"/>
                <a:cs typeface="微软雅黑" panose="020B0503020204020204" charset="-122"/>
              </a:rPr>
              <a:t>P</a:t>
            </a:r>
            <a:r>
              <a:rPr sz="1400" dirty="0">
                <a:latin typeface="微软雅黑" panose="020B0503020204020204" charset="-122"/>
                <a:cs typeface="微软雅黑" panose="020B0503020204020204" charset="-122"/>
              </a:rPr>
              <a:t>i</a:t>
            </a:r>
            <a:r>
              <a:rPr sz="1400" spc="-5" dirty="0">
                <a:latin typeface="微软雅黑" panose="020B0503020204020204" charset="-122"/>
                <a:cs typeface="微软雅黑" panose="020B0503020204020204" charset="-122"/>
              </a:rPr>
              <a:t>ng-</a:t>
            </a:r>
            <a:r>
              <a:rPr sz="1400" spc="-65" dirty="0">
                <a:latin typeface="微软雅黑" panose="020B0503020204020204" charset="-122"/>
                <a:cs typeface="微软雅黑" panose="020B0503020204020204" charset="-122"/>
              </a:rPr>
              <a:t>P</a:t>
            </a:r>
            <a:r>
              <a:rPr sz="1400" spc="-5" dirty="0">
                <a:latin typeface="微软雅黑" panose="020B0503020204020204" charset="-122"/>
                <a:cs typeface="微软雅黑" panose="020B0503020204020204" charset="-122"/>
              </a:rPr>
              <a:t>on</a:t>
            </a:r>
            <a:r>
              <a:rPr sz="1400" dirty="0">
                <a:latin typeface="微软雅黑" panose="020B0503020204020204" charset="-122"/>
                <a:cs typeface="微软雅黑" panose="020B0503020204020204" charset="-122"/>
              </a:rPr>
              <a:t>g  </a:t>
            </a:r>
            <a:r>
              <a:rPr sz="1400" spc="-5" dirty="0">
                <a:latin typeface="微软雅黑" panose="020B0503020204020204" charset="-122"/>
                <a:cs typeface="微软雅黑" panose="020B0503020204020204" charset="-122"/>
              </a:rPr>
              <a:t>Buffer)；</a:t>
            </a:r>
            <a:endParaRPr sz="1400">
              <a:latin typeface="微软雅黑" panose="020B0503020204020204" charset="-122"/>
              <a:cs typeface="微软雅黑" panose="020B0503020204020204" charset="-122"/>
            </a:endParaRPr>
          </a:p>
          <a:p>
            <a:pPr marL="298450" marR="74930" indent="-285750">
              <a:lnSpc>
                <a:spcPct val="150000"/>
              </a:lnSpc>
              <a:buFont typeface="Wingdings" panose="05000000000000000000"/>
              <a:buChar char=""/>
              <a:tabLst>
                <a:tab pos="297815" algn="l"/>
                <a:tab pos="298450" algn="l"/>
              </a:tabLst>
            </a:pPr>
            <a:r>
              <a:rPr sz="1400" spc="-5" dirty="0">
                <a:latin typeface="微软雅黑" panose="020B0503020204020204" charset="-122"/>
                <a:cs typeface="微软雅黑" panose="020B0503020204020204" charset="-122"/>
              </a:rPr>
              <a:t>ICB总线通过命令通道判断要访问的地址区间后使用ICB分发模块将命令分发</a:t>
            </a:r>
            <a:r>
              <a:rPr sz="1400" dirty="0">
                <a:latin typeface="微软雅黑" panose="020B0503020204020204" charset="-122"/>
                <a:cs typeface="微软雅黑" panose="020B0503020204020204" charset="-122"/>
              </a:rPr>
              <a:t>给 </a:t>
            </a:r>
            <a:r>
              <a:rPr sz="1400" dirty="0">
                <a:latin typeface="微软雅黑" panose="020B0503020204020204" charset="-122"/>
                <a:cs typeface="微软雅黑" panose="020B0503020204020204" charset="-122"/>
              </a:rPr>
              <a:t>不同的外部接口</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298450" marR="118745" indent="-285750">
              <a:lnSpc>
                <a:spcPct val="150000"/>
              </a:lnSpc>
              <a:buFont typeface="Wingdings" panose="05000000000000000000"/>
              <a:buChar char=""/>
              <a:tabLst>
                <a:tab pos="297815" algn="l"/>
                <a:tab pos="298450" algn="l"/>
              </a:tabLst>
            </a:pPr>
            <a:r>
              <a:rPr sz="1400" spc="-5" dirty="0">
                <a:latin typeface="微软雅黑" panose="020B0503020204020204" charset="-122"/>
                <a:cs typeface="微软雅黑" panose="020B0503020204020204" charset="-122"/>
              </a:rPr>
              <a:t>ICB汇合和ICB分发模块的FIFO深度默认为1，因此默认只支持一个滞外交易</a:t>
            </a:r>
            <a:r>
              <a:rPr sz="1400" dirty="0">
                <a:latin typeface="微软雅黑" panose="020B0503020204020204" charset="-122"/>
                <a:cs typeface="微软雅黑" panose="020B0503020204020204" charset="-122"/>
              </a:rPr>
              <a:t>， </a:t>
            </a:r>
            <a:r>
              <a:rPr sz="1400" dirty="0">
                <a:latin typeface="微软雅黑" panose="020B0503020204020204" charset="-122"/>
                <a:cs typeface="微软雅黑" panose="020B0503020204020204" charset="-122"/>
              </a:rPr>
              <a:t>该配置是为了减少面积开销</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298450" marR="5080" indent="-285750">
              <a:lnSpc>
                <a:spcPct val="150000"/>
              </a:lnSpc>
              <a:buFont typeface="Wingdings" panose="05000000000000000000"/>
              <a:buChar char=""/>
              <a:tabLst>
                <a:tab pos="297815" algn="l"/>
                <a:tab pos="298450" algn="l"/>
              </a:tabLst>
            </a:pPr>
            <a:r>
              <a:rPr sz="1400" spc="-5" dirty="0">
                <a:latin typeface="微软雅黑" panose="020B0503020204020204" charset="-122"/>
                <a:cs typeface="微软雅黑" panose="020B0503020204020204" charset="-122"/>
              </a:rPr>
              <a:t>为了防止IFU访问设备地址产生不可预知的结果，如果发生则通过起反馈通道</a:t>
            </a:r>
            <a:r>
              <a:rPr sz="1400" dirty="0">
                <a:latin typeface="微软雅黑" panose="020B0503020204020204" charset="-122"/>
                <a:cs typeface="微软雅黑" panose="020B0503020204020204" charset="-122"/>
              </a:rPr>
              <a:t>返 </a:t>
            </a:r>
            <a:r>
              <a:rPr sz="1400" dirty="0">
                <a:latin typeface="微软雅黑" panose="020B0503020204020204" charset="-122"/>
                <a:cs typeface="微软雅黑" panose="020B0503020204020204" charset="-122"/>
              </a:rPr>
              <a:t>回错误标志结果</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p:txBody>
      </p:sp>
      <p:sp>
        <p:nvSpPr>
          <p:cNvPr id="6" name="object 6"/>
          <p:cNvSpPr/>
          <p:nvPr/>
        </p:nvSpPr>
        <p:spPr>
          <a:xfrm>
            <a:off x="7653337" y="1927618"/>
            <a:ext cx="3216275" cy="3609340"/>
          </a:xfrm>
          <a:custGeom>
            <a:avLst/>
            <a:gdLst/>
            <a:ahLst/>
            <a:cxnLst/>
            <a:rect l="l" t="t" r="r" b="b"/>
            <a:pathLst>
              <a:path w="3216275" h="3609340">
                <a:moveTo>
                  <a:pt x="3216275" y="3609174"/>
                </a:moveTo>
                <a:lnTo>
                  <a:pt x="0" y="3609174"/>
                </a:lnTo>
                <a:lnTo>
                  <a:pt x="0" y="0"/>
                </a:lnTo>
                <a:lnTo>
                  <a:pt x="3216275" y="0"/>
                </a:lnTo>
                <a:lnTo>
                  <a:pt x="3216275" y="14287"/>
                </a:lnTo>
                <a:lnTo>
                  <a:pt x="28575" y="14287"/>
                </a:lnTo>
                <a:lnTo>
                  <a:pt x="14287" y="28575"/>
                </a:lnTo>
                <a:lnTo>
                  <a:pt x="28575" y="28575"/>
                </a:lnTo>
                <a:lnTo>
                  <a:pt x="28575" y="3580599"/>
                </a:lnTo>
                <a:lnTo>
                  <a:pt x="14287" y="3580599"/>
                </a:lnTo>
                <a:lnTo>
                  <a:pt x="28575" y="3594887"/>
                </a:lnTo>
                <a:lnTo>
                  <a:pt x="3216275" y="3594887"/>
                </a:lnTo>
                <a:lnTo>
                  <a:pt x="3216275" y="3609174"/>
                </a:lnTo>
                <a:close/>
              </a:path>
              <a:path w="3216275" h="3609340">
                <a:moveTo>
                  <a:pt x="28575" y="28575"/>
                </a:moveTo>
                <a:lnTo>
                  <a:pt x="14287" y="28575"/>
                </a:lnTo>
                <a:lnTo>
                  <a:pt x="28575" y="14287"/>
                </a:lnTo>
                <a:lnTo>
                  <a:pt x="28575" y="28575"/>
                </a:lnTo>
                <a:close/>
              </a:path>
              <a:path w="3216275" h="3609340">
                <a:moveTo>
                  <a:pt x="3187700" y="28575"/>
                </a:moveTo>
                <a:lnTo>
                  <a:pt x="28575" y="28575"/>
                </a:lnTo>
                <a:lnTo>
                  <a:pt x="28575" y="14287"/>
                </a:lnTo>
                <a:lnTo>
                  <a:pt x="3187700" y="14287"/>
                </a:lnTo>
                <a:lnTo>
                  <a:pt x="3187700" y="28575"/>
                </a:lnTo>
                <a:close/>
              </a:path>
              <a:path w="3216275" h="3609340">
                <a:moveTo>
                  <a:pt x="3187700" y="3594887"/>
                </a:moveTo>
                <a:lnTo>
                  <a:pt x="3187700" y="14287"/>
                </a:lnTo>
                <a:lnTo>
                  <a:pt x="3201987" y="28575"/>
                </a:lnTo>
                <a:lnTo>
                  <a:pt x="3216275" y="28575"/>
                </a:lnTo>
                <a:lnTo>
                  <a:pt x="3216275" y="3580599"/>
                </a:lnTo>
                <a:lnTo>
                  <a:pt x="3201987" y="3580599"/>
                </a:lnTo>
                <a:lnTo>
                  <a:pt x="3187700" y="3594887"/>
                </a:lnTo>
                <a:close/>
              </a:path>
              <a:path w="3216275" h="3609340">
                <a:moveTo>
                  <a:pt x="3216275" y="28575"/>
                </a:moveTo>
                <a:lnTo>
                  <a:pt x="3201987" y="28575"/>
                </a:lnTo>
                <a:lnTo>
                  <a:pt x="3187700" y="14287"/>
                </a:lnTo>
                <a:lnTo>
                  <a:pt x="3216275" y="14287"/>
                </a:lnTo>
                <a:lnTo>
                  <a:pt x="3216275" y="28575"/>
                </a:lnTo>
                <a:close/>
              </a:path>
              <a:path w="3216275" h="3609340">
                <a:moveTo>
                  <a:pt x="28575" y="3594887"/>
                </a:moveTo>
                <a:lnTo>
                  <a:pt x="14287" y="3580599"/>
                </a:lnTo>
                <a:lnTo>
                  <a:pt x="28575" y="3580599"/>
                </a:lnTo>
                <a:lnTo>
                  <a:pt x="28575" y="3594887"/>
                </a:lnTo>
                <a:close/>
              </a:path>
              <a:path w="3216275" h="3609340">
                <a:moveTo>
                  <a:pt x="3187700" y="3594887"/>
                </a:moveTo>
                <a:lnTo>
                  <a:pt x="28575" y="3594887"/>
                </a:lnTo>
                <a:lnTo>
                  <a:pt x="28575" y="3580599"/>
                </a:lnTo>
                <a:lnTo>
                  <a:pt x="3187700" y="3580599"/>
                </a:lnTo>
                <a:lnTo>
                  <a:pt x="3187700" y="3594887"/>
                </a:lnTo>
                <a:close/>
              </a:path>
              <a:path w="3216275" h="3609340">
                <a:moveTo>
                  <a:pt x="3216275" y="3594887"/>
                </a:moveTo>
                <a:lnTo>
                  <a:pt x="3187700" y="3594887"/>
                </a:lnTo>
                <a:lnTo>
                  <a:pt x="3201987" y="3580599"/>
                </a:lnTo>
                <a:lnTo>
                  <a:pt x="3216275" y="3580599"/>
                </a:lnTo>
                <a:lnTo>
                  <a:pt x="3216275" y="3594887"/>
                </a:lnTo>
                <a:close/>
              </a:path>
            </a:pathLst>
          </a:custGeom>
          <a:solidFill>
            <a:srgbClr val="C00000"/>
          </a:solidFill>
        </p:spPr>
        <p:txBody>
          <a:bodyPr wrap="square" lIns="0" tIns="0" rIns="0" bIns="0" rtlCol="0"/>
          <a:lstStyle/>
          <a:p/>
        </p:txBody>
      </p:sp>
      <p:sp>
        <p:nvSpPr>
          <p:cNvPr id="7" name="object 7"/>
          <p:cNvSpPr txBox="1"/>
          <p:nvPr/>
        </p:nvSpPr>
        <p:spPr>
          <a:xfrm>
            <a:off x="7887296" y="1975510"/>
            <a:ext cx="551180" cy="451484"/>
          </a:xfrm>
          <a:prstGeom prst="rect">
            <a:avLst/>
          </a:prstGeom>
        </p:spPr>
        <p:txBody>
          <a:bodyPr vert="horz" wrap="square" lIns="0" tIns="12065" rIns="0" bIns="0" rtlCol="0">
            <a:spAutoFit/>
          </a:bodyPr>
          <a:lstStyle/>
          <a:p>
            <a:pPr marL="12700">
              <a:lnSpc>
                <a:spcPct val="100000"/>
              </a:lnSpc>
              <a:spcBef>
                <a:spcPts val="95"/>
              </a:spcBef>
            </a:pPr>
            <a:r>
              <a:rPr sz="2800" b="1" spc="-5" dirty="0">
                <a:solidFill>
                  <a:srgbClr val="C00000"/>
                </a:solidFill>
                <a:latin typeface="Calibri" panose="020F0502020204030204"/>
                <a:cs typeface="Calibri" panose="020F0502020204030204"/>
              </a:rPr>
              <a:t>B</a:t>
            </a:r>
            <a:r>
              <a:rPr sz="2800" b="1" spc="-10" dirty="0">
                <a:solidFill>
                  <a:srgbClr val="C00000"/>
                </a:solidFill>
                <a:latin typeface="Calibri" panose="020F0502020204030204"/>
                <a:cs typeface="Calibri" panose="020F0502020204030204"/>
              </a:rPr>
              <a:t>I</a:t>
            </a:r>
            <a:r>
              <a:rPr sz="2800" b="1" spc="-5" dirty="0">
                <a:solidFill>
                  <a:srgbClr val="C00000"/>
                </a:solidFill>
                <a:latin typeface="Calibri" panose="020F0502020204030204"/>
                <a:cs typeface="Calibri" panose="020F0502020204030204"/>
              </a:rPr>
              <a:t>U</a:t>
            </a:r>
            <a:endParaRPr sz="2800">
              <a:latin typeface="Calibri" panose="020F0502020204030204"/>
              <a:cs typeface="Calibri" panose="020F0502020204030204"/>
            </a:endParaRPr>
          </a:p>
        </p:txBody>
      </p:sp>
      <p:sp>
        <p:nvSpPr>
          <p:cNvPr id="8" name="object 8"/>
          <p:cNvSpPr/>
          <p:nvPr/>
        </p:nvSpPr>
        <p:spPr>
          <a:xfrm>
            <a:off x="8705088" y="4949952"/>
            <a:ext cx="1135380" cy="264160"/>
          </a:xfrm>
          <a:custGeom>
            <a:avLst/>
            <a:gdLst/>
            <a:ahLst/>
            <a:cxnLst/>
            <a:rect l="l" t="t" r="r" b="b"/>
            <a:pathLst>
              <a:path w="1135379" h="264160">
                <a:moveTo>
                  <a:pt x="1135379" y="263651"/>
                </a:moveTo>
                <a:lnTo>
                  <a:pt x="0" y="263651"/>
                </a:lnTo>
                <a:lnTo>
                  <a:pt x="121919" y="0"/>
                </a:lnTo>
                <a:lnTo>
                  <a:pt x="1011935" y="0"/>
                </a:lnTo>
                <a:lnTo>
                  <a:pt x="1135379" y="263651"/>
                </a:lnTo>
                <a:close/>
              </a:path>
            </a:pathLst>
          </a:custGeom>
          <a:solidFill>
            <a:srgbClr val="D9D9D9"/>
          </a:solidFill>
        </p:spPr>
        <p:txBody>
          <a:bodyPr wrap="square" lIns="0" tIns="0" rIns="0" bIns="0" rtlCol="0"/>
          <a:lstStyle/>
          <a:p/>
        </p:txBody>
      </p:sp>
      <p:sp>
        <p:nvSpPr>
          <p:cNvPr id="9" name="object 9"/>
          <p:cNvSpPr/>
          <p:nvPr/>
        </p:nvSpPr>
        <p:spPr>
          <a:xfrm>
            <a:off x="8694394" y="4944109"/>
            <a:ext cx="1156335" cy="276860"/>
          </a:xfrm>
          <a:custGeom>
            <a:avLst/>
            <a:gdLst/>
            <a:ahLst/>
            <a:cxnLst/>
            <a:rect l="l" t="t" r="r" b="b"/>
            <a:pathLst>
              <a:path w="1156334" h="276860">
                <a:moveTo>
                  <a:pt x="1155763" y="276364"/>
                </a:moveTo>
                <a:lnTo>
                  <a:pt x="0" y="276364"/>
                </a:lnTo>
                <a:lnTo>
                  <a:pt x="129260" y="0"/>
                </a:lnTo>
                <a:lnTo>
                  <a:pt x="1026515" y="0"/>
                </a:lnTo>
                <a:lnTo>
                  <a:pt x="1030744" y="9042"/>
                </a:lnTo>
                <a:lnTo>
                  <a:pt x="139052" y="9042"/>
                </a:lnTo>
                <a:lnTo>
                  <a:pt x="133299" y="12700"/>
                </a:lnTo>
                <a:lnTo>
                  <a:pt x="137341" y="12700"/>
                </a:lnTo>
                <a:lnTo>
                  <a:pt x="19964" y="263664"/>
                </a:lnTo>
                <a:lnTo>
                  <a:pt x="9982" y="263664"/>
                </a:lnTo>
                <a:lnTo>
                  <a:pt x="15735" y="272707"/>
                </a:lnTo>
                <a:lnTo>
                  <a:pt x="1154052" y="272707"/>
                </a:lnTo>
                <a:lnTo>
                  <a:pt x="1155763" y="276364"/>
                </a:lnTo>
                <a:close/>
              </a:path>
              <a:path w="1156334" h="276860">
                <a:moveTo>
                  <a:pt x="137341" y="12700"/>
                </a:moveTo>
                <a:lnTo>
                  <a:pt x="133299" y="12700"/>
                </a:lnTo>
                <a:lnTo>
                  <a:pt x="139052" y="9042"/>
                </a:lnTo>
                <a:lnTo>
                  <a:pt x="137341" y="12700"/>
                </a:lnTo>
                <a:close/>
              </a:path>
              <a:path w="1156334" h="276860">
                <a:moveTo>
                  <a:pt x="1018434" y="12700"/>
                </a:moveTo>
                <a:lnTo>
                  <a:pt x="137341" y="12700"/>
                </a:lnTo>
                <a:lnTo>
                  <a:pt x="139052" y="9042"/>
                </a:lnTo>
                <a:lnTo>
                  <a:pt x="1016723" y="9042"/>
                </a:lnTo>
                <a:lnTo>
                  <a:pt x="1018434" y="12700"/>
                </a:lnTo>
                <a:close/>
              </a:path>
              <a:path w="1156334" h="276860">
                <a:moveTo>
                  <a:pt x="1140040" y="272707"/>
                </a:moveTo>
                <a:lnTo>
                  <a:pt x="1016723" y="9042"/>
                </a:lnTo>
                <a:lnTo>
                  <a:pt x="1022476" y="12700"/>
                </a:lnTo>
                <a:lnTo>
                  <a:pt x="1032455" y="12700"/>
                </a:lnTo>
                <a:lnTo>
                  <a:pt x="1149824" y="263664"/>
                </a:lnTo>
                <a:lnTo>
                  <a:pt x="1145794" y="263664"/>
                </a:lnTo>
                <a:lnTo>
                  <a:pt x="1140040" y="272707"/>
                </a:lnTo>
                <a:close/>
              </a:path>
              <a:path w="1156334" h="276860">
                <a:moveTo>
                  <a:pt x="1032455" y="12700"/>
                </a:moveTo>
                <a:lnTo>
                  <a:pt x="1022476" y="12700"/>
                </a:lnTo>
                <a:lnTo>
                  <a:pt x="1016723" y="9042"/>
                </a:lnTo>
                <a:lnTo>
                  <a:pt x="1030744" y="9042"/>
                </a:lnTo>
                <a:lnTo>
                  <a:pt x="1032455" y="12700"/>
                </a:lnTo>
                <a:close/>
              </a:path>
              <a:path w="1156334" h="276860">
                <a:moveTo>
                  <a:pt x="15735" y="272707"/>
                </a:moveTo>
                <a:lnTo>
                  <a:pt x="9982" y="263664"/>
                </a:lnTo>
                <a:lnTo>
                  <a:pt x="19964" y="263664"/>
                </a:lnTo>
                <a:lnTo>
                  <a:pt x="15735" y="272707"/>
                </a:lnTo>
                <a:close/>
              </a:path>
              <a:path w="1156334" h="276860">
                <a:moveTo>
                  <a:pt x="1140040" y="272707"/>
                </a:moveTo>
                <a:lnTo>
                  <a:pt x="15735" y="272707"/>
                </a:lnTo>
                <a:lnTo>
                  <a:pt x="19964" y="263664"/>
                </a:lnTo>
                <a:lnTo>
                  <a:pt x="1135811" y="263664"/>
                </a:lnTo>
                <a:lnTo>
                  <a:pt x="1140040" y="272707"/>
                </a:lnTo>
                <a:close/>
              </a:path>
              <a:path w="1156334" h="276860">
                <a:moveTo>
                  <a:pt x="1154052" y="272707"/>
                </a:moveTo>
                <a:lnTo>
                  <a:pt x="1140040" y="272707"/>
                </a:lnTo>
                <a:lnTo>
                  <a:pt x="1145794" y="263664"/>
                </a:lnTo>
                <a:lnTo>
                  <a:pt x="1149824" y="263664"/>
                </a:lnTo>
                <a:lnTo>
                  <a:pt x="1154052" y="272707"/>
                </a:lnTo>
                <a:close/>
              </a:path>
            </a:pathLst>
          </a:custGeom>
          <a:solidFill>
            <a:srgbClr val="C00000"/>
          </a:solidFill>
        </p:spPr>
        <p:txBody>
          <a:bodyPr wrap="square" lIns="0" tIns="0" rIns="0" bIns="0" rtlCol="0"/>
          <a:lstStyle/>
          <a:p/>
        </p:txBody>
      </p:sp>
      <p:sp>
        <p:nvSpPr>
          <p:cNvPr id="10" name="object 10"/>
          <p:cNvSpPr txBox="1"/>
          <p:nvPr/>
        </p:nvSpPr>
        <p:spPr>
          <a:xfrm>
            <a:off x="8926918" y="5003203"/>
            <a:ext cx="690245" cy="162560"/>
          </a:xfrm>
          <a:prstGeom prst="rect">
            <a:avLst/>
          </a:prstGeom>
        </p:spPr>
        <p:txBody>
          <a:bodyPr vert="horz" wrap="square" lIns="0" tIns="12700" rIns="0" bIns="0" rtlCol="0">
            <a:spAutoFit/>
          </a:bodyPr>
          <a:lstStyle/>
          <a:p>
            <a:pPr marL="12700">
              <a:lnSpc>
                <a:spcPct val="100000"/>
              </a:lnSpc>
              <a:spcBef>
                <a:spcPts val="100"/>
              </a:spcBef>
            </a:pPr>
            <a:r>
              <a:rPr sz="900" b="1" spc="-5" dirty="0">
                <a:solidFill>
                  <a:srgbClr val="C00000"/>
                </a:solidFill>
                <a:latin typeface="微软雅黑" panose="020B0503020204020204" charset="-122"/>
                <a:cs typeface="微软雅黑" panose="020B0503020204020204" charset="-122"/>
              </a:rPr>
              <a:t>2:1</a:t>
            </a:r>
            <a:r>
              <a:rPr sz="900" b="1" spc="-65" dirty="0">
                <a:solidFill>
                  <a:srgbClr val="C00000"/>
                </a:solidFill>
                <a:latin typeface="微软雅黑" panose="020B0503020204020204" charset="-122"/>
                <a:cs typeface="微软雅黑" panose="020B0503020204020204" charset="-122"/>
              </a:rPr>
              <a:t> </a:t>
            </a:r>
            <a:r>
              <a:rPr sz="900" b="1" dirty="0">
                <a:solidFill>
                  <a:srgbClr val="C00000"/>
                </a:solidFill>
                <a:latin typeface="微软雅黑" panose="020B0503020204020204" charset="-122"/>
                <a:cs typeface="微软雅黑" panose="020B0503020204020204" charset="-122"/>
              </a:rPr>
              <a:t>仲裁汇合</a:t>
            </a:r>
            <a:endParaRPr sz="900">
              <a:latin typeface="微软雅黑" panose="020B0503020204020204" charset="-122"/>
              <a:cs typeface="微软雅黑" panose="020B0503020204020204" charset="-122"/>
            </a:endParaRPr>
          </a:p>
        </p:txBody>
      </p:sp>
      <p:sp>
        <p:nvSpPr>
          <p:cNvPr id="11" name="object 11"/>
          <p:cNvSpPr/>
          <p:nvPr/>
        </p:nvSpPr>
        <p:spPr>
          <a:xfrm>
            <a:off x="8705088" y="3029711"/>
            <a:ext cx="1109980" cy="624840"/>
          </a:xfrm>
          <a:custGeom>
            <a:avLst/>
            <a:gdLst/>
            <a:ahLst/>
            <a:cxnLst/>
            <a:rect l="l" t="t" r="r" b="b"/>
            <a:pathLst>
              <a:path w="1109979" h="624839">
                <a:moveTo>
                  <a:pt x="0" y="0"/>
                </a:moveTo>
                <a:lnTo>
                  <a:pt x="1109472" y="0"/>
                </a:lnTo>
                <a:lnTo>
                  <a:pt x="1109472" y="624839"/>
                </a:lnTo>
                <a:lnTo>
                  <a:pt x="0" y="624839"/>
                </a:lnTo>
                <a:lnTo>
                  <a:pt x="0" y="0"/>
                </a:lnTo>
                <a:close/>
              </a:path>
            </a:pathLst>
          </a:custGeom>
          <a:solidFill>
            <a:srgbClr val="D9D9D9"/>
          </a:solidFill>
        </p:spPr>
        <p:txBody>
          <a:bodyPr wrap="square" lIns="0" tIns="0" rIns="0" bIns="0" rtlCol="0"/>
          <a:lstStyle/>
          <a:p/>
        </p:txBody>
      </p:sp>
      <p:sp>
        <p:nvSpPr>
          <p:cNvPr id="12" name="object 12"/>
          <p:cNvSpPr/>
          <p:nvPr/>
        </p:nvSpPr>
        <p:spPr>
          <a:xfrm>
            <a:off x="8698331" y="3022854"/>
            <a:ext cx="1123315" cy="638810"/>
          </a:xfrm>
          <a:custGeom>
            <a:avLst/>
            <a:gdLst/>
            <a:ahLst/>
            <a:cxnLst/>
            <a:rect l="l" t="t" r="r" b="b"/>
            <a:pathLst>
              <a:path w="1123315" h="638810">
                <a:moveTo>
                  <a:pt x="1123289" y="638314"/>
                </a:moveTo>
                <a:lnTo>
                  <a:pt x="0" y="638314"/>
                </a:lnTo>
                <a:lnTo>
                  <a:pt x="0" y="0"/>
                </a:lnTo>
                <a:lnTo>
                  <a:pt x="1123289" y="0"/>
                </a:lnTo>
                <a:lnTo>
                  <a:pt x="1123289" y="6350"/>
                </a:lnTo>
                <a:lnTo>
                  <a:pt x="12700" y="6350"/>
                </a:lnTo>
                <a:lnTo>
                  <a:pt x="6350" y="12700"/>
                </a:lnTo>
                <a:lnTo>
                  <a:pt x="12700" y="12700"/>
                </a:lnTo>
                <a:lnTo>
                  <a:pt x="12700" y="625614"/>
                </a:lnTo>
                <a:lnTo>
                  <a:pt x="6350" y="625614"/>
                </a:lnTo>
                <a:lnTo>
                  <a:pt x="12700" y="631964"/>
                </a:lnTo>
                <a:lnTo>
                  <a:pt x="1123289" y="631964"/>
                </a:lnTo>
                <a:lnTo>
                  <a:pt x="1123289" y="638314"/>
                </a:lnTo>
                <a:close/>
              </a:path>
              <a:path w="1123315" h="638810">
                <a:moveTo>
                  <a:pt x="12700" y="12700"/>
                </a:moveTo>
                <a:lnTo>
                  <a:pt x="6350" y="12700"/>
                </a:lnTo>
                <a:lnTo>
                  <a:pt x="12700" y="6350"/>
                </a:lnTo>
                <a:lnTo>
                  <a:pt x="12700" y="12700"/>
                </a:lnTo>
                <a:close/>
              </a:path>
              <a:path w="1123315" h="638810">
                <a:moveTo>
                  <a:pt x="1110589" y="12700"/>
                </a:moveTo>
                <a:lnTo>
                  <a:pt x="12700" y="12700"/>
                </a:lnTo>
                <a:lnTo>
                  <a:pt x="12700" y="6350"/>
                </a:lnTo>
                <a:lnTo>
                  <a:pt x="1110589" y="6350"/>
                </a:lnTo>
                <a:lnTo>
                  <a:pt x="1110589" y="12700"/>
                </a:lnTo>
                <a:close/>
              </a:path>
              <a:path w="1123315" h="638810">
                <a:moveTo>
                  <a:pt x="1110589" y="631964"/>
                </a:moveTo>
                <a:lnTo>
                  <a:pt x="1110589" y="6350"/>
                </a:lnTo>
                <a:lnTo>
                  <a:pt x="1116939" y="12700"/>
                </a:lnTo>
                <a:lnTo>
                  <a:pt x="1123289" y="12700"/>
                </a:lnTo>
                <a:lnTo>
                  <a:pt x="1123289" y="625614"/>
                </a:lnTo>
                <a:lnTo>
                  <a:pt x="1116939" y="625614"/>
                </a:lnTo>
                <a:lnTo>
                  <a:pt x="1110589" y="631964"/>
                </a:lnTo>
                <a:close/>
              </a:path>
              <a:path w="1123315" h="638810">
                <a:moveTo>
                  <a:pt x="1123289" y="12700"/>
                </a:moveTo>
                <a:lnTo>
                  <a:pt x="1116939" y="12700"/>
                </a:lnTo>
                <a:lnTo>
                  <a:pt x="1110589" y="6350"/>
                </a:lnTo>
                <a:lnTo>
                  <a:pt x="1123289" y="6350"/>
                </a:lnTo>
                <a:lnTo>
                  <a:pt x="1123289" y="12700"/>
                </a:lnTo>
                <a:close/>
              </a:path>
              <a:path w="1123315" h="638810">
                <a:moveTo>
                  <a:pt x="12700" y="631964"/>
                </a:moveTo>
                <a:lnTo>
                  <a:pt x="6350" y="625614"/>
                </a:lnTo>
                <a:lnTo>
                  <a:pt x="12700" y="625614"/>
                </a:lnTo>
                <a:lnTo>
                  <a:pt x="12700" y="631964"/>
                </a:lnTo>
                <a:close/>
              </a:path>
              <a:path w="1123315" h="638810">
                <a:moveTo>
                  <a:pt x="1110589" y="631964"/>
                </a:moveTo>
                <a:lnTo>
                  <a:pt x="12700" y="631964"/>
                </a:lnTo>
                <a:lnTo>
                  <a:pt x="12700" y="625614"/>
                </a:lnTo>
                <a:lnTo>
                  <a:pt x="1110589" y="625614"/>
                </a:lnTo>
                <a:lnTo>
                  <a:pt x="1110589" y="631964"/>
                </a:lnTo>
                <a:close/>
              </a:path>
              <a:path w="1123315" h="638810">
                <a:moveTo>
                  <a:pt x="1123289" y="631964"/>
                </a:moveTo>
                <a:lnTo>
                  <a:pt x="1110589" y="631964"/>
                </a:lnTo>
                <a:lnTo>
                  <a:pt x="1116939" y="625614"/>
                </a:lnTo>
                <a:lnTo>
                  <a:pt x="1123289" y="625614"/>
                </a:lnTo>
                <a:lnTo>
                  <a:pt x="1123289" y="631964"/>
                </a:lnTo>
                <a:close/>
              </a:path>
            </a:pathLst>
          </a:custGeom>
          <a:solidFill>
            <a:srgbClr val="C00000"/>
          </a:solidFill>
        </p:spPr>
        <p:txBody>
          <a:bodyPr wrap="square" lIns="0" tIns="0" rIns="0" bIns="0" rtlCol="0"/>
          <a:lstStyle/>
          <a:p/>
        </p:txBody>
      </p:sp>
      <p:sp>
        <p:nvSpPr>
          <p:cNvPr id="13" name="object 13"/>
          <p:cNvSpPr/>
          <p:nvPr/>
        </p:nvSpPr>
        <p:spPr>
          <a:xfrm>
            <a:off x="8560307" y="2281427"/>
            <a:ext cx="1411605" cy="417830"/>
          </a:xfrm>
          <a:custGeom>
            <a:avLst/>
            <a:gdLst/>
            <a:ahLst/>
            <a:cxnLst/>
            <a:rect l="l" t="t" r="r" b="b"/>
            <a:pathLst>
              <a:path w="1411604" h="417830">
                <a:moveTo>
                  <a:pt x="1216152" y="417576"/>
                </a:moveTo>
                <a:lnTo>
                  <a:pt x="195072" y="417576"/>
                </a:lnTo>
                <a:lnTo>
                  <a:pt x="0" y="0"/>
                </a:lnTo>
                <a:lnTo>
                  <a:pt x="1411224" y="0"/>
                </a:lnTo>
                <a:lnTo>
                  <a:pt x="1216152" y="417576"/>
                </a:lnTo>
                <a:close/>
              </a:path>
            </a:pathLst>
          </a:custGeom>
          <a:solidFill>
            <a:srgbClr val="D9D9D9"/>
          </a:solidFill>
        </p:spPr>
        <p:txBody>
          <a:bodyPr wrap="square" lIns="0" tIns="0" rIns="0" bIns="0" rtlCol="0"/>
          <a:lstStyle/>
          <a:p/>
        </p:txBody>
      </p:sp>
      <p:sp>
        <p:nvSpPr>
          <p:cNvPr id="14" name="object 14"/>
          <p:cNvSpPr/>
          <p:nvPr/>
        </p:nvSpPr>
        <p:spPr>
          <a:xfrm>
            <a:off x="8550326" y="2275141"/>
            <a:ext cx="1431925" cy="431165"/>
          </a:xfrm>
          <a:custGeom>
            <a:avLst/>
            <a:gdLst/>
            <a:ahLst/>
            <a:cxnLst/>
            <a:rect l="l" t="t" r="r" b="b"/>
            <a:pathLst>
              <a:path w="1431925" h="431164">
                <a:moveTo>
                  <a:pt x="1230528" y="430542"/>
                </a:moveTo>
                <a:lnTo>
                  <a:pt x="201371" y="430542"/>
                </a:lnTo>
                <a:lnTo>
                  <a:pt x="0" y="0"/>
                </a:lnTo>
                <a:lnTo>
                  <a:pt x="1431912" y="0"/>
                </a:lnTo>
                <a:lnTo>
                  <a:pt x="1430201" y="3657"/>
                </a:lnTo>
                <a:lnTo>
                  <a:pt x="15722" y="3657"/>
                </a:lnTo>
                <a:lnTo>
                  <a:pt x="9969" y="12700"/>
                </a:lnTo>
                <a:lnTo>
                  <a:pt x="19951" y="12700"/>
                </a:lnTo>
                <a:lnTo>
                  <a:pt x="209446" y="417842"/>
                </a:lnTo>
                <a:lnTo>
                  <a:pt x="205409" y="417842"/>
                </a:lnTo>
                <a:lnTo>
                  <a:pt x="211162" y="421513"/>
                </a:lnTo>
                <a:lnTo>
                  <a:pt x="1234751" y="421513"/>
                </a:lnTo>
                <a:lnTo>
                  <a:pt x="1230528" y="430542"/>
                </a:lnTo>
                <a:close/>
              </a:path>
              <a:path w="1431925" h="431164">
                <a:moveTo>
                  <a:pt x="19951" y="12700"/>
                </a:moveTo>
                <a:lnTo>
                  <a:pt x="9969" y="12700"/>
                </a:lnTo>
                <a:lnTo>
                  <a:pt x="15722" y="3657"/>
                </a:lnTo>
                <a:lnTo>
                  <a:pt x="19951" y="12700"/>
                </a:lnTo>
                <a:close/>
              </a:path>
              <a:path w="1431925" h="431164">
                <a:moveTo>
                  <a:pt x="1411947" y="12700"/>
                </a:moveTo>
                <a:lnTo>
                  <a:pt x="19951" y="12700"/>
                </a:lnTo>
                <a:lnTo>
                  <a:pt x="15722" y="3657"/>
                </a:lnTo>
                <a:lnTo>
                  <a:pt x="1416177" y="3657"/>
                </a:lnTo>
                <a:lnTo>
                  <a:pt x="1411947" y="12700"/>
                </a:lnTo>
                <a:close/>
              </a:path>
              <a:path w="1431925" h="431164">
                <a:moveTo>
                  <a:pt x="1220736" y="421513"/>
                </a:moveTo>
                <a:lnTo>
                  <a:pt x="1416177" y="3657"/>
                </a:lnTo>
                <a:lnTo>
                  <a:pt x="1421930" y="12700"/>
                </a:lnTo>
                <a:lnTo>
                  <a:pt x="1425971" y="12700"/>
                </a:lnTo>
                <a:lnTo>
                  <a:pt x="1236468" y="417842"/>
                </a:lnTo>
                <a:lnTo>
                  <a:pt x="1226489" y="417842"/>
                </a:lnTo>
                <a:lnTo>
                  <a:pt x="1220736" y="421513"/>
                </a:lnTo>
                <a:close/>
              </a:path>
              <a:path w="1431925" h="431164">
                <a:moveTo>
                  <a:pt x="1425971" y="12700"/>
                </a:moveTo>
                <a:lnTo>
                  <a:pt x="1421930" y="12700"/>
                </a:lnTo>
                <a:lnTo>
                  <a:pt x="1416177" y="3657"/>
                </a:lnTo>
                <a:lnTo>
                  <a:pt x="1430201" y="3657"/>
                </a:lnTo>
                <a:lnTo>
                  <a:pt x="1425971" y="12700"/>
                </a:lnTo>
                <a:close/>
              </a:path>
              <a:path w="1431925" h="431164">
                <a:moveTo>
                  <a:pt x="211162" y="421513"/>
                </a:moveTo>
                <a:lnTo>
                  <a:pt x="205409" y="417842"/>
                </a:lnTo>
                <a:lnTo>
                  <a:pt x="209446" y="417842"/>
                </a:lnTo>
                <a:lnTo>
                  <a:pt x="211162" y="421513"/>
                </a:lnTo>
                <a:close/>
              </a:path>
              <a:path w="1431925" h="431164">
                <a:moveTo>
                  <a:pt x="1220736" y="421513"/>
                </a:moveTo>
                <a:lnTo>
                  <a:pt x="211162" y="421513"/>
                </a:lnTo>
                <a:lnTo>
                  <a:pt x="209446" y="417842"/>
                </a:lnTo>
                <a:lnTo>
                  <a:pt x="1222453" y="417842"/>
                </a:lnTo>
                <a:lnTo>
                  <a:pt x="1220736" y="421513"/>
                </a:lnTo>
                <a:close/>
              </a:path>
              <a:path w="1431925" h="431164">
                <a:moveTo>
                  <a:pt x="1234751" y="421513"/>
                </a:moveTo>
                <a:lnTo>
                  <a:pt x="1220736" y="421513"/>
                </a:lnTo>
                <a:lnTo>
                  <a:pt x="1226489" y="417842"/>
                </a:lnTo>
                <a:lnTo>
                  <a:pt x="1236468" y="417842"/>
                </a:lnTo>
                <a:lnTo>
                  <a:pt x="1234751" y="421513"/>
                </a:lnTo>
                <a:close/>
              </a:path>
            </a:pathLst>
          </a:custGeom>
          <a:solidFill>
            <a:srgbClr val="C00000"/>
          </a:solidFill>
        </p:spPr>
        <p:txBody>
          <a:bodyPr wrap="square" lIns="0" tIns="0" rIns="0" bIns="0" rtlCol="0"/>
          <a:lstStyle/>
          <a:p/>
        </p:txBody>
      </p:sp>
      <p:sp>
        <p:nvSpPr>
          <p:cNvPr id="15" name="object 15"/>
          <p:cNvSpPr/>
          <p:nvPr/>
        </p:nvSpPr>
        <p:spPr>
          <a:xfrm>
            <a:off x="9042234" y="5213527"/>
            <a:ext cx="76200" cy="584200"/>
          </a:xfrm>
          <a:custGeom>
            <a:avLst/>
            <a:gdLst/>
            <a:ahLst/>
            <a:cxnLst/>
            <a:rect l="l" t="t" r="r" b="b"/>
            <a:pathLst>
              <a:path w="76200" h="584200">
                <a:moveTo>
                  <a:pt x="0" y="76276"/>
                </a:moveTo>
                <a:lnTo>
                  <a:pt x="37947" y="0"/>
                </a:lnTo>
                <a:lnTo>
                  <a:pt x="66659" y="57137"/>
                </a:lnTo>
                <a:lnTo>
                  <a:pt x="44411" y="57137"/>
                </a:lnTo>
                <a:lnTo>
                  <a:pt x="31711" y="57162"/>
                </a:lnTo>
                <a:lnTo>
                  <a:pt x="31750" y="76212"/>
                </a:lnTo>
                <a:lnTo>
                  <a:pt x="0" y="76276"/>
                </a:lnTo>
                <a:close/>
              </a:path>
              <a:path w="76200" h="584200">
                <a:moveTo>
                  <a:pt x="31750" y="76212"/>
                </a:moveTo>
                <a:lnTo>
                  <a:pt x="31711" y="57162"/>
                </a:lnTo>
                <a:lnTo>
                  <a:pt x="44411" y="57137"/>
                </a:lnTo>
                <a:lnTo>
                  <a:pt x="44450" y="76187"/>
                </a:lnTo>
                <a:lnTo>
                  <a:pt x="31750" y="76212"/>
                </a:lnTo>
                <a:close/>
              </a:path>
              <a:path w="76200" h="584200">
                <a:moveTo>
                  <a:pt x="44450" y="76187"/>
                </a:moveTo>
                <a:lnTo>
                  <a:pt x="44411" y="57137"/>
                </a:lnTo>
                <a:lnTo>
                  <a:pt x="66659" y="57137"/>
                </a:lnTo>
                <a:lnTo>
                  <a:pt x="76200" y="76123"/>
                </a:lnTo>
                <a:lnTo>
                  <a:pt x="44450" y="76187"/>
                </a:lnTo>
                <a:close/>
              </a:path>
              <a:path w="76200" h="584200">
                <a:moveTo>
                  <a:pt x="32791" y="583831"/>
                </a:moveTo>
                <a:lnTo>
                  <a:pt x="31750" y="76212"/>
                </a:lnTo>
                <a:lnTo>
                  <a:pt x="44450" y="76187"/>
                </a:lnTo>
                <a:lnTo>
                  <a:pt x="45491" y="583806"/>
                </a:lnTo>
                <a:lnTo>
                  <a:pt x="32791" y="583831"/>
                </a:lnTo>
                <a:close/>
              </a:path>
            </a:pathLst>
          </a:custGeom>
          <a:solidFill>
            <a:srgbClr val="C00000"/>
          </a:solidFill>
        </p:spPr>
        <p:txBody>
          <a:bodyPr wrap="square" lIns="0" tIns="0" rIns="0" bIns="0" rtlCol="0"/>
          <a:lstStyle/>
          <a:p/>
        </p:txBody>
      </p:sp>
      <p:sp>
        <p:nvSpPr>
          <p:cNvPr id="16" name="object 16"/>
          <p:cNvSpPr txBox="1"/>
          <p:nvPr/>
        </p:nvSpPr>
        <p:spPr>
          <a:xfrm>
            <a:off x="8480552" y="5717247"/>
            <a:ext cx="692785" cy="329565"/>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C00000"/>
                </a:solidFill>
                <a:latin typeface="微软雅黑" panose="020B0503020204020204" charset="-122"/>
                <a:cs typeface="微软雅黑" panose="020B0503020204020204" charset="-122"/>
              </a:rPr>
              <a:t>LSU</a:t>
            </a:r>
            <a:r>
              <a:rPr sz="1000" dirty="0">
                <a:solidFill>
                  <a:srgbClr val="C00000"/>
                </a:solidFill>
                <a:latin typeface="微软雅黑" panose="020B0503020204020204" charset="-122"/>
                <a:cs typeface="微软雅黑" panose="020B0503020204020204" charset="-122"/>
              </a:rPr>
              <a:t>访</a:t>
            </a:r>
            <a:r>
              <a:rPr sz="1000" spc="-5" dirty="0">
                <a:solidFill>
                  <a:srgbClr val="C00000"/>
                </a:solidFill>
                <a:latin typeface="微软雅黑" panose="020B0503020204020204" charset="-122"/>
                <a:cs typeface="微软雅黑" panose="020B0503020204020204" charset="-122"/>
              </a:rPr>
              <a:t>问</a:t>
            </a:r>
            <a:endParaRPr sz="1000">
              <a:latin typeface="微软雅黑" panose="020B0503020204020204" charset="-122"/>
              <a:cs typeface="微软雅黑" panose="020B0503020204020204" charset="-122"/>
            </a:endParaRPr>
          </a:p>
          <a:p>
            <a:pPr marL="12700">
              <a:lnSpc>
                <a:spcPct val="100000"/>
              </a:lnSpc>
            </a:pPr>
            <a:r>
              <a:rPr sz="1000" spc="-5" dirty="0">
                <a:solidFill>
                  <a:srgbClr val="C00000"/>
                </a:solidFill>
                <a:latin typeface="微软雅黑" panose="020B0503020204020204" charset="-122"/>
                <a:cs typeface="微软雅黑" panose="020B0503020204020204" charset="-122"/>
              </a:rPr>
              <a:t>BIU</a:t>
            </a:r>
            <a:r>
              <a:rPr sz="1000" dirty="0">
                <a:solidFill>
                  <a:srgbClr val="C00000"/>
                </a:solidFill>
                <a:latin typeface="微软雅黑" panose="020B0503020204020204" charset="-122"/>
                <a:cs typeface="微软雅黑" panose="020B0503020204020204" charset="-122"/>
              </a:rPr>
              <a:t>接口</a:t>
            </a:r>
            <a:r>
              <a:rPr sz="1000" spc="-5" dirty="0">
                <a:solidFill>
                  <a:srgbClr val="C00000"/>
                </a:solidFill>
                <a:latin typeface="微软雅黑" panose="020B0503020204020204" charset="-122"/>
                <a:cs typeface="微软雅黑" panose="020B0503020204020204" charset="-122"/>
              </a:rPr>
              <a:t>ICB</a:t>
            </a:r>
            <a:endParaRPr sz="1000">
              <a:latin typeface="微软雅黑" panose="020B0503020204020204" charset="-122"/>
              <a:cs typeface="微软雅黑" panose="020B0503020204020204" charset="-122"/>
            </a:endParaRPr>
          </a:p>
        </p:txBody>
      </p:sp>
      <p:sp>
        <p:nvSpPr>
          <p:cNvPr id="17" name="object 17"/>
          <p:cNvSpPr txBox="1"/>
          <p:nvPr/>
        </p:nvSpPr>
        <p:spPr>
          <a:xfrm>
            <a:off x="9304121" y="5717247"/>
            <a:ext cx="692785" cy="329565"/>
          </a:xfrm>
          <a:prstGeom prst="rect">
            <a:avLst/>
          </a:prstGeom>
        </p:spPr>
        <p:txBody>
          <a:bodyPr vert="horz" wrap="square" lIns="0" tIns="12065" rIns="0" bIns="0" rtlCol="0">
            <a:spAutoFit/>
          </a:bodyPr>
          <a:lstStyle/>
          <a:p>
            <a:pPr marL="226695">
              <a:lnSpc>
                <a:spcPct val="100000"/>
              </a:lnSpc>
              <a:spcBef>
                <a:spcPts val="95"/>
              </a:spcBef>
            </a:pPr>
            <a:r>
              <a:rPr sz="1000" spc="-5" dirty="0">
                <a:solidFill>
                  <a:srgbClr val="C00000"/>
                </a:solidFill>
                <a:latin typeface="微软雅黑" panose="020B0503020204020204" charset="-122"/>
                <a:cs typeface="微软雅黑" panose="020B0503020204020204" charset="-122"/>
              </a:rPr>
              <a:t>IFU</a:t>
            </a:r>
            <a:r>
              <a:rPr sz="1000" dirty="0">
                <a:solidFill>
                  <a:srgbClr val="C00000"/>
                </a:solidFill>
                <a:latin typeface="微软雅黑" panose="020B0503020204020204" charset="-122"/>
                <a:cs typeface="微软雅黑" panose="020B0503020204020204" charset="-122"/>
              </a:rPr>
              <a:t>访</a:t>
            </a:r>
            <a:r>
              <a:rPr sz="1000" spc="-5" dirty="0">
                <a:solidFill>
                  <a:srgbClr val="C00000"/>
                </a:solidFill>
                <a:latin typeface="微软雅黑" panose="020B0503020204020204" charset="-122"/>
                <a:cs typeface="微软雅黑" panose="020B0503020204020204" charset="-122"/>
              </a:rPr>
              <a:t>问</a:t>
            </a:r>
            <a:endParaRPr sz="1000">
              <a:latin typeface="微软雅黑" panose="020B0503020204020204" charset="-122"/>
              <a:cs typeface="微软雅黑" panose="020B0503020204020204" charset="-122"/>
            </a:endParaRPr>
          </a:p>
          <a:p>
            <a:pPr marL="12700">
              <a:lnSpc>
                <a:spcPct val="100000"/>
              </a:lnSpc>
            </a:pPr>
            <a:r>
              <a:rPr sz="1000" spc="-5" dirty="0">
                <a:solidFill>
                  <a:srgbClr val="C00000"/>
                </a:solidFill>
                <a:latin typeface="微软雅黑" panose="020B0503020204020204" charset="-122"/>
                <a:cs typeface="微软雅黑" panose="020B0503020204020204" charset="-122"/>
              </a:rPr>
              <a:t>BIU</a:t>
            </a:r>
            <a:r>
              <a:rPr sz="1000" dirty="0">
                <a:solidFill>
                  <a:srgbClr val="C00000"/>
                </a:solidFill>
                <a:latin typeface="微软雅黑" panose="020B0503020204020204" charset="-122"/>
                <a:cs typeface="微软雅黑" panose="020B0503020204020204" charset="-122"/>
              </a:rPr>
              <a:t>接口</a:t>
            </a:r>
            <a:r>
              <a:rPr sz="1000" spc="-5" dirty="0">
                <a:solidFill>
                  <a:srgbClr val="C00000"/>
                </a:solidFill>
                <a:latin typeface="微软雅黑" panose="020B0503020204020204" charset="-122"/>
                <a:cs typeface="微软雅黑" panose="020B0503020204020204" charset="-122"/>
              </a:rPr>
              <a:t>ICB</a:t>
            </a:r>
            <a:endParaRPr sz="1000">
              <a:latin typeface="微软雅黑" panose="020B0503020204020204" charset="-122"/>
              <a:cs typeface="微软雅黑" panose="020B0503020204020204" charset="-122"/>
            </a:endParaRPr>
          </a:p>
        </p:txBody>
      </p:sp>
      <p:sp>
        <p:nvSpPr>
          <p:cNvPr id="18" name="object 18"/>
          <p:cNvSpPr/>
          <p:nvPr/>
        </p:nvSpPr>
        <p:spPr>
          <a:xfrm>
            <a:off x="9214421" y="4620298"/>
            <a:ext cx="76200" cy="330200"/>
          </a:xfrm>
          <a:custGeom>
            <a:avLst/>
            <a:gdLst/>
            <a:ahLst/>
            <a:cxnLst/>
            <a:rect l="l" t="t" r="r" b="b"/>
            <a:pathLst>
              <a:path w="76200" h="330200">
                <a:moveTo>
                  <a:pt x="31738" y="76153"/>
                </a:moveTo>
                <a:lnTo>
                  <a:pt x="0" y="75920"/>
                </a:lnTo>
                <a:lnTo>
                  <a:pt x="38646" y="0"/>
                </a:lnTo>
                <a:lnTo>
                  <a:pt x="66674" y="57099"/>
                </a:lnTo>
                <a:lnTo>
                  <a:pt x="31876" y="57099"/>
                </a:lnTo>
                <a:lnTo>
                  <a:pt x="31738" y="76153"/>
                </a:lnTo>
                <a:close/>
              </a:path>
              <a:path w="76200" h="330200">
                <a:moveTo>
                  <a:pt x="44438" y="76246"/>
                </a:moveTo>
                <a:lnTo>
                  <a:pt x="31738" y="76153"/>
                </a:lnTo>
                <a:lnTo>
                  <a:pt x="31876" y="57099"/>
                </a:lnTo>
                <a:lnTo>
                  <a:pt x="44576" y="57188"/>
                </a:lnTo>
                <a:lnTo>
                  <a:pt x="44438" y="76246"/>
                </a:lnTo>
                <a:close/>
              </a:path>
              <a:path w="76200" h="330200">
                <a:moveTo>
                  <a:pt x="76187" y="76479"/>
                </a:moveTo>
                <a:lnTo>
                  <a:pt x="44438" y="76246"/>
                </a:lnTo>
                <a:lnTo>
                  <a:pt x="44576" y="57188"/>
                </a:lnTo>
                <a:lnTo>
                  <a:pt x="31876" y="57099"/>
                </a:lnTo>
                <a:lnTo>
                  <a:pt x="66674" y="57099"/>
                </a:lnTo>
                <a:lnTo>
                  <a:pt x="76187" y="76479"/>
                </a:lnTo>
                <a:close/>
              </a:path>
              <a:path w="76200" h="330200">
                <a:moveTo>
                  <a:pt x="42595" y="329615"/>
                </a:moveTo>
                <a:lnTo>
                  <a:pt x="29895" y="329526"/>
                </a:lnTo>
                <a:lnTo>
                  <a:pt x="31738" y="76153"/>
                </a:lnTo>
                <a:lnTo>
                  <a:pt x="44438" y="76246"/>
                </a:lnTo>
                <a:lnTo>
                  <a:pt x="42595" y="329615"/>
                </a:lnTo>
                <a:close/>
              </a:path>
            </a:pathLst>
          </a:custGeom>
          <a:solidFill>
            <a:srgbClr val="C00000"/>
          </a:solidFill>
        </p:spPr>
        <p:txBody>
          <a:bodyPr wrap="square" lIns="0" tIns="0" rIns="0" bIns="0" rtlCol="0"/>
          <a:lstStyle/>
          <a:p/>
        </p:txBody>
      </p:sp>
      <p:sp>
        <p:nvSpPr>
          <p:cNvPr id="19" name="object 19"/>
          <p:cNvSpPr/>
          <p:nvPr/>
        </p:nvSpPr>
        <p:spPr>
          <a:xfrm>
            <a:off x="9228823" y="3654526"/>
            <a:ext cx="76200" cy="330200"/>
          </a:xfrm>
          <a:custGeom>
            <a:avLst/>
            <a:gdLst/>
            <a:ahLst/>
            <a:cxnLst/>
            <a:rect l="l" t="t" r="r" b="b"/>
            <a:pathLst>
              <a:path w="76200" h="330200">
                <a:moveTo>
                  <a:pt x="31751" y="76148"/>
                </a:moveTo>
                <a:lnTo>
                  <a:pt x="0" y="75920"/>
                </a:lnTo>
                <a:lnTo>
                  <a:pt x="38658" y="0"/>
                </a:lnTo>
                <a:lnTo>
                  <a:pt x="66691" y="57099"/>
                </a:lnTo>
                <a:lnTo>
                  <a:pt x="31889" y="57099"/>
                </a:lnTo>
                <a:lnTo>
                  <a:pt x="31751" y="76148"/>
                </a:lnTo>
                <a:close/>
              </a:path>
              <a:path w="76200" h="330200">
                <a:moveTo>
                  <a:pt x="44451" y="76239"/>
                </a:moveTo>
                <a:lnTo>
                  <a:pt x="31751" y="76148"/>
                </a:lnTo>
                <a:lnTo>
                  <a:pt x="31889" y="57099"/>
                </a:lnTo>
                <a:lnTo>
                  <a:pt x="44589" y="57188"/>
                </a:lnTo>
                <a:lnTo>
                  <a:pt x="44451" y="76239"/>
                </a:lnTo>
                <a:close/>
              </a:path>
              <a:path w="76200" h="330200">
                <a:moveTo>
                  <a:pt x="76200" y="76466"/>
                </a:moveTo>
                <a:lnTo>
                  <a:pt x="44451" y="76239"/>
                </a:lnTo>
                <a:lnTo>
                  <a:pt x="44589" y="57188"/>
                </a:lnTo>
                <a:lnTo>
                  <a:pt x="31889" y="57099"/>
                </a:lnTo>
                <a:lnTo>
                  <a:pt x="66691" y="57099"/>
                </a:lnTo>
                <a:lnTo>
                  <a:pt x="76200" y="76466"/>
                </a:lnTo>
                <a:close/>
              </a:path>
              <a:path w="76200" h="330200">
                <a:moveTo>
                  <a:pt x="42608" y="329615"/>
                </a:moveTo>
                <a:lnTo>
                  <a:pt x="29908" y="329526"/>
                </a:lnTo>
                <a:lnTo>
                  <a:pt x="31751" y="76148"/>
                </a:lnTo>
                <a:lnTo>
                  <a:pt x="44451" y="76239"/>
                </a:lnTo>
                <a:lnTo>
                  <a:pt x="42608" y="329615"/>
                </a:lnTo>
                <a:close/>
              </a:path>
            </a:pathLst>
          </a:custGeom>
          <a:solidFill>
            <a:srgbClr val="C00000"/>
          </a:solidFill>
        </p:spPr>
        <p:txBody>
          <a:bodyPr wrap="square" lIns="0" tIns="0" rIns="0" bIns="0" rtlCol="0"/>
          <a:lstStyle/>
          <a:p/>
        </p:txBody>
      </p:sp>
      <p:sp>
        <p:nvSpPr>
          <p:cNvPr id="20" name="object 20"/>
          <p:cNvSpPr/>
          <p:nvPr/>
        </p:nvSpPr>
        <p:spPr>
          <a:xfrm>
            <a:off x="9228823" y="2699334"/>
            <a:ext cx="76200" cy="330200"/>
          </a:xfrm>
          <a:custGeom>
            <a:avLst/>
            <a:gdLst/>
            <a:ahLst/>
            <a:cxnLst/>
            <a:rect l="l" t="t" r="r" b="b"/>
            <a:pathLst>
              <a:path w="76200" h="330200">
                <a:moveTo>
                  <a:pt x="31751" y="76153"/>
                </a:moveTo>
                <a:lnTo>
                  <a:pt x="0" y="75920"/>
                </a:lnTo>
                <a:lnTo>
                  <a:pt x="38658" y="0"/>
                </a:lnTo>
                <a:lnTo>
                  <a:pt x="66693" y="57111"/>
                </a:lnTo>
                <a:lnTo>
                  <a:pt x="31889" y="57111"/>
                </a:lnTo>
                <a:lnTo>
                  <a:pt x="31751" y="76153"/>
                </a:lnTo>
                <a:close/>
              </a:path>
              <a:path w="76200" h="330200">
                <a:moveTo>
                  <a:pt x="44451" y="76246"/>
                </a:moveTo>
                <a:lnTo>
                  <a:pt x="31751" y="76153"/>
                </a:lnTo>
                <a:lnTo>
                  <a:pt x="31889" y="57111"/>
                </a:lnTo>
                <a:lnTo>
                  <a:pt x="44589" y="57200"/>
                </a:lnTo>
                <a:lnTo>
                  <a:pt x="44451" y="76246"/>
                </a:lnTo>
                <a:close/>
              </a:path>
              <a:path w="76200" h="330200">
                <a:moveTo>
                  <a:pt x="76200" y="76479"/>
                </a:moveTo>
                <a:lnTo>
                  <a:pt x="44451" y="76246"/>
                </a:lnTo>
                <a:lnTo>
                  <a:pt x="44589" y="57200"/>
                </a:lnTo>
                <a:lnTo>
                  <a:pt x="31889" y="57111"/>
                </a:lnTo>
                <a:lnTo>
                  <a:pt x="66693" y="57111"/>
                </a:lnTo>
                <a:lnTo>
                  <a:pt x="76200" y="76479"/>
                </a:lnTo>
                <a:close/>
              </a:path>
              <a:path w="76200" h="330200">
                <a:moveTo>
                  <a:pt x="42608" y="329628"/>
                </a:moveTo>
                <a:lnTo>
                  <a:pt x="29908" y="329539"/>
                </a:lnTo>
                <a:lnTo>
                  <a:pt x="31751" y="76153"/>
                </a:lnTo>
                <a:lnTo>
                  <a:pt x="44451" y="76246"/>
                </a:lnTo>
                <a:lnTo>
                  <a:pt x="42608" y="329628"/>
                </a:lnTo>
                <a:close/>
              </a:path>
            </a:pathLst>
          </a:custGeom>
          <a:solidFill>
            <a:srgbClr val="C00000"/>
          </a:solidFill>
        </p:spPr>
        <p:txBody>
          <a:bodyPr wrap="square" lIns="0" tIns="0" rIns="0" bIns="0" rtlCol="0"/>
          <a:lstStyle/>
          <a:p/>
        </p:txBody>
      </p:sp>
      <p:sp>
        <p:nvSpPr>
          <p:cNvPr id="21" name="object 21"/>
          <p:cNvSpPr/>
          <p:nvPr/>
        </p:nvSpPr>
        <p:spPr>
          <a:xfrm>
            <a:off x="8699627" y="1465491"/>
            <a:ext cx="76200" cy="805180"/>
          </a:xfrm>
          <a:custGeom>
            <a:avLst/>
            <a:gdLst/>
            <a:ahLst/>
            <a:cxnLst/>
            <a:rect l="l" t="t" r="r" b="b"/>
            <a:pathLst>
              <a:path w="76200" h="805180">
                <a:moveTo>
                  <a:pt x="0" y="76504"/>
                </a:moveTo>
                <a:lnTo>
                  <a:pt x="37465" y="0"/>
                </a:lnTo>
                <a:lnTo>
                  <a:pt x="66602" y="57099"/>
                </a:lnTo>
                <a:lnTo>
                  <a:pt x="44284" y="57099"/>
                </a:lnTo>
                <a:lnTo>
                  <a:pt x="31584" y="57200"/>
                </a:lnTo>
                <a:lnTo>
                  <a:pt x="31741" y="76245"/>
                </a:lnTo>
                <a:lnTo>
                  <a:pt x="0" y="76504"/>
                </a:lnTo>
                <a:close/>
              </a:path>
              <a:path w="76200" h="805180">
                <a:moveTo>
                  <a:pt x="31741" y="76245"/>
                </a:moveTo>
                <a:lnTo>
                  <a:pt x="31584" y="57200"/>
                </a:lnTo>
                <a:lnTo>
                  <a:pt x="44284" y="57099"/>
                </a:lnTo>
                <a:lnTo>
                  <a:pt x="44441" y="76141"/>
                </a:lnTo>
                <a:lnTo>
                  <a:pt x="31741" y="76245"/>
                </a:lnTo>
                <a:close/>
              </a:path>
              <a:path w="76200" h="805180">
                <a:moveTo>
                  <a:pt x="44441" y="76141"/>
                </a:moveTo>
                <a:lnTo>
                  <a:pt x="44284" y="57099"/>
                </a:lnTo>
                <a:lnTo>
                  <a:pt x="66602" y="57099"/>
                </a:lnTo>
                <a:lnTo>
                  <a:pt x="76187" y="75882"/>
                </a:lnTo>
                <a:lnTo>
                  <a:pt x="44441" y="76141"/>
                </a:lnTo>
                <a:close/>
              </a:path>
              <a:path w="76200" h="805180">
                <a:moveTo>
                  <a:pt x="37719" y="805154"/>
                </a:moveTo>
                <a:lnTo>
                  <a:pt x="31741" y="76245"/>
                </a:lnTo>
                <a:lnTo>
                  <a:pt x="44441" y="76141"/>
                </a:lnTo>
                <a:lnTo>
                  <a:pt x="50419" y="805052"/>
                </a:lnTo>
                <a:lnTo>
                  <a:pt x="37719" y="805154"/>
                </a:lnTo>
                <a:close/>
              </a:path>
            </a:pathLst>
          </a:custGeom>
          <a:solidFill>
            <a:srgbClr val="C00000"/>
          </a:solidFill>
        </p:spPr>
        <p:txBody>
          <a:bodyPr wrap="square" lIns="0" tIns="0" rIns="0" bIns="0" rtlCol="0"/>
          <a:lstStyle/>
          <a:p/>
        </p:txBody>
      </p:sp>
      <p:sp>
        <p:nvSpPr>
          <p:cNvPr id="22" name="object 22"/>
          <p:cNvSpPr/>
          <p:nvPr/>
        </p:nvSpPr>
        <p:spPr>
          <a:xfrm>
            <a:off x="8967368" y="1465491"/>
            <a:ext cx="76200" cy="805180"/>
          </a:xfrm>
          <a:custGeom>
            <a:avLst/>
            <a:gdLst/>
            <a:ahLst/>
            <a:cxnLst/>
            <a:rect l="l" t="t" r="r" b="b"/>
            <a:pathLst>
              <a:path w="76200" h="805180">
                <a:moveTo>
                  <a:pt x="0" y="76504"/>
                </a:moveTo>
                <a:lnTo>
                  <a:pt x="37465" y="0"/>
                </a:lnTo>
                <a:lnTo>
                  <a:pt x="66602" y="57099"/>
                </a:lnTo>
                <a:lnTo>
                  <a:pt x="44284" y="57099"/>
                </a:lnTo>
                <a:lnTo>
                  <a:pt x="31584" y="57200"/>
                </a:lnTo>
                <a:lnTo>
                  <a:pt x="31741" y="76245"/>
                </a:lnTo>
                <a:lnTo>
                  <a:pt x="0" y="76504"/>
                </a:lnTo>
                <a:close/>
              </a:path>
              <a:path w="76200" h="805180">
                <a:moveTo>
                  <a:pt x="31741" y="76245"/>
                </a:moveTo>
                <a:lnTo>
                  <a:pt x="31584" y="57200"/>
                </a:lnTo>
                <a:lnTo>
                  <a:pt x="44284" y="57099"/>
                </a:lnTo>
                <a:lnTo>
                  <a:pt x="44441" y="76141"/>
                </a:lnTo>
                <a:lnTo>
                  <a:pt x="31741" y="76245"/>
                </a:lnTo>
                <a:close/>
              </a:path>
              <a:path w="76200" h="805180">
                <a:moveTo>
                  <a:pt x="44441" y="76141"/>
                </a:moveTo>
                <a:lnTo>
                  <a:pt x="44284" y="57099"/>
                </a:lnTo>
                <a:lnTo>
                  <a:pt x="66602" y="57099"/>
                </a:lnTo>
                <a:lnTo>
                  <a:pt x="76187" y="75882"/>
                </a:lnTo>
                <a:lnTo>
                  <a:pt x="44441" y="76141"/>
                </a:lnTo>
                <a:close/>
              </a:path>
              <a:path w="76200" h="805180">
                <a:moveTo>
                  <a:pt x="37719" y="805154"/>
                </a:moveTo>
                <a:lnTo>
                  <a:pt x="31741" y="76245"/>
                </a:lnTo>
                <a:lnTo>
                  <a:pt x="44441" y="76141"/>
                </a:lnTo>
                <a:lnTo>
                  <a:pt x="50419" y="805052"/>
                </a:lnTo>
                <a:lnTo>
                  <a:pt x="37719" y="805154"/>
                </a:lnTo>
                <a:close/>
              </a:path>
            </a:pathLst>
          </a:custGeom>
          <a:solidFill>
            <a:srgbClr val="C00000"/>
          </a:solidFill>
        </p:spPr>
        <p:txBody>
          <a:bodyPr wrap="square" lIns="0" tIns="0" rIns="0" bIns="0" rtlCol="0"/>
          <a:lstStyle/>
          <a:p/>
        </p:txBody>
      </p:sp>
      <p:sp>
        <p:nvSpPr>
          <p:cNvPr id="23" name="object 23"/>
          <p:cNvSpPr/>
          <p:nvPr/>
        </p:nvSpPr>
        <p:spPr>
          <a:xfrm>
            <a:off x="9502850" y="1465491"/>
            <a:ext cx="76200" cy="805180"/>
          </a:xfrm>
          <a:custGeom>
            <a:avLst/>
            <a:gdLst/>
            <a:ahLst/>
            <a:cxnLst/>
            <a:rect l="l" t="t" r="r" b="b"/>
            <a:pathLst>
              <a:path w="76200" h="805180">
                <a:moveTo>
                  <a:pt x="0" y="76504"/>
                </a:moveTo>
                <a:lnTo>
                  <a:pt x="37477" y="0"/>
                </a:lnTo>
                <a:lnTo>
                  <a:pt x="66615" y="57099"/>
                </a:lnTo>
                <a:lnTo>
                  <a:pt x="44284" y="57099"/>
                </a:lnTo>
                <a:lnTo>
                  <a:pt x="31597" y="57200"/>
                </a:lnTo>
                <a:lnTo>
                  <a:pt x="31753" y="76245"/>
                </a:lnTo>
                <a:lnTo>
                  <a:pt x="0" y="76504"/>
                </a:lnTo>
                <a:close/>
              </a:path>
              <a:path w="76200" h="805180">
                <a:moveTo>
                  <a:pt x="31753" y="76245"/>
                </a:moveTo>
                <a:lnTo>
                  <a:pt x="31597" y="57200"/>
                </a:lnTo>
                <a:lnTo>
                  <a:pt x="44284" y="57099"/>
                </a:lnTo>
                <a:lnTo>
                  <a:pt x="44441" y="76141"/>
                </a:lnTo>
                <a:lnTo>
                  <a:pt x="31753" y="76245"/>
                </a:lnTo>
                <a:close/>
              </a:path>
              <a:path w="76200" h="805180">
                <a:moveTo>
                  <a:pt x="44441" y="76141"/>
                </a:moveTo>
                <a:lnTo>
                  <a:pt x="44284" y="57099"/>
                </a:lnTo>
                <a:lnTo>
                  <a:pt x="66615" y="57099"/>
                </a:lnTo>
                <a:lnTo>
                  <a:pt x="76200" y="75882"/>
                </a:lnTo>
                <a:lnTo>
                  <a:pt x="44441" y="76141"/>
                </a:lnTo>
                <a:close/>
              </a:path>
              <a:path w="76200" h="805180">
                <a:moveTo>
                  <a:pt x="37731" y="805154"/>
                </a:moveTo>
                <a:lnTo>
                  <a:pt x="31753" y="76245"/>
                </a:lnTo>
                <a:lnTo>
                  <a:pt x="44441" y="76141"/>
                </a:lnTo>
                <a:lnTo>
                  <a:pt x="50431" y="805052"/>
                </a:lnTo>
                <a:lnTo>
                  <a:pt x="37731" y="805154"/>
                </a:lnTo>
                <a:close/>
              </a:path>
            </a:pathLst>
          </a:custGeom>
          <a:solidFill>
            <a:srgbClr val="C00000"/>
          </a:solidFill>
        </p:spPr>
        <p:txBody>
          <a:bodyPr wrap="square" lIns="0" tIns="0" rIns="0" bIns="0" rtlCol="0"/>
          <a:lstStyle/>
          <a:p/>
        </p:txBody>
      </p:sp>
      <p:sp>
        <p:nvSpPr>
          <p:cNvPr id="24" name="object 24"/>
          <p:cNvSpPr/>
          <p:nvPr/>
        </p:nvSpPr>
        <p:spPr>
          <a:xfrm>
            <a:off x="9770592" y="1465491"/>
            <a:ext cx="76200" cy="805180"/>
          </a:xfrm>
          <a:custGeom>
            <a:avLst/>
            <a:gdLst/>
            <a:ahLst/>
            <a:cxnLst/>
            <a:rect l="l" t="t" r="r" b="b"/>
            <a:pathLst>
              <a:path w="76200" h="805180">
                <a:moveTo>
                  <a:pt x="0" y="76504"/>
                </a:moveTo>
                <a:lnTo>
                  <a:pt x="37477" y="0"/>
                </a:lnTo>
                <a:lnTo>
                  <a:pt x="66615" y="57099"/>
                </a:lnTo>
                <a:lnTo>
                  <a:pt x="44297" y="57099"/>
                </a:lnTo>
                <a:lnTo>
                  <a:pt x="31597" y="57200"/>
                </a:lnTo>
                <a:lnTo>
                  <a:pt x="31753" y="76245"/>
                </a:lnTo>
                <a:lnTo>
                  <a:pt x="0" y="76504"/>
                </a:lnTo>
                <a:close/>
              </a:path>
              <a:path w="76200" h="805180">
                <a:moveTo>
                  <a:pt x="31753" y="76245"/>
                </a:moveTo>
                <a:lnTo>
                  <a:pt x="31597" y="57200"/>
                </a:lnTo>
                <a:lnTo>
                  <a:pt x="44297" y="57099"/>
                </a:lnTo>
                <a:lnTo>
                  <a:pt x="44453" y="76141"/>
                </a:lnTo>
                <a:lnTo>
                  <a:pt x="31753" y="76245"/>
                </a:lnTo>
                <a:close/>
              </a:path>
              <a:path w="76200" h="805180">
                <a:moveTo>
                  <a:pt x="44453" y="76141"/>
                </a:moveTo>
                <a:lnTo>
                  <a:pt x="44297" y="57099"/>
                </a:lnTo>
                <a:lnTo>
                  <a:pt x="66615" y="57099"/>
                </a:lnTo>
                <a:lnTo>
                  <a:pt x="76200" y="75882"/>
                </a:lnTo>
                <a:lnTo>
                  <a:pt x="44453" y="76141"/>
                </a:lnTo>
                <a:close/>
              </a:path>
              <a:path w="76200" h="805180">
                <a:moveTo>
                  <a:pt x="37731" y="805154"/>
                </a:moveTo>
                <a:lnTo>
                  <a:pt x="31753" y="76245"/>
                </a:lnTo>
                <a:lnTo>
                  <a:pt x="44453" y="76141"/>
                </a:lnTo>
                <a:lnTo>
                  <a:pt x="50431" y="805052"/>
                </a:lnTo>
                <a:lnTo>
                  <a:pt x="37731" y="805154"/>
                </a:lnTo>
                <a:close/>
              </a:path>
            </a:pathLst>
          </a:custGeom>
          <a:solidFill>
            <a:srgbClr val="C00000"/>
          </a:solidFill>
        </p:spPr>
        <p:txBody>
          <a:bodyPr wrap="square" lIns="0" tIns="0" rIns="0" bIns="0" rtlCol="0"/>
          <a:lstStyle/>
          <a:p/>
        </p:txBody>
      </p:sp>
      <p:sp>
        <p:nvSpPr>
          <p:cNvPr id="25" name="object 25"/>
          <p:cNvSpPr/>
          <p:nvPr/>
        </p:nvSpPr>
        <p:spPr>
          <a:xfrm>
            <a:off x="9235109" y="1465491"/>
            <a:ext cx="76200" cy="805180"/>
          </a:xfrm>
          <a:custGeom>
            <a:avLst/>
            <a:gdLst/>
            <a:ahLst/>
            <a:cxnLst/>
            <a:rect l="l" t="t" r="r" b="b"/>
            <a:pathLst>
              <a:path w="76200" h="805180">
                <a:moveTo>
                  <a:pt x="0" y="76504"/>
                </a:moveTo>
                <a:lnTo>
                  <a:pt x="37465" y="0"/>
                </a:lnTo>
                <a:lnTo>
                  <a:pt x="66611" y="57099"/>
                </a:lnTo>
                <a:lnTo>
                  <a:pt x="44284" y="57099"/>
                </a:lnTo>
                <a:lnTo>
                  <a:pt x="31584" y="57200"/>
                </a:lnTo>
                <a:lnTo>
                  <a:pt x="31741" y="76245"/>
                </a:lnTo>
                <a:lnTo>
                  <a:pt x="0" y="76504"/>
                </a:lnTo>
                <a:close/>
              </a:path>
              <a:path w="76200" h="805180">
                <a:moveTo>
                  <a:pt x="31741" y="76245"/>
                </a:moveTo>
                <a:lnTo>
                  <a:pt x="31584" y="57200"/>
                </a:lnTo>
                <a:lnTo>
                  <a:pt x="44284" y="57099"/>
                </a:lnTo>
                <a:lnTo>
                  <a:pt x="44441" y="76141"/>
                </a:lnTo>
                <a:lnTo>
                  <a:pt x="31741" y="76245"/>
                </a:lnTo>
                <a:close/>
              </a:path>
              <a:path w="76200" h="805180">
                <a:moveTo>
                  <a:pt x="44441" y="76141"/>
                </a:moveTo>
                <a:lnTo>
                  <a:pt x="44284" y="57099"/>
                </a:lnTo>
                <a:lnTo>
                  <a:pt x="66611" y="57099"/>
                </a:lnTo>
                <a:lnTo>
                  <a:pt x="76200" y="75882"/>
                </a:lnTo>
                <a:lnTo>
                  <a:pt x="44441" y="76141"/>
                </a:lnTo>
                <a:close/>
              </a:path>
              <a:path w="76200" h="805180">
                <a:moveTo>
                  <a:pt x="37719" y="805154"/>
                </a:moveTo>
                <a:lnTo>
                  <a:pt x="31741" y="76245"/>
                </a:lnTo>
                <a:lnTo>
                  <a:pt x="44441" y="76141"/>
                </a:lnTo>
                <a:lnTo>
                  <a:pt x="50419" y="805052"/>
                </a:lnTo>
                <a:lnTo>
                  <a:pt x="37719" y="805154"/>
                </a:lnTo>
                <a:close/>
              </a:path>
            </a:pathLst>
          </a:custGeom>
          <a:solidFill>
            <a:srgbClr val="C00000"/>
          </a:solidFill>
        </p:spPr>
        <p:txBody>
          <a:bodyPr wrap="square" lIns="0" tIns="0" rIns="0" bIns="0" rtlCol="0"/>
          <a:lstStyle/>
          <a:p/>
        </p:txBody>
      </p:sp>
      <p:sp>
        <p:nvSpPr>
          <p:cNvPr id="26" name="object 26"/>
          <p:cNvSpPr txBox="1"/>
          <p:nvPr/>
        </p:nvSpPr>
        <p:spPr>
          <a:xfrm>
            <a:off x="8534410" y="796822"/>
            <a:ext cx="1252855" cy="989330"/>
          </a:xfrm>
          <a:prstGeom prst="rect">
            <a:avLst/>
          </a:prstGeom>
        </p:spPr>
        <p:txBody>
          <a:bodyPr vert="vert270" wrap="square" lIns="0" tIns="19050" rIns="0" bIns="0" rtlCol="0">
            <a:spAutoFit/>
          </a:bodyPr>
          <a:lstStyle/>
          <a:p>
            <a:pPr marL="12700">
              <a:lnSpc>
                <a:spcPct val="100000"/>
              </a:lnSpc>
              <a:spcBef>
                <a:spcPts val="150"/>
              </a:spcBef>
            </a:pPr>
            <a:r>
              <a:rPr sz="1000" dirty="0">
                <a:solidFill>
                  <a:srgbClr val="C00000"/>
                </a:solidFill>
                <a:latin typeface="微软雅黑" panose="020B0503020204020204" charset="-122"/>
                <a:cs typeface="微软雅黑" panose="020B0503020204020204" charset="-122"/>
              </a:rPr>
              <a:t>快速</a:t>
            </a:r>
            <a:r>
              <a:rPr sz="1000" spc="-5" dirty="0">
                <a:solidFill>
                  <a:srgbClr val="C00000"/>
                </a:solidFill>
                <a:latin typeface="微软雅黑" panose="020B0503020204020204" charset="-122"/>
                <a:cs typeface="微软雅黑" panose="020B0503020204020204" charset="-122"/>
              </a:rPr>
              <a:t>IO</a:t>
            </a:r>
            <a:r>
              <a:rPr sz="1000" dirty="0">
                <a:solidFill>
                  <a:srgbClr val="C00000"/>
                </a:solidFill>
                <a:latin typeface="微软雅黑" panose="020B0503020204020204" charset="-122"/>
                <a:cs typeface="微软雅黑" panose="020B0503020204020204" charset="-122"/>
              </a:rPr>
              <a:t>接口</a:t>
            </a:r>
            <a:r>
              <a:rPr sz="1000" spc="-5" dirty="0">
                <a:solidFill>
                  <a:srgbClr val="C00000"/>
                </a:solidFill>
                <a:latin typeface="微软雅黑" panose="020B0503020204020204" charset="-122"/>
                <a:cs typeface="微软雅黑" panose="020B0503020204020204" charset="-122"/>
              </a:rPr>
              <a:t>ICB</a:t>
            </a:r>
            <a:endParaRPr sz="1000">
              <a:latin typeface="微软雅黑" panose="020B0503020204020204" charset="-122"/>
              <a:cs typeface="微软雅黑" panose="020B0503020204020204" charset="-122"/>
            </a:endParaRPr>
          </a:p>
          <a:p>
            <a:pPr marL="12700" marR="5080">
              <a:lnSpc>
                <a:spcPct val="176000"/>
              </a:lnSpc>
            </a:pPr>
            <a:r>
              <a:rPr sz="1000" spc="5" dirty="0">
                <a:solidFill>
                  <a:srgbClr val="C00000"/>
                </a:solidFill>
                <a:latin typeface="微软雅黑" panose="020B0503020204020204" charset="-122"/>
                <a:cs typeface="微软雅黑" panose="020B0503020204020204" charset="-122"/>
              </a:rPr>
              <a:t>私有外设接口</a:t>
            </a:r>
            <a:r>
              <a:rPr sz="1000" dirty="0">
                <a:solidFill>
                  <a:srgbClr val="C00000"/>
                </a:solidFill>
                <a:latin typeface="微软雅黑" panose="020B0503020204020204" charset="-122"/>
                <a:cs typeface="微软雅黑" panose="020B0503020204020204" charset="-122"/>
              </a:rPr>
              <a:t>ICB </a:t>
            </a:r>
            <a:r>
              <a:rPr sz="1000" spc="5" dirty="0">
                <a:solidFill>
                  <a:srgbClr val="C00000"/>
                </a:solidFill>
                <a:latin typeface="微软雅黑" panose="020B0503020204020204" charset="-122"/>
                <a:cs typeface="微软雅黑" panose="020B0503020204020204" charset="-122"/>
              </a:rPr>
              <a:t>系统存储接口</a:t>
            </a:r>
            <a:r>
              <a:rPr sz="1000" dirty="0">
                <a:solidFill>
                  <a:srgbClr val="C00000"/>
                </a:solidFill>
                <a:latin typeface="微软雅黑" panose="020B0503020204020204" charset="-122"/>
                <a:cs typeface="微软雅黑" panose="020B0503020204020204" charset="-122"/>
              </a:rPr>
              <a:t>ICB</a:t>
            </a:r>
            <a:endParaRPr sz="1000">
              <a:latin typeface="微软雅黑" panose="020B0503020204020204" charset="-122"/>
              <a:cs typeface="微软雅黑" panose="020B0503020204020204" charset="-122"/>
            </a:endParaRPr>
          </a:p>
          <a:p>
            <a:pPr marL="12700">
              <a:lnSpc>
                <a:spcPct val="100000"/>
              </a:lnSpc>
              <a:spcBef>
                <a:spcPts val="945"/>
              </a:spcBef>
            </a:pPr>
            <a:r>
              <a:rPr sz="1000" spc="-5" dirty="0">
                <a:solidFill>
                  <a:srgbClr val="C00000"/>
                </a:solidFill>
                <a:latin typeface="微软雅黑" panose="020B0503020204020204" charset="-122"/>
                <a:cs typeface="微软雅黑" panose="020B0503020204020204" charset="-122"/>
              </a:rPr>
              <a:t>CLINT</a:t>
            </a:r>
            <a:r>
              <a:rPr sz="1000" dirty="0">
                <a:solidFill>
                  <a:srgbClr val="C00000"/>
                </a:solidFill>
                <a:latin typeface="微软雅黑" panose="020B0503020204020204" charset="-122"/>
                <a:cs typeface="微软雅黑" panose="020B0503020204020204" charset="-122"/>
              </a:rPr>
              <a:t>接口</a:t>
            </a:r>
            <a:r>
              <a:rPr sz="1000" spc="-5" dirty="0">
                <a:solidFill>
                  <a:srgbClr val="C00000"/>
                </a:solidFill>
                <a:latin typeface="微软雅黑" panose="020B0503020204020204" charset="-122"/>
                <a:cs typeface="微软雅黑" panose="020B0503020204020204" charset="-122"/>
              </a:rPr>
              <a:t>ICB</a:t>
            </a:r>
            <a:endParaRPr sz="1000">
              <a:latin typeface="微软雅黑" panose="020B0503020204020204" charset="-122"/>
              <a:cs typeface="微软雅黑" panose="020B0503020204020204" charset="-122"/>
            </a:endParaRPr>
          </a:p>
          <a:p>
            <a:pPr marL="12700">
              <a:lnSpc>
                <a:spcPct val="100000"/>
              </a:lnSpc>
              <a:spcBef>
                <a:spcPts val="785"/>
              </a:spcBef>
            </a:pPr>
            <a:r>
              <a:rPr sz="1000" spc="-5" dirty="0">
                <a:solidFill>
                  <a:srgbClr val="C00000"/>
                </a:solidFill>
                <a:latin typeface="微软雅黑" panose="020B0503020204020204" charset="-122"/>
                <a:cs typeface="微软雅黑" panose="020B0503020204020204" charset="-122"/>
              </a:rPr>
              <a:t>PLIC</a:t>
            </a:r>
            <a:r>
              <a:rPr sz="1000" dirty="0">
                <a:solidFill>
                  <a:srgbClr val="C00000"/>
                </a:solidFill>
                <a:latin typeface="微软雅黑" panose="020B0503020204020204" charset="-122"/>
                <a:cs typeface="微软雅黑" panose="020B0503020204020204" charset="-122"/>
              </a:rPr>
              <a:t>接口</a:t>
            </a:r>
            <a:r>
              <a:rPr sz="1000" spc="-5" dirty="0">
                <a:solidFill>
                  <a:srgbClr val="C00000"/>
                </a:solidFill>
                <a:latin typeface="微软雅黑" panose="020B0503020204020204" charset="-122"/>
                <a:cs typeface="微软雅黑" panose="020B0503020204020204" charset="-122"/>
              </a:rPr>
              <a:t>ICB</a:t>
            </a:r>
            <a:endParaRPr sz="1000">
              <a:latin typeface="微软雅黑" panose="020B0503020204020204" charset="-122"/>
              <a:cs typeface="微软雅黑" panose="020B0503020204020204" charset="-122"/>
            </a:endParaRPr>
          </a:p>
        </p:txBody>
      </p:sp>
      <p:sp>
        <p:nvSpPr>
          <p:cNvPr id="27" name="object 27"/>
          <p:cNvSpPr/>
          <p:nvPr/>
        </p:nvSpPr>
        <p:spPr>
          <a:xfrm>
            <a:off x="9382011" y="5213527"/>
            <a:ext cx="76200" cy="584200"/>
          </a:xfrm>
          <a:custGeom>
            <a:avLst/>
            <a:gdLst/>
            <a:ahLst/>
            <a:cxnLst/>
            <a:rect l="l" t="t" r="r" b="b"/>
            <a:pathLst>
              <a:path w="76200" h="584200">
                <a:moveTo>
                  <a:pt x="0" y="76276"/>
                </a:moveTo>
                <a:lnTo>
                  <a:pt x="37947" y="0"/>
                </a:lnTo>
                <a:lnTo>
                  <a:pt x="66659" y="57137"/>
                </a:lnTo>
                <a:lnTo>
                  <a:pt x="44411" y="57137"/>
                </a:lnTo>
                <a:lnTo>
                  <a:pt x="31711" y="57162"/>
                </a:lnTo>
                <a:lnTo>
                  <a:pt x="31751" y="76212"/>
                </a:lnTo>
                <a:lnTo>
                  <a:pt x="0" y="76276"/>
                </a:lnTo>
                <a:close/>
              </a:path>
              <a:path w="76200" h="584200">
                <a:moveTo>
                  <a:pt x="31751" y="76212"/>
                </a:moveTo>
                <a:lnTo>
                  <a:pt x="31711" y="57162"/>
                </a:lnTo>
                <a:lnTo>
                  <a:pt x="44411" y="57137"/>
                </a:lnTo>
                <a:lnTo>
                  <a:pt x="44451" y="76187"/>
                </a:lnTo>
                <a:lnTo>
                  <a:pt x="31751" y="76212"/>
                </a:lnTo>
                <a:close/>
              </a:path>
              <a:path w="76200" h="584200">
                <a:moveTo>
                  <a:pt x="44451" y="76187"/>
                </a:moveTo>
                <a:lnTo>
                  <a:pt x="44411" y="57137"/>
                </a:lnTo>
                <a:lnTo>
                  <a:pt x="66659" y="57137"/>
                </a:lnTo>
                <a:lnTo>
                  <a:pt x="76200" y="76123"/>
                </a:lnTo>
                <a:lnTo>
                  <a:pt x="44451" y="76187"/>
                </a:lnTo>
                <a:close/>
              </a:path>
              <a:path w="76200" h="584200">
                <a:moveTo>
                  <a:pt x="32804" y="583831"/>
                </a:moveTo>
                <a:lnTo>
                  <a:pt x="31751" y="76212"/>
                </a:lnTo>
                <a:lnTo>
                  <a:pt x="44451" y="76187"/>
                </a:lnTo>
                <a:lnTo>
                  <a:pt x="45504" y="583806"/>
                </a:lnTo>
                <a:lnTo>
                  <a:pt x="32804" y="583831"/>
                </a:lnTo>
                <a:close/>
              </a:path>
            </a:pathLst>
          </a:custGeom>
          <a:solidFill>
            <a:srgbClr val="C00000"/>
          </a:solidFill>
        </p:spPr>
        <p:txBody>
          <a:bodyPr wrap="square" lIns="0" tIns="0" rIns="0" bIns="0" rtlCol="0"/>
          <a:lstStyle/>
          <a:p/>
        </p:txBody>
      </p:sp>
      <p:sp>
        <p:nvSpPr>
          <p:cNvPr id="28" name="object 28"/>
          <p:cNvSpPr/>
          <p:nvPr/>
        </p:nvSpPr>
        <p:spPr>
          <a:xfrm>
            <a:off x="8947404" y="3983735"/>
            <a:ext cx="317500" cy="650875"/>
          </a:xfrm>
          <a:custGeom>
            <a:avLst/>
            <a:gdLst/>
            <a:ahLst/>
            <a:cxnLst/>
            <a:rect l="l" t="t" r="r" b="b"/>
            <a:pathLst>
              <a:path w="317500" h="650875">
                <a:moveTo>
                  <a:pt x="0" y="0"/>
                </a:moveTo>
                <a:lnTo>
                  <a:pt x="316992" y="0"/>
                </a:lnTo>
                <a:lnTo>
                  <a:pt x="316992" y="650748"/>
                </a:lnTo>
                <a:lnTo>
                  <a:pt x="0" y="650748"/>
                </a:lnTo>
                <a:lnTo>
                  <a:pt x="0" y="0"/>
                </a:lnTo>
                <a:close/>
              </a:path>
            </a:pathLst>
          </a:custGeom>
          <a:solidFill>
            <a:srgbClr val="D9D9D9"/>
          </a:solidFill>
        </p:spPr>
        <p:txBody>
          <a:bodyPr wrap="square" lIns="0" tIns="0" rIns="0" bIns="0" rtlCol="0"/>
          <a:lstStyle/>
          <a:p/>
        </p:txBody>
      </p:sp>
      <p:sp>
        <p:nvSpPr>
          <p:cNvPr id="29" name="object 29"/>
          <p:cNvSpPr/>
          <p:nvPr/>
        </p:nvSpPr>
        <p:spPr>
          <a:xfrm>
            <a:off x="8940558" y="3977741"/>
            <a:ext cx="331470" cy="664210"/>
          </a:xfrm>
          <a:custGeom>
            <a:avLst/>
            <a:gdLst/>
            <a:ahLst/>
            <a:cxnLst/>
            <a:rect l="l" t="t" r="r" b="b"/>
            <a:pathLst>
              <a:path w="331470" h="664210">
                <a:moveTo>
                  <a:pt x="330873" y="663613"/>
                </a:moveTo>
                <a:lnTo>
                  <a:pt x="0" y="663613"/>
                </a:lnTo>
                <a:lnTo>
                  <a:pt x="0" y="0"/>
                </a:lnTo>
                <a:lnTo>
                  <a:pt x="330873" y="0"/>
                </a:lnTo>
                <a:lnTo>
                  <a:pt x="330873" y="6350"/>
                </a:lnTo>
                <a:lnTo>
                  <a:pt x="12700" y="6350"/>
                </a:lnTo>
                <a:lnTo>
                  <a:pt x="6350" y="12700"/>
                </a:lnTo>
                <a:lnTo>
                  <a:pt x="12700" y="12700"/>
                </a:lnTo>
                <a:lnTo>
                  <a:pt x="12700" y="650913"/>
                </a:lnTo>
                <a:lnTo>
                  <a:pt x="6350" y="650913"/>
                </a:lnTo>
                <a:lnTo>
                  <a:pt x="12700" y="657263"/>
                </a:lnTo>
                <a:lnTo>
                  <a:pt x="330873" y="657263"/>
                </a:lnTo>
                <a:lnTo>
                  <a:pt x="330873" y="663613"/>
                </a:lnTo>
                <a:close/>
              </a:path>
              <a:path w="331470" h="664210">
                <a:moveTo>
                  <a:pt x="12700" y="12700"/>
                </a:moveTo>
                <a:lnTo>
                  <a:pt x="6350" y="12700"/>
                </a:lnTo>
                <a:lnTo>
                  <a:pt x="12700" y="6350"/>
                </a:lnTo>
                <a:lnTo>
                  <a:pt x="12700" y="12700"/>
                </a:lnTo>
                <a:close/>
              </a:path>
              <a:path w="331470" h="664210">
                <a:moveTo>
                  <a:pt x="318173" y="12700"/>
                </a:moveTo>
                <a:lnTo>
                  <a:pt x="12700" y="12700"/>
                </a:lnTo>
                <a:lnTo>
                  <a:pt x="12700" y="6350"/>
                </a:lnTo>
                <a:lnTo>
                  <a:pt x="318173" y="6350"/>
                </a:lnTo>
                <a:lnTo>
                  <a:pt x="318173" y="12700"/>
                </a:lnTo>
                <a:close/>
              </a:path>
              <a:path w="331470" h="664210">
                <a:moveTo>
                  <a:pt x="318173" y="657263"/>
                </a:moveTo>
                <a:lnTo>
                  <a:pt x="318173" y="6350"/>
                </a:lnTo>
                <a:lnTo>
                  <a:pt x="324523" y="12700"/>
                </a:lnTo>
                <a:lnTo>
                  <a:pt x="330873" y="12700"/>
                </a:lnTo>
                <a:lnTo>
                  <a:pt x="330873" y="650913"/>
                </a:lnTo>
                <a:lnTo>
                  <a:pt x="324523" y="650913"/>
                </a:lnTo>
                <a:lnTo>
                  <a:pt x="318173" y="657263"/>
                </a:lnTo>
                <a:close/>
              </a:path>
              <a:path w="331470" h="664210">
                <a:moveTo>
                  <a:pt x="330873" y="12700"/>
                </a:moveTo>
                <a:lnTo>
                  <a:pt x="324523" y="12700"/>
                </a:lnTo>
                <a:lnTo>
                  <a:pt x="318173" y="6350"/>
                </a:lnTo>
                <a:lnTo>
                  <a:pt x="330873" y="6350"/>
                </a:lnTo>
                <a:lnTo>
                  <a:pt x="330873" y="12700"/>
                </a:lnTo>
                <a:close/>
              </a:path>
              <a:path w="331470" h="664210">
                <a:moveTo>
                  <a:pt x="12700" y="657263"/>
                </a:moveTo>
                <a:lnTo>
                  <a:pt x="6350" y="650913"/>
                </a:lnTo>
                <a:lnTo>
                  <a:pt x="12700" y="650913"/>
                </a:lnTo>
                <a:lnTo>
                  <a:pt x="12700" y="657263"/>
                </a:lnTo>
                <a:close/>
              </a:path>
              <a:path w="331470" h="664210">
                <a:moveTo>
                  <a:pt x="318173" y="657263"/>
                </a:moveTo>
                <a:lnTo>
                  <a:pt x="12700" y="657263"/>
                </a:lnTo>
                <a:lnTo>
                  <a:pt x="12700" y="650913"/>
                </a:lnTo>
                <a:lnTo>
                  <a:pt x="318173" y="650913"/>
                </a:lnTo>
                <a:lnTo>
                  <a:pt x="318173" y="657263"/>
                </a:lnTo>
                <a:close/>
              </a:path>
              <a:path w="331470" h="664210">
                <a:moveTo>
                  <a:pt x="330873" y="657263"/>
                </a:moveTo>
                <a:lnTo>
                  <a:pt x="318173" y="657263"/>
                </a:lnTo>
                <a:lnTo>
                  <a:pt x="324523" y="650913"/>
                </a:lnTo>
                <a:lnTo>
                  <a:pt x="330873" y="650913"/>
                </a:lnTo>
                <a:lnTo>
                  <a:pt x="330873" y="657263"/>
                </a:lnTo>
                <a:close/>
              </a:path>
            </a:pathLst>
          </a:custGeom>
          <a:solidFill>
            <a:srgbClr val="C00000"/>
          </a:solidFill>
        </p:spPr>
        <p:txBody>
          <a:bodyPr wrap="square" lIns="0" tIns="0" rIns="0" bIns="0" rtlCol="0"/>
          <a:lstStyle/>
          <a:p/>
        </p:txBody>
      </p:sp>
      <p:sp>
        <p:nvSpPr>
          <p:cNvPr id="30" name="object 30"/>
          <p:cNvSpPr/>
          <p:nvPr/>
        </p:nvSpPr>
        <p:spPr>
          <a:xfrm>
            <a:off x="8962643" y="4472940"/>
            <a:ext cx="285115" cy="152400"/>
          </a:xfrm>
          <a:custGeom>
            <a:avLst/>
            <a:gdLst/>
            <a:ahLst/>
            <a:cxnLst/>
            <a:rect l="l" t="t" r="r" b="b"/>
            <a:pathLst>
              <a:path w="285115" h="152400">
                <a:moveTo>
                  <a:pt x="284987" y="152400"/>
                </a:moveTo>
                <a:lnTo>
                  <a:pt x="0" y="152400"/>
                </a:lnTo>
                <a:lnTo>
                  <a:pt x="143255" y="0"/>
                </a:lnTo>
                <a:lnTo>
                  <a:pt x="284987" y="152400"/>
                </a:lnTo>
                <a:close/>
              </a:path>
            </a:pathLst>
          </a:custGeom>
          <a:solidFill>
            <a:srgbClr val="C00000"/>
          </a:solidFill>
        </p:spPr>
        <p:txBody>
          <a:bodyPr wrap="square" lIns="0" tIns="0" rIns="0" bIns="0" rtlCol="0"/>
          <a:lstStyle/>
          <a:p/>
        </p:txBody>
      </p:sp>
      <p:sp>
        <p:nvSpPr>
          <p:cNvPr id="31" name="object 31"/>
          <p:cNvSpPr/>
          <p:nvPr/>
        </p:nvSpPr>
        <p:spPr>
          <a:xfrm>
            <a:off x="8948470" y="4464354"/>
            <a:ext cx="314960" cy="168275"/>
          </a:xfrm>
          <a:custGeom>
            <a:avLst/>
            <a:gdLst/>
            <a:ahLst/>
            <a:cxnLst/>
            <a:rect l="l" t="t" r="r" b="b"/>
            <a:pathLst>
              <a:path w="314959" h="168275">
                <a:moveTo>
                  <a:pt x="314439" y="167881"/>
                </a:moveTo>
                <a:lnTo>
                  <a:pt x="0" y="167881"/>
                </a:lnTo>
                <a:lnTo>
                  <a:pt x="157225" y="0"/>
                </a:lnTo>
                <a:lnTo>
                  <a:pt x="169999" y="13639"/>
                </a:lnTo>
                <a:lnTo>
                  <a:pt x="152590" y="13639"/>
                </a:lnTo>
                <a:lnTo>
                  <a:pt x="157225" y="18589"/>
                </a:lnTo>
                <a:lnTo>
                  <a:pt x="29294" y="155181"/>
                </a:lnTo>
                <a:lnTo>
                  <a:pt x="14643" y="155181"/>
                </a:lnTo>
                <a:lnTo>
                  <a:pt x="19278" y="165874"/>
                </a:lnTo>
                <a:lnTo>
                  <a:pt x="312560" y="165874"/>
                </a:lnTo>
                <a:lnTo>
                  <a:pt x="314439" y="167881"/>
                </a:lnTo>
                <a:close/>
              </a:path>
              <a:path w="314959" h="168275">
                <a:moveTo>
                  <a:pt x="157225" y="18589"/>
                </a:moveTo>
                <a:lnTo>
                  <a:pt x="152590" y="13639"/>
                </a:lnTo>
                <a:lnTo>
                  <a:pt x="161861" y="13639"/>
                </a:lnTo>
                <a:lnTo>
                  <a:pt x="157225" y="18589"/>
                </a:lnTo>
                <a:close/>
              </a:path>
              <a:path w="314959" h="168275">
                <a:moveTo>
                  <a:pt x="295160" y="165874"/>
                </a:moveTo>
                <a:lnTo>
                  <a:pt x="157225" y="18589"/>
                </a:lnTo>
                <a:lnTo>
                  <a:pt x="161861" y="13639"/>
                </a:lnTo>
                <a:lnTo>
                  <a:pt x="169999" y="13639"/>
                </a:lnTo>
                <a:lnTo>
                  <a:pt x="302546" y="155181"/>
                </a:lnTo>
                <a:lnTo>
                  <a:pt x="299796" y="155181"/>
                </a:lnTo>
                <a:lnTo>
                  <a:pt x="295160" y="165874"/>
                </a:lnTo>
                <a:close/>
              </a:path>
              <a:path w="314959" h="168275">
                <a:moveTo>
                  <a:pt x="19278" y="165874"/>
                </a:moveTo>
                <a:lnTo>
                  <a:pt x="14643" y="155181"/>
                </a:lnTo>
                <a:lnTo>
                  <a:pt x="29294" y="155181"/>
                </a:lnTo>
                <a:lnTo>
                  <a:pt x="19278" y="165874"/>
                </a:lnTo>
                <a:close/>
              </a:path>
              <a:path w="314959" h="168275">
                <a:moveTo>
                  <a:pt x="295160" y="165874"/>
                </a:moveTo>
                <a:lnTo>
                  <a:pt x="19278" y="165874"/>
                </a:lnTo>
                <a:lnTo>
                  <a:pt x="29294" y="155181"/>
                </a:lnTo>
                <a:lnTo>
                  <a:pt x="285146" y="155181"/>
                </a:lnTo>
                <a:lnTo>
                  <a:pt x="295160" y="165874"/>
                </a:lnTo>
                <a:close/>
              </a:path>
              <a:path w="314959" h="168275">
                <a:moveTo>
                  <a:pt x="312560" y="165874"/>
                </a:moveTo>
                <a:lnTo>
                  <a:pt x="295160" y="165874"/>
                </a:lnTo>
                <a:lnTo>
                  <a:pt x="299796" y="155181"/>
                </a:lnTo>
                <a:lnTo>
                  <a:pt x="302546" y="155181"/>
                </a:lnTo>
                <a:lnTo>
                  <a:pt x="312560" y="165874"/>
                </a:lnTo>
                <a:close/>
              </a:path>
            </a:pathLst>
          </a:custGeom>
          <a:solidFill>
            <a:srgbClr val="C00000"/>
          </a:solidFill>
        </p:spPr>
        <p:txBody>
          <a:bodyPr wrap="square" lIns="0" tIns="0" rIns="0" bIns="0" rtlCol="0"/>
          <a:lstStyle/>
          <a:p/>
        </p:txBody>
      </p:sp>
      <p:sp>
        <p:nvSpPr>
          <p:cNvPr id="32" name="object 32"/>
          <p:cNvSpPr/>
          <p:nvPr/>
        </p:nvSpPr>
        <p:spPr>
          <a:xfrm>
            <a:off x="9264395" y="3983735"/>
            <a:ext cx="318770" cy="650875"/>
          </a:xfrm>
          <a:custGeom>
            <a:avLst/>
            <a:gdLst/>
            <a:ahLst/>
            <a:cxnLst/>
            <a:rect l="l" t="t" r="r" b="b"/>
            <a:pathLst>
              <a:path w="318770" h="650875">
                <a:moveTo>
                  <a:pt x="0" y="0"/>
                </a:moveTo>
                <a:lnTo>
                  <a:pt x="318516" y="0"/>
                </a:lnTo>
                <a:lnTo>
                  <a:pt x="318516" y="650748"/>
                </a:lnTo>
                <a:lnTo>
                  <a:pt x="0" y="650748"/>
                </a:lnTo>
                <a:lnTo>
                  <a:pt x="0" y="0"/>
                </a:lnTo>
                <a:close/>
              </a:path>
            </a:pathLst>
          </a:custGeom>
          <a:solidFill>
            <a:srgbClr val="D9D9D9"/>
          </a:solidFill>
        </p:spPr>
        <p:txBody>
          <a:bodyPr wrap="square" lIns="0" tIns="0" rIns="0" bIns="0" rtlCol="0"/>
          <a:lstStyle/>
          <a:p/>
        </p:txBody>
      </p:sp>
      <p:sp>
        <p:nvSpPr>
          <p:cNvPr id="33" name="object 33"/>
          <p:cNvSpPr/>
          <p:nvPr/>
        </p:nvSpPr>
        <p:spPr>
          <a:xfrm>
            <a:off x="9258731" y="3977741"/>
            <a:ext cx="331470" cy="664210"/>
          </a:xfrm>
          <a:custGeom>
            <a:avLst/>
            <a:gdLst/>
            <a:ahLst/>
            <a:cxnLst/>
            <a:rect l="l" t="t" r="r" b="b"/>
            <a:pathLst>
              <a:path w="331470" h="664210">
                <a:moveTo>
                  <a:pt x="330860" y="663613"/>
                </a:moveTo>
                <a:lnTo>
                  <a:pt x="0" y="663613"/>
                </a:lnTo>
                <a:lnTo>
                  <a:pt x="0" y="0"/>
                </a:lnTo>
                <a:lnTo>
                  <a:pt x="330860" y="0"/>
                </a:lnTo>
                <a:lnTo>
                  <a:pt x="330860" y="6350"/>
                </a:lnTo>
                <a:lnTo>
                  <a:pt x="12700" y="6350"/>
                </a:lnTo>
                <a:lnTo>
                  <a:pt x="6350" y="12700"/>
                </a:lnTo>
                <a:lnTo>
                  <a:pt x="12700" y="12700"/>
                </a:lnTo>
                <a:lnTo>
                  <a:pt x="12700" y="650913"/>
                </a:lnTo>
                <a:lnTo>
                  <a:pt x="6350" y="650913"/>
                </a:lnTo>
                <a:lnTo>
                  <a:pt x="12700" y="657263"/>
                </a:lnTo>
                <a:lnTo>
                  <a:pt x="330860" y="657263"/>
                </a:lnTo>
                <a:lnTo>
                  <a:pt x="330860" y="663613"/>
                </a:lnTo>
                <a:close/>
              </a:path>
              <a:path w="331470" h="664210">
                <a:moveTo>
                  <a:pt x="12700" y="12700"/>
                </a:moveTo>
                <a:lnTo>
                  <a:pt x="6350" y="12700"/>
                </a:lnTo>
                <a:lnTo>
                  <a:pt x="12700" y="6350"/>
                </a:lnTo>
                <a:lnTo>
                  <a:pt x="12700" y="12700"/>
                </a:lnTo>
                <a:close/>
              </a:path>
              <a:path w="331470" h="664210">
                <a:moveTo>
                  <a:pt x="318160" y="12700"/>
                </a:moveTo>
                <a:lnTo>
                  <a:pt x="12700" y="12700"/>
                </a:lnTo>
                <a:lnTo>
                  <a:pt x="12700" y="6350"/>
                </a:lnTo>
                <a:lnTo>
                  <a:pt x="318160" y="6350"/>
                </a:lnTo>
                <a:lnTo>
                  <a:pt x="318160" y="12700"/>
                </a:lnTo>
                <a:close/>
              </a:path>
              <a:path w="331470" h="664210">
                <a:moveTo>
                  <a:pt x="318160" y="657263"/>
                </a:moveTo>
                <a:lnTo>
                  <a:pt x="318160" y="6350"/>
                </a:lnTo>
                <a:lnTo>
                  <a:pt x="324510" y="12700"/>
                </a:lnTo>
                <a:lnTo>
                  <a:pt x="330860" y="12700"/>
                </a:lnTo>
                <a:lnTo>
                  <a:pt x="330860" y="650913"/>
                </a:lnTo>
                <a:lnTo>
                  <a:pt x="324510" y="650913"/>
                </a:lnTo>
                <a:lnTo>
                  <a:pt x="318160" y="657263"/>
                </a:lnTo>
                <a:close/>
              </a:path>
              <a:path w="331470" h="664210">
                <a:moveTo>
                  <a:pt x="330860" y="12700"/>
                </a:moveTo>
                <a:lnTo>
                  <a:pt x="324510" y="12700"/>
                </a:lnTo>
                <a:lnTo>
                  <a:pt x="318160" y="6350"/>
                </a:lnTo>
                <a:lnTo>
                  <a:pt x="330860" y="6350"/>
                </a:lnTo>
                <a:lnTo>
                  <a:pt x="330860" y="12700"/>
                </a:lnTo>
                <a:close/>
              </a:path>
              <a:path w="331470" h="664210">
                <a:moveTo>
                  <a:pt x="12700" y="657263"/>
                </a:moveTo>
                <a:lnTo>
                  <a:pt x="6350" y="650913"/>
                </a:lnTo>
                <a:lnTo>
                  <a:pt x="12700" y="650913"/>
                </a:lnTo>
                <a:lnTo>
                  <a:pt x="12700" y="657263"/>
                </a:lnTo>
                <a:close/>
              </a:path>
              <a:path w="331470" h="664210">
                <a:moveTo>
                  <a:pt x="318160" y="657263"/>
                </a:moveTo>
                <a:lnTo>
                  <a:pt x="12700" y="657263"/>
                </a:lnTo>
                <a:lnTo>
                  <a:pt x="12700" y="650913"/>
                </a:lnTo>
                <a:lnTo>
                  <a:pt x="318160" y="650913"/>
                </a:lnTo>
                <a:lnTo>
                  <a:pt x="318160" y="657263"/>
                </a:lnTo>
                <a:close/>
              </a:path>
              <a:path w="331470" h="664210">
                <a:moveTo>
                  <a:pt x="330860" y="657263"/>
                </a:moveTo>
                <a:lnTo>
                  <a:pt x="318160" y="657263"/>
                </a:lnTo>
                <a:lnTo>
                  <a:pt x="324510" y="650913"/>
                </a:lnTo>
                <a:lnTo>
                  <a:pt x="330860" y="650913"/>
                </a:lnTo>
                <a:lnTo>
                  <a:pt x="330860" y="657263"/>
                </a:lnTo>
                <a:close/>
              </a:path>
            </a:pathLst>
          </a:custGeom>
          <a:solidFill>
            <a:srgbClr val="C00000"/>
          </a:solidFill>
        </p:spPr>
        <p:txBody>
          <a:bodyPr wrap="square" lIns="0" tIns="0" rIns="0" bIns="0" rtlCol="0"/>
          <a:lstStyle/>
          <a:p/>
        </p:txBody>
      </p:sp>
      <p:sp>
        <p:nvSpPr>
          <p:cNvPr id="34" name="object 34"/>
          <p:cNvSpPr/>
          <p:nvPr/>
        </p:nvSpPr>
        <p:spPr>
          <a:xfrm>
            <a:off x="9281159" y="4472940"/>
            <a:ext cx="285115" cy="152400"/>
          </a:xfrm>
          <a:custGeom>
            <a:avLst/>
            <a:gdLst/>
            <a:ahLst/>
            <a:cxnLst/>
            <a:rect l="l" t="t" r="r" b="b"/>
            <a:pathLst>
              <a:path w="285115" h="152400">
                <a:moveTo>
                  <a:pt x="284988" y="152400"/>
                </a:moveTo>
                <a:lnTo>
                  <a:pt x="0" y="152400"/>
                </a:lnTo>
                <a:lnTo>
                  <a:pt x="143256" y="0"/>
                </a:lnTo>
                <a:lnTo>
                  <a:pt x="284988" y="152400"/>
                </a:lnTo>
                <a:close/>
              </a:path>
            </a:pathLst>
          </a:custGeom>
          <a:solidFill>
            <a:srgbClr val="C00000"/>
          </a:solidFill>
        </p:spPr>
        <p:txBody>
          <a:bodyPr wrap="square" lIns="0" tIns="0" rIns="0" bIns="0" rtlCol="0"/>
          <a:lstStyle/>
          <a:p/>
        </p:txBody>
      </p:sp>
      <p:sp>
        <p:nvSpPr>
          <p:cNvPr id="35" name="object 35"/>
          <p:cNvSpPr/>
          <p:nvPr/>
        </p:nvSpPr>
        <p:spPr>
          <a:xfrm>
            <a:off x="9266643" y="4464354"/>
            <a:ext cx="314960" cy="168275"/>
          </a:xfrm>
          <a:custGeom>
            <a:avLst/>
            <a:gdLst/>
            <a:ahLst/>
            <a:cxnLst/>
            <a:rect l="l" t="t" r="r" b="b"/>
            <a:pathLst>
              <a:path w="314959" h="168275">
                <a:moveTo>
                  <a:pt x="314439" y="167881"/>
                </a:moveTo>
                <a:lnTo>
                  <a:pt x="0" y="167881"/>
                </a:lnTo>
                <a:lnTo>
                  <a:pt x="157213" y="0"/>
                </a:lnTo>
                <a:lnTo>
                  <a:pt x="169987" y="13639"/>
                </a:lnTo>
                <a:lnTo>
                  <a:pt x="152577" y="13639"/>
                </a:lnTo>
                <a:lnTo>
                  <a:pt x="157213" y="18589"/>
                </a:lnTo>
                <a:lnTo>
                  <a:pt x="29293" y="155181"/>
                </a:lnTo>
                <a:lnTo>
                  <a:pt x="14643" y="155181"/>
                </a:lnTo>
                <a:lnTo>
                  <a:pt x="19278" y="165874"/>
                </a:lnTo>
                <a:lnTo>
                  <a:pt x="312560" y="165874"/>
                </a:lnTo>
                <a:lnTo>
                  <a:pt x="314439" y="167881"/>
                </a:lnTo>
                <a:close/>
              </a:path>
              <a:path w="314959" h="168275">
                <a:moveTo>
                  <a:pt x="157213" y="18589"/>
                </a:moveTo>
                <a:lnTo>
                  <a:pt x="152577" y="13639"/>
                </a:lnTo>
                <a:lnTo>
                  <a:pt x="161848" y="13639"/>
                </a:lnTo>
                <a:lnTo>
                  <a:pt x="157213" y="18589"/>
                </a:lnTo>
                <a:close/>
              </a:path>
              <a:path w="314959" h="168275">
                <a:moveTo>
                  <a:pt x="295160" y="165874"/>
                </a:moveTo>
                <a:lnTo>
                  <a:pt x="157213" y="18589"/>
                </a:lnTo>
                <a:lnTo>
                  <a:pt x="161848" y="13639"/>
                </a:lnTo>
                <a:lnTo>
                  <a:pt x="169987" y="13639"/>
                </a:lnTo>
                <a:lnTo>
                  <a:pt x="302545" y="155181"/>
                </a:lnTo>
                <a:lnTo>
                  <a:pt x="299796" y="155181"/>
                </a:lnTo>
                <a:lnTo>
                  <a:pt x="295160" y="165874"/>
                </a:lnTo>
                <a:close/>
              </a:path>
              <a:path w="314959" h="168275">
                <a:moveTo>
                  <a:pt x="19278" y="165874"/>
                </a:moveTo>
                <a:lnTo>
                  <a:pt x="14643" y="155181"/>
                </a:lnTo>
                <a:lnTo>
                  <a:pt x="29293" y="155181"/>
                </a:lnTo>
                <a:lnTo>
                  <a:pt x="19278" y="165874"/>
                </a:lnTo>
                <a:close/>
              </a:path>
              <a:path w="314959" h="168275">
                <a:moveTo>
                  <a:pt x="295160" y="165874"/>
                </a:moveTo>
                <a:lnTo>
                  <a:pt x="19278" y="165874"/>
                </a:lnTo>
                <a:lnTo>
                  <a:pt x="29293" y="155181"/>
                </a:lnTo>
                <a:lnTo>
                  <a:pt x="285145" y="155181"/>
                </a:lnTo>
                <a:lnTo>
                  <a:pt x="295160" y="165874"/>
                </a:lnTo>
                <a:close/>
              </a:path>
              <a:path w="314959" h="168275">
                <a:moveTo>
                  <a:pt x="312560" y="165874"/>
                </a:moveTo>
                <a:lnTo>
                  <a:pt x="295160" y="165874"/>
                </a:lnTo>
                <a:lnTo>
                  <a:pt x="299796" y="155181"/>
                </a:lnTo>
                <a:lnTo>
                  <a:pt x="302545" y="155181"/>
                </a:lnTo>
                <a:lnTo>
                  <a:pt x="312560" y="165874"/>
                </a:lnTo>
                <a:close/>
              </a:path>
            </a:pathLst>
          </a:custGeom>
          <a:solidFill>
            <a:srgbClr val="C00000"/>
          </a:solidFill>
        </p:spPr>
        <p:txBody>
          <a:bodyPr wrap="square" lIns="0" tIns="0" rIns="0" bIns="0" rtlCol="0"/>
          <a:lstStyle/>
          <a:p/>
        </p:txBody>
      </p:sp>
      <p:sp>
        <p:nvSpPr>
          <p:cNvPr id="36" name="object 36"/>
          <p:cNvSpPr txBox="1"/>
          <p:nvPr/>
        </p:nvSpPr>
        <p:spPr>
          <a:xfrm>
            <a:off x="8947404" y="4071340"/>
            <a:ext cx="635635" cy="391160"/>
          </a:xfrm>
          <a:prstGeom prst="rect">
            <a:avLst/>
          </a:prstGeom>
        </p:spPr>
        <p:txBody>
          <a:bodyPr vert="horz" wrap="square" lIns="0" tIns="12700" rIns="0" bIns="0" rtlCol="0">
            <a:spAutoFit/>
          </a:bodyPr>
          <a:lstStyle/>
          <a:p>
            <a:pPr marL="158750" marR="163830">
              <a:lnSpc>
                <a:spcPct val="100000"/>
              </a:lnSpc>
              <a:spcBef>
                <a:spcPts val="100"/>
              </a:spcBef>
            </a:pPr>
            <a:r>
              <a:rPr sz="1200" b="1" dirty="0">
                <a:solidFill>
                  <a:srgbClr val="C00000"/>
                </a:solidFill>
                <a:latin typeface="微软雅黑" panose="020B0503020204020204" charset="-122"/>
                <a:cs typeface="微软雅黑" panose="020B0503020204020204" charset="-122"/>
              </a:rPr>
              <a:t>乒乓 缓存</a:t>
            </a:r>
            <a:endParaRPr sz="1200">
              <a:latin typeface="微软雅黑" panose="020B0503020204020204" charset="-122"/>
              <a:cs typeface="微软雅黑" panose="020B0503020204020204" charset="-122"/>
            </a:endParaRPr>
          </a:p>
        </p:txBody>
      </p:sp>
      <p:sp>
        <p:nvSpPr>
          <p:cNvPr id="37" name="object 37"/>
          <p:cNvSpPr txBox="1"/>
          <p:nvPr/>
        </p:nvSpPr>
        <p:spPr>
          <a:xfrm>
            <a:off x="8705088" y="3228251"/>
            <a:ext cx="1109980" cy="391160"/>
          </a:xfrm>
          <a:prstGeom prst="rect">
            <a:avLst/>
          </a:prstGeom>
        </p:spPr>
        <p:txBody>
          <a:bodyPr vert="horz" wrap="square" lIns="0" tIns="12700" rIns="0" bIns="0" rtlCol="0">
            <a:spAutoFit/>
          </a:bodyPr>
          <a:lstStyle/>
          <a:p>
            <a:pPr marL="403860" marR="392430" algn="ctr">
              <a:lnSpc>
                <a:spcPct val="100000"/>
              </a:lnSpc>
              <a:spcBef>
                <a:spcPts val="100"/>
              </a:spcBef>
            </a:pPr>
            <a:r>
              <a:rPr sz="1200" b="1" dirty="0">
                <a:solidFill>
                  <a:srgbClr val="C00000"/>
                </a:solidFill>
                <a:latin typeface="微软雅黑" panose="020B0503020204020204" charset="-122"/>
                <a:cs typeface="微软雅黑" panose="020B0503020204020204" charset="-122"/>
              </a:rPr>
              <a:t>地址 判断</a:t>
            </a:r>
            <a:endParaRPr sz="1200">
              <a:latin typeface="微软雅黑" panose="020B0503020204020204" charset="-122"/>
              <a:cs typeface="微软雅黑" panose="020B0503020204020204" charset="-122"/>
            </a:endParaRPr>
          </a:p>
        </p:txBody>
      </p:sp>
      <p:sp>
        <p:nvSpPr>
          <p:cNvPr id="38" name="object 38"/>
          <p:cNvSpPr txBox="1"/>
          <p:nvPr/>
        </p:nvSpPr>
        <p:spPr>
          <a:xfrm>
            <a:off x="9003576" y="2387841"/>
            <a:ext cx="60706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C00000"/>
                </a:solidFill>
                <a:latin typeface="微软雅黑" panose="020B0503020204020204" charset="-122"/>
                <a:cs typeface="微软雅黑" panose="020B0503020204020204" charset="-122"/>
              </a:rPr>
              <a:t>1:5</a:t>
            </a:r>
            <a:r>
              <a:rPr sz="1200" b="1" spc="-85" dirty="0">
                <a:solidFill>
                  <a:srgbClr val="C00000"/>
                </a:solidFill>
                <a:latin typeface="微软雅黑" panose="020B0503020204020204" charset="-122"/>
                <a:cs typeface="微软雅黑" panose="020B0503020204020204" charset="-122"/>
              </a:rPr>
              <a:t> </a:t>
            </a:r>
            <a:r>
              <a:rPr sz="1200" b="1" dirty="0">
                <a:solidFill>
                  <a:srgbClr val="C00000"/>
                </a:solidFill>
                <a:latin typeface="微软雅黑" panose="020B0503020204020204" charset="-122"/>
                <a:cs typeface="微软雅黑" panose="020B0503020204020204" charset="-122"/>
              </a:rPr>
              <a:t>分发</a:t>
            </a:r>
            <a:endParaRPr sz="1200">
              <a:latin typeface="微软雅黑" panose="020B0503020204020204" charset="-122"/>
              <a:cs typeface="微软雅黑" panose="020B0503020204020204" charset="-122"/>
            </a:endParaRPr>
          </a:p>
        </p:txBody>
      </p:sp>
      <p:sp>
        <p:nvSpPr>
          <p:cNvPr id="39" name="object 39"/>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5396865" cy="56642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蜂鸟E</a:t>
            </a:r>
            <a:r>
              <a:rPr sz="3600" spc="-5" dirty="0">
                <a:solidFill>
                  <a:srgbClr val="C00000"/>
                </a:solidFill>
              </a:rPr>
              <a:t>203</a:t>
            </a:r>
            <a:r>
              <a:rPr sz="3600" dirty="0">
                <a:solidFill>
                  <a:srgbClr val="C00000"/>
                </a:solidFill>
              </a:rPr>
              <a:t>的中断和异常</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794384" y="1342389"/>
            <a:ext cx="10431780" cy="1397000"/>
          </a:xfrm>
          <a:prstGeom prst="rect">
            <a:avLst/>
          </a:prstGeom>
        </p:spPr>
        <p:txBody>
          <a:bodyPr vert="horz" wrap="square" lIns="0" tIns="12700" rIns="0" bIns="0" rtlCol="0">
            <a:spAutoFit/>
          </a:bodyPr>
          <a:lstStyle/>
          <a:p>
            <a:pPr marL="12700" marR="5080" algn="just">
              <a:lnSpc>
                <a:spcPct val="150000"/>
              </a:lnSpc>
              <a:spcBef>
                <a:spcPts val="100"/>
              </a:spcBef>
            </a:pPr>
            <a:r>
              <a:rPr sz="1200" b="1" dirty="0">
                <a:solidFill>
                  <a:srgbClr val="C00000"/>
                </a:solidFill>
                <a:latin typeface="微软雅黑" panose="020B0503020204020204" charset="-122"/>
                <a:cs typeface="微软雅黑" panose="020B0503020204020204" charset="-122"/>
              </a:rPr>
              <a:t>中断</a:t>
            </a:r>
            <a:r>
              <a:rPr sz="1200" dirty="0">
                <a:latin typeface="微软雅黑" panose="020B0503020204020204" charset="-122"/>
                <a:cs typeface="微软雅黑" panose="020B0503020204020204" charset="-122"/>
              </a:rPr>
              <a:t>机制和</a:t>
            </a:r>
            <a:r>
              <a:rPr sz="1200" b="1" dirty="0">
                <a:solidFill>
                  <a:srgbClr val="C00000"/>
                </a:solidFill>
                <a:latin typeface="微软雅黑" panose="020B0503020204020204" charset="-122"/>
                <a:cs typeface="微软雅黑" panose="020B0503020204020204" charset="-122"/>
              </a:rPr>
              <a:t>异常</a:t>
            </a:r>
            <a:r>
              <a:rPr sz="1200" dirty="0">
                <a:latin typeface="微软雅黑" panose="020B0503020204020204" charset="-122"/>
                <a:cs typeface="微软雅黑" panose="020B0503020204020204" charset="-122"/>
              </a:rPr>
              <a:t>机制即在中断和异常发生时，处理器将暂停当前正在执行的程序，转而执行中断和异常处理程序，返回时处理器恢复之前被执行的程序。中 断和异常最大的区别时前者时由外部因素导致，而后者则是由处理器内部事件或程序执行中的事件引起，例如硬件或程序故障。由于对于处理器而言中断和 异常的处理机制基本上一样，所以合称</a:t>
            </a:r>
            <a:r>
              <a:rPr sz="1200" b="1" dirty="0">
                <a:solidFill>
                  <a:srgbClr val="C00000"/>
                </a:solidFill>
                <a:latin typeface="微软雅黑" panose="020B0503020204020204" charset="-122"/>
                <a:cs typeface="微软雅黑" panose="020B0503020204020204" charset="-122"/>
              </a:rPr>
              <a:t>广义异常</a:t>
            </a:r>
            <a:r>
              <a:rPr sz="1200" dirty="0">
                <a:latin typeface="微软雅黑" panose="020B0503020204020204" charset="-122"/>
                <a:cs typeface="微软雅黑" panose="020B0503020204020204" charset="-122"/>
              </a:rPr>
              <a:t>。广义异常可以分为</a:t>
            </a:r>
            <a:r>
              <a:rPr sz="1200" b="1" dirty="0">
                <a:solidFill>
                  <a:srgbClr val="C00000"/>
                </a:solidFill>
                <a:latin typeface="微软雅黑" panose="020B0503020204020204" charset="-122"/>
                <a:cs typeface="微软雅黑" panose="020B0503020204020204" charset="-122"/>
              </a:rPr>
              <a:t>同步异常</a:t>
            </a:r>
            <a:r>
              <a:rPr sz="1200" dirty="0">
                <a:latin typeface="微软雅黑" panose="020B0503020204020204" charset="-122"/>
                <a:cs typeface="微软雅黑" panose="020B0503020204020204" charset="-122"/>
              </a:rPr>
              <a:t>和</a:t>
            </a:r>
            <a:r>
              <a:rPr sz="1200" b="1" dirty="0">
                <a:solidFill>
                  <a:srgbClr val="C00000"/>
                </a:solidFill>
                <a:latin typeface="微软雅黑" panose="020B0503020204020204" charset="-122"/>
                <a:cs typeface="微软雅黑" panose="020B0503020204020204" charset="-122"/>
              </a:rPr>
              <a:t>异步异常</a:t>
            </a:r>
            <a:r>
              <a:rPr sz="1200" dirty="0">
                <a:latin typeface="微软雅黑" panose="020B0503020204020204" charset="-122"/>
                <a:cs typeface="微软雅黑" panose="020B0503020204020204" charset="-122"/>
              </a:rPr>
              <a:t>，前者原因可以精确定位到某一条执行指令，后者每次发生时指令 的PC可能不一样，例如中断便时一种异步异常。异步异常分为</a:t>
            </a:r>
            <a:r>
              <a:rPr sz="1200" b="1" dirty="0">
                <a:solidFill>
                  <a:srgbClr val="C00000"/>
                </a:solidFill>
                <a:latin typeface="微软雅黑" panose="020B0503020204020204" charset="-122"/>
                <a:cs typeface="微软雅黑" panose="020B0503020204020204" charset="-122"/>
              </a:rPr>
              <a:t>精确异步异常</a:t>
            </a:r>
            <a:r>
              <a:rPr sz="1200" dirty="0">
                <a:latin typeface="微软雅黑" panose="020B0503020204020204" charset="-122"/>
                <a:cs typeface="微软雅黑" panose="020B0503020204020204" charset="-122"/>
              </a:rPr>
              <a:t>和</a:t>
            </a:r>
            <a:r>
              <a:rPr sz="1200" b="1" dirty="0">
                <a:solidFill>
                  <a:srgbClr val="C00000"/>
                </a:solidFill>
                <a:latin typeface="微软雅黑" panose="020B0503020204020204" charset="-122"/>
                <a:cs typeface="微软雅黑" panose="020B0503020204020204" charset="-122"/>
              </a:rPr>
              <a:t>非精确异步异常</a:t>
            </a:r>
            <a:r>
              <a:rPr sz="1200" dirty="0">
                <a:latin typeface="微软雅黑" panose="020B0503020204020204" charset="-122"/>
                <a:cs typeface="微软雅黑" panose="020B0503020204020204" charset="-122"/>
              </a:rPr>
              <a:t>两类，前者在响应异常后的处理器状态能够精确反映某一条指 令的边界，而后者则由于指令执行被打断而边界模糊。</a:t>
            </a:r>
            <a:endParaRPr sz="1200">
              <a:latin typeface="微软雅黑" panose="020B0503020204020204" charset="-122"/>
              <a:cs typeface="微软雅黑" panose="020B0503020204020204" charset="-122"/>
            </a:endParaRPr>
          </a:p>
        </p:txBody>
      </p:sp>
      <p:sp>
        <p:nvSpPr>
          <p:cNvPr id="5" name="object 5"/>
          <p:cNvSpPr/>
          <p:nvPr/>
        </p:nvSpPr>
        <p:spPr>
          <a:xfrm>
            <a:off x="1123188" y="4267200"/>
            <a:ext cx="1419225" cy="464820"/>
          </a:xfrm>
          <a:custGeom>
            <a:avLst/>
            <a:gdLst/>
            <a:ahLst/>
            <a:cxnLst/>
            <a:rect l="l" t="t" r="r" b="b"/>
            <a:pathLst>
              <a:path w="1419225" h="464820">
                <a:moveTo>
                  <a:pt x="0" y="0"/>
                </a:moveTo>
                <a:lnTo>
                  <a:pt x="1418844" y="0"/>
                </a:lnTo>
                <a:lnTo>
                  <a:pt x="1418844" y="464820"/>
                </a:lnTo>
                <a:lnTo>
                  <a:pt x="0" y="464820"/>
                </a:lnTo>
                <a:lnTo>
                  <a:pt x="0" y="0"/>
                </a:lnTo>
                <a:close/>
              </a:path>
            </a:pathLst>
          </a:custGeom>
          <a:solidFill>
            <a:srgbClr val="D9D9D9"/>
          </a:solidFill>
        </p:spPr>
        <p:txBody>
          <a:bodyPr wrap="square" lIns="0" tIns="0" rIns="0" bIns="0" rtlCol="0"/>
          <a:lstStyle/>
          <a:p/>
        </p:txBody>
      </p:sp>
      <p:sp>
        <p:nvSpPr>
          <p:cNvPr id="6" name="object 6"/>
          <p:cNvSpPr/>
          <p:nvPr/>
        </p:nvSpPr>
        <p:spPr>
          <a:xfrm>
            <a:off x="1116330" y="4260583"/>
            <a:ext cx="1431925" cy="478790"/>
          </a:xfrm>
          <a:custGeom>
            <a:avLst/>
            <a:gdLst/>
            <a:ahLst/>
            <a:cxnLst/>
            <a:rect l="l" t="t" r="r" b="b"/>
            <a:pathLst>
              <a:path w="1431925" h="478789">
                <a:moveTo>
                  <a:pt x="1431912" y="478294"/>
                </a:moveTo>
                <a:lnTo>
                  <a:pt x="0" y="478294"/>
                </a:lnTo>
                <a:lnTo>
                  <a:pt x="0" y="0"/>
                </a:lnTo>
                <a:lnTo>
                  <a:pt x="1431912" y="0"/>
                </a:lnTo>
                <a:lnTo>
                  <a:pt x="1431912" y="6350"/>
                </a:lnTo>
                <a:lnTo>
                  <a:pt x="12700" y="6350"/>
                </a:lnTo>
                <a:lnTo>
                  <a:pt x="6350" y="12700"/>
                </a:lnTo>
                <a:lnTo>
                  <a:pt x="12700" y="12700"/>
                </a:lnTo>
                <a:lnTo>
                  <a:pt x="12700" y="465594"/>
                </a:lnTo>
                <a:lnTo>
                  <a:pt x="6350" y="465594"/>
                </a:lnTo>
                <a:lnTo>
                  <a:pt x="12700" y="471944"/>
                </a:lnTo>
                <a:lnTo>
                  <a:pt x="1431912" y="471944"/>
                </a:lnTo>
                <a:lnTo>
                  <a:pt x="1431912" y="478294"/>
                </a:lnTo>
                <a:close/>
              </a:path>
              <a:path w="1431925" h="478789">
                <a:moveTo>
                  <a:pt x="12700" y="12700"/>
                </a:moveTo>
                <a:lnTo>
                  <a:pt x="6350" y="12700"/>
                </a:lnTo>
                <a:lnTo>
                  <a:pt x="12700" y="6350"/>
                </a:lnTo>
                <a:lnTo>
                  <a:pt x="12700" y="12700"/>
                </a:lnTo>
                <a:close/>
              </a:path>
              <a:path w="1431925" h="478789">
                <a:moveTo>
                  <a:pt x="1419212" y="12700"/>
                </a:moveTo>
                <a:lnTo>
                  <a:pt x="12700" y="12700"/>
                </a:lnTo>
                <a:lnTo>
                  <a:pt x="12700" y="6350"/>
                </a:lnTo>
                <a:lnTo>
                  <a:pt x="1419212" y="6350"/>
                </a:lnTo>
                <a:lnTo>
                  <a:pt x="1419212" y="12700"/>
                </a:lnTo>
                <a:close/>
              </a:path>
              <a:path w="1431925" h="478789">
                <a:moveTo>
                  <a:pt x="1419212" y="471944"/>
                </a:moveTo>
                <a:lnTo>
                  <a:pt x="1419212" y="6350"/>
                </a:lnTo>
                <a:lnTo>
                  <a:pt x="1425562" y="12700"/>
                </a:lnTo>
                <a:lnTo>
                  <a:pt x="1431912" y="12700"/>
                </a:lnTo>
                <a:lnTo>
                  <a:pt x="1431912" y="465594"/>
                </a:lnTo>
                <a:lnTo>
                  <a:pt x="1425562" y="465594"/>
                </a:lnTo>
                <a:lnTo>
                  <a:pt x="1419212" y="471944"/>
                </a:lnTo>
                <a:close/>
              </a:path>
              <a:path w="1431925" h="478789">
                <a:moveTo>
                  <a:pt x="1431912" y="12700"/>
                </a:moveTo>
                <a:lnTo>
                  <a:pt x="1425562" y="12700"/>
                </a:lnTo>
                <a:lnTo>
                  <a:pt x="1419212" y="6350"/>
                </a:lnTo>
                <a:lnTo>
                  <a:pt x="1431912" y="6350"/>
                </a:lnTo>
                <a:lnTo>
                  <a:pt x="1431912" y="12700"/>
                </a:lnTo>
                <a:close/>
              </a:path>
              <a:path w="1431925" h="478789">
                <a:moveTo>
                  <a:pt x="12700" y="471944"/>
                </a:moveTo>
                <a:lnTo>
                  <a:pt x="6350" y="465594"/>
                </a:lnTo>
                <a:lnTo>
                  <a:pt x="12700" y="465594"/>
                </a:lnTo>
                <a:lnTo>
                  <a:pt x="12700" y="471944"/>
                </a:lnTo>
                <a:close/>
              </a:path>
              <a:path w="1431925" h="478789">
                <a:moveTo>
                  <a:pt x="1419212" y="471944"/>
                </a:moveTo>
                <a:lnTo>
                  <a:pt x="12700" y="471944"/>
                </a:lnTo>
                <a:lnTo>
                  <a:pt x="12700" y="465594"/>
                </a:lnTo>
                <a:lnTo>
                  <a:pt x="1419212" y="465594"/>
                </a:lnTo>
                <a:lnTo>
                  <a:pt x="1419212" y="471944"/>
                </a:lnTo>
                <a:close/>
              </a:path>
              <a:path w="1431925" h="478789">
                <a:moveTo>
                  <a:pt x="1431912" y="471944"/>
                </a:moveTo>
                <a:lnTo>
                  <a:pt x="1419212" y="471944"/>
                </a:lnTo>
                <a:lnTo>
                  <a:pt x="1425562" y="465594"/>
                </a:lnTo>
                <a:lnTo>
                  <a:pt x="1431912" y="465594"/>
                </a:lnTo>
                <a:lnTo>
                  <a:pt x="1431912" y="471944"/>
                </a:lnTo>
                <a:close/>
              </a:path>
            </a:pathLst>
          </a:custGeom>
          <a:solidFill>
            <a:srgbClr val="C00000"/>
          </a:solidFill>
        </p:spPr>
        <p:txBody>
          <a:bodyPr wrap="square" lIns="0" tIns="0" rIns="0" bIns="0" rtlCol="0"/>
          <a:lstStyle/>
          <a:p/>
        </p:txBody>
      </p:sp>
      <p:sp>
        <p:nvSpPr>
          <p:cNvPr id="7" name="object 7"/>
          <p:cNvSpPr txBox="1"/>
          <p:nvPr/>
        </p:nvSpPr>
        <p:spPr>
          <a:xfrm>
            <a:off x="1123188" y="4385678"/>
            <a:ext cx="1419225" cy="208279"/>
          </a:xfrm>
          <a:prstGeom prst="rect">
            <a:avLst/>
          </a:prstGeom>
        </p:spPr>
        <p:txBody>
          <a:bodyPr vert="horz" wrap="square" lIns="0" tIns="12700" rIns="0" bIns="0" rtlCol="0">
            <a:spAutoFit/>
          </a:bodyPr>
          <a:lstStyle/>
          <a:p>
            <a:pPr marL="403860">
              <a:lnSpc>
                <a:spcPct val="100000"/>
              </a:lnSpc>
              <a:spcBef>
                <a:spcPts val="100"/>
              </a:spcBef>
            </a:pPr>
            <a:r>
              <a:rPr sz="1200" b="1" dirty="0">
                <a:solidFill>
                  <a:srgbClr val="C00000"/>
                </a:solidFill>
                <a:latin typeface="微软雅黑" panose="020B0503020204020204" charset="-122"/>
                <a:cs typeface="微软雅黑" panose="020B0503020204020204" charset="-122"/>
              </a:rPr>
              <a:t>广义异常</a:t>
            </a:r>
            <a:endParaRPr sz="1200">
              <a:latin typeface="微软雅黑" panose="020B0503020204020204" charset="-122"/>
              <a:cs typeface="微软雅黑" panose="020B0503020204020204" charset="-122"/>
            </a:endParaRPr>
          </a:p>
        </p:txBody>
      </p:sp>
      <p:sp>
        <p:nvSpPr>
          <p:cNvPr id="8" name="object 8"/>
          <p:cNvSpPr/>
          <p:nvPr/>
        </p:nvSpPr>
        <p:spPr>
          <a:xfrm>
            <a:off x="3683508" y="4296155"/>
            <a:ext cx="1565275" cy="407034"/>
          </a:xfrm>
          <a:custGeom>
            <a:avLst/>
            <a:gdLst/>
            <a:ahLst/>
            <a:cxnLst/>
            <a:rect l="l" t="t" r="r" b="b"/>
            <a:pathLst>
              <a:path w="1565275" h="407035">
                <a:moveTo>
                  <a:pt x="0" y="0"/>
                </a:moveTo>
                <a:lnTo>
                  <a:pt x="1565148" y="0"/>
                </a:lnTo>
                <a:lnTo>
                  <a:pt x="1565148" y="406908"/>
                </a:lnTo>
                <a:lnTo>
                  <a:pt x="0" y="406908"/>
                </a:lnTo>
                <a:lnTo>
                  <a:pt x="0" y="0"/>
                </a:lnTo>
                <a:close/>
              </a:path>
            </a:pathLst>
          </a:custGeom>
          <a:solidFill>
            <a:srgbClr val="D9D9D9"/>
          </a:solidFill>
        </p:spPr>
        <p:txBody>
          <a:bodyPr wrap="square" lIns="0" tIns="0" rIns="0" bIns="0" rtlCol="0"/>
          <a:lstStyle/>
          <a:p/>
        </p:txBody>
      </p:sp>
      <p:sp>
        <p:nvSpPr>
          <p:cNvPr id="9" name="object 9"/>
          <p:cNvSpPr/>
          <p:nvPr/>
        </p:nvSpPr>
        <p:spPr>
          <a:xfrm>
            <a:off x="3677259" y="4290529"/>
            <a:ext cx="1578610" cy="419100"/>
          </a:xfrm>
          <a:custGeom>
            <a:avLst/>
            <a:gdLst/>
            <a:ahLst/>
            <a:cxnLst/>
            <a:rect l="l" t="t" r="r" b="b"/>
            <a:pathLst>
              <a:path w="1578610" h="419100">
                <a:moveTo>
                  <a:pt x="1578127" y="418985"/>
                </a:moveTo>
                <a:lnTo>
                  <a:pt x="0" y="418985"/>
                </a:lnTo>
                <a:lnTo>
                  <a:pt x="0" y="0"/>
                </a:lnTo>
                <a:lnTo>
                  <a:pt x="1578127" y="0"/>
                </a:lnTo>
                <a:lnTo>
                  <a:pt x="1578127" y="6350"/>
                </a:lnTo>
                <a:lnTo>
                  <a:pt x="12700" y="6350"/>
                </a:lnTo>
                <a:lnTo>
                  <a:pt x="6350" y="12700"/>
                </a:lnTo>
                <a:lnTo>
                  <a:pt x="12700" y="12700"/>
                </a:lnTo>
                <a:lnTo>
                  <a:pt x="12700" y="406285"/>
                </a:lnTo>
                <a:lnTo>
                  <a:pt x="6350" y="406285"/>
                </a:lnTo>
                <a:lnTo>
                  <a:pt x="12700" y="412635"/>
                </a:lnTo>
                <a:lnTo>
                  <a:pt x="1578127" y="412635"/>
                </a:lnTo>
                <a:lnTo>
                  <a:pt x="1578127" y="418985"/>
                </a:lnTo>
                <a:close/>
              </a:path>
              <a:path w="1578610" h="419100">
                <a:moveTo>
                  <a:pt x="12700" y="12700"/>
                </a:moveTo>
                <a:lnTo>
                  <a:pt x="6350" y="12700"/>
                </a:lnTo>
                <a:lnTo>
                  <a:pt x="12700" y="6350"/>
                </a:lnTo>
                <a:lnTo>
                  <a:pt x="12700" y="12700"/>
                </a:lnTo>
                <a:close/>
              </a:path>
              <a:path w="1578610" h="419100">
                <a:moveTo>
                  <a:pt x="1565427" y="12700"/>
                </a:moveTo>
                <a:lnTo>
                  <a:pt x="12700" y="12700"/>
                </a:lnTo>
                <a:lnTo>
                  <a:pt x="12700" y="6350"/>
                </a:lnTo>
                <a:lnTo>
                  <a:pt x="1565427" y="6350"/>
                </a:lnTo>
                <a:lnTo>
                  <a:pt x="1565427" y="12700"/>
                </a:lnTo>
                <a:close/>
              </a:path>
              <a:path w="1578610" h="419100">
                <a:moveTo>
                  <a:pt x="1565427" y="412635"/>
                </a:moveTo>
                <a:lnTo>
                  <a:pt x="1565427" y="6350"/>
                </a:lnTo>
                <a:lnTo>
                  <a:pt x="1571777" y="12700"/>
                </a:lnTo>
                <a:lnTo>
                  <a:pt x="1578127" y="12700"/>
                </a:lnTo>
                <a:lnTo>
                  <a:pt x="1578127" y="406285"/>
                </a:lnTo>
                <a:lnTo>
                  <a:pt x="1571777" y="406285"/>
                </a:lnTo>
                <a:lnTo>
                  <a:pt x="1565427" y="412635"/>
                </a:lnTo>
                <a:close/>
              </a:path>
              <a:path w="1578610" h="419100">
                <a:moveTo>
                  <a:pt x="1578127" y="12700"/>
                </a:moveTo>
                <a:lnTo>
                  <a:pt x="1571777" y="12700"/>
                </a:lnTo>
                <a:lnTo>
                  <a:pt x="1565427" y="6350"/>
                </a:lnTo>
                <a:lnTo>
                  <a:pt x="1578127" y="6350"/>
                </a:lnTo>
                <a:lnTo>
                  <a:pt x="1578127" y="12700"/>
                </a:lnTo>
                <a:close/>
              </a:path>
              <a:path w="1578610" h="419100">
                <a:moveTo>
                  <a:pt x="12700" y="412635"/>
                </a:moveTo>
                <a:lnTo>
                  <a:pt x="6350" y="406285"/>
                </a:lnTo>
                <a:lnTo>
                  <a:pt x="12700" y="406285"/>
                </a:lnTo>
                <a:lnTo>
                  <a:pt x="12700" y="412635"/>
                </a:lnTo>
                <a:close/>
              </a:path>
              <a:path w="1578610" h="419100">
                <a:moveTo>
                  <a:pt x="1565427" y="412635"/>
                </a:moveTo>
                <a:lnTo>
                  <a:pt x="12700" y="412635"/>
                </a:lnTo>
                <a:lnTo>
                  <a:pt x="12700" y="406285"/>
                </a:lnTo>
                <a:lnTo>
                  <a:pt x="1565427" y="406285"/>
                </a:lnTo>
                <a:lnTo>
                  <a:pt x="1565427" y="412635"/>
                </a:lnTo>
                <a:close/>
              </a:path>
              <a:path w="1578610" h="419100">
                <a:moveTo>
                  <a:pt x="1578127" y="412635"/>
                </a:moveTo>
                <a:lnTo>
                  <a:pt x="1565427" y="412635"/>
                </a:lnTo>
                <a:lnTo>
                  <a:pt x="1571777" y="406285"/>
                </a:lnTo>
                <a:lnTo>
                  <a:pt x="1578127" y="406285"/>
                </a:lnTo>
                <a:lnTo>
                  <a:pt x="1578127" y="412635"/>
                </a:lnTo>
                <a:close/>
              </a:path>
            </a:pathLst>
          </a:custGeom>
          <a:solidFill>
            <a:srgbClr val="C00000"/>
          </a:solidFill>
        </p:spPr>
        <p:txBody>
          <a:bodyPr wrap="square" lIns="0" tIns="0" rIns="0" bIns="0" rtlCol="0"/>
          <a:lstStyle/>
          <a:p/>
        </p:txBody>
      </p:sp>
      <p:sp>
        <p:nvSpPr>
          <p:cNvPr id="10" name="object 10"/>
          <p:cNvSpPr txBox="1"/>
          <p:nvPr/>
        </p:nvSpPr>
        <p:spPr>
          <a:xfrm>
            <a:off x="3683508" y="4385779"/>
            <a:ext cx="1565275" cy="208279"/>
          </a:xfrm>
          <a:prstGeom prst="rect">
            <a:avLst/>
          </a:prstGeom>
        </p:spPr>
        <p:txBody>
          <a:bodyPr vert="horz" wrap="square" lIns="0" tIns="12700" rIns="0" bIns="0" rtlCol="0">
            <a:spAutoFit/>
          </a:bodyPr>
          <a:lstStyle/>
          <a:p>
            <a:pPr marL="477520">
              <a:lnSpc>
                <a:spcPct val="100000"/>
              </a:lnSpc>
              <a:spcBef>
                <a:spcPts val="100"/>
              </a:spcBef>
            </a:pPr>
            <a:r>
              <a:rPr sz="1200" b="1" dirty="0">
                <a:solidFill>
                  <a:srgbClr val="C00000"/>
                </a:solidFill>
                <a:latin typeface="微软雅黑" panose="020B0503020204020204" charset="-122"/>
                <a:cs typeface="微软雅黑" panose="020B0503020204020204" charset="-122"/>
              </a:rPr>
              <a:t>精确异步</a:t>
            </a:r>
            <a:endParaRPr sz="1200">
              <a:latin typeface="微软雅黑" panose="020B0503020204020204" charset="-122"/>
              <a:cs typeface="微软雅黑" panose="020B0503020204020204" charset="-122"/>
            </a:endParaRPr>
          </a:p>
        </p:txBody>
      </p:sp>
      <p:sp>
        <p:nvSpPr>
          <p:cNvPr id="11" name="object 11"/>
          <p:cNvSpPr/>
          <p:nvPr/>
        </p:nvSpPr>
        <p:spPr>
          <a:xfrm>
            <a:off x="3683508" y="3459479"/>
            <a:ext cx="1565275" cy="388620"/>
          </a:xfrm>
          <a:custGeom>
            <a:avLst/>
            <a:gdLst/>
            <a:ahLst/>
            <a:cxnLst/>
            <a:rect l="l" t="t" r="r" b="b"/>
            <a:pathLst>
              <a:path w="1565275" h="388620">
                <a:moveTo>
                  <a:pt x="0" y="0"/>
                </a:moveTo>
                <a:lnTo>
                  <a:pt x="1565148" y="0"/>
                </a:lnTo>
                <a:lnTo>
                  <a:pt x="1565148" y="388620"/>
                </a:lnTo>
                <a:lnTo>
                  <a:pt x="0" y="388620"/>
                </a:lnTo>
                <a:lnTo>
                  <a:pt x="0" y="0"/>
                </a:lnTo>
                <a:close/>
              </a:path>
            </a:pathLst>
          </a:custGeom>
          <a:solidFill>
            <a:srgbClr val="D9D9D9"/>
          </a:solidFill>
        </p:spPr>
        <p:txBody>
          <a:bodyPr wrap="square" lIns="0" tIns="0" rIns="0" bIns="0" rtlCol="0"/>
          <a:lstStyle/>
          <a:p/>
        </p:txBody>
      </p:sp>
      <p:sp>
        <p:nvSpPr>
          <p:cNvPr id="12" name="object 12"/>
          <p:cNvSpPr/>
          <p:nvPr/>
        </p:nvSpPr>
        <p:spPr>
          <a:xfrm>
            <a:off x="3677259" y="3453282"/>
            <a:ext cx="1577975" cy="401320"/>
          </a:xfrm>
          <a:custGeom>
            <a:avLst/>
            <a:gdLst/>
            <a:ahLst/>
            <a:cxnLst/>
            <a:rect l="l" t="t" r="r" b="b"/>
            <a:pathLst>
              <a:path w="1577975" h="401320">
                <a:moveTo>
                  <a:pt x="1577505" y="400786"/>
                </a:moveTo>
                <a:lnTo>
                  <a:pt x="0" y="400786"/>
                </a:lnTo>
                <a:lnTo>
                  <a:pt x="0" y="0"/>
                </a:lnTo>
                <a:lnTo>
                  <a:pt x="1577505" y="0"/>
                </a:lnTo>
                <a:lnTo>
                  <a:pt x="1577505" y="6350"/>
                </a:lnTo>
                <a:lnTo>
                  <a:pt x="12700" y="6350"/>
                </a:lnTo>
                <a:lnTo>
                  <a:pt x="6350" y="12700"/>
                </a:lnTo>
                <a:lnTo>
                  <a:pt x="12700" y="12700"/>
                </a:lnTo>
                <a:lnTo>
                  <a:pt x="12700" y="388086"/>
                </a:lnTo>
                <a:lnTo>
                  <a:pt x="6350" y="388086"/>
                </a:lnTo>
                <a:lnTo>
                  <a:pt x="12700" y="394436"/>
                </a:lnTo>
                <a:lnTo>
                  <a:pt x="1577505" y="394436"/>
                </a:lnTo>
                <a:lnTo>
                  <a:pt x="1577505" y="400786"/>
                </a:lnTo>
                <a:close/>
              </a:path>
              <a:path w="1577975" h="401320">
                <a:moveTo>
                  <a:pt x="12700" y="12700"/>
                </a:moveTo>
                <a:lnTo>
                  <a:pt x="6350" y="12700"/>
                </a:lnTo>
                <a:lnTo>
                  <a:pt x="12700" y="6350"/>
                </a:lnTo>
                <a:lnTo>
                  <a:pt x="12700" y="12700"/>
                </a:lnTo>
                <a:close/>
              </a:path>
              <a:path w="1577975" h="401320">
                <a:moveTo>
                  <a:pt x="1564805" y="12700"/>
                </a:moveTo>
                <a:lnTo>
                  <a:pt x="12700" y="12700"/>
                </a:lnTo>
                <a:lnTo>
                  <a:pt x="12700" y="6350"/>
                </a:lnTo>
                <a:lnTo>
                  <a:pt x="1564805" y="6350"/>
                </a:lnTo>
                <a:lnTo>
                  <a:pt x="1564805" y="12700"/>
                </a:lnTo>
                <a:close/>
              </a:path>
              <a:path w="1577975" h="401320">
                <a:moveTo>
                  <a:pt x="1564805" y="394436"/>
                </a:moveTo>
                <a:lnTo>
                  <a:pt x="1564805" y="6350"/>
                </a:lnTo>
                <a:lnTo>
                  <a:pt x="1571155" y="12700"/>
                </a:lnTo>
                <a:lnTo>
                  <a:pt x="1577505" y="12700"/>
                </a:lnTo>
                <a:lnTo>
                  <a:pt x="1577505" y="388086"/>
                </a:lnTo>
                <a:lnTo>
                  <a:pt x="1571155" y="388086"/>
                </a:lnTo>
                <a:lnTo>
                  <a:pt x="1564805" y="394436"/>
                </a:lnTo>
                <a:close/>
              </a:path>
              <a:path w="1577975" h="401320">
                <a:moveTo>
                  <a:pt x="1577505" y="12700"/>
                </a:moveTo>
                <a:lnTo>
                  <a:pt x="1571155" y="12700"/>
                </a:lnTo>
                <a:lnTo>
                  <a:pt x="1564805" y="6350"/>
                </a:lnTo>
                <a:lnTo>
                  <a:pt x="1577505" y="6350"/>
                </a:lnTo>
                <a:lnTo>
                  <a:pt x="1577505" y="12700"/>
                </a:lnTo>
                <a:close/>
              </a:path>
              <a:path w="1577975" h="401320">
                <a:moveTo>
                  <a:pt x="12700" y="394436"/>
                </a:moveTo>
                <a:lnTo>
                  <a:pt x="6350" y="388086"/>
                </a:lnTo>
                <a:lnTo>
                  <a:pt x="12700" y="388086"/>
                </a:lnTo>
                <a:lnTo>
                  <a:pt x="12700" y="394436"/>
                </a:lnTo>
                <a:close/>
              </a:path>
              <a:path w="1577975" h="401320">
                <a:moveTo>
                  <a:pt x="1564805" y="394436"/>
                </a:moveTo>
                <a:lnTo>
                  <a:pt x="12700" y="394436"/>
                </a:lnTo>
                <a:lnTo>
                  <a:pt x="12700" y="388086"/>
                </a:lnTo>
                <a:lnTo>
                  <a:pt x="1564805" y="388086"/>
                </a:lnTo>
                <a:lnTo>
                  <a:pt x="1564805" y="394436"/>
                </a:lnTo>
                <a:close/>
              </a:path>
              <a:path w="1577975" h="401320">
                <a:moveTo>
                  <a:pt x="1577505" y="394436"/>
                </a:moveTo>
                <a:lnTo>
                  <a:pt x="1564805" y="394436"/>
                </a:lnTo>
                <a:lnTo>
                  <a:pt x="1571155" y="388086"/>
                </a:lnTo>
                <a:lnTo>
                  <a:pt x="1577505" y="388086"/>
                </a:lnTo>
                <a:lnTo>
                  <a:pt x="1577505" y="394436"/>
                </a:lnTo>
                <a:close/>
              </a:path>
            </a:pathLst>
          </a:custGeom>
          <a:solidFill>
            <a:srgbClr val="C00000"/>
          </a:solidFill>
        </p:spPr>
        <p:txBody>
          <a:bodyPr wrap="square" lIns="0" tIns="0" rIns="0" bIns="0" rtlCol="0"/>
          <a:lstStyle/>
          <a:p/>
        </p:txBody>
      </p:sp>
      <p:sp>
        <p:nvSpPr>
          <p:cNvPr id="13" name="object 13"/>
          <p:cNvSpPr txBox="1"/>
          <p:nvPr/>
        </p:nvSpPr>
        <p:spPr>
          <a:xfrm>
            <a:off x="3683508" y="3539642"/>
            <a:ext cx="1565275" cy="208279"/>
          </a:xfrm>
          <a:prstGeom prst="rect">
            <a:avLst/>
          </a:prstGeom>
        </p:spPr>
        <p:txBody>
          <a:bodyPr vert="horz" wrap="square" lIns="0" tIns="12700" rIns="0" bIns="0" rtlCol="0">
            <a:spAutoFit/>
          </a:bodyPr>
          <a:lstStyle/>
          <a:p>
            <a:pPr algn="ctr">
              <a:lnSpc>
                <a:spcPct val="100000"/>
              </a:lnSpc>
              <a:spcBef>
                <a:spcPts val="100"/>
              </a:spcBef>
            </a:pPr>
            <a:r>
              <a:rPr sz="1200" b="1" dirty="0">
                <a:solidFill>
                  <a:srgbClr val="C00000"/>
                </a:solidFill>
                <a:latin typeface="微软雅黑" panose="020B0503020204020204" charset="-122"/>
                <a:cs typeface="微软雅黑" panose="020B0503020204020204" charset="-122"/>
              </a:rPr>
              <a:t>同步</a:t>
            </a:r>
            <a:endParaRPr sz="1200">
              <a:latin typeface="微软雅黑" panose="020B0503020204020204" charset="-122"/>
              <a:cs typeface="微软雅黑" panose="020B0503020204020204" charset="-122"/>
            </a:endParaRPr>
          </a:p>
        </p:txBody>
      </p:sp>
      <p:sp>
        <p:nvSpPr>
          <p:cNvPr id="14" name="object 14"/>
          <p:cNvSpPr/>
          <p:nvPr/>
        </p:nvSpPr>
        <p:spPr>
          <a:xfrm>
            <a:off x="6259067" y="3102864"/>
            <a:ext cx="2661285" cy="375285"/>
          </a:xfrm>
          <a:custGeom>
            <a:avLst/>
            <a:gdLst/>
            <a:ahLst/>
            <a:cxnLst/>
            <a:rect l="l" t="t" r="r" b="b"/>
            <a:pathLst>
              <a:path w="2661284" h="375285">
                <a:moveTo>
                  <a:pt x="0" y="0"/>
                </a:moveTo>
                <a:lnTo>
                  <a:pt x="2660904" y="0"/>
                </a:lnTo>
                <a:lnTo>
                  <a:pt x="2660904" y="374903"/>
                </a:lnTo>
                <a:lnTo>
                  <a:pt x="0" y="374903"/>
                </a:lnTo>
                <a:lnTo>
                  <a:pt x="0" y="0"/>
                </a:lnTo>
                <a:close/>
              </a:path>
            </a:pathLst>
          </a:custGeom>
          <a:solidFill>
            <a:srgbClr val="D9D9D9"/>
          </a:solidFill>
        </p:spPr>
        <p:txBody>
          <a:bodyPr wrap="square" lIns="0" tIns="0" rIns="0" bIns="0" rtlCol="0"/>
          <a:lstStyle/>
          <a:p/>
        </p:txBody>
      </p:sp>
      <p:sp>
        <p:nvSpPr>
          <p:cNvPr id="15" name="object 15"/>
          <p:cNvSpPr/>
          <p:nvPr/>
        </p:nvSpPr>
        <p:spPr>
          <a:xfrm>
            <a:off x="6253124" y="3096895"/>
            <a:ext cx="2673985" cy="386715"/>
          </a:xfrm>
          <a:custGeom>
            <a:avLst/>
            <a:gdLst/>
            <a:ahLst/>
            <a:cxnLst/>
            <a:rect l="l" t="t" r="r" b="b"/>
            <a:pathLst>
              <a:path w="2673984" h="386714">
                <a:moveTo>
                  <a:pt x="2673807" y="386702"/>
                </a:moveTo>
                <a:lnTo>
                  <a:pt x="0" y="386702"/>
                </a:lnTo>
                <a:lnTo>
                  <a:pt x="0" y="0"/>
                </a:lnTo>
                <a:lnTo>
                  <a:pt x="2673807" y="0"/>
                </a:lnTo>
                <a:lnTo>
                  <a:pt x="2673807" y="6349"/>
                </a:lnTo>
                <a:lnTo>
                  <a:pt x="12700" y="6349"/>
                </a:lnTo>
                <a:lnTo>
                  <a:pt x="6350" y="12699"/>
                </a:lnTo>
                <a:lnTo>
                  <a:pt x="12700" y="12699"/>
                </a:lnTo>
                <a:lnTo>
                  <a:pt x="12700" y="374002"/>
                </a:lnTo>
                <a:lnTo>
                  <a:pt x="6350" y="374002"/>
                </a:lnTo>
                <a:lnTo>
                  <a:pt x="12700" y="380352"/>
                </a:lnTo>
                <a:lnTo>
                  <a:pt x="2673807" y="380352"/>
                </a:lnTo>
                <a:lnTo>
                  <a:pt x="2673807" y="386702"/>
                </a:lnTo>
                <a:close/>
              </a:path>
              <a:path w="2673984" h="386714">
                <a:moveTo>
                  <a:pt x="12700" y="12699"/>
                </a:moveTo>
                <a:lnTo>
                  <a:pt x="6350" y="12699"/>
                </a:lnTo>
                <a:lnTo>
                  <a:pt x="12700" y="6349"/>
                </a:lnTo>
                <a:lnTo>
                  <a:pt x="12700" y="12699"/>
                </a:lnTo>
                <a:close/>
              </a:path>
              <a:path w="2673984" h="386714">
                <a:moveTo>
                  <a:pt x="2661107" y="12699"/>
                </a:moveTo>
                <a:lnTo>
                  <a:pt x="12700" y="12699"/>
                </a:lnTo>
                <a:lnTo>
                  <a:pt x="12700" y="6349"/>
                </a:lnTo>
                <a:lnTo>
                  <a:pt x="2661107" y="6349"/>
                </a:lnTo>
                <a:lnTo>
                  <a:pt x="2661107" y="12699"/>
                </a:lnTo>
                <a:close/>
              </a:path>
              <a:path w="2673984" h="386714">
                <a:moveTo>
                  <a:pt x="2661107" y="380352"/>
                </a:moveTo>
                <a:lnTo>
                  <a:pt x="2661107" y="6349"/>
                </a:lnTo>
                <a:lnTo>
                  <a:pt x="2667457" y="12699"/>
                </a:lnTo>
                <a:lnTo>
                  <a:pt x="2673807" y="12699"/>
                </a:lnTo>
                <a:lnTo>
                  <a:pt x="2673807" y="374002"/>
                </a:lnTo>
                <a:lnTo>
                  <a:pt x="2667457" y="374002"/>
                </a:lnTo>
                <a:lnTo>
                  <a:pt x="2661107" y="380352"/>
                </a:lnTo>
                <a:close/>
              </a:path>
              <a:path w="2673984" h="386714">
                <a:moveTo>
                  <a:pt x="2673807" y="12699"/>
                </a:moveTo>
                <a:lnTo>
                  <a:pt x="2667457" y="12699"/>
                </a:lnTo>
                <a:lnTo>
                  <a:pt x="2661107" y="6349"/>
                </a:lnTo>
                <a:lnTo>
                  <a:pt x="2673807" y="6349"/>
                </a:lnTo>
                <a:lnTo>
                  <a:pt x="2673807" y="12699"/>
                </a:lnTo>
                <a:close/>
              </a:path>
              <a:path w="2673984" h="386714">
                <a:moveTo>
                  <a:pt x="12700" y="380352"/>
                </a:moveTo>
                <a:lnTo>
                  <a:pt x="6350" y="374002"/>
                </a:lnTo>
                <a:lnTo>
                  <a:pt x="12700" y="374002"/>
                </a:lnTo>
                <a:lnTo>
                  <a:pt x="12700" y="380352"/>
                </a:lnTo>
                <a:close/>
              </a:path>
              <a:path w="2673984" h="386714">
                <a:moveTo>
                  <a:pt x="2661107" y="380352"/>
                </a:moveTo>
                <a:lnTo>
                  <a:pt x="12700" y="380352"/>
                </a:lnTo>
                <a:lnTo>
                  <a:pt x="12700" y="374002"/>
                </a:lnTo>
                <a:lnTo>
                  <a:pt x="2661107" y="374002"/>
                </a:lnTo>
                <a:lnTo>
                  <a:pt x="2661107" y="380352"/>
                </a:lnTo>
                <a:close/>
              </a:path>
              <a:path w="2673984" h="386714">
                <a:moveTo>
                  <a:pt x="2673807" y="380352"/>
                </a:moveTo>
                <a:lnTo>
                  <a:pt x="2661107" y="380352"/>
                </a:lnTo>
                <a:lnTo>
                  <a:pt x="2667457" y="374002"/>
                </a:lnTo>
                <a:lnTo>
                  <a:pt x="2673807" y="374002"/>
                </a:lnTo>
                <a:lnTo>
                  <a:pt x="2673807" y="380352"/>
                </a:lnTo>
                <a:close/>
              </a:path>
            </a:pathLst>
          </a:custGeom>
          <a:solidFill>
            <a:srgbClr val="C00000"/>
          </a:solidFill>
        </p:spPr>
        <p:txBody>
          <a:bodyPr wrap="square" lIns="0" tIns="0" rIns="0" bIns="0" rtlCol="0"/>
          <a:lstStyle/>
          <a:p/>
        </p:txBody>
      </p:sp>
      <p:sp>
        <p:nvSpPr>
          <p:cNvPr id="16" name="object 16"/>
          <p:cNvSpPr txBox="1"/>
          <p:nvPr/>
        </p:nvSpPr>
        <p:spPr>
          <a:xfrm>
            <a:off x="6259067" y="3176270"/>
            <a:ext cx="2661285" cy="208279"/>
          </a:xfrm>
          <a:prstGeom prst="rect">
            <a:avLst/>
          </a:prstGeom>
        </p:spPr>
        <p:txBody>
          <a:bodyPr vert="horz" wrap="square" lIns="0" tIns="12700" rIns="0" bIns="0" rtlCol="0">
            <a:spAutoFit/>
          </a:bodyPr>
          <a:lstStyle/>
          <a:p>
            <a:pPr marL="339725">
              <a:lnSpc>
                <a:spcPct val="100000"/>
              </a:lnSpc>
              <a:spcBef>
                <a:spcPts val="100"/>
              </a:spcBef>
            </a:pPr>
            <a:r>
              <a:rPr sz="1200" b="1" dirty="0">
                <a:solidFill>
                  <a:srgbClr val="C00000"/>
                </a:solidFill>
                <a:latin typeface="微软雅黑" panose="020B0503020204020204" charset="-122"/>
                <a:cs typeface="微软雅黑" panose="020B0503020204020204" charset="-122"/>
              </a:rPr>
              <a:t>取指令访问到非法的地址区间</a:t>
            </a:r>
            <a:endParaRPr sz="1200">
              <a:latin typeface="微软雅黑" panose="020B0503020204020204" charset="-122"/>
              <a:cs typeface="微软雅黑" panose="020B0503020204020204" charset="-122"/>
            </a:endParaRPr>
          </a:p>
        </p:txBody>
      </p:sp>
      <p:sp>
        <p:nvSpPr>
          <p:cNvPr id="17" name="object 17"/>
          <p:cNvSpPr/>
          <p:nvPr/>
        </p:nvSpPr>
        <p:spPr>
          <a:xfrm>
            <a:off x="6259067" y="3537203"/>
            <a:ext cx="2661285" cy="373380"/>
          </a:xfrm>
          <a:custGeom>
            <a:avLst/>
            <a:gdLst/>
            <a:ahLst/>
            <a:cxnLst/>
            <a:rect l="l" t="t" r="r" b="b"/>
            <a:pathLst>
              <a:path w="2661284" h="373379">
                <a:moveTo>
                  <a:pt x="0" y="0"/>
                </a:moveTo>
                <a:lnTo>
                  <a:pt x="2660904" y="0"/>
                </a:lnTo>
                <a:lnTo>
                  <a:pt x="2660904" y="373379"/>
                </a:lnTo>
                <a:lnTo>
                  <a:pt x="0" y="373379"/>
                </a:lnTo>
                <a:lnTo>
                  <a:pt x="0" y="0"/>
                </a:lnTo>
                <a:close/>
              </a:path>
            </a:pathLst>
          </a:custGeom>
          <a:solidFill>
            <a:srgbClr val="D9D9D9"/>
          </a:solidFill>
        </p:spPr>
        <p:txBody>
          <a:bodyPr wrap="square" lIns="0" tIns="0" rIns="0" bIns="0" rtlCol="0"/>
          <a:lstStyle/>
          <a:p/>
        </p:txBody>
      </p:sp>
      <p:sp>
        <p:nvSpPr>
          <p:cNvPr id="18" name="object 18"/>
          <p:cNvSpPr/>
          <p:nvPr/>
        </p:nvSpPr>
        <p:spPr>
          <a:xfrm>
            <a:off x="6253124" y="3530777"/>
            <a:ext cx="2673985" cy="386715"/>
          </a:xfrm>
          <a:custGeom>
            <a:avLst/>
            <a:gdLst/>
            <a:ahLst/>
            <a:cxnLst/>
            <a:rect l="l" t="t" r="r" b="b"/>
            <a:pathLst>
              <a:path w="2673984" h="386714">
                <a:moveTo>
                  <a:pt x="2673807" y="386702"/>
                </a:moveTo>
                <a:lnTo>
                  <a:pt x="0" y="386702"/>
                </a:lnTo>
                <a:lnTo>
                  <a:pt x="0" y="0"/>
                </a:lnTo>
                <a:lnTo>
                  <a:pt x="2673807" y="0"/>
                </a:lnTo>
                <a:lnTo>
                  <a:pt x="2673807" y="6350"/>
                </a:lnTo>
                <a:lnTo>
                  <a:pt x="12700" y="6350"/>
                </a:lnTo>
                <a:lnTo>
                  <a:pt x="6350" y="12700"/>
                </a:lnTo>
                <a:lnTo>
                  <a:pt x="12700" y="12700"/>
                </a:lnTo>
                <a:lnTo>
                  <a:pt x="12700" y="374002"/>
                </a:lnTo>
                <a:lnTo>
                  <a:pt x="6350" y="374002"/>
                </a:lnTo>
                <a:lnTo>
                  <a:pt x="12700" y="380352"/>
                </a:lnTo>
                <a:lnTo>
                  <a:pt x="2673807" y="380352"/>
                </a:lnTo>
                <a:lnTo>
                  <a:pt x="2673807" y="386702"/>
                </a:lnTo>
                <a:close/>
              </a:path>
              <a:path w="2673984" h="386714">
                <a:moveTo>
                  <a:pt x="12700" y="12700"/>
                </a:moveTo>
                <a:lnTo>
                  <a:pt x="6350" y="12700"/>
                </a:lnTo>
                <a:lnTo>
                  <a:pt x="12700" y="6350"/>
                </a:lnTo>
                <a:lnTo>
                  <a:pt x="12700" y="12700"/>
                </a:lnTo>
                <a:close/>
              </a:path>
              <a:path w="2673984" h="386714">
                <a:moveTo>
                  <a:pt x="2661107" y="12700"/>
                </a:moveTo>
                <a:lnTo>
                  <a:pt x="12700" y="12700"/>
                </a:lnTo>
                <a:lnTo>
                  <a:pt x="12700" y="6350"/>
                </a:lnTo>
                <a:lnTo>
                  <a:pt x="2661107" y="6350"/>
                </a:lnTo>
                <a:lnTo>
                  <a:pt x="2661107" y="12700"/>
                </a:lnTo>
                <a:close/>
              </a:path>
              <a:path w="2673984" h="386714">
                <a:moveTo>
                  <a:pt x="2661107" y="380352"/>
                </a:moveTo>
                <a:lnTo>
                  <a:pt x="2661107" y="6350"/>
                </a:lnTo>
                <a:lnTo>
                  <a:pt x="2667457" y="12700"/>
                </a:lnTo>
                <a:lnTo>
                  <a:pt x="2673807" y="12700"/>
                </a:lnTo>
                <a:lnTo>
                  <a:pt x="2673807" y="374002"/>
                </a:lnTo>
                <a:lnTo>
                  <a:pt x="2667457" y="374002"/>
                </a:lnTo>
                <a:lnTo>
                  <a:pt x="2661107" y="380352"/>
                </a:lnTo>
                <a:close/>
              </a:path>
              <a:path w="2673984" h="386714">
                <a:moveTo>
                  <a:pt x="2673807" y="12700"/>
                </a:moveTo>
                <a:lnTo>
                  <a:pt x="2667457" y="12700"/>
                </a:lnTo>
                <a:lnTo>
                  <a:pt x="2661107" y="6350"/>
                </a:lnTo>
                <a:lnTo>
                  <a:pt x="2673807" y="6350"/>
                </a:lnTo>
                <a:lnTo>
                  <a:pt x="2673807" y="12700"/>
                </a:lnTo>
                <a:close/>
              </a:path>
              <a:path w="2673984" h="386714">
                <a:moveTo>
                  <a:pt x="12700" y="380352"/>
                </a:moveTo>
                <a:lnTo>
                  <a:pt x="6350" y="374002"/>
                </a:lnTo>
                <a:lnTo>
                  <a:pt x="12700" y="374002"/>
                </a:lnTo>
                <a:lnTo>
                  <a:pt x="12700" y="380352"/>
                </a:lnTo>
                <a:close/>
              </a:path>
              <a:path w="2673984" h="386714">
                <a:moveTo>
                  <a:pt x="2661107" y="380352"/>
                </a:moveTo>
                <a:lnTo>
                  <a:pt x="12700" y="380352"/>
                </a:lnTo>
                <a:lnTo>
                  <a:pt x="12700" y="374002"/>
                </a:lnTo>
                <a:lnTo>
                  <a:pt x="2661107" y="374002"/>
                </a:lnTo>
                <a:lnTo>
                  <a:pt x="2661107" y="380352"/>
                </a:lnTo>
                <a:close/>
              </a:path>
              <a:path w="2673984" h="386714">
                <a:moveTo>
                  <a:pt x="2673807" y="380352"/>
                </a:moveTo>
                <a:lnTo>
                  <a:pt x="2661107" y="380352"/>
                </a:lnTo>
                <a:lnTo>
                  <a:pt x="2667457" y="374002"/>
                </a:lnTo>
                <a:lnTo>
                  <a:pt x="2673807" y="374002"/>
                </a:lnTo>
                <a:lnTo>
                  <a:pt x="2673807" y="380352"/>
                </a:lnTo>
                <a:close/>
              </a:path>
            </a:pathLst>
          </a:custGeom>
          <a:solidFill>
            <a:srgbClr val="C00000"/>
          </a:solidFill>
        </p:spPr>
        <p:txBody>
          <a:bodyPr wrap="square" lIns="0" tIns="0" rIns="0" bIns="0" rtlCol="0"/>
          <a:lstStyle/>
          <a:p/>
        </p:txBody>
      </p:sp>
      <p:sp>
        <p:nvSpPr>
          <p:cNvPr id="19" name="object 19"/>
          <p:cNvSpPr txBox="1"/>
          <p:nvPr/>
        </p:nvSpPr>
        <p:spPr>
          <a:xfrm>
            <a:off x="6259067" y="3610152"/>
            <a:ext cx="2661285" cy="208279"/>
          </a:xfrm>
          <a:prstGeom prst="rect">
            <a:avLst/>
          </a:prstGeom>
        </p:spPr>
        <p:txBody>
          <a:bodyPr vert="horz" wrap="square" lIns="0" tIns="12700" rIns="0" bIns="0" rtlCol="0">
            <a:spAutoFit/>
          </a:bodyPr>
          <a:lstStyle/>
          <a:p>
            <a:pPr marL="415925">
              <a:lnSpc>
                <a:spcPct val="100000"/>
              </a:lnSpc>
              <a:spcBef>
                <a:spcPts val="100"/>
              </a:spcBef>
            </a:pPr>
            <a:r>
              <a:rPr sz="1200" b="1" dirty="0">
                <a:solidFill>
                  <a:srgbClr val="C00000"/>
                </a:solidFill>
                <a:latin typeface="微软雅黑" panose="020B0503020204020204" charset="-122"/>
                <a:cs typeface="微软雅黑" panose="020B0503020204020204" charset="-122"/>
              </a:rPr>
              <a:t>读写数据访问地址属性出错</a:t>
            </a:r>
            <a:endParaRPr sz="1200">
              <a:latin typeface="微软雅黑" panose="020B0503020204020204" charset="-122"/>
              <a:cs typeface="微软雅黑" panose="020B0503020204020204" charset="-122"/>
            </a:endParaRPr>
          </a:p>
        </p:txBody>
      </p:sp>
      <p:sp>
        <p:nvSpPr>
          <p:cNvPr id="20" name="object 20"/>
          <p:cNvSpPr/>
          <p:nvPr/>
        </p:nvSpPr>
        <p:spPr>
          <a:xfrm>
            <a:off x="6259067" y="3971544"/>
            <a:ext cx="2661285" cy="373380"/>
          </a:xfrm>
          <a:custGeom>
            <a:avLst/>
            <a:gdLst/>
            <a:ahLst/>
            <a:cxnLst/>
            <a:rect l="l" t="t" r="r" b="b"/>
            <a:pathLst>
              <a:path w="2661284" h="373379">
                <a:moveTo>
                  <a:pt x="0" y="0"/>
                </a:moveTo>
                <a:lnTo>
                  <a:pt x="2660904" y="0"/>
                </a:lnTo>
                <a:lnTo>
                  <a:pt x="2660904" y="373379"/>
                </a:lnTo>
                <a:lnTo>
                  <a:pt x="0" y="373379"/>
                </a:lnTo>
                <a:lnTo>
                  <a:pt x="0" y="0"/>
                </a:lnTo>
                <a:close/>
              </a:path>
            </a:pathLst>
          </a:custGeom>
          <a:solidFill>
            <a:srgbClr val="D9D9D9"/>
          </a:solidFill>
        </p:spPr>
        <p:txBody>
          <a:bodyPr wrap="square" lIns="0" tIns="0" rIns="0" bIns="0" rtlCol="0"/>
          <a:lstStyle/>
          <a:p/>
        </p:txBody>
      </p:sp>
      <p:sp>
        <p:nvSpPr>
          <p:cNvPr id="21" name="object 21"/>
          <p:cNvSpPr/>
          <p:nvPr/>
        </p:nvSpPr>
        <p:spPr>
          <a:xfrm>
            <a:off x="6253124" y="3965257"/>
            <a:ext cx="2673985" cy="386715"/>
          </a:xfrm>
          <a:custGeom>
            <a:avLst/>
            <a:gdLst/>
            <a:ahLst/>
            <a:cxnLst/>
            <a:rect l="l" t="t" r="r" b="b"/>
            <a:pathLst>
              <a:path w="2673984" h="386714">
                <a:moveTo>
                  <a:pt x="2673807" y="386702"/>
                </a:moveTo>
                <a:lnTo>
                  <a:pt x="0" y="386702"/>
                </a:lnTo>
                <a:lnTo>
                  <a:pt x="0" y="0"/>
                </a:lnTo>
                <a:lnTo>
                  <a:pt x="2673807" y="0"/>
                </a:lnTo>
                <a:lnTo>
                  <a:pt x="2673807" y="6350"/>
                </a:lnTo>
                <a:lnTo>
                  <a:pt x="12700" y="6350"/>
                </a:lnTo>
                <a:lnTo>
                  <a:pt x="6350" y="12700"/>
                </a:lnTo>
                <a:lnTo>
                  <a:pt x="12700" y="12700"/>
                </a:lnTo>
                <a:lnTo>
                  <a:pt x="12700" y="374002"/>
                </a:lnTo>
                <a:lnTo>
                  <a:pt x="6350" y="374002"/>
                </a:lnTo>
                <a:lnTo>
                  <a:pt x="12700" y="380352"/>
                </a:lnTo>
                <a:lnTo>
                  <a:pt x="2673807" y="380352"/>
                </a:lnTo>
                <a:lnTo>
                  <a:pt x="2673807" y="386702"/>
                </a:lnTo>
                <a:close/>
              </a:path>
              <a:path w="2673984" h="386714">
                <a:moveTo>
                  <a:pt x="12700" y="12700"/>
                </a:moveTo>
                <a:lnTo>
                  <a:pt x="6350" y="12700"/>
                </a:lnTo>
                <a:lnTo>
                  <a:pt x="12700" y="6350"/>
                </a:lnTo>
                <a:lnTo>
                  <a:pt x="12700" y="12700"/>
                </a:lnTo>
                <a:close/>
              </a:path>
              <a:path w="2673984" h="386714">
                <a:moveTo>
                  <a:pt x="2661107" y="12700"/>
                </a:moveTo>
                <a:lnTo>
                  <a:pt x="12700" y="12700"/>
                </a:lnTo>
                <a:lnTo>
                  <a:pt x="12700" y="6350"/>
                </a:lnTo>
                <a:lnTo>
                  <a:pt x="2661107" y="6350"/>
                </a:lnTo>
                <a:lnTo>
                  <a:pt x="2661107" y="12700"/>
                </a:lnTo>
                <a:close/>
              </a:path>
              <a:path w="2673984" h="386714">
                <a:moveTo>
                  <a:pt x="2661107" y="380352"/>
                </a:moveTo>
                <a:lnTo>
                  <a:pt x="2661107" y="6350"/>
                </a:lnTo>
                <a:lnTo>
                  <a:pt x="2667457" y="12700"/>
                </a:lnTo>
                <a:lnTo>
                  <a:pt x="2673807" y="12700"/>
                </a:lnTo>
                <a:lnTo>
                  <a:pt x="2673807" y="374002"/>
                </a:lnTo>
                <a:lnTo>
                  <a:pt x="2667457" y="374002"/>
                </a:lnTo>
                <a:lnTo>
                  <a:pt x="2661107" y="380352"/>
                </a:lnTo>
                <a:close/>
              </a:path>
              <a:path w="2673984" h="386714">
                <a:moveTo>
                  <a:pt x="2673807" y="12700"/>
                </a:moveTo>
                <a:lnTo>
                  <a:pt x="2667457" y="12700"/>
                </a:lnTo>
                <a:lnTo>
                  <a:pt x="2661107" y="6350"/>
                </a:lnTo>
                <a:lnTo>
                  <a:pt x="2673807" y="6350"/>
                </a:lnTo>
                <a:lnTo>
                  <a:pt x="2673807" y="12700"/>
                </a:lnTo>
                <a:close/>
              </a:path>
              <a:path w="2673984" h="386714">
                <a:moveTo>
                  <a:pt x="12700" y="380352"/>
                </a:moveTo>
                <a:lnTo>
                  <a:pt x="6350" y="374002"/>
                </a:lnTo>
                <a:lnTo>
                  <a:pt x="12700" y="374002"/>
                </a:lnTo>
                <a:lnTo>
                  <a:pt x="12700" y="380352"/>
                </a:lnTo>
                <a:close/>
              </a:path>
              <a:path w="2673984" h="386714">
                <a:moveTo>
                  <a:pt x="2661107" y="380352"/>
                </a:moveTo>
                <a:lnTo>
                  <a:pt x="12700" y="380352"/>
                </a:lnTo>
                <a:lnTo>
                  <a:pt x="12700" y="374002"/>
                </a:lnTo>
                <a:lnTo>
                  <a:pt x="2661107" y="374002"/>
                </a:lnTo>
                <a:lnTo>
                  <a:pt x="2661107" y="380352"/>
                </a:lnTo>
                <a:close/>
              </a:path>
              <a:path w="2673984" h="386714">
                <a:moveTo>
                  <a:pt x="2673807" y="380352"/>
                </a:moveTo>
                <a:lnTo>
                  <a:pt x="2661107" y="380352"/>
                </a:lnTo>
                <a:lnTo>
                  <a:pt x="2667457" y="374002"/>
                </a:lnTo>
                <a:lnTo>
                  <a:pt x="2673807" y="374002"/>
                </a:lnTo>
                <a:lnTo>
                  <a:pt x="2673807" y="380352"/>
                </a:lnTo>
                <a:close/>
              </a:path>
            </a:pathLst>
          </a:custGeom>
          <a:solidFill>
            <a:srgbClr val="C00000"/>
          </a:solidFill>
        </p:spPr>
        <p:txBody>
          <a:bodyPr wrap="square" lIns="0" tIns="0" rIns="0" bIns="0" rtlCol="0"/>
          <a:lstStyle/>
          <a:p/>
        </p:txBody>
      </p:sp>
      <p:sp>
        <p:nvSpPr>
          <p:cNvPr id="22" name="object 22"/>
          <p:cNvSpPr txBox="1"/>
          <p:nvPr/>
        </p:nvSpPr>
        <p:spPr>
          <a:xfrm>
            <a:off x="6259067" y="4044632"/>
            <a:ext cx="2661285" cy="208279"/>
          </a:xfrm>
          <a:prstGeom prst="rect">
            <a:avLst/>
          </a:prstGeom>
        </p:spPr>
        <p:txBody>
          <a:bodyPr vert="horz" wrap="square" lIns="0" tIns="12700" rIns="0" bIns="0" rtlCol="0">
            <a:spAutoFit/>
          </a:bodyPr>
          <a:lstStyle/>
          <a:p>
            <a:pPr marL="568325">
              <a:lnSpc>
                <a:spcPct val="100000"/>
              </a:lnSpc>
              <a:spcBef>
                <a:spcPts val="100"/>
              </a:spcBef>
            </a:pPr>
            <a:r>
              <a:rPr sz="1200" b="1" dirty="0">
                <a:solidFill>
                  <a:srgbClr val="C00000"/>
                </a:solidFill>
                <a:latin typeface="微软雅黑" panose="020B0503020204020204" charset="-122"/>
                <a:cs typeface="微软雅黑" panose="020B0503020204020204" charset="-122"/>
              </a:rPr>
              <a:t>取指令地址非对齐错误</a:t>
            </a:r>
            <a:endParaRPr sz="1200">
              <a:latin typeface="微软雅黑" panose="020B0503020204020204" charset="-122"/>
              <a:cs typeface="微软雅黑" panose="020B0503020204020204" charset="-122"/>
            </a:endParaRPr>
          </a:p>
        </p:txBody>
      </p:sp>
      <p:sp>
        <p:nvSpPr>
          <p:cNvPr id="23" name="object 23"/>
          <p:cNvSpPr/>
          <p:nvPr/>
        </p:nvSpPr>
        <p:spPr>
          <a:xfrm>
            <a:off x="6259067" y="4398264"/>
            <a:ext cx="2661285" cy="375285"/>
          </a:xfrm>
          <a:custGeom>
            <a:avLst/>
            <a:gdLst/>
            <a:ahLst/>
            <a:cxnLst/>
            <a:rect l="l" t="t" r="r" b="b"/>
            <a:pathLst>
              <a:path w="2661284" h="375285">
                <a:moveTo>
                  <a:pt x="0" y="0"/>
                </a:moveTo>
                <a:lnTo>
                  <a:pt x="2660904" y="0"/>
                </a:lnTo>
                <a:lnTo>
                  <a:pt x="2660904" y="374903"/>
                </a:lnTo>
                <a:lnTo>
                  <a:pt x="0" y="374903"/>
                </a:lnTo>
                <a:lnTo>
                  <a:pt x="0" y="0"/>
                </a:lnTo>
                <a:close/>
              </a:path>
            </a:pathLst>
          </a:custGeom>
          <a:solidFill>
            <a:srgbClr val="D9D9D9"/>
          </a:solidFill>
        </p:spPr>
        <p:txBody>
          <a:bodyPr wrap="square" lIns="0" tIns="0" rIns="0" bIns="0" rtlCol="0"/>
          <a:lstStyle/>
          <a:p/>
        </p:txBody>
      </p:sp>
      <p:sp>
        <p:nvSpPr>
          <p:cNvPr id="24" name="object 24"/>
          <p:cNvSpPr/>
          <p:nvPr/>
        </p:nvSpPr>
        <p:spPr>
          <a:xfrm>
            <a:off x="6253124" y="4392104"/>
            <a:ext cx="2673985" cy="386715"/>
          </a:xfrm>
          <a:custGeom>
            <a:avLst/>
            <a:gdLst/>
            <a:ahLst/>
            <a:cxnLst/>
            <a:rect l="l" t="t" r="r" b="b"/>
            <a:pathLst>
              <a:path w="2673984" h="386714">
                <a:moveTo>
                  <a:pt x="2673807" y="386689"/>
                </a:moveTo>
                <a:lnTo>
                  <a:pt x="0" y="386689"/>
                </a:lnTo>
                <a:lnTo>
                  <a:pt x="0" y="0"/>
                </a:lnTo>
                <a:lnTo>
                  <a:pt x="2673807" y="0"/>
                </a:lnTo>
                <a:lnTo>
                  <a:pt x="2673807" y="6350"/>
                </a:lnTo>
                <a:lnTo>
                  <a:pt x="12700" y="6350"/>
                </a:lnTo>
                <a:lnTo>
                  <a:pt x="6350" y="12700"/>
                </a:lnTo>
                <a:lnTo>
                  <a:pt x="12700" y="12700"/>
                </a:lnTo>
                <a:lnTo>
                  <a:pt x="12700" y="373989"/>
                </a:lnTo>
                <a:lnTo>
                  <a:pt x="6350" y="373989"/>
                </a:lnTo>
                <a:lnTo>
                  <a:pt x="12700" y="380339"/>
                </a:lnTo>
                <a:lnTo>
                  <a:pt x="2673807" y="380339"/>
                </a:lnTo>
                <a:lnTo>
                  <a:pt x="2673807" y="386689"/>
                </a:lnTo>
                <a:close/>
              </a:path>
              <a:path w="2673984" h="386714">
                <a:moveTo>
                  <a:pt x="12700" y="12700"/>
                </a:moveTo>
                <a:lnTo>
                  <a:pt x="6350" y="12700"/>
                </a:lnTo>
                <a:lnTo>
                  <a:pt x="12700" y="6350"/>
                </a:lnTo>
                <a:lnTo>
                  <a:pt x="12700" y="12700"/>
                </a:lnTo>
                <a:close/>
              </a:path>
              <a:path w="2673984" h="386714">
                <a:moveTo>
                  <a:pt x="2661107" y="12700"/>
                </a:moveTo>
                <a:lnTo>
                  <a:pt x="12700" y="12700"/>
                </a:lnTo>
                <a:lnTo>
                  <a:pt x="12700" y="6350"/>
                </a:lnTo>
                <a:lnTo>
                  <a:pt x="2661107" y="6350"/>
                </a:lnTo>
                <a:lnTo>
                  <a:pt x="2661107" y="12700"/>
                </a:lnTo>
                <a:close/>
              </a:path>
              <a:path w="2673984" h="386714">
                <a:moveTo>
                  <a:pt x="2661107" y="380339"/>
                </a:moveTo>
                <a:lnTo>
                  <a:pt x="2661107" y="6350"/>
                </a:lnTo>
                <a:lnTo>
                  <a:pt x="2667457" y="12700"/>
                </a:lnTo>
                <a:lnTo>
                  <a:pt x="2673807" y="12700"/>
                </a:lnTo>
                <a:lnTo>
                  <a:pt x="2673807" y="373989"/>
                </a:lnTo>
                <a:lnTo>
                  <a:pt x="2667457" y="373989"/>
                </a:lnTo>
                <a:lnTo>
                  <a:pt x="2661107" y="380339"/>
                </a:lnTo>
                <a:close/>
              </a:path>
              <a:path w="2673984" h="386714">
                <a:moveTo>
                  <a:pt x="2673807" y="12700"/>
                </a:moveTo>
                <a:lnTo>
                  <a:pt x="2667457" y="12700"/>
                </a:lnTo>
                <a:lnTo>
                  <a:pt x="2661107" y="6350"/>
                </a:lnTo>
                <a:lnTo>
                  <a:pt x="2673807" y="6350"/>
                </a:lnTo>
                <a:lnTo>
                  <a:pt x="2673807" y="12700"/>
                </a:lnTo>
                <a:close/>
              </a:path>
              <a:path w="2673984" h="386714">
                <a:moveTo>
                  <a:pt x="12700" y="380339"/>
                </a:moveTo>
                <a:lnTo>
                  <a:pt x="6350" y="373989"/>
                </a:lnTo>
                <a:lnTo>
                  <a:pt x="12700" y="373989"/>
                </a:lnTo>
                <a:lnTo>
                  <a:pt x="12700" y="380339"/>
                </a:lnTo>
                <a:close/>
              </a:path>
              <a:path w="2673984" h="386714">
                <a:moveTo>
                  <a:pt x="2661107" y="380339"/>
                </a:moveTo>
                <a:lnTo>
                  <a:pt x="12700" y="380339"/>
                </a:lnTo>
                <a:lnTo>
                  <a:pt x="12700" y="373989"/>
                </a:lnTo>
                <a:lnTo>
                  <a:pt x="2661107" y="373989"/>
                </a:lnTo>
                <a:lnTo>
                  <a:pt x="2661107" y="380339"/>
                </a:lnTo>
                <a:close/>
              </a:path>
              <a:path w="2673984" h="386714">
                <a:moveTo>
                  <a:pt x="2673807" y="380339"/>
                </a:moveTo>
                <a:lnTo>
                  <a:pt x="2661107" y="380339"/>
                </a:lnTo>
                <a:lnTo>
                  <a:pt x="2667457" y="373989"/>
                </a:lnTo>
                <a:lnTo>
                  <a:pt x="2673807" y="373989"/>
                </a:lnTo>
                <a:lnTo>
                  <a:pt x="2673807" y="380339"/>
                </a:lnTo>
                <a:close/>
              </a:path>
            </a:pathLst>
          </a:custGeom>
          <a:solidFill>
            <a:srgbClr val="C00000"/>
          </a:solidFill>
        </p:spPr>
        <p:txBody>
          <a:bodyPr wrap="square" lIns="0" tIns="0" rIns="0" bIns="0" rtlCol="0"/>
          <a:lstStyle/>
          <a:p/>
        </p:txBody>
      </p:sp>
      <p:sp>
        <p:nvSpPr>
          <p:cNvPr id="25" name="object 25"/>
          <p:cNvSpPr txBox="1"/>
          <p:nvPr/>
        </p:nvSpPr>
        <p:spPr>
          <a:xfrm>
            <a:off x="6259067" y="4471479"/>
            <a:ext cx="2661285" cy="208279"/>
          </a:xfrm>
          <a:prstGeom prst="rect">
            <a:avLst/>
          </a:prstGeom>
        </p:spPr>
        <p:txBody>
          <a:bodyPr vert="horz" wrap="square" lIns="0" tIns="12700" rIns="0" bIns="0" rtlCol="0">
            <a:spAutoFit/>
          </a:bodyPr>
          <a:lstStyle/>
          <a:p>
            <a:pPr marL="873125">
              <a:lnSpc>
                <a:spcPct val="100000"/>
              </a:lnSpc>
              <a:spcBef>
                <a:spcPts val="100"/>
              </a:spcBef>
            </a:pPr>
            <a:r>
              <a:rPr sz="1200" b="1" dirty="0">
                <a:solidFill>
                  <a:srgbClr val="C00000"/>
                </a:solidFill>
                <a:latin typeface="微软雅黑" panose="020B0503020204020204" charset="-122"/>
                <a:cs typeface="微软雅黑" panose="020B0503020204020204" charset="-122"/>
              </a:rPr>
              <a:t>非法指令错误</a:t>
            </a:r>
            <a:endParaRPr sz="1200">
              <a:latin typeface="微软雅黑" panose="020B0503020204020204" charset="-122"/>
              <a:cs typeface="微软雅黑" panose="020B0503020204020204" charset="-122"/>
            </a:endParaRPr>
          </a:p>
        </p:txBody>
      </p:sp>
      <p:sp>
        <p:nvSpPr>
          <p:cNvPr id="26" name="object 26"/>
          <p:cNvSpPr/>
          <p:nvPr/>
        </p:nvSpPr>
        <p:spPr>
          <a:xfrm>
            <a:off x="6259067" y="4821935"/>
            <a:ext cx="2661285" cy="373380"/>
          </a:xfrm>
          <a:custGeom>
            <a:avLst/>
            <a:gdLst/>
            <a:ahLst/>
            <a:cxnLst/>
            <a:rect l="l" t="t" r="r" b="b"/>
            <a:pathLst>
              <a:path w="2661284" h="373379">
                <a:moveTo>
                  <a:pt x="0" y="0"/>
                </a:moveTo>
                <a:lnTo>
                  <a:pt x="2660904" y="0"/>
                </a:lnTo>
                <a:lnTo>
                  <a:pt x="2660904" y="373379"/>
                </a:lnTo>
                <a:lnTo>
                  <a:pt x="0" y="373379"/>
                </a:lnTo>
                <a:lnTo>
                  <a:pt x="0" y="0"/>
                </a:lnTo>
                <a:close/>
              </a:path>
            </a:pathLst>
          </a:custGeom>
          <a:solidFill>
            <a:srgbClr val="D9D9D9"/>
          </a:solidFill>
        </p:spPr>
        <p:txBody>
          <a:bodyPr wrap="square" lIns="0" tIns="0" rIns="0" bIns="0" rtlCol="0"/>
          <a:lstStyle/>
          <a:p/>
        </p:txBody>
      </p:sp>
      <p:sp>
        <p:nvSpPr>
          <p:cNvPr id="27" name="object 27"/>
          <p:cNvSpPr/>
          <p:nvPr/>
        </p:nvSpPr>
        <p:spPr>
          <a:xfrm>
            <a:off x="6253124" y="4814836"/>
            <a:ext cx="2673985" cy="386715"/>
          </a:xfrm>
          <a:custGeom>
            <a:avLst/>
            <a:gdLst/>
            <a:ahLst/>
            <a:cxnLst/>
            <a:rect l="l" t="t" r="r" b="b"/>
            <a:pathLst>
              <a:path w="2673984" h="386714">
                <a:moveTo>
                  <a:pt x="2673807" y="386689"/>
                </a:moveTo>
                <a:lnTo>
                  <a:pt x="0" y="386689"/>
                </a:lnTo>
                <a:lnTo>
                  <a:pt x="0" y="0"/>
                </a:lnTo>
                <a:lnTo>
                  <a:pt x="2673807" y="0"/>
                </a:lnTo>
                <a:lnTo>
                  <a:pt x="2673807" y="6350"/>
                </a:lnTo>
                <a:lnTo>
                  <a:pt x="12700" y="6350"/>
                </a:lnTo>
                <a:lnTo>
                  <a:pt x="6350" y="12700"/>
                </a:lnTo>
                <a:lnTo>
                  <a:pt x="12700" y="12700"/>
                </a:lnTo>
                <a:lnTo>
                  <a:pt x="12700" y="373989"/>
                </a:lnTo>
                <a:lnTo>
                  <a:pt x="6350" y="373989"/>
                </a:lnTo>
                <a:lnTo>
                  <a:pt x="12700" y="380339"/>
                </a:lnTo>
                <a:lnTo>
                  <a:pt x="2673807" y="380339"/>
                </a:lnTo>
                <a:lnTo>
                  <a:pt x="2673807" y="386689"/>
                </a:lnTo>
                <a:close/>
              </a:path>
              <a:path w="2673984" h="386714">
                <a:moveTo>
                  <a:pt x="12700" y="12700"/>
                </a:moveTo>
                <a:lnTo>
                  <a:pt x="6350" y="12700"/>
                </a:lnTo>
                <a:lnTo>
                  <a:pt x="12700" y="6350"/>
                </a:lnTo>
                <a:lnTo>
                  <a:pt x="12700" y="12700"/>
                </a:lnTo>
                <a:close/>
              </a:path>
              <a:path w="2673984" h="386714">
                <a:moveTo>
                  <a:pt x="2661107" y="12700"/>
                </a:moveTo>
                <a:lnTo>
                  <a:pt x="12700" y="12700"/>
                </a:lnTo>
                <a:lnTo>
                  <a:pt x="12700" y="6350"/>
                </a:lnTo>
                <a:lnTo>
                  <a:pt x="2661107" y="6350"/>
                </a:lnTo>
                <a:lnTo>
                  <a:pt x="2661107" y="12700"/>
                </a:lnTo>
                <a:close/>
              </a:path>
              <a:path w="2673984" h="386714">
                <a:moveTo>
                  <a:pt x="2661107" y="380339"/>
                </a:moveTo>
                <a:lnTo>
                  <a:pt x="2661107" y="6350"/>
                </a:lnTo>
                <a:lnTo>
                  <a:pt x="2667457" y="12700"/>
                </a:lnTo>
                <a:lnTo>
                  <a:pt x="2673807" y="12700"/>
                </a:lnTo>
                <a:lnTo>
                  <a:pt x="2673807" y="373989"/>
                </a:lnTo>
                <a:lnTo>
                  <a:pt x="2667457" y="373989"/>
                </a:lnTo>
                <a:lnTo>
                  <a:pt x="2661107" y="380339"/>
                </a:lnTo>
                <a:close/>
              </a:path>
              <a:path w="2673984" h="386714">
                <a:moveTo>
                  <a:pt x="2673807" y="12700"/>
                </a:moveTo>
                <a:lnTo>
                  <a:pt x="2667457" y="12700"/>
                </a:lnTo>
                <a:lnTo>
                  <a:pt x="2661107" y="6350"/>
                </a:lnTo>
                <a:lnTo>
                  <a:pt x="2673807" y="6350"/>
                </a:lnTo>
                <a:lnTo>
                  <a:pt x="2673807" y="12700"/>
                </a:lnTo>
                <a:close/>
              </a:path>
              <a:path w="2673984" h="386714">
                <a:moveTo>
                  <a:pt x="12700" y="380339"/>
                </a:moveTo>
                <a:lnTo>
                  <a:pt x="6350" y="373989"/>
                </a:lnTo>
                <a:lnTo>
                  <a:pt x="12700" y="373989"/>
                </a:lnTo>
                <a:lnTo>
                  <a:pt x="12700" y="380339"/>
                </a:lnTo>
                <a:close/>
              </a:path>
              <a:path w="2673984" h="386714">
                <a:moveTo>
                  <a:pt x="2661107" y="380339"/>
                </a:moveTo>
                <a:lnTo>
                  <a:pt x="12700" y="380339"/>
                </a:lnTo>
                <a:lnTo>
                  <a:pt x="12700" y="373989"/>
                </a:lnTo>
                <a:lnTo>
                  <a:pt x="2661107" y="373989"/>
                </a:lnTo>
                <a:lnTo>
                  <a:pt x="2661107" y="380339"/>
                </a:lnTo>
                <a:close/>
              </a:path>
              <a:path w="2673984" h="386714">
                <a:moveTo>
                  <a:pt x="2673807" y="380339"/>
                </a:moveTo>
                <a:lnTo>
                  <a:pt x="2661107" y="380339"/>
                </a:lnTo>
                <a:lnTo>
                  <a:pt x="2667457" y="373989"/>
                </a:lnTo>
                <a:lnTo>
                  <a:pt x="2673807" y="373989"/>
                </a:lnTo>
                <a:lnTo>
                  <a:pt x="2673807" y="380339"/>
                </a:lnTo>
                <a:close/>
              </a:path>
            </a:pathLst>
          </a:custGeom>
          <a:solidFill>
            <a:srgbClr val="C00000"/>
          </a:solidFill>
        </p:spPr>
        <p:txBody>
          <a:bodyPr wrap="square" lIns="0" tIns="0" rIns="0" bIns="0" rtlCol="0"/>
          <a:lstStyle/>
          <a:p/>
        </p:txBody>
      </p:sp>
      <p:sp>
        <p:nvSpPr>
          <p:cNvPr id="28" name="object 28"/>
          <p:cNvSpPr txBox="1"/>
          <p:nvPr/>
        </p:nvSpPr>
        <p:spPr>
          <a:xfrm>
            <a:off x="6259067" y="4894211"/>
            <a:ext cx="2661285" cy="208279"/>
          </a:xfrm>
          <a:prstGeom prst="rect">
            <a:avLst/>
          </a:prstGeom>
        </p:spPr>
        <p:txBody>
          <a:bodyPr vert="horz" wrap="square" lIns="0" tIns="12700" rIns="0" bIns="0" rtlCol="0">
            <a:spAutoFit/>
          </a:bodyPr>
          <a:lstStyle/>
          <a:p>
            <a:pPr marL="720725">
              <a:lnSpc>
                <a:spcPct val="100000"/>
              </a:lnSpc>
              <a:spcBef>
                <a:spcPts val="100"/>
              </a:spcBef>
            </a:pPr>
            <a:r>
              <a:rPr sz="1200" b="1" dirty="0">
                <a:solidFill>
                  <a:srgbClr val="C00000"/>
                </a:solidFill>
                <a:latin typeface="微软雅黑" panose="020B0503020204020204" charset="-122"/>
                <a:cs typeface="微软雅黑" panose="020B0503020204020204" charset="-122"/>
              </a:rPr>
              <a:t>执行调试断点指令</a:t>
            </a:r>
            <a:endParaRPr sz="1200">
              <a:latin typeface="微软雅黑" panose="020B0503020204020204" charset="-122"/>
              <a:cs typeface="微软雅黑" panose="020B0503020204020204" charset="-122"/>
            </a:endParaRPr>
          </a:p>
        </p:txBody>
      </p:sp>
      <p:sp>
        <p:nvSpPr>
          <p:cNvPr id="29" name="object 29"/>
          <p:cNvSpPr/>
          <p:nvPr/>
        </p:nvSpPr>
        <p:spPr>
          <a:xfrm>
            <a:off x="6259067" y="5244084"/>
            <a:ext cx="2661285" cy="373380"/>
          </a:xfrm>
          <a:custGeom>
            <a:avLst/>
            <a:gdLst/>
            <a:ahLst/>
            <a:cxnLst/>
            <a:rect l="l" t="t" r="r" b="b"/>
            <a:pathLst>
              <a:path w="2661284" h="373379">
                <a:moveTo>
                  <a:pt x="0" y="0"/>
                </a:moveTo>
                <a:lnTo>
                  <a:pt x="2660904" y="0"/>
                </a:lnTo>
                <a:lnTo>
                  <a:pt x="2660904" y="373379"/>
                </a:lnTo>
                <a:lnTo>
                  <a:pt x="0" y="373379"/>
                </a:lnTo>
                <a:lnTo>
                  <a:pt x="0" y="0"/>
                </a:lnTo>
                <a:close/>
              </a:path>
            </a:pathLst>
          </a:custGeom>
          <a:solidFill>
            <a:srgbClr val="D9D9D9"/>
          </a:solidFill>
        </p:spPr>
        <p:txBody>
          <a:bodyPr wrap="square" lIns="0" tIns="0" rIns="0" bIns="0" rtlCol="0"/>
          <a:lstStyle/>
          <a:p/>
        </p:txBody>
      </p:sp>
      <p:sp>
        <p:nvSpPr>
          <p:cNvPr id="30" name="object 30"/>
          <p:cNvSpPr/>
          <p:nvPr/>
        </p:nvSpPr>
        <p:spPr>
          <a:xfrm>
            <a:off x="6253124" y="5237569"/>
            <a:ext cx="2673985" cy="386715"/>
          </a:xfrm>
          <a:custGeom>
            <a:avLst/>
            <a:gdLst/>
            <a:ahLst/>
            <a:cxnLst/>
            <a:rect l="l" t="t" r="r" b="b"/>
            <a:pathLst>
              <a:path w="2673984" h="386714">
                <a:moveTo>
                  <a:pt x="2673807" y="386689"/>
                </a:moveTo>
                <a:lnTo>
                  <a:pt x="0" y="386689"/>
                </a:lnTo>
                <a:lnTo>
                  <a:pt x="0" y="0"/>
                </a:lnTo>
                <a:lnTo>
                  <a:pt x="2673807" y="0"/>
                </a:lnTo>
                <a:lnTo>
                  <a:pt x="2673807" y="6350"/>
                </a:lnTo>
                <a:lnTo>
                  <a:pt x="12700" y="6350"/>
                </a:lnTo>
                <a:lnTo>
                  <a:pt x="6350" y="12700"/>
                </a:lnTo>
                <a:lnTo>
                  <a:pt x="12700" y="12700"/>
                </a:lnTo>
                <a:lnTo>
                  <a:pt x="12700" y="373989"/>
                </a:lnTo>
                <a:lnTo>
                  <a:pt x="6350" y="373989"/>
                </a:lnTo>
                <a:lnTo>
                  <a:pt x="12700" y="380339"/>
                </a:lnTo>
                <a:lnTo>
                  <a:pt x="2673807" y="380339"/>
                </a:lnTo>
                <a:lnTo>
                  <a:pt x="2673807" y="386689"/>
                </a:lnTo>
                <a:close/>
              </a:path>
              <a:path w="2673984" h="386714">
                <a:moveTo>
                  <a:pt x="12700" y="12700"/>
                </a:moveTo>
                <a:lnTo>
                  <a:pt x="6350" y="12700"/>
                </a:lnTo>
                <a:lnTo>
                  <a:pt x="12700" y="6350"/>
                </a:lnTo>
                <a:lnTo>
                  <a:pt x="12700" y="12700"/>
                </a:lnTo>
                <a:close/>
              </a:path>
              <a:path w="2673984" h="386714">
                <a:moveTo>
                  <a:pt x="2661107" y="12700"/>
                </a:moveTo>
                <a:lnTo>
                  <a:pt x="12700" y="12700"/>
                </a:lnTo>
                <a:lnTo>
                  <a:pt x="12700" y="6350"/>
                </a:lnTo>
                <a:lnTo>
                  <a:pt x="2661107" y="6350"/>
                </a:lnTo>
                <a:lnTo>
                  <a:pt x="2661107" y="12700"/>
                </a:lnTo>
                <a:close/>
              </a:path>
              <a:path w="2673984" h="386714">
                <a:moveTo>
                  <a:pt x="2661107" y="380339"/>
                </a:moveTo>
                <a:lnTo>
                  <a:pt x="2661107" y="6350"/>
                </a:lnTo>
                <a:lnTo>
                  <a:pt x="2667457" y="12700"/>
                </a:lnTo>
                <a:lnTo>
                  <a:pt x="2673807" y="12700"/>
                </a:lnTo>
                <a:lnTo>
                  <a:pt x="2673807" y="373989"/>
                </a:lnTo>
                <a:lnTo>
                  <a:pt x="2667457" y="373989"/>
                </a:lnTo>
                <a:lnTo>
                  <a:pt x="2661107" y="380339"/>
                </a:lnTo>
                <a:close/>
              </a:path>
              <a:path w="2673984" h="386714">
                <a:moveTo>
                  <a:pt x="2673807" y="12700"/>
                </a:moveTo>
                <a:lnTo>
                  <a:pt x="2667457" y="12700"/>
                </a:lnTo>
                <a:lnTo>
                  <a:pt x="2661107" y="6350"/>
                </a:lnTo>
                <a:lnTo>
                  <a:pt x="2673807" y="6350"/>
                </a:lnTo>
                <a:lnTo>
                  <a:pt x="2673807" y="12700"/>
                </a:lnTo>
                <a:close/>
              </a:path>
              <a:path w="2673984" h="386714">
                <a:moveTo>
                  <a:pt x="12700" y="380339"/>
                </a:moveTo>
                <a:lnTo>
                  <a:pt x="6350" y="373989"/>
                </a:lnTo>
                <a:lnTo>
                  <a:pt x="12700" y="373989"/>
                </a:lnTo>
                <a:lnTo>
                  <a:pt x="12700" y="380339"/>
                </a:lnTo>
                <a:close/>
              </a:path>
              <a:path w="2673984" h="386714">
                <a:moveTo>
                  <a:pt x="2661107" y="380339"/>
                </a:moveTo>
                <a:lnTo>
                  <a:pt x="12700" y="380339"/>
                </a:lnTo>
                <a:lnTo>
                  <a:pt x="12700" y="373989"/>
                </a:lnTo>
                <a:lnTo>
                  <a:pt x="2661107" y="373989"/>
                </a:lnTo>
                <a:lnTo>
                  <a:pt x="2661107" y="380339"/>
                </a:lnTo>
                <a:close/>
              </a:path>
              <a:path w="2673984" h="386714">
                <a:moveTo>
                  <a:pt x="2673807" y="380339"/>
                </a:moveTo>
                <a:lnTo>
                  <a:pt x="2661107" y="380339"/>
                </a:lnTo>
                <a:lnTo>
                  <a:pt x="2667457" y="373989"/>
                </a:lnTo>
                <a:lnTo>
                  <a:pt x="2673807" y="373989"/>
                </a:lnTo>
                <a:lnTo>
                  <a:pt x="2673807" y="380339"/>
                </a:lnTo>
                <a:close/>
              </a:path>
            </a:pathLst>
          </a:custGeom>
          <a:solidFill>
            <a:srgbClr val="C00000"/>
          </a:solidFill>
        </p:spPr>
        <p:txBody>
          <a:bodyPr wrap="square" lIns="0" tIns="0" rIns="0" bIns="0" rtlCol="0"/>
          <a:lstStyle/>
          <a:p/>
        </p:txBody>
      </p:sp>
      <p:sp>
        <p:nvSpPr>
          <p:cNvPr id="31" name="object 31"/>
          <p:cNvSpPr txBox="1"/>
          <p:nvPr/>
        </p:nvSpPr>
        <p:spPr>
          <a:xfrm>
            <a:off x="6259067" y="5316943"/>
            <a:ext cx="2661285" cy="208279"/>
          </a:xfrm>
          <a:prstGeom prst="rect">
            <a:avLst/>
          </a:prstGeom>
        </p:spPr>
        <p:txBody>
          <a:bodyPr vert="horz" wrap="square" lIns="0" tIns="12700" rIns="0" bIns="0" rtlCol="0">
            <a:spAutoFit/>
          </a:bodyPr>
          <a:lstStyle/>
          <a:p>
            <a:pPr algn="ctr">
              <a:lnSpc>
                <a:spcPct val="100000"/>
              </a:lnSpc>
              <a:spcBef>
                <a:spcPts val="100"/>
              </a:spcBef>
            </a:pPr>
            <a:r>
              <a:rPr sz="1200" b="1" dirty="0">
                <a:solidFill>
                  <a:srgbClr val="C00000"/>
                </a:solidFill>
                <a:latin typeface="微软雅黑" panose="020B0503020204020204" charset="-122"/>
                <a:cs typeface="微软雅黑" panose="020B0503020204020204" charset="-122"/>
              </a:rPr>
              <a:t>中断</a:t>
            </a:r>
            <a:endParaRPr sz="1200">
              <a:latin typeface="微软雅黑" panose="020B0503020204020204" charset="-122"/>
              <a:cs typeface="微软雅黑" panose="020B0503020204020204" charset="-122"/>
            </a:endParaRPr>
          </a:p>
        </p:txBody>
      </p:sp>
      <p:sp>
        <p:nvSpPr>
          <p:cNvPr id="32" name="object 32"/>
          <p:cNvSpPr/>
          <p:nvPr/>
        </p:nvSpPr>
        <p:spPr>
          <a:xfrm>
            <a:off x="6259067" y="5673852"/>
            <a:ext cx="2661285" cy="373380"/>
          </a:xfrm>
          <a:custGeom>
            <a:avLst/>
            <a:gdLst/>
            <a:ahLst/>
            <a:cxnLst/>
            <a:rect l="l" t="t" r="r" b="b"/>
            <a:pathLst>
              <a:path w="2661284" h="373379">
                <a:moveTo>
                  <a:pt x="0" y="0"/>
                </a:moveTo>
                <a:lnTo>
                  <a:pt x="2660904" y="0"/>
                </a:lnTo>
                <a:lnTo>
                  <a:pt x="2660904" y="373379"/>
                </a:lnTo>
                <a:lnTo>
                  <a:pt x="0" y="373379"/>
                </a:lnTo>
                <a:lnTo>
                  <a:pt x="0" y="0"/>
                </a:lnTo>
                <a:close/>
              </a:path>
            </a:pathLst>
          </a:custGeom>
          <a:solidFill>
            <a:srgbClr val="D9D9D9"/>
          </a:solidFill>
        </p:spPr>
        <p:txBody>
          <a:bodyPr wrap="square" lIns="0" tIns="0" rIns="0" bIns="0" rtlCol="0"/>
          <a:lstStyle/>
          <a:p/>
        </p:txBody>
      </p:sp>
      <p:sp>
        <p:nvSpPr>
          <p:cNvPr id="33" name="object 33"/>
          <p:cNvSpPr/>
          <p:nvPr/>
        </p:nvSpPr>
        <p:spPr>
          <a:xfrm>
            <a:off x="6253124" y="5667337"/>
            <a:ext cx="2673985" cy="386715"/>
          </a:xfrm>
          <a:custGeom>
            <a:avLst/>
            <a:gdLst/>
            <a:ahLst/>
            <a:cxnLst/>
            <a:rect l="l" t="t" r="r" b="b"/>
            <a:pathLst>
              <a:path w="2673984" h="386714">
                <a:moveTo>
                  <a:pt x="2673807" y="386702"/>
                </a:moveTo>
                <a:lnTo>
                  <a:pt x="0" y="386702"/>
                </a:lnTo>
                <a:lnTo>
                  <a:pt x="0" y="0"/>
                </a:lnTo>
                <a:lnTo>
                  <a:pt x="2673807" y="0"/>
                </a:lnTo>
                <a:lnTo>
                  <a:pt x="2673807" y="6350"/>
                </a:lnTo>
                <a:lnTo>
                  <a:pt x="12700" y="6350"/>
                </a:lnTo>
                <a:lnTo>
                  <a:pt x="6350" y="12700"/>
                </a:lnTo>
                <a:lnTo>
                  <a:pt x="12700" y="12700"/>
                </a:lnTo>
                <a:lnTo>
                  <a:pt x="12700" y="374002"/>
                </a:lnTo>
                <a:lnTo>
                  <a:pt x="6350" y="374002"/>
                </a:lnTo>
                <a:lnTo>
                  <a:pt x="12700" y="380352"/>
                </a:lnTo>
                <a:lnTo>
                  <a:pt x="2673807" y="380352"/>
                </a:lnTo>
                <a:lnTo>
                  <a:pt x="2673807" y="386702"/>
                </a:lnTo>
                <a:close/>
              </a:path>
              <a:path w="2673984" h="386714">
                <a:moveTo>
                  <a:pt x="12700" y="12700"/>
                </a:moveTo>
                <a:lnTo>
                  <a:pt x="6350" y="12700"/>
                </a:lnTo>
                <a:lnTo>
                  <a:pt x="12700" y="6350"/>
                </a:lnTo>
                <a:lnTo>
                  <a:pt x="12700" y="12700"/>
                </a:lnTo>
                <a:close/>
              </a:path>
              <a:path w="2673984" h="386714">
                <a:moveTo>
                  <a:pt x="2661107" y="12700"/>
                </a:moveTo>
                <a:lnTo>
                  <a:pt x="12700" y="12700"/>
                </a:lnTo>
                <a:lnTo>
                  <a:pt x="12700" y="6350"/>
                </a:lnTo>
                <a:lnTo>
                  <a:pt x="2661107" y="6350"/>
                </a:lnTo>
                <a:lnTo>
                  <a:pt x="2661107" y="12700"/>
                </a:lnTo>
                <a:close/>
              </a:path>
              <a:path w="2673984" h="386714">
                <a:moveTo>
                  <a:pt x="2661107" y="380352"/>
                </a:moveTo>
                <a:lnTo>
                  <a:pt x="2661107" y="6350"/>
                </a:lnTo>
                <a:lnTo>
                  <a:pt x="2667457" y="12700"/>
                </a:lnTo>
                <a:lnTo>
                  <a:pt x="2673807" y="12700"/>
                </a:lnTo>
                <a:lnTo>
                  <a:pt x="2673807" y="374002"/>
                </a:lnTo>
                <a:lnTo>
                  <a:pt x="2667457" y="374002"/>
                </a:lnTo>
                <a:lnTo>
                  <a:pt x="2661107" y="380352"/>
                </a:lnTo>
                <a:close/>
              </a:path>
              <a:path w="2673984" h="386714">
                <a:moveTo>
                  <a:pt x="2673807" y="12700"/>
                </a:moveTo>
                <a:lnTo>
                  <a:pt x="2667457" y="12700"/>
                </a:lnTo>
                <a:lnTo>
                  <a:pt x="2661107" y="6350"/>
                </a:lnTo>
                <a:lnTo>
                  <a:pt x="2673807" y="6350"/>
                </a:lnTo>
                <a:lnTo>
                  <a:pt x="2673807" y="12700"/>
                </a:lnTo>
                <a:close/>
              </a:path>
              <a:path w="2673984" h="386714">
                <a:moveTo>
                  <a:pt x="12700" y="380352"/>
                </a:moveTo>
                <a:lnTo>
                  <a:pt x="6350" y="374002"/>
                </a:lnTo>
                <a:lnTo>
                  <a:pt x="12700" y="374002"/>
                </a:lnTo>
                <a:lnTo>
                  <a:pt x="12700" y="380352"/>
                </a:lnTo>
                <a:close/>
              </a:path>
              <a:path w="2673984" h="386714">
                <a:moveTo>
                  <a:pt x="2661107" y="380352"/>
                </a:moveTo>
                <a:lnTo>
                  <a:pt x="12700" y="380352"/>
                </a:lnTo>
                <a:lnTo>
                  <a:pt x="12700" y="374002"/>
                </a:lnTo>
                <a:lnTo>
                  <a:pt x="2661107" y="374002"/>
                </a:lnTo>
                <a:lnTo>
                  <a:pt x="2661107" y="380352"/>
                </a:lnTo>
                <a:close/>
              </a:path>
              <a:path w="2673984" h="386714">
                <a:moveTo>
                  <a:pt x="2673807" y="380352"/>
                </a:moveTo>
                <a:lnTo>
                  <a:pt x="2661107" y="380352"/>
                </a:lnTo>
                <a:lnTo>
                  <a:pt x="2667457" y="374002"/>
                </a:lnTo>
                <a:lnTo>
                  <a:pt x="2673807" y="374002"/>
                </a:lnTo>
                <a:lnTo>
                  <a:pt x="2673807" y="380352"/>
                </a:lnTo>
                <a:close/>
              </a:path>
            </a:pathLst>
          </a:custGeom>
          <a:solidFill>
            <a:srgbClr val="C00000"/>
          </a:solidFill>
        </p:spPr>
        <p:txBody>
          <a:bodyPr wrap="square" lIns="0" tIns="0" rIns="0" bIns="0" rtlCol="0"/>
          <a:lstStyle/>
          <a:p/>
        </p:txBody>
      </p:sp>
      <p:sp>
        <p:nvSpPr>
          <p:cNvPr id="34" name="object 34"/>
          <p:cNvSpPr txBox="1"/>
          <p:nvPr/>
        </p:nvSpPr>
        <p:spPr>
          <a:xfrm>
            <a:off x="6259067" y="5746712"/>
            <a:ext cx="2661285" cy="208279"/>
          </a:xfrm>
          <a:prstGeom prst="rect">
            <a:avLst/>
          </a:prstGeom>
        </p:spPr>
        <p:txBody>
          <a:bodyPr vert="horz" wrap="square" lIns="0" tIns="12700" rIns="0" bIns="0" rtlCol="0">
            <a:spAutoFit/>
          </a:bodyPr>
          <a:lstStyle/>
          <a:p>
            <a:pPr marL="720725">
              <a:lnSpc>
                <a:spcPct val="100000"/>
              </a:lnSpc>
              <a:spcBef>
                <a:spcPts val="100"/>
              </a:spcBef>
            </a:pPr>
            <a:r>
              <a:rPr sz="1200" b="1" dirty="0">
                <a:solidFill>
                  <a:srgbClr val="C00000"/>
                </a:solidFill>
                <a:latin typeface="微软雅黑" panose="020B0503020204020204" charset="-122"/>
                <a:cs typeface="微软雅黑" panose="020B0503020204020204" charset="-122"/>
              </a:rPr>
              <a:t>读写存存储器出错</a:t>
            </a:r>
            <a:endParaRPr sz="1200">
              <a:latin typeface="微软雅黑" panose="020B0503020204020204" charset="-122"/>
              <a:cs typeface="微软雅黑" panose="020B0503020204020204" charset="-122"/>
            </a:endParaRPr>
          </a:p>
        </p:txBody>
      </p:sp>
      <p:sp>
        <p:nvSpPr>
          <p:cNvPr id="35" name="object 35"/>
          <p:cNvSpPr/>
          <p:nvPr/>
        </p:nvSpPr>
        <p:spPr>
          <a:xfrm>
            <a:off x="3683508" y="5245608"/>
            <a:ext cx="1565275" cy="407034"/>
          </a:xfrm>
          <a:custGeom>
            <a:avLst/>
            <a:gdLst/>
            <a:ahLst/>
            <a:cxnLst/>
            <a:rect l="l" t="t" r="r" b="b"/>
            <a:pathLst>
              <a:path w="1565275" h="407035">
                <a:moveTo>
                  <a:pt x="0" y="0"/>
                </a:moveTo>
                <a:lnTo>
                  <a:pt x="1565148" y="0"/>
                </a:lnTo>
                <a:lnTo>
                  <a:pt x="1565148" y="406908"/>
                </a:lnTo>
                <a:lnTo>
                  <a:pt x="0" y="406908"/>
                </a:lnTo>
                <a:lnTo>
                  <a:pt x="0" y="0"/>
                </a:lnTo>
                <a:close/>
              </a:path>
            </a:pathLst>
          </a:custGeom>
          <a:solidFill>
            <a:srgbClr val="D9D9D9"/>
          </a:solidFill>
        </p:spPr>
        <p:txBody>
          <a:bodyPr wrap="square" lIns="0" tIns="0" rIns="0" bIns="0" rtlCol="0"/>
          <a:lstStyle/>
          <a:p/>
        </p:txBody>
      </p:sp>
      <p:sp>
        <p:nvSpPr>
          <p:cNvPr id="36" name="object 36"/>
          <p:cNvSpPr/>
          <p:nvPr/>
        </p:nvSpPr>
        <p:spPr>
          <a:xfrm>
            <a:off x="3676637" y="5239918"/>
            <a:ext cx="1578610" cy="419100"/>
          </a:xfrm>
          <a:custGeom>
            <a:avLst/>
            <a:gdLst/>
            <a:ahLst/>
            <a:cxnLst/>
            <a:rect l="l" t="t" r="r" b="b"/>
            <a:pathLst>
              <a:path w="1578610" h="419100">
                <a:moveTo>
                  <a:pt x="1578127" y="418985"/>
                </a:moveTo>
                <a:lnTo>
                  <a:pt x="0" y="418985"/>
                </a:lnTo>
                <a:lnTo>
                  <a:pt x="0" y="0"/>
                </a:lnTo>
                <a:lnTo>
                  <a:pt x="1578127" y="0"/>
                </a:lnTo>
                <a:lnTo>
                  <a:pt x="1578127" y="6350"/>
                </a:lnTo>
                <a:lnTo>
                  <a:pt x="12700" y="6350"/>
                </a:lnTo>
                <a:lnTo>
                  <a:pt x="6350" y="12700"/>
                </a:lnTo>
                <a:lnTo>
                  <a:pt x="12700" y="12700"/>
                </a:lnTo>
                <a:lnTo>
                  <a:pt x="12700" y="406285"/>
                </a:lnTo>
                <a:lnTo>
                  <a:pt x="6350" y="406285"/>
                </a:lnTo>
                <a:lnTo>
                  <a:pt x="12700" y="412635"/>
                </a:lnTo>
                <a:lnTo>
                  <a:pt x="1578127" y="412635"/>
                </a:lnTo>
                <a:lnTo>
                  <a:pt x="1578127" y="418985"/>
                </a:lnTo>
                <a:close/>
              </a:path>
              <a:path w="1578610" h="419100">
                <a:moveTo>
                  <a:pt x="12700" y="12700"/>
                </a:moveTo>
                <a:lnTo>
                  <a:pt x="6350" y="12700"/>
                </a:lnTo>
                <a:lnTo>
                  <a:pt x="12700" y="6350"/>
                </a:lnTo>
                <a:lnTo>
                  <a:pt x="12700" y="12700"/>
                </a:lnTo>
                <a:close/>
              </a:path>
              <a:path w="1578610" h="419100">
                <a:moveTo>
                  <a:pt x="1565427" y="12700"/>
                </a:moveTo>
                <a:lnTo>
                  <a:pt x="12700" y="12700"/>
                </a:lnTo>
                <a:lnTo>
                  <a:pt x="12700" y="6350"/>
                </a:lnTo>
                <a:lnTo>
                  <a:pt x="1565427" y="6350"/>
                </a:lnTo>
                <a:lnTo>
                  <a:pt x="1565427" y="12700"/>
                </a:lnTo>
                <a:close/>
              </a:path>
              <a:path w="1578610" h="419100">
                <a:moveTo>
                  <a:pt x="1565427" y="412635"/>
                </a:moveTo>
                <a:lnTo>
                  <a:pt x="1565427" y="6350"/>
                </a:lnTo>
                <a:lnTo>
                  <a:pt x="1571777" y="12700"/>
                </a:lnTo>
                <a:lnTo>
                  <a:pt x="1578127" y="12700"/>
                </a:lnTo>
                <a:lnTo>
                  <a:pt x="1578127" y="406285"/>
                </a:lnTo>
                <a:lnTo>
                  <a:pt x="1571777" y="406285"/>
                </a:lnTo>
                <a:lnTo>
                  <a:pt x="1565427" y="412635"/>
                </a:lnTo>
                <a:close/>
              </a:path>
              <a:path w="1578610" h="419100">
                <a:moveTo>
                  <a:pt x="1578127" y="12700"/>
                </a:moveTo>
                <a:lnTo>
                  <a:pt x="1571777" y="12700"/>
                </a:lnTo>
                <a:lnTo>
                  <a:pt x="1565427" y="6350"/>
                </a:lnTo>
                <a:lnTo>
                  <a:pt x="1578127" y="6350"/>
                </a:lnTo>
                <a:lnTo>
                  <a:pt x="1578127" y="12700"/>
                </a:lnTo>
                <a:close/>
              </a:path>
              <a:path w="1578610" h="419100">
                <a:moveTo>
                  <a:pt x="12700" y="412635"/>
                </a:moveTo>
                <a:lnTo>
                  <a:pt x="6350" y="406285"/>
                </a:lnTo>
                <a:lnTo>
                  <a:pt x="12700" y="406285"/>
                </a:lnTo>
                <a:lnTo>
                  <a:pt x="12700" y="412635"/>
                </a:lnTo>
                <a:close/>
              </a:path>
              <a:path w="1578610" h="419100">
                <a:moveTo>
                  <a:pt x="1565427" y="412635"/>
                </a:moveTo>
                <a:lnTo>
                  <a:pt x="12700" y="412635"/>
                </a:lnTo>
                <a:lnTo>
                  <a:pt x="12700" y="406285"/>
                </a:lnTo>
                <a:lnTo>
                  <a:pt x="1565427" y="406285"/>
                </a:lnTo>
                <a:lnTo>
                  <a:pt x="1565427" y="412635"/>
                </a:lnTo>
                <a:close/>
              </a:path>
              <a:path w="1578610" h="419100">
                <a:moveTo>
                  <a:pt x="1578127" y="412635"/>
                </a:moveTo>
                <a:lnTo>
                  <a:pt x="1565427" y="412635"/>
                </a:lnTo>
                <a:lnTo>
                  <a:pt x="1571777" y="406285"/>
                </a:lnTo>
                <a:lnTo>
                  <a:pt x="1578127" y="406285"/>
                </a:lnTo>
                <a:lnTo>
                  <a:pt x="1578127" y="412635"/>
                </a:lnTo>
                <a:close/>
              </a:path>
            </a:pathLst>
          </a:custGeom>
          <a:solidFill>
            <a:srgbClr val="C00000"/>
          </a:solidFill>
        </p:spPr>
        <p:txBody>
          <a:bodyPr wrap="square" lIns="0" tIns="0" rIns="0" bIns="0" rtlCol="0"/>
          <a:lstStyle/>
          <a:p/>
        </p:txBody>
      </p:sp>
      <p:sp>
        <p:nvSpPr>
          <p:cNvPr id="37" name="object 37"/>
          <p:cNvSpPr txBox="1"/>
          <p:nvPr/>
        </p:nvSpPr>
        <p:spPr>
          <a:xfrm>
            <a:off x="3683508" y="5335168"/>
            <a:ext cx="1565275" cy="208279"/>
          </a:xfrm>
          <a:prstGeom prst="rect">
            <a:avLst/>
          </a:prstGeom>
        </p:spPr>
        <p:txBody>
          <a:bodyPr vert="horz" wrap="square" lIns="0" tIns="12700" rIns="0" bIns="0" rtlCol="0">
            <a:spAutoFit/>
          </a:bodyPr>
          <a:lstStyle/>
          <a:p>
            <a:pPr marL="400685">
              <a:lnSpc>
                <a:spcPct val="100000"/>
              </a:lnSpc>
              <a:spcBef>
                <a:spcPts val="100"/>
              </a:spcBef>
            </a:pPr>
            <a:r>
              <a:rPr sz="1200" b="1" dirty="0">
                <a:solidFill>
                  <a:srgbClr val="C00000"/>
                </a:solidFill>
                <a:latin typeface="微软雅黑" panose="020B0503020204020204" charset="-122"/>
                <a:cs typeface="微软雅黑" panose="020B0503020204020204" charset="-122"/>
              </a:rPr>
              <a:t>非精确异步</a:t>
            </a:r>
            <a:endParaRPr sz="1200">
              <a:latin typeface="微软雅黑" panose="020B0503020204020204" charset="-122"/>
              <a:cs typeface="微软雅黑" panose="020B0503020204020204" charset="-122"/>
            </a:endParaRPr>
          </a:p>
        </p:txBody>
      </p:sp>
      <p:sp>
        <p:nvSpPr>
          <p:cNvPr id="38" name="object 38"/>
          <p:cNvSpPr/>
          <p:nvPr/>
        </p:nvSpPr>
        <p:spPr>
          <a:xfrm>
            <a:off x="2528163" y="3653967"/>
            <a:ext cx="1145540" cy="851535"/>
          </a:xfrm>
          <a:custGeom>
            <a:avLst/>
            <a:gdLst/>
            <a:ahLst/>
            <a:cxnLst/>
            <a:rect l="l" t="t" r="r" b="b"/>
            <a:pathLst>
              <a:path w="1145539" h="851535">
                <a:moveTo>
                  <a:pt x="1080494" y="40268"/>
                </a:moveTo>
                <a:lnTo>
                  <a:pt x="1061593" y="14757"/>
                </a:lnTo>
                <a:lnTo>
                  <a:pt x="1145489" y="0"/>
                </a:lnTo>
                <a:lnTo>
                  <a:pt x="1130818" y="28930"/>
                </a:lnTo>
                <a:lnTo>
                  <a:pt x="1095794" y="28930"/>
                </a:lnTo>
                <a:lnTo>
                  <a:pt x="1080494" y="40268"/>
                </a:lnTo>
                <a:close/>
              </a:path>
              <a:path w="1145539" h="851535">
                <a:moveTo>
                  <a:pt x="1088055" y="50472"/>
                </a:moveTo>
                <a:lnTo>
                  <a:pt x="1080494" y="40268"/>
                </a:lnTo>
                <a:lnTo>
                  <a:pt x="1095794" y="28930"/>
                </a:lnTo>
                <a:lnTo>
                  <a:pt x="1103363" y="39128"/>
                </a:lnTo>
                <a:lnTo>
                  <a:pt x="1088055" y="50472"/>
                </a:lnTo>
                <a:close/>
              </a:path>
              <a:path w="1145539" h="851535">
                <a:moveTo>
                  <a:pt x="1106957" y="75984"/>
                </a:moveTo>
                <a:lnTo>
                  <a:pt x="1088055" y="50472"/>
                </a:lnTo>
                <a:lnTo>
                  <a:pt x="1103363" y="39128"/>
                </a:lnTo>
                <a:lnTo>
                  <a:pt x="1095794" y="28930"/>
                </a:lnTo>
                <a:lnTo>
                  <a:pt x="1130818" y="28930"/>
                </a:lnTo>
                <a:lnTo>
                  <a:pt x="1106957" y="75984"/>
                </a:lnTo>
                <a:close/>
              </a:path>
              <a:path w="1145539" h="851535">
                <a:moveTo>
                  <a:pt x="7556" y="851153"/>
                </a:moveTo>
                <a:lnTo>
                  <a:pt x="0" y="840955"/>
                </a:lnTo>
                <a:lnTo>
                  <a:pt x="1080494" y="40268"/>
                </a:lnTo>
                <a:lnTo>
                  <a:pt x="1088055" y="50472"/>
                </a:lnTo>
                <a:lnTo>
                  <a:pt x="7556" y="851153"/>
                </a:lnTo>
                <a:close/>
              </a:path>
            </a:pathLst>
          </a:custGeom>
          <a:solidFill>
            <a:srgbClr val="C00000"/>
          </a:solidFill>
        </p:spPr>
        <p:txBody>
          <a:bodyPr wrap="square" lIns="0" tIns="0" rIns="0" bIns="0" rtlCol="0"/>
          <a:lstStyle/>
          <a:p/>
        </p:txBody>
      </p:sp>
      <p:sp>
        <p:nvSpPr>
          <p:cNvPr id="39" name="object 39"/>
          <p:cNvSpPr/>
          <p:nvPr/>
        </p:nvSpPr>
        <p:spPr>
          <a:xfrm>
            <a:off x="2531935" y="4461916"/>
            <a:ext cx="1141730" cy="76200"/>
          </a:xfrm>
          <a:custGeom>
            <a:avLst/>
            <a:gdLst/>
            <a:ahLst/>
            <a:cxnLst/>
            <a:rect l="l" t="t" r="r" b="b"/>
            <a:pathLst>
              <a:path w="1141729" h="76200">
                <a:moveTo>
                  <a:pt x="1065517" y="76200"/>
                </a:moveTo>
                <a:lnTo>
                  <a:pt x="1065517" y="0"/>
                </a:lnTo>
                <a:lnTo>
                  <a:pt x="1129017" y="31750"/>
                </a:lnTo>
                <a:lnTo>
                  <a:pt x="1084567" y="31750"/>
                </a:lnTo>
                <a:lnTo>
                  <a:pt x="1084567" y="44450"/>
                </a:lnTo>
                <a:lnTo>
                  <a:pt x="1129017" y="44450"/>
                </a:lnTo>
                <a:lnTo>
                  <a:pt x="1065517" y="76200"/>
                </a:lnTo>
                <a:close/>
              </a:path>
              <a:path w="1141729" h="76200">
                <a:moveTo>
                  <a:pt x="1065517" y="44450"/>
                </a:moveTo>
                <a:lnTo>
                  <a:pt x="0" y="44450"/>
                </a:lnTo>
                <a:lnTo>
                  <a:pt x="0" y="31750"/>
                </a:lnTo>
                <a:lnTo>
                  <a:pt x="1065517" y="31750"/>
                </a:lnTo>
                <a:lnTo>
                  <a:pt x="1065517" y="44450"/>
                </a:lnTo>
                <a:close/>
              </a:path>
              <a:path w="1141729" h="76200">
                <a:moveTo>
                  <a:pt x="1129017" y="44450"/>
                </a:moveTo>
                <a:lnTo>
                  <a:pt x="1084567" y="44450"/>
                </a:lnTo>
                <a:lnTo>
                  <a:pt x="1084567" y="31750"/>
                </a:lnTo>
                <a:lnTo>
                  <a:pt x="1129017" y="31750"/>
                </a:lnTo>
                <a:lnTo>
                  <a:pt x="1141717" y="38100"/>
                </a:lnTo>
                <a:lnTo>
                  <a:pt x="1129017" y="44450"/>
                </a:lnTo>
                <a:close/>
              </a:path>
            </a:pathLst>
          </a:custGeom>
          <a:solidFill>
            <a:srgbClr val="C00000"/>
          </a:solidFill>
        </p:spPr>
        <p:txBody>
          <a:bodyPr wrap="square" lIns="0" tIns="0" rIns="0" bIns="0" rtlCol="0"/>
          <a:lstStyle/>
          <a:p/>
        </p:txBody>
      </p:sp>
      <p:sp>
        <p:nvSpPr>
          <p:cNvPr id="40" name="object 40"/>
          <p:cNvSpPr/>
          <p:nvPr/>
        </p:nvSpPr>
        <p:spPr>
          <a:xfrm>
            <a:off x="2527884" y="4495139"/>
            <a:ext cx="1145540" cy="954405"/>
          </a:xfrm>
          <a:custGeom>
            <a:avLst/>
            <a:gdLst/>
            <a:ahLst/>
            <a:cxnLst/>
            <a:rect l="l" t="t" r="r" b="b"/>
            <a:pathLst>
              <a:path w="1145539" h="954404">
                <a:moveTo>
                  <a:pt x="1082508" y="910420"/>
                </a:moveTo>
                <a:lnTo>
                  <a:pt x="0" y="9766"/>
                </a:lnTo>
                <a:lnTo>
                  <a:pt x="8115" y="0"/>
                </a:lnTo>
                <a:lnTo>
                  <a:pt x="1090636" y="900653"/>
                </a:lnTo>
                <a:lnTo>
                  <a:pt x="1082508" y="910420"/>
                </a:lnTo>
                <a:close/>
              </a:path>
              <a:path w="1145539" h="954404">
                <a:moveTo>
                  <a:pt x="1131266" y="922604"/>
                </a:moveTo>
                <a:lnTo>
                  <a:pt x="1097152" y="922604"/>
                </a:lnTo>
                <a:lnTo>
                  <a:pt x="1105281" y="912837"/>
                </a:lnTo>
                <a:lnTo>
                  <a:pt x="1090636" y="900653"/>
                </a:lnTo>
                <a:lnTo>
                  <a:pt x="1110945" y="876249"/>
                </a:lnTo>
                <a:lnTo>
                  <a:pt x="1131266" y="922604"/>
                </a:lnTo>
                <a:close/>
              </a:path>
              <a:path w="1145539" h="954404">
                <a:moveTo>
                  <a:pt x="1097152" y="922604"/>
                </a:moveTo>
                <a:lnTo>
                  <a:pt x="1082508" y="910420"/>
                </a:lnTo>
                <a:lnTo>
                  <a:pt x="1090636" y="900653"/>
                </a:lnTo>
                <a:lnTo>
                  <a:pt x="1105281" y="912837"/>
                </a:lnTo>
                <a:lnTo>
                  <a:pt x="1097152" y="922604"/>
                </a:lnTo>
                <a:close/>
              </a:path>
              <a:path w="1145539" h="954404">
                <a:moveTo>
                  <a:pt x="1145146" y="954265"/>
                </a:moveTo>
                <a:lnTo>
                  <a:pt x="1062202" y="934821"/>
                </a:lnTo>
                <a:lnTo>
                  <a:pt x="1082508" y="910420"/>
                </a:lnTo>
                <a:lnTo>
                  <a:pt x="1097152" y="922604"/>
                </a:lnTo>
                <a:lnTo>
                  <a:pt x="1131266" y="922604"/>
                </a:lnTo>
                <a:lnTo>
                  <a:pt x="1145146" y="954265"/>
                </a:lnTo>
                <a:close/>
              </a:path>
            </a:pathLst>
          </a:custGeom>
          <a:solidFill>
            <a:srgbClr val="C00000"/>
          </a:solidFill>
        </p:spPr>
        <p:txBody>
          <a:bodyPr wrap="square" lIns="0" tIns="0" rIns="0" bIns="0" rtlCol="0"/>
          <a:lstStyle/>
          <a:p/>
        </p:txBody>
      </p:sp>
      <p:sp>
        <p:nvSpPr>
          <p:cNvPr id="41" name="object 41"/>
          <p:cNvSpPr/>
          <p:nvPr/>
        </p:nvSpPr>
        <p:spPr>
          <a:xfrm>
            <a:off x="5246268" y="3280460"/>
            <a:ext cx="1013460" cy="379730"/>
          </a:xfrm>
          <a:custGeom>
            <a:avLst/>
            <a:gdLst/>
            <a:ahLst/>
            <a:cxnLst/>
            <a:rect l="l" t="t" r="r" b="b"/>
            <a:pathLst>
              <a:path w="1013460" h="379729">
                <a:moveTo>
                  <a:pt x="939352" y="29874"/>
                </a:moveTo>
                <a:lnTo>
                  <a:pt x="928611" y="0"/>
                </a:lnTo>
                <a:lnTo>
                  <a:pt x="1013206" y="10083"/>
                </a:lnTo>
                <a:lnTo>
                  <a:pt x="1000466" y="23431"/>
                </a:lnTo>
                <a:lnTo>
                  <a:pt x="957275" y="23431"/>
                </a:lnTo>
                <a:lnTo>
                  <a:pt x="939352" y="29874"/>
                </a:lnTo>
                <a:close/>
              </a:path>
              <a:path w="1013460" h="379729">
                <a:moveTo>
                  <a:pt x="943650" y="41827"/>
                </a:moveTo>
                <a:lnTo>
                  <a:pt x="939352" y="29874"/>
                </a:lnTo>
                <a:lnTo>
                  <a:pt x="957275" y="23431"/>
                </a:lnTo>
                <a:lnTo>
                  <a:pt x="961580" y="35382"/>
                </a:lnTo>
                <a:lnTo>
                  <a:pt x="943650" y="41827"/>
                </a:lnTo>
                <a:close/>
              </a:path>
              <a:path w="1013460" h="379729">
                <a:moveTo>
                  <a:pt x="954392" y="71704"/>
                </a:moveTo>
                <a:lnTo>
                  <a:pt x="943650" y="41827"/>
                </a:lnTo>
                <a:lnTo>
                  <a:pt x="961580" y="35382"/>
                </a:lnTo>
                <a:lnTo>
                  <a:pt x="957275" y="23431"/>
                </a:lnTo>
                <a:lnTo>
                  <a:pt x="1000466" y="23431"/>
                </a:lnTo>
                <a:lnTo>
                  <a:pt x="954392" y="71704"/>
                </a:lnTo>
                <a:close/>
              </a:path>
              <a:path w="1013460" h="379729">
                <a:moveTo>
                  <a:pt x="4292" y="379488"/>
                </a:moveTo>
                <a:lnTo>
                  <a:pt x="0" y="367538"/>
                </a:lnTo>
                <a:lnTo>
                  <a:pt x="939352" y="29874"/>
                </a:lnTo>
                <a:lnTo>
                  <a:pt x="943650" y="41827"/>
                </a:lnTo>
                <a:lnTo>
                  <a:pt x="4292" y="379488"/>
                </a:lnTo>
                <a:close/>
              </a:path>
            </a:pathLst>
          </a:custGeom>
          <a:solidFill>
            <a:srgbClr val="C00000"/>
          </a:solidFill>
        </p:spPr>
        <p:txBody>
          <a:bodyPr wrap="square" lIns="0" tIns="0" rIns="0" bIns="0" rtlCol="0"/>
          <a:lstStyle/>
          <a:p/>
        </p:txBody>
      </p:sp>
      <p:sp>
        <p:nvSpPr>
          <p:cNvPr id="42" name="object 42"/>
          <p:cNvSpPr/>
          <p:nvPr/>
        </p:nvSpPr>
        <p:spPr>
          <a:xfrm>
            <a:off x="5247982" y="3647630"/>
            <a:ext cx="1011555" cy="109855"/>
          </a:xfrm>
          <a:custGeom>
            <a:avLst/>
            <a:gdLst/>
            <a:ahLst/>
            <a:cxnLst/>
            <a:rect l="l" t="t" r="r" b="b"/>
            <a:pathLst>
              <a:path w="1011554" h="109854">
                <a:moveTo>
                  <a:pt x="935034" y="77834"/>
                </a:moveTo>
                <a:lnTo>
                  <a:pt x="0" y="12674"/>
                </a:lnTo>
                <a:lnTo>
                  <a:pt x="876" y="0"/>
                </a:lnTo>
                <a:lnTo>
                  <a:pt x="935917" y="65159"/>
                </a:lnTo>
                <a:lnTo>
                  <a:pt x="935034" y="77834"/>
                </a:lnTo>
                <a:close/>
              </a:path>
              <a:path w="1011554" h="109854">
                <a:moveTo>
                  <a:pt x="1005811" y="79159"/>
                </a:moveTo>
                <a:lnTo>
                  <a:pt x="954036" y="79159"/>
                </a:lnTo>
                <a:lnTo>
                  <a:pt x="954925" y="66484"/>
                </a:lnTo>
                <a:lnTo>
                  <a:pt x="935917" y="65159"/>
                </a:lnTo>
                <a:lnTo>
                  <a:pt x="938123" y="33489"/>
                </a:lnTo>
                <a:lnTo>
                  <a:pt x="1011491" y="76796"/>
                </a:lnTo>
                <a:lnTo>
                  <a:pt x="1005811" y="79159"/>
                </a:lnTo>
                <a:close/>
              </a:path>
              <a:path w="1011554" h="109854">
                <a:moveTo>
                  <a:pt x="954036" y="79159"/>
                </a:moveTo>
                <a:lnTo>
                  <a:pt x="935034" y="77834"/>
                </a:lnTo>
                <a:lnTo>
                  <a:pt x="935917" y="65159"/>
                </a:lnTo>
                <a:lnTo>
                  <a:pt x="954925" y="66484"/>
                </a:lnTo>
                <a:lnTo>
                  <a:pt x="954036" y="79159"/>
                </a:lnTo>
                <a:close/>
              </a:path>
              <a:path w="1011554" h="109854">
                <a:moveTo>
                  <a:pt x="932827" y="109512"/>
                </a:moveTo>
                <a:lnTo>
                  <a:pt x="935034" y="77834"/>
                </a:lnTo>
                <a:lnTo>
                  <a:pt x="954036" y="79159"/>
                </a:lnTo>
                <a:lnTo>
                  <a:pt x="1005811" y="79159"/>
                </a:lnTo>
                <a:lnTo>
                  <a:pt x="932827" y="109512"/>
                </a:lnTo>
                <a:close/>
              </a:path>
            </a:pathLst>
          </a:custGeom>
          <a:solidFill>
            <a:srgbClr val="C00000"/>
          </a:solidFill>
        </p:spPr>
        <p:txBody>
          <a:bodyPr wrap="square" lIns="0" tIns="0" rIns="0" bIns="0" rtlCol="0"/>
          <a:lstStyle/>
          <a:p/>
        </p:txBody>
      </p:sp>
      <p:sp>
        <p:nvSpPr>
          <p:cNvPr id="43" name="object 43"/>
          <p:cNvSpPr/>
          <p:nvPr/>
        </p:nvSpPr>
        <p:spPr>
          <a:xfrm>
            <a:off x="5245582" y="3648290"/>
            <a:ext cx="1014094" cy="511175"/>
          </a:xfrm>
          <a:custGeom>
            <a:avLst/>
            <a:gdLst/>
            <a:ahLst/>
            <a:cxnLst/>
            <a:rect l="l" t="t" r="r" b="b"/>
            <a:pathLst>
              <a:path w="1014095" h="511175">
                <a:moveTo>
                  <a:pt x="942889" y="482243"/>
                </a:moveTo>
                <a:lnTo>
                  <a:pt x="0" y="11366"/>
                </a:lnTo>
                <a:lnTo>
                  <a:pt x="5676" y="0"/>
                </a:lnTo>
                <a:lnTo>
                  <a:pt x="948561" y="470887"/>
                </a:lnTo>
                <a:lnTo>
                  <a:pt x="942889" y="482243"/>
                </a:lnTo>
                <a:close/>
              </a:path>
              <a:path w="1014095" h="511175">
                <a:moveTo>
                  <a:pt x="998982" y="490753"/>
                </a:moveTo>
                <a:lnTo>
                  <a:pt x="959929" y="490753"/>
                </a:lnTo>
                <a:lnTo>
                  <a:pt x="965606" y="479399"/>
                </a:lnTo>
                <a:lnTo>
                  <a:pt x="948561" y="470887"/>
                </a:lnTo>
                <a:lnTo>
                  <a:pt x="962748" y="442480"/>
                </a:lnTo>
                <a:lnTo>
                  <a:pt x="998982" y="490753"/>
                </a:lnTo>
                <a:close/>
              </a:path>
              <a:path w="1014095" h="511175">
                <a:moveTo>
                  <a:pt x="959929" y="490753"/>
                </a:moveTo>
                <a:lnTo>
                  <a:pt x="942889" y="482243"/>
                </a:lnTo>
                <a:lnTo>
                  <a:pt x="948561" y="470887"/>
                </a:lnTo>
                <a:lnTo>
                  <a:pt x="965606" y="479399"/>
                </a:lnTo>
                <a:lnTo>
                  <a:pt x="959929" y="490753"/>
                </a:lnTo>
                <a:close/>
              </a:path>
              <a:path w="1014095" h="511175">
                <a:moveTo>
                  <a:pt x="928700" y="510654"/>
                </a:moveTo>
                <a:lnTo>
                  <a:pt x="942889" y="482243"/>
                </a:lnTo>
                <a:lnTo>
                  <a:pt x="959929" y="490753"/>
                </a:lnTo>
                <a:lnTo>
                  <a:pt x="998982" y="490753"/>
                </a:lnTo>
                <a:lnTo>
                  <a:pt x="1013891" y="510616"/>
                </a:lnTo>
                <a:lnTo>
                  <a:pt x="928700" y="510654"/>
                </a:lnTo>
                <a:close/>
              </a:path>
            </a:pathLst>
          </a:custGeom>
          <a:solidFill>
            <a:srgbClr val="C00000"/>
          </a:solidFill>
        </p:spPr>
        <p:txBody>
          <a:bodyPr wrap="square" lIns="0" tIns="0" rIns="0" bIns="0" rtlCol="0"/>
          <a:lstStyle/>
          <a:p/>
        </p:txBody>
      </p:sp>
      <p:sp>
        <p:nvSpPr>
          <p:cNvPr id="44" name="object 44"/>
          <p:cNvSpPr/>
          <p:nvPr/>
        </p:nvSpPr>
        <p:spPr>
          <a:xfrm>
            <a:off x="5244109" y="3649306"/>
            <a:ext cx="1015365" cy="936625"/>
          </a:xfrm>
          <a:custGeom>
            <a:avLst/>
            <a:gdLst/>
            <a:ahLst/>
            <a:cxnLst/>
            <a:rect l="l" t="t" r="r" b="b"/>
            <a:pathLst>
              <a:path w="1015364" h="936625">
                <a:moveTo>
                  <a:pt x="955029" y="889465"/>
                </a:moveTo>
                <a:lnTo>
                  <a:pt x="0" y="9334"/>
                </a:lnTo>
                <a:lnTo>
                  <a:pt x="8610" y="0"/>
                </a:lnTo>
                <a:lnTo>
                  <a:pt x="963635" y="880127"/>
                </a:lnTo>
                <a:lnTo>
                  <a:pt x="955029" y="889465"/>
                </a:lnTo>
                <a:close/>
              </a:path>
              <a:path w="1015364" h="936625">
                <a:moveTo>
                  <a:pt x="1002445" y="902373"/>
                </a:moveTo>
                <a:lnTo>
                  <a:pt x="969035" y="902373"/>
                </a:lnTo>
                <a:lnTo>
                  <a:pt x="977645" y="893038"/>
                </a:lnTo>
                <a:lnTo>
                  <a:pt x="963635" y="880127"/>
                </a:lnTo>
                <a:lnTo>
                  <a:pt x="985151" y="856780"/>
                </a:lnTo>
                <a:lnTo>
                  <a:pt x="1002445" y="902373"/>
                </a:lnTo>
                <a:close/>
              </a:path>
              <a:path w="1015364" h="936625">
                <a:moveTo>
                  <a:pt x="969035" y="902373"/>
                </a:moveTo>
                <a:lnTo>
                  <a:pt x="955029" y="889465"/>
                </a:lnTo>
                <a:lnTo>
                  <a:pt x="963635" y="880127"/>
                </a:lnTo>
                <a:lnTo>
                  <a:pt x="977645" y="893038"/>
                </a:lnTo>
                <a:lnTo>
                  <a:pt x="969035" y="902373"/>
                </a:lnTo>
                <a:close/>
              </a:path>
              <a:path w="1015364" h="936625">
                <a:moveTo>
                  <a:pt x="1015364" y="936434"/>
                </a:moveTo>
                <a:lnTo>
                  <a:pt x="933513" y="912812"/>
                </a:lnTo>
                <a:lnTo>
                  <a:pt x="955029" y="889465"/>
                </a:lnTo>
                <a:lnTo>
                  <a:pt x="969035" y="902373"/>
                </a:lnTo>
                <a:lnTo>
                  <a:pt x="1002445" y="902373"/>
                </a:lnTo>
                <a:lnTo>
                  <a:pt x="1015364" y="936434"/>
                </a:lnTo>
                <a:close/>
              </a:path>
            </a:pathLst>
          </a:custGeom>
          <a:solidFill>
            <a:srgbClr val="C00000"/>
          </a:solidFill>
        </p:spPr>
        <p:txBody>
          <a:bodyPr wrap="square" lIns="0" tIns="0" rIns="0" bIns="0" rtlCol="0"/>
          <a:lstStyle/>
          <a:p/>
        </p:txBody>
      </p:sp>
      <p:sp>
        <p:nvSpPr>
          <p:cNvPr id="45" name="object 45"/>
          <p:cNvSpPr/>
          <p:nvPr/>
        </p:nvSpPr>
        <p:spPr>
          <a:xfrm>
            <a:off x="5243334" y="3650170"/>
            <a:ext cx="1016635" cy="1358900"/>
          </a:xfrm>
          <a:custGeom>
            <a:avLst/>
            <a:gdLst/>
            <a:ahLst/>
            <a:cxnLst/>
            <a:rect l="l" t="t" r="r" b="b"/>
            <a:pathLst>
              <a:path w="1016635" h="1358900">
                <a:moveTo>
                  <a:pt x="965472" y="1301032"/>
                </a:moveTo>
                <a:lnTo>
                  <a:pt x="0" y="7594"/>
                </a:lnTo>
                <a:lnTo>
                  <a:pt x="10172" y="0"/>
                </a:lnTo>
                <a:lnTo>
                  <a:pt x="975645" y="1293438"/>
                </a:lnTo>
                <a:lnTo>
                  <a:pt x="965472" y="1301032"/>
                </a:lnTo>
                <a:close/>
              </a:path>
              <a:path w="1016635" h="1358900">
                <a:moveTo>
                  <a:pt x="1008602" y="1316304"/>
                </a:moveTo>
                <a:lnTo>
                  <a:pt x="976871" y="1316304"/>
                </a:lnTo>
                <a:lnTo>
                  <a:pt x="987044" y="1308709"/>
                </a:lnTo>
                <a:lnTo>
                  <a:pt x="975645" y="1293438"/>
                </a:lnTo>
                <a:lnTo>
                  <a:pt x="1001090" y="1274444"/>
                </a:lnTo>
                <a:lnTo>
                  <a:pt x="1008602" y="1316304"/>
                </a:lnTo>
                <a:close/>
              </a:path>
              <a:path w="1016635" h="1358900">
                <a:moveTo>
                  <a:pt x="976871" y="1316304"/>
                </a:moveTo>
                <a:lnTo>
                  <a:pt x="965472" y="1301032"/>
                </a:lnTo>
                <a:lnTo>
                  <a:pt x="975645" y="1293438"/>
                </a:lnTo>
                <a:lnTo>
                  <a:pt x="987044" y="1308709"/>
                </a:lnTo>
                <a:lnTo>
                  <a:pt x="976871" y="1316304"/>
                </a:lnTo>
                <a:close/>
              </a:path>
              <a:path w="1016635" h="1358900">
                <a:moveTo>
                  <a:pt x="1016139" y="1358303"/>
                </a:moveTo>
                <a:lnTo>
                  <a:pt x="940028" y="1320025"/>
                </a:lnTo>
                <a:lnTo>
                  <a:pt x="965472" y="1301032"/>
                </a:lnTo>
                <a:lnTo>
                  <a:pt x="976871" y="1316304"/>
                </a:lnTo>
                <a:lnTo>
                  <a:pt x="1008602" y="1316304"/>
                </a:lnTo>
                <a:lnTo>
                  <a:pt x="1016139" y="1358303"/>
                </a:lnTo>
                <a:close/>
              </a:path>
            </a:pathLst>
          </a:custGeom>
          <a:solidFill>
            <a:srgbClr val="C00000"/>
          </a:solidFill>
        </p:spPr>
        <p:txBody>
          <a:bodyPr wrap="square" lIns="0" tIns="0" rIns="0" bIns="0" rtlCol="0"/>
          <a:lstStyle/>
          <a:p/>
        </p:txBody>
      </p:sp>
      <p:sp>
        <p:nvSpPr>
          <p:cNvPr id="46" name="object 46"/>
          <p:cNvSpPr/>
          <p:nvPr/>
        </p:nvSpPr>
        <p:spPr>
          <a:xfrm>
            <a:off x="5244731" y="4495355"/>
            <a:ext cx="1015365" cy="935990"/>
          </a:xfrm>
          <a:custGeom>
            <a:avLst/>
            <a:gdLst/>
            <a:ahLst/>
            <a:cxnLst/>
            <a:rect l="l" t="t" r="r" b="b"/>
            <a:pathLst>
              <a:path w="1015364" h="935989">
                <a:moveTo>
                  <a:pt x="954407" y="888881"/>
                </a:moveTo>
                <a:lnTo>
                  <a:pt x="0" y="9334"/>
                </a:lnTo>
                <a:lnTo>
                  <a:pt x="8610" y="0"/>
                </a:lnTo>
                <a:lnTo>
                  <a:pt x="963013" y="879542"/>
                </a:lnTo>
                <a:lnTo>
                  <a:pt x="954407" y="888881"/>
                </a:lnTo>
                <a:close/>
              </a:path>
              <a:path w="1015364" h="935989">
                <a:moveTo>
                  <a:pt x="1001823" y="901788"/>
                </a:moveTo>
                <a:lnTo>
                  <a:pt x="968413" y="901788"/>
                </a:lnTo>
                <a:lnTo>
                  <a:pt x="977023" y="892454"/>
                </a:lnTo>
                <a:lnTo>
                  <a:pt x="963013" y="879542"/>
                </a:lnTo>
                <a:lnTo>
                  <a:pt x="984529" y="856195"/>
                </a:lnTo>
                <a:lnTo>
                  <a:pt x="1001823" y="901788"/>
                </a:lnTo>
                <a:close/>
              </a:path>
              <a:path w="1015364" h="935989">
                <a:moveTo>
                  <a:pt x="968413" y="901788"/>
                </a:moveTo>
                <a:lnTo>
                  <a:pt x="954407" y="888881"/>
                </a:lnTo>
                <a:lnTo>
                  <a:pt x="963013" y="879542"/>
                </a:lnTo>
                <a:lnTo>
                  <a:pt x="977023" y="892454"/>
                </a:lnTo>
                <a:lnTo>
                  <a:pt x="968413" y="901788"/>
                </a:lnTo>
                <a:close/>
              </a:path>
              <a:path w="1015364" h="935989">
                <a:moveTo>
                  <a:pt x="1014742" y="935850"/>
                </a:moveTo>
                <a:lnTo>
                  <a:pt x="932891" y="912228"/>
                </a:lnTo>
                <a:lnTo>
                  <a:pt x="954407" y="888881"/>
                </a:lnTo>
                <a:lnTo>
                  <a:pt x="968413" y="901788"/>
                </a:lnTo>
                <a:lnTo>
                  <a:pt x="1001823" y="901788"/>
                </a:lnTo>
                <a:lnTo>
                  <a:pt x="1014742" y="935850"/>
                </a:lnTo>
                <a:close/>
              </a:path>
            </a:pathLst>
          </a:custGeom>
          <a:solidFill>
            <a:srgbClr val="C00000"/>
          </a:solidFill>
        </p:spPr>
        <p:txBody>
          <a:bodyPr wrap="square" lIns="0" tIns="0" rIns="0" bIns="0" rtlCol="0"/>
          <a:lstStyle/>
          <a:p/>
        </p:txBody>
      </p:sp>
      <p:sp>
        <p:nvSpPr>
          <p:cNvPr id="47" name="object 47"/>
          <p:cNvSpPr/>
          <p:nvPr/>
        </p:nvSpPr>
        <p:spPr>
          <a:xfrm>
            <a:off x="5246027" y="5443524"/>
            <a:ext cx="1013460" cy="424180"/>
          </a:xfrm>
          <a:custGeom>
            <a:avLst/>
            <a:gdLst/>
            <a:ahLst/>
            <a:cxnLst/>
            <a:rect l="l" t="t" r="r" b="b"/>
            <a:pathLst>
              <a:path w="1013460" h="424179">
                <a:moveTo>
                  <a:pt x="940480" y="394606"/>
                </a:moveTo>
                <a:lnTo>
                  <a:pt x="0" y="11760"/>
                </a:lnTo>
                <a:lnTo>
                  <a:pt x="4787" y="0"/>
                </a:lnTo>
                <a:lnTo>
                  <a:pt x="945267" y="382846"/>
                </a:lnTo>
                <a:lnTo>
                  <a:pt x="940480" y="394606"/>
                </a:lnTo>
                <a:close/>
              </a:path>
              <a:path w="1013460" h="424179">
                <a:moveTo>
                  <a:pt x="999687" y="401789"/>
                </a:moveTo>
                <a:lnTo>
                  <a:pt x="958126" y="401789"/>
                </a:lnTo>
                <a:lnTo>
                  <a:pt x="962913" y="390029"/>
                </a:lnTo>
                <a:lnTo>
                  <a:pt x="945267" y="382846"/>
                </a:lnTo>
                <a:lnTo>
                  <a:pt x="957237" y="353440"/>
                </a:lnTo>
                <a:lnTo>
                  <a:pt x="999687" y="401789"/>
                </a:lnTo>
                <a:close/>
              </a:path>
              <a:path w="1013460" h="424179">
                <a:moveTo>
                  <a:pt x="958126" y="401789"/>
                </a:moveTo>
                <a:lnTo>
                  <a:pt x="940480" y="394606"/>
                </a:lnTo>
                <a:lnTo>
                  <a:pt x="945267" y="382846"/>
                </a:lnTo>
                <a:lnTo>
                  <a:pt x="962913" y="390029"/>
                </a:lnTo>
                <a:lnTo>
                  <a:pt x="958126" y="401789"/>
                </a:lnTo>
                <a:close/>
              </a:path>
              <a:path w="1013460" h="424179">
                <a:moveTo>
                  <a:pt x="928509" y="424014"/>
                </a:moveTo>
                <a:lnTo>
                  <a:pt x="940480" y="394606"/>
                </a:lnTo>
                <a:lnTo>
                  <a:pt x="958126" y="401789"/>
                </a:lnTo>
                <a:lnTo>
                  <a:pt x="999687" y="401789"/>
                </a:lnTo>
                <a:lnTo>
                  <a:pt x="1013447" y="417461"/>
                </a:lnTo>
                <a:lnTo>
                  <a:pt x="928509" y="424014"/>
                </a:lnTo>
                <a:close/>
              </a:path>
            </a:pathLst>
          </a:custGeom>
          <a:solidFill>
            <a:srgbClr val="C00000"/>
          </a:solidFill>
        </p:spPr>
        <p:txBody>
          <a:bodyPr wrap="square" lIns="0" tIns="0" rIns="0" bIns="0" rtlCol="0"/>
          <a:lstStyle/>
          <a:p/>
        </p:txBody>
      </p:sp>
      <p:sp>
        <p:nvSpPr>
          <p:cNvPr id="48" name="object 48"/>
          <p:cNvSpPr/>
          <p:nvPr/>
        </p:nvSpPr>
        <p:spPr>
          <a:xfrm>
            <a:off x="9745980" y="4168140"/>
            <a:ext cx="1247140" cy="375285"/>
          </a:xfrm>
          <a:custGeom>
            <a:avLst/>
            <a:gdLst/>
            <a:ahLst/>
            <a:cxnLst/>
            <a:rect l="l" t="t" r="r" b="b"/>
            <a:pathLst>
              <a:path w="1247140" h="375285">
                <a:moveTo>
                  <a:pt x="0" y="0"/>
                </a:moveTo>
                <a:lnTo>
                  <a:pt x="1246631" y="0"/>
                </a:lnTo>
                <a:lnTo>
                  <a:pt x="1246631" y="374903"/>
                </a:lnTo>
                <a:lnTo>
                  <a:pt x="0" y="374903"/>
                </a:lnTo>
                <a:lnTo>
                  <a:pt x="0" y="0"/>
                </a:lnTo>
                <a:close/>
              </a:path>
            </a:pathLst>
          </a:custGeom>
          <a:solidFill>
            <a:srgbClr val="D9D9D9"/>
          </a:solidFill>
        </p:spPr>
        <p:txBody>
          <a:bodyPr wrap="square" lIns="0" tIns="0" rIns="0" bIns="0" rtlCol="0"/>
          <a:lstStyle/>
          <a:p/>
        </p:txBody>
      </p:sp>
      <p:sp>
        <p:nvSpPr>
          <p:cNvPr id="49" name="object 49"/>
          <p:cNvSpPr/>
          <p:nvPr/>
        </p:nvSpPr>
        <p:spPr>
          <a:xfrm>
            <a:off x="9739871" y="4161942"/>
            <a:ext cx="1258570" cy="386715"/>
          </a:xfrm>
          <a:custGeom>
            <a:avLst/>
            <a:gdLst/>
            <a:ahLst/>
            <a:cxnLst/>
            <a:rect l="l" t="t" r="r" b="b"/>
            <a:pathLst>
              <a:path w="1258570" h="386714">
                <a:moveTo>
                  <a:pt x="1258328" y="386702"/>
                </a:moveTo>
                <a:lnTo>
                  <a:pt x="0" y="386702"/>
                </a:lnTo>
                <a:lnTo>
                  <a:pt x="0" y="0"/>
                </a:lnTo>
                <a:lnTo>
                  <a:pt x="1258328" y="0"/>
                </a:lnTo>
                <a:lnTo>
                  <a:pt x="1258328" y="6350"/>
                </a:lnTo>
                <a:lnTo>
                  <a:pt x="12700" y="6350"/>
                </a:lnTo>
                <a:lnTo>
                  <a:pt x="6350" y="12700"/>
                </a:lnTo>
                <a:lnTo>
                  <a:pt x="12700" y="12700"/>
                </a:lnTo>
                <a:lnTo>
                  <a:pt x="12700" y="374002"/>
                </a:lnTo>
                <a:lnTo>
                  <a:pt x="6350" y="374002"/>
                </a:lnTo>
                <a:lnTo>
                  <a:pt x="12700" y="380352"/>
                </a:lnTo>
                <a:lnTo>
                  <a:pt x="1258328" y="380352"/>
                </a:lnTo>
                <a:lnTo>
                  <a:pt x="1258328" y="386702"/>
                </a:lnTo>
                <a:close/>
              </a:path>
              <a:path w="1258570" h="386714">
                <a:moveTo>
                  <a:pt x="12700" y="12700"/>
                </a:moveTo>
                <a:lnTo>
                  <a:pt x="6350" y="12700"/>
                </a:lnTo>
                <a:lnTo>
                  <a:pt x="12700" y="6350"/>
                </a:lnTo>
                <a:lnTo>
                  <a:pt x="12700" y="12700"/>
                </a:lnTo>
                <a:close/>
              </a:path>
              <a:path w="1258570" h="386714">
                <a:moveTo>
                  <a:pt x="1245628" y="12700"/>
                </a:moveTo>
                <a:lnTo>
                  <a:pt x="12700" y="12700"/>
                </a:lnTo>
                <a:lnTo>
                  <a:pt x="12700" y="6350"/>
                </a:lnTo>
                <a:lnTo>
                  <a:pt x="1245628" y="6350"/>
                </a:lnTo>
                <a:lnTo>
                  <a:pt x="1245628" y="12700"/>
                </a:lnTo>
                <a:close/>
              </a:path>
              <a:path w="1258570" h="386714">
                <a:moveTo>
                  <a:pt x="1245628" y="380352"/>
                </a:moveTo>
                <a:lnTo>
                  <a:pt x="1245628" y="6350"/>
                </a:lnTo>
                <a:lnTo>
                  <a:pt x="1251978" y="12700"/>
                </a:lnTo>
                <a:lnTo>
                  <a:pt x="1258328" y="12700"/>
                </a:lnTo>
                <a:lnTo>
                  <a:pt x="1258328" y="374002"/>
                </a:lnTo>
                <a:lnTo>
                  <a:pt x="1251978" y="374002"/>
                </a:lnTo>
                <a:lnTo>
                  <a:pt x="1245628" y="380352"/>
                </a:lnTo>
                <a:close/>
              </a:path>
              <a:path w="1258570" h="386714">
                <a:moveTo>
                  <a:pt x="1258328" y="12700"/>
                </a:moveTo>
                <a:lnTo>
                  <a:pt x="1251978" y="12700"/>
                </a:lnTo>
                <a:lnTo>
                  <a:pt x="1245628" y="6350"/>
                </a:lnTo>
                <a:lnTo>
                  <a:pt x="1258328" y="6350"/>
                </a:lnTo>
                <a:lnTo>
                  <a:pt x="1258328" y="12700"/>
                </a:lnTo>
                <a:close/>
              </a:path>
              <a:path w="1258570" h="386714">
                <a:moveTo>
                  <a:pt x="12700" y="380352"/>
                </a:moveTo>
                <a:lnTo>
                  <a:pt x="6350" y="374002"/>
                </a:lnTo>
                <a:lnTo>
                  <a:pt x="12700" y="374002"/>
                </a:lnTo>
                <a:lnTo>
                  <a:pt x="12700" y="380352"/>
                </a:lnTo>
                <a:close/>
              </a:path>
              <a:path w="1258570" h="386714">
                <a:moveTo>
                  <a:pt x="1245628" y="380352"/>
                </a:moveTo>
                <a:lnTo>
                  <a:pt x="12700" y="380352"/>
                </a:lnTo>
                <a:lnTo>
                  <a:pt x="12700" y="374002"/>
                </a:lnTo>
                <a:lnTo>
                  <a:pt x="1245628" y="374002"/>
                </a:lnTo>
                <a:lnTo>
                  <a:pt x="1245628" y="380352"/>
                </a:lnTo>
                <a:close/>
              </a:path>
              <a:path w="1258570" h="386714">
                <a:moveTo>
                  <a:pt x="1258328" y="380352"/>
                </a:moveTo>
                <a:lnTo>
                  <a:pt x="1245628" y="380352"/>
                </a:lnTo>
                <a:lnTo>
                  <a:pt x="1251978" y="374002"/>
                </a:lnTo>
                <a:lnTo>
                  <a:pt x="1258328" y="374002"/>
                </a:lnTo>
                <a:lnTo>
                  <a:pt x="1258328" y="380352"/>
                </a:lnTo>
                <a:close/>
              </a:path>
            </a:pathLst>
          </a:custGeom>
          <a:solidFill>
            <a:srgbClr val="C00000"/>
          </a:solidFill>
        </p:spPr>
        <p:txBody>
          <a:bodyPr wrap="square" lIns="0" tIns="0" rIns="0" bIns="0" rtlCol="0"/>
          <a:lstStyle/>
          <a:p/>
        </p:txBody>
      </p:sp>
      <p:sp>
        <p:nvSpPr>
          <p:cNvPr id="50" name="object 50"/>
          <p:cNvSpPr txBox="1"/>
          <p:nvPr/>
        </p:nvSpPr>
        <p:spPr>
          <a:xfrm>
            <a:off x="9745980" y="4241317"/>
            <a:ext cx="1247140" cy="208279"/>
          </a:xfrm>
          <a:prstGeom prst="rect">
            <a:avLst/>
          </a:prstGeom>
        </p:spPr>
        <p:txBody>
          <a:bodyPr vert="horz" wrap="square" lIns="0" tIns="12700" rIns="0" bIns="0" rtlCol="0">
            <a:spAutoFit/>
          </a:bodyPr>
          <a:lstStyle/>
          <a:p>
            <a:pPr marL="317500">
              <a:lnSpc>
                <a:spcPct val="100000"/>
              </a:lnSpc>
              <a:spcBef>
                <a:spcPts val="100"/>
              </a:spcBef>
            </a:pPr>
            <a:r>
              <a:rPr sz="1200" b="1" dirty="0">
                <a:solidFill>
                  <a:srgbClr val="C00000"/>
                </a:solidFill>
                <a:latin typeface="微软雅黑" panose="020B0503020204020204" charset="-122"/>
                <a:cs typeface="微软雅黑" panose="020B0503020204020204" charset="-122"/>
              </a:rPr>
              <a:t>外部中断</a:t>
            </a:r>
            <a:endParaRPr sz="1200">
              <a:latin typeface="微软雅黑" panose="020B0503020204020204" charset="-122"/>
              <a:cs typeface="微软雅黑" panose="020B0503020204020204" charset="-122"/>
            </a:endParaRPr>
          </a:p>
        </p:txBody>
      </p:sp>
      <p:sp>
        <p:nvSpPr>
          <p:cNvPr id="51" name="object 51"/>
          <p:cNvSpPr/>
          <p:nvPr/>
        </p:nvSpPr>
        <p:spPr>
          <a:xfrm>
            <a:off x="9745980" y="4594859"/>
            <a:ext cx="1247140" cy="375285"/>
          </a:xfrm>
          <a:custGeom>
            <a:avLst/>
            <a:gdLst/>
            <a:ahLst/>
            <a:cxnLst/>
            <a:rect l="l" t="t" r="r" b="b"/>
            <a:pathLst>
              <a:path w="1247140" h="375285">
                <a:moveTo>
                  <a:pt x="0" y="0"/>
                </a:moveTo>
                <a:lnTo>
                  <a:pt x="1246631" y="0"/>
                </a:lnTo>
                <a:lnTo>
                  <a:pt x="1246631" y="374903"/>
                </a:lnTo>
                <a:lnTo>
                  <a:pt x="0" y="374903"/>
                </a:lnTo>
                <a:lnTo>
                  <a:pt x="0" y="0"/>
                </a:lnTo>
                <a:close/>
              </a:path>
            </a:pathLst>
          </a:custGeom>
          <a:solidFill>
            <a:srgbClr val="D9D9D9"/>
          </a:solidFill>
        </p:spPr>
        <p:txBody>
          <a:bodyPr wrap="square" lIns="0" tIns="0" rIns="0" bIns="0" rtlCol="0"/>
          <a:lstStyle/>
          <a:p/>
        </p:txBody>
      </p:sp>
      <p:sp>
        <p:nvSpPr>
          <p:cNvPr id="52" name="object 52"/>
          <p:cNvSpPr/>
          <p:nvPr/>
        </p:nvSpPr>
        <p:spPr>
          <a:xfrm>
            <a:off x="9739871" y="4588789"/>
            <a:ext cx="1258570" cy="386715"/>
          </a:xfrm>
          <a:custGeom>
            <a:avLst/>
            <a:gdLst/>
            <a:ahLst/>
            <a:cxnLst/>
            <a:rect l="l" t="t" r="r" b="b"/>
            <a:pathLst>
              <a:path w="1258570" h="386714">
                <a:moveTo>
                  <a:pt x="1258328" y="386702"/>
                </a:moveTo>
                <a:lnTo>
                  <a:pt x="0" y="386702"/>
                </a:lnTo>
                <a:lnTo>
                  <a:pt x="0" y="0"/>
                </a:lnTo>
                <a:lnTo>
                  <a:pt x="1258328" y="0"/>
                </a:lnTo>
                <a:lnTo>
                  <a:pt x="1258328" y="6350"/>
                </a:lnTo>
                <a:lnTo>
                  <a:pt x="12700" y="6350"/>
                </a:lnTo>
                <a:lnTo>
                  <a:pt x="6350" y="12700"/>
                </a:lnTo>
                <a:lnTo>
                  <a:pt x="12700" y="12700"/>
                </a:lnTo>
                <a:lnTo>
                  <a:pt x="12700" y="374002"/>
                </a:lnTo>
                <a:lnTo>
                  <a:pt x="6350" y="374002"/>
                </a:lnTo>
                <a:lnTo>
                  <a:pt x="12700" y="380352"/>
                </a:lnTo>
                <a:lnTo>
                  <a:pt x="1258328" y="380352"/>
                </a:lnTo>
                <a:lnTo>
                  <a:pt x="1258328" y="386702"/>
                </a:lnTo>
                <a:close/>
              </a:path>
              <a:path w="1258570" h="386714">
                <a:moveTo>
                  <a:pt x="12700" y="12700"/>
                </a:moveTo>
                <a:lnTo>
                  <a:pt x="6350" y="12700"/>
                </a:lnTo>
                <a:lnTo>
                  <a:pt x="12700" y="6350"/>
                </a:lnTo>
                <a:lnTo>
                  <a:pt x="12700" y="12700"/>
                </a:lnTo>
                <a:close/>
              </a:path>
              <a:path w="1258570" h="386714">
                <a:moveTo>
                  <a:pt x="1245628" y="12700"/>
                </a:moveTo>
                <a:lnTo>
                  <a:pt x="12700" y="12700"/>
                </a:lnTo>
                <a:lnTo>
                  <a:pt x="12700" y="6350"/>
                </a:lnTo>
                <a:lnTo>
                  <a:pt x="1245628" y="6350"/>
                </a:lnTo>
                <a:lnTo>
                  <a:pt x="1245628" y="12700"/>
                </a:lnTo>
                <a:close/>
              </a:path>
              <a:path w="1258570" h="386714">
                <a:moveTo>
                  <a:pt x="1245628" y="380352"/>
                </a:moveTo>
                <a:lnTo>
                  <a:pt x="1245628" y="6350"/>
                </a:lnTo>
                <a:lnTo>
                  <a:pt x="1251978" y="12700"/>
                </a:lnTo>
                <a:lnTo>
                  <a:pt x="1258328" y="12700"/>
                </a:lnTo>
                <a:lnTo>
                  <a:pt x="1258328" y="374002"/>
                </a:lnTo>
                <a:lnTo>
                  <a:pt x="1251978" y="374002"/>
                </a:lnTo>
                <a:lnTo>
                  <a:pt x="1245628" y="380352"/>
                </a:lnTo>
                <a:close/>
              </a:path>
              <a:path w="1258570" h="386714">
                <a:moveTo>
                  <a:pt x="1258328" y="12700"/>
                </a:moveTo>
                <a:lnTo>
                  <a:pt x="1251978" y="12700"/>
                </a:lnTo>
                <a:lnTo>
                  <a:pt x="1245628" y="6350"/>
                </a:lnTo>
                <a:lnTo>
                  <a:pt x="1258328" y="6350"/>
                </a:lnTo>
                <a:lnTo>
                  <a:pt x="1258328" y="12700"/>
                </a:lnTo>
                <a:close/>
              </a:path>
              <a:path w="1258570" h="386714">
                <a:moveTo>
                  <a:pt x="12700" y="380352"/>
                </a:moveTo>
                <a:lnTo>
                  <a:pt x="6350" y="374002"/>
                </a:lnTo>
                <a:lnTo>
                  <a:pt x="12700" y="374002"/>
                </a:lnTo>
                <a:lnTo>
                  <a:pt x="12700" y="380352"/>
                </a:lnTo>
                <a:close/>
              </a:path>
              <a:path w="1258570" h="386714">
                <a:moveTo>
                  <a:pt x="1245628" y="380352"/>
                </a:moveTo>
                <a:lnTo>
                  <a:pt x="12700" y="380352"/>
                </a:lnTo>
                <a:lnTo>
                  <a:pt x="12700" y="374002"/>
                </a:lnTo>
                <a:lnTo>
                  <a:pt x="1245628" y="374002"/>
                </a:lnTo>
                <a:lnTo>
                  <a:pt x="1245628" y="380352"/>
                </a:lnTo>
                <a:close/>
              </a:path>
              <a:path w="1258570" h="386714">
                <a:moveTo>
                  <a:pt x="1258328" y="380352"/>
                </a:moveTo>
                <a:lnTo>
                  <a:pt x="1245628" y="380352"/>
                </a:lnTo>
                <a:lnTo>
                  <a:pt x="1251978" y="374002"/>
                </a:lnTo>
                <a:lnTo>
                  <a:pt x="1258328" y="374002"/>
                </a:lnTo>
                <a:lnTo>
                  <a:pt x="1258328" y="380352"/>
                </a:lnTo>
                <a:close/>
              </a:path>
            </a:pathLst>
          </a:custGeom>
          <a:solidFill>
            <a:srgbClr val="C00000"/>
          </a:solidFill>
        </p:spPr>
        <p:txBody>
          <a:bodyPr wrap="square" lIns="0" tIns="0" rIns="0" bIns="0" rtlCol="0"/>
          <a:lstStyle/>
          <a:p/>
        </p:txBody>
      </p:sp>
      <p:sp>
        <p:nvSpPr>
          <p:cNvPr id="53" name="object 53"/>
          <p:cNvSpPr txBox="1"/>
          <p:nvPr/>
        </p:nvSpPr>
        <p:spPr>
          <a:xfrm>
            <a:off x="9745980" y="4668164"/>
            <a:ext cx="1247140" cy="208279"/>
          </a:xfrm>
          <a:prstGeom prst="rect">
            <a:avLst/>
          </a:prstGeom>
        </p:spPr>
        <p:txBody>
          <a:bodyPr vert="horz" wrap="square" lIns="0" tIns="12700" rIns="0" bIns="0" rtlCol="0">
            <a:spAutoFit/>
          </a:bodyPr>
          <a:lstStyle/>
          <a:p>
            <a:pPr marL="241300">
              <a:lnSpc>
                <a:spcPct val="100000"/>
              </a:lnSpc>
              <a:spcBef>
                <a:spcPts val="100"/>
              </a:spcBef>
            </a:pPr>
            <a:r>
              <a:rPr sz="1200" b="1" dirty="0">
                <a:solidFill>
                  <a:srgbClr val="C00000"/>
                </a:solidFill>
                <a:latin typeface="微软雅黑" panose="020B0503020204020204" charset="-122"/>
                <a:cs typeface="微软雅黑" panose="020B0503020204020204" charset="-122"/>
              </a:rPr>
              <a:t>计时器中断</a:t>
            </a:r>
            <a:endParaRPr sz="1200">
              <a:latin typeface="微软雅黑" panose="020B0503020204020204" charset="-122"/>
              <a:cs typeface="微软雅黑" panose="020B0503020204020204" charset="-122"/>
            </a:endParaRPr>
          </a:p>
        </p:txBody>
      </p:sp>
      <p:sp>
        <p:nvSpPr>
          <p:cNvPr id="54" name="object 54"/>
          <p:cNvSpPr/>
          <p:nvPr/>
        </p:nvSpPr>
        <p:spPr>
          <a:xfrm>
            <a:off x="9745980" y="5027676"/>
            <a:ext cx="1247140" cy="373380"/>
          </a:xfrm>
          <a:custGeom>
            <a:avLst/>
            <a:gdLst/>
            <a:ahLst/>
            <a:cxnLst/>
            <a:rect l="l" t="t" r="r" b="b"/>
            <a:pathLst>
              <a:path w="1247140" h="373379">
                <a:moveTo>
                  <a:pt x="0" y="0"/>
                </a:moveTo>
                <a:lnTo>
                  <a:pt x="1246631" y="0"/>
                </a:lnTo>
                <a:lnTo>
                  <a:pt x="1246631" y="373379"/>
                </a:lnTo>
                <a:lnTo>
                  <a:pt x="0" y="373379"/>
                </a:lnTo>
                <a:lnTo>
                  <a:pt x="0" y="0"/>
                </a:lnTo>
                <a:close/>
              </a:path>
            </a:pathLst>
          </a:custGeom>
          <a:solidFill>
            <a:srgbClr val="D9D9D9"/>
          </a:solidFill>
        </p:spPr>
        <p:txBody>
          <a:bodyPr wrap="square" lIns="0" tIns="0" rIns="0" bIns="0" rtlCol="0"/>
          <a:lstStyle/>
          <a:p/>
        </p:txBody>
      </p:sp>
      <p:sp>
        <p:nvSpPr>
          <p:cNvPr id="55" name="object 55"/>
          <p:cNvSpPr/>
          <p:nvPr/>
        </p:nvSpPr>
        <p:spPr>
          <a:xfrm>
            <a:off x="9739871" y="5020919"/>
            <a:ext cx="1258570" cy="386715"/>
          </a:xfrm>
          <a:custGeom>
            <a:avLst/>
            <a:gdLst/>
            <a:ahLst/>
            <a:cxnLst/>
            <a:rect l="l" t="t" r="r" b="b"/>
            <a:pathLst>
              <a:path w="1258570" h="386714">
                <a:moveTo>
                  <a:pt x="1258328" y="386689"/>
                </a:moveTo>
                <a:lnTo>
                  <a:pt x="0" y="386689"/>
                </a:lnTo>
                <a:lnTo>
                  <a:pt x="0" y="0"/>
                </a:lnTo>
                <a:lnTo>
                  <a:pt x="1258328" y="0"/>
                </a:lnTo>
                <a:lnTo>
                  <a:pt x="1258328" y="6350"/>
                </a:lnTo>
                <a:lnTo>
                  <a:pt x="12700" y="6350"/>
                </a:lnTo>
                <a:lnTo>
                  <a:pt x="6350" y="12700"/>
                </a:lnTo>
                <a:lnTo>
                  <a:pt x="12700" y="12700"/>
                </a:lnTo>
                <a:lnTo>
                  <a:pt x="12700" y="373989"/>
                </a:lnTo>
                <a:lnTo>
                  <a:pt x="6350" y="373989"/>
                </a:lnTo>
                <a:lnTo>
                  <a:pt x="12700" y="380339"/>
                </a:lnTo>
                <a:lnTo>
                  <a:pt x="1258328" y="380339"/>
                </a:lnTo>
                <a:lnTo>
                  <a:pt x="1258328" y="386689"/>
                </a:lnTo>
                <a:close/>
              </a:path>
              <a:path w="1258570" h="386714">
                <a:moveTo>
                  <a:pt x="12700" y="12700"/>
                </a:moveTo>
                <a:lnTo>
                  <a:pt x="6350" y="12700"/>
                </a:lnTo>
                <a:lnTo>
                  <a:pt x="12700" y="6350"/>
                </a:lnTo>
                <a:lnTo>
                  <a:pt x="12700" y="12700"/>
                </a:lnTo>
                <a:close/>
              </a:path>
              <a:path w="1258570" h="386714">
                <a:moveTo>
                  <a:pt x="1245628" y="12700"/>
                </a:moveTo>
                <a:lnTo>
                  <a:pt x="12700" y="12700"/>
                </a:lnTo>
                <a:lnTo>
                  <a:pt x="12700" y="6350"/>
                </a:lnTo>
                <a:lnTo>
                  <a:pt x="1245628" y="6350"/>
                </a:lnTo>
                <a:lnTo>
                  <a:pt x="1245628" y="12700"/>
                </a:lnTo>
                <a:close/>
              </a:path>
              <a:path w="1258570" h="386714">
                <a:moveTo>
                  <a:pt x="1245628" y="380339"/>
                </a:moveTo>
                <a:lnTo>
                  <a:pt x="1245628" y="6350"/>
                </a:lnTo>
                <a:lnTo>
                  <a:pt x="1251978" y="12700"/>
                </a:lnTo>
                <a:lnTo>
                  <a:pt x="1258328" y="12700"/>
                </a:lnTo>
                <a:lnTo>
                  <a:pt x="1258328" y="373989"/>
                </a:lnTo>
                <a:lnTo>
                  <a:pt x="1251978" y="373989"/>
                </a:lnTo>
                <a:lnTo>
                  <a:pt x="1245628" y="380339"/>
                </a:lnTo>
                <a:close/>
              </a:path>
              <a:path w="1258570" h="386714">
                <a:moveTo>
                  <a:pt x="1258328" y="12700"/>
                </a:moveTo>
                <a:lnTo>
                  <a:pt x="1251978" y="12700"/>
                </a:lnTo>
                <a:lnTo>
                  <a:pt x="1245628" y="6350"/>
                </a:lnTo>
                <a:lnTo>
                  <a:pt x="1258328" y="6350"/>
                </a:lnTo>
                <a:lnTo>
                  <a:pt x="1258328" y="12700"/>
                </a:lnTo>
                <a:close/>
              </a:path>
              <a:path w="1258570" h="386714">
                <a:moveTo>
                  <a:pt x="12700" y="380339"/>
                </a:moveTo>
                <a:lnTo>
                  <a:pt x="6350" y="373989"/>
                </a:lnTo>
                <a:lnTo>
                  <a:pt x="12700" y="373989"/>
                </a:lnTo>
                <a:lnTo>
                  <a:pt x="12700" y="380339"/>
                </a:lnTo>
                <a:close/>
              </a:path>
              <a:path w="1258570" h="386714">
                <a:moveTo>
                  <a:pt x="1245628" y="380339"/>
                </a:moveTo>
                <a:lnTo>
                  <a:pt x="12700" y="380339"/>
                </a:lnTo>
                <a:lnTo>
                  <a:pt x="12700" y="373989"/>
                </a:lnTo>
                <a:lnTo>
                  <a:pt x="1245628" y="373989"/>
                </a:lnTo>
                <a:lnTo>
                  <a:pt x="1245628" y="380339"/>
                </a:lnTo>
                <a:close/>
              </a:path>
              <a:path w="1258570" h="386714">
                <a:moveTo>
                  <a:pt x="1258328" y="380339"/>
                </a:moveTo>
                <a:lnTo>
                  <a:pt x="1245628" y="380339"/>
                </a:lnTo>
                <a:lnTo>
                  <a:pt x="1251978" y="373989"/>
                </a:lnTo>
                <a:lnTo>
                  <a:pt x="1258328" y="373989"/>
                </a:lnTo>
                <a:lnTo>
                  <a:pt x="1258328" y="380339"/>
                </a:lnTo>
                <a:close/>
              </a:path>
            </a:pathLst>
          </a:custGeom>
          <a:solidFill>
            <a:srgbClr val="C00000"/>
          </a:solidFill>
        </p:spPr>
        <p:txBody>
          <a:bodyPr wrap="square" lIns="0" tIns="0" rIns="0" bIns="0" rtlCol="0"/>
          <a:lstStyle/>
          <a:p/>
        </p:txBody>
      </p:sp>
      <p:sp>
        <p:nvSpPr>
          <p:cNvPr id="56" name="object 56"/>
          <p:cNvSpPr txBox="1"/>
          <p:nvPr/>
        </p:nvSpPr>
        <p:spPr>
          <a:xfrm>
            <a:off x="9745980" y="5100294"/>
            <a:ext cx="1247140" cy="208279"/>
          </a:xfrm>
          <a:prstGeom prst="rect">
            <a:avLst/>
          </a:prstGeom>
        </p:spPr>
        <p:txBody>
          <a:bodyPr vert="horz" wrap="square" lIns="0" tIns="12700" rIns="0" bIns="0" rtlCol="0">
            <a:spAutoFit/>
          </a:bodyPr>
          <a:lstStyle/>
          <a:p>
            <a:pPr marL="317500">
              <a:lnSpc>
                <a:spcPct val="100000"/>
              </a:lnSpc>
              <a:spcBef>
                <a:spcPts val="100"/>
              </a:spcBef>
            </a:pPr>
            <a:r>
              <a:rPr sz="1200" b="1" dirty="0">
                <a:solidFill>
                  <a:srgbClr val="C00000"/>
                </a:solidFill>
                <a:latin typeface="微软雅黑" panose="020B0503020204020204" charset="-122"/>
                <a:cs typeface="微软雅黑" panose="020B0503020204020204" charset="-122"/>
              </a:rPr>
              <a:t>软件中断</a:t>
            </a:r>
            <a:endParaRPr sz="1200">
              <a:latin typeface="微软雅黑" panose="020B0503020204020204" charset="-122"/>
              <a:cs typeface="微软雅黑" panose="020B0503020204020204" charset="-122"/>
            </a:endParaRPr>
          </a:p>
        </p:txBody>
      </p:sp>
      <p:sp>
        <p:nvSpPr>
          <p:cNvPr id="57" name="object 57"/>
          <p:cNvSpPr/>
          <p:nvPr/>
        </p:nvSpPr>
        <p:spPr>
          <a:xfrm>
            <a:off x="9745980" y="3729228"/>
            <a:ext cx="1247140" cy="373380"/>
          </a:xfrm>
          <a:custGeom>
            <a:avLst/>
            <a:gdLst/>
            <a:ahLst/>
            <a:cxnLst/>
            <a:rect l="l" t="t" r="r" b="b"/>
            <a:pathLst>
              <a:path w="1247140" h="373379">
                <a:moveTo>
                  <a:pt x="0" y="0"/>
                </a:moveTo>
                <a:lnTo>
                  <a:pt x="1246631" y="0"/>
                </a:lnTo>
                <a:lnTo>
                  <a:pt x="1246631" y="373379"/>
                </a:lnTo>
                <a:lnTo>
                  <a:pt x="0" y="373379"/>
                </a:lnTo>
                <a:lnTo>
                  <a:pt x="0" y="0"/>
                </a:lnTo>
                <a:close/>
              </a:path>
            </a:pathLst>
          </a:custGeom>
          <a:solidFill>
            <a:srgbClr val="D9D9D9"/>
          </a:solidFill>
        </p:spPr>
        <p:txBody>
          <a:bodyPr wrap="square" lIns="0" tIns="0" rIns="0" bIns="0" rtlCol="0"/>
          <a:lstStyle/>
          <a:p/>
        </p:txBody>
      </p:sp>
      <p:sp>
        <p:nvSpPr>
          <p:cNvPr id="58" name="object 58"/>
          <p:cNvSpPr/>
          <p:nvPr/>
        </p:nvSpPr>
        <p:spPr>
          <a:xfrm>
            <a:off x="9739871" y="3722192"/>
            <a:ext cx="1258570" cy="386715"/>
          </a:xfrm>
          <a:custGeom>
            <a:avLst/>
            <a:gdLst/>
            <a:ahLst/>
            <a:cxnLst/>
            <a:rect l="l" t="t" r="r" b="b"/>
            <a:pathLst>
              <a:path w="1258570" h="386714">
                <a:moveTo>
                  <a:pt x="1258328" y="386689"/>
                </a:moveTo>
                <a:lnTo>
                  <a:pt x="0" y="386689"/>
                </a:lnTo>
                <a:lnTo>
                  <a:pt x="0" y="0"/>
                </a:lnTo>
                <a:lnTo>
                  <a:pt x="1258328" y="0"/>
                </a:lnTo>
                <a:lnTo>
                  <a:pt x="1258328" y="6350"/>
                </a:lnTo>
                <a:lnTo>
                  <a:pt x="12700" y="6350"/>
                </a:lnTo>
                <a:lnTo>
                  <a:pt x="6350" y="12700"/>
                </a:lnTo>
                <a:lnTo>
                  <a:pt x="12700" y="12700"/>
                </a:lnTo>
                <a:lnTo>
                  <a:pt x="12700" y="373989"/>
                </a:lnTo>
                <a:lnTo>
                  <a:pt x="6350" y="373989"/>
                </a:lnTo>
                <a:lnTo>
                  <a:pt x="12700" y="380339"/>
                </a:lnTo>
                <a:lnTo>
                  <a:pt x="1258328" y="380339"/>
                </a:lnTo>
                <a:lnTo>
                  <a:pt x="1258328" y="386689"/>
                </a:lnTo>
                <a:close/>
              </a:path>
              <a:path w="1258570" h="386714">
                <a:moveTo>
                  <a:pt x="12700" y="12700"/>
                </a:moveTo>
                <a:lnTo>
                  <a:pt x="6350" y="12700"/>
                </a:lnTo>
                <a:lnTo>
                  <a:pt x="12700" y="6350"/>
                </a:lnTo>
                <a:lnTo>
                  <a:pt x="12700" y="12700"/>
                </a:lnTo>
                <a:close/>
              </a:path>
              <a:path w="1258570" h="386714">
                <a:moveTo>
                  <a:pt x="1245628" y="12700"/>
                </a:moveTo>
                <a:lnTo>
                  <a:pt x="12700" y="12700"/>
                </a:lnTo>
                <a:lnTo>
                  <a:pt x="12700" y="6350"/>
                </a:lnTo>
                <a:lnTo>
                  <a:pt x="1245628" y="6350"/>
                </a:lnTo>
                <a:lnTo>
                  <a:pt x="1245628" y="12700"/>
                </a:lnTo>
                <a:close/>
              </a:path>
              <a:path w="1258570" h="386714">
                <a:moveTo>
                  <a:pt x="1245628" y="380339"/>
                </a:moveTo>
                <a:lnTo>
                  <a:pt x="1245628" y="6350"/>
                </a:lnTo>
                <a:lnTo>
                  <a:pt x="1251978" y="12700"/>
                </a:lnTo>
                <a:lnTo>
                  <a:pt x="1258328" y="12700"/>
                </a:lnTo>
                <a:lnTo>
                  <a:pt x="1258328" y="373989"/>
                </a:lnTo>
                <a:lnTo>
                  <a:pt x="1251978" y="373989"/>
                </a:lnTo>
                <a:lnTo>
                  <a:pt x="1245628" y="380339"/>
                </a:lnTo>
                <a:close/>
              </a:path>
              <a:path w="1258570" h="386714">
                <a:moveTo>
                  <a:pt x="1258328" y="12700"/>
                </a:moveTo>
                <a:lnTo>
                  <a:pt x="1251978" y="12700"/>
                </a:lnTo>
                <a:lnTo>
                  <a:pt x="1245628" y="6350"/>
                </a:lnTo>
                <a:lnTo>
                  <a:pt x="1258328" y="6350"/>
                </a:lnTo>
                <a:lnTo>
                  <a:pt x="1258328" y="12700"/>
                </a:lnTo>
                <a:close/>
              </a:path>
              <a:path w="1258570" h="386714">
                <a:moveTo>
                  <a:pt x="12700" y="380339"/>
                </a:moveTo>
                <a:lnTo>
                  <a:pt x="6350" y="373989"/>
                </a:lnTo>
                <a:lnTo>
                  <a:pt x="12700" y="373989"/>
                </a:lnTo>
                <a:lnTo>
                  <a:pt x="12700" y="380339"/>
                </a:lnTo>
                <a:close/>
              </a:path>
              <a:path w="1258570" h="386714">
                <a:moveTo>
                  <a:pt x="1245628" y="380339"/>
                </a:moveTo>
                <a:lnTo>
                  <a:pt x="12700" y="380339"/>
                </a:lnTo>
                <a:lnTo>
                  <a:pt x="12700" y="373989"/>
                </a:lnTo>
                <a:lnTo>
                  <a:pt x="1245628" y="373989"/>
                </a:lnTo>
                <a:lnTo>
                  <a:pt x="1245628" y="380339"/>
                </a:lnTo>
                <a:close/>
              </a:path>
              <a:path w="1258570" h="386714">
                <a:moveTo>
                  <a:pt x="1258328" y="380339"/>
                </a:moveTo>
                <a:lnTo>
                  <a:pt x="1245628" y="380339"/>
                </a:lnTo>
                <a:lnTo>
                  <a:pt x="1251978" y="373989"/>
                </a:lnTo>
                <a:lnTo>
                  <a:pt x="1258328" y="373989"/>
                </a:lnTo>
                <a:lnTo>
                  <a:pt x="1258328" y="380339"/>
                </a:lnTo>
                <a:close/>
              </a:path>
            </a:pathLst>
          </a:custGeom>
          <a:solidFill>
            <a:srgbClr val="C00000"/>
          </a:solidFill>
        </p:spPr>
        <p:txBody>
          <a:bodyPr wrap="square" lIns="0" tIns="0" rIns="0" bIns="0" rtlCol="0"/>
          <a:lstStyle/>
          <a:p/>
        </p:txBody>
      </p:sp>
      <p:sp>
        <p:nvSpPr>
          <p:cNvPr id="59" name="object 59"/>
          <p:cNvSpPr txBox="1"/>
          <p:nvPr/>
        </p:nvSpPr>
        <p:spPr>
          <a:xfrm>
            <a:off x="9745980" y="3801567"/>
            <a:ext cx="1247140" cy="208279"/>
          </a:xfrm>
          <a:prstGeom prst="rect">
            <a:avLst/>
          </a:prstGeom>
        </p:spPr>
        <p:txBody>
          <a:bodyPr vert="horz" wrap="square" lIns="0" tIns="12700" rIns="0" bIns="0" rtlCol="0">
            <a:spAutoFit/>
          </a:bodyPr>
          <a:lstStyle/>
          <a:p>
            <a:pPr marL="317500">
              <a:lnSpc>
                <a:spcPct val="100000"/>
              </a:lnSpc>
              <a:spcBef>
                <a:spcPts val="100"/>
              </a:spcBef>
            </a:pPr>
            <a:r>
              <a:rPr sz="1200" b="1" dirty="0">
                <a:solidFill>
                  <a:srgbClr val="C00000"/>
                </a:solidFill>
                <a:latin typeface="微软雅黑" panose="020B0503020204020204" charset="-122"/>
                <a:cs typeface="微软雅黑" panose="020B0503020204020204" charset="-122"/>
              </a:rPr>
              <a:t>调试中断</a:t>
            </a:r>
            <a:endParaRPr sz="1200">
              <a:latin typeface="微软雅黑" panose="020B0503020204020204" charset="-122"/>
              <a:cs typeface="微软雅黑" panose="020B0503020204020204" charset="-122"/>
            </a:endParaRPr>
          </a:p>
        </p:txBody>
      </p:sp>
      <p:sp>
        <p:nvSpPr>
          <p:cNvPr id="60" name="object 60"/>
          <p:cNvSpPr/>
          <p:nvPr/>
        </p:nvSpPr>
        <p:spPr>
          <a:xfrm>
            <a:off x="8915539" y="4355591"/>
            <a:ext cx="831215" cy="1079500"/>
          </a:xfrm>
          <a:custGeom>
            <a:avLst/>
            <a:gdLst/>
            <a:ahLst/>
            <a:cxnLst/>
            <a:rect l="l" t="t" r="r" b="b"/>
            <a:pathLst>
              <a:path w="831215" h="1079500">
                <a:moveTo>
                  <a:pt x="779252" y="56580"/>
                </a:moveTo>
                <a:lnTo>
                  <a:pt x="754062" y="37249"/>
                </a:lnTo>
                <a:lnTo>
                  <a:pt x="830681" y="0"/>
                </a:lnTo>
                <a:lnTo>
                  <a:pt x="822666" y="41465"/>
                </a:lnTo>
                <a:lnTo>
                  <a:pt x="790854" y="41465"/>
                </a:lnTo>
                <a:lnTo>
                  <a:pt x="779252" y="56580"/>
                </a:lnTo>
                <a:close/>
              </a:path>
              <a:path w="831215" h="1079500">
                <a:moveTo>
                  <a:pt x="789325" y="64311"/>
                </a:moveTo>
                <a:lnTo>
                  <a:pt x="779252" y="56580"/>
                </a:lnTo>
                <a:lnTo>
                  <a:pt x="790854" y="41465"/>
                </a:lnTo>
                <a:lnTo>
                  <a:pt x="800925" y="49199"/>
                </a:lnTo>
                <a:lnTo>
                  <a:pt x="789325" y="64311"/>
                </a:lnTo>
                <a:close/>
              </a:path>
              <a:path w="831215" h="1079500">
                <a:moveTo>
                  <a:pt x="814514" y="83642"/>
                </a:moveTo>
                <a:lnTo>
                  <a:pt x="789325" y="64311"/>
                </a:lnTo>
                <a:lnTo>
                  <a:pt x="800925" y="49199"/>
                </a:lnTo>
                <a:lnTo>
                  <a:pt x="790854" y="41465"/>
                </a:lnTo>
                <a:lnTo>
                  <a:pt x="822666" y="41465"/>
                </a:lnTo>
                <a:lnTo>
                  <a:pt x="814514" y="83642"/>
                </a:lnTo>
                <a:close/>
              </a:path>
              <a:path w="831215" h="1079500">
                <a:moveTo>
                  <a:pt x="10083" y="1079487"/>
                </a:moveTo>
                <a:lnTo>
                  <a:pt x="0" y="1071753"/>
                </a:lnTo>
                <a:lnTo>
                  <a:pt x="779252" y="56580"/>
                </a:lnTo>
                <a:lnTo>
                  <a:pt x="789325" y="64311"/>
                </a:lnTo>
                <a:lnTo>
                  <a:pt x="10083" y="1079487"/>
                </a:lnTo>
                <a:close/>
              </a:path>
            </a:pathLst>
          </a:custGeom>
          <a:solidFill>
            <a:srgbClr val="C00000"/>
          </a:solidFill>
        </p:spPr>
        <p:txBody>
          <a:bodyPr wrap="square" lIns="0" tIns="0" rIns="0" bIns="0" rtlCol="0"/>
          <a:lstStyle/>
          <a:p/>
        </p:txBody>
      </p:sp>
      <p:sp>
        <p:nvSpPr>
          <p:cNvPr id="61" name="object 61"/>
          <p:cNvSpPr/>
          <p:nvPr/>
        </p:nvSpPr>
        <p:spPr>
          <a:xfrm>
            <a:off x="8916657" y="4782426"/>
            <a:ext cx="829944" cy="654050"/>
          </a:xfrm>
          <a:custGeom>
            <a:avLst/>
            <a:gdLst/>
            <a:ahLst/>
            <a:cxnLst/>
            <a:rect l="l" t="t" r="r" b="b"/>
            <a:pathLst>
              <a:path w="829945" h="654050">
                <a:moveTo>
                  <a:pt x="765730" y="42095"/>
                </a:moveTo>
                <a:lnTo>
                  <a:pt x="746112" y="17132"/>
                </a:lnTo>
                <a:lnTo>
                  <a:pt x="829563" y="0"/>
                </a:lnTo>
                <a:lnTo>
                  <a:pt x="815245" y="30327"/>
                </a:lnTo>
                <a:lnTo>
                  <a:pt x="780707" y="30327"/>
                </a:lnTo>
                <a:lnTo>
                  <a:pt x="765730" y="42095"/>
                </a:lnTo>
                <a:close/>
              </a:path>
              <a:path w="829945" h="654050">
                <a:moveTo>
                  <a:pt x="773576" y="52079"/>
                </a:moveTo>
                <a:lnTo>
                  <a:pt x="765730" y="42095"/>
                </a:lnTo>
                <a:lnTo>
                  <a:pt x="780707" y="30327"/>
                </a:lnTo>
                <a:lnTo>
                  <a:pt x="788555" y="40309"/>
                </a:lnTo>
                <a:lnTo>
                  <a:pt x="773576" y="52079"/>
                </a:lnTo>
                <a:close/>
              </a:path>
              <a:path w="829945" h="654050">
                <a:moveTo>
                  <a:pt x="793191" y="77038"/>
                </a:moveTo>
                <a:lnTo>
                  <a:pt x="773576" y="52079"/>
                </a:lnTo>
                <a:lnTo>
                  <a:pt x="788555" y="40309"/>
                </a:lnTo>
                <a:lnTo>
                  <a:pt x="780707" y="30327"/>
                </a:lnTo>
                <a:lnTo>
                  <a:pt x="815245" y="30327"/>
                </a:lnTo>
                <a:lnTo>
                  <a:pt x="793191" y="77038"/>
                </a:lnTo>
                <a:close/>
              </a:path>
              <a:path w="829945" h="654050">
                <a:moveTo>
                  <a:pt x="7848" y="653770"/>
                </a:moveTo>
                <a:lnTo>
                  <a:pt x="0" y="643788"/>
                </a:lnTo>
                <a:lnTo>
                  <a:pt x="765730" y="42095"/>
                </a:lnTo>
                <a:lnTo>
                  <a:pt x="773576" y="52079"/>
                </a:lnTo>
                <a:lnTo>
                  <a:pt x="7848" y="653770"/>
                </a:lnTo>
                <a:close/>
              </a:path>
            </a:pathLst>
          </a:custGeom>
          <a:solidFill>
            <a:srgbClr val="C00000"/>
          </a:solidFill>
        </p:spPr>
        <p:txBody>
          <a:bodyPr wrap="square" lIns="0" tIns="0" rIns="0" bIns="0" rtlCol="0"/>
          <a:lstStyle/>
          <a:p/>
        </p:txBody>
      </p:sp>
      <p:sp>
        <p:nvSpPr>
          <p:cNvPr id="62" name="object 62"/>
          <p:cNvSpPr/>
          <p:nvPr/>
        </p:nvSpPr>
        <p:spPr>
          <a:xfrm>
            <a:off x="8970721" y="5195570"/>
            <a:ext cx="775970" cy="213995"/>
          </a:xfrm>
          <a:custGeom>
            <a:avLst/>
            <a:gdLst/>
            <a:ahLst/>
            <a:cxnLst/>
            <a:rect l="l" t="t" r="r" b="b"/>
            <a:pathLst>
              <a:path w="775970" h="213995">
                <a:moveTo>
                  <a:pt x="699964" y="30847"/>
                </a:moveTo>
                <a:lnTo>
                  <a:pt x="692454" y="0"/>
                </a:lnTo>
                <a:lnTo>
                  <a:pt x="775500" y="18986"/>
                </a:lnTo>
                <a:lnTo>
                  <a:pt x="766813" y="26339"/>
                </a:lnTo>
                <a:lnTo>
                  <a:pt x="718477" y="26339"/>
                </a:lnTo>
                <a:lnTo>
                  <a:pt x="699964" y="30847"/>
                </a:lnTo>
                <a:close/>
              </a:path>
              <a:path w="775970" h="213995">
                <a:moveTo>
                  <a:pt x="702966" y="43178"/>
                </a:moveTo>
                <a:lnTo>
                  <a:pt x="699964" y="30847"/>
                </a:lnTo>
                <a:lnTo>
                  <a:pt x="718477" y="26339"/>
                </a:lnTo>
                <a:lnTo>
                  <a:pt x="721474" y="38671"/>
                </a:lnTo>
                <a:lnTo>
                  <a:pt x="702966" y="43178"/>
                </a:lnTo>
                <a:close/>
              </a:path>
              <a:path w="775970" h="213995">
                <a:moveTo>
                  <a:pt x="710476" y="74028"/>
                </a:moveTo>
                <a:lnTo>
                  <a:pt x="702966" y="43178"/>
                </a:lnTo>
                <a:lnTo>
                  <a:pt x="721474" y="38671"/>
                </a:lnTo>
                <a:lnTo>
                  <a:pt x="718477" y="26339"/>
                </a:lnTo>
                <a:lnTo>
                  <a:pt x="766813" y="26339"/>
                </a:lnTo>
                <a:lnTo>
                  <a:pt x="710476" y="74028"/>
                </a:lnTo>
                <a:close/>
              </a:path>
              <a:path w="775970" h="213995">
                <a:moveTo>
                  <a:pt x="2997" y="213626"/>
                </a:moveTo>
                <a:lnTo>
                  <a:pt x="0" y="201282"/>
                </a:lnTo>
                <a:lnTo>
                  <a:pt x="699964" y="30847"/>
                </a:lnTo>
                <a:lnTo>
                  <a:pt x="702966" y="43178"/>
                </a:lnTo>
                <a:lnTo>
                  <a:pt x="2997" y="213626"/>
                </a:lnTo>
                <a:close/>
              </a:path>
            </a:pathLst>
          </a:custGeom>
          <a:solidFill>
            <a:srgbClr val="C00000"/>
          </a:solidFill>
        </p:spPr>
        <p:txBody>
          <a:bodyPr wrap="square" lIns="0" tIns="0" rIns="0" bIns="0" rtlCol="0"/>
          <a:lstStyle/>
          <a:p/>
        </p:txBody>
      </p:sp>
      <p:sp>
        <p:nvSpPr>
          <p:cNvPr id="63" name="object 63"/>
          <p:cNvSpPr/>
          <p:nvPr/>
        </p:nvSpPr>
        <p:spPr>
          <a:xfrm>
            <a:off x="8946108" y="3915829"/>
            <a:ext cx="800735" cy="1471295"/>
          </a:xfrm>
          <a:custGeom>
            <a:avLst/>
            <a:gdLst/>
            <a:ahLst/>
            <a:cxnLst/>
            <a:rect l="l" t="t" r="r" b="b"/>
            <a:pathLst>
              <a:path w="800734" h="1471295">
                <a:moveTo>
                  <a:pt x="758259" y="63996"/>
                </a:moveTo>
                <a:lnTo>
                  <a:pt x="730338" y="48882"/>
                </a:lnTo>
                <a:lnTo>
                  <a:pt x="800112" y="0"/>
                </a:lnTo>
                <a:lnTo>
                  <a:pt x="798577" y="47231"/>
                </a:lnTo>
                <a:lnTo>
                  <a:pt x="767333" y="47231"/>
                </a:lnTo>
                <a:lnTo>
                  <a:pt x="758259" y="63996"/>
                </a:lnTo>
                <a:close/>
              </a:path>
              <a:path w="800734" h="1471295">
                <a:moveTo>
                  <a:pt x="769428" y="70042"/>
                </a:moveTo>
                <a:lnTo>
                  <a:pt x="758259" y="63996"/>
                </a:lnTo>
                <a:lnTo>
                  <a:pt x="767333" y="47231"/>
                </a:lnTo>
                <a:lnTo>
                  <a:pt x="778497" y="53289"/>
                </a:lnTo>
                <a:lnTo>
                  <a:pt x="769428" y="70042"/>
                </a:lnTo>
                <a:close/>
              </a:path>
              <a:path w="800734" h="1471295">
                <a:moveTo>
                  <a:pt x="797344" y="85153"/>
                </a:moveTo>
                <a:lnTo>
                  <a:pt x="769428" y="70042"/>
                </a:lnTo>
                <a:lnTo>
                  <a:pt x="778497" y="53289"/>
                </a:lnTo>
                <a:lnTo>
                  <a:pt x="767333" y="47231"/>
                </a:lnTo>
                <a:lnTo>
                  <a:pt x="798577" y="47231"/>
                </a:lnTo>
                <a:lnTo>
                  <a:pt x="797344" y="85153"/>
                </a:lnTo>
                <a:close/>
              </a:path>
              <a:path w="800734" h="1471295">
                <a:moveTo>
                  <a:pt x="11163" y="1470837"/>
                </a:moveTo>
                <a:lnTo>
                  <a:pt x="0" y="1464792"/>
                </a:lnTo>
                <a:lnTo>
                  <a:pt x="758259" y="63996"/>
                </a:lnTo>
                <a:lnTo>
                  <a:pt x="769428" y="70042"/>
                </a:lnTo>
                <a:lnTo>
                  <a:pt x="11163" y="1470837"/>
                </a:lnTo>
                <a:close/>
              </a:path>
            </a:pathLst>
          </a:custGeom>
          <a:solidFill>
            <a:srgbClr val="C00000"/>
          </a:solidFill>
        </p:spPr>
        <p:txBody>
          <a:bodyPr wrap="square" lIns="0" tIns="0" rIns="0" bIns="0" rtlCol="0"/>
          <a:lstStyle/>
          <a:p/>
        </p:txBody>
      </p:sp>
      <p:sp>
        <p:nvSpPr>
          <p:cNvPr id="64" name="object 6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5146040" cy="56642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蜂鸟E</a:t>
            </a:r>
            <a:r>
              <a:rPr sz="3600" spc="-5" dirty="0">
                <a:solidFill>
                  <a:srgbClr val="C00000"/>
                </a:solidFill>
              </a:rPr>
              <a:t>203</a:t>
            </a:r>
            <a:r>
              <a:rPr sz="3600" dirty="0">
                <a:solidFill>
                  <a:srgbClr val="C00000"/>
                </a:solidFill>
              </a:rPr>
              <a:t>的中断和异常</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p:nvPr/>
        </p:nvSpPr>
        <p:spPr>
          <a:xfrm>
            <a:off x="6208776" y="2147316"/>
            <a:ext cx="321945" cy="1126490"/>
          </a:xfrm>
          <a:custGeom>
            <a:avLst/>
            <a:gdLst/>
            <a:ahLst/>
            <a:cxnLst/>
            <a:rect l="l" t="t" r="r" b="b"/>
            <a:pathLst>
              <a:path w="321945" h="1126489">
                <a:moveTo>
                  <a:pt x="0" y="0"/>
                </a:moveTo>
                <a:lnTo>
                  <a:pt x="321564" y="0"/>
                </a:lnTo>
                <a:lnTo>
                  <a:pt x="321564" y="1126235"/>
                </a:lnTo>
                <a:lnTo>
                  <a:pt x="0" y="1126235"/>
                </a:lnTo>
                <a:lnTo>
                  <a:pt x="0" y="0"/>
                </a:lnTo>
                <a:close/>
              </a:path>
            </a:pathLst>
          </a:custGeom>
          <a:solidFill>
            <a:srgbClr val="D9D9D9"/>
          </a:solidFill>
        </p:spPr>
        <p:txBody>
          <a:bodyPr wrap="square" lIns="0" tIns="0" rIns="0" bIns="0" rtlCol="0"/>
          <a:lstStyle/>
          <a:p/>
        </p:txBody>
      </p:sp>
      <p:sp>
        <p:nvSpPr>
          <p:cNvPr id="5" name="object 5"/>
          <p:cNvSpPr/>
          <p:nvPr/>
        </p:nvSpPr>
        <p:spPr>
          <a:xfrm>
            <a:off x="6199263" y="2137295"/>
            <a:ext cx="341630" cy="1145540"/>
          </a:xfrm>
          <a:custGeom>
            <a:avLst/>
            <a:gdLst/>
            <a:ahLst/>
            <a:cxnLst/>
            <a:rect l="l" t="t" r="r" b="b"/>
            <a:pathLst>
              <a:path w="341629" h="1145539">
                <a:moveTo>
                  <a:pt x="341185" y="1145273"/>
                </a:moveTo>
                <a:lnTo>
                  <a:pt x="0" y="1145273"/>
                </a:lnTo>
                <a:lnTo>
                  <a:pt x="0" y="0"/>
                </a:lnTo>
                <a:lnTo>
                  <a:pt x="341185" y="0"/>
                </a:lnTo>
                <a:lnTo>
                  <a:pt x="341185" y="9525"/>
                </a:lnTo>
                <a:lnTo>
                  <a:pt x="19050" y="9525"/>
                </a:lnTo>
                <a:lnTo>
                  <a:pt x="9525" y="19050"/>
                </a:lnTo>
                <a:lnTo>
                  <a:pt x="19050" y="19050"/>
                </a:lnTo>
                <a:lnTo>
                  <a:pt x="19050" y="1126223"/>
                </a:lnTo>
                <a:lnTo>
                  <a:pt x="9525" y="1126223"/>
                </a:lnTo>
                <a:lnTo>
                  <a:pt x="19050" y="1135748"/>
                </a:lnTo>
                <a:lnTo>
                  <a:pt x="341185" y="1135748"/>
                </a:lnTo>
                <a:lnTo>
                  <a:pt x="341185" y="1145273"/>
                </a:lnTo>
                <a:close/>
              </a:path>
              <a:path w="341629" h="1145539">
                <a:moveTo>
                  <a:pt x="19050" y="19050"/>
                </a:moveTo>
                <a:lnTo>
                  <a:pt x="9525" y="19050"/>
                </a:lnTo>
                <a:lnTo>
                  <a:pt x="19050" y="9525"/>
                </a:lnTo>
                <a:lnTo>
                  <a:pt x="19050" y="19050"/>
                </a:lnTo>
                <a:close/>
              </a:path>
              <a:path w="341629" h="1145539">
                <a:moveTo>
                  <a:pt x="322135" y="19050"/>
                </a:moveTo>
                <a:lnTo>
                  <a:pt x="19050" y="19050"/>
                </a:lnTo>
                <a:lnTo>
                  <a:pt x="19050" y="9525"/>
                </a:lnTo>
                <a:lnTo>
                  <a:pt x="322135" y="9525"/>
                </a:lnTo>
                <a:lnTo>
                  <a:pt x="322135" y="19050"/>
                </a:lnTo>
                <a:close/>
              </a:path>
              <a:path w="341629" h="1145539">
                <a:moveTo>
                  <a:pt x="322135" y="1135748"/>
                </a:moveTo>
                <a:lnTo>
                  <a:pt x="322135" y="9525"/>
                </a:lnTo>
                <a:lnTo>
                  <a:pt x="331660" y="19050"/>
                </a:lnTo>
                <a:lnTo>
                  <a:pt x="341185" y="19050"/>
                </a:lnTo>
                <a:lnTo>
                  <a:pt x="341185" y="1126223"/>
                </a:lnTo>
                <a:lnTo>
                  <a:pt x="331660" y="1126223"/>
                </a:lnTo>
                <a:lnTo>
                  <a:pt x="322135" y="1135748"/>
                </a:lnTo>
                <a:close/>
              </a:path>
              <a:path w="341629" h="1145539">
                <a:moveTo>
                  <a:pt x="341185" y="19050"/>
                </a:moveTo>
                <a:lnTo>
                  <a:pt x="331660" y="19050"/>
                </a:lnTo>
                <a:lnTo>
                  <a:pt x="322135" y="9525"/>
                </a:lnTo>
                <a:lnTo>
                  <a:pt x="341185" y="9525"/>
                </a:lnTo>
                <a:lnTo>
                  <a:pt x="341185" y="19050"/>
                </a:lnTo>
                <a:close/>
              </a:path>
              <a:path w="341629" h="1145539">
                <a:moveTo>
                  <a:pt x="19050" y="1135748"/>
                </a:moveTo>
                <a:lnTo>
                  <a:pt x="9525" y="1126223"/>
                </a:lnTo>
                <a:lnTo>
                  <a:pt x="19050" y="1126223"/>
                </a:lnTo>
                <a:lnTo>
                  <a:pt x="19050" y="1135748"/>
                </a:lnTo>
                <a:close/>
              </a:path>
              <a:path w="341629" h="1145539">
                <a:moveTo>
                  <a:pt x="322135" y="1135748"/>
                </a:moveTo>
                <a:lnTo>
                  <a:pt x="19050" y="1135748"/>
                </a:lnTo>
                <a:lnTo>
                  <a:pt x="19050" y="1126223"/>
                </a:lnTo>
                <a:lnTo>
                  <a:pt x="322135" y="1126223"/>
                </a:lnTo>
                <a:lnTo>
                  <a:pt x="322135" y="1135748"/>
                </a:lnTo>
                <a:close/>
              </a:path>
              <a:path w="341629" h="1145539">
                <a:moveTo>
                  <a:pt x="341185" y="1135748"/>
                </a:moveTo>
                <a:lnTo>
                  <a:pt x="322135" y="1135748"/>
                </a:lnTo>
                <a:lnTo>
                  <a:pt x="331660" y="1126223"/>
                </a:lnTo>
                <a:lnTo>
                  <a:pt x="341185" y="1126223"/>
                </a:lnTo>
                <a:lnTo>
                  <a:pt x="341185" y="1135748"/>
                </a:lnTo>
                <a:close/>
              </a:path>
            </a:pathLst>
          </a:custGeom>
          <a:solidFill>
            <a:srgbClr val="C00000"/>
          </a:solidFill>
        </p:spPr>
        <p:txBody>
          <a:bodyPr wrap="square" lIns="0" tIns="0" rIns="0" bIns="0" rtlCol="0"/>
          <a:lstStyle/>
          <a:p/>
        </p:txBody>
      </p:sp>
      <p:sp>
        <p:nvSpPr>
          <p:cNvPr id="6" name="object 6"/>
          <p:cNvSpPr/>
          <p:nvPr/>
        </p:nvSpPr>
        <p:spPr>
          <a:xfrm>
            <a:off x="6228588" y="3073907"/>
            <a:ext cx="288290" cy="200025"/>
          </a:xfrm>
          <a:custGeom>
            <a:avLst/>
            <a:gdLst/>
            <a:ahLst/>
            <a:cxnLst/>
            <a:rect l="l" t="t" r="r" b="b"/>
            <a:pathLst>
              <a:path w="288290" h="200025">
                <a:moveTo>
                  <a:pt x="288036" y="199644"/>
                </a:moveTo>
                <a:lnTo>
                  <a:pt x="0" y="199644"/>
                </a:lnTo>
                <a:lnTo>
                  <a:pt x="143256" y="0"/>
                </a:lnTo>
                <a:lnTo>
                  <a:pt x="288036" y="199644"/>
                </a:lnTo>
                <a:close/>
              </a:path>
            </a:pathLst>
          </a:custGeom>
          <a:solidFill>
            <a:srgbClr val="C00000"/>
          </a:solidFill>
        </p:spPr>
        <p:txBody>
          <a:bodyPr wrap="square" lIns="0" tIns="0" rIns="0" bIns="0" rtlCol="0"/>
          <a:lstStyle/>
          <a:p/>
        </p:txBody>
      </p:sp>
      <p:sp>
        <p:nvSpPr>
          <p:cNvPr id="7" name="object 7"/>
          <p:cNvSpPr/>
          <p:nvPr/>
        </p:nvSpPr>
        <p:spPr>
          <a:xfrm>
            <a:off x="6209576" y="3057575"/>
            <a:ext cx="326390" cy="225425"/>
          </a:xfrm>
          <a:custGeom>
            <a:avLst/>
            <a:gdLst/>
            <a:ahLst/>
            <a:cxnLst/>
            <a:rect l="l" t="t" r="r" b="b"/>
            <a:pathLst>
              <a:path w="326390" h="225425">
                <a:moveTo>
                  <a:pt x="326034" y="224993"/>
                </a:moveTo>
                <a:lnTo>
                  <a:pt x="0" y="224993"/>
                </a:lnTo>
                <a:lnTo>
                  <a:pt x="163017" y="0"/>
                </a:lnTo>
                <a:lnTo>
                  <a:pt x="178825" y="21818"/>
                </a:lnTo>
                <a:lnTo>
                  <a:pt x="155308" y="21818"/>
                </a:lnTo>
                <a:lnTo>
                  <a:pt x="163023" y="32467"/>
                </a:lnTo>
                <a:lnTo>
                  <a:pt x="37328" y="205943"/>
                </a:lnTo>
                <a:lnTo>
                  <a:pt x="18669" y="205943"/>
                </a:lnTo>
                <a:lnTo>
                  <a:pt x="26377" y="221056"/>
                </a:lnTo>
                <a:lnTo>
                  <a:pt x="323181" y="221056"/>
                </a:lnTo>
                <a:lnTo>
                  <a:pt x="326034" y="224993"/>
                </a:lnTo>
                <a:close/>
              </a:path>
              <a:path w="326390" h="225425">
                <a:moveTo>
                  <a:pt x="163023" y="32467"/>
                </a:moveTo>
                <a:lnTo>
                  <a:pt x="155308" y="21818"/>
                </a:lnTo>
                <a:lnTo>
                  <a:pt x="170738" y="21818"/>
                </a:lnTo>
                <a:lnTo>
                  <a:pt x="163023" y="32467"/>
                </a:lnTo>
                <a:close/>
              </a:path>
              <a:path w="326390" h="225425">
                <a:moveTo>
                  <a:pt x="299656" y="221056"/>
                </a:moveTo>
                <a:lnTo>
                  <a:pt x="163023" y="32467"/>
                </a:lnTo>
                <a:lnTo>
                  <a:pt x="170738" y="21818"/>
                </a:lnTo>
                <a:lnTo>
                  <a:pt x="178825" y="21818"/>
                </a:lnTo>
                <a:lnTo>
                  <a:pt x="312231" y="205943"/>
                </a:lnTo>
                <a:lnTo>
                  <a:pt x="307378" y="205943"/>
                </a:lnTo>
                <a:lnTo>
                  <a:pt x="299656" y="221056"/>
                </a:lnTo>
                <a:close/>
              </a:path>
              <a:path w="326390" h="225425">
                <a:moveTo>
                  <a:pt x="26377" y="221056"/>
                </a:moveTo>
                <a:lnTo>
                  <a:pt x="18669" y="205943"/>
                </a:lnTo>
                <a:lnTo>
                  <a:pt x="37328" y="205943"/>
                </a:lnTo>
                <a:lnTo>
                  <a:pt x="26377" y="221056"/>
                </a:lnTo>
                <a:close/>
              </a:path>
              <a:path w="326390" h="225425">
                <a:moveTo>
                  <a:pt x="299656" y="221056"/>
                </a:moveTo>
                <a:lnTo>
                  <a:pt x="26377" y="221056"/>
                </a:lnTo>
                <a:lnTo>
                  <a:pt x="37328" y="205943"/>
                </a:lnTo>
                <a:lnTo>
                  <a:pt x="288707" y="205943"/>
                </a:lnTo>
                <a:lnTo>
                  <a:pt x="299656" y="221056"/>
                </a:lnTo>
                <a:close/>
              </a:path>
              <a:path w="326390" h="225425">
                <a:moveTo>
                  <a:pt x="323181" y="221056"/>
                </a:moveTo>
                <a:lnTo>
                  <a:pt x="299656" y="221056"/>
                </a:lnTo>
                <a:lnTo>
                  <a:pt x="307378" y="205943"/>
                </a:lnTo>
                <a:lnTo>
                  <a:pt x="312231" y="205943"/>
                </a:lnTo>
                <a:lnTo>
                  <a:pt x="323181" y="221056"/>
                </a:lnTo>
                <a:close/>
              </a:path>
            </a:pathLst>
          </a:custGeom>
          <a:solidFill>
            <a:srgbClr val="C00000"/>
          </a:solidFill>
        </p:spPr>
        <p:txBody>
          <a:bodyPr wrap="square" lIns="0" tIns="0" rIns="0" bIns="0" rtlCol="0"/>
          <a:lstStyle/>
          <a:p/>
        </p:txBody>
      </p:sp>
      <p:sp>
        <p:nvSpPr>
          <p:cNvPr id="8" name="object 8"/>
          <p:cNvSpPr txBox="1"/>
          <p:nvPr/>
        </p:nvSpPr>
        <p:spPr>
          <a:xfrm>
            <a:off x="6318859" y="2439454"/>
            <a:ext cx="107314" cy="391160"/>
          </a:xfrm>
          <a:prstGeom prst="rect">
            <a:avLst/>
          </a:prstGeom>
        </p:spPr>
        <p:txBody>
          <a:bodyPr vert="horz" wrap="square" lIns="0" tIns="12700" rIns="0" bIns="0" rtlCol="0">
            <a:spAutoFit/>
          </a:bodyPr>
          <a:lstStyle/>
          <a:p>
            <a:pPr marL="13335" marR="5080" indent="-635">
              <a:lnSpc>
                <a:spcPct val="100000"/>
              </a:lnSpc>
              <a:spcBef>
                <a:spcPts val="100"/>
              </a:spcBef>
            </a:pPr>
            <a:r>
              <a:rPr sz="1200" b="1" dirty="0">
                <a:solidFill>
                  <a:srgbClr val="C00000"/>
                </a:solidFill>
                <a:latin typeface="Calibri" panose="020F0502020204030204"/>
                <a:cs typeface="Calibri" panose="020F0502020204030204"/>
              </a:rPr>
              <a:t>P  C</a:t>
            </a:r>
            <a:endParaRPr sz="1200">
              <a:latin typeface="Calibri" panose="020F0502020204030204"/>
              <a:cs typeface="Calibri" panose="020F0502020204030204"/>
            </a:endParaRPr>
          </a:p>
        </p:txBody>
      </p:sp>
      <p:sp>
        <p:nvSpPr>
          <p:cNvPr id="9" name="object 9"/>
          <p:cNvSpPr/>
          <p:nvPr/>
        </p:nvSpPr>
        <p:spPr>
          <a:xfrm>
            <a:off x="6219444" y="4002023"/>
            <a:ext cx="321945" cy="1126490"/>
          </a:xfrm>
          <a:custGeom>
            <a:avLst/>
            <a:gdLst/>
            <a:ahLst/>
            <a:cxnLst/>
            <a:rect l="l" t="t" r="r" b="b"/>
            <a:pathLst>
              <a:path w="321945" h="1126489">
                <a:moveTo>
                  <a:pt x="0" y="0"/>
                </a:moveTo>
                <a:lnTo>
                  <a:pt x="321564" y="0"/>
                </a:lnTo>
                <a:lnTo>
                  <a:pt x="321564" y="1126236"/>
                </a:lnTo>
                <a:lnTo>
                  <a:pt x="0" y="1126236"/>
                </a:lnTo>
                <a:lnTo>
                  <a:pt x="0" y="0"/>
                </a:lnTo>
                <a:close/>
              </a:path>
            </a:pathLst>
          </a:custGeom>
          <a:solidFill>
            <a:srgbClr val="D9D9D9"/>
          </a:solidFill>
        </p:spPr>
        <p:txBody>
          <a:bodyPr wrap="square" lIns="0" tIns="0" rIns="0" bIns="0" rtlCol="0"/>
          <a:lstStyle/>
          <a:p/>
        </p:txBody>
      </p:sp>
      <p:sp>
        <p:nvSpPr>
          <p:cNvPr id="10" name="object 10"/>
          <p:cNvSpPr/>
          <p:nvPr/>
        </p:nvSpPr>
        <p:spPr>
          <a:xfrm>
            <a:off x="6209601" y="3991876"/>
            <a:ext cx="341630" cy="1145540"/>
          </a:xfrm>
          <a:custGeom>
            <a:avLst/>
            <a:gdLst/>
            <a:ahLst/>
            <a:cxnLst/>
            <a:rect l="l" t="t" r="r" b="b"/>
            <a:pathLst>
              <a:path w="341629" h="1145539">
                <a:moveTo>
                  <a:pt x="341185" y="1145285"/>
                </a:moveTo>
                <a:lnTo>
                  <a:pt x="0" y="1145285"/>
                </a:lnTo>
                <a:lnTo>
                  <a:pt x="0" y="0"/>
                </a:lnTo>
                <a:lnTo>
                  <a:pt x="341185" y="0"/>
                </a:lnTo>
                <a:lnTo>
                  <a:pt x="341185" y="9525"/>
                </a:lnTo>
                <a:lnTo>
                  <a:pt x="19050" y="9525"/>
                </a:lnTo>
                <a:lnTo>
                  <a:pt x="9525" y="19050"/>
                </a:lnTo>
                <a:lnTo>
                  <a:pt x="19050" y="19050"/>
                </a:lnTo>
                <a:lnTo>
                  <a:pt x="19050" y="1126235"/>
                </a:lnTo>
                <a:lnTo>
                  <a:pt x="9525" y="1126235"/>
                </a:lnTo>
                <a:lnTo>
                  <a:pt x="19050" y="1135760"/>
                </a:lnTo>
                <a:lnTo>
                  <a:pt x="341185" y="1135760"/>
                </a:lnTo>
                <a:lnTo>
                  <a:pt x="341185" y="1145285"/>
                </a:lnTo>
                <a:close/>
              </a:path>
              <a:path w="341629" h="1145539">
                <a:moveTo>
                  <a:pt x="19050" y="19050"/>
                </a:moveTo>
                <a:lnTo>
                  <a:pt x="9525" y="19050"/>
                </a:lnTo>
                <a:lnTo>
                  <a:pt x="19050" y="9525"/>
                </a:lnTo>
                <a:lnTo>
                  <a:pt x="19050" y="19050"/>
                </a:lnTo>
                <a:close/>
              </a:path>
              <a:path w="341629" h="1145539">
                <a:moveTo>
                  <a:pt x="322135" y="19050"/>
                </a:moveTo>
                <a:lnTo>
                  <a:pt x="19050" y="19050"/>
                </a:lnTo>
                <a:lnTo>
                  <a:pt x="19050" y="9525"/>
                </a:lnTo>
                <a:lnTo>
                  <a:pt x="322135" y="9525"/>
                </a:lnTo>
                <a:lnTo>
                  <a:pt x="322135" y="19050"/>
                </a:lnTo>
                <a:close/>
              </a:path>
              <a:path w="341629" h="1145539">
                <a:moveTo>
                  <a:pt x="322135" y="1135760"/>
                </a:moveTo>
                <a:lnTo>
                  <a:pt x="322135" y="9525"/>
                </a:lnTo>
                <a:lnTo>
                  <a:pt x="331660" y="19050"/>
                </a:lnTo>
                <a:lnTo>
                  <a:pt x="341185" y="19050"/>
                </a:lnTo>
                <a:lnTo>
                  <a:pt x="341185" y="1126235"/>
                </a:lnTo>
                <a:lnTo>
                  <a:pt x="331660" y="1126235"/>
                </a:lnTo>
                <a:lnTo>
                  <a:pt x="322135" y="1135760"/>
                </a:lnTo>
                <a:close/>
              </a:path>
              <a:path w="341629" h="1145539">
                <a:moveTo>
                  <a:pt x="341185" y="19050"/>
                </a:moveTo>
                <a:lnTo>
                  <a:pt x="331660" y="19050"/>
                </a:lnTo>
                <a:lnTo>
                  <a:pt x="322135" y="9525"/>
                </a:lnTo>
                <a:lnTo>
                  <a:pt x="341185" y="9525"/>
                </a:lnTo>
                <a:lnTo>
                  <a:pt x="341185" y="19050"/>
                </a:lnTo>
                <a:close/>
              </a:path>
              <a:path w="341629" h="1145539">
                <a:moveTo>
                  <a:pt x="19050" y="1135760"/>
                </a:moveTo>
                <a:lnTo>
                  <a:pt x="9525" y="1126235"/>
                </a:lnTo>
                <a:lnTo>
                  <a:pt x="19050" y="1126235"/>
                </a:lnTo>
                <a:lnTo>
                  <a:pt x="19050" y="1135760"/>
                </a:lnTo>
                <a:close/>
              </a:path>
              <a:path w="341629" h="1145539">
                <a:moveTo>
                  <a:pt x="322135" y="1135760"/>
                </a:moveTo>
                <a:lnTo>
                  <a:pt x="19050" y="1135760"/>
                </a:lnTo>
                <a:lnTo>
                  <a:pt x="19050" y="1126235"/>
                </a:lnTo>
                <a:lnTo>
                  <a:pt x="322135" y="1126235"/>
                </a:lnTo>
                <a:lnTo>
                  <a:pt x="322135" y="1135760"/>
                </a:lnTo>
                <a:close/>
              </a:path>
              <a:path w="341629" h="1145539">
                <a:moveTo>
                  <a:pt x="341185" y="1135760"/>
                </a:moveTo>
                <a:lnTo>
                  <a:pt x="322135" y="1135760"/>
                </a:lnTo>
                <a:lnTo>
                  <a:pt x="331660" y="1126235"/>
                </a:lnTo>
                <a:lnTo>
                  <a:pt x="341185" y="1126235"/>
                </a:lnTo>
                <a:lnTo>
                  <a:pt x="341185" y="1135760"/>
                </a:lnTo>
                <a:close/>
              </a:path>
            </a:pathLst>
          </a:custGeom>
          <a:solidFill>
            <a:srgbClr val="C00000"/>
          </a:solidFill>
        </p:spPr>
        <p:txBody>
          <a:bodyPr wrap="square" lIns="0" tIns="0" rIns="0" bIns="0" rtlCol="0"/>
          <a:lstStyle/>
          <a:p/>
        </p:txBody>
      </p:sp>
      <p:sp>
        <p:nvSpPr>
          <p:cNvPr id="11" name="object 11"/>
          <p:cNvSpPr/>
          <p:nvPr/>
        </p:nvSpPr>
        <p:spPr>
          <a:xfrm>
            <a:off x="6239255" y="4928615"/>
            <a:ext cx="288290" cy="200025"/>
          </a:xfrm>
          <a:custGeom>
            <a:avLst/>
            <a:gdLst/>
            <a:ahLst/>
            <a:cxnLst/>
            <a:rect l="l" t="t" r="r" b="b"/>
            <a:pathLst>
              <a:path w="288290" h="200025">
                <a:moveTo>
                  <a:pt x="288036" y="199644"/>
                </a:moveTo>
                <a:lnTo>
                  <a:pt x="0" y="199644"/>
                </a:lnTo>
                <a:lnTo>
                  <a:pt x="143256" y="0"/>
                </a:lnTo>
                <a:lnTo>
                  <a:pt x="288036" y="199644"/>
                </a:lnTo>
                <a:close/>
              </a:path>
            </a:pathLst>
          </a:custGeom>
          <a:solidFill>
            <a:srgbClr val="C00000"/>
          </a:solidFill>
        </p:spPr>
        <p:txBody>
          <a:bodyPr wrap="square" lIns="0" tIns="0" rIns="0" bIns="0" rtlCol="0"/>
          <a:lstStyle/>
          <a:p/>
        </p:txBody>
      </p:sp>
      <p:sp>
        <p:nvSpPr>
          <p:cNvPr id="12" name="object 12"/>
          <p:cNvSpPr/>
          <p:nvPr/>
        </p:nvSpPr>
        <p:spPr>
          <a:xfrm>
            <a:off x="6219913" y="4912156"/>
            <a:ext cx="326390" cy="225425"/>
          </a:xfrm>
          <a:custGeom>
            <a:avLst/>
            <a:gdLst/>
            <a:ahLst/>
            <a:cxnLst/>
            <a:rect l="l" t="t" r="r" b="b"/>
            <a:pathLst>
              <a:path w="326390" h="225425">
                <a:moveTo>
                  <a:pt x="326034" y="225005"/>
                </a:moveTo>
                <a:lnTo>
                  <a:pt x="0" y="225005"/>
                </a:lnTo>
                <a:lnTo>
                  <a:pt x="163017" y="0"/>
                </a:lnTo>
                <a:lnTo>
                  <a:pt x="178834" y="21831"/>
                </a:lnTo>
                <a:lnTo>
                  <a:pt x="155295" y="21831"/>
                </a:lnTo>
                <a:lnTo>
                  <a:pt x="163011" y="32479"/>
                </a:lnTo>
                <a:lnTo>
                  <a:pt x="37327" y="205955"/>
                </a:lnTo>
                <a:lnTo>
                  <a:pt x="18656" y="205955"/>
                </a:lnTo>
                <a:lnTo>
                  <a:pt x="26377" y="221068"/>
                </a:lnTo>
                <a:lnTo>
                  <a:pt x="323182" y="221068"/>
                </a:lnTo>
                <a:lnTo>
                  <a:pt x="326034" y="225005"/>
                </a:lnTo>
                <a:close/>
              </a:path>
              <a:path w="326390" h="225425">
                <a:moveTo>
                  <a:pt x="163011" y="32479"/>
                </a:moveTo>
                <a:lnTo>
                  <a:pt x="155295" y="21831"/>
                </a:lnTo>
                <a:lnTo>
                  <a:pt x="170726" y="21831"/>
                </a:lnTo>
                <a:lnTo>
                  <a:pt x="163011" y="32479"/>
                </a:lnTo>
                <a:close/>
              </a:path>
              <a:path w="326390" h="225425">
                <a:moveTo>
                  <a:pt x="299656" y="221068"/>
                </a:moveTo>
                <a:lnTo>
                  <a:pt x="163011" y="32479"/>
                </a:lnTo>
                <a:lnTo>
                  <a:pt x="170726" y="21831"/>
                </a:lnTo>
                <a:lnTo>
                  <a:pt x="178834" y="21831"/>
                </a:lnTo>
                <a:lnTo>
                  <a:pt x="312232" y="205955"/>
                </a:lnTo>
                <a:lnTo>
                  <a:pt x="307365" y="205955"/>
                </a:lnTo>
                <a:lnTo>
                  <a:pt x="299656" y="221068"/>
                </a:lnTo>
                <a:close/>
              </a:path>
              <a:path w="326390" h="225425">
                <a:moveTo>
                  <a:pt x="26377" y="221068"/>
                </a:moveTo>
                <a:lnTo>
                  <a:pt x="18656" y="205955"/>
                </a:lnTo>
                <a:lnTo>
                  <a:pt x="37327" y="205955"/>
                </a:lnTo>
                <a:lnTo>
                  <a:pt x="26377" y="221068"/>
                </a:lnTo>
                <a:close/>
              </a:path>
              <a:path w="326390" h="225425">
                <a:moveTo>
                  <a:pt x="299656" y="221068"/>
                </a:moveTo>
                <a:lnTo>
                  <a:pt x="26377" y="221068"/>
                </a:lnTo>
                <a:lnTo>
                  <a:pt x="37327" y="205955"/>
                </a:lnTo>
                <a:lnTo>
                  <a:pt x="288706" y="205955"/>
                </a:lnTo>
                <a:lnTo>
                  <a:pt x="299656" y="221068"/>
                </a:lnTo>
                <a:close/>
              </a:path>
              <a:path w="326390" h="225425">
                <a:moveTo>
                  <a:pt x="323182" y="221068"/>
                </a:moveTo>
                <a:lnTo>
                  <a:pt x="299656" y="221068"/>
                </a:lnTo>
                <a:lnTo>
                  <a:pt x="307365" y="205955"/>
                </a:lnTo>
                <a:lnTo>
                  <a:pt x="312232" y="205955"/>
                </a:lnTo>
                <a:lnTo>
                  <a:pt x="323182" y="221068"/>
                </a:lnTo>
                <a:close/>
              </a:path>
            </a:pathLst>
          </a:custGeom>
          <a:solidFill>
            <a:srgbClr val="C00000"/>
          </a:solidFill>
        </p:spPr>
        <p:txBody>
          <a:bodyPr wrap="square" lIns="0" tIns="0" rIns="0" bIns="0" rtlCol="0"/>
          <a:lstStyle/>
          <a:p/>
        </p:txBody>
      </p:sp>
      <p:sp>
        <p:nvSpPr>
          <p:cNvPr id="13" name="object 13"/>
          <p:cNvSpPr txBox="1"/>
          <p:nvPr/>
        </p:nvSpPr>
        <p:spPr>
          <a:xfrm>
            <a:off x="6306972" y="4385474"/>
            <a:ext cx="1524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C00000"/>
                </a:solidFill>
                <a:latin typeface="Calibri" panose="020F0502020204030204"/>
                <a:cs typeface="Calibri" panose="020F0502020204030204"/>
              </a:rPr>
              <a:t>IR</a:t>
            </a:r>
            <a:endParaRPr sz="1200">
              <a:latin typeface="Calibri" panose="020F0502020204030204"/>
              <a:cs typeface="Calibri" panose="020F0502020204030204"/>
            </a:endParaRPr>
          </a:p>
        </p:txBody>
      </p:sp>
      <p:sp>
        <p:nvSpPr>
          <p:cNvPr id="14" name="object 14"/>
          <p:cNvSpPr/>
          <p:nvPr/>
        </p:nvSpPr>
        <p:spPr>
          <a:xfrm>
            <a:off x="6792582" y="2132533"/>
            <a:ext cx="4890135" cy="3006090"/>
          </a:xfrm>
          <a:custGeom>
            <a:avLst/>
            <a:gdLst/>
            <a:ahLst/>
            <a:cxnLst/>
            <a:rect l="l" t="t" r="r" b="b"/>
            <a:pathLst>
              <a:path w="4890134" h="3006090">
                <a:moveTo>
                  <a:pt x="4889792" y="3005810"/>
                </a:moveTo>
                <a:lnTo>
                  <a:pt x="0" y="3005810"/>
                </a:lnTo>
                <a:lnTo>
                  <a:pt x="0" y="0"/>
                </a:lnTo>
                <a:lnTo>
                  <a:pt x="4889792" y="0"/>
                </a:lnTo>
                <a:lnTo>
                  <a:pt x="4889792" y="14287"/>
                </a:lnTo>
                <a:lnTo>
                  <a:pt x="28575" y="14287"/>
                </a:lnTo>
                <a:lnTo>
                  <a:pt x="14287" y="28575"/>
                </a:lnTo>
                <a:lnTo>
                  <a:pt x="28575" y="28575"/>
                </a:lnTo>
                <a:lnTo>
                  <a:pt x="28575" y="2977235"/>
                </a:lnTo>
                <a:lnTo>
                  <a:pt x="14287" y="2977235"/>
                </a:lnTo>
                <a:lnTo>
                  <a:pt x="28575" y="2991523"/>
                </a:lnTo>
                <a:lnTo>
                  <a:pt x="4889792" y="2991523"/>
                </a:lnTo>
                <a:lnTo>
                  <a:pt x="4889792" y="3005810"/>
                </a:lnTo>
                <a:close/>
              </a:path>
              <a:path w="4890134" h="3006090">
                <a:moveTo>
                  <a:pt x="28575" y="28575"/>
                </a:moveTo>
                <a:lnTo>
                  <a:pt x="14287" y="28575"/>
                </a:lnTo>
                <a:lnTo>
                  <a:pt x="28575" y="14287"/>
                </a:lnTo>
                <a:lnTo>
                  <a:pt x="28575" y="28575"/>
                </a:lnTo>
                <a:close/>
              </a:path>
              <a:path w="4890134" h="3006090">
                <a:moveTo>
                  <a:pt x="4861217" y="28575"/>
                </a:moveTo>
                <a:lnTo>
                  <a:pt x="28575" y="28575"/>
                </a:lnTo>
                <a:lnTo>
                  <a:pt x="28575" y="14287"/>
                </a:lnTo>
                <a:lnTo>
                  <a:pt x="4861217" y="14287"/>
                </a:lnTo>
                <a:lnTo>
                  <a:pt x="4861217" y="28575"/>
                </a:lnTo>
                <a:close/>
              </a:path>
              <a:path w="4890134" h="3006090">
                <a:moveTo>
                  <a:pt x="4861217" y="2991523"/>
                </a:moveTo>
                <a:lnTo>
                  <a:pt x="4861217" y="14287"/>
                </a:lnTo>
                <a:lnTo>
                  <a:pt x="4875504" y="28575"/>
                </a:lnTo>
                <a:lnTo>
                  <a:pt x="4889792" y="28575"/>
                </a:lnTo>
                <a:lnTo>
                  <a:pt x="4889792" y="2977235"/>
                </a:lnTo>
                <a:lnTo>
                  <a:pt x="4875504" y="2977235"/>
                </a:lnTo>
                <a:lnTo>
                  <a:pt x="4861217" y="2991523"/>
                </a:lnTo>
                <a:close/>
              </a:path>
              <a:path w="4890134" h="3006090">
                <a:moveTo>
                  <a:pt x="4889792" y="28575"/>
                </a:moveTo>
                <a:lnTo>
                  <a:pt x="4875504" y="28575"/>
                </a:lnTo>
                <a:lnTo>
                  <a:pt x="4861217" y="14287"/>
                </a:lnTo>
                <a:lnTo>
                  <a:pt x="4889792" y="14287"/>
                </a:lnTo>
                <a:lnTo>
                  <a:pt x="4889792" y="28575"/>
                </a:lnTo>
                <a:close/>
              </a:path>
              <a:path w="4890134" h="3006090">
                <a:moveTo>
                  <a:pt x="28575" y="2991523"/>
                </a:moveTo>
                <a:lnTo>
                  <a:pt x="14287" y="2977235"/>
                </a:lnTo>
                <a:lnTo>
                  <a:pt x="28575" y="2977235"/>
                </a:lnTo>
                <a:lnTo>
                  <a:pt x="28575" y="2991523"/>
                </a:lnTo>
                <a:close/>
              </a:path>
              <a:path w="4890134" h="3006090">
                <a:moveTo>
                  <a:pt x="4861217" y="2991523"/>
                </a:moveTo>
                <a:lnTo>
                  <a:pt x="28575" y="2991523"/>
                </a:lnTo>
                <a:lnTo>
                  <a:pt x="28575" y="2977235"/>
                </a:lnTo>
                <a:lnTo>
                  <a:pt x="4861217" y="2977235"/>
                </a:lnTo>
                <a:lnTo>
                  <a:pt x="4861217" y="2991523"/>
                </a:lnTo>
                <a:close/>
              </a:path>
              <a:path w="4890134" h="3006090">
                <a:moveTo>
                  <a:pt x="4889792" y="2991523"/>
                </a:moveTo>
                <a:lnTo>
                  <a:pt x="4861217" y="2991523"/>
                </a:lnTo>
                <a:lnTo>
                  <a:pt x="4875504" y="2977235"/>
                </a:lnTo>
                <a:lnTo>
                  <a:pt x="4889792" y="2977235"/>
                </a:lnTo>
                <a:lnTo>
                  <a:pt x="4889792" y="2991523"/>
                </a:lnTo>
                <a:close/>
              </a:path>
            </a:pathLst>
          </a:custGeom>
          <a:solidFill>
            <a:srgbClr val="C00000"/>
          </a:solidFill>
        </p:spPr>
        <p:txBody>
          <a:bodyPr wrap="square" lIns="0" tIns="0" rIns="0" bIns="0" rtlCol="0"/>
          <a:lstStyle/>
          <a:p/>
        </p:txBody>
      </p:sp>
      <p:sp>
        <p:nvSpPr>
          <p:cNvPr id="15" name="object 15"/>
          <p:cNvSpPr txBox="1"/>
          <p:nvPr/>
        </p:nvSpPr>
        <p:spPr>
          <a:xfrm>
            <a:off x="10739335" y="2127034"/>
            <a:ext cx="626110" cy="451484"/>
          </a:xfrm>
          <a:prstGeom prst="rect">
            <a:avLst/>
          </a:prstGeom>
        </p:spPr>
        <p:txBody>
          <a:bodyPr vert="horz" wrap="square" lIns="0" tIns="12065" rIns="0" bIns="0" rtlCol="0">
            <a:spAutoFit/>
          </a:bodyPr>
          <a:lstStyle/>
          <a:p>
            <a:pPr marL="12700">
              <a:lnSpc>
                <a:spcPct val="100000"/>
              </a:lnSpc>
              <a:spcBef>
                <a:spcPts val="95"/>
              </a:spcBef>
            </a:pPr>
            <a:r>
              <a:rPr sz="2800" b="1" spc="-5" dirty="0">
                <a:solidFill>
                  <a:srgbClr val="C00000"/>
                </a:solidFill>
                <a:latin typeface="Calibri" panose="020F0502020204030204"/>
                <a:cs typeface="Calibri" panose="020F0502020204030204"/>
              </a:rPr>
              <a:t>EXU</a:t>
            </a:r>
            <a:endParaRPr sz="2800">
              <a:latin typeface="Calibri" panose="020F0502020204030204"/>
              <a:cs typeface="Calibri" panose="020F0502020204030204"/>
            </a:endParaRPr>
          </a:p>
        </p:txBody>
      </p:sp>
      <p:sp>
        <p:nvSpPr>
          <p:cNvPr id="16" name="object 16"/>
          <p:cNvSpPr/>
          <p:nvPr/>
        </p:nvSpPr>
        <p:spPr>
          <a:xfrm>
            <a:off x="5990590" y="990434"/>
            <a:ext cx="5538495" cy="5158232"/>
          </a:xfrm>
          <a:prstGeom prst="rect">
            <a:avLst/>
          </a:prstGeom>
          <a:blipFill>
            <a:blip r:embed="rId1" cstate="print"/>
            <a:stretch>
              <a:fillRect/>
            </a:stretch>
          </a:blipFill>
        </p:spPr>
        <p:txBody>
          <a:bodyPr wrap="square" lIns="0" tIns="0" rIns="0" bIns="0" rtlCol="0"/>
          <a:lstStyle/>
          <a:p/>
        </p:txBody>
      </p:sp>
      <p:sp>
        <p:nvSpPr>
          <p:cNvPr id="17" name="object 17"/>
          <p:cNvSpPr txBox="1"/>
          <p:nvPr/>
        </p:nvSpPr>
        <p:spPr>
          <a:xfrm>
            <a:off x="6186551" y="3465182"/>
            <a:ext cx="482600" cy="299720"/>
          </a:xfrm>
          <a:prstGeom prst="rect">
            <a:avLst/>
          </a:prstGeom>
        </p:spPr>
        <p:txBody>
          <a:bodyPr vert="horz" wrap="square" lIns="0" tIns="12700" rIns="0" bIns="0" rtlCol="0">
            <a:spAutoFit/>
          </a:bodyPr>
          <a:lstStyle/>
          <a:p>
            <a:pPr marL="69850" marR="5080" indent="-57150">
              <a:lnSpc>
                <a:spcPct val="100000"/>
              </a:lnSpc>
              <a:spcBef>
                <a:spcPts val="100"/>
              </a:spcBef>
            </a:pPr>
            <a:r>
              <a:rPr sz="900" b="1" dirty="0">
                <a:solidFill>
                  <a:srgbClr val="C00000"/>
                </a:solidFill>
                <a:latin typeface="微软雅黑" panose="020B0503020204020204" charset="-122"/>
                <a:cs typeface="微软雅黑" panose="020B0503020204020204" charset="-122"/>
              </a:rPr>
              <a:t>流水线冲 刷请求</a:t>
            </a:r>
            <a:endParaRPr sz="900">
              <a:latin typeface="微软雅黑" panose="020B0503020204020204" charset="-122"/>
              <a:cs typeface="微软雅黑" panose="020B0503020204020204" charset="-122"/>
            </a:endParaRPr>
          </a:p>
        </p:txBody>
      </p:sp>
      <p:sp>
        <p:nvSpPr>
          <p:cNvPr id="18" name="object 18"/>
          <p:cNvSpPr txBox="1"/>
          <p:nvPr/>
        </p:nvSpPr>
        <p:spPr>
          <a:xfrm>
            <a:off x="9533242" y="2679306"/>
            <a:ext cx="482600" cy="391160"/>
          </a:xfrm>
          <a:prstGeom prst="rect">
            <a:avLst/>
          </a:prstGeom>
        </p:spPr>
        <p:txBody>
          <a:bodyPr vert="horz" wrap="square" lIns="0" tIns="12700" rIns="0" bIns="0" rtlCol="0">
            <a:spAutoFit/>
          </a:bodyPr>
          <a:lstStyle/>
          <a:p>
            <a:pPr marL="12700" marR="5080">
              <a:lnSpc>
                <a:spcPct val="100000"/>
              </a:lnSpc>
              <a:spcBef>
                <a:spcPts val="100"/>
              </a:spcBef>
            </a:pPr>
            <a:r>
              <a:rPr sz="1200" b="1" dirty="0">
                <a:solidFill>
                  <a:srgbClr val="C00000"/>
                </a:solidFill>
                <a:latin typeface="微软雅黑" panose="020B0503020204020204" charset="-122"/>
                <a:cs typeface="微软雅黑" panose="020B0503020204020204" charset="-122"/>
              </a:rPr>
              <a:t>通用寄 存器组</a:t>
            </a:r>
            <a:endParaRPr sz="1200">
              <a:latin typeface="微软雅黑" panose="020B0503020204020204" charset="-122"/>
              <a:cs typeface="微软雅黑" panose="020B0503020204020204" charset="-122"/>
            </a:endParaRPr>
          </a:p>
        </p:txBody>
      </p:sp>
      <p:sp>
        <p:nvSpPr>
          <p:cNvPr id="19" name="object 19"/>
          <p:cNvSpPr txBox="1"/>
          <p:nvPr/>
        </p:nvSpPr>
        <p:spPr>
          <a:xfrm>
            <a:off x="7299782" y="3808755"/>
            <a:ext cx="330200" cy="391160"/>
          </a:xfrm>
          <a:prstGeom prst="rect">
            <a:avLst/>
          </a:prstGeom>
        </p:spPr>
        <p:txBody>
          <a:bodyPr vert="horz" wrap="square" lIns="0" tIns="12700" rIns="0" bIns="0" rtlCol="0">
            <a:spAutoFit/>
          </a:bodyPr>
          <a:lstStyle/>
          <a:p>
            <a:pPr marL="12700" marR="5080">
              <a:lnSpc>
                <a:spcPct val="100000"/>
              </a:lnSpc>
              <a:spcBef>
                <a:spcPts val="100"/>
              </a:spcBef>
            </a:pPr>
            <a:r>
              <a:rPr sz="1200" b="1" dirty="0">
                <a:solidFill>
                  <a:srgbClr val="C00000"/>
                </a:solidFill>
                <a:latin typeface="微软雅黑" panose="020B0503020204020204" charset="-122"/>
                <a:cs typeface="微软雅黑" panose="020B0503020204020204" charset="-122"/>
              </a:rPr>
              <a:t>译码 派遣</a:t>
            </a:r>
            <a:endParaRPr sz="1200">
              <a:latin typeface="微软雅黑" panose="020B0503020204020204" charset="-122"/>
              <a:cs typeface="微软雅黑" panose="020B0503020204020204" charset="-122"/>
            </a:endParaRPr>
          </a:p>
        </p:txBody>
      </p:sp>
      <p:sp>
        <p:nvSpPr>
          <p:cNvPr id="20" name="object 20"/>
          <p:cNvSpPr txBox="1"/>
          <p:nvPr/>
        </p:nvSpPr>
        <p:spPr>
          <a:xfrm>
            <a:off x="8369134" y="4127842"/>
            <a:ext cx="338455"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C00000"/>
                </a:solidFill>
                <a:latin typeface="微软雅黑" panose="020B0503020204020204" charset="-122"/>
                <a:cs typeface="微软雅黑" panose="020B0503020204020204" charset="-122"/>
              </a:rPr>
              <a:t>A</a:t>
            </a:r>
            <a:r>
              <a:rPr sz="1200" b="1" spc="-30" dirty="0">
                <a:solidFill>
                  <a:srgbClr val="C00000"/>
                </a:solidFill>
                <a:latin typeface="微软雅黑" panose="020B0503020204020204" charset="-122"/>
                <a:cs typeface="微软雅黑" panose="020B0503020204020204" charset="-122"/>
              </a:rPr>
              <a:t>L</a:t>
            </a:r>
            <a:r>
              <a:rPr sz="1200" b="1" dirty="0">
                <a:solidFill>
                  <a:srgbClr val="C00000"/>
                </a:solidFill>
                <a:latin typeface="微软雅黑" panose="020B0503020204020204" charset="-122"/>
                <a:cs typeface="微软雅黑" panose="020B0503020204020204" charset="-122"/>
              </a:rPr>
              <a:t>U</a:t>
            </a:r>
            <a:endParaRPr sz="1200">
              <a:latin typeface="微软雅黑" panose="020B0503020204020204" charset="-122"/>
              <a:cs typeface="微软雅黑" panose="020B0503020204020204" charset="-122"/>
            </a:endParaRPr>
          </a:p>
        </p:txBody>
      </p:sp>
      <p:sp>
        <p:nvSpPr>
          <p:cNvPr id="21" name="object 21"/>
          <p:cNvSpPr txBox="1"/>
          <p:nvPr/>
        </p:nvSpPr>
        <p:spPr>
          <a:xfrm>
            <a:off x="7271943" y="4698022"/>
            <a:ext cx="381635"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C00000"/>
                </a:solidFill>
                <a:latin typeface="微软雅黑" panose="020B0503020204020204" charset="-122"/>
                <a:cs typeface="微软雅黑" panose="020B0503020204020204" charset="-122"/>
              </a:rPr>
              <a:t>O</a:t>
            </a:r>
            <a:r>
              <a:rPr sz="1200" b="1" dirty="0">
                <a:solidFill>
                  <a:srgbClr val="C00000"/>
                </a:solidFill>
                <a:latin typeface="微软雅黑" panose="020B0503020204020204" charset="-122"/>
                <a:cs typeface="微软雅黑" panose="020B0503020204020204" charset="-122"/>
              </a:rPr>
              <a:t>I</a:t>
            </a:r>
            <a:r>
              <a:rPr sz="1200" b="1" spc="-5" dirty="0">
                <a:solidFill>
                  <a:srgbClr val="C00000"/>
                </a:solidFill>
                <a:latin typeface="微软雅黑" panose="020B0503020204020204" charset="-122"/>
                <a:cs typeface="微软雅黑" panose="020B0503020204020204" charset="-122"/>
              </a:rPr>
              <a:t>T</a:t>
            </a:r>
            <a:r>
              <a:rPr sz="1200" b="1" dirty="0">
                <a:solidFill>
                  <a:srgbClr val="C00000"/>
                </a:solidFill>
                <a:latin typeface="微软雅黑" panose="020B0503020204020204" charset="-122"/>
                <a:cs typeface="微软雅黑" panose="020B0503020204020204" charset="-122"/>
              </a:rPr>
              <a:t>F</a:t>
            </a:r>
            <a:endParaRPr sz="1200">
              <a:latin typeface="微软雅黑" panose="020B0503020204020204" charset="-122"/>
              <a:cs typeface="微软雅黑" panose="020B0503020204020204" charset="-122"/>
            </a:endParaRPr>
          </a:p>
        </p:txBody>
      </p:sp>
      <p:sp>
        <p:nvSpPr>
          <p:cNvPr id="22" name="object 22"/>
          <p:cNvSpPr txBox="1"/>
          <p:nvPr/>
        </p:nvSpPr>
        <p:spPr>
          <a:xfrm>
            <a:off x="7646022" y="2317356"/>
            <a:ext cx="786765" cy="1022350"/>
          </a:xfrm>
          <a:prstGeom prst="rect">
            <a:avLst/>
          </a:prstGeom>
        </p:spPr>
        <p:txBody>
          <a:bodyPr vert="horz" wrap="square" lIns="0" tIns="12700" rIns="0" bIns="0" rtlCol="0">
            <a:spAutoFit/>
          </a:bodyPr>
          <a:lstStyle/>
          <a:p>
            <a:pPr marL="7620" algn="ctr">
              <a:lnSpc>
                <a:spcPct val="100000"/>
              </a:lnSpc>
              <a:spcBef>
                <a:spcPts val="100"/>
              </a:spcBef>
            </a:pPr>
            <a:r>
              <a:rPr sz="1200" b="1" dirty="0">
                <a:solidFill>
                  <a:srgbClr val="C00000"/>
                </a:solidFill>
                <a:latin typeface="微软雅黑" panose="020B0503020204020204" charset="-122"/>
                <a:cs typeface="微软雅黑" panose="020B0503020204020204" charset="-122"/>
              </a:rPr>
              <a:t>交付</a:t>
            </a:r>
            <a:endParaRPr sz="1200">
              <a:latin typeface="微软雅黑" panose="020B0503020204020204" charset="-122"/>
              <a:cs typeface="微软雅黑" panose="020B0503020204020204" charset="-122"/>
            </a:endParaRPr>
          </a:p>
          <a:p>
            <a:pPr algn="ctr">
              <a:lnSpc>
                <a:spcPct val="100000"/>
              </a:lnSpc>
              <a:spcBef>
                <a:spcPts val="720"/>
              </a:spcBef>
            </a:pPr>
            <a:r>
              <a:rPr sz="1000" dirty="0">
                <a:solidFill>
                  <a:srgbClr val="C00000"/>
                </a:solidFill>
                <a:latin typeface="微软雅黑" panose="020B0503020204020204" charset="-122"/>
                <a:cs typeface="微软雅黑" panose="020B0503020204020204" charset="-122"/>
              </a:rPr>
              <a:t>中</a:t>
            </a:r>
            <a:r>
              <a:rPr sz="1000" spc="-5" dirty="0">
                <a:solidFill>
                  <a:srgbClr val="C00000"/>
                </a:solidFill>
                <a:latin typeface="微软雅黑" panose="020B0503020204020204" charset="-122"/>
                <a:cs typeface="微软雅黑" panose="020B0503020204020204" charset="-122"/>
              </a:rPr>
              <a:t>断</a:t>
            </a:r>
            <a:endParaRPr sz="1000">
              <a:latin typeface="微软雅黑" panose="020B0503020204020204" charset="-122"/>
              <a:cs typeface="微软雅黑" panose="020B0503020204020204" charset="-122"/>
            </a:endParaRPr>
          </a:p>
          <a:p>
            <a:pPr algn="ctr">
              <a:lnSpc>
                <a:spcPct val="100000"/>
              </a:lnSpc>
              <a:spcBef>
                <a:spcPts val="1070"/>
              </a:spcBef>
            </a:pPr>
            <a:r>
              <a:rPr sz="1000" dirty="0">
                <a:solidFill>
                  <a:srgbClr val="C00000"/>
                </a:solidFill>
                <a:latin typeface="微软雅黑" panose="020B0503020204020204" charset="-122"/>
                <a:cs typeface="微软雅黑" panose="020B0503020204020204" charset="-122"/>
              </a:rPr>
              <a:t>异</a:t>
            </a:r>
            <a:r>
              <a:rPr sz="1000" spc="-5" dirty="0">
                <a:solidFill>
                  <a:srgbClr val="C00000"/>
                </a:solidFill>
                <a:latin typeface="微软雅黑" panose="020B0503020204020204" charset="-122"/>
                <a:cs typeface="微软雅黑" panose="020B0503020204020204" charset="-122"/>
              </a:rPr>
              <a:t>常</a:t>
            </a:r>
            <a:endParaRPr sz="1000">
              <a:latin typeface="微软雅黑" panose="020B0503020204020204" charset="-122"/>
              <a:cs typeface="微软雅黑" panose="020B0503020204020204" charset="-122"/>
            </a:endParaRPr>
          </a:p>
          <a:p>
            <a:pPr algn="ctr">
              <a:lnSpc>
                <a:spcPct val="100000"/>
              </a:lnSpc>
              <a:spcBef>
                <a:spcPts val="1020"/>
              </a:spcBef>
            </a:pPr>
            <a:r>
              <a:rPr sz="1000" dirty="0">
                <a:solidFill>
                  <a:srgbClr val="C00000"/>
                </a:solidFill>
                <a:latin typeface="微软雅黑" panose="020B0503020204020204" charset="-122"/>
                <a:cs typeface="微软雅黑" panose="020B0503020204020204" charset="-122"/>
              </a:rPr>
              <a:t>分支预测解</a:t>
            </a:r>
            <a:r>
              <a:rPr sz="1000" spc="-5" dirty="0">
                <a:solidFill>
                  <a:srgbClr val="C00000"/>
                </a:solidFill>
                <a:latin typeface="微软雅黑" panose="020B0503020204020204" charset="-122"/>
                <a:cs typeface="微软雅黑" panose="020B0503020204020204" charset="-122"/>
              </a:rPr>
              <a:t>析</a:t>
            </a:r>
            <a:endParaRPr sz="1000">
              <a:latin typeface="微软雅黑" panose="020B0503020204020204" charset="-122"/>
              <a:cs typeface="微软雅黑" panose="020B0503020204020204" charset="-122"/>
            </a:endParaRPr>
          </a:p>
        </p:txBody>
      </p:sp>
      <p:sp>
        <p:nvSpPr>
          <p:cNvPr id="23" name="object 23"/>
          <p:cNvSpPr txBox="1"/>
          <p:nvPr/>
        </p:nvSpPr>
        <p:spPr>
          <a:xfrm>
            <a:off x="9402000" y="4674146"/>
            <a:ext cx="482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C00000"/>
                </a:solidFill>
                <a:latin typeface="微软雅黑" panose="020B0503020204020204" charset="-122"/>
                <a:cs typeface="微软雅黑" panose="020B0503020204020204" charset="-122"/>
              </a:rPr>
              <a:t>长指令</a:t>
            </a:r>
            <a:endParaRPr sz="1200">
              <a:latin typeface="微软雅黑" panose="020B0503020204020204" charset="-122"/>
              <a:cs typeface="微软雅黑" panose="020B0503020204020204" charset="-122"/>
            </a:endParaRPr>
          </a:p>
        </p:txBody>
      </p:sp>
      <p:sp>
        <p:nvSpPr>
          <p:cNvPr id="24" name="object 24"/>
          <p:cNvSpPr txBox="1"/>
          <p:nvPr/>
        </p:nvSpPr>
        <p:spPr>
          <a:xfrm>
            <a:off x="9468739" y="5281993"/>
            <a:ext cx="318770" cy="774065"/>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C00000"/>
                </a:solidFill>
                <a:latin typeface="微软雅黑" panose="020B0503020204020204" charset="-122"/>
                <a:cs typeface="微软雅黑" panose="020B0503020204020204" charset="-122"/>
              </a:rPr>
              <a:t>LS</a:t>
            </a:r>
            <a:r>
              <a:rPr sz="1200" b="1" dirty="0">
                <a:solidFill>
                  <a:srgbClr val="C00000"/>
                </a:solidFill>
                <a:latin typeface="微软雅黑" panose="020B0503020204020204" charset="-122"/>
                <a:cs typeface="微软雅黑" panose="020B0503020204020204" charset="-122"/>
              </a:rPr>
              <a:t>U</a:t>
            </a:r>
            <a:endParaRPr sz="1200">
              <a:latin typeface="微软雅黑" panose="020B0503020204020204" charset="-122"/>
              <a:cs typeface="微软雅黑" panose="020B0503020204020204" charset="-122"/>
            </a:endParaRPr>
          </a:p>
          <a:p>
            <a:pPr>
              <a:lnSpc>
                <a:spcPct val="100000"/>
              </a:lnSpc>
            </a:pPr>
            <a:endParaRPr sz="1600">
              <a:latin typeface="Times New Roman" panose="02020603050405020304"/>
              <a:cs typeface="Times New Roman" panose="02020603050405020304"/>
            </a:endParaRPr>
          </a:p>
          <a:p>
            <a:pPr marL="31750">
              <a:lnSpc>
                <a:spcPct val="100000"/>
              </a:lnSpc>
              <a:spcBef>
                <a:spcPts val="1170"/>
              </a:spcBef>
            </a:pPr>
            <a:r>
              <a:rPr sz="1200" b="1" dirty="0">
                <a:solidFill>
                  <a:srgbClr val="C00000"/>
                </a:solidFill>
                <a:latin typeface="微软雅黑" panose="020B0503020204020204" charset="-122"/>
                <a:cs typeface="微软雅黑" panose="020B0503020204020204" charset="-122"/>
              </a:rPr>
              <a:t>EAI</a:t>
            </a:r>
            <a:endParaRPr sz="1200">
              <a:latin typeface="微软雅黑" panose="020B0503020204020204" charset="-122"/>
              <a:cs typeface="微软雅黑" panose="020B0503020204020204" charset="-122"/>
            </a:endParaRPr>
          </a:p>
        </p:txBody>
      </p:sp>
      <p:sp>
        <p:nvSpPr>
          <p:cNvPr id="25" name="object 25"/>
          <p:cNvSpPr txBox="1"/>
          <p:nvPr/>
        </p:nvSpPr>
        <p:spPr>
          <a:xfrm>
            <a:off x="11021821" y="4130979"/>
            <a:ext cx="380365" cy="238125"/>
          </a:xfrm>
          <a:prstGeom prst="rect">
            <a:avLst/>
          </a:prstGeom>
        </p:spPr>
        <p:txBody>
          <a:bodyPr vert="horz" wrap="square" lIns="0" tIns="12065" rIns="0" bIns="0" rtlCol="0">
            <a:spAutoFit/>
          </a:bodyPr>
          <a:lstStyle/>
          <a:p>
            <a:pPr marL="57150" marR="5080" indent="-44450">
              <a:lnSpc>
                <a:spcPct val="100000"/>
              </a:lnSpc>
              <a:spcBef>
                <a:spcPts val="95"/>
              </a:spcBef>
            </a:pPr>
            <a:r>
              <a:rPr sz="700" b="1" dirty="0">
                <a:solidFill>
                  <a:srgbClr val="C00000"/>
                </a:solidFill>
                <a:latin typeface="微软雅黑" panose="020B0503020204020204" charset="-122"/>
                <a:cs typeface="微软雅黑" panose="020B0503020204020204" charset="-122"/>
              </a:rPr>
              <a:t>长指令</a:t>
            </a:r>
            <a:r>
              <a:rPr sz="700" b="1" spc="-5" dirty="0">
                <a:solidFill>
                  <a:srgbClr val="C00000"/>
                </a:solidFill>
                <a:latin typeface="微软雅黑" panose="020B0503020204020204" charset="-122"/>
                <a:cs typeface="微软雅黑" panose="020B0503020204020204" charset="-122"/>
              </a:rPr>
              <a:t>写 </a:t>
            </a:r>
            <a:r>
              <a:rPr sz="700" b="1" dirty="0">
                <a:solidFill>
                  <a:srgbClr val="C00000"/>
                </a:solidFill>
                <a:latin typeface="微软雅黑" panose="020B0503020204020204" charset="-122"/>
                <a:cs typeface="微软雅黑" panose="020B0503020204020204" charset="-122"/>
              </a:rPr>
              <a:t>回仲</a:t>
            </a:r>
            <a:r>
              <a:rPr sz="700" b="1" spc="-5" dirty="0">
                <a:solidFill>
                  <a:srgbClr val="C00000"/>
                </a:solidFill>
                <a:latin typeface="微软雅黑" panose="020B0503020204020204" charset="-122"/>
                <a:cs typeface="微软雅黑" panose="020B0503020204020204" charset="-122"/>
              </a:rPr>
              <a:t>裁</a:t>
            </a:r>
            <a:endParaRPr sz="700">
              <a:latin typeface="微软雅黑" panose="020B0503020204020204" charset="-122"/>
              <a:cs typeface="微软雅黑" panose="020B0503020204020204" charset="-122"/>
            </a:endParaRPr>
          </a:p>
        </p:txBody>
      </p:sp>
      <p:sp>
        <p:nvSpPr>
          <p:cNvPr id="26" name="object 26"/>
          <p:cNvSpPr txBox="1"/>
          <p:nvPr/>
        </p:nvSpPr>
        <p:spPr>
          <a:xfrm>
            <a:off x="10007472" y="3663302"/>
            <a:ext cx="291465" cy="238125"/>
          </a:xfrm>
          <a:prstGeom prst="rect">
            <a:avLst/>
          </a:prstGeom>
        </p:spPr>
        <p:txBody>
          <a:bodyPr vert="horz" wrap="square" lIns="0" tIns="12065" rIns="0" bIns="0" rtlCol="0">
            <a:spAutoFit/>
          </a:bodyPr>
          <a:lstStyle/>
          <a:p>
            <a:pPr marL="12700" marR="5080">
              <a:lnSpc>
                <a:spcPct val="100000"/>
              </a:lnSpc>
              <a:spcBef>
                <a:spcPts val="95"/>
              </a:spcBef>
            </a:pPr>
            <a:r>
              <a:rPr sz="700" b="1" dirty="0">
                <a:solidFill>
                  <a:srgbClr val="C00000"/>
                </a:solidFill>
                <a:latin typeface="微软雅黑" panose="020B0503020204020204" charset="-122"/>
                <a:cs typeface="微软雅黑" panose="020B0503020204020204" charset="-122"/>
              </a:rPr>
              <a:t>最终</a:t>
            </a:r>
            <a:r>
              <a:rPr sz="700" b="1" spc="-5" dirty="0">
                <a:solidFill>
                  <a:srgbClr val="C00000"/>
                </a:solidFill>
                <a:latin typeface="微软雅黑" panose="020B0503020204020204" charset="-122"/>
                <a:cs typeface="微软雅黑" panose="020B0503020204020204" charset="-122"/>
              </a:rPr>
              <a:t>写 </a:t>
            </a:r>
            <a:r>
              <a:rPr sz="700" b="1" dirty="0">
                <a:solidFill>
                  <a:srgbClr val="C00000"/>
                </a:solidFill>
                <a:latin typeface="微软雅黑" panose="020B0503020204020204" charset="-122"/>
                <a:cs typeface="微软雅黑" panose="020B0503020204020204" charset="-122"/>
              </a:rPr>
              <a:t>回仲</a:t>
            </a:r>
            <a:r>
              <a:rPr sz="700" b="1" spc="-5" dirty="0">
                <a:solidFill>
                  <a:srgbClr val="C00000"/>
                </a:solidFill>
                <a:latin typeface="微软雅黑" panose="020B0503020204020204" charset="-122"/>
                <a:cs typeface="微软雅黑" panose="020B0503020204020204" charset="-122"/>
              </a:rPr>
              <a:t>裁</a:t>
            </a:r>
            <a:endParaRPr sz="700">
              <a:latin typeface="微软雅黑" panose="020B0503020204020204" charset="-122"/>
              <a:cs typeface="微软雅黑" panose="020B0503020204020204" charset="-122"/>
            </a:endParaRPr>
          </a:p>
        </p:txBody>
      </p:sp>
      <p:sp>
        <p:nvSpPr>
          <p:cNvPr id="27" name="object 27"/>
          <p:cNvSpPr txBox="1"/>
          <p:nvPr/>
        </p:nvSpPr>
        <p:spPr>
          <a:xfrm>
            <a:off x="9220936" y="3110877"/>
            <a:ext cx="277495" cy="333375"/>
          </a:xfrm>
          <a:prstGeom prst="rect">
            <a:avLst/>
          </a:prstGeom>
        </p:spPr>
        <p:txBody>
          <a:bodyPr vert="eaVert" wrap="square" lIns="0" tIns="0" rIns="0" bIns="0" rtlCol="0">
            <a:spAutoFit/>
          </a:bodyPr>
          <a:lstStyle/>
          <a:p>
            <a:pPr marL="12700">
              <a:lnSpc>
                <a:spcPct val="70000"/>
              </a:lnSpc>
            </a:pPr>
            <a:r>
              <a:rPr sz="800" b="1" spc="-5" dirty="0">
                <a:solidFill>
                  <a:srgbClr val="C00000"/>
                </a:solidFill>
                <a:latin typeface="微软雅黑" panose="020B0503020204020204" charset="-122"/>
                <a:cs typeface="微软雅黑" panose="020B0503020204020204" charset="-122"/>
              </a:rPr>
              <a:t>读端</a:t>
            </a:r>
            <a:r>
              <a:rPr sz="800" b="1" dirty="0">
                <a:solidFill>
                  <a:srgbClr val="C00000"/>
                </a:solidFill>
                <a:latin typeface="微软雅黑" panose="020B0503020204020204" charset="-122"/>
                <a:cs typeface="微软雅黑" panose="020B0503020204020204" charset="-122"/>
              </a:rPr>
              <a:t>口</a:t>
            </a:r>
            <a:endParaRPr sz="800">
              <a:latin typeface="微软雅黑" panose="020B0503020204020204" charset="-122"/>
              <a:cs typeface="微软雅黑" panose="020B0503020204020204" charset="-122"/>
            </a:endParaRPr>
          </a:p>
          <a:p>
            <a:pPr marL="14605">
              <a:lnSpc>
                <a:spcPct val="100000"/>
              </a:lnSpc>
              <a:spcBef>
                <a:spcPts val="215"/>
              </a:spcBef>
            </a:pPr>
            <a:r>
              <a:rPr sz="800" b="1" spc="-5" dirty="0">
                <a:solidFill>
                  <a:srgbClr val="C00000"/>
                </a:solidFill>
                <a:latin typeface="微软雅黑" panose="020B0503020204020204" charset="-122"/>
                <a:cs typeface="微软雅黑" panose="020B0503020204020204" charset="-122"/>
              </a:rPr>
              <a:t>读端</a:t>
            </a:r>
            <a:r>
              <a:rPr sz="800" b="1" dirty="0">
                <a:solidFill>
                  <a:srgbClr val="C00000"/>
                </a:solidFill>
                <a:latin typeface="微软雅黑" panose="020B0503020204020204" charset="-122"/>
                <a:cs typeface="微软雅黑" panose="020B0503020204020204" charset="-122"/>
              </a:rPr>
              <a:t>口</a:t>
            </a:r>
            <a:endParaRPr sz="800">
              <a:latin typeface="微软雅黑" panose="020B0503020204020204" charset="-122"/>
              <a:cs typeface="微软雅黑" panose="020B0503020204020204" charset="-122"/>
            </a:endParaRPr>
          </a:p>
        </p:txBody>
      </p:sp>
      <p:sp>
        <p:nvSpPr>
          <p:cNvPr id="28" name="object 28"/>
          <p:cNvSpPr txBox="1"/>
          <p:nvPr/>
        </p:nvSpPr>
        <p:spPr>
          <a:xfrm>
            <a:off x="9204021" y="3415042"/>
            <a:ext cx="309880" cy="91440"/>
          </a:xfrm>
          <a:prstGeom prst="rect">
            <a:avLst/>
          </a:prstGeom>
        </p:spPr>
        <p:txBody>
          <a:bodyPr vert="vert" wrap="square" lIns="0" tIns="19050" rIns="0" bIns="0" rtlCol="0">
            <a:spAutoFit/>
          </a:bodyPr>
          <a:lstStyle/>
          <a:p>
            <a:pPr marL="12700">
              <a:lnSpc>
                <a:spcPct val="100000"/>
              </a:lnSpc>
              <a:spcBef>
                <a:spcPts val="150"/>
              </a:spcBef>
            </a:pPr>
            <a:r>
              <a:rPr sz="800" b="1" dirty="0">
                <a:solidFill>
                  <a:srgbClr val="C00000"/>
                </a:solidFill>
                <a:latin typeface="微软雅黑" panose="020B0503020204020204" charset="-122"/>
                <a:cs typeface="微软雅黑" panose="020B0503020204020204" charset="-122"/>
              </a:rPr>
              <a:t>2</a:t>
            </a:r>
            <a:endParaRPr sz="800">
              <a:latin typeface="微软雅黑" panose="020B0503020204020204" charset="-122"/>
              <a:cs typeface="微软雅黑" panose="020B0503020204020204" charset="-122"/>
            </a:endParaRPr>
          </a:p>
          <a:p>
            <a:pPr marL="14605">
              <a:lnSpc>
                <a:spcPct val="100000"/>
              </a:lnSpc>
              <a:spcBef>
                <a:spcPts val="220"/>
              </a:spcBef>
            </a:pPr>
            <a:r>
              <a:rPr sz="800" b="1" dirty="0">
                <a:solidFill>
                  <a:srgbClr val="C00000"/>
                </a:solidFill>
                <a:latin typeface="微软雅黑" panose="020B0503020204020204" charset="-122"/>
                <a:cs typeface="微软雅黑" panose="020B0503020204020204" charset="-122"/>
              </a:rPr>
              <a:t>1</a:t>
            </a:r>
            <a:endParaRPr sz="800">
              <a:latin typeface="微软雅黑" panose="020B0503020204020204" charset="-122"/>
              <a:cs typeface="微软雅黑" panose="020B0503020204020204" charset="-122"/>
            </a:endParaRPr>
          </a:p>
        </p:txBody>
      </p:sp>
      <p:sp>
        <p:nvSpPr>
          <p:cNvPr id="29" name="object 29"/>
          <p:cNvSpPr txBox="1"/>
          <p:nvPr/>
        </p:nvSpPr>
        <p:spPr>
          <a:xfrm>
            <a:off x="10073081" y="3167633"/>
            <a:ext cx="127635" cy="330835"/>
          </a:xfrm>
          <a:prstGeom prst="rect">
            <a:avLst/>
          </a:prstGeom>
        </p:spPr>
        <p:txBody>
          <a:bodyPr vert="eaVert" wrap="square" lIns="0" tIns="0" rIns="0" bIns="0" rtlCol="0">
            <a:spAutoFit/>
          </a:bodyPr>
          <a:lstStyle/>
          <a:p>
            <a:pPr marL="12700">
              <a:lnSpc>
                <a:spcPct val="70000"/>
              </a:lnSpc>
            </a:pPr>
            <a:r>
              <a:rPr sz="800" b="1" spc="-5" dirty="0">
                <a:solidFill>
                  <a:srgbClr val="C00000"/>
                </a:solidFill>
                <a:latin typeface="微软雅黑" panose="020B0503020204020204" charset="-122"/>
                <a:cs typeface="微软雅黑" panose="020B0503020204020204" charset="-122"/>
              </a:rPr>
              <a:t>写端</a:t>
            </a:r>
            <a:r>
              <a:rPr sz="800" b="1" dirty="0">
                <a:solidFill>
                  <a:srgbClr val="C00000"/>
                </a:solidFill>
                <a:latin typeface="微软雅黑" panose="020B0503020204020204" charset="-122"/>
                <a:cs typeface="微软雅黑" panose="020B0503020204020204" charset="-122"/>
              </a:rPr>
              <a:t>口</a:t>
            </a:r>
            <a:endParaRPr sz="800">
              <a:latin typeface="微软雅黑" panose="020B0503020204020204" charset="-122"/>
              <a:cs typeface="微软雅黑" panose="020B0503020204020204" charset="-122"/>
            </a:endParaRPr>
          </a:p>
        </p:txBody>
      </p:sp>
      <p:sp>
        <p:nvSpPr>
          <p:cNvPr id="30" name="object 30"/>
          <p:cNvSpPr txBox="1"/>
          <p:nvPr/>
        </p:nvSpPr>
        <p:spPr>
          <a:xfrm>
            <a:off x="7046099" y="1753971"/>
            <a:ext cx="254000" cy="299720"/>
          </a:xfrm>
          <a:prstGeom prst="rect">
            <a:avLst/>
          </a:prstGeom>
        </p:spPr>
        <p:txBody>
          <a:bodyPr vert="horz" wrap="square" lIns="0" tIns="12700" rIns="0" bIns="0" rtlCol="0">
            <a:spAutoFit/>
          </a:bodyPr>
          <a:lstStyle/>
          <a:p>
            <a:pPr marL="12700" marR="5080">
              <a:lnSpc>
                <a:spcPct val="100000"/>
              </a:lnSpc>
              <a:spcBef>
                <a:spcPts val="100"/>
              </a:spcBef>
            </a:pPr>
            <a:r>
              <a:rPr sz="900" b="1" dirty="0">
                <a:solidFill>
                  <a:srgbClr val="C00000"/>
                </a:solidFill>
                <a:latin typeface="微软雅黑" panose="020B0503020204020204" charset="-122"/>
                <a:cs typeface="微软雅黑" panose="020B0503020204020204" charset="-122"/>
              </a:rPr>
              <a:t>软件 中断</a:t>
            </a:r>
            <a:endParaRPr sz="900">
              <a:latin typeface="微软雅黑" panose="020B0503020204020204" charset="-122"/>
              <a:cs typeface="微软雅黑" panose="020B0503020204020204" charset="-122"/>
            </a:endParaRPr>
          </a:p>
        </p:txBody>
      </p:sp>
      <p:sp>
        <p:nvSpPr>
          <p:cNvPr id="31" name="object 31"/>
          <p:cNvSpPr txBox="1"/>
          <p:nvPr/>
        </p:nvSpPr>
        <p:spPr>
          <a:xfrm>
            <a:off x="7279665" y="1412303"/>
            <a:ext cx="824865" cy="659765"/>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C00000"/>
                </a:solidFill>
                <a:latin typeface="微软雅黑" panose="020B0503020204020204" charset="-122"/>
                <a:cs typeface="微软雅黑" panose="020B0503020204020204" charset="-122"/>
              </a:rPr>
              <a:t>CLINT</a:t>
            </a:r>
            <a:endParaRPr sz="1200">
              <a:latin typeface="微软雅黑" panose="020B0503020204020204" charset="-122"/>
              <a:cs typeface="微软雅黑" panose="020B0503020204020204" charset="-122"/>
            </a:endParaRPr>
          </a:p>
          <a:p>
            <a:pPr marL="525780" marR="5080" indent="-57150">
              <a:lnSpc>
                <a:spcPct val="100000"/>
              </a:lnSpc>
              <a:spcBef>
                <a:spcPts val="1390"/>
              </a:spcBef>
            </a:pPr>
            <a:r>
              <a:rPr sz="900" b="1" dirty="0">
                <a:solidFill>
                  <a:srgbClr val="C00000"/>
                </a:solidFill>
                <a:latin typeface="微软雅黑" panose="020B0503020204020204" charset="-122"/>
                <a:cs typeface="微软雅黑" panose="020B0503020204020204" charset="-122"/>
              </a:rPr>
              <a:t>计时器 中断</a:t>
            </a:r>
            <a:endParaRPr sz="900">
              <a:latin typeface="微软雅黑" panose="020B0503020204020204" charset="-122"/>
              <a:cs typeface="微软雅黑" panose="020B0503020204020204" charset="-122"/>
            </a:endParaRPr>
          </a:p>
        </p:txBody>
      </p:sp>
      <p:sp>
        <p:nvSpPr>
          <p:cNvPr id="32" name="object 32"/>
          <p:cNvSpPr txBox="1"/>
          <p:nvPr/>
        </p:nvSpPr>
        <p:spPr>
          <a:xfrm>
            <a:off x="8308187" y="1412303"/>
            <a:ext cx="462280" cy="635635"/>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C00000"/>
                </a:solidFill>
                <a:latin typeface="微软雅黑" panose="020B0503020204020204" charset="-122"/>
                <a:cs typeface="微软雅黑" panose="020B0503020204020204" charset="-122"/>
              </a:rPr>
              <a:t>PLIC</a:t>
            </a:r>
            <a:endParaRPr sz="1200">
              <a:latin typeface="微软雅黑" panose="020B0503020204020204" charset="-122"/>
              <a:cs typeface="微软雅黑" panose="020B0503020204020204" charset="-122"/>
            </a:endParaRPr>
          </a:p>
          <a:p>
            <a:pPr marL="220345" marR="5080">
              <a:lnSpc>
                <a:spcPct val="100000"/>
              </a:lnSpc>
              <a:spcBef>
                <a:spcPts val="1200"/>
              </a:spcBef>
            </a:pPr>
            <a:r>
              <a:rPr sz="900" b="1" dirty="0">
                <a:solidFill>
                  <a:srgbClr val="C00000"/>
                </a:solidFill>
                <a:latin typeface="微软雅黑" panose="020B0503020204020204" charset="-122"/>
                <a:cs typeface="微软雅黑" panose="020B0503020204020204" charset="-122"/>
              </a:rPr>
              <a:t>外部 中断</a:t>
            </a:r>
            <a:endParaRPr sz="900">
              <a:latin typeface="微软雅黑" panose="020B0503020204020204" charset="-122"/>
              <a:cs typeface="微软雅黑" panose="020B0503020204020204" charset="-122"/>
            </a:endParaRPr>
          </a:p>
        </p:txBody>
      </p:sp>
      <p:sp>
        <p:nvSpPr>
          <p:cNvPr id="33" name="object 33"/>
          <p:cNvSpPr txBox="1"/>
          <p:nvPr/>
        </p:nvSpPr>
        <p:spPr>
          <a:xfrm>
            <a:off x="9160916" y="1412303"/>
            <a:ext cx="635000" cy="617855"/>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C00000"/>
                </a:solidFill>
                <a:latin typeface="微软雅黑" panose="020B0503020204020204" charset="-122"/>
                <a:cs typeface="微软雅黑" panose="020B0503020204020204" charset="-122"/>
              </a:rPr>
              <a:t>调试模块</a:t>
            </a:r>
            <a:endParaRPr sz="1200">
              <a:latin typeface="微软雅黑" panose="020B0503020204020204" charset="-122"/>
              <a:cs typeface="微软雅黑" panose="020B0503020204020204" charset="-122"/>
            </a:endParaRPr>
          </a:p>
          <a:p>
            <a:pPr marL="352425" marR="45720">
              <a:lnSpc>
                <a:spcPct val="100000"/>
              </a:lnSpc>
              <a:spcBef>
                <a:spcPts val="1060"/>
              </a:spcBef>
            </a:pPr>
            <a:r>
              <a:rPr sz="900" b="1" dirty="0">
                <a:solidFill>
                  <a:srgbClr val="C00000"/>
                </a:solidFill>
                <a:latin typeface="微软雅黑" panose="020B0503020204020204" charset="-122"/>
                <a:cs typeface="微软雅黑" panose="020B0503020204020204" charset="-122"/>
              </a:rPr>
              <a:t>调试 中断</a:t>
            </a:r>
            <a:endParaRPr sz="900">
              <a:latin typeface="微软雅黑" panose="020B0503020204020204" charset="-122"/>
              <a:cs typeface="微软雅黑" panose="020B0503020204020204" charset="-122"/>
            </a:endParaRPr>
          </a:p>
        </p:txBody>
      </p:sp>
      <p:sp>
        <p:nvSpPr>
          <p:cNvPr id="34" name="object 34"/>
          <p:cNvSpPr txBox="1"/>
          <p:nvPr/>
        </p:nvSpPr>
        <p:spPr>
          <a:xfrm>
            <a:off x="8142630" y="791209"/>
            <a:ext cx="659765" cy="177165"/>
          </a:xfrm>
          <a:prstGeom prst="rect">
            <a:avLst/>
          </a:prstGeom>
        </p:spPr>
        <p:txBody>
          <a:bodyPr vert="horz" wrap="square" lIns="0" tIns="12065" rIns="0" bIns="0" rtlCol="0">
            <a:spAutoFit/>
          </a:bodyPr>
          <a:lstStyle/>
          <a:p>
            <a:pPr marL="12700">
              <a:lnSpc>
                <a:spcPct val="100000"/>
              </a:lnSpc>
              <a:spcBef>
                <a:spcPts val="95"/>
              </a:spcBef>
            </a:pPr>
            <a:r>
              <a:rPr sz="1000" b="1" dirty="0">
                <a:solidFill>
                  <a:srgbClr val="C00000"/>
                </a:solidFill>
                <a:latin typeface="微软雅黑" panose="020B0503020204020204" charset="-122"/>
                <a:cs typeface="微软雅黑" panose="020B0503020204020204" charset="-122"/>
              </a:rPr>
              <a:t>外部中断</a:t>
            </a:r>
            <a:r>
              <a:rPr sz="1000" b="1" spc="-5" dirty="0">
                <a:solidFill>
                  <a:srgbClr val="C00000"/>
                </a:solidFill>
                <a:latin typeface="微软雅黑" panose="020B0503020204020204" charset="-122"/>
                <a:cs typeface="微软雅黑" panose="020B0503020204020204" charset="-122"/>
              </a:rPr>
              <a:t>源</a:t>
            </a:r>
            <a:endParaRPr sz="1000">
              <a:latin typeface="微软雅黑" panose="020B0503020204020204" charset="-122"/>
              <a:cs typeface="微软雅黑" panose="020B0503020204020204" charset="-122"/>
            </a:endParaRPr>
          </a:p>
        </p:txBody>
      </p:sp>
      <p:sp>
        <p:nvSpPr>
          <p:cNvPr id="35" name="object 35"/>
          <p:cNvSpPr txBox="1"/>
          <p:nvPr/>
        </p:nvSpPr>
        <p:spPr>
          <a:xfrm>
            <a:off x="440690" y="2046096"/>
            <a:ext cx="5398135" cy="2905760"/>
          </a:xfrm>
          <a:prstGeom prst="rect">
            <a:avLst/>
          </a:prstGeom>
        </p:spPr>
        <p:txBody>
          <a:bodyPr vert="horz" wrap="square" lIns="0" tIns="12700" rIns="0" bIns="0" rtlCol="0">
            <a:spAutoFit/>
          </a:bodyPr>
          <a:lstStyle/>
          <a:p>
            <a:pPr marL="298450" marR="46355" indent="-285750">
              <a:lnSpc>
                <a:spcPct val="150000"/>
              </a:lnSpc>
              <a:spcBef>
                <a:spcPts val="100"/>
              </a:spcBef>
              <a:buFont typeface="Wingdings" panose="05000000000000000000"/>
              <a:buChar char=""/>
              <a:tabLst>
                <a:tab pos="297815" algn="l"/>
                <a:tab pos="298450" algn="l"/>
              </a:tabLst>
            </a:pPr>
            <a:r>
              <a:rPr sz="1400" spc="-5" dirty="0">
                <a:latin typeface="微软雅黑" panose="020B0503020204020204" charset="-122"/>
                <a:cs typeface="微软雅黑" panose="020B0503020204020204" charset="-122"/>
              </a:rPr>
              <a:t>蜂鸟E203只支持RISC-</a:t>
            </a:r>
            <a:r>
              <a:rPr sz="1400" spc="-10" dirty="0">
                <a:latin typeface="微软雅黑" panose="020B0503020204020204" charset="-122"/>
                <a:cs typeface="微软雅黑" panose="020B0503020204020204" charset="-122"/>
              </a:rPr>
              <a:t>V</a:t>
            </a:r>
            <a:r>
              <a:rPr sz="1400" dirty="0">
                <a:latin typeface="微软雅黑" panose="020B0503020204020204" charset="-122"/>
                <a:cs typeface="微软雅黑" panose="020B0503020204020204" charset="-122"/>
              </a:rPr>
              <a:t>架构中的机器模式</a:t>
            </a:r>
            <a:r>
              <a:rPr sz="1400" dirty="0">
                <a:latin typeface="微软雅黑" panose="020B0503020204020204" charset="-122"/>
                <a:cs typeface="微软雅黑" panose="020B0503020204020204" charset="-122"/>
              </a:rPr>
              <a:t>(</a:t>
            </a:r>
            <a:r>
              <a:rPr sz="1400" spc="-5" dirty="0">
                <a:latin typeface="微软雅黑" panose="020B0503020204020204" charset="-122"/>
                <a:cs typeface="微软雅黑" panose="020B0503020204020204" charset="-122"/>
              </a:rPr>
              <a:t>Mac</a:t>
            </a:r>
            <a:r>
              <a:rPr sz="1400" spc="-10" dirty="0">
                <a:latin typeface="微软雅黑" panose="020B0503020204020204" charset="-122"/>
                <a:cs typeface="微软雅黑" panose="020B0503020204020204" charset="-122"/>
              </a:rPr>
              <a:t>h</a:t>
            </a:r>
            <a:r>
              <a:rPr sz="1400" dirty="0">
                <a:latin typeface="微软雅黑" panose="020B0503020204020204" charset="-122"/>
                <a:cs typeface="微软雅黑" panose="020B0503020204020204" charset="-122"/>
              </a:rPr>
              <a:t>i</a:t>
            </a:r>
            <a:r>
              <a:rPr sz="1400" spc="-5" dirty="0">
                <a:latin typeface="微软雅黑" panose="020B0503020204020204" charset="-122"/>
                <a:cs typeface="微软雅黑" panose="020B0503020204020204" charset="-122"/>
              </a:rPr>
              <a:t>ne</a:t>
            </a:r>
            <a:r>
              <a:rPr sz="1400" dirty="0">
                <a:latin typeface="微软雅黑" panose="020B0503020204020204" charset="-122"/>
                <a:cs typeface="微软雅黑" panose="020B0503020204020204" charset="-122"/>
              </a:rPr>
              <a:t>)</a:t>
            </a:r>
            <a:r>
              <a:rPr sz="1400" dirty="0">
                <a:latin typeface="微软雅黑" panose="020B0503020204020204" charset="-122"/>
                <a:cs typeface="微软雅黑" panose="020B0503020204020204" charset="-122"/>
              </a:rPr>
              <a:t>，而不支</a:t>
            </a:r>
            <a:r>
              <a:rPr sz="1400" dirty="0">
                <a:latin typeface="微软雅黑" panose="020B0503020204020204" charset="-122"/>
                <a:cs typeface="微软雅黑" panose="020B0503020204020204" charset="-122"/>
              </a:rPr>
              <a:t>持 </a:t>
            </a:r>
            <a:r>
              <a:rPr sz="1400" dirty="0">
                <a:latin typeface="微软雅黑" panose="020B0503020204020204" charset="-122"/>
                <a:cs typeface="微软雅黑" panose="020B0503020204020204" charset="-122"/>
              </a:rPr>
              <a:t>用户模式</a:t>
            </a:r>
            <a:r>
              <a:rPr sz="1400" spc="-5" dirty="0">
                <a:latin typeface="微软雅黑" panose="020B0503020204020204" charset="-122"/>
                <a:cs typeface="微软雅黑" panose="020B0503020204020204" charset="-122"/>
              </a:rPr>
              <a:t>(User Mode)</a:t>
            </a:r>
            <a:r>
              <a:rPr sz="1400" dirty="0">
                <a:latin typeface="微软雅黑" panose="020B0503020204020204" charset="-122"/>
                <a:cs typeface="微软雅黑" panose="020B0503020204020204" charset="-122"/>
              </a:rPr>
              <a:t>和监督模式(Supervisor </a:t>
            </a:r>
            <a:r>
              <a:rPr sz="1400" spc="-5" dirty="0">
                <a:latin typeface="微软雅黑" panose="020B0503020204020204" charset="-122"/>
                <a:cs typeface="微软雅黑" panose="020B0503020204020204" charset="-122"/>
              </a:rPr>
              <a:t>Mode)，</a:t>
            </a:r>
            <a:r>
              <a:rPr sz="1400" dirty="0">
                <a:latin typeface="微软雅黑" panose="020B0503020204020204" charset="-122"/>
                <a:cs typeface="微软雅黑" panose="020B0503020204020204" charset="-122"/>
              </a:rPr>
              <a:t>因此</a:t>
            </a:r>
            <a:r>
              <a:rPr sz="1400" spc="5" dirty="0">
                <a:latin typeface="微软雅黑" panose="020B0503020204020204" charset="-122"/>
                <a:cs typeface="微软雅黑" panose="020B0503020204020204" charset="-122"/>
              </a:rPr>
              <a:t>只 </a:t>
            </a:r>
            <a:r>
              <a:rPr sz="1400" dirty="0">
                <a:latin typeface="微软雅黑" panose="020B0503020204020204" charset="-122"/>
                <a:cs typeface="微软雅黑" panose="020B0503020204020204" charset="-122"/>
              </a:rPr>
              <a:t>支持模式相关的中断和异常类型</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298450" marR="5080" indent="-285750">
              <a:lnSpc>
                <a:spcPct val="150000"/>
              </a:lnSpc>
              <a:buFont typeface="Wingdings" panose="05000000000000000000"/>
              <a:buChar char=""/>
              <a:tabLst>
                <a:tab pos="297815" algn="l"/>
                <a:tab pos="298450" algn="l"/>
              </a:tabLst>
            </a:pPr>
            <a:r>
              <a:rPr sz="1400" spc="-5" dirty="0">
                <a:latin typeface="微软雅黑" panose="020B0503020204020204" charset="-122"/>
                <a:cs typeface="微软雅黑" panose="020B0503020204020204" charset="-122"/>
              </a:rPr>
              <a:t>蜂鸟E203只实现了RISC-</a:t>
            </a:r>
            <a:r>
              <a:rPr sz="1400" spc="-10" dirty="0">
                <a:latin typeface="微软雅黑" panose="020B0503020204020204" charset="-122"/>
                <a:cs typeface="微软雅黑" panose="020B0503020204020204" charset="-122"/>
              </a:rPr>
              <a:t>V</a:t>
            </a:r>
            <a:r>
              <a:rPr sz="1400" dirty="0">
                <a:latin typeface="微软雅黑" panose="020B0503020204020204" charset="-122"/>
                <a:cs typeface="微软雅黑" panose="020B0503020204020204" charset="-122"/>
              </a:rPr>
              <a:t>架构定义的软件中断，计时器中断和</a:t>
            </a:r>
            <a:r>
              <a:rPr sz="1400" dirty="0">
                <a:latin typeface="微软雅黑" panose="020B0503020204020204" charset="-122"/>
                <a:cs typeface="微软雅黑" panose="020B0503020204020204" charset="-122"/>
              </a:rPr>
              <a:t>外 </a:t>
            </a:r>
            <a:r>
              <a:rPr sz="1400" dirty="0">
                <a:latin typeface="微软雅黑" panose="020B0503020204020204" charset="-122"/>
                <a:cs typeface="微软雅黑" panose="020B0503020204020204" charset="-122"/>
              </a:rPr>
              <a:t>部中断</a:t>
            </a:r>
            <a:r>
              <a:rPr sz="1400" spc="-5" dirty="0">
                <a:latin typeface="微软雅黑" panose="020B0503020204020204" charset="-122"/>
                <a:cs typeface="微软雅黑" panose="020B0503020204020204" charset="-122"/>
              </a:rPr>
              <a:t>3</a:t>
            </a:r>
            <a:r>
              <a:rPr sz="1400" dirty="0">
                <a:latin typeface="微软雅黑" panose="020B0503020204020204" charset="-122"/>
                <a:cs typeface="微软雅黑" panose="020B0503020204020204" charset="-122"/>
              </a:rPr>
              <a:t>种基本中断类型，并没有实现自定义中断</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298450" marR="132715" indent="-285750">
              <a:lnSpc>
                <a:spcPct val="150000"/>
              </a:lnSpc>
              <a:buFont typeface="Wingdings" panose="05000000000000000000"/>
              <a:buChar char=""/>
              <a:tabLst>
                <a:tab pos="297815" algn="l"/>
                <a:tab pos="298450" algn="l"/>
              </a:tabLst>
            </a:pPr>
            <a:r>
              <a:rPr sz="1400" spc="-5" dirty="0">
                <a:latin typeface="微软雅黑" panose="020B0503020204020204" charset="-122"/>
                <a:cs typeface="微软雅黑" panose="020B0503020204020204" charset="-122"/>
              </a:rPr>
              <a:t>蜂鸟E203的</a:t>
            </a:r>
            <a:r>
              <a:rPr sz="1400" spc="-10" dirty="0">
                <a:latin typeface="微软雅黑" panose="020B0503020204020204" charset="-122"/>
                <a:cs typeface="微软雅黑" panose="020B0503020204020204" charset="-122"/>
              </a:rPr>
              <a:t>m</a:t>
            </a:r>
            <a:r>
              <a:rPr sz="1400" spc="-5" dirty="0">
                <a:latin typeface="微软雅黑" panose="020B0503020204020204" charset="-122"/>
                <a:cs typeface="微软雅黑" panose="020B0503020204020204" charset="-122"/>
              </a:rPr>
              <a:t>t</a:t>
            </a:r>
            <a:r>
              <a:rPr sz="1400" spc="-15" dirty="0">
                <a:latin typeface="微软雅黑" panose="020B0503020204020204" charset="-122"/>
                <a:cs typeface="微软雅黑" panose="020B0503020204020204" charset="-122"/>
              </a:rPr>
              <a:t>v</a:t>
            </a:r>
            <a:r>
              <a:rPr sz="1400" spc="-5" dirty="0">
                <a:latin typeface="微软雅黑" panose="020B0503020204020204" charset="-122"/>
                <a:cs typeface="微软雅黑" panose="020B0503020204020204" charset="-122"/>
              </a:rPr>
              <a:t>ec寄存器最低位的MO</a:t>
            </a:r>
            <a:r>
              <a:rPr sz="1400" spc="-10" dirty="0">
                <a:latin typeface="微软雅黑" panose="020B0503020204020204" charset="-122"/>
                <a:cs typeface="微软雅黑" panose="020B0503020204020204" charset="-122"/>
              </a:rPr>
              <a:t>D</a:t>
            </a:r>
            <a:r>
              <a:rPr sz="1400" spc="-5" dirty="0">
                <a:latin typeface="微软雅黑" panose="020B0503020204020204" charset="-122"/>
                <a:cs typeface="微软雅黑" panose="020B0503020204020204" charset="-122"/>
              </a:rPr>
              <a:t>E域仅支持模式0，即</a:t>
            </a:r>
            <a:r>
              <a:rPr sz="1400" dirty="0">
                <a:latin typeface="微软雅黑" panose="020B0503020204020204" charset="-122"/>
                <a:cs typeface="微软雅黑" panose="020B0503020204020204" charset="-122"/>
              </a:rPr>
              <a:t>所 </a:t>
            </a:r>
            <a:r>
              <a:rPr sz="1400" dirty="0">
                <a:latin typeface="微软雅黑" panose="020B0503020204020204" charset="-122"/>
                <a:cs typeface="微软雅黑" panose="020B0503020204020204" charset="-122"/>
              </a:rPr>
              <a:t>有异常响应时处理器均跳转到</a:t>
            </a:r>
            <a:r>
              <a:rPr sz="1400" spc="-5" dirty="0">
                <a:latin typeface="微软雅黑" panose="020B0503020204020204" charset="-122"/>
                <a:cs typeface="微软雅黑" panose="020B0503020204020204" charset="-122"/>
              </a:rPr>
              <a:t>BASE</a:t>
            </a:r>
            <a:r>
              <a:rPr sz="1400" dirty="0">
                <a:latin typeface="微软雅黑" panose="020B0503020204020204" charset="-122"/>
                <a:cs typeface="微软雅黑" panose="020B0503020204020204" charset="-122"/>
              </a:rPr>
              <a:t>域指示的</a:t>
            </a:r>
            <a:r>
              <a:rPr sz="1400" spc="-5" dirty="0">
                <a:latin typeface="微软雅黑" panose="020B0503020204020204" charset="-122"/>
                <a:cs typeface="微软雅黑" panose="020B0503020204020204" charset="-122"/>
              </a:rPr>
              <a:t>PC</a:t>
            </a:r>
            <a:r>
              <a:rPr sz="1400" dirty="0">
                <a:latin typeface="微软雅黑" panose="020B0503020204020204" charset="-122"/>
                <a:cs typeface="微软雅黑" panose="020B0503020204020204" charset="-122"/>
              </a:rPr>
              <a:t>地址</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298450" marR="113030" indent="-285750">
              <a:lnSpc>
                <a:spcPct val="150000"/>
              </a:lnSpc>
              <a:buFont typeface="Wingdings" panose="05000000000000000000"/>
              <a:buChar char=""/>
              <a:tabLst>
                <a:tab pos="297815" algn="l"/>
                <a:tab pos="298450" algn="l"/>
              </a:tabLst>
            </a:pPr>
            <a:r>
              <a:rPr sz="1400" dirty="0">
                <a:latin typeface="微软雅黑" panose="020B0503020204020204" charset="-122"/>
                <a:cs typeface="微软雅黑" panose="020B0503020204020204" charset="-122"/>
              </a:rPr>
              <a:t>关于如何进入异常，退出异常以及异常服务程序，等更多细节</a:t>
            </a:r>
            <a:r>
              <a:rPr sz="1400" dirty="0">
                <a:latin typeface="微软雅黑" panose="020B0503020204020204" charset="-122"/>
                <a:cs typeface="微软雅黑" panose="020B0503020204020204" charset="-122"/>
              </a:rPr>
              <a:t>请 </a:t>
            </a:r>
            <a:r>
              <a:rPr sz="1400" dirty="0">
                <a:latin typeface="微软雅黑" panose="020B0503020204020204" charset="-122"/>
                <a:cs typeface="微软雅黑" panose="020B0503020204020204" charset="-122"/>
              </a:rPr>
              <a:t>参考《手把手教你设计</a:t>
            </a:r>
            <a:r>
              <a:rPr sz="1400" spc="-5" dirty="0">
                <a:latin typeface="微软雅黑" panose="020B0503020204020204" charset="-122"/>
                <a:cs typeface="微软雅黑" panose="020B0503020204020204" charset="-122"/>
              </a:rPr>
              <a:t>CPU</a:t>
            </a:r>
            <a:r>
              <a:rPr sz="1400" dirty="0">
                <a:latin typeface="微软雅黑" panose="020B0503020204020204" charset="-122"/>
                <a:cs typeface="微软雅黑" panose="020B0503020204020204" charset="-122"/>
              </a:rPr>
              <a:t>》第</a:t>
            </a:r>
            <a:r>
              <a:rPr sz="1400" spc="-5" dirty="0">
                <a:latin typeface="微软雅黑" panose="020B0503020204020204" charset="-122"/>
                <a:cs typeface="微软雅黑" panose="020B0503020204020204" charset="-122"/>
              </a:rPr>
              <a:t>13</a:t>
            </a:r>
            <a:r>
              <a:rPr sz="1400" dirty="0">
                <a:latin typeface="微软雅黑" panose="020B0503020204020204" charset="-122"/>
                <a:cs typeface="微软雅黑" panose="020B0503020204020204" charset="-122"/>
              </a:rPr>
              <a:t>章</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p:txBody>
      </p:sp>
      <p:sp>
        <p:nvSpPr>
          <p:cNvPr id="36" name="object 36"/>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433324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蜂鸟E</a:t>
            </a:r>
            <a:r>
              <a:rPr sz="3600" spc="-5" dirty="0">
                <a:solidFill>
                  <a:srgbClr val="C00000"/>
                </a:solidFill>
              </a:rPr>
              <a:t>203</a:t>
            </a:r>
            <a:r>
              <a:rPr sz="3600" dirty="0">
                <a:solidFill>
                  <a:srgbClr val="C00000"/>
                </a:solidFill>
              </a:rPr>
              <a:t>的调试机制</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p:nvPr/>
        </p:nvSpPr>
        <p:spPr>
          <a:xfrm>
            <a:off x="7119340" y="4077893"/>
            <a:ext cx="4390390" cy="2096770"/>
          </a:xfrm>
          <a:custGeom>
            <a:avLst/>
            <a:gdLst/>
            <a:ahLst/>
            <a:cxnLst/>
            <a:rect l="l" t="t" r="r" b="b"/>
            <a:pathLst>
              <a:path w="4390390" h="2096770">
                <a:moveTo>
                  <a:pt x="4390263" y="2096211"/>
                </a:moveTo>
                <a:lnTo>
                  <a:pt x="0" y="2096211"/>
                </a:lnTo>
                <a:lnTo>
                  <a:pt x="0" y="0"/>
                </a:lnTo>
                <a:lnTo>
                  <a:pt x="4390263" y="0"/>
                </a:lnTo>
                <a:lnTo>
                  <a:pt x="4390263" y="6350"/>
                </a:lnTo>
                <a:lnTo>
                  <a:pt x="12700" y="6350"/>
                </a:lnTo>
                <a:lnTo>
                  <a:pt x="6350" y="12700"/>
                </a:lnTo>
                <a:lnTo>
                  <a:pt x="12700" y="12700"/>
                </a:lnTo>
                <a:lnTo>
                  <a:pt x="12700" y="2083511"/>
                </a:lnTo>
                <a:lnTo>
                  <a:pt x="6350" y="2083511"/>
                </a:lnTo>
                <a:lnTo>
                  <a:pt x="12700" y="2089861"/>
                </a:lnTo>
                <a:lnTo>
                  <a:pt x="4390263" y="2089861"/>
                </a:lnTo>
                <a:lnTo>
                  <a:pt x="4390263" y="2096211"/>
                </a:lnTo>
                <a:close/>
              </a:path>
              <a:path w="4390390" h="2096770">
                <a:moveTo>
                  <a:pt x="12700" y="12700"/>
                </a:moveTo>
                <a:lnTo>
                  <a:pt x="6350" y="12700"/>
                </a:lnTo>
                <a:lnTo>
                  <a:pt x="12700" y="6350"/>
                </a:lnTo>
                <a:lnTo>
                  <a:pt x="12700" y="12700"/>
                </a:lnTo>
                <a:close/>
              </a:path>
              <a:path w="4390390" h="2096770">
                <a:moveTo>
                  <a:pt x="4377563" y="12700"/>
                </a:moveTo>
                <a:lnTo>
                  <a:pt x="12700" y="12700"/>
                </a:lnTo>
                <a:lnTo>
                  <a:pt x="12700" y="6350"/>
                </a:lnTo>
                <a:lnTo>
                  <a:pt x="4377563" y="6350"/>
                </a:lnTo>
                <a:lnTo>
                  <a:pt x="4377563" y="12700"/>
                </a:lnTo>
                <a:close/>
              </a:path>
              <a:path w="4390390" h="2096770">
                <a:moveTo>
                  <a:pt x="4377563" y="2089861"/>
                </a:moveTo>
                <a:lnTo>
                  <a:pt x="4377563" y="6350"/>
                </a:lnTo>
                <a:lnTo>
                  <a:pt x="4383913" y="12700"/>
                </a:lnTo>
                <a:lnTo>
                  <a:pt x="4390263" y="12700"/>
                </a:lnTo>
                <a:lnTo>
                  <a:pt x="4390263" y="2083511"/>
                </a:lnTo>
                <a:lnTo>
                  <a:pt x="4383913" y="2083511"/>
                </a:lnTo>
                <a:lnTo>
                  <a:pt x="4377563" y="2089861"/>
                </a:lnTo>
                <a:close/>
              </a:path>
              <a:path w="4390390" h="2096770">
                <a:moveTo>
                  <a:pt x="4390263" y="12700"/>
                </a:moveTo>
                <a:lnTo>
                  <a:pt x="4383913" y="12700"/>
                </a:lnTo>
                <a:lnTo>
                  <a:pt x="4377563" y="6350"/>
                </a:lnTo>
                <a:lnTo>
                  <a:pt x="4390263" y="6350"/>
                </a:lnTo>
                <a:lnTo>
                  <a:pt x="4390263" y="12700"/>
                </a:lnTo>
                <a:close/>
              </a:path>
              <a:path w="4390390" h="2096770">
                <a:moveTo>
                  <a:pt x="12700" y="2089861"/>
                </a:moveTo>
                <a:lnTo>
                  <a:pt x="6350" y="2083511"/>
                </a:lnTo>
                <a:lnTo>
                  <a:pt x="12700" y="2083511"/>
                </a:lnTo>
                <a:lnTo>
                  <a:pt x="12700" y="2089861"/>
                </a:lnTo>
                <a:close/>
              </a:path>
              <a:path w="4390390" h="2096770">
                <a:moveTo>
                  <a:pt x="4377563" y="2089861"/>
                </a:moveTo>
                <a:lnTo>
                  <a:pt x="12700" y="2089861"/>
                </a:lnTo>
                <a:lnTo>
                  <a:pt x="12700" y="2083511"/>
                </a:lnTo>
                <a:lnTo>
                  <a:pt x="4377563" y="2083511"/>
                </a:lnTo>
                <a:lnTo>
                  <a:pt x="4377563" y="2089861"/>
                </a:lnTo>
                <a:close/>
              </a:path>
              <a:path w="4390390" h="2096770">
                <a:moveTo>
                  <a:pt x="4390263" y="2089861"/>
                </a:moveTo>
                <a:lnTo>
                  <a:pt x="4377563" y="2089861"/>
                </a:lnTo>
                <a:lnTo>
                  <a:pt x="4383913" y="2083511"/>
                </a:lnTo>
                <a:lnTo>
                  <a:pt x="4390263" y="2083511"/>
                </a:lnTo>
                <a:lnTo>
                  <a:pt x="4390263" y="2089861"/>
                </a:lnTo>
                <a:close/>
              </a:path>
            </a:pathLst>
          </a:custGeom>
          <a:solidFill>
            <a:srgbClr val="C00000"/>
          </a:solidFill>
        </p:spPr>
        <p:txBody>
          <a:bodyPr wrap="square" lIns="0" tIns="0" rIns="0" bIns="0" rtlCol="0"/>
          <a:lstStyle/>
          <a:p/>
        </p:txBody>
      </p:sp>
      <p:sp>
        <p:nvSpPr>
          <p:cNvPr id="5" name="object 5"/>
          <p:cNvSpPr/>
          <p:nvPr/>
        </p:nvSpPr>
        <p:spPr>
          <a:xfrm>
            <a:off x="9368028" y="3124200"/>
            <a:ext cx="2095500" cy="628015"/>
          </a:xfrm>
          <a:custGeom>
            <a:avLst/>
            <a:gdLst/>
            <a:ahLst/>
            <a:cxnLst/>
            <a:rect l="l" t="t" r="r" b="b"/>
            <a:pathLst>
              <a:path w="2095500" h="628014">
                <a:moveTo>
                  <a:pt x="0" y="0"/>
                </a:moveTo>
                <a:lnTo>
                  <a:pt x="2095500" y="0"/>
                </a:lnTo>
                <a:lnTo>
                  <a:pt x="2095500" y="627888"/>
                </a:lnTo>
                <a:lnTo>
                  <a:pt x="0" y="627888"/>
                </a:lnTo>
                <a:lnTo>
                  <a:pt x="0" y="0"/>
                </a:lnTo>
                <a:close/>
              </a:path>
            </a:pathLst>
          </a:custGeom>
          <a:solidFill>
            <a:srgbClr val="D9D9D9"/>
          </a:solidFill>
        </p:spPr>
        <p:txBody>
          <a:bodyPr wrap="square" lIns="0" tIns="0" rIns="0" bIns="0" rtlCol="0"/>
          <a:lstStyle/>
          <a:p/>
        </p:txBody>
      </p:sp>
      <p:sp>
        <p:nvSpPr>
          <p:cNvPr id="6" name="object 6"/>
          <p:cNvSpPr/>
          <p:nvPr/>
        </p:nvSpPr>
        <p:spPr>
          <a:xfrm>
            <a:off x="9360916" y="3118434"/>
            <a:ext cx="2108835" cy="640715"/>
          </a:xfrm>
          <a:custGeom>
            <a:avLst/>
            <a:gdLst/>
            <a:ahLst/>
            <a:cxnLst/>
            <a:rect l="l" t="t" r="r" b="b"/>
            <a:pathLst>
              <a:path w="2108834" h="640714">
                <a:moveTo>
                  <a:pt x="2108517" y="640651"/>
                </a:moveTo>
                <a:lnTo>
                  <a:pt x="0" y="640651"/>
                </a:lnTo>
                <a:lnTo>
                  <a:pt x="0" y="0"/>
                </a:lnTo>
                <a:lnTo>
                  <a:pt x="2108517" y="0"/>
                </a:lnTo>
                <a:lnTo>
                  <a:pt x="2108517" y="6350"/>
                </a:lnTo>
                <a:lnTo>
                  <a:pt x="12700" y="6350"/>
                </a:lnTo>
                <a:lnTo>
                  <a:pt x="6350" y="12700"/>
                </a:lnTo>
                <a:lnTo>
                  <a:pt x="12700" y="12700"/>
                </a:lnTo>
                <a:lnTo>
                  <a:pt x="12700" y="627951"/>
                </a:lnTo>
                <a:lnTo>
                  <a:pt x="6350" y="627951"/>
                </a:lnTo>
                <a:lnTo>
                  <a:pt x="12700" y="634301"/>
                </a:lnTo>
                <a:lnTo>
                  <a:pt x="2108517" y="634301"/>
                </a:lnTo>
                <a:lnTo>
                  <a:pt x="2108517" y="640651"/>
                </a:lnTo>
                <a:close/>
              </a:path>
              <a:path w="2108834" h="640714">
                <a:moveTo>
                  <a:pt x="12700" y="12700"/>
                </a:moveTo>
                <a:lnTo>
                  <a:pt x="6350" y="12700"/>
                </a:lnTo>
                <a:lnTo>
                  <a:pt x="12700" y="6350"/>
                </a:lnTo>
                <a:lnTo>
                  <a:pt x="12700" y="12700"/>
                </a:lnTo>
                <a:close/>
              </a:path>
              <a:path w="2108834" h="640714">
                <a:moveTo>
                  <a:pt x="2095817" y="12700"/>
                </a:moveTo>
                <a:lnTo>
                  <a:pt x="12700" y="12700"/>
                </a:lnTo>
                <a:lnTo>
                  <a:pt x="12700" y="6350"/>
                </a:lnTo>
                <a:lnTo>
                  <a:pt x="2095817" y="6350"/>
                </a:lnTo>
                <a:lnTo>
                  <a:pt x="2095817" y="12700"/>
                </a:lnTo>
                <a:close/>
              </a:path>
              <a:path w="2108834" h="640714">
                <a:moveTo>
                  <a:pt x="2095817" y="634301"/>
                </a:moveTo>
                <a:lnTo>
                  <a:pt x="2095817" y="6350"/>
                </a:lnTo>
                <a:lnTo>
                  <a:pt x="2102167" y="12700"/>
                </a:lnTo>
                <a:lnTo>
                  <a:pt x="2108517" y="12700"/>
                </a:lnTo>
                <a:lnTo>
                  <a:pt x="2108517" y="627951"/>
                </a:lnTo>
                <a:lnTo>
                  <a:pt x="2102167" y="627951"/>
                </a:lnTo>
                <a:lnTo>
                  <a:pt x="2095817" y="634301"/>
                </a:lnTo>
                <a:close/>
              </a:path>
              <a:path w="2108834" h="640714">
                <a:moveTo>
                  <a:pt x="2108517" y="12700"/>
                </a:moveTo>
                <a:lnTo>
                  <a:pt x="2102167" y="12700"/>
                </a:lnTo>
                <a:lnTo>
                  <a:pt x="2095817" y="6350"/>
                </a:lnTo>
                <a:lnTo>
                  <a:pt x="2108517" y="6350"/>
                </a:lnTo>
                <a:lnTo>
                  <a:pt x="2108517" y="12700"/>
                </a:lnTo>
                <a:close/>
              </a:path>
              <a:path w="2108834" h="640714">
                <a:moveTo>
                  <a:pt x="12700" y="634301"/>
                </a:moveTo>
                <a:lnTo>
                  <a:pt x="6350" y="627951"/>
                </a:lnTo>
                <a:lnTo>
                  <a:pt x="12700" y="627951"/>
                </a:lnTo>
                <a:lnTo>
                  <a:pt x="12700" y="634301"/>
                </a:lnTo>
                <a:close/>
              </a:path>
              <a:path w="2108834" h="640714">
                <a:moveTo>
                  <a:pt x="2095817" y="634301"/>
                </a:moveTo>
                <a:lnTo>
                  <a:pt x="12700" y="634301"/>
                </a:lnTo>
                <a:lnTo>
                  <a:pt x="12700" y="627951"/>
                </a:lnTo>
                <a:lnTo>
                  <a:pt x="2095817" y="627951"/>
                </a:lnTo>
                <a:lnTo>
                  <a:pt x="2095817" y="634301"/>
                </a:lnTo>
                <a:close/>
              </a:path>
              <a:path w="2108834" h="640714">
                <a:moveTo>
                  <a:pt x="2108517" y="634301"/>
                </a:moveTo>
                <a:lnTo>
                  <a:pt x="2095817" y="634301"/>
                </a:lnTo>
                <a:lnTo>
                  <a:pt x="2102167" y="627951"/>
                </a:lnTo>
                <a:lnTo>
                  <a:pt x="2108517" y="627951"/>
                </a:lnTo>
                <a:lnTo>
                  <a:pt x="2108517" y="634301"/>
                </a:lnTo>
                <a:close/>
              </a:path>
            </a:pathLst>
          </a:custGeom>
          <a:solidFill>
            <a:srgbClr val="C00000"/>
          </a:solidFill>
        </p:spPr>
        <p:txBody>
          <a:bodyPr wrap="square" lIns="0" tIns="0" rIns="0" bIns="0" rtlCol="0"/>
          <a:lstStyle/>
          <a:p/>
        </p:txBody>
      </p:sp>
      <p:sp>
        <p:nvSpPr>
          <p:cNvPr id="7" name="object 7"/>
          <p:cNvSpPr txBox="1"/>
          <p:nvPr/>
        </p:nvSpPr>
        <p:spPr>
          <a:xfrm>
            <a:off x="9368028" y="3172409"/>
            <a:ext cx="2095500" cy="513715"/>
          </a:xfrm>
          <a:prstGeom prst="rect">
            <a:avLst/>
          </a:prstGeom>
        </p:spPr>
        <p:txBody>
          <a:bodyPr vert="horz" wrap="square" lIns="0" tIns="12700" rIns="0" bIns="0" rtlCol="0">
            <a:spAutoFit/>
          </a:bodyPr>
          <a:lstStyle/>
          <a:p>
            <a:pPr algn="ctr">
              <a:lnSpc>
                <a:spcPct val="100000"/>
              </a:lnSpc>
              <a:spcBef>
                <a:spcPts val="100"/>
              </a:spcBef>
            </a:pPr>
            <a:r>
              <a:rPr sz="1200" b="1" dirty="0">
                <a:solidFill>
                  <a:srgbClr val="C00000"/>
                </a:solidFill>
                <a:latin typeface="微软雅黑" panose="020B0503020204020204" charset="-122"/>
                <a:cs typeface="微软雅黑" panose="020B0503020204020204" charset="-122"/>
              </a:rPr>
              <a:t>调试器支持硬件</a:t>
            </a:r>
            <a:endParaRPr sz="1200">
              <a:latin typeface="微软雅黑" panose="020B0503020204020204" charset="-122"/>
              <a:cs typeface="微软雅黑" panose="020B0503020204020204" charset="-122"/>
            </a:endParaRPr>
          </a:p>
          <a:p>
            <a:pPr algn="ctr">
              <a:lnSpc>
                <a:spcPct val="100000"/>
              </a:lnSpc>
              <a:spcBef>
                <a:spcPts val="5"/>
              </a:spcBef>
            </a:pPr>
            <a:r>
              <a:rPr sz="1000" dirty="0">
                <a:solidFill>
                  <a:srgbClr val="C00000"/>
                </a:solidFill>
                <a:latin typeface="微软雅黑" panose="020B0503020204020204" charset="-122"/>
                <a:cs typeface="微软雅黑" panose="020B0503020204020204" charset="-122"/>
              </a:rPr>
              <a:t>带</a:t>
            </a:r>
            <a:r>
              <a:rPr sz="1000" spc="-5" dirty="0">
                <a:solidFill>
                  <a:srgbClr val="C00000"/>
                </a:solidFill>
                <a:latin typeface="微软雅黑" panose="020B0503020204020204" charset="-122"/>
                <a:cs typeface="微软雅黑" panose="020B0503020204020204" charset="-122"/>
              </a:rPr>
              <a:t>FTDI</a:t>
            </a:r>
            <a:r>
              <a:rPr sz="1000" spc="-10" dirty="0">
                <a:solidFill>
                  <a:srgbClr val="C00000"/>
                </a:solidFill>
                <a:latin typeface="微软雅黑" panose="020B0503020204020204" charset="-122"/>
                <a:cs typeface="微软雅黑" panose="020B0503020204020204" charset="-122"/>
              </a:rPr>
              <a:t> </a:t>
            </a:r>
            <a:r>
              <a:rPr sz="1000" spc="-5" dirty="0">
                <a:solidFill>
                  <a:srgbClr val="C00000"/>
                </a:solidFill>
                <a:latin typeface="微软雅黑" panose="020B0503020204020204" charset="-122"/>
                <a:cs typeface="微软雅黑" panose="020B0503020204020204" charset="-122"/>
              </a:rPr>
              <a:t>USB2JTAG</a:t>
            </a:r>
            <a:r>
              <a:rPr sz="1000" dirty="0">
                <a:solidFill>
                  <a:srgbClr val="C00000"/>
                </a:solidFill>
                <a:latin typeface="微软雅黑" panose="020B0503020204020204" charset="-122"/>
                <a:cs typeface="微软雅黑" panose="020B0503020204020204" charset="-122"/>
              </a:rPr>
              <a:t>芯片</a:t>
            </a:r>
            <a:r>
              <a:rPr sz="1000" spc="-5" dirty="0">
                <a:solidFill>
                  <a:srgbClr val="C00000"/>
                </a:solidFill>
                <a:latin typeface="微软雅黑" panose="020B0503020204020204" charset="-122"/>
                <a:cs typeface="微软雅黑" panose="020B0503020204020204" charset="-122"/>
              </a:rPr>
              <a:t>的</a:t>
            </a:r>
            <a:endParaRPr sz="1000">
              <a:latin typeface="微软雅黑" panose="020B0503020204020204" charset="-122"/>
              <a:cs typeface="微软雅黑" panose="020B0503020204020204" charset="-122"/>
            </a:endParaRPr>
          </a:p>
          <a:p>
            <a:pPr algn="ctr">
              <a:lnSpc>
                <a:spcPct val="100000"/>
              </a:lnSpc>
            </a:pPr>
            <a:r>
              <a:rPr sz="1000" dirty="0">
                <a:solidFill>
                  <a:srgbClr val="C00000"/>
                </a:solidFill>
                <a:latin typeface="微软雅黑" panose="020B0503020204020204" charset="-122"/>
                <a:cs typeface="微软雅黑" panose="020B0503020204020204" charset="-122"/>
              </a:rPr>
              <a:t>下载</a:t>
            </a:r>
            <a:r>
              <a:rPr sz="1000" spc="-5" dirty="0">
                <a:solidFill>
                  <a:srgbClr val="C00000"/>
                </a:solidFill>
                <a:latin typeface="微软雅黑" panose="020B0503020204020204" charset="-122"/>
                <a:cs typeface="微软雅黑" panose="020B0503020204020204" charset="-122"/>
              </a:rPr>
              <a:t>器</a:t>
            </a:r>
            <a:endParaRPr sz="1000">
              <a:latin typeface="微软雅黑" panose="020B0503020204020204" charset="-122"/>
              <a:cs typeface="微软雅黑" panose="020B0503020204020204" charset="-122"/>
            </a:endParaRPr>
          </a:p>
        </p:txBody>
      </p:sp>
      <p:sp>
        <p:nvSpPr>
          <p:cNvPr id="8" name="object 8"/>
          <p:cNvSpPr txBox="1"/>
          <p:nvPr/>
        </p:nvSpPr>
        <p:spPr>
          <a:xfrm>
            <a:off x="7529156" y="2294737"/>
            <a:ext cx="1507490" cy="240029"/>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C00000"/>
                </a:solidFill>
                <a:latin typeface="微软雅黑" panose="020B0503020204020204" charset="-122"/>
                <a:cs typeface="微软雅黑" panose="020B0503020204020204" charset="-122"/>
              </a:rPr>
              <a:t>主机PC端调试主</a:t>
            </a:r>
            <a:r>
              <a:rPr sz="1400" b="1" spc="5" dirty="0">
                <a:solidFill>
                  <a:srgbClr val="C00000"/>
                </a:solidFill>
                <a:latin typeface="微软雅黑" panose="020B0503020204020204" charset="-122"/>
                <a:cs typeface="微软雅黑" panose="020B0503020204020204" charset="-122"/>
              </a:rPr>
              <a:t>机</a:t>
            </a:r>
            <a:endParaRPr sz="1400">
              <a:latin typeface="微软雅黑" panose="020B0503020204020204" charset="-122"/>
              <a:cs typeface="微软雅黑" panose="020B0503020204020204" charset="-122"/>
            </a:endParaRPr>
          </a:p>
        </p:txBody>
      </p:sp>
      <p:sp>
        <p:nvSpPr>
          <p:cNvPr id="9" name="object 9"/>
          <p:cNvSpPr/>
          <p:nvPr/>
        </p:nvSpPr>
        <p:spPr>
          <a:xfrm>
            <a:off x="7115898" y="1069975"/>
            <a:ext cx="4390390" cy="1721485"/>
          </a:xfrm>
          <a:custGeom>
            <a:avLst/>
            <a:gdLst/>
            <a:ahLst/>
            <a:cxnLst/>
            <a:rect l="l" t="t" r="r" b="b"/>
            <a:pathLst>
              <a:path w="4390390" h="1721485">
                <a:moveTo>
                  <a:pt x="4390262" y="1721332"/>
                </a:moveTo>
                <a:lnTo>
                  <a:pt x="0" y="1721332"/>
                </a:lnTo>
                <a:lnTo>
                  <a:pt x="0" y="0"/>
                </a:lnTo>
                <a:lnTo>
                  <a:pt x="4390262" y="0"/>
                </a:lnTo>
                <a:lnTo>
                  <a:pt x="4390262" y="6350"/>
                </a:lnTo>
                <a:lnTo>
                  <a:pt x="12700" y="6350"/>
                </a:lnTo>
                <a:lnTo>
                  <a:pt x="6350" y="12700"/>
                </a:lnTo>
                <a:lnTo>
                  <a:pt x="12700" y="12700"/>
                </a:lnTo>
                <a:lnTo>
                  <a:pt x="12700" y="1708632"/>
                </a:lnTo>
                <a:lnTo>
                  <a:pt x="6350" y="1708632"/>
                </a:lnTo>
                <a:lnTo>
                  <a:pt x="12700" y="1714982"/>
                </a:lnTo>
                <a:lnTo>
                  <a:pt x="4390262" y="1714982"/>
                </a:lnTo>
                <a:lnTo>
                  <a:pt x="4390262" y="1721332"/>
                </a:lnTo>
                <a:close/>
              </a:path>
              <a:path w="4390390" h="1721485">
                <a:moveTo>
                  <a:pt x="12700" y="12700"/>
                </a:moveTo>
                <a:lnTo>
                  <a:pt x="6350" y="12700"/>
                </a:lnTo>
                <a:lnTo>
                  <a:pt x="12700" y="6350"/>
                </a:lnTo>
                <a:lnTo>
                  <a:pt x="12700" y="12700"/>
                </a:lnTo>
                <a:close/>
              </a:path>
              <a:path w="4390390" h="1721485">
                <a:moveTo>
                  <a:pt x="4377562" y="12700"/>
                </a:moveTo>
                <a:lnTo>
                  <a:pt x="12700" y="12700"/>
                </a:lnTo>
                <a:lnTo>
                  <a:pt x="12700" y="6350"/>
                </a:lnTo>
                <a:lnTo>
                  <a:pt x="4377562" y="6350"/>
                </a:lnTo>
                <a:lnTo>
                  <a:pt x="4377562" y="12700"/>
                </a:lnTo>
                <a:close/>
              </a:path>
              <a:path w="4390390" h="1721485">
                <a:moveTo>
                  <a:pt x="4377562" y="1714982"/>
                </a:moveTo>
                <a:lnTo>
                  <a:pt x="4377562" y="6350"/>
                </a:lnTo>
                <a:lnTo>
                  <a:pt x="4383912" y="12700"/>
                </a:lnTo>
                <a:lnTo>
                  <a:pt x="4390262" y="12700"/>
                </a:lnTo>
                <a:lnTo>
                  <a:pt x="4390262" y="1708632"/>
                </a:lnTo>
                <a:lnTo>
                  <a:pt x="4383912" y="1708632"/>
                </a:lnTo>
                <a:lnTo>
                  <a:pt x="4377562" y="1714982"/>
                </a:lnTo>
                <a:close/>
              </a:path>
              <a:path w="4390390" h="1721485">
                <a:moveTo>
                  <a:pt x="4390262" y="12700"/>
                </a:moveTo>
                <a:lnTo>
                  <a:pt x="4383912" y="12700"/>
                </a:lnTo>
                <a:lnTo>
                  <a:pt x="4377562" y="6350"/>
                </a:lnTo>
                <a:lnTo>
                  <a:pt x="4390262" y="6350"/>
                </a:lnTo>
                <a:lnTo>
                  <a:pt x="4390262" y="12700"/>
                </a:lnTo>
                <a:close/>
              </a:path>
              <a:path w="4390390" h="1721485">
                <a:moveTo>
                  <a:pt x="12700" y="1714982"/>
                </a:moveTo>
                <a:lnTo>
                  <a:pt x="6350" y="1708632"/>
                </a:lnTo>
                <a:lnTo>
                  <a:pt x="12700" y="1708632"/>
                </a:lnTo>
                <a:lnTo>
                  <a:pt x="12700" y="1714982"/>
                </a:lnTo>
                <a:close/>
              </a:path>
              <a:path w="4390390" h="1721485">
                <a:moveTo>
                  <a:pt x="4377562" y="1714982"/>
                </a:moveTo>
                <a:lnTo>
                  <a:pt x="12700" y="1714982"/>
                </a:lnTo>
                <a:lnTo>
                  <a:pt x="12700" y="1708632"/>
                </a:lnTo>
                <a:lnTo>
                  <a:pt x="4377562" y="1708632"/>
                </a:lnTo>
                <a:lnTo>
                  <a:pt x="4377562" y="1714982"/>
                </a:lnTo>
                <a:close/>
              </a:path>
              <a:path w="4390390" h="1721485">
                <a:moveTo>
                  <a:pt x="4390262" y="1714982"/>
                </a:moveTo>
                <a:lnTo>
                  <a:pt x="4377562" y="1714982"/>
                </a:lnTo>
                <a:lnTo>
                  <a:pt x="4383912" y="1708632"/>
                </a:lnTo>
                <a:lnTo>
                  <a:pt x="4390262" y="1708632"/>
                </a:lnTo>
                <a:lnTo>
                  <a:pt x="4390262" y="1714982"/>
                </a:lnTo>
                <a:close/>
              </a:path>
            </a:pathLst>
          </a:custGeom>
          <a:solidFill>
            <a:srgbClr val="C00000"/>
          </a:solidFill>
        </p:spPr>
        <p:txBody>
          <a:bodyPr wrap="square" lIns="0" tIns="0" rIns="0" bIns="0" rtlCol="0"/>
          <a:lstStyle/>
          <a:p/>
        </p:txBody>
      </p:sp>
      <p:sp>
        <p:nvSpPr>
          <p:cNvPr id="10" name="object 10"/>
          <p:cNvSpPr/>
          <p:nvPr/>
        </p:nvSpPr>
        <p:spPr>
          <a:xfrm>
            <a:off x="7397495" y="1249680"/>
            <a:ext cx="1621790" cy="692150"/>
          </a:xfrm>
          <a:custGeom>
            <a:avLst/>
            <a:gdLst/>
            <a:ahLst/>
            <a:cxnLst/>
            <a:rect l="l" t="t" r="r" b="b"/>
            <a:pathLst>
              <a:path w="1621790" h="692150">
                <a:moveTo>
                  <a:pt x="0" y="0"/>
                </a:moveTo>
                <a:lnTo>
                  <a:pt x="1621536" y="0"/>
                </a:lnTo>
                <a:lnTo>
                  <a:pt x="1621536" y="691896"/>
                </a:lnTo>
                <a:lnTo>
                  <a:pt x="0" y="691896"/>
                </a:lnTo>
                <a:lnTo>
                  <a:pt x="0" y="0"/>
                </a:lnTo>
                <a:close/>
              </a:path>
            </a:pathLst>
          </a:custGeom>
          <a:solidFill>
            <a:srgbClr val="D9D9D9"/>
          </a:solidFill>
        </p:spPr>
        <p:txBody>
          <a:bodyPr wrap="square" lIns="0" tIns="0" rIns="0" bIns="0" rtlCol="0"/>
          <a:lstStyle/>
          <a:p/>
        </p:txBody>
      </p:sp>
      <p:sp>
        <p:nvSpPr>
          <p:cNvPr id="11" name="object 11"/>
          <p:cNvSpPr/>
          <p:nvPr/>
        </p:nvSpPr>
        <p:spPr>
          <a:xfrm>
            <a:off x="7391362" y="1244041"/>
            <a:ext cx="1634489" cy="704850"/>
          </a:xfrm>
          <a:custGeom>
            <a:avLst/>
            <a:gdLst/>
            <a:ahLst/>
            <a:cxnLst/>
            <a:rect l="l" t="t" r="r" b="b"/>
            <a:pathLst>
              <a:path w="1634490" h="704850">
                <a:moveTo>
                  <a:pt x="1634490" y="704240"/>
                </a:moveTo>
                <a:lnTo>
                  <a:pt x="0" y="704240"/>
                </a:lnTo>
                <a:lnTo>
                  <a:pt x="0" y="0"/>
                </a:lnTo>
                <a:lnTo>
                  <a:pt x="1634490" y="0"/>
                </a:lnTo>
                <a:lnTo>
                  <a:pt x="1634490" y="6349"/>
                </a:lnTo>
                <a:lnTo>
                  <a:pt x="12700" y="6349"/>
                </a:lnTo>
                <a:lnTo>
                  <a:pt x="6350" y="12699"/>
                </a:lnTo>
                <a:lnTo>
                  <a:pt x="12700" y="12699"/>
                </a:lnTo>
                <a:lnTo>
                  <a:pt x="12700" y="691540"/>
                </a:lnTo>
                <a:lnTo>
                  <a:pt x="6350" y="691540"/>
                </a:lnTo>
                <a:lnTo>
                  <a:pt x="12700" y="697890"/>
                </a:lnTo>
                <a:lnTo>
                  <a:pt x="1634490" y="697890"/>
                </a:lnTo>
                <a:lnTo>
                  <a:pt x="1634490" y="704240"/>
                </a:lnTo>
                <a:close/>
              </a:path>
              <a:path w="1634490" h="704850">
                <a:moveTo>
                  <a:pt x="12700" y="12699"/>
                </a:moveTo>
                <a:lnTo>
                  <a:pt x="6350" y="12699"/>
                </a:lnTo>
                <a:lnTo>
                  <a:pt x="12700" y="6349"/>
                </a:lnTo>
                <a:lnTo>
                  <a:pt x="12700" y="12699"/>
                </a:lnTo>
                <a:close/>
              </a:path>
              <a:path w="1634490" h="704850">
                <a:moveTo>
                  <a:pt x="1621790" y="12699"/>
                </a:moveTo>
                <a:lnTo>
                  <a:pt x="12700" y="12699"/>
                </a:lnTo>
                <a:lnTo>
                  <a:pt x="12700" y="6349"/>
                </a:lnTo>
                <a:lnTo>
                  <a:pt x="1621790" y="6349"/>
                </a:lnTo>
                <a:lnTo>
                  <a:pt x="1621790" y="12699"/>
                </a:lnTo>
                <a:close/>
              </a:path>
              <a:path w="1634490" h="704850">
                <a:moveTo>
                  <a:pt x="1621790" y="697890"/>
                </a:moveTo>
                <a:lnTo>
                  <a:pt x="1621790" y="6349"/>
                </a:lnTo>
                <a:lnTo>
                  <a:pt x="1628140" y="12699"/>
                </a:lnTo>
                <a:lnTo>
                  <a:pt x="1634490" y="12699"/>
                </a:lnTo>
                <a:lnTo>
                  <a:pt x="1634490" y="691540"/>
                </a:lnTo>
                <a:lnTo>
                  <a:pt x="1628140" y="691540"/>
                </a:lnTo>
                <a:lnTo>
                  <a:pt x="1621790" y="697890"/>
                </a:lnTo>
                <a:close/>
              </a:path>
              <a:path w="1634490" h="704850">
                <a:moveTo>
                  <a:pt x="1634490" y="12699"/>
                </a:moveTo>
                <a:lnTo>
                  <a:pt x="1628140" y="12699"/>
                </a:lnTo>
                <a:lnTo>
                  <a:pt x="1621790" y="6349"/>
                </a:lnTo>
                <a:lnTo>
                  <a:pt x="1634490" y="6349"/>
                </a:lnTo>
                <a:lnTo>
                  <a:pt x="1634490" y="12699"/>
                </a:lnTo>
                <a:close/>
              </a:path>
              <a:path w="1634490" h="704850">
                <a:moveTo>
                  <a:pt x="12700" y="697890"/>
                </a:moveTo>
                <a:lnTo>
                  <a:pt x="6350" y="691540"/>
                </a:lnTo>
                <a:lnTo>
                  <a:pt x="12700" y="691540"/>
                </a:lnTo>
                <a:lnTo>
                  <a:pt x="12700" y="697890"/>
                </a:lnTo>
                <a:close/>
              </a:path>
              <a:path w="1634490" h="704850">
                <a:moveTo>
                  <a:pt x="1621790" y="697890"/>
                </a:moveTo>
                <a:lnTo>
                  <a:pt x="12700" y="697890"/>
                </a:lnTo>
                <a:lnTo>
                  <a:pt x="12700" y="691540"/>
                </a:lnTo>
                <a:lnTo>
                  <a:pt x="1621790" y="691540"/>
                </a:lnTo>
                <a:lnTo>
                  <a:pt x="1621790" y="697890"/>
                </a:lnTo>
                <a:close/>
              </a:path>
              <a:path w="1634490" h="704850">
                <a:moveTo>
                  <a:pt x="1634490" y="697890"/>
                </a:moveTo>
                <a:lnTo>
                  <a:pt x="1621790" y="697890"/>
                </a:lnTo>
                <a:lnTo>
                  <a:pt x="1628140" y="691540"/>
                </a:lnTo>
                <a:lnTo>
                  <a:pt x="1634490" y="691540"/>
                </a:lnTo>
                <a:lnTo>
                  <a:pt x="1634490" y="697890"/>
                </a:lnTo>
                <a:close/>
              </a:path>
            </a:pathLst>
          </a:custGeom>
          <a:solidFill>
            <a:srgbClr val="C00000"/>
          </a:solidFill>
        </p:spPr>
        <p:txBody>
          <a:bodyPr wrap="square" lIns="0" tIns="0" rIns="0" bIns="0" rtlCol="0"/>
          <a:lstStyle/>
          <a:p/>
        </p:txBody>
      </p:sp>
      <p:sp>
        <p:nvSpPr>
          <p:cNvPr id="12" name="object 12"/>
          <p:cNvSpPr txBox="1"/>
          <p:nvPr/>
        </p:nvSpPr>
        <p:spPr>
          <a:xfrm>
            <a:off x="7397495" y="1405966"/>
            <a:ext cx="1621790" cy="361315"/>
          </a:xfrm>
          <a:prstGeom prst="rect">
            <a:avLst/>
          </a:prstGeom>
        </p:spPr>
        <p:txBody>
          <a:bodyPr vert="horz" wrap="square" lIns="0" tIns="12700" rIns="0" bIns="0" rtlCol="0">
            <a:spAutoFit/>
          </a:bodyPr>
          <a:lstStyle/>
          <a:p>
            <a:pPr algn="ctr">
              <a:lnSpc>
                <a:spcPct val="100000"/>
              </a:lnSpc>
              <a:spcBef>
                <a:spcPts val="100"/>
              </a:spcBef>
            </a:pPr>
            <a:r>
              <a:rPr sz="1200" b="1" dirty="0">
                <a:solidFill>
                  <a:srgbClr val="C00000"/>
                </a:solidFill>
                <a:latin typeface="微软雅黑" panose="020B0503020204020204" charset="-122"/>
                <a:cs typeface="微软雅黑" panose="020B0503020204020204" charset="-122"/>
              </a:rPr>
              <a:t>调试软件</a:t>
            </a:r>
            <a:endParaRPr sz="1200">
              <a:latin typeface="微软雅黑" panose="020B0503020204020204" charset="-122"/>
              <a:cs typeface="微软雅黑" panose="020B0503020204020204" charset="-122"/>
            </a:endParaRPr>
          </a:p>
          <a:p>
            <a:pPr algn="ctr">
              <a:lnSpc>
                <a:spcPct val="100000"/>
              </a:lnSpc>
              <a:spcBef>
                <a:spcPts val="5"/>
              </a:spcBef>
            </a:pPr>
            <a:r>
              <a:rPr sz="1000" spc="-5" dirty="0">
                <a:solidFill>
                  <a:srgbClr val="C00000"/>
                </a:solidFill>
                <a:latin typeface="微软雅黑" panose="020B0503020204020204" charset="-122"/>
                <a:cs typeface="微软雅黑" panose="020B0503020204020204" charset="-122"/>
              </a:rPr>
              <a:t>GDB</a:t>
            </a:r>
            <a:endParaRPr sz="1000">
              <a:latin typeface="微软雅黑" panose="020B0503020204020204" charset="-122"/>
              <a:cs typeface="微软雅黑" panose="020B0503020204020204" charset="-122"/>
            </a:endParaRPr>
          </a:p>
        </p:txBody>
      </p:sp>
      <p:sp>
        <p:nvSpPr>
          <p:cNvPr id="13" name="object 13"/>
          <p:cNvSpPr/>
          <p:nvPr/>
        </p:nvSpPr>
        <p:spPr>
          <a:xfrm>
            <a:off x="9616440" y="1249680"/>
            <a:ext cx="1621790" cy="692150"/>
          </a:xfrm>
          <a:custGeom>
            <a:avLst/>
            <a:gdLst/>
            <a:ahLst/>
            <a:cxnLst/>
            <a:rect l="l" t="t" r="r" b="b"/>
            <a:pathLst>
              <a:path w="1621790" h="692150">
                <a:moveTo>
                  <a:pt x="0" y="0"/>
                </a:moveTo>
                <a:lnTo>
                  <a:pt x="1621536" y="0"/>
                </a:lnTo>
                <a:lnTo>
                  <a:pt x="1621536" y="691896"/>
                </a:lnTo>
                <a:lnTo>
                  <a:pt x="0" y="691896"/>
                </a:lnTo>
                <a:lnTo>
                  <a:pt x="0" y="0"/>
                </a:lnTo>
                <a:close/>
              </a:path>
            </a:pathLst>
          </a:custGeom>
          <a:solidFill>
            <a:srgbClr val="D9D9D9"/>
          </a:solidFill>
        </p:spPr>
        <p:txBody>
          <a:bodyPr wrap="square" lIns="0" tIns="0" rIns="0" bIns="0" rtlCol="0"/>
          <a:lstStyle/>
          <a:p/>
        </p:txBody>
      </p:sp>
      <p:sp>
        <p:nvSpPr>
          <p:cNvPr id="14" name="object 14"/>
          <p:cNvSpPr/>
          <p:nvPr/>
        </p:nvSpPr>
        <p:spPr>
          <a:xfrm>
            <a:off x="9609988" y="1243457"/>
            <a:ext cx="1634489" cy="704850"/>
          </a:xfrm>
          <a:custGeom>
            <a:avLst/>
            <a:gdLst/>
            <a:ahLst/>
            <a:cxnLst/>
            <a:rect l="l" t="t" r="r" b="b"/>
            <a:pathLst>
              <a:path w="1634490" h="704850">
                <a:moveTo>
                  <a:pt x="1634477" y="704824"/>
                </a:moveTo>
                <a:lnTo>
                  <a:pt x="0" y="704824"/>
                </a:lnTo>
                <a:lnTo>
                  <a:pt x="0" y="0"/>
                </a:lnTo>
                <a:lnTo>
                  <a:pt x="1634477" y="0"/>
                </a:lnTo>
                <a:lnTo>
                  <a:pt x="1634477" y="6350"/>
                </a:lnTo>
                <a:lnTo>
                  <a:pt x="12700" y="6350"/>
                </a:lnTo>
                <a:lnTo>
                  <a:pt x="6350" y="12700"/>
                </a:lnTo>
                <a:lnTo>
                  <a:pt x="12700" y="12700"/>
                </a:lnTo>
                <a:lnTo>
                  <a:pt x="12700" y="692124"/>
                </a:lnTo>
                <a:lnTo>
                  <a:pt x="6350" y="692124"/>
                </a:lnTo>
                <a:lnTo>
                  <a:pt x="12700" y="698474"/>
                </a:lnTo>
                <a:lnTo>
                  <a:pt x="1634477" y="698474"/>
                </a:lnTo>
                <a:lnTo>
                  <a:pt x="1634477" y="704824"/>
                </a:lnTo>
                <a:close/>
              </a:path>
              <a:path w="1634490" h="704850">
                <a:moveTo>
                  <a:pt x="12700" y="12700"/>
                </a:moveTo>
                <a:lnTo>
                  <a:pt x="6350" y="12700"/>
                </a:lnTo>
                <a:lnTo>
                  <a:pt x="12700" y="6350"/>
                </a:lnTo>
                <a:lnTo>
                  <a:pt x="12700" y="12700"/>
                </a:lnTo>
                <a:close/>
              </a:path>
              <a:path w="1634490" h="704850">
                <a:moveTo>
                  <a:pt x="1621777" y="12700"/>
                </a:moveTo>
                <a:lnTo>
                  <a:pt x="12700" y="12700"/>
                </a:lnTo>
                <a:lnTo>
                  <a:pt x="12700" y="6350"/>
                </a:lnTo>
                <a:lnTo>
                  <a:pt x="1621777" y="6350"/>
                </a:lnTo>
                <a:lnTo>
                  <a:pt x="1621777" y="12700"/>
                </a:lnTo>
                <a:close/>
              </a:path>
              <a:path w="1634490" h="704850">
                <a:moveTo>
                  <a:pt x="1621777" y="698474"/>
                </a:moveTo>
                <a:lnTo>
                  <a:pt x="1621777" y="6350"/>
                </a:lnTo>
                <a:lnTo>
                  <a:pt x="1628127" y="12700"/>
                </a:lnTo>
                <a:lnTo>
                  <a:pt x="1634477" y="12700"/>
                </a:lnTo>
                <a:lnTo>
                  <a:pt x="1634477" y="692124"/>
                </a:lnTo>
                <a:lnTo>
                  <a:pt x="1628127" y="692124"/>
                </a:lnTo>
                <a:lnTo>
                  <a:pt x="1621777" y="698474"/>
                </a:lnTo>
                <a:close/>
              </a:path>
              <a:path w="1634490" h="704850">
                <a:moveTo>
                  <a:pt x="1634477" y="12700"/>
                </a:moveTo>
                <a:lnTo>
                  <a:pt x="1628127" y="12700"/>
                </a:lnTo>
                <a:lnTo>
                  <a:pt x="1621777" y="6350"/>
                </a:lnTo>
                <a:lnTo>
                  <a:pt x="1634477" y="6350"/>
                </a:lnTo>
                <a:lnTo>
                  <a:pt x="1634477" y="12700"/>
                </a:lnTo>
                <a:close/>
              </a:path>
              <a:path w="1634490" h="704850">
                <a:moveTo>
                  <a:pt x="12700" y="698474"/>
                </a:moveTo>
                <a:lnTo>
                  <a:pt x="6350" y="692124"/>
                </a:lnTo>
                <a:lnTo>
                  <a:pt x="12700" y="692124"/>
                </a:lnTo>
                <a:lnTo>
                  <a:pt x="12700" y="698474"/>
                </a:lnTo>
                <a:close/>
              </a:path>
              <a:path w="1634490" h="704850">
                <a:moveTo>
                  <a:pt x="1621777" y="698474"/>
                </a:moveTo>
                <a:lnTo>
                  <a:pt x="12700" y="698474"/>
                </a:lnTo>
                <a:lnTo>
                  <a:pt x="12700" y="692124"/>
                </a:lnTo>
                <a:lnTo>
                  <a:pt x="1621777" y="692124"/>
                </a:lnTo>
                <a:lnTo>
                  <a:pt x="1621777" y="698474"/>
                </a:lnTo>
                <a:close/>
              </a:path>
              <a:path w="1634490" h="704850">
                <a:moveTo>
                  <a:pt x="1634477" y="698474"/>
                </a:moveTo>
                <a:lnTo>
                  <a:pt x="1621777" y="698474"/>
                </a:lnTo>
                <a:lnTo>
                  <a:pt x="1628127" y="692124"/>
                </a:lnTo>
                <a:lnTo>
                  <a:pt x="1634477" y="692124"/>
                </a:lnTo>
                <a:lnTo>
                  <a:pt x="1634477" y="698474"/>
                </a:lnTo>
                <a:close/>
              </a:path>
            </a:pathLst>
          </a:custGeom>
          <a:solidFill>
            <a:srgbClr val="C00000"/>
          </a:solidFill>
        </p:spPr>
        <p:txBody>
          <a:bodyPr wrap="square" lIns="0" tIns="0" rIns="0" bIns="0" rtlCol="0"/>
          <a:lstStyle/>
          <a:p/>
        </p:txBody>
      </p:sp>
      <p:sp>
        <p:nvSpPr>
          <p:cNvPr id="15" name="object 15"/>
          <p:cNvSpPr txBox="1"/>
          <p:nvPr/>
        </p:nvSpPr>
        <p:spPr>
          <a:xfrm>
            <a:off x="9616440" y="1329182"/>
            <a:ext cx="1621790" cy="513715"/>
          </a:xfrm>
          <a:prstGeom prst="rect">
            <a:avLst/>
          </a:prstGeom>
        </p:spPr>
        <p:txBody>
          <a:bodyPr vert="horz" wrap="square" lIns="0" tIns="12700" rIns="0" bIns="0" rtlCol="0">
            <a:spAutoFit/>
          </a:bodyPr>
          <a:lstStyle/>
          <a:p>
            <a:pPr marL="276225">
              <a:lnSpc>
                <a:spcPct val="100000"/>
              </a:lnSpc>
              <a:spcBef>
                <a:spcPts val="100"/>
              </a:spcBef>
            </a:pPr>
            <a:r>
              <a:rPr sz="1200" b="1" dirty="0">
                <a:solidFill>
                  <a:srgbClr val="C00000"/>
                </a:solidFill>
                <a:latin typeface="微软雅黑" panose="020B0503020204020204" charset="-122"/>
                <a:cs typeface="微软雅黑" panose="020B0503020204020204" charset="-122"/>
              </a:rPr>
              <a:t>调试器支持软件</a:t>
            </a:r>
            <a:endParaRPr sz="1200">
              <a:latin typeface="微软雅黑" panose="020B0503020204020204" charset="-122"/>
              <a:cs typeface="微软雅黑" panose="020B0503020204020204" charset="-122"/>
            </a:endParaRPr>
          </a:p>
          <a:p>
            <a:pPr marL="372745" marR="367030" algn="ctr">
              <a:lnSpc>
                <a:spcPct val="100000"/>
              </a:lnSpc>
              <a:spcBef>
                <a:spcPts val="5"/>
              </a:spcBef>
            </a:pPr>
            <a:r>
              <a:rPr sz="1000" spc="-5" dirty="0">
                <a:solidFill>
                  <a:srgbClr val="C00000"/>
                </a:solidFill>
                <a:latin typeface="微软雅黑" panose="020B0503020204020204" charset="-122"/>
                <a:cs typeface="微软雅黑" panose="020B0503020204020204" charset="-122"/>
              </a:rPr>
              <a:t>OpenOCD</a:t>
            </a:r>
            <a:r>
              <a:rPr sz="1000" dirty="0">
                <a:solidFill>
                  <a:srgbClr val="C00000"/>
                </a:solidFill>
                <a:latin typeface="微软雅黑" panose="020B0503020204020204" charset="-122"/>
                <a:cs typeface="微软雅黑" panose="020B0503020204020204" charset="-122"/>
              </a:rPr>
              <a:t>充</a:t>
            </a:r>
            <a:r>
              <a:rPr sz="1000" spc="-5" dirty="0">
                <a:solidFill>
                  <a:srgbClr val="C00000"/>
                </a:solidFill>
                <a:latin typeface="微软雅黑" panose="020B0503020204020204" charset="-122"/>
                <a:cs typeface="微软雅黑" panose="020B0503020204020204" charset="-122"/>
              </a:rPr>
              <a:t>当  </a:t>
            </a:r>
            <a:r>
              <a:rPr sz="1000" spc="-5" dirty="0">
                <a:solidFill>
                  <a:srgbClr val="C00000"/>
                </a:solidFill>
                <a:latin typeface="微软雅黑" panose="020B0503020204020204" charset="-122"/>
                <a:cs typeface="微软雅黑" panose="020B0503020204020204" charset="-122"/>
              </a:rPr>
              <a:t>GDBServer</a:t>
            </a:r>
            <a:endParaRPr sz="1000">
              <a:latin typeface="微软雅黑" panose="020B0503020204020204" charset="-122"/>
              <a:cs typeface="微软雅黑" panose="020B0503020204020204" charset="-122"/>
            </a:endParaRPr>
          </a:p>
        </p:txBody>
      </p:sp>
      <p:sp>
        <p:nvSpPr>
          <p:cNvPr id="16" name="object 16"/>
          <p:cNvSpPr/>
          <p:nvPr/>
        </p:nvSpPr>
        <p:spPr>
          <a:xfrm>
            <a:off x="9616440" y="2240279"/>
            <a:ext cx="1621790" cy="407034"/>
          </a:xfrm>
          <a:custGeom>
            <a:avLst/>
            <a:gdLst/>
            <a:ahLst/>
            <a:cxnLst/>
            <a:rect l="l" t="t" r="r" b="b"/>
            <a:pathLst>
              <a:path w="1621790" h="407035">
                <a:moveTo>
                  <a:pt x="0" y="0"/>
                </a:moveTo>
                <a:lnTo>
                  <a:pt x="1621536" y="0"/>
                </a:lnTo>
                <a:lnTo>
                  <a:pt x="1621536" y="406908"/>
                </a:lnTo>
                <a:lnTo>
                  <a:pt x="0" y="406908"/>
                </a:lnTo>
                <a:lnTo>
                  <a:pt x="0" y="0"/>
                </a:lnTo>
                <a:close/>
              </a:path>
            </a:pathLst>
          </a:custGeom>
          <a:solidFill>
            <a:srgbClr val="D9D9D9"/>
          </a:solidFill>
        </p:spPr>
        <p:txBody>
          <a:bodyPr wrap="square" lIns="0" tIns="0" rIns="0" bIns="0" rtlCol="0"/>
          <a:lstStyle/>
          <a:p/>
        </p:txBody>
      </p:sp>
      <p:sp>
        <p:nvSpPr>
          <p:cNvPr id="17" name="object 17"/>
          <p:cNvSpPr/>
          <p:nvPr/>
        </p:nvSpPr>
        <p:spPr>
          <a:xfrm>
            <a:off x="9609988" y="2234412"/>
            <a:ext cx="1634489" cy="419100"/>
          </a:xfrm>
          <a:custGeom>
            <a:avLst/>
            <a:gdLst/>
            <a:ahLst/>
            <a:cxnLst/>
            <a:rect l="l" t="t" r="r" b="b"/>
            <a:pathLst>
              <a:path w="1634490" h="419100">
                <a:moveTo>
                  <a:pt x="1634477" y="419061"/>
                </a:moveTo>
                <a:lnTo>
                  <a:pt x="0" y="419061"/>
                </a:lnTo>
                <a:lnTo>
                  <a:pt x="0" y="0"/>
                </a:lnTo>
                <a:lnTo>
                  <a:pt x="1634477" y="0"/>
                </a:lnTo>
                <a:lnTo>
                  <a:pt x="1634477" y="6350"/>
                </a:lnTo>
                <a:lnTo>
                  <a:pt x="12700" y="6350"/>
                </a:lnTo>
                <a:lnTo>
                  <a:pt x="6350" y="12700"/>
                </a:lnTo>
                <a:lnTo>
                  <a:pt x="12700" y="12700"/>
                </a:lnTo>
                <a:lnTo>
                  <a:pt x="12700" y="406361"/>
                </a:lnTo>
                <a:lnTo>
                  <a:pt x="6350" y="406361"/>
                </a:lnTo>
                <a:lnTo>
                  <a:pt x="12700" y="412711"/>
                </a:lnTo>
                <a:lnTo>
                  <a:pt x="1634477" y="412711"/>
                </a:lnTo>
                <a:lnTo>
                  <a:pt x="1634477" y="419061"/>
                </a:lnTo>
                <a:close/>
              </a:path>
              <a:path w="1634490" h="419100">
                <a:moveTo>
                  <a:pt x="12700" y="12700"/>
                </a:moveTo>
                <a:lnTo>
                  <a:pt x="6350" y="12700"/>
                </a:lnTo>
                <a:lnTo>
                  <a:pt x="12700" y="6350"/>
                </a:lnTo>
                <a:lnTo>
                  <a:pt x="12700" y="12700"/>
                </a:lnTo>
                <a:close/>
              </a:path>
              <a:path w="1634490" h="419100">
                <a:moveTo>
                  <a:pt x="1621777" y="12700"/>
                </a:moveTo>
                <a:lnTo>
                  <a:pt x="12700" y="12700"/>
                </a:lnTo>
                <a:lnTo>
                  <a:pt x="12700" y="6350"/>
                </a:lnTo>
                <a:lnTo>
                  <a:pt x="1621777" y="6350"/>
                </a:lnTo>
                <a:lnTo>
                  <a:pt x="1621777" y="12700"/>
                </a:lnTo>
                <a:close/>
              </a:path>
              <a:path w="1634490" h="419100">
                <a:moveTo>
                  <a:pt x="1621777" y="412711"/>
                </a:moveTo>
                <a:lnTo>
                  <a:pt x="1621777" y="6350"/>
                </a:lnTo>
                <a:lnTo>
                  <a:pt x="1628127" y="12700"/>
                </a:lnTo>
                <a:lnTo>
                  <a:pt x="1634477" y="12700"/>
                </a:lnTo>
                <a:lnTo>
                  <a:pt x="1634477" y="406361"/>
                </a:lnTo>
                <a:lnTo>
                  <a:pt x="1628127" y="406361"/>
                </a:lnTo>
                <a:lnTo>
                  <a:pt x="1621777" y="412711"/>
                </a:lnTo>
                <a:close/>
              </a:path>
              <a:path w="1634490" h="419100">
                <a:moveTo>
                  <a:pt x="1634477" y="12700"/>
                </a:moveTo>
                <a:lnTo>
                  <a:pt x="1628127" y="12700"/>
                </a:lnTo>
                <a:lnTo>
                  <a:pt x="1621777" y="6350"/>
                </a:lnTo>
                <a:lnTo>
                  <a:pt x="1634477" y="6350"/>
                </a:lnTo>
                <a:lnTo>
                  <a:pt x="1634477" y="12700"/>
                </a:lnTo>
                <a:close/>
              </a:path>
              <a:path w="1634490" h="419100">
                <a:moveTo>
                  <a:pt x="12700" y="412711"/>
                </a:moveTo>
                <a:lnTo>
                  <a:pt x="6350" y="406361"/>
                </a:lnTo>
                <a:lnTo>
                  <a:pt x="12700" y="406361"/>
                </a:lnTo>
                <a:lnTo>
                  <a:pt x="12700" y="412711"/>
                </a:lnTo>
                <a:close/>
              </a:path>
              <a:path w="1634490" h="419100">
                <a:moveTo>
                  <a:pt x="1621777" y="412711"/>
                </a:moveTo>
                <a:lnTo>
                  <a:pt x="12700" y="412711"/>
                </a:lnTo>
                <a:lnTo>
                  <a:pt x="12700" y="406361"/>
                </a:lnTo>
                <a:lnTo>
                  <a:pt x="1621777" y="406361"/>
                </a:lnTo>
                <a:lnTo>
                  <a:pt x="1621777" y="412711"/>
                </a:lnTo>
                <a:close/>
              </a:path>
              <a:path w="1634490" h="419100">
                <a:moveTo>
                  <a:pt x="1634477" y="412711"/>
                </a:moveTo>
                <a:lnTo>
                  <a:pt x="1621777" y="412711"/>
                </a:lnTo>
                <a:lnTo>
                  <a:pt x="1628127" y="406361"/>
                </a:lnTo>
                <a:lnTo>
                  <a:pt x="1634477" y="406361"/>
                </a:lnTo>
                <a:lnTo>
                  <a:pt x="1634477" y="412711"/>
                </a:lnTo>
                <a:close/>
              </a:path>
            </a:pathLst>
          </a:custGeom>
          <a:solidFill>
            <a:srgbClr val="C00000"/>
          </a:solidFill>
        </p:spPr>
        <p:txBody>
          <a:bodyPr wrap="square" lIns="0" tIns="0" rIns="0" bIns="0" rtlCol="0"/>
          <a:lstStyle/>
          <a:p/>
        </p:txBody>
      </p:sp>
      <p:sp>
        <p:nvSpPr>
          <p:cNvPr id="18" name="object 18"/>
          <p:cNvSpPr txBox="1"/>
          <p:nvPr/>
        </p:nvSpPr>
        <p:spPr>
          <a:xfrm>
            <a:off x="9616440" y="2254097"/>
            <a:ext cx="1621790" cy="361315"/>
          </a:xfrm>
          <a:prstGeom prst="rect">
            <a:avLst/>
          </a:prstGeom>
        </p:spPr>
        <p:txBody>
          <a:bodyPr vert="horz" wrap="square" lIns="0" tIns="12700" rIns="0" bIns="0" rtlCol="0">
            <a:spAutoFit/>
          </a:bodyPr>
          <a:lstStyle/>
          <a:p>
            <a:pPr algn="ctr">
              <a:lnSpc>
                <a:spcPct val="100000"/>
              </a:lnSpc>
              <a:spcBef>
                <a:spcPts val="100"/>
              </a:spcBef>
            </a:pPr>
            <a:r>
              <a:rPr sz="1200" b="1" dirty="0">
                <a:solidFill>
                  <a:srgbClr val="C00000"/>
                </a:solidFill>
                <a:latin typeface="微软雅黑" panose="020B0503020204020204" charset="-122"/>
                <a:cs typeface="微软雅黑" panose="020B0503020204020204" charset="-122"/>
              </a:rPr>
              <a:t>硬件驱动</a:t>
            </a:r>
            <a:endParaRPr sz="1200">
              <a:latin typeface="微软雅黑" panose="020B0503020204020204" charset="-122"/>
              <a:cs typeface="微软雅黑" panose="020B0503020204020204" charset="-122"/>
            </a:endParaRPr>
          </a:p>
          <a:p>
            <a:pPr algn="ctr">
              <a:lnSpc>
                <a:spcPct val="100000"/>
              </a:lnSpc>
              <a:spcBef>
                <a:spcPts val="5"/>
              </a:spcBef>
            </a:pPr>
            <a:r>
              <a:rPr sz="1000" spc="-5" dirty="0">
                <a:solidFill>
                  <a:srgbClr val="C00000"/>
                </a:solidFill>
                <a:latin typeface="微软雅黑" panose="020B0503020204020204" charset="-122"/>
                <a:cs typeface="微软雅黑" panose="020B0503020204020204" charset="-122"/>
              </a:rPr>
              <a:t>FTDI</a:t>
            </a:r>
            <a:r>
              <a:rPr sz="1000" spc="-15" dirty="0">
                <a:solidFill>
                  <a:srgbClr val="C00000"/>
                </a:solidFill>
                <a:latin typeface="微软雅黑" panose="020B0503020204020204" charset="-122"/>
                <a:cs typeface="微软雅黑" panose="020B0503020204020204" charset="-122"/>
              </a:rPr>
              <a:t> </a:t>
            </a:r>
            <a:r>
              <a:rPr sz="1000" spc="-5" dirty="0">
                <a:solidFill>
                  <a:srgbClr val="C00000"/>
                </a:solidFill>
                <a:latin typeface="微软雅黑" panose="020B0503020204020204" charset="-122"/>
                <a:cs typeface="微软雅黑" panose="020B0503020204020204" charset="-122"/>
              </a:rPr>
              <a:t>USB2JTAG</a:t>
            </a:r>
            <a:r>
              <a:rPr sz="1000" spc="-10" dirty="0">
                <a:solidFill>
                  <a:srgbClr val="C00000"/>
                </a:solidFill>
                <a:latin typeface="微软雅黑" panose="020B0503020204020204" charset="-122"/>
                <a:cs typeface="微软雅黑" panose="020B0503020204020204" charset="-122"/>
              </a:rPr>
              <a:t> </a:t>
            </a:r>
            <a:r>
              <a:rPr sz="1000" dirty="0">
                <a:solidFill>
                  <a:srgbClr val="C00000"/>
                </a:solidFill>
                <a:latin typeface="微软雅黑" panose="020B0503020204020204" charset="-122"/>
                <a:cs typeface="微软雅黑" panose="020B0503020204020204" charset="-122"/>
              </a:rPr>
              <a:t>驱</a:t>
            </a:r>
            <a:r>
              <a:rPr sz="1000" spc="-5" dirty="0">
                <a:solidFill>
                  <a:srgbClr val="C00000"/>
                </a:solidFill>
                <a:latin typeface="微软雅黑" panose="020B0503020204020204" charset="-122"/>
                <a:cs typeface="微软雅黑" panose="020B0503020204020204" charset="-122"/>
              </a:rPr>
              <a:t>动</a:t>
            </a:r>
            <a:endParaRPr sz="1000">
              <a:latin typeface="微软雅黑" panose="020B0503020204020204" charset="-122"/>
              <a:cs typeface="微软雅黑" panose="020B0503020204020204" charset="-122"/>
            </a:endParaRPr>
          </a:p>
        </p:txBody>
      </p:sp>
      <p:sp>
        <p:nvSpPr>
          <p:cNvPr id="19" name="object 19"/>
          <p:cNvSpPr/>
          <p:nvPr/>
        </p:nvSpPr>
        <p:spPr>
          <a:xfrm>
            <a:off x="9004007" y="1558366"/>
            <a:ext cx="603885" cy="78105"/>
          </a:xfrm>
          <a:custGeom>
            <a:avLst/>
            <a:gdLst/>
            <a:ahLst/>
            <a:cxnLst/>
            <a:rect l="l" t="t" r="r" b="b"/>
            <a:pathLst>
              <a:path w="603884" h="78105">
                <a:moveTo>
                  <a:pt x="527500" y="33335"/>
                </a:moveTo>
                <a:lnTo>
                  <a:pt x="527367" y="0"/>
                </a:lnTo>
                <a:lnTo>
                  <a:pt x="594560" y="33261"/>
                </a:lnTo>
                <a:lnTo>
                  <a:pt x="546557" y="33261"/>
                </a:lnTo>
                <a:lnTo>
                  <a:pt x="527500" y="33335"/>
                </a:lnTo>
                <a:close/>
              </a:path>
              <a:path w="603884" h="78105">
                <a:moveTo>
                  <a:pt x="76352" y="77977"/>
                </a:moveTo>
                <a:lnTo>
                  <a:pt x="0" y="40170"/>
                </a:lnTo>
                <a:lnTo>
                  <a:pt x="76047" y="1777"/>
                </a:lnTo>
                <a:lnTo>
                  <a:pt x="76180" y="35104"/>
                </a:lnTo>
                <a:lnTo>
                  <a:pt x="57124" y="35178"/>
                </a:lnTo>
                <a:lnTo>
                  <a:pt x="57162" y="44703"/>
                </a:lnTo>
                <a:lnTo>
                  <a:pt x="76219" y="44703"/>
                </a:lnTo>
                <a:lnTo>
                  <a:pt x="76352" y="77977"/>
                </a:lnTo>
                <a:close/>
              </a:path>
              <a:path w="603884" h="78105">
                <a:moveTo>
                  <a:pt x="527538" y="42860"/>
                </a:moveTo>
                <a:lnTo>
                  <a:pt x="527500" y="33335"/>
                </a:lnTo>
                <a:lnTo>
                  <a:pt x="546557" y="33261"/>
                </a:lnTo>
                <a:lnTo>
                  <a:pt x="546582" y="42786"/>
                </a:lnTo>
                <a:lnTo>
                  <a:pt x="527538" y="42860"/>
                </a:lnTo>
                <a:close/>
              </a:path>
              <a:path w="603884" h="78105">
                <a:moveTo>
                  <a:pt x="527672" y="76199"/>
                </a:moveTo>
                <a:lnTo>
                  <a:pt x="527538" y="42860"/>
                </a:lnTo>
                <a:lnTo>
                  <a:pt x="546582" y="42786"/>
                </a:lnTo>
                <a:lnTo>
                  <a:pt x="546557" y="33261"/>
                </a:lnTo>
                <a:lnTo>
                  <a:pt x="594560" y="33261"/>
                </a:lnTo>
                <a:lnTo>
                  <a:pt x="603719" y="37795"/>
                </a:lnTo>
                <a:lnTo>
                  <a:pt x="527672" y="76199"/>
                </a:lnTo>
                <a:close/>
              </a:path>
              <a:path w="603884" h="78105">
                <a:moveTo>
                  <a:pt x="76219" y="44629"/>
                </a:moveTo>
                <a:lnTo>
                  <a:pt x="76180" y="35104"/>
                </a:lnTo>
                <a:lnTo>
                  <a:pt x="527500" y="33335"/>
                </a:lnTo>
                <a:lnTo>
                  <a:pt x="527538" y="42860"/>
                </a:lnTo>
                <a:lnTo>
                  <a:pt x="76219" y="44629"/>
                </a:lnTo>
                <a:close/>
              </a:path>
              <a:path w="603884" h="78105">
                <a:moveTo>
                  <a:pt x="57162" y="44703"/>
                </a:moveTo>
                <a:lnTo>
                  <a:pt x="57124" y="35178"/>
                </a:lnTo>
                <a:lnTo>
                  <a:pt x="76180" y="35104"/>
                </a:lnTo>
                <a:lnTo>
                  <a:pt x="76219" y="44629"/>
                </a:lnTo>
                <a:lnTo>
                  <a:pt x="57162" y="44703"/>
                </a:lnTo>
                <a:close/>
              </a:path>
              <a:path w="603884" h="78105">
                <a:moveTo>
                  <a:pt x="76219" y="44703"/>
                </a:moveTo>
                <a:lnTo>
                  <a:pt x="57162" y="44703"/>
                </a:lnTo>
                <a:lnTo>
                  <a:pt x="76219" y="44629"/>
                </a:lnTo>
                <a:close/>
              </a:path>
            </a:pathLst>
          </a:custGeom>
          <a:solidFill>
            <a:srgbClr val="C00000"/>
          </a:solidFill>
        </p:spPr>
        <p:txBody>
          <a:bodyPr wrap="square" lIns="0" tIns="0" rIns="0" bIns="0" rtlCol="0"/>
          <a:lstStyle/>
          <a:p/>
        </p:txBody>
      </p:sp>
      <p:sp>
        <p:nvSpPr>
          <p:cNvPr id="20" name="object 20"/>
          <p:cNvSpPr/>
          <p:nvPr/>
        </p:nvSpPr>
        <p:spPr>
          <a:xfrm>
            <a:off x="10380522" y="1941931"/>
            <a:ext cx="76200" cy="299085"/>
          </a:xfrm>
          <a:custGeom>
            <a:avLst/>
            <a:gdLst/>
            <a:ahLst/>
            <a:cxnLst/>
            <a:rect l="l" t="t" r="r" b="b"/>
            <a:pathLst>
              <a:path w="76200" h="299085">
                <a:moveTo>
                  <a:pt x="33337" y="76199"/>
                </a:moveTo>
                <a:lnTo>
                  <a:pt x="0" y="76199"/>
                </a:lnTo>
                <a:lnTo>
                  <a:pt x="38100" y="0"/>
                </a:lnTo>
                <a:lnTo>
                  <a:pt x="66675" y="57149"/>
                </a:lnTo>
                <a:lnTo>
                  <a:pt x="33337" y="57149"/>
                </a:lnTo>
                <a:lnTo>
                  <a:pt x="33337" y="76199"/>
                </a:lnTo>
                <a:close/>
              </a:path>
              <a:path w="76200" h="299085">
                <a:moveTo>
                  <a:pt x="42862" y="241680"/>
                </a:moveTo>
                <a:lnTo>
                  <a:pt x="33337" y="241680"/>
                </a:lnTo>
                <a:lnTo>
                  <a:pt x="33337" y="57149"/>
                </a:lnTo>
                <a:lnTo>
                  <a:pt x="42862" y="57149"/>
                </a:lnTo>
                <a:lnTo>
                  <a:pt x="42862" y="241680"/>
                </a:lnTo>
                <a:close/>
              </a:path>
              <a:path w="76200" h="299085">
                <a:moveTo>
                  <a:pt x="76200" y="76199"/>
                </a:moveTo>
                <a:lnTo>
                  <a:pt x="42862" y="76199"/>
                </a:lnTo>
                <a:lnTo>
                  <a:pt x="42862" y="57149"/>
                </a:lnTo>
                <a:lnTo>
                  <a:pt x="66675" y="57149"/>
                </a:lnTo>
                <a:lnTo>
                  <a:pt x="76200" y="76199"/>
                </a:lnTo>
                <a:close/>
              </a:path>
              <a:path w="76200" h="299085">
                <a:moveTo>
                  <a:pt x="38100" y="298830"/>
                </a:moveTo>
                <a:lnTo>
                  <a:pt x="0" y="222630"/>
                </a:lnTo>
                <a:lnTo>
                  <a:pt x="33337" y="222630"/>
                </a:lnTo>
                <a:lnTo>
                  <a:pt x="33337" y="241680"/>
                </a:lnTo>
                <a:lnTo>
                  <a:pt x="66675" y="241680"/>
                </a:lnTo>
                <a:lnTo>
                  <a:pt x="38100" y="298830"/>
                </a:lnTo>
                <a:close/>
              </a:path>
              <a:path w="76200" h="299085">
                <a:moveTo>
                  <a:pt x="66675" y="241680"/>
                </a:moveTo>
                <a:lnTo>
                  <a:pt x="42862" y="241680"/>
                </a:lnTo>
                <a:lnTo>
                  <a:pt x="42862" y="222630"/>
                </a:lnTo>
                <a:lnTo>
                  <a:pt x="76200" y="222630"/>
                </a:lnTo>
                <a:lnTo>
                  <a:pt x="66675" y="241680"/>
                </a:lnTo>
                <a:close/>
              </a:path>
            </a:pathLst>
          </a:custGeom>
          <a:solidFill>
            <a:srgbClr val="C00000"/>
          </a:solidFill>
        </p:spPr>
        <p:txBody>
          <a:bodyPr wrap="square" lIns="0" tIns="0" rIns="0" bIns="0" rtlCol="0"/>
          <a:lstStyle/>
          <a:p/>
        </p:txBody>
      </p:sp>
      <p:sp>
        <p:nvSpPr>
          <p:cNvPr id="21" name="object 21"/>
          <p:cNvSpPr/>
          <p:nvPr/>
        </p:nvSpPr>
        <p:spPr>
          <a:xfrm>
            <a:off x="10375213" y="2647124"/>
            <a:ext cx="80645" cy="478155"/>
          </a:xfrm>
          <a:custGeom>
            <a:avLst/>
            <a:gdLst/>
            <a:ahLst/>
            <a:cxnLst/>
            <a:rect l="l" t="t" r="r" b="b"/>
            <a:pathLst>
              <a:path w="80645" h="478155">
                <a:moveTo>
                  <a:pt x="37632" y="76130"/>
                </a:moveTo>
                <a:lnTo>
                  <a:pt x="4305" y="75692"/>
                </a:lnTo>
                <a:lnTo>
                  <a:pt x="43408" y="0"/>
                </a:lnTo>
                <a:lnTo>
                  <a:pt x="71011" y="57086"/>
                </a:lnTo>
                <a:lnTo>
                  <a:pt x="37884" y="57086"/>
                </a:lnTo>
                <a:lnTo>
                  <a:pt x="37632" y="76130"/>
                </a:lnTo>
                <a:close/>
              </a:path>
              <a:path w="80645" h="478155">
                <a:moveTo>
                  <a:pt x="47157" y="76256"/>
                </a:moveTo>
                <a:lnTo>
                  <a:pt x="37632" y="76130"/>
                </a:lnTo>
                <a:lnTo>
                  <a:pt x="37884" y="57086"/>
                </a:lnTo>
                <a:lnTo>
                  <a:pt x="47409" y="57200"/>
                </a:lnTo>
                <a:lnTo>
                  <a:pt x="47157" y="76256"/>
                </a:lnTo>
                <a:close/>
              </a:path>
              <a:path w="80645" h="478155">
                <a:moveTo>
                  <a:pt x="80492" y="76695"/>
                </a:moveTo>
                <a:lnTo>
                  <a:pt x="47157" y="76256"/>
                </a:lnTo>
                <a:lnTo>
                  <a:pt x="47409" y="57200"/>
                </a:lnTo>
                <a:lnTo>
                  <a:pt x="37884" y="57086"/>
                </a:lnTo>
                <a:lnTo>
                  <a:pt x="71011" y="57086"/>
                </a:lnTo>
                <a:lnTo>
                  <a:pt x="80492" y="76695"/>
                </a:lnTo>
                <a:close/>
              </a:path>
              <a:path w="80645" h="478155">
                <a:moveTo>
                  <a:pt x="42860" y="401523"/>
                </a:moveTo>
                <a:lnTo>
                  <a:pt x="33335" y="401396"/>
                </a:lnTo>
                <a:lnTo>
                  <a:pt x="37632" y="76130"/>
                </a:lnTo>
                <a:lnTo>
                  <a:pt x="47157" y="76256"/>
                </a:lnTo>
                <a:lnTo>
                  <a:pt x="42860" y="401523"/>
                </a:lnTo>
                <a:close/>
              </a:path>
              <a:path w="80645" h="478155">
                <a:moveTo>
                  <a:pt x="37096" y="477659"/>
                </a:moveTo>
                <a:lnTo>
                  <a:pt x="0" y="400951"/>
                </a:lnTo>
                <a:lnTo>
                  <a:pt x="33335" y="401396"/>
                </a:lnTo>
                <a:lnTo>
                  <a:pt x="33083" y="420446"/>
                </a:lnTo>
                <a:lnTo>
                  <a:pt x="42608" y="420573"/>
                </a:lnTo>
                <a:lnTo>
                  <a:pt x="66588" y="420573"/>
                </a:lnTo>
                <a:lnTo>
                  <a:pt x="37096" y="477659"/>
                </a:lnTo>
                <a:close/>
              </a:path>
              <a:path w="80645" h="478155">
                <a:moveTo>
                  <a:pt x="42608" y="420573"/>
                </a:moveTo>
                <a:lnTo>
                  <a:pt x="33083" y="420446"/>
                </a:lnTo>
                <a:lnTo>
                  <a:pt x="33335" y="401396"/>
                </a:lnTo>
                <a:lnTo>
                  <a:pt x="42860" y="401523"/>
                </a:lnTo>
                <a:lnTo>
                  <a:pt x="42608" y="420573"/>
                </a:lnTo>
                <a:close/>
              </a:path>
              <a:path w="80645" h="478155">
                <a:moveTo>
                  <a:pt x="66588" y="420573"/>
                </a:moveTo>
                <a:lnTo>
                  <a:pt x="42608" y="420573"/>
                </a:lnTo>
                <a:lnTo>
                  <a:pt x="42860" y="401523"/>
                </a:lnTo>
                <a:lnTo>
                  <a:pt x="76200" y="401967"/>
                </a:lnTo>
                <a:lnTo>
                  <a:pt x="66588" y="420573"/>
                </a:lnTo>
                <a:close/>
              </a:path>
            </a:pathLst>
          </a:custGeom>
          <a:solidFill>
            <a:srgbClr val="C00000"/>
          </a:solidFill>
        </p:spPr>
        <p:txBody>
          <a:bodyPr wrap="square" lIns="0" tIns="0" rIns="0" bIns="0" rtlCol="0"/>
          <a:lstStyle/>
          <a:p/>
        </p:txBody>
      </p:sp>
      <p:sp>
        <p:nvSpPr>
          <p:cNvPr id="22" name="object 22"/>
          <p:cNvSpPr/>
          <p:nvPr/>
        </p:nvSpPr>
        <p:spPr>
          <a:xfrm>
            <a:off x="10378237" y="3752735"/>
            <a:ext cx="86360" cy="793750"/>
          </a:xfrm>
          <a:custGeom>
            <a:avLst/>
            <a:gdLst/>
            <a:ahLst/>
            <a:cxnLst/>
            <a:rect l="l" t="t" r="r" b="b"/>
            <a:pathLst>
              <a:path w="86359" h="793750">
                <a:moveTo>
                  <a:pt x="0" y="76771"/>
                </a:moveTo>
                <a:lnTo>
                  <a:pt x="36944" y="0"/>
                </a:lnTo>
                <a:lnTo>
                  <a:pt x="66564" y="57073"/>
                </a:lnTo>
                <a:lnTo>
                  <a:pt x="42570" y="57073"/>
                </a:lnTo>
                <a:lnTo>
                  <a:pt x="33045" y="57226"/>
                </a:lnTo>
                <a:lnTo>
                  <a:pt x="33334" y="76265"/>
                </a:lnTo>
                <a:lnTo>
                  <a:pt x="0" y="76771"/>
                </a:lnTo>
                <a:close/>
              </a:path>
              <a:path w="86359" h="793750">
                <a:moveTo>
                  <a:pt x="33334" y="76265"/>
                </a:moveTo>
                <a:lnTo>
                  <a:pt x="33045" y="57226"/>
                </a:lnTo>
                <a:lnTo>
                  <a:pt x="42570" y="57073"/>
                </a:lnTo>
                <a:lnTo>
                  <a:pt x="42859" y="76121"/>
                </a:lnTo>
                <a:lnTo>
                  <a:pt x="33334" y="76265"/>
                </a:lnTo>
                <a:close/>
              </a:path>
              <a:path w="86359" h="793750">
                <a:moveTo>
                  <a:pt x="42859" y="76121"/>
                </a:moveTo>
                <a:lnTo>
                  <a:pt x="42570" y="57073"/>
                </a:lnTo>
                <a:lnTo>
                  <a:pt x="66564" y="57073"/>
                </a:lnTo>
                <a:lnTo>
                  <a:pt x="76187" y="75615"/>
                </a:lnTo>
                <a:lnTo>
                  <a:pt x="42859" y="76121"/>
                </a:lnTo>
                <a:close/>
              </a:path>
              <a:path w="86359" h="793750">
                <a:moveTo>
                  <a:pt x="43068" y="717603"/>
                </a:moveTo>
                <a:lnTo>
                  <a:pt x="33334" y="76265"/>
                </a:lnTo>
                <a:lnTo>
                  <a:pt x="42859" y="76121"/>
                </a:lnTo>
                <a:lnTo>
                  <a:pt x="52593" y="717458"/>
                </a:lnTo>
                <a:lnTo>
                  <a:pt x="43068" y="717603"/>
                </a:lnTo>
                <a:close/>
              </a:path>
              <a:path w="86359" h="793750">
                <a:moveTo>
                  <a:pt x="76452" y="736650"/>
                </a:moveTo>
                <a:lnTo>
                  <a:pt x="43357" y="736650"/>
                </a:lnTo>
                <a:lnTo>
                  <a:pt x="52882" y="736511"/>
                </a:lnTo>
                <a:lnTo>
                  <a:pt x="52593" y="717458"/>
                </a:lnTo>
                <a:lnTo>
                  <a:pt x="85928" y="716953"/>
                </a:lnTo>
                <a:lnTo>
                  <a:pt x="76452" y="736650"/>
                </a:lnTo>
                <a:close/>
              </a:path>
              <a:path w="86359" h="793750">
                <a:moveTo>
                  <a:pt x="43357" y="736650"/>
                </a:moveTo>
                <a:lnTo>
                  <a:pt x="43068" y="717603"/>
                </a:lnTo>
                <a:lnTo>
                  <a:pt x="52593" y="717458"/>
                </a:lnTo>
                <a:lnTo>
                  <a:pt x="52882" y="736511"/>
                </a:lnTo>
                <a:lnTo>
                  <a:pt x="43357" y="736650"/>
                </a:lnTo>
                <a:close/>
              </a:path>
              <a:path w="86359" h="793750">
                <a:moveTo>
                  <a:pt x="48996" y="793724"/>
                </a:moveTo>
                <a:lnTo>
                  <a:pt x="9740" y="718108"/>
                </a:lnTo>
                <a:lnTo>
                  <a:pt x="43068" y="717603"/>
                </a:lnTo>
                <a:lnTo>
                  <a:pt x="43357" y="736650"/>
                </a:lnTo>
                <a:lnTo>
                  <a:pt x="76452" y="736650"/>
                </a:lnTo>
                <a:lnTo>
                  <a:pt x="48996" y="793724"/>
                </a:lnTo>
                <a:close/>
              </a:path>
            </a:pathLst>
          </a:custGeom>
          <a:solidFill>
            <a:srgbClr val="C00000"/>
          </a:solidFill>
        </p:spPr>
        <p:txBody>
          <a:bodyPr wrap="square" lIns="0" tIns="0" rIns="0" bIns="0" rtlCol="0"/>
          <a:lstStyle/>
          <a:p/>
        </p:txBody>
      </p:sp>
      <p:sp>
        <p:nvSpPr>
          <p:cNvPr id="23" name="object 23"/>
          <p:cNvSpPr txBox="1"/>
          <p:nvPr/>
        </p:nvSpPr>
        <p:spPr>
          <a:xfrm>
            <a:off x="7572971" y="4178820"/>
            <a:ext cx="2229485" cy="240029"/>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C00000"/>
                </a:solidFill>
                <a:latin typeface="微软雅黑" panose="020B0503020204020204" charset="-122"/>
                <a:cs typeface="微软雅黑" panose="020B0503020204020204" charset="-122"/>
              </a:rPr>
              <a:t>RISC-V</a:t>
            </a:r>
            <a:r>
              <a:rPr sz="1400" b="1" dirty="0">
                <a:solidFill>
                  <a:srgbClr val="C00000"/>
                </a:solidFill>
                <a:latin typeface="微软雅黑" panose="020B0503020204020204" charset="-122"/>
                <a:cs typeface="微软雅黑" panose="020B0503020204020204" charset="-122"/>
              </a:rPr>
              <a:t>处理器</a:t>
            </a:r>
            <a:r>
              <a:rPr sz="1400" b="1" spc="-5" dirty="0">
                <a:solidFill>
                  <a:srgbClr val="C00000"/>
                </a:solidFill>
                <a:latin typeface="微软雅黑" panose="020B0503020204020204" charset="-122"/>
                <a:cs typeface="微软雅黑" panose="020B0503020204020204" charset="-122"/>
              </a:rPr>
              <a:t>SoC</a:t>
            </a:r>
            <a:r>
              <a:rPr sz="1400" b="1" dirty="0">
                <a:solidFill>
                  <a:srgbClr val="C00000"/>
                </a:solidFill>
                <a:latin typeface="微软雅黑" panose="020B0503020204020204" charset="-122"/>
                <a:cs typeface="微软雅黑" panose="020B0503020204020204" charset="-122"/>
              </a:rPr>
              <a:t>硬件平</a:t>
            </a:r>
            <a:r>
              <a:rPr sz="1400" b="1" spc="5" dirty="0">
                <a:solidFill>
                  <a:srgbClr val="C00000"/>
                </a:solidFill>
                <a:latin typeface="微软雅黑" panose="020B0503020204020204" charset="-122"/>
                <a:cs typeface="微软雅黑" panose="020B0503020204020204" charset="-122"/>
              </a:rPr>
              <a:t>台</a:t>
            </a:r>
            <a:endParaRPr sz="1400">
              <a:latin typeface="微软雅黑" panose="020B0503020204020204" charset="-122"/>
              <a:cs typeface="微软雅黑" panose="020B0503020204020204" charset="-122"/>
            </a:endParaRPr>
          </a:p>
        </p:txBody>
      </p:sp>
      <p:sp>
        <p:nvSpPr>
          <p:cNvPr id="24" name="object 24"/>
          <p:cNvSpPr/>
          <p:nvPr/>
        </p:nvSpPr>
        <p:spPr>
          <a:xfrm>
            <a:off x="9616440" y="4546091"/>
            <a:ext cx="1621790" cy="612775"/>
          </a:xfrm>
          <a:custGeom>
            <a:avLst/>
            <a:gdLst/>
            <a:ahLst/>
            <a:cxnLst/>
            <a:rect l="l" t="t" r="r" b="b"/>
            <a:pathLst>
              <a:path w="1621790" h="612775">
                <a:moveTo>
                  <a:pt x="0" y="0"/>
                </a:moveTo>
                <a:lnTo>
                  <a:pt x="1621536" y="0"/>
                </a:lnTo>
                <a:lnTo>
                  <a:pt x="1621536" y="612648"/>
                </a:lnTo>
                <a:lnTo>
                  <a:pt x="0" y="612648"/>
                </a:lnTo>
                <a:lnTo>
                  <a:pt x="0" y="0"/>
                </a:lnTo>
                <a:close/>
              </a:path>
            </a:pathLst>
          </a:custGeom>
          <a:solidFill>
            <a:srgbClr val="D9D9D9"/>
          </a:solidFill>
        </p:spPr>
        <p:txBody>
          <a:bodyPr wrap="square" lIns="0" tIns="0" rIns="0" bIns="0" rtlCol="0"/>
          <a:lstStyle/>
          <a:p/>
        </p:txBody>
      </p:sp>
      <p:sp>
        <p:nvSpPr>
          <p:cNvPr id="25" name="object 25"/>
          <p:cNvSpPr/>
          <p:nvPr/>
        </p:nvSpPr>
        <p:spPr>
          <a:xfrm>
            <a:off x="9609988" y="4540110"/>
            <a:ext cx="1634489" cy="625475"/>
          </a:xfrm>
          <a:custGeom>
            <a:avLst/>
            <a:gdLst/>
            <a:ahLst/>
            <a:cxnLst/>
            <a:rect l="l" t="t" r="r" b="b"/>
            <a:pathLst>
              <a:path w="1634490" h="625475">
                <a:moveTo>
                  <a:pt x="1633905" y="625208"/>
                </a:moveTo>
                <a:lnTo>
                  <a:pt x="0" y="625208"/>
                </a:lnTo>
                <a:lnTo>
                  <a:pt x="0" y="0"/>
                </a:lnTo>
                <a:lnTo>
                  <a:pt x="1633905" y="0"/>
                </a:lnTo>
                <a:lnTo>
                  <a:pt x="1633905" y="6350"/>
                </a:lnTo>
                <a:lnTo>
                  <a:pt x="12700" y="6350"/>
                </a:lnTo>
                <a:lnTo>
                  <a:pt x="6350" y="12700"/>
                </a:lnTo>
                <a:lnTo>
                  <a:pt x="12700" y="12700"/>
                </a:lnTo>
                <a:lnTo>
                  <a:pt x="12700" y="612508"/>
                </a:lnTo>
                <a:lnTo>
                  <a:pt x="6350" y="612508"/>
                </a:lnTo>
                <a:lnTo>
                  <a:pt x="12700" y="618858"/>
                </a:lnTo>
                <a:lnTo>
                  <a:pt x="1633905" y="618858"/>
                </a:lnTo>
                <a:lnTo>
                  <a:pt x="1633905" y="625208"/>
                </a:lnTo>
                <a:close/>
              </a:path>
              <a:path w="1634490" h="625475">
                <a:moveTo>
                  <a:pt x="12700" y="12700"/>
                </a:moveTo>
                <a:lnTo>
                  <a:pt x="6350" y="12700"/>
                </a:lnTo>
                <a:lnTo>
                  <a:pt x="12700" y="6350"/>
                </a:lnTo>
                <a:lnTo>
                  <a:pt x="12700" y="12700"/>
                </a:lnTo>
                <a:close/>
              </a:path>
              <a:path w="1634490" h="625475">
                <a:moveTo>
                  <a:pt x="1621205" y="12700"/>
                </a:moveTo>
                <a:lnTo>
                  <a:pt x="12700" y="12700"/>
                </a:lnTo>
                <a:lnTo>
                  <a:pt x="12700" y="6350"/>
                </a:lnTo>
                <a:lnTo>
                  <a:pt x="1621205" y="6350"/>
                </a:lnTo>
                <a:lnTo>
                  <a:pt x="1621205" y="12700"/>
                </a:lnTo>
                <a:close/>
              </a:path>
              <a:path w="1634490" h="625475">
                <a:moveTo>
                  <a:pt x="1621205" y="618858"/>
                </a:moveTo>
                <a:lnTo>
                  <a:pt x="1621205" y="6350"/>
                </a:lnTo>
                <a:lnTo>
                  <a:pt x="1627555" y="12700"/>
                </a:lnTo>
                <a:lnTo>
                  <a:pt x="1633905" y="12700"/>
                </a:lnTo>
                <a:lnTo>
                  <a:pt x="1633905" y="612508"/>
                </a:lnTo>
                <a:lnTo>
                  <a:pt x="1627555" y="612508"/>
                </a:lnTo>
                <a:lnTo>
                  <a:pt x="1621205" y="618858"/>
                </a:lnTo>
                <a:close/>
              </a:path>
              <a:path w="1634490" h="625475">
                <a:moveTo>
                  <a:pt x="1633905" y="12700"/>
                </a:moveTo>
                <a:lnTo>
                  <a:pt x="1627555" y="12700"/>
                </a:lnTo>
                <a:lnTo>
                  <a:pt x="1621205" y="6350"/>
                </a:lnTo>
                <a:lnTo>
                  <a:pt x="1633905" y="6350"/>
                </a:lnTo>
                <a:lnTo>
                  <a:pt x="1633905" y="12700"/>
                </a:lnTo>
                <a:close/>
              </a:path>
              <a:path w="1634490" h="625475">
                <a:moveTo>
                  <a:pt x="12700" y="618858"/>
                </a:moveTo>
                <a:lnTo>
                  <a:pt x="6350" y="612508"/>
                </a:lnTo>
                <a:lnTo>
                  <a:pt x="12700" y="612508"/>
                </a:lnTo>
                <a:lnTo>
                  <a:pt x="12700" y="618858"/>
                </a:lnTo>
                <a:close/>
              </a:path>
              <a:path w="1634490" h="625475">
                <a:moveTo>
                  <a:pt x="1621205" y="618858"/>
                </a:moveTo>
                <a:lnTo>
                  <a:pt x="12700" y="618858"/>
                </a:lnTo>
                <a:lnTo>
                  <a:pt x="12700" y="612508"/>
                </a:lnTo>
                <a:lnTo>
                  <a:pt x="1621205" y="612508"/>
                </a:lnTo>
                <a:lnTo>
                  <a:pt x="1621205" y="618858"/>
                </a:lnTo>
                <a:close/>
              </a:path>
              <a:path w="1634490" h="625475">
                <a:moveTo>
                  <a:pt x="1633905" y="618858"/>
                </a:moveTo>
                <a:lnTo>
                  <a:pt x="1621205" y="618858"/>
                </a:lnTo>
                <a:lnTo>
                  <a:pt x="1627555" y="612508"/>
                </a:lnTo>
                <a:lnTo>
                  <a:pt x="1633905" y="612508"/>
                </a:lnTo>
                <a:lnTo>
                  <a:pt x="1633905" y="618858"/>
                </a:lnTo>
                <a:close/>
              </a:path>
            </a:pathLst>
          </a:custGeom>
          <a:solidFill>
            <a:srgbClr val="C00000"/>
          </a:solidFill>
        </p:spPr>
        <p:txBody>
          <a:bodyPr wrap="square" lIns="0" tIns="0" rIns="0" bIns="0" rtlCol="0"/>
          <a:lstStyle/>
          <a:p/>
        </p:txBody>
      </p:sp>
      <p:sp>
        <p:nvSpPr>
          <p:cNvPr id="26" name="object 26"/>
          <p:cNvSpPr txBox="1"/>
          <p:nvPr/>
        </p:nvSpPr>
        <p:spPr>
          <a:xfrm>
            <a:off x="9616440" y="4586465"/>
            <a:ext cx="1621790" cy="513715"/>
          </a:xfrm>
          <a:prstGeom prst="rect">
            <a:avLst/>
          </a:prstGeom>
        </p:spPr>
        <p:txBody>
          <a:bodyPr vert="horz" wrap="square" lIns="0" tIns="12700" rIns="0" bIns="0" rtlCol="0">
            <a:spAutoFit/>
          </a:bodyPr>
          <a:lstStyle/>
          <a:p>
            <a:pPr algn="ctr">
              <a:lnSpc>
                <a:spcPct val="100000"/>
              </a:lnSpc>
              <a:spcBef>
                <a:spcPts val="100"/>
              </a:spcBef>
            </a:pPr>
            <a:r>
              <a:rPr sz="1200" b="1" spc="-20" dirty="0">
                <a:solidFill>
                  <a:srgbClr val="C00000"/>
                </a:solidFill>
                <a:latin typeface="微软雅黑" panose="020B0503020204020204" charset="-122"/>
                <a:cs typeface="微软雅黑" panose="020B0503020204020204" charset="-122"/>
              </a:rPr>
              <a:t>DTM</a:t>
            </a:r>
            <a:endParaRPr sz="1200">
              <a:latin typeface="微软雅黑" panose="020B0503020204020204" charset="-122"/>
              <a:cs typeface="微软雅黑" panose="020B0503020204020204" charset="-122"/>
            </a:endParaRPr>
          </a:p>
          <a:p>
            <a:pPr marL="92075" marR="86360" algn="ctr">
              <a:lnSpc>
                <a:spcPct val="100000"/>
              </a:lnSpc>
              <a:spcBef>
                <a:spcPts val="5"/>
              </a:spcBef>
            </a:pPr>
            <a:r>
              <a:rPr sz="1000" dirty="0">
                <a:solidFill>
                  <a:srgbClr val="C00000"/>
                </a:solidFill>
                <a:latin typeface="微软雅黑" panose="020B0503020204020204" charset="-122"/>
                <a:cs typeface="微软雅黑" panose="020B0503020204020204" charset="-122"/>
              </a:rPr>
              <a:t>将</a:t>
            </a:r>
            <a:r>
              <a:rPr sz="1000" spc="-5" dirty="0">
                <a:solidFill>
                  <a:srgbClr val="C00000"/>
                </a:solidFill>
                <a:latin typeface="微软雅黑" panose="020B0503020204020204" charset="-122"/>
                <a:cs typeface="微软雅黑" panose="020B0503020204020204" charset="-122"/>
              </a:rPr>
              <a:t>JTA</a:t>
            </a:r>
            <a:r>
              <a:rPr sz="1000" dirty="0">
                <a:solidFill>
                  <a:srgbClr val="C00000"/>
                </a:solidFill>
                <a:latin typeface="微软雅黑" panose="020B0503020204020204" charset="-122"/>
                <a:cs typeface="微软雅黑" panose="020B0503020204020204" charset="-122"/>
              </a:rPr>
              <a:t>G协议转换为</a:t>
            </a:r>
            <a:r>
              <a:rPr sz="1000" spc="-5" dirty="0">
                <a:solidFill>
                  <a:srgbClr val="C00000"/>
                </a:solidFill>
                <a:latin typeface="微软雅黑" panose="020B0503020204020204" charset="-122"/>
                <a:cs typeface="微软雅黑" panose="020B0503020204020204" charset="-122"/>
              </a:rPr>
              <a:t>SoC内 </a:t>
            </a:r>
            <a:r>
              <a:rPr sz="1000" dirty="0">
                <a:solidFill>
                  <a:srgbClr val="C00000"/>
                </a:solidFill>
                <a:latin typeface="微软雅黑" panose="020B0503020204020204" charset="-122"/>
                <a:cs typeface="微软雅黑" panose="020B0503020204020204" charset="-122"/>
              </a:rPr>
              <a:t>部的</a:t>
            </a:r>
            <a:r>
              <a:rPr sz="1000" spc="-5" dirty="0">
                <a:solidFill>
                  <a:srgbClr val="C00000"/>
                </a:solidFill>
                <a:latin typeface="微软雅黑" panose="020B0503020204020204" charset="-122"/>
                <a:cs typeface="微软雅黑" panose="020B0503020204020204" charset="-122"/>
              </a:rPr>
              <a:t>Debug</a:t>
            </a:r>
            <a:r>
              <a:rPr sz="1000" spc="-15" dirty="0">
                <a:solidFill>
                  <a:srgbClr val="C00000"/>
                </a:solidFill>
                <a:latin typeface="微软雅黑" panose="020B0503020204020204" charset="-122"/>
                <a:cs typeface="微软雅黑" panose="020B0503020204020204" charset="-122"/>
              </a:rPr>
              <a:t> </a:t>
            </a:r>
            <a:r>
              <a:rPr sz="1000" spc="-5" dirty="0">
                <a:solidFill>
                  <a:srgbClr val="C00000"/>
                </a:solidFill>
                <a:latin typeface="微软雅黑" panose="020B0503020204020204" charset="-122"/>
                <a:cs typeface="微软雅黑" panose="020B0503020204020204" charset="-122"/>
              </a:rPr>
              <a:t>Bus</a:t>
            </a:r>
            <a:endParaRPr sz="1000">
              <a:latin typeface="微软雅黑" panose="020B0503020204020204" charset="-122"/>
              <a:cs typeface="微软雅黑" panose="020B0503020204020204" charset="-122"/>
            </a:endParaRPr>
          </a:p>
        </p:txBody>
      </p:sp>
      <p:sp>
        <p:nvSpPr>
          <p:cNvPr id="27" name="object 27"/>
          <p:cNvSpPr/>
          <p:nvPr/>
        </p:nvSpPr>
        <p:spPr>
          <a:xfrm>
            <a:off x="9617964" y="5445252"/>
            <a:ext cx="1620520" cy="600710"/>
          </a:xfrm>
          <a:custGeom>
            <a:avLst/>
            <a:gdLst/>
            <a:ahLst/>
            <a:cxnLst/>
            <a:rect l="l" t="t" r="r" b="b"/>
            <a:pathLst>
              <a:path w="1620520" h="600710">
                <a:moveTo>
                  <a:pt x="0" y="0"/>
                </a:moveTo>
                <a:lnTo>
                  <a:pt x="1620012" y="0"/>
                </a:lnTo>
                <a:lnTo>
                  <a:pt x="1620012" y="600455"/>
                </a:lnTo>
                <a:lnTo>
                  <a:pt x="0" y="600455"/>
                </a:lnTo>
                <a:lnTo>
                  <a:pt x="0" y="0"/>
                </a:lnTo>
                <a:close/>
              </a:path>
            </a:pathLst>
          </a:custGeom>
          <a:solidFill>
            <a:srgbClr val="D9D9D9"/>
          </a:solidFill>
        </p:spPr>
        <p:txBody>
          <a:bodyPr wrap="square" lIns="0" tIns="0" rIns="0" bIns="0" rtlCol="0"/>
          <a:lstStyle/>
          <a:p/>
        </p:txBody>
      </p:sp>
      <p:sp>
        <p:nvSpPr>
          <p:cNvPr id="28" name="object 28"/>
          <p:cNvSpPr/>
          <p:nvPr/>
        </p:nvSpPr>
        <p:spPr>
          <a:xfrm>
            <a:off x="9611131" y="5438978"/>
            <a:ext cx="1634489" cy="612775"/>
          </a:xfrm>
          <a:custGeom>
            <a:avLst/>
            <a:gdLst/>
            <a:ahLst/>
            <a:cxnLst/>
            <a:rect l="l" t="t" r="r" b="b"/>
            <a:pathLst>
              <a:path w="1634490" h="612775">
                <a:moveTo>
                  <a:pt x="1633905" y="612736"/>
                </a:moveTo>
                <a:lnTo>
                  <a:pt x="0" y="612736"/>
                </a:lnTo>
                <a:lnTo>
                  <a:pt x="0" y="0"/>
                </a:lnTo>
                <a:lnTo>
                  <a:pt x="1633905" y="0"/>
                </a:lnTo>
                <a:lnTo>
                  <a:pt x="1633905" y="6350"/>
                </a:lnTo>
                <a:lnTo>
                  <a:pt x="12700" y="6350"/>
                </a:lnTo>
                <a:lnTo>
                  <a:pt x="6350" y="12700"/>
                </a:lnTo>
                <a:lnTo>
                  <a:pt x="12700" y="12700"/>
                </a:lnTo>
                <a:lnTo>
                  <a:pt x="12700" y="600036"/>
                </a:lnTo>
                <a:lnTo>
                  <a:pt x="6350" y="600036"/>
                </a:lnTo>
                <a:lnTo>
                  <a:pt x="12700" y="606386"/>
                </a:lnTo>
                <a:lnTo>
                  <a:pt x="1633905" y="606386"/>
                </a:lnTo>
                <a:lnTo>
                  <a:pt x="1633905" y="612736"/>
                </a:lnTo>
                <a:close/>
              </a:path>
              <a:path w="1634490" h="612775">
                <a:moveTo>
                  <a:pt x="12700" y="12700"/>
                </a:moveTo>
                <a:lnTo>
                  <a:pt x="6350" y="12700"/>
                </a:lnTo>
                <a:lnTo>
                  <a:pt x="12700" y="6350"/>
                </a:lnTo>
                <a:lnTo>
                  <a:pt x="12700" y="12700"/>
                </a:lnTo>
                <a:close/>
              </a:path>
              <a:path w="1634490" h="612775">
                <a:moveTo>
                  <a:pt x="1621205" y="12700"/>
                </a:moveTo>
                <a:lnTo>
                  <a:pt x="12700" y="12700"/>
                </a:lnTo>
                <a:lnTo>
                  <a:pt x="12700" y="6350"/>
                </a:lnTo>
                <a:lnTo>
                  <a:pt x="1621205" y="6350"/>
                </a:lnTo>
                <a:lnTo>
                  <a:pt x="1621205" y="12700"/>
                </a:lnTo>
                <a:close/>
              </a:path>
              <a:path w="1634490" h="612775">
                <a:moveTo>
                  <a:pt x="1621205" y="606386"/>
                </a:moveTo>
                <a:lnTo>
                  <a:pt x="1621205" y="6350"/>
                </a:lnTo>
                <a:lnTo>
                  <a:pt x="1627555" y="12700"/>
                </a:lnTo>
                <a:lnTo>
                  <a:pt x="1633905" y="12700"/>
                </a:lnTo>
                <a:lnTo>
                  <a:pt x="1633905" y="600036"/>
                </a:lnTo>
                <a:lnTo>
                  <a:pt x="1627555" y="600036"/>
                </a:lnTo>
                <a:lnTo>
                  <a:pt x="1621205" y="606386"/>
                </a:lnTo>
                <a:close/>
              </a:path>
              <a:path w="1634490" h="612775">
                <a:moveTo>
                  <a:pt x="1633905" y="12700"/>
                </a:moveTo>
                <a:lnTo>
                  <a:pt x="1627555" y="12700"/>
                </a:lnTo>
                <a:lnTo>
                  <a:pt x="1621205" y="6350"/>
                </a:lnTo>
                <a:lnTo>
                  <a:pt x="1633905" y="6350"/>
                </a:lnTo>
                <a:lnTo>
                  <a:pt x="1633905" y="12700"/>
                </a:lnTo>
                <a:close/>
              </a:path>
              <a:path w="1634490" h="612775">
                <a:moveTo>
                  <a:pt x="12700" y="606386"/>
                </a:moveTo>
                <a:lnTo>
                  <a:pt x="6350" y="600036"/>
                </a:lnTo>
                <a:lnTo>
                  <a:pt x="12700" y="600036"/>
                </a:lnTo>
                <a:lnTo>
                  <a:pt x="12700" y="606386"/>
                </a:lnTo>
                <a:close/>
              </a:path>
              <a:path w="1634490" h="612775">
                <a:moveTo>
                  <a:pt x="1621205" y="606386"/>
                </a:moveTo>
                <a:lnTo>
                  <a:pt x="12700" y="606386"/>
                </a:lnTo>
                <a:lnTo>
                  <a:pt x="12700" y="600036"/>
                </a:lnTo>
                <a:lnTo>
                  <a:pt x="1621205" y="600036"/>
                </a:lnTo>
                <a:lnTo>
                  <a:pt x="1621205" y="606386"/>
                </a:lnTo>
                <a:close/>
              </a:path>
              <a:path w="1634490" h="612775">
                <a:moveTo>
                  <a:pt x="1633905" y="606386"/>
                </a:moveTo>
                <a:lnTo>
                  <a:pt x="1621205" y="606386"/>
                </a:lnTo>
                <a:lnTo>
                  <a:pt x="1627555" y="600036"/>
                </a:lnTo>
                <a:lnTo>
                  <a:pt x="1633905" y="600036"/>
                </a:lnTo>
                <a:lnTo>
                  <a:pt x="1633905" y="606386"/>
                </a:lnTo>
                <a:close/>
              </a:path>
            </a:pathLst>
          </a:custGeom>
          <a:solidFill>
            <a:srgbClr val="C00000"/>
          </a:solidFill>
        </p:spPr>
        <p:txBody>
          <a:bodyPr wrap="square" lIns="0" tIns="0" rIns="0" bIns="0" rtlCol="0"/>
          <a:lstStyle/>
          <a:p/>
        </p:txBody>
      </p:sp>
      <p:sp>
        <p:nvSpPr>
          <p:cNvPr id="29" name="object 29"/>
          <p:cNvSpPr txBox="1"/>
          <p:nvPr/>
        </p:nvSpPr>
        <p:spPr>
          <a:xfrm>
            <a:off x="9617964" y="5631383"/>
            <a:ext cx="1620520" cy="208279"/>
          </a:xfrm>
          <a:prstGeom prst="rect">
            <a:avLst/>
          </a:prstGeom>
        </p:spPr>
        <p:txBody>
          <a:bodyPr vert="horz" wrap="square" lIns="0" tIns="12700" rIns="0" bIns="0" rtlCol="0">
            <a:spAutoFit/>
          </a:bodyPr>
          <a:lstStyle/>
          <a:p>
            <a:pPr marL="352425">
              <a:lnSpc>
                <a:spcPct val="100000"/>
              </a:lnSpc>
              <a:spcBef>
                <a:spcPts val="100"/>
              </a:spcBef>
            </a:pPr>
            <a:r>
              <a:rPr sz="1200" b="1" dirty="0">
                <a:solidFill>
                  <a:srgbClr val="C00000"/>
                </a:solidFill>
                <a:latin typeface="微软雅黑" panose="020B0503020204020204" charset="-122"/>
                <a:cs typeface="微软雅黑" panose="020B0503020204020204" charset="-122"/>
              </a:rPr>
              <a:t>硬件调试模块</a:t>
            </a:r>
            <a:endParaRPr sz="1200">
              <a:latin typeface="微软雅黑" panose="020B0503020204020204" charset="-122"/>
              <a:cs typeface="微软雅黑" panose="020B0503020204020204" charset="-122"/>
            </a:endParaRPr>
          </a:p>
        </p:txBody>
      </p:sp>
      <p:sp>
        <p:nvSpPr>
          <p:cNvPr id="30" name="object 30"/>
          <p:cNvSpPr/>
          <p:nvPr/>
        </p:nvSpPr>
        <p:spPr>
          <a:xfrm>
            <a:off x="7391400" y="4546091"/>
            <a:ext cx="1109980" cy="1499870"/>
          </a:xfrm>
          <a:custGeom>
            <a:avLst/>
            <a:gdLst/>
            <a:ahLst/>
            <a:cxnLst/>
            <a:rect l="l" t="t" r="r" b="b"/>
            <a:pathLst>
              <a:path w="1109979" h="1499870">
                <a:moveTo>
                  <a:pt x="0" y="0"/>
                </a:moveTo>
                <a:lnTo>
                  <a:pt x="1109472" y="0"/>
                </a:lnTo>
                <a:lnTo>
                  <a:pt x="1109472" y="1499615"/>
                </a:lnTo>
                <a:lnTo>
                  <a:pt x="0" y="1499615"/>
                </a:lnTo>
                <a:lnTo>
                  <a:pt x="0" y="0"/>
                </a:lnTo>
                <a:close/>
              </a:path>
            </a:pathLst>
          </a:custGeom>
          <a:solidFill>
            <a:srgbClr val="D9D9D9"/>
          </a:solidFill>
        </p:spPr>
        <p:txBody>
          <a:bodyPr wrap="square" lIns="0" tIns="0" rIns="0" bIns="0" rtlCol="0"/>
          <a:lstStyle/>
          <a:p/>
        </p:txBody>
      </p:sp>
      <p:sp>
        <p:nvSpPr>
          <p:cNvPr id="31" name="object 31"/>
          <p:cNvSpPr/>
          <p:nvPr/>
        </p:nvSpPr>
        <p:spPr>
          <a:xfrm>
            <a:off x="7384478" y="4540110"/>
            <a:ext cx="1122045" cy="1512570"/>
          </a:xfrm>
          <a:custGeom>
            <a:avLst/>
            <a:gdLst/>
            <a:ahLst/>
            <a:cxnLst/>
            <a:rect l="l" t="t" r="r" b="b"/>
            <a:pathLst>
              <a:path w="1122045" h="1512570">
                <a:moveTo>
                  <a:pt x="1122006" y="1512201"/>
                </a:moveTo>
                <a:lnTo>
                  <a:pt x="0" y="1512201"/>
                </a:lnTo>
                <a:lnTo>
                  <a:pt x="0" y="0"/>
                </a:lnTo>
                <a:lnTo>
                  <a:pt x="1122006" y="0"/>
                </a:lnTo>
                <a:lnTo>
                  <a:pt x="1122006" y="6350"/>
                </a:lnTo>
                <a:lnTo>
                  <a:pt x="12700" y="6350"/>
                </a:lnTo>
                <a:lnTo>
                  <a:pt x="6350" y="12700"/>
                </a:lnTo>
                <a:lnTo>
                  <a:pt x="12700" y="12700"/>
                </a:lnTo>
                <a:lnTo>
                  <a:pt x="12700" y="1499501"/>
                </a:lnTo>
                <a:lnTo>
                  <a:pt x="6350" y="1499501"/>
                </a:lnTo>
                <a:lnTo>
                  <a:pt x="12700" y="1505851"/>
                </a:lnTo>
                <a:lnTo>
                  <a:pt x="1122006" y="1505851"/>
                </a:lnTo>
                <a:lnTo>
                  <a:pt x="1122006" y="1512201"/>
                </a:lnTo>
                <a:close/>
              </a:path>
              <a:path w="1122045" h="1512570">
                <a:moveTo>
                  <a:pt x="12700" y="12700"/>
                </a:moveTo>
                <a:lnTo>
                  <a:pt x="6350" y="12700"/>
                </a:lnTo>
                <a:lnTo>
                  <a:pt x="12700" y="6350"/>
                </a:lnTo>
                <a:lnTo>
                  <a:pt x="12700" y="12700"/>
                </a:lnTo>
                <a:close/>
              </a:path>
              <a:path w="1122045" h="1512570">
                <a:moveTo>
                  <a:pt x="1109306" y="12700"/>
                </a:moveTo>
                <a:lnTo>
                  <a:pt x="12700" y="12700"/>
                </a:lnTo>
                <a:lnTo>
                  <a:pt x="12700" y="6350"/>
                </a:lnTo>
                <a:lnTo>
                  <a:pt x="1109306" y="6350"/>
                </a:lnTo>
                <a:lnTo>
                  <a:pt x="1109306" y="12700"/>
                </a:lnTo>
                <a:close/>
              </a:path>
              <a:path w="1122045" h="1512570">
                <a:moveTo>
                  <a:pt x="1109306" y="1505851"/>
                </a:moveTo>
                <a:lnTo>
                  <a:pt x="1109306" y="6350"/>
                </a:lnTo>
                <a:lnTo>
                  <a:pt x="1115656" y="12700"/>
                </a:lnTo>
                <a:lnTo>
                  <a:pt x="1122006" y="12700"/>
                </a:lnTo>
                <a:lnTo>
                  <a:pt x="1122006" y="1499501"/>
                </a:lnTo>
                <a:lnTo>
                  <a:pt x="1115656" y="1499501"/>
                </a:lnTo>
                <a:lnTo>
                  <a:pt x="1109306" y="1505851"/>
                </a:lnTo>
                <a:close/>
              </a:path>
              <a:path w="1122045" h="1512570">
                <a:moveTo>
                  <a:pt x="1122006" y="12700"/>
                </a:moveTo>
                <a:lnTo>
                  <a:pt x="1115656" y="12700"/>
                </a:lnTo>
                <a:lnTo>
                  <a:pt x="1109306" y="6350"/>
                </a:lnTo>
                <a:lnTo>
                  <a:pt x="1122006" y="6350"/>
                </a:lnTo>
                <a:lnTo>
                  <a:pt x="1122006" y="12700"/>
                </a:lnTo>
                <a:close/>
              </a:path>
              <a:path w="1122045" h="1512570">
                <a:moveTo>
                  <a:pt x="12700" y="1505851"/>
                </a:moveTo>
                <a:lnTo>
                  <a:pt x="6350" y="1499501"/>
                </a:lnTo>
                <a:lnTo>
                  <a:pt x="12700" y="1499501"/>
                </a:lnTo>
                <a:lnTo>
                  <a:pt x="12700" y="1505851"/>
                </a:lnTo>
                <a:close/>
              </a:path>
              <a:path w="1122045" h="1512570">
                <a:moveTo>
                  <a:pt x="1109306" y="1505851"/>
                </a:moveTo>
                <a:lnTo>
                  <a:pt x="12700" y="1505851"/>
                </a:lnTo>
                <a:lnTo>
                  <a:pt x="12700" y="1499501"/>
                </a:lnTo>
                <a:lnTo>
                  <a:pt x="1109306" y="1499501"/>
                </a:lnTo>
                <a:lnTo>
                  <a:pt x="1109306" y="1505851"/>
                </a:lnTo>
                <a:close/>
              </a:path>
              <a:path w="1122045" h="1512570">
                <a:moveTo>
                  <a:pt x="1122006" y="1505851"/>
                </a:moveTo>
                <a:lnTo>
                  <a:pt x="1109306" y="1505851"/>
                </a:lnTo>
                <a:lnTo>
                  <a:pt x="1115656" y="1499501"/>
                </a:lnTo>
                <a:lnTo>
                  <a:pt x="1122006" y="1499501"/>
                </a:lnTo>
                <a:lnTo>
                  <a:pt x="1122006" y="1505851"/>
                </a:lnTo>
                <a:close/>
              </a:path>
            </a:pathLst>
          </a:custGeom>
          <a:solidFill>
            <a:srgbClr val="C00000"/>
          </a:solidFill>
        </p:spPr>
        <p:txBody>
          <a:bodyPr wrap="square" lIns="0" tIns="0" rIns="0" bIns="0" rtlCol="0"/>
          <a:lstStyle/>
          <a:p/>
        </p:txBody>
      </p:sp>
      <p:sp>
        <p:nvSpPr>
          <p:cNvPr id="32" name="object 32"/>
          <p:cNvSpPr/>
          <p:nvPr/>
        </p:nvSpPr>
        <p:spPr>
          <a:xfrm>
            <a:off x="8840723" y="4546091"/>
            <a:ext cx="436245" cy="1277620"/>
          </a:xfrm>
          <a:custGeom>
            <a:avLst/>
            <a:gdLst/>
            <a:ahLst/>
            <a:cxnLst/>
            <a:rect l="l" t="t" r="r" b="b"/>
            <a:pathLst>
              <a:path w="436245" h="1277620">
                <a:moveTo>
                  <a:pt x="0" y="0"/>
                </a:moveTo>
                <a:lnTo>
                  <a:pt x="435864" y="0"/>
                </a:lnTo>
                <a:lnTo>
                  <a:pt x="435864" y="1277112"/>
                </a:lnTo>
                <a:lnTo>
                  <a:pt x="0" y="1277112"/>
                </a:lnTo>
                <a:lnTo>
                  <a:pt x="0" y="0"/>
                </a:lnTo>
                <a:close/>
              </a:path>
            </a:pathLst>
          </a:custGeom>
          <a:solidFill>
            <a:srgbClr val="D9D9D9"/>
          </a:solidFill>
        </p:spPr>
        <p:txBody>
          <a:bodyPr wrap="square" lIns="0" tIns="0" rIns="0" bIns="0" rtlCol="0"/>
          <a:lstStyle/>
          <a:p/>
        </p:txBody>
      </p:sp>
      <p:sp>
        <p:nvSpPr>
          <p:cNvPr id="33" name="object 33"/>
          <p:cNvSpPr/>
          <p:nvPr/>
        </p:nvSpPr>
        <p:spPr>
          <a:xfrm>
            <a:off x="8834094" y="4540110"/>
            <a:ext cx="448309" cy="1290320"/>
          </a:xfrm>
          <a:custGeom>
            <a:avLst/>
            <a:gdLst/>
            <a:ahLst/>
            <a:cxnLst/>
            <a:rect l="l" t="t" r="r" b="b"/>
            <a:pathLst>
              <a:path w="448309" h="1290320">
                <a:moveTo>
                  <a:pt x="448284" y="1290015"/>
                </a:moveTo>
                <a:lnTo>
                  <a:pt x="0" y="1290015"/>
                </a:lnTo>
                <a:lnTo>
                  <a:pt x="0" y="0"/>
                </a:lnTo>
                <a:lnTo>
                  <a:pt x="448284" y="0"/>
                </a:lnTo>
                <a:lnTo>
                  <a:pt x="448284" y="6350"/>
                </a:lnTo>
                <a:lnTo>
                  <a:pt x="12700" y="6350"/>
                </a:lnTo>
                <a:lnTo>
                  <a:pt x="6350" y="12700"/>
                </a:lnTo>
                <a:lnTo>
                  <a:pt x="12700" y="12700"/>
                </a:lnTo>
                <a:lnTo>
                  <a:pt x="12700" y="1277315"/>
                </a:lnTo>
                <a:lnTo>
                  <a:pt x="6350" y="1277315"/>
                </a:lnTo>
                <a:lnTo>
                  <a:pt x="12700" y="1283665"/>
                </a:lnTo>
                <a:lnTo>
                  <a:pt x="448284" y="1283665"/>
                </a:lnTo>
                <a:lnTo>
                  <a:pt x="448284" y="1290015"/>
                </a:lnTo>
                <a:close/>
              </a:path>
              <a:path w="448309" h="1290320">
                <a:moveTo>
                  <a:pt x="12700" y="12700"/>
                </a:moveTo>
                <a:lnTo>
                  <a:pt x="6350" y="12700"/>
                </a:lnTo>
                <a:lnTo>
                  <a:pt x="12700" y="6350"/>
                </a:lnTo>
                <a:lnTo>
                  <a:pt x="12700" y="12700"/>
                </a:lnTo>
                <a:close/>
              </a:path>
              <a:path w="448309" h="1290320">
                <a:moveTo>
                  <a:pt x="435584" y="12700"/>
                </a:moveTo>
                <a:lnTo>
                  <a:pt x="12700" y="12700"/>
                </a:lnTo>
                <a:lnTo>
                  <a:pt x="12700" y="6350"/>
                </a:lnTo>
                <a:lnTo>
                  <a:pt x="435584" y="6350"/>
                </a:lnTo>
                <a:lnTo>
                  <a:pt x="435584" y="12700"/>
                </a:lnTo>
                <a:close/>
              </a:path>
              <a:path w="448309" h="1290320">
                <a:moveTo>
                  <a:pt x="435584" y="1283665"/>
                </a:moveTo>
                <a:lnTo>
                  <a:pt x="435584" y="6350"/>
                </a:lnTo>
                <a:lnTo>
                  <a:pt x="441934" y="12700"/>
                </a:lnTo>
                <a:lnTo>
                  <a:pt x="448284" y="12700"/>
                </a:lnTo>
                <a:lnTo>
                  <a:pt x="448284" y="1277315"/>
                </a:lnTo>
                <a:lnTo>
                  <a:pt x="441934" y="1277315"/>
                </a:lnTo>
                <a:lnTo>
                  <a:pt x="435584" y="1283665"/>
                </a:lnTo>
                <a:close/>
              </a:path>
              <a:path w="448309" h="1290320">
                <a:moveTo>
                  <a:pt x="448284" y="12700"/>
                </a:moveTo>
                <a:lnTo>
                  <a:pt x="441934" y="12700"/>
                </a:lnTo>
                <a:lnTo>
                  <a:pt x="435584" y="6350"/>
                </a:lnTo>
                <a:lnTo>
                  <a:pt x="448284" y="6350"/>
                </a:lnTo>
                <a:lnTo>
                  <a:pt x="448284" y="12700"/>
                </a:lnTo>
                <a:close/>
              </a:path>
              <a:path w="448309" h="1290320">
                <a:moveTo>
                  <a:pt x="12700" y="1283665"/>
                </a:moveTo>
                <a:lnTo>
                  <a:pt x="6350" y="1277315"/>
                </a:lnTo>
                <a:lnTo>
                  <a:pt x="12700" y="1277315"/>
                </a:lnTo>
                <a:lnTo>
                  <a:pt x="12700" y="1283665"/>
                </a:lnTo>
                <a:close/>
              </a:path>
              <a:path w="448309" h="1290320">
                <a:moveTo>
                  <a:pt x="435584" y="1283665"/>
                </a:moveTo>
                <a:lnTo>
                  <a:pt x="12700" y="1283665"/>
                </a:lnTo>
                <a:lnTo>
                  <a:pt x="12700" y="1277315"/>
                </a:lnTo>
                <a:lnTo>
                  <a:pt x="435584" y="1277315"/>
                </a:lnTo>
                <a:lnTo>
                  <a:pt x="435584" y="1283665"/>
                </a:lnTo>
                <a:close/>
              </a:path>
              <a:path w="448309" h="1290320">
                <a:moveTo>
                  <a:pt x="448284" y="1283665"/>
                </a:moveTo>
                <a:lnTo>
                  <a:pt x="435584" y="1283665"/>
                </a:lnTo>
                <a:lnTo>
                  <a:pt x="441934" y="1277315"/>
                </a:lnTo>
                <a:lnTo>
                  <a:pt x="448284" y="1277315"/>
                </a:lnTo>
                <a:lnTo>
                  <a:pt x="448284" y="1283665"/>
                </a:lnTo>
                <a:close/>
              </a:path>
            </a:pathLst>
          </a:custGeom>
          <a:solidFill>
            <a:srgbClr val="C00000"/>
          </a:solidFill>
        </p:spPr>
        <p:txBody>
          <a:bodyPr wrap="square" lIns="0" tIns="0" rIns="0" bIns="0" rtlCol="0"/>
          <a:lstStyle/>
          <a:p/>
        </p:txBody>
      </p:sp>
      <p:sp>
        <p:nvSpPr>
          <p:cNvPr id="34" name="object 34"/>
          <p:cNvSpPr/>
          <p:nvPr/>
        </p:nvSpPr>
        <p:spPr>
          <a:xfrm>
            <a:off x="7834883" y="5298947"/>
            <a:ext cx="666115" cy="429895"/>
          </a:xfrm>
          <a:custGeom>
            <a:avLst/>
            <a:gdLst/>
            <a:ahLst/>
            <a:cxnLst/>
            <a:rect l="l" t="t" r="r" b="b"/>
            <a:pathLst>
              <a:path w="666115" h="429895">
                <a:moveTo>
                  <a:pt x="0" y="0"/>
                </a:moveTo>
                <a:lnTo>
                  <a:pt x="665987" y="0"/>
                </a:lnTo>
                <a:lnTo>
                  <a:pt x="665987" y="429768"/>
                </a:lnTo>
                <a:lnTo>
                  <a:pt x="0" y="429768"/>
                </a:lnTo>
                <a:lnTo>
                  <a:pt x="0" y="0"/>
                </a:lnTo>
                <a:close/>
              </a:path>
            </a:pathLst>
          </a:custGeom>
          <a:solidFill>
            <a:srgbClr val="E7E6E6"/>
          </a:solidFill>
        </p:spPr>
        <p:txBody>
          <a:bodyPr wrap="square" lIns="0" tIns="0" rIns="0" bIns="0" rtlCol="0"/>
          <a:lstStyle/>
          <a:p/>
        </p:txBody>
      </p:sp>
      <p:sp>
        <p:nvSpPr>
          <p:cNvPr id="35" name="object 35"/>
          <p:cNvSpPr/>
          <p:nvPr/>
        </p:nvSpPr>
        <p:spPr>
          <a:xfrm>
            <a:off x="7828660" y="5292826"/>
            <a:ext cx="678180" cy="441959"/>
          </a:xfrm>
          <a:custGeom>
            <a:avLst/>
            <a:gdLst/>
            <a:ahLst/>
            <a:cxnLst/>
            <a:rect l="l" t="t" r="r" b="b"/>
            <a:pathLst>
              <a:path w="678179" h="441960">
                <a:moveTo>
                  <a:pt x="677824" y="441642"/>
                </a:moveTo>
                <a:lnTo>
                  <a:pt x="0" y="441642"/>
                </a:lnTo>
                <a:lnTo>
                  <a:pt x="0" y="0"/>
                </a:lnTo>
                <a:lnTo>
                  <a:pt x="677824" y="0"/>
                </a:lnTo>
                <a:lnTo>
                  <a:pt x="677824" y="6350"/>
                </a:lnTo>
                <a:lnTo>
                  <a:pt x="12700" y="6350"/>
                </a:lnTo>
                <a:lnTo>
                  <a:pt x="6350" y="12700"/>
                </a:lnTo>
                <a:lnTo>
                  <a:pt x="12700" y="12700"/>
                </a:lnTo>
                <a:lnTo>
                  <a:pt x="12700" y="428942"/>
                </a:lnTo>
                <a:lnTo>
                  <a:pt x="6350" y="428942"/>
                </a:lnTo>
                <a:lnTo>
                  <a:pt x="12700" y="435292"/>
                </a:lnTo>
                <a:lnTo>
                  <a:pt x="677824" y="435292"/>
                </a:lnTo>
                <a:lnTo>
                  <a:pt x="677824" y="441642"/>
                </a:lnTo>
                <a:close/>
              </a:path>
              <a:path w="678179" h="441960">
                <a:moveTo>
                  <a:pt x="12700" y="12700"/>
                </a:moveTo>
                <a:lnTo>
                  <a:pt x="6350" y="12700"/>
                </a:lnTo>
                <a:lnTo>
                  <a:pt x="12700" y="6350"/>
                </a:lnTo>
                <a:lnTo>
                  <a:pt x="12700" y="12700"/>
                </a:lnTo>
                <a:close/>
              </a:path>
              <a:path w="678179" h="441960">
                <a:moveTo>
                  <a:pt x="665124" y="12700"/>
                </a:moveTo>
                <a:lnTo>
                  <a:pt x="12700" y="12700"/>
                </a:lnTo>
                <a:lnTo>
                  <a:pt x="12700" y="6350"/>
                </a:lnTo>
                <a:lnTo>
                  <a:pt x="665124" y="6350"/>
                </a:lnTo>
                <a:lnTo>
                  <a:pt x="665124" y="12700"/>
                </a:lnTo>
                <a:close/>
              </a:path>
              <a:path w="678179" h="441960">
                <a:moveTo>
                  <a:pt x="665124" y="435292"/>
                </a:moveTo>
                <a:lnTo>
                  <a:pt x="665124" y="6350"/>
                </a:lnTo>
                <a:lnTo>
                  <a:pt x="671474" y="12700"/>
                </a:lnTo>
                <a:lnTo>
                  <a:pt x="677824" y="12700"/>
                </a:lnTo>
                <a:lnTo>
                  <a:pt x="677824" y="428942"/>
                </a:lnTo>
                <a:lnTo>
                  <a:pt x="671474" y="428942"/>
                </a:lnTo>
                <a:lnTo>
                  <a:pt x="665124" y="435292"/>
                </a:lnTo>
                <a:close/>
              </a:path>
              <a:path w="678179" h="441960">
                <a:moveTo>
                  <a:pt x="677824" y="12700"/>
                </a:moveTo>
                <a:lnTo>
                  <a:pt x="671474" y="12700"/>
                </a:lnTo>
                <a:lnTo>
                  <a:pt x="665124" y="6350"/>
                </a:lnTo>
                <a:lnTo>
                  <a:pt x="677824" y="6350"/>
                </a:lnTo>
                <a:lnTo>
                  <a:pt x="677824" y="12700"/>
                </a:lnTo>
                <a:close/>
              </a:path>
              <a:path w="678179" h="441960">
                <a:moveTo>
                  <a:pt x="12700" y="435292"/>
                </a:moveTo>
                <a:lnTo>
                  <a:pt x="6350" y="428942"/>
                </a:lnTo>
                <a:lnTo>
                  <a:pt x="12700" y="428942"/>
                </a:lnTo>
                <a:lnTo>
                  <a:pt x="12700" y="435292"/>
                </a:lnTo>
                <a:close/>
              </a:path>
              <a:path w="678179" h="441960">
                <a:moveTo>
                  <a:pt x="665124" y="435292"/>
                </a:moveTo>
                <a:lnTo>
                  <a:pt x="12700" y="435292"/>
                </a:lnTo>
                <a:lnTo>
                  <a:pt x="12700" y="428942"/>
                </a:lnTo>
                <a:lnTo>
                  <a:pt x="665124" y="428942"/>
                </a:lnTo>
                <a:lnTo>
                  <a:pt x="665124" y="435292"/>
                </a:lnTo>
                <a:close/>
              </a:path>
              <a:path w="678179" h="441960">
                <a:moveTo>
                  <a:pt x="677824" y="435292"/>
                </a:moveTo>
                <a:lnTo>
                  <a:pt x="665124" y="435292"/>
                </a:lnTo>
                <a:lnTo>
                  <a:pt x="671474" y="428942"/>
                </a:lnTo>
                <a:lnTo>
                  <a:pt x="677824" y="428942"/>
                </a:lnTo>
                <a:lnTo>
                  <a:pt x="677824" y="435292"/>
                </a:lnTo>
                <a:close/>
              </a:path>
            </a:pathLst>
          </a:custGeom>
          <a:solidFill>
            <a:srgbClr val="C00000"/>
          </a:solidFill>
        </p:spPr>
        <p:txBody>
          <a:bodyPr wrap="square" lIns="0" tIns="0" rIns="0" bIns="0" rtlCol="0"/>
          <a:lstStyle/>
          <a:p/>
        </p:txBody>
      </p:sp>
      <p:sp>
        <p:nvSpPr>
          <p:cNvPr id="36" name="object 36"/>
          <p:cNvSpPr txBox="1"/>
          <p:nvPr/>
        </p:nvSpPr>
        <p:spPr>
          <a:xfrm>
            <a:off x="7834883" y="5341086"/>
            <a:ext cx="666115" cy="329565"/>
          </a:xfrm>
          <a:prstGeom prst="rect">
            <a:avLst/>
          </a:prstGeom>
        </p:spPr>
        <p:txBody>
          <a:bodyPr vert="horz" wrap="square" lIns="0" tIns="12065" rIns="0" bIns="0" rtlCol="0">
            <a:spAutoFit/>
          </a:bodyPr>
          <a:lstStyle/>
          <a:p>
            <a:pPr marL="163195" marR="135890" indent="-21590">
              <a:lnSpc>
                <a:spcPct val="100000"/>
              </a:lnSpc>
              <a:spcBef>
                <a:spcPts val="95"/>
              </a:spcBef>
            </a:pPr>
            <a:r>
              <a:rPr sz="1000" dirty="0">
                <a:solidFill>
                  <a:srgbClr val="C00000"/>
                </a:solidFill>
                <a:latin typeface="微软雅黑" panose="020B0503020204020204" charset="-122"/>
                <a:cs typeface="微软雅黑" panose="020B0503020204020204" charset="-122"/>
              </a:rPr>
              <a:t>总线</a:t>
            </a:r>
            <a:r>
              <a:rPr sz="1000" spc="-5" dirty="0">
                <a:solidFill>
                  <a:srgbClr val="C00000"/>
                </a:solidFill>
                <a:latin typeface="微软雅黑" panose="020B0503020204020204" charset="-122"/>
                <a:cs typeface="微软雅黑" panose="020B0503020204020204" charset="-122"/>
              </a:rPr>
              <a:t>接 </a:t>
            </a:r>
            <a:r>
              <a:rPr sz="1000" dirty="0">
                <a:solidFill>
                  <a:srgbClr val="C00000"/>
                </a:solidFill>
                <a:latin typeface="微软雅黑" panose="020B0503020204020204" charset="-122"/>
                <a:cs typeface="微软雅黑" panose="020B0503020204020204" charset="-122"/>
              </a:rPr>
              <a:t>口</a:t>
            </a:r>
            <a:r>
              <a:rPr sz="1000" spc="-5" dirty="0">
                <a:solidFill>
                  <a:srgbClr val="C00000"/>
                </a:solidFill>
                <a:latin typeface="微软雅黑" panose="020B0503020204020204" charset="-122"/>
                <a:cs typeface="微软雅黑" panose="020B0503020204020204" charset="-122"/>
              </a:rPr>
              <a:t>BIU</a:t>
            </a:r>
            <a:endParaRPr sz="1000">
              <a:latin typeface="微软雅黑" panose="020B0503020204020204" charset="-122"/>
              <a:cs typeface="微软雅黑" panose="020B0503020204020204" charset="-122"/>
            </a:endParaRPr>
          </a:p>
        </p:txBody>
      </p:sp>
      <p:sp>
        <p:nvSpPr>
          <p:cNvPr id="37" name="object 37"/>
          <p:cNvSpPr txBox="1"/>
          <p:nvPr/>
        </p:nvSpPr>
        <p:spPr>
          <a:xfrm>
            <a:off x="8840723" y="4801780"/>
            <a:ext cx="436245" cy="634365"/>
          </a:xfrm>
          <a:prstGeom prst="rect">
            <a:avLst/>
          </a:prstGeom>
        </p:spPr>
        <p:txBody>
          <a:bodyPr vert="horz" wrap="square" lIns="0" tIns="12065" rIns="0" bIns="0" rtlCol="0">
            <a:spAutoFit/>
          </a:bodyPr>
          <a:lstStyle/>
          <a:p>
            <a:pPr marL="92075" marR="81915" indent="7620" algn="just">
              <a:lnSpc>
                <a:spcPct val="100000"/>
              </a:lnSpc>
              <a:spcBef>
                <a:spcPts val="95"/>
              </a:spcBef>
            </a:pPr>
            <a:r>
              <a:rPr sz="1000" spc="-5" dirty="0">
                <a:solidFill>
                  <a:srgbClr val="C00000"/>
                </a:solidFill>
                <a:latin typeface="微软雅黑" panose="020B0503020204020204" charset="-122"/>
                <a:cs typeface="微软雅黑" panose="020B0503020204020204" charset="-122"/>
              </a:rPr>
              <a:t>SoC </a:t>
            </a:r>
            <a:r>
              <a:rPr sz="1000" dirty="0">
                <a:solidFill>
                  <a:srgbClr val="C00000"/>
                </a:solidFill>
                <a:latin typeface="微软雅黑" panose="020B0503020204020204" charset="-122"/>
                <a:cs typeface="微软雅黑" panose="020B0503020204020204" charset="-122"/>
              </a:rPr>
              <a:t>系</a:t>
            </a:r>
            <a:r>
              <a:rPr sz="1000" spc="-5" dirty="0">
                <a:solidFill>
                  <a:srgbClr val="C00000"/>
                </a:solidFill>
                <a:latin typeface="微软雅黑" panose="020B0503020204020204" charset="-122"/>
                <a:cs typeface="微软雅黑" panose="020B0503020204020204" charset="-122"/>
              </a:rPr>
              <a:t>统 </a:t>
            </a:r>
            <a:r>
              <a:rPr sz="1000" dirty="0">
                <a:solidFill>
                  <a:srgbClr val="C00000"/>
                </a:solidFill>
                <a:latin typeface="微软雅黑" panose="020B0503020204020204" charset="-122"/>
                <a:cs typeface="微软雅黑" panose="020B0503020204020204" charset="-122"/>
              </a:rPr>
              <a:t>存</a:t>
            </a:r>
            <a:r>
              <a:rPr sz="1000" spc="-5" dirty="0">
                <a:solidFill>
                  <a:srgbClr val="C00000"/>
                </a:solidFill>
                <a:latin typeface="微软雅黑" panose="020B0503020204020204" charset="-122"/>
                <a:cs typeface="微软雅黑" panose="020B0503020204020204" charset="-122"/>
              </a:rPr>
              <a:t>储 </a:t>
            </a:r>
            <a:r>
              <a:rPr sz="1000" dirty="0">
                <a:solidFill>
                  <a:srgbClr val="C00000"/>
                </a:solidFill>
                <a:latin typeface="微软雅黑" panose="020B0503020204020204" charset="-122"/>
                <a:cs typeface="微软雅黑" panose="020B0503020204020204" charset="-122"/>
              </a:rPr>
              <a:t>总</a:t>
            </a:r>
            <a:r>
              <a:rPr sz="1000" spc="-5" dirty="0">
                <a:solidFill>
                  <a:srgbClr val="C00000"/>
                </a:solidFill>
                <a:latin typeface="微软雅黑" panose="020B0503020204020204" charset="-122"/>
                <a:cs typeface="微软雅黑" panose="020B0503020204020204" charset="-122"/>
              </a:rPr>
              <a:t>线</a:t>
            </a:r>
            <a:endParaRPr sz="1000">
              <a:latin typeface="微软雅黑" panose="020B0503020204020204" charset="-122"/>
              <a:cs typeface="微软雅黑" panose="020B0503020204020204" charset="-122"/>
            </a:endParaRPr>
          </a:p>
        </p:txBody>
      </p:sp>
      <p:sp>
        <p:nvSpPr>
          <p:cNvPr id="38" name="object 38"/>
          <p:cNvSpPr/>
          <p:nvPr/>
        </p:nvSpPr>
        <p:spPr>
          <a:xfrm>
            <a:off x="8518982" y="5514009"/>
            <a:ext cx="337185" cy="76200"/>
          </a:xfrm>
          <a:custGeom>
            <a:avLst/>
            <a:gdLst/>
            <a:ahLst/>
            <a:cxnLst/>
            <a:rect l="l" t="t" r="r" b="b"/>
            <a:pathLst>
              <a:path w="337184" h="76200">
                <a:moveTo>
                  <a:pt x="261581" y="76174"/>
                </a:moveTo>
                <a:lnTo>
                  <a:pt x="260876" y="42846"/>
                </a:lnTo>
                <a:lnTo>
                  <a:pt x="279920" y="42443"/>
                </a:lnTo>
                <a:lnTo>
                  <a:pt x="279730" y="32918"/>
                </a:lnTo>
                <a:lnTo>
                  <a:pt x="260666" y="32918"/>
                </a:lnTo>
                <a:lnTo>
                  <a:pt x="259969" y="0"/>
                </a:lnTo>
                <a:lnTo>
                  <a:pt x="329450" y="32918"/>
                </a:lnTo>
                <a:lnTo>
                  <a:pt x="279730" y="32918"/>
                </a:lnTo>
                <a:lnTo>
                  <a:pt x="260674" y="33322"/>
                </a:lnTo>
                <a:lnTo>
                  <a:pt x="330303" y="33322"/>
                </a:lnTo>
                <a:lnTo>
                  <a:pt x="336956" y="36474"/>
                </a:lnTo>
                <a:lnTo>
                  <a:pt x="261581" y="76174"/>
                </a:lnTo>
                <a:close/>
              </a:path>
              <a:path w="337184" h="76200">
                <a:moveTo>
                  <a:pt x="260876" y="42846"/>
                </a:moveTo>
                <a:lnTo>
                  <a:pt x="260674" y="33322"/>
                </a:lnTo>
                <a:lnTo>
                  <a:pt x="279730" y="32918"/>
                </a:lnTo>
                <a:lnTo>
                  <a:pt x="279920" y="42443"/>
                </a:lnTo>
                <a:lnTo>
                  <a:pt x="260876" y="42846"/>
                </a:lnTo>
                <a:close/>
              </a:path>
              <a:path w="337184" h="76200">
                <a:moveTo>
                  <a:pt x="190" y="48361"/>
                </a:moveTo>
                <a:lnTo>
                  <a:pt x="0" y="38849"/>
                </a:lnTo>
                <a:lnTo>
                  <a:pt x="260674" y="33322"/>
                </a:lnTo>
                <a:lnTo>
                  <a:pt x="260876" y="42846"/>
                </a:lnTo>
                <a:lnTo>
                  <a:pt x="190" y="48361"/>
                </a:lnTo>
                <a:close/>
              </a:path>
            </a:pathLst>
          </a:custGeom>
          <a:solidFill>
            <a:srgbClr val="C00000"/>
          </a:solidFill>
        </p:spPr>
        <p:txBody>
          <a:bodyPr wrap="square" lIns="0" tIns="0" rIns="0" bIns="0" rtlCol="0"/>
          <a:lstStyle/>
          <a:p/>
        </p:txBody>
      </p:sp>
      <p:sp>
        <p:nvSpPr>
          <p:cNvPr id="39" name="object 39"/>
          <p:cNvSpPr/>
          <p:nvPr/>
        </p:nvSpPr>
        <p:spPr>
          <a:xfrm>
            <a:off x="9280512" y="5525046"/>
            <a:ext cx="337185" cy="76200"/>
          </a:xfrm>
          <a:custGeom>
            <a:avLst/>
            <a:gdLst/>
            <a:ahLst/>
            <a:cxnLst/>
            <a:rect l="l" t="t" r="r" b="b"/>
            <a:pathLst>
              <a:path w="337184" h="76200">
                <a:moveTo>
                  <a:pt x="329463" y="43256"/>
                </a:moveTo>
                <a:lnTo>
                  <a:pt x="279730" y="43256"/>
                </a:lnTo>
                <a:lnTo>
                  <a:pt x="279933" y="33731"/>
                </a:lnTo>
                <a:lnTo>
                  <a:pt x="260888" y="33328"/>
                </a:lnTo>
                <a:lnTo>
                  <a:pt x="261594" y="0"/>
                </a:lnTo>
                <a:lnTo>
                  <a:pt x="336969" y="39700"/>
                </a:lnTo>
                <a:lnTo>
                  <a:pt x="329463" y="43256"/>
                </a:lnTo>
                <a:close/>
              </a:path>
              <a:path w="337184" h="76200">
                <a:moveTo>
                  <a:pt x="260687" y="42852"/>
                </a:moveTo>
                <a:lnTo>
                  <a:pt x="0" y="37325"/>
                </a:lnTo>
                <a:lnTo>
                  <a:pt x="203" y="27812"/>
                </a:lnTo>
                <a:lnTo>
                  <a:pt x="260888" y="33328"/>
                </a:lnTo>
                <a:lnTo>
                  <a:pt x="260687" y="42852"/>
                </a:lnTo>
                <a:close/>
              </a:path>
              <a:path w="337184" h="76200">
                <a:moveTo>
                  <a:pt x="279730" y="43256"/>
                </a:moveTo>
                <a:lnTo>
                  <a:pt x="260687" y="42852"/>
                </a:lnTo>
                <a:lnTo>
                  <a:pt x="260888" y="33328"/>
                </a:lnTo>
                <a:lnTo>
                  <a:pt x="279933" y="33731"/>
                </a:lnTo>
                <a:lnTo>
                  <a:pt x="279730" y="43256"/>
                </a:lnTo>
                <a:close/>
              </a:path>
              <a:path w="337184" h="76200">
                <a:moveTo>
                  <a:pt x="259981" y="76174"/>
                </a:moveTo>
                <a:lnTo>
                  <a:pt x="260687" y="42852"/>
                </a:lnTo>
                <a:lnTo>
                  <a:pt x="279730" y="43256"/>
                </a:lnTo>
                <a:lnTo>
                  <a:pt x="329463" y="43256"/>
                </a:lnTo>
                <a:lnTo>
                  <a:pt x="259981" y="76174"/>
                </a:lnTo>
                <a:close/>
              </a:path>
            </a:pathLst>
          </a:custGeom>
          <a:solidFill>
            <a:srgbClr val="C00000"/>
          </a:solidFill>
        </p:spPr>
        <p:txBody>
          <a:bodyPr wrap="square" lIns="0" tIns="0" rIns="0" bIns="0" rtlCol="0"/>
          <a:lstStyle/>
          <a:p/>
        </p:txBody>
      </p:sp>
      <p:sp>
        <p:nvSpPr>
          <p:cNvPr id="40" name="object 40"/>
          <p:cNvSpPr/>
          <p:nvPr/>
        </p:nvSpPr>
        <p:spPr>
          <a:xfrm>
            <a:off x="8523668" y="5931877"/>
            <a:ext cx="1094105" cy="76200"/>
          </a:xfrm>
          <a:custGeom>
            <a:avLst/>
            <a:gdLst/>
            <a:ahLst/>
            <a:cxnLst/>
            <a:rect l="l" t="t" r="r" b="b"/>
            <a:pathLst>
              <a:path w="1094104" h="76200">
                <a:moveTo>
                  <a:pt x="76466" y="76200"/>
                </a:moveTo>
                <a:lnTo>
                  <a:pt x="0" y="38633"/>
                </a:lnTo>
                <a:lnTo>
                  <a:pt x="75933" y="0"/>
                </a:lnTo>
                <a:lnTo>
                  <a:pt x="76166" y="33330"/>
                </a:lnTo>
                <a:lnTo>
                  <a:pt x="57111" y="33464"/>
                </a:lnTo>
                <a:lnTo>
                  <a:pt x="57175" y="42989"/>
                </a:lnTo>
                <a:lnTo>
                  <a:pt x="76234" y="42989"/>
                </a:lnTo>
                <a:lnTo>
                  <a:pt x="76466" y="76200"/>
                </a:lnTo>
                <a:close/>
              </a:path>
              <a:path w="1094104" h="76200">
                <a:moveTo>
                  <a:pt x="76233" y="42855"/>
                </a:moveTo>
                <a:lnTo>
                  <a:pt x="76166" y="33330"/>
                </a:lnTo>
                <a:lnTo>
                  <a:pt x="1093774" y="26149"/>
                </a:lnTo>
                <a:lnTo>
                  <a:pt x="1093851" y="35674"/>
                </a:lnTo>
                <a:lnTo>
                  <a:pt x="76233" y="42855"/>
                </a:lnTo>
                <a:close/>
              </a:path>
              <a:path w="1094104" h="76200">
                <a:moveTo>
                  <a:pt x="57175" y="42989"/>
                </a:moveTo>
                <a:lnTo>
                  <a:pt x="57111" y="33464"/>
                </a:lnTo>
                <a:lnTo>
                  <a:pt x="76166" y="33330"/>
                </a:lnTo>
                <a:lnTo>
                  <a:pt x="76233" y="42855"/>
                </a:lnTo>
                <a:lnTo>
                  <a:pt x="57175" y="42989"/>
                </a:lnTo>
                <a:close/>
              </a:path>
              <a:path w="1094104" h="76200">
                <a:moveTo>
                  <a:pt x="76234" y="42989"/>
                </a:moveTo>
                <a:lnTo>
                  <a:pt x="57175" y="42989"/>
                </a:lnTo>
                <a:lnTo>
                  <a:pt x="76233" y="42855"/>
                </a:lnTo>
                <a:lnTo>
                  <a:pt x="76234" y="42989"/>
                </a:lnTo>
                <a:close/>
              </a:path>
            </a:pathLst>
          </a:custGeom>
          <a:solidFill>
            <a:srgbClr val="C00000"/>
          </a:solidFill>
        </p:spPr>
        <p:txBody>
          <a:bodyPr wrap="square" lIns="0" tIns="0" rIns="0" bIns="0" rtlCol="0"/>
          <a:lstStyle/>
          <a:p/>
        </p:txBody>
      </p:sp>
      <p:sp>
        <p:nvSpPr>
          <p:cNvPr id="41" name="object 41"/>
          <p:cNvSpPr txBox="1"/>
          <p:nvPr/>
        </p:nvSpPr>
        <p:spPr>
          <a:xfrm>
            <a:off x="10511281" y="2841434"/>
            <a:ext cx="78041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C00000"/>
                </a:solidFill>
                <a:latin typeface="微软雅黑" panose="020B0503020204020204" charset="-122"/>
                <a:cs typeface="微软雅黑" panose="020B0503020204020204" charset="-122"/>
              </a:rPr>
              <a:t>U</a:t>
            </a:r>
            <a:r>
              <a:rPr sz="1200" dirty="0">
                <a:solidFill>
                  <a:srgbClr val="C00000"/>
                </a:solidFill>
                <a:latin typeface="微软雅黑" panose="020B0503020204020204" charset="-122"/>
                <a:cs typeface="微软雅黑" panose="020B0503020204020204" charset="-122"/>
              </a:rPr>
              <a:t>SB连接线</a:t>
            </a:r>
            <a:endParaRPr sz="1200">
              <a:latin typeface="微软雅黑" panose="020B0503020204020204" charset="-122"/>
              <a:cs typeface="微软雅黑" panose="020B0503020204020204" charset="-122"/>
            </a:endParaRPr>
          </a:p>
        </p:txBody>
      </p:sp>
      <p:sp>
        <p:nvSpPr>
          <p:cNvPr id="42" name="object 42"/>
          <p:cNvSpPr txBox="1"/>
          <p:nvPr/>
        </p:nvSpPr>
        <p:spPr>
          <a:xfrm>
            <a:off x="10496575" y="3824490"/>
            <a:ext cx="835660"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C00000"/>
                </a:solidFill>
                <a:latin typeface="微软雅黑" panose="020B0503020204020204" charset="-122"/>
                <a:cs typeface="微软雅黑" panose="020B0503020204020204" charset="-122"/>
              </a:rPr>
              <a:t>J</a:t>
            </a:r>
            <a:r>
              <a:rPr sz="1200" spc="-100" dirty="0">
                <a:solidFill>
                  <a:srgbClr val="C00000"/>
                </a:solidFill>
                <a:latin typeface="微软雅黑" panose="020B0503020204020204" charset="-122"/>
                <a:cs typeface="微软雅黑" panose="020B0503020204020204" charset="-122"/>
              </a:rPr>
              <a:t>T</a:t>
            </a:r>
            <a:r>
              <a:rPr sz="1200" spc="-20" dirty="0">
                <a:solidFill>
                  <a:srgbClr val="C00000"/>
                </a:solidFill>
                <a:latin typeface="微软雅黑" panose="020B0503020204020204" charset="-122"/>
                <a:cs typeface="微软雅黑" panose="020B0503020204020204" charset="-122"/>
              </a:rPr>
              <a:t>A</a:t>
            </a:r>
            <a:r>
              <a:rPr sz="1200" spc="-5" dirty="0">
                <a:solidFill>
                  <a:srgbClr val="C00000"/>
                </a:solidFill>
                <a:latin typeface="微软雅黑" panose="020B0503020204020204" charset="-122"/>
                <a:cs typeface="微软雅黑" panose="020B0503020204020204" charset="-122"/>
              </a:rPr>
              <a:t>G</a:t>
            </a:r>
            <a:r>
              <a:rPr sz="1200" dirty="0">
                <a:solidFill>
                  <a:srgbClr val="C00000"/>
                </a:solidFill>
                <a:latin typeface="微软雅黑" panose="020B0503020204020204" charset="-122"/>
                <a:cs typeface="微软雅黑" panose="020B0503020204020204" charset="-122"/>
              </a:rPr>
              <a:t>连接线</a:t>
            </a:r>
            <a:endParaRPr sz="1200">
              <a:latin typeface="微软雅黑" panose="020B0503020204020204" charset="-122"/>
              <a:cs typeface="微软雅黑" panose="020B0503020204020204" charset="-122"/>
            </a:endParaRPr>
          </a:p>
        </p:txBody>
      </p:sp>
      <p:sp>
        <p:nvSpPr>
          <p:cNvPr id="43" name="object 43"/>
          <p:cNvSpPr/>
          <p:nvPr/>
        </p:nvSpPr>
        <p:spPr>
          <a:xfrm>
            <a:off x="10390276" y="5147093"/>
            <a:ext cx="76200" cy="298450"/>
          </a:xfrm>
          <a:custGeom>
            <a:avLst/>
            <a:gdLst/>
            <a:ahLst/>
            <a:cxnLst/>
            <a:rect l="l" t="t" r="r" b="b"/>
            <a:pathLst>
              <a:path w="76200" h="298450">
                <a:moveTo>
                  <a:pt x="33337" y="76200"/>
                </a:moveTo>
                <a:lnTo>
                  <a:pt x="0" y="76200"/>
                </a:lnTo>
                <a:lnTo>
                  <a:pt x="38100" y="0"/>
                </a:lnTo>
                <a:lnTo>
                  <a:pt x="66675" y="57150"/>
                </a:lnTo>
                <a:lnTo>
                  <a:pt x="33337" y="57150"/>
                </a:lnTo>
                <a:lnTo>
                  <a:pt x="33337" y="76200"/>
                </a:lnTo>
                <a:close/>
              </a:path>
              <a:path w="76200" h="298450">
                <a:moveTo>
                  <a:pt x="42862" y="241084"/>
                </a:moveTo>
                <a:lnTo>
                  <a:pt x="33337" y="241084"/>
                </a:lnTo>
                <a:lnTo>
                  <a:pt x="33337" y="57150"/>
                </a:lnTo>
                <a:lnTo>
                  <a:pt x="42862" y="57150"/>
                </a:lnTo>
                <a:lnTo>
                  <a:pt x="42862" y="241084"/>
                </a:lnTo>
                <a:close/>
              </a:path>
              <a:path w="76200" h="298450">
                <a:moveTo>
                  <a:pt x="76200" y="76200"/>
                </a:moveTo>
                <a:lnTo>
                  <a:pt x="42862" y="76200"/>
                </a:lnTo>
                <a:lnTo>
                  <a:pt x="42862" y="57150"/>
                </a:lnTo>
                <a:lnTo>
                  <a:pt x="66675" y="57150"/>
                </a:lnTo>
                <a:lnTo>
                  <a:pt x="76200" y="76200"/>
                </a:lnTo>
                <a:close/>
              </a:path>
              <a:path w="76200" h="298450">
                <a:moveTo>
                  <a:pt x="38100" y="298234"/>
                </a:moveTo>
                <a:lnTo>
                  <a:pt x="0" y="222034"/>
                </a:lnTo>
                <a:lnTo>
                  <a:pt x="33337" y="222034"/>
                </a:lnTo>
                <a:lnTo>
                  <a:pt x="33337" y="241084"/>
                </a:lnTo>
                <a:lnTo>
                  <a:pt x="66675" y="241084"/>
                </a:lnTo>
                <a:lnTo>
                  <a:pt x="38100" y="298234"/>
                </a:lnTo>
                <a:close/>
              </a:path>
              <a:path w="76200" h="298450">
                <a:moveTo>
                  <a:pt x="66675" y="241084"/>
                </a:moveTo>
                <a:lnTo>
                  <a:pt x="42862" y="241084"/>
                </a:lnTo>
                <a:lnTo>
                  <a:pt x="42862" y="222034"/>
                </a:lnTo>
                <a:lnTo>
                  <a:pt x="76200" y="222034"/>
                </a:lnTo>
                <a:lnTo>
                  <a:pt x="66675" y="241084"/>
                </a:lnTo>
                <a:close/>
              </a:path>
            </a:pathLst>
          </a:custGeom>
          <a:solidFill>
            <a:srgbClr val="C00000"/>
          </a:solidFill>
        </p:spPr>
        <p:txBody>
          <a:bodyPr wrap="square" lIns="0" tIns="0" rIns="0" bIns="0" rtlCol="0"/>
          <a:lstStyle/>
          <a:p/>
        </p:txBody>
      </p:sp>
      <p:sp>
        <p:nvSpPr>
          <p:cNvPr id="44" name="object 44"/>
          <p:cNvSpPr txBox="1"/>
          <p:nvPr/>
        </p:nvSpPr>
        <p:spPr>
          <a:xfrm>
            <a:off x="7391400" y="4601070"/>
            <a:ext cx="1109980" cy="1371600"/>
          </a:xfrm>
          <a:prstGeom prst="rect">
            <a:avLst/>
          </a:prstGeom>
        </p:spPr>
        <p:txBody>
          <a:bodyPr vert="horz" wrap="square" lIns="0" tIns="12700" rIns="0" bIns="0" rtlCol="0">
            <a:spAutoFit/>
          </a:bodyPr>
          <a:lstStyle/>
          <a:p>
            <a:pPr marL="289560">
              <a:lnSpc>
                <a:spcPct val="100000"/>
              </a:lnSpc>
              <a:spcBef>
                <a:spcPts val="100"/>
              </a:spcBef>
            </a:pPr>
            <a:r>
              <a:rPr sz="1200" b="1" spc="-5" dirty="0">
                <a:solidFill>
                  <a:srgbClr val="C00000"/>
                </a:solidFill>
                <a:latin typeface="微软雅黑" panose="020B0503020204020204" charset="-122"/>
                <a:cs typeface="微软雅黑" panose="020B0503020204020204" charset="-122"/>
              </a:rPr>
              <a:t>RSIC-V</a:t>
            </a:r>
            <a:endParaRPr sz="1200">
              <a:latin typeface="微软雅黑" panose="020B0503020204020204" charset="-122"/>
              <a:cs typeface="微软雅黑" panose="020B0503020204020204" charset="-122"/>
            </a:endParaRPr>
          </a:p>
          <a:p>
            <a:pPr algn="ctr">
              <a:lnSpc>
                <a:spcPct val="100000"/>
              </a:lnSpc>
            </a:pPr>
            <a:r>
              <a:rPr sz="1200" b="1" dirty="0">
                <a:solidFill>
                  <a:srgbClr val="C00000"/>
                </a:solidFill>
                <a:latin typeface="微软雅黑" panose="020B0503020204020204" charset="-122"/>
                <a:cs typeface="微软雅黑" panose="020B0503020204020204" charset="-122"/>
              </a:rPr>
              <a:t>处理器内核</a:t>
            </a:r>
            <a:endParaRPr sz="1200">
              <a:latin typeface="微软雅黑" panose="020B0503020204020204" charset="-122"/>
              <a:cs typeface="微软雅黑" panose="020B0503020204020204" charset="-122"/>
            </a:endParaRPr>
          </a:p>
          <a:p>
            <a:pPr>
              <a:lnSpc>
                <a:spcPct val="100000"/>
              </a:lnSpc>
            </a:pPr>
            <a:endParaRPr sz="1600">
              <a:latin typeface="Times New Roman" panose="02020603050405020304"/>
              <a:cs typeface="Times New Roman" panose="02020603050405020304"/>
            </a:endParaRPr>
          </a:p>
          <a:p>
            <a:pPr>
              <a:lnSpc>
                <a:spcPct val="100000"/>
              </a:lnSpc>
            </a:pPr>
            <a:endParaRPr sz="1600">
              <a:latin typeface="Times New Roman" panose="02020603050405020304"/>
              <a:cs typeface="Times New Roman" panose="02020603050405020304"/>
            </a:endParaRPr>
          </a:p>
          <a:p>
            <a:pPr>
              <a:lnSpc>
                <a:spcPct val="100000"/>
              </a:lnSpc>
              <a:spcBef>
                <a:spcPts val="5"/>
              </a:spcBef>
            </a:pPr>
            <a:endParaRPr sz="2250">
              <a:latin typeface="Times New Roman" panose="02020603050405020304"/>
              <a:cs typeface="Times New Roman" panose="02020603050405020304"/>
            </a:endParaRPr>
          </a:p>
          <a:p>
            <a:pPr marL="347345">
              <a:lnSpc>
                <a:spcPct val="100000"/>
              </a:lnSpc>
            </a:pPr>
            <a:r>
              <a:rPr sz="1200" b="1" dirty="0">
                <a:solidFill>
                  <a:srgbClr val="C00000"/>
                </a:solidFill>
                <a:latin typeface="微软雅黑" panose="020B0503020204020204" charset="-122"/>
                <a:cs typeface="微软雅黑" panose="020B0503020204020204" charset="-122"/>
              </a:rPr>
              <a:t>调试接口</a:t>
            </a:r>
            <a:endParaRPr sz="1200">
              <a:latin typeface="微软雅黑" panose="020B0503020204020204" charset="-122"/>
              <a:cs typeface="微软雅黑" panose="020B0503020204020204" charset="-122"/>
            </a:endParaRPr>
          </a:p>
        </p:txBody>
      </p:sp>
      <p:sp>
        <p:nvSpPr>
          <p:cNvPr id="45" name="object 45"/>
          <p:cNvSpPr txBox="1"/>
          <p:nvPr/>
        </p:nvSpPr>
        <p:spPr>
          <a:xfrm>
            <a:off x="511175" y="1621789"/>
            <a:ext cx="6119495" cy="574040"/>
          </a:xfrm>
          <a:prstGeom prst="rect">
            <a:avLst/>
          </a:prstGeom>
        </p:spPr>
        <p:txBody>
          <a:bodyPr vert="horz" wrap="square" lIns="0" tIns="12700" rIns="0" bIns="0" rtlCol="0">
            <a:spAutoFit/>
          </a:bodyPr>
          <a:lstStyle/>
          <a:p>
            <a:pPr marL="12700" marR="5080">
              <a:lnSpc>
                <a:spcPct val="150000"/>
              </a:lnSpc>
              <a:spcBef>
                <a:spcPts val="100"/>
              </a:spcBef>
            </a:pPr>
            <a:r>
              <a:rPr sz="1200" dirty="0">
                <a:latin typeface="微软雅黑" panose="020B0503020204020204" charset="-122"/>
                <a:cs typeface="微软雅黑" panose="020B0503020204020204" charset="-122"/>
              </a:rPr>
              <a:t>蜂鸟E203的调试机制的硬件实现严格依据0.11版本的调试架构文档</a:t>
            </a:r>
            <a:r>
              <a:rPr sz="1200" spc="-5" dirty="0">
                <a:latin typeface="微软雅黑" panose="020B0503020204020204" charset="-122"/>
                <a:cs typeface="微软雅黑" panose="020B0503020204020204" charset="-122"/>
              </a:rPr>
              <a:t>(</a:t>
            </a:r>
            <a:r>
              <a:rPr sz="1200" dirty="0">
                <a:latin typeface="微软雅黑" panose="020B0503020204020204" charset="-122"/>
                <a:cs typeface="微软雅黑" panose="020B0503020204020204" charset="-122"/>
              </a:rPr>
              <a:t>另有0.13版本</a:t>
            </a:r>
            <a:r>
              <a:rPr sz="1200" spc="-5" dirty="0">
                <a:latin typeface="微软雅黑" panose="020B0503020204020204" charset="-122"/>
                <a:cs typeface="微软雅黑" panose="020B0503020204020204" charset="-122"/>
              </a:rPr>
              <a:t>)</a:t>
            </a:r>
            <a:r>
              <a:rPr sz="1200" dirty="0">
                <a:latin typeface="微软雅黑" panose="020B0503020204020204" charset="-122"/>
                <a:cs typeface="微软雅黑" panose="020B0503020204020204" charset="-122"/>
              </a:rPr>
              <a:t>实现，其 交换调试机制如下</a:t>
            </a:r>
            <a:r>
              <a:rPr sz="1200" spc="-5" dirty="0">
                <a:latin typeface="微软雅黑" panose="020B0503020204020204" charset="-122"/>
                <a:cs typeface="微软雅黑" panose="020B0503020204020204" charset="-122"/>
              </a:rPr>
              <a:t>(</a:t>
            </a:r>
            <a:r>
              <a:rPr sz="1200" dirty="0">
                <a:latin typeface="微软雅黑" panose="020B0503020204020204" charset="-122"/>
                <a:cs typeface="微软雅黑" panose="020B0503020204020204" charset="-122"/>
              </a:rPr>
              <a:t>未支持跟踪调试</a:t>
            </a:r>
            <a:r>
              <a:rPr sz="1200" spc="-5" dirty="0">
                <a:latin typeface="微软雅黑" panose="020B0503020204020204" charset="-122"/>
                <a:cs typeface="微软雅黑" panose="020B0503020204020204" charset="-122"/>
              </a:rPr>
              <a:t>)：</a:t>
            </a:r>
            <a:endParaRPr sz="1200">
              <a:latin typeface="微软雅黑" panose="020B0503020204020204" charset="-122"/>
              <a:cs typeface="微软雅黑" panose="020B0503020204020204" charset="-122"/>
            </a:endParaRPr>
          </a:p>
        </p:txBody>
      </p:sp>
      <p:sp>
        <p:nvSpPr>
          <p:cNvPr id="46" name="object 46"/>
          <p:cNvSpPr txBox="1"/>
          <p:nvPr/>
        </p:nvSpPr>
        <p:spPr>
          <a:xfrm>
            <a:off x="511175" y="2170429"/>
            <a:ext cx="6191250" cy="3317240"/>
          </a:xfrm>
          <a:prstGeom prst="rect">
            <a:avLst/>
          </a:prstGeom>
        </p:spPr>
        <p:txBody>
          <a:bodyPr vert="horz" wrap="square" lIns="0" tIns="12700" rIns="0" bIns="0" rtlCol="0">
            <a:spAutoFit/>
          </a:bodyPr>
          <a:lstStyle/>
          <a:p>
            <a:pPr marL="298450" marR="5080" indent="-285750">
              <a:lnSpc>
                <a:spcPct val="150000"/>
              </a:lnSpc>
              <a:spcBef>
                <a:spcPts val="100"/>
              </a:spcBef>
              <a:buFont typeface="Wingdings" panose="05000000000000000000"/>
              <a:buChar char=""/>
              <a:tabLst>
                <a:tab pos="297815" algn="l"/>
                <a:tab pos="298450" algn="l"/>
              </a:tabLst>
            </a:pPr>
            <a:r>
              <a:rPr sz="1200" dirty="0">
                <a:latin typeface="微软雅黑" panose="020B0503020204020204" charset="-122"/>
                <a:cs typeface="微软雅黑" panose="020B0503020204020204" charset="-122"/>
              </a:rPr>
              <a:t>开发人员在调试主机上通过</a:t>
            </a:r>
            <a:r>
              <a:rPr sz="1200" spc="-5" dirty="0">
                <a:latin typeface="微软雅黑" panose="020B0503020204020204" charset="-122"/>
                <a:cs typeface="微软雅黑" panose="020B0503020204020204" charset="-122"/>
              </a:rPr>
              <a:t>G</a:t>
            </a:r>
            <a:r>
              <a:rPr sz="1200" dirty="0">
                <a:latin typeface="微软雅黑" panose="020B0503020204020204" charset="-122"/>
                <a:cs typeface="微软雅黑" panose="020B0503020204020204" charset="-122"/>
              </a:rPr>
              <a:t>DB设置某行程序的断点，</a:t>
            </a:r>
            <a:r>
              <a:rPr sz="1200" spc="-5" dirty="0">
                <a:latin typeface="微软雅黑" panose="020B0503020204020204" charset="-122"/>
                <a:cs typeface="微软雅黑" panose="020B0503020204020204" charset="-122"/>
              </a:rPr>
              <a:t>G</a:t>
            </a:r>
            <a:r>
              <a:rPr sz="1200" dirty="0">
                <a:latin typeface="微软雅黑" panose="020B0503020204020204" charset="-122"/>
                <a:cs typeface="微软雅黑" panose="020B0503020204020204" charset="-122"/>
              </a:rPr>
              <a:t>DB通过右图所示路径由</a:t>
            </a:r>
            <a:r>
              <a:rPr sz="1200" spc="-5" dirty="0">
                <a:latin typeface="微软雅黑" panose="020B0503020204020204" charset="-122"/>
                <a:cs typeface="微软雅黑" panose="020B0503020204020204" charset="-122"/>
              </a:rPr>
              <a:t>J</a:t>
            </a:r>
            <a:r>
              <a:rPr sz="1200" spc="-100" dirty="0">
                <a:latin typeface="微软雅黑" panose="020B0503020204020204" charset="-122"/>
                <a:cs typeface="微软雅黑" panose="020B0503020204020204" charset="-122"/>
              </a:rPr>
              <a:t>T</a:t>
            </a:r>
            <a:r>
              <a:rPr sz="1200" spc="-20" dirty="0">
                <a:latin typeface="微软雅黑" panose="020B0503020204020204" charset="-122"/>
                <a:cs typeface="微软雅黑" panose="020B0503020204020204" charset="-122"/>
              </a:rPr>
              <a:t>A</a:t>
            </a:r>
            <a:r>
              <a:rPr sz="1200" spc="-5" dirty="0">
                <a:latin typeface="微软雅黑" panose="020B0503020204020204" charset="-122"/>
                <a:cs typeface="微软雅黑" panose="020B0503020204020204" charset="-122"/>
              </a:rPr>
              <a:t>G</a:t>
            </a:r>
            <a:r>
              <a:rPr sz="1200" dirty="0">
                <a:latin typeface="微软雅黑" panose="020B0503020204020204" charset="-122"/>
                <a:cs typeface="微软雅黑" panose="020B0503020204020204" charset="-122"/>
              </a:rPr>
              <a:t>接 口访问处理器的硬件调试模块，对其下达命令希望在某PC设置一个断点；</a:t>
            </a:r>
            <a:endParaRPr sz="1200">
              <a:latin typeface="微软雅黑" panose="020B0503020204020204" charset="-122"/>
              <a:cs typeface="微软雅黑" panose="020B0503020204020204" charset="-122"/>
            </a:endParaRPr>
          </a:p>
          <a:p>
            <a:pPr marL="298450" marR="50800" indent="-285750">
              <a:lnSpc>
                <a:spcPct val="150000"/>
              </a:lnSpc>
              <a:buFont typeface="Wingdings" panose="05000000000000000000"/>
              <a:buChar char=""/>
              <a:tabLst>
                <a:tab pos="297815" algn="l"/>
                <a:tab pos="298450" algn="l"/>
              </a:tabLst>
            </a:pPr>
            <a:r>
              <a:rPr sz="1200" dirty="0">
                <a:latin typeface="微软雅黑" panose="020B0503020204020204" charset="-122"/>
                <a:cs typeface="微软雅黑" panose="020B0503020204020204" charset="-122"/>
              </a:rPr>
              <a:t>硬件调试模块请求处理器内核停止，然后修改存储器中那个PC地址的指令，将其替换为 设置断点指令即</a:t>
            </a:r>
            <a:r>
              <a:rPr sz="1200" spc="-5" dirty="0">
                <a:latin typeface="微软雅黑" panose="020B0503020204020204" charset="-122"/>
                <a:cs typeface="微软雅黑" panose="020B0503020204020204" charset="-122"/>
              </a:rPr>
              <a:t>ebreak，</a:t>
            </a:r>
            <a:r>
              <a:rPr sz="1200" dirty="0">
                <a:latin typeface="微软雅黑" panose="020B0503020204020204" charset="-122"/>
                <a:cs typeface="微软雅黑" panose="020B0503020204020204" charset="-122"/>
              </a:rPr>
              <a:t>再让处理器恢复执行；</a:t>
            </a:r>
            <a:endParaRPr sz="1200">
              <a:latin typeface="微软雅黑" panose="020B0503020204020204" charset="-122"/>
              <a:cs typeface="微软雅黑" panose="020B0503020204020204" charset="-122"/>
            </a:endParaRPr>
          </a:p>
          <a:p>
            <a:pPr marL="298450" marR="14605" indent="-285750">
              <a:lnSpc>
                <a:spcPct val="150000"/>
              </a:lnSpc>
              <a:buFont typeface="Wingdings" panose="05000000000000000000"/>
              <a:buChar char=""/>
              <a:tabLst>
                <a:tab pos="297815" algn="l"/>
                <a:tab pos="298450" algn="l"/>
              </a:tabLst>
            </a:pPr>
            <a:r>
              <a:rPr sz="1200" dirty="0">
                <a:latin typeface="微软雅黑" panose="020B0503020204020204" charset="-122"/>
                <a:cs typeface="微软雅黑" panose="020B0503020204020204" charset="-122"/>
              </a:rPr>
              <a:t>当恢复执行后，在执行到那个PC对应的</a:t>
            </a:r>
            <a:r>
              <a:rPr sz="1200" spc="-5" dirty="0">
                <a:latin typeface="微软雅黑" panose="020B0503020204020204" charset="-122"/>
                <a:cs typeface="微软雅黑" panose="020B0503020204020204" charset="-122"/>
              </a:rPr>
              <a:t>eb</a:t>
            </a:r>
            <a:r>
              <a:rPr sz="1200" spc="-20" dirty="0">
                <a:latin typeface="微软雅黑" panose="020B0503020204020204" charset="-122"/>
                <a:cs typeface="微软雅黑" panose="020B0503020204020204" charset="-122"/>
              </a:rPr>
              <a:t>r</a:t>
            </a:r>
            <a:r>
              <a:rPr sz="1200" spc="-5" dirty="0">
                <a:latin typeface="微软雅黑" panose="020B0503020204020204" charset="-122"/>
                <a:cs typeface="微软雅黑" panose="020B0503020204020204" charset="-122"/>
              </a:rPr>
              <a:t>e</a:t>
            </a:r>
            <a:r>
              <a:rPr sz="1200" dirty="0">
                <a:latin typeface="微软雅黑" panose="020B0503020204020204" charset="-122"/>
                <a:cs typeface="微软雅黑" panose="020B0503020204020204" charset="-122"/>
              </a:rPr>
              <a:t>ak指令时，会导致异常进入调试模式的异常 处理程序</a:t>
            </a:r>
            <a:r>
              <a:rPr sz="1200" spc="-5" dirty="0">
                <a:latin typeface="微软雅黑" panose="020B0503020204020204" charset="-122"/>
                <a:cs typeface="微软雅黑" panose="020B0503020204020204" charset="-122"/>
              </a:rPr>
              <a:t>(</a:t>
            </a:r>
            <a:r>
              <a:rPr sz="1200" dirty="0">
                <a:latin typeface="微软雅黑" panose="020B0503020204020204" charset="-122"/>
                <a:cs typeface="微软雅黑" panose="020B0503020204020204" charset="-122"/>
              </a:rPr>
              <a:t>一段在</a:t>
            </a:r>
            <a:r>
              <a:rPr sz="1200" spc="-10" dirty="0">
                <a:latin typeface="微软雅黑" panose="020B0503020204020204" charset="-122"/>
                <a:cs typeface="微软雅黑" panose="020B0503020204020204" charset="-122"/>
              </a:rPr>
              <a:t>Debug-Rom</a:t>
            </a:r>
            <a:r>
              <a:rPr sz="1200" dirty="0">
                <a:latin typeface="微软雅黑" panose="020B0503020204020204" charset="-122"/>
                <a:cs typeface="微软雅黑" panose="020B0503020204020204" charset="-122"/>
              </a:rPr>
              <a:t>中定义的固定程序）调试模块发现这一状态改变后，将该 信息显示出来。由于主机端的</a:t>
            </a:r>
            <a:r>
              <a:rPr sz="1200" spc="-5" dirty="0">
                <a:latin typeface="微软雅黑" panose="020B0503020204020204" charset="-122"/>
                <a:cs typeface="微软雅黑" panose="020B0503020204020204" charset="-122"/>
              </a:rPr>
              <a:t>GDB</a:t>
            </a:r>
            <a:r>
              <a:rPr sz="1200" dirty="0">
                <a:latin typeface="微软雅黑" panose="020B0503020204020204" charset="-122"/>
                <a:cs typeface="微软雅黑" panose="020B0503020204020204" charset="-122"/>
              </a:rPr>
              <a:t>软件一直在检测调试模块，得知处理器核已经停在了 断点处时，便把对应的信息显示在</a:t>
            </a:r>
            <a:r>
              <a:rPr sz="1200" spc="-5" dirty="0">
                <a:latin typeface="微软雅黑" panose="020B0503020204020204" charset="-122"/>
                <a:cs typeface="微软雅黑" panose="020B0503020204020204" charset="-122"/>
              </a:rPr>
              <a:t>GDB</a:t>
            </a:r>
            <a:r>
              <a:rPr sz="1200" dirty="0">
                <a:latin typeface="微软雅黑" panose="020B0503020204020204" charset="-122"/>
                <a:cs typeface="微软雅黑" panose="020B0503020204020204" charset="-122"/>
              </a:rPr>
              <a:t>界面上。</a:t>
            </a:r>
            <a:endParaRPr sz="1200">
              <a:latin typeface="微软雅黑" panose="020B0503020204020204" charset="-122"/>
              <a:cs typeface="微软雅黑" panose="020B0503020204020204" charset="-122"/>
            </a:endParaRPr>
          </a:p>
          <a:p>
            <a:pPr marL="298450" marR="74295" indent="-285750" algn="just">
              <a:lnSpc>
                <a:spcPct val="150000"/>
              </a:lnSpc>
              <a:buFont typeface="Wingdings" panose="05000000000000000000"/>
              <a:buChar char=""/>
              <a:tabLst>
                <a:tab pos="298450" algn="l"/>
              </a:tabLst>
            </a:pPr>
            <a:r>
              <a:rPr sz="1200" dirty="0">
                <a:latin typeface="微软雅黑" panose="020B0503020204020204" charset="-122"/>
                <a:cs typeface="微软雅黑" panose="020B0503020204020204" charset="-122"/>
              </a:rPr>
              <a:t>当开发人员希望读取某个寄存器的值，则通过</a:t>
            </a:r>
            <a:r>
              <a:rPr sz="1200" spc="-5" dirty="0">
                <a:latin typeface="微软雅黑" panose="020B0503020204020204" charset="-122"/>
                <a:cs typeface="微软雅黑" panose="020B0503020204020204" charset="-122"/>
              </a:rPr>
              <a:t>G</a:t>
            </a:r>
            <a:r>
              <a:rPr sz="1200" dirty="0">
                <a:latin typeface="微软雅黑" panose="020B0503020204020204" charset="-122"/>
                <a:cs typeface="微软雅黑" panose="020B0503020204020204" charset="-122"/>
              </a:rPr>
              <a:t>DB对调试模块下达命令。调试模块立即 开始对处理器内核进行控制，将寄存器值读出，并将此信息显示出来，主机端</a:t>
            </a:r>
            <a:r>
              <a:rPr sz="1200" spc="-5" dirty="0">
                <a:latin typeface="微软雅黑" panose="020B0503020204020204" charset="-122"/>
                <a:cs typeface="微软雅黑" panose="020B0503020204020204" charset="-122"/>
              </a:rPr>
              <a:t>G</a:t>
            </a:r>
            <a:r>
              <a:rPr sz="1200" dirty="0">
                <a:latin typeface="微软雅黑" panose="020B0503020204020204" charset="-122"/>
                <a:cs typeface="微软雅黑" panose="020B0503020204020204" charset="-122"/>
              </a:rPr>
              <a:t>DB在监 测调试模块状态时得知此信息，便显示在其界面上；</a:t>
            </a:r>
            <a:endParaRPr sz="1200">
              <a:latin typeface="微软雅黑" panose="020B0503020204020204" charset="-122"/>
              <a:cs typeface="微软雅黑" panose="020B0503020204020204" charset="-122"/>
            </a:endParaRPr>
          </a:p>
          <a:p>
            <a:pPr marL="298450" indent="-285750">
              <a:lnSpc>
                <a:spcPct val="100000"/>
              </a:lnSpc>
              <a:spcBef>
                <a:spcPts val="720"/>
              </a:spcBef>
              <a:buFont typeface="Wingdings" panose="05000000000000000000"/>
              <a:buChar char=""/>
              <a:tabLst>
                <a:tab pos="297815" algn="l"/>
                <a:tab pos="298450" algn="l"/>
              </a:tabLst>
            </a:pPr>
            <a:r>
              <a:rPr sz="1200" dirty="0">
                <a:latin typeface="微软雅黑" panose="020B0503020204020204" charset="-122"/>
                <a:cs typeface="微软雅黑" panose="020B0503020204020204" charset="-122"/>
              </a:rPr>
              <a:t>当希望退出调试模式，则可以调用d</a:t>
            </a:r>
            <a:r>
              <a:rPr sz="1200" spc="-20" dirty="0">
                <a:latin typeface="微软雅黑" panose="020B0503020204020204" charset="-122"/>
                <a:cs typeface="微软雅黑" panose="020B0503020204020204" charset="-122"/>
              </a:rPr>
              <a:t>r</a:t>
            </a:r>
            <a:r>
              <a:rPr sz="1200" spc="-5" dirty="0">
                <a:latin typeface="微软雅黑" panose="020B0503020204020204" charset="-122"/>
                <a:cs typeface="微软雅黑" panose="020B0503020204020204" charset="-122"/>
              </a:rPr>
              <a:t>et</a:t>
            </a:r>
            <a:r>
              <a:rPr sz="1200" dirty="0">
                <a:latin typeface="微软雅黑" panose="020B0503020204020204" charset="-122"/>
                <a:cs typeface="微软雅黑" panose="020B0503020204020204" charset="-122"/>
              </a:rPr>
              <a:t>指令来触发。</a:t>
            </a:r>
            <a:endParaRPr sz="1200">
              <a:latin typeface="微软雅黑" panose="020B0503020204020204" charset="-122"/>
              <a:cs typeface="微软雅黑" panose="020B0503020204020204" charset="-122"/>
            </a:endParaRPr>
          </a:p>
        </p:txBody>
      </p:sp>
      <p:sp>
        <p:nvSpPr>
          <p:cNvPr id="47" name="object 47"/>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6418580" cy="56642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蜂鸟E</a:t>
            </a:r>
            <a:r>
              <a:rPr sz="3600" spc="-5" dirty="0">
                <a:solidFill>
                  <a:srgbClr val="C00000"/>
                </a:solidFill>
              </a:rPr>
              <a:t>203</a:t>
            </a:r>
            <a:r>
              <a:rPr sz="3600" dirty="0">
                <a:solidFill>
                  <a:srgbClr val="C00000"/>
                </a:solidFill>
              </a:rPr>
              <a:t>的低功耗的诀窍</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p:nvPr/>
        </p:nvSpPr>
        <p:spPr>
          <a:xfrm>
            <a:off x="8924543" y="1373124"/>
            <a:ext cx="2235835" cy="394970"/>
          </a:xfrm>
          <a:custGeom>
            <a:avLst/>
            <a:gdLst/>
            <a:ahLst/>
            <a:cxnLst/>
            <a:rect l="l" t="t" r="r" b="b"/>
            <a:pathLst>
              <a:path w="2235834" h="394969">
                <a:moveTo>
                  <a:pt x="0" y="0"/>
                </a:moveTo>
                <a:lnTo>
                  <a:pt x="2235707" y="0"/>
                </a:lnTo>
                <a:lnTo>
                  <a:pt x="2235707" y="394715"/>
                </a:lnTo>
                <a:lnTo>
                  <a:pt x="0" y="394715"/>
                </a:lnTo>
                <a:lnTo>
                  <a:pt x="0" y="0"/>
                </a:lnTo>
                <a:close/>
              </a:path>
            </a:pathLst>
          </a:custGeom>
          <a:solidFill>
            <a:srgbClr val="D9D9D9"/>
          </a:solidFill>
        </p:spPr>
        <p:txBody>
          <a:bodyPr wrap="square" lIns="0" tIns="0" rIns="0" bIns="0" rtlCol="0"/>
          <a:lstStyle/>
          <a:p/>
        </p:txBody>
      </p:sp>
      <p:sp>
        <p:nvSpPr>
          <p:cNvPr id="5" name="object 5"/>
          <p:cNvSpPr/>
          <p:nvPr/>
        </p:nvSpPr>
        <p:spPr>
          <a:xfrm>
            <a:off x="8918575" y="1367155"/>
            <a:ext cx="2247900" cy="407670"/>
          </a:xfrm>
          <a:custGeom>
            <a:avLst/>
            <a:gdLst/>
            <a:ahLst/>
            <a:cxnLst/>
            <a:rect l="l" t="t" r="r" b="b"/>
            <a:pathLst>
              <a:path w="2247900" h="407669">
                <a:moveTo>
                  <a:pt x="2247747" y="407327"/>
                </a:moveTo>
                <a:lnTo>
                  <a:pt x="0" y="407327"/>
                </a:lnTo>
                <a:lnTo>
                  <a:pt x="0" y="0"/>
                </a:lnTo>
                <a:lnTo>
                  <a:pt x="2247747" y="0"/>
                </a:lnTo>
                <a:lnTo>
                  <a:pt x="2247747" y="6350"/>
                </a:lnTo>
                <a:lnTo>
                  <a:pt x="12700" y="6350"/>
                </a:lnTo>
                <a:lnTo>
                  <a:pt x="6350" y="12700"/>
                </a:lnTo>
                <a:lnTo>
                  <a:pt x="12700" y="12700"/>
                </a:lnTo>
                <a:lnTo>
                  <a:pt x="12700" y="394627"/>
                </a:lnTo>
                <a:lnTo>
                  <a:pt x="6350" y="394627"/>
                </a:lnTo>
                <a:lnTo>
                  <a:pt x="12700" y="400977"/>
                </a:lnTo>
                <a:lnTo>
                  <a:pt x="2247747" y="400977"/>
                </a:lnTo>
                <a:lnTo>
                  <a:pt x="2247747" y="407327"/>
                </a:lnTo>
                <a:close/>
              </a:path>
              <a:path w="2247900" h="407669">
                <a:moveTo>
                  <a:pt x="12700" y="12700"/>
                </a:moveTo>
                <a:lnTo>
                  <a:pt x="6350" y="12700"/>
                </a:lnTo>
                <a:lnTo>
                  <a:pt x="12700" y="6350"/>
                </a:lnTo>
                <a:lnTo>
                  <a:pt x="12700" y="12700"/>
                </a:lnTo>
                <a:close/>
              </a:path>
              <a:path w="2247900" h="407669">
                <a:moveTo>
                  <a:pt x="2235047" y="12700"/>
                </a:moveTo>
                <a:lnTo>
                  <a:pt x="12700" y="12700"/>
                </a:lnTo>
                <a:lnTo>
                  <a:pt x="12700" y="6350"/>
                </a:lnTo>
                <a:lnTo>
                  <a:pt x="2235047" y="6350"/>
                </a:lnTo>
                <a:lnTo>
                  <a:pt x="2235047" y="12700"/>
                </a:lnTo>
                <a:close/>
              </a:path>
              <a:path w="2247900" h="407669">
                <a:moveTo>
                  <a:pt x="2235047" y="400977"/>
                </a:moveTo>
                <a:lnTo>
                  <a:pt x="2235047" y="6350"/>
                </a:lnTo>
                <a:lnTo>
                  <a:pt x="2241397" y="12700"/>
                </a:lnTo>
                <a:lnTo>
                  <a:pt x="2247747" y="12700"/>
                </a:lnTo>
                <a:lnTo>
                  <a:pt x="2247747" y="394627"/>
                </a:lnTo>
                <a:lnTo>
                  <a:pt x="2241397" y="394627"/>
                </a:lnTo>
                <a:lnTo>
                  <a:pt x="2235047" y="400977"/>
                </a:lnTo>
                <a:close/>
              </a:path>
              <a:path w="2247900" h="407669">
                <a:moveTo>
                  <a:pt x="2247747" y="12700"/>
                </a:moveTo>
                <a:lnTo>
                  <a:pt x="2241397" y="12700"/>
                </a:lnTo>
                <a:lnTo>
                  <a:pt x="2235047" y="6350"/>
                </a:lnTo>
                <a:lnTo>
                  <a:pt x="2247747" y="6350"/>
                </a:lnTo>
                <a:lnTo>
                  <a:pt x="2247747" y="12700"/>
                </a:lnTo>
                <a:close/>
              </a:path>
              <a:path w="2247900" h="407669">
                <a:moveTo>
                  <a:pt x="12700" y="400977"/>
                </a:moveTo>
                <a:lnTo>
                  <a:pt x="6350" y="394627"/>
                </a:lnTo>
                <a:lnTo>
                  <a:pt x="12700" y="394627"/>
                </a:lnTo>
                <a:lnTo>
                  <a:pt x="12700" y="400977"/>
                </a:lnTo>
                <a:close/>
              </a:path>
              <a:path w="2247900" h="407669">
                <a:moveTo>
                  <a:pt x="2235047" y="400977"/>
                </a:moveTo>
                <a:lnTo>
                  <a:pt x="12700" y="400977"/>
                </a:lnTo>
                <a:lnTo>
                  <a:pt x="12700" y="394627"/>
                </a:lnTo>
                <a:lnTo>
                  <a:pt x="2235047" y="394627"/>
                </a:lnTo>
                <a:lnTo>
                  <a:pt x="2235047" y="400977"/>
                </a:lnTo>
                <a:close/>
              </a:path>
              <a:path w="2247900" h="407669">
                <a:moveTo>
                  <a:pt x="2247747" y="400977"/>
                </a:moveTo>
                <a:lnTo>
                  <a:pt x="2235047" y="400977"/>
                </a:lnTo>
                <a:lnTo>
                  <a:pt x="2241397" y="394627"/>
                </a:lnTo>
                <a:lnTo>
                  <a:pt x="2247747" y="394627"/>
                </a:lnTo>
                <a:lnTo>
                  <a:pt x="2247747" y="400977"/>
                </a:lnTo>
                <a:close/>
              </a:path>
            </a:pathLst>
          </a:custGeom>
          <a:solidFill>
            <a:srgbClr val="C00000"/>
          </a:solidFill>
        </p:spPr>
        <p:txBody>
          <a:bodyPr wrap="square" lIns="0" tIns="0" rIns="0" bIns="0" rtlCol="0"/>
          <a:lstStyle/>
          <a:p/>
        </p:txBody>
      </p:sp>
      <p:sp>
        <p:nvSpPr>
          <p:cNvPr id="6" name="object 6"/>
          <p:cNvSpPr txBox="1"/>
          <p:nvPr/>
        </p:nvSpPr>
        <p:spPr>
          <a:xfrm>
            <a:off x="8924543" y="1439544"/>
            <a:ext cx="2235835" cy="240029"/>
          </a:xfrm>
          <a:prstGeom prst="rect">
            <a:avLst/>
          </a:prstGeom>
        </p:spPr>
        <p:txBody>
          <a:bodyPr vert="horz" wrap="square" lIns="0" tIns="13335" rIns="0" bIns="0" rtlCol="0">
            <a:spAutoFit/>
          </a:bodyPr>
          <a:lstStyle/>
          <a:p>
            <a:pPr marL="494665">
              <a:lnSpc>
                <a:spcPct val="100000"/>
              </a:lnSpc>
              <a:spcBef>
                <a:spcPts val="105"/>
              </a:spcBef>
            </a:pPr>
            <a:r>
              <a:rPr sz="1400" b="1" dirty="0">
                <a:solidFill>
                  <a:srgbClr val="C00000"/>
                </a:solidFill>
                <a:latin typeface="微软雅黑" panose="020B0503020204020204" charset="-122"/>
                <a:cs typeface="微软雅黑" panose="020B0503020204020204" charset="-122"/>
              </a:rPr>
              <a:t>软件层面低功</a:t>
            </a:r>
            <a:r>
              <a:rPr sz="1400" b="1" spc="5" dirty="0">
                <a:solidFill>
                  <a:srgbClr val="C00000"/>
                </a:solidFill>
                <a:latin typeface="微软雅黑" panose="020B0503020204020204" charset="-122"/>
                <a:cs typeface="微软雅黑" panose="020B0503020204020204" charset="-122"/>
              </a:rPr>
              <a:t>耗</a:t>
            </a:r>
            <a:endParaRPr sz="1400">
              <a:latin typeface="微软雅黑" panose="020B0503020204020204" charset="-122"/>
              <a:cs typeface="微软雅黑" panose="020B0503020204020204" charset="-122"/>
            </a:endParaRPr>
          </a:p>
        </p:txBody>
      </p:sp>
      <p:sp>
        <p:nvSpPr>
          <p:cNvPr id="7" name="object 7"/>
          <p:cNvSpPr/>
          <p:nvPr/>
        </p:nvSpPr>
        <p:spPr>
          <a:xfrm>
            <a:off x="8924543" y="1837944"/>
            <a:ext cx="2235835" cy="394970"/>
          </a:xfrm>
          <a:custGeom>
            <a:avLst/>
            <a:gdLst/>
            <a:ahLst/>
            <a:cxnLst/>
            <a:rect l="l" t="t" r="r" b="b"/>
            <a:pathLst>
              <a:path w="2235834" h="394969">
                <a:moveTo>
                  <a:pt x="0" y="0"/>
                </a:moveTo>
                <a:lnTo>
                  <a:pt x="2235707" y="0"/>
                </a:lnTo>
                <a:lnTo>
                  <a:pt x="2235707" y="394715"/>
                </a:lnTo>
                <a:lnTo>
                  <a:pt x="0" y="394715"/>
                </a:lnTo>
                <a:lnTo>
                  <a:pt x="0" y="0"/>
                </a:lnTo>
                <a:close/>
              </a:path>
            </a:pathLst>
          </a:custGeom>
          <a:solidFill>
            <a:srgbClr val="D9D9D9"/>
          </a:solidFill>
        </p:spPr>
        <p:txBody>
          <a:bodyPr wrap="square" lIns="0" tIns="0" rIns="0" bIns="0" rtlCol="0"/>
          <a:lstStyle/>
          <a:p/>
        </p:txBody>
      </p:sp>
      <p:sp>
        <p:nvSpPr>
          <p:cNvPr id="8" name="object 8"/>
          <p:cNvSpPr/>
          <p:nvPr/>
        </p:nvSpPr>
        <p:spPr>
          <a:xfrm>
            <a:off x="8918575" y="1831454"/>
            <a:ext cx="2247900" cy="407670"/>
          </a:xfrm>
          <a:custGeom>
            <a:avLst/>
            <a:gdLst/>
            <a:ahLst/>
            <a:cxnLst/>
            <a:rect l="l" t="t" r="r" b="b"/>
            <a:pathLst>
              <a:path w="2247900" h="407669">
                <a:moveTo>
                  <a:pt x="2247747" y="407314"/>
                </a:moveTo>
                <a:lnTo>
                  <a:pt x="0" y="407314"/>
                </a:lnTo>
                <a:lnTo>
                  <a:pt x="0" y="0"/>
                </a:lnTo>
                <a:lnTo>
                  <a:pt x="2247747" y="0"/>
                </a:lnTo>
                <a:lnTo>
                  <a:pt x="2247747" y="6350"/>
                </a:lnTo>
                <a:lnTo>
                  <a:pt x="12700" y="6350"/>
                </a:lnTo>
                <a:lnTo>
                  <a:pt x="6350" y="12700"/>
                </a:lnTo>
                <a:lnTo>
                  <a:pt x="12700" y="12700"/>
                </a:lnTo>
                <a:lnTo>
                  <a:pt x="12700" y="394614"/>
                </a:lnTo>
                <a:lnTo>
                  <a:pt x="6350" y="394614"/>
                </a:lnTo>
                <a:lnTo>
                  <a:pt x="12700" y="400964"/>
                </a:lnTo>
                <a:lnTo>
                  <a:pt x="2247747" y="400964"/>
                </a:lnTo>
                <a:lnTo>
                  <a:pt x="2247747" y="407314"/>
                </a:lnTo>
                <a:close/>
              </a:path>
              <a:path w="2247900" h="407669">
                <a:moveTo>
                  <a:pt x="12700" y="12700"/>
                </a:moveTo>
                <a:lnTo>
                  <a:pt x="6350" y="12700"/>
                </a:lnTo>
                <a:lnTo>
                  <a:pt x="12700" y="6350"/>
                </a:lnTo>
                <a:lnTo>
                  <a:pt x="12700" y="12700"/>
                </a:lnTo>
                <a:close/>
              </a:path>
              <a:path w="2247900" h="407669">
                <a:moveTo>
                  <a:pt x="2235047" y="12700"/>
                </a:moveTo>
                <a:lnTo>
                  <a:pt x="12700" y="12700"/>
                </a:lnTo>
                <a:lnTo>
                  <a:pt x="12700" y="6350"/>
                </a:lnTo>
                <a:lnTo>
                  <a:pt x="2235047" y="6350"/>
                </a:lnTo>
                <a:lnTo>
                  <a:pt x="2235047" y="12700"/>
                </a:lnTo>
                <a:close/>
              </a:path>
              <a:path w="2247900" h="407669">
                <a:moveTo>
                  <a:pt x="2235047" y="400964"/>
                </a:moveTo>
                <a:lnTo>
                  <a:pt x="2235047" y="6350"/>
                </a:lnTo>
                <a:lnTo>
                  <a:pt x="2241397" y="12700"/>
                </a:lnTo>
                <a:lnTo>
                  <a:pt x="2247747" y="12700"/>
                </a:lnTo>
                <a:lnTo>
                  <a:pt x="2247747" y="394614"/>
                </a:lnTo>
                <a:lnTo>
                  <a:pt x="2241397" y="394614"/>
                </a:lnTo>
                <a:lnTo>
                  <a:pt x="2235047" y="400964"/>
                </a:lnTo>
                <a:close/>
              </a:path>
              <a:path w="2247900" h="407669">
                <a:moveTo>
                  <a:pt x="2247747" y="12700"/>
                </a:moveTo>
                <a:lnTo>
                  <a:pt x="2241397" y="12700"/>
                </a:lnTo>
                <a:lnTo>
                  <a:pt x="2235047" y="6350"/>
                </a:lnTo>
                <a:lnTo>
                  <a:pt x="2247747" y="6350"/>
                </a:lnTo>
                <a:lnTo>
                  <a:pt x="2247747" y="12700"/>
                </a:lnTo>
                <a:close/>
              </a:path>
              <a:path w="2247900" h="407669">
                <a:moveTo>
                  <a:pt x="12700" y="400964"/>
                </a:moveTo>
                <a:lnTo>
                  <a:pt x="6350" y="394614"/>
                </a:lnTo>
                <a:lnTo>
                  <a:pt x="12700" y="394614"/>
                </a:lnTo>
                <a:lnTo>
                  <a:pt x="12700" y="400964"/>
                </a:lnTo>
                <a:close/>
              </a:path>
              <a:path w="2247900" h="407669">
                <a:moveTo>
                  <a:pt x="2235047" y="400964"/>
                </a:moveTo>
                <a:lnTo>
                  <a:pt x="12700" y="400964"/>
                </a:lnTo>
                <a:lnTo>
                  <a:pt x="12700" y="394614"/>
                </a:lnTo>
                <a:lnTo>
                  <a:pt x="2235047" y="394614"/>
                </a:lnTo>
                <a:lnTo>
                  <a:pt x="2235047" y="400964"/>
                </a:lnTo>
                <a:close/>
              </a:path>
              <a:path w="2247900" h="407669">
                <a:moveTo>
                  <a:pt x="2247747" y="400964"/>
                </a:moveTo>
                <a:lnTo>
                  <a:pt x="2235047" y="400964"/>
                </a:lnTo>
                <a:lnTo>
                  <a:pt x="2241397" y="394614"/>
                </a:lnTo>
                <a:lnTo>
                  <a:pt x="2247747" y="394614"/>
                </a:lnTo>
                <a:lnTo>
                  <a:pt x="2247747" y="400964"/>
                </a:lnTo>
                <a:close/>
              </a:path>
            </a:pathLst>
          </a:custGeom>
          <a:solidFill>
            <a:srgbClr val="C00000"/>
          </a:solidFill>
        </p:spPr>
        <p:txBody>
          <a:bodyPr wrap="square" lIns="0" tIns="0" rIns="0" bIns="0" rtlCol="0"/>
          <a:lstStyle/>
          <a:p/>
        </p:txBody>
      </p:sp>
      <p:sp>
        <p:nvSpPr>
          <p:cNvPr id="9" name="object 9"/>
          <p:cNvSpPr txBox="1"/>
          <p:nvPr/>
        </p:nvSpPr>
        <p:spPr>
          <a:xfrm>
            <a:off x="8924543" y="1903844"/>
            <a:ext cx="2235835" cy="240029"/>
          </a:xfrm>
          <a:prstGeom prst="rect">
            <a:avLst/>
          </a:prstGeom>
        </p:spPr>
        <p:txBody>
          <a:bodyPr vert="horz" wrap="square" lIns="0" tIns="13335" rIns="0" bIns="0" rtlCol="0">
            <a:spAutoFit/>
          </a:bodyPr>
          <a:lstStyle/>
          <a:p>
            <a:pPr marL="494665">
              <a:lnSpc>
                <a:spcPct val="100000"/>
              </a:lnSpc>
              <a:spcBef>
                <a:spcPts val="105"/>
              </a:spcBef>
            </a:pPr>
            <a:r>
              <a:rPr sz="1400" b="1" dirty="0">
                <a:solidFill>
                  <a:srgbClr val="C00000"/>
                </a:solidFill>
                <a:latin typeface="微软雅黑" panose="020B0503020204020204" charset="-122"/>
                <a:cs typeface="微软雅黑" panose="020B0503020204020204" charset="-122"/>
              </a:rPr>
              <a:t>系统层面低功</a:t>
            </a:r>
            <a:r>
              <a:rPr sz="1400" b="1" spc="5" dirty="0">
                <a:solidFill>
                  <a:srgbClr val="C00000"/>
                </a:solidFill>
                <a:latin typeface="微软雅黑" panose="020B0503020204020204" charset="-122"/>
                <a:cs typeface="微软雅黑" panose="020B0503020204020204" charset="-122"/>
              </a:rPr>
              <a:t>耗</a:t>
            </a:r>
            <a:endParaRPr sz="1400">
              <a:latin typeface="微软雅黑" panose="020B0503020204020204" charset="-122"/>
              <a:cs typeface="微软雅黑" panose="020B0503020204020204" charset="-122"/>
            </a:endParaRPr>
          </a:p>
        </p:txBody>
      </p:sp>
      <p:sp>
        <p:nvSpPr>
          <p:cNvPr id="10" name="object 10"/>
          <p:cNvSpPr/>
          <p:nvPr/>
        </p:nvSpPr>
        <p:spPr>
          <a:xfrm>
            <a:off x="8924543" y="2302764"/>
            <a:ext cx="2235835" cy="393700"/>
          </a:xfrm>
          <a:custGeom>
            <a:avLst/>
            <a:gdLst/>
            <a:ahLst/>
            <a:cxnLst/>
            <a:rect l="l" t="t" r="r" b="b"/>
            <a:pathLst>
              <a:path w="2235834" h="393700">
                <a:moveTo>
                  <a:pt x="0" y="0"/>
                </a:moveTo>
                <a:lnTo>
                  <a:pt x="2235707" y="0"/>
                </a:lnTo>
                <a:lnTo>
                  <a:pt x="2235707" y="393192"/>
                </a:lnTo>
                <a:lnTo>
                  <a:pt x="0" y="393192"/>
                </a:lnTo>
                <a:lnTo>
                  <a:pt x="0" y="0"/>
                </a:lnTo>
                <a:close/>
              </a:path>
            </a:pathLst>
          </a:custGeom>
          <a:solidFill>
            <a:srgbClr val="D9D9D9"/>
          </a:solidFill>
        </p:spPr>
        <p:txBody>
          <a:bodyPr wrap="square" lIns="0" tIns="0" rIns="0" bIns="0" rtlCol="0"/>
          <a:lstStyle/>
          <a:p/>
        </p:txBody>
      </p:sp>
      <p:sp>
        <p:nvSpPr>
          <p:cNvPr id="11" name="object 11"/>
          <p:cNvSpPr/>
          <p:nvPr/>
        </p:nvSpPr>
        <p:spPr>
          <a:xfrm>
            <a:off x="8918575" y="2295740"/>
            <a:ext cx="2247900" cy="407670"/>
          </a:xfrm>
          <a:custGeom>
            <a:avLst/>
            <a:gdLst/>
            <a:ahLst/>
            <a:cxnLst/>
            <a:rect l="l" t="t" r="r" b="b"/>
            <a:pathLst>
              <a:path w="2247900" h="407669">
                <a:moveTo>
                  <a:pt x="2247747" y="407327"/>
                </a:moveTo>
                <a:lnTo>
                  <a:pt x="0" y="407327"/>
                </a:lnTo>
                <a:lnTo>
                  <a:pt x="0" y="0"/>
                </a:lnTo>
                <a:lnTo>
                  <a:pt x="2247747" y="0"/>
                </a:lnTo>
                <a:lnTo>
                  <a:pt x="2247747" y="6350"/>
                </a:lnTo>
                <a:lnTo>
                  <a:pt x="12700" y="6350"/>
                </a:lnTo>
                <a:lnTo>
                  <a:pt x="6350" y="12700"/>
                </a:lnTo>
                <a:lnTo>
                  <a:pt x="12700" y="12700"/>
                </a:lnTo>
                <a:lnTo>
                  <a:pt x="12700" y="394627"/>
                </a:lnTo>
                <a:lnTo>
                  <a:pt x="6350" y="394627"/>
                </a:lnTo>
                <a:lnTo>
                  <a:pt x="12700" y="400977"/>
                </a:lnTo>
                <a:lnTo>
                  <a:pt x="2247747" y="400977"/>
                </a:lnTo>
                <a:lnTo>
                  <a:pt x="2247747" y="407327"/>
                </a:lnTo>
                <a:close/>
              </a:path>
              <a:path w="2247900" h="407669">
                <a:moveTo>
                  <a:pt x="12700" y="12700"/>
                </a:moveTo>
                <a:lnTo>
                  <a:pt x="6350" y="12700"/>
                </a:lnTo>
                <a:lnTo>
                  <a:pt x="12700" y="6350"/>
                </a:lnTo>
                <a:lnTo>
                  <a:pt x="12700" y="12700"/>
                </a:lnTo>
                <a:close/>
              </a:path>
              <a:path w="2247900" h="407669">
                <a:moveTo>
                  <a:pt x="2235047" y="12700"/>
                </a:moveTo>
                <a:lnTo>
                  <a:pt x="12700" y="12700"/>
                </a:lnTo>
                <a:lnTo>
                  <a:pt x="12700" y="6350"/>
                </a:lnTo>
                <a:lnTo>
                  <a:pt x="2235047" y="6350"/>
                </a:lnTo>
                <a:lnTo>
                  <a:pt x="2235047" y="12700"/>
                </a:lnTo>
                <a:close/>
              </a:path>
              <a:path w="2247900" h="407669">
                <a:moveTo>
                  <a:pt x="2235047" y="400977"/>
                </a:moveTo>
                <a:lnTo>
                  <a:pt x="2235047" y="6350"/>
                </a:lnTo>
                <a:lnTo>
                  <a:pt x="2241397" y="12700"/>
                </a:lnTo>
                <a:lnTo>
                  <a:pt x="2247747" y="12700"/>
                </a:lnTo>
                <a:lnTo>
                  <a:pt x="2247747" y="394627"/>
                </a:lnTo>
                <a:lnTo>
                  <a:pt x="2241397" y="394627"/>
                </a:lnTo>
                <a:lnTo>
                  <a:pt x="2235047" y="400977"/>
                </a:lnTo>
                <a:close/>
              </a:path>
              <a:path w="2247900" h="407669">
                <a:moveTo>
                  <a:pt x="2247747" y="12700"/>
                </a:moveTo>
                <a:lnTo>
                  <a:pt x="2241397" y="12700"/>
                </a:lnTo>
                <a:lnTo>
                  <a:pt x="2235047" y="6350"/>
                </a:lnTo>
                <a:lnTo>
                  <a:pt x="2247747" y="6350"/>
                </a:lnTo>
                <a:lnTo>
                  <a:pt x="2247747" y="12700"/>
                </a:lnTo>
                <a:close/>
              </a:path>
              <a:path w="2247900" h="407669">
                <a:moveTo>
                  <a:pt x="12700" y="400977"/>
                </a:moveTo>
                <a:lnTo>
                  <a:pt x="6350" y="394627"/>
                </a:lnTo>
                <a:lnTo>
                  <a:pt x="12700" y="394627"/>
                </a:lnTo>
                <a:lnTo>
                  <a:pt x="12700" y="400977"/>
                </a:lnTo>
                <a:close/>
              </a:path>
              <a:path w="2247900" h="407669">
                <a:moveTo>
                  <a:pt x="2235047" y="400977"/>
                </a:moveTo>
                <a:lnTo>
                  <a:pt x="12700" y="400977"/>
                </a:lnTo>
                <a:lnTo>
                  <a:pt x="12700" y="394627"/>
                </a:lnTo>
                <a:lnTo>
                  <a:pt x="2235047" y="394627"/>
                </a:lnTo>
                <a:lnTo>
                  <a:pt x="2235047" y="400977"/>
                </a:lnTo>
                <a:close/>
              </a:path>
              <a:path w="2247900" h="407669">
                <a:moveTo>
                  <a:pt x="2247747" y="400977"/>
                </a:moveTo>
                <a:lnTo>
                  <a:pt x="2235047" y="400977"/>
                </a:lnTo>
                <a:lnTo>
                  <a:pt x="2241397" y="394627"/>
                </a:lnTo>
                <a:lnTo>
                  <a:pt x="2247747" y="394627"/>
                </a:lnTo>
                <a:lnTo>
                  <a:pt x="2247747" y="400977"/>
                </a:lnTo>
                <a:close/>
              </a:path>
            </a:pathLst>
          </a:custGeom>
          <a:solidFill>
            <a:srgbClr val="C00000"/>
          </a:solidFill>
        </p:spPr>
        <p:txBody>
          <a:bodyPr wrap="square" lIns="0" tIns="0" rIns="0" bIns="0" rtlCol="0"/>
          <a:lstStyle/>
          <a:p/>
        </p:txBody>
      </p:sp>
      <p:sp>
        <p:nvSpPr>
          <p:cNvPr id="12" name="object 12"/>
          <p:cNvSpPr txBox="1"/>
          <p:nvPr/>
        </p:nvSpPr>
        <p:spPr>
          <a:xfrm>
            <a:off x="8924543" y="2368130"/>
            <a:ext cx="2235835" cy="240029"/>
          </a:xfrm>
          <a:prstGeom prst="rect">
            <a:avLst/>
          </a:prstGeom>
        </p:spPr>
        <p:txBody>
          <a:bodyPr vert="horz" wrap="square" lIns="0" tIns="13335" rIns="0" bIns="0" rtlCol="0">
            <a:spAutoFit/>
          </a:bodyPr>
          <a:lstStyle/>
          <a:p>
            <a:pPr marL="405765">
              <a:lnSpc>
                <a:spcPct val="100000"/>
              </a:lnSpc>
              <a:spcBef>
                <a:spcPts val="105"/>
              </a:spcBef>
            </a:pPr>
            <a:r>
              <a:rPr sz="1400" b="1" dirty="0">
                <a:solidFill>
                  <a:srgbClr val="C00000"/>
                </a:solidFill>
                <a:latin typeface="微软雅黑" panose="020B0503020204020204" charset="-122"/>
                <a:cs typeface="微软雅黑" panose="020B0503020204020204" charset="-122"/>
              </a:rPr>
              <a:t>处理器层面低功</a:t>
            </a:r>
            <a:r>
              <a:rPr sz="1400" b="1" spc="5" dirty="0">
                <a:solidFill>
                  <a:srgbClr val="C00000"/>
                </a:solidFill>
                <a:latin typeface="微软雅黑" panose="020B0503020204020204" charset="-122"/>
                <a:cs typeface="微软雅黑" panose="020B0503020204020204" charset="-122"/>
              </a:rPr>
              <a:t>耗</a:t>
            </a:r>
            <a:endParaRPr sz="1400">
              <a:latin typeface="微软雅黑" panose="020B0503020204020204" charset="-122"/>
              <a:cs typeface="微软雅黑" panose="020B0503020204020204" charset="-122"/>
            </a:endParaRPr>
          </a:p>
        </p:txBody>
      </p:sp>
      <p:sp>
        <p:nvSpPr>
          <p:cNvPr id="13" name="object 13"/>
          <p:cNvSpPr/>
          <p:nvPr/>
        </p:nvSpPr>
        <p:spPr>
          <a:xfrm>
            <a:off x="8924543" y="2766060"/>
            <a:ext cx="2235835" cy="394970"/>
          </a:xfrm>
          <a:custGeom>
            <a:avLst/>
            <a:gdLst/>
            <a:ahLst/>
            <a:cxnLst/>
            <a:rect l="l" t="t" r="r" b="b"/>
            <a:pathLst>
              <a:path w="2235834" h="394969">
                <a:moveTo>
                  <a:pt x="0" y="0"/>
                </a:moveTo>
                <a:lnTo>
                  <a:pt x="2235707" y="0"/>
                </a:lnTo>
                <a:lnTo>
                  <a:pt x="2235707" y="394715"/>
                </a:lnTo>
                <a:lnTo>
                  <a:pt x="0" y="394715"/>
                </a:lnTo>
                <a:lnTo>
                  <a:pt x="0" y="0"/>
                </a:lnTo>
                <a:close/>
              </a:path>
            </a:pathLst>
          </a:custGeom>
          <a:solidFill>
            <a:srgbClr val="D9D9D9"/>
          </a:solidFill>
        </p:spPr>
        <p:txBody>
          <a:bodyPr wrap="square" lIns="0" tIns="0" rIns="0" bIns="0" rtlCol="0"/>
          <a:lstStyle/>
          <a:p/>
        </p:txBody>
      </p:sp>
      <p:sp>
        <p:nvSpPr>
          <p:cNvPr id="14" name="object 14"/>
          <p:cNvSpPr/>
          <p:nvPr/>
        </p:nvSpPr>
        <p:spPr>
          <a:xfrm>
            <a:off x="8918575" y="2760040"/>
            <a:ext cx="2247900" cy="407670"/>
          </a:xfrm>
          <a:custGeom>
            <a:avLst/>
            <a:gdLst/>
            <a:ahLst/>
            <a:cxnLst/>
            <a:rect l="l" t="t" r="r" b="b"/>
            <a:pathLst>
              <a:path w="2247900" h="407669">
                <a:moveTo>
                  <a:pt x="2247747" y="407314"/>
                </a:moveTo>
                <a:lnTo>
                  <a:pt x="0" y="407314"/>
                </a:lnTo>
                <a:lnTo>
                  <a:pt x="0" y="0"/>
                </a:lnTo>
                <a:lnTo>
                  <a:pt x="2247747" y="0"/>
                </a:lnTo>
                <a:lnTo>
                  <a:pt x="2247747" y="6349"/>
                </a:lnTo>
                <a:lnTo>
                  <a:pt x="12700" y="6349"/>
                </a:lnTo>
                <a:lnTo>
                  <a:pt x="6350" y="12699"/>
                </a:lnTo>
                <a:lnTo>
                  <a:pt x="12700" y="12699"/>
                </a:lnTo>
                <a:lnTo>
                  <a:pt x="12700" y="394614"/>
                </a:lnTo>
                <a:lnTo>
                  <a:pt x="6350" y="394614"/>
                </a:lnTo>
                <a:lnTo>
                  <a:pt x="12700" y="400964"/>
                </a:lnTo>
                <a:lnTo>
                  <a:pt x="2247747" y="400964"/>
                </a:lnTo>
                <a:lnTo>
                  <a:pt x="2247747" y="407314"/>
                </a:lnTo>
                <a:close/>
              </a:path>
              <a:path w="2247900" h="407669">
                <a:moveTo>
                  <a:pt x="12700" y="12699"/>
                </a:moveTo>
                <a:lnTo>
                  <a:pt x="6350" y="12699"/>
                </a:lnTo>
                <a:lnTo>
                  <a:pt x="12700" y="6349"/>
                </a:lnTo>
                <a:lnTo>
                  <a:pt x="12700" y="12699"/>
                </a:lnTo>
                <a:close/>
              </a:path>
              <a:path w="2247900" h="407669">
                <a:moveTo>
                  <a:pt x="2235047" y="12699"/>
                </a:moveTo>
                <a:lnTo>
                  <a:pt x="12700" y="12699"/>
                </a:lnTo>
                <a:lnTo>
                  <a:pt x="12700" y="6349"/>
                </a:lnTo>
                <a:lnTo>
                  <a:pt x="2235047" y="6349"/>
                </a:lnTo>
                <a:lnTo>
                  <a:pt x="2235047" y="12699"/>
                </a:lnTo>
                <a:close/>
              </a:path>
              <a:path w="2247900" h="407669">
                <a:moveTo>
                  <a:pt x="2235047" y="400964"/>
                </a:moveTo>
                <a:lnTo>
                  <a:pt x="2235047" y="6349"/>
                </a:lnTo>
                <a:lnTo>
                  <a:pt x="2241397" y="12699"/>
                </a:lnTo>
                <a:lnTo>
                  <a:pt x="2247747" y="12699"/>
                </a:lnTo>
                <a:lnTo>
                  <a:pt x="2247747" y="394614"/>
                </a:lnTo>
                <a:lnTo>
                  <a:pt x="2241397" y="394614"/>
                </a:lnTo>
                <a:lnTo>
                  <a:pt x="2235047" y="400964"/>
                </a:lnTo>
                <a:close/>
              </a:path>
              <a:path w="2247900" h="407669">
                <a:moveTo>
                  <a:pt x="2247747" y="12699"/>
                </a:moveTo>
                <a:lnTo>
                  <a:pt x="2241397" y="12699"/>
                </a:lnTo>
                <a:lnTo>
                  <a:pt x="2235047" y="6349"/>
                </a:lnTo>
                <a:lnTo>
                  <a:pt x="2247747" y="6349"/>
                </a:lnTo>
                <a:lnTo>
                  <a:pt x="2247747" y="12699"/>
                </a:lnTo>
                <a:close/>
              </a:path>
              <a:path w="2247900" h="407669">
                <a:moveTo>
                  <a:pt x="12700" y="400964"/>
                </a:moveTo>
                <a:lnTo>
                  <a:pt x="6350" y="394614"/>
                </a:lnTo>
                <a:lnTo>
                  <a:pt x="12700" y="394614"/>
                </a:lnTo>
                <a:lnTo>
                  <a:pt x="12700" y="400964"/>
                </a:lnTo>
                <a:close/>
              </a:path>
              <a:path w="2247900" h="407669">
                <a:moveTo>
                  <a:pt x="2235047" y="400964"/>
                </a:moveTo>
                <a:lnTo>
                  <a:pt x="12700" y="400964"/>
                </a:lnTo>
                <a:lnTo>
                  <a:pt x="12700" y="394614"/>
                </a:lnTo>
                <a:lnTo>
                  <a:pt x="2235047" y="394614"/>
                </a:lnTo>
                <a:lnTo>
                  <a:pt x="2235047" y="400964"/>
                </a:lnTo>
                <a:close/>
              </a:path>
              <a:path w="2247900" h="407669">
                <a:moveTo>
                  <a:pt x="2247747" y="400964"/>
                </a:moveTo>
                <a:lnTo>
                  <a:pt x="2235047" y="400964"/>
                </a:lnTo>
                <a:lnTo>
                  <a:pt x="2241397" y="394614"/>
                </a:lnTo>
                <a:lnTo>
                  <a:pt x="2247747" y="394614"/>
                </a:lnTo>
                <a:lnTo>
                  <a:pt x="2247747" y="400964"/>
                </a:lnTo>
                <a:close/>
              </a:path>
            </a:pathLst>
          </a:custGeom>
          <a:solidFill>
            <a:srgbClr val="C00000"/>
          </a:solidFill>
        </p:spPr>
        <p:txBody>
          <a:bodyPr wrap="square" lIns="0" tIns="0" rIns="0" bIns="0" rtlCol="0"/>
          <a:lstStyle/>
          <a:p/>
        </p:txBody>
      </p:sp>
      <p:sp>
        <p:nvSpPr>
          <p:cNvPr id="15" name="object 15"/>
          <p:cNvSpPr txBox="1"/>
          <p:nvPr/>
        </p:nvSpPr>
        <p:spPr>
          <a:xfrm>
            <a:off x="8924543" y="2832430"/>
            <a:ext cx="2235835" cy="240029"/>
          </a:xfrm>
          <a:prstGeom prst="rect">
            <a:avLst/>
          </a:prstGeom>
        </p:spPr>
        <p:txBody>
          <a:bodyPr vert="horz" wrap="square" lIns="0" tIns="13335" rIns="0" bIns="0" rtlCol="0">
            <a:spAutoFit/>
          </a:bodyPr>
          <a:lstStyle/>
          <a:p>
            <a:pPr marL="494665">
              <a:lnSpc>
                <a:spcPct val="100000"/>
              </a:lnSpc>
              <a:spcBef>
                <a:spcPts val="105"/>
              </a:spcBef>
            </a:pPr>
            <a:r>
              <a:rPr sz="1400" b="1" dirty="0">
                <a:solidFill>
                  <a:srgbClr val="C00000"/>
                </a:solidFill>
                <a:latin typeface="微软雅黑" panose="020B0503020204020204" charset="-122"/>
                <a:cs typeface="微软雅黑" panose="020B0503020204020204" charset="-122"/>
              </a:rPr>
              <a:t>单元层面低功</a:t>
            </a:r>
            <a:r>
              <a:rPr sz="1400" b="1" spc="5" dirty="0">
                <a:solidFill>
                  <a:srgbClr val="C00000"/>
                </a:solidFill>
                <a:latin typeface="微软雅黑" panose="020B0503020204020204" charset="-122"/>
                <a:cs typeface="微软雅黑" panose="020B0503020204020204" charset="-122"/>
              </a:rPr>
              <a:t>耗</a:t>
            </a:r>
            <a:endParaRPr sz="1400">
              <a:latin typeface="微软雅黑" panose="020B0503020204020204" charset="-122"/>
              <a:cs typeface="微软雅黑" panose="020B0503020204020204" charset="-122"/>
            </a:endParaRPr>
          </a:p>
        </p:txBody>
      </p:sp>
      <p:sp>
        <p:nvSpPr>
          <p:cNvPr id="16" name="object 16"/>
          <p:cNvSpPr/>
          <p:nvPr/>
        </p:nvSpPr>
        <p:spPr>
          <a:xfrm>
            <a:off x="8924543" y="3230879"/>
            <a:ext cx="2235835" cy="394970"/>
          </a:xfrm>
          <a:custGeom>
            <a:avLst/>
            <a:gdLst/>
            <a:ahLst/>
            <a:cxnLst/>
            <a:rect l="l" t="t" r="r" b="b"/>
            <a:pathLst>
              <a:path w="2235834" h="394970">
                <a:moveTo>
                  <a:pt x="0" y="0"/>
                </a:moveTo>
                <a:lnTo>
                  <a:pt x="2235707" y="0"/>
                </a:lnTo>
                <a:lnTo>
                  <a:pt x="2235707" y="394716"/>
                </a:lnTo>
                <a:lnTo>
                  <a:pt x="0" y="394716"/>
                </a:lnTo>
                <a:lnTo>
                  <a:pt x="0" y="0"/>
                </a:lnTo>
                <a:close/>
              </a:path>
            </a:pathLst>
          </a:custGeom>
          <a:solidFill>
            <a:srgbClr val="D9D9D9"/>
          </a:solidFill>
        </p:spPr>
        <p:txBody>
          <a:bodyPr wrap="square" lIns="0" tIns="0" rIns="0" bIns="0" rtlCol="0"/>
          <a:lstStyle/>
          <a:p/>
        </p:txBody>
      </p:sp>
      <p:sp>
        <p:nvSpPr>
          <p:cNvPr id="17" name="object 17"/>
          <p:cNvSpPr/>
          <p:nvPr/>
        </p:nvSpPr>
        <p:spPr>
          <a:xfrm>
            <a:off x="8918575" y="3224326"/>
            <a:ext cx="2247900" cy="407670"/>
          </a:xfrm>
          <a:custGeom>
            <a:avLst/>
            <a:gdLst/>
            <a:ahLst/>
            <a:cxnLst/>
            <a:rect l="l" t="t" r="r" b="b"/>
            <a:pathLst>
              <a:path w="2247900" h="407670">
                <a:moveTo>
                  <a:pt x="2247747" y="407327"/>
                </a:moveTo>
                <a:lnTo>
                  <a:pt x="0" y="407327"/>
                </a:lnTo>
                <a:lnTo>
                  <a:pt x="0" y="0"/>
                </a:lnTo>
                <a:lnTo>
                  <a:pt x="2247747" y="0"/>
                </a:lnTo>
                <a:lnTo>
                  <a:pt x="2247747" y="6349"/>
                </a:lnTo>
                <a:lnTo>
                  <a:pt x="12700" y="6349"/>
                </a:lnTo>
                <a:lnTo>
                  <a:pt x="6350" y="12699"/>
                </a:lnTo>
                <a:lnTo>
                  <a:pt x="12700" y="12699"/>
                </a:lnTo>
                <a:lnTo>
                  <a:pt x="12700" y="394627"/>
                </a:lnTo>
                <a:lnTo>
                  <a:pt x="6350" y="394627"/>
                </a:lnTo>
                <a:lnTo>
                  <a:pt x="12700" y="400977"/>
                </a:lnTo>
                <a:lnTo>
                  <a:pt x="2247747" y="400977"/>
                </a:lnTo>
                <a:lnTo>
                  <a:pt x="2247747" y="407327"/>
                </a:lnTo>
                <a:close/>
              </a:path>
              <a:path w="2247900" h="407670">
                <a:moveTo>
                  <a:pt x="12700" y="12699"/>
                </a:moveTo>
                <a:lnTo>
                  <a:pt x="6350" y="12699"/>
                </a:lnTo>
                <a:lnTo>
                  <a:pt x="12700" y="6349"/>
                </a:lnTo>
                <a:lnTo>
                  <a:pt x="12700" y="12699"/>
                </a:lnTo>
                <a:close/>
              </a:path>
              <a:path w="2247900" h="407670">
                <a:moveTo>
                  <a:pt x="2235047" y="12699"/>
                </a:moveTo>
                <a:lnTo>
                  <a:pt x="12700" y="12699"/>
                </a:lnTo>
                <a:lnTo>
                  <a:pt x="12700" y="6349"/>
                </a:lnTo>
                <a:lnTo>
                  <a:pt x="2235047" y="6349"/>
                </a:lnTo>
                <a:lnTo>
                  <a:pt x="2235047" y="12699"/>
                </a:lnTo>
                <a:close/>
              </a:path>
              <a:path w="2247900" h="407670">
                <a:moveTo>
                  <a:pt x="2235047" y="400977"/>
                </a:moveTo>
                <a:lnTo>
                  <a:pt x="2235047" y="6349"/>
                </a:lnTo>
                <a:lnTo>
                  <a:pt x="2241397" y="12699"/>
                </a:lnTo>
                <a:lnTo>
                  <a:pt x="2247747" y="12699"/>
                </a:lnTo>
                <a:lnTo>
                  <a:pt x="2247747" y="394627"/>
                </a:lnTo>
                <a:lnTo>
                  <a:pt x="2241397" y="394627"/>
                </a:lnTo>
                <a:lnTo>
                  <a:pt x="2235047" y="400977"/>
                </a:lnTo>
                <a:close/>
              </a:path>
              <a:path w="2247900" h="407670">
                <a:moveTo>
                  <a:pt x="2247747" y="12699"/>
                </a:moveTo>
                <a:lnTo>
                  <a:pt x="2241397" y="12699"/>
                </a:lnTo>
                <a:lnTo>
                  <a:pt x="2235047" y="6349"/>
                </a:lnTo>
                <a:lnTo>
                  <a:pt x="2247747" y="6349"/>
                </a:lnTo>
                <a:lnTo>
                  <a:pt x="2247747" y="12699"/>
                </a:lnTo>
                <a:close/>
              </a:path>
              <a:path w="2247900" h="407670">
                <a:moveTo>
                  <a:pt x="12700" y="400977"/>
                </a:moveTo>
                <a:lnTo>
                  <a:pt x="6350" y="394627"/>
                </a:lnTo>
                <a:lnTo>
                  <a:pt x="12700" y="394627"/>
                </a:lnTo>
                <a:lnTo>
                  <a:pt x="12700" y="400977"/>
                </a:lnTo>
                <a:close/>
              </a:path>
              <a:path w="2247900" h="407670">
                <a:moveTo>
                  <a:pt x="2235047" y="400977"/>
                </a:moveTo>
                <a:lnTo>
                  <a:pt x="12700" y="400977"/>
                </a:lnTo>
                <a:lnTo>
                  <a:pt x="12700" y="394627"/>
                </a:lnTo>
                <a:lnTo>
                  <a:pt x="2235047" y="394627"/>
                </a:lnTo>
                <a:lnTo>
                  <a:pt x="2235047" y="400977"/>
                </a:lnTo>
                <a:close/>
              </a:path>
              <a:path w="2247900" h="407670">
                <a:moveTo>
                  <a:pt x="2247747" y="400977"/>
                </a:moveTo>
                <a:lnTo>
                  <a:pt x="2235047" y="400977"/>
                </a:lnTo>
                <a:lnTo>
                  <a:pt x="2241397" y="394627"/>
                </a:lnTo>
                <a:lnTo>
                  <a:pt x="2247747" y="394627"/>
                </a:lnTo>
                <a:lnTo>
                  <a:pt x="2247747" y="400977"/>
                </a:lnTo>
                <a:close/>
              </a:path>
            </a:pathLst>
          </a:custGeom>
          <a:solidFill>
            <a:srgbClr val="C00000"/>
          </a:solidFill>
        </p:spPr>
        <p:txBody>
          <a:bodyPr wrap="square" lIns="0" tIns="0" rIns="0" bIns="0" rtlCol="0"/>
          <a:lstStyle/>
          <a:p/>
        </p:txBody>
      </p:sp>
      <p:sp>
        <p:nvSpPr>
          <p:cNvPr id="18" name="object 18"/>
          <p:cNvSpPr txBox="1"/>
          <p:nvPr/>
        </p:nvSpPr>
        <p:spPr>
          <a:xfrm>
            <a:off x="8924543" y="3296716"/>
            <a:ext cx="2235835" cy="240029"/>
          </a:xfrm>
          <a:prstGeom prst="rect">
            <a:avLst/>
          </a:prstGeom>
        </p:spPr>
        <p:txBody>
          <a:bodyPr vert="horz" wrap="square" lIns="0" tIns="13335" rIns="0" bIns="0" rtlCol="0">
            <a:spAutoFit/>
          </a:bodyPr>
          <a:lstStyle/>
          <a:p>
            <a:pPr marL="405765">
              <a:lnSpc>
                <a:spcPct val="100000"/>
              </a:lnSpc>
              <a:spcBef>
                <a:spcPts val="105"/>
              </a:spcBef>
            </a:pPr>
            <a:r>
              <a:rPr sz="1400" b="1" dirty="0">
                <a:solidFill>
                  <a:srgbClr val="C00000"/>
                </a:solidFill>
                <a:latin typeface="微软雅黑" panose="020B0503020204020204" charset="-122"/>
                <a:cs typeface="微软雅黑" panose="020B0503020204020204" charset="-122"/>
              </a:rPr>
              <a:t>寄存器层面低功</a:t>
            </a:r>
            <a:r>
              <a:rPr sz="1400" b="1" spc="5" dirty="0">
                <a:solidFill>
                  <a:srgbClr val="C00000"/>
                </a:solidFill>
                <a:latin typeface="微软雅黑" panose="020B0503020204020204" charset="-122"/>
                <a:cs typeface="微软雅黑" panose="020B0503020204020204" charset="-122"/>
              </a:rPr>
              <a:t>耗</a:t>
            </a:r>
            <a:endParaRPr sz="1400">
              <a:latin typeface="微软雅黑" panose="020B0503020204020204" charset="-122"/>
              <a:cs typeface="微软雅黑" panose="020B0503020204020204" charset="-122"/>
            </a:endParaRPr>
          </a:p>
        </p:txBody>
      </p:sp>
      <p:sp>
        <p:nvSpPr>
          <p:cNvPr id="19" name="object 19"/>
          <p:cNvSpPr/>
          <p:nvPr/>
        </p:nvSpPr>
        <p:spPr>
          <a:xfrm>
            <a:off x="8924543" y="3695700"/>
            <a:ext cx="2235835" cy="393700"/>
          </a:xfrm>
          <a:custGeom>
            <a:avLst/>
            <a:gdLst/>
            <a:ahLst/>
            <a:cxnLst/>
            <a:rect l="l" t="t" r="r" b="b"/>
            <a:pathLst>
              <a:path w="2235834" h="393700">
                <a:moveTo>
                  <a:pt x="0" y="0"/>
                </a:moveTo>
                <a:lnTo>
                  <a:pt x="2235707" y="0"/>
                </a:lnTo>
                <a:lnTo>
                  <a:pt x="2235707" y="393191"/>
                </a:lnTo>
                <a:lnTo>
                  <a:pt x="0" y="393191"/>
                </a:lnTo>
                <a:lnTo>
                  <a:pt x="0" y="0"/>
                </a:lnTo>
                <a:close/>
              </a:path>
            </a:pathLst>
          </a:custGeom>
          <a:solidFill>
            <a:srgbClr val="D9D9D9"/>
          </a:solidFill>
        </p:spPr>
        <p:txBody>
          <a:bodyPr wrap="square" lIns="0" tIns="0" rIns="0" bIns="0" rtlCol="0"/>
          <a:lstStyle/>
          <a:p/>
        </p:txBody>
      </p:sp>
      <p:sp>
        <p:nvSpPr>
          <p:cNvPr id="20" name="object 20"/>
          <p:cNvSpPr/>
          <p:nvPr/>
        </p:nvSpPr>
        <p:spPr>
          <a:xfrm>
            <a:off x="8918575" y="3688626"/>
            <a:ext cx="2247900" cy="407670"/>
          </a:xfrm>
          <a:custGeom>
            <a:avLst/>
            <a:gdLst/>
            <a:ahLst/>
            <a:cxnLst/>
            <a:rect l="l" t="t" r="r" b="b"/>
            <a:pathLst>
              <a:path w="2247900" h="407670">
                <a:moveTo>
                  <a:pt x="2247747" y="407314"/>
                </a:moveTo>
                <a:lnTo>
                  <a:pt x="0" y="407314"/>
                </a:lnTo>
                <a:lnTo>
                  <a:pt x="0" y="0"/>
                </a:lnTo>
                <a:lnTo>
                  <a:pt x="2247747" y="0"/>
                </a:lnTo>
                <a:lnTo>
                  <a:pt x="2247747" y="6350"/>
                </a:lnTo>
                <a:lnTo>
                  <a:pt x="12700" y="6350"/>
                </a:lnTo>
                <a:lnTo>
                  <a:pt x="6350" y="12700"/>
                </a:lnTo>
                <a:lnTo>
                  <a:pt x="12700" y="12700"/>
                </a:lnTo>
                <a:lnTo>
                  <a:pt x="12700" y="394614"/>
                </a:lnTo>
                <a:lnTo>
                  <a:pt x="6350" y="394614"/>
                </a:lnTo>
                <a:lnTo>
                  <a:pt x="12700" y="400964"/>
                </a:lnTo>
                <a:lnTo>
                  <a:pt x="2247747" y="400964"/>
                </a:lnTo>
                <a:lnTo>
                  <a:pt x="2247747" y="407314"/>
                </a:lnTo>
                <a:close/>
              </a:path>
              <a:path w="2247900" h="407670">
                <a:moveTo>
                  <a:pt x="12700" y="12700"/>
                </a:moveTo>
                <a:lnTo>
                  <a:pt x="6350" y="12700"/>
                </a:lnTo>
                <a:lnTo>
                  <a:pt x="12700" y="6350"/>
                </a:lnTo>
                <a:lnTo>
                  <a:pt x="12700" y="12700"/>
                </a:lnTo>
                <a:close/>
              </a:path>
              <a:path w="2247900" h="407670">
                <a:moveTo>
                  <a:pt x="2235047" y="12700"/>
                </a:moveTo>
                <a:lnTo>
                  <a:pt x="12700" y="12700"/>
                </a:lnTo>
                <a:lnTo>
                  <a:pt x="12700" y="6350"/>
                </a:lnTo>
                <a:lnTo>
                  <a:pt x="2235047" y="6350"/>
                </a:lnTo>
                <a:lnTo>
                  <a:pt x="2235047" y="12700"/>
                </a:lnTo>
                <a:close/>
              </a:path>
              <a:path w="2247900" h="407670">
                <a:moveTo>
                  <a:pt x="2235047" y="400964"/>
                </a:moveTo>
                <a:lnTo>
                  <a:pt x="2235047" y="6350"/>
                </a:lnTo>
                <a:lnTo>
                  <a:pt x="2241397" y="12700"/>
                </a:lnTo>
                <a:lnTo>
                  <a:pt x="2247747" y="12700"/>
                </a:lnTo>
                <a:lnTo>
                  <a:pt x="2247747" y="394614"/>
                </a:lnTo>
                <a:lnTo>
                  <a:pt x="2241397" y="394614"/>
                </a:lnTo>
                <a:lnTo>
                  <a:pt x="2235047" y="400964"/>
                </a:lnTo>
                <a:close/>
              </a:path>
              <a:path w="2247900" h="407670">
                <a:moveTo>
                  <a:pt x="2247747" y="12700"/>
                </a:moveTo>
                <a:lnTo>
                  <a:pt x="2241397" y="12700"/>
                </a:lnTo>
                <a:lnTo>
                  <a:pt x="2235047" y="6350"/>
                </a:lnTo>
                <a:lnTo>
                  <a:pt x="2247747" y="6350"/>
                </a:lnTo>
                <a:lnTo>
                  <a:pt x="2247747" y="12700"/>
                </a:lnTo>
                <a:close/>
              </a:path>
              <a:path w="2247900" h="407670">
                <a:moveTo>
                  <a:pt x="12700" y="400964"/>
                </a:moveTo>
                <a:lnTo>
                  <a:pt x="6350" y="394614"/>
                </a:lnTo>
                <a:lnTo>
                  <a:pt x="12700" y="394614"/>
                </a:lnTo>
                <a:lnTo>
                  <a:pt x="12700" y="400964"/>
                </a:lnTo>
                <a:close/>
              </a:path>
              <a:path w="2247900" h="407670">
                <a:moveTo>
                  <a:pt x="2235047" y="400964"/>
                </a:moveTo>
                <a:lnTo>
                  <a:pt x="12700" y="400964"/>
                </a:lnTo>
                <a:lnTo>
                  <a:pt x="12700" y="394614"/>
                </a:lnTo>
                <a:lnTo>
                  <a:pt x="2235047" y="394614"/>
                </a:lnTo>
                <a:lnTo>
                  <a:pt x="2235047" y="400964"/>
                </a:lnTo>
                <a:close/>
              </a:path>
              <a:path w="2247900" h="407670">
                <a:moveTo>
                  <a:pt x="2247747" y="400964"/>
                </a:moveTo>
                <a:lnTo>
                  <a:pt x="2235047" y="400964"/>
                </a:lnTo>
                <a:lnTo>
                  <a:pt x="2241397" y="394614"/>
                </a:lnTo>
                <a:lnTo>
                  <a:pt x="2247747" y="394614"/>
                </a:lnTo>
                <a:lnTo>
                  <a:pt x="2247747" y="400964"/>
                </a:lnTo>
                <a:close/>
              </a:path>
            </a:pathLst>
          </a:custGeom>
          <a:solidFill>
            <a:srgbClr val="C00000"/>
          </a:solidFill>
        </p:spPr>
        <p:txBody>
          <a:bodyPr wrap="square" lIns="0" tIns="0" rIns="0" bIns="0" rtlCol="0"/>
          <a:lstStyle/>
          <a:p/>
        </p:txBody>
      </p:sp>
      <p:sp>
        <p:nvSpPr>
          <p:cNvPr id="21" name="object 21"/>
          <p:cNvSpPr txBox="1"/>
          <p:nvPr/>
        </p:nvSpPr>
        <p:spPr>
          <a:xfrm>
            <a:off x="8924543" y="3761016"/>
            <a:ext cx="2235835" cy="240029"/>
          </a:xfrm>
          <a:prstGeom prst="rect">
            <a:avLst/>
          </a:prstGeom>
        </p:spPr>
        <p:txBody>
          <a:bodyPr vert="horz" wrap="square" lIns="0" tIns="13335" rIns="0" bIns="0" rtlCol="0">
            <a:spAutoFit/>
          </a:bodyPr>
          <a:lstStyle/>
          <a:p>
            <a:pPr marL="405765">
              <a:lnSpc>
                <a:spcPct val="100000"/>
              </a:lnSpc>
              <a:spcBef>
                <a:spcPts val="105"/>
              </a:spcBef>
            </a:pPr>
            <a:r>
              <a:rPr sz="1400" b="1" dirty="0">
                <a:solidFill>
                  <a:srgbClr val="C00000"/>
                </a:solidFill>
                <a:latin typeface="微软雅黑" panose="020B0503020204020204" charset="-122"/>
                <a:cs typeface="微软雅黑" panose="020B0503020204020204" charset="-122"/>
              </a:rPr>
              <a:t>锁存器层面低功</a:t>
            </a:r>
            <a:r>
              <a:rPr sz="1400" b="1" spc="5" dirty="0">
                <a:solidFill>
                  <a:srgbClr val="C00000"/>
                </a:solidFill>
                <a:latin typeface="微软雅黑" panose="020B0503020204020204" charset="-122"/>
                <a:cs typeface="微软雅黑" panose="020B0503020204020204" charset="-122"/>
              </a:rPr>
              <a:t>耗</a:t>
            </a:r>
            <a:endParaRPr sz="1400">
              <a:latin typeface="微软雅黑" panose="020B0503020204020204" charset="-122"/>
              <a:cs typeface="微软雅黑" panose="020B0503020204020204" charset="-122"/>
            </a:endParaRPr>
          </a:p>
        </p:txBody>
      </p:sp>
      <p:sp>
        <p:nvSpPr>
          <p:cNvPr id="22" name="object 22"/>
          <p:cNvSpPr/>
          <p:nvPr/>
        </p:nvSpPr>
        <p:spPr>
          <a:xfrm>
            <a:off x="8924543" y="4158996"/>
            <a:ext cx="2235835" cy="394970"/>
          </a:xfrm>
          <a:custGeom>
            <a:avLst/>
            <a:gdLst/>
            <a:ahLst/>
            <a:cxnLst/>
            <a:rect l="l" t="t" r="r" b="b"/>
            <a:pathLst>
              <a:path w="2235834" h="394970">
                <a:moveTo>
                  <a:pt x="0" y="0"/>
                </a:moveTo>
                <a:lnTo>
                  <a:pt x="2235707" y="0"/>
                </a:lnTo>
                <a:lnTo>
                  <a:pt x="2235707" y="394715"/>
                </a:lnTo>
                <a:lnTo>
                  <a:pt x="0" y="394715"/>
                </a:lnTo>
                <a:lnTo>
                  <a:pt x="0" y="0"/>
                </a:lnTo>
                <a:close/>
              </a:path>
            </a:pathLst>
          </a:custGeom>
          <a:solidFill>
            <a:srgbClr val="D9D9D9"/>
          </a:solidFill>
        </p:spPr>
        <p:txBody>
          <a:bodyPr wrap="square" lIns="0" tIns="0" rIns="0" bIns="0" rtlCol="0"/>
          <a:lstStyle/>
          <a:p/>
        </p:txBody>
      </p:sp>
      <p:sp>
        <p:nvSpPr>
          <p:cNvPr id="23" name="object 23"/>
          <p:cNvSpPr/>
          <p:nvPr/>
        </p:nvSpPr>
        <p:spPr>
          <a:xfrm>
            <a:off x="8918575" y="4152912"/>
            <a:ext cx="2247900" cy="407670"/>
          </a:xfrm>
          <a:custGeom>
            <a:avLst/>
            <a:gdLst/>
            <a:ahLst/>
            <a:cxnLst/>
            <a:rect l="l" t="t" r="r" b="b"/>
            <a:pathLst>
              <a:path w="2247900" h="407670">
                <a:moveTo>
                  <a:pt x="2247747" y="407327"/>
                </a:moveTo>
                <a:lnTo>
                  <a:pt x="0" y="407327"/>
                </a:lnTo>
                <a:lnTo>
                  <a:pt x="0" y="0"/>
                </a:lnTo>
                <a:lnTo>
                  <a:pt x="2247747" y="0"/>
                </a:lnTo>
                <a:lnTo>
                  <a:pt x="2247747" y="6350"/>
                </a:lnTo>
                <a:lnTo>
                  <a:pt x="12700" y="6350"/>
                </a:lnTo>
                <a:lnTo>
                  <a:pt x="6350" y="12700"/>
                </a:lnTo>
                <a:lnTo>
                  <a:pt x="12700" y="12700"/>
                </a:lnTo>
                <a:lnTo>
                  <a:pt x="12700" y="394627"/>
                </a:lnTo>
                <a:lnTo>
                  <a:pt x="6350" y="394627"/>
                </a:lnTo>
                <a:lnTo>
                  <a:pt x="12700" y="400977"/>
                </a:lnTo>
                <a:lnTo>
                  <a:pt x="2247747" y="400977"/>
                </a:lnTo>
                <a:lnTo>
                  <a:pt x="2247747" y="407327"/>
                </a:lnTo>
                <a:close/>
              </a:path>
              <a:path w="2247900" h="407670">
                <a:moveTo>
                  <a:pt x="12700" y="12700"/>
                </a:moveTo>
                <a:lnTo>
                  <a:pt x="6350" y="12700"/>
                </a:lnTo>
                <a:lnTo>
                  <a:pt x="12700" y="6350"/>
                </a:lnTo>
                <a:lnTo>
                  <a:pt x="12700" y="12700"/>
                </a:lnTo>
                <a:close/>
              </a:path>
              <a:path w="2247900" h="407670">
                <a:moveTo>
                  <a:pt x="2235047" y="12700"/>
                </a:moveTo>
                <a:lnTo>
                  <a:pt x="12700" y="12700"/>
                </a:lnTo>
                <a:lnTo>
                  <a:pt x="12700" y="6350"/>
                </a:lnTo>
                <a:lnTo>
                  <a:pt x="2235047" y="6350"/>
                </a:lnTo>
                <a:lnTo>
                  <a:pt x="2235047" y="12700"/>
                </a:lnTo>
                <a:close/>
              </a:path>
              <a:path w="2247900" h="407670">
                <a:moveTo>
                  <a:pt x="2235047" y="400977"/>
                </a:moveTo>
                <a:lnTo>
                  <a:pt x="2235047" y="6350"/>
                </a:lnTo>
                <a:lnTo>
                  <a:pt x="2241397" y="12700"/>
                </a:lnTo>
                <a:lnTo>
                  <a:pt x="2247747" y="12700"/>
                </a:lnTo>
                <a:lnTo>
                  <a:pt x="2247747" y="394627"/>
                </a:lnTo>
                <a:lnTo>
                  <a:pt x="2241397" y="394627"/>
                </a:lnTo>
                <a:lnTo>
                  <a:pt x="2235047" y="400977"/>
                </a:lnTo>
                <a:close/>
              </a:path>
              <a:path w="2247900" h="407670">
                <a:moveTo>
                  <a:pt x="2247747" y="12700"/>
                </a:moveTo>
                <a:lnTo>
                  <a:pt x="2241397" y="12700"/>
                </a:lnTo>
                <a:lnTo>
                  <a:pt x="2235047" y="6350"/>
                </a:lnTo>
                <a:lnTo>
                  <a:pt x="2247747" y="6350"/>
                </a:lnTo>
                <a:lnTo>
                  <a:pt x="2247747" y="12700"/>
                </a:lnTo>
                <a:close/>
              </a:path>
              <a:path w="2247900" h="407670">
                <a:moveTo>
                  <a:pt x="12700" y="400977"/>
                </a:moveTo>
                <a:lnTo>
                  <a:pt x="6350" y="394627"/>
                </a:lnTo>
                <a:lnTo>
                  <a:pt x="12700" y="394627"/>
                </a:lnTo>
                <a:lnTo>
                  <a:pt x="12700" y="400977"/>
                </a:lnTo>
                <a:close/>
              </a:path>
              <a:path w="2247900" h="407670">
                <a:moveTo>
                  <a:pt x="2235047" y="400977"/>
                </a:moveTo>
                <a:lnTo>
                  <a:pt x="12700" y="400977"/>
                </a:lnTo>
                <a:lnTo>
                  <a:pt x="12700" y="394627"/>
                </a:lnTo>
                <a:lnTo>
                  <a:pt x="2235047" y="394627"/>
                </a:lnTo>
                <a:lnTo>
                  <a:pt x="2235047" y="400977"/>
                </a:lnTo>
                <a:close/>
              </a:path>
              <a:path w="2247900" h="407670">
                <a:moveTo>
                  <a:pt x="2247747" y="400977"/>
                </a:moveTo>
                <a:lnTo>
                  <a:pt x="2235047" y="400977"/>
                </a:lnTo>
                <a:lnTo>
                  <a:pt x="2241397" y="394627"/>
                </a:lnTo>
                <a:lnTo>
                  <a:pt x="2247747" y="394627"/>
                </a:lnTo>
                <a:lnTo>
                  <a:pt x="2247747" y="400977"/>
                </a:lnTo>
                <a:close/>
              </a:path>
            </a:pathLst>
          </a:custGeom>
          <a:solidFill>
            <a:srgbClr val="C00000"/>
          </a:solidFill>
        </p:spPr>
        <p:txBody>
          <a:bodyPr wrap="square" lIns="0" tIns="0" rIns="0" bIns="0" rtlCol="0"/>
          <a:lstStyle/>
          <a:p/>
        </p:txBody>
      </p:sp>
      <p:sp>
        <p:nvSpPr>
          <p:cNvPr id="24" name="object 24"/>
          <p:cNvSpPr txBox="1"/>
          <p:nvPr/>
        </p:nvSpPr>
        <p:spPr>
          <a:xfrm>
            <a:off x="8924543" y="4225302"/>
            <a:ext cx="2235835" cy="240029"/>
          </a:xfrm>
          <a:prstGeom prst="rect">
            <a:avLst/>
          </a:prstGeom>
        </p:spPr>
        <p:txBody>
          <a:bodyPr vert="horz" wrap="square" lIns="0" tIns="13335" rIns="0" bIns="0" rtlCol="0">
            <a:spAutoFit/>
          </a:bodyPr>
          <a:lstStyle/>
          <a:p>
            <a:pPr marL="398780">
              <a:lnSpc>
                <a:spcPct val="100000"/>
              </a:lnSpc>
              <a:spcBef>
                <a:spcPts val="105"/>
              </a:spcBef>
            </a:pPr>
            <a:r>
              <a:rPr sz="1400" b="1" spc="-5" dirty="0">
                <a:solidFill>
                  <a:srgbClr val="C00000"/>
                </a:solidFill>
                <a:latin typeface="微软雅黑" panose="020B0503020204020204" charset="-122"/>
                <a:cs typeface="微软雅黑" panose="020B0503020204020204" charset="-122"/>
              </a:rPr>
              <a:t>SRAM</a:t>
            </a:r>
            <a:r>
              <a:rPr sz="1400" b="1" dirty="0">
                <a:solidFill>
                  <a:srgbClr val="C00000"/>
                </a:solidFill>
                <a:latin typeface="微软雅黑" panose="020B0503020204020204" charset="-122"/>
                <a:cs typeface="微软雅黑" panose="020B0503020204020204" charset="-122"/>
              </a:rPr>
              <a:t>层面低功</a:t>
            </a:r>
            <a:r>
              <a:rPr sz="1400" b="1" spc="5" dirty="0">
                <a:solidFill>
                  <a:srgbClr val="C00000"/>
                </a:solidFill>
                <a:latin typeface="微软雅黑" panose="020B0503020204020204" charset="-122"/>
                <a:cs typeface="微软雅黑" panose="020B0503020204020204" charset="-122"/>
              </a:rPr>
              <a:t>耗</a:t>
            </a:r>
            <a:endParaRPr sz="1400">
              <a:latin typeface="微软雅黑" panose="020B0503020204020204" charset="-122"/>
              <a:cs typeface="微软雅黑" panose="020B0503020204020204" charset="-122"/>
            </a:endParaRPr>
          </a:p>
        </p:txBody>
      </p:sp>
      <p:sp>
        <p:nvSpPr>
          <p:cNvPr id="25" name="object 25"/>
          <p:cNvSpPr/>
          <p:nvPr/>
        </p:nvSpPr>
        <p:spPr>
          <a:xfrm>
            <a:off x="8924543" y="4623815"/>
            <a:ext cx="2235835" cy="394970"/>
          </a:xfrm>
          <a:custGeom>
            <a:avLst/>
            <a:gdLst/>
            <a:ahLst/>
            <a:cxnLst/>
            <a:rect l="l" t="t" r="r" b="b"/>
            <a:pathLst>
              <a:path w="2235834" h="394970">
                <a:moveTo>
                  <a:pt x="0" y="0"/>
                </a:moveTo>
                <a:lnTo>
                  <a:pt x="2235707" y="0"/>
                </a:lnTo>
                <a:lnTo>
                  <a:pt x="2235707" y="394715"/>
                </a:lnTo>
                <a:lnTo>
                  <a:pt x="0" y="394715"/>
                </a:lnTo>
                <a:lnTo>
                  <a:pt x="0" y="0"/>
                </a:lnTo>
                <a:close/>
              </a:path>
            </a:pathLst>
          </a:custGeom>
          <a:solidFill>
            <a:srgbClr val="D9D9D9"/>
          </a:solidFill>
        </p:spPr>
        <p:txBody>
          <a:bodyPr wrap="square" lIns="0" tIns="0" rIns="0" bIns="0" rtlCol="0"/>
          <a:lstStyle/>
          <a:p/>
        </p:txBody>
      </p:sp>
      <p:sp>
        <p:nvSpPr>
          <p:cNvPr id="26" name="object 26"/>
          <p:cNvSpPr/>
          <p:nvPr/>
        </p:nvSpPr>
        <p:spPr>
          <a:xfrm>
            <a:off x="8918575" y="4617211"/>
            <a:ext cx="2247900" cy="407670"/>
          </a:xfrm>
          <a:custGeom>
            <a:avLst/>
            <a:gdLst/>
            <a:ahLst/>
            <a:cxnLst/>
            <a:rect l="l" t="t" r="r" b="b"/>
            <a:pathLst>
              <a:path w="2247900" h="407670">
                <a:moveTo>
                  <a:pt x="2247747" y="407314"/>
                </a:moveTo>
                <a:lnTo>
                  <a:pt x="0" y="407314"/>
                </a:lnTo>
                <a:lnTo>
                  <a:pt x="0" y="0"/>
                </a:lnTo>
                <a:lnTo>
                  <a:pt x="2247747" y="0"/>
                </a:lnTo>
                <a:lnTo>
                  <a:pt x="2247747" y="6350"/>
                </a:lnTo>
                <a:lnTo>
                  <a:pt x="12700" y="6350"/>
                </a:lnTo>
                <a:lnTo>
                  <a:pt x="6350" y="12700"/>
                </a:lnTo>
                <a:lnTo>
                  <a:pt x="12700" y="12700"/>
                </a:lnTo>
                <a:lnTo>
                  <a:pt x="12700" y="394614"/>
                </a:lnTo>
                <a:lnTo>
                  <a:pt x="6350" y="394614"/>
                </a:lnTo>
                <a:lnTo>
                  <a:pt x="12700" y="400964"/>
                </a:lnTo>
                <a:lnTo>
                  <a:pt x="2247747" y="400964"/>
                </a:lnTo>
                <a:lnTo>
                  <a:pt x="2247747" y="407314"/>
                </a:lnTo>
                <a:close/>
              </a:path>
              <a:path w="2247900" h="407670">
                <a:moveTo>
                  <a:pt x="12700" y="12700"/>
                </a:moveTo>
                <a:lnTo>
                  <a:pt x="6350" y="12700"/>
                </a:lnTo>
                <a:lnTo>
                  <a:pt x="12700" y="6350"/>
                </a:lnTo>
                <a:lnTo>
                  <a:pt x="12700" y="12700"/>
                </a:lnTo>
                <a:close/>
              </a:path>
              <a:path w="2247900" h="407670">
                <a:moveTo>
                  <a:pt x="2235047" y="12700"/>
                </a:moveTo>
                <a:lnTo>
                  <a:pt x="12700" y="12700"/>
                </a:lnTo>
                <a:lnTo>
                  <a:pt x="12700" y="6350"/>
                </a:lnTo>
                <a:lnTo>
                  <a:pt x="2235047" y="6350"/>
                </a:lnTo>
                <a:lnTo>
                  <a:pt x="2235047" y="12700"/>
                </a:lnTo>
                <a:close/>
              </a:path>
              <a:path w="2247900" h="407670">
                <a:moveTo>
                  <a:pt x="2235047" y="400964"/>
                </a:moveTo>
                <a:lnTo>
                  <a:pt x="2235047" y="6350"/>
                </a:lnTo>
                <a:lnTo>
                  <a:pt x="2241397" y="12700"/>
                </a:lnTo>
                <a:lnTo>
                  <a:pt x="2247747" y="12700"/>
                </a:lnTo>
                <a:lnTo>
                  <a:pt x="2247747" y="394614"/>
                </a:lnTo>
                <a:lnTo>
                  <a:pt x="2241397" y="394614"/>
                </a:lnTo>
                <a:lnTo>
                  <a:pt x="2235047" y="400964"/>
                </a:lnTo>
                <a:close/>
              </a:path>
              <a:path w="2247900" h="407670">
                <a:moveTo>
                  <a:pt x="2247747" y="12700"/>
                </a:moveTo>
                <a:lnTo>
                  <a:pt x="2241397" y="12700"/>
                </a:lnTo>
                <a:lnTo>
                  <a:pt x="2235047" y="6350"/>
                </a:lnTo>
                <a:lnTo>
                  <a:pt x="2247747" y="6350"/>
                </a:lnTo>
                <a:lnTo>
                  <a:pt x="2247747" y="12700"/>
                </a:lnTo>
                <a:close/>
              </a:path>
              <a:path w="2247900" h="407670">
                <a:moveTo>
                  <a:pt x="12700" y="400964"/>
                </a:moveTo>
                <a:lnTo>
                  <a:pt x="6350" y="394614"/>
                </a:lnTo>
                <a:lnTo>
                  <a:pt x="12700" y="394614"/>
                </a:lnTo>
                <a:lnTo>
                  <a:pt x="12700" y="400964"/>
                </a:lnTo>
                <a:close/>
              </a:path>
              <a:path w="2247900" h="407670">
                <a:moveTo>
                  <a:pt x="2235047" y="400964"/>
                </a:moveTo>
                <a:lnTo>
                  <a:pt x="12700" y="400964"/>
                </a:lnTo>
                <a:lnTo>
                  <a:pt x="12700" y="394614"/>
                </a:lnTo>
                <a:lnTo>
                  <a:pt x="2235047" y="394614"/>
                </a:lnTo>
                <a:lnTo>
                  <a:pt x="2235047" y="400964"/>
                </a:lnTo>
                <a:close/>
              </a:path>
              <a:path w="2247900" h="407670">
                <a:moveTo>
                  <a:pt x="2247747" y="400964"/>
                </a:moveTo>
                <a:lnTo>
                  <a:pt x="2235047" y="400964"/>
                </a:lnTo>
                <a:lnTo>
                  <a:pt x="2241397" y="394614"/>
                </a:lnTo>
                <a:lnTo>
                  <a:pt x="2247747" y="394614"/>
                </a:lnTo>
                <a:lnTo>
                  <a:pt x="2247747" y="400964"/>
                </a:lnTo>
                <a:close/>
              </a:path>
            </a:pathLst>
          </a:custGeom>
          <a:solidFill>
            <a:srgbClr val="C00000"/>
          </a:solidFill>
        </p:spPr>
        <p:txBody>
          <a:bodyPr wrap="square" lIns="0" tIns="0" rIns="0" bIns="0" rtlCol="0"/>
          <a:lstStyle/>
          <a:p/>
        </p:txBody>
      </p:sp>
      <p:sp>
        <p:nvSpPr>
          <p:cNvPr id="27" name="object 27"/>
          <p:cNvSpPr txBox="1"/>
          <p:nvPr/>
        </p:nvSpPr>
        <p:spPr>
          <a:xfrm>
            <a:off x="8924543" y="4689602"/>
            <a:ext cx="2235835" cy="240029"/>
          </a:xfrm>
          <a:prstGeom prst="rect">
            <a:avLst/>
          </a:prstGeom>
        </p:spPr>
        <p:txBody>
          <a:bodyPr vert="horz" wrap="square" lIns="0" tIns="13335" rIns="0" bIns="0" rtlCol="0">
            <a:spAutoFit/>
          </a:bodyPr>
          <a:lstStyle/>
          <a:p>
            <a:pPr marL="316865">
              <a:lnSpc>
                <a:spcPct val="100000"/>
              </a:lnSpc>
              <a:spcBef>
                <a:spcPts val="105"/>
              </a:spcBef>
            </a:pPr>
            <a:r>
              <a:rPr sz="1400" b="1" dirty="0">
                <a:solidFill>
                  <a:srgbClr val="C00000"/>
                </a:solidFill>
                <a:latin typeface="微软雅黑" panose="020B0503020204020204" charset="-122"/>
                <a:cs typeface="微软雅黑" panose="020B0503020204020204" charset="-122"/>
              </a:rPr>
              <a:t>组合逻辑层面低功</a:t>
            </a:r>
            <a:r>
              <a:rPr sz="1400" b="1" spc="5" dirty="0">
                <a:solidFill>
                  <a:srgbClr val="C00000"/>
                </a:solidFill>
                <a:latin typeface="微软雅黑" panose="020B0503020204020204" charset="-122"/>
                <a:cs typeface="微软雅黑" panose="020B0503020204020204" charset="-122"/>
              </a:rPr>
              <a:t>耗</a:t>
            </a:r>
            <a:endParaRPr sz="1400">
              <a:latin typeface="微软雅黑" panose="020B0503020204020204" charset="-122"/>
              <a:cs typeface="微软雅黑" panose="020B0503020204020204" charset="-122"/>
            </a:endParaRPr>
          </a:p>
        </p:txBody>
      </p:sp>
      <p:sp>
        <p:nvSpPr>
          <p:cNvPr id="28" name="object 28"/>
          <p:cNvSpPr/>
          <p:nvPr/>
        </p:nvSpPr>
        <p:spPr>
          <a:xfrm>
            <a:off x="8924543" y="5087111"/>
            <a:ext cx="2235835" cy="394970"/>
          </a:xfrm>
          <a:custGeom>
            <a:avLst/>
            <a:gdLst/>
            <a:ahLst/>
            <a:cxnLst/>
            <a:rect l="l" t="t" r="r" b="b"/>
            <a:pathLst>
              <a:path w="2235834" h="394970">
                <a:moveTo>
                  <a:pt x="0" y="0"/>
                </a:moveTo>
                <a:lnTo>
                  <a:pt x="2235707" y="0"/>
                </a:lnTo>
                <a:lnTo>
                  <a:pt x="2235707" y="394715"/>
                </a:lnTo>
                <a:lnTo>
                  <a:pt x="0" y="394715"/>
                </a:lnTo>
                <a:lnTo>
                  <a:pt x="0" y="0"/>
                </a:lnTo>
                <a:close/>
              </a:path>
            </a:pathLst>
          </a:custGeom>
          <a:solidFill>
            <a:srgbClr val="D9D9D9"/>
          </a:solidFill>
        </p:spPr>
        <p:txBody>
          <a:bodyPr wrap="square" lIns="0" tIns="0" rIns="0" bIns="0" rtlCol="0"/>
          <a:lstStyle/>
          <a:p/>
        </p:txBody>
      </p:sp>
      <p:sp>
        <p:nvSpPr>
          <p:cNvPr id="29" name="object 29"/>
          <p:cNvSpPr/>
          <p:nvPr/>
        </p:nvSpPr>
        <p:spPr>
          <a:xfrm>
            <a:off x="8918575" y="5081498"/>
            <a:ext cx="2247900" cy="407670"/>
          </a:xfrm>
          <a:custGeom>
            <a:avLst/>
            <a:gdLst/>
            <a:ahLst/>
            <a:cxnLst/>
            <a:rect l="l" t="t" r="r" b="b"/>
            <a:pathLst>
              <a:path w="2247900" h="407670">
                <a:moveTo>
                  <a:pt x="2247747" y="407327"/>
                </a:moveTo>
                <a:lnTo>
                  <a:pt x="0" y="407327"/>
                </a:lnTo>
                <a:lnTo>
                  <a:pt x="0" y="0"/>
                </a:lnTo>
                <a:lnTo>
                  <a:pt x="2247747" y="0"/>
                </a:lnTo>
                <a:lnTo>
                  <a:pt x="2247747" y="6350"/>
                </a:lnTo>
                <a:lnTo>
                  <a:pt x="12700" y="6350"/>
                </a:lnTo>
                <a:lnTo>
                  <a:pt x="6350" y="12700"/>
                </a:lnTo>
                <a:lnTo>
                  <a:pt x="12700" y="12700"/>
                </a:lnTo>
                <a:lnTo>
                  <a:pt x="12700" y="394627"/>
                </a:lnTo>
                <a:lnTo>
                  <a:pt x="6350" y="394627"/>
                </a:lnTo>
                <a:lnTo>
                  <a:pt x="12700" y="400977"/>
                </a:lnTo>
                <a:lnTo>
                  <a:pt x="2247747" y="400977"/>
                </a:lnTo>
                <a:lnTo>
                  <a:pt x="2247747" y="407327"/>
                </a:lnTo>
                <a:close/>
              </a:path>
              <a:path w="2247900" h="407670">
                <a:moveTo>
                  <a:pt x="12700" y="12700"/>
                </a:moveTo>
                <a:lnTo>
                  <a:pt x="6350" y="12700"/>
                </a:lnTo>
                <a:lnTo>
                  <a:pt x="12700" y="6350"/>
                </a:lnTo>
                <a:lnTo>
                  <a:pt x="12700" y="12700"/>
                </a:lnTo>
                <a:close/>
              </a:path>
              <a:path w="2247900" h="407670">
                <a:moveTo>
                  <a:pt x="2235047" y="12700"/>
                </a:moveTo>
                <a:lnTo>
                  <a:pt x="12700" y="12700"/>
                </a:lnTo>
                <a:lnTo>
                  <a:pt x="12700" y="6350"/>
                </a:lnTo>
                <a:lnTo>
                  <a:pt x="2235047" y="6350"/>
                </a:lnTo>
                <a:lnTo>
                  <a:pt x="2235047" y="12700"/>
                </a:lnTo>
                <a:close/>
              </a:path>
              <a:path w="2247900" h="407670">
                <a:moveTo>
                  <a:pt x="2235047" y="400977"/>
                </a:moveTo>
                <a:lnTo>
                  <a:pt x="2235047" y="6350"/>
                </a:lnTo>
                <a:lnTo>
                  <a:pt x="2241397" y="12700"/>
                </a:lnTo>
                <a:lnTo>
                  <a:pt x="2247747" y="12700"/>
                </a:lnTo>
                <a:lnTo>
                  <a:pt x="2247747" y="394627"/>
                </a:lnTo>
                <a:lnTo>
                  <a:pt x="2241397" y="394627"/>
                </a:lnTo>
                <a:lnTo>
                  <a:pt x="2235047" y="400977"/>
                </a:lnTo>
                <a:close/>
              </a:path>
              <a:path w="2247900" h="407670">
                <a:moveTo>
                  <a:pt x="2247747" y="12700"/>
                </a:moveTo>
                <a:lnTo>
                  <a:pt x="2241397" y="12700"/>
                </a:lnTo>
                <a:lnTo>
                  <a:pt x="2235047" y="6350"/>
                </a:lnTo>
                <a:lnTo>
                  <a:pt x="2247747" y="6350"/>
                </a:lnTo>
                <a:lnTo>
                  <a:pt x="2247747" y="12700"/>
                </a:lnTo>
                <a:close/>
              </a:path>
              <a:path w="2247900" h="407670">
                <a:moveTo>
                  <a:pt x="12700" y="400977"/>
                </a:moveTo>
                <a:lnTo>
                  <a:pt x="6350" y="394627"/>
                </a:lnTo>
                <a:lnTo>
                  <a:pt x="12700" y="394627"/>
                </a:lnTo>
                <a:lnTo>
                  <a:pt x="12700" y="400977"/>
                </a:lnTo>
                <a:close/>
              </a:path>
              <a:path w="2247900" h="407670">
                <a:moveTo>
                  <a:pt x="2235047" y="400977"/>
                </a:moveTo>
                <a:lnTo>
                  <a:pt x="12700" y="400977"/>
                </a:lnTo>
                <a:lnTo>
                  <a:pt x="12700" y="394627"/>
                </a:lnTo>
                <a:lnTo>
                  <a:pt x="2235047" y="394627"/>
                </a:lnTo>
                <a:lnTo>
                  <a:pt x="2235047" y="400977"/>
                </a:lnTo>
                <a:close/>
              </a:path>
              <a:path w="2247900" h="407670">
                <a:moveTo>
                  <a:pt x="2247747" y="400977"/>
                </a:moveTo>
                <a:lnTo>
                  <a:pt x="2235047" y="400977"/>
                </a:lnTo>
                <a:lnTo>
                  <a:pt x="2241397" y="394627"/>
                </a:lnTo>
                <a:lnTo>
                  <a:pt x="2247747" y="394627"/>
                </a:lnTo>
                <a:lnTo>
                  <a:pt x="2247747" y="400977"/>
                </a:lnTo>
                <a:close/>
              </a:path>
            </a:pathLst>
          </a:custGeom>
          <a:solidFill>
            <a:srgbClr val="C00000"/>
          </a:solidFill>
        </p:spPr>
        <p:txBody>
          <a:bodyPr wrap="square" lIns="0" tIns="0" rIns="0" bIns="0" rtlCol="0"/>
          <a:lstStyle/>
          <a:p/>
        </p:txBody>
      </p:sp>
      <p:sp>
        <p:nvSpPr>
          <p:cNvPr id="30" name="object 30"/>
          <p:cNvSpPr txBox="1"/>
          <p:nvPr/>
        </p:nvSpPr>
        <p:spPr>
          <a:xfrm>
            <a:off x="8924543" y="5153888"/>
            <a:ext cx="2235835" cy="240029"/>
          </a:xfrm>
          <a:prstGeom prst="rect">
            <a:avLst/>
          </a:prstGeom>
        </p:spPr>
        <p:txBody>
          <a:bodyPr vert="horz" wrap="square" lIns="0" tIns="13335" rIns="0" bIns="0" rtlCol="0">
            <a:spAutoFit/>
          </a:bodyPr>
          <a:lstStyle/>
          <a:p>
            <a:pPr marL="494665">
              <a:lnSpc>
                <a:spcPct val="100000"/>
              </a:lnSpc>
              <a:spcBef>
                <a:spcPts val="105"/>
              </a:spcBef>
            </a:pPr>
            <a:r>
              <a:rPr sz="1400" b="1" dirty="0">
                <a:solidFill>
                  <a:srgbClr val="C00000"/>
                </a:solidFill>
                <a:latin typeface="微软雅黑" panose="020B0503020204020204" charset="-122"/>
                <a:cs typeface="微软雅黑" panose="020B0503020204020204" charset="-122"/>
              </a:rPr>
              <a:t>工艺层面低功</a:t>
            </a:r>
            <a:r>
              <a:rPr sz="1400" b="1" spc="5" dirty="0">
                <a:solidFill>
                  <a:srgbClr val="C00000"/>
                </a:solidFill>
                <a:latin typeface="微软雅黑" panose="020B0503020204020204" charset="-122"/>
                <a:cs typeface="微软雅黑" panose="020B0503020204020204" charset="-122"/>
              </a:rPr>
              <a:t>耗</a:t>
            </a:r>
            <a:endParaRPr sz="1400">
              <a:latin typeface="微软雅黑" panose="020B0503020204020204" charset="-122"/>
              <a:cs typeface="微软雅黑" panose="020B0503020204020204" charset="-122"/>
            </a:endParaRPr>
          </a:p>
        </p:txBody>
      </p:sp>
      <p:sp>
        <p:nvSpPr>
          <p:cNvPr id="31" name="object 31"/>
          <p:cNvSpPr txBox="1"/>
          <p:nvPr/>
        </p:nvSpPr>
        <p:spPr>
          <a:xfrm>
            <a:off x="463550" y="1527175"/>
            <a:ext cx="7997825" cy="574040"/>
          </a:xfrm>
          <a:prstGeom prst="rect">
            <a:avLst/>
          </a:prstGeom>
        </p:spPr>
        <p:txBody>
          <a:bodyPr vert="horz" wrap="square" lIns="0" tIns="12700" rIns="0" bIns="0" rtlCol="0">
            <a:spAutoFit/>
          </a:bodyPr>
          <a:lstStyle/>
          <a:p>
            <a:pPr marL="12700" marR="5080">
              <a:lnSpc>
                <a:spcPct val="150000"/>
              </a:lnSpc>
              <a:spcBef>
                <a:spcPts val="100"/>
              </a:spcBef>
            </a:pPr>
            <a:r>
              <a:rPr sz="1200" dirty="0">
                <a:latin typeface="微软雅黑" panose="020B0503020204020204" charset="-122"/>
                <a:cs typeface="微软雅黑" panose="020B0503020204020204" charset="-122"/>
              </a:rPr>
              <a:t>低功耗设计是一个会涉及到从软件到工艺的各个层面系统工程，针对每个层面采取不同的策略，蜂鸟E203的低功耗机制 如下</a:t>
            </a:r>
            <a:endParaRPr sz="1200">
              <a:latin typeface="微软雅黑" panose="020B0503020204020204" charset="-122"/>
              <a:cs typeface="微软雅黑" panose="020B0503020204020204" charset="-122"/>
            </a:endParaRPr>
          </a:p>
        </p:txBody>
      </p:sp>
      <p:sp>
        <p:nvSpPr>
          <p:cNvPr id="32" name="object 32"/>
          <p:cNvSpPr txBox="1"/>
          <p:nvPr/>
        </p:nvSpPr>
        <p:spPr>
          <a:xfrm>
            <a:off x="463550" y="2075814"/>
            <a:ext cx="8218805" cy="3042920"/>
          </a:xfrm>
          <a:prstGeom prst="rect">
            <a:avLst/>
          </a:prstGeom>
        </p:spPr>
        <p:txBody>
          <a:bodyPr vert="horz" wrap="square" lIns="0" tIns="104139" rIns="0" bIns="0" rtlCol="0">
            <a:spAutoFit/>
          </a:bodyPr>
          <a:lstStyle/>
          <a:p>
            <a:pPr marL="298450" indent="-285750">
              <a:lnSpc>
                <a:spcPct val="100000"/>
              </a:lnSpc>
              <a:spcBef>
                <a:spcPts val="820"/>
              </a:spcBef>
              <a:buFont typeface="Wingdings" panose="05000000000000000000"/>
              <a:buChar char=""/>
              <a:tabLst>
                <a:tab pos="297815" algn="l"/>
                <a:tab pos="298450" algn="l"/>
              </a:tabLst>
            </a:pPr>
            <a:r>
              <a:rPr sz="1200" b="1" dirty="0">
                <a:solidFill>
                  <a:srgbClr val="C00000"/>
                </a:solidFill>
                <a:latin typeface="微软雅黑" panose="020B0503020204020204" charset="-122"/>
                <a:cs typeface="微软雅黑" panose="020B0503020204020204" charset="-122"/>
              </a:rPr>
              <a:t>系统层面</a:t>
            </a:r>
            <a:r>
              <a:rPr sz="1200" dirty="0">
                <a:latin typeface="微软雅黑" panose="020B0503020204020204" charset="-122"/>
                <a:cs typeface="微软雅黑" panose="020B0503020204020204" charset="-122"/>
              </a:rPr>
              <a:t>，配套SoC整体可以分为调试域，主域和常开域三个电源域，通过关闭不同的电源域进入不同的低功耗模式；</a:t>
            </a:r>
            <a:endParaRPr sz="1200">
              <a:latin typeface="微软雅黑" panose="020B0503020204020204" charset="-122"/>
              <a:cs typeface="微软雅黑" panose="020B0503020204020204" charset="-122"/>
            </a:endParaRPr>
          </a:p>
          <a:p>
            <a:pPr marL="298450" indent="-285750">
              <a:lnSpc>
                <a:spcPct val="100000"/>
              </a:lnSpc>
              <a:spcBef>
                <a:spcPts val="720"/>
              </a:spcBef>
              <a:buFont typeface="Wingdings" panose="05000000000000000000"/>
              <a:buChar char=""/>
              <a:tabLst>
                <a:tab pos="297815" algn="l"/>
                <a:tab pos="298450" algn="l"/>
              </a:tabLst>
            </a:pPr>
            <a:r>
              <a:rPr sz="1200" b="1" dirty="0">
                <a:solidFill>
                  <a:srgbClr val="C00000"/>
                </a:solidFill>
                <a:latin typeface="微软雅黑" panose="020B0503020204020204" charset="-122"/>
                <a:cs typeface="微软雅黑" panose="020B0503020204020204" charset="-122"/>
              </a:rPr>
              <a:t>处理器层面</a:t>
            </a:r>
            <a:r>
              <a:rPr sz="1200" dirty="0">
                <a:latin typeface="微软雅黑" panose="020B0503020204020204" charset="-122"/>
                <a:cs typeface="微软雅黑" panose="020B0503020204020204" charset="-122"/>
              </a:rPr>
              <a:t>，通过实现</a:t>
            </a:r>
            <a:r>
              <a:rPr sz="1200" spc="-5" dirty="0">
                <a:latin typeface="微软雅黑" panose="020B0503020204020204" charset="-122"/>
                <a:cs typeface="微软雅黑" panose="020B0503020204020204" charset="-122"/>
              </a:rPr>
              <a:t>wfi</a:t>
            </a:r>
            <a:r>
              <a:rPr sz="1200" dirty="0">
                <a:latin typeface="微软雅黑" panose="020B0503020204020204" charset="-122"/>
                <a:cs typeface="微软雅黑" panose="020B0503020204020204" charset="-122"/>
              </a:rPr>
              <a:t>指令，来让处理器内核进入休眠，并通过中断唤醒；</a:t>
            </a:r>
            <a:endParaRPr sz="1200">
              <a:latin typeface="微软雅黑" panose="020B0503020204020204" charset="-122"/>
              <a:cs typeface="微软雅黑" panose="020B0503020204020204" charset="-122"/>
            </a:endParaRPr>
          </a:p>
          <a:p>
            <a:pPr marL="298450" marR="293370" indent="-285750">
              <a:lnSpc>
                <a:spcPct val="150000"/>
              </a:lnSpc>
              <a:buFont typeface="Wingdings" panose="05000000000000000000"/>
              <a:buChar char=""/>
              <a:tabLst>
                <a:tab pos="297815" algn="l"/>
                <a:tab pos="298450" algn="l"/>
              </a:tabLst>
            </a:pPr>
            <a:r>
              <a:rPr sz="1200" b="1" dirty="0">
                <a:solidFill>
                  <a:srgbClr val="C00000"/>
                </a:solidFill>
                <a:latin typeface="微软雅黑" panose="020B0503020204020204" charset="-122"/>
                <a:cs typeface="微软雅黑" panose="020B0503020204020204" charset="-122"/>
              </a:rPr>
              <a:t>单元层面</a:t>
            </a:r>
            <a:r>
              <a:rPr sz="1200" dirty="0">
                <a:latin typeface="微软雅黑" panose="020B0503020204020204" charset="-122"/>
                <a:cs typeface="微软雅黑" panose="020B0503020204020204" charset="-122"/>
              </a:rPr>
              <a:t>，内核几个主要功能单元均配置了独立的时钟门控，一旦单元出于空闲的周期，即自动地将时钟关闭，从 而节省动态功耗；</a:t>
            </a:r>
            <a:endParaRPr sz="1200">
              <a:latin typeface="微软雅黑" panose="020B0503020204020204" charset="-122"/>
              <a:cs typeface="微软雅黑" panose="020B0503020204020204" charset="-122"/>
            </a:endParaRPr>
          </a:p>
          <a:p>
            <a:pPr marL="298450" marR="176530" indent="-285750">
              <a:lnSpc>
                <a:spcPct val="150000"/>
              </a:lnSpc>
              <a:buFont typeface="Wingdings" panose="05000000000000000000"/>
              <a:buChar char=""/>
              <a:tabLst>
                <a:tab pos="297815" algn="l"/>
                <a:tab pos="298450" algn="l"/>
              </a:tabLst>
            </a:pPr>
            <a:r>
              <a:rPr sz="1200" b="1" dirty="0">
                <a:solidFill>
                  <a:srgbClr val="C00000"/>
                </a:solidFill>
                <a:latin typeface="微软雅黑" panose="020B0503020204020204" charset="-122"/>
                <a:cs typeface="微软雅黑" panose="020B0503020204020204" charset="-122"/>
              </a:rPr>
              <a:t>寄存器层面</a:t>
            </a:r>
            <a:r>
              <a:rPr sz="1200" dirty="0">
                <a:latin typeface="微软雅黑" panose="020B0503020204020204" charset="-122"/>
                <a:cs typeface="微软雅黑" panose="020B0503020204020204" charset="-122"/>
              </a:rPr>
              <a:t>，通过寄存器编码为D触发器引出使能信号方便进行时钟门控，减少数据通路翻转和数据通路不复位来减 少功耗；</a:t>
            </a:r>
            <a:endParaRPr sz="1200">
              <a:latin typeface="微软雅黑" panose="020B0503020204020204" charset="-122"/>
              <a:cs typeface="微软雅黑" panose="020B0503020204020204" charset="-122"/>
            </a:endParaRPr>
          </a:p>
          <a:p>
            <a:pPr marL="298450" indent="-285750">
              <a:lnSpc>
                <a:spcPct val="100000"/>
              </a:lnSpc>
              <a:spcBef>
                <a:spcPts val="720"/>
              </a:spcBef>
              <a:buFont typeface="Wingdings" panose="05000000000000000000"/>
              <a:buChar char=""/>
              <a:tabLst>
                <a:tab pos="297815" algn="l"/>
                <a:tab pos="298450" algn="l"/>
              </a:tabLst>
            </a:pPr>
            <a:r>
              <a:rPr sz="1200" b="1" dirty="0">
                <a:solidFill>
                  <a:srgbClr val="C00000"/>
                </a:solidFill>
                <a:latin typeface="微软雅黑" panose="020B0503020204020204" charset="-122"/>
                <a:cs typeface="微软雅黑" panose="020B0503020204020204" charset="-122"/>
              </a:rPr>
              <a:t>锁存器层面</a:t>
            </a:r>
            <a:r>
              <a:rPr sz="1200" dirty="0">
                <a:latin typeface="微软雅黑" panose="020B0503020204020204" charset="-122"/>
                <a:cs typeface="微软雅黑" panose="020B0503020204020204" charset="-122"/>
              </a:rPr>
              <a:t>，可以通过配置将寄存器组模块配置为基于锁存器的实现，从而降低面积和功耗；</a:t>
            </a:r>
            <a:endParaRPr sz="1200">
              <a:latin typeface="微软雅黑" panose="020B0503020204020204" charset="-122"/>
              <a:cs typeface="微软雅黑" panose="020B0503020204020204" charset="-122"/>
            </a:endParaRPr>
          </a:p>
          <a:p>
            <a:pPr marL="298450" indent="-285750">
              <a:lnSpc>
                <a:spcPct val="100000"/>
              </a:lnSpc>
              <a:spcBef>
                <a:spcPts val="720"/>
              </a:spcBef>
              <a:buFont typeface="Wingdings" panose="05000000000000000000"/>
              <a:buChar char=""/>
              <a:tabLst>
                <a:tab pos="297815" algn="l"/>
                <a:tab pos="298450" algn="l"/>
              </a:tabLst>
            </a:pPr>
            <a:r>
              <a:rPr sz="1200" b="1" spc="-5" dirty="0">
                <a:solidFill>
                  <a:srgbClr val="C00000"/>
                </a:solidFill>
                <a:latin typeface="微软雅黑" panose="020B0503020204020204" charset="-122"/>
                <a:cs typeface="微软雅黑" panose="020B0503020204020204" charset="-122"/>
              </a:rPr>
              <a:t>SRAM</a:t>
            </a:r>
            <a:r>
              <a:rPr sz="1200" b="1" dirty="0">
                <a:solidFill>
                  <a:srgbClr val="C00000"/>
                </a:solidFill>
                <a:latin typeface="微软雅黑" panose="020B0503020204020204" charset="-122"/>
                <a:cs typeface="微软雅黑" panose="020B0503020204020204" charset="-122"/>
              </a:rPr>
              <a:t>层面</a:t>
            </a:r>
            <a:r>
              <a:rPr sz="1200" dirty="0">
                <a:latin typeface="微软雅黑" panose="020B0503020204020204" charset="-122"/>
                <a:cs typeface="微软雅黑" panose="020B0503020204020204" charset="-122"/>
              </a:rPr>
              <a:t>，选择单口64位</a:t>
            </a:r>
            <a:r>
              <a:rPr sz="1200" spc="-5" dirty="0">
                <a:latin typeface="微软雅黑" panose="020B0503020204020204" charset="-122"/>
                <a:cs typeface="微软雅黑" panose="020B0503020204020204" charset="-122"/>
              </a:rPr>
              <a:t>SRAM，64</a:t>
            </a:r>
            <a:r>
              <a:rPr sz="1200" dirty="0">
                <a:latin typeface="微软雅黑" panose="020B0503020204020204" charset="-122"/>
                <a:cs typeface="微软雅黑" panose="020B0503020204020204" charset="-122"/>
              </a:rPr>
              <a:t>位位宽</a:t>
            </a:r>
            <a:r>
              <a:rPr sz="1200" spc="-5" dirty="0">
                <a:latin typeface="微软雅黑" panose="020B0503020204020204" charset="-122"/>
                <a:cs typeface="微软雅黑" panose="020B0503020204020204" charset="-122"/>
              </a:rPr>
              <a:t>SRAM</a:t>
            </a:r>
            <a:r>
              <a:rPr sz="1200" dirty="0">
                <a:latin typeface="微软雅黑" panose="020B0503020204020204" charset="-122"/>
                <a:cs typeface="微软雅黑" panose="020B0503020204020204" charset="-122"/>
              </a:rPr>
              <a:t>用于构建</a:t>
            </a:r>
            <a:r>
              <a:rPr sz="1200" spc="-20" dirty="0">
                <a:latin typeface="微软雅黑" panose="020B0503020204020204" charset="-122"/>
                <a:cs typeface="微软雅黑" panose="020B0503020204020204" charset="-122"/>
              </a:rPr>
              <a:t>ITCM</a:t>
            </a:r>
            <a:r>
              <a:rPr sz="1200" dirty="0">
                <a:latin typeface="微软雅黑" panose="020B0503020204020204" charset="-122"/>
                <a:cs typeface="微软雅黑" panose="020B0503020204020204" charset="-122"/>
              </a:rPr>
              <a:t>时可以优先减少</a:t>
            </a:r>
            <a:r>
              <a:rPr sz="1200" spc="-5" dirty="0">
                <a:latin typeface="微软雅黑" panose="020B0503020204020204" charset="-122"/>
                <a:cs typeface="微软雅黑" panose="020B0503020204020204" charset="-122"/>
              </a:rPr>
              <a:t>SRAM</a:t>
            </a:r>
            <a:r>
              <a:rPr sz="1200" dirty="0">
                <a:latin typeface="微软雅黑" panose="020B0503020204020204" charset="-122"/>
                <a:cs typeface="微软雅黑" panose="020B0503020204020204" charset="-122"/>
              </a:rPr>
              <a:t>读写减少动态功耗，</a:t>
            </a:r>
            <a:endParaRPr sz="1200">
              <a:latin typeface="微软雅黑" panose="020B0503020204020204" charset="-122"/>
              <a:cs typeface="微软雅黑" panose="020B0503020204020204" charset="-122"/>
            </a:endParaRPr>
          </a:p>
          <a:p>
            <a:pPr marL="298450">
              <a:lnSpc>
                <a:spcPct val="100000"/>
              </a:lnSpc>
              <a:spcBef>
                <a:spcPts val="720"/>
              </a:spcBef>
            </a:pPr>
            <a:r>
              <a:rPr sz="1200" spc="-5" dirty="0">
                <a:latin typeface="微软雅黑" panose="020B0503020204020204" charset="-122"/>
                <a:cs typeface="微软雅黑" panose="020B0503020204020204" charset="-122"/>
              </a:rPr>
              <a:t>SRAM</a:t>
            </a:r>
            <a:r>
              <a:rPr sz="1200" dirty="0">
                <a:latin typeface="微软雅黑" panose="020B0503020204020204" charset="-122"/>
                <a:cs typeface="微软雅黑" panose="020B0503020204020204" charset="-122"/>
              </a:rPr>
              <a:t>均配备了独立的时钟门控单元在空闲时关闭减少动态功耗；</a:t>
            </a:r>
            <a:endParaRPr sz="1200">
              <a:latin typeface="微软雅黑" panose="020B0503020204020204" charset="-122"/>
              <a:cs typeface="微软雅黑" panose="020B0503020204020204" charset="-122"/>
            </a:endParaRPr>
          </a:p>
          <a:p>
            <a:pPr marL="298450" indent="-285750">
              <a:lnSpc>
                <a:spcPct val="100000"/>
              </a:lnSpc>
              <a:spcBef>
                <a:spcPts val="720"/>
              </a:spcBef>
              <a:buFont typeface="Wingdings" panose="05000000000000000000"/>
              <a:buChar char=""/>
              <a:tabLst>
                <a:tab pos="297815" algn="l"/>
                <a:tab pos="298450" algn="l"/>
              </a:tabLst>
            </a:pPr>
            <a:r>
              <a:rPr sz="1200" b="1" dirty="0">
                <a:solidFill>
                  <a:srgbClr val="C00000"/>
                </a:solidFill>
                <a:latin typeface="微软雅黑" panose="020B0503020204020204" charset="-122"/>
                <a:cs typeface="微软雅黑" panose="020B0503020204020204" charset="-122"/>
              </a:rPr>
              <a:t>组合逻辑层面</a:t>
            </a:r>
            <a:r>
              <a:rPr sz="1200" dirty="0">
                <a:latin typeface="微软雅黑" panose="020B0503020204020204" charset="-122"/>
                <a:cs typeface="微软雅黑" panose="020B0503020204020204" charset="-122"/>
              </a:rPr>
              <a:t>，通过复用资源例如</a:t>
            </a:r>
            <a:r>
              <a:rPr sz="1200" spc="-10" dirty="0">
                <a:latin typeface="微软雅黑" panose="020B0503020204020204" charset="-122"/>
                <a:cs typeface="微软雅黑" panose="020B0503020204020204" charset="-122"/>
              </a:rPr>
              <a:t>ALU</a:t>
            </a:r>
            <a:r>
              <a:rPr sz="1200" dirty="0">
                <a:latin typeface="微软雅黑" panose="020B0503020204020204" charset="-122"/>
                <a:cs typeface="微软雅黑" panose="020B0503020204020204" charset="-122"/>
              </a:rPr>
              <a:t>中的数据通路等以减少面积，并尽量减少组合逻辑的反转率；</a:t>
            </a:r>
            <a:endParaRPr sz="1200">
              <a:latin typeface="微软雅黑" panose="020B0503020204020204" charset="-122"/>
              <a:cs typeface="微软雅黑" panose="020B0503020204020204" charset="-122"/>
            </a:endParaRPr>
          </a:p>
          <a:p>
            <a:pPr marL="298450" indent="-285750">
              <a:lnSpc>
                <a:spcPct val="100000"/>
              </a:lnSpc>
              <a:spcBef>
                <a:spcPts val="720"/>
              </a:spcBef>
              <a:buFont typeface="Wingdings" panose="05000000000000000000"/>
              <a:buChar char=""/>
              <a:tabLst>
                <a:tab pos="297815" algn="l"/>
                <a:tab pos="298450" algn="l"/>
              </a:tabLst>
            </a:pPr>
            <a:r>
              <a:rPr sz="1200" b="1" dirty="0">
                <a:solidFill>
                  <a:srgbClr val="C00000"/>
                </a:solidFill>
                <a:latin typeface="微软雅黑" panose="020B0503020204020204" charset="-122"/>
                <a:cs typeface="微软雅黑" panose="020B0503020204020204" charset="-122"/>
              </a:rPr>
              <a:t>工艺层面</a:t>
            </a:r>
            <a:r>
              <a:rPr sz="1200" dirty="0">
                <a:latin typeface="微软雅黑" panose="020B0503020204020204" charset="-122"/>
                <a:cs typeface="微软雅黑" panose="020B0503020204020204" charset="-122"/>
              </a:rPr>
              <a:t>，始用特殊的工艺单元库，这里不做讨论。</a:t>
            </a:r>
            <a:endParaRPr sz="1200">
              <a:latin typeface="微软雅黑" panose="020B0503020204020204" charset="-122"/>
              <a:cs typeface="微软雅黑" panose="020B0503020204020204" charset="-122"/>
            </a:endParaRPr>
          </a:p>
        </p:txBody>
      </p:sp>
      <p:sp>
        <p:nvSpPr>
          <p:cNvPr id="33" name="object 33"/>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387604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蜂鸟E</a:t>
            </a:r>
            <a:r>
              <a:rPr sz="3600" spc="-5" dirty="0">
                <a:solidFill>
                  <a:srgbClr val="C00000"/>
                </a:solidFill>
              </a:rPr>
              <a:t>203</a:t>
            </a:r>
            <a:r>
              <a:rPr sz="3600" dirty="0">
                <a:solidFill>
                  <a:srgbClr val="C00000"/>
                </a:solidFill>
              </a:rPr>
              <a:t>的扩展性</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692150" y="1532128"/>
            <a:ext cx="6120765" cy="2951480"/>
          </a:xfrm>
          <a:prstGeom prst="rect">
            <a:avLst/>
          </a:prstGeom>
        </p:spPr>
        <p:txBody>
          <a:bodyPr vert="horz" wrap="square" lIns="0" tIns="12700" rIns="0" bIns="0" rtlCol="0">
            <a:spAutoFit/>
          </a:bodyPr>
          <a:lstStyle/>
          <a:p>
            <a:pPr marL="12700" marR="208280">
              <a:lnSpc>
                <a:spcPct val="150000"/>
              </a:lnSpc>
              <a:spcBef>
                <a:spcPts val="100"/>
              </a:spcBef>
            </a:pPr>
            <a:r>
              <a:rPr sz="1600" b="1" dirty="0">
                <a:solidFill>
                  <a:srgbClr val="C00000"/>
                </a:solidFill>
                <a:latin typeface="微软雅黑" panose="020B0503020204020204" charset="-122"/>
                <a:cs typeface="微软雅黑" panose="020B0503020204020204" charset="-122"/>
              </a:rPr>
              <a:t>专用领域架</a:t>
            </a:r>
            <a:r>
              <a:rPr sz="1600" b="1" spc="-5" dirty="0">
                <a:solidFill>
                  <a:srgbClr val="C00000"/>
                </a:solidFill>
                <a:latin typeface="微软雅黑" panose="020B0503020204020204" charset="-122"/>
                <a:cs typeface="微软雅黑" panose="020B0503020204020204" charset="-122"/>
              </a:rPr>
              <a:t>构</a:t>
            </a:r>
            <a:r>
              <a:rPr sz="1600" b="1" dirty="0">
                <a:solidFill>
                  <a:srgbClr val="C00000"/>
                </a:solidFill>
                <a:latin typeface="微软雅黑" panose="020B0503020204020204" charset="-122"/>
                <a:cs typeface="微软雅黑" panose="020B0503020204020204" charset="-122"/>
              </a:rPr>
              <a:t> </a:t>
            </a:r>
            <a:r>
              <a:rPr sz="1600" spc="5" dirty="0">
                <a:latin typeface="微软雅黑" panose="020B0503020204020204" charset="-122"/>
                <a:cs typeface="微软雅黑" panose="020B0503020204020204" charset="-122"/>
              </a:rPr>
              <a:t>(DSA,</a:t>
            </a:r>
            <a:r>
              <a:rPr sz="1600" dirty="0">
                <a:latin typeface="微软雅黑" panose="020B0503020204020204" charset="-122"/>
                <a:cs typeface="微软雅黑" panose="020B0503020204020204" charset="-122"/>
              </a:rPr>
              <a:t> </a:t>
            </a:r>
            <a:r>
              <a:rPr sz="1600" spc="-5" dirty="0">
                <a:latin typeface="微软雅黑" panose="020B0503020204020204" charset="-122"/>
                <a:cs typeface="微软雅黑" panose="020B0503020204020204" charset="-122"/>
              </a:rPr>
              <a:t>Domain</a:t>
            </a:r>
            <a:r>
              <a:rPr sz="1600" spc="5" dirty="0">
                <a:latin typeface="微软雅黑" panose="020B0503020204020204" charset="-122"/>
                <a:cs typeface="微软雅黑" panose="020B0503020204020204" charset="-122"/>
              </a:rPr>
              <a:t> </a:t>
            </a:r>
            <a:r>
              <a:rPr sz="1600" spc="-5" dirty="0">
                <a:latin typeface="微软雅黑" panose="020B0503020204020204" charset="-122"/>
                <a:cs typeface="微软雅黑" panose="020B0503020204020204" charset="-122"/>
              </a:rPr>
              <a:t>Specific</a:t>
            </a:r>
            <a:r>
              <a:rPr sz="1600" dirty="0">
                <a:latin typeface="微软雅黑" panose="020B0503020204020204" charset="-122"/>
                <a:cs typeface="微软雅黑" panose="020B0503020204020204" charset="-122"/>
              </a:rPr>
              <a:t> </a:t>
            </a:r>
            <a:r>
              <a:rPr sz="1600" spc="-10" dirty="0">
                <a:latin typeface="微软雅黑" panose="020B0503020204020204" charset="-122"/>
                <a:cs typeface="微软雅黑" panose="020B0503020204020204" charset="-122"/>
              </a:rPr>
              <a:t>Architecture)</a:t>
            </a:r>
            <a:r>
              <a:rPr sz="1600" dirty="0">
                <a:latin typeface="微软雅黑" panose="020B0503020204020204" charset="-122"/>
                <a:cs typeface="微软雅黑" panose="020B0503020204020204" charset="-122"/>
              </a:rPr>
              <a:t>逐渐成为</a:t>
            </a:r>
            <a:r>
              <a:rPr sz="1600" spc="-5" dirty="0">
                <a:latin typeface="微软雅黑" panose="020B0503020204020204" charset="-122"/>
                <a:cs typeface="微软雅黑" panose="020B0503020204020204" charset="-122"/>
              </a:rPr>
              <a:t>趋 </a:t>
            </a:r>
            <a:r>
              <a:rPr sz="1600" dirty="0">
                <a:latin typeface="微软雅黑" panose="020B0503020204020204" charset="-122"/>
                <a:cs typeface="微软雅黑" panose="020B0503020204020204" charset="-122"/>
              </a:rPr>
              <a:t>势，其目标是提升计算的能效比。如何达成这个目标？其中一个</a:t>
            </a:r>
            <a:r>
              <a:rPr sz="1600" spc="-5" dirty="0">
                <a:latin typeface="微软雅黑" panose="020B0503020204020204" charset="-122"/>
                <a:cs typeface="微软雅黑" panose="020B0503020204020204" charset="-122"/>
              </a:rPr>
              <a:t>核 </a:t>
            </a:r>
            <a:r>
              <a:rPr sz="1600" dirty="0">
                <a:latin typeface="微软雅黑" panose="020B0503020204020204" charset="-122"/>
                <a:cs typeface="微软雅黑" panose="020B0503020204020204" charset="-122"/>
              </a:rPr>
              <a:t>心思想是术业有专攻，在硬件领域便是</a:t>
            </a:r>
            <a:r>
              <a:rPr sz="1600" b="1" dirty="0">
                <a:solidFill>
                  <a:srgbClr val="C00000"/>
                </a:solidFill>
                <a:latin typeface="微软雅黑" panose="020B0503020204020204" charset="-122"/>
                <a:cs typeface="微软雅黑" panose="020B0503020204020204" charset="-122"/>
              </a:rPr>
              <a:t>用专用硬件满足特定领域</a:t>
            </a:r>
            <a:r>
              <a:rPr sz="1600" b="1" spc="-5" dirty="0">
                <a:solidFill>
                  <a:srgbClr val="C00000"/>
                </a:solidFill>
                <a:latin typeface="微软雅黑" panose="020B0503020204020204" charset="-122"/>
                <a:cs typeface="微软雅黑" panose="020B0503020204020204" charset="-122"/>
              </a:rPr>
              <a:t>需 </a:t>
            </a:r>
            <a:r>
              <a:rPr sz="1600" b="1" dirty="0">
                <a:solidFill>
                  <a:srgbClr val="C00000"/>
                </a:solidFill>
                <a:latin typeface="微软雅黑" panose="020B0503020204020204" charset="-122"/>
                <a:cs typeface="微软雅黑" panose="020B0503020204020204" charset="-122"/>
              </a:rPr>
              <a:t>求</a:t>
            </a:r>
            <a:r>
              <a:rPr sz="1600" dirty="0">
                <a:latin typeface="微软雅黑" panose="020B0503020204020204" charset="-122"/>
                <a:cs typeface="微软雅黑" panose="020B0503020204020204" charset="-122"/>
              </a:rPr>
              <a:t>，但和一般</a:t>
            </a:r>
            <a:r>
              <a:rPr sz="1600" spc="-5" dirty="0">
                <a:latin typeface="微软雅黑" panose="020B0503020204020204" charset="-122"/>
                <a:cs typeface="微软雅黑" panose="020B0503020204020204" charset="-122"/>
              </a:rPr>
              <a:t>ASIC</a:t>
            </a:r>
            <a:r>
              <a:rPr sz="1600" dirty="0">
                <a:latin typeface="微软雅黑" panose="020B0503020204020204" charset="-122"/>
                <a:cs typeface="微软雅黑" panose="020B0503020204020204" charset="-122"/>
              </a:rPr>
              <a:t>硬件化不同</a:t>
            </a:r>
            <a:r>
              <a:rPr sz="1600" spc="-5" dirty="0">
                <a:latin typeface="微软雅黑" panose="020B0503020204020204" charset="-122"/>
                <a:cs typeface="微软雅黑" panose="020B0503020204020204" charset="-122"/>
              </a:rPr>
              <a:t>，DSA</a:t>
            </a:r>
            <a:r>
              <a:rPr sz="1600" dirty="0">
                <a:latin typeface="微软雅黑" panose="020B0503020204020204" charset="-122"/>
                <a:cs typeface="微软雅黑" panose="020B0503020204020204" charset="-122"/>
              </a:rPr>
              <a:t>是要满足的是一个领域的</a:t>
            </a:r>
            <a:r>
              <a:rPr sz="1600" spc="-5" dirty="0">
                <a:latin typeface="微软雅黑" panose="020B0503020204020204" charset="-122"/>
                <a:cs typeface="微软雅黑" panose="020B0503020204020204" charset="-122"/>
              </a:rPr>
              <a:t>需</a:t>
            </a:r>
            <a:endParaRPr sz="1600">
              <a:latin typeface="微软雅黑" panose="020B0503020204020204" charset="-122"/>
              <a:cs typeface="微软雅黑" panose="020B0503020204020204" charset="-122"/>
            </a:endParaRPr>
          </a:p>
          <a:p>
            <a:pPr marL="12700" marR="5080">
              <a:lnSpc>
                <a:spcPct val="150000"/>
              </a:lnSpc>
            </a:pPr>
            <a:r>
              <a:rPr sz="1600" dirty="0">
                <a:latin typeface="微软雅黑" panose="020B0503020204020204" charset="-122"/>
                <a:cs typeface="微软雅黑" panose="020B0503020204020204" charset="-122"/>
              </a:rPr>
              <a:t>求解决一类问题而非单一问题，因此能够满足灵活和专用性的折衷</a:t>
            </a:r>
            <a:r>
              <a:rPr sz="1600" spc="-5" dirty="0">
                <a:latin typeface="微软雅黑" panose="020B0503020204020204" charset="-122"/>
                <a:cs typeface="微软雅黑" panose="020B0503020204020204" charset="-122"/>
              </a:rPr>
              <a:t>。 </a:t>
            </a:r>
            <a:r>
              <a:rPr sz="1600" dirty="0">
                <a:latin typeface="微软雅黑" panose="020B0503020204020204" charset="-122"/>
                <a:cs typeface="微软雅黑" panose="020B0503020204020204" charset="-122"/>
              </a:rPr>
              <a:t>就处理器领域而言</a:t>
            </a:r>
            <a:r>
              <a:rPr sz="1600" spc="-5" dirty="0">
                <a:latin typeface="微软雅黑" panose="020B0503020204020204" charset="-122"/>
                <a:cs typeface="微软雅黑" panose="020B0503020204020204" charset="-122"/>
              </a:rPr>
              <a:t>，DSA</a:t>
            </a:r>
            <a:r>
              <a:rPr sz="1600" dirty="0">
                <a:latin typeface="微软雅黑" panose="020B0503020204020204" charset="-122"/>
                <a:cs typeface="微软雅黑" panose="020B0503020204020204" charset="-122"/>
              </a:rPr>
              <a:t>可以被解释成</a:t>
            </a:r>
            <a:r>
              <a:rPr sz="1600" spc="-5" dirty="0">
                <a:latin typeface="微软雅黑" panose="020B0503020204020204" charset="-122"/>
                <a:cs typeface="微软雅黑" panose="020B0503020204020204" charset="-122"/>
              </a:rPr>
              <a:t>Domain Specific</a:t>
            </a:r>
            <a:endParaRPr sz="1600">
              <a:latin typeface="微软雅黑" panose="020B0503020204020204" charset="-122"/>
              <a:cs typeface="微软雅黑" panose="020B0503020204020204" charset="-122"/>
            </a:endParaRPr>
          </a:p>
          <a:p>
            <a:pPr marL="12700" marR="234950">
              <a:lnSpc>
                <a:spcPct val="150000"/>
              </a:lnSpc>
            </a:pPr>
            <a:r>
              <a:rPr sz="1600" spc="-15" dirty="0">
                <a:latin typeface="微软雅黑" panose="020B0503020204020204" charset="-122"/>
                <a:cs typeface="微软雅黑" panose="020B0503020204020204" charset="-122"/>
              </a:rPr>
              <a:t>Accelerator,</a:t>
            </a:r>
            <a:r>
              <a:rPr sz="1600" spc="-85" dirty="0">
                <a:latin typeface="微软雅黑" panose="020B0503020204020204" charset="-122"/>
                <a:cs typeface="微软雅黑" panose="020B0503020204020204" charset="-122"/>
              </a:rPr>
              <a:t> </a:t>
            </a:r>
            <a:r>
              <a:rPr sz="1600" dirty="0">
                <a:latin typeface="微软雅黑" panose="020B0503020204020204" charset="-122"/>
                <a:cs typeface="微软雅黑" panose="020B0503020204020204" charset="-122"/>
              </a:rPr>
              <a:t>即在通用处理的基础上，扩展出面向某些领域的加</a:t>
            </a:r>
            <a:r>
              <a:rPr sz="1600" spc="-5" dirty="0">
                <a:latin typeface="微软雅黑" panose="020B0503020204020204" charset="-122"/>
                <a:cs typeface="微软雅黑" panose="020B0503020204020204" charset="-122"/>
              </a:rPr>
              <a:t>速 </a:t>
            </a:r>
            <a:r>
              <a:rPr sz="1600" dirty="0">
                <a:latin typeface="微软雅黑" panose="020B0503020204020204" charset="-122"/>
                <a:cs typeface="微软雅黑" panose="020B0503020204020204" charset="-122"/>
              </a:rPr>
              <a:t>器，以提升解决该领域问题的效率</a:t>
            </a:r>
            <a:r>
              <a:rPr sz="1600" spc="-5" dirty="0">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p:txBody>
      </p:sp>
      <p:sp>
        <p:nvSpPr>
          <p:cNvPr id="5" name="object 5"/>
          <p:cNvSpPr/>
          <p:nvPr/>
        </p:nvSpPr>
        <p:spPr>
          <a:xfrm>
            <a:off x="7772400" y="1374647"/>
            <a:ext cx="3326892" cy="4110228"/>
          </a:xfrm>
          <a:prstGeom prst="rect">
            <a:avLst/>
          </a:prstGeom>
          <a:blipFill>
            <a:blip r:embed="rId1" cstate="print"/>
            <a:stretch>
              <a:fillRect/>
            </a:stretch>
          </a:blipFill>
        </p:spPr>
        <p:txBody>
          <a:bodyPr wrap="square" lIns="0" tIns="0" rIns="0" bIns="0" rtlCol="0"/>
          <a:lstStyle/>
          <a:p/>
        </p:txBody>
      </p:sp>
      <p:sp>
        <p:nvSpPr>
          <p:cNvPr id="6" name="object 6"/>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387604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蜂鸟E</a:t>
            </a:r>
            <a:r>
              <a:rPr sz="3600" spc="-5" dirty="0">
                <a:solidFill>
                  <a:srgbClr val="C00000"/>
                </a:solidFill>
              </a:rPr>
              <a:t>203</a:t>
            </a:r>
            <a:r>
              <a:rPr sz="3600" dirty="0">
                <a:solidFill>
                  <a:srgbClr val="C00000"/>
                </a:solidFill>
              </a:rPr>
              <a:t>的扩展性</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p:nvPr/>
        </p:nvSpPr>
        <p:spPr>
          <a:xfrm>
            <a:off x="7773923" y="4794503"/>
            <a:ext cx="3756660" cy="851915"/>
          </a:xfrm>
          <a:prstGeom prst="rect">
            <a:avLst/>
          </a:prstGeom>
          <a:blipFill>
            <a:blip r:embed="rId1" cstate="print"/>
            <a:stretch>
              <a:fillRect/>
            </a:stretch>
          </a:blipFill>
        </p:spPr>
        <p:txBody>
          <a:bodyPr wrap="square" lIns="0" tIns="0" rIns="0" bIns="0" rtlCol="0"/>
          <a:lstStyle/>
          <a:p/>
        </p:txBody>
      </p:sp>
      <p:sp>
        <p:nvSpPr>
          <p:cNvPr id="5" name="object 5"/>
          <p:cNvSpPr/>
          <p:nvPr/>
        </p:nvSpPr>
        <p:spPr>
          <a:xfrm>
            <a:off x="7769542" y="4789957"/>
            <a:ext cx="3765550" cy="861060"/>
          </a:xfrm>
          <a:custGeom>
            <a:avLst/>
            <a:gdLst/>
            <a:ahLst/>
            <a:cxnLst/>
            <a:rect l="l" t="t" r="r" b="b"/>
            <a:pathLst>
              <a:path w="3765550" h="861060">
                <a:moveTo>
                  <a:pt x="3765550" y="860590"/>
                </a:moveTo>
                <a:lnTo>
                  <a:pt x="0" y="860590"/>
                </a:lnTo>
                <a:lnTo>
                  <a:pt x="0" y="0"/>
                </a:lnTo>
                <a:lnTo>
                  <a:pt x="3765550" y="0"/>
                </a:lnTo>
                <a:lnTo>
                  <a:pt x="3765550" y="4762"/>
                </a:lnTo>
                <a:lnTo>
                  <a:pt x="9525" y="4762"/>
                </a:lnTo>
                <a:lnTo>
                  <a:pt x="4762" y="9525"/>
                </a:lnTo>
                <a:lnTo>
                  <a:pt x="9525" y="9525"/>
                </a:lnTo>
                <a:lnTo>
                  <a:pt x="9525" y="851065"/>
                </a:lnTo>
                <a:lnTo>
                  <a:pt x="4762" y="851065"/>
                </a:lnTo>
                <a:lnTo>
                  <a:pt x="9525" y="855827"/>
                </a:lnTo>
                <a:lnTo>
                  <a:pt x="3765550" y="855827"/>
                </a:lnTo>
                <a:lnTo>
                  <a:pt x="3765550" y="860590"/>
                </a:lnTo>
                <a:close/>
              </a:path>
              <a:path w="3765550" h="861060">
                <a:moveTo>
                  <a:pt x="9525" y="9525"/>
                </a:moveTo>
                <a:lnTo>
                  <a:pt x="4762" y="9525"/>
                </a:lnTo>
                <a:lnTo>
                  <a:pt x="9525" y="4762"/>
                </a:lnTo>
                <a:lnTo>
                  <a:pt x="9525" y="9525"/>
                </a:lnTo>
                <a:close/>
              </a:path>
              <a:path w="3765550" h="861060">
                <a:moveTo>
                  <a:pt x="3756025" y="9525"/>
                </a:moveTo>
                <a:lnTo>
                  <a:pt x="9525" y="9525"/>
                </a:lnTo>
                <a:lnTo>
                  <a:pt x="9525" y="4762"/>
                </a:lnTo>
                <a:lnTo>
                  <a:pt x="3756025" y="4762"/>
                </a:lnTo>
                <a:lnTo>
                  <a:pt x="3756025" y="9525"/>
                </a:lnTo>
                <a:close/>
              </a:path>
              <a:path w="3765550" h="861060">
                <a:moveTo>
                  <a:pt x="3756025" y="855827"/>
                </a:moveTo>
                <a:lnTo>
                  <a:pt x="3756025" y="4762"/>
                </a:lnTo>
                <a:lnTo>
                  <a:pt x="3760787" y="9525"/>
                </a:lnTo>
                <a:lnTo>
                  <a:pt x="3765550" y="9525"/>
                </a:lnTo>
                <a:lnTo>
                  <a:pt x="3765550" y="851065"/>
                </a:lnTo>
                <a:lnTo>
                  <a:pt x="3760787" y="851065"/>
                </a:lnTo>
                <a:lnTo>
                  <a:pt x="3756025" y="855827"/>
                </a:lnTo>
                <a:close/>
              </a:path>
              <a:path w="3765550" h="861060">
                <a:moveTo>
                  <a:pt x="3765550" y="9525"/>
                </a:moveTo>
                <a:lnTo>
                  <a:pt x="3760787" y="9525"/>
                </a:lnTo>
                <a:lnTo>
                  <a:pt x="3756025" y="4762"/>
                </a:lnTo>
                <a:lnTo>
                  <a:pt x="3765550" y="4762"/>
                </a:lnTo>
                <a:lnTo>
                  <a:pt x="3765550" y="9525"/>
                </a:lnTo>
                <a:close/>
              </a:path>
              <a:path w="3765550" h="861060">
                <a:moveTo>
                  <a:pt x="9525" y="855827"/>
                </a:moveTo>
                <a:lnTo>
                  <a:pt x="4762" y="851065"/>
                </a:lnTo>
                <a:lnTo>
                  <a:pt x="9525" y="851065"/>
                </a:lnTo>
                <a:lnTo>
                  <a:pt x="9525" y="855827"/>
                </a:lnTo>
                <a:close/>
              </a:path>
              <a:path w="3765550" h="861060">
                <a:moveTo>
                  <a:pt x="3756025" y="855827"/>
                </a:moveTo>
                <a:lnTo>
                  <a:pt x="9525" y="855827"/>
                </a:lnTo>
                <a:lnTo>
                  <a:pt x="9525" y="851065"/>
                </a:lnTo>
                <a:lnTo>
                  <a:pt x="3756025" y="851065"/>
                </a:lnTo>
                <a:lnTo>
                  <a:pt x="3756025" y="855827"/>
                </a:lnTo>
                <a:close/>
              </a:path>
              <a:path w="3765550" h="861060">
                <a:moveTo>
                  <a:pt x="3765550" y="855827"/>
                </a:moveTo>
                <a:lnTo>
                  <a:pt x="3756025" y="855827"/>
                </a:lnTo>
                <a:lnTo>
                  <a:pt x="3760787" y="851065"/>
                </a:lnTo>
                <a:lnTo>
                  <a:pt x="3765550" y="851065"/>
                </a:lnTo>
                <a:lnTo>
                  <a:pt x="3765550" y="855827"/>
                </a:lnTo>
                <a:close/>
              </a:path>
            </a:pathLst>
          </a:custGeom>
          <a:solidFill>
            <a:srgbClr val="C00000"/>
          </a:solidFill>
        </p:spPr>
        <p:txBody>
          <a:bodyPr wrap="square" lIns="0" tIns="0" rIns="0" bIns="0" rtlCol="0"/>
          <a:lstStyle/>
          <a:p/>
        </p:txBody>
      </p:sp>
      <p:sp>
        <p:nvSpPr>
          <p:cNvPr id="6" name="object 6"/>
          <p:cNvSpPr/>
          <p:nvPr/>
        </p:nvSpPr>
        <p:spPr>
          <a:xfrm>
            <a:off x="7797177" y="1487169"/>
            <a:ext cx="3745496" cy="3773195"/>
          </a:xfrm>
          <a:prstGeom prst="rect">
            <a:avLst/>
          </a:prstGeom>
          <a:blipFill>
            <a:blip r:embed="rId2" cstate="print"/>
            <a:stretch>
              <a:fillRect/>
            </a:stretch>
          </a:blipFill>
        </p:spPr>
        <p:txBody>
          <a:bodyPr wrap="square" lIns="0" tIns="0" rIns="0" bIns="0" rtlCol="0"/>
          <a:lstStyle/>
          <a:p/>
        </p:txBody>
      </p:sp>
      <p:sp>
        <p:nvSpPr>
          <p:cNvPr id="7" name="object 7"/>
          <p:cNvSpPr txBox="1"/>
          <p:nvPr/>
        </p:nvSpPr>
        <p:spPr>
          <a:xfrm>
            <a:off x="9895700" y="1870075"/>
            <a:ext cx="330200" cy="391160"/>
          </a:xfrm>
          <a:prstGeom prst="rect">
            <a:avLst/>
          </a:prstGeom>
        </p:spPr>
        <p:txBody>
          <a:bodyPr vert="horz" wrap="square" lIns="0" tIns="12700" rIns="0" bIns="0" rtlCol="0">
            <a:spAutoFit/>
          </a:bodyPr>
          <a:lstStyle/>
          <a:p>
            <a:pPr marL="12700" marR="5080">
              <a:lnSpc>
                <a:spcPct val="100000"/>
              </a:lnSpc>
              <a:spcBef>
                <a:spcPts val="100"/>
              </a:spcBef>
            </a:pPr>
            <a:r>
              <a:rPr sz="1200" b="1" dirty="0">
                <a:solidFill>
                  <a:srgbClr val="C00000"/>
                </a:solidFill>
                <a:latin typeface="微软雅黑" panose="020B0503020204020204" charset="-122"/>
                <a:cs typeface="微软雅黑" panose="020B0503020204020204" charset="-122"/>
              </a:rPr>
              <a:t>寄存 器组</a:t>
            </a:r>
            <a:endParaRPr sz="1200">
              <a:latin typeface="微软雅黑" panose="020B0503020204020204" charset="-122"/>
              <a:cs typeface="微软雅黑" panose="020B0503020204020204" charset="-122"/>
            </a:endParaRPr>
          </a:p>
        </p:txBody>
      </p:sp>
      <p:sp>
        <p:nvSpPr>
          <p:cNvPr id="8" name="object 8"/>
          <p:cNvSpPr txBox="1"/>
          <p:nvPr/>
        </p:nvSpPr>
        <p:spPr>
          <a:xfrm>
            <a:off x="7947190" y="2971571"/>
            <a:ext cx="330200" cy="391160"/>
          </a:xfrm>
          <a:prstGeom prst="rect">
            <a:avLst/>
          </a:prstGeom>
        </p:spPr>
        <p:txBody>
          <a:bodyPr vert="horz" wrap="square" lIns="0" tIns="12700" rIns="0" bIns="0" rtlCol="0">
            <a:spAutoFit/>
          </a:bodyPr>
          <a:lstStyle/>
          <a:p>
            <a:pPr marL="12700" marR="5080">
              <a:lnSpc>
                <a:spcPct val="100000"/>
              </a:lnSpc>
              <a:spcBef>
                <a:spcPts val="100"/>
              </a:spcBef>
            </a:pPr>
            <a:r>
              <a:rPr sz="1200" b="1" dirty="0">
                <a:solidFill>
                  <a:srgbClr val="C00000"/>
                </a:solidFill>
                <a:latin typeface="微软雅黑" panose="020B0503020204020204" charset="-122"/>
                <a:cs typeface="微软雅黑" panose="020B0503020204020204" charset="-122"/>
              </a:rPr>
              <a:t>译码 派遣</a:t>
            </a:r>
            <a:endParaRPr sz="1200">
              <a:latin typeface="微软雅黑" panose="020B0503020204020204" charset="-122"/>
              <a:cs typeface="微软雅黑" panose="020B0503020204020204" charset="-122"/>
            </a:endParaRPr>
          </a:p>
        </p:txBody>
      </p:sp>
      <p:sp>
        <p:nvSpPr>
          <p:cNvPr id="9" name="object 9"/>
          <p:cNvSpPr txBox="1"/>
          <p:nvPr/>
        </p:nvSpPr>
        <p:spPr>
          <a:xfrm>
            <a:off x="8907665" y="3194748"/>
            <a:ext cx="223520" cy="391160"/>
          </a:xfrm>
          <a:prstGeom prst="rect">
            <a:avLst/>
          </a:prstGeom>
        </p:spPr>
        <p:txBody>
          <a:bodyPr vert="horz" wrap="square" lIns="0" tIns="12700" rIns="0" bIns="0" rtlCol="0">
            <a:spAutoFit/>
          </a:bodyPr>
          <a:lstStyle/>
          <a:p>
            <a:pPr marL="50800" marR="5080" indent="-38100">
              <a:lnSpc>
                <a:spcPct val="100000"/>
              </a:lnSpc>
              <a:spcBef>
                <a:spcPts val="100"/>
              </a:spcBef>
            </a:pPr>
            <a:r>
              <a:rPr sz="1200" b="1" spc="-5" dirty="0">
                <a:solidFill>
                  <a:srgbClr val="C00000"/>
                </a:solidFill>
                <a:latin typeface="微软雅黑" panose="020B0503020204020204" charset="-122"/>
                <a:cs typeface="微软雅黑" panose="020B0503020204020204" charset="-122"/>
              </a:rPr>
              <a:t>A</a:t>
            </a:r>
            <a:r>
              <a:rPr sz="1200" b="1" dirty="0">
                <a:solidFill>
                  <a:srgbClr val="C00000"/>
                </a:solidFill>
                <a:latin typeface="微软雅黑" panose="020B0503020204020204" charset="-122"/>
                <a:cs typeface="微软雅黑" panose="020B0503020204020204" charset="-122"/>
              </a:rPr>
              <a:t>L  U</a:t>
            </a:r>
            <a:endParaRPr sz="1200">
              <a:latin typeface="微软雅黑" panose="020B0503020204020204" charset="-122"/>
              <a:cs typeface="微软雅黑" panose="020B0503020204020204" charset="-122"/>
            </a:endParaRPr>
          </a:p>
        </p:txBody>
      </p:sp>
      <p:sp>
        <p:nvSpPr>
          <p:cNvPr id="10" name="object 10"/>
          <p:cNvSpPr txBox="1"/>
          <p:nvPr/>
        </p:nvSpPr>
        <p:spPr>
          <a:xfrm>
            <a:off x="7919098" y="3841839"/>
            <a:ext cx="381635"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C00000"/>
                </a:solidFill>
                <a:latin typeface="微软雅黑" panose="020B0503020204020204" charset="-122"/>
                <a:cs typeface="微软雅黑" panose="020B0503020204020204" charset="-122"/>
              </a:rPr>
              <a:t>O</a:t>
            </a:r>
            <a:r>
              <a:rPr sz="1200" b="1" dirty="0">
                <a:solidFill>
                  <a:srgbClr val="C00000"/>
                </a:solidFill>
                <a:latin typeface="微软雅黑" panose="020B0503020204020204" charset="-122"/>
                <a:cs typeface="微软雅黑" panose="020B0503020204020204" charset="-122"/>
              </a:rPr>
              <a:t>I</a:t>
            </a:r>
            <a:r>
              <a:rPr sz="1200" b="1" spc="-5" dirty="0">
                <a:solidFill>
                  <a:srgbClr val="C00000"/>
                </a:solidFill>
                <a:latin typeface="微软雅黑" panose="020B0503020204020204" charset="-122"/>
                <a:cs typeface="微软雅黑" panose="020B0503020204020204" charset="-122"/>
              </a:rPr>
              <a:t>T</a:t>
            </a:r>
            <a:r>
              <a:rPr sz="1200" b="1" dirty="0">
                <a:solidFill>
                  <a:srgbClr val="C00000"/>
                </a:solidFill>
                <a:latin typeface="微软雅黑" panose="020B0503020204020204" charset="-122"/>
                <a:cs typeface="微软雅黑" panose="020B0503020204020204" charset="-122"/>
              </a:rPr>
              <a:t>F</a:t>
            </a:r>
            <a:endParaRPr sz="1200">
              <a:latin typeface="微软雅黑" panose="020B0503020204020204" charset="-122"/>
              <a:cs typeface="微软雅黑" panose="020B0503020204020204" charset="-122"/>
            </a:endParaRPr>
          </a:p>
        </p:txBody>
      </p:sp>
      <p:sp>
        <p:nvSpPr>
          <p:cNvPr id="11" name="object 11"/>
          <p:cNvSpPr txBox="1"/>
          <p:nvPr/>
        </p:nvSpPr>
        <p:spPr>
          <a:xfrm>
            <a:off x="8162264" y="1442423"/>
            <a:ext cx="786765" cy="1097915"/>
          </a:xfrm>
          <a:prstGeom prst="rect">
            <a:avLst/>
          </a:prstGeom>
        </p:spPr>
        <p:txBody>
          <a:bodyPr vert="horz" wrap="square" lIns="0" tIns="113664" rIns="0" bIns="0" rtlCol="0">
            <a:spAutoFit/>
          </a:bodyPr>
          <a:lstStyle/>
          <a:p>
            <a:pPr marL="6985" algn="ctr">
              <a:lnSpc>
                <a:spcPct val="100000"/>
              </a:lnSpc>
              <a:spcBef>
                <a:spcPts val="895"/>
              </a:spcBef>
            </a:pPr>
            <a:r>
              <a:rPr sz="1200" b="1" dirty="0">
                <a:solidFill>
                  <a:srgbClr val="C00000"/>
                </a:solidFill>
                <a:latin typeface="微软雅黑" panose="020B0503020204020204" charset="-122"/>
                <a:cs typeface="微软雅黑" panose="020B0503020204020204" charset="-122"/>
              </a:rPr>
              <a:t>交付</a:t>
            </a:r>
            <a:endParaRPr sz="1200">
              <a:latin typeface="微软雅黑" panose="020B0503020204020204" charset="-122"/>
              <a:cs typeface="微软雅黑" panose="020B0503020204020204" charset="-122"/>
            </a:endParaRPr>
          </a:p>
          <a:p>
            <a:pPr algn="ctr">
              <a:lnSpc>
                <a:spcPct val="100000"/>
              </a:lnSpc>
              <a:spcBef>
                <a:spcPts val="660"/>
              </a:spcBef>
            </a:pPr>
            <a:r>
              <a:rPr sz="1000" dirty="0">
                <a:solidFill>
                  <a:srgbClr val="C00000"/>
                </a:solidFill>
                <a:latin typeface="微软雅黑" panose="020B0503020204020204" charset="-122"/>
                <a:cs typeface="微软雅黑" panose="020B0503020204020204" charset="-122"/>
              </a:rPr>
              <a:t>中</a:t>
            </a:r>
            <a:r>
              <a:rPr sz="1000" spc="-5" dirty="0">
                <a:solidFill>
                  <a:srgbClr val="C00000"/>
                </a:solidFill>
                <a:latin typeface="微软雅黑" panose="020B0503020204020204" charset="-122"/>
                <a:cs typeface="微软雅黑" panose="020B0503020204020204" charset="-122"/>
              </a:rPr>
              <a:t>断</a:t>
            </a:r>
            <a:endParaRPr sz="1000">
              <a:latin typeface="微软雅黑" panose="020B0503020204020204" charset="-122"/>
              <a:cs typeface="微软雅黑" panose="020B0503020204020204" charset="-122"/>
            </a:endParaRPr>
          </a:p>
          <a:p>
            <a:pPr algn="ctr">
              <a:lnSpc>
                <a:spcPct val="100000"/>
              </a:lnSpc>
              <a:spcBef>
                <a:spcPts val="1000"/>
              </a:spcBef>
            </a:pPr>
            <a:r>
              <a:rPr sz="1000" dirty="0">
                <a:solidFill>
                  <a:srgbClr val="C00000"/>
                </a:solidFill>
                <a:latin typeface="微软雅黑" panose="020B0503020204020204" charset="-122"/>
                <a:cs typeface="微软雅黑" panose="020B0503020204020204" charset="-122"/>
              </a:rPr>
              <a:t>异</a:t>
            </a:r>
            <a:r>
              <a:rPr sz="1000" spc="-5" dirty="0">
                <a:solidFill>
                  <a:srgbClr val="C00000"/>
                </a:solidFill>
                <a:latin typeface="微软雅黑" panose="020B0503020204020204" charset="-122"/>
                <a:cs typeface="微软雅黑" panose="020B0503020204020204" charset="-122"/>
              </a:rPr>
              <a:t>常</a:t>
            </a:r>
            <a:endParaRPr sz="1000">
              <a:latin typeface="微软雅黑" panose="020B0503020204020204" charset="-122"/>
              <a:cs typeface="微软雅黑" panose="020B0503020204020204" charset="-122"/>
            </a:endParaRPr>
          </a:p>
          <a:p>
            <a:pPr algn="ctr">
              <a:lnSpc>
                <a:spcPct val="100000"/>
              </a:lnSpc>
              <a:spcBef>
                <a:spcPts val="950"/>
              </a:spcBef>
            </a:pPr>
            <a:r>
              <a:rPr sz="1000" dirty="0">
                <a:solidFill>
                  <a:srgbClr val="C00000"/>
                </a:solidFill>
                <a:latin typeface="微软雅黑" panose="020B0503020204020204" charset="-122"/>
                <a:cs typeface="微软雅黑" panose="020B0503020204020204" charset="-122"/>
              </a:rPr>
              <a:t>分支预测解</a:t>
            </a:r>
            <a:r>
              <a:rPr sz="1000" spc="-5" dirty="0">
                <a:solidFill>
                  <a:srgbClr val="C00000"/>
                </a:solidFill>
                <a:latin typeface="微软雅黑" panose="020B0503020204020204" charset="-122"/>
                <a:cs typeface="微软雅黑" panose="020B0503020204020204" charset="-122"/>
              </a:rPr>
              <a:t>析</a:t>
            </a:r>
            <a:endParaRPr sz="1000">
              <a:latin typeface="微软雅黑" panose="020B0503020204020204" charset="-122"/>
              <a:cs typeface="微软雅黑" panose="020B0503020204020204" charset="-122"/>
            </a:endParaRPr>
          </a:p>
        </p:txBody>
      </p:sp>
      <p:sp>
        <p:nvSpPr>
          <p:cNvPr id="12" name="object 12"/>
          <p:cNvSpPr txBox="1"/>
          <p:nvPr/>
        </p:nvSpPr>
        <p:spPr>
          <a:xfrm>
            <a:off x="9692906" y="3818775"/>
            <a:ext cx="482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C00000"/>
                </a:solidFill>
                <a:latin typeface="微软雅黑" panose="020B0503020204020204" charset="-122"/>
                <a:cs typeface="微软雅黑" panose="020B0503020204020204" charset="-122"/>
              </a:rPr>
              <a:t>长指令</a:t>
            </a:r>
            <a:endParaRPr sz="1200">
              <a:latin typeface="微软雅黑" panose="020B0503020204020204" charset="-122"/>
              <a:cs typeface="微软雅黑" panose="020B0503020204020204" charset="-122"/>
            </a:endParaRPr>
          </a:p>
        </p:txBody>
      </p:sp>
      <p:sp>
        <p:nvSpPr>
          <p:cNvPr id="13" name="object 13"/>
          <p:cNvSpPr txBox="1"/>
          <p:nvPr/>
        </p:nvSpPr>
        <p:spPr>
          <a:xfrm>
            <a:off x="9796589" y="4963807"/>
            <a:ext cx="280035"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C00000"/>
                </a:solidFill>
                <a:latin typeface="微软雅黑" panose="020B0503020204020204" charset="-122"/>
                <a:cs typeface="微软雅黑" panose="020B0503020204020204" charset="-122"/>
              </a:rPr>
              <a:t>E</a:t>
            </a:r>
            <a:r>
              <a:rPr sz="1200" b="1" spc="-5" dirty="0">
                <a:solidFill>
                  <a:srgbClr val="C00000"/>
                </a:solidFill>
                <a:latin typeface="微软雅黑" panose="020B0503020204020204" charset="-122"/>
                <a:cs typeface="微软雅黑" panose="020B0503020204020204" charset="-122"/>
              </a:rPr>
              <a:t>A</a:t>
            </a:r>
            <a:r>
              <a:rPr sz="1200" b="1" dirty="0">
                <a:solidFill>
                  <a:srgbClr val="C00000"/>
                </a:solidFill>
                <a:latin typeface="微软雅黑" panose="020B0503020204020204" charset="-122"/>
                <a:cs typeface="微软雅黑" panose="020B0503020204020204" charset="-122"/>
              </a:rPr>
              <a:t>I</a:t>
            </a:r>
            <a:endParaRPr sz="1200">
              <a:latin typeface="微软雅黑" panose="020B0503020204020204" charset="-122"/>
              <a:cs typeface="微软雅黑" panose="020B0503020204020204" charset="-122"/>
            </a:endParaRPr>
          </a:p>
        </p:txBody>
      </p:sp>
      <p:sp>
        <p:nvSpPr>
          <p:cNvPr id="14" name="object 14"/>
          <p:cNvSpPr txBox="1"/>
          <p:nvPr/>
        </p:nvSpPr>
        <p:spPr>
          <a:xfrm>
            <a:off x="9777539" y="4411954"/>
            <a:ext cx="318770"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C00000"/>
                </a:solidFill>
                <a:latin typeface="微软雅黑" panose="020B0503020204020204" charset="-122"/>
                <a:cs typeface="微软雅黑" panose="020B0503020204020204" charset="-122"/>
              </a:rPr>
              <a:t>LS</a:t>
            </a:r>
            <a:r>
              <a:rPr sz="1200" b="1" dirty="0">
                <a:solidFill>
                  <a:srgbClr val="C00000"/>
                </a:solidFill>
                <a:latin typeface="微软雅黑" panose="020B0503020204020204" charset="-122"/>
                <a:cs typeface="微软雅黑" panose="020B0503020204020204" charset="-122"/>
              </a:rPr>
              <a:t>U</a:t>
            </a:r>
            <a:endParaRPr sz="1200">
              <a:latin typeface="微软雅黑" panose="020B0503020204020204" charset="-122"/>
              <a:cs typeface="微软雅黑" panose="020B0503020204020204" charset="-122"/>
            </a:endParaRPr>
          </a:p>
        </p:txBody>
      </p:sp>
      <p:sp>
        <p:nvSpPr>
          <p:cNvPr id="15" name="object 15"/>
          <p:cNvSpPr txBox="1"/>
          <p:nvPr/>
        </p:nvSpPr>
        <p:spPr>
          <a:xfrm>
            <a:off x="11082604" y="3292004"/>
            <a:ext cx="380365" cy="238125"/>
          </a:xfrm>
          <a:prstGeom prst="rect">
            <a:avLst/>
          </a:prstGeom>
        </p:spPr>
        <p:txBody>
          <a:bodyPr vert="horz" wrap="square" lIns="0" tIns="12065" rIns="0" bIns="0" rtlCol="0">
            <a:spAutoFit/>
          </a:bodyPr>
          <a:lstStyle/>
          <a:p>
            <a:pPr marL="57150" marR="5080" indent="-44450">
              <a:lnSpc>
                <a:spcPct val="100000"/>
              </a:lnSpc>
              <a:spcBef>
                <a:spcPts val="95"/>
              </a:spcBef>
            </a:pPr>
            <a:r>
              <a:rPr sz="700" b="1" dirty="0">
                <a:solidFill>
                  <a:srgbClr val="C00000"/>
                </a:solidFill>
                <a:latin typeface="微软雅黑" panose="020B0503020204020204" charset="-122"/>
                <a:cs typeface="微软雅黑" panose="020B0503020204020204" charset="-122"/>
              </a:rPr>
              <a:t>长指令</a:t>
            </a:r>
            <a:r>
              <a:rPr sz="700" b="1" spc="-5" dirty="0">
                <a:solidFill>
                  <a:srgbClr val="C00000"/>
                </a:solidFill>
                <a:latin typeface="微软雅黑" panose="020B0503020204020204" charset="-122"/>
                <a:cs typeface="微软雅黑" panose="020B0503020204020204" charset="-122"/>
              </a:rPr>
              <a:t>写 </a:t>
            </a:r>
            <a:r>
              <a:rPr sz="700" b="1" dirty="0">
                <a:solidFill>
                  <a:srgbClr val="C00000"/>
                </a:solidFill>
                <a:latin typeface="微软雅黑" panose="020B0503020204020204" charset="-122"/>
                <a:cs typeface="微软雅黑" panose="020B0503020204020204" charset="-122"/>
              </a:rPr>
              <a:t>回仲</a:t>
            </a:r>
            <a:r>
              <a:rPr sz="700" b="1" spc="-5" dirty="0">
                <a:solidFill>
                  <a:srgbClr val="C00000"/>
                </a:solidFill>
                <a:latin typeface="微软雅黑" panose="020B0503020204020204" charset="-122"/>
                <a:cs typeface="微软雅黑" panose="020B0503020204020204" charset="-122"/>
              </a:rPr>
              <a:t>裁</a:t>
            </a:r>
            <a:endParaRPr sz="700">
              <a:latin typeface="微软雅黑" panose="020B0503020204020204" charset="-122"/>
              <a:cs typeface="微软雅黑" panose="020B0503020204020204" charset="-122"/>
            </a:endParaRPr>
          </a:p>
        </p:txBody>
      </p:sp>
      <p:sp>
        <p:nvSpPr>
          <p:cNvPr id="16" name="object 16"/>
          <p:cNvSpPr txBox="1"/>
          <p:nvPr/>
        </p:nvSpPr>
        <p:spPr>
          <a:xfrm>
            <a:off x="10233812" y="2835617"/>
            <a:ext cx="291465" cy="238125"/>
          </a:xfrm>
          <a:prstGeom prst="rect">
            <a:avLst/>
          </a:prstGeom>
        </p:spPr>
        <p:txBody>
          <a:bodyPr vert="horz" wrap="square" lIns="0" tIns="12065" rIns="0" bIns="0" rtlCol="0">
            <a:spAutoFit/>
          </a:bodyPr>
          <a:lstStyle/>
          <a:p>
            <a:pPr marL="12700" marR="5080">
              <a:lnSpc>
                <a:spcPct val="100000"/>
              </a:lnSpc>
              <a:spcBef>
                <a:spcPts val="95"/>
              </a:spcBef>
            </a:pPr>
            <a:r>
              <a:rPr sz="700" b="1" dirty="0">
                <a:solidFill>
                  <a:srgbClr val="C00000"/>
                </a:solidFill>
                <a:latin typeface="微软雅黑" panose="020B0503020204020204" charset="-122"/>
                <a:cs typeface="微软雅黑" panose="020B0503020204020204" charset="-122"/>
              </a:rPr>
              <a:t>最终</a:t>
            </a:r>
            <a:r>
              <a:rPr sz="700" b="1" spc="-5" dirty="0">
                <a:solidFill>
                  <a:srgbClr val="C00000"/>
                </a:solidFill>
                <a:latin typeface="微软雅黑" panose="020B0503020204020204" charset="-122"/>
                <a:cs typeface="微软雅黑" panose="020B0503020204020204" charset="-122"/>
              </a:rPr>
              <a:t>写 </a:t>
            </a:r>
            <a:r>
              <a:rPr sz="700" b="1" dirty="0">
                <a:solidFill>
                  <a:srgbClr val="C00000"/>
                </a:solidFill>
                <a:latin typeface="微软雅黑" panose="020B0503020204020204" charset="-122"/>
                <a:cs typeface="微软雅黑" panose="020B0503020204020204" charset="-122"/>
              </a:rPr>
              <a:t>回仲</a:t>
            </a:r>
            <a:r>
              <a:rPr sz="700" b="1" spc="-5" dirty="0">
                <a:solidFill>
                  <a:srgbClr val="C00000"/>
                </a:solidFill>
                <a:latin typeface="微软雅黑" panose="020B0503020204020204" charset="-122"/>
                <a:cs typeface="微软雅黑" panose="020B0503020204020204" charset="-122"/>
              </a:rPr>
              <a:t>裁</a:t>
            </a:r>
            <a:endParaRPr sz="700">
              <a:latin typeface="微软雅黑" panose="020B0503020204020204" charset="-122"/>
              <a:cs typeface="微软雅黑" panose="020B0503020204020204" charset="-122"/>
            </a:endParaRPr>
          </a:p>
        </p:txBody>
      </p:sp>
      <p:sp>
        <p:nvSpPr>
          <p:cNvPr id="17" name="object 17"/>
          <p:cNvSpPr txBox="1"/>
          <p:nvPr/>
        </p:nvSpPr>
        <p:spPr>
          <a:xfrm>
            <a:off x="9560128" y="2291194"/>
            <a:ext cx="254000" cy="333375"/>
          </a:xfrm>
          <a:prstGeom prst="rect">
            <a:avLst/>
          </a:prstGeom>
        </p:spPr>
        <p:txBody>
          <a:bodyPr vert="eaVert" wrap="square" lIns="0" tIns="0" rIns="0" bIns="0" rtlCol="0">
            <a:spAutoFit/>
          </a:bodyPr>
          <a:lstStyle/>
          <a:p>
            <a:pPr marL="12700">
              <a:lnSpc>
                <a:spcPct val="70000"/>
              </a:lnSpc>
            </a:pPr>
            <a:r>
              <a:rPr sz="800" b="1" spc="-5" dirty="0">
                <a:solidFill>
                  <a:srgbClr val="C00000"/>
                </a:solidFill>
                <a:latin typeface="微软雅黑" panose="020B0503020204020204" charset="-122"/>
                <a:cs typeface="微软雅黑" panose="020B0503020204020204" charset="-122"/>
              </a:rPr>
              <a:t>读端</a:t>
            </a:r>
            <a:r>
              <a:rPr sz="800" b="1" dirty="0">
                <a:solidFill>
                  <a:srgbClr val="C00000"/>
                </a:solidFill>
                <a:latin typeface="微软雅黑" panose="020B0503020204020204" charset="-122"/>
                <a:cs typeface="微软雅黑" panose="020B0503020204020204" charset="-122"/>
              </a:rPr>
              <a:t>口</a:t>
            </a:r>
            <a:endParaRPr sz="800">
              <a:latin typeface="微软雅黑" panose="020B0503020204020204" charset="-122"/>
              <a:cs typeface="微软雅黑" panose="020B0503020204020204" charset="-122"/>
            </a:endParaRPr>
          </a:p>
          <a:p>
            <a:pPr marL="14605">
              <a:lnSpc>
                <a:spcPct val="100000"/>
              </a:lnSpc>
              <a:spcBef>
                <a:spcPts val="30"/>
              </a:spcBef>
            </a:pPr>
            <a:r>
              <a:rPr sz="800" b="1" spc="-5" dirty="0">
                <a:solidFill>
                  <a:srgbClr val="C00000"/>
                </a:solidFill>
                <a:latin typeface="微软雅黑" panose="020B0503020204020204" charset="-122"/>
                <a:cs typeface="微软雅黑" panose="020B0503020204020204" charset="-122"/>
              </a:rPr>
              <a:t>读端</a:t>
            </a:r>
            <a:r>
              <a:rPr sz="800" b="1" dirty="0">
                <a:solidFill>
                  <a:srgbClr val="C00000"/>
                </a:solidFill>
                <a:latin typeface="微软雅黑" panose="020B0503020204020204" charset="-122"/>
                <a:cs typeface="微软雅黑" panose="020B0503020204020204" charset="-122"/>
              </a:rPr>
              <a:t>口</a:t>
            </a:r>
            <a:endParaRPr sz="800">
              <a:latin typeface="微软雅黑" panose="020B0503020204020204" charset="-122"/>
              <a:cs typeface="微软雅黑" panose="020B0503020204020204" charset="-122"/>
            </a:endParaRPr>
          </a:p>
        </p:txBody>
      </p:sp>
      <p:sp>
        <p:nvSpPr>
          <p:cNvPr id="18" name="object 18"/>
          <p:cNvSpPr txBox="1"/>
          <p:nvPr/>
        </p:nvSpPr>
        <p:spPr>
          <a:xfrm>
            <a:off x="9543213" y="2595359"/>
            <a:ext cx="287020" cy="90805"/>
          </a:xfrm>
          <a:prstGeom prst="rect">
            <a:avLst/>
          </a:prstGeom>
        </p:spPr>
        <p:txBody>
          <a:bodyPr vert="vert" wrap="square" lIns="0" tIns="19050" rIns="0" bIns="0" rtlCol="0">
            <a:spAutoFit/>
          </a:bodyPr>
          <a:lstStyle/>
          <a:p>
            <a:pPr marL="12700">
              <a:lnSpc>
                <a:spcPct val="100000"/>
              </a:lnSpc>
              <a:spcBef>
                <a:spcPts val="150"/>
              </a:spcBef>
            </a:pPr>
            <a:r>
              <a:rPr sz="800" b="1" dirty="0">
                <a:solidFill>
                  <a:srgbClr val="C00000"/>
                </a:solidFill>
                <a:latin typeface="微软雅黑" panose="020B0503020204020204" charset="-122"/>
                <a:cs typeface="微软雅黑" panose="020B0503020204020204" charset="-122"/>
              </a:rPr>
              <a:t>2</a:t>
            </a:r>
            <a:endParaRPr sz="800">
              <a:latin typeface="微软雅黑" panose="020B0503020204020204" charset="-122"/>
              <a:cs typeface="微软雅黑" panose="020B0503020204020204" charset="-122"/>
            </a:endParaRPr>
          </a:p>
          <a:p>
            <a:pPr marL="14605">
              <a:lnSpc>
                <a:spcPct val="100000"/>
              </a:lnSpc>
              <a:spcBef>
                <a:spcPts val="35"/>
              </a:spcBef>
            </a:pPr>
            <a:r>
              <a:rPr sz="800" b="1" dirty="0">
                <a:solidFill>
                  <a:srgbClr val="C00000"/>
                </a:solidFill>
                <a:latin typeface="微软雅黑" panose="020B0503020204020204" charset="-122"/>
                <a:cs typeface="微软雅黑" panose="020B0503020204020204" charset="-122"/>
              </a:rPr>
              <a:t>1</a:t>
            </a:r>
            <a:endParaRPr sz="800">
              <a:latin typeface="微软雅黑" panose="020B0503020204020204" charset="-122"/>
              <a:cs typeface="微软雅黑" panose="020B0503020204020204" charset="-122"/>
            </a:endParaRPr>
          </a:p>
        </p:txBody>
      </p:sp>
      <p:sp>
        <p:nvSpPr>
          <p:cNvPr id="19" name="object 19"/>
          <p:cNvSpPr txBox="1"/>
          <p:nvPr/>
        </p:nvSpPr>
        <p:spPr>
          <a:xfrm>
            <a:off x="10279024" y="2347341"/>
            <a:ext cx="127635" cy="330835"/>
          </a:xfrm>
          <a:prstGeom prst="rect">
            <a:avLst/>
          </a:prstGeom>
        </p:spPr>
        <p:txBody>
          <a:bodyPr vert="eaVert" wrap="square" lIns="0" tIns="0" rIns="0" bIns="0" rtlCol="0">
            <a:spAutoFit/>
          </a:bodyPr>
          <a:lstStyle/>
          <a:p>
            <a:pPr marL="12700">
              <a:lnSpc>
                <a:spcPct val="70000"/>
              </a:lnSpc>
            </a:pPr>
            <a:r>
              <a:rPr sz="800" b="1" spc="-5" dirty="0">
                <a:solidFill>
                  <a:srgbClr val="C00000"/>
                </a:solidFill>
                <a:latin typeface="微软雅黑" panose="020B0503020204020204" charset="-122"/>
                <a:cs typeface="微软雅黑" panose="020B0503020204020204" charset="-122"/>
              </a:rPr>
              <a:t>写端</a:t>
            </a:r>
            <a:r>
              <a:rPr sz="800" b="1" dirty="0">
                <a:solidFill>
                  <a:srgbClr val="C00000"/>
                </a:solidFill>
                <a:latin typeface="微软雅黑" panose="020B0503020204020204" charset="-122"/>
                <a:cs typeface="微软雅黑" panose="020B0503020204020204" charset="-122"/>
              </a:rPr>
              <a:t>口</a:t>
            </a:r>
            <a:endParaRPr sz="800">
              <a:latin typeface="微软雅黑" panose="020B0503020204020204" charset="-122"/>
              <a:cs typeface="微软雅黑" panose="020B0503020204020204" charset="-122"/>
            </a:endParaRPr>
          </a:p>
        </p:txBody>
      </p:sp>
      <p:sp>
        <p:nvSpPr>
          <p:cNvPr id="20" name="object 20"/>
          <p:cNvSpPr txBox="1"/>
          <p:nvPr/>
        </p:nvSpPr>
        <p:spPr>
          <a:xfrm>
            <a:off x="7896859" y="5282387"/>
            <a:ext cx="13970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00000"/>
                </a:solidFill>
                <a:latin typeface="微软雅黑" panose="020B0503020204020204" charset="-122"/>
                <a:cs typeface="微软雅黑" panose="020B0503020204020204" charset="-122"/>
              </a:rPr>
              <a:t>协处理器接口</a:t>
            </a:r>
            <a:endParaRPr sz="1800">
              <a:latin typeface="微软雅黑" panose="020B0503020204020204" charset="-122"/>
              <a:cs typeface="微软雅黑" panose="020B0503020204020204" charset="-122"/>
            </a:endParaRPr>
          </a:p>
        </p:txBody>
      </p:sp>
      <p:sp>
        <p:nvSpPr>
          <p:cNvPr id="21" name="object 21"/>
          <p:cNvSpPr txBox="1"/>
          <p:nvPr/>
        </p:nvSpPr>
        <p:spPr>
          <a:xfrm>
            <a:off x="511175" y="1557019"/>
            <a:ext cx="6888480" cy="1122680"/>
          </a:xfrm>
          <a:prstGeom prst="rect">
            <a:avLst/>
          </a:prstGeom>
        </p:spPr>
        <p:txBody>
          <a:bodyPr vert="horz" wrap="square" lIns="0" tIns="12700" rIns="0" bIns="0" rtlCol="0">
            <a:spAutoFit/>
          </a:bodyPr>
          <a:lstStyle/>
          <a:p>
            <a:pPr marL="12700" marR="5080">
              <a:lnSpc>
                <a:spcPct val="150000"/>
              </a:lnSpc>
              <a:spcBef>
                <a:spcPts val="100"/>
              </a:spcBef>
            </a:pPr>
            <a:r>
              <a:rPr sz="1200" spc="-5" dirty="0">
                <a:latin typeface="微软雅黑" panose="020B0503020204020204" charset="-122"/>
                <a:cs typeface="微软雅黑" panose="020B0503020204020204" charset="-122"/>
              </a:rPr>
              <a:t>RISC-V</a:t>
            </a:r>
            <a:r>
              <a:rPr sz="1200" dirty="0">
                <a:latin typeface="微软雅黑" panose="020B0503020204020204" charset="-122"/>
                <a:cs typeface="微软雅黑" panose="020B0503020204020204" charset="-122"/>
              </a:rPr>
              <a:t>架构的一个显著特征便是开放的可扩展性便于实现DSA，具体体现在预留了指令编码空间和预 定义的</a:t>
            </a:r>
            <a:r>
              <a:rPr sz="1200" spc="-5" dirty="0">
                <a:latin typeface="微软雅黑" panose="020B0503020204020204" charset="-122"/>
                <a:cs typeface="微软雅黑" panose="020B0503020204020204" charset="-122"/>
              </a:rPr>
              <a:t>Custom</a:t>
            </a:r>
            <a:r>
              <a:rPr sz="1200" dirty="0">
                <a:latin typeface="微软雅黑" panose="020B0503020204020204" charset="-122"/>
                <a:cs typeface="微软雅黑" panose="020B0503020204020204" charset="-122"/>
              </a:rPr>
              <a:t>指令。蜂鸟E203的协处理器机制</a:t>
            </a:r>
            <a:r>
              <a:rPr sz="1200" spc="-5" dirty="0">
                <a:latin typeface="微软雅黑" panose="020B0503020204020204" charset="-122"/>
                <a:cs typeface="微软雅黑" panose="020B0503020204020204" charset="-122"/>
              </a:rPr>
              <a:t>EAI(Extension</a:t>
            </a:r>
            <a:r>
              <a:rPr sz="1200" dirty="0">
                <a:latin typeface="微软雅黑" panose="020B0503020204020204" charset="-122"/>
                <a:cs typeface="微软雅黑" panose="020B0503020204020204" charset="-122"/>
              </a:rPr>
              <a:t> </a:t>
            </a:r>
            <a:r>
              <a:rPr sz="1200" spc="-5" dirty="0">
                <a:latin typeface="微软雅黑" panose="020B0503020204020204" charset="-122"/>
                <a:cs typeface="微软雅黑" panose="020B0503020204020204" charset="-122"/>
              </a:rPr>
              <a:t>Accelerator</a:t>
            </a:r>
            <a:r>
              <a:rPr sz="1200" dirty="0">
                <a:latin typeface="微软雅黑" panose="020B0503020204020204" charset="-122"/>
                <a:cs typeface="微软雅黑" panose="020B0503020204020204" charset="-122"/>
              </a:rPr>
              <a:t> </a:t>
            </a:r>
            <a:r>
              <a:rPr sz="1200" spc="-5" dirty="0">
                <a:latin typeface="微软雅黑" panose="020B0503020204020204" charset="-122"/>
                <a:cs typeface="微软雅黑" panose="020B0503020204020204" charset="-122"/>
              </a:rPr>
              <a:t>Interface)</a:t>
            </a:r>
            <a:r>
              <a:rPr sz="1200" dirty="0">
                <a:latin typeface="微软雅黑" panose="020B0503020204020204" charset="-122"/>
                <a:cs typeface="微软雅黑" panose="020B0503020204020204" charset="-122"/>
              </a:rPr>
              <a:t>即扩展加速器接 口借鉴了开源</a:t>
            </a:r>
            <a:r>
              <a:rPr sz="1200" spc="-5" dirty="0">
                <a:latin typeface="微软雅黑" panose="020B0503020204020204" charset="-122"/>
                <a:cs typeface="微软雅黑" panose="020B0503020204020204" charset="-122"/>
              </a:rPr>
              <a:t>RISC-V</a:t>
            </a:r>
            <a:r>
              <a:rPr sz="1200" dirty="0">
                <a:latin typeface="微软雅黑" panose="020B0503020204020204" charset="-122"/>
                <a:cs typeface="微软雅黑" panose="020B0503020204020204" charset="-122"/>
              </a:rPr>
              <a:t>处理器</a:t>
            </a:r>
            <a:r>
              <a:rPr sz="1200" spc="-15" dirty="0">
                <a:latin typeface="微软雅黑" panose="020B0503020204020204" charset="-122"/>
                <a:cs typeface="微软雅黑" panose="020B0503020204020204" charset="-122"/>
              </a:rPr>
              <a:t>Rocket</a:t>
            </a:r>
            <a:r>
              <a:rPr sz="1200" spc="-10" dirty="0">
                <a:latin typeface="微软雅黑" panose="020B0503020204020204" charset="-122"/>
                <a:cs typeface="微软雅黑" panose="020B0503020204020204" charset="-122"/>
              </a:rPr>
              <a:t> Core</a:t>
            </a:r>
            <a:r>
              <a:rPr sz="1200" dirty="0">
                <a:latin typeface="微软雅黑" panose="020B0503020204020204" charset="-122"/>
                <a:cs typeface="微软雅黑" panose="020B0503020204020204" charset="-122"/>
              </a:rPr>
              <a:t>的协处理器接口</a:t>
            </a:r>
            <a:r>
              <a:rPr sz="1200" spc="-15" dirty="0">
                <a:latin typeface="微软雅黑" panose="020B0503020204020204" charset="-122"/>
                <a:cs typeface="微软雅黑" panose="020B0503020204020204" charset="-122"/>
              </a:rPr>
              <a:t>RoCC(Rocket</a:t>
            </a:r>
            <a:r>
              <a:rPr sz="1200" spc="-10" dirty="0">
                <a:latin typeface="微软雅黑" panose="020B0503020204020204" charset="-122"/>
                <a:cs typeface="微软雅黑" panose="020B0503020204020204" charset="-122"/>
              </a:rPr>
              <a:t> </a:t>
            </a:r>
            <a:r>
              <a:rPr sz="1200" spc="-5" dirty="0">
                <a:latin typeface="微软雅黑" panose="020B0503020204020204" charset="-122"/>
                <a:cs typeface="微软雅黑" panose="020B0503020204020204" charset="-122"/>
              </a:rPr>
              <a:t>Custom Coprocessor)，</a:t>
            </a:r>
            <a:r>
              <a:rPr sz="1200" dirty="0">
                <a:latin typeface="微软雅黑" panose="020B0503020204020204" charset="-122"/>
                <a:cs typeface="微软雅黑" panose="020B0503020204020204" charset="-122"/>
              </a:rPr>
              <a:t>要点 如下：</a:t>
            </a:r>
            <a:endParaRPr sz="1200">
              <a:latin typeface="微软雅黑" panose="020B0503020204020204" charset="-122"/>
              <a:cs typeface="微软雅黑" panose="020B0503020204020204" charset="-122"/>
            </a:endParaRPr>
          </a:p>
        </p:txBody>
      </p:sp>
      <p:sp>
        <p:nvSpPr>
          <p:cNvPr id="22" name="object 22"/>
          <p:cNvSpPr txBox="1">
            <a:spLocks noGrp="1"/>
          </p:cNvSpPr>
          <p:nvPr>
            <p:ph type="body" idx="1"/>
          </p:nvPr>
        </p:nvSpPr>
        <p:spPr>
          <a:prstGeom prst="rect">
            <a:avLst/>
          </a:prstGeom>
        </p:spPr>
        <p:txBody>
          <a:bodyPr vert="horz" wrap="square" lIns="0" tIns="12700" rIns="0" bIns="0" rtlCol="0">
            <a:spAutoFit/>
          </a:bodyPr>
          <a:lstStyle/>
          <a:p>
            <a:pPr marL="298450" marR="27305" indent="-285750">
              <a:lnSpc>
                <a:spcPct val="150000"/>
              </a:lnSpc>
              <a:spcBef>
                <a:spcPts val="100"/>
              </a:spcBef>
              <a:buFont typeface="Wingdings" panose="05000000000000000000"/>
              <a:buChar char=""/>
              <a:tabLst>
                <a:tab pos="297815" algn="l"/>
                <a:tab pos="298450" algn="l"/>
              </a:tabLst>
            </a:pPr>
            <a:r>
              <a:rPr spc="5" dirty="0"/>
              <a:t>E</a:t>
            </a:r>
            <a:r>
              <a:rPr dirty="0"/>
              <a:t>AI指令编码，使用R</a:t>
            </a:r>
            <a:r>
              <a:rPr spc="-5" dirty="0"/>
              <a:t>V</a:t>
            </a:r>
            <a:r>
              <a:rPr dirty="0"/>
              <a:t>32的4个Cu</a:t>
            </a:r>
            <a:r>
              <a:rPr spc="-5" dirty="0"/>
              <a:t>s</a:t>
            </a:r>
            <a:r>
              <a:rPr spc="-15" dirty="0"/>
              <a:t>t</a:t>
            </a:r>
            <a:r>
              <a:rPr dirty="0"/>
              <a:t>om指令组，可以自定义出共计512条带两个源寄存器和一个目 标寄存器的指令，当少于2个源寄存器或无需目标寄存器时可以自定义更多指令</a:t>
            </a:r>
            <a:endParaRPr dirty="0"/>
          </a:p>
          <a:p>
            <a:pPr marL="298450" indent="-285750">
              <a:lnSpc>
                <a:spcPct val="100000"/>
              </a:lnSpc>
              <a:spcBef>
                <a:spcPts val="720"/>
              </a:spcBef>
              <a:buFont typeface="Wingdings" panose="05000000000000000000"/>
              <a:buChar char=""/>
              <a:tabLst>
                <a:tab pos="297815" algn="l"/>
                <a:tab pos="298450" algn="l"/>
              </a:tabLst>
            </a:pPr>
            <a:r>
              <a:rPr dirty="0"/>
              <a:t>EAI接口信号，包含请求，反馈，存储器请求，存储器反馈，存储器占用5个通道共计22个信号；</a:t>
            </a:r>
            <a:endParaRPr dirty="0"/>
          </a:p>
          <a:p>
            <a:pPr marL="298450" marR="5080" indent="-285750">
              <a:lnSpc>
                <a:spcPct val="150000"/>
              </a:lnSpc>
              <a:buFont typeface="Wingdings" panose="05000000000000000000"/>
              <a:buChar char=""/>
              <a:tabLst>
                <a:tab pos="297815" algn="l"/>
                <a:tab pos="298450" algn="l"/>
              </a:tabLst>
            </a:pPr>
            <a:r>
              <a:rPr spc="5" dirty="0"/>
              <a:t>E</a:t>
            </a:r>
            <a:r>
              <a:rPr dirty="0"/>
              <a:t>AI流水线接口，主处理器判断是否是Cu</a:t>
            </a:r>
            <a:r>
              <a:rPr spc="-5" dirty="0"/>
              <a:t>s</a:t>
            </a:r>
            <a:r>
              <a:rPr spc="-15" dirty="0"/>
              <a:t>t</a:t>
            </a:r>
            <a:r>
              <a:rPr dirty="0"/>
              <a:t>om指令并决定是否需要从源寄存器读取参数，以及需要 回写到目标寄存器，并维护数据依赖的正确性，然后在EXU通过EAI接口派发该指令到协处理器，  协处理器对指令进一步译码进行处理并把执行结果通过EAI接口返回，主处理器收到反馈后将此指 令从流水线中退役并将结果协会寄存器组；</a:t>
            </a:r>
            <a:endParaRPr dirty="0"/>
          </a:p>
          <a:p>
            <a:pPr marL="298450" marR="50800" indent="-285750">
              <a:lnSpc>
                <a:spcPct val="150000"/>
              </a:lnSpc>
              <a:buFont typeface="Wingdings" panose="05000000000000000000"/>
              <a:buChar char=""/>
              <a:tabLst>
                <a:tab pos="297815" algn="l"/>
                <a:tab pos="298450" algn="l"/>
              </a:tabLst>
            </a:pPr>
            <a:r>
              <a:rPr spc="5" dirty="0"/>
              <a:t>E</a:t>
            </a:r>
            <a:r>
              <a:rPr dirty="0"/>
              <a:t>AI存储接口，在</a:t>
            </a:r>
            <a:r>
              <a:rPr spc="-5" dirty="0"/>
              <a:t>L</a:t>
            </a:r>
            <a:r>
              <a:rPr dirty="0"/>
              <a:t>S</a:t>
            </a:r>
            <a:r>
              <a:rPr spc="-5" dirty="0"/>
              <a:t>U</a:t>
            </a:r>
            <a:r>
              <a:rPr dirty="0"/>
              <a:t>中为</a:t>
            </a:r>
            <a:r>
              <a:rPr spc="5" dirty="0"/>
              <a:t>E</a:t>
            </a:r>
            <a:r>
              <a:rPr dirty="0"/>
              <a:t>AI预留了专用访问接口，协处理器可以访问主处理器能够寻址的数据存 储器资源；</a:t>
            </a:r>
            <a:endParaRPr dirty="0"/>
          </a:p>
          <a:p>
            <a:pPr marL="298450" indent="-285750">
              <a:lnSpc>
                <a:spcPct val="100000"/>
              </a:lnSpc>
              <a:spcBef>
                <a:spcPts val="720"/>
              </a:spcBef>
              <a:buFont typeface="Wingdings" panose="05000000000000000000"/>
              <a:buChar char=""/>
              <a:tabLst>
                <a:tab pos="297815" algn="l"/>
                <a:tab pos="298450" algn="l"/>
              </a:tabLst>
            </a:pPr>
            <a:r>
              <a:rPr dirty="0"/>
              <a:t>EAI时序接口以及协处理器参考示例请参考《手把手教你设计</a:t>
            </a:r>
            <a:r>
              <a:rPr spc="-5" dirty="0"/>
              <a:t>CPU</a:t>
            </a:r>
            <a:r>
              <a:rPr dirty="0"/>
              <a:t>》16.3和16.4节。</a:t>
            </a:r>
            <a:endParaRPr dirty="0"/>
          </a:p>
        </p:txBody>
      </p:sp>
      <p:sp>
        <p:nvSpPr>
          <p:cNvPr id="23" name="object 23"/>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3066415"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a:t>
            </a:r>
            <a:r>
              <a:rPr sz="3600" spc="-5" dirty="0">
                <a:solidFill>
                  <a:srgbClr val="C00000"/>
                </a:solidFill>
              </a:rPr>
              <a:t>E203</a:t>
            </a:r>
            <a:r>
              <a:rPr sz="3600" spc="-85" dirty="0">
                <a:solidFill>
                  <a:srgbClr val="C00000"/>
                </a:solidFill>
              </a:rPr>
              <a:t> </a:t>
            </a:r>
            <a:r>
              <a:rPr sz="3600" spc="-5" dirty="0">
                <a:solidFill>
                  <a:srgbClr val="C00000"/>
                </a:solidFill>
              </a:rPr>
              <a:t>SoC</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p:nvPr/>
        </p:nvSpPr>
        <p:spPr>
          <a:xfrm>
            <a:off x="1134110" y="1351978"/>
            <a:ext cx="7686675" cy="4791075"/>
          </a:xfrm>
          <a:custGeom>
            <a:avLst/>
            <a:gdLst/>
            <a:ahLst/>
            <a:cxnLst/>
            <a:rect l="l" t="t" r="r" b="b"/>
            <a:pathLst>
              <a:path w="7686675" h="4791075">
                <a:moveTo>
                  <a:pt x="7686255" y="4790948"/>
                </a:moveTo>
                <a:lnTo>
                  <a:pt x="0" y="4790948"/>
                </a:lnTo>
                <a:lnTo>
                  <a:pt x="0" y="0"/>
                </a:lnTo>
                <a:lnTo>
                  <a:pt x="7686255" y="0"/>
                </a:lnTo>
                <a:lnTo>
                  <a:pt x="7686255" y="6350"/>
                </a:lnTo>
                <a:lnTo>
                  <a:pt x="12700" y="6350"/>
                </a:lnTo>
                <a:lnTo>
                  <a:pt x="6350" y="12700"/>
                </a:lnTo>
                <a:lnTo>
                  <a:pt x="12700" y="12700"/>
                </a:lnTo>
                <a:lnTo>
                  <a:pt x="12700" y="4778248"/>
                </a:lnTo>
                <a:lnTo>
                  <a:pt x="6350" y="4778248"/>
                </a:lnTo>
                <a:lnTo>
                  <a:pt x="12700" y="4784598"/>
                </a:lnTo>
                <a:lnTo>
                  <a:pt x="7686255" y="4784598"/>
                </a:lnTo>
                <a:lnTo>
                  <a:pt x="7686255" y="4790948"/>
                </a:lnTo>
                <a:close/>
              </a:path>
              <a:path w="7686675" h="4791075">
                <a:moveTo>
                  <a:pt x="12700" y="12700"/>
                </a:moveTo>
                <a:lnTo>
                  <a:pt x="6350" y="12700"/>
                </a:lnTo>
                <a:lnTo>
                  <a:pt x="12700" y="6350"/>
                </a:lnTo>
                <a:lnTo>
                  <a:pt x="12700" y="12700"/>
                </a:lnTo>
                <a:close/>
              </a:path>
              <a:path w="7686675" h="4791075">
                <a:moveTo>
                  <a:pt x="7673555" y="12700"/>
                </a:moveTo>
                <a:lnTo>
                  <a:pt x="12700" y="12700"/>
                </a:lnTo>
                <a:lnTo>
                  <a:pt x="12700" y="6350"/>
                </a:lnTo>
                <a:lnTo>
                  <a:pt x="7673555" y="6350"/>
                </a:lnTo>
                <a:lnTo>
                  <a:pt x="7673555" y="12700"/>
                </a:lnTo>
                <a:close/>
              </a:path>
              <a:path w="7686675" h="4791075">
                <a:moveTo>
                  <a:pt x="7673555" y="4784598"/>
                </a:moveTo>
                <a:lnTo>
                  <a:pt x="7673555" y="6350"/>
                </a:lnTo>
                <a:lnTo>
                  <a:pt x="7679905" y="12700"/>
                </a:lnTo>
                <a:lnTo>
                  <a:pt x="7686255" y="12700"/>
                </a:lnTo>
                <a:lnTo>
                  <a:pt x="7686255" y="4778247"/>
                </a:lnTo>
                <a:lnTo>
                  <a:pt x="7679905" y="4778248"/>
                </a:lnTo>
                <a:lnTo>
                  <a:pt x="7673555" y="4784598"/>
                </a:lnTo>
                <a:close/>
              </a:path>
              <a:path w="7686675" h="4791075">
                <a:moveTo>
                  <a:pt x="7686255" y="12700"/>
                </a:moveTo>
                <a:lnTo>
                  <a:pt x="7679905" y="12700"/>
                </a:lnTo>
                <a:lnTo>
                  <a:pt x="7673555" y="6350"/>
                </a:lnTo>
                <a:lnTo>
                  <a:pt x="7686255" y="6350"/>
                </a:lnTo>
                <a:lnTo>
                  <a:pt x="7686255" y="12700"/>
                </a:lnTo>
                <a:close/>
              </a:path>
              <a:path w="7686675" h="4791075">
                <a:moveTo>
                  <a:pt x="12700" y="4784598"/>
                </a:moveTo>
                <a:lnTo>
                  <a:pt x="6350" y="4778248"/>
                </a:lnTo>
                <a:lnTo>
                  <a:pt x="12700" y="4778248"/>
                </a:lnTo>
                <a:lnTo>
                  <a:pt x="12700" y="4784598"/>
                </a:lnTo>
                <a:close/>
              </a:path>
              <a:path w="7686675" h="4791075">
                <a:moveTo>
                  <a:pt x="7673555" y="4784598"/>
                </a:moveTo>
                <a:lnTo>
                  <a:pt x="12700" y="4784598"/>
                </a:lnTo>
                <a:lnTo>
                  <a:pt x="12700" y="4778248"/>
                </a:lnTo>
                <a:lnTo>
                  <a:pt x="7673555" y="4778248"/>
                </a:lnTo>
                <a:lnTo>
                  <a:pt x="7673555" y="4784598"/>
                </a:lnTo>
                <a:close/>
              </a:path>
              <a:path w="7686675" h="4791075">
                <a:moveTo>
                  <a:pt x="7686255" y="4784598"/>
                </a:moveTo>
                <a:lnTo>
                  <a:pt x="7673555" y="4784598"/>
                </a:lnTo>
                <a:lnTo>
                  <a:pt x="7679905" y="4778248"/>
                </a:lnTo>
                <a:lnTo>
                  <a:pt x="7686255" y="4778247"/>
                </a:lnTo>
                <a:lnTo>
                  <a:pt x="7686255" y="4784598"/>
                </a:lnTo>
                <a:close/>
              </a:path>
            </a:pathLst>
          </a:custGeom>
          <a:solidFill>
            <a:srgbClr val="C00000"/>
          </a:solidFill>
        </p:spPr>
        <p:txBody>
          <a:bodyPr wrap="square" lIns="0" tIns="0" rIns="0" bIns="0" rtlCol="0"/>
          <a:lstStyle/>
          <a:p/>
        </p:txBody>
      </p:sp>
      <p:sp>
        <p:nvSpPr>
          <p:cNvPr id="5" name="object 5"/>
          <p:cNvSpPr/>
          <p:nvPr/>
        </p:nvSpPr>
        <p:spPr>
          <a:xfrm>
            <a:off x="1301369" y="2938157"/>
            <a:ext cx="5183505" cy="1087755"/>
          </a:xfrm>
          <a:custGeom>
            <a:avLst/>
            <a:gdLst/>
            <a:ahLst/>
            <a:cxnLst/>
            <a:rect l="l" t="t" r="r" b="b"/>
            <a:pathLst>
              <a:path w="5183505" h="1087754">
                <a:moveTo>
                  <a:pt x="5183200" y="1087742"/>
                </a:moveTo>
                <a:lnTo>
                  <a:pt x="0" y="1087742"/>
                </a:lnTo>
                <a:lnTo>
                  <a:pt x="0" y="0"/>
                </a:lnTo>
                <a:lnTo>
                  <a:pt x="5183200" y="0"/>
                </a:lnTo>
                <a:lnTo>
                  <a:pt x="5183200" y="19050"/>
                </a:lnTo>
                <a:lnTo>
                  <a:pt x="38100" y="19050"/>
                </a:lnTo>
                <a:lnTo>
                  <a:pt x="19050" y="38100"/>
                </a:lnTo>
                <a:lnTo>
                  <a:pt x="38100" y="38100"/>
                </a:lnTo>
                <a:lnTo>
                  <a:pt x="38100" y="1049642"/>
                </a:lnTo>
                <a:lnTo>
                  <a:pt x="19050" y="1049642"/>
                </a:lnTo>
                <a:lnTo>
                  <a:pt x="38100" y="1068692"/>
                </a:lnTo>
                <a:lnTo>
                  <a:pt x="5183200" y="1068692"/>
                </a:lnTo>
                <a:lnTo>
                  <a:pt x="5183200" y="1087742"/>
                </a:lnTo>
                <a:close/>
              </a:path>
              <a:path w="5183505" h="1087754">
                <a:moveTo>
                  <a:pt x="38100" y="38100"/>
                </a:moveTo>
                <a:lnTo>
                  <a:pt x="19050" y="38100"/>
                </a:lnTo>
                <a:lnTo>
                  <a:pt x="38100" y="19050"/>
                </a:lnTo>
                <a:lnTo>
                  <a:pt x="38100" y="38100"/>
                </a:lnTo>
                <a:close/>
              </a:path>
              <a:path w="5183505" h="1087754">
                <a:moveTo>
                  <a:pt x="5145100" y="38100"/>
                </a:moveTo>
                <a:lnTo>
                  <a:pt x="38100" y="38100"/>
                </a:lnTo>
                <a:lnTo>
                  <a:pt x="38100" y="19050"/>
                </a:lnTo>
                <a:lnTo>
                  <a:pt x="5145100" y="19050"/>
                </a:lnTo>
                <a:lnTo>
                  <a:pt x="5145100" y="38100"/>
                </a:lnTo>
                <a:close/>
              </a:path>
              <a:path w="5183505" h="1087754">
                <a:moveTo>
                  <a:pt x="5145100" y="1068692"/>
                </a:moveTo>
                <a:lnTo>
                  <a:pt x="5145100" y="19050"/>
                </a:lnTo>
                <a:lnTo>
                  <a:pt x="5164150" y="38100"/>
                </a:lnTo>
                <a:lnTo>
                  <a:pt x="5183200" y="38100"/>
                </a:lnTo>
                <a:lnTo>
                  <a:pt x="5183200" y="1049642"/>
                </a:lnTo>
                <a:lnTo>
                  <a:pt x="5164150" y="1049642"/>
                </a:lnTo>
                <a:lnTo>
                  <a:pt x="5145100" y="1068692"/>
                </a:lnTo>
                <a:close/>
              </a:path>
              <a:path w="5183505" h="1087754">
                <a:moveTo>
                  <a:pt x="5183200" y="38100"/>
                </a:moveTo>
                <a:lnTo>
                  <a:pt x="5164150" y="38100"/>
                </a:lnTo>
                <a:lnTo>
                  <a:pt x="5145100" y="19050"/>
                </a:lnTo>
                <a:lnTo>
                  <a:pt x="5183200" y="19050"/>
                </a:lnTo>
                <a:lnTo>
                  <a:pt x="5183200" y="38100"/>
                </a:lnTo>
                <a:close/>
              </a:path>
              <a:path w="5183505" h="1087754">
                <a:moveTo>
                  <a:pt x="38100" y="1068692"/>
                </a:moveTo>
                <a:lnTo>
                  <a:pt x="19050" y="1049642"/>
                </a:lnTo>
                <a:lnTo>
                  <a:pt x="38100" y="1049642"/>
                </a:lnTo>
                <a:lnTo>
                  <a:pt x="38100" y="1068692"/>
                </a:lnTo>
                <a:close/>
              </a:path>
              <a:path w="5183505" h="1087754">
                <a:moveTo>
                  <a:pt x="5145100" y="1068692"/>
                </a:moveTo>
                <a:lnTo>
                  <a:pt x="38100" y="1068692"/>
                </a:lnTo>
                <a:lnTo>
                  <a:pt x="38100" y="1049642"/>
                </a:lnTo>
                <a:lnTo>
                  <a:pt x="5145100" y="1049642"/>
                </a:lnTo>
                <a:lnTo>
                  <a:pt x="5145100" y="1068692"/>
                </a:lnTo>
                <a:close/>
              </a:path>
              <a:path w="5183505" h="1087754">
                <a:moveTo>
                  <a:pt x="5183200" y="1068692"/>
                </a:moveTo>
                <a:lnTo>
                  <a:pt x="5145100" y="1068692"/>
                </a:lnTo>
                <a:lnTo>
                  <a:pt x="5164150" y="1049642"/>
                </a:lnTo>
                <a:lnTo>
                  <a:pt x="5183200" y="1049642"/>
                </a:lnTo>
                <a:lnTo>
                  <a:pt x="5183200" y="1068692"/>
                </a:lnTo>
                <a:close/>
              </a:path>
            </a:pathLst>
          </a:custGeom>
          <a:solidFill>
            <a:srgbClr val="C00000"/>
          </a:solidFill>
        </p:spPr>
        <p:txBody>
          <a:bodyPr wrap="square" lIns="0" tIns="0" rIns="0" bIns="0" rtlCol="0"/>
          <a:lstStyle/>
          <a:p/>
        </p:txBody>
      </p:sp>
      <p:sp>
        <p:nvSpPr>
          <p:cNvPr id="6" name="object 6"/>
          <p:cNvSpPr txBox="1"/>
          <p:nvPr/>
        </p:nvSpPr>
        <p:spPr>
          <a:xfrm>
            <a:off x="2444369" y="3265182"/>
            <a:ext cx="289687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C00000"/>
                </a:solidFill>
                <a:latin typeface="微软雅黑" panose="020B0503020204020204" charset="-122"/>
                <a:cs typeface="微软雅黑" panose="020B0503020204020204" charset="-122"/>
              </a:rPr>
              <a:t>蜂鸟</a:t>
            </a:r>
            <a:r>
              <a:rPr sz="2400" b="1" spc="-5" dirty="0">
                <a:solidFill>
                  <a:srgbClr val="C00000"/>
                </a:solidFill>
                <a:latin typeface="微软雅黑" panose="020B0503020204020204" charset="-122"/>
                <a:cs typeface="微软雅黑" panose="020B0503020204020204" charset="-122"/>
              </a:rPr>
              <a:t>E203</a:t>
            </a:r>
            <a:r>
              <a:rPr sz="2400" b="1" dirty="0">
                <a:solidFill>
                  <a:srgbClr val="C00000"/>
                </a:solidFill>
                <a:latin typeface="微软雅黑" panose="020B0503020204020204" charset="-122"/>
                <a:cs typeface="微软雅黑" panose="020B0503020204020204" charset="-122"/>
              </a:rPr>
              <a:t>处理器内核</a:t>
            </a:r>
            <a:endParaRPr sz="2400">
              <a:latin typeface="微软雅黑" panose="020B0503020204020204" charset="-122"/>
              <a:cs typeface="微软雅黑" panose="020B0503020204020204" charset="-122"/>
            </a:endParaRPr>
          </a:p>
        </p:txBody>
      </p:sp>
      <p:sp>
        <p:nvSpPr>
          <p:cNvPr id="7" name="object 7"/>
          <p:cNvSpPr/>
          <p:nvPr/>
        </p:nvSpPr>
        <p:spPr>
          <a:xfrm>
            <a:off x="3060192" y="3779520"/>
            <a:ext cx="698500" cy="227329"/>
          </a:xfrm>
          <a:custGeom>
            <a:avLst/>
            <a:gdLst/>
            <a:ahLst/>
            <a:cxnLst/>
            <a:rect l="l" t="t" r="r" b="b"/>
            <a:pathLst>
              <a:path w="698500" h="227329">
                <a:moveTo>
                  <a:pt x="0" y="0"/>
                </a:moveTo>
                <a:lnTo>
                  <a:pt x="697992" y="0"/>
                </a:lnTo>
                <a:lnTo>
                  <a:pt x="697992" y="227075"/>
                </a:lnTo>
                <a:lnTo>
                  <a:pt x="0" y="227075"/>
                </a:lnTo>
                <a:lnTo>
                  <a:pt x="0" y="0"/>
                </a:lnTo>
                <a:close/>
              </a:path>
            </a:pathLst>
          </a:custGeom>
          <a:solidFill>
            <a:srgbClr val="C00000"/>
          </a:solidFill>
        </p:spPr>
        <p:txBody>
          <a:bodyPr wrap="square" lIns="0" tIns="0" rIns="0" bIns="0" rtlCol="0"/>
          <a:lstStyle/>
          <a:p/>
        </p:txBody>
      </p:sp>
      <p:sp>
        <p:nvSpPr>
          <p:cNvPr id="8" name="object 8"/>
          <p:cNvSpPr/>
          <p:nvPr/>
        </p:nvSpPr>
        <p:spPr>
          <a:xfrm>
            <a:off x="4364735" y="3779520"/>
            <a:ext cx="719455" cy="227329"/>
          </a:xfrm>
          <a:custGeom>
            <a:avLst/>
            <a:gdLst/>
            <a:ahLst/>
            <a:cxnLst/>
            <a:rect l="l" t="t" r="r" b="b"/>
            <a:pathLst>
              <a:path w="719454" h="227329">
                <a:moveTo>
                  <a:pt x="0" y="0"/>
                </a:moveTo>
                <a:lnTo>
                  <a:pt x="719327" y="0"/>
                </a:lnTo>
                <a:lnTo>
                  <a:pt x="719327" y="227075"/>
                </a:lnTo>
                <a:lnTo>
                  <a:pt x="0" y="227075"/>
                </a:lnTo>
                <a:lnTo>
                  <a:pt x="0" y="0"/>
                </a:lnTo>
                <a:close/>
              </a:path>
            </a:pathLst>
          </a:custGeom>
          <a:solidFill>
            <a:srgbClr val="C00000"/>
          </a:solidFill>
        </p:spPr>
        <p:txBody>
          <a:bodyPr wrap="square" lIns="0" tIns="0" rIns="0" bIns="0" rtlCol="0"/>
          <a:lstStyle/>
          <a:p/>
        </p:txBody>
      </p:sp>
      <p:sp>
        <p:nvSpPr>
          <p:cNvPr id="9" name="object 9"/>
          <p:cNvSpPr txBox="1"/>
          <p:nvPr/>
        </p:nvSpPr>
        <p:spPr>
          <a:xfrm>
            <a:off x="3195332" y="3779392"/>
            <a:ext cx="1773555" cy="208279"/>
          </a:xfrm>
          <a:prstGeom prst="rect">
            <a:avLst/>
          </a:prstGeom>
        </p:spPr>
        <p:txBody>
          <a:bodyPr vert="horz" wrap="square" lIns="0" tIns="12700" rIns="0" bIns="0" rtlCol="0">
            <a:spAutoFit/>
          </a:bodyPr>
          <a:lstStyle/>
          <a:p>
            <a:pPr marL="12700">
              <a:lnSpc>
                <a:spcPct val="100000"/>
              </a:lnSpc>
              <a:spcBef>
                <a:spcPts val="100"/>
              </a:spcBef>
              <a:tabLst>
                <a:tab pos="1297305" algn="l"/>
              </a:tabLst>
            </a:pPr>
            <a:r>
              <a:rPr sz="1200" b="1" dirty="0">
                <a:solidFill>
                  <a:srgbClr val="FFFFFF"/>
                </a:solidFill>
                <a:latin typeface="微软雅黑" panose="020B0503020204020204" charset="-122"/>
                <a:cs typeface="微软雅黑" panose="020B0503020204020204" charset="-122"/>
              </a:rPr>
              <a:t>I</a:t>
            </a:r>
            <a:r>
              <a:rPr sz="1200" b="1" spc="-55" dirty="0">
                <a:solidFill>
                  <a:srgbClr val="FFFFFF"/>
                </a:solidFill>
                <a:latin typeface="微软雅黑" panose="020B0503020204020204" charset="-122"/>
                <a:cs typeface="微软雅黑" panose="020B0503020204020204" charset="-122"/>
              </a:rPr>
              <a:t>T</a:t>
            </a:r>
            <a:r>
              <a:rPr sz="1200" b="1" dirty="0">
                <a:solidFill>
                  <a:srgbClr val="FFFFFF"/>
                </a:solidFill>
                <a:latin typeface="微软雅黑" panose="020B0503020204020204" charset="-122"/>
                <a:cs typeface="微软雅黑" panose="020B0503020204020204" charset="-122"/>
              </a:rPr>
              <a:t>CM	</a:t>
            </a:r>
            <a:r>
              <a:rPr sz="1200" b="1" spc="-50" dirty="0">
                <a:solidFill>
                  <a:srgbClr val="FFFFFF"/>
                </a:solidFill>
                <a:latin typeface="微软雅黑" panose="020B0503020204020204" charset="-122"/>
                <a:cs typeface="微软雅黑" panose="020B0503020204020204" charset="-122"/>
              </a:rPr>
              <a:t>D</a:t>
            </a:r>
            <a:r>
              <a:rPr sz="1200" b="1" spc="-55" dirty="0">
                <a:solidFill>
                  <a:srgbClr val="FFFFFF"/>
                </a:solidFill>
                <a:latin typeface="微软雅黑" panose="020B0503020204020204" charset="-122"/>
                <a:cs typeface="微软雅黑" panose="020B0503020204020204" charset="-122"/>
              </a:rPr>
              <a:t>T</a:t>
            </a:r>
            <a:r>
              <a:rPr sz="1200" b="1" dirty="0">
                <a:solidFill>
                  <a:srgbClr val="FFFFFF"/>
                </a:solidFill>
                <a:latin typeface="微软雅黑" panose="020B0503020204020204" charset="-122"/>
                <a:cs typeface="微软雅黑" panose="020B0503020204020204" charset="-122"/>
              </a:rPr>
              <a:t>CM</a:t>
            </a:r>
            <a:endParaRPr sz="1200">
              <a:latin typeface="微软雅黑" panose="020B0503020204020204" charset="-122"/>
              <a:cs typeface="微软雅黑" panose="020B0503020204020204" charset="-122"/>
            </a:endParaRPr>
          </a:p>
        </p:txBody>
      </p:sp>
      <p:sp>
        <p:nvSpPr>
          <p:cNvPr id="10" name="object 10"/>
          <p:cNvSpPr/>
          <p:nvPr/>
        </p:nvSpPr>
        <p:spPr>
          <a:xfrm>
            <a:off x="2863595" y="4875276"/>
            <a:ext cx="515620" cy="695325"/>
          </a:xfrm>
          <a:custGeom>
            <a:avLst/>
            <a:gdLst/>
            <a:ahLst/>
            <a:cxnLst/>
            <a:rect l="l" t="t" r="r" b="b"/>
            <a:pathLst>
              <a:path w="515620" h="695325">
                <a:moveTo>
                  <a:pt x="0" y="0"/>
                </a:moveTo>
                <a:lnTo>
                  <a:pt x="515111" y="0"/>
                </a:lnTo>
                <a:lnTo>
                  <a:pt x="515111" y="694944"/>
                </a:lnTo>
                <a:lnTo>
                  <a:pt x="0" y="694944"/>
                </a:lnTo>
                <a:lnTo>
                  <a:pt x="0" y="0"/>
                </a:lnTo>
                <a:close/>
              </a:path>
            </a:pathLst>
          </a:custGeom>
          <a:solidFill>
            <a:srgbClr val="D9D9D9"/>
          </a:solidFill>
        </p:spPr>
        <p:txBody>
          <a:bodyPr wrap="square" lIns="0" tIns="0" rIns="0" bIns="0" rtlCol="0"/>
          <a:lstStyle/>
          <a:p/>
        </p:txBody>
      </p:sp>
      <p:sp>
        <p:nvSpPr>
          <p:cNvPr id="11" name="object 11"/>
          <p:cNvSpPr/>
          <p:nvPr/>
        </p:nvSpPr>
        <p:spPr>
          <a:xfrm>
            <a:off x="2856941" y="4869167"/>
            <a:ext cx="527685" cy="707390"/>
          </a:xfrm>
          <a:custGeom>
            <a:avLst/>
            <a:gdLst/>
            <a:ahLst/>
            <a:cxnLst/>
            <a:rect l="l" t="t" r="r" b="b"/>
            <a:pathLst>
              <a:path w="527685" h="707389">
                <a:moveTo>
                  <a:pt x="527392" y="707288"/>
                </a:moveTo>
                <a:lnTo>
                  <a:pt x="0" y="707288"/>
                </a:lnTo>
                <a:lnTo>
                  <a:pt x="0" y="0"/>
                </a:lnTo>
                <a:lnTo>
                  <a:pt x="527392" y="0"/>
                </a:lnTo>
                <a:lnTo>
                  <a:pt x="527392" y="6350"/>
                </a:lnTo>
                <a:lnTo>
                  <a:pt x="12700" y="6350"/>
                </a:lnTo>
                <a:lnTo>
                  <a:pt x="6350" y="12700"/>
                </a:lnTo>
                <a:lnTo>
                  <a:pt x="12700" y="12700"/>
                </a:lnTo>
                <a:lnTo>
                  <a:pt x="12700" y="694588"/>
                </a:lnTo>
                <a:lnTo>
                  <a:pt x="6350" y="694588"/>
                </a:lnTo>
                <a:lnTo>
                  <a:pt x="12700" y="700938"/>
                </a:lnTo>
                <a:lnTo>
                  <a:pt x="527392" y="700938"/>
                </a:lnTo>
                <a:lnTo>
                  <a:pt x="527392" y="707288"/>
                </a:lnTo>
                <a:close/>
              </a:path>
              <a:path w="527685" h="707389">
                <a:moveTo>
                  <a:pt x="12700" y="12700"/>
                </a:moveTo>
                <a:lnTo>
                  <a:pt x="6350" y="12700"/>
                </a:lnTo>
                <a:lnTo>
                  <a:pt x="12700" y="6350"/>
                </a:lnTo>
                <a:lnTo>
                  <a:pt x="12700" y="12700"/>
                </a:lnTo>
                <a:close/>
              </a:path>
              <a:path w="527685" h="707389">
                <a:moveTo>
                  <a:pt x="514692" y="12700"/>
                </a:moveTo>
                <a:lnTo>
                  <a:pt x="12700" y="12700"/>
                </a:lnTo>
                <a:lnTo>
                  <a:pt x="12700" y="6350"/>
                </a:lnTo>
                <a:lnTo>
                  <a:pt x="514692" y="6350"/>
                </a:lnTo>
                <a:lnTo>
                  <a:pt x="514692" y="12700"/>
                </a:lnTo>
                <a:close/>
              </a:path>
              <a:path w="527685" h="707389">
                <a:moveTo>
                  <a:pt x="514692" y="700938"/>
                </a:moveTo>
                <a:lnTo>
                  <a:pt x="514692" y="6350"/>
                </a:lnTo>
                <a:lnTo>
                  <a:pt x="521042" y="12700"/>
                </a:lnTo>
                <a:lnTo>
                  <a:pt x="527392" y="12700"/>
                </a:lnTo>
                <a:lnTo>
                  <a:pt x="527392" y="694588"/>
                </a:lnTo>
                <a:lnTo>
                  <a:pt x="521042" y="694588"/>
                </a:lnTo>
                <a:lnTo>
                  <a:pt x="514692" y="700938"/>
                </a:lnTo>
                <a:close/>
              </a:path>
              <a:path w="527685" h="707389">
                <a:moveTo>
                  <a:pt x="527392" y="12700"/>
                </a:moveTo>
                <a:lnTo>
                  <a:pt x="521042" y="12700"/>
                </a:lnTo>
                <a:lnTo>
                  <a:pt x="514692" y="6350"/>
                </a:lnTo>
                <a:lnTo>
                  <a:pt x="527392" y="6350"/>
                </a:lnTo>
                <a:lnTo>
                  <a:pt x="527392" y="12700"/>
                </a:lnTo>
                <a:close/>
              </a:path>
              <a:path w="527685" h="707389">
                <a:moveTo>
                  <a:pt x="12700" y="700938"/>
                </a:moveTo>
                <a:lnTo>
                  <a:pt x="6350" y="694588"/>
                </a:lnTo>
                <a:lnTo>
                  <a:pt x="12700" y="694588"/>
                </a:lnTo>
                <a:lnTo>
                  <a:pt x="12700" y="700938"/>
                </a:lnTo>
                <a:close/>
              </a:path>
              <a:path w="527685" h="707389">
                <a:moveTo>
                  <a:pt x="514692" y="700938"/>
                </a:moveTo>
                <a:lnTo>
                  <a:pt x="12700" y="700938"/>
                </a:lnTo>
                <a:lnTo>
                  <a:pt x="12700" y="694588"/>
                </a:lnTo>
                <a:lnTo>
                  <a:pt x="514692" y="694588"/>
                </a:lnTo>
                <a:lnTo>
                  <a:pt x="514692" y="700938"/>
                </a:lnTo>
                <a:close/>
              </a:path>
              <a:path w="527685" h="707389">
                <a:moveTo>
                  <a:pt x="527392" y="700938"/>
                </a:moveTo>
                <a:lnTo>
                  <a:pt x="514692" y="700938"/>
                </a:lnTo>
                <a:lnTo>
                  <a:pt x="521042" y="694588"/>
                </a:lnTo>
                <a:lnTo>
                  <a:pt x="527392" y="694588"/>
                </a:lnTo>
                <a:lnTo>
                  <a:pt x="527392" y="700938"/>
                </a:lnTo>
                <a:close/>
              </a:path>
            </a:pathLst>
          </a:custGeom>
          <a:solidFill>
            <a:srgbClr val="C00000"/>
          </a:solidFill>
        </p:spPr>
        <p:txBody>
          <a:bodyPr wrap="square" lIns="0" tIns="0" rIns="0" bIns="0" rtlCol="0"/>
          <a:lstStyle/>
          <a:p/>
        </p:txBody>
      </p:sp>
      <p:sp>
        <p:nvSpPr>
          <p:cNvPr id="12" name="object 12"/>
          <p:cNvSpPr txBox="1"/>
          <p:nvPr/>
        </p:nvSpPr>
        <p:spPr>
          <a:xfrm>
            <a:off x="2863595" y="4973942"/>
            <a:ext cx="515620" cy="481965"/>
          </a:xfrm>
          <a:prstGeom prst="rect">
            <a:avLst/>
          </a:prstGeom>
        </p:spPr>
        <p:txBody>
          <a:bodyPr vert="horz" wrap="square" lIns="0" tIns="12065" rIns="0" bIns="0" rtlCol="0">
            <a:spAutoFit/>
          </a:bodyPr>
          <a:lstStyle/>
          <a:p>
            <a:pPr marL="94615" marR="89535" indent="-635" algn="ctr">
              <a:lnSpc>
                <a:spcPct val="100000"/>
              </a:lnSpc>
              <a:spcBef>
                <a:spcPts val="95"/>
              </a:spcBef>
            </a:pPr>
            <a:r>
              <a:rPr sz="1000" b="1" spc="-5" dirty="0">
                <a:solidFill>
                  <a:srgbClr val="C00000"/>
                </a:solidFill>
                <a:latin typeface="微软雅黑" panose="020B0503020204020204" charset="-122"/>
                <a:cs typeface="微软雅黑" panose="020B0503020204020204" charset="-122"/>
              </a:rPr>
              <a:t>Mas  k   </a:t>
            </a:r>
            <a:r>
              <a:rPr sz="1000" b="1" dirty="0">
                <a:solidFill>
                  <a:srgbClr val="C00000"/>
                </a:solidFill>
                <a:latin typeface="微软雅黑" panose="020B0503020204020204" charset="-122"/>
                <a:cs typeface="微软雅黑" panose="020B0503020204020204" charset="-122"/>
              </a:rPr>
              <a:t>RO</a:t>
            </a:r>
            <a:r>
              <a:rPr sz="1000" b="1" spc="-10" dirty="0">
                <a:solidFill>
                  <a:srgbClr val="C00000"/>
                </a:solidFill>
                <a:latin typeface="微软雅黑" panose="020B0503020204020204" charset="-122"/>
                <a:cs typeface="微软雅黑" panose="020B0503020204020204" charset="-122"/>
              </a:rPr>
              <a:t>M</a:t>
            </a:r>
            <a:endParaRPr sz="1000">
              <a:latin typeface="微软雅黑" panose="020B0503020204020204" charset="-122"/>
              <a:cs typeface="微软雅黑" panose="020B0503020204020204" charset="-122"/>
            </a:endParaRPr>
          </a:p>
        </p:txBody>
      </p:sp>
      <p:sp>
        <p:nvSpPr>
          <p:cNvPr id="13" name="object 13"/>
          <p:cNvSpPr/>
          <p:nvPr/>
        </p:nvSpPr>
        <p:spPr>
          <a:xfrm>
            <a:off x="3544823" y="4875276"/>
            <a:ext cx="515620" cy="693420"/>
          </a:xfrm>
          <a:custGeom>
            <a:avLst/>
            <a:gdLst/>
            <a:ahLst/>
            <a:cxnLst/>
            <a:rect l="l" t="t" r="r" b="b"/>
            <a:pathLst>
              <a:path w="515620" h="693420">
                <a:moveTo>
                  <a:pt x="0" y="0"/>
                </a:moveTo>
                <a:lnTo>
                  <a:pt x="515112" y="0"/>
                </a:lnTo>
                <a:lnTo>
                  <a:pt x="515112" y="693420"/>
                </a:lnTo>
                <a:lnTo>
                  <a:pt x="0" y="693420"/>
                </a:lnTo>
                <a:lnTo>
                  <a:pt x="0" y="0"/>
                </a:lnTo>
                <a:close/>
              </a:path>
            </a:pathLst>
          </a:custGeom>
          <a:solidFill>
            <a:srgbClr val="D9D9D9"/>
          </a:solidFill>
        </p:spPr>
        <p:txBody>
          <a:bodyPr wrap="square" lIns="0" tIns="0" rIns="0" bIns="0" rtlCol="0"/>
          <a:lstStyle/>
          <a:p/>
        </p:txBody>
      </p:sp>
      <p:sp>
        <p:nvSpPr>
          <p:cNvPr id="14" name="object 14"/>
          <p:cNvSpPr/>
          <p:nvPr/>
        </p:nvSpPr>
        <p:spPr>
          <a:xfrm>
            <a:off x="3537788" y="4869167"/>
            <a:ext cx="528320" cy="706120"/>
          </a:xfrm>
          <a:custGeom>
            <a:avLst/>
            <a:gdLst/>
            <a:ahLst/>
            <a:cxnLst/>
            <a:rect l="l" t="t" r="r" b="b"/>
            <a:pathLst>
              <a:path w="528320" h="706120">
                <a:moveTo>
                  <a:pt x="527989" y="705561"/>
                </a:moveTo>
                <a:lnTo>
                  <a:pt x="0" y="705561"/>
                </a:lnTo>
                <a:lnTo>
                  <a:pt x="0" y="0"/>
                </a:lnTo>
                <a:lnTo>
                  <a:pt x="527989" y="0"/>
                </a:lnTo>
                <a:lnTo>
                  <a:pt x="527989" y="6350"/>
                </a:lnTo>
                <a:lnTo>
                  <a:pt x="12700" y="6350"/>
                </a:lnTo>
                <a:lnTo>
                  <a:pt x="6350" y="12700"/>
                </a:lnTo>
                <a:lnTo>
                  <a:pt x="12700" y="12700"/>
                </a:lnTo>
                <a:lnTo>
                  <a:pt x="12700" y="692861"/>
                </a:lnTo>
                <a:lnTo>
                  <a:pt x="6350" y="692861"/>
                </a:lnTo>
                <a:lnTo>
                  <a:pt x="12700" y="699211"/>
                </a:lnTo>
                <a:lnTo>
                  <a:pt x="527989" y="699211"/>
                </a:lnTo>
                <a:lnTo>
                  <a:pt x="527989" y="705561"/>
                </a:lnTo>
                <a:close/>
              </a:path>
              <a:path w="528320" h="706120">
                <a:moveTo>
                  <a:pt x="12700" y="12700"/>
                </a:moveTo>
                <a:lnTo>
                  <a:pt x="6350" y="12700"/>
                </a:lnTo>
                <a:lnTo>
                  <a:pt x="12700" y="6350"/>
                </a:lnTo>
                <a:lnTo>
                  <a:pt x="12700" y="12700"/>
                </a:lnTo>
                <a:close/>
              </a:path>
              <a:path w="528320" h="706120">
                <a:moveTo>
                  <a:pt x="515289" y="12700"/>
                </a:moveTo>
                <a:lnTo>
                  <a:pt x="12700" y="12700"/>
                </a:lnTo>
                <a:lnTo>
                  <a:pt x="12700" y="6350"/>
                </a:lnTo>
                <a:lnTo>
                  <a:pt x="515289" y="6350"/>
                </a:lnTo>
                <a:lnTo>
                  <a:pt x="515289" y="12700"/>
                </a:lnTo>
                <a:close/>
              </a:path>
              <a:path w="528320" h="706120">
                <a:moveTo>
                  <a:pt x="515289" y="699211"/>
                </a:moveTo>
                <a:lnTo>
                  <a:pt x="515289" y="6350"/>
                </a:lnTo>
                <a:lnTo>
                  <a:pt x="521639" y="12700"/>
                </a:lnTo>
                <a:lnTo>
                  <a:pt x="527989" y="12700"/>
                </a:lnTo>
                <a:lnTo>
                  <a:pt x="527989" y="692861"/>
                </a:lnTo>
                <a:lnTo>
                  <a:pt x="521639" y="692861"/>
                </a:lnTo>
                <a:lnTo>
                  <a:pt x="515289" y="699211"/>
                </a:lnTo>
                <a:close/>
              </a:path>
              <a:path w="528320" h="706120">
                <a:moveTo>
                  <a:pt x="527989" y="12700"/>
                </a:moveTo>
                <a:lnTo>
                  <a:pt x="521639" y="12700"/>
                </a:lnTo>
                <a:lnTo>
                  <a:pt x="515289" y="6350"/>
                </a:lnTo>
                <a:lnTo>
                  <a:pt x="527989" y="6350"/>
                </a:lnTo>
                <a:lnTo>
                  <a:pt x="527989" y="12700"/>
                </a:lnTo>
                <a:close/>
              </a:path>
              <a:path w="528320" h="706120">
                <a:moveTo>
                  <a:pt x="12700" y="699211"/>
                </a:moveTo>
                <a:lnTo>
                  <a:pt x="6350" y="692861"/>
                </a:lnTo>
                <a:lnTo>
                  <a:pt x="12700" y="692861"/>
                </a:lnTo>
                <a:lnTo>
                  <a:pt x="12700" y="699211"/>
                </a:lnTo>
                <a:close/>
              </a:path>
              <a:path w="528320" h="706120">
                <a:moveTo>
                  <a:pt x="515289" y="699211"/>
                </a:moveTo>
                <a:lnTo>
                  <a:pt x="12700" y="699211"/>
                </a:lnTo>
                <a:lnTo>
                  <a:pt x="12700" y="692861"/>
                </a:lnTo>
                <a:lnTo>
                  <a:pt x="515289" y="692861"/>
                </a:lnTo>
                <a:lnTo>
                  <a:pt x="515289" y="699211"/>
                </a:lnTo>
                <a:close/>
              </a:path>
              <a:path w="528320" h="706120">
                <a:moveTo>
                  <a:pt x="527989" y="699211"/>
                </a:moveTo>
                <a:lnTo>
                  <a:pt x="515289" y="699211"/>
                </a:lnTo>
                <a:lnTo>
                  <a:pt x="521639" y="692861"/>
                </a:lnTo>
                <a:lnTo>
                  <a:pt x="527989" y="692861"/>
                </a:lnTo>
                <a:lnTo>
                  <a:pt x="527989" y="699211"/>
                </a:lnTo>
                <a:close/>
              </a:path>
            </a:pathLst>
          </a:custGeom>
          <a:solidFill>
            <a:srgbClr val="C00000"/>
          </a:solidFill>
        </p:spPr>
        <p:txBody>
          <a:bodyPr wrap="square" lIns="0" tIns="0" rIns="0" bIns="0" rtlCol="0"/>
          <a:lstStyle/>
          <a:p/>
        </p:txBody>
      </p:sp>
      <p:sp>
        <p:nvSpPr>
          <p:cNvPr id="15" name="object 15"/>
          <p:cNvSpPr txBox="1"/>
          <p:nvPr/>
        </p:nvSpPr>
        <p:spPr>
          <a:xfrm>
            <a:off x="3544823" y="4973307"/>
            <a:ext cx="515620" cy="481965"/>
          </a:xfrm>
          <a:prstGeom prst="rect">
            <a:avLst/>
          </a:prstGeom>
        </p:spPr>
        <p:txBody>
          <a:bodyPr vert="horz" wrap="square" lIns="0" tIns="12065" rIns="0" bIns="0" rtlCol="0">
            <a:spAutoFit/>
          </a:bodyPr>
          <a:lstStyle/>
          <a:p>
            <a:pPr marL="122555">
              <a:lnSpc>
                <a:spcPct val="100000"/>
              </a:lnSpc>
              <a:spcBef>
                <a:spcPts val="95"/>
              </a:spcBef>
            </a:pPr>
            <a:r>
              <a:rPr sz="1000" b="1" spc="-5" dirty="0">
                <a:solidFill>
                  <a:srgbClr val="C00000"/>
                </a:solidFill>
                <a:latin typeface="微软雅黑" panose="020B0503020204020204" charset="-122"/>
                <a:cs typeface="微软雅黑" panose="020B0503020204020204" charset="-122"/>
              </a:rPr>
              <a:t>OTP</a:t>
            </a:r>
            <a:endParaRPr sz="1000">
              <a:latin typeface="微软雅黑" panose="020B0503020204020204" charset="-122"/>
              <a:cs typeface="微软雅黑" panose="020B0503020204020204" charset="-122"/>
            </a:endParaRPr>
          </a:p>
          <a:p>
            <a:pPr marL="128905">
              <a:lnSpc>
                <a:spcPct val="100000"/>
              </a:lnSpc>
            </a:pPr>
            <a:r>
              <a:rPr sz="1000" b="1" dirty="0">
                <a:solidFill>
                  <a:srgbClr val="C00000"/>
                </a:solidFill>
                <a:latin typeface="微软雅黑" panose="020B0503020204020204" charset="-122"/>
                <a:cs typeface="微软雅黑" panose="020B0503020204020204" charset="-122"/>
              </a:rPr>
              <a:t>存</a:t>
            </a:r>
            <a:r>
              <a:rPr sz="1000" b="1" spc="-5" dirty="0">
                <a:solidFill>
                  <a:srgbClr val="C00000"/>
                </a:solidFill>
                <a:latin typeface="微软雅黑" panose="020B0503020204020204" charset="-122"/>
                <a:cs typeface="微软雅黑" panose="020B0503020204020204" charset="-122"/>
              </a:rPr>
              <a:t>器</a:t>
            </a:r>
            <a:endParaRPr sz="1000">
              <a:latin typeface="微软雅黑" panose="020B0503020204020204" charset="-122"/>
              <a:cs typeface="微软雅黑" panose="020B0503020204020204" charset="-122"/>
            </a:endParaRPr>
          </a:p>
          <a:p>
            <a:pPr marL="79375">
              <a:lnSpc>
                <a:spcPct val="100000"/>
              </a:lnSpc>
            </a:pPr>
            <a:r>
              <a:rPr sz="1000" b="1" spc="-5" dirty="0">
                <a:solidFill>
                  <a:srgbClr val="C00000"/>
                </a:solidFill>
                <a:latin typeface="微软雅黑" panose="020B0503020204020204" charset="-122"/>
                <a:cs typeface="微软雅黑" panose="020B0503020204020204" charset="-122"/>
              </a:rPr>
              <a:t>(</a:t>
            </a:r>
            <a:r>
              <a:rPr sz="1000" b="1" dirty="0">
                <a:solidFill>
                  <a:srgbClr val="C00000"/>
                </a:solidFill>
                <a:latin typeface="微软雅黑" panose="020B0503020204020204" charset="-122"/>
                <a:cs typeface="微软雅黑" panose="020B0503020204020204" charset="-122"/>
              </a:rPr>
              <a:t>只读</a:t>
            </a:r>
            <a:r>
              <a:rPr sz="1000" b="1" spc="-5" dirty="0">
                <a:solidFill>
                  <a:srgbClr val="C00000"/>
                </a:solidFill>
                <a:latin typeface="微软雅黑" panose="020B0503020204020204" charset="-122"/>
                <a:cs typeface="微软雅黑" panose="020B0503020204020204" charset="-122"/>
              </a:rPr>
              <a:t>)</a:t>
            </a:r>
            <a:endParaRPr sz="1000">
              <a:latin typeface="微软雅黑" panose="020B0503020204020204" charset="-122"/>
              <a:cs typeface="微软雅黑" panose="020B0503020204020204" charset="-122"/>
            </a:endParaRPr>
          </a:p>
        </p:txBody>
      </p:sp>
      <p:sp>
        <p:nvSpPr>
          <p:cNvPr id="16" name="object 16"/>
          <p:cNvSpPr/>
          <p:nvPr/>
        </p:nvSpPr>
        <p:spPr>
          <a:xfrm>
            <a:off x="4226052" y="4878323"/>
            <a:ext cx="513715" cy="692150"/>
          </a:xfrm>
          <a:custGeom>
            <a:avLst/>
            <a:gdLst/>
            <a:ahLst/>
            <a:cxnLst/>
            <a:rect l="l" t="t" r="r" b="b"/>
            <a:pathLst>
              <a:path w="513714" h="692150">
                <a:moveTo>
                  <a:pt x="0" y="0"/>
                </a:moveTo>
                <a:lnTo>
                  <a:pt x="513588" y="0"/>
                </a:lnTo>
                <a:lnTo>
                  <a:pt x="513588" y="691896"/>
                </a:lnTo>
                <a:lnTo>
                  <a:pt x="0" y="691896"/>
                </a:lnTo>
                <a:lnTo>
                  <a:pt x="0" y="0"/>
                </a:lnTo>
                <a:close/>
              </a:path>
            </a:pathLst>
          </a:custGeom>
          <a:solidFill>
            <a:srgbClr val="D9D9D9"/>
          </a:solidFill>
        </p:spPr>
        <p:txBody>
          <a:bodyPr wrap="square" lIns="0" tIns="0" rIns="0" bIns="0" rtlCol="0"/>
          <a:lstStyle/>
          <a:p/>
        </p:txBody>
      </p:sp>
      <p:sp>
        <p:nvSpPr>
          <p:cNvPr id="17" name="object 17"/>
          <p:cNvSpPr/>
          <p:nvPr/>
        </p:nvSpPr>
        <p:spPr>
          <a:xfrm>
            <a:off x="4219244" y="4872037"/>
            <a:ext cx="526415" cy="704850"/>
          </a:xfrm>
          <a:custGeom>
            <a:avLst/>
            <a:gdLst/>
            <a:ahLst/>
            <a:cxnLst/>
            <a:rect l="l" t="t" r="r" b="b"/>
            <a:pathLst>
              <a:path w="526414" h="704850">
                <a:moveTo>
                  <a:pt x="526186" y="704418"/>
                </a:moveTo>
                <a:lnTo>
                  <a:pt x="0" y="704418"/>
                </a:lnTo>
                <a:lnTo>
                  <a:pt x="0" y="0"/>
                </a:lnTo>
                <a:lnTo>
                  <a:pt x="526186" y="0"/>
                </a:lnTo>
                <a:lnTo>
                  <a:pt x="526186" y="6350"/>
                </a:lnTo>
                <a:lnTo>
                  <a:pt x="12700" y="6350"/>
                </a:lnTo>
                <a:lnTo>
                  <a:pt x="6350" y="12700"/>
                </a:lnTo>
                <a:lnTo>
                  <a:pt x="12700" y="12700"/>
                </a:lnTo>
                <a:lnTo>
                  <a:pt x="12700" y="691718"/>
                </a:lnTo>
                <a:lnTo>
                  <a:pt x="6350" y="691718"/>
                </a:lnTo>
                <a:lnTo>
                  <a:pt x="12700" y="698068"/>
                </a:lnTo>
                <a:lnTo>
                  <a:pt x="526186" y="698068"/>
                </a:lnTo>
                <a:lnTo>
                  <a:pt x="526186" y="704418"/>
                </a:lnTo>
                <a:close/>
              </a:path>
              <a:path w="526414" h="704850">
                <a:moveTo>
                  <a:pt x="12700" y="12700"/>
                </a:moveTo>
                <a:lnTo>
                  <a:pt x="6350" y="12700"/>
                </a:lnTo>
                <a:lnTo>
                  <a:pt x="12700" y="6350"/>
                </a:lnTo>
                <a:lnTo>
                  <a:pt x="12700" y="12700"/>
                </a:lnTo>
                <a:close/>
              </a:path>
              <a:path w="526414" h="704850">
                <a:moveTo>
                  <a:pt x="513486" y="12700"/>
                </a:moveTo>
                <a:lnTo>
                  <a:pt x="12700" y="12700"/>
                </a:lnTo>
                <a:lnTo>
                  <a:pt x="12700" y="6350"/>
                </a:lnTo>
                <a:lnTo>
                  <a:pt x="513486" y="6350"/>
                </a:lnTo>
                <a:lnTo>
                  <a:pt x="513486" y="12700"/>
                </a:lnTo>
                <a:close/>
              </a:path>
              <a:path w="526414" h="704850">
                <a:moveTo>
                  <a:pt x="513486" y="698068"/>
                </a:moveTo>
                <a:lnTo>
                  <a:pt x="513486" y="6350"/>
                </a:lnTo>
                <a:lnTo>
                  <a:pt x="519836" y="12700"/>
                </a:lnTo>
                <a:lnTo>
                  <a:pt x="526186" y="12700"/>
                </a:lnTo>
                <a:lnTo>
                  <a:pt x="526186" y="691718"/>
                </a:lnTo>
                <a:lnTo>
                  <a:pt x="519836" y="691718"/>
                </a:lnTo>
                <a:lnTo>
                  <a:pt x="513486" y="698068"/>
                </a:lnTo>
                <a:close/>
              </a:path>
              <a:path w="526414" h="704850">
                <a:moveTo>
                  <a:pt x="526186" y="12700"/>
                </a:moveTo>
                <a:lnTo>
                  <a:pt x="519836" y="12700"/>
                </a:lnTo>
                <a:lnTo>
                  <a:pt x="513486" y="6350"/>
                </a:lnTo>
                <a:lnTo>
                  <a:pt x="526186" y="6350"/>
                </a:lnTo>
                <a:lnTo>
                  <a:pt x="526186" y="12700"/>
                </a:lnTo>
                <a:close/>
              </a:path>
              <a:path w="526414" h="704850">
                <a:moveTo>
                  <a:pt x="12700" y="698068"/>
                </a:moveTo>
                <a:lnTo>
                  <a:pt x="6350" y="691718"/>
                </a:lnTo>
                <a:lnTo>
                  <a:pt x="12700" y="691718"/>
                </a:lnTo>
                <a:lnTo>
                  <a:pt x="12700" y="698068"/>
                </a:lnTo>
                <a:close/>
              </a:path>
              <a:path w="526414" h="704850">
                <a:moveTo>
                  <a:pt x="513486" y="698068"/>
                </a:moveTo>
                <a:lnTo>
                  <a:pt x="12700" y="698068"/>
                </a:lnTo>
                <a:lnTo>
                  <a:pt x="12700" y="691718"/>
                </a:lnTo>
                <a:lnTo>
                  <a:pt x="513486" y="691718"/>
                </a:lnTo>
                <a:lnTo>
                  <a:pt x="513486" y="698068"/>
                </a:lnTo>
                <a:close/>
              </a:path>
              <a:path w="526414" h="704850">
                <a:moveTo>
                  <a:pt x="526186" y="698068"/>
                </a:moveTo>
                <a:lnTo>
                  <a:pt x="513486" y="698068"/>
                </a:lnTo>
                <a:lnTo>
                  <a:pt x="519836" y="691718"/>
                </a:lnTo>
                <a:lnTo>
                  <a:pt x="526186" y="691718"/>
                </a:lnTo>
                <a:lnTo>
                  <a:pt x="526186" y="698068"/>
                </a:lnTo>
                <a:close/>
              </a:path>
            </a:pathLst>
          </a:custGeom>
          <a:solidFill>
            <a:srgbClr val="C00000"/>
          </a:solidFill>
        </p:spPr>
        <p:txBody>
          <a:bodyPr wrap="square" lIns="0" tIns="0" rIns="0" bIns="0" rtlCol="0"/>
          <a:lstStyle/>
          <a:p/>
        </p:txBody>
      </p:sp>
      <p:sp>
        <p:nvSpPr>
          <p:cNvPr id="18" name="object 18"/>
          <p:cNvSpPr txBox="1"/>
          <p:nvPr/>
        </p:nvSpPr>
        <p:spPr>
          <a:xfrm>
            <a:off x="4226052" y="4975542"/>
            <a:ext cx="513715" cy="481965"/>
          </a:xfrm>
          <a:prstGeom prst="rect">
            <a:avLst/>
          </a:prstGeom>
        </p:spPr>
        <p:txBody>
          <a:bodyPr vert="horz" wrap="square" lIns="0" tIns="12065" rIns="0" bIns="0" rtlCol="0">
            <a:spAutoFit/>
          </a:bodyPr>
          <a:lstStyle/>
          <a:p>
            <a:pPr marL="102870">
              <a:lnSpc>
                <a:spcPct val="100000"/>
              </a:lnSpc>
              <a:spcBef>
                <a:spcPts val="95"/>
              </a:spcBef>
            </a:pPr>
            <a:r>
              <a:rPr sz="1000" b="1" spc="-5" dirty="0">
                <a:solidFill>
                  <a:srgbClr val="C00000"/>
                </a:solidFill>
                <a:latin typeface="微软雅黑" panose="020B0503020204020204" charset="-122"/>
                <a:cs typeface="微软雅黑" panose="020B0503020204020204" charset="-122"/>
              </a:rPr>
              <a:t>QSPI</a:t>
            </a:r>
            <a:endParaRPr sz="1000">
              <a:latin typeface="微软雅黑" panose="020B0503020204020204" charset="-122"/>
              <a:cs typeface="微软雅黑" panose="020B0503020204020204" charset="-122"/>
            </a:endParaRPr>
          </a:p>
          <a:p>
            <a:pPr marL="92075">
              <a:lnSpc>
                <a:spcPct val="100000"/>
              </a:lnSpc>
            </a:pPr>
            <a:r>
              <a:rPr sz="1000" b="1" spc="-5" dirty="0">
                <a:solidFill>
                  <a:srgbClr val="C00000"/>
                </a:solidFill>
                <a:latin typeface="微软雅黑" panose="020B0503020204020204" charset="-122"/>
                <a:cs typeface="微软雅黑" panose="020B0503020204020204" charset="-122"/>
              </a:rPr>
              <a:t>Flash</a:t>
            </a:r>
            <a:endParaRPr sz="1000">
              <a:latin typeface="微软雅黑" panose="020B0503020204020204" charset="-122"/>
              <a:cs typeface="微软雅黑" panose="020B0503020204020204" charset="-122"/>
            </a:endParaRPr>
          </a:p>
          <a:p>
            <a:pPr marL="79375">
              <a:lnSpc>
                <a:spcPct val="100000"/>
              </a:lnSpc>
            </a:pPr>
            <a:r>
              <a:rPr sz="1000" b="1" spc="-5" dirty="0">
                <a:solidFill>
                  <a:srgbClr val="C00000"/>
                </a:solidFill>
                <a:latin typeface="微软雅黑" panose="020B0503020204020204" charset="-122"/>
                <a:cs typeface="微软雅黑" panose="020B0503020204020204" charset="-122"/>
              </a:rPr>
              <a:t>(</a:t>
            </a:r>
            <a:r>
              <a:rPr sz="1000" b="1" dirty="0">
                <a:solidFill>
                  <a:srgbClr val="C00000"/>
                </a:solidFill>
                <a:latin typeface="微软雅黑" panose="020B0503020204020204" charset="-122"/>
                <a:cs typeface="微软雅黑" panose="020B0503020204020204" charset="-122"/>
              </a:rPr>
              <a:t>只读</a:t>
            </a:r>
            <a:r>
              <a:rPr sz="1000" b="1" spc="-5" dirty="0">
                <a:solidFill>
                  <a:srgbClr val="C00000"/>
                </a:solidFill>
                <a:latin typeface="微软雅黑" panose="020B0503020204020204" charset="-122"/>
                <a:cs typeface="微软雅黑" panose="020B0503020204020204" charset="-122"/>
              </a:rPr>
              <a:t>)</a:t>
            </a:r>
            <a:endParaRPr sz="1000">
              <a:latin typeface="微软雅黑" panose="020B0503020204020204" charset="-122"/>
              <a:cs typeface="微软雅黑" panose="020B0503020204020204" charset="-122"/>
            </a:endParaRPr>
          </a:p>
        </p:txBody>
      </p:sp>
      <p:sp>
        <p:nvSpPr>
          <p:cNvPr id="19" name="object 19"/>
          <p:cNvSpPr/>
          <p:nvPr/>
        </p:nvSpPr>
        <p:spPr>
          <a:xfrm>
            <a:off x="2865120" y="4459223"/>
            <a:ext cx="2563495" cy="228600"/>
          </a:xfrm>
          <a:custGeom>
            <a:avLst/>
            <a:gdLst/>
            <a:ahLst/>
            <a:cxnLst/>
            <a:rect l="l" t="t" r="r" b="b"/>
            <a:pathLst>
              <a:path w="2563495" h="228600">
                <a:moveTo>
                  <a:pt x="0" y="0"/>
                </a:moveTo>
                <a:lnTo>
                  <a:pt x="2563368" y="0"/>
                </a:lnTo>
                <a:lnTo>
                  <a:pt x="2563368" y="228600"/>
                </a:lnTo>
                <a:lnTo>
                  <a:pt x="0" y="228600"/>
                </a:lnTo>
                <a:lnTo>
                  <a:pt x="0" y="0"/>
                </a:lnTo>
                <a:close/>
              </a:path>
            </a:pathLst>
          </a:custGeom>
          <a:solidFill>
            <a:srgbClr val="C00000"/>
          </a:solidFill>
        </p:spPr>
        <p:txBody>
          <a:bodyPr wrap="square" lIns="0" tIns="0" rIns="0" bIns="0" rtlCol="0"/>
          <a:lstStyle/>
          <a:p/>
        </p:txBody>
      </p:sp>
      <p:sp>
        <p:nvSpPr>
          <p:cNvPr id="20" name="object 20"/>
          <p:cNvSpPr txBox="1"/>
          <p:nvPr/>
        </p:nvSpPr>
        <p:spPr>
          <a:xfrm>
            <a:off x="3778186" y="4442421"/>
            <a:ext cx="737235" cy="240029"/>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FF"/>
                </a:solidFill>
                <a:latin typeface="微软雅黑" panose="020B0503020204020204" charset="-122"/>
                <a:cs typeface="微软雅黑" panose="020B0503020204020204" charset="-122"/>
              </a:rPr>
              <a:t>系统总</a:t>
            </a:r>
            <a:r>
              <a:rPr sz="1400" b="1" spc="5" dirty="0">
                <a:solidFill>
                  <a:srgbClr val="FFFFFF"/>
                </a:solidFill>
                <a:latin typeface="微软雅黑" panose="020B0503020204020204" charset="-122"/>
                <a:cs typeface="微软雅黑" panose="020B0503020204020204" charset="-122"/>
              </a:rPr>
              <a:t>线</a:t>
            </a:r>
            <a:endParaRPr sz="1400">
              <a:latin typeface="微软雅黑" panose="020B0503020204020204" charset="-122"/>
              <a:cs typeface="微软雅黑" panose="020B0503020204020204" charset="-122"/>
            </a:endParaRPr>
          </a:p>
        </p:txBody>
      </p:sp>
      <p:sp>
        <p:nvSpPr>
          <p:cNvPr id="21" name="object 21"/>
          <p:cNvSpPr/>
          <p:nvPr/>
        </p:nvSpPr>
        <p:spPr>
          <a:xfrm>
            <a:off x="6751319" y="1455419"/>
            <a:ext cx="238125" cy="3756660"/>
          </a:xfrm>
          <a:custGeom>
            <a:avLst/>
            <a:gdLst/>
            <a:ahLst/>
            <a:cxnLst/>
            <a:rect l="l" t="t" r="r" b="b"/>
            <a:pathLst>
              <a:path w="238125" h="3756660">
                <a:moveTo>
                  <a:pt x="0" y="0"/>
                </a:moveTo>
                <a:lnTo>
                  <a:pt x="237744" y="0"/>
                </a:lnTo>
                <a:lnTo>
                  <a:pt x="237744" y="3756659"/>
                </a:lnTo>
                <a:lnTo>
                  <a:pt x="0" y="3756659"/>
                </a:lnTo>
                <a:lnTo>
                  <a:pt x="0" y="0"/>
                </a:lnTo>
                <a:close/>
              </a:path>
            </a:pathLst>
          </a:custGeom>
          <a:solidFill>
            <a:srgbClr val="C00000"/>
          </a:solidFill>
        </p:spPr>
        <p:txBody>
          <a:bodyPr wrap="square" lIns="0" tIns="0" rIns="0" bIns="0" rtlCol="0"/>
          <a:lstStyle/>
          <a:p/>
        </p:txBody>
      </p:sp>
      <p:sp>
        <p:nvSpPr>
          <p:cNvPr id="22" name="object 22"/>
          <p:cNvSpPr txBox="1"/>
          <p:nvPr/>
        </p:nvSpPr>
        <p:spPr>
          <a:xfrm>
            <a:off x="6768198" y="2669006"/>
            <a:ext cx="203835" cy="1306830"/>
          </a:xfrm>
          <a:prstGeom prst="rect">
            <a:avLst/>
          </a:prstGeom>
        </p:spPr>
        <p:txBody>
          <a:bodyPr vert="horz" wrap="square" lIns="0" tIns="13335" rIns="0" bIns="0" rtlCol="0">
            <a:spAutoFit/>
          </a:bodyPr>
          <a:lstStyle/>
          <a:p>
            <a:pPr marL="12700" marR="5080" algn="just">
              <a:lnSpc>
                <a:spcPct val="100000"/>
              </a:lnSpc>
              <a:spcBef>
                <a:spcPts val="105"/>
              </a:spcBef>
            </a:pPr>
            <a:r>
              <a:rPr sz="1400" b="1" dirty="0">
                <a:solidFill>
                  <a:srgbClr val="FFFFFF"/>
                </a:solidFill>
                <a:latin typeface="微软雅黑" panose="020B0503020204020204" charset="-122"/>
                <a:cs typeface="微软雅黑" panose="020B0503020204020204" charset="-122"/>
              </a:rPr>
              <a:t>外 部 设 备 总 线</a:t>
            </a:r>
            <a:endParaRPr sz="1400">
              <a:latin typeface="微软雅黑" panose="020B0503020204020204" charset="-122"/>
              <a:cs typeface="微软雅黑" panose="020B0503020204020204" charset="-122"/>
            </a:endParaRPr>
          </a:p>
        </p:txBody>
      </p:sp>
      <p:sp>
        <p:nvSpPr>
          <p:cNvPr id="23" name="object 23"/>
          <p:cNvSpPr/>
          <p:nvPr/>
        </p:nvSpPr>
        <p:spPr>
          <a:xfrm>
            <a:off x="1319783" y="4453128"/>
            <a:ext cx="1428115" cy="666115"/>
          </a:xfrm>
          <a:custGeom>
            <a:avLst/>
            <a:gdLst/>
            <a:ahLst/>
            <a:cxnLst/>
            <a:rect l="l" t="t" r="r" b="b"/>
            <a:pathLst>
              <a:path w="1428114" h="666114">
                <a:moveTo>
                  <a:pt x="0" y="0"/>
                </a:moveTo>
                <a:lnTo>
                  <a:pt x="1427988" y="0"/>
                </a:lnTo>
                <a:lnTo>
                  <a:pt x="1427988" y="665988"/>
                </a:lnTo>
                <a:lnTo>
                  <a:pt x="0" y="665988"/>
                </a:lnTo>
                <a:lnTo>
                  <a:pt x="0" y="0"/>
                </a:lnTo>
                <a:close/>
              </a:path>
            </a:pathLst>
          </a:custGeom>
          <a:solidFill>
            <a:srgbClr val="D9D9D9"/>
          </a:solidFill>
        </p:spPr>
        <p:txBody>
          <a:bodyPr wrap="square" lIns="0" tIns="0" rIns="0" bIns="0" rtlCol="0"/>
          <a:lstStyle/>
          <a:p/>
        </p:txBody>
      </p:sp>
      <p:sp>
        <p:nvSpPr>
          <p:cNvPr id="24" name="object 24"/>
          <p:cNvSpPr/>
          <p:nvPr/>
        </p:nvSpPr>
        <p:spPr>
          <a:xfrm>
            <a:off x="1313472" y="4446320"/>
            <a:ext cx="1441450" cy="678815"/>
          </a:xfrm>
          <a:custGeom>
            <a:avLst/>
            <a:gdLst/>
            <a:ahLst/>
            <a:cxnLst/>
            <a:rect l="l" t="t" r="r" b="b"/>
            <a:pathLst>
              <a:path w="1441450" h="678814">
                <a:moveTo>
                  <a:pt x="1440992" y="678561"/>
                </a:moveTo>
                <a:lnTo>
                  <a:pt x="0" y="678561"/>
                </a:lnTo>
                <a:lnTo>
                  <a:pt x="0" y="0"/>
                </a:lnTo>
                <a:lnTo>
                  <a:pt x="1440992" y="0"/>
                </a:lnTo>
                <a:lnTo>
                  <a:pt x="1440992" y="6350"/>
                </a:lnTo>
                <a:lnTo>
                  <a:pt x="12700" y="6350"/>
                </a:lnTo>
                <a:lnTo>
                  <a:pt x="6350" y="12700"/>
                </a:lnTo>
                <a:lnTo>
                  <a:pt x="12700" y="12700"/>
                </a:lnTo>
                <a:lnTo>
                  <a:pt x="12700" y="665861"/>
                </a:lnTo>
                <a:lnTo>
                  <a:pt x="6350" y="665861"/>
                </a:lnTo>
                <a:lnTo>
                  <a:pt x="12700" y="672211"/>
                </a:lnTo>
                <a:lnTo>
                  <a:pt x="1440992" y="672211"/>
                </a:lnTo>
                <a:lnTo>
                  <a:pt x="1440992" y="678561"/>
                </a:lnTo>
                <a:close/>
              </a:path>
              <a:path w="1441450" h="678814">
                <a:moveTo>
                  <a:pt x="12700" y="12700"/>
                </a:moveTo>
                <a:lnTo>
                  <a:pt x="6350" y="12700"/>
                </a:lnTo>
                <a:lnTo>
                  <a:pt x="12700" y="6350"/>
                </a:lnTo>
                <a:lnTo>
                  <a:pt x="12700" y="12700"/>
                </a:lnTo>
                <a:close/>
              </a:path>
              <a:path w="1441450" h="678814">
                <a:moveTo>
                  <a:pt x="1428292" y="12700"/>
                </a:moveTo>
                <a:lnTo>
                  <a:pt x="12700" y="12700"/>
                </a:lnTo>
                <a:lnTo>
                  <a:pt x="12700" y="6350"/>
                </a:lnTo>
                <a:lnTo>
                  <a:pt x="1428292" y="6350"/>
                </a:lnTo>
                <a:lnTo>
                  <a:pt x="1428292" y="12700"/>
                </a:lnTo>
                <a:close/>
              </a:path>
              <a:path w="1441450" h="678814">
                <a:moveTo>
                  <a:pt x="1428292" y="672211"/>
                </a:moveTo>
                <a:lnTo>
                  <a:pt x="1428292" y="6350"/>
                </a:lnTo>
                <a:lnTo>
                  <a:pt x="1434642" y="12700"/>
                </a:lnTo>
                <a:lnTo>
                  <a:pt x="1440992" y="12700"/>
                </a:lnTo>
                <a:lnTo>
                  <a:pt x="1440992" y="665861"/>
                </a:lnTo>
                <a:lnTo>
                  <a:pt x="1434642" y="665861"/>
                </a:lnTo>
                <a:lnTo>
                  <a:pt x="1428292" y="672211"/>
                </a:lnTo>
                <a:close/>
              </a:path>
              <a:path w="1441450" h="678814">
                <a:moveTo>
                  <a:pt x="1440992" y="12700"/>
                </a:moveTo>
                <a:lnTo>
                  <a:pt x="1434642" y="12700"/>
                </a:lnTo>
                <a:lnTo>
                  <a:pt x="1428292" y="6350"/>
                </a:lnTo>
                <a:lnTo>
                  <a:pt x="1440992" y="6350"/>
                </a:lnTo>
                <a:lnTo>
                  <a:pt x="1440992" y="12700"/>
                </a:lnTo>
                <a:close/>
              </a:path>
              <a:path w="1441450" h="678814">
                <a:moveTo>
                  <a:pt x="12700" y="672211"/>
                </a:moveTo>
                <a:lnTo>
                  <a:pt x="6350" y="665861"/>
                </a:lnTo>
                <a:lnTo>
                  <a:pt x="12700" y="665861"/>
                </a:lnTo>
                <a:lnTo>
                  <a:pt x="12700" y="672211"/>
                </a:lnTo>
                <a:close/>
              </a:path>
              <a:path w="1441450" h="678814">
                <a:moveTo>
                  <a:pt x="1428292" y="672211"/>
                </a:moveTo>
                <a:lnTo>
                  <a:pt x="12700" y="672211"/>
                </a:lnTo>
                <a:lnTo>
                  <a:pt x="12700" y="665861"/>
                </a:lnTo>
                <a:lnTo>
                  <a:pt x="1428292" y="665861"/>
                </a:lnTo>
                <a:lnTo>
                  <a:pt x="1428292" y="672211"/>
                </a:lnTo>
                <a:close/>
              </a:path>
              <a:path w="1441450" h="678814">
                <a:moveTo>
                  <a:pt x="1440992" y="672211"/>
                </a:moveTo>
                <a:lnTo>
                  <a:pt x="1428292" y="672211"/>
                </a:lnTo>
                <a:lnTo>
                  <a:pt x="1434642" y="665861"/>
                </a:lnTo>
                <a:lnTo>
                  <a:pt x="1440992" y="665861"/>
                </a:lnTo>
                <a:lnTo>
                  <a:pt x="1440992" y="672211"/>
                </a:lnTo>
                <a:close/>
              </a:path>
            </a:pathLst>
          </a:custGeom>
          <a:solidFill>
            <a:srgbClr val="C00000"/>
          </a:solidFill>
        </p:spPr>
        <p:txBody>
          <a:bodyPr wrap="square" lIns="0" tIns="0" rIns="0" bIns="0" rtlCol="0"/>
          <a:lstStyle/>
          <a:p/>
        </p:txBody>
      </p:sp>
      <p:sp>
        <p:nvSpPr>
          <p:cNvPr id="25" name="object 25"/>
          <p:cNvSpPr txBox="1"/>
          <p:nvPr/>
        </p:nvSpPr>
        <p:spPr>
          <a:xfrm>
            <a:off x="1319783" y="4653965"/>
            <a:ext cx="1428115" cy="240029"/>
          </a:xfrm>
          <a:prstGeom prst="rect">
            <a:avLst/>
          </a:prstGeom>
        </p:spPr>
        <p:txBody>
          <a:bodyPr vert="horz" wrap="square" lIns="0" tIns="13335" rIns="0" bIns="0" rtlCol="0">
            <a:spAutoFit/>
          </a:bodyPr>
          <a:lstStyle/>
          <a:p>
            <a:pPr marL="255905">
              <a:lnSpc>
                <a:spcPct val="100000"/>
              </a:lnSpc>
              <a:spcBef>
                <a:spcPts val="105"/>
              </a:spcBef>
            </a:pPr>
            <a:r>
              <a:rPr sz="1400" b="1" dirty="0">
                <a:solidFill>
                  <a:srgbClr val="C00000"/>
                </a:solidFill>
                <a:latin typeface="微软雅黑" panose="020B0503020204020204" charset="-122"/>
                <a:cs typeface="微软雅黑" panose="020B0503020204020204" charset="-122"/>
              </a:rPr>
              <a:t>快速</a:t>
            </a:r>
            <a:r>
              <a:rPr sz="1400" b="1" spc="-5" dirty="0">
                <a:solidFill>
                  <a:srgbClr val="C00000"/>
                </a:solidFill>
                <a:latin typeface="微软雅黑" panose="020B0503020204020204" charset="-122"/>
                <a:cs typeface="微软雅黑" panose="020B0503020204020204" charset="-122"/>
              </a:rPr>
              <a:t>IO</a:t>
            </a:r>
            <a:r>
              <a:rPr sz="1400" b="1" dirty="0">
                <a:solidFill>
                  <a:srgbClr val="C00000"/>
                </a:solidFill>
                <a:latin typeface="微软雅黑" panose="020B0503020204020204" charset="-122"/>
                <a:cs typeface="微软雅黑" panose="020B0503020204020204" charset="-122"/>
              </a:rPr>
              <a:t>模</a:t>
            </a:r>
            <a:r>
              <a:rPr sz="1400" b="1" spc="5" dirty="0">
                <a:solidFill>
                  <a:srgbClr val="C00000"/>
                </a:solidFill>
                <a:latin typeface="微软雅黑" panose="020B0503020204020204" charset="-122"/>
                <a:cs typeface="微软雅黑" panose="020B0503020204020204" charset="-122"/>
              </a:rPr>
              <a:t>块</a:t>
            </a:r>
            <a:endParaRPr sz="1400">
              <a:latin typeface="微软雅黑" panose="020B0503020204020204" charset="-122"/>
              <a:cs typeface="微软雅黑" panose="020B0503020204020204" charset="-122"/>
            </a:endParaRPr>
          </a:p>
        </p:txBody>
      </p:sp>
      <p:sp>
        <p:nvSpPr>
          <p:cNvPr id="26" name="object 26"/>
          <p:cNvSpPr/>
          <p:nvPr/>
        </p:nvSpPr>
        <p:spPr>
          <a:xfrm>
            <a:off x="6988556" y="1947341"/>
            <a:ext cx="244195" cy="76200"/>
          </a:xfrm>
          <a:prstGeom prst="rect">
            <a:avLst/>
          </a:prstGeom>
          <a:blipFill>
            <a:blip r:embed="rId1" cstate="print"/>
            <a:stretch>
              <a:fillRect/>
            </a:stretch>
          </a:blipFill>
        </p:spPr>
        <p:txBody>
          <a:bodyPr wrap="square" lIns="0" tIns="0" rIns="0" bIns="0" rtlCol="0"/>
          <a:lstStyle/>
          <a:p/>
        </p:txBody>
      </p:sp>
      <p:sp>
        <p:nvSpPr>
          <p:cNvPr id="27" name="object 27"/>
          <p:cNvSpPr/>
          <p:nvPr/>
        </p:nvSpPr>
        <p:spPr>
          <a:xfrm>
            <a:off x="6465506" y="3443922"/>
            <a:ext cx="309245" cy="76200"/>
          </a:xfrm>
          <a:custGeom>
            <a:avLst/>
            <a:gdLst/>
            <a:ahLst/>
            <a:cxnLst/>
            <a:rect l="l" t="t" r="r" b="b"/>
            <a:pathLst>
              <a:path w="309245" h="76200">
                <a:moveTo>
                  <a:pt x="232726" y="34284"/>
                </a:moveTo>
                <a:lnTo>
                  <a:pt x="232600" y="0"/>
                </a:lnTo>
                <a:lnTo>
                  <a:pt x="301659" y="34213"/>
                </a:lnTo>
                <a:lnTo>
                  <a:pt x="251777" y="34213"/>
                </a:lnTo>
                <a:lnTo>
                  <a:pt x="232726" y="34284"/>
                </a:lnTo>
                <a:close/>
              </a:path>
              <a:path w="309245" h="76200">
                <a:moveTo>
                  <a:pt x="232754" y="41904"/>
                </a:moveTo>
                <a:lnTo>
                  <a:pt x="232726" y="34284"/>
                </a:lnTo>
                <a:lnTo>
                  <a:pt x="251777" y="34213"/>
                </a:lnTo>
                <a:lnTo>
                  <a:pt x="251802" y="41833"/>
                </a:lnTo>
                <a:lnTo>
                  <a:pt x="232754" y="41904"/>
                </a:lnTo>
                <a:close/>
              </a:path>
              <a:path w="309245" h="76200">
                <a:moveTo>
                  <a:pt x="232879" y="76200"/>
                </a:moveTo>
                <a:lnTo>
                  <a:pt x="232754" y="41904"/>
                </a:lnTo>
                <a:lnTo>
                  <a:pt x="251802" y="41833"/>
                </a:lnTo>
                <a:lnTo>
                  <a:pt x="251777" y="34213"/>
                </a:lnTo>
                <a:lnTo>
                  <a:pt x="301659" y="34213"/>
                </a:lnTo>
                <a:lnTo>
                  <a:pt x="308940" y="37820"/>
                </a:lnTo>
                <a:lnTo>
                  <a:pt x="232879" y="76200"/>
                </a:lnTo>
                <a:close/>
              </a:path>
              <a:path w="309245" h="76200">
                <a:moveTo>
                  <a:pt x="25" y="42773"/>
                </a:moveTo>
                <a:lnTo>
                  <a:pt x="0" y="35153"/>
                </a:lnTo>
                <a:lnTo>
                  <a:pt x="232726" y="34284"/>
                </a:lnTo>
                <a:lnTo>
                  <a:pt x="232754" y="41904"/>
                </a:lnTo>
                <a:lnTo>
                  <a:pt x="25" y="42773"/>
                </a:lnTo>
                <a:close/>
              </a:path>
            </a:pathLst>
          </a:custGeom>
          <a:solidFill>
            <a:srgbClr val="C00000"/>
          </a:solidFill>
        </p:spPr>
        <p:txBody>
          <a:bodyPr wrap="square" lIns="0" tIns="0" rIns="0" bIns="0" rtlCol="0"/>
          <a:lstStyle/>
          <a:p/>
        </p:txBody>
      </p:sp>
      <p:sp>
        <p:nvSpPr>
          <p:cNvPr id="28" name="object 28"/>
          <p:cNvSpPr/>
          <p:nvPr/>
        </p:nvSpPr>
        <p:spPr>
          <a:xfrm>
            <a:off x="3370478" y="4016044"/>
            <a:ext cx="76200" cy="448945"/>
          </a:xfrm>
          <a:custGeom>
            <a:avLst/>
            <a:gdLst/>
            <a:ahLst/>
            <a:cxnLst/>
            <a:rect l="l" t="t" r="r" b="b"/>
            <a:pathLst>
              <a:path w="76200" h="448945">
                <a:moveTo>
                  <a:pt x="34289" y="76200"/>
                </a:moveTo>
                <a:lnTo>
                  <a:pt x="0" y="76200"/>
                </a:lnTo>
                <a:lnTo>
                  <a:pt x="38100" y="0"/>
                </a:lnTo>
                <a:lnTo>
                  <a:pt x="66675" y="57150"/>
                </a:lnTo>
                <a:lnTo>
                  <a:pt x="34289" y="57150"/>
                </a:lnTo>
                <a:lnTo>
                  <a:pt x="34289" y="76200"/>
                </a:lnTo>
                <a:close/>
              </a:path>
              <a:path w="76200" h="448945">
                <a:moveTo>
                  <a:pt x="41910" y="448690"/>
                </a:moveTo>
                <a:lnTo>
                  <a:pt x="34289" y="448690"/>
                </a:lnTo>
                <a:lnTo>
                  <a:pt x="34289" y="57150"/>
                </a:lnTo>
                <a:lnTo>
                  <a:pt x="41910" y="57150"/>
                </a:lnTo>
                <a:lnTo>
                  <a:pt x="41910" y="448690"/>
                </a:lnTo>
                <a:close/>
              </a:path>
              <a:path w="76200" h="448945">
                <a:moveTo>
                  <a:pt x="76200" y="76200"/>
                </a:moveTo>
                <a:lnTo>
                  <a:pt x="41910" y="76200"/>
                </a:lnTo>
                <a:lnTo>
                  <a:pt x="41910" y="57150"/>
                </a:lnTo>
                <a:lnTo>
                  <a:pt x="66675" y="57150"/>
                </a:lnTo>
                <a:lnTo>
                  <a:pt x="76200" y="76200"/>
                </a:lnTo>
                <a:close/>
              </a:path>
            </a:pathLst>
          </a:custGeom>
          <a:solidFill>
            <a:srgbClr val="C00000"/>
          </a:solidFill>
        </p:spPr>
        <p:txBody>
          <a:bodyPr wrap="square" lIns="0" tIns="0" rIns="0" bIns="0" rtlCol="0"/>
          <a:lstStyle/>
          <a:p/>
        </p:txBody>
      </p:sp>
      <p:sp>
        <p:nvSpPr>
          <p:cNvPr id="29" name="object 29"/>
          <p:cNvSpPr/>
          <p:nvPr/>
        </p:nvSpPr>
        <p:spPr>
          <a:xfrm>
            <a:off x="4042333" y="4003979"/>
            <a:ext cx="76200" cy="448945"/>
          </a:xfrm>
          <a:custGeom>
            <a:avLst/>
            <a:gdLst/>
            <a:ahLst/>
            <a:cxnLst/>
            <a:rect l="l" t="t" r="r" b="b"/>
            <a:pathLst>
              <a:path w="76200" h="448945">
                <a:moveTo>
                  <a:pt x="41910" y="391540"/>
                </a:moveTo>
                <a:lnTo>
                  <a:pt x="34290" y="391540"/>
                </a:lnTo>
                <a:lnTo>
                  <a:pt x="34290" y="0"/>
                </a:lnTo>
                <a:lnTo>
                  <a:pt x="41910" y="0"/>
                </a:lnTo>
                <a:lnTo>
                  <a:pt x="41910" y="391540"/>
                </a:lnTo>
                <a:close/>
              </a:path>
              <a:path w="76200" h="448945">
                <a:moveTo>
                  <a:pt x="38100" y="448690"/>
                </a:moveTo>
                <a:lnTo>
                  <a:pt x="0" y="372490"/>
                </a:lnTo>
                <a:lnTo>
                  <a:pt x="34290" y="372490"/>
                </a:lnTo>
                <a:lnTo>
                  <a:pt x="34290" y="391540"/>
                </a:lnTo>
                <a:lnTo>
                  <a:pt x="66675" y="391540"/>
                </a:lnTo>
                <a:lnTo>
                  <a:pt x="38100" y="448690"/>
                </a:lnTo>
                <a:close/>
              </a:path>
              <a:path w="76200" h="448945">
                <a:moveTo>
                  <a:pt x="66675" y="391540"/>
                </a:moveTo>
                <a:lnTo>
                  <a:pt x="41910" y="391540"/>
                </a:lnTo>
                <a:lnTo>
                  <a:pt x="41910" y="372490"/>
                </a:lnTo>
                <a:lnTo>
                  <a:pt x="76200" y="372490"/>
                </a:lnTo>
                <a:lnTo>
                  <a:pt x="66675" y="391540"/>
                </a:lnTo>
                <a:close/>
              </a:path>
            </a:pathLst>
          </a:custGeom>
          <a:solidFill>
            <a:srgbClr val="C00000"/>
          </a:solidFill>
        </p:spPr>
        <p:txBody>
          <a:bodyPr wrap="square" lIns="0" tIns="0" rIns="0" bIns="0" rtlCol="0"/>
          <a:lstStyle/>
          <a:p/>
        </p:txBody>
      </p:sp>
      <p:sp>
        <p:nvSpPr>
          <p:cNvPr id="30" name="object 30"/>
          <p:cNvSpPr/>
          <p:nvPr/>
        </p:nvSpPr>
        <p:spPr>
          <a:xfrm>
            <a:off x="4657191" y="4006850"/>
            <a:ext cx="76200" cy="448945"/>
          </a:xfrm>
          <a:custGeom>
            <a:avLst/>
            <a:gdLst/>
            <a:ahLst/>
            <a:cxnLst/>
            <a:rect l="l" t="t" r="r" b="b"/>
            <a:pathLst>
              <a:path w="76200" h="448945">
                <a:moveTo>
                  <a:pt x="34289" y="76200"/>
                </a:moveTo>
                <a:lnTo>
                  <a:pt x="0" y="76200"/>
                </a:lnTo>
                <a:lnTo>
                  <a:pt x="38100" y="0"/>
                </a:lnTo>
                <a:lnTo>
                  <a:pt x="66675" y="57150"/>
                </a:lnTo>
                <a:lnTo>
                  <a:pt x="34289" y="57150"/>
                </a:lnTo>
                <a:lnTo>
                  <a:pt x="34289" y="76200"/>
                </a:lnTo>
                <a:close/>
              </a:path>
              <a:path w="76200" h="448945">
                <a:moveTo>
                  <a:pt x="41909" y="448690"/>
                </a:moveTo>
                <a:lnTo>
                  <a:pt x="34289" y="448690"/>
                </a:lnTo>
                <a:lnTo>
                  <a:pt x="34289" y="57150"/>
                </a:lnTo>
                <a:lnTo>
                  <a:pt x="41909" y="57150"/>
                </a:lnTo>
                <a:lnTo>
                  <a:pt x="41909" y="448690"/>
                </a:lnTo>
                <a:close/>
              </a:path>
              <a:path w="76200" h="448945">
                <a:moveTo>
                  <a:pt x="76200" y="76200"/>
                </a:moveTo>
                <a:lnTo>
                  <a:pt x="41909" y="76200"/>
                </a:lnTo>
                <a:lnTo>
                  <a:pt x="41909" y="57150"/>
                </a:lnTo>
                <a:lnTo>
                  <a:pt x="66675" y="57150"/>
                </a:lnTo>
                <a:lnTo>
                  <a:pt x="76200" y="76200"/>
                </a:lnTo>
                <a:close/>
              </a:path>
            </a:pathLst>
          </a:custGeom>
          <a:solidFill>
            <a:srgbClr val="C00000"/>
          </a:solidFill>
        </p:spPr>
        <p:txBody>
          <a:bodyPr wrap="square" lIns="0" tIns="0" rIns="0" bIns="0" rtlCol="0"/>
          <a:lstStyle/>
          <a:p/>
        </p:txBody>
      </p:sp>
      <p:sp>
        <p:nvSpPr>
          <p:cNvPr id="31" name="object 31"/>
          <p:cNvSpPr/>
          <p:nvPr/>
        </p:nvSpPr>
        <p:spPr>
          <a:xfrm>
            <a:off x="1996173" y="4010863"/>
            <a:ext cx="76200" cy="448945"/>
          </a:xfrm>
          <a:custGeom>
            <a:avLst/>
            <a:gdLst/>
            <a:ahLst/>
            <a:cxnLst/>
            <a:rect l="l" t="t" r="r" b="b"/>
            <a:pathLst>
              <a:path w="76200" h="448945">
                <a:moveTo>
                  <a:pt x="41910" y="391553"/>
                </a:moveTo>
                <a:lnTo>
                  <a:pt x="34289" y="391553"/>
                </a:lnTo>
                <a:lnTo>
                  <a:pt x="34289" y="0"/>
                </a:lnTo>
                <a:lnTo>
                  <a:pt x="41910" y="0"/>
                </a:lnTo>
                <a:lnTo>
                  <a:pt x="41910" y="391553"/>
                </a:lnTo>
                <a:close/>
              </a:path>
              <a:path w="76200" h="448945">
                <a:moveTo>
                  <a:pt x="38100" y="448703"/>
                </a:moveTo>
                <a:lnTo>
                  <a:pt x="0" y="372503"/>
                </a:lnTo>
                <a:lnTo>
                  <a:pt x="34289" y="372503"/>
                </a:lnTo>
                <a:lnTo>
                  <a:pt x="34289" y="391553"/>
                </a:lnTo>
                <a:lnTo>
                  <a:pt x="66675" y="391553"/>
                </a:lnTo>
                <a:lnTo>
                  <a:pt x="38100" y="448703"/>
                </a:lnTo>
                <a:close/>
              </a:path>
              <a:path w="76200" h="448945">
                <a:moveTo>
                  <a:pt x="66675" y="391553"/>
                </a:moveTo>
                <a:lnTo>
                  <a:pt x="41910" y="391553"/>
                </a:lnTo>
                <a:lnTo>
                  <a:pt x="41910" y="372503"/>
                </a:lnTo>
                <a:lnTo>
                  <a:pt x="76200" y="372503"/>
                </a:lnTo>
                <a:lnTo>
                  <a:pt x="66675" y="391553"/>
                </a:lnTo>
                <a:close/>
              </a:path>
            </a:pathLst>
          </a:custGeom>
          <a:solidFill>
            <a:srgbClr val="C00000"/>
          </a:solidFill>
        </p:spPr>
        <p:txBody>
          <a:bodyPr wrap="square" lIns="0" tIns="0" rIns="0" bIns="0" rtlCol="0"/>
          <a:lstStyle/>
          <a:p/>
        </p:txBody>
      </p:sp>
      <p:sp>
        <p:nvSpPr>
          <p:cNvPr id="32" name="object 32"/>
          <p:cNvSpPr txBox="1"/>
          <p:nvPr/>
        </p:nvSpPr>
        <p:spPr>
          <a:xfrm>
            <a:off x="3863416" y="3667061"/>
            <a:ext cx="368300" cy="299720"/>
          </a:xfrm>
          <a:prstGeom prst="rect">
            <a:avLst/>
          </a:prstGeom>
        </p:spPr>
        <p:txBody>
          <a:bodyPr vert="horz" wrap="square" lIns="0" tIns="12700" rIns="0" bIns="0" rtlCol="0">
            <a:spAutoFit/>
          </a:bodyPr>
          <a:lstStyle/>
          <a:p>
            <a:pPr marL="12700" marR="5080">
              <a:lnSpc>
                <a:spcPct val="100000"/>
              </a:lnSpc>
              <a:spcBef>
                <a:spcPts val="100"/>
              </a:spcBef>
            </a:pPr>
            <a:r>
              <a:rPr sz="900" b="1" dirty="0">
                <a:solidFill>
                  <a:srgbClr val="C00000"/>
                </a:solidFill>
                <a:latin typeface="微软雅黑" panose="020B0503020204020204" charset="-122"/>
                <a:cs typeface="微软雅黑" panose="020B0503020204020204" charset="-122"/>
              </a:rPr>
              <a:t>系统总 线接口</a:t>
            </a:r>
            <a:endParaRPr sz="900">
              <a:latin typeface="微软雅黑" panose="020B0503020204020204" charset="-122"/>
              <a:cs typeface="微软雅黑" panose="020B0503020204020204" charset="-122"/>
            </a:endParaRPr>
          </a:p>
        </p:txBody>
      </p:sp>
      <p:sp>
        <p:nvSpPr>
          <p:cNvPr id="33" name="object 33"/>
          <p:cNvSpPr txBox="1"/>
          <p:nvPr/>
        </p:nvSpPr>
        <p:spPr>
          <a:xfrm>
            <a:off x="2869120" y="4078414"/>
            <a:ext cx="443865" cy="299720"/>
          </a:xfrm>
          <a:prstGeom prst="rect">
            <a:avLst/>
          </a:prstGeom>
        </p:spPr>
        <p:txBody>
          <a:bodyPr vert="horz" wrap="square" lIns="0" tIns="12700" rIns="0" bIns="0" rtlCol="0">
            <a:spAutoFit/>
          </a:bodyPr>
          <a:lstStyle/>
          <a:p>
            <a:pPr marL="12700">
              <a:lnSpc>
                <a:spcPct val="100000"/>
              </a:lnSpc>
              <a:spcBef>
                <a:spcPts val="100"/>
              </a:spcBef>
            </a:pPr>
            <a:r>
              <a:rPr sz="900" b="1" spc="-5" dirty="0">
                <a:solidFill>
                  <a:srgbClr val="C00000"/>
                </a:solidFill>
                <a:latin typeface="微软雅黑" panose="020B0503020204020204" charset="-122"/>
                <a:cs typeface="微软雅黑" panose="020B0503020204020204" charset="-122"/>
              </a:rPr>
              <a:t>I</a:t>
            </a:r>
            <a:r>
              <a:rPr sz="900" b="1" dirty="0">
                <a:solidFill>
                  <a:srgbClr val="C00000"/>
                </a:solidFill>
                <a:latin typeface="微软雅黑" panose="020B0503020204020204" charset="-122"/>
                <a:cs typeface="微软雅黑" panose="020B0503020204020204" charset="-122"/>
              </a:rPr>
              <a:t>T</a:t>
            </a:r>
            <a:r>
              <a:rPr sz="900" b="1" spc="-5" dirty="0">
                <a:solidFill>
                  <a:srgbClr val="C00000"/>
                </a:solidFill>
                <a:latin typeface="微软雅黑" panose="020B0503020204020204" charset="-122"/>
                <a:cs typeface="微软雅黑" panose="020B0503020204020204" charset="-122"/>
              </a:rPr>
              <a:t>CM</a:t>
            </a:r>
            <a:r>
              <a:rPr sz="900" b="1" dirty="0">
                <a:solidFill>
                  <a:srgbClr val="C00000"/>
                </a:solidFill>
                <a:latin typeface="微软雅黑" panose="020B0503020204020204" charset="-122"/>
                <a:cs typeface="微软雅黑" panose="020B0503020204020204" charset="-122"/>
              </a:rPr>
              <a:t>外</a:t>
            </a:r>
            <a:endParaRPr sz="900">
              <a:latin typeface="微软雅黑" panose="020B0503020204020204" charset="-122"/>
              <a:cs typeface="微软雅黑" panose="020B0503020204020204" charset="-122"/>
            </a:endParaRPr>
          </a:p>
          <a:p>
            <a:pPr marL="50800">
              <a:lnSpc>
                <a:spcPct val="100000"/>
              </a:lnSpc>
            </a:pPr>
            <a:r>
              <a:rPr sz="900" b="1" dirty="0">
                <a:solidFill>
                  <a:srgbClr val="C00000"/>
                </a:solidFill>
                <a:latin typeface="微软雅黑" panose="020B0503020204020204" charset="-122"/>
                <a:cs typeface="微软雅黑" panose="020B0503020204020204" charset="-122"/>
              </a:rPr>
              <a:t>部接口</a:t>
            </a:r>
            <a:endParaRPr sz="900">
              <a:latin typeface="微软雅黑" panose="020B0503020204020204" charset="-122"/>
              <a:cs typeface="微软雅黑" panose="020B0503020204020204" charset="-122"/>
            </a:endParaRPr>
          </a:p>
        </p:txBody>
      </p:sp>
      <p:sp>
        <p:nvSpPr>
          <p:cNvPr id="34" name="object 34"/>
          <p:cNvSpPr txBox="1"/>
          <p:nvPr/>
        </p:nvSpPr>
        <p:spPr>
          <a:xfrm>
            <a:off x="4787366" y="4071518"/>
            <a:ext cx="495934" cy="299720"/>
          </a:xfrm>
          <a:prstGeom prst="rect">
            <a:avLst/>
          </a:prstGeom>
        </p:spPr>
        <p:txBody>
          <a:bodyPr vert="horz" wrap="square" lIns="0" tIns="12700" rIns="0" bIns="0" rtlCol="0">
            <a:spAutoFit/>
          </a:bodyPr>
          <a:lstStyle/>
          <a:p>
            <a:pPr algn="ctr">
              <a:lnSpc>
                <a:spcPct val="100000"/>
              </a:lnSpc>
              <a:spcBef>
                <a:spcPts val="100"/>
              </a:spcBef>
            </a:pPr>
            <a:r>
              <a:rPr sz="900" b="1" spc="-5" dirty="0">
                <a:solidFill>
                  <a:srgbClr val="C00000"/>
                </a:solidFill>
                <a:latin typeface="微软雅黑" panose="020B0503020204020204" charset="-122"/>
                <a:cs typeface="微软雅黑" panose="020B0503020204020204" charset="-122"/>
              </a:rPr>
              <a:t>D</a:t>
            </a:r>
            <a:r>
              <a:rPr sz="900" b="1" dirty="0">
                <a:solidFill>
                  <a:srgbClr val="C00000"/>
                </a:solidFill>
                <a:latin typeface="微软雅黑" panose="020B0503020204020204" charset="-122"/>
                <a:cs typeface="微软雅黑" panose="020B0503020204020204" charset="-122"/>
              </a:rPr>
              <a:t>T</a:t>
            </a:r>
            <a:r>
              <a:rPr sz="900" b="1" spc="-5" dirty="0">
                <a:solidFill>
                  <a:srgbClr val="C00000"/>
                </a:solidFill>
                <a:latin typeface="微软雅黑" panose="020B0503020204020204" charset="-122"/>
                <a:cs typeface="微软雅黑" panose="020B0503020204020204" charset="-122"/>
              </a:rPr>
              <a:t>CM</a:t>
            </a:r>
            <a:r>
              <a:rPr sz="900" b="1" dirty="0">
                <a:solidFill>
                  <a:srgbClr val="C00000"/>
                </a:solidFill>
                <a:latin typeface="微软雅黑" panose="020B0503020204020204" charset="-122"/>
                <a:cs typeface="微软雅黑" panose="020B0503020204020204" charset="-122"/>
              </a:rPr>
              <a:t>外</a:t>
            </a:r>
            <a:endParaRPr sz="900">
              <a:latin typeface="微软雅黑" panose="020B0503020204020204" charset="-122"/>
              <a:cs typeface="微软雅黑" panose="020B0503020204020204" charset="-122"/>
            </a:endParaRPr>
          </a:p>
          <a:p>
            <a:pPr algn="ctr">
              <a:lnSpc>
                <a:spcPct val="100000"/>
              </a:lnSpc>
            </a:pPr>
            <a:r>
              <a:rPr sz="900" b="1" dirty="0">
                <a:solidFill>
                  <a:srgbClr val="C00000"/>
                </a:solidFill>
                <a:latin typeface="微软雅黑" panose="020B0503020204020204" charset="-122"/>
                <a:cs typeface="微软雅黑" panose="020B0503020204020204" charset="-122"/>
              </a:rPr>
              <a:t>部接口</a:t>
            </a:r>
            <a:endParaRPr sz="900">
              <a:latin typeface="微软雅黑" panose="020B0503020204020204" charset="-122"/>
              <a:cs typeface="微软雅黑" panose="020B0503020204020204" charset="-122"/>
            </a:endParaRPr>
          </a:p>
        </p:txBody>
      </p:sp>
      <p:sp>
        <p:nvSpPr>
          <p:cNvPr id="35" name="object 35"/>
          <p:cNvSpPr txBox="1"/>
          <p:nvPr/>
        </p:nvSpPr>
        <p:spPr>
          <a:xfrm>
            <a:off x="1840763" y="3667061"/>
            <a:ext cx="386080" cy="299720"/>
          </a:xfrm>
          <a:prstGeom prst="rect">
            <a:avLst/>
          </a:prstGeom>
        </p:spPr>
        <p:txBody>
          <a:bodyPr vert="horz" wrap="square" lIns="0" tIns="12700" rIns="0" bIns="0" rtlCol="0">
            <a:spAutoFit/>
          </a:bodyPr>
          <a:lstStyle/>
          <a:p>
            <a:pPr marL="78105" marR="5080" indent="-66040">
              <a:lnSpc>
                <a:spcPct val="100000"/>
              </a:lnSpc>
              <a:spcBef>
                <a:spcPts val="100"/>
              </a:spcBef>
            </a:pPr>
            <a:r>
              <a:rPr sz="900" b="1" dirty="0">
                <a:solidFill>
                  <a:srgbClr val="C00000"/>
                </a:solidFill>
                <a:latin typeface="微软雅黑" panose="020B0503020204020204" charset="-122"/>
                <a:cs typeface="微软雅黑" panose="020B0503020204020204" charset="-122"/>
              </a:rPr>
              <a:t>快速</a:t>
            </a:r>
            <a:r>
              <a:rPr sz="900" b="1" spc="-5" dirty="0">
                <a:solidFill>
                  <a:srgbClr val="C00000"/>
                </a:solidFill>
                <a:latin typeface="微软雅黑" panose="020B0503020204020204" charset="-122"/>
                <a:cs typeface="微软雅黑" panose="020B0503020204020204" charset="-122"/>
              </a:rPr>
              <a:t>I</a:t>
            </a:r>
            <a:r>
              <a:rPr sz="900" b="1" dirty="0">
                <a:solidFill>
                  <a:srgbClr val="C00000"/>
                </a:solidFill>
                <a:latin typeface="微软雅黑" panose="020B0503020204020204" charset="-122"/>
                <a:cs typeface="微软雅黑" panose="020B0503020204020204" charset="-122"/>
              </a:rPr>
              <a:t>O 接口</a:t>
            </a:r>
            <a:endParaRPr sz="900">
              <a:latin typeface="微软雅黑" panose="020B0503020204020204" charset="-122"/>
              <a:cs typeface="微软雅黑" panose="020B0503020204020204" charset="-122"/>
            </a:endParaRPr>
          </a:p>
        </p:txBody>
      </p:sp>
      <p:sp>
        <p:nvSpPr>
          <p:cNvPr id="36" name="object 36"/>
          <p:cNvSpPr txBox="1"/>
          <p:nvPr/>
        </p:nvSpPr>
        <p:spPr>
          <a:xfrm>
            <a:off x="5810529" y="2948190"/>
            <a:ext cx="572135" cy="676910"/>
          </a:xfrm>
          <a:prstGeom prst="rect">
            <a:avLst/>
          </a:prstGeom>
        </p:spPr>
        <p:txBody>
          <a:bodyPr vert="horz" wrap="square" lIns="0" tIns="12065" rIns="0" bIns="0" rtlCol="0">
            <a:spAutoFit/>
          </a:bodyPr>
          <a:lstStyle/>
          <a:p>
            <a:pPr marL="12700">
              <a:lnSpc>
                <a:spcPct val="100000"/>
              </a:lnSpc>
              <a:spcBef>
                <a:spcPts val="95"/>
              </a:spcBef>
            </a:pPr>
            <a:r>
              <a:rPr sz="1000" b="1" dirty="0">
                <a:solidFill>
                  <a:srgbClr val="C00000"/>
                </a:solidFill>
                <a:latin typeface="微软雅黑" panose="020B0503020204020204" charset="-122"/>
                <a:cs typeface="微软雅黑" panose="020B0503020204020204" charset="-122"/>
              </a:rPr>
              <a:t>中</a:t>
            </a:r>
            <a:r>
              <a:rPr sz="1000" b="1" spc="-5" dirty="0">
                <a:solidFill>
                  <a:srgbClr val="C00000"/>
                </a:solidFill>
                <a:latin typeface="微软雅黑" panose="020B0503020204020204" charset="-122"/>
                <a:cs typeface="微软雅黑" panose="020B0503020204020204" charset="-122"/>
              </a:rPr>
              <a:t>断</a:t>
            </a:r>
            <a:endParaRPr sz="1000">
              <a:latin typeface="微软雅黑" panose="020B0503020204020204" charset="-122"/>
              <a:cs typeface="微软雅黑" panose="020B0503020204020204" charset="-122"/>
            </a:endParaRPr>
          </a:p>
          <a:p>
            <a:pPr marL="25400">
              <a:lnSpc>
                <a:spcPct val="100000"/>
              </a:lnSpc>
            </a:pPr>
            <a:r>
              <a:rPr sz="900" b="1" dirty="0">
                <a:solidFill>
                  <a:srgbClr val="C00000"/>
                </a:solidFill>
                <a:latin typeface="微软雅黑" panose="020B0503020204020204" charset="-122"/>
                <a:cs typeface="微软雅黑" panose="020B0503020204020204" charset="-122"/>
              </a:rPr>
              <a:t>接口</a:t>
            </a:r>
            <a:endParaRPr sz="900">
              <a:latin typeface="微软雅黑" panose="020B0503020204020204" charset="-122"/>
              <a:cs typeface="微软雅黑" panose="020B0503020204020204" charset="-122"/>
            </a:endParaRPr>
          </a:p>
          <a:p>
            <a:pPr marL="215900" marR="5080">
              <a:lnSpc>
                <a:spcPct val="100000"/>
              </a:lnSpc>
              <a:spcBef>
                <a:spcPts val="690"/>
              </a:spcBef>
            </a:pPr>
            <a:r>
              <a:rPr sz="900" b="1" dirty="0">
                <a:solidFill>
                  <a:srgbClr val="C00000"/>
                </a:solidFill>
                <a:latin typeface="微软雅黑" panose="020B0503020204020204" charset="-122"/>
                <a:cs typeface="微软雅黑" panose="020B0503020204020204" charset="-122"/>
              </a:rPr>
              <a:t>私有外 设接口</a:t>
            </a:r>
            <a:endParaRPr sz="900">
              <a:latin typeface="微软雅黑" panose="020B0503020204020204" charset="-122"/>
              <a:cs typeface="微软雅黑" panose="020B0503020204020204" charset="-122"/>
            </a:endParaRPr>
          </a:p>
        </p:txBody>
      </p:sp>
      <p:sp>
        <p:nvSpPr>
          <p:cNvPr id="37" name="object 37"/>
          <p:cNvSpPr/>
          <p:nvPr/>
        </p:nvSpPr>
        <p:spPr>
          <a:xfrm>
            <a:off x="2825495" y="1879092"/>
            <a:ext cx="1428115" cy="734695"/>
          </a:xfrm>
          <a:custGeom>
            <a:avLst/>
            <a:gdLst/>
            <a:ahLst/>
            <a:cxnLst/>
            <a:rect l="l" t="t" r="r" b="b"/>
            <a:pathLst>
              <a:path w="1428114" h="734694">
                <a:moveTo>
                  <a:pt x="0" y="0"/>
                </a:moveTo>
                <a:lnTo>
                  <a:pt x="1427987" y="0"/>
                </a:lnTo>
                <a:lnTo>
                  <a:pt x="1427987" y="734567"/>
                </a:lnTo>
                <a:lnTo>
                  <a:pt x="0" y="734567"/>
                </a:lnTo>
                <a:lnTo>
                  <a:pt x="0" y="0"/>
                </a:lnTo>
                <a:close/>
              </a:path>
            </a:pathLst>
          </a:custGeom>
          <a:solidFill>
            <a:srgbClr val="D9D9D9"/>
          </a:solidFill>
        </p:spPr>
        <p:txBody>
          <a:bodyPr wrap="square" lIns="0" tIns="0" rIns="0" bIns="0" rtlCol="0"/>
          <a:lstStyle/>
          <a:p/>
        </p:txBody>
      </p:sp>
      <p:sp>
        <p:nvSpPr>
          <p:cNvPr id="38" name="object 38"/>
          <p:cNvSpPr/>
          <p:nvPr/>
        </p:nvSpPr>
        <p:spPr>
          <a:xfrm>
            <a:off x="2819145" y="1873059"/>
            <a:ext cx="1440815" cy="748030"/>
          </a:xfrm>
          <a:custGeom>
            <a:avLst/>
            <a:gdLst/>
            <a:ahLst/>
            <a:cxnLst/>
            <a:rect l="l" t="t" r="r" b="b"/>
            <a:pathLst>
              <a:path w="1440814" h="748030">
                <a:moveTo>
                  <a:pt x="1440395" y="747509"/>
                </a:moveTo>
                <a:lnTo>
                  <a:pt x="0" y="747509"/>
                </a:lnTo>
                <a:lnTo>
                  <a:pt x="0" y="0"/>
                </a:lnTo>
                <a:lnTo>
                  <a:pt x="1440395" y="0"/>
                </a:lnTo>
                <a:lnTo>
                  <a:pt x="1440395" y="6350"/>
                </a:lnTo>
                <a:lnTo>
                  <a:pt x="12700" y="6350"/>
                </a:lnTo>
                <a:lnTo>
                  <a:pt x="6350" y="12700"/>
                </a:lnTo>
                <a:lnTo>
                  <a:pt x="12700" y="12700"/>
                </a:lnTo>
                <a:lnTo>
                  <a:pt x="12700" y="734809"/>
                </a:lnTo>
                <a:lnTo>
                  <a:pt x="6350" y="734809"/>
                </a:lnTo>
                <a:lnTo>
                  <a:pt x="12700" y="741159"/>
                </a:lnTo>
                <a:lnTo>
                  <a:pt x="1440395" y="741159"/>
                </a:lnTo>
                <a:lnTo>
                  <a:pt x="1440395" y="747509"/>
                </a:lnTo>
                <a:close/>
              </a:path>
              <a:path w="1440814" h="748030">
                <a:moveTo>
                  <a:pt x="12700" y="12700"/>
                </a:moveTo>
                <a:lnTo>
                  <a:pt x="6350" y="12700"/>
                </a:lnTo>
                <a:lnTo>
                  <a:pt x="12700" y="6350"/>
                </a:lnTo>
                <a:lnTo>
                  <a:pt x="12700" y="12700"/>
                </a:lnTo>
                <a:close/>
              </a:path>
              <a:path w="1440814" h="748030">
                <a:moveTo>
                  <a:pt x="1427695" y="12700"/>
                </a:moveTo>
                <a:lnTo>
                  <a:pt x="12700" y="12700"/>
                </a:lnTo>
                <a:lnTo>
                  <a:pt x="12700" y="6350"/>
                </a:lnTo>
                <a:lnTo>
                  <a:pt x="1427695" y="6350"/>
                </a:lnTo>
                <a:lnTo>
                  <a:pt x="1427695" y="12700"/>
                </a:lnTo>
                <a:close/>
              </a:path>
              <a:path w="1440814" h="748030">
                <a:moveTo>
                  <a:pt x="1427695" y="741159"/>
                </a:moveTo>
                <a:lnTo>
                  <a:pt x="1427695" y="6350"/>
                </a:lnTo>
                <a:lnTo>
                  <a:pt x="1434045" y="12700"/>
                </a:lnTo>
                <a:lnTo>
                  <a:pt x="1440395" y="12700"/>
                </a:lnTo>
                <a:lnTo>
                  <a:pt x="1440395" y="734809"/>
                </a:lnTo>
                <a:lnTo>
                  <a:pt x="1434045" y="734809"/>
                </a:lnTo>
                <a:lnTo>
                  <a:pt x="1427695" y="741159"/>
                </a:lnTo>
                <a:close/>
              </a:path>
              <a:path w="1440814" h="748030">
                <a:moveTo>
                  <a:pt x="1440395" y="12700"/>
                </a:moveTo>
                <a:lnTo>
                  <a:pt x="1434045" y="12700"/>
                </a:lnTo>
                <a:lnTo>
                  <a:pt x="1427695" y="6350"/>
                </a:lnTo>
                <a:lnTo>
                  <a:pt x="1440395" y="6350"/>
                </a:lnTo>
                <a:lnTo>
                  <a:pt x="1440395" y="12700"/>
                </a:lnTo>
                <a:close/>
              </a:path>
              <a:path w="1440814" h="748030">
                <a:moveTo>
                  <a:pt x="12700" y="741159"/>
                </a:moveTo>
                <a:lnTo>
                  <a:pt x="6350" y="734809"/>
                </a:lnTo>
                <a:lnTo>
                  <a:pt x="12700" y="734809"/>
                </a:lnTo>
                <a:lnTo>
                  <a:pt x="12700" y="741159"/>
                </a:lnTo>
                <a:close/>
              </a:path>
              <a:path w="1440814" h="748030">
                <a:moveTo>
                  <a:pt x="1427695" y="741159"/>
                </a:moveTo>
                <a:lnTo>
                  <a:pt x="12700" y="741159"/>
                </a:lnTo>
                <a:lnTo>
                  <a:pt x="12700" y="734809"/>
                </a:lnTo>
                <a:lnTo>
                  <a:pt x="1427695" y="734809"/>
                </a:lnTo>
                <a:lnTo>
                  <a:pt x="1427695" y="741159"/>
                </a:lnTo>
                <a:close/>
              </a:path>
              <a:path w="1440814" h="748030">
                <a:moveTo>
                  <a:pt x="1440395" y="741159"/>
                </a:moveTo>
                <a:lnTo>
                  <a:pt x="1427695" y="741159"/>
                </a:lnTo>
                <a:lnTo>
                  <a:pt x="1434045" y="734809"/>
                </a:lnTo>
                <a:lnTo>
                  <a:pt x="1440395" y="734809"/>
                </a:lnTo>
                <a:lnTo>
                  <a:pt x="1440395" y="741159"/>
                </a:lnTo>
                <a:close/>
              </a:path>
            </a:pathLst>
          </a:custGeom>
          <a:solidFill>
            <a:srgbClr val="C00000"/>
          </a:solidFill>
        </p:spPr>
        <p:txBody>
          <a:bodyPr wrap="square" lIns="0" tIns="0" rIns="0" bIns="0" rtlCol="0"/>
          <a:lstStyle/>
          <a:p/>
        </p:txBody>
      </p:sp>
      <p:sp>
        <p:nvSpPr>
          <p:cNvPr id="39" name="object 39"/>
          <p:cNvSpPr txBox="1"/>
          <p:nvPr/>
        </p:nvSpPr>
        <p:spPr>
          <a:xfrm>
            <a:off x="2825495" y="2115629"/>
            <a:ext cx="1428115" cy="240029"/>
          </a:xfrm>
          <a:prstGeom prst="rect">
            <a:avLst/>
          </a:prstGeom>
        </p:spPr>
        <p:txBody>
          <a:bodyPr vert="horz" wrap="square" lIns="0" tIns="13335" rIns="0" bIns="0" rtlCol="0">
            <a:spAutoFit/>
          </a:bodyPr>
          <a:lstStyle/>
          <a:p>
            <a:pPr marL="358140">
              <a:lnSpc>
                <a:spcPct val="100000"/>
              </a:lnSpc>
              <a:spcBef>
                <a:spcPts val="105"/>
              </a:spcBef>
            </a:pPr>
            <a:r>
              <a:rPr sz="1400" b="1" dirty="0">
                <a:solidFill>
                  <a:srgbClr val="C00000"/>
                </a:solidFill>
                <a:latin typeface="微软雅黑" panose="020B0503020204020204" charset="-122"/>
                <a:cs typeface="微软雅黑" panose="020B0503020204020204" charset="-122"/>
              </a:rPr>
              <a:t>协处理</a:t>
            </a:r>
            <a:r>
              <a:rPr sz="1400" b="1" spc="5" dirty="0">
                <a:solidFill>
                  <a:srgbClr val="C00000"/>
                </a:solidFill>
                <a:latin typeface="微软雅黑" panose="020B0503020204020204" charset="-122"/>
                <a:cs typeface="微软雅黑" panose="020B0503020204020204" charset="-122"/>
              </a:rPr>
              <a:t>器</a:t>
            </a:r>
            <a:endParaRPr sz="1400">
              <a:latin typeface="微软雅黑" panose="020B0503020204020204" charset="-122"/>
              <a:cs typeface="微软雅黑" panose="020B0503020204020204" charset="-122"/>
            </a:endParaRPr>
          </a:p>
        </p:txBody>
      </p:sp>
      <p:sp>
        <p:nvSpPr>
          <p:cNvPr id="40" name="object 40"/>
          <p:cNvSpPr/>
          <p:nvPr/>
        </p:nvSpPr>
        <p:spPr>
          <a:xfrm>
            <a:off x="3771798" y="5570105"/>
            <a:ext cx="76200" cy="422275"/>
          </a:xfrm>
          <a:custGeom>
            <a:avLst/>
            <a:gdLst/>
            <a:ahLst/>
            <a:cxnLst/>
            <a:rect l="l" t="t" r="r" b="b"/>
            <a:pathLst>
              <a:path w="76200" h="422275">
                <a:moveTo>
                  <a:pt x="34284" y="76127"/>
                </a:moveTo>
                <a:lnTo>
                  <a:pt x="0" y="75590"/>
                </a:lnTo>
                <a:lnTo>
                  <a:pt x="39293" y="0"/>
                </a:lnTo>
                <a:lnTo>
                  <a:pt x="66722" y="57086"/>
                </a:lnTo>
                <a:lnTo>
                  <a:pt x="34582" y="57086"/>
                </a:lnTo>
                <a:lnTo>
                  <a:pt x="34284" y="76127"/>
                </a:lnTo>
                <a:close/>
              </a:path>
              <a:path w="76200" h="422275">
                <a:moveTo>
                  <a:pt x="41904" y="76247"/>
                </a:moveTo>
                <a:lnTo>
                  <a:pt x="34284" y="76127"/>
                </a:lnTo>
                <a:lnTo>
                  <a:pt x="34582" y="57086"/>
                </a:lnTo>
                <a:lnTo>
                  <a:pt x="42202" y="57200"/>
                </a:lnTo>
                <a:lnTo>
                  <a:pt x="41904" y="76247"/>
                </a:lnTo>
                <a:close/>
              </a:path>
              <a:path w="76200" h="422275">
                <a:moveTo>
                  <a:pt x="76187" y="76784"/>
                </a:moveTo>
                <a:lnTo>
                  <a:pt x="41904" y="76247"/>
                </a:lnTo>
                <a:lnTo>
                  <a:pt x="42202" y="57200"/>
                </a:lnTo>
                <a:lnTo>
                  <a:pt x="34582" y="57086"/>
                </a:lnTo>
                <a:lnTo>
                  <a:pt x="66722" y="57086"/>
                </a:lnTo>
                <a:lnTo>
                  <a:pt x="76187" y="76784"/>
                </a:lnTo>
                <a:close/>
              </a:path>
              <a:path w="76200" h="422275">
                <a:moveTo>
                  <a:pt x="36499" y="421754"/>
                </a:moveTo>
                <a:lnTo>
                  <a:pt x="28879" y="421639"/>
                </a:lnTo>
                <a:lnTo>
                  <a:pt x="34284" y="76127"/>
                </a:lnTo>
                <a:lnTo>
                  <a:pt x="41904" y="76247"/>
                </a:lnTo>
                <a:lnTo>
                  <a:pt x="36499" y="421754"/>
                </a:lnTo>
                <a:close/>
              </a:path>
            </a:pathLst>
          </a:custGeom>
          <a:solidFill>
            <a:srgbClr val="C00000"/>
          </a:solidFill>
        </p:spPr>
        <p:txBody>
          <a:bodyPr wrap="square" lIns="0" tIns="0" rIns="0" bIns="0" rtlCol="0"/>
          <a:lstStyle/>
          <a:p/>
        </p:txBody>
      </p:sp>
      <p:sp>
        <p:nvSpPr>
          <p:cNvPr id="41" name="object 41"/>
          <p:cNvSpPr txBox="1"/>
          <p:nvPr/>
        </p:nvSpPr>
        <p:spPr>
          <a:xfrm>
            <a:off x="3354806" y="2955810"/>
            <a:ext cx="368300" cy="299720"/>
          </a:xfrm>
          <a:prstGeom prst="rect">
            <a:avLst/>
          </a:prstGeom>
        </p:spPr>
        <p:txBody>
          <a:bodyPr vert="horz" wrap="square" lIns="0" tIns="12700" rIns="0" bIns="0" rtlCol="0">
            <a:spAutoFit/>
          </a:bodyPr>
          <a:lstStyle/>
          <a:p>
            <a:pPr marL="12700" marR="5080">
              <a:lnSpc>
                <a:spcPct val="100000"/>
              </a:lnSpc>
              <a:spcBef>
                <a:spcPts val="100"/>
              </a:spcBef>
            </a:pPr>
            <a:r>
              <a:rPr sz="900" b="1" dirty="0">
                <a:solidFill>
                  <a:srgbClr val="C00000"/>
                </a:solidFill>
                <a:latin typeface="微软雅黑" panose="020B0503020204020204" charset="-122"/>
                <a:cs typeface="微软雅黑" panose="020B0503020204020204" charset="-122"/>
              </a:rPr>
              <a:t>协处理 器接口</a:t>
            </a:r>
            <a:endParaRPr sz="900">
              <a:latin typeface="微软雅黑" panose="020B0503020204020204" charset="-122"/>
              <a:cs typeface="微软雅黑" panose="020B0503020204020204" charset="-122"/>
            </a:endParaRPr>
          </a:p>
        </p:txBody>
      </p:sp>
      <p:sp>
        <p:nvSpPr>
          <p:cNvPr id="42" name="object 42"/>
          <p:cNvSpPr/>
          <p:nvPr/>
        </p:nvSpPr>
        <p:spPr>
          <a:xfrm>
            <a:off x="4876647" y="2621635"/>
            <a:ext cx="76200" cy="335280"/>
          </a:xfrm>
          <a:custGeom>
            <a:avLst/>
            <a:gdLst/>
            <a:ahLst/>
            <a:cxnLst/>
            <a:rect l="l" t="t" r="r" b="b"/>
            <a:pathLst>
              <a:path w="76200" h="335280">
                <a:moveTo>
                  <a:pt x="41903" y="258855"/>
                </a:moveTo>
                <a:lnTo>
                  <a:pt x="34283" y="258745"/>
                </a:lnTo>
                <a:lnTo>
                  <a:pt x="37985" y="0"/>
                </a:lnTo>
                <a:lnTo>
                  <a:pt x="45605" y="101"/>
                </a:lnTo>
                <a:lnTo>
                  <a:pt x="41903" y="258855"/>
                </a:lnTo>
                <a:close/>
              </a:path>
              <a:path w="76200" h="335280">
                <a:moveTo>
                  <a:pt x="37007" y="335000"/>
                </a:moveTo>
                <a:lnTo>
                  <a:pt x="0" y="258254"/>
                </a:lnTo>
                <a:lnTo>
                  <a:pt x="34283" y="258745"/>
                </a:lnTo>
                <a:lnTo>
                  <a:pt x="34010" y="277799"/>
                </a:lnTo>
                <a:lnTo>
                  <a:pt x="41630" y="277901"/>
                </a:lnTo>
                <a:lnTo>
                  <a:pt x="66578" y="277901"/>
                </a:lnTo>
                <a:lnTo>
                  <a:pt x="37007" y="335000"/>
                </a:lnTo>
                <a:close/>
              </a:path>
              <a:path w="76200" h="335280">
                <a:moveTo>
                  <a:pt x="41630" y="277901"/>
                </a:moveTo>
                <a:lnTo>
                  <a:pt x="34010" y="277799"/>
                </a:lnTo>
                <a:lnTo>
                  <a:pt x="34283" y="258745"/>
                </a:lnTo>
                <a:lnTo>
                  <a:pt x="41903" y="258855"/>
                </a:lnTo>
                <a:lnTo>
                  <a:pt x="41630" y="277901"/>
                </a:lnTo>
                <a:close/>
              </a:path>
              <a:path w="76200" h="335280">
                <a:moveTo>
                  <a:pt x="66578" y="277901"/>
                </a:moveTo>
                <a:lnTo>
                  <a:pt x="41630" y="277901"/>
                </a:lnTo>
                <a:lnTo>
                  <a:pt x="41903" y="258855"/>
                </a:lnTo>
                <a:lnTo>
                  <a:pt x="76187" y="259346"/>
                </a:lnTo>
                <a:lnTo>
                  <a:pt x="66578" y="277901"/>
                </a:lnTo>
                <a:close/>
              </a:path>
            </a:pathLst>
          </a:custGeom>
          <a:solidFill>
            <a:srgbClr val="C00000"/>
          </a:solidFill>
        </p:spPr>
        <p:txBody>
          <a:bodyPr wrap="square" lIns="0" tIns="0" rIns="0" bIns="0" rtlCol="0"/>
          <a:lstStyle/>
          <a:p/>
        </p:txBody>
      </p:sp>
      <p:sp>
        <p:nvSpPr>
          <p:cNvPr id="43" name="object 43"/>
          <p:cNvSpPr/>
          <p:nvPr/>
        </p:nvSpPr>
        <p:spPr>
          <a:xfrm>
            <a:off x="4450079" y="1880616"/>
            <a:ext cx="928369" cy="733425"/>
          </a:xfrm>
          <a:custGeom>
            <a:avLst/>
            <a:gdLst/>
            <a:ahLst/>
            <a:cxnLst/>
            <a:rect l="l" t="t" r="r" b="b"/>
            <a:pathLst>
              <a:path w="928370" h="733425">
                <a:moveTo>
                  <a:pt x="0" y="0"/>
                </a:moveTo>
                <a:lnTo>
                  <a:pt x="928115" y="0"/>
                </a:lnTo>
                <a:lnTo>
                  <a:pt x="928115" y="733043"/>
                </a:lnTo>
                <a:lnTo>
                  <a:pt x="0" y="733043"/>
                </a:lnTo>
                <a:lnTo>
                  <a:pt x="0" y="0"/>
                </a:lnTo>
                <a:close/>
              </a:path>
            </a:pathLst>
          </a:custGeom>
          <a:solidFill>
            <a:srgbClr val="D9D9D9"/>
          </a:solidFill>
        </p:spPr>
        <p:txBody>
          <a:bodyPr wrap="square" lIns="0" tIns="0" rIns="0" bIns="0" rtlCol="0"/>
          <a:lstStyle/>
          <a:p/>
        </p:txBody>
      </p:sp>
      <p:sp>
        <p:nvSpPr>
          <p:cNvPr id="44" name="object 44"/>
          <p:cNvSpPr/>
          <p:nvPr/>
        </p:nvSpPr>
        <p:spPr>
          <a:xfrm>
            <a:off x="4442993" y="1873630"/>
            <a:ext cx="941705" cy="747395"/>
          </a:xfrm>
          <a:custGeom>
            <a:avLst/>
            <a:gdLst/>
            <a:ahLst/>
            <a:cxnLst/>
            <a:rect l="l" t="t" r="r" b="b"/>
            <a:pathLst>
              <a:path w="941704" h="747394">
                <a:moveTo>
                  <a:pt x="941311" y="746937"/>
                </a:moveTo>
                <a:lnTo>
                  <a:pt x="0" y="746937"/>
                </a:lnTo>
                <a:lnTo>
                  <a:pt x="0" y="0"/>
                </a:lnTo>
                <a:lnTo>
                  <a:pt x="941311" y="0"/>
                </a:lnTo>
                <a:lnTo>
                  <a:pt x="941311" y="6350"/>
                </a:lnTo>
                <a:lnTo>
                  <a:pt x="12700" y="6350"/>
                </a:lnTo>
                <a:lnTo>
                  <a:pt x="6350" y="12700"/>
                </a:lnTo>
                <a:lnTo>
                  <a:pt x="12700" y="12700"/>
                </a:lnTo>
                <a:lnTo>
                  <a:pt x="12700" y="734237"/>
                </a:lnTo>
                <a:lnTo>
                  <a:pt x="6350" y="734237"/>
                </a:lnTo>
                <a:lnTo>
                  <a:pt x="12700" y="740587"/>
                </a:lnTo>
                <a:lnTo>
                  <a:pt x="941311" y="740587"/>
                </a:lnTo>
                <a:lnTo>
                  <a:pt x="941311" y="746937"/>
                </a:lnTo>
                <a:close/>
              </a:path>
              <a:path w="941704" h="747394">
                <a:moveTo>
                  <a:pt x="12700" y="12700"/>
                </a:moveTo>
                <a:lnTo>
                  <a:pt x="6350" y="12700"/>
                </a:lnTo>
                <a:lnTo>
                  <a:pt x="12700" y="6350"/>
                </a:lnTo>
                <a:lnTo>
                  <a:pt x="12700" y="12700"/>
                </a:lnTo>
                <a:close/>
              </a:path>
              <a:path w="941704" h="747394">
                <a:moveTo>
                  <a:pt x="928611" y="12700"/>
                </a:moveTo>
                <a:lnTo>
                  <a:pt x="12700" y="12700"/>
                </a:lnTo>
                <a:lnTo>
                  <a:pt x="12700" y="6350"/>
                </a:lnTo>
                <a:lnTo>
                  <a:pt x="928611" y="6350"/>
                </a:lnTo>
                <a:lnTo>
                  <a:pt x="928611" y="12700"/>
                </a:lnTo>
                <a:close/>
              </a:path>
              <a:path w="941704" h="747394">
                <a:moveTo>
                  <a:pt x="928611" y="740587"/>
                </a:moveTo>
                <a:lnTo>
                  <a:pt x="928611" y="6350"/>
                </a:lnTo>
                <a:lnTo>
                  <a:pt x="934961" y="12700"/>
                </a:lnTo>
                <a:lnTo>
                  <a:pt x="941311" y="12700"/>
                </a:lnTo>
                <a:lnTo>
                  <a:pt x="941311" y="734237"/>
                </a:lnTo>
                <a:lnTo>
                  <a:pt x="934961" y="734237"/>
                </a:lnTo>
                <a:lnTo>
                  <a:pt x="928611" y="740587"/>
                </a:lnTo>
                <a:close/>
              </a:path>
              <a:path w="941704" h="747394">
                <a:moveTo>
                  <a:pt x="941311" y="12700"/>
                </a:moveTo>
                <a:lnTo>
                  <a:pt x="934961" y="12700"/>
                </a:lnTo>
                <a:lnTo>
                  <a:pt x="928611" y="6350"/>
                </a:lnTo>
                <a:lnTo>
                  <a:pt x="941311" y="6350"/>
                </a:lnTo>
                <a:lnTo>
                  <a:pt x="941311" y="12700"/>
                </a:lnTo>
                <a:close/>
              </a:path>
              <a:path w="941704" h="747394">
                <a:moveTo>
                  <a:pt x="12700" y="740587"/>
                </a:moveTo>
                <a:lnTo>
                  <a:pt x="6350" y="734237"/>
                </a:lnTo>
                <a:lnTo>
                  <a:pt x="12700" y="734237"/>
                </a:lnTo>
                <a:lnTo>
                  <a:pt x="12700" y="740587"/>
                </a:lnTo>
                <a:close/>
              </a:path>
              <a:path w="941704" h="747394">
                <a:moveTo>
                  <a:pt x="928611" y="740587"/>
                </a:moveTo>
                <a:lnTo>
                  <a:pt x="12700" y="740587"/>
                </a:lnTo>
                <a:lnTo>
                  <a:pt x="12700" y="734237"/>
                </a:lnTo>
                <a:lnTo>
                  <a:pt x="928611" y="734237"/>
                </a:lnTo>
                <a:lnTo>
                  <a:pt x="928611" y="740587"/>
                </a:lnTo>
                <a:close/>
              </a:path>
              <a:path w="941704" h="747394">
                <a:moveTo>
                  <a:pt x="941311" y="740587"/>
                </a:moveTo>
                <a:lnTo>
                  <a:pt x="928611" y="740587"/>
                </a:lnTo>
                <a:lnTo>
                  <a:pt x="934961" y="734237"/>
                </a:lnTo>
                <a:lnTo>
                  <a:pt x="941311" y="734237"/>
                </a:lnTo>
                <a:lnTo>
                  <a:pt x="941311" y="740587"/>
                </a:lnTo>
                <a:close/>
              </a:path>
            </a:pathLst>
          </a:custGeom>
          <a:solidFill>
            <a:srgbClr val="C00000"/>
          </a:solidFill>
        </p:spPr>
        <p:txBody>
          <a:bodyPr wrap="square" lIns="0" tIns="0" rIns="0" bIns="0" rtlCol="0"/>
          <a:lstStyle/>
          <a:p/>
        </p:txBody>
      </p:sp>
      <p:sp>
        <p:nvSpPr>
          <p:cNvPr id="45" name="object 45"/>
          <p:cNvSpPr txBox="1"/>
          <p:nvPr/>
        </p:nvSpPr>
        <p:spPr>
          <a:xfrm>
            <a:off x="4450079" y="2008886"/>
            <a:ext cx="928369" cy="453390"/>
          </a:xfrm>
          <a:prstGeom prst="rect">
            <a:avLst/>
          </a:prstGeom>
        </p:spPr>
        <p:txBody>
          <a:bodyPr vert="horz" wrap="square" lIns="0" tIns="13335" rIns="0" bIns="0" rtlCol="0">
            <a:spAutoFit/>
          </a:bodyPr>
          <a:lstStyle/>
          <a:p>
            <a:pPr algn="ctr">
              <a:lnSpc>
                <a:spcPct val="100000"/>
              </a:lnSpc>
              <a:spcBef>
                <a:spcPts val="105"/>
              </a:spcBef>
            </a:pPr>
            <a:r>
              <a:rPr sz="1400" b="1" spc="-5" dirty="0">
                <a:solidFill>
                  <a:srgbClr val="C00000"/>
                </a:solidFill>
                <a:latin typeface="微软雅黑" panose="020B0503020204020204" charset="-122"/>
                <a:cs typeface="微软雅黑" panose="020B0503020204020204" charset="-122"/>
              </a:rPr>
              <a:t>PLIC</a:t>
            </a:r>
            <a:r>
              <a:rPr sz="1400" b="1" spc="5" dirty="0">
                <a:solidFill>
                  <a:srgbClr val="C00000"/>
                </a:solidFill>
                <a:latin typeface="微软雅黑" panose="020B0503020204020204" charset="-122"/>
                <a:cs typeface="微软雅黑" panose="020B0503020204020204" charset="-122"/>
              </a:rPr>
              <a:t>中</a:t>
            </a:r>
            <a:endParaRPr sz="1400">
              <a:latin typeface="微软雅黑" panose="020B0503020204020204" charset="-122"/>
              <a:cs typeface="微软雅黑" panose="020B0503020204020204" charset="-122"/>
            </a:endParaRPr>
          </a:p>
          <a:p>
            <a:pPr algn="ctr">
              <a:lnSpc>
                <a:spcPct val="100000"/>
              </a:lnSpc>
            </a:pPr>
            <a:r>
              <a:rPr sz="1400" b="1" dirty="0">
                <a:solidFill>
                  <a:srgbClr val="C00000"/>
                </a:solidFill>
                <a:latin typeface="微软雅黑" panose="020B0503020204020204" charset="-122"/>
                <a:cs typeface="微软雅黑" panose="020B0503020204020204" charset="-122"/>
              </a:rPr>
              <a:t>断控制</a:t>
            </a:r>
            <a:r>
              <a:rPr sz="1400" b="1" spc="5" dirty="0">
                <a:solidFill>
                  <a:srgbClr val="C00000"/>
                </a:solidFill>
                <a:latin typeface="微软雅黑" panose="020B0503020204020204" charset="-122"/>
                <a:cs typeface="微软雅黑" panose="020B0503020204020204" charset="-122"/>
              </a:rPr>
              <a:t>器</a:t>
            </a:r>
            <a:endParaRPr sz="1400">
              <a:latin typeface="微软雅黑" panose="020B0503020204020204" charset="-122"/>
              <a:cs typeface="微软雅黑" panose="020B0503020204020204" charset="-122"/>
            </a:endParaRPr>
          </a:p>
        </p:txBody>
      </p:sp>
      <p:sp>
        <p:nvSpPr>
          <p:cNvPr id="46" name="object 46"/>
          <p:cNvSpPr/>
          <p:nvPr/>
        </p:nvSpPr>
        <p:spPr>
          <a:xfrm>
            <a:off x="7232904" y="1880616"/>
            <a:ext cx="879475" cy="212090"/>
          </a:xfrm>
          <a:custGeom>
            <a:avLst/>
            <a:gdLst/>
            <a:ahLst/>
            <a:cxnLst/>
            <a:rect l="l" t="t" r="r" b="b"/>
            <a:pathLst>
              <a:path w="879475" h="212089">
                <a:moveTo>
                  <a:pt x="0" y="0"/>
                </a:moveTo>
                <a:lnTo>
                  <a:pt x="879348" y="0"/>
                </a:lnTo>
                <a:lnTo>
                  <a:pt x="879348" y="211835"/>
                </a:lnTo>
                <a:lnTo>
                  <a:pt x="0" y="211835"/>
                </a:lnTo>
                <a:lnTo>
                  <a:pt x="0" y="0"/>
                </a:lnTo>
                <a:close/>
              </a:path>
            </a:pathLst>
          </a:custGeom>
          <a:solidFill>
            <a:srgbClr val="D9D9D9"/>
          </a:solidFill>
        </p:spPr>
        <p:txBody>
          <a:bodyPr wrap="square" lIns="0" tIns="0" rIns="0" bIns="0" rtlCol="0"/>
          <a:lstStyle/>
          <a:p/>
        </p:txBody>
      </p:sp>
      <p:sp>
        <p:nvSpPr>
          <p:cNvPr id="47" name="object 47"/>
          <p:cNvSpPr/>
          <p:nvPr/>
        </p:nvSpPr>
        <p:spPr>
          <a:xfrm>
            <a:off x="7225804" y="1873630"/>
            <a:ext cx="892810" cy="225425"/>
          </a:xfrm>
          <a:custGeom>
            <a:avLst/>
            <a:gdLst/>
            <a:ahLst/>
            <a:cxnLst/>
            <a:rect l="l" t="t" r="r" b="b"/>
            <a:pathLst>
              <a:path w="892809" h="225425">
                <a:moveTo>
                  <a:pt x="892708" y="225272"/>
                </a:moveTo>
                <a:lnTo>
                  <a:pt x="0" y="225272"/>
                </a:lnTo>
                <a:lnTo>
                  <a:pt x="0" y="0"/>
                </a:lnTo>
                <a:lnTo>
                  <a:pt x="892708" y="0"/>
                </a:lnTo>
                <a:lnTo>
                  <a:pt x="892708" y="6350"/>
                </a:lnTo>
                <a:lnTo>
                  <a:pt x="12700" y="6350"/>
                </a:lnTo>
                <a:lnTo>
                  <a:pt x="6350" y="12700"/>
                </a:lnTo>
                <a:lnTo>
                  <a:pt x="12700" y="12700"/>
                </a:lnTo>
                <a:lnTo>
                  <a:pt x="12700" y="212572"/>
                </a:lnTo>
                <a:lnTo>
                  <a:pt x="6350" y="212572"/>
                </a:lnTo>
                <a:lnTo>
                  <a:pt x="12700" y="218922"/>
                </a:lnTo>
                <a:lnTo>
                  <a:pt x="892708" y="218922"/>
                </a:lnTo>
                <a:lnTo>
                  <a:pt x="892708" y="225272"/>
                </a:lnTo>
                <a:close/>
              </a:path>
              <a:path w="892809" h="225425">
                <a:moveTo>
                  <a:pt x="12700" y="12700"/>
                </a:moveTo>
                <a:lnTo>
                  <a:pt x="6350" y="12700"/>
                </a:lnTo>
                <a:lnTo>
                  <a:pt x="12700" y="6350"/>
                </a:lnTo>
                <a:lnTo>
                  <a:pt x="12700" y="12700"/>
                </a:lnTo>
                <a:close/>
              </a:path>
              <a:path w="892809" h="225425">
                <a:moveTo>
                  <a:pt x="880008" y="12700"/>
                </a:moveTo>
                <a:lnTo>
                  <a:pt x="12700" y="12700"/>
                </a:lnTo>
                <a:lnTo>
                  <a:pt x="12700" y="6350"/>
                </a:lnTo>
                <a:lnTo>
                  <a:pt x="880008" y="6350"/>
                </a:lnTo>
                <a:lnTo>
                  <a:pt x="880008" y="12700"/>
                </a:lnTo>
                <a:close/>
              </a:path>
              <a:path w="892809" h="225425">
                <a:moveTo>
                  <a:pt x="880008" y="218922"/>
                </a:moveTo>
                <a:lnTo>
                  <a:pt x="880008" y="6350"/>
                </a:lnTo>
                <a:lnTo>
                  <a:pt x="886358" y="12700"/>
                </a:lnTo>
                <a:lnTo>
                  <a:pt x="892708" y="12700"/>
                </a:lnTo>
                <a:lnTo>
                  <a:pt x="892708" y="212572"/>
                </a:lnTo>
                <a:lnTo>
                  <a:pt x="886358" y="212572"/>
                </a:lnTo>
                <a:lnTo>
                  <a:pt x="880008" y="218922"/>
                </a:lnTo>
                <a:close/>
              </a:path>
              <a:path w="892809" h="225425">
                <a:moveTo>
                  <a:pt x="892708" y="12700"/>
                </a:moveTo>
                <a:lnTo>
                  <a:pt x="886358" y="12700"/>
                </a:lnTo>
                <a:lnTo>
                  <a:pt x="880008" y="6350"/>
                </a:lnTo>
                <a:lnTo>
                  <a:pt x="892708" y="6350"/>
                </a:lnTo>
                <a:lnTo>
                  <a:pt x="892708" y="12700"/>
                </a:lnTo>
                <a:close/>
              </a:path>
              <a:path w="892809" h="225425">
                <a:moveTo>
                  <a:pt x="12700" y="218922"/>
                </a:moveTo>
                <a:lnTo>
                  <a:pt x="6350" y="212572"/>
                </a:lnTo>
                <a:lnTo>
                  <a:pt x="12700" y="212572"/>
                </a:lnTo>
                <a:lnTo>
                  <a:pt x="12700" y="218922"/>
                </a:lnTo>
                <a:close/>
              </a:path>
              <a:path w="892809" h="225425">
                <a:moveTo>
                  <a:pt x="880008" y="218922"/>
                </a:moveTo>
                <a:lnTo>
                  <a:pt x="12700" y="218922"/>
                </a:lnTo>
                <a:lnTo>
                  <a:pt x="12700" y="212572"/>
                </a:lnTo>
                <a:lnTo>
                  <a:pt x="880008" y="212572"/>
                </a:lnTo>
                <a:lnTo>
                  <a:pt x="880008" y="218922"/>
                </a:lnTo>
                <a:close/>
              </a:path>
              <a:path w="892809" h="225425">
                <a:moveTo>
                  <a:pt x="892708" y="218922"/>
                </a:moveTo>
                <a:lnTo>
                  <a:pt x="880008" y="218922"/>
                </a:lnTo>
                <a:lnTo>
                  <a:pt x="886358" y="212572"/>
                </a:lnTo>
                <a:lnTo>
                  <a:pt x="892708" y="212572"/>
                </a:lnTo>
                <a:lnTo>
                  <a:pt x="892708" y="218922"/>
                </a:lnTo>
                <a:close/>
              </a:path>
            </a:pathLst>
          </a:custGeom>
          <a:solidFill>
            <a:srgbClr val="C00000"/>
          </a:solidFill>
        </p:spPr>
        <p:txBody>
          <a:bodyPr wrap="square" lIns="0" tIns="0" rIns="0" bIns="0" rtlCol="0"/>
          <a:lstStyle/>
          <a:p/>
        </p:txBody>
      </p:sp>
      <p:sp>
        <p:nvSpPr>
          <p:cNvPr id="48" name="object 48"/>
          <p:cNvSpPr txBox="1"/>
          <p:nvPr/>
        </p:nvSpPr>
        <p:spPr>
          <a:xfrm>
            <a:off x="7232904" y="1890141"/>
            <a:ext cx="879475" cy="177165"/>
          </a:xfrm>
          <a:prstGeom prst="rect">
            <a:avLst/>
          </a:prstGeom>
        </p:spPr>
        <p:txBody>
          <a:bodyPr vert="horz" wrap="square" lIns="0" tIns="12065" rIns="0" bIns="0" rtlCol="0">
            <a:spAutoFit/>
          </a:bodyPr>
          <a:lstStyle/>
          <a:p>
            <a:pPr marL="224155">
              <a:lnSpc>
                <a:spcPct val="100000"/>
              </a:lnSpc>
              <a:spcBef>
                <a:spcPts val="95"/>
              </a:spcBef>
            </a:pPr>
            <a:r>
              <a:rPr sz="1000" b="1" spc="-5" dirty="0">
                <a:solidFill>
                  <a:srgbClr val="C00000"/>
                </a:solidFill>
                <a:latin typeface="微软雅黑" panose="020B0503020204020204" charset="-122"/>
                <a:cs typeface="微软雅黑" panose="020B0503020204020204" charset="-122"/>
              </a:rPr>
              <a:t>PWM0</a:t>
            </a:r>
            <a:endParaRPr sz="1000">
              <a:latin typeface="微软雅黑" panose="020B0503020204020204" charset="-122"/>
              <a:cs typeface="微软雅黑" panose="020B0503020204020204" charset="-122"/>
            </a:endParaRPr>
          </a:p>
        </p:txBody>
      </p:sp>
      <p:sp>
        <p:nvSpPr>
          <p:cNvPr id="49" name="object 49"/>
          <p:cNvSpPr/>
          <p:nvPr/>
        </p:nvSpPr>
        <p:spPr>
          <a:xfrm>
            <a:off x="7232904" y="2191511"/>
            <a:ext cx="879475" cy="213360"/>
          </a:xfrm>
          <a:custGeom>
            <a:avLst/>
            <a:gdLst/>
            <a:ahLst/>
            <a:cxnLst/>
            <a:rect l="l" t="t" r="r" b="b"/>
            <a:pathLst>
              <a:path w="879475" h="213360">
                <a:moveTo>
                  <a:pt x="0" y="0"/>
                </a:moveTo>
                <a:lnTo>
                  <a:pt x="879348" y="0"/>
                </a:lnTo>
                <a:lnTo>
                  <a:pt x="879348" y="213360"/>
                </a:lnTo>
                <a:lnTo>
                  <a:pt x="0" y="213360"/>
                </a:lnTo>
                <a:lnTo>
                  <a:pt x="0" y="0"/>
                </a:lnTo>
                <a:close/>
              </a:path>
            </a:pathLst>
          </a:custGeom>
          <a:solidFill>
            <a:srgbClr val="D9D9D9"/>
          </a:solidFill>
        </p:spPr>
        <p:txBody>
          <a:bodyPr wrap="square" lIns="0" tIns="0" rIns="0" bIns="0" rtlCol="0"/>
          <a:lstStyle/>
          <a:p/>
        </p:txBody>
      </p:sp>
      <p:sp>
        <p:nvSpPr>
          <p:cNvPr id="50" name="object 50"/>
          <p:cNvSpPr/>
          <p:nvPr/>
        </p:nvSpPr>
        <p:spPr>
          <a:xfrm>
            <a:off x="7225804" y="2185593"/>
            <a:ext cx="892810" cy="225425"/>
          </a:xfrm>
          <a:custGeom>
            <a:avLst/>
            <a:gdLst/>
            <a:ahLst/>
            <a:cxnLst/>
            <a:rect l="l" t="t" r="r" b="b"/>
            <a:pathLst>
              <a:path w="892809" h="225425">
                <a:moveTo>
                  <a:pt x="892708" y="225272"/>
                </a:moveTo>
                <a:lnTo>
                  <a:pt x="0" y="225272"/>
                </a:lnTo>
                <a:lnTo>
                  <a:pt x="0" y="0"/>
                </a:lnTo>
                <a:lnTo>
                  <a:pt x="892708" y="0"/>
                </a:lnTo>
                <a:lnTo>
                  <a:pt x="892708" y="6350"/>
                </a:lnTo>
                <a:lnTo>
                  <a:pt x="12700" y="6350"/>
                </a:lnTo>
                <a:lnTo>
                  <a:pt x="6350" y="12700"/>
                </a:lnTo>
                <a:lnTo>
                  <a:pt x="12700" y="12700"/>
                </a:lnTo>
                <a:lnTo>
                  <a:pt x="12700" y="212572"/>
                </a:lnTo>
                <a:lnTo>
                  <a:pt x="6350" y="212572"/>
                </a:lnTo>
                <a:lnTo>
                  <a:pt x="12700" y="218922"/>
                </a:lnTo>
                <a:lnTo>
                  <a:pt x="892708" y="218922"/>
                </a:lnTo>
                <a:lnTo>
                  <a:pt x="892708" y="225272"/>
                </a:lnTo>
                <a:close/>
              </a:path>
              <a:path w="892809" h="225425">
                <a:moveTo>
                  <a:pt x="12700" y="12700"/>
                </a:moveTo>
                <a:lnTo>
                  <a:pt x="6350" y="12700"/>
                </a:lnTo>
                <a:lnTo>
                  <a:pt x="12700" y="6350"/>
                </a:lnTo>
                <a:lnTo>
                  <a:pt x="12700" y="12700"/>
                </a:lnTo>
                <a:close/>
              </a:path>
              <a:path w="892809" h="225425">
                <a:moveTo>
                  <a:pt x="880008" y="12700"/>
                </a:moveTo>
                <a:lnTo>
                  <a:pt x="12700" y="12700"/>
                </a:lnTo>
                <a:lnTo>
                  <a:pt x="12700" y="6350"/>
                </a:lnTo>
                <a:lnTo>
                  <a:pt x="880008" y="6350"/>
                </a:lnTo>
                <a:lnTo>
                  <a:pt x="880008" y="12700"/>
                </a:lnTo>
                <a:close/>
              </a:path>
              <a:path w="892809" h="225425">
                <a:moveTo>
                  <a:pt x="880008" y="218922"/>
                </a:moveTo>
                <a:lnTo>
                  <a:pt x="880008" y="6350"/>
                </a:lnTo>
                <a:lnTo>
                  <a:pt x="886358" y="12700"/>
                </a:lnTo>
                <a:lnTo>
                  <a:pt x="892708" y="12700"/>
                </a:lnTo>
                <a:lnTo>
                  <a:pt x="892708" y="212572"/>
                </a:lnTo>
                <a:lnTo>
                  <a:pt x="886358" y="212572"/>
                </a:lnTo>
                <a:lnTo>
                  <a:pt x="880008" y="218922"/>
                </a:lnTo>
                <a:close/>
              </a:path>
              <a:path w="892809" h="225425">
                <a:moveTo>
                  <a:pt x="892708" y="12700"/>
                </a:moveTo>
                <a:lnTo>
                  <a:pt x="886358" y="12700"/>
                </a:lnTo>
                <a:lnTo>
                  <a:pt x="880008" y="6350"/>
                </a:lnTo>
                <a:lnTo>
                  <a:pt x="892708" y="6350"/>
                </a:lnTo>
                <a:lnTo>
                  <a:pt x="892708" y="12700"/>
                </a:lnTo>
                <a:close/>
              </a:path>
              <a:path w="892809" h="225425">
                <a:moveTo>
                  <a:pt x="12700" y="218922"/>
                </a:moveTo>
                <a:lnTo>
                  <a:pt x="6350" y="212572"/>
                </a:lnTo>
                <a:lnTo>
                  <a:pt x="12700" y="212572"/>
                </a:lnTo>
                <a:lnTo>
                  <a:pt x="12700" y="218922"/>
                </a:lnTo>
                <a:close/>
              </a:path>
              <a:path w="892809" h="225425">
                <a:moveTo>
                  <a:pt x="880008" y="218922"/>
                </a:moveTo>
                <a:lnTo>
                  <a:pt x="12700" y="218922"/>
                </a:lnTo>
                <a:lnTo>
                  <a:pt x="12700" y="212572"/>
                </a:lnTo>
                <a:lnTo>
                  <a:pt x="880008" y="212572"/>
                </a:lnTo>
                <a:lnTo>
                  <a:pt x="880008" y="218922"/>
                </a:lnTo>
                <a:close/>
              </a:path>
              <a:path w="892809" h="225425">
                <a:moveTo>
                  <a:pt x="892708" y="218922"/>
                </a:moveTo>
                <a:lnTo>
                  <a:pt x="880008" y="218922"/>
                </a:lnTo>
                <a:lnTo>
                  <a:pt x="886358" y="212572"/>
                </a:lnTo>
                <a:lnTo>
                  <a:pt x="892708" y="212572"/>
                </a:lnTo>
                <a:lnTo>
                  <a:pt x="892708" y="218922"/>
                </a:lnTo>
                <a:close/>
              </a:path>
            </a:pathLst>
          </a:custGeom>
          <a:solidFill>
            <a:srgbClr val="C00000"/>
          </a:solidFill>
        </p:spPr>
        <p:txBody>
          <a:bodyPr wrap="square" lIns="0" tIns="0" rIns="0" bIns="0" rtlCol="0"/>
          <a:lstStyle/>
          <a:p/>
        </p:txBody>
      </p:sp>
      <p:sp>
        <p:nvSpPr>
          <p:cNvPr id="51" name="object 51"/>
          <p:cNvSpPr txBox="1"/>
          <p:nvPr/>
        </p:nvSpPr>
        <p:spPr>
          <a:xfrm>
            <a:off x="7232904" y="2202103"/>
            <a:ext cx="879475" cy="177165"/>
          </a:xfrm>
          <a:prstGeom prst="rect">
            <a:avLst/>
          </a:prstGeom>
        </p:spPr>
        <p:txBody>
          <a:bodyPr vert="horz" wrap="square" lIns="0" tIns="12065" rIns="0" bIns="0" rtlCol="0">
            <a:spAutoFit/>
          </a:bodyPr>
          <a:lstStyle/>
          <a:p>
            <a:pPr marL="224155">
              <a:lnSpc>
                <a:spcPct val="100000"/>
              </a:lnSpc>
              <a:spcBef>
                <a:spcPts val="95"/>
              </a:spcBef>
            </a:pPr>
            <a:r>
              <a:rPr sz="1000" b="1" spc="-5" dirty="0">
                <a:solidFill>
                  <a:srgbClr val="C00000"/>
                </a:solidFill>
                <a:latin typeface="微软雅黑" panose="020B0503020204020204" charset="-122"/>
                <a:cs typeface="微软雅黑" panose="020B0503020204020204" charset="-122"/>
              </a:rPr>
              <a:t>PWM1</a:t>
            </a:r>
            <a:endParaRPr sz="1000">
              <a:latin typeface="微软雅黑" panose="020B0503020204020204" charset="-122"/>
              <a:cs typeface="微软雅黑" panose="020B0503020204020204" charset="-122"/>
            </a:endParaRPr>
          </a:p>
        </p:txBody>
      </p:sp>
      <p:sp>
        <p:nvSpPr>
          <p:cNvPr id="52" name="object 52"/>
          <p:cNvSpPr/>
          <p:nvPr/>
        </p:nvSpPr>
        <p:spPr>
          <a:xfrm>
            <a:off x="7232904" y="2503932"/>
            <a:ext cx="879475" cy="212090"/>
          </a:xfrm>
          <a:custGeom>
            <a:avLst/>
            <a:gdLst/>
            <a:ahLst/>
            <a:cxnLst/>
            <a:rect l="l" t="t" r="r" b="b"/>
            <a:pathLst>
              <a:path w="879475" h="212089">
                <a:moveTo>
                  <a:pt x="0" y="0"/>
                </a:moveTo>
                <a:lnTo>
                  <a:pt x="879348" y="0"/>
                </a:lnTo>
                <a:lnTo>
                  <a:pt x="879348" y="211836"/>
                </a:lnTo>
                <a:lnTo>
                  <a:pt x="0" y="211836"/>
                </a:lnTo>
                <a:lnTo>
                  <a:pt x="0" y="0"/>
                </a:lnTo>
                <a:close/>
              </a:path>
            </a:pathLst>
          </a:custGeom>
          <a:solidFill>
            <a:srgbClr val="D9D9D9"/>
          </a:solidFill>
        </p:spPr>
        <p:txBody>
          <a:bodyPr wrap="square" lIns="0" tIns="0" rIns="0" bIns="0" rtlCol="0"/>
          <a:lstStyle/>
          <a:p/>
        </p:txBody>
      </p:sp>
      <p:sp>
        <p:nvSpPr>
          <p:cNvPr id="53" name="object 53"/>
          <p:cNvSpPr/>
          <p:nvPr/>
        </p:nvSpPr>
        <p:spPr>
          <a:xfrm>
            <a:off x="7225804" y="2497556"/>
            <a:ext cx="892810" cy="225425"/>
          </a:xfrm>
          <a:custGeom>
            <a:avLst/>
            <a:gdLst/>
            <a:ahLst/>
            <a:cxnLst/>
            <a:rect l="l" t="t" r="r" b="b"/>
            <a:pathLst>
              <a:path w="892809" h="225425">
                <a:moveTo>
                  <a:pt x="892708" y="225272"/>
                </a:moveTo>
                <a:lnTo>
                  <a:pt x="0" y="225272"/>
                </a:lnTo>
                <a:lnTo>
                  <a:pt x="0" y="0"/>
                </a:lnTo>
                <a:lnTo>
                  <a:pt x="892708" y="0"/>
                </a:lnTo>
                <a:lnTo>
                  <a:pt x="892708" y="6349"/>
                </a:lnTo>
                <a:lnTo>
                  <a:pt x="12700" y="6349"/>
                </a:lnTo>
                <a:lnTo>
                  <a:pt x="6350" y="12699"/>
                </a:lnTo>
                <a:lnTo>
                  <a:pt x="12700" y="12699"/>
                </a:lnTo>
                <a:lnTo>
                  <a:pt x="12700" y="212572"/>
                </a:lnTo>
                <a:lnTo>
                  <a:pt x="6350" y="212572"/>
                </a:lnTo>
                <a:lnTo>
                  <a:pt x="12700" y="218922"/>
                </a:lnTo>
                <a:lnTo>
                  <a:pt x="892708" y="218922"/>
                </a:lnTo>
                <a:lnTo>
                  <a:pt x="892708" y="225272"/>
                </a:lnTo>
                <a:close/>
              </a:path>
              <a:path w="892809" h="225425">
                <a:moveTo>
                  <a:pt x="12700" y="12699"/>
                </a:moveTo>
                <a:lnTo>
                  <a:pt x="6350" y="12699"/>
                </a:lnTo>
                <a:lnTo>
                  <a:pt x="12700" y="6349"/>
                </a:lnTo>
                <a:lnTo>
                  <a:pt x="12700" y="12699"/>
                </a:lnTo>
                <a:close/>
              </a:path>
              <a:path w="892809" h="225425">
                <a:moveTo>
                  <a:pt x="880008" y="12699"/>
                </a:moveTo>
                <a:lnTo>
                  <a:pt x="12700" y="12699"/>
                </a:lnTo>
                <a:lnTo>
                  <a:pt x="12700" y="6349"/>
                </a:lnTo>
                <a:lnTo>
                  <a:pt x="880008" y="6349"/>
                </a:lnTo>
                <a:lnTo>
                  <a:pt x="880008" y="12699"/>
                </a:lnTo>
                <a:close/>
              </a:path>
              <a:path w="892809" h="225425">
                <a:moveTo>
                  <a:pt x="880008" y="218922"/>
                </a:moveTo>
                <a:lnTo>
                  <a:pt x="880008" y="6349"/>
                </a:lnTo>
                <a:lnTo>
                  <a:pt x="886358" y="12699"/>
                </a:lnTo>
                <a:lnTo>
                  <a:pt x="892708" y="12699"/>
                </a:lnTo>
                <a:lnTo>
                  <a:pt x="892708" y="212572"/>
                </a:lnTo>
                <a:lnTo>
                  <a:pt x="886358" y="212572"/>
                </a:lnTo>
                <a:lnTo>
                  <a:pt x="880008" y="218922"/>
                </a:lnTo>
                <a:close/>
              </a:path>
              <a:path w="892809" h="225425">
                <a:moveTo>
                  <a:pt x="892708" y="12699"/>
                </a:moveTo>
                <a:lnTo>
                  <a:pt x="886358" y="12699"/>
                </a:lnTo>
                <a:lnTo>
                  <a:pt x="880008" y="6349"/>
                </a:lnTo>
                <a:lnTo>
                  <a:pt x="892708" y="6349"/>
                </a:lnTo>
                <a:lnTo>
                  <a:pt x="892708" y="12699"/>
                </a:lnTo>
                <a:close/>
              </a:path>
              <a:path w="892809" h="225425">
                <a:moveTo>
                  <a:pt x="12700" y="218922"/>
                </a:moveTo>
                <a:lnTo>
                  <a:pt x="6350" y="212572"/>
                </a:lnTo>
                <a:lnTo>
                  <a:pt x="12700" y="212572"/>
                </a:lnTo>
                <a:lnTo>
                  <a:pt x="12700" y="218922"/>
                </a:lnTo>
                <a:close/>
              </a:path>
              <a:path w="892809" h="225425">
                <a:moveTo>
                  <a:pt x="880008" y="218922"/>
                </a:moveTo>
                <a:lnTo>
                  <a:pt x="12700" y="218922"/>
                </a:lnTo>
                <a:lnTo>
                  <a:pt x="12700" y="212572"/>
                </a:lnTo>
                <a:lnTo>
                  <a:pt x="880008" y="212572"/>
                </a:lnTo>
                <a:lnTo>
                  <a:pt x="880008" y="218922"/>
                </a:lnTo>
                <a:close/>
              </a:path>
              <a:path w="892809" h="225425">
                <a:moveTo>
                  <a:pt x="892708" y="218922"/>
                </a:moveTo>
                <a:lnTo>
                  <a:pt x="880008" y="218922"/>
                </a:lnTo>
                <a:lnTo>
                  <a:pt x="886358" y="212572"/>
                </a:lnTo>
                <a:lnTo>
                  <a:pt x="892708" y="212572"/>
                </a:lnTo>
                <a:lnTo>
                  <a:pt x="892708" y="218922"/>
                </a:lnTo>
                <a:close/>
              </a:path>
            </a:pathLst>
          </a:custGeom>
          <a:solidFill>
            <a:srgbClr val="C00000"/>
          </a:solidFill>
        </p:spPr>
        <p:txBody>
          <a:bodyPr wrap="square" lIns="0" tIns="0" rIns="0" bIns="0" rtlCol="0"/>
          <a:lstStyle/>
          <a:p/>
        </p:txBody>
      </p:sp>
      <p:sp>
        <p:nvSpPr>
          <p:cNvPr id="54" name="object 54"/>
          <p:cNvSpPr txBox="1"/>
          <p:nvPr/>
        </p:nvSpPr>
        <p:spPr>
          <a:xfrm>
            <a:off x="7232904" y="2514066"/>
            <a:ext cx="879475" cy="177165"/>
          </a:xfrm>
          <a:prstGeom prst="rect">
            <a:avLst/>
          </a:prstGeom>
        </p:spPr>
        <p:txBody>
          <a:bodyPr vert="horz" wrap="square" lIns="0" tIns="12065" rIns="0" bIns="0" rtlCol="0">
            <a:spAutoFit/>
          </a:bodyPr>
          <a:lstStyle/>
          <a:p>
            <a:pPr marL="224155">
              <a:lnSpc>
                <a:spcPct val="100000"/>
              </a:lnSpc>
              <a:spcBef>
                <a:spcPts val="95"/>
              </a:spcBef>
            </a:pPr>
            <a:r>
              <a:rPr sz="1000" b="1" spc="-5" dirty="0">
                <a:solidFill>
                  <a:srgbClr val="C00000"/>
                </a:solidFill>
                <a:latin typeface="微软雅黑" panose="020B0503020204020204" charset="-122"/>
                <a:cs typeface="微软雅黑" panose="020B0503020204020204" charset="-122"/>
              </a:rPr>
              <a:t>PWM2</a:t>
            </a:r>
            <a:endParaRPr sz="1000">
              <a:latin typeface="微软雅黑" panose="020B0503020204020204" charset="-122"/>
              <a:cs typeface="微软雅黑" panose="020B0503020204020204" charset="-122"/>
            </a:endParaRPr>
          </a:p>
        </p:txBody>
      </p:sp>
      <p:sp>
        <p:nvSpPr>
          <p:cNvPr id="55" name="object 55"/>
          <p:cNvSpPr/>
          <p:nvPr/>
        </p:nvSpPr>
        <p:spPr>
          <a:xfrm>
            <a:off x="7232904" y="2816351"/>
            <a:ext cx="879475" cy="212090"/>
          </a:xfrm>
          <a:custGeom>
            <a:avLst/>
            <a:gdLst/>
            <a:ahLst/>
            <a:cxnLst/>
            <a:rect l="l" t="t" r="r" b="b"/>
            <a:pathLst>
              <a:path w="879475" h="212089">
                <a:moveTo>
                  <a:pt x="0" y="0"/>
                </a:moveTo>
                <a:lnTo>
                  <a:pt x="879348" y="0"/>
                </a:lnTo>
                <a:lnTo>
                  <a:pt x="879348" y="211836"/>
                </a:lnTo>
                <a:lnTo>
                  <a:pt x="0" y="211836"/>
                </a:lnTo>
                <a:lnTo>
                  <a:pt x="0" y="0"/>
                </a:lnTo>
                <a:close/>
              </a:path>
            </a:pathLst>
          </a:custGeom>
          <a:solidFill>
            <a:srgbClr val="D9D9D9"/>
          </a:solidFill>
        </p:spPr>
        <p:txBody>
          <a:bodyPr wrap="square" lIns="0" tIns="0" rIns="0" bIns="0" rtlCol="0"/>
          <a:lstStyle/>
          <a:p/>
        </p:txBody>
      </p:sp>
      <p:sp>
        <p:nvSpPr>
          <p:cNvPr id="56" name="object 56"/>
          <p:cNvSpPr/>
          <p:nvPr/>
        </p:nvSpPr>
        <p:spPr>
          <a:xfrm>
            <a:off x="7225804" y="2809519"/>
            <a:ext cx="892810" cy="225425"/>
          </a:xfrm>
          <a:custGeom>
            <a:avLst/>
            <a:gdLst/>
            <a:ahLst/>
            <a:cxnLst/>
            <a:rect l="l" t="t" r="r" b="b"/>
            <a:pathLst>
              <a:path w="892809" h="225425">
                <a:moveTo>
                  <a:pt x="892708" y="225272"/>
                </a:moveTo>
                <a:lnTo>
                  <a:pt x="0" y="225272"/>
                </a:lnTo>
                <a:lnTo>
                  <a:pt x="0" y="0"/>
                </a:lnTo>
                <a:lnTo>
                  <a:pt x="892708" y="0"/>
                </a:lnTo>
                <a:lnTo>
                  <a:pt x="892708" y="6350"/>
                </a:lnTo>
                <a:lnTo>
                  <a:pt x="12700" y="6350"/>
                </a:lnTo>
                <a:lnTo>
                  <a:pt x="6350" y="12700"/>
                </a:lnTo>
                <a:lnTo>
                  <a:pt x="12700" y="12700"/>
                </a:lnTo>
                <a:lnTo>
                  <a:pt x="12700" y="212572"/>
                </a:lnTo>
                <a:lnTo>
                  <a:pt x="6350" y="212572"/>
                </a:lnTo>
                <a:lnTo>
                  <a:pt x="12700" y="218922"/>
                </a:lnTo>
                <a:lnTo>
                  <a:pt x="892708" y="218922"/>
                </a:lnTo>
                <a:lnTo>
                  <a:pt x="892708" y="225272"/>
                </a:lnTo>
                <a:close/>
              </a:path>
              <a:path w="892809" h="225425">
                <a:moveTo>
                  <a:pt x="12700" y="12700"/>
                </a:moveTo>
                <a:lnTo>
                  <a:pt x="6350" y="12700"/>
                </a:lnTo>
                <a:lnTo>
                  <a:pt x="12700" y="6350"/>
                </a:lnTo>
                <a:lnTo>
                  <a:pt x="12700" y="12700"/>
                </a:lnTo>
                <a:close/>
              </a:path>
              <a:path w="892809" h="225425">
                <a:moveTo>
                  <a:pt x="880008" y="12700"/>
                </a:moveTo>
                <a:lnTo>
                  <a:pt x="12700" y="12700"/>
                </a:lnTo>
                <a:lnTo>
                  <a:pt x="12700" y="6350"/>
                </a:lnTo>
                <a:lnTo>
                  <a:pt x="880008" y="6350"/>
                </a:lnTo>
                <a:lnTo>
                  <a:pt x="880008" y="12700"/>
                </a:lnTo>
                <a:close/>
              </a:path>
              <a:path w="892809" h="225425">
                <a:moveTo>
                  <a:pt x="880008" y="218922"/>
                </a:moveTo>
                <a:lnTo>
                  <a:pt x="880008" y="6350"/>
                </a:lnTo>
                <a:lnTo>
                  <a:pt x="886358" y="12700"/>
                </a:lnTo>
                <a:lnTo>
                  <a:pt x="892708" y="12700"/>
                </a:lnTo>
                <a:lnTo>
                  <a:pt x="892708" y="212572"/>
                </a:lnTo>
                <a:lnTo>
                  <a:pt x="886358" y="212572"/>
                </a:lnTo>
                <a:lnTo>
                  <a:pt x="880008" y="218922"/>
                </a:lnTo>
                <a:close/>
              </a:path>
              <a:path w="892809" h="225425">
                <a:moveTo>
                  <a:pt x="892708" y="12700"/>
                </a:moveTo>
                <a:lnTo>
                  <a:pt x="886358" y="12700"/>
                </a:lnTo>
                <a:lnTo>
                  <a:pt x="880008" y="6350"/>
                </a:lnTo>
                <a:lnTo>
                  <a:pt x="892708" y="6350"/>
                </a:lnTo>
                <a:lnTo>
                  <a:pt x="892708" y="12700"/>
                </a:lnTo>
                <a:close/>
              </a:path>
              <a:path w="892809" h="225425">
                <a:moveTo>
                  <a:pt x="12700" y="218922"/>
                </a:moveTo>
                <a:lnTo>
                  <a:pt x="6350" y="212572"/>
                </a:lnTo>
                <a:lnTo>
                  <a:pt x="12700" y="212572"/>
                </a:lnTo>
                <a:lnTo>
                  <a:pt x="12700" y="218922"/>
                </a:lnTo>
                <a:close/>
              </a:path>
              <a:path w="892809" h="225425">
                <a:moveTo>
                  <a:pt x="880008" y="218922"/>
                </a:moveTo>
                <a:lnTo>
                  <a:pt x="12700" y="218922"/>
                </a:lnTo>
                <a:lnTo>
                  <a:pt x="12700" y="212572"/>
                </a:lnTo>
                <a:lnTo>
                  <a:pt x="880008" y="212572"/>
                </a:lnTo>
                <a:lnTo>
                  <a:pt x="880008" y="218922"/>
                </a:lnTo>
                <a:close/>
              </a:path>
              <a:path w="892809" h="225425">
                <a:moveTo>
                  <a:pt x="892708" y="218922"/>
                </a:moveTo>
                <a:lnTo>
                  <a:pt x="880008" y="218922"/>
                </a:lnTo>
                <a:lnTo>
                  <a:pt x="886358" y="212572"/>
                </a:lnTo>
                <a:lnTo>
                  <a:pt x="892708" y="212572"/>
                </a:lnTo>
                <a:lnTo>
                  <a:pt x="892708" y="218922"/>
                </a:lnTo>
                <a:close/>
              </a:path>
            </a:pathLst>
          </a:custGeom>
          <a:solidFill>
            <a:srgbClr val="C00000"/>
          </a:solidFill>
        </p:spPr>
        <p:txBody>
          <a:bodyPr wrap="square" lIns="0" tIns="0" rIns="0" bIns="0" rtlCol="0"/>
          <a:lstStyle/>
          <a:p/>
        </p:txBody>
      </p:sp>
      <p:sp>
        <p:nvSpPr>
          <p:cNvPr id="57" name="object 57"/>
          <p:cNvSpPr txBox="1"/>
          <p:nvPr/>
        </p:nvSpPr>
        <p:spPr>
          <a:xfrm>
            <a:off x="7346454" y="2826029"/>
            <a:ext cx="649605" cy="177165"/>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C00000"/>
                </a:solidFill>
                <a:latin typeface="微软雅黑" panose="020B0503020204020204" charset="-122"/>
                <a:cs typeface="微软雅黑" panose="020B0503020204020204" charset="-122"/>
              </a:rPr>
              <a:t>H</a:t>
            </a:r>
            <a:r>
              <a:rPr sz="1000" b="1" dirty="0">
                <a:solidFill>
                  <a:srgbClr val="C00000"/>
                </a:solidFill>
                <a:latin typeface="微软雅黑" panose="020B0503020204020204" charset="-122"/>
                <a:cs typeface="微软雅黑" panose="020B0503020204020204" charset="-122"/>
              </a:rPr>
              <a:t>C</a:t>
            </a:r>
            <a:r>
              <a:rPr sz="1000" b="1" spc="-5" dirty="0">
                <a:solidFill>
                  <a:srgbClr val="C00000"/>
                </a:solidFill>
                <a:latin typeface="微软雅黑" panose="020B0503020204020204" charset="-122"/>
                <a:cs typeface="微软雅黑" panose="020B0503020204020204" charset="-122"/>
              </a:rPr>
              <a:t>L</a:t>
            </a:r>
            <a:r>
              <a:rPr sz="1000" b="1" dirty="0">
                <a:solidFill>
                  <a:srgbClr val="C00000"/>
                </a:solidFill>
                <a:latin typeface="微软雅黑" panose="020B0503020204020204" charset="-122"/>
                <a:cs typeface="微软雅黑" panose="020B0503020204020204" charset="-122"/>
              </a:rPr>
              <a:t>K</a:t>
            </a:r>
            <a:r>
              <a:rPr sz="1000" b="1" spc="-5" dirty="0">
                <a:solidFill>
                  <a:srgbClr val="C00000"/>
                </a:solidFill>
                <a:latin typeface="微软雅黑" panose="020B0503020204020204" charset="-122"/>
                <a:cs typeface="微软雅黑" panose="020B0503020204020204" charset="-122"/>
              </a:rPr>
              <a:t>GEN</a:t>
            </a:r>
            <a:endParaRPr sz="1000">
              <a:latin typeface="微软雅黑" panose="020B0503020204020204" charset="-122"/>
              <a:cs typeface="微软雅黑" panose="020B0503020204020204" charset="-122"/>
            </a:endParaRPr>
          </a:p>
        </p:txBody>
      </p:sp>
      <p:sp>
        <p:nvSpPr>
          <p:cNvPr id="58" name="object 58"/>
          <p:cNvSpPr/>
          <p:nvPr/>
        </p:nvSpPr>
        <p:spPr>
          <a:xfrm>
            <a:off x="7232904" y="3127248"/>
            <a:ext cx="879475" cy="213360"/>
          </a:xfrm>
          <a:custGeom>
            <a:avLst/>
            <a:gdLst/>
            <a:ahLst/>
            <a:cxnLst/>
            <a:rect l="l" t="t" r="r" b="b"/>
            <a:pathLst>
              <a:path w="879475" h="213360">
                <a:moveTo>
                  <a:pt x="0" y="0"/>
                </a:moveTo>
                <a:lnTo>
                  <a:pt x="879348" y="0"/>
                </a:lnTo>
                <a:lnTo>
                  <a:pt x="879348" y="213360"/>
                </a:lnTo>
                <a:lnTo>
                  <a:pt x="0" y="213360"/>
                </a:lnTo>
                <a:lnTo>
                  <a:pt x="0" y="0"/>
                </a:lnTo>
                <a:close/>
              </a:path>
            </a:pathLst>
          </a:custGeom>
          <a:solidFill>
            <a:srgbClr val="D9D9D9"/>
          </a:solidFill>
        </p:spPr>
        <p:txBody>
          <a:bodyPr wrap="square" lIns="0" tIns="0" rIns="0" bIns="0" rtlCol="0"/>
          <a:lstStyle/>
          <a:p/>
        </p:txBody>
      </p:sp>
      <p:sp>
        <p:nvSpPr>
          <p:cNvPr id="59" name="object 59"/>
          <p:cNvSpPr/>
          <p:nvPr/>
        </p:nvSpPr>
        <p:spPr>
          <a:xfrm>
            <a:off x="7225804" y="3121482"/>
            <a:ext cx="892810" cy="225425"/>
          </a:xfrm>
          <a:custGeom>
            <a:avLst/>
            <a:gdLst/>
            <a:ahLst/>
            <a:cxnLst/>
            <a:rect l="l" t="t" r="r" b="b"/>
            <a:pathLst>
              <a:path w="892809" h="225425">
                <a:moveTo>
                  <a:pt x="892708" y="225272"/>
                </a:moveTo>
                <a:lnTo>
                  <a:pt x="0" y="225272"/>
                </a:lnTo>
                <a:lnTo>
                  <a:pt x="0" y="0"/>
                </a:lnTo>
                <a:lnTo>
                  <a:pt x="892708" y="0"/>
                </a:lnTo>
                <a:lnTo>
                  <a:pt x="892708" y="6350"/>
                </a:lnTo>
                <a:lnTo>
                  <a:pt x="12700" y="6350"/>
                </a:lnTo>
                <a:lnTo>
                  <a:pt x="6350" y="12700"/>
                </a:lnTo>
                <a:lnTo>
                  <a:pt x="12700" y="12700"/>
                </a:lnTo>
                <a:lnTo>
                  <a:pt x="12700" y="212572"/>
                </a:lnTo>
                <a:lnTo>
                  <a:pt x="6350" y="212572"/>
                </a:lnTo>
                <a:lnTo>
                  <a:pt x="12700" y="218922"/>
                </a:lnTo>
                <a:lnTo>
                  <a:pt x="892708" y="218922"/>
                </a:lnTo>
                <a:lnTo>
                  <a:pt x="892708" y="225272"/>
                </a:lnTo>
                <a:close/>
              </a:path>
              <a:path w="892809" h="225425">
                <a:moveTo>
                  <a:pt x="12700" y="12700"/>
                </a:moveTo>
                <a:lnTo>
                  <a:pt x="6350" y="12700"/>
                </a:lnTo>
                <a:lnTo>
                  <a:pt x="12700" y="6350"/>
                </a:lnTo>
                <a:lnTo>
                  <a:pt x="12700" y="12700"/>
                </a:lnTo>
                <a:close/>
              </a:path>
              <a:path w="892809" h="225425">
                <a:moveTo>
                  <a:pt x="880008" y="12700"/>
                </a:moveTo>
                <a:lnTo>
                  <a:pt x="12700" y="12700"/>
                </a:lnTo>
                <a:lnTo>
                  <a:pt x="12700" y="6350"/>
                </a:lnTo>
                <a:lnTo>
                  <a:pt x="880008" y="6350"/>
                </a:lnTo>
                <a:lnTo>
                  <a:pt x="880008" y="12700"/>
                </a:lnTo>
                <a:close/>
              </a:path>
              <a:path w="892809" h="225425">
                <a:moveTo>
                  <a:pt x="880008" y="218922"/>
                </a:moveTo>
                <a:lnTo>
                  <a:pt x="880008" y="6350"/>
                </a:lnTo>
                <a:lnTo>
                  <a:pt x="886358" y="12700"/>
                </a:lnTo>
                <a:lnTo>
                  <a:pt x="892708" y="12700"/>
                </a:lnTo>
                <a:lnTo>
                  <a:pt x="892708" y="212572"/>
                </a:lnTo>
                <a:lnTo>
                  <a:pt x="886358" y="212572"/>
                </a:lnTo>
                <a:lnTo>
                  <a:pt x="880008" y="218922"/>
                </a:lnTo>
                <a:close/>
              </a:path>
              <a:path w="892809" h="225425">
                <a:moveTo>
                  <a:pt x="892708" y="12700"/>
                </a:moveTo>
                <a:lnTo>
                  <a:pt x="886358" y="12700"/>
                </a:lnTo>
                <a:lnTo>
                  <a:pt x="880008" y="6350"/>
                </a:lnTo>
                <a:lnTo>
                  <a:pt x="892708" y="6350"/>
                </a:lnTo>
                <a:lnTo>
                  <a:pt x="892708" y="12700"/>
                </a:lnTo>
                <a:close/>
              </a:path>
              <a:path w="892809" h="225425">
                <a:moveTo>
                  <a:pt x="12700" y="218922"/>
                </a:moveTo>
                <a:lnTo>
                  <a:pt x="6350" y="212572"/>
                </a:lnTo>
                <a:lnTo>
                  <a:pt x="12700" y="212572"/>
                </a:lnTo>
                <a:lnTo>
                  <a:pt x="12700" y="218922"/>
                </a:lnTo>
                <a:close/>
              </a:path>
              <a:path w="892809" h="225425">
                <a:moveTo>
                  <a:pt x="880008" y="218922"/>
                </a:moveTo>
                <a:lnTo>
                  <a:pt x="12700" y="218922"/>
                </a:lnTo>
                <a:lnTo>
                  <a:pt x="12700" y="212572"/>
                </a:lnTo>
                <a:lnTo>
                  <a:pt x="880008" y="212572"/>
                </a:lnTo>
                <a:lnTo>
                  <a:pt x="880008" y="218922"/>
                </a:lnTo>
                <a:close/>
              </a:path>
              <a:path w="892809" h="225425">
                <a:moveTo>
                  <a:pt x="892708" y="218922"/>
                </a:moveTo>
                <a:lnTo>
                  <a:pt x="880008" y="218922"/>
                </a:lnTo>
                <a:lnTo>
                  <a:pt x="886358" y="212572"/>
                </a:lnTo>
                <a:lnTo>
                  <a:pt x="892708" y="212572"/>
                </a:lnTo>
                <a:lnTo>
                  <a:pt x="892708" y="218922"/>
                </a:lnTo>
                <a:close/>
              </a:path>
            </a:pathLst>
          </a:custGeom>
          <a:solidFill>
            <a:srgbClr val="C00000"/>
          </a:solidFill>
        </p:spPr>
        <p:txBody>
          <a:bodyPr wrap="square" lIns="0" tIns="0" rIns="0" bIns="0" rtlCol="0"/>
          <a:lstStyle/>
          <a:p/>
        </p:txBody>
      </p:sp>
      <p:sp>
        <p:nvSpPr>
          <p:cNvPr id="60" name="object 60"/>
          <p:cNvSpPr txBox="1"/>
          <p:nvPr/>
        </p:nvSpPr>
        <p:spPr>
          <a:xfrm>
            <a:off x="7495679" y="3137992"/>
            <a:ext cx="351790" cy="177165"/>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C00000"/>
                </a:solidFill>
                <a:latin typeface="微软雅黑" panose="020B0503020204020204" charset="-122"/>
                <a:cs typeface="微软雅黑" panose="020B0503020204020204" charset="-122"/>
              </a:rPr>
              <a:t>GPIO</a:t>
            </a:r>
            <a:endParaRPr sz="1000">
              <a:latin typeface="微软雅黑" panose="020B0503020204020204" charset="-122"/>
              <a:cs typeface="微软雅黑" panose="020B0503020204020204" charset="-122"/>
            </a:endParaRPr>
          </a:p>
        </p:txBody>
      </p:sp>
      <p:sp>
        <p:nvSpPr>
          <p:cNvPr id="61" name="object 61"/>
          <p:cNvSpPr/>
          <p:nvPr/>
        </p:nvSpPr>
        <p:spPr>
          <a:xfrm>
            <a:off x="7232904" y="3439667"/>
            <a:ext cx="879475" cy="213360"/>
          </a:xfrm>
          <a:custGeom>
            <a:avLst/>
            <a:gdLst/>
            <a:ahLst/>
            <a:cxnLst/>
            <a:rect l="l" t="t" r="r" b="b"/>
            <a:pathLst>
              <a:path w="879475" h="213360">
                <a:moveTo>
                  <a:pt x="0" y="0"/>
                </a:moveTo>
                <a:lnTo>
                  <a:pt x="879348" y="0"/>
                </a:lnTo>
                <a:lnTo>
                  <a:pt x="879348" y="213360"/>
                </a:lnTo>
                <a:lnTo>
                  <a:pt x="0" y="213360"/>
                </a:lnTo>
                <a:lnTo>
                  <a:pt x="0" y="0"/>
                </a:lnTo>
                <a:close/>
              </a:path>
            </a:pathLst>
          </a:custGeom>
          <a:solidFill>
            <a:srgbClr val="D9D9D9"/>
          </a:solidFill>
        </p:spPr>
        <p:txBody>
          <a:bodyPr wrap="square" lIns="0" tIns="0" rIns="0" bIns="0" rtlCol="0"/>
          <a:lstStyle/>
          <a:p/>
        </p:txBody>
      </p:sp>
      <p:sp>
        <p:nvSpPr>
          <p:cNvPr id="62" name="object 62"/>
          <p:cNvSpPr/>
          <p:nvPr/>
        </p:nvSpPr>
        <p:spPr>
          <a:xfrm>
            <a:off x="7225804" y="3433445"/>
            <a:ext cx="892810" cy="225425"/>
          </a:xfrm>
          <a:custGeom>
            <a:avLst/>
            <a:gdLst/>
            <a:ahLst/>
            <a:cxnLst/>
            <a:rect l="l" t="t" r="r" b="b"/>
            <a:pathLst>
              <a:path w="892809" h="225425">
                <a:moveTo>
                  <a:pt x="892708" y="225272"/>
                </a:moveTo>
                <a:lnTo>
                  <a:pt x="0" y="225272"/>
                </a:lnTo>
                <a:lnTo>
                  <a:pt x="0" y="0"/>
                </a:lnTo>
                <a:lnTo>
                  <a:pt x="892708" y="0"/>
                </a:lnTo>
                <a:lnTo>
                  <a:pt x="892708" y="6350"/>
                </a:lnTo>
                <a:lnTo>
                  <a:pt x="12700" y="6350"/>
                </a:lnTo>
                <a:lnTo>
                  <a:pt x="6350" y="12700"/>
                </a:lnTo>
                <a:lnTo>
                  <a:pt x="12700" y="12700"/>
                </a:lnTo>
                <a:lnTo>
                  <a:pt x="12700" y="212572"/>
                </a:lnTo>
                <a:lnTo>
                  <a:pt x="6350" y="212572"/>
                </a:lnTo>
                <a:lnTo>
                  <a:pt x="12700" y="218922"/>
                </a:lnTo>
                <a:lnTo>
                  <a:pt x="892708" y="218922"/>
                </a:lnTo>
                <a:lnTo>
                  <a:pt x="892708" y="225272"/>
                </a:lnTo>
                <a:close/>
              </a:path>
              <a:path w="892809" h="225425">
                <a:moveTo>
                  <a:pt x="12700" y="12700"/>
                </a:moveTo>
                <a:lnTo>
                  <a:pt x="6350" y="12700"/>
                </a:lnTo>
                <a:lnTo>
                  <a:pt x="12700" y="6350"/>
                </a:lnTo>
                <a:lnTo>
                  <a:pt x="12700" y="12700"/>
                </a:lnTo>
                <a:close/>
              </a:path>
              <a:path w="892809" h="225425">
                <a:moveTo>
                  <a:pt x="880008" y="12700"/>
                </a:moveTo>
                <a:lnTo>
                  <a:pt x="12700" y="12700"/>
                </a:lnTo>
                <a:lnTo>
                  <a:pt x="12700" y="6350"/>
                </a:lnTo>
                <a:lnTo>
                  <a:pt x="880008" y="6350"/>
                </a:lnTo>
                <a:lnTo>
                  <a:pt x="880008" y="12700"/>
                </a:lnTo>
                <a:close/>
              </a:path>
              <a:path w="892809" h="225425">
                <a:moveTo>
                  <a:pt x="880008" y="218922"/>
                </a:moveTo>
                <a:lnTo>
                  <a:pt x="880008" y="6350"/>
                </a:lnTo>
                <a:lnTo>
                  <a:pt x="886358" y="12700"/>
                </a:lnTo>
                <a:lnTo>
                  <a:pt x="892708" y="12700"/>
                </a:lnTo>
                <a:lnTo>
                  <a:pt x="892708" y="212572"/>
                </a:lnTo>
                <a:lnTo>
                  <a:pt x="886358" y="212572"/>
                </a:lnTo>
                <a:lnTo>
                  <a:pt x="880008" y="218922"/>
                </a:lnTo>
                <a:close/>
              </a:path>
              <a:path w="892809" h="225425">
                <a:moveTo>
                  <a:pt x="892708" y="12700"/>
                </a:moveTo>
                <a:lnTo>
                  <a:pt x="886358" y="12700"/>
                </a:lnTo>
                <a:lnTo>
                  <a:pt x="880008" y="6350"/>
                </a:lnTo>
                <a:lnTo>
                  <a:pt x="892708" y="6350"/>
                </a:lnTo>
                <a:lnTo>
                  <a:pt x="892708" y="12700"/>
                </a:lnTo>
                <a:close/>
              </a:path>
              <a:path w="892809" h="225425">
                <a:moveTo>
                  <a:pt x="12700" y="218922"/>
                </a:moveTo>
                <a:lnTo>
                  <a:pt x="6350" y="212572"/>
                </a:lnTo>
                <a:lnTo>
                  <a:pt x="12700" y="212572"/>
                </a:lnTo>
                <a:lnTo>
                  <a:pt x="12700" y="218922"/>
                </a:lnTo>
                <a:close/>
              </a:path>
              <a:path w="892809" h="225425">
                <a:moveTo>
                  <a:pt x="880008" y="218922"/>
                </a:moveTo>
                <a:lnTo>
                  <a:pt x="12700" y="218922"/>
                </a:lnTo>
                <a:lnTo>
                  <a:pt x="12700" y="212572"/>
                </a:lnTo>
                <a:lnTo>
                  <a:pt x="880008" y="212572"/>
                </a:lnTo>
                <a:lnTo>
                  <a:pt x="880008" y="218922"/>
                </a:lnTo>
                <a:close/>
              </a:path>
              <a:path w="892809" h="225425">
                <a:moveTo>
                  <a:pt x="892708" y="218922"/>
                </a:moveTo>
                <a:lnTo>
                  <a:pt x="880008" y="218922"/>
                </a:lnTo>
                <a:lnTo>
                  <a:pt x="886358" y="212572"/>
                </a:lnTo>
                <a:lnTo>
                  <a:pt x="892708" y="212572"/>
                </a:lnTo>
                <a:lnTo>
                  <a:pt x="892708" y="218922"/>
                </a:lnTo>
                <a:close/>
              </a:path>
            </a:pathLst>
          </a:custGeom>
          <a:solidFill>
            <a:srgbClr val="C00000"/>
          </a:solidFill>
        </p:spPr>
        <p:txBody>
          <a:bodyPr wrap="square" lIns="0" tIns="0" rIns="0" bIns="0" rtlCol="0"/>
          <a:lstStyle/>
          <a:p/>
        </p:txBody>
      </p:sp>
      <p:sp>
        <p:nvSpPr>
          <p:cNvPr id="63" name="object 63"/>
          <p:cNvSpPr txBox="1"/>
          <p:nvPr/>
        </p:nvSpPr>
        <p:spPr>
          <a:xfrm>
            <a:off x="7439164" y="3449954"/>
            <a:ext cx="465455" cy="177165"/>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C00000"/>
                </a:solidFill>
                <a:latin typeface="微软雅黑" panose="020B0503020204020204" charset="-122"/>
                <a:cs typeface="微软雅黑" panose="020B0503020204020204" charset="-122"/>
              </a:rPr>
              <a:t>UA</a:t>
            </a:r>
            <a:r>
              <a:rPr sz="1000" b="1" dirty="0">
                <a:solidFill>
                  <a:srgbClr val="C00000"/>
                </a:solidFill>
                <a:latin typeface="微软雅黑" panose="020B0503020204020204" charset="-122"/>
                <a:cs typeface="微软雅黑" panose="020B0503020204020204" charset="-122"/>
              </a:rPr>
              <a:t>R</a:t>
            </a:r>
            <a:r>
              <a:rPr sz="1000" b="1" spc="-5" dirty="0">
                <a:solidFill>
                  <a:srgbClr val="C00000"/>
                </a:solidFill>
                <a:latin typeface="微软雅黑" panose="020B0503020204020204" charset="-122"/>
                <a:cs typeface="微软雅黑" panose="020B0503020204020204" charset="-122"/>
              </a:rPr>
              <a:t>T0</a:t>
            </a:r>
            <a:endParaRPr sz="1000">
              <a:latin typeface="微软雅黑" panose="020B0503020204020204" charset="-122"/>
              <a:cs typeface="微软雅黑" panose="020B0503020204020204" charset="-122"/>
            </a:endParaRPr>
          </a:p>
        </p:txBody>
      </p:sp>
      <p:sp>
        <p:nvSpPr>
          <p:cNvPr id="64" name="object 64"/>
          <p:cNvSpPr/>
          <p:nvPr/>
        </p:nvSpPr>
        <p:spPr>
          <a:xfrm>
            <a:off x="7232904" y="3752088"/>
            <a:ext cx="879475" cy="212090"/>
          </a:xfrm>
          <a:custGeom>
            <a:avLst/>
            <a:gdLst/>
            <a:ahLst/>
            <a:cxnLst/>
            <a:rect l="l" t="t" r="r" b="b"/>
            <a:pathLst>
              <a:path w="879475" h="212089">
                <a:moveTo>
                  <a:pt x="0" y="0"/>
                </a:moveTo>
                <a:lnTo>
                  <a:pt x="879348" y="0"/>
                </a:lnTo>
                <a:lnTo>
                  <a:pt x="879348" y="211836"/>
                </a:lnTo>
                <a:lnTo>
                  <a:pt x="0" y="211836"/>
                </a:lnTo>
                <a:lnTo>
                  <a:pt x="0" y="0"/>
                </a:lnTo>
                <a:close/>
              </a:path>
            </a:pathLst>
          </a:custGeom>
          <a:solidFill>
            <a:srgbClr val="D9D9D9"/>
          </a:solidFill>
        </p:spPr>
        <p:txBody>
          <a:bodyPr wrap="square" lIns="0" tIns="0" rIns="0" bIns="0" rtlCol="0"/>
          <a:lstStyle/>
          <a:p/>
        </p:txBody>
      </p:sp>
      <p:sp>
        <p:nvSpPr>
          <p:cNvPr id="65" name="object 65"/>
          <p:cNvSpPr/>
          <p:nvPr/>
        </p:nvSpPr>
        <p:spPr>
          <a:xfrm>
            <a:off x="7225804" y="3745407"/>
            <a:ext cx="892810" cy="225425"/>
          </a:xfrm>
          <a:custGeom>
            <a:avLst/>
            <a:gdLst/>
            <a:ahLst/>
            <a:cxnLst/>
            <a:rect l="l" t="t" r="r" b="b"/>
            <a:pathLst>
              <a:path w="892809" h="225425">
                <a:moveTo>
                  <a:pt x="892708" y="225272"/>
                </a:moveTo>
                <a:lnTo>
                  <a:pt x="0" y="225272"/>
                </a:lnTo>
                <a:lnTo>
                  <a:pt x="0" y="0"/>
                </a:lnTo>
                <a:lnTo>
                  <a:pt x="892708" y="0"/>
                </a:lnTo>
                <a:lnTo>
                  <a:pt x="892708" y="6350"/>
                </a:lnTo>
                <a:lnTo>
                  <a:pt x="12700" y="6350"/>
                </a:lnTo>
                <a:lnTo>
                  <a:pt x="6350" y="12700"/>
                </a:lnTo>
                <a:lnTo>
                  <a:pt x="12700" y="12700"/>
                </a:lnTo>
                <a:lnTo>
                  <a:pt x="12700" y="212572"/>
                </a:lnTo>
                <a:lnTo>
                  <a:pt x="6350" y="212572"/>
                </a:lnTo>
                <a:lnTo>
                  <a:pt x="12700" y="218922"/>
                </a:lnTo>
                <a:lnTo>
                  <a:pt x="892708" y="218922"/>
                </a:lnTo>
                <a:lnTo>
                  <a:pt x="892708" y="225272"/>
                </a:lnTo>
                <a:close/>
              </a:path>
              <a:path w="892809" h="225425">
                <a:moveTo>
                  <a:pt x="12700" y="12700"/>
                </a:moveTo>
                <a:lnTo>
                  <a:pt x="6350" y="12700"/>
                </a:lnTo>
                <a:lnTo>
                  <a:pt x="12700" y="6350"/>
                </a:lnTo>
                <a:lnTo>
                  <a:pt x="12700" y="12700"/>
                </a:lnTo>
                <a:close/>
              </a:path>
              <a:path w="892809" h="225425">
                <a:moveTo>
                  <a:pt x="880008" y="12700"/>
                </a:moveTo>
                <a:lnTo>
                  <a:pt x="12700" y="12700"/>
                </a:lnTo>
                <a:lnTo>
                  <a:pt x="12700" y="6350"/>
                </a:lnTo>
                <a:lnTo>
                  <a:pt x="880008" y="6350"/>
                </a:lnTo>
                <a:lnTo>
                  <a:pt x="880008" y="12700"/>
                </a:lnTo>
                <a:close/>
              </a:path>
              <a:path w="892809" h="225425">
                <a:moveTo>
                  <a:pt x="880008" y="218922"/>
                </a:moveTo>
                <a:lnTo>
                  <a:pt x="880008" y="6350"/>
                </a:lnTo>
                <a:lnTo>
                  <a:pt x="886358" y="12700"/>
                </a:lnTo>
                <a:lnTo>
                  <a:pt x="892708" y="12700"/>
                </a:lnTo>
                <a:lnTo>
                  <a:pt x="892708" y="212572"/>
                </a:lnTo>
                <a:lnTo>
                  <a:pt x="886358" y="212572"/>
                </a:lnTo>
                <a:lnTo>
                  <a:pt x="880008" y="218922"/>
                </a:lnTo>
                <a:close/>
              </a:path>
              <a:path w="892809" h="225425">
                <a:moveTo>
                  <a:pt x="892708" y="12700"/>
                </a:moveTo>
                <a:lnTo>
                  <a:pt x="886358" y="12700"/>
                </a:lnTo>
                <a:lnTo>
                  <a:pt x="880008" y="6350"/>
                </a:lnTo>
                <a:lnTo>
                  <a:pt x="892708" y="6350"/>
                </a:lnTo>
                <a:lnTo>
                  <a:pt x="892708" y="12700"/>
                </a:lnTo>
                <a:close/>
              </a:path>
              <a:path w="892809" h="225425">
                <a:moveTo>
                  <a:pt x="12700" y="218922"/>
                </a:moveTo>
                <a:lnTo>
                  <a:pt x="6350" y="212572"/>
                </a:lnTo>
                <a:lnTo>
                  <a:pt x="12700" y="212572"/>
                </a:lnTo>
                <a:lnTo>
                  <a:pt x="12700" y="218922"/>
                </a:lnTo>
                <a:close/>
              </a:path>
              <a:path w="892809" h="225425">
                <a:moveTo>
                  <a:pt x="880008" y="218922"/>
                </a:moveTo>
                <a:lnTo>
                  <a:pt x="12700" y="218922"/>
                </a:lnTo>
                <a:lnTo>
                  <a:pt x="12700" y="212572"/>
                </a:lnTo>
                <a:lnTo>
                  <a:pt x="880008" y="212572"/>
                </a:lnTo>
                <a:lnTo>
                  <a:pt x="880008" y="218922"/>
                </a:lnTo>
                <a:close/>
              </a:path>
              <a:path w="892809" h="225425">
                <a:moveTo>
                  <a:pt x="892708" y="218922"/>
                </a:moveTo>
                <a:lnTo>
                  <a:pt x="880008" y="218922"/>
                </a:lnTo>
                <a:lnTo>
                  <a:pt x="886358" y="212572"/>
                </a:lnTo>
                <a:lnTo>
                  <a:pt x="892708" y="212572"/>
                </a:lnTo>
                <a:lnTo>
                  <a:pt x="892708" y="218922"/>
                </a:lnTo>
                <a:close/>
              </a:path>
            </a:pathLst>
          </a:custGeom>
          <a:solidFill>
            <a:srgbClr val="C00000"/>
          </a:solidFill>
        </p:spPr>
        <p:txBody>
          <a:bodyPr wrap="square" lIns="0" tIns="0" rIns="0" bIns="0" rtlCol="0"/>
          <a:lstStyle/>
          <a:p/>
        </p:txBody>
      </p:sp>
      <p:sp>
        <p:nvSpPr>
          <p:cNvPr id="66" name="object 66"/>
          <p:cNvSpPr txBox="1"/>
          <p:nvPr/>
        </p:nvSpPr>
        <p:spPr>
          <a:xfrm>
            <a:off x="7232904" y="3761917"/>
            <a:ext cx="879475" cy="177165"/>
          </a:xfrm>
          <a:prstGeom prst="rect">
            <a:avLst/>
          </a:prstGeom>
        </p:spPr>
        <p:txBody>
          <a:bodyPr vert="horz" wrap="square" lIns="0" tIns="12065" rIns="0" bIns="0" rtlCol="0">
            <a:spAutoFit/>
          </a:bodyPr>
          <a:lstStyle/>
          <a:p>
            <a:pPr marL="218440">
              <a:lnSpc>
                <a:spcPct val="100000"/>
              </a:lnSpc>
              <a:spcBef>
                <a:spcPts val="95"/>
              </a:spcBef>
            </a:pPr>
            <a:r>
              <a:rPr sz="1000" b="1" spc="-5" dirty="0">
                <a:solidFill>
                  <a:srgbClr val="C00000"/>
                </a:solidFill>
                <a:latin typeface="微软雅黑" panose="020B0503020204020204" charset="-122"/>
                <a:cs typeface="微软雅黑" panose="020B0503020204020204" charset="-122"/>
              </a:rPr>
              <a:t>UART1</a:t>
            </a:r>
            <a:endParaRPr sz="1000">
              <a:latin typeface="微软雅黑" panose="020B0503020204020204" charset="-122"/>
              <a:cs typeface="微软雅黑" panose="020B0503020204020204" charset="-122"/>
            </a:endParaRPr>
          </a:p>
        </p:txBody>
      </p:sp>
      <p:sp>
        <p:nvSpPr>
          <p:cNvPr id="67" name="object 67"/>
          <p:cNvSpPr/>
          <p:nvPr/>
        </p:nvSpPr>
        <p:spPr>
          <a:xfrm>
            <a:off x="7232904" y="4062984"/>
            <a:ext cx="879475" cy="213360"/>
          </a:xfrm>
          <a:custGeom>
            <a:avLst/>
            <a:gdLst/>
            <a:ahLst/>
            <a:cxnLst/>
            <a:rect l="l" t="t" r="r" b="b"/>
            <a:pathLst>
              <a:path w="879475" h="213360">
                <a:moveTo>
                  <a:pt x="0" y="0"/>
                </a:moveTo>
                <a:lnTo>
                  <a:pt x="879348" y="0"/>
                </a:lnTo>
                <a:lnTo>
                  <a:pt x="879348" y="213360"/>
                </a:lnTo>
                <a:lnTo>
                  <a:pt x="0" y="213360"/>
                </a:lnTo>
                <a:lnTo>
                  <a:pt x="0" y="0"/>
                </a:lnTo>
                <a:close/>
              </a:path>
            </a:pathLst>
          </a:custGeom>
          <a:solidFill>
            <a:srgbClr val="D9D9D9"/>
          </a:solidFill>
        </p:spPr>
        <p:txBody>
          <a:bodyPr wrap="square" lIns="0" tIns="0" rIns="0" bIns="0" rtlCol="0"/>
          <a:lstStyle/>
          <a:p/>
        </p:txBody>
      </p:sp>
      <p:sp>
        <p:nvSpPr>
          <p:cNvPr id="68" name="object 68"/>
          <p:cNvSpPr/>
          <p:nvPr/>
        </p:nvSpPr>
        <p:spPr>
          <a:xfrm>
            <a:off x="7225804" y="4057370"/>
            <a:ext cx="892810" cy="225425"/>
          </a:xfrm>
          <a:custGeom>
            <a:avLst/>
            <a:gdLst/>
            <a:ahLst/>
            <a:cxnLst/>
            <a:rect l="l" t="t" r="r" b="b"/>
            <a:pathLst>
              <a:path w="892809" h="225425">
                <a:moveTo>
                  <a:pt x="892708" y="225272"/>
                </a:moveTo>
                <a:lnTo>
                  <a:pt x="0" y="225272"/>
                </a:lnTo>
                <a:lnTo>
                  <a:pt x="0" y="0"/>
                </a:lnTo>
                <a:lnTo>
                  <a:pt x="892708" y="0"/>
                </a:lnTo>
                <a:lnTo>
                  <a:pt x="892708" y="6350"/>
                </a:lnTo>
                <a:lnTo>
                  <a:pt x="12700" y="6350"/>
                </a:lnTo>
                <a:lnTo>
                  <a:pt x="6350" y="12700"/>
                </a:lnTo>
                <a:lnTo>
                  <a:pt x="12700" y="12700"/>
                </a:lnTo>
                <a:lnTo>
                  <a:pt x="12700" y="212572"/>
                </a:lnTo>
                <a:lnTo>
                  <a:pt x="6350" y="212572"/>
                </a:lnTo>
                <a:lnTo>
                  <a:pt x="12700" y="218922"/>
                </a:lnTo>
                <a:lnTo>
                  <a:pt x="892708" y="218922"/>
                </a:lnTo>
                <a:lnTo>
                  <a:pt x="892708" y="225272"/>
                </a:lnTo>
                <a:close/>
              </a:path>
              <a:path w="892809" h="225425">
                <a:moveTo>
                  <a:pt x="12700" y="12700"/>
                </a:moveTo>
                <a:lnTo>
                  <a:pt x="6350" y="12700"/>
                </a:lnTo>
                <a:lnTo>
                  <a:pt x="12700" y="6350"/>
                </a:lnTo>
                <a:lnTo>
                  <a:pt x="12700" y="12700"/>
                </a:lnTo>
                <a:close/>
              </a:path>
              <a:path w="892809" h="225425">
                <a:moveTo>
                  <a:pt x="880008" y="12700"/>
                </a:moveTo>
                <a:lnTo>
                  <a:pt x="12700" y="12700"/>
                </a:lnTo>
                <a:lnTo>
                  <a:pt x="12700" y="6350"/>
                </a:lnTo>
                <a:lnTo>
                  <a:pt x="880008" y="6350"/>
                </a:lnTo>
                <a:lnTo>
                  <a:pt x="880008" y="12700"/>
                </a:lnTo>
                <a:close/>
              </a:path>
              <a:path w="892809" h="225425">
                <a:moveTo>
                  <a:pt x="880008" y="218922"/>
                </a:moveTo>
                <a:lnTo>
                  <a:pt x="880008" y="6350"/>
                </a:lnTo>
                <a:lnTo>
                  <a:pt x="886358" y="12700"/>
                </a:lnTo>
                <a:lnTo>
                  <a:pt x="892708" y="12700"/>
                </a:lnTo>
                <a:lnTo>
                  <a:pt x="892708" y="212572"/>
                </a:lnTo>
                <a:lnTo>
                  <a:pt x="886358" y="212572"/>
                </a:lnTo>
                <a:lnTo>
                  <a:pt x="880008" y="218922"/>
                </a:lnTo>
                <a:close/>
              </a:path>
              <a:path w="892809" h="225425">
                <a:moveTo>
                  <a:pt x="892708" y="12700"/>
                </a:moveTo>
                <a:lnTo>
                  <a:pt x="886358" y="12700"/>
                </a:lnTo>
                <a:lnTo>
                  <a:pt x="880008" y="6350"/>
                </a:lnTo>
                <a:lnTo>
                  <a:pt x="892708" y="6350"/>
                </a:lnTo>
                <a:lnTo>
                  <a:pt x="892708" y="12700"/>
                </a:lnTo>
                <a:close/>
              </a:path>
              <a:path w="892809" h="225425">
                <a:moveTo>
                  <a:pt x="12700" y="218922"/>
                </a:moveTo>
                <a:lnTo>
                  <a:pt x="6350" y="212572"/>
                </a:lnTo>
                <a:lnTo>
                  <a:pt x="12700" y="212572"/>
                </a:lnTo>
                <a:lnTo>
                  <a:pt x="12700" y="218922"/>
                </a:lnTo>
                <a:close/>
              </a:path>
              <a:path w="892809" h="225425">
                <a:moveTo>
                  <a:pt x="880008" y="218922"/>
                </a:moveTo>
                <a:lnTo>
                  <a:pt x="12700" y="218922"/>
                </a:lnTo>
                <a:lnTo>
                  <a:pt x="12700" y="212572"/>
                </a:lnTo>
                <a:lnTo>
                  <a:pt x="880008" y="212572"/>
                </a:lnTo>
                <a:lnTo>
                  <a:pt x="880008" y="218922"/>
                </a:lnTo>
                <a:close/>
              </a:path>
              <a:path w="892809" h="225425">
                <a:moveTo>
                  <a:pt x="892708" y="218922"/>
                </a:moveTo>
                <a:lnTo>
                  <a:pt x="880008" y="218922"/>
                </a:lnTo>
                <a:lnTo>
                  <a:pt x="886358" y="212572"/>
                </a:lnTo>
                <a:lnTo>
                  <a:pt x="892708" y="212572"/>
                </a:lnTo>
                <a:lnTo>
                  <a:pt x="892708" y="218922"/>
                </a:lnTo>
                <a:close/>
              </a:path>
            </a:pathLst>
          </a:custGeom>
          <a:solidFill>
            <a:srgbClr val="C00000"/>
          </a:solidFill>
        </p:spPr>
        <p:txBody>
          <a:bodyPr wrap="square" lIns="0" tIns="0" rIns="0" bIns="0" rtlCol="0"/>
          <a:lstStyle/>
          <a:p/>
        </p:txBody>
      </p:sp>
      <p:sp>
        <p:nvSpPr>
          <p:cNvPr id="69" name="object 69"/>
          <p:cNvSpPr txBox="1"/>
          <p:nvPr/>
        </p:nvSpPr>
        <p:spPr>
          <a:xfrm>
            <a:off x="7232904" y="4073880"/>
            <a:ext cx="879475" cy="177165"/>
          </a:xfrm>
          <a:prstGeom prst="rect">
            <a:avLst/>
          </a:prstGeom>
        </p:spPr>
        <p:txBody>
          <a:bodyPr vert="horz" wrap="square" lIns="0" tIns="12065" rIns="0" bIns="0" rtlCol="0">
            <a:spAutoFit/>
          </a:bodyPr>
          <a:lstStyle/>
          <a:p>
            <a:pPr marL="246380">
              <a:lnSpc>
                <a:spcPct val="100000"/>
              </a:lnSpc>
              <a:spcBef>
                <a:spcPts val="95"/>
              </a:spcBef>
            </a:pPr>
            <a:r>
              <a:rPr sz="1000" b="1" spc="-5" dirty="0">
                <a:solidFill>
                  <a:srgbClr val="C00000"/>
                </a:solidFill>
                <a:latin typeface="微软雅黑" panose="020B0503020204020204" charset="-122"/>
                <a:cs typeface="微软雅黑" panose="020B0503020204020204" charset="-122"/>
              </a:rPr>
              <a:t>QSPI1</a:t>
            </a:r>
            <a:endParaRPr sz="1000">
              <a:latin typeface="微软雅黑" panose="020B0503020204020204" charset="-122"/>
              <a:cs typeface="微软雅黑" panose="020B0503020204020204" charset="-122"/>
            </a:endParaRPr>
          </a:p>
        </p:txBody>
      </p:sp>
      <p:sp>
        <p:nvSpPr>
          <p:cNvPr id="70" name="object 70"/>
          <p:cNvSpPr/>
          <p:nvPr/>
        </p:nvSpPr>
        <p:spPr>
          <a:xfrm>
            <a:off x="7232904" y="4375403"/>
            <a:ext cx="879475" cy="213360"/>
          </a:xfrm>
          <a:custGeom>
            <a:avLst/>
            <a:gdLst/>
            <a:ahLst/>
            <a:cxnLst/>
            <a:rect l="l" t="t" r="r" b="b"/>
            <a:pathLst>
              <a:path w="879475" h="213360">
                <a:moveTo>
                  <a:pt x="0" y="0"/>
                </a:moveTo>
                <a:lnTo>
                  <a:pt x="879348" y="0"/>
                </a:lnTo>
                <a:lnTo>
                  <a:pt x="879348" y="213360"/>
                </a:lnTo>
                <a:lnTo>
                  <a:pt x="0" y="213360"/>
                </a:lnTo>
                <a:lnTo>
                  <a:pt x="0" y="0"/>
                </a:lnTo>
                <a:close/>
              </a:path>
            </a:pathLst>
          </a:custGeom>
          <a:solidFill>
            <a:srgbClr val="D9D9D9"/>
          </a:solidFill>
        </p:spPr>
        <p:txBody>
          <a:bodyPr wrap="square" lIns="0" tIns="0" rIns="0" bIns="0" rtlCol="0"/>
          <a:lstStyle/>
          <a:p/>
        </p:txBody>
      </p:sp>
      <p:sp>
        <p:nvSpPr>
          <p:cNvPr id="71" name="object 71"/>
          <p:cNvSpPr/>
          <p:nvPr/>
        </p:nvSpPr>
        <p:spPr>
          <a:xfrm>
            <a:off x="7225804" y="4369333"/>
            <a:ext cx="892810" cy="225425"/>
          </a:xfrm>
          <a:custGeom>
            <a:avLst/>
            <a:gdLst/>
            <a:ahLst/>
            <a:cxnLst/>
            <a:rect l="l" t="t" r="r" b="b"/>
            <a:pathLst>
              <a:path w="892809" h="225425">
                <a:moveTo>
                  <a:pt x="892708" y="225272"/>
                </a:moveTo>
                <a:lnTo>
                  <a:pt x="0" y="225272"/>
                </a:lnTo>
                <a:lnTo>
                  <a:pt x="0" y="0"/>
                </a:lnTo>
                <a:lnTo>
                  <a:pt x="892708" y="0"/>
                </a:lnTo>
                <a:lnTo>
                  <a:pt x="892708" y="6350"/>
                </a:lnTo>
                <a:lnTo>
                  <a:pt x="12700" y="6350"/>
                </a:lnTo>
                <a:lnTo>
                  <a:pt x="6350" y="12700"/>
                </a:lnTo>
                <a:lnTo>
                  <a:pt x="12700" y="12700"/>
                </a:lnTo>
                <a:lnTo>
                  <a:pt x="12700" y="212572"/>
                </a:lnTo>
                <a:lnTo>
                  <a:pt x="6350" y="212572"/>
                </a:lnTo>
                <a:lnTo>
                  <a:pt x="12700" y="218922"/>
                </a:lnTo>
                <a:lnTo>
                  <a:pt x="892708" y="218922"/>
                </a:lnTo>
                <a:lnTo>
                  <a:pt x="892708" y="225272"/>
                </a:lnTo>
                <a:close/>
              </a:path>
              <a:path w="892809" h="225425">
                <a:moveTo>
                  <a:pt x="12700" y="12700"/>
                </a:moveTo>
                <a:lnTo>
                  <a:pt x="6350" y="12700"/>
                </a:lnTo>
                <a:lnTo>
                  <a:pt x="12700" y="6350"/>
                </a:lnTo>
                <a:lnTo>
                  <a:pt x="12700" y="12700"/>
                </a:lnTo>
                <a:close/>
              </a:path>
              <a:path w="892809" h="225425">
                <a:moveTo>
                  <a:pt x="880008" y="12700"/>
                </a:moveTo>
                <a:lnTo>
                  <a:pt x="12700" y="12700"/>
                </a:lnTo>
                <a:lnTo>
                  <a:pt x="12700" y="6350"/>
                </a:lnTo>
                <a:lnTo>
                  <a:pt x="880008" y="6350"/>
                </a:lnTo>
                <a:lnTo>
                  <a:pt x="880008" y="12700"/>
                </a:lnTo>
                <a:close/>
              </a:path>
              <a:path w="892809" h="225425">
                <a:moveTo>
                  <a:pt x="880008" y="218922"/>
                </a:moveTo>
                <a:lnTo>
                  <a:pt x="880008" y="6350"/>
                </a:lnTo>
                <a:lnTo>
                  <a:pt x="886358" y="12700"/>
                </a:lnTo>
                <a:lnTo>
                  <a:pt x="892708" y="12700"/>
                </a:lnTo>
                <a:lnTo>
                  <a:pt x="892708" y="212572"/>
                </a:lnTo>
                <a:lnTo>
                  <a:pt x="886358" y="212572"/>
                </a:lnTo>
                <a:lnTo>
                  <a:pt x="880008" y="218922"/>
                </a:lnTo>
                <a:close/>
              </a:path>
              <a:path w="892809" h="225425">
                <a:moveTo>
                  <a:pt x="892708" y="12700"/>
                </a:moveTo>
                <a:lnTo>
                  <a:pt x="886358" y="12700"/>
                </a:lnTo>
                <a:lnTo>
                  <a:pt x="880008" y="6350"/>
                </a:lnTo>
                <a:lnTo>
                  <a:pt x="892708" y="6350"/>
                </a:lnTo>
                <a:lnTo>
                  <a:pt x="892708" y="12700"/>
                </a:lnTo>
                <a:close/>
              </a:path>
              <a:path w="892809" h="225425">
                <a:moveTo>
                  <a:pt x="12700" y="218922"/>
                </a:moveTo>
                <a:lnTo>
                  <a:pt x="6350" y="212572"/>
                </a:lnTo>
                <a:lnTo>
                  <a:pt x="12700" y="212572"/>
                </a:lnTo>
                <a:lnTo>
                  <a:pt x="12700" y="218922"/>
                </a:lnTo>
                <a:close/>
              </a:path>
              <a:path w="892809" h="225425">
                <a:moveTo>
                  <a:pt x="880008" y="218922"/>
                </a:moveTo>
                <a:lnTo>
                  <a:pt x="12700" y="218922"/>
                </a:lnTo>
                <a:lnTo>
                  <a:pt x="12700" y="212572"/>
                </a:lnTo>
                <a:lnTo>
                  <a:pt x="880008" y="212572"/>
                </a:lnTo>
                <a:lnTo>
                  <a:pt x="880008" y="218922"/>
                </a:lnTo>
                <a:close/>
              </a:path>
              <a:path w="892809" h="225425">
                <a:moveTo>
                  <a:pt x="892708" y="218922"/>
                </a:moveTo>
                <a:lnTo>
                  <a:pt x="880008" y="218922"/>
                </a:lnTo>
                <a:lnTo>
                  <a:pt x="886358" y="212572"/>
                </a:lnTo>
                <a:lnTo>
                  <a:pt x="892708" y="212572"/>
                </a:lnTo>
                <a:lnTo>
                  <a:pt x="892708" y="218922"/>
                </a:lnTo>
                <a:close/>
              </a:path>
            </a:pathLst>
          </a:custGeom>
          <a:solidFill>
            <a:srgbClr val="C00000"/>
          </a:solidFill>
        </p:spPr>
        <p:txBody>
          <a:bodyPr wrap="square" lIns="0" tIns="0" rIns="0" bIns="0" rtlCol="0"/>
          <a:lstStyle/>
          <a:p/>
        </p:txBody>
      </p:sp>
      <p:sp>
        <p:nvSpPr>
          <p:cNvPr id="72" name="object 72"/>
          <p:cNvSpPr txBox="1"/>
          <p:nvPr/>
        </p:nvSpPr>
        <p:spPr>
          <a:xfrm>
            <a:off x="7467104" y="4385843"/>
            <a:ext cx="409575" cy="177165"/>
          </a:xfrm>
          <a:prstGeom prst="rect">
            <a:avLst/>
          </a:prstGeom>
        </p:spPr>
        <p:txBody>
          <a:bodyPr vert="horz" wrap="square" lIns="0" tIns="12065" rIns="0" bIns="0" rtlCol="0">
            <a:spAutoFit/>
          </a:bodyPr>
          <a:lstStyle/>
          <a:p>
            <a:pPr marL="12700">
              <a:lnSpc>
                <a:spcPct val="100000"/>
              </a:lnSpc>
              <a:spcBef>
                <a:spcPts val="95"/>
              </a:spcBef>
            </a:pPr>
            <a:r>
              <a:rPr sz="1000" b="1" dirty="0">
                <a:solidFill>
                  <a:srgbClr val="C00000"/>
                </a:solidFill>
                <a:latin typeface="微软雅黑" panose="020B0503020204020204" charset="-122"/>
                <a:cs typeface="微软雅黑" panose="020B0503020204020204" charset="-122"/>
              </a:rPr>
              <a:t>Q</a:t>
            </a:r>
            <a:r>
              <a:rPr sz="1000" b="1" spc="-5" dirty="0">
                <a:solidFill>
                  <a:srgbClr val="C00000"/>
                </a:solidFill>
                <a:latin typeface="微软雅黑" panose="020B0503020204020204" charset="-122"/>
                <a:cs typeface="微软雅黑" panose="020B0503020204020204" charset="-122"/>
              </a:rPr>
              <a:t>SPI2</a:t>
            </a:r>
            <a:endParaRPr sz="1000">
              <a:latin typeface="微软雅黑" panose="020B0503020204020204" charset="-122"/>
              <a:cs typeface="微软雅黑" panose="020B0503020204020204" charset="-122"/>
            </a:endParaRPr>
          </a:p>
        </p:txBody>
      </p:sp>
      <p:sp>
        <p:nvSpPr>
          <p:cNvPr id="73" name="object 73"/>
          <p:cNvSpPr/>
          <p:nvPr/>
        </p:nvSpPr>
        <p:spPr>
          <a:xfrm>
            <a:off x="7232904" y="4687823"/>
            <a:ext cx="879475" cy="212090"/>
          </a:xfrm>
          <a:custGeom>
            <a:avLst/>
            <a:gdLst/>
            <a:ahLst/>
            <a:cxnLst/>
            <a:rect l="l" t="t" r="r" b="b"/>
            <a:pathLst>
              <a:path w="879475" h="212089">
                <a:moveTo>
                  <a:pt x="0" y="0"/>
                </a:moveTo>
                <a:lnTo>
                  <a:pt x="879348" y="0"/>
                </a:lnTo>
                <a:lnTo>
                  <a:pt x="879348" y="211836"/>
                </a:lnTo>
                <a:lnTo>
                  <a:pt x="0" y="211836"/>
                </a:lnTo>
                <a:lnTo>
                  <a:pt x="0" y="0"/>
                </a:lnTo>
                <a:close/>
              </a:path>
            </a:pathLst>
          </a:custGeom>
          <a:solidFill>
            <a:srgbClr val="D9D9D9"/>
          </a:solidFill>
        </p:spPr>
        <p:txBody>
          <a:bodyPr wrap="square" lIns="0" tIns="0" rIns="0" bIns="0" rtlCol="0"/>
          <a:lstStyle/>
          <a:p/>
        </p:txBody>
      </p:sp>
      <p:sp>
        <p:nvSpPr>
          <p:cNvPr id="74" name="object 74"/>
          <p:cNvSpPr/>
          <p:nvPr/>
        </p:nvSpPr>
        <p:spPr>
          <a:xfrm>
            <a:off x="7225804" y="4681296"/>
            <a:ext cx="892810" cy="225425"/>
          </a:xfrm>
          <a:custGeom>
            <a:avLst/>
            <a:gdLst/>
            <a:ahLst/>
            <a:cxnLst/>
            <a:rect l="l" t="t" r="r" b="b"/>
            <a:pathLst>
              <a:path w="892809" h="225425">
                <a:moveTo>
                  <a:pt x="892708" y="225272"/>
                </a:moveTo>
                <a:lnTo>
                  <a:pt x="0" y="225272"/>
                </a:lnTo>
                <a:lnTo>
                  <a:pt x="0" y="0"/>
                </a:lnTo>
                <a:lnTo>
                  <a:pt x="892708" y="0"/>
                </a:lnTo>
                <a:lnTo>
                  <a:pt x="892708" y="6350"/>
                </a:lnTo>
                <a:lnTo>
                  <a:pt x="12700" y="6350"/>
                </a:lnTo>
                <a:lnTo>
                  <a:pt x="6350" y="12700"/>
                </a:lnTo>
                <a:lnTo>
                  <a:pt x="12700" y="12700"/>
                </a:lnTo>
                <a:lnTo>
                  <a:pt x="12700" y="212572"/>
                </a:lnTo>
                <a:lnTo>
                  <a:pt x="6350" y="212572"/>
                </a:lnTo>
                <a:lnTo>
                  <a:pt x="12700" y="218922"/>
                </a:lnTo>
                <a:lnTo>
                  <a:pt x="892708" y="218922"/>
                </a:lnTo>
                <a:lnTo>
                  <a:pt x="892708" y="225272"/>
                </a:lnTo>
                <a:close/>
              </a:path>
              <a:path w="892809" h="225425">
                <a:moveTo>
                  <a:pt x="12700" y="12700"/>
                </a:moveTo>
                <a:lnTo>
                  <a:pt x="6350" y="12700"/>
                </a:lnTo>
                <a:lnTo>
                  <a:pt x="12700" y="6350"/>
                </a:lnTo>
                <a:lnTo>
                  <a:pt x="12700" y="12700"/>
                </a:lnTo>
                <a:close/>
              </a:path>
              <a:path w="892809" h="225425">
                <a:moveTo>
                  <a:pt x="880008" y="12700"/>
                </a:moveTo>
                <a:lnTo>
                  <a:pt x="12700" y="12700"/>
                </a:lnTo>
                <a:lnTo>
                  <a:pt x="12700" y="6350"/>
                </a:lnTo>
                <a:lnTo>
                  <a:pt x="880008" y="6350"/>
                </a:lnTo>
                <a:lnTo>
                  <a:pt x="880008" y="12700"/>
                </a:lnTo>
                <a:close/>
              </a:path>
              <a:path w="892809" h="225425">
                <a:moveTo>
                  <a:pt x="880008" y="218922"/>
                </a:moveTo>
                <a:lnTo>
                  <a:pt x="880008" y="6350"/>
                </a:lnTo>
                <a:lnTo>
                  <a:pt x="886358" y="12700"/>
                </a:lnTo>
                <a:lnTo>
                  <a:pt x="892708" y="12700"/>
                </a:lnTo>
                <a:lnTo>
                  <a:pt x="892708" y="212572"/>
                </a:lnTo>
                <a:lnTo>
                  <a:pt x="886358" y="212572"/>
                </a:lnTo>
                <a:lnTo>
                  <a:pt x="880008" y="218922"/>
                </a:lnTo>
                <a:close/>
              </a:path>
              <a:path w="892809" h="225425">
                <a:moveTo>
                  <a:pt x="892708" y="12700"/>
                </a:moveTo>
                <a:lnTo>
                  <a:pt x="886358" y="12700"/>
                </a:lnTo>
                <a:lnTo>
                  <a:pt x="880008" y="6350"/>
                </a:lnTo>
                <a:lnTo>
                  <a:pt x="892708" y="6350"/>
                </a:lnTo>
                <a:lnTo>
                  <a:pt x="892708" y="12700"/>
                </a:lnTo>
                <a:close/>
              </a:path>
              <a:path w="892809" h="225425">
                <a:moveTo>
                  <a:pt x="12700" y="218922"/>
                </a:moveTo>
                <a:lnTo>
                  <a:pt x="6350" y="212572"/>
                </a:lnTo>
                <a:lnTo>
                  <a:pt x="12700" y="212572"/>
                </a:lnTo>
                <a:lnTo>
                  <a:pt x="12700" y="218922"/>
                </a:lnTo>
                <a:close/>
              </a:path>
              <a:path w="892809" h="225425">
                <a:moveTo>
                  <a:pt x="880008" y="218922"/>
                </a:moveTo>
                <a:lnTo>
                  <a:pt x="12700" y="218922"/>
                </a:lnTo>
                <a:lnTo>
                  <a:pt x="12700" y="212572"/>
                </a:lnTo>
                <a:lnTo>
                  <a:pt x="880008" y="212572"/>
                </a:lnTo>
                <a:lnTo>
                  <a:pt x="880008" y="218922"/>
                </a:lnTo>
                <a:close/>
              </a:path>
              <a:path w="892809" h="225425">
                <a:moveTo>
                  <a:pt x="892708" y="218922"/>
                </a:moveTo>
                <a:lnTo>
                  <a:pt x="880008" y="218922"/>
                </a:lnTo>
                <a:lnTo>
                  <a:pt x="886358" y="212572"/>
                </a:lnTo>
                <a:lnTo>
                  <a:pt x="892708" y="212572"/>
                </a:lnTo>
                <a:lnTo>
                  <a:pt x="892708" y="218922"/>
                </a:lnTo>
                <a:close/>
              </a:path>
            </a:pathLst>
          </a:custGeom>
          <a:solidFill>
            <a:srgbClr val="C00000"/>
          </a:solidFill>
        </p:spPr>
        <p:txBody>
          <a:bodyPr wrap="square" lIns="0" tIns="0" rIns="0" bIns="0" rtlCol="0"/>
          <a:lstStyle/>
          <a:p/>
        </p:txBody>
      </p:sp>
      <p:sp>
        <p:nvSpPr>
          <p:cNvPr id="75" name="object 75"/>
          <p:cNvSpPr txBox="1"/>
          <p:nvPr/>
        </p:nvSpPr>
        <p:spPr>
          <a:xfrm>
            <a:off x="7525524" y="4697806"/>
            <a:ext cx="292100" cy="177165"/>
          </a:xfrm>
          <a:prstGeom prst="rect">
            <a:avLst/>
          </a:prstGeom>
        </p:spPr>
        <p:txBody>
          <a:bodyPr vert="horz" wrap="square" lIns="0" tIns="12065" rIns="0" bIns="0" rtlCol="0">
            <a:spAutoFit/>
          </a:bodyPr>
          <a:lstStyle/>
          <a:p>
            <a:pPr marL="12700">
              <a:lnSpc>
                <a:spcPct val="100000"/>
              </a:lnSpc>
              <a:spcBef>
                <a:spcPts val="95"/>
              </a:spcBef>
            </a:pPr>
            <a:r>
              <a:rPr sz="1000" b="1" dirty="0">
                <a:solidFill>
                  <a:srgbClr val="C00000"/>
                </a:solidFill>
                <a:latin typeface="微软雅黑" panose="020B0503020204020204" charset="-122"/>
                <a:cs typeface="微软雅黑" panose="020B0503020204020204" charset="-122"/>
              </a:rPr>
              <a:t>O</a:t>
            </a:r>
            <a:r>
              <a:rPr sz="1000" b="1" spc="-5" dirty="0">
                <a:solidFill>
                  <a:srgbClr val="C00000"/>
                </a:solidFill>
                <a:latin typeface="微软雅黑" panose="020B0503020204020204" charset="-122"/>
                <a:cs typeface="微软雅黑" panose="020B0503020204020204" charset="-122"/>
              </a:rPr>
              <a:t>TP</a:t>
            </a:r>
            <a:endParaRPr sz="1000">
              <a:latin typeface="微软雅黑" panose="020B0503020204020204" charset="-122"/>
              <a:cs typeface="微软雅黑" panose="020B0503020204020204" charset="-122"/>
            </a:endParaRPr>
          </a:p>
        </p:txBody>
      </p:sp>
      <p:sp>
        <p:nvSpPr>
          <p:cNvPr id="76" name="object 76"/>
          <p:cNvSpPr/>
          <p:nvPr/>
        </p:nvSpPr>
        <p:spPr>
          <a:xfrm>
            <a:off x="7232904" y="5000244"/>
            <a:ext cx="879475" cy="212090"/>
          </a:xfrm>
          <a:custGeom>
            <a:avLst/>
            <a:gdLst/>
            <a:ahLst/>
            <a:cxnLst/>
            <a:rect l="l" t="t" r="r" b="b"/>
            <a:pathLst>
              <a:path w="879475" h="212089">
                <a:moveTo>
                  <a:pt x="0" y="0"/>
                </a:moveTo>
                <a:lnTo>
                  <a:pt x="879348" y="0"/>
                </a:lnTo>
                <a:lnTo>
                  <a:pt x="879348" y="211836"/>
                </a:lnTo>
                <a:lnTo>
                  <a:pt x="0" y="211836"/>
                </a:lnTo>
                <a:lnTo>
                  <a:pt x="0" y="0"/>
                </a:lnTo>
                <a:close/>
              </a:path>
            </a:pathLst>
          </a:custGeom>
          <a:solidFill>
            <a:srgbClr val="D9D9D9"/>
          </a:solidFill>
        </p:spPr>
        <p:txBody>
          <a:bodyPr wrap="square" lIns="0" tIns="0" rIns="0" bIns="0" rtlCol="0"/>
          <a:lstStyle/>
          <a:p/>
        </p:txBody>
      </p:sp>
      <p:sp>
        <p:nvSpPr>
          <p:cNvPr id="77" name="object 77"/>
          <p:cNvSpPr/>
          <p:nvPr/>
        </p:nvSpPr>
        <p:spPr>
          <a:xfrm>
            <a:off x="7225804" y="4993259"/>
            <a:ext cx="892810" cy="225425"/>
          </a:xfrm>
          <a:custGeom>
            <a:avLst/>
            <a:gdLst/>
            <a:ahLst/>
            <a:cxnLst/>
            <a:rect l="l" t="t" r="r" b="b"/>
            <a:pathLst>
              <a:path w="892809" h="225425">
                <a:moveTo>
                  <a:pt x="892708" y="225272"/>
                </a:moveTo>
                <a:lnTo>
                  <a:pt x="0" y="225272"/>
                </a:lnTo>
                <a:lnTo>
                  <a:pt x="0" y="0"/>
                </a:lnTo>
                <a:lnTo>
                  <a:pt x="892708" y="0"/>
                </a:lnTo>
                <a:lnTo>
                  <a:pt x="892708" y="6350"/>
                </a:lnTo>
                <a:lnTo>
                  <a:pt x="12700" y="6350"/>
                </a:lnTo>
                <a:lnTo>
                  <a:pt x="6350" y="12700"/>
                </a:lnTo>
                <a:lnTo>
                  <a:pt x="12700" y="12700"/>
                </a:lnTo>
                <a:lnTo>
                  <a:pt x="12700" y="212572"/>
                </a:lnTo>
                <a:lnTo>
                  <a:pt x="6350" y="212572"/>
                </a:lnTo>
                <a:lnTo>
                  <a:pt x="12700" y="218922"/>
                </a:lnTo>
                <a:lnTo>
                  <a:pt x="892708" y="218922"/>
                </a:lnTo>
                <a:lnTo>
                  <a:pt x="892708" y="225272"/>
                </a:lnTo>
                <a:close/>
              </a:path>
              <a:path w="892809" h="225425">
                <a:moveTo>
                  <a:pt x="12700" y="12700"/>
                </a:moveTo>
                <a:lnTo>
                  <a:pt x="6350" y="12700"/>
                </a:lnTo>
                <a:lnTo>
                  <a:pt x="12700" y="6350"/>
                </a:lnTo>
                <a:lnTo>
                  <a:pt x="12700" y="12700"/>
                </a:lnTo>
                <a:close/>
              </a:path>
              <a:path w="892809" h="225425">
                <a:moveTo>
                  <a:pt x="880008" y="12700"/>
                </a:moveTo>
                <a:lnTo>
                  <a:pt x="12700" y="12700"/>
                </a:lnTo>
                <a:lnTo>
                  <a:pt x="12700" y="6350"/>
                </a:lnTo>
                <a:lnTo>
                  <a:pt x="880008" y="6350"/>
                </a:lnTo>
                <a:lnTo>
                  <a:pt x="880008" y="12700"/>
                </a:lnTo>
                <a:close/>
              </a:path>
              <a:path w="892809" h="225425">
                <a:moveTo>
                  <a:pt x="880008" y="218922"/>
                </a:moveTo>
                <a:lnTo>
                  <a:pt x="880008" y="6350"/>
                </a:lnTo>
                <a:lnTo>
                  <a:pt x="886358" y="12700"/>
                </a:lnTo>
                <a:lnTo>
                  <a:pt x="892708" y="12700"/>
                </a:lnTo>
                <a:lnTo>
                  <a:pt x="892708" y="212572"/>
                </a:lnTo>
                <a:lnTo>
                  <a:pt x="886358" y="212572"/>
                </a:lnTo>
                <a:lnTo>
                  <a:pt x="880008" y="218922"/>
                </a:lnTo>
                <a:close/>
              </a:path>
              <a:path w="892809" h="225425">
                <a:moveTo>
                  <a:pt x="892708" y="12700"/>
                </a:moveTo>
                <a:lnTo>
                  <a:pt x="886358" y="12700"/>
                </a:lnTo>
                <a:lnTo>
                  <a:pt x="880008" y="6350"/>
                </a:lnTo>
                <a:lnTo>
                  <a:pt x="892708" y="6350"/>
                </a:lnTo>
                <a:lnTo>
                  <a:pt x="892708" y="12700"/>
                </a:lnTo>
                <a:close/>
              </a:path>
              <a:path w="892809" h="225425">
                <a:moveTo>
                  <a:pt x="12700" y="218922"/>
                </a:moveTo>
                <a:lnTo>
                  <a:pt x="6350" y="212572"/>
                </a:lnTo>
                <a:lnTo>
                  <a:pt x="12700" y="212572"/>
                </a:lnTo>
                <a:lnTo>
                  <a:pt x="12700" y="218922"/>
                </a:lnTo>
                <a:close/>
              </a:path>
              <a:path w="892809" h="225425">
                <a:moveTo>
                  <a:pt x="880008" y="218922"/>
                </a:moveTo>
                <a:lnTo>
                  <a:pt x="12700" y="218922"/>
                </a:lnTo>
                <a:lnTo>
                  <a:pt x="12700" y="212572"/>
                </a:lnTo>
                <a:lnTo>
                  <a:pt x="880008" y="212572"/>
                </a:lnTo>
                <a:lnTo>
                  <a:pt x="880008" y="218922"/>
                </a:lnTo>
                <a:close/>
              </a:path>
              <a:path w="892809" h="225425">
                <a:moveTo>
                  <a:pt x="892708" y="218922"/>
                </a:moveTo>
                <a:lnTo>
                  <a:pt x="880008" y="218922"/>
                </a:lnTo>
                <a:lnTo>
                  <a:pt x="886358" y="212572"/>
                </a:lnTo>
                <a:lnTo>
                  <a:pt x="892708" y="212572"/>
                </a:lnTo>
                <a:lnTo>
                  <a:pt x="892708" y="218922"/>
                </a:lnTo>
                <a:close/>
              </a:path>
            </a:pathLst>
          </a:custGeom>
          <a:solidFill>
            <a:srgbClr val="C00000"/>
          </a:solidFill>
        </p:spPr>
        <p:txBody>
          <a:bodyPr wrap="square" lIns="0" tIns="0" rIns="0" bIns="0" rtlCol="0"/>
          <a:lstStyle/>
          <a:p/>
        </p:txBody>
      </p:sp>
      <p:sp>
        <p:nvSpPr>
          <p:cNvPr id="78" name="object 78"/>
          <p:cNvSpPr txBox="1"/>
          <p:nvPr/>
        </p:nvSpPr>
        <p:spPr>
          <a:xfrm>
            <a:off x="7467104" y="5009769"/>
            <a:ext cx="409575" cy="177165"/>
          </a:xfrm>
          <a:prstGeom prst="rect">
            <a:avLst/>
          </a:prstGeom>
        </p:spPr>
        <p:txBody>
          <a:bodyPr vert="horz" wrap="square" lIns="0" tIns="12065" rIns="0" bIns="0" rtlCol="0">
            <a:spAutoFit/>
          </a:bodyPr>
          <a:lstStyle/>
          <a:p>
            <a:pPr marL="12700">
              <a:lnSpc>
                <a:spcPct val="100000"/>
              </a:lnSpc>
              <a:spcBef>
                <a:spcPts val="95"/>
              </a:spcBef>
            </a:pPr>
            <a:r>
              <a:rPr sz="1000" b="1" dirty="0">
                <a:solidFill>
                  <a:srgbClr val="C00000"/>
                </a:solidFill>
                <a:latin typeface="微软雅黑" panose="020B0503020204020204" charset="-122"/>
                <a:cs typeface="微软雅黑" panose="020B0503020204020204" charset="-122"/>
              </a:rPr>
              <a:t>Q</a:t>
            </a:r>
            <a:r>
              <a:rPr sz="1000" b="1" spc="-5" dirty="0">
                <a:solidFill>
                  <a:srgbClr val="C00000"/>
                </a:solidFill>
                <a:latin typeface="微软雅黑" panose="020B0503020204020204" charset="-122"/>
                <a:cs typeface="微软雅黑" panose="020B0503020204020204" charset="-122"/>
              </a:rPr>
              <a:t>SPI0</a:t>
            </a:r>
            <a:endParaRPr sz="1000">
              <a:latin typeface="微软雅黑" panose="020B0503020204020204" charset="-122"/>
              <a:cs typeface="微软雅黑" panose="020B0503020204020204" charset="-122"/>
            </a:endParaRPr>
          </a:p>
        </p:txBody>
      </p:sp>
      <p:sp>
        <p:nvSpPr>
          <p:cNvPr id="79" name="object 79"/>
          <p:cNvSpPr/>
          <p:nvPr/>
        </p:nvSpPr>
        <p:spPr>
          <a:xfrm>
            <a:off x="6988556" y="2259888"/>
            <a:ext cx="244195" cy="76187"/>
          </a:xfrm>
          <a:prstGeom prst="rect">
            <a:avLst/>
          </a:prstGeom>
          <a:blipFill>
            <a:blip r:embed="rId2" cstate="print"/>
            <a:stretch>
              <a:fillRect/>
            </a:stretch>
          </a:blipFill>
        </p:spPr>
        <p:txBody>
          <a:bodyPr wrap="square" lIns="0" tIns="0" rIns="0" bIns="0" rtlCol="0"/>
          <a:lstStyle/>
          <a:p/>
        </p:txBody>
      </p:sp>
      <p:sp>
        <p:nvSpPr>
          <p:cNvPr id="80" name="object 80"/>
          <p:cNvSpPr/>
          <p:nvPr/>
        </p:nvSpPr>
        <p:spPr>
          <a:xfrm>
            <a:off x="6988556" y="2571851"/>
            <a:ext cx="244195" cy="76187"/>
          </a:xfrm>
          <a:prstGeom prst="rect">
            <a:avLst/>
          </a:prstGeom>
          <a:blipFill>
            <a:blip r:embed="rId2" cstate="print"/>
            <a:stretch>
              <a:fillRect/>
            </a:stretch>
          </a:blipFill>
        </p:spPr>
        <p:txBody>
          <a:bodyPr wrap="square" lIns="0" tIns="0" rIns="0" bIns="0" rtlCol="0"/>
          <a:lstStyle/>
          <a:p/>
        </p:txBody>
      </p:sp>
      <p:sp>
        <p:nvSpPr>
          <p:cNvPr id="81" name="object 81"/>
          <p:cNvSpPr/>
          <p:nvPr/>
        </p:nvSpPr>
        <p:spPr>
          <a:xfrm>
            <a:off x="6988556" y="2904489"/>
            <a:ext cx="244195" cy="76200"/>
          </a:xfrm>
          <a:prstGeom prst="rect">
            <a:avLst/>
          </a:prstGeom>
          <a:blipFill>
            <a:blip r:embed="rId3" cstate="print"/>
            <a:stretch>
              <a:fillRect/>
            </a:stretch>
          </a:blipFill>
        </p:spPr>
        <p:txBody>
          <a:bodyPr wrap="square" lIns="0" tIns="0" rIns="0" bIns="0" rtlCol="0"/>
          <a:lstStyle/>
          <a:p/>
        </p:txBody>
      </p:sp>
      <p:sp>
        <p:nvSpPr>
          <p:cNvPr id="82" name="object 82"/>
          <p:cNvSpPr/>
          <p:nvPr/>
        </p:nvSpPr>
        <p:spPr>
          <a:xfrm>
            <a:off x="6988556" y="3209556"/>
            <a:ext cx="244195" cy="76200"/>
          </a:xfrm>
          <a:prstGeom prst="rect">
            <a:avLst/>
          </a:prstGeom>
          <a:blipFill>
            <a:blip r:embed="rId3" cstate="print"/>
            <a:stretch>
              <a:fillRect/>
            </a:stretch>
          </a:blipFill>
        </p:spPr>
        <p:txBody>
          <a:bodyPr wrap="square" lIns="0" tIns="0" rIns="0" bIns="0" rtlCol="0"/>
          <a:lstStyle/>
          <a:p/>
        </p:txBody>
      </p:sp>
      <p:sp>
        <p:nvSpPr>
          <p:cNvPr id="83" name="object 83"/>
          <p:cNvSpPr/>
          <p:nvPr/>
        </p:nvSpPr>
        <p:spPr>
          <a:xfrm>
            <a:off x="6988556" y="3507155"/>
            <a:ext cx="244195" cy="76200"/>
          </a:xfrm>
          <a:prstGeom prst="rect">
            <a:avLst/>
          </a:prstGeom>
          <a:blipFill>
            <a:blip r:embed="rId3" cstate="print"/>
            <a:stretch>
              <a:fillRect/>
            </a:stretch>
          </a:blipFill>
        </p:spPr>
        <p:txBody>
          <a:bodyPr wrap="square" lIns="0" tIns="0" rIns="0" bIns="0" rtlCol="0"/>
          <a:lstStyle/>
          <a:p/>
        </p:txBody>
      </p:sp>
      <p:sp>
        <p:nvSpPr>
          <p:cNvPr id="84" name="object 84"/>
          <p:cNvSpPr/>
          <p:nvPr/>
        </p:nvSpPr>
        <p:spPr>
          <a:xfrm>
            <a:off x="6987958" y="3819702"/>
            <a:ext cx="244195" cy="76187"/>
          </a:xfrm>
          <a:prstGeom prst="rect">
            <a:avLst/>
          </a:prstGeom>
          <a:blipFill>
            <a:blip r:embed="rId2" cstate="print"/>
            <a:stretch>
              <a:fillRect/>
            </a:stretch>
          </a:blipFill>
        </p:spPr>
        <p:txBody>
          <a:bodyPr wrap="square" lIns="0" tIns="0" rIns="0" bIns="0" rtlCol="0"/>
          <a:lstStyle/>
          <a:p/>
        </p:txBody>
      </p:sp>
      <p:sp>
        <p:nvSpPr>
          <p:cNvPr id="85" name="object 85"/>
          <p:cNvSpPr/>
          <p:nvPr/>
        </p:nvSpPr>
        <p:spPr>
          <a:xfrm>
            <a:off x="6987958" y="4131081"/>
            <a:ext cx="244195" cy="76200"/>
          </a:xfrm>
          <a:prstGeom prst="rect">
            <a:avLst/>
          </a:prstGeom>
          <a:blipFill>
            <a:blip r:embed="rId3" cstate="print"/>
            <a:stretch>
              <a:fillRect/>
            </a:stretch>
          </a:blipFill>
        </p:spPr>
        <p:txBody>
          <a:bodyPr wrap="square" lIns="0" tIns="0" rIns="0" bIns="0" rtlCol="0"/>
          <a:lstStyle/>
          <a:p/>
        </p:txBody>
      </p:sp>
      <p:sp>
        <p:nvSpPr>
          <p:cNvPr id="86" name="object 86"/>
          <p:cNvSpPr/>
          <p:nvPr/>
        </p:nvSpPr>
        <p:spPr>
          <a:xfrm>
            <a:off x="6988556" y="4443615"/>
            <a:ext cx="244195" cy="76200"/>
          </a:xfrm>
          <a:prstGeom prst="rect">
            <a:avLst/>
          </a:prstGeom>
          <a:blipFill>
            <a:blip r:embed="rId1" cstate="print"/>
            <a:stretch>
              <a:fillRect/>
            </a:stretch>
          </a:blipFill>
        </p:spPr>
        <p:txBody>
          <a:bodyPr wrap="square" lIns="0" tIns="0" rIns="0" bIns="0" rtlCol="0"/>
          <a:lstStyle/>
          <a:p/>
        </p:txBody>
      </p:sp>
      <p:sp>
        <p:nvSpPr>
          <p:cNvPr id="87" name="object 87"/>
          <p:cNvSpPr/>
          <p:nvPr/>
        </p:nvSpPr>
        <p:spPr>
          <a:xfrm>
            <a:off x="6988556" y="4755007"/>
            <a:ext cx="244195" cy="76200"/>
          </a:xfrm>
          <a:prstGeom prst="rect">
            <a:avLst/>
          </a:prstGeom>
          <a:blipFill>
            <a:blip r:embed="rId3" cstate="print"/>
            <a:stretch>
              <a:fillRect/>
            </a:stretch>
          </a:blipFill>
        </p:spPr>
        <p:txBody>
          <a:bodyPr wrap="square" lIns="0" tIns="0" rIns="0" bIns="0" rtlCol="0"/>
          <a:lstStyle/>
          <a:p/>
        </p:txBody>
      </p:sp>
      <p:sp>
        <p:nvSpPr>
          <p:cNvPr id="88" name="object 88"/>
          <p:cNvSpPr/>
          <p:nvPr/>
        </p:nvSpPr>
        <p:spPr>
          <a:xfrm>
            <a:off x="6987958" y="5066969"/>
            <a:ext cx="244195" cy="76200"/>
          </a:xfrm>
          <a:prstGeom prst="rect">
            <a:avLst/>
          </a:prstGeom>
          <a:blipFill>
            <a:blip r:embed="rId3" cstate="print"/>
            <a:stretch>
              <a:fillRect/>
            </a:stretch>
          </a:blipFill>
        </p:spPr>
        <p:txBody>
          <a:bodyPr wrap="square" lIns="0" tIns="0" rIns="0" bIns="0" rtlCol="0"/>
          <a:lstStyle/>
          <a:p/>
        </p:txBody>
      </p:sp>
      <p:sp>
        <p:nvSpPr>
          <p:cNvPr id="89" name="object 89"/>
          <p:cNvSpPr/>
          <p:nvPr/>
        </p:nvSpPr>
        <p:spPr>
          <a:xfrm>
            <a:off x="3079229" y="4693221"/>
            <a:ext cx="76123" cy="191490"/>
          </a:xfrm>
          <a:prstGeom prst="rect">
            <a:avLst/>
          </a:prstGeom>
          <a:blipFill>
            <a:blip r:embed="rId4" cstate="print"/>
            <a:stretch>
              <a:fillRect/>
            </a:stretch>
          </a:blipFill>
        </p:spPr>
        <p:txBody>
          <a:bodyPr wrap="square" lIns="0" tIns="0" rIns="0" bIns="0" rtlCol="0"/>
          <a:lstStyle/>
          <a:p/>
        </p:txBody>
      </p:sp>
      <p:sp>
        <p:nvSpPr>
          <p:cNvPr id="90" name="object 90"/>
          <p:cNvSpPr/>
          <p:nvPr/>
        </p:nvSpPr>
        <p:spPr>
          <a:xfrm>
            <a:off x="3764876" y="4686909"/>
            <a:ext cx="76136" cy="191477"/>
          </a:xfrm>
          <a:prstGeom prst="rect">
            <a:avLst/>
          </a:prstGeom>
          <a:blipFill>
            <a:blip r:embed="rId5" cstate="print"/>
            <a:stretch>
              <a:fillRect/>
            </a:stretch>
          </a:blipFill>
        </p:spPr>
        <p:txBody>
          <a:bodyPr wrap="square" lIns="0" tIns="0" rIns="0" bIns="0" rtlCol="0"/>
          <a:lstStyle/>
          <a:p/>
        </p:txBody>
      </p:sp>
      <p:sp>
        <p:nvSpPr>
          <p:cNvPr id="91" name="object 91"/>
          <p:cNvSpPr/>
          <p:nvPr/>
        </p:nvSpPr>
        <p:spPr>
          <a:xfrm>
            <a:off x="4445139" y="4686909"/>
            <a:ext cx="76123" cy="191477"/>
          </a:xfrm>
          <a:prstGeom prst="rect">
            <a:avLst/>
          </a:prstGeom>
          <a:blipFill>
            <a:blip r:embed="rId6" cstate="print"/>
            <a:stretch>
              <a:fillRect/>
            </a:stretch>
          </a:blipFill>
        </p:spPr>
        <p:txBody>
          <a:bodyPr wrap="square" lIns="0" tIns="0" rIns="0" bIns="0" rtlCol="0"/>
          <a:lstStyle/>
          <a:p/>
        </p:txBody>
      </p:sp>
      <p:sp>
        <p:nvSpPr>
          <p:cNvPr id="92" name="object 92"/>
          <p:cNvSpPr/>
          <p:nvPr/>
        </p:nvSpPr>
        <p:spPr>
          <a:xfrm>
            <a:off x="4914900" y="4875276"/>
            <a:ext cx="513715" cy="692150"/>
          </a:xfrm>
          <a:custGeom>
            <a:avLst/>
            <a:gdLst/>
            <a:ahLst/>
            <a:cxnLst/>
            <a:rect l="l" t="t" r="r" b="b"/>
            <a:pathLst>
              <a:path w="513714" h="692150">
                <a:moveTo>
                  <a:pt x="0" y="0"/>
                </a:moveTo>
                <a:lnTo>
                  <a:pt x="513588" y="0"/>
                </a:lnTo>
                <a:lnTo>
                  <a:pt x="513588" y="691896"/>
                </a:lnTo>
                <a:lnTo>
                  <a:pt x="0" y="691896"/>
                </a:lnTo>
                <a:lnTo>
                  <a:pt x="0" y="0"/>
                </a:lnTo>
                <a:close/>
              </a:path>
            </a:pathLst>
          </a:custGeom>
          <a:solidFill>
            <a:srgbClr val="D9D9D9"/>
          </a:solidFill>
        </p:spPr>
        <p:txBody>
          <a:bodyPr wrap="square" lIns="0" tIns="0" rIns="0" bIns="0" rtlCol="0"/>
          <a:lstStyle/>
          <a:p/>
        </p:txBody>
      </p:sp>
      <p:sp>
        <p:nvSpPr>
          <p:cNvPr id="93" name="object 93"/>
          <p:cNvSpPr/>
          <p:nvPr/>
        </p:nvSpPr>
        <p:spPr>
          <a:xfrm>
            <a:off x="4907902" y="4869167"/>
            <a:ext cx="526415" cy="704850"/>
          </a:xfrm>
          <a:custGeom>
            <a:avLst/>
            <a:gdLst/>
            <a:ahLst/>
            <a:cxnLst/>
            <a:rect l="l" t="t" r="r" b="b"/>
            <a:pathLst>
              <a:path w="526414" h="704850">
                <a:moveTo>
                  <a:pt x="526186" y="704418"/>
                </a:moveTo>
                <a:lnTo>
                  <a:pt x="0" y="704418"/>
                </a:lnTo>
                <a:lnTo>
                  <a:pt x="0" y="0"/>
                </a:lnTo>
                <a:lnTo>
                  <a:pt x="526186" y="0"/>
                </a:lnTo>
                <a:lnTo>
                  <a:pt x="526186" y="6350"/>
                </a:lnTo>
                <a:lnTo>
                  <a:pt x="12700" y="6350"/>
                </a:lnTo>
                <a:lnTo>
                  <a:pt x="6350" y="12700"/>
                </a:lnTo>
                <a:lnTo>
                  <a:pt x="12700" y="12700"/>
                </a:lnTo>
                <a:lnTo>
                  <a:pt x="12700" y="691718"/>
                </a:lnTo>
                <a:lnTo>
                  <a:pt x="6350" y="691718"/>
                </a:lnTo>
                <a:lnTo>
                  <a:pt x="12700" y="698068"/>
                </a:lnTo>
                <a:lnTo>
                  <a:pt x="526186" y="698068"/>
                </a:lnTo>
                <a:lnTo>
                  <a:pt x="526186" y="704418"/>
                </a:lnTo>
                <a:close/>
              </a:path>
              <a:path w="526414" h="704850">
                <a:moveTo>
                  <a:pt x="12700" y="12700"/>
                </a:moveTo>
                <a:lnTo>
                  <a:pt x="6350" y="12700"/>
                </a:lnTo>
                <a:lnTo>
                  <a:pt x="12700" y="6350"/>
                </a:lnTo>
                <a:lnTo>
                  <a:pt x="12700" y="12700"/>
                </a:lnTo>
                <a:close/>
              </a:path>
              <a:path w="526414" h="704850">
                <a:moveTo>
                  <a:pt x="513486" y="12700"/>
                </a:moveTo>
                <a:lnTo>
                  <a:pt x="12700" y="12700"/>
                </a:lnTo>
                <a:lnTo>
                  <a:pt x="12700" y="6350"/>
                </a:lnTo>
                <a:lnTo>
                  <a:pt x="513486" y="6350"/>
                </a:lnTo>
                <a:lnTo>
                  <a:pt x="513486" y="12700"/>
                </a:lnTo>
                <a:close/>
              </a:path>
              <a:path w="526414" h="704850">
                <a:moveTo>
                  <a:pt x="513486" y="698068"/>
                </a:moveTo>
                <a:lnTo>
                  <a:pt x="513486" y="6350"/>
                </a:lnTo>
                <a:lnTo>
                  <a:pt x="519836" y="12700"/>
                </a:lnTo>
                <a:lnTo>
                  <a:pt x="526186" y="12700"/>
                </a:lnTo>
                <a:lnTo>
                  <a:pt x="526186" y="691718"/>
                </a:lnTo>
                <a:lnTo>
                  <a:pt x="519836" y="691718"/>
                </a:lnTo>
                <a:lnTo>
                  <a:pt x="513486" y="698068"/>
                </a:lnTo>
                <a:close/>
              </a:path>
              <a:path w="526414" h="704850">
                <a:moveTo>
                  <a:pt x="526186" y="12700"/>
                </a:moveTo>
                <a:lnTo>
                  <a:pt x="519836" y="12700"/>
                </a:lnTo>
                <a:lnTo>
                  <a:pt x="513486" y="6350"/>
                </a:lnTo>
                <a:lnTo>
                  <a:pt x="526186" y="6350"/>
                </a:lnTo>
                <a:lnTo>
                  <a:pt x="526186" y="12700"/>
                </a:lnTo>
                <a:close/>
              </a:path>
              <a:path w="526414" h="704850">
                <a:moveTo>
                  <a:pt x="12700" y="698068"/>
                </a:moveTo>
                <a:lnTo>
                  <a:pt x="6350" y="691718"/>
                </a:lnTo>
                <a:lnTo>
                  <a:pt x="12700" y="691718"/>
                </a:lnTo>
                <a:lnTo>
                  <a:pt x="12700" y="698068"/>
                </a:lnTo>
                <a:close/>
              </a:path>
              <a:path w="526414" h="704850">
                <a:moveTo>
                  <a:pt x="513486" y="698068"/>
                </a:moveTo>
                <a:lnTo>
                  <a:pt x="12700" y="698068"/>
                </a:lnTo>
                <a:lnTo>
                  <a:pt x="12700" y="691718"/>
                </a:lnTo>
                <a:lnTo>
                  <a:pt x="513486" y="691718"/>
                </a:lnTo>
                <a:lnTo>
                  <a:pt x="513486" y="698068"/>
                </a:lnTo>
                <a:close/>
              </a:path>
              <a:path w="526414" h="704850">
                <a:moveTo>
                  <a:pt x="526186" y="698068"/>
                </a:moveTo>
                <a:lnTo>
                  <a:pt x="513486" y="698068"/>
                </a:lnTo>
                <a:lnTo>
                  <a:pt x="519836" y="691718"/>
                </a:lnTo>
                <a:lnTo>
                  <a:pt x="526186" y="691718"/>
                </a:lnTo>
                <a:lnTo>
                  <a:pt x="526186" y="698068"/>
                </a:lnTo>
                <a:close/>
              </a:path>
            </a:pathLst>
          </a:custGeom>
          <a:solidFill>
            <a:srgbClr val="C00000"/>
          </a:solidFill>
        </p:spPr>
        <p:txBody>
          <a:bodyPr wrap="square" lIns="0" tIns="0" rIns="0" bIns="0" rtlCol="0"/>
          <a:lstStyle/>
          <a:p/>
        </p:txBody>
      </p:sp>
      <p:sp>
        <p:nvSpPr>
          <p:cNvPr id="94" name="object 94"/>
          <p:cNvSpPr txBox="1"/>
          <p:nvPr/>
        </p:nvSpPr>
        <p:spPr>
          <a:xfrm>
            <a:off x="4914900" y="4897107"/>
            <a:ext cx="513715" cy="634365"/>
          </a:xfrm>
          <a:prstGeom prst="rect">
            <a:avLst/>
          </a:prstGeom>
        </p:spPr>
        <p:txBody>
          <a:bodyPr vert="horz" wrap="square" lIns="0" tIns="12065" rIns="0" bIns="0" rtlCol="0">
            <a:spAutoFit/>
          </a:bodyPr>
          <a:lstStyle/>
          <a:p>
            <a:pPr marL="128270" marR="123190" algn="just">
              <a:lnSpc>
                <a:spcPct val="100000"/>
              </a:lnSpc>
              <a:spcBef>
                <a:spcPts val="95"/>
              </a:spcBef>
            </a:pPr>
            <a:r>
              <a:rPr sz="1000" b="1" dirty="0">
                <a:solidFill>
                  <a:srgbClr val="C00000"/>
                </a:solidFill>
                <a:latin typeface="微软雅黑" panose="020B0503020204020204" charset="-122"/>
                <a:cs typeface="微软雅黑" panose="020B0503020204020204" charset="-122"/>
              </a:rPr>
              <a:t>其</a:t>
            </a:r>
            <a:r>
              <a:rPr sz="1000" b="1" spc="-5" dirty="0">
                <a:solidFill>
                  <a:srgbClr val="C00000"/>
                </a:solidFill>
                <a:latin typeface="微软雅黑" panose="020B0503020204020204" charset="-122"/>
                <a:cs typeface="微软雅黑" panose="020B0503020204020204" charset="-122"/>
              </a:rPr>
              <a:t>他 </a:t>
            </a:r>
            <a:r>
              <a:rPr sz="1000" b="1" dirty="0">
                <a:solidFill>
                  <a:srgbClr val="C00000"/>
                </a:solidFill>
                <a:latin typeface="微软雅黑" panose="020B0503020204020204" charset="-122"/>
                <a:cs typeface="微软雅黑" panose="020B0503020204020204" charset="-122"/>
              </a:rPr>
              <a:t>系</a:t>
            </a:r>
            <a:r>
              <a:rPr sz="1000" b="1" spc="-5" dirty="0">
                <a:solidFill>
                  <a:srgbClr val="C00000"/>
                </a:solidFill>
                <a:latin typeface="微软雅黑" panose="020B0503020204020204" charset="-122"/>
                <a:cs typeface="微软雅黑" panose="020B0503020204020204" charset="-122"/>
              </a:rPr>
              <a:t>统 </a:t>
            </a:r>
            <a:r>
              <a:rPr sz="1000" b="1" dirty="0">
                <a:solidFill>
                  <a:srgbClr val="C00000"/>
                </a:solidFill>
                <a:latin typeface="微软雅黑" panose="020B0503020204020204" charset="-122"/>
                <a:cs typeface="微软雅黑" panose="020B0503020204020204" charset="-122"/>
              </a:rPr>
              <a:t>存</a:t>
            </a:r>
            <a:r>
              <a:rPr sz="1000" b="1" spc="-5" dirty="0">
                <a:solidFill>
                  <a:srgbClr val="C00000"/>
                </a:solidFill>
                <a:latin typeface="微软雅黑" panose="020B0503020204020204" charset="-122"/>
                <a:cs typeface="微软雅黑" panose="020B0503020204020204" charset="-122"/>
              </a:rPr>
              <a:t>储 </a:t>
            </a:r>
            <a:r>
              <a:rPr sz="1000" b="1" dirty="0">
                <a:solidFill>
                  <a:srgbClr val="C00000"/>
                </a:solidFill>
                <a:latin typeface="微软雅黑" panose="020B0503020204020204" charset="-122"/>
                <a:cs typeface="微软雅黑" panose="020B0503020204020204" charset="-122"/>
              </a:rPr>
              <a:t>接</a:t>
            </a:r>
            <a:r>
              <a:rPr sz="1000" b="1" spc="-5" dirty="0">
                <a:solidFill>
                  <a:srgbClr val="C00000"/>
                </a:solidFill>
                <a:latin typeface="微软雅黑" panose="020B0503020204020204" charset="-122"/>
                <a:cs typeface="微软雅黑" panose="020B0503020204020204" charset="-122"/>
              </a:rPr>
              <a:t>口</a:t>
            </a:r>
            <a:endParaRPr sz="1000">
              <a:latin typeface="微软雅黑" panose="020B0503020204020204" charset="-122"/>
              <a:cs typeface="微软雅黑" panose="020B0503020204020204" charset="-122"/>
            </a:endParaRPr>
          </a:p>
        </p:txBody>
      </p:sp>
      <p:sp>
        <p:nvSpPr>
          <p:cNvPr id="95" name="object 95"/>
          <p:cNvSpPr/>
          <p:nvPr/>
        </p:nvSpPr>
        <p:spPr>
          <a:xfrm>
            <a:off x="5133784" y="4697819"/>
            <a:ext cx="76136" cy="191490"/>
          </a:xfrm>
          <a:prstGeom prst="rect">
            <a:avLst/>
          </a:prstGeom>
          <a:blipFill>
            <a:blip r:embed="rId4" cstate="print"/>
            <a:stretch>
              <a:fillRect/>
            </a:stretch>
          </a:blipFill>
        </p:spPr>
        <p:txBody>
          <a:bodyPr wrap="square" lIns="0" tIns="0" rIns="0" bIns="0" rtlCol="0"/>
          <a:lstStyle/>
          <a:p/>
        </p:txBody>
      </p:sp>
      <p:sp>
        <p:nvSpPr>
          <p:cNvPr id="96" name="object 96"/>
          <p:cNvSpPr/>
          <p:nvPr/>
        </p:nvSpPr>
        <p:spPr>
          <a:xfrm>
            <a:off x="5522976" y="1880616"/>
            <a:ext cx="928369" cy="733425"/>
          </a:xfrm>
          <a:custGeom>
            <a:avLst/>
            <a:gdLst/>
            <a:ahLst/>
            <a:cxnLst/>
            <a:rect l="l" t="t" r="r" b="b"/>
            <a:pathLst>
              <a:path w="928370" h="733425">
                <a:moveTo>
                  <a:pt x="0" y="0"/>
                </a:moveTo>
                <a:lnTo>
                  <a:pt x="928115" y="0"/>
                </a:lnTo>
                <a:lnTo>
                  <a:pt x="928115" y="733043"/>
                </a:lnTo>
                <a:lnTo>
                  <a:pt x="0" y="733043"/>
                </a:lnTo>
                <a:lnTo>
                  <a:pt x="0" y="0"/>
                </a:lnTo>
                <a:close/>
              </a:path>
            </a:pathLst>
          </a:custGeom>
          <a:solidFill>
            <a:srgbClr val="D9D9D9"/>
          </a:solidFill>
        </p:spPr>
        <p:txBody>
          <a:bodyPr wrap="square" lIns="0" tIns="0" rIns="0" bIns="0" rtlCol="0"/>
          <a:lstStyle/>
          <a:p/>
        </p:txBody>
      </p:sp>
      <p:sp>
        <p:nvSpPr>
          <p:cNvPr id="97" name="object 97"/>
          <p:cNvSpPr/>
          <p:nvPr/>
        </p:nvSpPr>
        <p:spPr>
          <a:xfrm>
            <a:off x="5516765" y="1873630"/>
            <a:ext cx="941705" cy="747395"/>
          </a:xfrm>
          <a:custGeom>
            <a:avLst/>
            <a:gdLst/>
            <a:ahLst/>
            <a:cxnLst/>
            <a:rect l="l" t="t" r="r" b="b"/>
            <a:pathLst>
              <a:path w="941704" h="747394">
                <a:moveTo>
                  <a:pt x="941298" y="746937"/>
                </a:moveTo>
                <a:lnTo>
                  <a:pt x="0" y="746937"/>
                </a:lnTo>
                <a:lnTo>
                  <a:pt x="0" y="0"/>
                </a:lnTo>
                <a:lnTo>
                  <a:pt x="941298" y="0"/>
                </a:lnTo>
                <a:lnTo>
                  <a:pt x="941298" y="6350"/>
                </a:lnTo>
                <a:lnTo>
                  <a:pt x="12700" y="6350"/>
                </a:lnTo>
                <a:lnTo>
                  <a:pt x="6350" y="12700"/>
                </a:lnTo>
                <a:lnTo>
                  <a:pt x="12700" y="12700"/>
                </a:lnTo>
                <a:lnTo>
                  <a:pt x="12700" y="734237"/>
                </a:lnTo>
                <a:lnTo>
                  <a:pt x="6350" y="734237"/>
                </a:lnTo>
                <a:lnTo>
                  <a:pt x="12700" y="740587"/>
                </a:lnTo>
                <a:lnTo>
                  <a:pt x="941298" y="740587"/>
                </a:lnTo>
                <a:lnTo>
                  <a:pt x="941298" y="746937"/>
                </a:lnTo>
                <a:close/>
              </a:path>
              <a:path w="941704" h="747394">
                <a:moveTo>
                  <a:pt x="12700" y="12700"/>
                </a:moveTo>
                <a:lnTo>
                  <a:pt x="6350" y="12700"/>
                </a:lnTo>
                <a:lnTo>
                  <a:pt x="12700" y="6350"/>
                </a:lnTo>
                <a:lnTo>
                  <a:pt x="12700" y="12700"/>
                </a:lnTo>
                <a:close/>
              </a:path>
              <a:path w="941704" h="747394">
                <a:moveTo>
                  <a:pt x="928598" y="12700"/>
                </a:moveTo>
                <a:lnTo>
                  <a:pt x="12700" y="12700"/>
                </a:lnTo>
                <a:lnTo>
                  <a:pt x="12700" y="6350"/>
                </a:lnTo>
                <a:lnTo>
                  <a:pt x="928598" y="6350"/>
                </a:lnTo>
                <a:lnTo>
                  <a:pt x="928598" y="12700"/>
                </a:lnTo>
                <a:close/>
              </a:path>
              <a:path w="941704" h="747394">
                <a:moveTo>
                  <a:pt x="928598" y="740587"/>
                </a:moveTo>
                <a:lnTo>
                  <a:pt x="928598" y="6350"/>
                </a:lnTo>
                <a:lnTo>
                  <a:pt x="934948" y="12700"/>
                </a:lnTo>
                <a:lnTo>
                  <a:pt x="941298" y="12700"/>
                </a:lnTo>
                <a:lnTo>
                  <a:pt x="941298" y="734237"/>
                </a:lnTo>
                <a:lnTo>
                  <a:pt x="934948" y="734237"/>
                </a:lnTo>
                <a:lnTo>
                  <a:pt x="928598" y="740587"/>
                </a:lnTo>
                <a:close/>
              </a:path>
              <a:path w="941704" h="747394">
                <a:moveTo>
                  <a:pt x="941298" y="12700"/>
                </a:moveTo>
                <a:lnTo>
                  <a:pt x="934948" y="12700"/>
                </a:lnTo>
                <a:lnTo>
                  <a:pt x="928598" y="6350"/>
                </a:lnTo>
                <a:lnTo>
                  <a:pt x="941298" y="6350"/>
                </a:lnTo>
                <a:lnTo>
                  <a:pt x="941298" y="12700"/>
                </a:lnTo>
                <a:close/>
              </a:path>
              <a:path w="941704" h="747394">
                <a:moveTo>
                  <a:pt x="12700" y="740587"/>
                </a:moveTo>
                <a:lnTo>
                  <a:pt x="6350" y="734237"/>
                </a:lnTo>
                <a:lnTo>
                  <a:pt x="12700" y="734237"/>
                </a:lnTo>
                <a:lnTo>
                  <a:pt x="12700" y="740587"/>
                </a:lnTo>
                <a:close/>
              </a:path>
              <a:path w="941704" h="747394">
                <a:moveTo>
                  <a:pt x="928598" y="740587"/>
                </a:moveTo>
                <a:lnTo>
                  <a:pt x="12700" y="740587"/>
                </a:lnTo>
                <a:lnTo>
                  <a:pt x="12700" y="734237"/>
                </a:lnTo>
                <a:lnTo>
                  <a:pt x="928598" y="734237"/>
                </a:lnTo>
                <a:lnTo>
                  <a:pt x="928598" y="740587"/>
                </a:lnTo>
                <a:close/>
              </a:path>
              <a:path w="941704" h="747394">
                <a:moveTo>
                  <a:pt x="941298" y="740587"/>
                </a:moveTo>
                <a:lnTo>
                  <a:pt x="928598" y="740587"/>
                </a:lnTo>
                <a:lnTo>
                  <a:pt x="934948" y="734237"/>
                </a:lnTo>
                <a:lnTo>
                  <a:pt x="941298" y="734237"/>
                </a:lnTo>
                <a:lnTo>
                  <a:pt x="941298" y="740587"/>
                </a:lnTo>
                <a:close/>
              </a:path>
            </a:pathLst>
          </a:custGeom>
          <a:solidFill>
            <a:srgbClr val="C00000"/>
          </a:solidFill>
        </p:spPr>
        <p:txBody>
          <a:bodyPr wrap="square" lIns="0" tIns="0" rIns="0" bIns="0" rtlCol="0"/>
          <a:lstStyle/>
          <a:p/>
        </p:txBody>
      </p:sp>
      <p:sp>
        <p:nvSpPr>
          <p:cNvPr id="98" name="object 98"/>
          <p:cNvSpPr txBox="1"/>
          <p:nvPr/>
        </p:nvSpPr>
        <p:spPr>
          <a:xfrm>
            <a:off x="5522976" y="2008886"/>
            <a:ext cx="928369" cy="453390"/>
          </a:xfrm>
          <a:prstGeom prst="rect">
            <a:avLst/>
          </a:prstGeom>
        </p:spPr>
        <p:txBody>
          <a:bodyPr vert="horz" wrap="square" lIns="0" tIns="13335" rIns="0" bIns="0" rtlCol="0">
            <a:spAutoFit/>
          </a:bodyPr>
          <a:lstStyle/>
          <a:p>
            <a:pPr marL="106045">
              <a:lnSpc>
                <a:spcPct val="100000"/>
              </a:lnSpc>
              <a:spcBef>
                <a:spcPts val="105"/>
              </a:spcBef>
            </a:pPr>
            <a:r>
              <a:rPr sz="1400" b="1" spc="-5" dirty="0">
                <a:solidFill>
                  <a:srgbClr val="C00000"/>
                </a:solidFill>
                <a:latin typeface="微软雅黑" panose="020B0503020204020204" charset="-122"/>
                <a:cs typeface="微软雅黑" panose="020B0503020204020204" charset="-122"/>
              </a:rPr>
              <a:t>CLI</a:t>
            </a:r>
            <a:r>
              <a:rPr sz="1400" b="1" spc="-10" dirty="0">
                <a:solidFill>
                  <a:srgbClr val="C00000"/>
                </a:solidFill>
                <a:latin typeface="微软雅黑" panose="020B0503020204020204" charset="-122"/>
                <a:cs typeface="微软雅黑" panose="020B0503020204020204" charset="-122"/>
              </a:rPr>
              <a:t>N</a:t>
            </a:r>
            <a:r>
              <a:rPr sz="1400" b="1" spc="-5" dirty="0">
                <a:solidFill>
                  <a:srgbClr val="C00000"/>
                </a:solidFill>
                <a:latin typeface="微软雅黑" panose="020B0503020204020204" charset="-122"/>
                <a:cs typeface="微软雅黑" panose="020B0503020204020204" charset="-122"/>
              </a:rPr>
              <a:t>T</a:t>
            </a:r>
            <a:r>
              <a:rPr sz="1400" b="1" spc="5" dirty="0">
                <a:solidFill>
                  <a:srgbClr val="C00000"/>
                </a:solidFill>
                <a:latin typeface="微软雅黑" panose="020B0503020204020204" charset="-122"/>
                <a:cs typeface="微软雅黑" panose="020B0503020204020204" charset="-122"/>
              </a:rPr>
              <a:t>中</a:t>
            </a:r>
            <a:endParaRPr sz="1400">
              <a:latin typeface="微软雅黑" panose="020B0503020204020204" charset="-122"/>
              <a:cs typeface="微软雅黑" panose="020B0503020204020204" charset="-122"/>
            </a:endParaRPr>
          </a:p>
          <a:p>
            <a:pPr marL="108585">
              <a:lnSpc>
                <a:spcPct val="100000"/>
              </a:lnSpc>
            </a:pPr>
            <a:r>
              <a:rPr sz="1400" b="1" dirty="0">
                <a:solidFill>
                  <a:srgbClr val="C00000"/>
                </a:solidFill>
                <a:latin typeface="微软雅黑" panose="020B0503020204020204" charset="-122"/>
                <a:cs typeface="微软雅黑" panose="020B0503020204020204" charset="-122"/>
              </a:rPr>
              <a:t>断控制</a:t>
            </a:r>
            <a:r>
              <a:rPr sz="1400" b="1" spc="5" dirty="0">
                <a:solidFill>
                  <a:srgbClr val="C00000"/>
                </a:solidFill>
                <a:latin typeface="微软雅黑" panose="020B0503020204020204" charset="-122"/>
                <a:cs typeface="微软雅黑" panose="020B0503020204020204" charset="-122"/>
              </a:rPr>
              <a:t>器</a:t>
            </a:r>
            <a:endParaRPr sz="1400">
              <a:latin typeface="微软雅黑" panose="020B0503020204020204" charset="-122"/>
              <a:cs typeface="微软雅黑" panose="020B0503020204020204" charset="-122"/>
            </a:endParaRPr>
          </a:p>
        </p:txBody>
      </p:sp>
      <p:sp>
        <p:nvSpPr>
          <p:cNvPr id="99" name="object 99"/>
          <p:cNvSpPr/>
          <p:nvPr/>
        </p:nvSpPr>
        <p:spPr>
          <a:xfrm>
            <a:off x="5941415" y="2634272"/>
            <a:ext cx="76200" cy="335280"/>
          </a:xfrm>
          <a:custGeom>
            <a:avLst/>
            <a:gdLst/>
            <a:ahLst/>
            <a:cxnLst/>
            <a:rect l="l" t="t" r="r" b="b"/>
            <a:pathLst>
              <a:path w="76200" h="335280">
                <a:moveTo>
                  <a:pt x="41904" y="258855"/>
                </a:moveTo>
                <a:lnTo>
                  <a:pt x="34284" y="258745"/>
                </a:lnTo>
                <a:lnTo>
                  <a:pt x="37998" y="0"/>
                </a:lnTo>
                <a:lnTo>
                  <a:pt x="45618" y="114"/>
                </a:lnTo>
                <a:lnTo>
                  <a:pt x="41904" y="258855"/>
                </a:lnTo>
                <a:close/>
              </a:path>
              <a:path w="76200" h="335280">
                <a:moveTo>
                  <a:pt x="37007" y="335000"/>
                </a:moveTo>
                <a:lnTo>
                  <a:pt x="0" y="258254"/>
                </a:lnTo>
                <a:lnTo>
                  <a:pt x="34284" y="258745"/>
                </a:lnTo>
                <a:lnTo>
                  <a:pt x="34010" y="277799"/>
                </a:lnTo>
                <a:lnTo>
                  <a:pt x="41630" y="277914"/>
                </a:lnTo>
                <a:lnTo>
                  <a:pt x="66571" y="277914"/>
                </a:lnTo>
                <a:lnTo>
                  <a:pt x="37007" y="335000"/>
                </a:lnTo>
                <a:close/>
              </a:path>
              <a:path w="76200" h="335280">
                <a:moveTo>
                  <a:pt x="41630" y="277914"/>
                </a:moveTo>
                <a:lnTo>
                  <a:pt x="34010" y="277799"/>
                </a:lnTo>
                <a:lnTo>
                  <a:pt x="34284" y="258745"/>
                </a:lnTo>
                <a:lnTo>
                  <a:pt x="41904" y="258855"/>
                </a:lnTo>
                <a:lnTo>
                  <a:pt x="41630" y="277914"/>
                </a:lnTo>
                <a:close/>
              </a:path>
              <a:path w="76200" h="335280">
                <a:moveTo>
                  <a:pt x="66571" y="277914"/>
                </a:moveTo>
                <a:lnTo>
                  <a:pt x="41630" y="277914"/>
                </a:lnTo>
                <a:lnTo>
                  <a:pt x="41904" y="258855"/>
                </a:lnTo>
                <a:lnTo>
                  <a:pt x="76187" y="259346"/>
                </a:lnTo>
                <a:lnTo>
                  <a:pt x="66571" y="277914"/>
                </a:lnTo>
                <a:close/>
              </a:path>
            </a:pathLst>
          </a:custGeom>
          <a:solidFill>
            <a:srgbClr val="C00000"/>
          </a:solidFill>
        </p:spPr>
        <p:txBody>
          <a:bodyPr wrap="square" lIns="0" tIns="0" rIns="0" bIns="0" rtlCol="0"/>
          <a:lstStyle/>
          <a:p/>
        </p:txBody>
      </p:sp>
      <p:sp>
        <p:nvSpPr>
          <p:cNvPr id="100" name="object 100"/>
          <p:cNvSpPr txBox="1"/>
          <p:nvPr/>
        </p:nvSpPr>
        <p:spPr>
          <a:xfrm>
            <a:off x="4789055" y="2955810"/>
            <a:ext cx="254000" cy="299720"/>
          </a:xfrm>
          <a:prstGeom prst="rect">
            <a:avLst/>
          </a:prstGeom>
        </p:spPr>
        <p:txBody>
          <a:bodyPr vert="horz" wrap="square" lIns="0" tIns="12700" rIns="0" bIns="0" rtlCol="0">
            <a:spAutoFit/>
          </a:bodyPr>
          <a:lstStyle/>
          <a:p>
            <a:pPr marL="12700" marR="5080">
              <a:lnSpc>
                <a:spcPct val="100000"/>
              </a:lnSpc>
              <a:spcBef>
                <a:spcPts val="100"/>
              </a:spcBef>
            </a:pPr>
            <a:r>
              <a:rPr sz="900" b="1" dirty="0">
                <a:solidFill>
                  <a:srgbClr val="C00000"/>
                </a:solidFill>
                <a:latin typeface="微软雅黑" panose="020B0503020204020204" charset="-122"/>
                <a:cs typeface="微软雅黑" panose="020B0503020204020204" charset="-122"/>
              </a:rPr>
              <a:t>中断 接口</a:t>
            </a:r>
            <a:endParaRPr sz="900">
              <a:latin typeface="微软雅黑" panose="020B0503020204020204" charset="-122"/>
              <a:cs typeface="微软雅黑" panose="020B0503020204020204" charset="-122"/>
            </a:endParaRPr>
          </a:p>
        </p:txBody>
      </p:sp>
      <p:sp>
        <p:nvSpPr>
          <p:cNvPr id="101" name="object 101"/>
          <p:cNvSpPr/>
          <p:nvPr/>
        </p:nvSpPr>
        <p:spPr>
          <a:xfrm>
            <a:off x="8112162" y="5085854"/>
            <a:ext cx="275590" cy="76200"/>
          </a:xfrm>
          <a:custGeom>
            <a:avLst/>
            <a:gdLst/>
            <a:ahLst/>
            <a:cxnLst/>
            <a:rect l="l" t="t" r="r" b="b"/>
            <a:pathLst>
              <a:path w="275590" h="76200">
                <a:moveTo>
                  <a:pt x="77203" y="76174"/>
                </a:moveTo>
                <a:lnTo>
                  <a:pt x="0" y="40144"/>
                </a:lnTo>
                <a:lnTo>
                  <a:pt x="75133" y="0"/>
                </a:lnTo>
                <a:lnTo>
                  <a:pt x="76064" y="34280"/>
                </a:lnTo>
                <a:lnTo>
                  <a:pt x="57023" y="34798"/>
                </a:lnTo>
                <a:lnTo>
                  <a:pt x="57226" y="42405"/>
                </a:lnTo>
                <a:lnTo>
                  <a:pt x="76285" y="42405"/>
                </a:lnTo>
                <a:lnTo>
                  <a:pt x="77203" y="76174"/>
                </a:lnTo>
                <a:close/>
              </a:path>
              <a:path w="275590" h="76200">
                <a:moveTo>
                  <a:pt x="76271" y="41888"/>
                </a:moveTo>
                <a:lnTo>
                  <a:pt x="76064" y="34280"/>
                </a:lnTo>
                <a:lnTo>
                  <a:pt x="275234" y="28867"/>
                </a:lnTo>
                <a:lnTo>
                  <a:pt x="275437" y="36487"/>
                </a:lnTo>
                <a:lnTo>
                  <a:pt x="76271" y="41888"/>
                </a:lnTo>
                <a:close/>
              </a:path>
              <a:path w="275590" h="76200">
                <a:moveTo>
                  <a:pt x="57226" y="42405"/>
                </a:moveTo>
                <a:lnTo>
                  <a:pt x="57023" y="34798"/>
                </a:lnTo>
                <a:lnTo>
                  <a:pt x="76064" y="34280"/>
                </a:lnTo>
                <a:lnTo>
                  <a:pt x="76271" y="41888"/>
                </a:lnTo>
                <a:lnTo>
                  <a:pt x="57226" y="42405"/>
                </a:lnTo>
                <a:close/>
              </a:path>
              <a:path w="275590" h="76200">
                <a:moveTo>
                  <a:pt x="76285" y="42405"/>
                </a:moveTo>
                <a:lnTo>
                  <a:pt x="57226" y="42405"/>
                </a:lnTo>
                <a:lnTo>
                  <a:pt x="76271" y="41888"/>
                </a:lnTo>
                <a:lnTo>
                  <a:pt x="76285" y="42405"/>
                </a:lnTo>
                <a:close/>
              </a:path>
            </a:pathLst>
          </a:custGeom>
          <a:solidFill>
            <a:srgbClr val="C00000"/>
          </a:solidFill>
        </p:spPr>
        <p:txBody>
          <a:bodyPr wrap="square" lIns="0" tIns="0" rIns="0" bIns="0" rtlCol="0"/>
          <a:lstStyle/>
          <a:p/>
        </p:txBody>
      </p:sp>
      <p:sp>
        <p:nvSpPr>
          <p:cNvPr id="102" name="object 102"/>
          <p:cNvSpPr/>
          <p:nvPr/>
        </p:nvSpPr>
        <p:spPr>
          <a:xfrm>
            <a:off x="4450600" y="5570105"/>
            <a:ext cx="76200" cy="257810"/>
          </a:xfrm>
          <a:custGeom>
            <a:avLst/>
            <a:gdLst/>
            <a:ahLst/>
            <a:cxnLst/>
            <a:rect l="l" t="t" r="r" b="b"/>
            <a:pathLst>
              <a:path w="76200" h="257810">
                <a:moveTo>
                  <a:pt x="34272" y="76023"/>
                </a:moveTo>
                <a:lnTo>
                  <a:pt x="0" y="74828"/>
                </a:lnTo>
                <a:lnTo>
                  <a:pt x="40741" y="0"/>
                </a:lnTo>
                <a:lnTo>
                  <a:pt x="66782" y="56984"/>
                </a:lnTo>
                <a:lnTo>
                  <a:pt x="34937" y="56984"/>
                </a:lnTo>
                <a:lnTo>
                  <a:pt x="34272" y="76023"/>
                </a:lnTo>
                <a:close/>
              </a:path>
              <a:path w="76200" h="257810">
                <a:moveTo>
                  <a:pt x="41879" y="76288"/>
                </a:moveTo>
                <a:lnTo>
                  <a:pt x="34272" y="76023"/>
                </a:lnTo>
                <a:lnTo>
                  <a:pt x="34937" y="56984"/>
                </a:lnTo>
                <a:lnTo>
                  <a:pt x="42545" y="57251"/>
                </a:lnTo>
                <a:lnTo>
                  <a:pt x="41879" y="76288"/>
                </a:lnTo>
                <a:close/>
              </a:path>
              <a:path w="76200" h="257810">
                <a:moveTo>
                  <a:pt x="76149" y="77482"/>
                </a:moveTo>
                <a:lnTo>
                  <a:pt x="41879" y="76288"/>
                </a:lnTo>
                <a:lnTo>
                  <a:pt x="42545" y="57251"/>
                </a:lnTo>
                <a:lnTo>
                  <a:pt x="34937" y="56984"/>
                </a:lnTo>
                <a:lnTo>
                  <a:pt x="66782" y="56984"/>
                </a:lnTo>
                <a:lnTo>
                  <a:pt x="76149" y="77482"/>
                </a:lnTo>
                <a:close/>
              </a:path>
              <a:path w="76200" h="257810">
                <a:moveTo>
                  <a:pt x="35547" y="257517"/>
                </a:moveTo>
                <a:lnTo>
                  <a:pt x="27940" y="257251"/>
                </a:lnTo>
                <a:lnTo>
                  <a:pt x="34272" y="76023"/>
                </a:lnTo>
                <a:lnTo>
                  <a:pt x="41879" y="76288"/>
                </a:lnTo>
                <a:lnTo>
                  <a:pt x="35547" y="257517"/>
                </a:lnTo>
                <a:close/>
              </a:path>
            </a:pathLst>
          </a:custGeom>
          <a:solidFill>
            <a:srgbClr val="C00000"/>
          </a:solidFill>
        </p:spPr>
        <p:txBody>
          <a:bodyPr wrap="square" lIns="0" tIns="0" rIns="0" bIns="0" rtlCol="0"/>
          <a:lstStyle/>
          <a:p/>
        </p:txBody>
      </p:sp>
      <p:sp>
        <p:nvSpPr>
          <p:cNvPr id="103" name="object 103"/>
          <p:cNvSpPr/>
          <p:nvPr/>
        </p:nvSpPr>
        <p:spPr>
          <a:xfrm>
            <a:off x="4482338" y="5820886"/>
            <a:ext cx="3914140" cy="0"/>
          </a:xfrm>
          <a:custGeom>
            <a:avLst/>
            <a:gdLst/>
            <a:ahLst/>
            <a:cxnLst/>
            <a:rect l="l" t="t" r="r" b="b"/>
            <a:pathLst>
              <a:path w="3914140">
                <a:moveTo>
                  <a:pt x="0" y="0"/>
                </a:moveTo>
                <a:lnTo>
                  <a:pt x="3913568" y="0"/>
                </a:lnTo>
              </a:path>
            </a:pathLst>
          </a:custGeom>
          <a:ln w="12788">
            <a:solidFill>
              <a:srgbClr val="C00000"/>
            </a:solidFill>
          </a:ln>
        </p:spPr>
        <p:txBody>
          <a:bodyPr wrap="square" lIns="0" tIns="0" rIns="0" bIns="0" rtlCol="0"/>
          <a:lstStyle/>
          <a:p/>
        </p:txBody>
      </p:sp>
      <p:sp>
        <p:nvSpPr>
          <p:cNvPr id="104" name="object 104"/>
          <p:cNvSpPr/>
          <p:nvPr/>
        </p:nvSpPr>
        <p:spPr>
          <a:xfrm>
            <a:off x="8387498" y="5128882"/>
            <a:ext cx="0" cy="679450"/>
          </a:xfrm>
          <a:custGeom>
            <a:avLst/>
            <a:gdLst/>
            <a:ahLst/>
            <a:cxnLst/>
            <a:rect l="l" t="t" r="r" b="b"/>
            <a:pathLst>
              <a:path h="679450">
                <a:moveTo>
                  <a:pt x="0" y="0"/>
                </a:moveTo>
                <a:lnTo>
                  <a:pt x="0" y="679081"/>
                </a:lnTo>
              </a:path>
            </a:pathLst>
          </a:custGeom>
          <a:ln w="7620">
            <a:solidFill>
              <a:srgbClr val="C00000"/>
            </a:solidFill>
          </a:ln>
        </p:spPr>
        <p:txBody>
          <a:bodyPr wrap="square" lIns="0" tIns="0" rIns="0" bIns="0" rtlCol="0"/>
          <a:lstStyle/>
          <a:p/>
        </p:txBody>
      </p:sp>
      <p:sp>
        <p:nvSpPr>
          <p:cNvPr id="105" name="object 105"/>
          <p:cNvSpPr/>
          <p:nvPr/>
        </p:nvSpPr>
        <p:spPr>
          <a:xfrm>
            <a:off x="8112162" y="4752365"/>
            <a:ext cx="508000" cy="76200"/>
          </a:xfrm>
          <a:custGeom>
            <a:avLst/>
            <a:gdLst/>
            <a:ahLst/>
            <a:cxnLst/>
            <a:rect l="l" t="t" r="r" b="b"/>
            <a:pathLst>
              <a:path w="508000" h="76200">
                <a:moveTo>
                  <a:pt x="75628" y="76187"/>
                </a:moveTo>
                <a:lnTo>
                  <a:pt x="0" y="36969"/>
                </a:lnTo>
                <a:lnTo>
                  <a:pt x="76746" y="0"/>
                </a:lnTo>
                <a:lnTo>
                  <a:pt x="76247" y="33997"/>
                </a:lnTo>
                <a:lnTo>
                  <a:pt x="57200" y="33997"/>
                </a:lnTo>
                <a:lnTo>
                  <a:pt x="57086" y="41617"/>
                </a:lnTo>
                <a:lnTo>
                  <a:pt x="76131" y="41898"/>
                </a:lnTo>
                <a:lnTo>
                  <a:pt x="75628" y="76187"/>
                </a:lnTo>
                <a:close/>
              </a:path>
              <a:path w="508000" h="76200">
                <a:moveTo>
                  <a:pt x="76131" y="41898"/>
                </a:moveTo>
                <a:lnTo>
                  <a:pt x="57086" y="41617"/>
                </a:lnTo>
                <a:lnTo>
                  <a:pt x="57200" y="33997"/>
                </a:lnTo>
                <a:lnTo>
                  <a:pt x="76243" y="34278"/>
                </a:lnTo>
                <a:lnTo>
                  <a:pt x="76131" y="41898"/>
                </a:lnTo>
                <a:close/>
              </a:path>
              <a:path w="508000" h="76200">
                <a:moveTo>
                  <a:pt x="76243" y="34278"/>
                </a:moveTo>
                <a:lnTo>
                  <a:pt x="57200" y="33997"/>
                </a:lnTo>
                <a:lnTo>
                  <a:pt x="76247" y="33997"/>
                </a:lnTo>
                <a:lnTo>
                  <a:pt x="76243" y="34278"/>
                </a:lnTo>
                <a:close/>
              </a:path>
              <a:path w="508000" h="76200">
                <a:moveTo>
                  <a:pt x="507428" y="48247"/>
                </a:moveTo>
                <a:lnTo>
                  <a:pt x="76131" y="41898"/>
                </a:lnTo>
                <a:lnTo>
                  <a:pt x="76243" y="34278"/>
                </a:lnTo>
                <a:lnTo>
                  <a:pt x="507542" y="40627"/>
                </a:lnTo>
                <a:lnTo>
                  <a:pt x="507428" y="48247"/>
                </a:lnTo>
                <a:close/>
              </a:path>
            </a:pathLst>
          </a:custGeom>
          <a:solidFill>
            <a:srgbClr val="C00000"/>
          </a:solidFill>
        </p:spPr>
        <p:txBody>
          <a:bodyPr wrap="square" lIns="0" tIns="0" rIns="0" bIns="0" rtlCol="0"/>
          <a:lstStyle/>
          <a:p/>
        </p:txBody>
      </p:sp>
      <p:sp>
        <p:nvSpPr>
          <p:cNvPr id="106" name="object 106"/>
          <p:cNvSpPr/>
          <p:nvPr/>
        </p:nvSpPr>
        <p:spPr>
          <a:xfrm>
            <a:off x="3804475" y="5991796"/>
            <a:ext cx="4815205" cy="0"/>
          </a:xfrm>
          <a:custGeom>
            <a:avLst/>
            <a:gdLst/>
            <a:ahLst/>
            <a:cxnLst/>
            <a:rect l="l" t="t" r="r" b="b"/>
            <a:pathLst>
              <a:path w="4815205">
                <a:moveTo>
                  <a:pt x="0" y="0"/>
                </a:moveTo>
                <a:lnTo>
                  <a:pt x="4815192" y="0"/>
                </a:lnTo>
              </a:path>
            </a:pathLst>
          </a:custGeom>
          <a:ln w="22555">
            <a:solidFill>
              <a:srgbClr val="C00000"/>
            </a:solidFill>
          </a:ln>
        </p:spPr>
        <p:txBody>
          <a:bodyPr wrap="square" lIns="0" tIns="0" rIns="0" bIns="0" rtlCol="0"/>
          <a:lstStyle/>
          <a:p/>
        </p:txBody>
      </p:sp>
      <p:sp>
        <p:nvSpPr>
          <p:cNvPr id="107" name="object 107"/>
          <p:cNvSpPr/>
          <p:nvPr/>
        </p:nvSpPr>
        <p:spPr>
          <a:xfrm>
            <a:off x="8615756" y="4804244"/>
            <a:ext cx="0" cy="1188085"/>
          </a:xfrm>
          <a:custGeom>
            <a:avLst/>
            <a:gdLst/>
            <a:ahLst/>
            <a:cxnLst/>
            <a:rect l="l" t="t" r="r" b="b"/>
            <a:pathLst>
              <a:path h="1188085">
                <a:moveTo>
                  <a:pt x="0" y="0"/>
                </a:moveTo>
                <a:lnTo>
                  <a:pt x="0" y="1187577"/>
                </a:lnTo>
              </a:path>
            </a:pathLst>
          </a:custGeom>
          <a:ln w="15417">
            <a:solidFill>
              <a:srgbClr val="C00000"/>
            </a:solidFill>
          </a:ln>
        </p:spPr>
        <p:txBody>
          <a:bodyPr wrap="square" lIns="0" tIns="0" rIns="0" bIns="0" rtlCol="0"/>
          <a:lstStyle/>
          <a:p/>
        </p:txBody>
      </p:sp>
      <p:sp>
        <p:nvSpPr>
          <p:cNvPr id="108" name="object 108"/>
          <p:cNvSpPr/>
          <p:nvPr/>
        </p:nvSpPr>
        <p:spPr>
          <a:xfrm>
            <a:off x="3501097" y="2609049"/>
            <a:ext cx="76200" cy="319405"/>
          </a:xfrm>
          <a:custGeom>
            <a:avLst/>
            <a:gdLst/>
            <a:ahLst/>
            <a:cxnLst/>
            <a:rect l="l" t="t" r="r" b="b"/>
            <a:pathLst>
              <a:path w="76200" h="319405">
                <a:moveTo>
                  <a:pt x="34292" y="76186"/>
                </a:moveTo>
                <a:lnTo>
                  <a:pt x="0" y="76123"/>
                </a:lnTo>
                <a:lnTo>
                  <a:pt x="38252" y="0"/>
                </a:lnTo>
                <a:lnTo>
                  <a:pt x="66683" y="57137"/>
                </a:lnTo>
                <a:lnTo>
                  <a:pt x="34328" y="57137"/>
                </a:lnTo>
                <a:lnTo>
                  <a:pt x="34292" y="76186"/>
                </a:lnTo>
                <a:close/>
              </a:path>
              <a:path w="76200" h="319405">
                <a:moveTo>
                  <a:pt x="41912" y="76200"/>
                </a:moveTo>
                <a:lnTo>
                  <a:pt x="34292" y="76186"/>
                </a:lnTo>
                <a:lnTo>
                  <a:pt x="34328" y="57137"/>
                </a:lnTo>
                <a:lnTo>
                  <a:pt x="41948" y="57150"/>
                </a:lnTo>
                <a:lnTo>
                  <a:pt x="41912" y="76200"/>
                </a:lnTo>
                <a:close/>
              </a:path>
              <a:path w="76200" h="319405">
                <a:moveTo>
                  <a:pt x="76200" y="76263"/>
                </a:moveTo>
                <a:lnTo>
                  <a:pt x="41912" y="76200"/>
                </a:lnTo>
                <a:lnTo>
                  <a:pt x="41948" y="57150"/>
                </a:lnTo>
                <a:lnTo>
                  <a:pt x="34328" y="57137"/>
                </a:lnTo>
                <a:lnTo>
                  <a:pt x="66689" y="57150"/>
                </a:lnTo>
                <a:lnTo>
                  <a:pt x="76200" y="76263"/>
                </a:lnTo>
                <a:close/>
              </a:path>
              <a:path w="76200" h="319405">
                <a:moveTo>
                  <a:pt x="41452" y="318858"/>
                </a:moveTo>
                <a:lnTo>
                  <a:pt x="33832" y="318846"/>
                </a:lnTo>
                <a:lnTo>
                  <a:pt x="34292" y="76186"/>
                </a:lnTo>
                <a:lnTo>
                  <a:pt x="41912" y="76200"/>
                </a:lnTo>
                <a:lnTo>
                  <a:pt x="41452" y="318858"/>
                </a:lnTo>
                <a:close/>
              </a:path>
            </a:pathLst>
          </a:custGeom>
          <a:solidFill>
            <a:srgbClr val="C00000"/>
          </a:solidFill>
        </p:spPr>
        <p:txBody>
          <a:bodyPr wrap="square" lIns="0" tIns="0" rIns="0" bIns="0" rtlCol="0"/>
          <a:lstStyle/>
          <a:p/>
        </p:txBody>
      </p:sp>
      <p:sp>
        <p:nvSpPr>
          <p:cNvPr id="109" name="object 109"/>
          <p:cNvSpPr txBox="1"/>
          <p:nvPr/>
        </p:nvSpPr>
        <p:spPr>
          <a:xfrm>
            <a:off x="1614462" y="1956790"/>
            <a:ext cx="83883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C00000"/>
                </a:solidFill>
                <a:latin typeface="微软雅黑" panose="020B0503020204020204" charset="-122"/>
                <a:cs typeface="微软雅黑" panose="020B0503020204020204" charset="-122"/>
              </a:rPr>
              <a:t>主</a:t>
            </a:r>
            <a:r>
              <a:rPr sz="3200" b="1" spc="5" dirty="0">
                <a:solidFill>
                  <a:srgbClr val="C00000"/>
                </a:solidFill>
                <a:latin typeface="微软雅黑" panose="020B0503020204020204" charset="-122"/>
                <a:cs typeface="微软雅黑" panose="020B0503020204020204" charset="-122"/>
              </a:rPr>
              <a:t>域</a:t>
            </a:r>
            <a:endParaRPr sz="3200">
              <a:latin typeface="微软雅黑" panose="020B0503020204020204" charset="-122"/>
              <a:cs typeface="微软雅黑" panose="020B0503020204020204" charset="-122"/>
            </a:endParaRPr>
          </a:p>
        </p:txBody>
      </p:sp>
      <p:sp>
        <p:nvSpPr>
          <p:cNvPr id="110" name="object 110"/>
          <p:cNvSpPr/>
          <p:nvPr/>
        </p:nvSpPr>
        <p:spPr>
          <a:xfrm>
            <a:off x="9263557" y="1351978"/>
            <a:ext cx="1545590" cy="2487295"/>
          </a:xfrm>
          <a:custGeom>
            <a:avLst/>
            <a:gdLst/>
            <a:ahLst/>
            <a:cxnLst/>
            <a:rect l="l" t="t" r="r" b="b"/>
            <a:pathLst>
              <a:path w="1545590" h="2487295">
                <a:moveTo>
                  <a:pt x="1545374" y="2487142"/>
                </a:moveTo>
                <a:lnTo>
                  <a:pt x="0" y="2487142"/>
                </a:lnTo>
                <a:lnTo>
                  <a:pt x="0" y="0"/>
                </a:lnTo>
                <a:lnTo>
                  <a:pt x="1545374" y="0"/>
                </a:lnTo>
                <a:lnTo>
                  <a:pt x="1545374" y="6350"/>
                </a:lnTo>
                <a:lnTo>
                  <a:pt x="12700" y="6350"/>
                </a:lnTo>
                <a:lnTo>
                  <a:pt x="6350" y="12700"/>
                </a:lnTo>
                <a:lnTo>
                  <a:pt x="12700" y="12700"/>
                </a:lnTo>
                <a:lnTo>
                  <a:pt x="12700" y="2474442"/>
                </a:lnTo>
                <a:lnTo>
                  <a:pt x="6350" y="2474442"/>
                </a:lnTo>
                <a:lnTo>
                  <a:pt x="12700" y="2480792"/>
                </a:lnTo>
                <a:lnTo>
                  <a:pt x="1545374" y="2480792"/>
                </a:lnTo>
                <a:lnTo>
                  <a:pt x="1545374" y="2487142"/>
                </a:lnTo>
                <a:close/>
              </a:path>
              <a:path w="1545590" h="2487295">
                <a:moveTo>
                  <a:pt x="12700" y="12700"/>
                </a:moveTo>
                <a:lnTo>
                  <a:pt x="6350" y="12700"/>
                </a:lnTo>
                <a:lnTo>
                  <a:pt x="12700" y="6350"/>
                </a:lnTo>
                <a:lnTo>
                  <a:pt x="12700" y="12700"/>
                </a:lnTo>
                <a:close/>
              </a:path>
              <a:path w="1545590" h="2487295">
                <a:moveTo>
                  <a:pt x="1532674" y="12700"/>
                </a:moveTo>
                <a:lnTo>
                  <a:pt x="12700" y="12700"/>
                </a:lnTo>
                <a:lnTo>
                  <a:pt x="12700" y="6350"/>
                </a:lnTo>
                <a:lnTo>
                  <a:pt x="1532674" y="6350"/>
                </a:lnTo>
                <a:lnTo>
                  <a:pt x="1532674" y="12700"/>
                </a:lnTo>
                <a:close/>
              </a:path>
              <a:path w="1545590" h="2487295">
                <a:moveTo>
                  <a:pt x="1532674" y="2480792"/>
                </a:moveTo>
                <a:lnTo>
                  <a:pt x="1532674" y="6350"/>
                </a:lnTo>
                <a:lnTo>
                  <a:pt x="1539024" y="12700"/>
                </a:lnTo>
                <a:lnTo>
                  <a:pt x="1545374" y="12700"/>
                </a:lnTo>
                <a:lnTo>
                  <a:pt x="1545374" y="2474442"/>
                </a:lnTo>
                <a:lnTo>
                  <a:pt x="1539024" y="2474442"/>
                </a:lnTo>
                <a:lnTo>
                  <a:pt x="1532674" y="2480792"/>
                </a:lnTo>
                <a:close/>
              </a:path>
              <a:path w="1545590" h="2487295">
                <a:moveTo>
                  <a:pt x="1545374" y="12700"/>
                </a:moveTo>
                <a:lnTo>
                  <a:pt x="1539024" y="12700"/>
                </a:lnTo>
                <a:lnTo>
                  <a:pt x="1532674" y="6350"/>
                </a:lnTo>
                <a:lnTo>
                  <a:pt x="1545374" y="6350"/>
                </a:lnTo>
                <a:lnTo>
                  <a:pt x="1545374" y="12700"/>
                </a:lnTo>
                <a:close/>
              </a:path>
              <a:path w="1545590" h="2487295">
                <a:moveTo>
                  <a:pt x="12700" y="2480792"/>
                </a:moveTo>
                <a:lnTo>
                  <a:pt x="6350" y="2474442"/>
                </a:lnTo>
                <a:lnTo>
                  <a:pt x="12700" y="2474442"/>
                </a:lnTo>
                <a:lnTo>
                  <a:pt x="12700" y="2480792"/>
                </a:lnTo>
                <a:close/>
              </a:path>
              <a:path w="1545590" h="2487295">
                <a:moveTo>
                  <a:pt x="1532674" y="2480792"/>
                </a:moveTo>
                <a:lnTo>
                  <a:pt x="12700" y="2480792"/>
                </a:lnTo>
                <a:lnTo>
                  <a:pt x="12700" y="2474442"/>
                </a:lnTo>
                <a:lnTo>
                  <a:pt x="1532674" y="2474442"/>
                </a:lnTo>
                <a:lnTo>
                  <a:pt x="1532674" y="2480792"/>
                </a:lnTo>
                <a:close/>
              </a:path>
              <a:path w="1545590" h="2487295">
                <a:moveTo>
                  <a:pt x="1545374" y="2480792"/>
                </a:moveTo>
                <a:lnTo>
                  <a:pt x="1532674" y="2480792"/>
                </a:lnTo>
                <a:lnTo>
                  <a:pt x="1539024" y="2474442"/>
                </a:lnTo>
                <a:lnTo>
                  <a:pt x="1545374" y="2474442"/>
                </a:lnTo>
                <a:lnTo>
                  <a:pt x="1545374" y="2480792"/>
                </a:lnTo>
                <a:close/>
              </a:path>
            </a:pathLst>
          </a:custGeom>
          <a:solidFill>
            <a:srgbClr val="C00000"/>
          </a:solidFill>
        </p:spPr>
        <p:txBody>
          <a:bodyPr wrap="square" lIns="0" tIns="0" rIns="0" bIns="0" rtlCol="0"/>
          <a:lstStyle/>
          <a:p/>
        </p:txBody>
      </p:sp>
      <p:sp>
        <p:nvSpPr>
          <p:cNvPr id="111" name="object 111"/>
          <p:cNvSpPr txBox="1"/>
          <p:nvPr/>
        </p:nvSpPr>
        <p:spPr>
          <a:xfrm>
            <a:off x="9680841" y="1366520"/>
            <a:ext cx="71120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微软雅黑" panose="020B0503020204020204" charset="-122"/>
                <a:cs typeface="微软雅黑" panose="020B0503020204020204" charset="-122"/>
              </a:rPr>
              <a:t>常开域</a:t>
            </a:r>
            <a:endParaRPr sz="1800">
              <a:latin typeface="微软雅黑" panose="020B0503020204020204" charset="-122"/>
              <a:cs typeface="微软雅黑" panose="020B0503020204020204" charset="-122"/>
            </a:endParaRPr>
          </a:p>
        </p:txBody>
      </p:sp>
      <p:sp>
        <p:nvSpPr>
          <p:cNvPr id="112" name="object 112"/>
          <p:cNvSpPr/>
          <p:nvPr/>
        </p:nvSpPr>
        <p:spPr>
          <a:xfrm>
            <a:off x="9407652" y="1757172"/>
            <a:ext cx="1259205" cy="417830"/>
          </a:xfrm>
          <a:custGeom>
            <a:avLst/>
            <a:gdLst/>
            <a:ahLst/>
            <a:cxnLst/>
            <a:rect l="l" t="t" r="r" b="b"/>
            <a:pathLst>
              <a:path w="1259204" h="417830">
                <a:moveTo>
                  <a:pt x="0" y="0"/>
                </a:moveTo>
                <a:lnTo>
                  <a:pt x="1258824" y="0"/>
                </a:lnTo>
                <a:lnTo>
                  <a:pt x="1258824" y="417575"/>
                </a:lnTo>
                <a:lnTo>
                  <a:pt x="0" y="417575"/>
                </a:lnTo>
                <a:lnTo>
                  <a:pt x="0" y="0"/>
                </a:lnTo>
                <a:close/>
              </a:path>
            </a:pathLst>
          </a:custGeom>
          <a:solidFill>
            <a:srgbClr val="D9D9D9"/>
          </a:solidFill>
        </p:spPr>
        <p:txBody>
          <a:bodyPr wrap="square" lIns="0" tIns="0" rIns="0" bIns="0" rtlCol="0"/>
          <a:lstStyle/>
          <a:p/>
        </p:txBody>
      </p:sp>
      <p:sp>
        <p:nvSpPr>
          <p:cNvPr id="113" name="object 113"/>
          <p:cNvSpPr/>
          <p:nvPr/>
        </p:nvSpPr>
        <p:spPr>
          <a:xfrm>
            <a:off x="9400933" y="1751266"/>
            <a:ext cx="1271270" cy="429259"/>
          </a:xfrm>
          <a:custGeom>
            <a:avLst/>
            <a:gdLst/>
            <a:ahLst/>
            <a:cxnLst/>
            <a:rect l="l" t="t" r="r" b="b"/>
            <a:pathLst>
              <a:path w="1271270" h="429260">
                <a:moveTo>
                  <a:pt x="1271231" y="429221"/>
                </a:moveTo>
                <a:lnTo>
                  <a:pt x="0" y="429221"/>
                </a:lnTo>
                <a:lnTo>
                  <a:pt x="0" y="0"/>
                </a:lnTo>
                <a:lnTo>
                  <a:pt x="1271231" y="0"/>
                </a:lnTo>
                <a:lnTo>
                  <a:pt x="1271231" y="6350"/>
                </a:lnTo>
                <a:lnTo>
                  <a:pt x="12700" y="6350"/>
                </a:lnTo>
                <a:lnTo>
                  <a:pt x="6350" y="12700"/>
                </a:lnTo>
                <a:lnTo>
                  <a:pt x="12700" y="12700"/>
                </a:lnTo>
                <a:lnTo>
                  <a:pt x="12700" y="416521"/>
                </a:lnTo>
                <a:lnTo>
                  <a:pt x="6350" y="416521"/>
                </a:lnTo>
                <a:lnTo>
                  <a:pt x="12700" y="422871"/>
                </a:lnTo>
                <a:lnTo>
                  <a:pt x="1271231" y="422871"/>
                </a:lnTo>
                <a:lnTo>
                  <a:pt x="1271231" y="429221"/>
                </a:lnTo>
                <a:close/>
              </a:path>
              <a:path w="1271270" h="429260">
                <a:moveTo>
                  <a:pt x="12700" y="12700"/>
                </a:moveTo>
                <a:lnTo>
                  <a:pt x="6350" y="12700"/>
                </a:lnTo>
                <a:lnTo>
                  <a:pt x="12700" y="6350"/>
                </a:lnTo>
                <a:lnTo>
                  <a:pt x="12700" y="12700"/>
                </a:lnTo>
                <a:close/>
              </a:path>
              <a:path w="1271270" h="429260">
                <a:moveTo>
                  <a:pt x="1258531" y="12700"/>
                </a:moveTo>
                <a:lnTo>
                  <a:pt x="12700" y="12700"/>
                </a:lnTo>
                <a:lnTo>
                  <a:pt x="12700" y="6350"/>
                </a:lnTo>
                <a:lnTo>
                  <a:pt x="1258531" y="6350"/>
                </a:lnTo>
                <a:lnTo>
                  <a:pt x="1258531" y="12700"/>
                </a:lnTo>
                <a:close/>
              </a:path>
              <a:path w="1271270" h="429260">
                <a:moveTo>
                  <a:pt x="1258531" y="422871"/>
                </a:moveTo>
                <a:lnTo>
                  <a:pt x="1258531" y="6350"/>
                </a:lnTo>
                <a:lnTo>
                  <a:pt x="1264881" y="12700"/>
                </a:lnTo>
                <a:lnTo>
                  <a:pt x="1271231" y="12700"/>
                </a:lnTo>
                <a:lnTo>
                  <a:pt x="1271231" y="416521"/>
                </a:lnTo>
                <a:lnTo>
                  <a:pt x="1264881" y="416521"/>
                </a:lnTo>
                <a:lnTo>
                  <a:pt x="1258531" y="422871"/>
                </a:lnTo>
                <a:close/>
              </a:path>
              <a:path w="1271270" h="429260">
                <a:moveTo>
                  <a:pt x="1271231" y="12700"/>
                </a:moveTo>
                <a:lnTo>
                  <a:pt x="1264881" y="12700"/>
                </a:lnTo>
                <a:lnTo>
                  <a:pt x="1258531" y="6350"/>
                </a:lnTo>
                <a:lnTo>
                  <a:pt x="1271231" y="6350"/>
                </a:lnTo>
                <a:lnTo>
                  <a:pt x="1271231" y="12700"/>
                </a:lnTo>
                <a:close/>
              </a:path>
              <a:path w="1271270" h="429260">
                <a:moveTo>
                  <a:pt x="12700" y="422871"/>
                </a:moveTo>
                <a:lnTo>
                  <a:pt x="6350" y="416521"/>
                </a:lnTo>
                <a:lnTo>
                  <a:pt x="12700" y="416521"/>
                </a:lnTo>
                <a:lnTo>
                  <a:pt x="12700" y="422871"/>
                </a:lnTo>
                <a:close/>
              </a:path>
              <a:path w="1271270" h="429260">
                <a:moveTo>
                  <a:pt x="1258531" y="422871"/>
                </a:moveTo>
                <a:lnTo>
                  <a:pt x="12700" y="422871"/>
                </a:lnTo>
                <a:lnTo>
                  <a:pt x="12700" y="416521"/>
                </a:lnTo>
                <a:lnTo>
                  <a:pt x="1258531" y="416521"/>
                </a:lnTo>
                <a:lnTo>
                  <a:pt x="1258531" y="422871"/>
                </a:lnTo>
                <a:close/>
              </a:path>
              <a:path w="1271270" h="429260">
                <a:moveTo>
                  <a:pt x="1271231" y="422871"/>
                </a:moveTo>
                <a:lnTo>
                  <a:pt x="1258531" y="422871"/>
                </a:lnTo>
                <a:lnTo>
                  <a:pt x="1264881" y="416521"/>
                </a:lnTo>
                <a:lnTo>
                  <a:pt x="1271231" y="416521"/>
                </a:lnTo>
                <a:lnTo>
                  <a:pt x="1271231" y="422871"/>
                </a:lnTo>
                <a:close/>
              </a:path>
            </a:pathLst>
          </a:custGeom>
          <a:solidFill>
            <a:srgbClr val="C00000"/>
          </a:solidFill>
        </p:spPr>
        <p:txBody>
          <a:bodyPr wrap="square" lIns="0" tIns="0" rIns="0" bIns="0" rtlCol="0"/>
          <a:lstStyle/>
          <a:p/>
        </p:txBody>
      </p:sp>
      <p:sp>
        <p:nvSpPr>
          <p:cNvPr id="114" name="object 114"/>
          <p:cNvSpPr txBox="1"/>
          <p:nvPr/>
        </p:nvSpPr>
        <p:spPr>
          <a:xfrm>
            <a:off x="9407652" y="1834451"/>
            <a:ext cx="1259205" cy="240029"/>
          </a:xfrm>
          <a:prstGeom prst="rect">
            <a:avLst/>
          </a:prstGeom>
        </p:spPr>
        <p:txBody>
          <a:bodyPr vert="horz" wrap="square" lIns="0" tIns="13335" rIns="0" bIns="0" rtlCol="0">
            <a:spAutoFit/>
          </a:bodyPr>
          <a:lstStyle/>
          <a:p>
            <a:pPr marL="409575">
              <a:lnSpc>
                <a:spcPct val="100000"/>
              </a:lnSpc>
              <a:spcBef>
                <a:spcPts val="105"/>
              </a:spcBef>
            </a:pPr>
            <a:r>
              <a:rPr sz="1400" b="1" dirty="0">
                <a:solidFill>
                  <a:srgbClr val="C00000"/>
                </a:solidFill>
                <a:latin typeface="微软雅黑" panose="020B0503020204020204" charset="-122"/>
                <a:cs typeface="微软雅黑" panose="020B0503020204020204" charset="-122"/>
              </a:rPr>
              <a:t>PMU</a:t>
            </a:r>
            <a:endParaRPr sz="1400">
              <a:latin typeface="微软雅黑" panose="020B0503020204020204" charset="-122"/>
              <a:cs typeface="微软雅黑" panose="020B0503020204020204" charset="-122"/>
            </a:endParaRPr>
          </a:p>
        </p:txBody>
      </p:sp>
      <p:sp>
        <p:nvSpPr>
          <p:cNvPr id="115" name="object 115"/>
          <p:cNvSpPr/>
          <p:nvPr/>
        </p:nvSpPr>
        <p:spPr>
          <a:xfrm>
            <a:off x="9407652" y="2276855"/>
            <a:ext cx="1259205" cy="416559"/>
          </a:xfrm>
          <a:custGeom>
            <a:avLst/>
            <a:gdLst/>
            <a:ahLst/>
            <a:cxnLst/>
            <a:rect l="l" t="t" r="r" b="b"/>
            <a:pathLst>
              <a:path w="1259204" h="416560">
                <a:moveTo>
                  <a:pt x="0" y="0"/>
                </a:moveTo>
                <a:lnTo>
                  <a:pt x="1258824" y="0"/>
                </a:lnTo>
                <a:lnTo>
                  <a:pt x="1258824" y="416052"/>
                </a:lnTo>
                <a:lnTo>
                  <a:pt x="0" y="416052"/>
                </a:lnTo>
                <a:lnTo>
                  <a:pt x="0" y="0"/>
                </a:lnTo>
                <a:close/>
              </a:path>
            </a:pathLst>
          </a:custGeom>
          <a:solidFill>
            <a:srgbClr val="D9D9D9"/>
          </a:solidFill>
        </p:spPr>
        <p:txBody>
          <a:bodyPr wrap="square" lIns="0" tIns="0" rIns="0" bIns="0" rtlCol="0"/>
          <a:lstStyle/>
          <a:p/>
        </p:txBody>
      </p:sp>
      <p:sp>
        <p:nvSpPr>
          <p:cNvPr id="116" name="object 116"/>
          <p:cNvSpPr/>
          <p:nvPr/>
        </p:nvSpPr>
        <p:spPr>
          <a:xfrm>
            <a:off x="9400933" y="2270048"/>
            <a:ext cx="1271270" cy="429259"/>
          </a:xfrm>
          <a:custGeom>
            <a:avLst/>
            <a:gdLst/>
            <a:ahLst/>
            <a:cxnLst/>
            <a:rect l="l" t="t" r="r" b="b"/>
            <a:pathLst>
              <a:path w="1271270" h="429260">
                <a:moveTo>
                  <a:pt x="1271231" y="429234"/>
                </a:moveTo>
                <a:lnTo>
                  <a:pt x="0" y="429234"/>
                </a:lnTo>
                <a:lnTo>
                  <a:pt x="0" y="0"/>
                </a:lnTo>
                <a:lnTo>
                  <a:pt x="1271231" y="0"/>
                </a:lnTo>
                <a:lnTo>
                  <a:pt x="1271231" y="6349"/>
                </a:lnTo>
                <a:lnTo>
                  <a:pt x="12700" y="6349"/>
                </a:lnTo>
                <a:lnTo>
                  <a:pt x="6350" y="12699"/>
                </a:lnTo>
                <a:lnTo>
                  <a:pt x="12700" y="12699"/>
                </a:lnTo>
                <a:lnTo>
                  <a:pt x="12700" y="416534"/>
                </a:lnTo>
                <a:lnTo>
                  <a:pt x="6350" y="416534"/>
                </a:lnTo>
                <a:lnTo>
                  <a:pt x="12700" y="422884"/>
                </a:lnTo>
                <a:lnTo>
                  <a:pt x="1271231" y="422884"/>
                </a:lnTo>
                <a:lnTo>
                  <a:pt x="1271231" y="429234"/>
                </a:lnTo>
                <a:close/>
              </a:path>
              <a:path w="1271270" h="429260">
                <a:moveTo>
                  <a:pt x="12700" y="12699"/>
                </a:moveTo>
                <a:lnTo>
                  <a:pt x="6350" y="12699"/>
                </a:lnTo>
                <a:lnTo>
                  <a:pt x="12700" y="6349"/>
                </a:lnTo>
                <a:lnTo>
                  <a:pt x="12700" y="12699"/>
                </a:lnTo>
                <a:close/>
              </a:path>
              <a:path w="1271270" h="429260">
                <a:moveTo>
                  <a:pt x="1258531" y="12699"/>
                </a:moveTo>
                <a:lnTo>
                  <a:pt x="12700" y="12699"/>
                </a:lnTo>
                <a:lnTo>
                  <a:pt x="12700" y="6349"/>
                </a:lnTo>
                <a:lnTo>
                  <a:pt x="1258531" y="6349"/>
                </a:lnTo>
                <a:lnTo>
                  <a:pt x="1258531" y="12699"/>
                </a:lnTo>
                <a:close/>
              </a:path>
              <a:path w="1271270" h="429260">
                <a:moveTo>
                  <a:pt x="1258531" y="422884"/>
                </a:moveTo>
                <a:lnTo>
                  <a:pt x="1258531" y="6349"/>
                </a:lnTo>
                <a:lnTo>
                  <a:pt x="1264881" y="12699"/>
                </a:lnTo>
                <a:lnTo>
                  <a:pt x="1271231" y="12699"/>
                </a:lnTo>
                <a:lnTo>
                  <a:pt x="1271231" y="416534"/>
                </a:lnTo>
                <a:lnTo>
                  <a:pt x="1264881" y="416534"/>
                </a:lnTo>
                <a:lnTo>
                  <a:pt x="1258531" y="422884"/>
                </a:lnTo>
                <a:close/>
              </a:path>
              <a:path w="1271270" h="429260">
                <a:moveTo>
                  <a:pt x="1271231" y="12699"/>
                </a:moveTo>
                <a:lnTo>
                  <a:pt x="1264881" y="12699"/>
                </a:lnTo>
                <a:lnTo>
                  <a:pt x="1258531" y="6349"/>
                </a:lnTo>
                <a:lnTo>
                  <a:pt x="1271231" y="6349"/>
                </a:lnTo>
                <a:lnTo>
                  <a:pt x="1271231" y="12699"/>
                </a:lnTo>
                <a:close/>
              </a:path>
              <a:path w="1271270" h="429260">
                <a:moveTo>
                  <a:pt x="12700" y="422884"/>
                </a:moveTo>
                <a:lnTo>
                  <a:pt x="6350" y="416534"/>
                </a:lnTo>
                <a:lnTo>
                  <a:pt x="12700" y="416534"/>
                </a:lnTo>
                <a:lnTo>
                  <a:pt x="12700" y="422884"/>
                </a:lnTo>
                <a:close/>
              </a:path>
              <a:path w="1271270" h="429260">
                <a:moveTo>
                  <a:pt x="1258531" y="422884"/>
                </a:moveTo>
                <a:lnTo>
                  <a:pt x="12700" y="422884"/>
                </a:lnTo>
                <a:lnTo>
                  <a:pt x="12700" y="416534"/>
                </a:lnTo>
                <a:lnTo>
                  <a:pt x="1258531" y="416534"/>
                </a:lnTo>
                <a:lnTo>
                  <a:pt x="1258531" y="422884"/>
                </a:lnTo>
                <a:close/>
              </a:path>
              <a:path w="1271270" h="429260">
                <a:moveTo>
                  <a:pt x="1271231" y="422884"/>
                </a:moveTo>
                <a:lnTo>
                  <a:pt x="1258531" y="422884"/>
                </a:lnTo>
                <a:lnTo>
                  <a:pt x="1264881" y="416534"/>
                </a:lnTo>
                <a:lnTo>
                  <a:pt x="1271231" y="416534"/>
                </a:lnTo>
                <a:lnTo>
                  <a:pt x="1271231" y="422884"/>
                </a:lnTo>
                <a:close/>
              </a:path>
            </a:pathLst>
          </a:custGeom>
          <a:solidFill>
            <a:srgbClr val="C00000"/>
          </a:solidFill>
        </p:spPr>
        <p:txBody>
          <a:bodyPr wrap="square" lIns="0" tIns="0" rIns="0" bIns="0" rtlCol="0"/>
          <a:lstStyle/>
          <a:p/>
        </p:txBody>
      </p:sp>
      <p:sp>
        <p:nvSpPr>
          <p:cNvPr id="117" name="object 117"/>
          <p:cNvSpPr txBox="1"/>
          <p:nvPr/>
        </p:nvSpPr>
        <p:spPr>
          <a:xfrm>
            <a:off x="9407652" y="2353233"/>
            <a:ext cx="1259205" cy="240029"/>
          </a:xfrm>
          <a:prstGeom prst="rect">
            <a:avLst/>
          </a:prstGeom>
        </p:spPr>
        <p:txBody>
          <a:bodyPr vert="horz" wrap="square" lIns="0" tIns="13335" rIns="0" bIns="0" rtlCol="0">
            <a:spAutoFit/>
          </a:bodyPr>
          <a:lstStyle/>
          <a:p>
            <a:pPr marL="157480">
              <a:lnSpc>
                <a:spcPct val="100000"/>
              </a:lnSpc>
              <a:spcBef>
                <a:spcPts val="105"/>
              </a:spcBef>
            </a:pPr>
            <a:r>
              <a:rPr sz="1400" b="1" spc="-15" dirty="0">
                <a:solidFill>
                  <a:srgbClr val="C00000"/>
                </a:solidFill>
                <a:latin typeface="微软雅黑" panose="020B0503020204020204" charset="-122"/>
                <a:cs typeface="微软雅黑" panose="020B0503020204020204" charset="-122"/>
              </a:rPr>
              <a:t>WatchDog</a:t>
            </a:r>
            <a:endParaRPr sz="1400">
              <a:latin typeface="微软雅黑" panose="020B0503020204020204" charset="-122"/>
              <a:cs typeface="微软雅黑" panose="020B0503020204020204" charset="-122"/>
            </a:endParaRPr>
          </a:p>
        </p:txBody>
      </p:sp>
      <p:sp>
        <p:nvSpPr>
          <p:cNvPr id="118" name="object 118"/>
          <p:cNvSpPr/>
          <p:nvPr/>
        </p:nvSpPr>
        <p:spPr>
          <a:xfrm>
            <a:off x="9406128" y="2795016"/>
            <a:ext cx="1259205" cy="416559"/>
          </a:xfrm>
          <a:custGeom>
            <a:avLst/>
            <a:gdLst/>
            <a:ahLst/>
            <a:cxnLst/>
            <a:rect l="l" t="t" r="r" b="b"/>
            <a:pathLst>
              <a:path w="1259204" h="416560">
                <a:moveTo>
                  <a:pt x="0" y="0"/>
                </a:moveTo>
                <a:lnTo>
                  <a:pt x="1258824" y="0"/>
                </a:lnTo>
                <a:lnTo>
                  <a:pt x="1258824" y="416051"/>
                </a:lnTo>
                <a:lnTo>
                  <a:pt x="0" y="416051"/>
                </a:lnTo>
                <a:lnTo>
                  <a:pt x="0" y="0"/>
                </a:lnTo>
                <a:close/>
              </a:path>
            </a:pathLst>
          </a:custGeom>
          <a:solidFill>
            <a:srgbClr val="D9D9D9"/>
          </a:solidFill>
        </p:spPr>
        <p:txBody>
          <a:bodyPr wrap="square" lIns="0" tIns="0" rIns="0" bIns="0" rtlCol="0"/>
          <a:lstStyle/>
          <a:p/>
        </p:txBody>
      </p:sp>
      <p:sp>
        <p:nvSpPr>
          <p:cNvPr id="119" name="object 119"/>
          <p:cNvSpPr/>
          <p:nvPr/>
        </p:nvSpPr>
        <p:spPr>
          <a:xfrm>
            <a:off x="9400337" y="2788843"/>
            <a:ext cx="1271270" cy="429259"/>
          </a:xfrm>
          <a:custGeom>
            <a:avLst/>
            <a:gdLst/>
            <a:ahLst/>
            <a:cxnLst/>
            <a:rect l="l" t="t" r="r" b="b"/>
            <a:pathLst>
              <a:path w="1271270" h="429260">
                <a:moveTo>
                  <a:pt x="1271231" y="429221"/>
                </a:moveTo>
                <a:lnTo>
                  <a:pt x="0" y="429221"/>
                </a:lnTo>
                <a:lnTo>
                  <a:pt x="0" y="0"/>
                </a:lnTo>
                <a:lnTo>
                  <a:pt x="1271231" y="0"/>
                </a:lnTo>
                <a:lnTo>
                  <a:pt x="1271231" y="6350"/>
                </a:lnTo>
                <a:lnTo>
                  <a:pt x="12700" y="6350"/>
                </a:lnTo>
                <a:lnTo>
                  <a:pt x="6350" y="12700"/>
                </a:lnTo>
                <a:lnTo>
                  <a:pt x="12700" y="12700"/>
                </a:lnTo>
                <a:lnTo>
                  <a:pt x="12700" y="416521"/>
                </a:lnTo>
                <a:lnTo>
                  <a:pt x="6350" y="416521"/>
                </a:lnTo>
                <a:lnTo>
                  <a:pt x="12700" y="422871"/>
                </a:lnTo>
                <a:lnTo>
                  <a:pt x="1271231" y="422871"/>
                </a:lnTo>
                <a:lnTo>
                  <a:pt x="1271231" y="429221"/>
                </a:lnTo>
                <a:close/>
              </a:path>
              <a:path w="1271270" h="429260">
                <a:moveTo>
                  <a:pt x="12700" y="12700"/>
                </a:moveTo>
                <a:lnTo>
                  <a:pt x="6350" y="12700"/>
                </a:lnTo>
                <a:lnTo>
                  <a:pt x="12700" y="6350"/>
                </a:lnTo>
                <a:lnTo>
                  <a:pt x="12700" y="12700"/>
                </a:lnTo>
                <a:close/>
              </a:path>
              <a:path w="1271270" h="429260">
                <a:moveTo>
                  <a:pt x="1258531" y="12700"/>
                </a:moveTo>
                <a:lnTo>
                  <a:pt x="12700" y="12700"/>
                </a:lnTo>
                <a:lnTo>
                  <a:pt x="12700" y="6350"/>
                </a:lnTo>
                <a:lnTo>
                  <a:pt x="1258531" y="6350"/>
                </a:lnTo>
                <a:lnTo>
                  <a:pt x="1258531" y="12700"/>
                </a:lnTo>
                <a:close/>
              </a:path>
              <a:path w="1271270" h="429260">
                <a:moveTo>
                  <a:pt x="1258531" y="422871"/>
                </a:moveTo>
                <a:lnTo>
                  <a:pt x="1258531" y="6350"/>
                </a:lnTo>
                <a:lnTo>
                  <a:pt x="1264881" y="12700"/>
                </a:lnTo>
                <a:lnTo>
                  <a:pt x="1271231" y="12700"/>
                </a:lnTo>
                <a:lnTo>
                  <a:pt x="1271231" y="416521"/>
                </a:lnTo>
                <a:lnTo>
                  <a:pt x="1264881" y="416521"/>
                </a:lnTo>
                <a:lnTo>
                  <a:pt x="1258531" y="422871"/>
                </a:lnTo>
                <a:close/>
              </a:path>
              <a:path w="1271270" h="429260">
                <a:moveTo>
                  <a:pt x="1271231" y="12700"/>
                </a:moveTo>
                <a:lnTo>
                  <a:pt x="1264881" y="12700"/>
                </a:lnTo>
                <a:lnTo>
                  <a:pt x="1258531" y="6350"/>
                </a:lnTo>
                <a:lnTo>
                  <a:pt x="1271231" y="6350"/>
                </a:lnTo>
                <a:lnTo>
                  <a:pt x="1271231" y="12700"/>
                </a:lnTo>
                <a:close/>
              </a:path>
              <a:path w="1271270" h="429260">
                <a:moveTo>
                  <a:pt x="12700" y="422871"/>
                </a:moveTo>
                <a:lnTo>
                  <a:pt x="6350" y="416521"/>
                </a:lnTo>
                <a:lnTo>
                  <a:pt x="12700" y="416521"/>
                </a:lnTo>
                <a:lnTo>
                  <a:pt x="12700" y="422871"/>
                </a:lnTo>
                <a:close/>
              </a:path>
              <a:path w="1271270" h="429260">
                <a:moveTo>
                  <a:pt x="1258531" y="422871"/>
                </a:moveTo>
                <a:lnTo>
                  <a:pt x="12700" y="422871"/>
                </a:lnTo>
                <a:lnTo>
                  <a:pt x="12700" y="416521"/>
                </a:lnTo>
                <a:lnTo>
                  <a:pt x="1258531" y="416521"/>
                </a:lnTo>
                <a:lnTo>
                  <a:pt x="1258531" y="422871"/>
                </a:lnTo>
                <a:close/>
              </a:path>
              <a:path w="1271270" h="429260">
                <a:moveTo>
                  <a:pt x="1271231" y="422871"/>
                </a:moveTo>
                <a:lnTo>
                  <a:pt x="1258531" y="422871"/>
                </a:lnTo>
                <a:lnTo>
                  <a:pt x="1264881" y="416521"/>
                </a:lnTo>
                <a:lnTo>
                  <a:pt x="1271231" y="416521"/>
                </a:lnTo>
                <a:lnTo>
                  <a:pt x="1271231" y="422871"/>
                </a:lnTo>
                <a:close/>
              </a:path>
            </a:pathLst>
          </a:custGeom>
          <a:solidFill>
            <a:srgbClr val="C00000"/>
          </a:solidFill>
        </p:spPr>
        <p:txBody>
          <a:bodyPr wrap="square" lIns="0" tIns="0" rIns="0" bIns="0" rtlCol="0"/>
          <a:lstStyle/>
          <a:p/>
        </p:txBody>
      </p:sp>
      <p:sp>
        <p:nvSpPr>
          <p:cNvPr id="120" name="object 120"/>
          <p:cNvSpPr txBox="1"/>
          <p:nvPr/>
        </p:nvSpPr>
        <p:spPr>
          <a:xfrm>
            <a:off x="9406128" y="2872028"/>
            <a:ext cx="1259205" cy="240029"/>
          </a:xfrm>
          <a:prstGeom prst="rect">
            <a:avLst/>
          </a:prstGeom>
        </p:spPr>
        <p:txBody>
          <a:bodyPr vert="horz" wrap="square" lIns="0" tIns="13335" rIns="0" bIns="0" rtlCol="0">
            <a:spAutoFit/>
          </a:bodyPr>
          <a:lstStyle/>
          <a:p>
            <a:pPr algn="ctr">
              <a:lnSpc>
                <a:spcPct val="100000"/>
              </a:lnSpc>
              <a:spcBef>
                <a:spcPts val="105"/>
              </a:spcBef>
            </a:pPr>
            <a:r>
              <a:rPr sz="1400" b="1" spc="-30" dirty="0">
                <a:solidFill>
                  <a:srgbClr val="C00000"/>
                </a:solidFill>
                <a:latin typeface="微软雅黑" panose="020B0503020204020204" charset="-122"/>
                <a:cs typeface="微软雅黑" panose="020B0503020204020204" charset="-122"/>
              </a:rPr>
              <a:t>RTC</a:t>
            </a:r>
            <a:endParaRPr sz="1400">
              <a:latin typeface="微软雅黑" panose="020B0503020204020204" charset="-122"/>
              <a:cs typeface="微软雅黑" panose="020B0503020204020204" charset="-122"/>
            </a:endParaRPr>
          </a:p>
        </p:txBody>
      </p:sp>
      <p:sp>
        <p:nvSpPr>
          <p:cNvPr id="121" name="object 121"/>
          <p:cNvSpPr/>
          <p:nvPr/>
        </p:nvSpPr>
        <p:spPr>
          <a:xfrm>
            <a:off x="9406128" y="3314700"/>
            <a:ext cx="1259205" cy="416559"/>
          </a:xfrm>
          <a:custGeom>
            <a:avLst/>
            <a:gdLst/>
            <a:ahLst/>
            <a:cxnLst/>
            <a:rect l="l" t="t" r="r" b="b"/>
            <a:pathLst>
              <a:path w="1259204" h="416560">
                <a:moveTo>
                  <a:pt x="0" y="0"/>
                </a:moveTo>
                <a:lnTo>
                  <a:pt x="1258824" y="0"/>
                </a:lnTo>
                <a:lnTo>
                  <a:pt x="1258824" y="416051"/>
                </a:lnTo>
                <a:lnTo>
                  <a:pt x="0" y="416051"/>
                </a:lnTo>
                <a:lnTo>
                  <a:pt x="0" y="0"/>
                </a:lnTo>
                <a:close/>
              </a:path>
            </a:pathLst>
          </a:custGeom>
          <a:solidFill>
            <a:srgbClr val="D9D9D9"/>
          </a:solidFill>
        </p:spPr>
        <p:txBody>
          <a:bodyPr wrap="square" lIns="0" tIns="0" rIns="0" bIns="0" rtlCol="0"/>
          <a:lstStyle/>
          <a:p/>
        </p:txBody>
      </p:sp>
      <p:sp>
        <p:nvSpPr>
          <p:cNvPr id="122" name="object 122"/>
          <p:cNvSpPr/>
          <p:nvPr/>
        </p:nvSpPr>
        <p:spPr>
          <a:xfrm>
            <a:off x="9400337" y="3307626"/>
            <a:ext cx="1271270" cy="429259"/>
          </a:xfrm>
          <a:custGeom>
            <a:avLst/>
            <a:gdLst/>
            <a:ahLst/>
            <a:cxnLst/>
            <a:rect l="l" t="t" r="r" b="b"/>
            <a:pathLst>
              <a:path w="1271270" h="429260">
                <a:moveTo>
                  <a:pt x="1271231" y="429221"/>
                </a:moveTo>
                <a:lnTo>
                  <a:pt x="0" y="429221"/>
                </a:lnTo>
                <a:lnTo>
                  <a:pt x="0" y="0"/>
                </a:lnTo>
                <a:lnTo>
                  <a:pt x="1271231" y="0"/>
                </a:lnTo>
                <a:lnTo>
                  <a:pt x="1271231" y="6350"/>
                </a:lnTo>
                <a:lnTo>
                  <a:pt x="12700" y="6350"/>
                </a:lnTo>
                <a:lnTo>
                  <a:pt x="6350" y="12700"/>
                </a:lnTo>
                <a:lnTo>
                  <a:pt x="12700" y="12700"/>
                </a:lnTo>
                <a:lnTo>
                  <a:pt x="12700" y="416521"/>
                </a:lnTo>
                <a:lnTo>
                  <a:pt x="6350" y="416521"/>
                </a:lnTo>
                <a:lnTo>
                  <a:pt x="12700" y="422871"/>
                </a:lnTo>
                <a:lnTo>
                  <a:pt x="1271231" y="422871"/>
                </a:lnTo>
                <a:lnTo>
                  <a:pt x="1271231" y="429221"/>
                </a:lnTo>
                <a:close/>
              </a:path>
              <a:path w="1271270" h="429260">
                <a:moveTo>
                  <a:pt x="12700" y="12700"/>
                </a:moveTo>
                <a:lnTo>
                  <a:pt x="6350" y="12700"/>
                </a:lnTo>
                <a:lnTo>
                  <a:pt x="12700" y="6350"/>
                </a:lnTo>
                <a:lnTo>
                  <a:pt x="12700" y="12700"/>
                </a:lnTo>
                <a:close/>
              </a:path>
              <a:path w="1271270" h="429260">
                <a:moveTo>
                  <a:pt x="1258531" y="12700"/>
                </a:moveTo>
                <a:lnTo>
                  <a:pt x="12700" y="12700"/>
                </a:lnTo>
                <a:lnTo>
                  <a:pt x="12700" y="6350"/>
                </a:lnTo>
                <a:lnTo>
                  <a:pt x="1258531" y="6350"/>
                </a:lnTo>
                <a:lnTo>
                  <a:pt x="1258531" y="12700"/>
                </a:lnTo>
                <a:close/>
              </a:path>
              <a:path w="1271270" h="429260">
                <a:moveTo>
                  <a:pt x="1258531" y="422871"/>
                </a:moveTo>
                <a:lnTo>
                  <a:pt x="1258531" y="6350"/>
                </a:lnTo>
                <a:lnTo>
                  <a:pt x="1264881" y="12700"/>
                </a:lnTo>
                <a:lnTo>
                  <a:pt x="1271231" y="12700"/>
                </a:lnTo>
                <a:lnTo>
                  <a:pt x="1271231" y="416521"/>
                </a:lnTo>
                <a:lnTo>
                  <a:pt x="1264881" y="416521"/>
                </a:lnTo>
                <a:lnTo>
                  <a:pt x="1258531" y="422871"/>
                </a:lnTo>
                <a:close/>
              </a:path>
              <a:path w="1271270" h="429260">
                <a:moveTo>
                  <a:pt x="1271231" y="12700"/>
                </a:moveTo>
                <a:lnTo>
                  <a:pt x="1264881" y="12700"/>
                </a:lnTo>
                <a:lnTo>
                  <a:pt x="1258531" y="6350"/>
                </a:lnTo>
                <a:lnTo>
                  <a:pt x="1271231" y="6350"/>
                </a:lnTo>
                <a:lnTo>
                  <a:pt x="1271231" y="12700"/>
                </a:lnTo>
                <a:close/>
              </a:path>
              <a:path w="1271270" h="429260">
                <a:moveTo>
                  <a:pt x="12700" y="422871"/>
                </a:moveTo>
                <a:lnTo>
                  <a:pt x="6350" y="416521"/>
                </a:lnTo>
                <a:lnTo>
                  <a:pt x="12700" y="416521"/>
                </a:lnTo>
                <a:lnTo>
                  <a:pt x="12700" y="422871"/>
                </a:lnTo>
                <a:close/>
              </a:path>
              <a:path w="1271270" h="429260">
                <a:moveTo>
                  <a:pt x="1258531" y="422871"/>
                </a:moveTo>
                <a:lnTo>
                  <a:pt x="12700" y="422871"/>
                </a:lnTo>
                <a:lnTo>
                  <a:pt x="12700" y="416521"/>
                </a:lnTo>
                <a:lnTo>
                  <a:pt x="1258531" y="416521"/>
                </a:lnTo>
                <a:lnTo>
                  <a:pt x="1258531" y="422871"/>
                </a:lnTo>
                <a:close/>
              </a:path>
              <a:path w="1271270" h="429260">
                <a:moveTo>
                  <a:pt x="1271231" y="422871"/>
                </a:moveTo>
                <a:lnTo>
                  <a:pt x="1258531" y="422871"/>
                </a:lnTo>
                <a:lnTo>
                  <a:pt x="1264881" y="416521"/>
                </a:lnTo>
                <a:lnTo>
                  <a:pt x="1271231" y="416521"/>
                </a:lnTo>
                <a:lnTo>
                  <a:pt x="1271231" y="422871"/>
                </a:lnTo>
                <a:close/>
              </a:path>
            </a:pathLst>
          </a:custGeom>
          <a:solidFill>
            <a:srgbClr val="C00000"/>
          </a:solidFill>
        </p:spPr>
        <p:txBody>
          <a:bodyPr wrap="square" lIns="0" tIns="0" rIns="0" bIns="0" rtlCol="0"/>
          <a:lstStyle/>
          <a:p/>
        </p:txBody>
      </p:sp>
      <p:sp>
        <p:nvSpPr>
          <p:cNvPr id="123" name="object 123"/>
          <p:cNvSpPr txBox="1"/>
          <p:nvPr/>
        </p:nvSpPr>
        <p:spPr>
          <a:xfrm>
            <a:off x="9406128" y="3390811"/>
            <a:ext cx="1259205" cy="240029"/>
          </a:xfrm>
          <a:prstGeom prst="rect">
            <a:avLst/>
          </a:prstGeom>
        </p:spPr>
        <p:txBody>
          <a:bodyPr vert="horz" wrap="square" lIns="0" tIns="13335" rIns="0" bIns="0" rtlCol="0">
            <a:spAutoFit/>
          </a:bodyPr>
          <a:lstStyle/>
          <a:p>
            <a:pPr marL="195580">
              <a:lnSpc>
                <a:spcPct val="100000"/>
              </a:lnSpc>
              <a:spcBef>
                <a:spcPts val="105"/>
              </a:spcBef>
            </a:pPr>
            <a:r>
              <a:rPr sz="1400" b="1" spc="-20" dirty="0">
                <a:solidFill>
                  <a:srgbClr val="C00000"/>
                </a:solidFill>
                <a:latin typeface="微软雅黑" panose="020B0503020204020204" charset="-122"/>
                <a:cs typeface="微软雅黑" panose="020B0503020204020204" charset="-122"/>
              </a:rPr>
              <a:t>LC</a:t>
            </a:r>
            <a:r>
              <a:rPr sz="1400" b="1" spc="-25" dirty="0">
                <a:solidFill>
                  <a:srgbClr val="C00000"/>
                </a:solidFill>
                <a:latin typeface="微软雅黑" panose="020B0503020204020204" charset="-122"/>
                <a:cs typeface="微软雅黑" panose="020B0503020204020204" charset="-122"/>
              </a:rPr>
              <a:t> </a:t>
            </a:r>
            <a:r>
              <a:rPr sz="1400" b="1" spc="-15" dirty="0">
                <a:solidFill>
                  <a:srgbClr val="C00000"/>
                </a:solidFill>
                <a:latin typeface="微软雅黑" panose="020B0503020204020204" charset="-122"/>
                <a:cs typeface="微软雅黑" panose="020B0503020204020204" charset="-122"/>
              </a:rPr>
              <a:t>LKGEN</a:t>
            </a:r>
            <a:endParaRPr sz="1400">
              <a:latin typeface="微软雅黑" panose="020B0503020204020204" charset="-122"/>
              <a:cs typeface="微软雅黑" panose="020B0503020204020204" charset="-122"/>
            </a:endParaRPr>
          </a:p>
        </p:txBody>
      </p:sp>
      <p:sp>
        <p:nvSpPr>
          <p:cNvPr id="124" name="object 124"/>
          <p:cNvSpPr/>
          <p:nvPr/>
        </p:nvSpPr>
        <p:spPr>
          <a:xfrm>
            <a:off x="7002398" y="1654022"/>
            <a:ext cx="2267585" cy="76200"/>
          </a:xfrm>
          <a:custGeom>
            <a:avLst/>
            <a:gdLst/>
            <a:ahLst/>
            <a:cxnLst/>
            <a:rect l="l" t="t" r="r" b="b"/>
            <a:pathLst>
              <a:path w="2267584" h="76200">
                <a:moveTo>
                  <a:pt x="76200" y="76200"/>
                </a:moveTo>
                <a:lnTo>
                  <a:pt x="0" y="38100"/>
                </a:lnTo>
                <a:lnTo>
                  <a:pt x="76200" y="0"/>
                </a:lnTo>
                <a:lnTo>
                  <a:pt x="76200" y="34289"/>
                </a:lnTo>
                <a:lnTo>
                  <a:pt x="57150" y="34289"/>
                </a:lnTo>
                <a:lnTo>
                  <a:pt x="57150" y="41910"/>
                </a:lnTo>
                <a:lnTo>
                  <a:pt x="76200" y="41910"/>
                </a:lnTo>
                <a:lnTo>
                  <a:pt x="76200" y="76200"/>
                </a:lnTo>
                <a:close/>
              </a:path>
              <a:path w="2267584" h="76200">
                <a:moveTo>
                  <a:pt x="2191308" y="76200"/>
                </a:moveTo>
                <a:lnTo>
                  <a:pt x="2191308" y="0"/>
                </a:lnTo>
                <a:lnTo>
                  <a:pt x="2259888" y="34289"/>
                </a:lnTo>
                <a:lnTo>
                  <a:pt x="2210358" y="34289"/>
                </a:lnTo>
                <a:lnTo>
                  <a:pt x="2210358" y="41910"/>
                </a:lnTo>
                <a:lnTo>
                  <a:pt x="2259888" y="41910"/>
                </a:lnTo>
                <a:lnTo>
                  <a:pt x="2191308" y="76200"/>
                </a:lnTo>
                <a:close/>
              </a:path>
              <a:path w="2267584" h="76200">
                <a:moveTo>
                  <a:pt x="76200" y="41910"/>
                </a:moveTo>
                <a:lnTo>
                  <a:pt x="57150" y="41910"/>
                </a:lnTo>
                <a:lnTo>
                  <a:pt x="57150" y="34289"/>
                </a:lnTo>
                <a:lnTo>
                  <a:pt x="76200" y="34289"/>
                </a:lnTo>
                <a:lnTo>
                  <a:pt x="76200" y="41910"/>
                </a:lnTo>
                <a:close/>
              </a:path>
              <a:path w="2267584" h="76200">
                <a:moveTo>
                  <a:pt x="2191308" y="41910"/>
                </a:moveTo>
                <a:lnTo>
                  <a:pt x="76200" y="41910"/>
                </a:lnTo>
                <a:lnTo>
                  <a:pt x="76200" y="34289"/>
                </a:lnTo>
                <a:lnTo>
                  <a:pt x="2191308" y="34289"/>
                </a:lnTo>
                <a:lnTo>
                  <a:pt x="2191308" y="41910"/>
                </a:lnTo>
                <a:close/>
              </a:path>
              <a:path w="2267584" h="76200">
                <a:moveTo>
                  <a:pt x="2259888" y="41910"/>
                </a:moveTo>
                <a:lnTo>
                  <a:pt x="2210358" y="41910"/>
                </a:lnTo>
                <a:lnTo>
                  <a:pt x="2210358" y="34289"/>
                </a:lnTo>
                <a:lnTo>
                  <a:pt x="2259888" y="34289"/>
                </a:lnTo>
                <a:lnTo>
                  <a:pt x="2267508" y="38100"/>
                </a:lnTo>
                <a:lnTo>
                  <a:pt x="2259888" y="41910"/>
                </a:lnTo>
                <a:close/>
              </a:path>
            </a:pathLst>
          </a:custGeom>
          <a:solidFill>
            <a:srgbClr val="C00000"/>
          </a:solidFill>
        </p:spPr>
        <p:txBody>
          <a:bodyPr wrap="square" lIns="0" tIns="0" rIns="0" bIns="0" rtlCol="0"/>
          <a:lstStyle/>
          <a:p/>
        </p:txBody>
      </p:sp>
      <p:sp>
        <p:nvSpPr>
          <p:cNvPr id="125" name="object 125"/>
          <p:cNvSpPr/>
          <p:nvPr/>
        </p:nvSpPr>
        <p:spPr>
          <a:xfrm>
            <a:off x="9262960" y="4070591"/>
            <a:ext cx="1545590" cy="2072639"/>
          </a:xfrm>
          <a:custGeom>
            <a:avLst/>
            <a:gdLst/>
            <a:ahLst/>
            <a:cxnLst/>
            <a:rect l="l" t="t" r="r" b="b"/>
            <a:pathLst>
              <a:path w="1545590" h="2072639">
                <a:moveTo>
                  <a:pt x="1545374" y="2072335"/>
                </a:moveTo>
                <a:lnTo>
                  <a:pt x="0" y="2072335"/>
                </a:lnTo>
                <a:lnTo>
                  <a:pt x="0" y="0"/>
                </a:lnTo>
                <a:lnTo>
                  <a:pt x="1545374" y="0"/>
                </a:lnTo>
                <a:lnTo>
                  <a:pt x="1545374" y="6350"/>
                </a:lnTo>
                <a:lnTo>
                  <a:pt x="12700" y="6350"/>
                </a:lnTo>
                <a:lnTo>
                  <a:pt x="6350" y="12700"/>
                </a:lnTo>
                <a:lnTo>
                  <a:pt x="12700" y="12700"/>
                </a:lnTo>
                <a:lnTo>
                  <a:pt x="12700" y="2059635"/>
                </a:lnTo>
                <a:lnTo>
                  <a:pt x="6350" y="2059635"/>
                </a:lnTo>
                <a:lnTo>
                  <a:pt x="12700" y="2065985"/>
                </a:lnTo>
                <a:lnTo>
                  <a:pt x="1545374" y="2065985"/>
                </a:lnTo>
                <a:lnTo>
                  <a:pt x="1545374" y="2072335"/>
                </a:lnTo>
                <a:close/>
              </a:path>
              <a:path w="1545590" h="2072639">
                <a:moveTo>
                  <a:pt x="12700" y="12700"/>
                </a:moveTo>
                <a:lnTo>
                  <a:pt x="6350" y="12700"/>
                </a:lnTo>
                <a:lnTo>
                  <a:pt x="12700" y="6350"/>
                </a:lnTo>
                <a:lnTo>
                  <a:pt x="12700" y="12700"/>
                </a:lnTo>
                <a:close/>
              </a:path>
              <a:path w="1545590" h="2072639">
                <a:moveTo>
                  <a:pt x="1532674" y="12700"/>
                </a:moveTo>
                <a:lnTo>
                  <a:pt x="12700" y="12700"/>
                </a:lnTo>
                <a:lnTo>
                  <a:pt x="12700" y="6350"/>
                </a:lnTo>
                <a:lnTo>
                  <a:pt x="1532674" y="6350"/>
                </a:lnTo>
                <a:lnTo>
                  <a:pt x="1532674" y="12700"/>
                </a:lnTo>
                <a:close/>
              </a:path>
              <a:path w="1545590" h="2072639">
                <a:moveTo>
                  <a:pt x="1532674" y="2065985"/>
                </a:moveTo>
                <a:lnTo>
                  <a:pt x="1532674" y="6350"/>
                </a:lnTo>
                <a:lnTo>
                  <a:pt x="1539024" y="12700"/>
                </a:lnTo>
                <a:lnTo>
                  <a:pt x="1545374" y="12700"/>
                </a:lnTo>
                <a:lnTo>
                  <a:pt x="1545374" y="2059635"/>
                </a:lnTo>
                <a:lnTo>
                  <a:pt x="1539024" y="2059635"/>
                </a:lnTo>
                <a:lnTo>
                  <a:pt x="1532674" y="2065985"/>
                </a:lnTo>
                <a:close/>
              </a:path>
              <a:path w="1545590" h="2072639">
                <a:moveTo>
                  <a:pt x="1545374" y="12700"/>
                </a:moveTo>
                <a:lnTo>
                  <a:pt x="1539024" y="12700"/>
                </a:lnTo>
                <a:lnTo>
                  <a:pt x="1532674" y="6350"/>
                </a:lnTo>
                <a:lnTo>
                  <a:pt x="1545374" y="6350"/>
                </a:lnTo>
                <a:lnTo>
                  <a:pt x="1545374" y="12700"/>
                </a:lnTo>
                <a:close/>
              </a:path>
              <a:path w="1545590" h="2072639">
                <a:moveTo>
                  <a:pt x="12700" y="2065985"/>
                </a:moveTo>
                <a:lnTo>
                  <a:pt x="6350" y="2059635"/>
                </a:lnTo>
                <a:lnTo>
                  <a:pt x="12700" y="2059635"/>
                </a:lnTo>
                <a:lnTo>
                  <a:pt x="12700" y="2065985"/>
                </a:lnTo>
                <a:close/>
              </a:path>
              <a:path w="1545590" h="2072639">
                <a:moveTo>
                  <a:pt x="1532674" y="2065985"/>
                </a:moveTo>
                <a:lnTo>
                  <a:pt x="12700" y="2065985"/>
                </a:lnTo>
                <a:lnTo>
                  <a:pt x="12700" y="2059635"/>
                </a:lnTo>
                <a:lnTo>
                  <a:pt x="1532674" y="2059635"/>
                </a:lnTo>
                <a:lnTo>
                  <a:pt x="1532674" y="2065985"/>
                </a:lnTo>
                <a:close/>
              </a:path>
              <a:path w="1545590" h="2072639">
                <a:moveTo>
                  <a:pt x="1545374" y="2065985"/>
                </a:moveTo>
                <a:lnTo>
                  <a:pt x="1532674" y="2065985"/>
                </a:lnTo>
                <a:lnTo>
                  <a:pt x="1539024" y="2059635"/>
                </a:lnTo>
                <a:lnTo>
                  <a:pt x="1545374" y="2059635"/>
                </a:lnTo>
                <a:lnTo>
                  <a:pt x="1545374" y="2065985"/>
                </a:lnTo>
                <a:close/>
              </a:path>
            </a:pathLst>
          </a:custGeom>
          <a:solidFill>
            <a:srgbClr val="C00000"/>
          </a:solidFill>
        </p:spPr>
        <p:txBody>
          <a:bodyPr wrap="square" lIns="0" tIns="0" rIns="0" bIns="0" rtlCol="0"/>
          <a:lstStyle/>
          <a:p/>
        </p:txBody>
      </p:sp>
      <p:sp>
        <p:nvSpPr>
          <p:cNvPr id="126" name="object 126"/>
          <p:cNvSpPr/>
          <p:nvPr/>
        </p:nvSpPr>
        <p:spPr>
          <a:xfrm>
            <a:off x="9407652" y="5353811"/>
            <a:ext cx="1259205" cy="559435"/>
          </a:xfrm>
          <a:custGeom>
            <a:avLst/>
            <a:gdLst/>
            <a:ahLst/>
            <a:cxnLst/>
            <a:rect l="l" t="t" r="r" b="b"/>
            <a:pathLst>
              <a:path w="1259204" h="559435">
                <a:moveTo>
                  <a:pt x="0" y="0"/>
                </a:moveTo>
                <a:lnTo>
                  <a:pt x="1258824" y="0"/>
                </a:lnTo>
                <a:lnTo>
                  <a:pt x="1258824" y="559308"/>
                </a:lnTo>
                <a:lnTo>
                  <a:pt x="0" y="559308"/>
                </a:lnTo>
                <a:lnTo>
                  <a:pt x="0" y="0"/>
                </a:lnTo>
                <a:close/>
              </a:path>
            </a:pathLst>
          </a:custGeom>
          <a:solidFill>
            <a:srgbClr val="D9D9D9"/>
          </a:solidFill>
        </p:spPr>
        <p:txBody>
          <a:bodyPr wrap="square" lIns="0" tIns="0" rIns="0" bIns="0" rtlCol="0"/>
          <a:lstStyle/>
          <a:p/>
        </p:txBody>
      </p:sp>
      <p:sp>
        <p:nvSpPr>
          <p:cNvPr id="127" name="object 127"/>
          <p:cNvSpPr/>
          <p:nvPr/>
        </p:nvSpPr>
        <p:spPr>
          <a:xfrm>
            <a:off x="9400933" y="5347157"/>
            <a:ext cx="1271270" cy="573405"/>
          </a:xfrm>
          <a:custGeom>
            <a:avLst/>
            <a:gdLst/>
            <a:ahLst/>
            <a:cxnLst/>
            <a:rect l="l" t="t" r="r" b="b"/>
            <a:pathLst>
              <a:path w="1271270" h="573404">
                <a:moveTo>
                  <a:pt x="1271231" y="572858"/>
                </a:moveTo>
                <a:lnTo>
                  <a:pt x="0" y="572858"/>
                </a:lnTo>
                <a:lnTo>
                  <a:pt x="0" y="0"/>
                </a:lnTo>
                <a:lnTo>
                  <a:pt x="1271231" y="0"/>
                </a:lnTo>
                <a:lnTo>
                  <a:pt x="1271231" y="6350"/>
                </a:lnTo>
                <a:lnTo>
                  <a:pt x="12700" y="6350"/>
                </a:lnTo>
                <a:lnTo>
                  <a:pt x="6350" y="12700"/>
                </a:lnTo>
                <a:lnTo>
                  <a:pt x="12700" y="12700"/>
                </a:lnTo>
                <a:lnTo>
                  <a:pt x="12700" y="560158"/>
                </a:lnTo>
                <a:lnTo>
                  <a:pt x="6350" y="560158"/>
                </a:lnTo>
                <a:lnTo>
                  <a:pt x="12700" y="566508"/>
                </a:lnTo>
                <a:lnTo>
                  <a:pt x="1271231" y="566508"/>
                </a:lnTo>
                <a:lnTo>
                  <a:pt x="1271231" y="572858"/>
                </a:lnTo>
                <a:close/>
              </a:path>
              <a:path w="1271270" h="573404">
                <a:moveTo>
                  <a:pt x="12700" y="12700"/>
                </a:moveTo>
                <a:lnTo>
                  <a:pt x="6350" y="12700"/>
                </a:lnTo>
                <a:lnTo>
                  <a:pt x="12700" y="6350"/>
                </a:lnTo>
                <a:lnTo>
                  <a:pt x="12700" y="12700"/>
                </a:lnTo>
                <a:close/>
              </a:path>
              <a:path w="1271270" h="573404">
                <a:moveTo>
                  <a:pt x="1258531" y="12700"/>
                </a:moveTo>
                <a:lnTo>
                  <a:pt x="12700" y="12700"/>
                </a:lnTo>
                <a:lnTo>
                  <a:pt x="12700" y="6350"/>
                </a:lnTo>
                <a:lnTo>
                  <a:pt x="1258531" y="6350"/>
                </a:lnTo>
                <a:lnTo>
                  <a:pt x="1258531" y="12700"/>
                </a:lnTo>
                <a:close/>
              </a:path>
              <a:path w="1271270" h="573404">
                <a:moveTo>
                  <a:pt x="1258531" y="566508"/>
                </a:moveTo>
                <a:lnTo>
                  <a:pt x="1258531" y="6350"/>
                </a:lnTo>
                <a:lnTo>
                  <a:pt x="1264881" y="12700"/>
                </a:lnTo>
                <a:lnTo>
                  <a:pt x="1271231" y="12700"/>
                </a:lnTo>
                <a:lnTo>
                  <a:pt x="1271231" y="560158"/>
                </a:lnTo>
                <a:lnTo>
                  <a:pt x="1264881" y="560158"/>
                </a:lnTo>
                <a:lnTo>
                  <a:pt x="1258531" y="566508"/>
                </a:lnTo>
                <a:close/>
              </a:path>
              <a:path w="1271270" h="573404">
                <a:moveTo>
                  <a:pt x="1271231" y="12700"/>
                </a:moveTo>
                <a:lnTo>
                  <a:pt x="1264881" y="12700"/>
                </a:lnTo>
                <a:lnTo>
                  <a:pt x="1258531" y="6350"/>
                </a:lnTo>
                <a:lnTo>
                  <a:pt x="1271231" y="6350"/>
                </a:lnTo>
                <a:lnTo>
                  <a:pt x="1271231" y="12700"/>
                </a:lnTo>
                <a:close/>
              </a:path>
              <a:path w="1271270" h="573404">
                <a:moveTo>
                  <a:pt x="12700" y="566508"/>
                </a:moveTo>
                <a:lnTo>
                  <a:pt x="6350" y="560158"/>
                </a:lnTo>
                <a:lnTo>
                  <a:pt x="12700" y="560158"/>
                </a:lnTo>
                <a:lnTo>
                  <a:pt x="12700" y="566508"/>
                </a:lnTo>
                <a:close/>
              </a:path>
              <a:path w="1271270" h="573404">
                <a:moveTo>
                  <a:pt x="1258531" y="566508"/>
                </a:moveTo>
                <a:lnTo>
                  <a:pt x="12700" y="566508"/>
                </a:lnTo>
                <a:lnTo>
                  <a:pt x="12700" y="560158"/>
                </a:lnTo>
                <a:lnTo>
                  <a:pt x="1258531" y="560158"/>
                </a:lnTo>
                <a:lnTo>
                  <a:pt x="1258531" y="566508"/>
                </a:lnTo>
                <a:close/>
              </a:path>
              <a:path w="1271270" h="573404">
                <a:moveTo>
                  <a:pt x="1271231" y="566508"/>
                </a:moveTo>
                <a:lnTo>
                  <a:pt x="1258531" y="566508"/>
                </a:lnTo>
                <a:lnTo>
                  <a:pt x="1264881" y="560158"/>
                </a:lnTo>
                <a:lnTo>
                  <a:pt x="1271231" y="560158"/>
                </a:lnTo>
                <a:lnTo>
                  <a:pt x="1271231" y="566508"/>
                </a:lnTo>
                <a:close/>
              </a:path>
            </a:pathLst>
          </a:custGeom>
          <a:solidFill>
            <a:srgbClr val="C00000"/>
          </a:solidFill>
        </p:spPr>
        <p:txBody>
          <a:bodyPr wrap="square" lIns="0" tIns="0" rIns="0" bIns="0" rtlCol="0"/>
          <a:lstStyle/>
          <a:p/>
        </p:txBody>
      </p:sp>
      <p:sp>
        <p:nvSpPr>
          <p:cNvPr id="128" name="object 128"/>
          <p:cNvSpPr txBox="1"/>
          <p:nvPr/>
        </p:nvSpPr>
        <p:spPr>
          <a:xfrm>
            <a:off x="9407652" y="5502097"/>
            <a:ext cx="1259205" cy="240029"/>
          </a:xfrm>
          <a:prstGeom prst="rect">
            <a:avLst/>
          </a:prstGeom>
        </p:spPr>
        <p:txBody>
          <a:bodyPr vert="horz" wrap="square" lIns="0" tIns="13335" rIns="0" bIns="0" rtlCol="0">
            <a:spAutoFit/>
          </a:bodyPr>
          <a:lstStyle/>
          <a:p>
            <a:pPr marL="272415">
              <a:lnSpc>
                <a:spcPct val="100000"/>
              </a:lnSpc>
              <a:spcBef>
                <a:spcPts val="105"/>
              </a:spcBef>
            </a:pPr>
            <a:r>
              <a:rPr sz="1400" b="1" dirty="0">
                <a:solidFill>
                  <a:srgbClr val="C00000"/>
                </a:solidFill>
                <a:latin typeface="微软雅黑" panose="020B0503020204020204" charset="-122"/>
                <a:cs typeface="微软雅黑" panose="020B0503020204020204" charset="-122"/>
              </a:rPr>
              <a:t>调试模</a:t>
            </a:r>
            <a:r>
              <a:rPr sz="1400" b="1" spc="5" dirty="0">
                <a:solidFill>
                  <a:srgbClr val="C00000"/>
                </a:solidFill>
                <a:latin typeface="微软雅黑" panose="020B0503020204020204" charset="-122"/>
                <a:cs typeface="微软雅黑" panose="020B0503020204020204" charset="-122"/>
              </a:rPr>
              <a:t>块</a:t>
            </a:r>
            <a:endParaRPr sz="1400">
              <a:latin typeface="微软雅黑" panose="020B0503020204020204" charset="-122"/>
              <a:cs typeface="微软雅黑" panose="020B0503020204020204" charset="-122"/>
            </a:endParaRPr>
          </a:p>
        </p:txBody>
      </p:sp>
      <p:sp>
        <p:nvSpPr>
          <p:cNvPr id="129" name="object 129"/>
          <p:cNvSpPr/>
          <p:nvPr/>
        </p:nvSpPr>
        <p:spPr>
          <a:xfrm>
            <a:off x="9406128" y="4594859"/>
            <a:ext cx="1259205" cy="617220"/>
          </a:xfrm>
          <a:custGeom>
            <a:avLst/>
            <a:gdLst/>
            <a:ahLst/>
            <a:cxnLst/>
            <a:rect l="l" t="t" r="r" b="b"/>
            <a:pathLst>
              <a:path w="1259204" h="617220">
                <a:moveTo>
                  <a:pt x="0" y="0"/>
                </a:moveTo>
                <a:lnTo>
                  <a:pt x="1258824" y="0"/>
                </a:lnTo>
                <a:lnTo>
                  <a:pt x="1258824" y="617220"/>
                </a:lnTo>
                <a:lnTo>
                  <a:pt x="0" y="617220"/>
                </a:lnTo>
                <a:lnTo>
                  <a:pt x="0" y="0"/>
                </a:lnTo>
                <a:close/>
              </a:path>
            </a:pathLst>
          </a:custGeom>
          <a:solidFill>
            <a:srgbClr val="D9D9D9"/>
          </a:solidFill>
        </p:spPr>
        <p:txBody>
          <a:bodyPr wrap="square" lIns="0" tIns="0" rIns="0" bIns="0" rtlCol="0"/>
          <a:lstStyle/>
          <a:p/>
        </p:txBody>
      </p:sp>
      <p:sp>
        <p:nvSpPr>
          <p:cNvPr id="130" name="object 130"/>
          <p:cNvSpPr/>
          <p:nvPr/>
        </p:nvSpPr>
        <p:spPr>
          <a:xfrm>
            <a:off x="9399740" y="4588230"/>
            <a:ext cx="1271270" cy="630555"/>
          </a:xfrm>
          <a:custGeom>
            <a:avLst/>
            <a:gdLst/>
            <a:ahLst/>
            <a:cxnLst/>
            <a:rect l="l" t="t" r="r" b="b"/>
            <a:pathLst>
              <a:path w="1271270" h="630554">
                <a:moveTo>
                  <a:pt x="1271219" y="630301"/>
                </a:moveTo>
                <a:lnTo>
                  <a:pt x="0" y="630301"/>
                </a:lnTo>
                <a:lnTo>
                  <a:pt x="0" y="0"/>
                </a:lnTo>
                <a:lnTo>
                  <a:pt x="1271219" y="0"/>
                </a:lnTo>
                <a:lnTo>
                  <a:pt x="1271219" y="6350"/>
                </a:lnTo>
                <a:lnTo>
                  <a:pt x="12700" y="6350"/>
                </a:lnTo>
                <a:lnTo>
                  <a:pt x="6350" y="12700"/>
                </a:lnTo>
                <a:lnTo>
                  <a:pt x="12700" y="12700"/>
                </a:lnTo>
                <a:lnTo>
                  <a:pt x="12700" y="617601"/>
                </a:lnTo>
                <a:lnTo>
                  <a:pt x="6350" y="617601"/>
                </a:lnTo>
                <a:lnTo>
                  <a:pt x="12700" y="623951"/>
                </a:lnTo>
                <a:lnTo>
                  <a:pt x="1271219" y="623951"/>
                </a:lnTo>
                <a:lnTo>
                  <a:pt x="1271219" y="630301"/>
                </a:lnTo>
                <a:close/>
              </a:path>
              <a:path w="1271270" h="630554">
                <a:moveTo>
                  <a:pt x="12700" y="12700"/>
                </a:moveTo>
                <a:lnTo>
                  <a:pt x="6350" y="12700"/>
                </a:lnTo>
                <a:lnTo>
                  <a:pt x="12700" y="6350"/>
                </a:lnTo>
                <a:lnTo>
                  <a:pt x="12700" y="12700"/>
                </a:lnTo>
                <a:close/>
              </a:path>
              <a:path w="1271270" h="630554">
                <a:moveTo>
                  <a:pt x="1258519" y="12700"/>
                </a:moveTo>
                <a:lnTo>
                  <a:pt x="12700" y="12700"/>
                </a:lnTo>
                <a:lnTo>
                  <a:pt x="12700" y="6350"/>
                </a:lnTo>
                <a:lnTo>
                  <a:pt x="1258519" y="6350"/>
                </a:lnTo>
                <a:lnTo>
                  <a:pt x="1258519" y="12700"/>
                </a:lnTo>
                <a:close/>
              </a:path>
              <a:path w="1271270" h="630554">
                <a:moveTo>
                  <a:pt x="1258519" y="623951"/>
                </a:moveTo>
                <a:lnTo>
                  <a:pt x="1258519" y="6350"/>
                </a:lnTo>
                <a:lnTo>
                  <a:pt x="1264869" y="12700"/>
                </a:lnTo>
                <a:lnTo>
                  <a:pt x="1271219" y="12700"/>
                </a:lnTo>
                <a:lnTo>
                  <a:pt x="1271219" y="617601"/>
                </a:lnTo>
                <a:lnTo>
                  <a:pt x="1264869" y="617601"/>
                </a:lnTo>
                <a:lnTo>
                  <a:pt x="1258519" y="623951"/>
                </a:lnTo>
                <a:close/>
              </a:path>
              <a:path w="1271270" h="630554">
                <a:moveTo>
                  <a:pt x="1271219" y="12700"/>
                </a:moveTo>
                <a:lnTo>
                  <a:pt x="1264869" y="12700"/>
                </a:lnTo>
                <a:lnTo>
                  <a:pt x="1258519" y="6350"/>
                </a:lnTo>
                <a:lnTo>
                  <a:pt x="1271219" y="6350"/>
                </a:lnTo>
                <a:lnTo>
                  <a:pt x="1271219" y="12700"/>
                </a:lnTo>
                <a:close/>
              </a:path>
              <a:path w="1271270" h="630554">
                <a:moveTo>
                  <a:pt x="12700" y="623951"/>
                </a:moveTo>
                <a:lnTo>
                  <a:pt x="6350" y="617601"/>
                </a:lnTo>
                <a:lnTo>
                  <a:pt x="12700" y="617601"/>
                </a:lnTo>
                <a:lnTo>
                  <a:pt x="12700" y="623951"/>
                </a:lnTo>
                <a:close/>
              </a:path>
              <a:path w="1271270" h="630554">
                <a:moveTo>
                  <a:pt x="1258519" y="623951"/>
                </a:moveTo>
                <a:lnTo>
                  <a:pt x="12700" y="623951"/>
                </a:lnTo>
                <a:lnTo>
                  <a:pt x="12700" y="617601"/>
                </a:lnTo>
                <a:lnTo>
                  <a:pt x="1258519" y="617601"/>
                </a:lnTo>
                <a:lnTo>
                  <a:pt x="1258519" y="623951"/>
                </a:lnTo>
                <a:close/>
              </a:path>
              <a:path w="1271270" h="630554">
                <a:moveTo>
                  <a:pt x="1271219" y="623951"/>
                </a:moveTo>
                <a:lnTo>
                  <a:pt x="1258519" y="623951"/>
                </a:lnTo>
                <a:lnTo>
                  <a:pt x="1264869" y="617601"/>
                </a:lnTo>
                <a:lnTo>
                  <a:pt x="1271219" y="617601"/>
                </a:lnTo>
                <a:lnTo>
                  <a:pt x="1271219" y="623951"/>
                </a:lnTo>
                <a:close/>
              </a:path>
            </a:pathLst>
          </a:custGeom>
          <a:solidFill>
            <a:srgbClr val="C00000"/>
          </a:solidFill>
        </p:spPr>
        <p:txBody>
          <a:bodyPr wrap="square" lIns="0" tIns="0" rIns="0" bIns="0" rtlCol="0"/>
          <a:lstStyle/>
          <a:p/>
        </p:txBody>
      </p:sp>
      <p:sp>
        <p:nvSpPr>
          <p:cNvPr id="131" name="object 131"/>
          <p:cNvSpPr txBox="1"/>
          <p:nvPr/>
        </p:nvSpPr>
        <p:spPr>
          <a:xfrm>
            <a:off x="9406128" y="4771745"/>
            <a:ext cx="1259205" cy="240029"/>
          </a:xfrm>
          <a:prstGeom prst="rect">
            <a:avLst/>
          </a:prstGeom>
        </p:spPr>
        <p:txBody>
          <a:bodyPr vert="horz" wrap="square" lIns="0" tIns="13335" rIns="0" bIns="0" rtlCol="0">
            <a:spAutoFit/>
          </a:bodyPr>
          <a:lstStyle/>
          <a:p>
            <a:pPr marL="414020">
              <a:lnSpc>
                <a:spcPct val="100000"/>
              </a:lnSpc>
              <a:spcBef>
                <a:spcPts val="105"/>
              </a:spcBef>
            </a:pPr>
            <a:r>
              <a:rPr sz="1400" b="1" spc="-20" dirty="0">
                <a:solidFill>
                  <a:srgbClr val="C00000"/>
                </a:solidFill>
                <a:latin typeface="微软雅黑" panose="020B0503020204020204" charset="-122"/>
                <a:cs typeface="微软雅黑" panose="020B0503020204020204" charset="-122"/>
              </a:rPr>
              <a:t>DTM</a:t>
            </a:r>
            <a:endParaRPr sz="1400">
              <a:latin typeface="微软雅黑" panose="020B0503020204020204" charset="-122"/>
              <a:cs typeface="微软雅黑" panose="020B0503020204020204" charset="-122"/>
            </a:endParaRPr>
          </a:p>
        </p:txBody>
      </p:sp>
      <p:sp>
        <p:nvSpPr>
          <p:cNvPr id="132" name="object 132"/>
          <p:cNvSpPr txBox="1"/>
          <p:nvPr/>
        </p:nvSpPr>
        <p:spPr>
          <a:xfrm>
            <a:off x="9628047" y="4113860"/>
            <a:ext cx="71120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微软雅黑" panose="020B0503020204020204" charset="-122"/>
                <a:cs typeface="微软雅黑" panose="020B0503020204020204" charset="-122"/>
              </a:rPr>
              <a:t>调试域</a:t>
            </a:r>
            <a:endParaRPr sz="1800">
              <a:latin typeface="微软雅黑" panose="020B0503020204020204" charset="-122"/>
              <a:cs typeface="微软雅黑" panose="020B0503020204020204" charset="-122"/>
            </a:endParaRPr>
          </a:p>
        </p:txBody>
      </p:sp>
      <p:sp>
        <p:nvSpPr>
          <p:cNvPr id="133" name="object 133"/>
          <p:cNvSpPr/>
          <p:nvPr/>
        </p:nvSpPr>
        <p:spPr>
          <a:xfrm>
            <a:off x="5691682" y="5590578"/>
            <a:ext cx="3578225" cy="76200"/>
          </a:xfrm>
          <a:custGeom>
            <a:avLst/>
            <a:gdLst/>
            <a:ahLst/>
            <a:cxnLst/>
            <a:rect l="l" t="t" r="r" b="b"/>
            <a:pathLst>
              <a:path w="3578225" h="76200">
                <a:moveTo>
                  <a:pt x="3570624" y="41922"/>
                </a:moveTo>
                <a:lnTo>
                  <a:pt x="3521075" y="41922"/>
                </a:lnTo>
                <a:lnTo>
                  <a:pt x="3521087" y="34302"/>
                </a:lnTo>
                <a:lnTo>
                  <a:pt x="3502026" y="34296"/>
                </a:lnTo>
                <a:lnTo>
                  <a:pt x="3502037" y="0"/>
                </a:lnTo>
                <a:lnTo>
                  <a:pt x="3578225" y="38125"/>
                </a:lnTo>
                <a:lnTo>
                  <a:pt x="3570624" y="41922"/>
                </a:lnTo>
                <a:close/>
              </a:path>
              <a:path w="3578225" h="76200">
                <a:moveTo>
                  <a:pt x="3502023" y="41916"/>
                </a:moveTo>
                <a:lnTo>
                  <a:pt x="0" y="40792"/>
                </a:lnTo>
                <a:lnTo>
                  <a:pt x="0" y="33172"/>
                </a:lnTo>
                <a:lnTo>
                  <a:pt x="3502026" y="34296"/>
                </a:lnTo>
                <a:lnTo>
                  <a:pt x="3502023" y="41916"/>
                </a:lnTo>
                <a:close/>
              </a:path>
              <a:path w="3578225" h="76200">
                <a:moveTo>
                  <a:pt x="3521075" y="41922"/>
                </a:moveTo>
                <a:lnTo>
                  <a:pt x="3502023" y="41916"/>
                </a:lnTo>
                <a:lnTo>
                  <a:pt x="3502026" y="34296"/>
                </a:lnTo>
                <a:lnTo>
                  <a:pt x="3521087" y="34302"/>
                </a:lnTo>
                <a:lnTo>
                  <a:pt x="3521075" y="41922"/>
                </a:lnTo>
                <a:close/>
              </a:path>
              <a:path w="3578225" h="76200">
                <a:moveTo>
                  <a:pt x="3502012" y="76200"/>
                </a:moveTo>
                <a:lnTo>
                  <a:pt x="3502023" y="41916"/>
                </a:lnTo>
                <a:lnTo>
                  <a:pt x="3570624" y="41922"/>
                </a:lnTo>
                <a:lnTo>
                  <a:pt x="3502012" y="76200"/>
                </a:lnTo>
                <a:close/>
              </a:path>
            </a:pathLst>
          </a:custGeom>
          <a:solidFill>
            <a:srgbClr val="C00000"/>
          </a:solidFill>
        </p:spPr>
        <p:txBody>
          <a:bodyPr wrap="square" lIns="0" tIns="0" rIns="0" bIns="0" rtlCol="0"/>
          <a:lstStyle/>
          <a:p/>
        </p:txBody>
      </p:sp>
      <p:sp>
        <p:nvSpPr>
          <p:cNvPr id="134" name="object 134"/>
          <p:cNvSpPr/>
          <p:nvPr/>
        </p:nvSpPr>
        <p:spPr>
          <a:xfrm>
            <a:off x="5701277" y="4571606"/>
            <a:ext cx="0" cy="1043940"/>
          </a:xfrm>
          <a:custGeom>
            <a:avLst/>
            <a:gdLst/>
            <a:ahLst/>
            <a:cxnLst/>
            <a:rect l="l" t="t" r="r" b="b"/>
            <a:pathLst>
              <a:path h="1043939">
                <a:moveTo>
                  <a:pt x="0" y="0"/>
                </a:moveTo>
                <a:lnTo>
                  <a:pt x="0" y="1043889"/>
                </a:lnTo>
              </a:path>
            </a:pathLst>
          </a:custGeom>
          <a:ln w="8826">
            <a:solidFill>
              <a:srgbClr val="C00000"/>
            </a:solidFill>
          </a:ln>
        </p:spPr>
        <p:txBody>
          <a:bodyPr wrap="square" lIns="0" tIns="0" rIns="0" bIns="0" rtlCol="0"/>
          <a:lstStyle/>
          <a:p/>
        </p:txBody>
      </p:sp>
      <p:sp>
        <p:nvSpPr>
          <p:cNvPr id="135" name="object 135"/>
          <p:cNvSpPr/>
          <p:nvPr/>
        </p:nvSpPr>
        <p:spPr>
          <a:xfrm>
            <a:off x="5418137" y="4535170"/>
            <a:ext cx="282575" cy="76200"/>
          </a:xfrm>
          <a:custGeom>
            <a:avLst/>
            <a:gdLst/>
            <a:ahLst/>
            <a:cxnLst/>
            <a:rect l="l" t="t" r="r" b="b"/>
            <a:pathLst>
              <a:path w="282575" h="76200">
                <a:moveTo>
                  <a:pt x="76504" y="76200"/>
                </a:moveTo>
                <a:lnTo>
                  <a:pt x="0" y="38722"/>
                </a:lnTo>
                <a:lnTo>
                  <a:pt x="75895" y="0"/>
                </a:lnTo>
                <a:lnTo>
                  <a:pt x="76169" y="34299"/>
                </a:lnTo>
                <a:lnTo>
                  <a:pt x="57124" y="34455"/>
                </a:lnTo>
                <a:lnTo>
                  <a:pt x="57188" y="42075"/>
                </a:lnTo>
                <a:lnTo>
                  <a:pt x="76231" y="42075"/>
                </a:lnTo>
                <a:lnTo>
                  <a:pt x="76504" y="76200"/>
                </a:lnTo>
                <a:close/>
              </a:path>
              <a:path w="282575" h="76200">
                <a:moveTo>
                  <a:pt x="76230" y="41919"/>
                </a:moveTo>
                <a:lnTo>
                  <a:pt x="76169" y="34299"/>
                </a:lnTo>
                <a:lnTo>
                  <a:pt x="282511" y="32613"/>
                </a:lnTo>
                <a:lnTo>
                  <a:pt x="282575" y="40233"/>
                </a:lnTo>
                <a:lnTo>
                  <a:pt x="76230" y="41919"/>
                </a:lnTo>
                <a:close/>
              </a:path>
              <a:path w="282575" h="76200">
                <a:moveTo>
                  <a:pt x="57188" y="42075"/>
                </a:moveTo>
                <a:lnTo>
                  <a:pt x="57124" y="34455"/>
                </a:lnTo>
                <a:lnTo>
                  <a:pt x="76169" y="34299"/>
                </a:lnTo>
                <a:lnTo>
                  <a:pt x="76230" y="41919"/>
                </a:lnTo>
                <a:lnTo>
                  <a:pt x="57188" y="42075"/>
                </a:lnTo>
                <a:close/>
              </a:path>
              <a:path w="282575" h="76200">
                <a:moveTo>
                  <a:pt x="76231" y="42075"/>
                </a:moveTo>
                <a:lnTo>
                  <a:pt x="57188" y="42075"/>
                </a:lnTo>
                <a:lnTo>
                  <a:pt x="76230" y="41919"/>
                </a:lnTo>
                <a:lnTo>
                  <a:pt x="76231" y="42075"/>
                </a:lnTo>
                <a:close/>
              </a:path>
            </a:pathLst>
          </a:custGeom>
          <a:solidFill>
            <a:srgbClr val="C00000"/>
          </a:solidFill>
        </p:spPr>
        <p:txBody>
          <a:bodyPr wrap="square" lIns="0" tIns="0" rIns="0" bIns="0" rtlCol="0"/>
          <a:lstStyle/>
          <a:p/>
        </p:txBody>
      </p:sp>
      <p:sp>
        <p:nvSpPr>
          <p:cNvPr id="136" name="object 136"/>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4011929"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a:t>
            </a:r>
            <a:r>
              <a:rPr sz="3600" spc="-5" dirty="0">
                <a:solidFill>
                  <a:srgbClr val="C00000"/>
                </a:solidFill>
              </a:rPr>
              <a:t>E203</a:t>
            </a:r>
            <a:r>
              <a:rPr sz="3600" spc="-90" dirty="0">
                <a:solidFill>
                  <a:srgbClr val="C00000"/>
                </a:solidFill>
              </a:rPr>
              <a:t> </a:t>
            </a:r>
            <a:r>
              <a:rPr sz="3600" dirty="0">
                <a:solidFill>
                  <a:srgbClr val="C00000"/>
                </a:solidFill>
              </a:rPr>
              <a:t>开发环境</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p:nvPr/>
        </p:nvSpPr>
        <p:spPr>
          <a:xfrm>
            <a:off x="943494" y="3678381"/>
            <a:ext cx="4966854" cy="2427316"/>
          </a:xfrm>
          <a:prstGeom prst="rect">
            <a:avLst/>
          </a:prstGeom>
          <a:blipFill>
            <a:blip r:embed="rId1" cstate="print"/>
            <a:stretch>
              <a:fillRect/>
            </a:stretch>
          </a:blipFill>
        </p:spPr>
        <p:txBody>
          <a:bodyPr wrap="square" lIns="0" tIns="0" rIns="0" bIns="0" rtlCol="0"/>
          <a:lstStyle/>
          <a:p/>
        </p:txBody>
      </p:sp>
      <p:sp>
        <p:nvSpPr>
          <p:cNvPr id="5" name="object 5"/>
          <p:cNvSpPr/>
          <p:nvPr/>
        </p:nvSpPr>
        <p:spPr>
          <a:xfrm>
            <a:off x="6168043" y="1920239"/>
            <a:ext cx="5511338" cy="4189614"/>
          </a:xfrm>
          <a:prstGeom prst="rect">
            <a:avLst/>
          </a:prstGeom>
          <a:blipFill>
            <a:blip r:embed="rId2" cstate="print"/>
            <a:stretch>
              <a:fillRect/>
            </a:stretch>
          </a:blipFill>
        </p:spPr>
        <p:txBody>
          <a:bodyPr wrap="square" lIns="0" tIns="0" rIns="0" bIns="0" rtlCol="0"/>
          <a:lstStyle/>
          <a:p/>
        </p:txBody>
      </p:sp>
      <p:sp>
        <p:nvSpPr>
          <p:cNvPr id="6" name="object 6"/>
          <p:cNvSpPr txBox="1"/>
          <p:nvPr/>
        </p:nvSpPr>
        <p:spPr>
          <a:xfrm>
            <a:off x="873467" y="1378661"/>
            <a:ext cx="6369050" cy="2115185"/>
          </a:xfrm>
          <a:prstGeom prst="rect">
            <a:avLst/>
          </a:prstGeom>
        </p:spPr>
        <p:txBody>
          <a:bodyPr vert="horz" wrap="square" lIns="0" tIns="12065" rIns="0" bIns="0" rtlCol="0">
            <a:spAutoFit/>
          </a:bodyPr>
          <a:lstStyle/>
          <a:p>
            <a:pPr marL="12700">
              <a:lnSpc>
                <a:spcPct val="100000"/>
              </a:lnSpc>
              <a:spcBef>
                <a:spcPts val="95"/>
              </a:spcBef>
            </a:pPr>
            <a:r>
              <a:rPr sz="1600" dirty="0">
                <a:latin typeface="微软雅黑" panose="020B0503020204020204" charset="-122"/>
                <a:cs typeface="微软雅黑" panose="020B0503020204020204" charset="-122"/>
              </a:rPr>
              <a:t>蜂鸟</a:t>
            </a:r>
            <a:r>
              <a:rPr sz="1600" spc="-5" dirty="0">
                <a:latin typeface="微软雅黑" panose="020B0503020204020204" charset="-122"/>
                <a:cs typeface="微软雅黑" panose="020B0503020204020204" charset="-122"/>
              </a:rPr>
              <a:t>E203</a:t>
            </a:r>
            <a:r>
              <a:rPr sz="1600" dirty="0">
                <a:latin typeface="微软雅黑" panose="020B0503020204020204" charset="-122"/>
                <a:cs typeface="微软雅黑" panose="020B0503020204020204" charset="-122"/>
              </a:rPr>
              <a:t>开发环境由</a:t>
            </a: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工具链，板级支持包和图形化的</a:t>
            </a:r>
            <a:r>
              <a:rPr sz="1600" spc="-5" dirty="0">
                <a:latin typeface="微软雅黑" panose="020B0503020204020204" charset="-122"/>
                <a:cs typeface="微软雅黑" panose="020B0503020204020204" charset="-122"/>
              </a:rPr>
              <a:t>IDE</a:t>
            </a:r>
            <a:r>
              <a:rPr sz="1600" dirty="0">
                <a:latin typeface="微软雅黑" panose="020B0503020204020204" charset="-122"/>
                <a:cs typeface="微软雅黑" panose="020B0503020204020204" charset="-122"/>
              </a:rPr>
              <a:t>构成</a:t>
            </a:r>
            <a:r>
              <a:rPr sz="1600" spc="-5" dirty="0">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a:p>
            <a:pPr marL="298450" marR="1167765" indent="-285750">
              <a:lnSpc>
                <a:spcPct val="150000"/>
              </a:lnSpc>
              <a:spcBef>
                <a:spcPts val="1575"/>
              </a:spcBef>
              <a:buFont typeface="Wingdings" panose="05000000000000000000"/>
              <a:buChar char=""/>
              <a:tabLst>
                <a:tab pos="297815" algn="l"/>
                <a:tab pos="298450" algn="l"/>
              </a:tabLst>
            </a:pPr>
            <a:r>
              <a:rPr sz="1200" dirty="0">
                <a:latin typeface="微软雅黑" panose="020B0503020204020204" charset="-122"/>
                <a:cs typeface="微软雅黑" panose="020B0503020204020204" charset="-122"/>
              </a:rPr>
              <a:t>为了让用户能够非常容易地使用</a:t>
            </a:r>
            <a:r>
              <a:rPr sz="1200" spc="-5" dirty="0">
                <a:latin typeface="微软雅黑" panose="020B0503020204020204" charset="-122"/>
                <a:cs typeface="微软雅黑" panose="020B0503020204020204" charset="-122"/>
              </a:rPr>
              <a:t>RISC-V</a:t>
            </a:r>
            <a:r>
              <a:rPr sz="1200" dirty="0">
                <a:latin typeface="微软雅黑" panose="020B0503020204020204" charset="-122"/>
                <a:cs typeface="微软雅黑" panose="020B0503020204020204" charset="-122"/>
              </a:rPr>
              <a:t>处理器开发软件，蜂鸟E203不仅 开源了SoC平台，也开源了配套的软件开发平台</a:t>
            </a:r>
            <a:r>
              <a:rPr sz="1200" spc="-5" dirty="0">
                <a:latin typeface="微软雅黑" panose="020B0503020204020204" charset="-122"/>
                <a:cs typeface="微软雅黑" panose="020B0503020204020204" charset="-122"/>
              </a:rPr>
              <a:t>——</a:t>
            </a:r>
            <a:r>
              <a:rPr sz="1200" dirty="0">
                <a:latin typeface="微软雅黑" panose="020B0503020204020204" charset="-122"/>
                <a:cs typeface="微软雅黑" panose="020B0503020204020204" charset="-122"/>
              </a:rPr>
              <a:t>HBi</a:t>
            </a:r>
            <a:r>
              <a:rPr sz="1200" spc="-20" dirty="0">
                <a:latin typeface="微软雅黑" panose="020B0503020204020204" charset="-122"/>
                <a:cs typeface="微软雅黑" panose="020B0503020204020204" charset="-122"/>
              </a:rPr>
              <a:t>r</a:t>
            </a:r>
            <a:r>
              <a:rPr sz="1200" dirty="0">
                <a:latin typeface="微软雅黑" panose="020B0503020204020204" charset="-122"/>
                <a:cs typeface="微软雅黑" panose="020B0503020204020204" charset="-122"/>
              </a:rPr>
              <a:t>d-E-SD</a:t>
            </a:r>
            <a:r>
              <a:rPr sz="1200" spc="-5" dirty="0">
                <a:latin typeface="微软雅黑" panose="020B0503020204020204" charset="-122"/>
                <a:cs typeface="微软雅黑" panose="020B0503020204020204" charset="-122"/>
              </a:rPr>
              <a:t>K</a:t>
            </a:r>
            <a:r>
              <a:rPr sz="1200" dirty="0">
                <a:latin typeface="微软雅黑" panose="020B0503020204020204" charset="-122"/>
                <a:cs typeface="微软雅黑" panose="020B0503020204020204" charset="-122"/>
              </a:rPr>
              <a:t>平台， 其主要由板级支持包和若干软件示例构成。</a:t>
            </a:r>
            <a:endParaRPr sz="1200">
              <a:latin typeface="微软雅黑" panose="020B0503020204020204" charset="-122"/>
              <a:cs typeface="微软雅黑" panose="020B0503020204020204" charset="-122"/>
            </a:endParaRPr>
          </a:p>
          <a:p>
            <a:pPr>
              <a:lnSpc>
                <a:spcPct val="100000"/>
              </a:lnSpc>
              <a:spcBef>
                <a:spcPts val="30"/>
              </a:spcBef>
              <a:buFont typeface="Wingdings" panose="05000000000000000000"/>
              <a:buChar char=""/>
            </a:pPr>
            <a:endParaRPr sz="1850">
              <a:latin typeface="Times New Roman" panose="02020603050405020304"/>
              <a:cs typeface="Times New Roman" panose="02020603050405020304"/>
            </a:endParaRPr>
          </a:p>
          <a:p>
            <a:pPr marL="298450" marR="1249045" indent="-285750">
              <a:lnSpc>
                <a:spcPct val="150000"/>
              </a:lnSpc>
              <a:buFont typeface="Wingdings" panose="05000000000000000000"/>
              <a:buChar char=""/>
              <a:tabLst>
                <a:tab pos="297815" algn="l"/>
                <a:tab pos="298450" algn="l"/>
              </a:tabLst>
            </a:pPr>
            <a:r>
              <a:rPr sz="1200" dirty="0">
                <a:latin typeface="微软雅黑" panose="020B0503020204020204" charset="-122"/>
                <a:cs typeface="微软雅黑" panose="020B0503020204020204" charset="-122"/>
              </a:rPr>
              <a:t>蜂鸟E203可以使用开源的</a:t>
            </a:r>
            <a:r>
              <a:rPr sz="1200" spc="-5" dirty="0">
                <a:latin typeface="微软雅黑" panose="020B0503020204020204" charset="-122"/>
                <a:cs typeface="微软雅黑" panose="020B0503020204020204" charset="-122"/>
              </a:rPr>
              <a:t>MCU</a:t>
            </a:r>
            <a:r>
              <a:rPr sz="1200" spc="-30" dirty="0">
                <a:latin typeface="微软雅黑" panose="020B0503020204020204" charset="-122"/>
                <a:cs typeface="微软雅黑" panose="020B0503020204020204" charset="-122"/>
              </a:rPr>
              <a:t> </a:t>
            </a:r>
            <a:r>
              <a:rPr sz="1200" spc="-5" dirty="0">
                <a:latin typeface="微软雅黑" panose="020B0503020204020204" charset="-122"/>
                <a:cs typeface="微软雅黑" panose="020B0503020204020204" charset="-122"/>
              </a:rPr>
              <a:t>Eclipse</a:t>
            </a:r>
            <a:r>
              <a:rPr sz="1200" spc="-30" dirty="0">
                <a:latin typeface="微软雅黑" panose="020B0503020204020204" charset="-122"/>
                <a:cs typeface="微软雅黑" panose="020B0503020204020204" charset="-122"/>
              </a:rPr>
              <a:t> </a:t>
            </a:r>
            <a:r>
              <a:rPr sz="1200" dirty="0">
                <a:latin typeface="微软雅黑" panose="020B0503020204020204" charset="-122"/>
                <a:cs typeface="微软雅黑" panose="020B0503020204020204" charset="-122"/>
              </a:rPr>
              <a:t>IDE进行基于</a:t>
            </a:r>
            <a:r>
              <a:rPr sz="1200" spc="-5" dirty="0">
                <a:latin typeface="微软雅黑" panose="020B0503020204020204" charset="-122"/>
                <a:cs typeface="微软雅黑" panose="020B0503020204020204" charset="-122"/>
              </a:rPr>
              <a:t>Windows</a:t>
            </a:r>
            <a:r>
              <a:rPr sz="1200" dirty="0">
                <a:latin typeface="微软雅黑" panose="020B0503020204020204" charset="-122"/>
                <a:cs typeface="微软雅黑" panose="020B0503020204020204" charset="-122"/>
              </a:rPr>
              <a:t>的图形化 开发。</a:t>
            </a:r>
            <a:endParaRPr sz="1200">
              <a:latin typeface="微软雅黑" panose="020B0503020204020204" charset="-122"/>
              <a:cs typeface="微软雅黑" panose="020B0503020204020204" charset="-122"/>
            </a:endParaRPr>
          </a:p>
        </p:txBody>
      </p:sp>
      <p:sp>
        <p:nvSpPr>
          <p:cNvPr id="7" name="object 7"/>
          <p:cNvSpPr txBox="1"/>
          <p:nvPr/>
        </p:nvSpPr>
        <p:spPr>
          <a:xfrm>
            <a:off x="2861945" y="4668520"/>
            <a:ext cx="928369"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latin typeface="微软雅黑" panose="020B0503020204020204" charset="-122"/>
                <a:cs typeface="微软雅黑" panose="020B0503020204020204" charset="-122"/>
              </a:rPr>
              <a:t>S</a:t>
            </a:r>
            <a:r>
              <a:rPr sz="3600" spc="-5" dirty="0">
                <a:solidFill>
                  <a:srgbClr val="C00000"/>
                </a:solidFill>
                <a:latin typeface="微软雅黑" panose="020B0503020204020204" charset="-122"/>
                <a:cs typeface="微软雅黑" panose="020B0503020204020204" charset="-122"/>
              </a:rPr>
              <a:t>D</a:t>
            </a:r>
            <a:r>
              <a:rPr sz="3600" dirty="0">
                <a:solidFill>
                  <a:srgbClr val="C00000"/>
                </a:solidFill>
                <a:latin typeface="微软雅黑" panose="020B0503020204020204" charset="-122"/>
                <a:cs typeface="微软雅黑" panose="020B0503020204020204" charset="-122"/>
              </a:rPr>
              <a:t>K</a:t>
            </a:r>
            <a:endParaRPr sz="3600">
              <a:latin typeface="微软雅黑" panose="020B0503020204020204" charset="-122"/>
              <a:cs typeface="微软雅黑" panose="020B0503020204020204" charset="-122"/>
            </a:endParaRPr>
          </a:p>
        </p:txBody>
      </p:sp>
      <p:sp>
        <p:nvSpPr>
          <p:cNvPr id="8" name="object 8"/>
          <p:cNvSpPr txBox="1"/>
          <p:nvPr/>
        </p:nvSpPr>
        <p:spPr>
          <a:xfrm>
            <a:off x="8942705" y="3696970"/>
            <a:ext cx="75946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latin typeface="微软雅黑" panose="020B0503020204020204" charset="-122"/>
                <a:cs typeface="微软雅黑" panose="020B0503020204020204" charset="-122"/>
              </a:rPr>
              <a:t>I</a:t>
            </a:r>
            <a:r>
              <a:rPr sz="3600" spc="-5" dirty="0">
                <a:solidFill>
                  <a:srgbClr val="C00000"/>
                </a:solidFill>
                <a:latin typeface="微软雅黑" panose="020B0503020204020204" charset="-122"/>
                <a:cs typeface="微软雅黑" panose="020B0503020204020204" charset="-122"/>
              </a:rPr>
              <a:t>D</a:t>
            </a:r>
            <a:r>
              <a:rPr sz="3600" dirty="0">
                <a:solidFill>
                  <a:srgbClr val="C00000"/>
                </a:solidFill>
                <a:latin typeface="微软雅黑" panose="020B0503020204020204" charset="-122"/>
                <a:cs typeface="微软雅黑" panose="020B0503020204020204" charset="-122"/>
              </a:rPr>
              <a:t>E</a:t>
            </a:r>
            <a:endParaRPr sz="3600">
              <a:latin typeface="微软雅黑" panose="020B0503020204020204" charset="-122"/>
              <a:cs typeface="微软雅黑" panose="020B0503020204020204" charset="-122"/>
            </a:endParaRPr>
          </a:p>
        </p:txBody>
      </p:sp>
      <p:sp>
        <p:nvSpPr>
          <p:cNvPr id="9" name="object 9"/>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5953760" cy="56642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专用F</a:t>
            </a:r>
            <a:r>
              <a:rPr sz="3600" spc="5" dirty="0">
                <a:solidFill>
                  <a:srgbClr val="C00000"/>
                </a:solidFill>
              </a:rPr>
              <a:t>P</a:t>
            </a:r>
            <a:r>
              <a:rPr sz="3600" dirty="0">
                <a:solidFill>
                  <a:srgbClr val="C00000"/>
                </a:solidFill>
              </a:rPr>
              <a:t>G</a:t>
            </a:r>
            <a:r>
              <a:rPr sz="3600" spc="-5" dirty="0">
                <a:solidFill>
                  <a:srgbClr val="C00000"/>
                </a:solidFill>
              </a:rPr>
              <a:t>A</a:t>
            </a:r>
            <a:r>
              <a:rPr sz="3600" dirty="0">
                <a:solidFill>
                  <a:srgbClr val="C00000"/>
                </a:solidFill>
              </a:rPr>
              <a:t>开发板和调试器</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757555" y="1240917"/>
            <a:ext cx="3937635" cy="1625600"/>
          </a:xfrm>
          <a:prstGeom prst="rect">
            <a:avLst/>
          </a:prstGeom>
        </p:spPr>
        <p:txBody>
          <a:bodyPr vert="horz" wrap="square" lIns="0" tIns="12065" rIns="0" bIns="0" rtlCol="0">
            <a:spAutoFit/>
          </a:bodyPr>
          <a:lstStyle/>
          <a:p>
            <a:pPr marL="12700" marR="5080">
              <a:lnSpc>
                <a:spcPct val="150000"/>
              </a:lnSpc>
              <a:spcBef>
                <a:spcPts val="95"/>
              </a:spcBef>
            </a:pPr>
            <a:r>
              <a:rPr sz="1400" dirty="0">
                <a:latin typeface="微软雅黑" panose="020B0503020204020204" charset="-122"/>
                <a:cs typeface="微软雅黑" panose="020B0503020204020204" charset="-122"/>
              </a:rPr>
              <a:t>为了便于初学者能够快速地学习</a:t>
            </a:r>
            <a:r>
              <a:rPr sz="1400" spc="-5" dirty="0">
                <a:latin typeface="微软雅黑" panose="020B0503020204020204" charset="-122"/>
                <a:cs typeface="微软雅黑" panose="020B0503020204020204" charset="-122"/>
              </a:rPr>
              <a:t>RISC-V</a:t>
            </a:r>
            <a:r>
              <a:rPr sz="1400" spc="-35" dirty="0">
                <a:latin typeface="微软雅黑" panose="020B0503020204020204" charset="-122"/>
                <a:cs typeface="微软雅黑" panose="020B0503020204020204" charset="-122"/>
              </a:rPr>
              <a:t> </a:t>
            </a:r>
            <a:r>
              <a:rPr sz="1400" spc="-5" dirty="0">
                <a:latin typeface="微软雅黑" panose="020B0503020204020204" charset="-122"/>
                <a:cs typeface="微软雅黑" panose="020B0503020204020204" charset="-122"/>
              </a:rPr>
              <a:t>CPU</a:t>
            </a:r>
            <a:r>
              <a:rPr sz="1400" dirty="0">
                <a:latin typeface="微软雅黑" panose="020B0503020204020204" charset="-122"/>
                <a:cs typeface="微软雅黑" panose="020B0503020204020204" charset="-122"/>
              </a:rPr>
              <a:t>设</a:t>
            </a:r>
            <a:r>
              <a:rPr sz="1400" spc="5" dirty="0">
                <a:latin typeface="微软雅黑" panose="020B0503020204020204" charset="-122"/>
                <a:cs typeface="微软雅黑" panose="020B0503020204020204" charset="-122"/>
              </a:rPr>
              <a:t>计 </a:t>
            </a:r>
            <a:r>
              <a:rPr sz="1400" spc="-5" dirty="0">
                <a:latin typeface="微软雅黑" panose="020B0503020204020204" charset="-122"/>
                <a:cs typeface="微软雅黑" panose="020B0503020204020204" charset="-122"/>
              </a:rPr>
              <a:t>和RISC-</a:t>
            </a:r>
            <a:r>
              <a:rPr sz="1400" spc="-10" dirty="0">
                <a:latin typeface="微软雅黑" panose="020B0503020204020204" charset="-122"/>
                <a:cs typeface="微软雅黑" panose="020B0503020204020204" charset="-122"/>
              </a:rPr>
              <a:t>V</a:t>
            </a:r>
            <a:r>
              <a:rPr sz="1400" spc="-5" dirty="0">
                <a:latin typeface="微软雅黑" panose="020B0503020204020204" charset="-122"/>
                <a:cs typeface="微软雅黑" panose="020B0503020204020204" charset="-122"/>
              </a:rPr>
              <a:t>嵌入式开发，蜂鸟E203开源项目为MC</a:t>
            </a:r>
            <a:r>
              <a:rPr sz="1400" dirty="0">
                <a:latin typeface="微软雅黑" panose="020B0503020204020204" charset="-122"/>
                <a:cs typeface="微软雅黑" panose="020B0503020204020204" charset="-122"/>
              </a:rPr>
              <a:t>U </a:t>
            </a:r>
            <a:r>
              <a:rPr sz="1400" dirty="0">
                <a:latin typeface="微软雅黑" panose="020B0503020204020204" charset="-122"/>
                <a:cs typeface="微软雅黑" panose="020B0503020204020204" charset="-122"/>
              </a:rPr>
              <a:t>原型</a:t>
            </a:r>
            <a:r>
              <a:rPr sz="1400" spc="-5" dirty="0">
                <a:latin typeface="微软雅黑" panose="020B0503020204020204" charset="-122"/>
                <a:cs typeface="微软雅黑" panose="020B0503020204020204" charset="-122"/>
              </a:rPr>
              <a:t>SoC</a:t>
            </a:r>
            <a:r>
              <a:rPr sz="1400" dirty="0">
                <a:latin typeface="微软雅黑" panose="020B0503020204020204" charset="-122"/>
                <a:cs typeface="微软雅黑" panose="020B0503020204020204" charset="-122"/>
              </a:rPr>
              <a:t>定制了:</a:t>
            </a:r>
            <a:endParaRPr sz="1400">
              <a:latin typeface="微软雅黑" panose="020B0503020204020204" charset="-122"/>
              <a:cs typeface="微软雅黑" panose="020B0503020204020204" charset="-122"/>
            </a:endParaRPr>
          </a:p>
          <a:p>
            <a:pPr marL="298450" indent="-285750">
              <a:lnSpc>
                <a:spcPct val="100000"/>
              </a:lnSpc>
              <a:spcBef>
                <a:spcPts val="840"/>
              </a:spcBef>
              <a:buFont typeface="Wingdings" panose="05000000000000000000"/>
              <a:buChar char=""/>
              <a:tabLst>
                <a:tab pos="297815" algn="l"/>
                <a:tab pos="298450" algn="l"/>
              </a:tabLst>
            </a:pPr>
            <a:r>
              <a:rPr sz="1400" dirty="0">
                <a:latin typeface="微软雅黑" panose="020B0503020204020204" charset="-122"/>
                <a:cs typeface="微软雅黑" panose="020B0503020204020204" charset="-122"/>
              </a:rPr>
              <a:t>基于</a:t>
            </a:r>
            <a:r>
              <a:rPr sz="1400" spc="-5" dirty="0">
                <a:latin typeface="微软雅黑" panose="020B0503020204020204" charset="-122"/>
                <a:cs typeface="微软雅黑" panose="020B0503020204020204" charset="-122"/>
              </a:rPr>
              <a:t>FPGA</a:t>
            </a:r>
            <a:r>
              <a:rPr sz="1400" dirty="0">
                <a:latin typeface="微软雅黑" panose="020B0503020204020204" charset="-122"/>
                <a:cs typeface="微软雅黑" panose="020B0503020204020204" charset="-122"/>
              </a:rPr>
              <a:t>的专用学习开发</a:t>
            </a:r>
            <a:r>
              <a:rPr sz="1400" spc="5" dirty="0">
                <a:latin typeface="微软雅黑" panose="020B0503020204020204" charset="-122"/>
                <a:cs typeface="微软雅黑" panose="020B0503020204020204" charset="-122"/>
              </a:rPr>
              <a:t>板</a:t>
            </a:r>
            <a:endParaRPr sz="1400">
              <a:latin typeface="微软雅黑" panose="020B0503020204020204" charset="-122"/>
              <a:cs typeface="微软雅黑" panose="020B0503020204020204" charset="-122"/>
            </a:endParaRPr>
          </a:p>
          <a:p>
            <a:pPr marL="298450" indent="-285750">
              <a:lnSpc>
                <a:spcPct val="100000"/>
              </a:lnSpc>
              <a:spcBef>
                <a:spcPts val="840"/>
              </a:spcBef>
              <a:buFont typeface="Wingdings" panose="05000000000000000000"/>
              <a:buChar char=""/>
              <a:tabLst>
                <a:tab pos="297815" algn="l"/>
                <a:tab pos="298450" algn="l"/>
              </a:tabLst>
            </a:pPr>
            <a:r>
              <a:rPr sz="1400" dirty="0">
                <a:latin typeface="微软雅黑" panose="020B0503020204020204" charset="-122"/>
                <a:cs typeface="微软雅黑" panose="020B0503020204020204" charset="-122"/>
              </a:rPr>
              <a:t>专用</a:t>
            </a:r>
            <a:r>
              <a:rPr sz="1400" spc="-40" dirty="0">
                <a:latin typeface="微软雅黑" panose="020B0503020204020204" charset="-122"/>
                <a:cs typeface="微软雅黑" panose="020B0503020204020204" charset="-122"/>
              </a:rPr>
              <a:t>JTAG</a:t>
            </a:r>
            <a:r>
              <a:rPr sz="1400" dirty="0">
                <a:latin typeface="微软雅黑" panose="020B0503020204020204" charset="-122"/>
                <a:cs typeface="微软雅黑" panose="020B0503020204020204" charset="-122"/>
              </a:rPr>
              <a:t>调试</a:t>
            </a:r>
            <a:r>
              <a:rPr sz="1400" spc="5" dirty="0">
                <a:latin typeface="微软雅黑" panose="020B0503020204020204" charset="-122"/>
                <a:cs typeface="微软雅黑" panose="020B0503020204020204" charset="-122"/>
              </a:rPr>
              <a:t>器</a:t>
            </a:r>
            <a:endParaRPr sz="1400">
              <a:latin typeface="微软雅黑" panose="020B0503020204020204" charset="-122"/>
              <a:cs typeface="微软雅黑" panose="020B0503020204020204" charset="-122"/>
            </a:endParaRPr>
          </a:p>
        </p:txBody>
      </p:sp>
      <p:sp>
        <p:nvSpPr>
          <p:cNvPr id="5" name="object 5"/>
          <p:cNvSpPr/>
          <p:nvPr/>
        </p:nvSpPr>
        <p:spPr>
          <a:xfrm>
            <a:off x="678180" y="3023616"/>
            <a:ext cx="5623560" cy="3168395"/>
          </a:xfrm>
          <a:prstGeom prst="rect">
            <a:avLst/>
          </a:prstGeom>
          <a:blipFill>
            <a:blip r:embed="rId1" cstate="print"/>
            <a:stretch>
              <a:fillRect/>
            </a:stretch>
          </a:blipFill>
        </p:spPr>
        <p:txBody>
          <a:bodyPr wrap="square" lIns="0" tIns="0" rIns="0" bIns="0" rtlCol="0"/>
          <a:lstStyle/>
          <a:p/>
        </p:txBody>
      </p:sp>
      <p:sp>
        <p:nvSpPr>
          <p:cNvPr id="6" name="object 6"/>
          <p:cNvSpPr/>
          <p:nvPr/>
        </p:nvSpPr>
        <p:spPr>
          <a:xfrm>
            <a:off x="6905243" y="894588"/>
            <a:ext cx="4192524" cy="2799588"/>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6905243" y="3810000"/>
            <a:ext cx="4192524" cy="2382012"/>
          </a:xfrm>
          <a:prstGeom prst="rect">
            <a:avLst/>
          </a:prstGeom>
          <a:blipFill>
            <a:blip r:embed="rId3" cstate="print"/>
            <a:stretch>
              <a:fillRect/>
            </a:stretch>
          </a:blipFill>
        </p:spPr>
        <p:txBody>
          <a:bodyPr wrap="square" lIns="0" tIns="0" rIns="0" bIns="0" rtlCol="0"/>
          <a:lstStyle/>
          <a:p/>
        </p:txBody>
      </p:sp>
      <p:sp>
        <p:nvSpPr>
          <p:cNvPr id="8" name="object 8"/>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4018915"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通过F</a:t>
            </a:r>
            <a:r>
              <a:rPr sz="3600" spc="5" dirty="0">
                <a:solidFill>
                  <a:srgbClr val="C00000"/>
                </a:solidFill>
              </a:rPr>
              <a:t>P</a:t>
            </a:r>
            <a:r>
              <a:rPr sz="3600" dirty="0">
                <a:solidFill>
                  <a:srgbClr val="C00000"/>
                </a:solidFill>
              </a:rPr>
              <a:t>G</a:t>
            </a:r>
            <a:r>
              <a:rPr sz="3600" spc="-5" dirty="0">
                <a:solidFill>
                  <a:srgbClr val="C00000"/>
                </a:solidFill>
              </a:rPr>
              <a:t>A</a:t>
            </a:r>
            <a:r>
              <a:rPr sz="3600" dirty="0">
                <a:solidFill>
                  <a:srgbClr val="C00000"/>
                </a:solidFill>
              </a:rPr>
              <a:t>进行仿真</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p:nvPr/>
        </p:nvSpPr>
        <p:spPr>
          <a:xfrm>
            <a:off x="6015228" y="1897379"/>
            <a:ext cx="4937760" cy="4128516"/>
          </a:xfrm>
          <a:prstGeom prst="rect">
            <a:avLst/>
          </a:prstGeom>
          <a:blipFill>
            <a:blip r:embed="rId1" cstate="print"/>
            <a:stretch>
              <a:fillRect/>
            </a:stretch>
          </a:blipFill>
        </p:spPr>
        <p:txBody>
          <a:bodyPr wrap="square" lIns="0" tIns="0" rIns="0" bIns="0" rtlCol="0"/>
          <a:lstStyle/>
          <a:p/>
        </p:txBody>
      </p:sp>
      <p:sp>
        <p:nvSpPr>
          <p:cNvPr id="5" name="object 5"/>
          <p:cNvSpPr/>
          <p:nvPr/>
        </p:nvSpPr>
        <p:spPr>
          <a:xfrm>
            <a:off x="6008573" y="1891347"/>
            <a:ext cx="4951095" cy="4141470"/>
          </a:xfrm>
          <a:custGeom>
            <a:avLst/>
            <a:gdLst/>
            <a:ahLst/>
            <a:cxnLst/>
            <a:rect l="l" t="t" r="r" b="b"/>
            <a:pathLst>
              <a:path w="4951095" h="4141470">
                <a:moveTo>
                  <a:pt x="4950853" y="4141216"/>
                </a:moveTo>
                <a:lnTo>
                  <a:pt x="0" y="4141216"/>
                </a:lnTo>
                <a:lnTo>
                  <a:pt x="0" y="0"/>
                </a:lnTo>
                <a:lnTo>
                  <a:pt x="4950853" y="0"/>
                </a:lnTo>
                <a:lnTo>
                  <a:pt x="4950853" y="6350"/>
                </a:lnTo>
                <a:lnTo>
                  <a:pt x="12700" y="6350"/>
                </a:lnTo>
                <a:lnTo>
                  <a:pt x="6350" y="12700"/>
                </a:lnTo>
                <a:lnTo>
                  <a:pt x="12700" y="12700"/>
                </a:lnTo>
                <a:lnTo>
                  <a:pt x="12700" y="4128516"/>
                </a:lnTo>
                <a:lnTo>
                  <a:pt x="6350" y="4128516"/>
                </a:lnTo>
                <a:lnTo>
                  <a:pt x="12700" y="4134866"/>
                </a:lnTo>
                <a:lnTo>
                  <a:pt x="4950853" y="4134865"/>
                </a:lnTo>
                <a:lnTo>
                  <a:pt x="4950853" y="4141216"/>
                </a:lnTo>
                <a:close/>
              </a:path>
              <a:path w="4951095" h="4141470">
                <a:moveTo>
                  <a:pt x="12700" y="12700"/>
                </a:moveTo>
                <a:lnTo>
                  <a:pt x="6350" y="12700"/>
                </a:lnTo>
                <a:lnTo>
                  <a:pt x="12700" y="6350"/>
                </a:lnTo>
                <a:lnTo>
                  <a:pt x="12700" y="12700"/>
                </a:lnTo>
                <a:close/>
              </a:path>
              <a:path w="4951095" h="4141470">
                <a:moveTo>
                  <a:pt x="4938153" y="12700"/>
                </a:moveTo>
                <a:lnTo>
                  <a:pt x="12700" y="12700"/>
                </a:lnTo>
                <a:lnTo>
                  <a:pt x="12700" y="6350"/>
                </a:lnTo>
                <a:lnTo>
                  <a:pt x="4938153" y="6350"/>
                </a:lnTo>
                <a:lnTo>
                  <a:pt x="4938153" y="12700"/>
                </a:lnTo>
                <a:close/>
              </a:path>
              <a:path w="4951095" h="4141470">
                <a:moveTo>
                  <a:pt x="4938153" y="4134866"/>
                </a:moveTo>
                <a:lnTo>
                  <a:pt x="4938153" y="6350"/>
                </a:lnTo>
                <a:lnTo>
                  <a:pt x="4944503" y="12700"/>
                </a:lnTo>
                <a:lnTo>
                  <a:pt x="4950853" y="12700"/>
                </a:lnTo>
                <a:lnTo>
                  <a:pt x="4950853" y="4128515"/>
                </a:lnTo>
                <a:lnTo>
                  <a:pt x="4944503" y="4128516"/>
                </a:lnTo>
                <a:lnTo>
                  <a:pt x="4938153" y="4134866"/>
                </a:lnTo>
                <a:close/>
              </a:path>
              <a:path w="4951095" h="4141470">
                <a:moveTo>
                  <a:pt x="4950853" y="12700"/>
                </a:moveTo>
                <a:lnTo>
                  <a:pt x="4944503" y="12700"/>
                </a:lnTo>
                <a:lnTo>
                  <a:pt x="4938153" y="6350"/>
                </a:lnTo>
                <a:lnTo>
                  <a:pt x="4950853" y="6350"/>
                </a:lnTo>
                <a:lnTo>
                  <a:pt x="4950853" y="12700"/>
                </a:lnTo>
                <a:close/>
              </a:path>
              <a:path w="4951095" h="4141470">
                <a:moveTo>
                  <a:pt x="12700" y="4134866"/>
                </a:moveTo>
                <a:lnTo>
                  <a:pt x="6350" y="4128516"/>
                </a:lnTo>
                <a:lnTo>
                  <a:pt x="12700" y="4128516"/>
                </a:lnTo>
                <a:lnTo>
                  <a:pt x="12700" y="4134866"/>
                </a:lnTo>
                <a:close/>
              </a:path>
              <a:path w="4951095" h="4141470">
                <a:moveTo>
                  <a:pt x="4938153" y="4134866"/>
                </a:moveTo>
                <a:lnTo>
                  <a:pt x="12700" y="4134866"/>
                </a:lnTo>
                <a:lnTo>
                  <a:pt x="12700" y="4128516"/>
                </a:lnTo>
                <a:lnTo>
                  <a:pt x="4938153" y="4128516"/>
                </a:lnTo>
                <a:lnTo>
                  <a:pt x="4938153" y="4134866"/>
                </a:lnTo>
                <a:close/>
              </a:path>
              <a:path w="4951095" h="4141470">
                <a:moveTo>
                  <a:pt x="4950853" y="4134865"/>
                </a:moveTo>
                <a:lnTo>
                  <a:pt x="4938153" y="4134866"/>
                </a:lnTo>
                <a:lnTo>
                  <a:pt x="4944503" y="4128516"/>
                </a:lnTo>
                <a:lnTo>
                  <a:pt x="4950853" y="4128515"/>
                </a:lnTo>
                <a:lnTo>
                  <a:pt x="4950853" y="4134865"/>
                </a:lnTo>
                <a:close/>
              </a:path>
            </a:pathLst>
          </a:custGeom>
          <a:solidFill>
            <a:srgbClr val="C00000"/>
          </a:solidFill>
        </p:spPr>
        <p:txBody>
          <a:bodyPr wrap="square" lIns="0" tIns="0" rIns="0" bIns="0" rtlCol="0"/>
          <a:lstStyle/>
          <a:p/>
        </p:txBody>
      </p:sp>
      <p:sp>
        <p:nvSpPr>
          <p:cNvPr id="6" name="object 6"/>
          <p:cNvSpPr/>
          <p:nvPr/>
        </p:nvSpPr>
        <p:spPr>
          <a:xfrm>
            <a:off x="952500" y="1897379"/>
            <a:ext cx="4610100" cy="4130040"/>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946150" y="1891347"/>
            <a:ext cx="4622165" cy="4142104"/>
          </a:xfrm>
          <a:custGeom>
            <a:avLst/>
            <a:gdLst/>
            <a:ahLst/>
            <a:cxnLst/>
            <a:rect l="l" t="t" r="r" b="b"/>
            <a:pathLst>
              <a:path w="4622165" h="4142104">
                <a:moveTo>
                  <a:pt x="4622139" y="4141787"/>
                </a:moveTo>
                <a:lnTo>
                  <a:pt x="0" y="4141787"/>
                </a:lnTo>
                <a:lnTo>
                  <a:pt x="0" y="0"/>
                </a:lnTo>
                <a:lnTo>
                  <a:pt x="4622139" y="0"/>
                </a:lnTo>
                <a:lnTo>
                  <a:pt x="4622139" y="6350"/>
                </a:lnTo>
                <a:lnTo>
                  <a:pt x="12700" y="6350"/>
                </a:lnTo>
                <a:lnTo>
                  <a:pt x="6350" y="12700"/>
                </a:lnTo>
                <a:lnTo>
                  <a:pt x="12700" y="12700"/>
                </a:lnTo>
                <a:lnTo>
                  <a:pt x="12700" y="4129087"/>
                </a:lnTo>
                <a:lnTo>
                  <a:pt x="6350" y="4129087"/>
                </a:lnTo>
                <a:lnTo>
                  <a:pt x="12700" y="4135437"/>
                </a:lnTo>
                <a:lnTo>
                  <a:pt x="4622139" y="4135437"/>
                </a:lnTo>
                <a:lnTo>
                  <a:pt x="4622139" y="4141787"/>
                </a:lnTo>
                <a:close/>
              </a:path>
              <a:path w="4622165" h="4142104">
                <a:moveTo>
                  <a:pt x="12700" y="12700"/>
                </a:moveTo>
                <a:lnTo>
                  <a:pt x="6350" y="12700"/>
                </a:lnTo>
                <a:lnTo>
                  <a:pt x="12700" y="6350"/>
                </a:lnTo>
                <a:lnTo>
                  <a:pt x="12700" y="12700"/>
                </a:lnTo>
                <a:close/>
              </a:path>
              <a:path w="4622165" h="4142104">
                <a:moveTo>
                  <a:pt x="4609439" y="12700"/>
                </a:moveTo>
                <a:lnTo>
                  <a:pt x="12700" y="12700"/>
                </a:lnTo>
                <a:lnTo>
                  <a:pt x="12700" y="6350"/>
                </a:lnTo>
                <a:lnTo>
                  <a:pt x="4609439" y="6350"/>
                </a:lnTo>
                <a:lnTo>
                  <a:pt x="4609439" y="12700"/>
                </a:lnTo>
                <a:close/>
              </a:path>
              <a:path w="4622165" h="4142104">
                <a:moveTo>
                  <a:pt x="4609439" y="4135437"/>
                </a:moveTo>
                <a:lnTo>
                  <a:pt x="4609439" y="6350"/>
                </a:lnTo>
                <a:lnTo>
                  <a:pt x="4615789" y="12700"/>
                </a:lnTo>
                <a:lnTo>
                  <a:pt x="4622139" y="12700"/>
                </a:lnTo>
                <a:lnTo>
                  <a:pt x="4622139" y="4129087"/>
                </a:lnTo>
                <a:lnTo>
                  <a:pt x="4615789" y="4129087"/>
                </a:lnTo>
                <a:lnTo>
                  <a:pt x="4609439" y="4135437"/>
                </a:lnTo>
                <a:close/>
              </a:path>
              <a:path w="4622165" h="4142104">
                <a:moveTo>
                  <a:pt x="4622139" y="12700"/>
                </a:moveTo>
                <a:lnTo>
                  <a:pt x="4615789" y="12700"/>
                </a:lnTo>
                <a:lnTo>
                  <a:pt x="4609439" y="6350"/>
                </a:lnTo>
                <a:lnTo>
                  <a:pt x="4622139" y="6350"/>
                </a:lnTo>
                <a:lnTo>
                  <a:pt x="4622139" y="12700"/>
                </a:lnTo>
                <a:close/>
              </a:path>
              <a:path w="4622165" h="4142104">
                <a:moveTo>
                  <a:pt x="12700" y="4135437"/>
                </a:moveTo>
                <a:lnTo>
                  <a:pt x="6350" y="4129087"/>
                </a:lnTo>
                <a:lnTo>
                  <a:pt x="12700" y="4129087"/>
                </a:lnTo>
                <a:lnTo>
                  <a:pt x="12700" y="4135437"/>
                </a:lnTo>
                <a:close/>
              </a:path>
              <a:path w="4622165" h="4142104">
                <a:moveTo>
                  <a:pt x="4609439" y="4135437"/>
                </a:moveTo>
                <a:lnTo>
                  <a:pt x="12700" y="4135437"/>
                </a:lnTo>
                <a:lnTo>
                  <a:pt x="12700" y="4129087"/>
                </a:lnTo>
                <a:lnTo>
                  <a:pt x="4609439" y="4129087"/>
                </a:lnTo>
                <a:lnTo>
                  <a:pt x="4609439" y="4135437"/>
                </a:lnTo>
                <a:close/>
              </a:path>
              <a:path w="4622165" h="4142104">
                <a:moveTo>
                  <a:pt x="4622139" y="4135437"/>
                </a:moveTo>
                <a:lnTo>
                  <a:pt x="4609439" y="4135437"/>
                </a:lnTo>
                <a:lnTo>
                  <a:pt x="4615789" y="4129087"/>
                </a:lnTo>
                <a:lnTo>
                  <a:pt x="4622139" y="4129087"/>
                </a:lnTo>
                <a:lnTo>
                  <a:pt x="4622139" y="4135437"/>
                </a:lnTo>
                <a:close/>
              </a:path>
            </a:pathLst>
          </a:custGeom>
          <a:solidFill>
            <a:srgbClr val="C00000"/>
          </a:solidFill>
        </p:spPr>
        <p:txBody>
          <a:bodyPr wrap="square" lIns="0" tIns="0" rIns="0" bIns="0" rtlCol="0"/>
          <a:lstStyle/>
          <a:p/>
        </p:txBody>
      </p:sp>
      <p:sp>
        <p:nvSpPr>
          <p:cNvPr id="8" name="object 8"/>
          <p:cNvSpPr/>
          <p:nvPr/>
        </p:nvSpPr>
        <p:spPr>
          <a:xfrm>
            <a:off x="1310639" y="3553967"/>
            <a:ext cx="1007744" cy="934719"/>
          </a:xfrm>
          <a:custGeom>
            <a:avLst/>
            <a:gdLst/>
            <a:ahLst/>
            <a:cxnLst/>
            <a:rect l="l" t="t" r="r" b="b"/>
            <a:pathLst>
              <a:path w="1007744" h="934720">
                <a:moveTo>
                  <a:pt x="0" y="0"/>
                </a:moveTo>
                <a:lnTo>
                  <a:pt x="1007363" y="0"/>
                </a:lnTo>
                <a:lnTo>
                  <a:pt x="1007363" y="934212"/>
                </a:lnTo>
                <a:lnTo>
                  <a:pt x="0" y="934212"/>
                </a:lnTo>
                <a:lnTo>
                  <a:pt x="0" y="0"/>
                </a:lnTo>
                <a:close/>
              </a:path>
            </a:pathLst>
          </a:custGeom>
          <a:solidFill>
            <a:srgbClr val="D9D9D9"/>
          </a:solidFill>
        </p:spPr>
        <p:txBody>
          <a:bodyPr wrap="square" lIns="0" tIns="0" rIns="0" bIns="0" rtlCol="0"/>
          <a:lstStyle/>
          <a:p/>
        </p:txBody>
      </p:sp>
      <p:sp>
        <p:nvSpPr>
          <p:cNvPr id="9" name="object 9"/>
          <p:cNvSpPr/>
          <p:nvPr/>
        </p:nvSpPr>
        <p:spPr>
          <a:xfrm>
            <a:off x="1303832" y="3547338"/>
            <a:ext cx="1020444" cy="948055"/>
          </a:xfrm>
          <a:custGeom>
            <a:avLst/>
            <a:gdLst/>
            <a:ahLst/>
            <a:cxnLst/>
            <a:rect l="l" t="t" r="r" b="b"/>
            <a:pathLst>
              <a:path w="1020444" h="948054">
                <a:moveTo>
                  <a:pt x="1020000" y="947839"/>
                </a:moveTo>
                <a:lnTo>
                  <a:pt x="0" y="947839"/>
                </a:lnTo>
                <a:lnTo>
                  <a:pt x="0" y="0"/>
                </a:lnTo>
                <a:lnTo>
                  <a:pt x="1020000" y="0"/>
                </a:lnTo>
                <a:lnTo>
                  <a:pt x="1020000" y="6350"/>
                </a:lnTo>
                <a:lnTo>
                  <a:pt x="12700" y="6350"/>
                </a:lnTo>
                <a:lnTo>
                  <a:pt x="6350" y="12700"/>
                </a:lnTo>
                <a:lnTo>
                  <a:pt x="12700" y="12700"/>
                </a:lnTo>
                <a:lnTo>
                  <a:pt x="12700" y="935139"/>
                </a:lnTo>
                <a:lnTo>
                  <a:pt x="6350" y="935139"/>
                </a:lnTo>
                <a:lnTo>
                  <a:pt x="12700" y="941489"/>
                </a:lnTo>
                <a:lnTo>
                  <a:pt x="1020000" y="941489"/>
                </a:lnTo>
                <a:lnTo>
                  <a:pt x="1020000" y="947839"/>
                </a:lnTo>
                <a:close/>
              </a:path>
              <a:path w="1020444" h="948054">
                <a:moveTo>
                  <a:pt x="12700" y="12700"/>
                </a:moveTo>
                <a:lnTo>
                  <a:pt x="6350" y="12700"/>
                </a:lnTo>
                <a:lnTo>
                  <a:pt x="12700" y="6350"/>
                </a:lnTo>
                <a:lnTo>
                  <a:pt x="12700" y="12700"/>
                </a:lnTo>
                <a:close/>
              </a:path>
              <a:path w="1020444" h="948054">
                <a:moveTo>
                  <a:pt x="1007300" y="12700"/>
                </a:moveTo>
                <a:lnTo>
                  <a:pt x="12700" y="12700"/>
                </a:lnTo>
                <a:lnTo>
                  <a:pt x="12700" y="6350"/>
                </a:lnTo>
                <a:lnTo>
                  <a:pt x="1007300" y="6350"/>
                </a:lnTo>
                <a:lnTo>
                  <a:pt x="1007300" y="12700"/>
                </a:lnTo>
                <a:close/>
              </a:path>
              <a:path w="1020444" h="948054">
                <a:moveTo>
                  <a:pt x="1007300" y="941489"/>
                </a:moveTo>
                <a:lnTo>
                  <a:pt x="1007300" y="6350"/>
                </a:lnTo>
                <a:lnTo>
                  <a:pt x="1013650" y="12700"/>
                </a:lnTo>
                <a:lnTo>
                  <a:pt x="1020000" y="12700"/>
                </a:lnTo>
                <a:lnTo>
                  <a:pt x="1020000" y="935139"/>
                </a:lnTo>
                <a:lnTo>
                  <a:pt x="1013650" y="935139"/>
                </a:lnTo>
                <a:lnTo>
                  <a:pt x="1007300" y="941489"/>
                </a:lnTo>
                <a:close/>
              </a:path>
              <a:path w="1020444" h="948054">
                <a:moveTo>
                  <a:pt x="1020000" y="12700"/>
                </a:moveTo>
                <a:lnTo>
                  <a:pt x="1013650" y="12700"/>
                </a:lnTo>
                <a:lnTo>
                  <a:pt x="1007300" y="6350"/>
                </a:lnTo>
                <a:lnTo>
                  <a:pt x="1020000" y="6350"/>
                </a:lnTo>
                <a:lnTo>
                  <a:pt x="1020000" y="12700"/>
                </a:lnTo>
                <a:close/>
              </a:path>
              <a:path w="1020444" h="948054">
                <a:moveTo>
                  <a:pt x="12700" y="941489"/>
                </a:moveTo>
                <a:lnTo>
                  <a:pt x="6350" y="935139"/>
                </a:lnTo>
                <a:lnTo>
                  <a:pt x="12700" y="935139"/>
                </a:lnTo>
                <a:lnTo>
                  <a:pt x="12700" y="941489"/>
                </a:lnTo>
                <a:close/>
              </a:path>
              <a:path w="1020444" h="948054">
                <a:moveTo>
                  <a:pt x="1007300" y="941489"/>
                </a:moveTo>
                <a:lnTo>
                  <a:pt x="12700" y="941489"/>
                </a:lnTo>
                <a:lnTo>
                  <a:pt x="12700" y="935139"/>
                </a:lnTo>
                <a:lnTo>
                  <a:pt x="1007300" y="935139"/>
                </a:lnTo>
                <a:lnTo>
                  <a:pt x="1007300" y="941489"/>
                </a:lnTo>
                <a:close/>
              </a:path>
              <a:path w="1020444" h="948054">
                <a:moveTo>
                  <a:pt x="1020000" y="941489"/>
                </a:moveTo>
                <a:lnTo>
                  <a:pt x="1007300" y="941489"/>
                </a:lnTo>
                <a:lnTo>
                  <a:pt x="1013650" y="935139"/>
                </a:lnTo>
                <a:lnTo>
                  <a:pt x="1020000" y="935139"/>
                </a:lnTo>
                <a:lnTo>
                  <a:pt x="1020000" y="941489"/>
                </a:lnTo>
                <a:close/>
              </a:path>
            </a:pathLst>
          </a:custGeom>
          <a:solidFill>
            <a:srgbClr val="C00000"/>
          </a:solidFill>
        </p:spPr>
        <p:txBody>
          <a:bodyPr wrap="square" lIns="0" tIns="0" rIns="0" bIns="0" rtlCol="0"/>
          <a:lstStyle/>
          <a:p/>
        </p:txBody>
      </p:sp>
      <p:sp>
        <p:nvSpPr>
          <p:cNvPr id="10" name="object 10"/>
          <p:cNvSpPr txBox="1"/>
          <p:nvPr/>
        </p:nvSpPr>
        <p:spPr>
          <a:xfrm>
            <a:off x="1310639" y="3676243"/>
            <a:ext cx="1007744" cy="666750"/>
          </a:xfrm>
          <a:prstGeom prst="rect">
            <a:avLst/>
          </a:prstGeom>
        </p:spPr>
        <p:txBody>
          <a:bodyPr vert="horz" wrap="square" lIns="0" tIns="13335" rIns="0" bIns="0" rtlCol="0">
            <a:spAutoFit/>
          </a:bodyPr>
          <a:lstStyle/>
          <a:p>
            <a:pPr marL="93345">
              <a:lnSpc>
                <a:spcPct val="100000"/>
              </a:lnSpc>
              <a:spcBef>
                <a:spcPts val="105"/>
              </a:spcBef>
            </a:pPr>
            <a:r>
              <a:rPr sz="1400" b="1" spc="-5" dirty="0">
                <a:solidFill>
                  <a:srgbClr val="C00000"/>
                </a:solidFill>
                <a:latin typeface="微软雅黑" panose="020B0503020204020204" charset="-122"/>
                <a:cs typeface="微软雅黑" panose="020B0503020204020204" charset="-122"/>
              </a:rPr>
              <a:t>USB-A</a:t>
            </a:r>
            <a:r>
              <a:rPr sz="1400" b="1" spc="-40" dirty="0">
                <a:solidFill>
                  <a:srgbClr val="C00000"/>
                </a:solidFill>
                <a:latin typeface="微软雅黑" panose="020B0503020204020204" charset="-122"/>
                <a:cs typeface="微软雅黑" panose="020B0503020204020204" charset="-122"/>
              </a:rPr>
              <a:t> </a:t>
            </a:r>
            <a:r>
              <a:rPr sz="1400" b="1" spc="-5" dirty="0">
                <a:solidFill>
                  <a:srgbClr val="C00000"/>
                </a:solidFill>
                <a:latin typeface="微软雅黑" panose="020B0503020204020204" charset="-122"/>
                <a:cs typeface="微软雅黑" panose="020B0503020204020204" charset="-122"/>
              </a:rPr>
              <a:t>to</a:t>
            </a:r>
            <a:endParaRPr sz="1400">
              <a:latin typeface="微软雅黑" panose="020B0503020204020204" charset="-122"/>
              <a:cs typeface="微软雅黑" panose="020B0503020204020204" charset="-122"/>
            </a:endParaRPr>
          </a:p>
          <a:p>
            <a:pPr marL="236220" marR="137160" indent="-92075">
              <a:lnSpc>
                <a:spcPct val="100000"/>
              </a:lnSpc>
            </a:pPr>
            <a:r>
              <a:rPr sz="1400" b="1" spc="-5" dirty="0">
                <a:solidFill>
                  <a:srgbClr val="C00000"/>
                </a:solidFill>
                <a:latin typeface="微软雅黑" panose="020B0503020204020204" charset="-122"/>
                <a:cs typeface="微软雅黑" panose="020B0503020204020204" charset="-122"/>
              </a:rPr>
              <a:t>Mic</a:t>
            </a:r>
            <a:r>
              <a:rPr sz="1400" b="1" spc="-15" dirty="0">
                <a:solidFill>
                  <a:srgbClr val="C00000"/>
                </a:solidFill>
                <a:latin typeface="微软雅黑" panose="020B0503020204020204" charset="-122"/>
                <a:cs typeface="微软雅黑" panose="020B0503020204020204" charset="-122"/>
              </a:rPr>
              <a:t>r</a:t>
            </a:r>
            <a:r>
              <a:rPr sz="1400" b="1" spc="-5" dirty="0">
                <a:solidFill>
                  <a:srgbClr val="C00000"/>
                </a:solidFill>
                <a:latin typeface="微软雅黑" panose="020B0503020204020204" charset="-122"/>
                <a:cs typeface="微软雅黑" panose="020B0503020204020204" charset="-122"/>
              </a:rPr>
              <a:t>o-</a:t>
            </a:r>
            <a:r>
              <a:rPr sz="1400" b="1" dirty="0">
                <a:solidFill>
                  <a:srgbClr val="C00000"/>
                </a:solidFill>
                <a:latin typeface="微软雅黑" panose="020B0503020204020204" charset="-122"/>
                <a:cs typeface="微软雅黑" panose="020B0503020204020204" charset="-122"/>
              </a:rPr>
              <a:t>B </a:t>
            </a:r>
            <a:r>
              <a:rPr sz="1400" b="1" dirty="0">
                <a:solidFill>
                  <a:srgbClr val="C00000"/>
                </a:solidFill>
                <a:latin typeface="微软雅黑" panose="020B0503020204020204" charset="-122"/>
                <a:cs typeface="微软雅黑" panose="020B0503020204020204" charset="-122"/>
              </a:rPr>
              <a:t>连接</a:t>
            </a:r>
            <a:r>
              <a:rPr sz="1400" b="1" spc="5" dirty="0">
                <a:solidFill>
                  <a:srgbClr val="C00000"/>
                </a:solidFill>
                <a:latin typeface="微软雅黑" panose="020B0503020204020204" charset="-122"/>
                <a:cs typeface="微软雅黑" panose="020B0503020204020204" charset="-122"/>
              </a:rPr>
              <a:t>线</a:t>
            </a:r>
            <a:endParaRPr sz="1400">
              <a:latin typeface="微软雅黑" panose="020B0503020204020204" charset="-122"/>
              <a:cs typeface="微软雅黑" panose="020B0503020204020204" charset="-122"/>
            </a:endParaRPr>
          </a:p>
        </p:txBody>
      </p:sp>
      <p:sp>
        <p:nvSpPr>
          <p:cNvPr id="11" name="object 11"/>
          <p:cNvSpPr/>
          <p:nvPr/>
        </p:nvSpPr>
        <p:spPr>
          <a:xfrm>
            <a:off x="2753867" y="2177795"/>
            <a:ext cx="1007744" cy="935990"/>
          </a:xfrm>
          <a:custGeom>
            <a:avLst/>
            <a:gdLst/>
            <a:ahLst/>
            <a:cxnLst/>
            <a:rect l="l" t="t" r="r" b="b"/>
            <a:pathLst>
              <a:path w="1007745" h="935989">
                <a:moveTo>
                  <a:pt x="0" y="0"/>
                </a:moveTo>
                <a:lnTo>
                  <a:pt x="1007363" y="0"/>
                </a:lnTo>
                <a:lnTo>
                  <a:pt x="1007363" y="935735"/>
                </a:lnTo>
                <a:lnTo>
                  <a:pt x="0" y="935735"/>
                </a:lnTo>
                <a:lnTo>
                  <a:pt x="0" y="0"/>
                </a:lnTo>
                <a:close/>
              </a:path>
            </a:pathLst>
          </a:custGeom>
          <a:solidFill>
            <a:srgbClr val="D9D9D9"/>
          </a:solidFill>
        </p:spPr>
        <p:txBody>
          <a:bodyPr wrap="square" lIns="0" tIns="0" rIns="0" bIns="0" rtlCol="0"/>
          <a:lstStyle/>
          <a:p/>
        </p:txBody>
      </p:sp>
      <p:sp>
        <p:nvSpPr>
          <p:cNvPr id="12" name="object 12"/>
          <p:cNvSpPr/>
          <p:nvPr/>
        </p:nvSpPr>
        <p:spPr>
          <a:xfrm>
            <a:off x="2747225" y="2171547"/>
            <a:ext cx="1020444" cy="948055"/>
          </a:xfrm>
          <a:custGeom>
            <a:avLst/>
            <a:gdLst/>
            <a:ahLst/>
            <a:cxnLst/>
            <a:rect l="l" t="t" r="r" b="b"/>
            <a:pathLst>
              <a:path w="1020445" h="948055">
                <a:moveTo>
                  <a:pt x="1019987" y="947851"/>
                </a:moveTo>
                <a:lnTo>
                  <a:pt x="0" y="947851"/>
                </a:lnTo>
                <a:lnTo>
                  <a:pt x="0" y="0"/>
                </a:lnTo>
                <a:lnTo>
                  <a:pt x="1019987" y="0"/>
                </a:lnTo>
                <a:lnTo>
                  <a:pt x="1019987" y="6350"/>
                </a:lnTo>
                <a:lnTo>
                  <a:pt x="12700" y="6350"/>
                </a:lnTo>
                <a:lnTo>
                  <a:pt x="6350" y="12700"/>
                </a:lnTo>
                <a:lnTo>
                  <a:pt x="12700" y="12700"/>
                </a:lnTo>
                <a:lnTo>
                  <a:pt x="12700" y="935151"/>
                </a:lnTo>
                <a:lnTo>
                  <a:pt x="6350" y="935151"/>
                </a:lnTo>
                <a:lnTo>
                  <a:pt x="12700" y="941501"/>
                </a:lnTo>
                <a:lnTo>
                  <a:pt x="1019987" y="941501"/>
                </a:lnTo>
                <a:lnTo>
                  <a:pt x="1019987" y="947851"/>
                </a:lnTo>
                <a:close/>
              </a:path>
              <a:path w="1020445" h="948055">
                <a:moveTo>
                  <a:pt x="12700" y="12700"/>
                </a:moveTo>
                <a:lnTo>
                  <a:pt x="6350" y="12700"/>
                </a:lnTo>
                <a:lnTo>
                  <a:pt x="12700" y="6350"/>
                </a:lnTo>
                <a:lnTo>
                  <a:pt x="12700" y="12700"/>
                </a:lnTo>
                <a:close/>
              </a:path>
              <a:path w="1020445" h="948055">
                <a:moveTo>
                  <a:pt x="1007287" y="12700"/>
                </a:moveTo>
                <a:lnTo>
                  <a:pt x="12700" y="12700"/>
                </a:lnTo>
                <a:lnTo>
                  <a:pt x="12700" y="6350"/>
                </a:lnTo>
                <a:lnTo>
                  <a:pt x="1007287" y="6350"/>
                </a:lnTo>
                <a:lnTo>
                  <a:pt x="1007287" y="12700"/>
                </a:lnTo>
                <a:close/>
              </a:path>
              <a:path w="1020445" h="948055">
                <a:moveTo>
                  <a:pt x="1007287" y="941501"/>
                </a:moveTo>
                <a:lnTo>
                  <a:pt x="1007287" y="6350"/>
                </a:lnTo>
                <a:lnTo>
                  <a:pt x="1013637" y="12700"/>
                </a:lnTo>
                <a:lnTo>
                  <a:pt x="1019987" y="12700"/>
                </a:lnTo>
                <a:lnTo>
                  <a:pt x="1019987" y="935151"/>
                </a:lnTo>
                <a:lnTo>
                  <a:pt x="1013637" y="935151"/>
                </a:lnTo>
                <a:lnTo>
                  <a:pt x="1007287" y="941501"/>
                </a:lnTo>
                <a:close/>
              </a:path>
              <a:path w="1020445" h="948055">
                <a:moveTo>
                  <a:pt x="1019987" y="12700"/>
                </a:moveTo>
                <a:lnTo>
                  <a:pt x="1013637" y="12700"/>
                </a:lnTo>
                <a:lnTo>
                  <a:pt x="1007287" y="6350"/>
                </a:lnTo>
                <a:lnTo>
                  <a:pt x="1019987" y="6350"/>
                </a:lnTo>
                <a:lnTo>
                  <a:pt x="1019987" y="12700"/>
                </a:lnTo>
                <a:close/>
              </a:path>
              <a:path w="1020445" h="948055">
                <a:moveTo>
                  <a:pt x="12700" y="941501"/>
                </a:moveTo>
                <a:lnTo>
                  <a:pt x="6350" y="935151"/>
                </a:lnTo>
                <a:lnTo>
                  <a:pt x="12700" y="935151"/>
                </a:lnTo>
                <a:lnTo>
                  <a:pt x="12700" y="941501"/>
                </a:lnTo>
                <a:close/>
              </a:path>
              <a:path w="1020445" h="948055">
                <a:moveTo>
                  <a:pt x="1007287" y="941501"/>
                </a:moveTo>
                <a:lnTo>
                  <a:pt x="12700" y="941501"/>
                </a:lnTo>
                <a:lnTo>
                  <a:pt x="12700" y="935151"/>
                </a:lnTo>
                <a:lnTo>
                  <a:pt x="1007287" y="935151"/>
                </a:lnTo>
                <a:lnTo>
                  <a:pt x="1007287" y="941501"/>
                </a:lnTo>
                <a:close/>
              </a:path>
              <a:path w="1020445" h="948055">
                <a:moveTo>
                  <a:pt x="1019987" y="941501"/>
                </a:moveTo>
                <a:lnTo>
                  <a:pt x="1007287" y="941501"/>
                </a:lnTo>
                <a:lnTo>
                  <a:pt x="1013637" y="935151"/>
                </a:lnTo>
                <a:lnTo>
                  <a:pt x="1019987" y="935151"/>
                </a:lnTo>
                <a:lnTo>
                  <a:pt x="1019987" y="941501"/>
                </a:lnTo>
                <a:close/>
              </a:path>
            </a:pathLst>
          </a:custGeom>
          <a:solidFill>
            <a:srgbClr val="C00000"/>
          </a:solidFill>
        </p:spPr>
        <p:txBody>
          <a:bodyPr wrap="square" lIns="0" tIns="0" rIns="0" bIns="0" rtlCol="0"/>
          <a:lstStyle/>
          <a:p/>
        </p:txBody>
      </p:sp>
      <p:sp>
        <p:nvSpPr>
          <p:cNvPr id="13" name="object 13"/>
          <p:cNvSpPr txBox="1"/>
          <p:nvPr/>
        </p:nvSpPr>
        <p:spPr>
          <a:xfrm>
            <a:off x="2753867" y="2407132"/>
            <a:ext cx="1007744" cy="453390"/>
          </a:xfrm>
          <a:prstGeom prst="rect">
            <a:avLst/>
          </a:prstGeom>
        </p:spPr>
        <p:txBody>
          <a:bodyPr vert="horz" wrap="square" lIns="0" tIns="13335" rIns="0" bIns="0" rtlCol="0">
            <a:spAutoFit/>
          </a:bodyPr>
          <a:lstStyle/>
          <a:p>
            <a:pPr marL="414020" marR="93345" indent="-313055">
              <a:lnSpc>
                <a:spcPct val="100000"/>
              </a:lnSpc>
              <a:spcBef>
                <a:spcPts val="105"/>
              </a:spcBef>
            </a:pPr>
            <a:r>
              <a:rPr sz="1400" b="1" spc="-5" dirty="0">
                <a:solidFill>
                  <a:srgbClr val="C00000"/>
                </a:solidFill>
                <a:latin typeface="微软雅黑" panose="020B0503020204020204" charset="-122"/>
                <a:cs typeface="微软雅黑" panose="020B0503020204020204" charset="-122"/>
              </a:rPr>
              <a:t>J</a:t>
            </a:r>
            <a:r>
              <a:rPr sz="1400" b="1" spc="-114" dirty="0">
                <a:solidFill>
                  <a:srgbClr val="C00000"/>
                </a:solidFill>
                <a:latin typeface="微软雅黑" panose="020B0503020204020204" charset="-122"/>
                <a:cs typeface="微软雅黑" panose="020B0503020204020204" charset="-122"/>
              </a:rPr>
              <a:t>T</a:t>
            </a:r>
            <a:r>
              <a:rPr sz="1400" b="1" spc="-25" dirty="0">
                <a:solidFill>
                  <a:srgbClr val="C00000"/>
                </a:solidFill>
                <a:latin typeface="微软雅黑" panose="020B0503020204020204" charset="-122"/>
                <a:cs typeface="微软雅黑" panose="020B0503020204020204" charset="-122"/>
              </a:rPr>
              <a:t>A</a:t>
            </a:r>
            <a:r>
              <a:rPr sz="1400" b="1" spc="-5" dirty="0">
                <a:solidFill>
                  <a:srgbClr val="C00000"/>
                </a:solidFill>
                <a:latin typeface="微软雅黑" panose="020B0503020204020204" charset="-122"/>
                <a:cs typeface="微软雅黑" panose="020B0503020204020204" charset="-122"/>
              </a:rPr>
              <a:t>G调</a:t>
            </a:r>
            <a:r>
              <a:rPr sz="1400" b="1" dirty="0">
                <a:solidFill>
                  <a:srgbClr val="C00000"/>
                </a:solidFill>
                <a:latin typeface="微软雅黑" panose="020B0503020204020204" charset="-122"/>
                <a:cs typeface="微软雅黑" panose="020B0503020204020204" charset="-122"/>
              </a:rPr>
              <a:t>试 </a:t>
            </a:r>
            <a:r>
              <a:rPr sz="1400" b="1" spc="5" dirty="0">
                <a:solidFill>
                  <a:srgbClr val="C00000"/>
                </a:solidFill>
                <a:latin typeface="微软雅黑" panose="020B0503020204020204" charset="-122"/>
                <a:cs typeface="微软雅黑" panose="020B0503020204020204" charset="-122"/>
              </a:rPr>
              <a:t>器</a:t>
            </a:r>
            <a:endParaRPr sz="1400">
              <a:latin typeface="微软雅黑" panose="020B0503020204020204" charset="-122"/>
              <a:cs typeface="微软雅黑" panose="020B0503020204020204" charset="-122"/>
            </a:endParaRPr>
          </a:p>
        </p:txBody>
      </p:sp>
      <p:sp>
        <p:nvSpPr>
          <p:cNvPr id="14" name="object 14"/>
          <p:cNvSpPr/>
          <p:nvPr/>
        </p:nvSpPr>
        <p:spPr>
          <a:xfrm>
            <a:off x="2753867" y="3553967"/>
            <a:ext cx="1007744" cy="934719"/>
          </a:xfrm>
          <a:custGeom>
            <a:avLst/>
            <a:gdLst/>
            <a:ahLst/>
            <a:cxnLst/>
            <a:rect l="l" t="t" r="r" b="b"/>
            <a:pathLst>
              <a:path w="1007745" h="934720">
                <a:moveTo>
                  <a:pt x="0" y="0"/>
                </a:moveTo>
                <a:lnTo>
                  <a:pt x="1007363" y="0"/>
                </a:lnTo>
                <a:lnTo>
                  <a:pt x="1007363" y="934212"/>
                </a:lnTo>
                <a:lnTo>
                  <a:pt x="0" y="934212"/>
                </a:lnTo>
                <a:lnTo>
                  <a:pt x="0" y="0"/>
                </a:lnTo>
                <a:close/>
              </a:path>
            </a:pathLst>
          </a:custGeom>
          <a:solidFill>
            <a:srgbClr val="D9D9D9"/>
          </a:solidFill>
        </p:spPr>
        <p:txBody>
          <a:bodyPr wrap="square" lIns="0" tIns="0" rIns="0" bIns="0" rtlCol="0"/>
          <a:lstStyle/>
          <a:p/>
        </p:txBody>
      </p:sp>
      <p:sp>
        <p:nvSpPr>
          <p:cNvPr id="15" name="object 15"/>
          <p:cNvSpPr/>
          <p:nvPr/>
        </p:nvSpPr>
        <p:spPr>
          <a:xfrm>
            <a:off x="2747225" y="3547338"/>
            <a:ext cx="1020444" cy="948055"/>
          </a:xfrm>
          <a:custGeom>
            <a:avLst/>
            <a:gdLst/>
            <a:ahLst/>
            <a:cxnLst/>
            <a:rect l="l" t="t" r="r" b="b"/>
            <a:pathLst>
              <a:path w="1020445" h="948054">
                <a:moveTo>
                  <a:pt x="1019987" y="947839"/>
                </a:moveTo>
                <a:lnTo>
                  <a:pt x="0" y="947839"/>
                </a:lnTo>
                <a:lnTo>
                  <a:pt x="0" y="0"/>
                </a:lnTo>
                <a:lnTo>
                  <a:pt x="1019987" y="0"/>
                </a:lnTo>
                <a:lnTo>
                  <a:pt x="1019987" y="6350"/>
                </a:lnTo>
                <a:lnTo>
                  <a:pt x="12700" y="6350"/>
                </a:lnTo>
                <a:lnTo>
                  <a:pt x="6350" y="12700"/>
                </a:lnTo>
                <a:lnTo>
                  <a:pt x="12700" y="12700"/>
                </a:lnTo>
                <a:lnTo>
                  <a:pt x="12700" y="935139"/>
                </a:lnTo>
                <a:lnTo>
                  <a:pt x="6350" y="935139"/>
                </a:lnTo>
                <a:lnTo>
                  <a:pt x="12700" y="941489"/>
                </a:lnTo>
                <a:lnTo>
                  <a:pt x="1019987" y="941489"/>
                </a:lnTo>
                <a:lnTo>
                  <a:pt x="1019987" y="947839"/>
                </a:lnTo>
                <a:close/>
              </a:path>
              <a:path w="1020445" h="948054">
                <a:moveTo>
                  <a:pt x="12700" y="12700"/>
                </a:moveTo>
                <a:lnTo>
                  <a:pt x="6350" y="12700"/>
                </a:lnTo>
                <a:lnTo>
                  <a:pt x="12700" y="6350"/>
                </a:lnTo>
                <a:lnTo>
                  <a:pt x="12700" y="12700"/>
                </a:lnTo>
                <a:close/>
              </a:path>
              <a:path w="1020445" h="948054">
                <a:moveTo>
                  <a:pt x="1007287" y="12700"/>
                </a:moveTo>
                <a:lnTo>
                  <a:pt x="12700" y="12700"/>
                </a:lnTo>
                <a:lnTo>
                  <a:pt x="12700" y="6350"/>
                </a:lnTo>
                <a:lnTo>
                  <a:pt x="1007287" y="6350"/>
                </a:lnTo>
                <a:lnTo>
                  <a:pt x="1007287" y="12700"/>
                </a:lnTo>
                <a:close/>
              </a:path>
              <a:path w="1020445" h="948054">
                <a:moveTo>
                  <a:pt x="1007287" y="941489"/>
                </a:moveTo>
                <a:lnTo>
                  <a:pt x="1007287" y="6350"/>
                </a:lnTo>
                <a:lnTo>
                  <a:pt x="1013637" y="12700"/>
                </a:lnTo>
                <a:lnTo>
                  <a:pt x="1019987" y="12700"/>
                </a:lnTo>
                <a:lnTo>
                  <a:pt x="1019987" y="935139"/>
                </a:lnTo>
                <a:lnTo>
                  <a:pt x="1013637" y="935139"/>
                </a:lnTo>
                <a:lnTo>
                  <a:pt x="1007287" y="941489"/>
                </a:lnTo>
                <a:close/>
              </a:path>
              <a:path w="1020445" h="948054">
                <a:moveTo>
                  <a:pt x="1019987" y="12700"/>
                </a:moveTo>
                <a:lnTo>
                  <a:pt x="1013637" y="12700"/>
                </a:lnTo>
                <a:lnTo>
                  <a:pt x="1007287" y="6350"/>
                </a:lnTo>
                <a:lnTo>
                  <a:pt x="1019987" y="6350"/>
                </a:lnTo>
                <a:lnTo>
                  <a:pt x="1019987" y="12700"/>
                </a:lnTo>
                <a:close/>
              </a:path>
              <a:path w="1020445" h="948054">
                <a:moveTo>
                  <a:pt x="12700" y="941489"/>
                </a:moveTo>
                <a:lnTo>
                  <a:pt x="6350" y="935139"/>
                </a:lnTo>
                <a:lnTo>
                  <a:pt x="12700" y="935139"/>
                </a:lnTo>
                <a:lnTo>
                  <a:pt x="12700" y="941489"/>
                </a:lnTo>
                <a:close/>
              </a:path>
              <a:path w="1020445" h="948054">
                <a:moveTo>
                  <a:pt x="1007287" y="941489"/>
                </a:moveTo>
                <a:lnTo>
                  <a:pt x="12700" y="941489"/>
                </a:lnTo>
                <a:lnTo>
                  <a:pt x="12700" y="935139"/>
                </a:lnTo>
                <a:lnTo>
                  <a:pt x="1007287" y="935139"/>
                </a:lnTo>
                <a:lnTo>
                  <a:pt x="1007287" y="941489"/>
                </a:lnTo>
                <a:close/>
              </a:path>
              <a:path w="1020445" h="948054">
                <a:moveTo>
                  <a:pt x="1019987" y="941489"/>
                </a:moveTo>
                <a:lnTo>
                  <a:pt x="1007287" y="941489"/>
                </a:lnTo>
                <a:lnTo>
                  <a:pt x="1013637" y="935139"/>
                </a:lnTo>
                <a:lnTo>
                  <a:pt x="1019987" y="935139"/>
                </a:lnTo>
                <a:lnTo>
                  <a:pt x="1019987" y="941489"/>
                </a:lnTo>
                <a:close/>
              </a:path>
            </a:pathLst>
          </a:custGeom>
          <a:solidFill>
            <a:srgbClr val="C00000"/>
          </a:solidFill>
        </p:spPr>
        <p:txBody>
          <a:bodyPr wrap="square" lIns="0" tIns="0" rIns="0" bIns="0" rtlCol="0"/>
          <a:lstStyle/>
          <a:p/>
        </p:txBody>
      </p:sp>
      <p:sp>
        <p:nvSpPr>
          <p:cNvPr id="16" name="object 16"/>
          <p:cNvSpPr txBox="1"/>
          <p:nvPr/>
        </p:nvSpPr>
        <p:spPr>
          <a:xfrm>
            <a:off x="2753867" y="3676243"/>
            <a:ext cx="1007744" cy="666750"/>
          </a:xfrm>
          <a:prstGeom prst="rect">
            <a:avLst/>
          </a:prstGeom>
        </p:spPr>
        <p:txBody>
          <a:bodyPr vert="horz" wrap="square" lIns="0" tIns="13335" rIns="0" bIns="0" rtlCol="0">
            <a:spAutoFit/>
          </a:bodyPr>
          <a:lstStyle/>
          <a:p>
            <a:pPr marL="93345" marR="86360" algn="ctr">
              <a:lnSpc>
                <a:spcPct val="100000"/>
              </a:lnSpc>
              <a:spcBef>
                <a:spcPts val="105"/>
              </a:spcBef>
            </a:pPr>
            <a:r>
              <a:rPr sz="1400" b="1" spc="-5" dirty="0">
                <a:solidFill>
                  <a:srgbClr val="C00000"/>
                </a:solidFill>
                <a:latin typeface="微软雅黑" panose="020B0503020204020204" charset="-122"/>
                <a:cs typeface="微软雅黑" panose="020B0503020204020204" charset="-122"/>
              </a:rPr>
              <a:t>USB-A</a:t>
            </a:r>
            <a:r>
              <a:rPr sz="1400" b="1" spc="-95" dirty="0">
                <a:solidFill>
                  <a:srgbClr val="C00000"/>
                </a:solidFill>
                <a:latin typeface="微软雅黑" panose="020B0503020204020204" charset="-122"/>
                <a:cs typeface="微软雅黑" panose="020B0503020204020204" charset="-122"/>
              </a:rPr>
              <a:t> </a:t>
            </a:r>
            <a:r>
              <a:rPr sz="1400" b="1" spc="-5" dirty="0">
                <a:solidFill>
                  <a:srgbClr val="C00000"/>
                </a:solidFill>
                <a:latin typeface="微软雅黑" panose="020B0503020204020204" charset="-122"/>
                <a:cs typeface="微软雅黑" panose="020B0503020204020204" charset="-122"/>
              </a:rPr>
              <a:t>to  </a:t>
            </a:r>
            <a:r>
              <a:rPr sz="1400" b="1" dirty="0">
                <a:solidFill>
                  <a:srgbClr val="C00000"/>
                </a:solidFill>
                <a:latin typeface="微软雅黑" panose="020B0503020204020204" charset="-122"/>
                <a:cs typeface="微软雅黑" panose="020B0503020204020204" charset="-122"/>
              </a:rPr>
              <a:t>B</a:t>
            </a:r>
            <a:endParaRPr sz="1400">
              <a:latin typeface="微软雅黑" panose="020B0503020204020204" charset="-122"/>
              <a:cs typeface="微软雅黑" panose="020B0503020204020204" charset="-122"/>
            </a:endParaRPr>
          </a:p>
          <a:p>
            <a:pPr algn="ctr">
              <a:lnSpc>
                <a:spcPct val="100000"/>
              </a:lnSpc>
            </a:pPr>
            <a:r>
              <a:rPr sz="1400" b="1" dirty="0">
                <a:solidFill>
                  <a:srgbClr val="C00000"/>
                </a:solidFill>
                <a:latin typeface="微软雅黑" panose="020B0503020204020204" charset="-122"/>
                <a:cs typeface="微软雅黑" panose="020B0503020204020204" charset="-122"/>
              </a:rPr>
              <a:t>连接</a:t>
            </a:r>
            <a:r>
              <a:rPr sz="1400" b="1" spc="5" dirty="0">
                <a:solidFill>
                  <a:srgbClr val="C00000"/>
                </a:solidFill>
                <a:latin typeface="微软雅黑" panose="020B0503020204020204" charset="-122"/>
                <a:cs typeface="微软雅黑" panose="020B0503020204020204" charset="-122"/>
              </a:rPr>
              <a:t>线</a:t>
            </a:r>
            <a:endParaRPr sz="1400">
              <a:latin typeface="微软雅黑" panose="020B0503020204020204" charset="-122"/>
              <a:cs typeface="微软雅黑" panose="020B0503020204020204" charset="-122"/>
            </a:endParaRPr>
          </a:p>
        </p:txBody>
      </p:sp>
      <p:sp>
        <p:nvSpPr>
          <p:cNvPr id="17" name="object 17"/>
          <p:cNvSpPr/>
          <p:nvPr/>
        </p:nvSpPr>
        <p:spPr>
          <a:xfrm>
            <a:off x="4197096" y="2177795"/>
            <a:ext cx="1007744" cy="935990"/>
          </a:xfrm>
          <a:custGeom>
            <a:avLst/>
            <a:gdLst/>
            <a:ahLst/>
            <a:cxnLst/>
            <a:rect l="l" t="t" r="r" b="b"/>
            <a:pathLst>
              <a:path w="1007745" h="935989">
                <a:moveTo>
                  <a:pt x="0" y="0"/>
                </a:moveTo>
                <a:lnTo>
                  <a:pt x="1007363" y="0"/>
                </a:lnTo>
                <a:lnTo>
                  <a:pt x="1007363" y="935735"/>
                </a:lnTo>
                <a:lnTo>
                  <a:pt x="0" y="935735"/>
                </a:lnTo>
                <a:lnTo>
                  <a:pt x="0" y="0"/>
                </a:lnTo>
                <a:close/>
              </a:path>
            </a:pathLst>
          </a:custGeom>
          <a:solidFill>
            <a:srgbClr val="D9D9D9"/>
          </a:solidFill>
        </p:spPr>
        <p:txBody>
          <a:bodyPr wrap="square" lIns="0" tIns="0" rIns="0" bIns="0" rtlCol="0"/>
          <a:lstStyle/>
          <a:p/>
        </p:txBody>
      </p:sp>
      <p:sp>
        <p:nvSpPr>
          <p:cNvPr id="18" name="object 18"/>
          <p:cNvSpPr/>
          <p:nvPr/>
        </p:nvSpPr>
        <p:spPr>
          <a:xfrm>
            <a:off x="4191215" y="2172119"/>
            <a:ext cx="1020444" cy="948055"/>
          </a:xfrm>
          <a:custGeom>
            <a:avLst/>
            <a:gdLst/>
            <a:ahLst/>
            <a:cxnLst/>
            <a:rect l="l" t="t" r="r" b="b"/>
            <a:pathLst>
              <a:path w="1020445" h="948055">
                <a:moveTo>
                  <a:pt x="1019987" y="947851"/>
                </a:moveTo>
                <a:lnTo>
                  <a:pt x="0" y="947851"/>
                </a:lnTo>
                <a:lnTo>
                  <a:pt x="0" y="0"/>
                </a:lnTo>
                <a:lnTo>
                  <a:pt x="1019987" y="0"/>
                </a:lnTo>
                <a:lnTo>
                  <a:pt x="1019987" y="6349"/>
                </a:lnTo>
                <a:lnTo>
                  <a:pt x="12700" y="6349"/>
                </a:lnTo>
                <a:lnTo>
                  <a:pt x="6350" y="12699"/>
                </a:lnTo>
                <a:lnTo>
                  <a:pt x="12700" y="12699"/>
                </a:lnTo>
                <a:lnTo>
                  <a:pt x="12700" y="935151"/>
                </a:lnTo>
                <a:lnTo>
                  <a:pt x="6350" y="935151"/>
                </a:lnTo>
                <a:lnTo>
                  <a:pt x="12700" y="941501"/>
                </a:lnTo>
                <a:lnTo>
                  <a:pt x="1019987" y="941501"/>
                </a:lnTo>
                <a:lnTo>
                  <a:pt x="1019987" y="947851"/>
                </a:lnTo>
                <a:close/>
              </a:path>
              <a:path w="1020445" h="948055">
                <a:moveTo>
                  <a:pt x="12700" y="12699"/>
                </a:moveTo>
                <a:lnTo>
                  <a:pt x="6350" y="12699"/>
                </a:lnTo>
                <a:lnTo>
                  <a:pt x="12700" y="6349"/>
                </a:lnTo>
                <a:lnTo>
                  <a:pt x="12700" y="12699"/>
                </a:lnTo>
                <a:close/>
              </a:path>
              <a:path w="1020445" h="948055">
                <a:moveTo>
                  <a:pt x="1007287" y="12699"/>
                </a:moveTo>
                <a:lnTo>
                  <a:pt x="12700" y="12699"/>
                </a:lnTo>
                <a:lnTo>
                  <a:pt x="12700" y="6349"/>
                </a:lnTo>
                <a:lnTo>
                  <a:pt x="1007287" y="6349"/>
                </a:lnTo>
                <a:lnTo>
                  <a:pt x="1007287" y="12699"/>
                </a:lnTo>
                <a:close/>
              </a:path>
              <a:path w="1020445" h="948055">
                <a:moveTo>
                  <a:pt x="1007287" y="941501"/>
                </a:moveTo>
                <a:lnTo>
                  <a:pt x="1007287" y="6349"/>
                </a:lnTo>
                <a:lnTo>
                  <a:pt x="1013637" y="12699"/>
                </a:lnTo>
                <a:lnTo>
                  <a:pt x="1019987" y="12699"/>
                </a:lnTo>
                <a:lnTo>
                  <a:pt x="1019987" y="935151"/>
                </a:lnTo>
                <a:lnTo>
                  <a:pt x="1013637" y="935151"/>
                </a:lnTo>
                <a:lnTo>
                  <a:pt x="1007287" y="941501"/>
                </a:lnTo>
                <a:close/>
              </a:path>
              <a:path w="1020445" h="948055">
                <a:moveTo>
                  <a:pt x="1019987" y="12699"/>
                </a:moveTo>
                <a:lnTo>
                  <a:pt x="1013637" y="12699"/>
                </a:lnTo>
                <a:lnTo>
                  <a:pt x="1007287" y="6349"/>
                </a:lnTo>
                <a:lnTo>
                  <a:pt x="1019987" y="6349"/>
                </a:lnTo>
                <a:lnTo>
                  <a:pt x="1019987" y="12699"/>
                </a:lnTo>
                <a:close/>
              </a:path>
              <a:path w="1020445" h="948055">
                <a:moveTo>
                  <a:pt x="12700" y="941501"/>
                </a:moveTo>
                <a:lnTo>
                  <a:pt x="6350" y="935151"/>
                </a:lnTo>
                <a:lnTo>
                  <a:pt x="12700" y="935151"/>
                </a:lnTo>
                <a:lnTo>
                  <a:pt x="12700" y="941501"/>
                </a:lnTo>
                <a:close/>
              </a:path>
              <a:path w="1020445" h="948055">
                <a:moveTo>
                  <a:pt x="1007287" y="941501"/>
                </a:moveTo>
                <a:lnTo>
                  <a:pt x="12700" y="941501"/>
                </a:lnTo>
                <a:lnTo>
                  <a:pt x="12700" y="935151"/>
                </a:lnTo>
                <a:lnTo>
                  <a:pt x="1007287" y="935151"/>
                </a:lnTo>
                <a:lnTo>
                  <a:pt x="1007287" y="941501"/>
                </a:lnTo>
                <a:close/>
              </a:path>
              <a:path w="1020445" h="948055">
                <a:moveTo>
                  <a:pt x="1019987" y="941501"/>
                </a:moveTo>
                <a:lnTo>
                  <a:pt x="1007287" y="941501"/>
                </a:lnTo>
                <a:lnTo>
                  <a:pt x="1013637" y="935151"/>
                </a:lnTo>
                <a:lnTo>
                  <a:pt x="1019987" y="935151"/>
                </a:lnTo>
                <a:lnTo>
                  <a:pt x="1019987" y="941501"/>
                </a:lnTo>
                <a:close/>
              </a:path>
            </a:pathLst>
          </a:custGeom>
          <a:solidFill>
            <a:srgbClr val="C00000"/>
          </a:solidFill>
        </p:spPr>
        <p:txBody>
          <a:bodyPr wrap="square" lIns="0" tIns="0" rIns="0" bIns="0" rtlCol="0"/>
          <a:lstStyle/>
          <a:p/>
        </p:txBody>
      </p:sp>
      <p:sp>
        <p:nvSpPr>
          <p:cNvPr id="19" name="object 19"/>
          <p:cNvSpPr txBox="1"/>
          <p:nvPr/>
        </p:nvSpPr>
        <p:spPr>
          <a:xfrm>
            <a:off x="4197096" y="2514383"/>
            <a:ext cx="1007744" cy="240029"/>
          </a:xfrm>
          <a:prstGeom prst="rect">
            <a:avLst/>
          </a:prstGeom>
        </p:spPr>
        <p:txBody>
          <a:bodyPr vert="horz" wrap="square" lIns="0" tIns="13335" rIns="0" bIns="0" rtlCol="0">
            <a:spAutoFit/>
          </a:bodyPr>
          <a:lstStyle/>
          <a:p>
            <a:pPr marL="236855">
              <a:lnSpc>
                <a:spcPct val="100000"/>
              </a:lnSpc>
              <a:spcBef>
                <a:spcPts val="105"/>
              </a:spcBef>
            </a:pPr>
            <a:r>
              <a:rPr sz="1400" b="1" dirty="0">
                <a:solidFill>
                  <a:srgbClr val="C00000"/>
                </a:solidFill>
                <a:latin typeface="微软雅黑" panose="020B0503020204020204" charset="-122"/>
                <a:cs typeface="微软雅黑" panose="020B0503020204020204" charset="-122"/>
              </a:rPr>
              <a:t>杜邦</a:t>
            </a:r>
            <a:r>
              <a:rPr sz="1400" b="1" spc="5" dirty="0">
                <a:solidFill>
                  <a:srgbClr val="C00000"/>
                </a:solidFill>
                <a:latin typeface="微软雅黑" panose="020B0503020204020204" charset="-122"/>
                <a:cs typeface="微软雅黑" panose="020B0503020204020204" charset="-122"/>
              </a:rPr>
              <a:t>线</a:t>
            </a:r>
            <a:endParaRPr sz="1400">
              <a:latin typeface="微软雅黑" panose="020B0503020204020204" charset="-122"/>
              <a:cs typeface="微软雅黑" panose="020B0503020204020204" charset="-122"/>
            </a:endParaRPr>
          </a:p>
        </p:txBody>
      </p:sp>
      <p:sp>
        <p:nvSpPr>
          <p:cNvPr id="20" name="object 20"/>
          <p:cNvSpPr/>
          <p:nvPr/>
        </p:nvSpPr>
        <p:spPr>
          <a:xfrm>
            <a:off x="4197096" y="4899659"/>
            <a:ext cx="1007744" cy="935990"/>
          </a:xfrm>
          <a:custGeom>
            <a:avLst/>
            <a:gdLst/>
            <a:ahLst/>
            <a:cxnLst/>
            <a:rect l="l" t="t" r="r" b="b"/>
            <a:pathLst>
              <a:path w="1007745" h="935989">
                <a:moveTo>
                  <a:pt x="0" y="0"/>
                </a:moveTo>
                <a:lnTo>
                  <a:pt x="1007363" y="0"/>
                </a:lnTo>
                <a:lnTo>
                  <a:pt x="1007363" y="935736"/>
                </a:lnTo>
                <a:lnTo>
                  <a:pt x="0" y="935736"/>
                </a:lnTo>
                <a:lnTo>
                  <a:pt x="0" y="0"/>
                </a:lnTo>
                <a:close/>
              </a:path>
            </a:pathLst>
          </a:custGeom>
          <a:solidFill>
            <a:srgbClr val="D9D9D9"/>
          </a:solidFill>
        </p:spPr>
        <p:txBody>
          <a:bodyPr wrap="square" lIns="0" tIns="0" rIns="0" bIns="0" rtlCol="0"/>
          <a:lstStyle/>
          <a:p/>
        </p:txBody>
      </p:sp>
      <p:sp>
        <p:nvSpPr>
          <p:cNvPr id="21" name="object 21"/>
          <p:cNvSpPr/>
          <p:nvPr/>
        </p:nvSpPr>
        <p:spPr>
          <a:xfrm>
            <a:off x="4191215" y="4893906"/>
            <a:ext cx="1020444" cy="948055"/>
          </a:xfrm>
          <a:custGeom>
            <a:avLst/>
            <a:gdLst/>
            <a:ahLst/>
            <a:cxnLst/>
            <a:rect l="l" t="t" r="r" b="b"/>
            <a:pathLst>
              <a:path w="1020445" h="948054">
                <a:moveTo>
                  <a:pt x="1019987" y="947839"/>
                </a:moveTo>
                <a:lnTo>
                  <a:pt x="0" y="947839"/>
                </a:lnTo>
                <a:lnTo>
                  <a:pt x="0" y="0"/>
                </a:lnTo>
                <a:lnTo>
                  <a:pt x="1019987" y="0"/>
                </a:lnTo>
                <a:lnTo>
                  <a:pt x="1019987" y="6350"/>
                </a:lnTo>
                <a:lnTo>
                  <a:pt x="12700" y="6350"/>
                </a:lnTo>
                <a:lnTo>
                  <a:pt x="6350" y="12700"/>
                </a:lnTo>
                <a:lnTo>
                  <a:pt x="12700" y="12700"/>
                </a:lnTo>
                <a:lnTo>
                  <a:pt x="12700" y="935139"/>
                </a:lnTo>
                <a:lnTo>
                  <a:pt x="6350" y="935139"/>
                </a:lnTo>
                <a:lnTo>
                  <a:pt x="12700" y="941489"/>
                </a:lnTo>
                <a:lnTo>
                  <a:pt x="1019987" y="941489"/>
                </a:lnTo>
                <a:lnTo>
                  <a:pt x="1019987" y="947839"/>
                </a:lnTo>
                <a:close/>
              </a:path>
              <a:path w="1020445" h="948054">
                <a:moveTo>
                  <a:pt x="12700" y="12700"/>
                </a:moveTo>
                <a:lnTo>
                  <a:pt x="6350" y="12700"/>
                </a:lnTo>
                <a:lnTo>
                  <a:pt x="12700" y="6350"/>
                </a:lnTo>
                <a:lnTo>
                  <a:pt x="12700" y="12700"/>
                </a:lnTo>
                <a:close/>
              </a:path>
              <a:path w="1020445" h="948054">
                <a:moveTo>
                  <a:pt x="1007287" y="12700"/>
                </a:moveTo>
                <a:lnTo>
                  <a:pt x="12700" y="12700"/>
                </a:lnTo>
                <a:lnTo>
                  <a:pt x="12700" y="6350"/>
                </a:lnTo>
                <a:lnTo>
                  <a:pt x="1007287" y="6350"/>
                </a:lnTo>
                <a:lnTo>
                  <a:pt x="1007287" y="12700"/>
                </a:lnTo>
                <a:close/>
              </a:path>
              <a:path w="1020445" h="948054">
                <a:moveTo>
                  <a:pt x="1007287" y="941489"/>
                </a:moveTo>
                <a:lnTo>
                  <a:pt x="1007287" y="6350"/>
                </a:lnTo>
                <a:lnTo>
                  <a:pt x="1013637" y="12700"/>
                </a:lnTo>
                <a:lnTo>
                  <a:pt x="1019987" y="12700"/>
                </a:lnTo>
                <a:lnTo>
                  <a:pt x="1019987" y="935139"/>
                </a:lnTo>
                <a:lnTo>
                  <a:pt x="1013637" y="935139"/>
                </a:lnTo>
                <a:lnTo>
                  <a:pt x="1007287" y="941489"/>
                </a:lnTo>
                <a:close/>
              </a:path>
              <a:path w="1020445" h="948054">
                <a:moveTo>
                  <a:pt x="1019987" y="12700"/>
                </a:moveTo>
                <a:lnTo>
                  <a:pt x="1013637" y="12700"/>
                </a:lnTo>
                <a:lnTo>
                  <a:pt x="1007287" y="6350"/>
                </a:lnTo>
                <a:lnTo>
                  <a:pt x="1019987" y="6350"/>
                </a:lnTo>
                <a:lnTo>
                  <a:pt x="1019987" y="12700"/>
                </a:lnTo>
                <a:close/>
              </a:path>
              <a:path w="1020445" h="948054">
                <a:moveTo>
                  <a:pt x="12700" y="941489"/>
                </a:moveTo>
                <a:lnTo>
                  <a:pt x="6350" y="935139"/>
                </a:lnTo>
                <a:lnTo>
                  <a:pt x="12700" y="935139"/>
                </a:lnTo>
                <a:lnTo>
                  <a:pt x="12700" y="941489"/>
                </a:lnTo>
                <a:close/>
              </a:path>
              <a:path w="1020445" h="948054">
                <a:moveTo>
                  <a:pt x="1007287" y="941489"/>
                </a:moveTo>
                <a:lnTo>
                  <a:pt x="12700" y="941489"/>
                </a:lnTo>
                <a:lnTo>
                  <a:pt x="12700" y="935139"/>
                </a:lnTo>
                <a:lnTo>
                  <a:pt x="1007287" y="935139"/>
                </a:lnTo>
                <a:lnTo>
                  <a:pt x="1007287" y="941489"/>
                </a:lnTo>
                <a:close/>
              </a:path>
              <a:path w="1020445" h="948054">
                <a:moveTo>
                  <a:pt x="1019987" y="941489"/>
                </a:moveTo>
                <a:lnTo>
                  <a:pt x="1007287" y="941489"/>
                </a:lnTo>
                <a:lnTo>
                  <a:pt x="1013637" y="935139"/>
                </a:lnTo>
                <a:lnTo>
                  <a:pt x="1019987" y="935139"/>
                </a:lnTo>
                <a:lnTo>
                  <a:pt x="1019987" y="941489"/>
                </a:lnTo>
                <a:close/>
              </a:path>
            </a:pathLst>
          </a:custGeom>
          <a:solidFill>
            <a:srgbClr val="C00000"/>
          </a:solidFill>
        </p:spPr>
        <p:txBody>
          <a:bodyPr wrap="square" lIns="0" tIns="0" rIns="0" bIns="0" rtlCol="0"/>
          <a:lstStyle/>
          <a:p/>
        </p:txBody>
      </p:sp>
      <p:sp>
        <p:nvSpPr>
          <p:cNvPr id="22" name="object 22"/>
          <p:cNvSpPr txBox="1"/>
          <p:nvPr/>
        </p:nvSpPr>
        <p:spPr>
          <a:xfrm>
            <a:off x="4197096" y="5236171"/>
            <a:ext cx="1007744" cy="240029"/>
          </a:xfrm>
          <a:prstGeom prst="rect">
            <a:avLst/>
          </a:prstGeom>
        </p:spPr>
        <p:txBody>
          <a:bodyPr vert="horz" wrap="square" lIns="0" tIns="13335" rIns="0" bIns="0" rtlCol="0">
            <a:spAutoFit/>
          </a:bodyPr>
          <a:lstStyle/>
          <a:p>
            <a:pPr marL="635" algn="ctr">
              <a:lnSpc>
                <a:spcPct val="100000"/>
              </a:lnSpc>
              <a:spcBef>
                <a:spcPts val="105"/>
              </a:spcBef>
            </a:pPr>
            <a:r>
              <a:rPr sz="1400" b="1" spc="-5" dirty="0">
                <a:solidFill>
                  <a:srgbClr val="C00000"/>
                </a:solidFill>
                <a:latin typeface="微软雅黑" panose="020B0503020204020204" charset="-122"/>
                <a:cs typeface="微软雅黑" panose="020B0503020204020204" charset="-122"/>
              </a:rPr>
              <a:t>IDE</a:t>
            </a:r>
            <a:endParaRPr sz="1400">
              <a:latin typeface="微软雅黑" panose="020B0503020204020204" charset="-122"/>
              <a:cs typeface="微软雅黑" panose="020B0503020204020204" charset="-122"/>
            </a:endParaRPr>
          </a:p>
        </p:txBody>
      </p:sp>
      <p:sp>
        <p:nvSpPr>
          <p:cNvPr id="23" name="object 23"/>
          <p:cNvSpPr/>
          <p:nvPr/>
        </p:nvSpPr>
        <p:spPr>
          <a:xfrm>
            <a:off x="4197096" y="3553967"/>
            <a:ext cx="1007744" cy="934719"/>
          </a:xfrm>
          <a:custGeom>
            <a:avLst/>
            <a:gdLst/>
            <a:ahLst/>
            <a:cxnLst/>
            <a:rect l="l" t="t" r="r" b="b"/>
            <a:pathLst>
              <a:path w="1007745" h="934720">
                <a:moveTo>
                  <a:pt x="0" y="0"/>
                </a:moveTo>
                <a:lnTo>
                  <a:pt x="1007363" y="0"/>
                </a:lnTo>
                <a:lnTo>
                  <a:pt x="1007363" y="934212"/>
                </a:lnTo>
                <a:lnTo>
                  <a:pt x="0" y="934212"/>
                </a:lnTo>
                <a:lnTo>
                  <a:pt x="0" y="0"/>
                </a:lnTo>
                <a:close/>
              </a:path>
            </a:pathLst>
          </a:custGeom>
          <a:solidFill>
            <a:srgbClr val="D9D9D9"/>
          </a:solidFill>
        </p:spPr>
        <p:txBody>
          <a:bodyPr wrap="square" lIns="0" tIns="0" rIns="0" bIns="0" rtlCol="0"/>
          <a:lstStyle/>
          <a:p/>
        </p:txBody>
      </p:sp>
      <p:sp>
        <p:nvSpPr>
          <p:cNvPr id="24" name="object 24"/>
          <p:cNvSpPr/>
          <p:nvPr/>
        </p:nvSpPr>
        <p:spPr>
          <a:xfrm>
            <a:off x="4191215" y="3547338"/>
            <a:ext cx="1020444" cy="948055"/>
          </a:xfrm>
          <a:custGeom>
            <a:avLst/>
            <a:gdLst/>
            <a:ahLst/>
            <a:cxnLst/>
            <a:rect l="l" t="t" r="r" b="b"/>
            <a:pathLst>
              <a:path w="1020445" h="948054">
                <a:moveTo>
                  <a:pt x="1019987" y="947839"/>
                </a:moveTo>
                <a:lnTo>
                  <a:pt x="0" y="947839"/>
                </a:lnTo>
                <a:lnTo>
                  <a:pt x="0" y="0"/>
                </a:lnTo>
                <a:lnTo>
                  <a:pt x="1019987" y="0"/>
                </a:lnTo>
                <a:lnTo>
                  <a:pt x="1019987" y="6350"/>
                </a:lnTo>
                <a:lnTo>
                  <a:pt x="12700" y="6350"/>
                </a:lnTo>
                <a:lnTo>
                  <a:pt x="6350" y="12700"/>
                </a:lnTo>
                <a:lnTo>
                  <a:pt x="12700" y="12700"/>
                </a:lnTo>
                <a:lnTo>
                  <a:pt x="12700" y="935139"/>
                </a:lnTo>
                <a:lnTo>
                  <a:pt x="6350" y="935139"/>
                </a:lnTo>
                <a:lnTo>
                  <a:pt x="12700" y="941489"/>
                </a:lnTo>
                <a:lnTo>
                  <a:pt x="1019987" y="941489"/>
                </a:lnTo>
                <a:lnTo>
                  <a:pt x="1019987" y="947839"/>
                </a:lnTo>
                <a:close/>
              </a:path>
              <a:path w="1020445" h="948054">
                <a:moveTo>
                  <a:pt x="12700" y="12700"/>
                </a:moveTo>
                <a:lnTo>
                  <a:pt x="6350" y="12700"/>
                </a:lnTo>
                <a:lnTo>
                  <a:pt x="12700" y="6350"/>
                </a:lnTo>
                <a:lnTo>
                  <a:pt x="12700" y="12700"/>
                </a:lnTo>
                <a:close/>
              </a:path>
              <a:path w="1020445" h="948054">
                <a:moveTo>
                  <a:pt x="1007287" y="12700"/>
                </a:moveTo>
                <a:lnTo>
                  <a:pt x="12700" y="12700"/>
                </a:lnTo>
                <a:lnTo>
                  <a:pt x="12700" y="6350"/>
                </a:lnTo>
                <a:lnTo>
                  <a:pt x="1007287" y="6350"/>
                </a:lnTo>
                <a:lnTo>
                  <a:pt x="1007287" y="12700"/>
                </a:lnTo>
                <a:close/>
              </a:path>
              <a:path w="1020445" h="948054">
                <a:moveTo>
                  <a:pt x="1007287" y="941489"/>
                </a:moveTo>
                <a:lnTo>
                  <a:pt x="1007287" y="6350"/>
                </a:lnTo>
                <a:lnTo>
                  <a:pt x="1013637" y="12700"/>
                </a:lnTo>
                <a:lnTo>
                  <a:pt x="1019987" y="12700"/>
                </a:lnTo>
                <a:lnTo>
                  <a:pt x="1019987" y="935139"/>
                </a:lnTo>
                <a:lnTo>
                  <a:pt x="1013637" y="935139"/>
                </a:lnTo>
                <a:lnTo>
                  <a:pt x="1007287" y="941489"/>
                </a:lnTo>
                <a:close/>
              </a:path>
              <a:path w="1020445" h="948054">
                <a:moveTo>
                  <a:pt x="1019987" y="12700"/>
                </a:moveTo>
                <a:lnTo>
                  <a:pt x="1013637" y="12700"/>
                </a:lnTo>
                <a:lnTo>
                  <a:pt x="1007287" y="6350"/>
                </a:lnTo>
                <a:lnTo>
                  <a:pt x="1019987" y="6350"/>
                </a:lnTo>
                <a:lnTo>
                  <a:pt x="1019987" y="12700"/>
                </a:lnTo>
                <a:close/>
              </a:path>
              <a:path w="1020445" h="948054">
                <a:moveTo>
                  <a:pt x="12700" y="941489"/>
                </a:moveTo>
                <a:lnTo>
                  <a:pt x="6350" y="935139"/>
                </a:lnTo>
                <a:lnTo>
                  <a:pt x="12700" y="935139"/>
                </a:lnTo>
                <a:lnTo>
                  <a:pt x="12700" y="941489"/>
                </a:lnTo>
                <a:close/>
              </a:path>
              <a:path w="1020445" h="948054">
                <a:moveTo>
                  <a:pt x="1007287" y="941489"/>
                </a:moveTo>
                <a:lnTo>
                  <a:pt x="12700" y="941489"/>
                </a:lnTo>
                <a:lnTo>
                  <a:pt x="12700" y="935139"/>
                </a:lnTo>
                <a:lnTo>
                  <a:pt x="1007287" y="935139"/>
                </a:lnTo>
                <a:lnTo>
                  <a:pt x="1007287" y="941489"/>
                </a:lnTo>
                <a:close/>
              </a:path>
              <a:path w="1020445" h="948054">
                <a:moveTo>
                  <a:pt x="1019987" y="941489"/>
                </a:moveTo>
                <a:lnTo>
                  <a:pt x="1007287" y="941489"/>
                </a:lnTo>
                <a:lnTo>
                  <a:pt x="1013637" y="935139"/>
                </a:lnTo>
                <a:lnTo>
                  <a:pt x="1019987" y="935139"/>
                </a:lnTo>
                <a:lnTo>
                  <a:pt x="1019987" y="941489"/>
                </a:lnTo>
                <a:close/>
              </a:path>
            </a:pathLst>
          </a:custGeom>
          <a:solidFill>
            <a:srgbClr val="C00000"/>
          </a:solidFill>
        </p:spPr>
        <p:txBody>
          <a:bodyPr wrap="square" lIns="0" tIns="0" rIns="0" bIns="0" rtlCol="0"/>
          <a:lstStyle/>
          <a:p/>
        </p:txBody>
      </p:sp>
      <p:sp>
        <p:nvSpPr>
          <p:cNvPr id="25" name="object 25"/>
          <p:cNvSpPr txBox="1"/>
          <p:nvPr/>
        </p:nvSpPr>
        <p:spPr>
          <a:xfrm>
            <a:off x="4197096" y="3782923"/>
            <a:ext cx="1007744" cy="453390"/>
          </a:xfrm>
          <a:prstGeom prst="rect">
            <a:avLst/>
          </a:prstGeom>
        </p:spPr>
        <p:txBody>
          <a:bodyPr vert="horz" wrap="square" lIns="0" tIns="13335" rIns="0" bIns="0" rtlCol="0">
            <a:spAutoFit/>
          </a:bodyPr>
          <a:lstStyle/>
          <a:p>
            <a:pPr marL="194945" marR="186055" indent="83820">
              <a:lnSpc>
                <a:spcPct val="100000"/>
              </a:lnSpc>
              <a:spcBef>
                <a:spcPts val="105"/>
              </a:spcBef>
            </a:pPr>
            <a:r>
              <a:rPr sz="1400" b="1" spc="-5" dirty="0">
                <a:solidFill>
                  <a:srgbClr val="C00000"/>
                </a:solidFill>
                <a:latin typeface="微软雅黑" panose="020B0503020204020204" charset="-122"/>
                <a:cs typeface="微软雅黑" panose="020B0503020204020204" charset="-122"/>
              </a:rPr>
              <a:t>Xilinx  </a:t>
            </a:r>
            <a:r>
              <a:rPr sz="1400" b="1" spc="-5" dirty="0">
                <a:solidFill>
                  <a:srgbClr val="C00000"/>
                </a:solidFill>
                <a:latin typeface="微软雅黑" panose="020B0503020204020204" charset="-122"/>
                <a:cs typeface="微软雅黑" panose="020B0503020204020204" charset="-122"/>
              </a:rPr>
              <a:t>Vi</a:t>
            </a:r>
            <a:r>
              <a:rPr sz="1400" b="1" spc="-30" dirty="0">
                <a:solidFill>
                  <a:srgbClr val="C00000"/>
                </a:solidFill>
                <a:latin typeface="微软雅黑" panose="020B0503020204020204" charset="-122"/>
                <a:cs typeface="微软雅黑" panose="020B0503020204020204" charset="-122"/>
              </a:rPr>
              <a:t>v</a:t>
            </a:r>
            <a:r>
              <a:rPr sz="1400" b="1" spc="-5" dirty="0">
                <a:solidFill>
                  <a:srgbClr val="C00000"/>
                </a:solidFill>
                <a:latin typeface="微软雅黑" panose="020B0503020204020204" charset="-122"/>
                <a:cs typeface="微软雅黑" panose="020B0503020204020204" charset="-122"/>
              </a:rPr>
              <a:t>ad</a:t>
            </a:r>
            <a:r>
              <a:rPr sz="1400" b="1" dirty="0">
                <a:solidFill>
                  <a:srgbClr val="C00000"/>
                </a:solidFill>
                <a:latin typeface="微软雅黑" panose="020B0503020204020204" charset="-122"/>
                <a:cs typeface="微软雅黑" panose="020B0503020204020204" charset="-122"/>
              </a:rPr>
              <a:t>o</a:t>
            </a:r>
            <a:endParaRPr sz="1400">
              <a:latin typeface="微软雅黑" panose="020B0503020204020204" charset="-122"/>
              <a:cs typeface="微软雅黑" panose="020B0503020204020204" charset="-122"/>
            </a:endParaRPr>
          </a:p>
        </p:txBody>
      </p:sp>
      <p:sp>
        <p:nvSpPr>
          <p:cNvPr id="26" name="object 26"/>
          <p:cNvSpPr/>
          <p:nvPr/>
        </p:nvSpPr>
        <p:spPr>
          <a:xfrm>
            <a:off x="7903464" y="4899659"/>
            <a:ext cx="1155700" cy="935990"/>
          </a:xfrm>
          <a:custGeom>
            <a:avLst/>
            <a:gdLst/>
            <a:ahLst/>
            <a:cxnLst/>
            <a:rect l="l" t="t" r="r" b="b"/>
            <a:pathLst>
              <a:path w="1155700" h="935989">
                <a:moveTo>
                  <a:pt x="0" y="0"/>
                </a:moveTo>
                <a:lnTo>
                  <a:pt x="1155192" y="0"/>
                </a:lnTo>
                <a:lnTo>
                  <a:pt x="1155192" y="935736"/>
                </a:lnTo>
                <a:lnTo>
                  <a:pt x="0" y="935736"/>
                </a:lnTo>
                <a:lnTo>
                  <a:pt x="0" y="0"/>
                </a:lnTo>
                <a:close/>
              </a:path>
            </a:pathLst>
          </a:custGeom>
          <a:solidFill>
            <a:srgbClr val="D9D9D9"/>
          </a:solidFill>
        </p:spPr>
        <p:txBody>
          <a:bodyPr wrap="square" lIns="0" tIns="0" rIns="0" bIns="0" rtlCol="0"/>
          <a:lstStyle/>
          <a:p/>
        </p:txBody>
      </p:sp>
      <p:sp>
        <p:nvSpPr>
          <p:cNvPr id="27" name="object 27"/>
          <p:cNvSpPr/>
          <p:nvPr/>
        </p:nvSpPr>
        <p:spPr>
          <a:xfrm>
            <a:off x="7896491" y="4893906"/>
            <a:ext cx="1168400" cy="948055"/>
          </a:xfrm>
          <a:custGeom>
            <a:avLst/>
            <a:gdLst/>
            <a:ahLst/>
            <a:cxnLst/>
            <a:rect l="l" t="t" r="r" b="b"/>
            <a:pathLst>
              <a:path w="1168400" h="948054">
                <a:moveTo>
                  <a:pt x="1167777" y="947839"/>
                </a:moveTo>
                <a:lnTo>
                  <a:pt x="0" y="947839"/>
                </a:lnTo>
                <a:lnTo>
                  <a:pt x="0" y="0"/>
                </a:lnTo>
                <a:lnTo>
                  <a:pt x="1167777" y="0"/>
                </a:lnTo>
                <a:lnTo>
                  <a:pt x="1167777" y="6350"/>
                </a:lnTo>
                <a:lnTo>
                  <a:pt x="12700" y="6350"/>
                </a:lnTo>
                <a:lnTo>
                  <a:pt x="6350" y="12700"/>
                </a:lnTo>
                <a:lnTo>
                  <a:pt x="12700" y="12700"/>
                </a:lnTo>
                <a:lnTo>
                  <a:pt x="12700" y="935139"/>
                </a:lnTo>
                <a:lnTo>
                  <a:pt x="6350" y="935139"/>
                </a:lnTo>
                <a:lnTo>
                  <a:pt x="12700" y="941489"/>
                </a:lnTo>
                <a:lnTo>
                  <a:pt x="1167777" y="941489"/>
                </a:lnTo>
                <a:lnTo>
                  <a:pt x="1167777" y="947839"/>
                </a:lnTo>
                <a:close/>
              </a:path>
              <a:path w="1168400" h="948054">
                <a:moveTo>
                  <a:pt x="12700" y="12700"/>
                </a:moveTo>
                <a:lnTo>
                  <a:pt x="6350" y="12700"/>
                </a:lnTo>
                <a:lnTo>
                  <a:pt x="12700" y="6350"/>
                </a:lnTo>
                <a:lnTo>
                  <a:pt x="12700" y="12700"/>
                </a:lnTo>
                <a:close/>
              </a:path>
              <a:path w="1168400" h="948054">
                <a:moveTo>
                  <a:pt x="1155077" y="12700"/>
                </a:moveTo>
                <a:lnTo>
                  <a:pt x="12700" y="12700"/>
                </a:lnTo>
                <a:lnTo>
                  <a:pt x="12700" y="6350"/>
                </a:lnTo>
                <a:lnTo>
                  <a:pt x="1155077" y="6350"/>
                </a:lnTo>
                <a:lnTo>
                  <a:pt x="1155077" y="12700"/>
                </a:lnTo>
                <a:close/>
              </a:path>
              <a:path w="1168400" h="948054">
                <a:moveTo>
                  <a:pt x="1155077" y="941489"/>
                </a:moveTo>
                <a:lnTo>
                  <a:pt x="1155077" y="6350"/>
                </a:lnTo>
                <a:lnTo>
                  <a:pt x="1161427" y="12700"/>
                </a:lnTo>
                <a:lnTo>
                  <a:pt x="1167777" y="12700"/>
                </a:lnTo>
                <a:lnTo>
                  <a:pt x="1167777" y="935139"/>
                </a:lnTo>
                <a:lnTo>
                  <a:pt x="1161427" y="935139"/>
                </a:lnTo>
                <a:lnTo>
                  <a:pt x="1155077" y="941489"/>
                </a:lnTo>
                <a:close/>
              </a:path>
              <a:path w="1168400" h="948054">
                <a:moveTo>
                  <a:pt x="1167777" y="12700"/>
                </a:moveTo>
                <a:lnTo>
                  <a:pt x="1161427" y="12700"/>
                </a:lnTo>
                <a:lnTo>
                  <a:pt x="1155077" y="6350"/>
                </a:lnTo>
                <a:lnTo>
                  <a:pt x="1167777" y="6350"/>
                </a:lnTo>
                <a:lnTo>
                  <a:pt x="1167777" y="12700"/>
                </a:lnTo>
                <a:close/>
              </a:path>
              <a:path w="1168400" h="948054">
                <a:moveTo>
                  <a:pt x="12700" y="941489"/>
                </a:moveTo>
                <a:lnTo>
                  <a:pt x="6350" y="935139"/>
                </a:lnTo>
                <a:lnTo>
                  <a:pt x="12700" y="935139"/>
                </a:lnTo>
                <a:lnTo>
                  <a:pt x="12700" y="941489"/>
                </a:lnTo>
                <a:close/>
              </a:path>
              <a:path w="1168400" h="948054">
                <a:moveTo>
                  <a:pt x="1155077" y="941489"/>
                </a:moveTo>
                <a:lnTo>
                  <a:pt x="12700" y="941489"/>
                </a:lnTo>
                <a:lnTo>
                  <a:pt x="12700" y="935139"/>
                </a:lnTo>
                <a:lnTo>
                  <a:pt x="1155077" y="935139"/>
                </a:lnTo>
                <a:lnTo>
                  <a:pt x="1155077" y="941489"/>
                </a:lnTo>
                <a:close/>
              </a:path>
              <a:path w="1168400" h="948054">
                <a:moveTo>
                  <a:pt x="1167777" y="941489"/>
                </a:moveTo>
                <a:lnTo>
                  <a:pt x="1155077" y="941489"/>
                </a:lnTo>
                <a:lnTo>
                  <a:pt x="1161427" y="935139"/>
                </a:lnTo>
                <a:lnTo>
                  <a:pt x="1167777" y="935139"/>
                </a:lnTo>
                <a:lnTo>
                  <a:pt x="1167777" y="941489"/>
                </a:lnTo>
                <a:close/>
              </a:path>
            </a:pathLst>
          </a:custGeom>
          <a:solidFill>
            <a:srgbClr val="C00000"/>
          </a:solidFill>
        </p:spPr>
        <p:txBody>
          <a:bodyPr wrap="square" lIns="0" tIns="0" rIns="0" bIns="0" rtlCol="0"/>
          <a:lstStyle/>
          <a:p/>
        </p:txBody>
      </p:sp>
      <p:sp>
        <p:nvSpPr>
          <p:cNvPr id="28" name="object 28"/>
          <p:cNvSpPr txBox="1"/>
          <p:nvPr/>
        </p:nvSpPr>
        <p:spPr>
          <a:xfrm>
            <a:off x="7903464" y="5129491"/>
            <a:ext cx="1155700" cy="453390"/>
          </a:xfrm>
          <a:prstGeom prst="rect">
            <a:avLst/>
          </a:prstGeom>
        </p:spPr>
        <p:txBody>
          <a:bodyPr vert="horz" wrap="square" lIns="0" tIns="13335" rIns="0" bIns="0" rtlCol="0">
            <a:spAutoFit/>
          </a:bodyPr>
          <a:lstStyle/>
          <a:p>
            <a:pPr marL="309880" marR="87630" indent="-215265">
              <a:lnSpc>
                <a:spcPct val="100000"/>
              </a:lnSpc>
              <a:spcBef>
                <a:spcPts val="105"/>
              </a:spcBef>
            </a:pPr>
            <a:r>
              <a:rPr sz="1400" b="1" spc="-5" dirty="0">
                <a:solidFill>
                  <a:srgbClr val="C00000"/>
                </a:solidFill>
                <a:latin typeface="微软雅黑" panose="020B0503020204020204" charset="-122"/>
                <a:cs typeface="微软雅黑" panose="020B0503020204020204" charset="-122"/>
              </a:rPr>
              <a:t>下载E203</a:t>
            </a:r>
            <a:r>
              <a:rPr sz="1400" b="1" dirty="0">
                <a:solidFill>
                  <a:srgbClr val="C00000"/>
                </a:solidFill>
                <a:latin typeface="微软雅黑" panose="020B0503020204020204" charset="-122"/>
                <a:cs typeface="微软雅黑" panose="020B0503020204020204" charset="-122"/>
              </a:rPr>
              <a:t>工 </a:t>
            </a:r>
            <a:r>
              <a:rPr sz="1400" b="1" dirty="0">
                <a:solidFill>
                  <a:srgbClr val="C00000"/>
                </a:solidFill>
                <a:latin typeface="微软雅黑" panose="020B0503020204020204" charset="-122"/>
                <a:cs typeface="微软雅黑" panose="020B0503020204020204" charset="-122"/>
              </a:rPr>
              <a:t>程文</a:t>
            </a:r>
            <a:r>
              <a:rPr sz="1400" b="1" spc="5" dirty="0">
                <a:solidFill>
                  <a:srgbClr val="C00000"/>
                </a:solidFill>
                <a:latin typeface="微软雅黑" panose="020B0503020204020204" charset="-122"/>
                <a:cs typeface="微软雅黑" panose="020B0503020204020204" charset="-122"/>
              </a:rPr>
              <a:t>件</a:t>
            </a:r>
            <a:endParaRPr sz="1400">
              <a:latin typeface="微软雅黑" panose="020B0503020204020204" charset="-122"/>
              <a:cs typeface="微软雅黑" panose="020B0503020204020204" charset="-122"/>
            </a:endParaRPr>
          </a:p>
        </p:txBody>
      </p:sp>
      <p:sp>
        <p:nvSpPr>
          <p:cNvPr id="29" name="object 29"/>
          <p:cNvSpPr/>
          <p:nvPr/>
        </p:nvSpPr>
        <p:spPr>
          <a:xfrm>
            <a:off x="7903464" y="3553967"/>
            <a:ext cx="1155700" cy="934719"/>
          </a:xfrm>
          <a:custGeom>
            <a:avLst/>
            <a:gdLst/>
            <a:ahLst/>
            <a:cxnLst/>
            <a:rect l="l" t="t" r="r" b="b"/>
            <a:pathLst>
              <a:path w="1155700" h="934720">
                <a:moveTo>
                  <a:pt x="0" y="0"/>
                </a:moveTo>
                <a:lnTo>
                  <a:pt x="1155192" y="0"/>
                </a:lnTo>
                <a:lnTo>
                  <a:pt x="1155192" y="934212"/>
                </a:lnTo>
                <a:lnTo>
                  <a:pt x="0" y="934212"/>
                </a:lnTo>
                <a:lnTo>
                  <a:pt x="0" y="0"/>
                </a:lnTo>
                <a:close/>
              </a:path>
            </a:pathLst>
          </a:custGeom>
          <a:solidFill>
            <a:srgbClr val="D9D9D9"/>
          </a:solidFill>
        </p:spPr>
        <p:txBody>
          <a:bodyPr wrap="square" lIns="0" tIns="0" rIns="0" bIns="0" rtlCol="0"/>
          <a:lstStyle/>
          <a:p/>
        </p:txBody>
      </p:sp>
      <p:sp>
        <p:nvSpPr>
          <p:cNvPr id="30" name="object 30"/>
          <p:cNvSpPr/>
          <p:nvPr/>
        </p:nvSpPr>
        <p:spPr>
          <a:xfrm>
            <a:off x="7896491" y="3547338"/>
            <a:ext cx="1168400" cy="948055"/>
          </a:xfrm>
          <a:custGeom>
            <a:avLst/>
            <a:gdLst/>
            <a:ahLst/>
            <a:cxnLst/>
            <a:rect l="l" t="t" r="r" b="b"/>
            <a:pathLst>
              <a:path w="1168400" h="948054">
                <a:moveTo>
                  <a:pt x="1167777" y="947839"/>
                </a:moveTo>
                <a:lnTo>
                  <a:pt x="0" y="947839"/>
                </a:lnTo>
                <a:lnTo>
                  <a:pt x="0" y="0"/>
                </a:lnTo>
                <a:lnTo>
                  <a:pt x="1167777" y="0"/>
                </a:lnTo>
                <a:lnTo>
                  <a:pt x="1167777" y="6350"/>
                </a:lnTo>
                <a:lnTo>
                  <a:pt x="12700" y="6350"/>
                </a:lnTo>
                <a:lnTo>
                  <a:pt x="6350" y="12700"/>
                </a:lnTo>
                <a:lnTo>
                  <a:pt x="12700" y="12700"/>
                </a:lnTo>
                <a:lnTo>
                  <a:pt x="12700" y="935139"/>
                </a:lnTo>
                <a:lnTo>
                  <a:pt x="6350" y="935139"/>
                </a:lnTo>
                <a:lnTo>
                  <a:pt x="12700" y="941489"/>
                </a:lnTo>
                <a:lnTo>
                  <a:pt x="1167777" y="941489"/>
                </a:lnTo>
                <a:lnTo>
                  <a:pt x="1167777" y="947839"/>
                </a:lnTo>
                <a:close/>
              </a:path>
              <a:path w="1168400" h="948054">
                <a:moveTo>
                  <a:pt x="12700" y="12700"/>
                </a:moveTo>
                <a:lnTo>
                  <a:pt x="6350" y="12700"/>
                </a:lnTo>
                <a:lnTo>
                  <a:pt x="12700" y="6350"/>
                </a:lnTo>
                <a:lnTo>
                  <a:pt x="12700" y="12700"/>
                </a:lnTo>
                <a:close/>
              </a:path>
              <a:path w="1168400" h="948054">
                <a:moveTo>
                  <a:pt x="1155077" y="12700"/>
                </a:moveTo>
                <a:lnTo>
                  <a:pt x="12700" y="12700"/>
                </a:lnTo>
                <a:lnTo>
                  <a:pt x="12700" y="6350"/>
                </a:lnTo>
                <a:lnTo>
                  <a:pt x="1155077" y="6350"/>
                </a:lnTo>
                <a:lnTo>
                  <a:pt x="1155077" y="12700"/>
                </a:lnTo>
                <a:close/>
              </a:path>
              <a:path w="1168400" h="948054">
                <a:moveTo>
                  <a:pt x="1155077" y="941489"/>
                </a:moveTo>
                <a:lnTo>
                  <a:pt x="1155077" y="6350"/>
                </a:lnTo>
                <a:lnTo>
                  <a:pt x="1161427" y="12700"/>
                </a:lnTo>
                <a:lnTo>
                  <a:pt x="1167777" y="12700"/>
                </a:lnTo>
                <a:lnTo>
                  <a:pt x="1167777" y="935139"/>
                </a:lnTo>
                <a:lnTo>
                  <a:pt x="1161427" y="935139"/>
                </a:lnTo>
                <a:lnTo>
                  <a:pt x="1155077" y="941489"/>
                </a:lnTo>
                <a:close/>
              </a:path>
              <a:path w="1168400" h="948054">
                <a:moveTo>
                  <a:pt x="1167777" y="12700"/>
                </a:moveTo>
                <a:lnTo>
                  <a:pt x="1161427" y="12700"/>
                </a:lnTo>
                <a:lnTo>
                  <a:pt x="1155077" y="6350"/>
                </a:lnTo>
                <a:lnTo>
                  <a:pt x="1167777" y="6350"/>
                </a:lnTo>
                <a:lnTo>
                  <a:pt x="1167777" y="12700"/>
                </a:lnTo>
                <a:close/>
              </a:path>
              <a:path w="1168400" h="948054">
                <a:moveTo>
                  <a:pt x="12700" y="941489"/>
                </a:moveTo>
                <a:lnTo>
                  <a:pt x="6350" y="935139"/>
                </a:lnTo>
                <a:lnTo>
                  <a:pt x="12700" y="935139"/>
                </a:lnTo>
                <a:lnTo>
                  <a:pt x="12700" y="941489"/>
                </a:lnTo>
                <a:close/>
              </a:path>
              <a:path w="1168400" h="948054">
                <a:moveTo>
                  <a:pt x="1155077" y="941489"/>
                </a:moveTo>
                <a:lnTo>
                  <a:pt x="12700" y="941489"/>
                </a:lnTo>
                <a:lnTo>
                  <a:pt x="12700" y="935139"/>
                </a:lnTo>
                <a:lnTo>
                  <a:pt x="1155077" y="935139"/>
                </a:lnTo>
                <a:lnTo>
                  <a:pt x="1155077" y="941489"/>
                </a:lnTo>
                <a:close/>
              </a:path>
              <a:path w="1168400" h="948054">
                <a:moveTo>
                  <a:pt x="1167777" y="941489"/>
                </a:moveTo>
                <a:lnTo>
                  <a:pt x="1155077" y="941489"/>
                </a:lnTo>
                <a:lnTo>
                  <a:pt x="1161427" y="935139"/>
                </a:lnTo>
                <a:lnTo>
                  <a:pt x="1167777" y="935139"/>
                </a:lnTo>
                <a:lnTo>
                  <a:pt x="1167777" y="941489"/>
                </a:lnTo>
                <a:close/>
              </a:path>
            </a:pathLst>
          </a:custGeom>
          <a:solidFill>
            <a:srgbClr val="C00000"/>
          </a:solidFill>
        </p:spPr>
        <p:txBody>
          <a:bodyPr wrap="square" lIns="0" tIns="0" rIns="0" bIns="0" rtlCol="0"/>
          <a:lstStyle/>
          <a:p/>
        </p:txBody>
      </p:sp>
      <p:sp>
        <p:nvSpPr>
          <p:cNvPr id="31" name="object 31"/>
          <p:cNvSpPr txBox="1"/>
          <p:nvPr/>
        </p:nvSpPr>
        <p:spPr>
          <a:xfrm>
            <a:off x="7903464" y="3570198"/>
            <a:ext cx="1155700" cy="880110"/>
          </a:xfrm>
          <a:prstGeom prst="rect">
            <a:avLst/>
          </a:prstGeom>
        </p:spPr>
        <p:txBody>
          <a:bodyPr vert="horz" wrap="square" lIns="0" tIns="13335" rIns="0" bIns="0" rtlCol="0">
            <a:spAutoFit/>
          </a:bodyPr>
          <a:lstStyle/>
          <a:p>
            <a:pPr marL="267970" marR="261620" algn="ctr">
              <a:lnSpc>
                <a:spcPct val="100000"/>
              </a:lnSpc>
              <a:spcBef>
                <a:spcPts val="105"/>
              </a:spcBef>
            </a:pPr>
            <a:r>
              <a:rPr sz="1400" b="1" dirty="0">
                <a:solidFill>
                  <a:srgbClr val="C00000"/>
                </a:solidFill>
                <a:latin typeface="微软雅黑" panose="020B0503020204020204" charset="-122"/>
                <a:cs typeface="微软雅黑" panose="020B0503020204020204" charset="-122"/>
              </a:rPr>
              <a:t>使</a:t>
            </a:r>
            <a:r>
              <a:rPr sz="1400" b="1" spc="5" dirty="0">
                <a:solidFill>
                  <a:srgbClr val="C00000"/>
                </a:solidFill>
                <a:latin typeface="微软雅黑" panose="020B0503020204020204" charset="-122"/>
                <a:cs typeface="微软雅黑" panose="020B0503020204020204" charset="-122"/>
              </a:rPr>
              <a:t>用 </a:t>
            </a:r>
            <a:r>
              <a:rPr sz="1400" b="1" spc="-5" dirty="0">
                <a:solidFill>
                  <a:srgbClr val="C00000"/>
                </a:solidFill>
                <a:latin typeface="微软雅黑" panose="020B0503020204020204" charset="-122"/>
                <a:cs typeface="微软雅黑" panose="020B0503020204020204" charset="-122"/>
              </a:rPr>
              <a:t>Vi</a:t>
            </a:r>
            <a:r>
              <a:rPr sz="1400" b="1" spc="-30" dirty="0">
                <a:solidFill>
                  <a:srgbClr val="C00000"/>
                </a:solidFill>
                <a:latin typeface="微软雅黑" panose="020B0503020204020204" charset="-122"/>
                <a:cs typeface="微软雅黑" panose="020B0503020204020204" charset="-122"/>
              </a:rPr>
              <a:t>v</a:t>
            </a:r>
            <a:r>
              <a:rPr sz="1400" b="1" spc="-5" dirty="0">
                <a:solidFill>
                  <a:srgbClr val="C00000"/>
                </a:solidFill>
                <a:latin typeface="微软雅黑" panose="020B0503020204020204" charset="-122"/>
                <a:cs typeface="微软雅黑" panose="020B0503020204020204" charset="-122"/>
              </a:rPr>
              <a:t>ad</a:t>
            </a:r>
            <a:r>
              <a:rPr sz="1400" b="1" dirty="0">
                <a:solidFill>
                  <a:srgbClr val="C00000"/>
                </a:solidFill>
                <a:latin typeface="微软雅黑" panose="020B0503020204020204" charset="-122"/>
                <a:cs typeface="微软雅黑" panose="020B0503020204020204" charset="-122"/>
              </a:rPr>
              <a:t>o </a:t>
            </a:r>
            <a:r>
              <a:rPr sz="1400" b="1" dirty="0">
                <a:solidFill>
                  <a:srgbClr val="C00000"/>
                </a:solidFill>
                <a:latin typeface="微软雅黑" panose="020B0503020204020204" charset="-122"/>
                <a:cs typeface="微软雅黑" panose="020B0503020204020204" charset="-122"/>
              </a:rPr>
              <a:t>生</a:t>
            </a:r>
            <a:r>
              <a:rPr sz="1400" b="1" spc="5" dirty="0">
                <a:solidFill>
                  <a:srgbClr val="C00000"/>
                </a:solidFill>
                <a:latin typeface="微软雅黑" panose="020B0503020204020204" charset="-122"/>
                <a:cs typeface="微软雅黑" panose="020B0503020204020204" charset="-122"/>
              </a:rPr>
              <a:t>成 </a:t>
            </a:r>
            <a:r>
              <a:rPr sz="1400" b="1" dirty="0">
                <a:solidFill>
                  <a:srgbClr val="C00000"/>
                </a:solidFill>
                <a:latin typeface="微软雅黑" panose="020B0503020204020204" charset="-122"/>
                <a:cs typeface="微软雅黑" panose="020B0503020204020204" charset="-122"/>
              </a:rPr>
              <a:t>MCS</a:t>
            </a:r>
            <a:endParaRPr sz="1400">
              <a:latin typeface="微软雅黑" panose="020B0503020204020204" charset="-122"/>
              <a:cs typeface="微软雅黑" panose="020B0503020204020204" charset="-122"/>
            </a:endParaRPr>
          </a:p>
        </p:txBody>
      </p:sp>
      <p:sp>
        <p:nvSpPr>
          <p:cNvPr id="32" name="object 32"/>
          <p:cNvSpPr/>
          <p:nvPr/>
        </p:nvSpPr>
        <p:spPr>
          <a:xfrm>
            <a:off x="7903464" y="2177795"/>
            <a:ext cx="1155700" cy="935990"/>
          </a:xfrm>
          <a:custGeom>
            <a:avLst/>
            <a:gdLst/>
            <a:ahLst/>
            <a:cxnLst/>
            <a:rect l="l" t="t" r="r" b="b"/>
            <a:pathLst>
              <a:path w="1155700" h="935989">
                <a:moveTo>
                  <a:pt x="0" y="0"/>
                </a:moveTo>
                <a:lnTo>
                  <a:pt x="1155192" y="0"/>
                </a:lnTo>
                <a:lnTo>
                  <a:pt x="1155192" y="935735"/>
                </a:lnTo>
                <a:lnTo>
                  <a:pt x="0" y="935735"/>
                </a:lnTo>
                <a:lnTo>
                  <a:pt x="0" y="0"/>
                </a:lnTo>
                <a:close/>
              </a:path>
            </a:pathLst>
          </a:custGeom>
          <a:solidFill>
            <a:srgbClr val="D9D9D9"/>
          </a:solidFill>
        </p:spPr>
        <p:txBody>
          <a:bodyPr wrap="square" lIns="0" tIns="0" rIns="0" bIns="0" rtlCol="0"/>
          <a:lstStyle/>
          <a:p/>
        </p:txBody>
      </p:sp>
      <p:sp>
        <p:nvSpPr>
          <p:cNvPr id="33" name="object 33"/>
          <p:cNvSpPr/>
          <p:nvPr/>
        </p:nvSpPr>
        <p:spPr>
          <a:xfrm>
            <a:off x="7896491" y="2172119"/>
            <a:ext cx="1168400" cy="948055"/>
          </a:xfrm>
          <a:custGeom>
            <a:avLst/>
            <a:gdLst/>
            <a:ahLst/>
            <a:cxnLst/>
            <a:rect l="l" t="t" r="r" b="b"/>
            <a:pathLst>
              <a:path w="1168400" h="948055">
                <a:moveTo>
                  <a:pt x="1167777" y="947851"/>
                </a:moveTo>
                <a:lnTo>
                  <a:pt x="0" y="947851"/>
                </a:lnTo>
                <a:lnTo>
                  <a:pt x="0" y="0"/>
                </a:lnTo>
                <a:lnTo>
                  <a:pt x="1167777" y="0"/>
                </a:lnTo>
                <a:lnTo>
                  <a:pt x="1167777" y="6349"/>
                </a:lnTo>
                <a:lnTo>
                  <a:pt x="12700" y="6349"/>
                </a:lnTo>
                <a:lnTo>
                  <a:pt x="6350" y="12699"/>
                </a:lnTo>
                <a:lnTo>
                  <a:pt x="12700" y="12699"/>
                </a:lnTo>
                <a:lnTo>
                  <a:pt x="12700" y="935151"/>
                </a:lnTo>
                <a:lnTo>
                  <a:pt x="6350" y="935151"/>
                </a:lnTo>
                <a:lnTo>
                  <a:pt x="12700" y="941501"/>
                </a:lnTo>
                <a:lnTo>
                  <a:pt x="1167777" y="941501"/>
                </a:lnTo>
                <a:lnTo>
                  <a:pt x="1167777" y="947851"/>
                </a:lnTo>
                <a:close/>
              </a:path>
              <a:path w="1168400" h="948055">
                <a:moveTo>
                  <a:pt x="12700" y="12699"/>
                </a:moveTo>
                <a:lnTo>
                  <a:pt x="6350" y="12699"/>
                </a:lnTo>
                <a:lnTo>
                  <a:pt x="12700" y="6349"/>
                </a:lnTo>
                <a:lnTo>
                  <a:pt x="12700" y="12699"/>
                </a:lnTo>
                <a:close/>
              </a:path>
              <a:path w="1168400" h="948055">
                <a:moveTo>
                  <a:pt x="1155077" y="12699"/>
                </a:moveTo>
                <a:lnTo>
                  <a:pt x="12700" y="12699"/>
                </a:lnTo>
                <a:lnTo>
                  <a:pt x="12700" y="6349"/>
                </a:lnTo>
                <a:lnTo>
                  <a:pt x="1155077" y="6349"/>
                </a:lnTo>
                <a:lnTo>
                  <a:pt x="1155077" y="12699"/>
                </a:lnTo>
                <a:close/>
              </a:path>
              <a:path w="1168400" h="948055">
                <a:moveTo>
                  <a:pt x="1155077" y="941501"/>
                </a:moveTo>
                <a:lnTo>
                  <a:pt x="1155077" y="6349"/>
                </a:lnTo>
                <a:lnTo>
                  <a:pt x="1161427" y="12699"/>
                </a:lnTo>
                <a:lnTo>
                  <a:pt x="1167777" y="12699"/>
                </a:lnTo>
                <a:lnTo>
                  <a:pt x="1167777" y="935151"/>
                </a:lnTo>
                <a:lnTo>
                  <a:pt x="1161427" y="935151"/>
                </a:lnTo>
                <a:lnTo>
                  <a:pt x="1155077" y="941501"/>
                </a:lnTo>
                <a:close/>
              </a:path>
              <a:path w="1168400" h="948055">
                <a:moveTo>
                  <a:pt x="1167777" y="12699"/>
                </a:moveTo>
                <a:lnTo>
                  <a:pt x="1161427" y="12699"/>
                </a:lnTo>
                <a:lnTo>
                  <a:pt x="1155077" y="6349"/>
                </a:lnTo>
                <a:lnTo>
                  <a:pt x="1167777" y="6349"/>
                </a:lnTo>
                <a:lnTo>
                  <a:pt x="1167777" y="12699"/>
                </a:lnTo>
                <a:close/>
              </a:path>
              <a:path w="1168400" h="948055">
                <a:moveTo>
                  <a:pt x="12700" y="941501"/>
                </a:moveTo>
                <a:lnTo>
                  <a:pt x="6350" y="935151"/>
                </a:lnTo>
                <a:lnTo>
                  <a:pt x="12700" y="935151"/>
                </a:lnTo>
                <a:lnTo>
                  <a:pt x="12700" y="941501"/>
                </a:lnTo>
                <a:close/>
              </a:path>
              <a:path w="1168400" h="948055">
                <a:moveTo>
                  <a:pt x="1155077" y="941501"/>
                </a:moveTo>
                <a:lnTo>
                  <a:pt x="12700" y="941501"/>
                </a:lnTo>
                <a:lnTo>
                  <a:pt x="12700" y="935151"/>
                </a:lnTo>
                <a:lnTo>
                  <a:pt x="1155077" y="935151"/>
                </a:lnTo>
                <a:lnTo>
                  <a:pt x="1155077" y="941501"/>
                </a:lnTo>
                <a:close/>
              </a:path>
              <a:path w="1168400" h="948055">
                <a:moveTo>
                  <a:pt x="1167777" y="941501"/>
                </a:moveTo>
                <a:lnTo>
                  <a:pt x="1155077" y="941501"/>
                </a:lnTo>
                <a:lnTo>
                  <a:pt x="1161427" y="935151"/>
                </a:lnTo>
                <a:lnTo>
                  <a:pt x="1167777" y="935151"/>
                </a:lnTo>
                <a:lnTo>
                  <a:pt x="1167777" y="941501"/>
                </a:lnTo>
                <a:close/>
              </a:path>
            </a:pathLst>
          </a:custGeom>
          <a:solidFill>
            <a:srgbClr val="C00000"/>
          </a:solidFill>
        </p:spPr>
        <p:txBody>
          <a:bodyPr wrap="square" lIns="0" tIns="0" rIns="0" bIns="0" rtlCol="0"/>
          <a:lstStyle/>
          <a:p/>
        </p:txBody>
      </p:sp>
      <p:sp>
        <p:nvSpPr>
          <p:cNvPr id="34" name="object 34"/>
          <p:cNvSpPr txBox="1"/>
          <p:nvPr/>
        </p:nvSpPr>
        <p:spPr>
          <a:xfrm>
            <a:off x="7903464" y="2407704"/>
            <a:ext cx="1155700" cy="453390"/>
          </a:xfrm>
          <a:prstGeom prst="rect">
            <a:avLst/>
          </a:prstGeom>
        </p:spPr>
        <p:txBody>
          <a:bodyPr vert="horz" wrap="square" lIns="0" tIns="13335" rIns="0" bIns="0" rtlCol="0">
            <a:spAutoFit/>
          </a:bodyPr>
          <a:lstStyle/>
          <a:p>
            <a:pPr marL="333375" marR="327025" indent="65405">
              <a:lnSpc>
                <a:spcPct val="100000"/>
              </a:lnSpc>
              <a:spcBef>
                <a:spcPts val="105"/>
              </a:spcBef>
            </a:pPr>
            <a:r>
              <a:rPr sz="1400" b="1" dirty="0">
                <a:solidFill>
                  <a:srgbClr val="C00000"/>
                </a:solidFill>
                <a:latin typeface="微软雅黑" panose="020B0503020204020204" charset="-122"/>
                <a:cs typeface="微软雅黑" panose="020B0503020204020204" charset="-122"/>
              </a:rPr>
              <a:t>烧</a:t>
            </a:r>
            <a:r>
              <a:rPr sz="1400" b="1" spc="5" dirty="0">
                <a:solidFill>
                  <a:srgbClr val="C00000"/>
                </a:solidFill>
                <a:latin typeface="微软雅黑" panose="020B0503020204020204" charset="-122"/>
                <a:cs typeface="微软雅黑" panose="020B0503020204020204" charset="-122"/>
              </a:rPr>
              <a:t>写 </a:t>
            </a:r>
            <a:r>
              <a:rPr sz="1400" b="1" spc="-5" dirty="0">
                <a:solidFill>
                  <a:srgbClr val="C00000"/>
                </a:solidFill>
                <a:latin typeface="微软雅黑" panose="020B0503020204020204" charset="-122"/>
                <a:cs typeface="微软雅黑" panose="020B0503020204020204" charset="-122"/>
              </a:rPr>
              <a:t>F</a:t>
            </a:r>
            <a:r>
              <a:rPr sz="1400" b="1" dirty="0">
                <a:solidFill>
                  <a:srgbClr val="C00000"/>
                </a:solidFill>
                <a:latin typeface="微软雅黑" panose="020B0503020204020204" charset="-122"/>
                <a:cs typeface="微软雅黑" panose="020B0503020204020204" charset="-122"/>
              </a:rPr>
              <a:t>P</a:t>
            </a:r>
            <a:r>
              <a:rPr sz="1400" b="1" spc="-5" dirty="0">
                <a:solidFill>
                  <a:srgbClr val="C00000"/>
                </a:solidFill>
                <a:latin typeface="微软雅黑" panose="020B0503020204020204" charset="-122"/>
                <a:cs typeface="微软雅黑" panose="020B0503020204020204" charset="-122"/>
              </a:rPr>
              <a:t>G</a:t>
            </a:r>
            <a:r>
              <a:rPr sz="1400" b="1" dirty="0">
                <a:solidFill>
                  <a:srgbClr val="C00000"/>
                </a:solidFill>
                <a:latin typeface="微软雅黑" panose="020B0503020204020204" charset="-122"/>
                <a:cs typeface="微软雅黑" panose="020B0503020204020204" charset="-122"/>
              </a:rPr>
              <a:t>A</a:t>
            </a:r>
            <a:endParaRPr sz="1400">
              <a:latin typeface="微软雅黑" panose="020B0503020204020204" charset="-122"/>
              <a:cs typeface="微软雅黑" panose="020B0503020204020204" charset="-122"/>
            </a:endParaRPr>
          </a:p>
        </p:txBody>
      </p:sp>
      <p:sp>
        <p:nvSpPr>
          <p:cNvPr id="35" name="object 35"/>
          <p:cNvSpPr/>
          <p:nvPr/>
        </p:nvSpPr>
        <p:spPr>
          <a:xfrm>
            <a:off x="6310884" y="2177795"/>
            <a:ext cx="1155700" cy="935990"/>
          </a:xfrm>
          <a:custGeom>
            <a:avLst/>
            <a:gdLst/>
            <a:ahLst/>
            <a:cxnLst/>
            <a:rect l="l" t="t" r="r" b="b"/>
            <a:pathLst>
              <a:path w="1155700" h="935989">
                <a:moveTo>
                  <a:pt x="0" y="0"/>
                </a:moveTo>
                <a:lnTo>
                  <a:pt x="1155191" y="0"/>
                </a:lnTo>
                <a:lnTo>
                  <a:pt x="1155191" y="935735"/>
                </a:lnTo>
                <a:lnTo>
                  <a:pt x="0" y="935735"/>
                </a:lnTo>
                <a:lnTo>
                  <a:pt x="0" y="0"/>
                </a:lnTo>
                <a:close/>
              </a:path>
            </a:pathLst>
          </a:custGeom>
          <a:solidFill>
            <a:srgbClr val="D9D9D9"/>
          </a:solidFill>
        </p:spPr>
        <p:txBody>
          <a:bodyPr wrap="square" lIns="0" tIns="0" rIns="0" bIns="0" rtlCol="0"/>
          <a:lstStyle/>
          <a:p/>
        </p:txBody>
      </p:sp>
      <p:sp>
        <p:nvSpPr>
          <p:cNvPr id="36" name="object 36"/>
          <p:cNvSpPr/>
          <p:nvPr/>
        </p:nvSpPr>
        <p:spPr>
          <a:xfrm>
            <a:off x="6304724" y="2172119"/>
            <a:ext cx="1168400" cy="948055"/>
          </a:xfrm>
          <a:custGeom>
            <a:avLst/>
            <a:gdLst/>
            <a:ahLst/>
            <a:cxnLst/>
            <a:rect l="l" t="t" r="r" b="b"/>
            <a:pathLst>
              <a:path w="1168400" h="948055">
                <a:moveTo>
                  <a:pt x="1167777" y="947851"/>
                </a:moveTo>
                <a:lnTo>
                  <a:pt x="0" y="947851"/>
                </a:lnTo>
                <a:lnTo>
                  <a:pt x="0" y="0"/>
                </a:lnTo>
                <a:lnTo>
                  <a:pt x="1167777" y="0"/>
                </a:lnTo>
                <a:lnTo>
                  <a:pt x="1167777" y="6349"/>
                </a:lnTo>
                <a:lnTo>
                  <a:pt x="12700" y="6349"/>
                </a:lnTo>
                <a:lnTo>
                  <a:pt x="6350" y="12699"/>
                </a:lnTo>
                <a:lnTo>
                  <a:pt x="12700" y="12699"/>
                </a:lnTo>
                <a:lnTo>
                  <a:pt x="12700" y="935151"/>
                </a:lnTo>
                <a:lnTo>
                  <a:pt x="6350" y="935151"/>
                </a:lnTo>
                <a:lnTo>
                  <a:pt x="12700" y="941501"/>
                </a:lnTo>
                <a:lnTo>
                  <a:pt x="1167777" y="941501"/>
                </a:lnTo>
                <a:lnTo>
                  <a:pt x="1167777" y="947851"/>
                </a:lnTo>
                <a:close/>
              </a:path>
              <a:path w="1168400" h="948055">
                <a:moveTo>
                  <a:pt x="12700" y="12699"/>
                </a:moveTo>
                <a:lnTo>
                  <a:pt x="6350" y="12699"/>
                </a:lnTo>
                <a:lnTo>
                  <a:pt x="12700" y="6349"/>
                </a:lnTo>
                <a:lnTo>
                  <a:pt x="12700" y="12699"/>
                </a:lnTo>
                <a:close/>
              </a:path>
              <a:path w="1168400" h="948055">
                <a:moveTo>
                  <a:pt x="1155077" y="12699"/>
                </a:moveTo>
                <a:lnTo>
                  <a:pt x="12700" y="12699"/>
                </a:lnTo>
                <a:lnTo>
                  <a:pt x="12700" y="6349"/>
                </a:lnTo>
                <a:lnTo>
                  <a:pt x="1155077" y="6349"/>
                </a:lnTo>
                <a:lnTo>
                  <a:pt x="1155077" y="12699"/>
                </a:lnTo>
                <a:close/>
              </a:path>
              <a:path w="1168400" h="948055">
                <a:moveTo>
                  <a:pt x="1155077" y="941501"/>
                </a:moveTo>
                <a:lnTo>
                  <a:pt x="1155077" y="6349"/>
                </a:lnTo>
                <a:lnTo>
                  <a:pt x="1161427" y="12699"/>
                </a:lnTo>
                <a:lnTo>
                  <a:pt x="1167777" y="12699"/>
                </a:lnTo>
                <a:lnTo>
                  <a:pt x="1167777" y="935151"/>
                </a:lnTo>
                <a:lnTo>
                  <a:pt x="1161427" y="935151"/>
                </a:lnTo>
                <a:lnTo>
                  <a:pt x="1155077" y="941501"/>
                </a:lnTo>
                <a:close/>
              </a:path>
              <a:path w="1168400" h="948055">
                <a:moveTo>
                  <a:pt x="1167777" y="12699"/>
                </a:moveTo>
                <a:lnTo>
                  <a:pt x="1161427" y="12699"/>
                </a:lnTo>
                <a:lnTo>
                  <a:pt x="1155077" y="6349"/>
                </a:lnTo>
                <a:lnTo>
                  <a:pt x="1167777" y="6349"/>
                </a:lnTo>
                <a:lnTo>
                  <a:pt x="1167777" y="12699"/>
                </a:lnTo>
                <a:close/>
              </a:path>
              <a:path w="1168400" h="948055">
                <a:moveTo>
                  <a:pt x="12700" y="941501"/>
                </a:moveTo>
                <a:lnTo>
                  <a:pt x="6350" y="935151"/>
                </a:lnTo>
                <a:lnTo>
                  <a:pt x="12700" y="935151"/>
                </a:lnTo>
                <a:lnTo>
                  <a:pt x="12700" y="941501"/>
                </a:lnTo>
                <a:close/>
              </a:path>
              <a:path w="1168400" h="948055">
                <a:moveTo>
                  <a:pt x="1155077" y="941501"/>
                </a:moveTo>
                <a:lnTo>
                  <a:pt x="12700" y="941501"/>
                </a:lnTo>
                <a:lnTo>
                  <a:pt x="12700" y="935151"/>
                </a:lnTo>
                <a:lnTo>
                  <a:pt x="1155077" y="935151"/>
                </a:lnTo>
                <a:lnTo>
                  <a:pt x="1155077" y="941501"/>
                </a:lnTo>
                <a:close/>
              </a:path>
              <a:path w="1168400" h="948055">
                <a:moveTo>
                  <a:pt x="1167777" y="941501"/>
                </a:moveTo>
                <a:lnTo>
                  <a:pt x="1155077" y="941501"/>
                </a:lnTo>
                <a:lnTo>
                  <a:pt x="1161427" y="935151"/>
                </a:lnTo>
                <a:lnTo>
                  <a:pt x="1167777" y="935151"/>
                </a:lnTo>
                <a:lnTo>
                  <a:pt x="1167777" y="941501"/>
                </a:lnTo>
                <a:close/>
              </a:path>
            </a:pathLst>
          </a:custGeom>
          <a:solidFill>
            <a:srgbClr val="C00000"/>
          </a:solidFill>
        </p:spPr>
        <p:txBody>
          <a:bodyPr wrap="square" lIns="0" tIns="0" rIns="0" bIns="0" rtlCol="0"/>
          <a:lstStyle/>
          <a:p/>
        </p:txBody>
      </p:sp>
      <p:sp>
        <p:nvSpPr>
          <p:cNvPr id="37" name="object 37"/>
          <p:cNvSpPr txBox="1"/>
          <p:nvPr/>
        </p:nvSpPr>
        <p:spPr>
          <a:xfrm>
            <a:off x="6310884" y="2407704"/>
            <a:ext cx="1155700" cy="453390"/>
          </a:xfrm>
          <a:prstGeom prst="rect">
            <a:avLst/>
          </a:prstGeom>
        </p:spPr>
        <p:txBody>
          <a:bodyPr vert="horz" wrap="square" lIns="0" tIns="13335" rIns="0" bIns="0" rtlCol="0">
            <a:spAutoFit/>
          </a:bodyPr>
          <a:lstStyle/>
          <a:p>
            <a:pPr marL="190500" marR="182245" indent="208915">
              <a:lnSpc>
                <a:spcPct val="100000"/>
              </a:lnSpc>
              <a:spcBef>
                <a:spcPts val="105"/>
              </a:spcBef>
            </a:pPr>
            <a:r>
              <a:rPr sz="1400" b="1" dirty="0">
                <a:solidFill>
                  <a:srgbClr val="C00000"/>
                </a:solidFill>
                <a:latin typeface="微软雅黑" panose="020B0503020204020204" charset="-122"/>
                <a:cs typeface="微软雅黑" panose="020B0503020204020204" charset="-122"/>
              </a:rPr>
              <a:t>安</a:t>
            </a:r>
            <a:r>
              <a:rPr sz="1400" b="1" spc="5" dirty="0">
                <a:solidFill>
                  <a:srgbClr val="C00000"/>
                </a:solidFill>
                <a:latin typeface="微软雅黑" panose="020B0503020204020204" charset="-122"/>
                <a:cs typeface="微软雅黑" panose="020B0503020204020204" charset="-122"/>
              </a:rPr>
              <a:t>装 </a:t>
            </a:r>
            <a:r>
              <a:rPr sz="1400" b="1" spc="-5" dirty="0">
                <a:solidFill>
                  <a:srgbClr val="C00000"/>
                </a:solidFill>
                <a:latin typeface="微软雅黑" panose="020B0503020204020204" charset="-122"/>
                <a:cs typeface="微软雅黑" panose="020B0503020204020204" charset="-122"/>
              </a:rPr>
              <a:t>VM</a:t>
            </a:r>
            <a:r>
              <a:rPr sz="1400" b="1" spc="-65" dirty="0">
                <a:solidFill>
                  <a:srgbClr val="C00000"/>
                </a:solidFill>
                <a:latin typeface="微软雅黑" panose="020B0503020204020204" charset="-122"/>
                <a:cs typeface="微软雅黑" panose="020B0503020204020204" charset="-122"/>
              </a:rPr>
              <a:t>W</a:t>
            </a:r>
            <a:r>
              <a:rPr sz="1400" b="1" spc="-5" dirty="0">
                <a:solidFill>
                  <a:srgbClr val="C00000"/>
                </a:solidFill>
                <a:latin typeface="微软雅黑" panose="020B0503020204020204" charset="-122"/>
                <a:cs typeface="微软雅黑" panose="020B0503020204020204" charset="-122"/>
              </a:rPr>
              <a:t>a</a:t>
            </a:r>
            <a:r>
              <a:rPr sz="1400" b="1" spc="-15" dirty="0">
                <a:solidFill>
                  <a:srgbClr val="C00000"/>
                </a:solidFill>
                <a:latin typeface="微软雅黑" panose="020B0503020204020204" charset="-122"/>
                <a:cs typeface="微软雅黑" panose="020B0503020204020204" charset="-122"/>
              </a:rPr>
              <a:t>r</a:t>
            </a:r>
            <a:r>
              <a:rPr sz="1400" b="1" dirty="0">
                <a:solidFill>
                  <a:srgbClr val="C00000"/>
                </a:solidFill>
                <a:latin typeface="微软雅黑" panose="020B0503020204020204" charset="-122"/>
                <a:cs typeface="微软雅黑" panose="020B0503020204020204" charset="-122"/>
              </a:rPr>
              <a:t>e</a:t>
            </a:r>
            <a:endParaRPr sz="1400">
              <a:latin typeface="微软雅黑" panose="020B0503020204020204" charset="-122"/>
              <a:cs typeface="微软雅黑" panose="020B0503020204020204" charset="-122"/>
            </a:endParaRPr>
          </a:p>
        </p:txBody>
      </p:sp>
      <p:sp>
        <p:nvSpPr>
          <p:cNvPr id="38" name="object 38"/>
          <p:cNvSpPr/>
          <p:nvPr/>
        </p:nvSpPr>
        <p:spPr>
          <a:xfrm>
            <a:off x="6310884" y="3553967"/>
            <a:ext cx="1155700" cy="934719"/>
          </a:xfrm>
          <a:custGeom>
            <a:avLst/>
            <a:gdLst/>
            <a:ahLst/>
            <a:cxnLst/>
            <a:rect l="l" t="t" r="r" b="b"/>
            <a:pathLst>
              <a:path w="1155700" h="934720">
                <a:moveTo>
                  <a:pt x="0" y="0"/>
                </a:moveTo>
                <a:lnTo>
                  <a:pt x="1155191" y="0"/>
                </a:lnTo>
                <a:lnTo>
                  <a:pt x="1155191" y="934212"/>
                </a:lnTo>
                <a:lnTo>
                  <a:pt x="0" y="934212"/>
                </a:lnTo>
                <a:lnTo>
                  <a:pt x="0" y="0"/>
                </a:lnTo>
                <a:close/>
              </a:path>
            </a:pathLst>
          </a:custGeom>
          <a:solidFill>
            <a:srgbClr val="D9D9D9"/>
          </a:solidFill>
        </p:spPr>
        <p:txBody>
          <a:bodyPr wrap="square" lIns="0" tIns="0" rIns="0" bIns="0" rtlCol="0"/>
          <a:lstStyle/>
          <a:p/>
        </p:txBody>
      </p:sp>
      <p:sp>
        <p:nvSpPr>
          <p:cNvPr id="39" name="object 39"/>
          <p:cNvSpPr/>
          <p:nvPr/>
        </p:nvSpPr>
        <p:spPr>
          <a:xfrm>
            <a:off x="6304724" y="3547338"/>
            <a:ext cx="1168400" cy="948055"/>
          </a:xfrm>
          <a:custGeom>
            <a:avLst/>
            <a:gdLst/>
            <a:ahLst/>
            <a:cxnLst/>
            <a:rect l="l" t="t" r="r" b="b"/>
            <a:pathLst>
              <a:path w="1168400" h="948054">
                <a:moveTo>
                  <a:pt x="1167777" y="947839"/>
                </a:moveTo>
                <a:lnTo>
                  <a:pt x="0" y="947839"/>
                </a:lnTo>
                <a:lnTo>
                  <a:pt x="0" y="0"/>
                </a:lnTo>
                <a:lnTo>
                  <a:pt x="1167777" y="0"/>
                </a:lnTo>
                <a:lnTo>
                  <a:pt x="1167777" y="6350"/>
                </a:lnTo>
                <a:lnTo>
                  <a:pt x="12700" y="6350"/>
                </a:lnTo>
                <a:lnTo>
                  <a:pt x="6350" y="12700"/>
                </a:lnTo>
                <a:lnTo>
                  <a:pt x="12700" y="12700"/>
                </a:lnTo>
                <a:lnTo>
                  <a:pt x="12700" y="935139"/>
                </a:lnTo>
                <a:lnTo>
                  <a:pt x="6350" y="935139"/>
                </a:lnTo>
                <a:lnTo>
                  <a:pt x="12700" y="941489"/>
                </a:lnTo>
                <a:lnTo>
                  <a:pt x="1167777" y="941489"/>
                </a:lnTo>
                <a:lnTo>
                  <a:pt x="1167777" y="947839"/>
                </a:lnTo>
                <a:close/>
              </a:path>
              <a:path w="1168400" h="948054">
                <a:moveTo>
                  <a:pt x="12700" y="12700"/>
                </a:moveTo>
                <a:lnTo>
                  <a:pt x="6350" y="12700"/>
                </a:lnTo>
                <a:lnTo>
                  <a:pt x="12700" y="6350"/>
                </a:lnTo>
                <a:lnTo>
                  <a:pt x="12700" y="12700"/>
                </a:lnTo>
                <a:close/>
              </a:path>
              <a:path w="1168400" h="948054">
                <a:moveTo>
                  <a:pt x="1155077" y="12700"/>
                </a:moveTo>
                <a:lnTo>
                  <a:pt x="12700" y="12700"/>
                </a:lnTo>
                <a:lnTo>
                  <a:pt x="12700" y="6350"/>
                </a:lnTo>
                <a:lnTo>
                  <a:pt x="1155077" y="6350"/>
                </a:lnTo>
                <a:lnTo>
                  <a:pt x="1155077" y="12700"/>
                </a:lnTo>
                <a:close/>
              </a:path>
              <a:path w="1168400" h="948054">
                <a:moveTo>
                  <a:pt x="1155077" y="941489"/>
                </a:moveTo>
                <a:lnTo>
                  <a:pt x="1155077" y="6350"/>
                </a:lnTo>
                <a:lnTo>
                  <a:pt x="1161427" y="12700"/>
                </a:lnTo>
                <a:lnTo>
                  <a:pt x="1167777" y="12700"/>
                </a:lnTo>
                <a:lnTo>
                  <a:pt x="1167777" y="935139"/>
                </a:lnTo>
                <a:lnTo>
                  <a:pt x="1161427" y="935139"/>
                </a:lnTo>
                <a:lnTo>
                  <a:pt x="1155077" y="941489"/>
                </a:lnTo>
                <a:close/>
              </a:path>
              <a:path w="1168400" h="948054">
                <a:moveTo>
                  <a:pt x="1167777" y="12700"/>
                </a:moveTo>
                <a:lnTo>
                  <a:pt x="1161427" y="12700"/>
                </a:lnTo>
                <a:lnTo>
                  <a:pt x="1155077" y="6350"/>
                </a:lnTo>
                <a:lnTo>
                  <a:pt x="1167777" y="6350"/>
                </a:lnTo>
                <a:lnTo>
                  <a:pt x="1167777" y="12700"/>
                </a:lnTo>
                <a:close/>
              </a:path>
              <a:path w="1168400" h="948054">
                <a:moveTo>
                  <a:pt x="12700" y="941489"/>
                </a:moveTo>
                <a:lnTo>
                  <a:pt x="6350" y="935139"/>
                </a:lnTo>
                <a:lnTo>
                  <a:pt x="12700" y="935139"/>
                </a:lnTo>
                <a:lnTo>
                  <a:pt x="12700" y="941489"/>
                </a:lnTo>
                <a:close/>
              </a:path>
              <a:path w="1168400" h="948054">
                <a:moveTo>
                  <a:pt x="1155077" y="941489"/>
                </a:moveTo>
                <a:lnTo>
                  <a:pt x="12700" y="941489"/>
                </a:lnTo>
                <a:lnTo>
                  <a:pt x="12700" y="935139"/>
                </a:lnTo>
                <a:lnTo>
                  <a:pt x="1155077" y="935139"/>
                </a:lnTo>
                <a:lnTo>
                  <a:pt x="1155077" y="941489"/>
                </a:lnTo>
                <a:close/>
              </a:path>
              <a:path w="1168400" h="948054">
                <a:moveTo>
                  <a:pt x="1167777" y="941489"/>
                </a:moveTo>
                <a:lnTo>
                  <a:pt x="1155077" y="941489"/>
                </a:lnTo>
                <a:lnTo>
                  <a:pt x="1161427" y="935139"/>
                </a:lnTo>
                <a:lnTo>
                  <a:pt x="1167777" y="935139"/>
                </a:lnTo>
                <a:lnTo>
                  <a:pt x="1167777" y="941489"/>
                </a:lnTo>
                <a:close/>
              </a:path>
            </a:pathLst>
          </a:custGeom>
          <a:solidFill>
            <a:srgbClr val="C00000"/>
          </a:solidFill>
        </p:spPr>
        <p:txBody>
          <a:bodyPr wrap="square" lIns="0" tIns="0" rIns="0" bIns="0" rtlCol="0"/>
          <a:lstStyle/>
          <a:p/>
        </p:txBody>
      </p:sp>
      <p:sp>
        <p:nvSpPr>
          <p:cNvPr id="40" name="object 40"/>
          <p:cNvSpPr txBox="1"/>
          <p:nvPr/>
        </p:nvSpPr>
        <p:spPr>
          <a:xfrm>
            <a:off x="6310884" y="3782923"/>
            <a:ext cx="1155700" cy="453390"/>
          </a:xfrm>
          <a:prstGeom prst="rect">
            <a:avLst/>
          </a:prstGeom>
        </p:spPr>
        <p:txBody>
          <a:bodyPr vert="horz" wrap="square" lIns="0" tIns="13335" rIns="0" bIns="0" rtlCol="0">
            <a:spAutoFit/>
          </a:bodyPr>
          <a:lstStyle/>
          <a:p>
            <a:pPr marL="157480" marR="92710" indent="-55880">
              <a:lnSpc>
                <a:spcPct val="100000"/>
              </a:lnSpc>
              <a:spcBef>
                <a:spcPts val="105"/>
              </a:spcBef>
            </a:pPr>
            <a:r>
              <a:rPr sz="1400" b="1" spc="-5" dirty="0">
                <a:solidFill>
                  <a:srgbClr val="C00000"/>
                </a:solidFill>
                <a:latin typeface="微软雅黑" panose="020B0503020204020204" charset="-122"/>
                <a:cs typeface="微软雅黑" panose="020B0503020204020204" charset="-122"/>
              </a:rPr>
              <a:t>VM</a:t>
            </a:r>
            <a:r>
              <a:rPr sz="1400" b="1" spc="-65" dirty="0">
                <a:solidFill>
                  <a:srgbClr val="C00000"/>
                </a:solidFill>
                <a:latin typeface="微软雅黑" panose="020B0503020204020204" charset="-122"/>
                <a:cs typeface="微软雅黑" panose="020B0503020204020204" charset="-122"/>
              </a:rPr>
              <a:t>W</a:t>
            </a:r>
            <a:r>
              <a:rPr sz="1400" b="1" spc="-5" dirty="0">
                <a:solidFill>
                  <a:srgbClr val="C00000"/>
                </a:solidFill>
                <a:latin typeface="微软雅黑" panose="020B0503020204020204" charset="-122"/>
                <a:cs typeface="微软雅黑" panose="020B0503020204020204" charset="-122"/>
              </a:rPr>
              <a:t>a</a:t>
            </a:r>
            <a:r>
              <a:rPr sz="1400" b="1" spc="-15" dirty="0">
                <a:solidFill>
                  <a:srgbClr val="C00000"/>
                </a:solidFill>
                <a:latin typeface="微软雅黑" panose="020B0503020204020204" charset="-122"/>
                <a:cs typeface="微软雅黑" panose="020B0503020204020204" charset="-122"/>
              </a:rPr>
              <a:t>r</a:t>
            </a:r>
            <a:r>
              <a:rPr sz="1400" b="1" spc="-5" dirty="0">
                <a:solidFill>
                  <a:srgbClr val="C00000"/>
                </a:solidFill>
                <a:latin typeface="微软雅黑" panose="020B0503020204020204" charset="-122"/>
                <a:cs typeface="微软雅黑" panose="020B0503020204020204" charset="-122"/>
              </a:rPr>
              <a:t>e</a:t>
            </a:r>
            <a:r>
              <a:rPr sz="1400" b="1" dirty="0">
                <a:solidFill>
                  <a:srgbClr val="C00000"/>
                </a:solidFill>
                <a:latin typeface="微软雅黑" panose="020B0503020204020204" charset="-122"/>
                <a:cs typeface="微软雅黑" panose="020B0503020204020204" charset="-122"/>
              </a:rPr>
              <a:t>中 </a:t>
            </a:r>
            <a:r>
              <a:rPr sz="1400" b="1" dirty="0">
                <a:solidFill>
                  <a:srgbClr val="C00000"/>
                </a:solidFill>
                <a:latin typeface="微软雅黑" panose="020B0503020204020204" charset="-122"/>
                <a:cs typeface="微软雅黑" panose="020B0503020204020204" charset="-122"/>
              </a:rPr>
              <a:t>安装</a:t>
            </a:r>
            <a:r>
              <a:rPr sz="1400" b="1" spc="-5" dirty="0">
                <a:solidFill>
                  <a:srgbClr val="C00000"/>
                </a:solidFill>
                <a:latin typeface="微软雅黑" panose="020B0503020204020204" charset="-122"/>
                <a:cs typeface="微软雅黑" panose="020B0503020204020204" charset="-122"/>
              </a:rPr>
              <a:t>Linux</a:t>
            </a:r>
            <a:endParaRPr sz="1400">
              <a:latin typeface="微软雅黑" panose="020B0503020204020204" charset="-122"/>
              <a:cs typeface="微软雅黑" panose="020B0503020204020204" charset="-122"/>
            </a:endParaRPr>
          </a:p>
        </p:txBody>
      </p:sp>
      <p:sp>
        <p:nvSpPr>
          <p:cNvPr id="41" name="object 41"/>
          <p:cNvSpPr/>
          <p:nvPr/>
        </p:nvSpPr>
        <p:spPr>
          <a:xfrm>
            <a:off x="6310884" y="4899659"/>
            <a:ext cx="1155700" cy="935990"/>
          </a:xfrm>
          <a:custGeom>
            <a:avLst/>
            <a:gdLst/>
            <a:ahLst/>
            <a:cxnLst/>
            <a:rect l="l" t="t" r="r" b="b"/>
            <a:pathLst>
              <a:path w="1155700" h="935989">
                <a:moveTo>
                  <a:pt x="0" y="0"/>
                </a:moveTo>
                <a:lnTo>
                  <a:pt x="1155191" y="0"/>
                </a:lnTo>
                <a:lnTo>
                  <a:pt x="1155191" y="935736"/>
                </a:lnTo>
                <a:lnTo>
                  <a:pt x="0" y="935736"/>
                </a:lnTo>
                <a:lnTo>
                  <a:pt x="0" y="0"/>
                </a:lnTo>
                <a:close/>
              </a:path>
            </a:pathLst>
          </a:custGeom>
          <a:solidFill>
            <a:srgbClr val="D9D9D9"/>
          </a:solidFill>
        </p:spPr>
        <p:txBody>
          <a:bodyPr wrap="square" lIns="0" tIns="0" rIns="0" bIns="0" rtlCol="0"/>
          <a:lstStyle/>
          <a:p/>
        </p:txBody>
      </p:sp>
      <p:sp>
        <p:nvSpPr>
          <p:cNvPr id="42" name="object 42"/>
          <p:cNvSpPr/>
          <p:nvPr/>
        </p:nvSpPr>
        <p:spPr>
          <a:xfrm>
            <a:off x="6304724" y="4893906"/>
            <a:ext cx="1168400" cy="948055"/>
          </a:xfrm>
          <a:custGeom>
            <a:avLst/>
            <a:gdLst/>
            <a:ahLst/>
            <a:cxnLst/>
            <a:rect l="l" t="t" r="r" b="b"/>
            <a:pathLst>
              <a:path w="1168400" h="948054">
                <a:moveTo>
                  <a:pt x="1167777" y="947839"/>
                </a:moveTo>
                <a:lnTo>
                  <a:pt x="0" y="947839"/>
                </a:lnTo>
                <a:lnTo>
                  <a:pt x="0" y="0"/>
                </a:lnTo>
                <a:lnTo>
                  <a:pt x="1167777" y="0"/>
                </a:lnTo>
                <a:lnTo>
                  <a:pt x="1167777" y="6350"/>
                </a:lnTo>
                <a:lnTo>
                  <a:pt x="12700" y="6350"/>
                </a:lnTo>
                <a:lnTo>
                  <a:pt x="6350" y="12700"/>
                </a:lnTo>
                <a:lnTo>
                  <a:pt x="12700" y="12700"/>
                </a:lnTo>
                <a:lnTo>
                  <a:pt x="12700" y="935139"/>
                </a:lnTo>
                <a:lnTo>
                  <a:pt x="6350" y="935139"/>
                </a:lnTo>
                <a:lnTo>
                  <a:pt x="12700" y="941489"/>
                </a:lnTo>
                <a:lnTo>
                  <a:pt x="1167777" y="941489"/>
                </a:lnTo>
                <a:lnTo>
                  <a:pt x="1167777" y="947839"/>
                </a:lnTo>
                <a:close/>
              </a:path>
              <a:path w="1168400" h="948054">
                <a:moveTo>
                  <a:pt x="12700" y="12700"/>
                </a:moveTo>
                <a:lnTo>
                  <a:pt x="6350" y="12700"/>
                </a:lnTo>
                <a:lnTo>
                  <a:pt x="12700" y="6350"/>
                </a:lnTo>
                <a:lnTo>
                  <a:pt x="12700" y="12700"/>
                </a:lnTo>
                <a:close/>
              </a:path>
              <a:path w="1168400" h="948054">
                <a:moveTo>
                  <a:pt x="1155077" y="12700"/>
                </a:moveTo>
                <a:lnTo>
                  <a:pt x="12700" y="12700"/>
                </a:lnTo>
                <a:lnTo>
                  <a:pt x="12700" y="6350"/>
                </a:lnTo>
                <a:lnTo>
                  <a:pt x="1155077" y="6350"/>
                </a:lnTo>
                <a:lnTo>
                  <a:pt x="1155077" y="12700"/>
                </a:lnTo>
                <a:close/>
              </a:path>
              <a:path w="1168400" h="948054">
                <a:moveTo>
                  <a:pt x="1155077" y="941489"/>
                </a:moveTo>
                <a:lnTo>
                  <a:pt x="1155077" y="6350"/>
                </a:lnTo>
                <a:lnTo>
                  <a:pt x="1161427" y="12700"/>
                </a:lnTo>
                <a:lnTo>
                  <a:pt x="1167777" y="12700"/>
                </a:lnTo>
                <a:lnTo>
                  <a:pt x="1167777" y="935139"/>
                </a:lnTo>
                <a:lnTo>
                  <a:pt x="1161427" y="935139"/>
                </a:lnTo>
                <a:lnTo>
                  <a:pt x="1155077" y="941489"/>
                </a:lnTo>
                <a:close/>
              </a:path>
              <a:path w="1168400" h="948054">
                <a:moveTo>
                  <a:pt x="1167777" y="12700"/>
                </a:moveTo>
                <a:lnTo>
                  <a:pt x="1161427" y="12700"/>
                </a:lnTo>
                <a:lnTo>
                  <a:pt x="1155077" y="6350"/>
                </a:lnTo>
                <a:lnTo>
                  <a:pt x="1167777" y="6350"/>
                </a:lnTo>
                <a:lnTo>
                  <a:pt x="1167777" y="12700"/>
                </a:lnTo>
                <a:close/>
              </a:path>
              <a:path w="1168400" h="948054">
                <a:moveTo>
                  <a:pt x="12700" y="941489"/>
                </a:moveTo>
                <a:lnTo>
                  <a:pt x="6350" y="935139"/>
                </a:lnTo>
                <a:lnTo>
                  <a:pt x="12700" y="935139"/>
                </a:lnTo>
                <a:lnTo>
                  <a:pt x="12700" y="941489"/>
                </a:lnTo>
                <a:close/>
              </a:path>
              <a:path w="1168400" h="948054">
                <a:moveTo>
                  <a:pt x="1155077" y="941489"/>
                </a:moveTo>
                <a:lnTo>
                  <a:pt x="12700" y="941489"/>
                </a:lnTo>
                <a:lnTo>
                  <a:pt x="12700" y="935139"/>
                </a:lnTo>
                <a:lnTo>
                  <a:pt x="1155077" y="935139"/>
                </a:lnTo>
                <a:lnTo>
                  <a:pt x="1155077" y="941489"/>
                </a:lnTo>
                <a:close/>
              </a:path>
              <a:path w="1168400" h="948054">
                <a:moveTo>
                  <a:pt x="1167777" y="941489"/>
                </a:moveTo>
                <a:lnTo>
                  <a:pt x="1155077" y="941489"/>
                </a:lnTo>
                <a:lnTo>
                  <a:pt x="1161427" y="935139"/>
                </a:lnTo>
                <a:lnTo>
                  <a:pt x="1167777" y="935139"/>
                </a:lnTo>
                <a:lnTo>
                  <a:pt x="1167777" y="941489"/>
                </a:lnTo>
                <a:close/>
              </a:path>
            </a:pathLst>
          </a:custGeom>
          <a:solidFill>
            <a:srgbClr val="C00000"/>
          </a:solidFill>
        </p:spPr>
        <p:txBody>
          <a:bodyPr wrap="square" lIns="0" tIns="0" rIns="0" bIns="0" rtlCol="0"/>
          <a:lstStyle/>
          <a:p/>
        </p:txBody>
      </p:sp>
      <p:sp>
        <p:nvSpPr>
          <p:cNvPr id="43" name="object 43"/>
          <p:cNvSpPr txBox="1"/>
          <p:nvPr/>
        </p:nvSpPr>
        <p:spPr>
          <a:xfrm>
            <a:off x="6310884" y="5129491"/>
            <a:ext cx="1155700" cy="453390"/>
          </a:xfrm>
          <a:prstGeom prst="rect">
            <a:avLst/>
          </a:prstGeom>
        </p:spPr>
        <p:txBody>
          <a:bodyPr vert="horz" wrap="square" lIns="0" tIns="13335" rIns="0" bIns="0" rtlCol="0">
            <a:spAutoFit/>
          </a:bodyPr>
          <a:lstStyle/>
          <a:p>
            <a:pPr marL="179705" marR="149225" indent="-22225">
              <a:lnSpc>
                <a:spcPct val="100000"/>
              </a:lnSpc>
              <a:spcBef>
                <a:spcPts val="105"/>
              </a:spcBef>
            </a:pPr>
            <a:r>
              <a:rPr sz="1400" b="1" spc="-5" dirty="0">
                <a:solidFill>
                  <a:srgbClr val="C00000"/>
                </a:solidFill>
                <a:latin typeface="微软雅黑" panose="020B0503020204020204" charset="-122"/>
                <a:cs typeface="微软雅黑" panose="020B0503020204020204" charset="-122"/>
              </a:rPr>
              <a:t>Li</a:t>
            </a:r>
            <a:r>
              <a:rPr sz="1400" b="1" spc="-10" dirty="0">
                <a:solidFill>
                  <a:srgbClr val="C00000"/>
                </a:solidFill>
                <a:latin typeface="微软雅黑" panose="020B0503020204020204" charset="-122"/>
                <a:cs typeface="微软雅黑" panose="020B0503020204020204" charset="-122"/>
              </a:rPr>
              <a:t>nu</a:t>
            </a:r>
            <a:r>
              <a:rPr sz="1400" b="1" spc="-5" dirty="0">
                <a:solidFill>
                  <a:srgbClr val="C00000"/>
                </a:solidFill>
                <a:latin typeface="微软雅黑" panose="020B0503020204020204" charset="-122"/>
                <a:cs typeface="微软雅黑" panose="020B0503020204020204" charset="-122"/>
              </a:rPr>
              <a:t>x中</a:t>
            </a:r>
            <a:r>
              <a:rPr sz="1400" b="1" dirty="0">
                <a:solidFill>
                  <a:srgbClr val="C00000"/>
                </a:solidFill>
                <a:latin typeface="微软雅黑" panose="020B0503020204020204" charset="-122"/>
                <a:cs typeface="微软雅黑" panose="020B0503020204020204" charset="-122"/>
              </a:rPr>
              <a:t>安 </a:t>
            </a:r>
            <a:r>
              <a:rPr sz="1400" b="1" dirty="0">
                <a:solidFill>
                  <a:srgbClr val="C00000"/>
                </a:solidFill>
                <a:latin typeface="微软雅黑" panose="020B0503020204020204" charset="-122"/>
                <a:cs typeface="微软雅黑" panose="020B0503020204020204" charset="-122"/>
              </a:rPr>
              <a:t>装</a:t>
            </a:r>
            <a:r>
              <a:rPr sz="1400" b="1" spc="-10" dirty="0">
                <a:solidFill>
                  <a:srgbClr val="C00000"/>
                </a:solidFill>
                <a:latin typeface="微软雅黑" panose="020B0503020204020204" charset="-122"/>
                <a:cs typeface="微软雅黑" panose="020B0503020204020204" charset="-122"/>
              </a:rPr>
              <a:t>Vivado</a:t>
            </a:r>
            <a:endParaRPr sz="1400">
              <a:latin typeface="微软雅黑" panose="020B0503020204020204" charset="-122"/>
              <a:cs typeface="微软雅黑" panose="020B0503020204020204" charset="-122"/>
            </a:endParaRPr>
          </a:p>
        </p:txBody>
      </p:sp>
      <p:sp>
        <p:nvSpPr>
          <p:cNvPr id="44" name="object 44"/>
          <p:cNvSpPr/>
          <p:nvPr/>
        </p:nvSpPr>
        <p:spPr>
          <a:xfrm>
            <a:off x="9500616" y="2177795"/>
            <a:ext cx="1155700" cy="935990"/>
          </a:xfrm>
          <a:custGeom>
            <a:avLst/>
            <a:gdLst/>
            <a:ahLst/>
            <a:cxnLst/>
            <a:rect l="l" t="t" r="r" b="b"/>
            <a:pathLst>
              <a:path w="1155700" h="935989">
                <a:moveTo>
                  <a:pt x="0" y="0"/>
                </a:moveTo>
                <a:lnTo>
                  <a:pt x="1155192" y="0"/>
                </a:lnTo>
                <a:lnTo>
                  <a:pt x="1155192" y="935735"/>
                </a:lnTo>
                <a:lnTo>
                  <a:pt x="0" y="935735"/>
                </a:lnTo>
                <a:lnTo>
                  <a:pt x="0" y="0"/>
                </a:lnTo>
                <a:close/>
              </a:path>
            </a:pathLst>
          </a:custGeom>
          <a:solidFill>
            <a:srgbClr val="D9D9D9"/>
          </a:solidFill>
        </p:spPr>
        <p:txBody>
          <a:bodyPr wrap="square" lIns="0" tIns="0" rIns="0" bIns="0" rtlCol="0"/>
          <a:lstStyle/>
          <a:p/>
        </p:txBody>
      </p:sp>
      <p:sp>
        <p:nvSpPr>
          <p:cNvPr id="45" name="object 45"/>
          <p:cNvSpPr/>
          <p:nvPr/>
        </p:nvSpPr>
        <p:spPr>
          <a:xfrm>
            <a:off x="9494291" y="2172119"/>
            <a:ext cx="1168400" cy="948055"/>
          </a:xfrm>
          <a:custGeom>
            <a:avLst/>
            <a:gdLst/>
            <a:ahLst/>
            <a:cxnLst/>
            <a:rect l="l" t="t" r="r" b="b"/>
            <a:pathLst>
              <a:path w="1168400" h="948055">
                <a:moveTo>
                  <a:pt x="1167777" y="947851"/>
                </a:moveTo>
                <a:lnTo>
                  <a:pt x="0" y="947851"/>
                </a:lnTo>
                <a:lnTo>
                  <a:pt x="0" y="0"/>
                </a:lnTo>
                <a:lnTo>
                  <a:pt x="1167777" y="0"/>
                </a:lnTo>
                <a:lnTo>
                  <a:pt x="1167777" y="6349"/>
                </a:lnTo>
                <a:lnTo>
                  <a:pt x="12700" y="6349"/>
                </a:lnTo>
                <a:lnTo>
                  <a:pt x="6350" y="12699"/>
                </a:lnTo>
                <a:lnTo>
                  <a:pt x="12700" y="12699"/>
                </a:lnTo>
                <a:lnTo>
                  <a:pt x="12700" y="935151"/>
                </a:lnTo>
                <a:lnTo>
                  <a:pt x="6350" y="935151"/>
                </a:lnTo>
                <a:lnTo>
                  <a:pt x="12700" y="941501"/>
                </a:lnTo>
                <a:lnTo>
                  <a:pt x="1167777" y="941501"/>
                </a:lnTo>
                <a:lnTo>
                  <a:pt x="1167777" y="947851"/>
                </a:lnTo>
                <a:close/>
              </a:path>
              <a:path w="1168400" h="948055">
                <a:moveTo>
                  <a:pt x="12700" y="12699"/>
                </a:moveTo>
                <a:lnTo>
                  <a:pt x="6350" y="12699"/>
                </a:lnTo>
                <a:lnTo>
                  <a:pt x="12700" y="6349"/>
                </a:lnTo>
                <a:lnTo>
                  <a:pt x="12700" y="12699"/>
                </a:lnTo>
                <a:close/>
              </a:path>
              <a:path w="1168400" h="948055">
                <a:moveTo>
                  <a:pt x="1155077" y="12699"/>
                </a:moveTo>
                <a:lnTo>
                  <a:pt x="12700" y="12699"/>
                </a:lnTo>
                <a:lnTo>
                  <a:pt x="12700" y="6349"/>
                </a:lnTo>
                <a:lnTo>
                  <a:pt x="1155077" y="6349"/>
                </a:lnTo>
                <a:lnTo>
                  <a:pt x="1155077" y="12699"/>
                </a:lnTo>
                <a:close/>
              </a:path>
              <a:path w="1168400" h="948055">
                <a:moveTo>
                  <a:pt x="1155077" y="941501"/>
                </a:moveTo>
                <a:lnTo>
                  <a:pt x="1155077" y="6349"/>
                </a:lnTo>
                <a:lnTo>
                  <a:pt x="1161427" y="12699"/>
                </a:lnTo>
                <a:lnTo>
                  <a:pt x="1167777" y="12699"/>
                </a:lnTo>
                <a:lnTo>
                  <a:pt x="1167777" y="935151"/>
                </a:lnTo>
                <a:lnTo>
                  <a:pt x="1161427" y="935151"/>
                </a:lnTo>
                <a:lnTo>
                  <a:pt x="1155077" y="941501"/>
                </a:lnTo>
                <a:close/>
              </a:path>
              <a:path w="1168400" h="948055">
                <a:moveTo>
                  <a:pt x="1167777" y="12699"/>
                </a:moveTo>
                <a:lnTo>
                  <a:pt x="1161427" y="12699"/>
                </a:lnTo>
                <a:lnTo>
                  <a:pt x="1155077" y="6349"/>
                </a:lnTo>
                <a:lnTo>
                  <a:pt x="1167777" y="6349"/>
                </a:lnTo>
                <a:lnTo>
                  <a:pt x="1167777" y="12699"/>
                </a:lnTo>
                <a:close/>
              </a:path>
              <a:path w="1168400" h="948055">
                <a:moveTo>
                  <a:pt x="12700" y="941501"/>
                </a:moveTo>
                <a:lnTo>
                  <a:pt x="6350" y="935151"/>
                </a:lnTo>
                <a:lnTo>
                  <a:pt x="12700" y="935151"/>
                </a:lnTo>
                <a:lnTo>
                  <a:pt x="12700" y="941501"/>
                </a:lnTo>
                <a:close/>
              </a:path>
              <a:path w="1168400" h="948055">
                <a:moveTo>
                  <a:pt x="1155077" y="941501"/>
                </a:moveTo>
                <a:lnTo>
                  <a:pt x="12700" y="941501"/>
                </a:lnTo>
                <a:lnTo>
                  <a:pt x="12700" y="935151"/>
                </a:lnTo>
                <a:lnTo>
                  <a:pt x="1155077" y="935151"/>
                </a:lnTo>
                <a:lnTo>
                  <a:pt x="1155077" y="941501"/>
                </a:lnTo>
                <a:close/>
              </a:path>
              <a:path w="1168400" h="948055">
                <a:moveTo>
                  <a:pt x="1167777" y="941501"/>
                </a:moveTo>
                <a:lnTo>
                  <a:pt x="1155077" y="941501"/>
                </a:lnTo>
                <a:lnTo>
                  <a:pt x="1161427" y="935151"/>
                </a:lnTo>
                <a:lnTo>
                  <a:pt x="1167777" y="935151"/>
                </a:lnTo>
                <a:lnTo>
                  <a:pt x="1167777" y="941501"/>
                </a:lnTo>
                <a:close/>
              </a:path>
            </a:pathLst>
          </a:custGeom>
          <a:solidFill>
            <a:srgbClr val="C00000"/>
          </a:solidFill>
        </p:spPr>
        <p:txBody>
          <a:bodyPr wrap="square" lIns="0" tIns="0" rIns="0" bIns="0" rtlCol="0"/>
          <a:lstStyle/>
          <a:p/>
        </p:txBody>
      </p:sp>
      <p:sp>
        <p:nvSpPr>
          <p:cNvPr id="46" name="object 46"/>
          <p:cNvSpPr txBox="1"/>
          <p:nvPr/>
        </p:nvSpPr>
        <p:spPr>
          <a:xfrm>
            <a:off x="9500616" y="2407704"/>
            <a:ext cx="1155700" cy="453390"/>
          </a:xfrm>
          <a:prstGeom prst="rect">
            <a:avLst/>
          </a:prstGeom>
        </p:spPr>
        <p:txBody>
          <a:bodyPr vert="horz" wrap="square" lIns="0" tIns="13335" rIns="0" bIns="0" rtlCol="0">
            <a:spAutoFit/>
          </a:bodyPr>
          <a:lstStyle/>
          <a:p>
            <a:pPr marL="310515" marR="167640" indent="-135255">
              <a:lnSpc>
                <a:spcPct val="100000"/>
              </a:lnSpc>
              <a:spcBef>
                <a:spcPts val="105"/>
              </a:spcBef>
            </a:pPr>
            <a:r>
              <a:rPr sz="1400" b="1" spc="-5" dirty="0">
                <a:solidFill>
                  <a:srgbClr val="C00000"/>
                </a:solidFill>
                <a:latin typeface="微软雅黑" panose="020B0503020204020204" charset="-122"/>
                <a:cs typeface="微软雅黑" panose="020B0503020204020204" charset="-122"/>
              </a:rPr>
              <a:t>通过J</a:t>
            </a:r>
            <a:r>
              <a:rPr sz="1400" b="1" spc="-114" dirty="0">
                <a:solidFill>
                  <a:srgbClr val="C00000"/>
                </a:solidFill>
                <a:latin typeface="微软雅黑" panose="020B0503020204020204" charset="-122"/>
                <a:cs typeface="微软雅黑" panose="020B0503020204020204" charset="-122"/>
              </a:rPr>
              <a:t>T</a:t>
            </a:r>
            <a:r>
              <a:rPr sz="1400" b="1" spc="-25" dirty="0">
                <a:solidFill>
                  <a:srgbClr val="C00000"/>
                </a:solidFill>
                <a:latin typeface="微软雅黑" panose="020B0503020204020204" charset="-122"/>
                <a:cs typeface="微软雅黑" panose="020B0503020204020204" charset="-122"/>
              </a:rPr>
              <a:t>A</a:t>
            </a:r>
            <a:r>
              <a:rPr sz="1400" b="1" dirty="0">
                <a:solidFill>
                  <a:srgbClr val="C00000"/>
                </a:solidFill>
                <a:latin typeface="微软雅黑" panose="020B0503020204020204" charset="-122"/>
                <a:cs typeface="微软雅黑" panose="020B0503020204020204" charset="-122"/>
              </a:rPr>
              <a:t>G </a:t>
            </a:r>
            <a:r>
              <a:rPr sz="1400" b="1" dirty="0">
                <a:solidFill>
                  <a:srgbClr val="C00000"/>
                </a:solidFill>
                <a:latin typeface="微软雅黑" panose="020B0503020204020204" charset="-122"/>
                <a:cs typeface="微软雅黑" panose="020B0503020204020204" charset="-122"/>
              </a:rPr>
              <a:t>调试</a:t>
            </a:r>
            <a:r>
              <a:rPr sz="1400" b="1" spc="5" dirty="0">
                <a:solidFill>
                  <a:srgbClr val="C00000"/>
                </a:solidFill>
                <a:latin typeface="微软雅黑" panose="020B0503020204020204" charset="-122"/>
                <a:cs typeface="微软雅黑" panose="020B0503020204020204" charset="-122"/>
              </a:rPr>
              <a:t>器</a:t>
            </a:r>
            <a:endParaRPr sz="1400">
              <a:latin typeface="微软雅黑" panose="020B0503020204020204" charset="-122"/>
              <a:cs typeface="微软雅黑" panose="020B0503020204020204" charset="-122"/>
            </a:endParaRPr>
          </a:p>
        </p:txBody>
      </p:sp>
      <p:sp>
        <p:nvSpPr>
          <p:cNvPr id="47" name="object 47"/>
          <p:cNvSpPr/>
          <p:nvPr/>
        </p:nvSpPr>
        <p:spPr>
          <a:xfrm>
            <a:off x="9500616" y="3553967"/>
            <a:ext cx="1155700" cy="934719"/>
          </a:xfrm>
          <a:custGeom>
            <a:avLst/>
            <a:gdLst/>
            <a:ahLst/>
            <a:cxnLst/>
            <a:rect l="l" t="t" r="r" b="b"/>
            <a:pathLst>
              <a:path w="1155700" h="934720">
                <a:moveTo>
                  <a:pt x="0" y="0"/>
                </a:moveTo>
                <a:lnTo>
                  <a:pt x="1155192" y="0"/>
                </a:lnTo>
                <a:lnTo>
                  <a:pt x="1155192" y="934212"/>
                </a:lnTo>
                <a:lnTo>
                  <a:pt x="0" y="934212"/>
                </a:lnTo>
                <a:lnTo>
                  <a:pt x="0" y="0"/>
                </a:lnTo>
                <a:close/>
              </a:path>
            </a:pathLst>
          </a:custGeom>
          <a:solidFill>
            <a:srgbClr val="D9D9D9"/>
          </a:solidFill>
        </p:spPr>
        <p:txBody>
          <a:bodyPr wrap="square" lIns="0" tIns="0" rIns="0" bIns="0" rtlCol="0"/>
          <a:lstStyle/>
          <a:p/>
        </p:txBody>
      </p:sp>
      <p:sp>
        <p:nvSpPr>
          <p:cNvPr id="48" name="object 48"/>
          <p:cNvSpPr/>
          <p:nvPr/>
        </p:nvSpPr>
        <p:spPr>
          <a:xfrm>
            <a:off x="9494291" y="3547338"/>
            <a:ext cx="1168400" cy="948055"/>
          </a:xfrm>
          <a:custGeom>
            <a:avLst/>
            <a:gdLst/>
            <a:ahLst/>
            <a:cxnLst/>
            <a:rect l="l" t="t" r="r" b="b"/>
            <a:pathLst>
              <a:path w="1168400" h="948054">
                <a:moveTo>
                  <a:pt x="1167777" y="947839"/>
                </a:moveTo>
                <a:lnTo>
                  <a:pt x="0" y="947839"/>
                </a:lnTo>
                <a:lnTo>
                  <a:pt x="0" y="0"/>
                </a:lnTo>
                <a:lnTo>
                  <a:pt x="1167777" y="0"/>
                </a:lnTo>
                <a:lnTo>
                  <a:pt x="1167777" y="6350"/>
                </a:lnTo>
                <a:lnTo>
                  <a:pt x="12700" y="6350"/>
                </a:lnTo>
                <a:lnTo>
                  <a:pt x="6350" y="12700"/>
                </a:lnTo>
                <a:lnTo>
                  <a:pt x="12700" y="12700"/>
                </a:lnTo>
                <a:lnTo>
                  <a:pt x="12700" y="935139"/>
                </a:lnTo>
                <a:lnTo>
                  <a:pt x="6350" y="935139"/>
                </a:lnTo>
                <a:lnTo>
                  <a:pt x="12700" y="941489"/>
                </a:lnTo>
                <a:lnTo>
                  <a:pt x="1167777" y="941489"/>
                </a:lnTo>
                <a:lnTo>
                  <a:pt x="1167777" y="947839"/>
                </a:lnTo>
                <a:close/>
              </a:path>
              <a:path w="1168400" h="948054">
                <a:moveTo>
                  <a:pt x="12700" y="12700"/>
                </a:moveTo>
                <a:lnTo>
                  <a:pt x="6350" y="12700"/>
                </a:lnTo>
                <a:lnTo>
                  <a:pt x="12700" y="6350"/>
                </a:lnTo>
                <a:lnTo>
                  <a:pt x="12700" y="12700"/>
                </a:lnTo>
                <a:close/>
              </a:path>
              <a:path w="1168400" h="948054">
                <a:moveTo>
                  <a:pt x="1155077" y="12700"/>
                </a:moveTo>
                <a:lnTo>
                  <a:pt x="12700" y="12700"/>
                </a:lnTo>
                <a:lnTo>
                  <a:pt x="12700" y="6350"/>
                </a:lnTo>
                <a:lnTo>
                  <a:pt x="1155077" y="6350"/>
                </a:lnTo>
                <a:lnTo>
                  <a:pt x="1155077" y="12700"/>
                </a:lnTo>
                <a:close/>
              </a:path>
              <a:path w="1168400" h="948054">
                <a:moveTo>
                  <a:pt x="1155077" y="941489"/>
                </a:moveTo>
                <a:lnTo>
                  <a:pt x="1155077" y="6350"/>
                </a:lnTo>
                <a:lnTo>
                  <a:pt x="1161427" y="12700"/>
                </a:lnTo>
                <a:lnTo>
                  <a:pt x="1167777" y="12700"/>
                </a:lnTo>
                <a:lnTo>
                  <a:pt x="1167777" y="935139"/>
                </a:lnTo>
                <a:lnTo>
                  <a:pt x="1161427" y="935139"/>
                </a:lnTo>
                <a:lnTo>
                  <a:pt x="1155077" y="941489"/>
                </a:lnTo>
                <a:close/>
              </a:path>
              <a:path w="1168400" h="948054">
                <a:moveTo>
                  <a:pt x="1167777" y="12700"/>
                </a:moveTo>
                <a:lnTo>
                  <a:pt x="1161427" y="12700"/>
                </a:lnTo>
                <a:lnTo>
                  <a:pt x="1155077" y="6350"/>
                </a:lnTo>
                <a:lnTo>
                  <a:pt x="1167777" y="6350"/>
                </a:lnTo>
                <a:lnTo>
                  <a:pt x="1167777" y="12700"/>
                </a:lnTo>
                <a:close/>
              </a:path>
              <a:path w="1168400" h="948054">
                <a:moveTo>
                  <a:pt x="12700" y="941489"/>
                </a:moveTo>
                <a:lnTo>
                  <a:pt x="6350" y="935139"/>
                </a:lnTo>
                <a:lnTo>
                  <a:pt x="12700" y="935139"/>
                </a:lnTo>
                <a:lnTo>
                  <a:pt x="12700" y="941489"/>
                </a:lnTo>
                <a:close/>
              </a:path>
              <a:path w="1168400" h="948054">
                <a:moveTo>
                  <a:pt x="1155077" y="941489"/>
                </a:moveTo>
                <a:lnTo>
                  <a:pt x="12700" y="941489"/>
                </a:lnTo>
                <a:lnTo>
                  <a:pt x="12700" y="935139"/>
                </a:lnTo>
                <a:lnTo>
                  <a:pt x="1155077" y="935139"/>
                </a:lnTo>
                <a:lnTo>
                  <a:pt x="1155077" y="941489"/>
                </a:lnTo>
                <a:close/>
              </a:path>
              <a:path w="1168400" h="948054">
                <a:moveTo>
                  <a:pt x="1167777" y="941489"/>
                </a:moveTo>
                <a:lnTo>
                  <a:pt x="1155077" y="941489"/>
                </a:lnTo>
                <a:lnTo>
                  <a:pt x="1161427" y="935139"/>
                </a:lnTo>
                <a:lnTo>
                  <a:pt x="1167777" y="935139"/>
                </a:lnTo>
                <a:lnTo>
                  <a:pt x="1167777" y="941489"/>
                </a:lnTo>
                <a:close/>
              </a:path>
            </a:pathLst>
          </a:custGeom>
          <a:solidFill>
            <a:srgbClr val="C00000"/>
          </a:solidFill>
        </p:spPr>
        <p:txBody>
          <a:bodyPr wrap="square" lIns="0" tIns="0" rIns="0" bIns="0" rtlCol="0"/>
          <a:lstStyle/>
          <a:p/>
        </p:txBody>
      </p:sp>
      <p:sp>
        <p:nvSpPr>
          <p:cNvPr id="49" name="object 49"/>
          <p:cNvSpPr txBox="1"/>
          <p:nvPr/>
        </p:nvSpPr>
        <p:spPr>
          <a:xfrm>
            <a:off x="9500616" y="3782923"/>
            <a:ext cx="1155700" cy="453390"/>
          </a:xfrm>
          <a:prstGeom prst="rect">
            <a:avLst/>
          </a:prstGeom>
        </p:spPr>
        <p:txBody>
          <a:bodyPr vert="horz" wrap="square" lIns="0" tIns="13335" rIns="0" bIns="0" rtlCol="0">
            <a:spAutoFit/>
          </a:bodyPr>
          <a:lstStyle/>
          <a:p>
            <a:pPr marL="399415" marR="391795" algn="ctr">
              <a:lnSpc>
                <a:spcPct val="100000"/>
              </a:lnSpc>
              <a:spcBef>
                <a:spcPts val="105"/>
              </a:spcBef>
            </a:pPr>
            <a:r>
              <a:rPr sz="1400" b="1" dirty="0">
                <a:solidFill>
                  <a:srgbClr val="C00000"/>
                </a:solidFill>
                <a:latin typeface="微软雅黑" panose="020B0503020204020204" charset="-122"/>
                <a:cs typeface="微软雅黑" panose="020B0503020204020204" charset="-122"/>
              </a:rPr>
              <a:t>下</a:t>
            </a:r>
            <a:r>
              <a:rPr sz="1400" b="1" dirty="0">
                <a:solidFill>
                  <a:srgbClr val="C00000"/>
                </a:solidFill>
                <a:latin typeface="微软雅黑" panose="020B0503020204020204" charset="-122"/>
                <a:cs typeface="微软雅黑" panose="020B0503020204020204" charset="-122"/>
              </a:rPr>
              <a:t>载 </a:t>
            </a:r>
            <a:r>
              <a:rPr sz="1400" b="1" dirty="0">
                <a:solidFill>
                  <a:srgbClr val="C00000"/>
                </a:solidFill>
                <a:latin typeface="微软雅黑" panose="020B0503020204020204" charset="-122"/>
                <a:cs typeface="微软雅黑" panose="020B0503020204020204" charset="-122"/>
              </a:rPr>
              <a:t>程</a:t>
            </a:r>
            <a:r>
              <a:rPr sz="1400" b="1" spc="5" dirty="0">
                <a:solidFill>
                  <a:srgbClr val="C00000"/>
                </a:solidFill>
                <a:latin typeface="微软雅黑" panose="020B0503020204020204" charset="-122"/>
                <a:cs typeface="微软雅黑" panose="020B0503020204020204" charset="-122"/>
              </a:rPr>
              <a:t>序</a:t>
            </a:r>
            <a:endParaRPr sz="1400">
              <a:latin typeface="微软雅黑" panose="020B0503020204020204" charset="-122"/>
              <a:cs typeface="微软雅黑" panose="020B0503020204020204" charset="-122"/>
            </a:endParaRPr>
          </a:p>
        </p:txBody>
      </p:sp>
      <p:sp>
        <p:nvSpPr>
          <p:cNvPr id="50" name="object 50"/>
          <p:cNvSpPr/>
          <p:nvPr/>
        </p:nvSpPr>
        <p:spPr>
          <a:xfrm>
            <a:off x="9500616" y="4899659"/>
            <a:ext cx="1155700" cy="935990"/>
          </a:xfrm>
          <a:custGeom>
            <a:avLst/>
            <a:gdLst/>
            <a:ahLst/>
            <a:cxnLst/>
            <a:rect l="l" t="t" r="r" b="b"/>
            <a:pathLst>
              <a:path w="1155700" h="935989">
                <a:moveTo>
                  <a:pt x="0" y="0"/>
                </a:moveTo>
                <a:lnTo>
                  <a:pt x="1155192" y="0"/>
                </a:lnTo>
                <a:lnTo>
                  <a:pt x="1155192" y="935736"/>
                </a:lnTo>
                <a:lnTo>
                  <a:pt x="0" y="935736"/>
                </a:lnTo>
                <a:lnTo>
                  <a:pt x="0" y="0"/>
                </a:lnTo>
                <a:close/>
              </a:path>
            </a:pathLst>
          </a:custGeom>
          <a:solidFill>
            <a:srgbClr val="D9D9D9"/>
          </a:solidFill>
        </p:spPr>
        <p:txBody>
          <a:bodyPr wrap="square" lIns="0" tIns="0" rIns="0" bIns="0" rtlCol="0"/>
          <a:lstStyle/>
          <a:p/>
        </p:txBody>
      </p:sp>
      <p:sp>
        <p:nvSpPr>
          <p:cNvPr id="51" name="object 51"/>
          <p:cNvSpPr/>
          <p:nvPr/>
        </p:nvSpPr>
        <p:spPr>
          <a:xfrm>
            <a:off x="9494291" y="4893906"/>
            <a:ext cx="1168400" cy="948055"/>
          </a:xfrm>
          <a:custGeom>
            <a:avLst/>
            <a:gdLst/>
            <a:ahLst/>
            <a:cxnLst/>
            <a:rect l="l" t="t" r="r" b="b"/>
            <a:pathLst>
              <a:path w="1168400" h="948054">
                <a:moveTo>
                  <a:pt x="1167777" y="947839"/>
                </a:moveTo>
                <a:lnTo>
                  <a:pt x="0" y="947839"/>
                </a:lnTo>
                <a:lnTo>
                  <a:pt x="0" y="0"/>
                </a:lnTo>
                <a:lnTo>
                  <a:pt x="1167777" y="0"/>
                </a:lnTo>
                <a:lnTo>
                  <a:pt x="1167777" y="6350"/>
                </a:lnTo>
                <a:lnTo>
                  <a:pt x="12700" y="6350"/>
                </a:lnTo>
                <a:lnTo>
                  <a:pt x="6350" y="12700"/>
                </a:lnTo>
                <a:lnTo>
                  <a:pt x="12700" y="12700"/>
                </a:lnTo>
                <a:lnTo>
                  <a:pt x="12700" y="935139"/>
                </a:lnTo>
                <a:lnTo>
                  <a:pt x="6350" y="935139"/>
                </a:lnTo>
                <a:lnTo>
                  <a:pt x="12700" y="941489"/>
                </a:lnTo>
                <a:lnTo>
                  <a:pt x="1167777" y="941489"/>
                </a:lnTo>
                <a:lnTo>
                  <a:pt x="1167777" y="947839"/>
                </a:lnTo>
                <a:close/>
              </a:path>
              <a:path w="1168400" h="948054">
                <a:moveTo>
                  <a:pt x="12700" y="12700"/>
                </a:moveTo>
                <a:lnTo>
                  <a:pt x="6350" y="12700"/>
                </a:lnTo>
                <a:lnTo>
                  <a:pt x="12700" y="6350"/>
                </a:lnTo>
                <a:lnTo>
                  <a:pt x="12700" y="12700"/>
                </a:lnTo>
                <a:close/>
              </a:path>
              <a:path w="1168400" h="948054">
                <a:moveTo>
                  <a:pt x="1155077" y="12700"/>
                </a:moveTo>
                <a:lnTo>
                  <a:pt x="12700" y="12700"/>
                </a:lnTo>
                <a:lnTo>
                  <a:pt x="12700" y="6350"/>
                </a:lnTo>
                <a:lnTo>
                  <a:pt x="1155077" y="6350"/>
                </a:lnTo>
                <a:lnTo>
                  <a:pt x="1155077" y="12700"/>
                </a:lnTo>
                <a:close/>
              </a:path>
              <a:path w="1168400" h="948054">
                <a:moveTo>
                  <a:pt x="1155077" y="941489"/>
                </a:moveTo>
                <a:lnTo>
                  <a:pt x="1155077" y="6350"/>
                </a:lnTo>
                <a:lnTo>
                  <a:pt x="1161427" y="12700"/>
                </a:lnTo>
                <a:lnTo>
                  <a:pt x="1167777" y="12700"/>
                </a:lnTo>
                <a:lnTo>
                  <a:pt x="1167777" y="935139"/>
                </a:lnTo>
                <a:lnTo>
                  <a:pt x="1161427" y="935139"/>
                </a:lnTo>
                <a:lnTo>
                  <a:pt x="1155077" y="941489"/>
                </a:lnTo>
                <a:close/>
              </a:path>
              <a:path w="1168400" h="948054">
                <a:moveTo>
                  <a:pt x="1167777" y="12700"/>
                </a:moveTo>
                <a:lnTo>
                  <a:pt x="1161427" y="12700"/>
                </a:lnTo>
                <a:lnTo>
                  <a:pt x="1155077" y="6350"/>
                </a:lnTo>
                <a:lnTo>
                  <a:pt x="1167777" y="6350"/>
                </a:lnTo>
                <a:lnTo>
                  <a:pt x="1167777" y="12700"/>
                </a:lnTo>
                <a:close/>
              </a:path>
              <a:path w="1168400" h="948054">
                <a:moveTo>
                  <a:pt x="12700" y="941489"/>
                </a:moveTo>
                <a:lnTo>
                  <a:pt x="6350" y="935139"/>
                </a:lnTo>
                <a:lnTo>
                  <a:pt x="12700" y="935139"/>
                </a:lnTo>
                <a:lnTo>
                  <a:pt x="12700" y="941489"/>
                </a:lnTo>
                <a:close/>
              </a:path>
              <a:path w="1168400" h="948054">
                <a:moveTo>
                  <a:pt x="1155077" y="941489"/>
                </a:moveTo>
                <a:lnTo>
                  <a:pt x="12700" y="941489"/>
                </a:lnTo>
                <a:lnTo>
                  <a:pt x="12700" y="935139"/>
                </a:lnTo>
                <a:lnTo>
                  <a:pt x="1155077" y="935139"/>
                </a:lnTo>
                <a:lnTo>
                  <a:pt x="1155077" y="941489"/>
                </a:lnTo>
                <a:close/>
              </a:path>
              <a:path w="1168400" h="948054">
                <a:moveTo>
                  <a:pt x="1167777" y="941489"/>
                </a:moveTo>
                <a:lnTo>
                  <a:pt x="1155077" y="941489"/>
                </a:lnTo>
                <a:lnTo>
                  <a:pt x="1161427" y="935139"/>
                </a:lnTo>
                <a:lnTo>
                  <a:pt x="1167777" y="935139"/>
                </a:lnTo>
                <a:lnTo>
                  <a:pt x="1167777" y="941489"/>
                </a:lnTo>
                <a:close/>
              </a:path>
            </a:pathLst>
          </a:custGeom>
          <a:solidFill>
            <a:srgbClr val="C00000"/>
          </a:solidFill>
        </p:spPr>
        <p:txBody>
          <a:bodyPr wrap="square" lIns="0" tIns="0" rIns="0" bIns="0" rtlCol="0"/>
          <a:lstStyle/>
          <a:p/>
        </p:txBody>
      </p:sp>
      <p:sp>
        <p:nvSpPr>
          <p:cNvPr id="52" name="object 52"/>
          <p:cNvSpPr txBox="1"/>
          <p:nvPr/>
        </p:nvSpPr>
        <p:spPr>
          <a:xfrm>
            <a:off x="9500616" y="5129491"/>
            <a:ext cx="1155700" cy="453390"/>
          </a:xfrm>
          <a:prstGeom prst="rect">
            <a:avLst/>
          </a:prstGeom>
        </p:spPr>
        <p:txBody>
          <a:bodyPr vert="horz" wrap="square" lIns="0" tIns="13335" rIns="0" bIns="0" rtlCol="0">
            <a:spAutoFit/>
          </a:bodyPr>
          <a:lstStyle/>
          <a:p>
            <a:pPr marL="399415" marR="391795" algn="ctr">
              <a:lnSpc>
                <a:spcPct val="100000"/>
              </a:lnSpc>
              <a:spcBef>
                <a:spcPts val="105"/>
              </a:spcBef>
            </a:pPr>
            <a:r>
              <a:rPr sz="1400" b="1" dirty="0">
                <a:solidFill>
                  <a:srgbClr val="C00000"/>
                </a:solidFill>
                <a:latin typeface="微软雅黑" panose="020B0503020204020204" charset="-122"/>
                <a:cs typeface="微软雅黑" panose="020B0503020204020204" charset="-122"/>
              </a:rPr>
              <a:t>运</a:t>
            </a:r>
            <a:r>
              <a:rPr sz="1400" b="1" dirty="0">
                <a:solidFill>
                  <a:srgbClr val="C00000"/>
                </a:solidFill>
                <a:latin typeface="微软雅黑" panose="020B0503020204020204" charset="-122"/>
                <a:cs typeface="微软雅黑" panose="020B0503020204020204" charset="-122"/>
              </a:rPr>
              <a:t>行 </a:t>
            </a:r>
            <a:r>
              <a:rPr sz="1400" b="1" dirty="0">
                <a:solidFill>
                  <a:srgbClr val="C00000"/>
                </a:solidFill>
                <a:latin typeface="微软雅黑" panose="020B0503020204020204" charset="-122"/>
                <a:cs typeface="微软雅黑" panose="020B0503020204020204" charset="-122"/>
              </a:rPr>
              <a:t>仿</a:t>
            </a:r>
            <a:r>
              <a:rPr sz="1400" b="1" spc="5" dirty="0">
                <a:solidFill>
                  <a:srgbClr val="C00000"/>
                </a:solidFill>
                <a:latin typeface="微软雅黑" panose="020B0503020204020204" charset="-122"/>
                <a:cs typeface="微软雅黑" panose="020B0503020204020204" charset="-122"/>
              </a:rPr>
              <a:t>真</a:t>
            </a:r>
            <a:endParaRPr sz="1400">
              <a:latin typeface="微软雅黑" panose="020B0503020204020204" charset="-122"/>
              <a:cs typeface="微软雅黑" panose="020B0503020204020204" charset="-122"/>
            </a:endParaRPr>
          </a:p>
        </p:txBody>
      </p:sp>
      <p:sp>
        <p:nvSpPr>
          <p:cNvPr id="53" name="object 53"/>
          <p:cNvSpPr/>
          <p:nvPr/>
        </p:nvSpPr>
        <p:spPr>
          <a:xfrm>
            <a:off x="1310639" y="4899659"/>
            <a:ext cx="1007744" cy="935990"/>
          </a:xfrm>
          <a:custGeom>
            <a:avLst/>
            <a:gdLst/>
            <a:ahLst/>
            <a:cxnLst/>
            <a:rect l="l" t="t" r="r" b="b"/>
            <a:pathLst>
              <a:path w="1007744" h="935989">
                <a:moveTo>
                  <a:pt x="0" y="0"/>
                </a:moveTo>
                <a:lnTo>
                  <a:pt x="1007363" y="0"/>
                </a:lnTo>
                <a:lnTo>
                  <a:pt x="1007363" y="935736"/>
                </a:lnTo>
                <a:lnTo>
                  <a:pt x="0" y="935736"/>
                </a:lnTo>
                <a:lnTo>
                  <a:pt x="0" y="0"/>
                </a:lnTo>
                <a:close/>
              </a:path>
            </a:pathLst>
          </a:custGeom>
          <a:solidFill>
            <a:srgbClr val="D9D9D9"/>
          </a:solidFill>
        </p:spPr>
        <p:txBody>
          <a:bodyPr wrap="square" lIns="0" tIns="0" rIns="0" bIns="0" rtlCol="0"/>
          <a:lstStyle/>
          <a:p/>
        </p:txBody>
      </p:sp>
      <p:sp>
        <p:nvSpPr>
          <p:cNvPr id="54" name="object 54"/>
          <p:cNvSpPr/>
          <p:nvPr/>
        </p:nvSpPr>
        <p:spPr>
          <a:xfrm>
            <a:off x="1303832" y="4893906"/>
            <a:ext cx="1020444" cy="948055"/>
          </a:xfrm>
          <a:custGeom>
            <a:avLst/>
            <a:gdLst/>
            <a:ahLst/>
            <a:cxnLst/>
            <a:rect l="l" t="t" r="r" b="b"/>
            <a:pathLst>
              <a:path w="1020444" h="948054">
                <a:moveTo>
                  <a:pt x="1020000" y="947839"/>
                </a:moveTo>
                <a:lnTo>
                  <a:pt x="0" y="947839"/>
                </a:lnTo>
                <a:lnTo>
                  <a:pt x="0" y="0"/>
                </a:lnTo>
                <a:lnTo>
                  <a:pt x="1020000" y="0"/>
                </a:lnTo>
                <a:lnTo>
                  <a:pt x="1020000" y="6350"/>
                </a:lnTo>
                <a:lnTo>
                  <a:pt x="12700" y="6350"/>
                </a:lnTo>
                <a:lnTo>
                  <a:pt x="6350" y="12700"/>
                </a:lnTo>
                <a:lnTo>
                  <a:pt x="12700" y="12700"/>
                </a:lnTo>
                <a:lnTo>
                  <a:pt x="12700" y="935139"/>
                </a:lnTo>
                <a:lnTo>
                  <a:pt x="6350" y="935139"/>
                </a:lnTo>
                <a:lnTo>
                  <a:pt x="12700" y="941489"/>
                </a:lnTo>
                <a:lnTo>
                  <a:pt x="1020000" y="941489"/>
                </a:lnTo>
                <a:lnTo>
                  <a:pt x="1020000" y="947839"/>
                </a:lnTo>
                <a:close/>
              </a:path>
              <a:path w="1020444" h="948054">
                <a:moveTo>
                  <a:pt x="12700" y="12700"/>
                </a:moveTo>
                <a:lnTo>
                  <a:pt x="6350" y="12700"/>
                </a:lnTo>
                <a:lnTo>
                  <a:pt x="12700" y="6350"/>
                </a:lnTo>
                <a:lnTo>
                  <a:pt x="12700" y="12700"/>
                </a:lnTo>
                <a:close/>
              </a:path>
              <a:path w="1020444" h="948054">
                <a:moveTo>
                  <a:pt x="1007300" y="12700"/>
                </a:moveTo>
                <a:lnTo>
                  <a:pt x="12700" y="12700"/>
                </a:lnTo>
                <a:lnTo>
                  <a:pt x="12700" y="6350"/>
                </a:lnTo>
                <a:lnTo>
                  <a:pt x="1007300" y="6350"/>
                </a:lnTo>
                <a:lnTo>
                  <a:pt x="1007300" y="12700"/>
                </a:lnTo>
                <a:close/>
              </a:path>
              <a:path w="1020444" h="948054">
                <a:moveTo>
                  <a:pt x="1007300" y="941489"/>
                </a:moveTo>
                <a:lnTo>
                  <a:pt x="1007300" y="6350"/>
                </a:lnTo>
                <a:lnTo>
                  <a:pt x="1013650" y="12700"/>
                </a:lnTo>
                <a:lnTo>
                  <a:pt x="1020000" y="12700"/>
                </a:lnTo>
                <a:lnTo>
                  <a:pt x="1020000" y="935139"/>
                </a:lnTo>
                <a:lnTo>
                  <a:pt x="1013650" y="935139"/>
                </a:lnTo>
                <a:lnTo>
                  <a:pt x="1007300" y="941489"/>
                </a:lnTo>
                <a:close/>
              </a:path>
              <a:path w="1020444" h="948054">
                <a:moveTo>
                  <a:pt x="1020000" y="12700"/>
                </a:moveTo>
                <a:lnTo>
                  <a:pt x="1013650" y="12700"/>
                </a:lnTo>
                <a:lnTo>
                  <a:pt x="1007300" y="6350"/>
                </a:lnTo>
                <a:lnTo>
                  <a:pt x="1020000" y="6350"/>
                </a:lnTo>
                <a:lnTo>
                  <a:pt x="1020000" y="12700"/>
                </a:lnTo>
                <a:close/>
              </a:path>
              <a:path w="1020444" h="948054">
                <a:moveTo>
                  <a:pt x="12700" y="941489"/>
                </a:moveTo>
                <a:lnTo>
                  <a:pt x="6350" y="935139"/>
                </a:lnTo>
                <a:lnTo>
                  <a:pt x="12700" y="935139"/>
                </a:lnTo>
                <a:lnTo>
                  <a:pt x="12700" y="941489"/>
                </a:lnTo>
                <a:close/>
              </a:path>
              <a:path w="1020444" h="948054">
                <a:moveTo>
                  <a:pt x="1007300" y="941489"/>
                </a:moveTo>
                <a:lnTo>
                  <a:pt x="12700" y="941489"/>
                </a:lnTo>
                <a:lnTo>
                  <a:pt x="12700" y="935139"/>
                </a:lnTo>
                <a:lnTo>
                  <a:pt x="1007300" y="935139"/>
                </a:lnTo>
                <a:lnTo>
                  <a:pt x="1007300" y="941489"/>
                </a:lnTo>
                <a:close/>
              </a:path>
              <a:path w="1020444" h="948054">
                <a:moveTo>
                  <a:pt x="1020000" y="941489"/>
                </a:moveTo>
                <a:lnTo>
                  <a:pt x="1007300" y="941489"/>
                </a:lnTo>
                <a:lnTo>
                  <a:pt x="1013650" y="935139"/>
                </a:lnTo>
                <a:lnTo>
                  <a:pt x="1020000" y="935139"/>
                </a:lnTo>
                <a:lnTo>
                  <a:pt x="1020000" y="941489"/>
                </a:lnTo>
                <a:close/>
              </a:path>
            </a:pathLst>
          </a:custGeom>
          <a:solidFill>
            <a:srgbClr val="C00000"/>
          </a:solidFill>
        </p:spPr>
        <p:txBody>
          <a:bodyPr wrap="square" lIns="0" tIns="0" rIns="0" bIns="0" rtlCol="0"/>
          <a:lstStyle/>
          <a:p/>
        </p:txBody>
      </p:sp>
      <p:sp>
        <p:nvSpPr>
          <p:cNvPr id="55" name="object 55"/>
          <p:cNvSpPr txBox="1"/>
          <p:nvPr/>
        </p:nvSpPr>
        <p:spPr>
          <a:xfrm>
            <a:off x="1310639" y="5129491"/>
            <a:ext cx="1007744" cy="453390"/>
          </a:xfrm>
          <a:prstGeom prst="rect">
            <a:avLst/>
          </a:prstGeom>
        </p:spPr>
        <p:txBody>
          <a:bodyPr vert="horz" wrap="square" lIns="0" tIns="13335" rIns="0" bIns="0" rtlCol="0">
            <a:spAutoFit/>
          </a:bodyPr>
          <a:lstStyle/>
          <a:p>
            <a:pPr marL="172085" marR="109220" indent="-56515">
              <a:lnSpc>
                <a:spcPct val="100000"/>
              </a:lnSpc>
              <a:spcBef>
                <a:spcPts val="105"/>
              </a:spcBef>
            </a:pPr>
            <a:r>
              <a:rPr sz="1400" b="1" spc="-5" dirty="0">
                <a:solidFill>
                  <a:srgbClr val="C00000"/>
                </a:solidFill>
                <a:latin typeface="微软雅黑" panose="020B0503020204020204" charset="-122"/>
                <a:cs typeface="微软雅黑" panose="020B0503020204020204" charset="-122"/>
              </a:rPr>
              <a:t>VM</a:t>
            </a:r>
            <a:r>
              <a:rPr sz="1400" b="1" spc="-65" dirty="0">
                <a:solidFill>
                  <a:srgbClr val="C00000"/>
                </a:solidFill>
                <a:latin typeface="微软雅黑" panose="020B0503020204020204" charset="-122"/>
                <a:cs typeface="微软雅黑" panose="020B0503020204020204" charset="-122"/>
              </a:rPr>
              <a:t>W</a:t>
            </a:r>
            <a:r>
              <a:rPr sz="1400" b="1" spc="-5" dirty="0">
                <a:solidFill>
                  <a:srgbClr val="C00000"/>
                </a:solidFill>
                <a:latin typeface="微软雅黑" panose="020B0503020204020204" charset="-122"/>
                <a:cs typeface="微软雅黑" panose="020B0503020204020204" charset="-122"/>
              </a:rPr>
              <a:t>a</a:t>
            </a:r>
            <a:r>
              <a:rPr sz="1400" b="1" spc="-15" dirty="0">
                <a:solidFill>
                  <a:srgbClr val="C00000"/>
                </a:solidFill>
                <a:latin typeface="微软雅黑" panose="020B0503020204020204" charset="-122"/>
                <a:cs typeface="微软雅黑" panose="020B0503020204020204" charset="-122"/>
              </a:rPr>
              <a:t>r</a:t>
            </a:r>
            <a:r>
              <a:rPr sz="1400" b="1" dirty="0">
                <a:solidFill>
                  <a:srgbClr val="C00000"/>
                </a:solidFill>
                <a:latin typeface="微软雅黑" panose="020B0503020204020204" charset="-122"/>
                <a:cs typeface="微软雅黑" panose="020B0503020204020204" charset="-122"/>
              </a:rPr>
              <a:t>e </a:t>
            </a:r>
            <a:r>
              <a:rPr sz="1400" b="1" dirty="0">
                <a:solidFill>
                  <a:srgbClr val="C00000"/>
                </a:solidFill>
                <a:latin typeface="微软雅黑" panose="020B0503020204020204" charset="-122"/>
                <a:cs typeface="微软雅黑" panose="020B0503020204020204" charset="-122"/>
              </a:rPr>
              <a:t>和</a:t>
            </a:r>
            <a:r>
              <a:rPr sz="1400" b="1" spc="-5" dirty="0">
                <a:solidFill>
                  <a:srgbClr val="C00000"/>
                </a:solidFill>
                <a:latin typeface="微软雅黑" panose="020B0503020204020204" charset="-122"/>
                <a:cs typeface="微软雅黑" panose="020B0503020204020204" charset="-122"/>
              </a:rPr>
              <a:t>Linux</a:t>
            </a:r>
            <a:endParaRPr sz="1400">
              <a:latin typeface="微软雅黑" panose="020B0503020204020204" charset="-122"/>
              <a:cs typeface="微软雅黑" panose="020B0503020204020204" charset="-122"/>
            </a:endParaRPr>
          </a:p>
        </p:txBody>
      </p:sp>
      <p:sp>
        <p:nvSpPr>
          <p:cNvPr id="56" name="object 56"/>
          <p:cNvSpPr/>
          <p:nvPr/>
        </p:nvSpPr>
        <p:spPr>
          <a:xfrm>
            <a:off x="6697980" y="3212592"/>
            <a:ext cx="381000" cy="257810"/>
          </a:xfrm>
          <a:custGeom>
            <a:avLst/>
            <a:gdLst/>
            <a:ahLst/>
            <a:cxnLst/>
            <a:rect l="l" t="t" r="r" b="b"/>
            <a:pathLst>
              <a:path w="381000" h="257810">
                <a:moveTo>
                  <a:pt x="286512" y="129539"/>
                </a:moveTo>
                <a:lnTo>
                  <a:pt x="94488" y="129539"/>
                </a:lnTo>
                <a:lnTo>
                  <a:pt x="94488" y="0"/>
                </a:lnTo>
                <a:lnTo>
                  <a:pt x="286512" y="0"/>
                </a:lnTo>
                <a:lnTo>
                  <a:pt x="286512" y="129539"/>
                </a:lnTo>
                <a:close/>
              </a:path>
              <a:path w="381000" h="257810">
                <a:moveTo>
                  <a:pt x="190500" y="257555"/>
                </a:moveTo>
                <a:lnTo>
                  <a:pt x="0" y="129539"/>
                </a:lnTo>
                <a:lnTo>
                  <a:pt x="381000" y="129539"/>
                </a:lnTo>
                <a:lnTo>
                  <a:pt x="190500" y="257555"/>
                </a:lnTo>
                <a:close/>
              </a:path>
            </a:pathLst>
          </a:custGeom>
          <a:solidFill>
            <a:srgbClr val="D9D9D9"/>
          </a:solidFill>
        </p:spPr>
        <p:txBody>
          <a:bodyPr wrap="square" lIns="0" tIns="0" rIns="0" bIns="0" rtlCol="0"/>
          <a:lstStyle/>
          <a:p/>
        </p:txBody>
      </p:sp>
      <p:sp>
        <p:nvSpPr>
          <p:cNvPr id="57" name="object 57"/>
          <p:cNvSpPr/>
          <p:nvPr/>
        </p:nvSpPr>
        <p:spPr>
          <a:xfrm>
            <a:off x="6676923" y="3206965"/>
            <a:ext cx="423545" cy="271780"/>
          </a:xfrm>
          <a:custGeom>
            <a:avLst/>
            <a:gdLst/>
            <a:ahLst/>
            <a:cxnLst/>
            <a:rect l="l" t="t" r="r" b="b"/>
            <a:pathLst>
              <a:path w="423545" h="271779">
                <a:moveTo>
                  <a:pt x="109880" y="134988"/>
                </a:moveTo>
                <a:lnTo>
                  <a:pt x="109880" y="0"/>
                </a:lnTo>
                <a:lnTo>
                  <a:pt x="313486" y="0"/>
                </a:lnTo>
                <a:lnTo>
                  <a:pt x="313486" y="6350"/>
                </a:lnTo>
                <a:lnTo>
                  <a:pt x="122580" y="6350"/>
                </a:lnTo>
                <a:lnTo>
                  <a:pt x="116230" y="12700"/>
                </a:lnTo>
                <a:lnTo>
                  <a:pt x="122580" y="12700"/>
                </a:lnTo>
                <a:lnTo>
                  <a:pt x="122580" y="128638"/>
                </a:lnTo>
                <a:lnTo>
                  <a:pt x="116230" y="128638"/>
                </a:lnTo>
                <a:lnTo>
                  <a:pt x="109880" y="134988"/>
                </a:lnTo>
                <a:close/>
              </a:path>
              <a:path w="423545" h="271779">
                <a:moveTo>
                  <a:pt x="122580" y="12700"/>
                </a:moveTo>
                <a:lnTo>
                  <a:pt x="116230" y="12700"/>
                </a:lnTo>
                <a:lnTo>
                  <a:pt x="122580" y="6350"/>
                </a:lnTo>
                <a:lnTo>
                  <a:pt x="122580" y="12700"/>
                </a:lnTo>
                <a:close/>
              </a:path>
              <a:path w="423545" h="271779">
                <a:moveTo>
                  <a:pt x="300786" y="12700"/>
                </a:moveTo>
                <a:lnTo>
                  <a:pt x="122580" y="12700"/>
                </a:lnTo>
                <a:lnTo>
                  <a:pt x="122580" y="6350"/>
                </a:lnTo>
                <a:lnTo>
                  <a:pt x="300786" y="6350"/>
                </a:lnTo>
                <a:lnTo>
                  <a:pt x="300786" y="12700"/>
                </a:lnTo>
                <a:close/>
              </a:path>
              <a:path w="423545" h="271779">
                <a:moveTo>
                  <a:pt x="381820" y="141338"/>
                </a:moveTo>
                <a:lnTo>
                  <a:pt x="300786" y="141338"/>
                </a:lnTo>
                <a:lnTo>
                  <a:pt x="300786" y="6350"/>
                </a:lnTo>
                <a:lnTo>
                  <a:pt x="307136" y="12700"/>
                </a:lnTo>
                <a:lnTo>
                  <a:pt x="313486" y="12700"/>
                </a:lnTo>
                <a:lnTo>
                  <a:pt x="313486" y="128638"/>
                </a:lnTo>
                <a:lnTo>
                  <a:pt x="307136" y="128638"/>
                </a:lnTo>
                <a:lnTo>
                  <a:pt x="313486" y="134988"/>
                </a:lnTo>
                <a:lnTo>
                  <a:pt x="391243" y="134988"/>
                </a:lnTo>
                <a:lnTo>
                  <a:pt x="381820" y="141338"/>
                </a:lnTo>
                <a:close/>
              </a:path>
              <a:path w="423545" h="271779">
                <a:moveTo>
                  <a:pt x="313486" y="12700"/>
                </a:moveTo>
                <a:lnTo>
                  <a:pt x="307136" y="12700"/>
                </a:lnTo>
                <a:lnTo>
                  <a:pt x="300786" y="6350"/>
                </a:lnTo>
                <a:lnTo>
                  <a:pt x="313486" y="6350"/>
                </a:lnTo>
                <a:lnTo>
                  <a:pt x="313486" y="12700"/>
                </a:lnTo>
                <a:close/>
              </a:path>
              <a:path w="423545" h="271779">
                <a:moveTo>
                  <a:pt x="211683" y="271297"/>
                </a:moveTo>
                <a:lnTo>
                  <a:pt x="0" y="128638"/>
                </a:lnTo>
                <a:lnTo>
                  <a:pt x="109880" y="128638"/>
                </a:lnTo>
                <a:lnTo>
                  <a:pt x="109880" y="129730"/>
                </a:lnTo>
                <a:lnTo>
                  <a:pt x="24333" y="129730"/>
                </a:lnTo>
                <a:lnTo>
                  <a:pt x="20789" y="141338"/>
                </a:lnTo>
                <a:lnTo>
                  <a:pt x="41559" y="141338"/>
                </a:lnTo>
                <a:lnTo>
                  <a:pt x="211689" y="255976"/>
                </a:lnTo>
                <a:lnTo>
                  <a:pt x="208140" y="258368"/>
                </a:lnTo>
                <a:lnTo>
                  <a:pt x="230868" y="258368"/>
                </a:lnTo>
                <a:lnTo>
                  <a:pt x="211683" y="271297"/>
                </a:lnTo>
                <a:close/>
              </a:path>
              <a:path w="423545" h="271779">
                <a:moveTo>
                  <a:pt x="122580" y="134988"/>
                </a:moveTo>
                <a:lnTo>
                  <a:pt x="109880" y="134988"/>
                </a:lnTo>
                <a:lnTo>
                  <a:pt x="116230" y="128638"/>
                </a:lnTo>
                <a:lnTo>
                  <a:pt x="122580" y="128638"/>
                </a:lnTo>
                <a:lnTo>
                  <a:pt x="122580" y="134988"/>
                </a:lnTo>
                <a:close/>
              </a:path>
              <a:path w="423545" h="271779">
                <a:moveTo>
                  <a:pt x="313486" y="134988"/>
                </a:moveTo>
                <a:lnTo>
                  <a:pt x="307136" y="128638"/>
                </a:lnTo>
                <a:lnTo>
                  <a:pt x="313486" y="128638"/>
                </a:lnTo>
                <a:lnTo>
                  <a:pt x="313486" y="134988"/>
                </a:lnTo>
                <a:close/>
              </a:path>
              <a:path w="423545" h="271779">
                <a:moveTo>
                  <a:pt x="391243" y="134988"/>
                </a:moveTo>
                <a:lnTo>
                  <a:pt x="313486" y="134988"/>
                </a:lnTo>
                <a:lnTo>
                  <a:pt x="313486" y="128638"/>
                </a:lnTo>
                <a:lnTo>
                  <a:pt x="423379" y="128638"/>
                </a:lnTo>
                <a:lnTo>
                  <a:pt x="421759" y="129730"/>
                </a:lnTo>
                <a:lnTo>
                  <a:pt x="399046" y="129730"/>
                </a:lnTo>
                <a:lnTo>
                  <a:pt x="391243" y="134988"/>
                </a:lnTo>
                <a:close/>
              </a:path>
              <a:path w="423545" h="271779">
                <a:moveTo>
                  <a:pt x="41559" y="141338"/>
                </a:moveTo>
                <a:lnTo>
                  <a:pt x="20789" y="141338"/>
                </a:lnTo>
                <a:lnTo>
                  <a:pt x="24333" y="129730"/>
                </a:lnTo>
                <a:lnTo>
                  <a:pt x="41559" y="141338"/>
                </a:lnTo>
                <a:close/>
              </a:path>
              <a:path w="423545" h="271779">
                <a:moveTo>
                  <a:pt x="122580" y="141338"/>
                </a:moveTo>
                <a:lnTo>
                  <a:pt x="41559" y="141338"/>
                </a:lnTo>
                <a:lnTo>
                  <a:pt x="24333" y="129730"/>
                </a:lnTo>
                <a:lnTo>
                  <a:pt x="109880" y="129730"/>
                </a:lnTo>
                <a:lnTo>
                  <a:pt x="109880" y="134988"/>
                </a:lnTo>
                <a:lnTo>
                  <a:pt x="122580" y="134988"/>
                </a:lnTo>
                <a:lnTo>
                  <a:pt x="122580" y="141338"/>
                </a:lnTo>
                <a:close/>
              </a:path>
              <a:path w="423545" h="271779">
                <a:moveTo>
                  <a:pt x="230868" y="258368"/>
                </a:moveTo>
                <a:lnTo>
                  <a:pt x="215239" y="258368"/>
                </a:lnTo>
                <a:lnTo>
                  <a:pt x="211689" y="255976"/>
                </a:lnTo>
                <a:lnTo>
                  <a:pt x="399046" y="129730"/>
                </a:lnTo>
                <a:lnTo>
                  <a:pt x="402590" y="141338"/>
                </a:lnTo>
                <a:lnTo>
                  <a:pt x="404533" y="141338"/>
                </a:lnTo>
                <a:lnTo>
                  <a:pt x="230868" y="258368"/>
                </a:lnTo>
                <a:close/>
              </a:path>
              <a:path w="423545" h="271779">
                <a:moveTo>
                  <a:pt x="404533" y="141338"/>
                </a:moveTo>
                <a:lnTo>
                  <a:pt x="402590" y="141338"/>
                </a:lnTo>
                <a:lnTo>
                  <a:pt x="399046" y="129730"/>
                </a:lnTo>
                <a:lnTo>
                  <a:pt x="421759" y="129730"/>
                </a:lnTo>
                <a:lnTo>
                  <a:pt x="404533" y="141338"/>
                </a:lnTo>
                <a:close/>
              </a:path>
              <a:path w="423545" h="271779">
                <a:moveTo>
                  <a:pt x="215239" y="258368"/>
                </a:moveTo>
                <a:lnTo>
                  <a:pt x="208140" y="258368"/>
                </a:lnTo>
                <a:lnTo>
                  <a:pt x="211689" y="255976"/>
                </a:lnTo>
                <a:lnTo>
                  <a:pt x="215239" y="258368"/>
                </a:lnTo>
                <a:close/>
              </a:path>
            </a:pathLst>
          </a:custGeom>
          <a:solidFill>
            <a:srgbClr val="C00000"/>
          </a:solidFill>
        </p:spPr>
        <p:txBody>
          <a:bodyPr wrap="square" lIns="0" tIns="0" rIns="0" bIns="0" rtlCol="0"/>
          <a:lstStyle/>
          <a:p/>
        </p:txBody>
      </p:sp>
      <p:sp>
        <p:nvSpPr>
          <p:cNvPr id="58" name="object 58"/>
          <p:cNvSpPr/>
          <p:nvPr/>
        </p:nvSpPr>
        <p:spPr>
          <a:xfrm>
            <a:off x="6697980" y="4591811"/>
            <a:ext cx="381000" cy="257810"/>
          </a:xfrm>
          <a:custGeom>
            <a:avLst/>
            <a:gdLst/>
            <a:ahLst/>
            <a:cxnLst/>
            <a:rect l="l" t="t" r="r" b="b"/>
            <a:pathLst>
              <a:path w="381000" h="257810">
                <a:moveTo>
                  <a:pt x="286512" y="128015"/>
                </a:moveTo>
                <a:lnTo>
                  <a:pt x="94488" y="128015"/>
                </a:lnTo>
                <a:lnTo>
                  <a:pt x="94488" y="0"/>
                </a:lnTo>
                <a:lnTo>
                  <a:pt x="286512" y="0"/>
                </a:lnTo>
                <a:lnTo>
                  <a:pt x="286512" y="128015"/>
                </a:lnTo>
                <a:close/>
              </a:path>
              <a:path w="381000" h="257810">
                <a:moveTo>
                  <a:pt x="190500" y="257555"/>
                </a:moveTo>
                <a:lnTo>
                  <a:pt x="0" y="128015"/>
                </a:lnTo>
                <a:lnTo>
                  <a:pt x="381000" y="128015"/>
                </a:lnTo>
                <a:lnTo>
                  <a:pt x="190500" y="257555"/>
                </a:lnTo>
                <a:close/>
              </a:path>
            </a:pathLst>
          </a:custGeom>
          <a:solidFill>
            <a:srgbClr val="D9D9D9"/>
          </a:solidFill>
        </p:spPr>
        <p:txBody>
          <a:bodyPr wrap="square" lIns="0" tIns="0" rIns="0" bIns="0" rtlCol="0"/>
          <a:lstStyle/>
          <a:p/>
        </p:txBody>
      </p:sp>
      <p:sp>
        <p:nvSpPr>
          <p:cNvPr id="59" name="object 59"/>
          <p:cNvSpPr/>
          <p:nvPr/>
        </p:nvSpPr>
        <p:spPr>
          <a:xfrm>
            <a:off x="6676923" y="4585055"/>
            <a:ext cx="423545" cy="271780"/>
          </a:xfrm>
          <a:custGeom>
            <a:avLst/>
            <a:gdLst/>
            <a:ahLst/>
            <a:cxnLst/>
            <a:rect l="l" t="t" r="r" b="b"/>
            <a:pathLst>
              <a:path w="423545" h="271779">
                <a:moveTo>
                  <a:pt x="109880" y="134988"/>
                </a:moveTo>
                <a:lnTo>
                  <a:pt x="109880" y="0"/>
                </a:lnTo>
                <a:lnTo>
                  <a:pt x="313486" y="0"/>
                </a:lnTo>
                <a:lnTo>
                  <a:pt x="313486" y="6350"/>
                </a:lnTo>
                <a:lnTo>
                  <a:pt x="122580" y="6350"/>
                </a:lnTo>
                <a:lnTo>
                  <a:pt x="116230" y="12700"/>
                </a:lnTo>
                <a:lnTo>
                  <a:pt x="122580" y="12700"/>
                </a:lnTo>
                <a:lnTo>
                  <a:pt x="122580" y="128638"/>
                </a:lnTo>
                <a:lnTo>
                  <a:pt x="116230" y="128638"/>
                </a:lnTo>
                <a:lnTo>
                  <a:pt x="109880" y="134988"/>
                </a:lnTo>
                <a:close/>
              </a:path>
              <a:path w="423545" h="271779">
                <a:moveTo>
                  <a:pt x="122580" y="12700"/>
                </a:moveTo>
                <a:lnTo>
                  <a:pt x="116230" y="12700"/>
                </a:lnTo>
                <a:lnTo>
                  <a:pt x="122580" y="6350"/>
                </a:lnTo>
                <a:lnTo>
                  <a:pt x="122580" y="12700"/>
                </a:lnTo>
                <a:close/>
              </a:path>
              <a:path w="423545" h="271779">
                <a:moveTo>
                  <a:pt x="300786" y="12700"/>
                </a:moveTo>
                <a:lnTo>
                  <a:pt x="122580" y="12700"/>
                </a:lnTo>
                <a:lnTo>
                  <a:pt x="122580" y="6350"/>
                </a:lnTo>
                <a:lnTo>
                  <a:pt x="300786" y="6350"/>
                </a:lnTo>
                <a:lnTo>
                  <a:pt x="300786" y="12700"/>
                </a:lnTo>
                <a:close/>
              </a:path>
              <a:path w="423545" h="271779">
                <a:moveTo>
                  <a:pt x="381801" y="141338"/>
                </a:moveTo>
                <a:lnTo>
                  <a:pt x="300786" y="141338"/>
                </a:lnTo>
                <a:lnTo>
                  <a:pt x="300786" y="6350"/>
                </a:lnTo>
                <a:lnTo>
                  <a:pt x="307136" y="12700"/>
                </a:lnTo>
                <a:lnTo>
                  <a:pt x="313486" y="12700"/>
                </a:lnTo>
                <a:lnTo>
                  <a:pt x="313486" y="128638"/>
                </a:lnTo>
                <a:lnTo>
                  <a:pt x="307136" y="128638"/>
                </a:lnTo>
                <a:lnTo>
                  <a:pt x="313486" y="134988"/>
                </a:lnTo>
                <a:lnTo>
                  <a:pt x="391224" y="134988"/>
                </a:lnTo>
                <a:lnTo>
                  <a:pt x="381801" y="141338"/>
                </a:lnTo>
                <a:close/>
              </a:path>
              <a:path w="423545" h="271779">
                <a:moveTo>
                  <a:pt x="313486" y="12700"/>
                </a:moveTo>
                <a:lnTo>
                  <a:pt x="307136" y="12700"/>
                </a:lnTo>
                <a:lnTo>
                  <a:pt x="300786" y="6350"/>
                </a:lnTo>
                <a:lnTo>
                  <a:pt x="313486" y="6350"/>
                </a:lnTo>
                <a:lnTo>
                  <a:pt x="313486" y="12700"/>
                </a:lnTo>
                <a:close/>
              </a:path>
              <a:path w="423545" h="271779">
                <a:moveTo>
                  <a:pt x="211683" y="271284"/>
                </a:moveTo>
                <a:lnTo>
                  <a:pt x="0" y="128638"/>
                </a:lnTo>
                <a:lnTo>
                  <a:pt x="109880" y="128638"/>
                </a:lnTo>
                <a:lnTo>
                  <a:pt x="109880" y="129717"/>
                </a:lnTo>
                <a:lnTo>
                  <a:pt x="24333" y="129717"/>
                </a:lnTo>
                <a:lnTo>
                  <a:pt x="20789" y="141338"/>
                </a:lnTo>
                <a:lnTo>
                  <a:pt x="41578" y="141338"/>
                </a:lnTo>
                <a:lnTo>
                  <a:pt x="211689" y="255964"/>
                </a:lnTo>
                <a:lnTo>
                  <a:pt x="208140" y="258356"/>
                </a:lnTo>
                <a:lnTo>
                  <a:pt x="230870" y="258356"/>
                </a:lnTo>
                <a:lnTo>
                  <a:pt x="211683" y="271284"/>
                </a:lnTo>
                <a:close/>
              </a:path>
              <a:path w="423545" h="271779">
                <a:moveTo>
                  <a:pt x="122580" y="134988"/>
                </a:moveTo>
                <a:lnTo>
                  <a:pt x="109880" y="134988"/>
                </a:lnTo>
                <a:lnTo>
                  <a:pt x="116230" y="128638"/>
                </a:lnTo>
                <a:lnTo>
                  <a:pt x="122580" y="128638"/>
                </a:lnTo>
                <a:lnTo>
                  <a:pt x="122580" y="134988"/>
                </a:lnTo>
                <a:close/>
              </a:path>
              <a:path w="423545" h="271779">
                <a:moveTo>
                  <a:pt x="313486" y="134988"/>
                </a:moveTo>
                <a:lnTo>
                  <a:pt x="307136" y="128638"/>
                </a:lnTo>
                <a:lnTo>
                  <a:pt x="313486" y="128638"/>
                </a:lnTo>
                <a:lnTo>
                  <a:pt x="313486" y="134988"/>
                </a:lnTo>
                <a:close/>
              </a:path>
              <a:path w="423545" h="271779">
                <a:moveTo>
                  <a:pt x="391224" y="134988"/>
                </a:moveTo>
                <a:lnTo>
                  <a:pt x="313486" y="134988"/>
                </a:lnTo>
                <a:lnTo>
                  <a:pt x="313486" y="128638"/>
                </a:lnTo>
                <a:lnTo>
                  <a:pt x="423379" y="128638"/>
                </a:lnTo>
                <a:lnTo>
                  <a:pt x="421777" y="129717"/>
                </a:lnTo>
                <a:lnTo>
                  <a:pt x="399046" y="129717"/>
                </a:lnTo>
                <a:lnTo>
                  <a:pt x="391224" y="134988"/>
                </a:lnTo>
                <a:close/>
              </a:path>
              <a:path w="423545" h="271779">
                <a:moveTo>
                  <a:pt x="41578" y="141338"/>
                </a:moveTo>
                <a:lnTo>
                  <a:pt x="20789" y="141338"/>
                </a:lnTo>
                <a:lnTo>
                  <a:pt x="24333" y="129717"/>
                </a:lnTo>
                <a:lnTo>
                  <a:pt x="41578" y="141338"/>
                </a:lnTo>
                <a:close/>
              </a:path>
              <a:path w="423545" h="271779">
                <a:moveTo>
                  <a:pt x="122580" y="141338"/>
                </a:moveTo>
                <a:lnTo>
                  <a:pt x="41578" y="141338"/>
                </a:lnTo>
                <a:lnTo>
                  <a:pt x="24333" y="129717"/>
                </a:lnTo>
                <a:lnTo>
                  <a:pt x="109880" y="129717"/>
                </a:lnTo>
                <a:lnTo>
                  <a:pt x="109880" y="134988"/>
                </a:lnTo>
                <a:lnTo>
                  <a:pt x="122580" y="134988"/>
                </a:lnTo>
                <a:lnTo>
                  <a:pt x="122580" y="141338"/>
                </a:lnTo>
                <a:close/>
              </a:path>
              <a:path w="423545" h="271779">
                <a:moveTo>
                  <a:pt x="230870" y="258356"/>
                </a:moveTo>
                <a:lnTo>
                  <a:pt x="215239" y="258356"/>
                </a:lnTo>
                <a:lnTo>
                  <a:pt x="211689" y="255964"/>
                </a:lnTo>
                <a:lnTo>
                  <a:pt x="399046" y="129717"/>
                </a:lnTo>
                <a:lnTo>
                  <a:pt x="402590" y="141338"/>
                </a:lnTo>
                <a:lnTo>
                  <a:pt x="404532" y="141338"/>
                </a:lnTo>
                <a:lnTo>
                  <a:pt x="230870" y="258356"/>
                </a:lnTo>
                <a:close/>
              </a:path>
              <a:path w="423545" h="271779">
                <a:moveTo>
                  <a:pt x="404532" y="141338"/>
                </a:moveTo>
                <a:lnTo>
                  <a:pt x="402590" y="141338"/>
                </a:lnTo>
                <a:lnTo>
                  <a:pt x="399046" y="129717"/>
                </a:lnTo>
                <a:lnTo>
                  <a:pt x="421777" y="129717"/>
                </a:lnTo>
                <a:lnTo>
                  <a:pt x="404532" y="141338"/>
                </a:lnTo>
                <a:close/>
              </a:path>
              <a:path w="423545" h="271779">
                <a:moveTo>
                  <a:pt x="215239" y="258356"/>
                </a:moveTo>
                <a:lnTo>
                  <a:pt x="208140" y="258356"/>
                </a:lnTo>
                <a:lnTo>
                  <a:pt x="211689" y="255964"/>
                </a:lnTo>
                <a:lnTo>
                  <a:pt x="215239" y="258356"/>
                </a:lnTo>
                <a:close/>
              </a:path>
            </a:pathLst>
          </a:custGeom>
          <a:solidFill>
            <a:srgbClr val="C00000"/>
          </a:solidFill>
        </p:spPr>
        <p:txBody>
          <a:bodyPr wrap="square" lIns="0" tIns="0" rIns="0" bIns="0" rtlCol="0"/>
          <a:lstStyle/>
          <a:p/>
        </p:txBody>
      </p:sp>
      <p:sp>
        <p:nvSpPr>
          <p:cNvPr id="60" name="object 60"/>
          <p:cNvSpPr/>
          <p:nvPr/>
        </p:nvSpPr>
        <p:spPr>
          <a:xfrm>
            <a:off x="9887711" y="3212592"/>
            <a:ext cx="381000" cy="257810"/>
          </a:xfrm>
          <a:custGeom>
            <a:avLst/>
            <a:gdLst/>
            <a:ahLst/>
            <a:cxnLst/>
            <a:rect l="l" t="t" r="r" b="b"/>
            <a:pathLst>
              <a:path w="381000" h="257810">
                <a:moveTo>
                  <a:pt x="286512" y="129539"/>
                </a:moveTo>
                <a:lnTo>
                  <a:pt x="94488" y="129539"/>
                </a:lnTo>
                <a:lnTo>
                  <a:pt x="94488" y="0"/>
                </a:lnTo>
                <a:lnTo>
                  <a:pt x="286512" y="0"/>
                </a:lnTo>
                <a:lnTo>
                  <a:pt x="286512" y="129539"/>
                </a:lnTo>
                <a:close/>
              </a:path>
              <a:path w="381000" h="257810">
                <a:moveTo>
                  <a:pt x="190500" y="257555"/>
                </a:moveTo>
                <a:lnTo>
                  <a:pt x="0" y="129539"/>
                </a:lnTo>
                <a:lnTo>
                  <a:pt x="381000" y="129539"/>
                </a:lnTo>
                <a:lnTo>
                  <a:pt x="190500" y="257555"/>
                </a:lnTo>
                <a:close/>
              </a:path>
            </a:pathLst>
          </a:custGeom>
          <a:solidFill>
            <a:srgbClr val="D9D9D9"/>
          </a:solidFill>
        </p:spPr>
        <p:txBody>
          <a:bodyPr wrap="square" lIns="0" tIns="0" rIns="0" bIns="0" rtlCol="0"/>
          <a:lstStyle/>
          <a:p/>
        </p:txBody>
      </p:sp>
      <p:sp>
        <p:nvSpPr>
          <p:cNvPr id="61" name="object 61"/>
          <p:cNvSpPr/>
          <p:nvPr/>
        </p:nvSpPr>
        <p:spPr>
          <a:xfrm>
            <a:off x="9866490" y="3206965"/>
            <a:ext cx="423545" cy="271780"/>
          </a:xfrm>
          <a:custGeom>
            <a:avLst/>
            <a:gdLst/>
            <a:ahLst/>
            <a:cxnLst/>
            <a:rect l="l" t="t" r="r" b="b"/>
            <a:pathLst>
              <a:path w="423545" h="271779">
                <a:moveTo>
                  <a:pt x="109893" y="134988"/>
                </a:moveTo>
                <a:lnTo>
                  <a:pt x="109893" y="0"/>
                </a:lnTo>
                <a:lnTo>
                  <a:pt x="313499" y="0"/>
                </a:lnTo>
                <a:lnTo>
                  <a:pt x="313499" y="6350"/>
                </a:lnTo>
                <a:lnTo>
                  <a:pt x="122593" y="6350"/>
                </a:lnTo>
                <a:lnTo>
                  <a:pt x="116243" y="12700"/>
                </a:lnTo>
                <a:lnTo>
                  <a:pt x="122593" y="12700"/>
                </a:lnTo>
                <a:lnTo>
                  <a:pt x="122593" y="128638"/>
                </a:lnTo>
                <a:lnTo>
                  <a:pt x="116243" y="128638"/>
                </a:lnTo>
                <a:lnTo>
                  <a:pt x="109893" y="134988"/>
                </a:lnTo>
                <a:close/>
              </a:path>
              <a:path w="423545" h="271779">
                <a:moveTo>
                  <a:pt x="122593" y="12700"/>
                </a:moveTo>
                <a:lnTo>
                  <a:pt x="116243" y="12700"/>
                </a:lnTo>
                <a:lnTo>
                  <a:pt x="122593" y="6350"/>
                </a:lnTo>
                <a:lnTo>
                  <a:pt x="122593" y="12700"/>
                </a:lnTo>
                <a:close/>
              </a:path>
              <a:path w="423545" h="271779">
                <a:moveTo>
                  <a:pt x="300799" y="12700"/>
                </a:moveTo>
                <a:lnTo>
                  <a:pt x="122593" y="12700"/>
                </a:lnTo>
                <a:lnTo>
                  <a:pt x="122593" y="6350"/>
                </a:lnTo>
                <a:lnTo>
                  <a:pt x="300799" y="6350"/>
                </a:lnTo>
                <a:lnTo>
                  <a:pt x="300799" y="12700"/>
                </a:lnTo>
                <a:close/>
              </a:path>
              <a:path w="423545" h="271779">
                <a:moveTo>
                  <a:pt x="381820" y="141338"/>
                </a:moveTo>
                <a:lnTo>
                  <a:pt x="300799" y="141338"/>
                </a:lnTo>
                <a:lnTo>
                  <a:pt x="300799" y="6350"/>
                </a:lnTo>
                <a:lnTo>
                  <a:pt x="307149" y="12700"/>
                </a:lnTo>
                <a:lnTo>
                  <a:pt x="313499" y="12700"/>
                </a:lnTo>
                <a:lnTo>
                  <a:pt x="313499" y="128638"/>
                </a:lnTo>
                <a:lnTo>
                  <a:pt x="307149" y="128638"/>
                </a:lnTo>
                <a:lnTo>
                  <a:pt x="313499" y="134988"/>
                </a:lnTo>
                <a:lnTo>
                  <a:pt x="391243" y="134988"/>
                </a:lnTo>
                <a:lnTo>
                  <a:pt x="381820" y="141338"/>
                </a:lnTo>
                <a:close/>
              </a:path>
              <a:path w="423545" h="271779">
                <a:moveTo>
                  <a:pt x="313499" y="12700"/>
                </a:moveTo>
                <a:lnTo>
                  <a:pt x="307149" y="12700"/>
                </a:lnTo>
                <a:lnTo>
                  <a:pt x="300799" y="6350"/>
                </a:lnTo>
                <a:lnTo>
                  <a:pt x="313499" y="6350"/>
                </a:lnTo>
                <a:lnTo>
                  <a:pt x="313499" y="12700"/>
                </a:lnTo>
                <a:close/>
              </a:path>
              <a:path w="423545" h="271779">
                <a:moveTo>
                  <a:pt x="211696" y="271297"/>
                </a:moveTo>
                <a:lnTo>
                  <a:pt x="0" y="128638"/>
                </a:lnTo>
                <a:lnTo>
                  <a:pt x="109893" y="128638"/>
                </a:lnTo>
                <a:lnTo>
                  <a:pt x="109893" y="129730"/>
                </a:lnTo>
                <a:lnTo>
                  <a:pt x="24333" y="129730"/>
                </a:lnTo>
                <a:lnTo>
                  <a:pt x="20789" y="141338"/>
                </a:lnTo>
                <a:lnTo>
                  <a:pt x="41559" y="141338"/>
                </a:lnTo>
                <a:lnTo>
                  <a:pt x="211689" y="255976"/>
                </a:lnTo>
                <a:lnTo>
                  <a:pt x="208140" y="258368"/>
                </a:lnTo>
                <a:lnTo>
                  <a:pt x="230880" y="258368"/>
                </a:lnTo>
                <a:lnTo>
                  <a:pt x="211696" y="271297"/>
                </a:lnTo>
                <a:close/>
              </a:path>
              <a:path w="423545" h="271779">
                <a:moveTo>
                  <a:pt x="122593" y="134988"/>
                </a:moveTo>
                <a:lnTo>
                  <a:pt x="109893" y="134988"/>
                </a:lnTo>
                <a:lnTo>
                  <a:pt x="116243" y="128638"/>
                </a:lnTo>
                <a:lnTo>
                  <a:pt x="122593" y="128638"/>
                </a:lnTo>
                <a:lnTo>
                  <a:pt x="122593" y="134988"/>
                </a:lnTo>
                <a:close/>
              </a:path>
              <a:path w="423545" h="271779">
                <a:moveTo>
                  <a:pt x="313499" y="134988"/>
                </a:moveTo>
                <a:lnTo>
                  <a:pt x="307149" y="128638"/>
                </a:lnTo>
                <a:lnTo>
                  <a:pt x="313499" y="128638"/>
                </a:lnTo>
                <a:lnTo>
                  <a:pt x="313499" y="134988"/>
                </a:lnTo>
                <a:close/>
              </a:path>
              <a:path w="423545" h="271779">
                <a:moveTo>
                  <a:pt x="391243" y="134988"/>
                </a:moveTo>
                <a:lnTo>
                  <a:pt x="313499" y="134988"/>
                </a:lnTo>
                <a:lnTo>
                  <a:pt x="313499" y="128638"/>
                </a:lnTo>
                <a:lnTo>
                  <a:pt x="423379" y="128638"/>
                </a:lnTo>
                <a:lnTo>
                  <a:pt x="421759" y="129730"/>
                </a:lnTo>
                <a:lnTo>
                  <a:pt x="399046" y="129730"/>
                </a:lnTo>
                <a:lnTo>
                  <a:pt x="391243" y="134988"/>
                </a:lnTo>
                <a:close/>
              </a:path>
              <a:path w="423545" h="271779">
                <a:moveTo>
                  <a:pt x="41559" y="141338"/>
                </a:moveTo>
                <a:lnTo>
                  <a:pt x="20789" y="141338"/>
                </a:lnTo>
                <a:lnTo>
                  <a:pt x="24333" y="129730"/>
                </a:lnTo>
                <a:lnTo>
                  <a:pt x="41559" y="141338"/>
                </a:lnTo>
                <a:close/>
              </a:path>
              <a:path w="423545" h="271779">
                <a:moveTo>
                  <a:pt x="122593" y="141338"/>
                </a:moveTo>
                <a:lnTo>
                  <a:pt x="41559" y="141338"/>
                </a:lnTo>
                <a:lnTo>
                  <a:pt x="24333" y="129730"/>
                </a:lnTo>
                <a:lnTo>
                  <a:pt x="109893" y="129730"/>
                </a:lnTo>
                <a:lnTo>
                  <a:pt x="109893" y="134988"/>
                </a:lnTo>
                <a:lnTo>
                  <a:pt x="122593" y="134988"/>
                </a:lnTo>
                <a:lnTo>
                  <a:pt x="122593" y="141338"/>
                </a:lnTo>
                <a:close/>
              </a:path>
              <a:path w="423545" h="271779">
                <a:moveTo>
                  <a:pt x="230880" y="258368"/>
                </a:moveTo>
                <a:lnTo>
                  <a:pt x="215239" y="258368"/>
                </a:lnTo>
                <a:lnTo>
                  <a:pt x="211689" y="255976"/>
                </a:lnTo>
                <a:lnTo>
                  <a:pt x="399046" y="129730"/>
                </a:lnTo>
                <a:lnTo>
                  <a:pt x="402590" y="141338"/>
                </a:lnTo>
                <a:lnTo>
                  <a:pt x="404535" y="141338"/>
                </a:lnTo>
                <a:lnTo>
                  <a:pt x="230880" y="258368"/>
                </a:lnTo>
                <a:close/>
              </a:path>
              <a:path w="423545" h="271779">
                <a:moveTo>
                  <a:pt x="404535" y="141338"/>
                </a:moveTo>
                <a:lnTo>
                  <a:pt x="402590" y="141338"/>
                </a:lnTo>
                <a:lnTo>
                  <a:pt x="399046" y="129730"/>
                </a:lnTo>
                <a:lnTo>
                  <a:pt x="421759" y="129730"/>
                </a:lnTo>
                <a:lnTo>
                  <a:pt x="404535" y="141338"/>
                </a:lnTo>
                <a:close/>
              </a:path>
              <a:path w="423545" h="271779">
                <a:moveTo>
                  <a:pt x="215239" y="258368"/>
                </a:moveTo>
                <a:lnTo>
                  <a:pt x="208140" y="258368"/>
                </a:lnTo>
                <a:lnTo>
                  <a:pt x="211689" y="255976"/>
                </a:lnTo>
                <a:lnTo>
                  <a:pt x="215239" y="258368"/>
                </a:lnTo>
                <a:close/>
              </a:path>
            </a:pathLst>
          </a:custGeom>
          <a:solidFill>
            <a:srgbClr val="C00000"/>
          </a:solidFill>
        </p:spPr>
        <p:txBody>
          <a:bodyPr wrap="square" lIns="0" tIns="0" rIns="0" bIns="0" rtlCol="0"/>
          <a:lstStyle/>
          <a:p/>
        </p:txBody>
      </p:sp>
      <p:sp>
        <p:nvSpPr>
          <p:cNvPr id="62" name="object 62"/>
          <p:cNvSpPr/>
          <p:nvPr/>
        </p:nvSpPr>
        <p:spPr>
          <a:xfrm>
            <a:off x="9887711" y="4591811"/>
            <a:ext cx="381000" cy="257810"/>
          </a:xfrm>
          <a:custGeom>
            <a:avLst/>
            <a:gdLst/>
            <a:ahLst/>
            <a:cxnLst/>
            <a:rect l="l" t="t" r="r" b="b"/>
            <a:pathLst>
              <a:path w="381000" h="257810">
                <a:moveTo>
                  <a:pt x="286512" y="128015"/>
                </a:moveTo>
                <a:lnTo>
                  <a:pt x="94488" y="128015"/>
                </a:lnTo>
                <a:lnTo>
                  <a:pt x="94488" y="0"/>
                </a:lnTo>
                <a:lnTo>
                  <a:pt x="286512" y="0"/>
                </a:lnTo>
                <a:lnTo>
                  <a:pt x="286512" y="128015"/>
                </a:lnTo>
                <a:close/>
              </a:path>
              <a:path w="381000" h="257810">
                <a:moveTo>
                  <a:pt x="190500" y="257555"/>
                </a:moveTo>
                <a:lnTo>
                  <a:pt x="0" y="128015"/>
                </a:lnTo>
                <a:lnTo>
                  <a:pt x="381000" y="128015"/>
                </a:lnTo>
                <a:lnTo>
                  <a:pt x="190500" y="257555"/>
                </a:lnTo>
                <a:close/>
              </a:path>
            </a:pathLst>
          </a:custGeom>
          <a:solidFill>
            <a:srgbClr val="D9D9D9"/>
          </a:solidFill>
        </p:spPr>
        <p:txBody>
          <a:bodyPr wrap="square" lIns="0" tIns="0" rIns="0" bIns="0" rtlCol="0"/>
          <a:lstStyle/>
          <a:p/>
        </p:txBody>
      </p:sp>
      <p:sp>
        <p:nvSpPr>
          <p:cNvPr id="63" name="object 63"/>
          <p:cNvSpPr/>
          <p:nvPr/>
        </p:nvSpPr>
        <p:spPr>
          <a:xfrm>
            <a:off x="9866490" y="4585055"/>
            <a:ext cx="423545" cy="271780"/>
          </a:xfrm>
          <a:custGeom>
            <a:avLst/>
            <a:gdLst/>
            <a:ahLst/>
            <a:cxnLst/>
            <a:rect l="l" t="t" r="r" b="b"/>
            <a:pathLst>
              <a:path w="423545" h="271779">
                <a:moveTo>
                  <a:pt x="109893" y="134988"/>
                </a:moveTo>
                <a:lnTo>
                  <a:pt x="109893" y="0"/>
                </a:lnTo>
                <a:lnTo>
                  <a:pt x="313499" y="0"/>
                </a:lnTo>
                <a:lnTo>
                  <a:pt x="313499" y="6350"/>
                </a:lnTo>
                <a:lnTo>
                  <a:pt x="122593" y="6350"/>
                </a:lnTo>
                <a:lnTo>
                  <a:pt x="116243" y="12700"/>
                </a:lnTo>
                <a:lnTo>
                  <a:pt x="122593" y="12700"/>
                </a:lnTo>
                <a:lnTo>
                  <a:pt x="122593" y="128638"/>
                </a:lnTo>
                <a:lnTo>
                  <a:pt x="116243" y="128638"/>
                </a:lnTo>
                <a:lnTo>
                  <a:pt x="109893" y="134988"/>
                </a:lnTo>
                <a:close/>
              </a:path>
              <a:path w="423545" h="271779">
                <a:moveTo>
                  <a:pt x="122593" y="12700"/>
                </a:moveTo>
                <a:lnTo>
                  <a:pt x="116243" y="12700"/>
                </a:lnTo>
                <a:lnTo>
                  <a:pt x="122593" y="6350"/>
                </a:lnTo>
                <a:lnTo>
                  <a:pt x="122593" y="12700"/>
                </a:lnTo>
                <a:close/>
              </a:path>
              <a:path w="423545" h="271779">
                <a:moveTo>
                  <a:pt x="300799" y="12700"/>
                </a:moveTo>
                <a:lnTo>
                  <a:pt x="122593" y="12700"/>
                </a:lnTo>
                <a:lnTo>
                  <a:pt x="122593" y="6350"/>
                </a:lnTo>
                <a:lnTo>
                  <a:pt x="300799" y="6350"/>
                </a:lnTo>
                <a:lnTo>
                  <a:pt x="300799" y="12700"/>
                </a:lnTo>
                <a:close/>
              </a:path>
              <a:path w="423545" h="271779">
                <a:moveTo>
                  <a:pt x="381801" y="141338"/>
                </a:moveTo>
                <a:lnTo>
                  <a:pt x="300799" y="141338"/>
                </a:lnTo>
                <a:lnTo>
                  <a:pt x="300799" y="6350"/>
                </a:lnTo>
                <a:lnTo>
                  <a:pt x="307149" y="12700"/>
                </a:lnTo>
                <a:lnTo>
                  <a:pt x="313499" y="12700"/>
                </a:lnTo>
                <a:lnTo>
                  <a:pt x="313499" y="128638"/>
                </a:lnTo>
                <a:lnTo>
                  <a:pt x="307149" y="128638"/>
                </a:lnTo>
                <a:lnTo>
                  <a:pt x="313499" y="134988"/>
                </a:lnTo>
                <a:lnTo>
                  <a:pt x="391224" y="134988"/>
                </a:lnTo>
                <a:lnTo>
                  <a:pt x="381801" y="141338"/>
                </a:lnTo>
                <a:close/>
              </a:path>
              <a:path w="423545" h="271779">
                <a:moveTo>
                  <a:pt x="313499" y="12700"/>
                </a:moveTo>
                <a:lnTo>
                  <a:pt x="307149" y="12700"/>
                </a:lnTo>
                <a:lnTo>
                  <a:pt x="300799" y="6350"/>
                </a:lnTo>
                <a:lnTo>
                  <a:pt x="313499" y="6350"/>
                </a:lnTo>
                <a:lnTo>
                  <a:pt x="313499" y="12700"/>
                </a:lnTo>
                <a:close/>
              </a:path>
              <a:path w="423545" h="271779">
                <a:moveTo>
                  <a:pt x="211696" y="271284"/>
                </a:moveTo>
                <a:lnTo>
                  <a:pt x="0" y="128638"/>
                </a:lnTo>
                <a:lnTo>
                  <a:pt x="109893" y="128638"/>
                </a:lnTo>
                <a:lnTo>
                  <a:pt x="109893" y="129717"/>
                </a:lnTo>
                <a:lnTo>
                  <a:pt x="24333" y="129717"/>
                </a:lnTo>
                <a:lnTo>
                  <a:pt x="20789" y="141338"/>
                </a:lnTo>
                <a:lnTo>
                  <a:pt x="41578" y="141338"/>
                </a:lnTo>
                <a:lnTo>
                  <a:pt x="211689" y="255964"/>
                </a:lnTo>
                <a:lnTo>
                  <a:pt x="208140" y="258356"/>
                </a:lnTo>
                <a:lnTo>
                  <a:pt x="230882" y="258356"/>
                </a:lnTo>
                <a:lnTo>
                  <a:pt x="211696" y="271284"/>
                </a:lnTo>
                <a:close/>
              </a:path>
              <a:path w="423545" h="271779">
                <a:moveTo>
                  <a:pt x="122593" y="134988"/>
                </a:moveTo>
                <a:lnTo>
                  <a:pt x="109893" y="134988"/>
                </a:lnTo>
                <a:lnTo>
                  <a:pt x="116243" y="128638"/>
                </a:lnTo>
                <a:lnTo>
                  <a:pt x="122593" y="128638"/>
                </a:lnTo>
                <a:lnTo>
                  <a:pt x="122593" y="134988"/>
                </a:lnTo>
                <a:close/>
              </a:path>
              <a:path w="423545" h="271779">
                <a:moveTo>
                  <a:pt x="313499" y="134988"/>
                </a:moveTo>
                <a:lnTo>
                  <a:pt x="307149" y="128638"/>
                </a:lnTo>
                <a:lnTo>
                  <a:pt x="313499" y="128638"/>
                </a:lnTo>
                <a:lnTo>
                  <a:pt x="313499" y="134988"/>
                </a:lnTo>
                <a:close/>
              </a:path>
              <a:path w="423545" h="271779">
                <a:moveTo>
                  <a:pt x="391224" y="134988"/>
                </a:moveTo>
                <a:lnTo>
                  <a:pt x="313499" y="134988"/>
                </a:lnTo>
                <a:lnTo>
                  <a:pt x="313499" y="128638"/>
                </a:lnTo>
                <a:lnTo>
                  <a:pt x="423379" y="128638"/>
                </a:lnTo>
                <a:lnTo>
                  <a:pt x="421777" y="129717"/>
                </a:lnTo>
                <a:lnTo>
                  <a:pt x="399046" y="129717"/>
                </a:lnTo>
                <a:lnTo>
                  <a:pt x="391224" y="134988"/>
                </a:lnTo>
                <a:close/>
              </a:path>
              <a:path w="423545" h="271779">
                <a:moveTo>
                  <a:pt x="41578" y="141338"/>
                </a:moveTo>
                <a:lnTo>
                  <a:pt x="20789" y="141338"/>
                </a:lnTo>
                <a:lnTo>
                  <a:pt x="24333" y="129717"/>
                </a:lnTo>
                <a:lnTo>
                  <a:pt x="41578" y="141338"/>
                </a:lnTo>
                <a:close/>
              </a:path>
              <a:path w="423545" h="271779">
                <a:moveTo>
                  <a:pt x="122593" y="141338"/>
                </a:moveTo>
                <a:lnTo>
                  <a:pt x="41578" y="141338"/>
                </a:lnTo>
                <a:lnTo>
                  <a:pt x="24333" y="129717"/>
                </a:lnTo>
                <a:lnTo>
                  <a:pt x="109893" y="129717"/>
                </a:lnTo>
                <a:lnTo>
                  <a:pt x="109893" y="134988"/>
                </a:lnTo>
                <a:lnTo>
                  <a:pt x="122593" y="134988"/>
                </a:lnTo>
                <a:lnTo>
                  <a:pt x="122593" y="141338"/>
                </a:lnTo>
                <a:close/>
              </a:path>
              <a:path w="423545" h="271779">
                <a:moveTo>
                  <a:pt x="230882" y="258356"/>
                </a:moveTo>
                <a:lnTo>
                  <a:pt x="215239" y="258356"/>
                </a:lnTo>
                <a:lnTo>
                  <a:pt x="211689" y="255964"/>
                </a:lnTo>
                <a:lnTo>
                  <a:pt x="399046" y="129717"/>
                </a:lnTo>
                <a:lnTo>
                  <a:pt x="402590" y="141338"/>
                </a:lnTo>
                <a:lnTo>
                  <a:pt x="404533" y="141338"/>
                </a:lnTo>
                <a:lnTo>
                  <a:pt x="230882" y="258356"/>
                </a:lnTo>
                <a:close/>
              </a:path>
              <a:path w="423545" h="271779">
                <a:moveTo>
                  <a:pt x="404533" y="141338"/>
                </a:moveTo>
                <a:lnTo>
                  <a:pt x="402590" y="141338"/>
                </a:lnTo>
                <a:lnTo>
                  <a:pt x="399046" y="129717"/>
                </a:lnTo>
                <a:lnTo>
                  <a:pt x="421777" y="129717"/>
                </a:lnTo>
                <a:lnTo>
                  <a:pt x="404533" y="141338"/>
                </a:lnTo>
                <a:close/>
              </a:path>
              <a:path w="423545" h="271779">
                <a:moveTo>
                  <a:pt x="215239" y="258356"/>
                </a:moveTo>
                <a:lnTo>
                  <a:pt x="208140" y="258356"/>
                </a:lnTo>
                <a:lnTo>
                  <a:pt x="211689" y="255964"/>
                </a:lnTo>
                <a:lnTo>
                  <a:pt x="215239" y="258356"/>
                </a:lnTo>
                <a:close/>
              </a:path>
            </a:pathLst>
          </a:custGeom>
          <a:solidFill>
            <a:srgbClr val="C00000"/>
          </a:solidFill>
        </p:spPr>
        <p:txBody>
          <a:bodyPr wrap="square" lIns="0" tIns="0" rIns="0" bIns="0" rtlCol="0"/>
          <a:lstStyle/>
          <a:p/>
        </p:txBody>
      </p:sp>
      <p:sp>
        <p:nvSpPr>
          <p:cNvPr id="64" name="object 64"/>
          <p:cNvSpPr/>
          <p:nvPr/>
        </p:nvSpPr>
        <p:spPr>
          <a:xfrm>
            <a:off x="8289035" y="3212592"/>
            <a:ext cx="382905" cy="257810"/>
          </a:xfrm>
          <a:custGeom>
            <a:avLst/>
            <a:gdLst/>
            <a:ahLst/>
            <a:cxnLst/>
            <a:rect l="l" t="t" r="r" b="b"/>
            <a:pathLst>
              <a:path w="382904" h="257810">
                <a:moveTo>
                  <a:pt x="382524" y="129539"/>
                </a:moveTo>
                <a:lnTo>
                  <a:pt x="0" y="129539"/>
                </a:lnTo>
                <a:lnTo>
                  <a:pt x="192024" y="0"/>
                </a:lnTo>
                <a:lnTo>
                  <a:pt x="382524" y="129539"/>
                </a:lnTo>
                <a:close/>
              </a:path>
              <a:path w="382904" h="257810">
                <a:moveTo>
                  <a:pt x="286512" y="257555"/>
                </a:moveTo>
                <a:lnTo>
                  <a:pt x="96012" y="257555"/>
                </a:lnTo>
                <a:lnTo>
                  <a:pt x="96012" y="129539"/>
                </a:lnTo>
                <a:lnTo>
                  <a:pt x="286512" y="129539"/>
                </a:lnTo>
                <a:lnTo>
                  <a:pt x="286512" y="257555"/>
                </a:lnTo>
                <a:close/>
              </a:path>
            </a:pathLst>
          </a:custGeom>
          <a:solidFill>
            <a:srgbClr val="D9D9D9"/>
          </a:solidFill>
        </p:spPr>
        <p:txBody>
          <a:bodyPr wrap="square" lIns="0" tIns="0" rIns="0" bIns="0" rtlCol="0"/>
          <a:lstStyle/>
          <a:p/>
        </p:txBody>
      </p:sp>
      <p:sp>
        <p:nvSpPr>
          <p:cNvPr id="65" name="object 65"/>
          <p:cNvSpPr/>
          <p:nvPr/>
        </p:nvSpPr>
        <p:spPr>
          <a:xfrm>
            <a:off x="8268690" y="3205657"/>
            <a:ext cx="423545" cy="271780"/>
          </a:xfrm>
          <a:custGeom>
            <a:avLst/>
            <a:gdLst/>
            <a:ahLst/>
            <a:cxnLst/>
            <a:rect l="l" t="t" r="r" b="b"/>
            <a:pathLst>
              <a:path w="423545" h="271779">
                <a:moveTo>
                  <a:pt x="109893" y="142646"/>
                </a:moveTo>
                <a:lnTo>
                  <a:pt x="0" y="142646"/>
                </a:lnTo>
                <a:lnTo>
                  <a:pt x="211696" y="0"/>
                </a:lnTo>
                <a:lnTo>
                  <a:pt x="230882" y="12928"/>
                </a:lnTo>
                <a:lnTo>
                  <a:pt x="208140" y="12928"/>
                </a:lnTo>
                <a:lnTo>
                  <a:pt x="211689" y="15320"/>
                </a:lnTo>
                <a:lnTo>
                  <a:pt x="41578" y="129946"/>
                </a:lnTo>
                <a:lnTo>
                  <a:pt x="20789" y="129946"/>
                </a:lnTo>
                <a:lnTo>
                  <a:pt x="24333" y="141566"/>
                </a:lnTo>
                <a:lnTo>
                  <a:pt x="109893" y="141566"/>
                </a:lnTo>
                <a:lnTo>
                  <a:pt x="109893" y="142646"/>
                </a:lnTo>
                <a:close/>
              </a:path>
              <a:path w="423545" h="271779">
                <a:moveTo>
                  <a:pt x="211689" y="15320"/>
                </a:moveTo>
                <a:lnTo>
                  <a:pt x="208140" y="12928"/>
                </a:lnTo>
                <a:lnTo>
                  <a:pt x="215239" y="12928"/>
                </a:lnTo>
                <a:lnTo>
                  <a:pt x="211689" y="15320"/>
                </a:lnTo>
                <a:close/>
              </a:path>
              <a:path w="423545" h="271779">
                <a:moveTo>
                  <a:pt x="399046" y="141566"/>
                </a:moveTo>
                <a:lnTo>
                  <a:pt x="211689" y="15320"/>
                </a:lnTo>
                <a:lnTo>
                  <a:pt x="215239" y="12928"/>
                </a:lnTo>
                <a:lnTo>
                  <a:pt x="230882" y="12928"/>
                </a:lnTo>
                <a:lnTo>
                  <a:pt x="404533" y="129946"/>
                </a:lnTo>
                <a:lnTo>
                  <a:pt x="402590" y="129946"/>
                </a:lnTo>
                <a:lnTo>
                  <a:pt x="399046" y="141566"/>
                </a:lnTo>
                <a:close/>
              </a:path>
              <a:path w="423545" h="271779">
                <a:moveTo>
                  <a:pt x="24333" y="141566"/>
                </a:moveTo>
                <a:lnTo>
                  <a:pt x="20789" y="129946"/>
                </a:lnTo>
                <a:lnTo>
                  <a:pt x="41578" y="129946"/>
                </a:lnTo>
                <a:lnTo>
                  <a:pt x="24333" y="141566"/>
                </a:lnTo>
                <a:close/>
              </a:path>
              <a:path w="423545" h="271779">
                <a:moveTo>
                  <a:pt x="109893" y="141566"/>
                </a:moveTo>
                <a:lnTo>
                  <a:pt x="24333" y="141566"/>
                </a:lnTo>
                <a:lnTo>
                  <a:pt x="41578" y="129946"/>
                </a:lnTo>
                <a:lnTo>
                  <a:pt x="122593" y="129946"/>
                </a:lnTo>
                <a:lnTo>
                  <a:pt x="122593" y="136296"/>
                </a:lnTo>
                <a:lnTo>
                  <a:pt x="109893" y="136296"/>
                </a:lnTo>
                <a:lnTo>
                  <a:pt x="109893" y="141566"/>
                </a:lnTo>
                <a:close/>
              </a:path>
              <a:path w="423545" h="271779">
                <a:moveTo>
                  <a:pt x="300799" y="264947"/>
                </a:moveTo>
                <a:lnTo>
                  <a:pt x="300799" y="129946"/>
                </a:lnTo>
                <a:lnTo>
                  <a:pt x="381801" y="129946"/>
                </a:lnTo>
                <a:lnTo>
                  <a:pt x="391224" y="136296"/>
                </a:lnTo>
                <a:lnTo>
                  <a:pt x="313499" y="136296"/>
                </a:lnTo>
                <a:lnTo>
                  <a:pt x="307149" y="142646"/>
                </a:lnTo>
                <a:lnTo>
                  <a:pt x="313499" y="142646"/>
                </a:lnTo>
                <a:lnTo>
                  <a:pt x="313499" y="258597"/>
                </a:lnTo>
                <a:lnTo>
                  <a:pt x="307149" y="258597"/>
                </a:lnTo>
                <a:lnTo>
                  <a:pt x="300799" y="264947"/>
                </a:lnTo>
                <a:close/>
              </a:path>
              <a:path w="423545" h="271779">
                <a:moveTo>
                  <a:pt x="421777" y="141566"/>
                </a:moveTo>
                <a:lnTo>
                  <a:pt x="399046" y="141566"/>
                </a:lnTo>
                <a:lnTo>
                  <a:pt x="402590" y="129946"/>
                </a:lnTo>
                <a:lnTo>
                  <a:pt x="404533" y="129946"/>
                </a:lnTo>
                <a:lnTo>
                  <a:pt x="421777" y="141566"/>
                </a:lnTo>
                <a:close/>
              </a:path>
              <a:path w="423545" h="271779">
                <a:moveTo>
                  <a:pt x="313499" y="271297"/>
                </a:moveTo>
                <a:lnTo>
                  <a:pt x="109893" y="271297"/>
                </a:lnTo>
                <a:lnTo>
                  <a:pt x="109893" y="136296"/>
                </a:lnTo>
                <a:lnTo>
                  <a:pt x="116243" y="142646"/>
                </a:lnTo>
                <a:lnTo>
                  <a:pt x="122593" y="142646"/>
                </a:lnTo>
                <a:lnTo>
                  <a:pt x="122593" y="258597"/>
                </a:lnTo>
                <a:lnTo>
                  <a:pt x="116243" y="258597"/>
                </a:lnTo>
                <a:lnTo>
                  <a:pt x="122593" y="264947"/>
                </a:lnTo>
                <a:lnTo>
                  <a:pt x="313499" y="264947"/>
                </a:lnTo>
                <a:lnTo>
                  <a:pt x="313499" y="271297"/>
                </a:lnTo>
                <a:close/>
              </a:path>
              <a:path w="423545" h="271779">
                <a:moveTo>
                  <a:pt x="122593" y="142646"/>
                </a:moveTo>
                <a:lnTo>
                  <a:pt x="116243" y="142646"/>
                </a:lnTo>
                <a:lnTo>
                  <a:pt x="109893" y="136296"/>
                </a:lnTo>
                <a:lnTo>
                  <a:pt x="122593" y="136296"/>
                </a:lnTo>
                <a:lnTo>
                  <a:pt x="122593" y="142646"/>
                </a:lnTo>
                <a:close/>
              </a:path>
              <a:path w="423545" h="271779">
                <a:moveTo>
                  <a:pt x="313499" y="142646"/>
                </a:moveTo>
                <a:lnTo>
                  <a:pt x="307149" y="142646"/>
                </a:lnTo>
                <a:lnTo>
                  <a:pt x="313499" y="136296"/>
                </a:lnTo>
                <a:lnTo>
                  <a:pt x="313499" y="142646"/>
                </a:lnTo>
                <a:close/>
              </a:path>
              <a:path w="423545" h="271779">
                <a:moveTo>
                  <a:pt x="423379" y="142646"/>
                </a:moveTo>
                <a:lnTo>
                  <a:pt x="313499" y="142646"/>
                </a:lnTo>
                <a:lnTo>
                  <a:pt x="313499" y="136296"/>
                </a:lnTo>
                <a:lnTo>
                  <a:pt x="391224" y="136296"/>
                </a:lnTo>
                <a:lnTo>
                  <a:pt x="399046" y="141566"/>
                </a:lnTo>
                <a:lnTo>
                  <a:pt x="421777" y="141566"/>
                </a:lnTo>
                <a:lnTo>
                  <a:pt x="423379" y="142646"/>
                </a:lnTo>
                <a:close/>
              </a:path>
              <a:path w="423545" h="271779">
                <a:moveTo>
                  <a:pt x="122593" y="264947"/>
                </a:moveTo>
                <a:lnTo>
                  <a:pt x="116243" y="258597"/>
                </a:lnTo>
                <a:lnTo>
                  <a:pt x="122593" y="258597"/>
                </a:lnTo>
                <a:lnTo>
                  <a:pt x="122593" y="264947"/>
                </a:lnTo>
                <a:close/>
              </a:path>
              <a:path w="423545" h="271779">
                <a:moveTo>
                  <a:pt x="300799" y="264947"/>
                </a:moveTo>
                <a:lnTo>
                  <a:pt x="122593" y="264947"/>
                </a:lnTo>
                <a:lnTo>
                  <a:pt x="122593" y="258597"/>
                </a:lnTo>
                <a:lnTo>
                  <a:pt x="300799" y="258597"/>
                </a:lnTo>
                <a:lnTo>
                  <a:pt x="300799" y="264947"/>
                </a:lnTo>
                <a:close/>
              </a:path>
              <a:path w="423545" h="271779">
                <a:moveTo>
                  <a:pt x="313499" y="264947"/>
                </a:moveTo>
                <a:lnTo>
                  <a:pt x="300799" y="264947"/>
                </a:lnTo>
                <a:lnTo>
                  <a:pt x="307149" y="258597"/>
                </a:lnTo>
                <a:lnTo>
                  <a:pt x="313499" y="258597"/>
                </a:lnTo>
                <a:lnTo>
                  <a:pt x="313499" y="264947"/>
                </a:lnTo>
                <a:close/>
              </a:path>
            </a:pathLst>
          </a:custGeom>
          <a:solidFill>
            <a:srgbClr val="C00000"/>
          </a:solidFill>
        </p:spPr>
        <p:txBody>
          <a:bodyPr wrap="square" lIns="0" tIns="0" rIns="0" bIns="0" rtlCol="0"/>
          <a:lstStyle/>
          <a:p/>
        </p:txBody>
      </p:sp>
      <p:sp>
        <p:nvSpPr>
          <p:cNvPr id="66" name="object 66"/>
          <p:cNvSpPr/>
          <p:nvPr/>
        </p:nvSpPr>
        <p:spPr>
          <a:xfrm>
            <a:off x="8289035" y="4570476"/>
            <a:ext cx="382905" cy="257810"/>
          </a:xfrm>
          <a:custGeom>
            <a:avLst/>
            <a:gdLst/>
            <a:ahLst/>
            <a:cxnLst/>
            <a:rect l="l" t="t" r="r" b="b"/>
            <a:pathLst>
              <a:path w="382904" h="257810">
                <a:moveTo>
                  <a:pt x="382524" y="129539"/>
                </a:moveTo>
                <a:lnTo>
                  <a:pt x="0" y="129539"/>
                </a:lnTo>
                <a:lnTo>
                  <a:pt x="192024" y="0"/>
                </a:lnTo>
                <a:lnTo>
                  <a:pt x="382524" y="129539"/>
                </a:lnTo>
                <a:close/>
              </a:path>
              <a:path w="382904" h="257810">
                <a:moveTo>
                  <a:pt x="286512" y="257556"/>
                </a:moveTo>
                <a:lnTo>
                  <a:pt x="96012" y="257556"/>
                </a:lnTo>
                <a:lnTo>
                  <a:pt x="96012" y="129539"/>
                </a:lnTo>
                <a:lnTo>
                  <a:pt x="286512" y="129539"/>
                </a:lnTo>
                <a:lnTo>
                  <a:pt x="286512" y="257556"/>
                </a:lnTo>
                <a:close/>
              </a:path>
            </a:pathLst>
          </a:custGeom>
          <a:solidFill>
            <a:srgbClr val="D9D9D9"/>
          </a:solidFill>
        </p:spPr>
        <p:txBody>
          <a:bodyPr wrap="square" lIns="0" tIns="0" rIns="0" bIns="0" rtlCol="0"/>
          <a:lstStyle/>
          <a:p/>
        </p:txBody>
      </p:sp>
      <p:sp>
        <p:nvSpPr>
          <p:cNvPr id="67" name="object 67"/>
          <p:cNvSpPr/>
          <p:nvPr/>
        </p:nvSpPr>
        <p:spPr>
          <a:xfrm>
            <a:off x="8268690" y="4563122"/>
            <a:ext cx="423545" cy="271780"/>
          </a:xfrm>
          <a:custGeom>
            <a:avLst/>
            <a:gdLst/>
            <a:ahLst/>
            <a:cxnLst/>
            <a:rect l="l" t="t" r="r" b="b"/>
            <a:pathLst>
              <a:path w="423545" h="271779">
                <a:moveTo>
                  <a:pt x="109893" y="142646"/>
                </a:moveTo>
                <a:lnTo>
                  <a:pt x="0" y="142646"/>
                </a:lnTo>
                <a:lnTo>
                  <a:pt x="211696" y="0"/>
                </a:lnTo>
                <a:lnTo>
                  <a:pt x="230863" y="12915"/>
                </a:lnTo>
                <a:lnTo>
                  <a:pt x="208140" y="12915"/>
                </a:lnTo>
                <a:lnTo>
                  <a:pt x="211689" y="15307"/>
                </a:lnTo>
                <a:lnTo>
                  <a:pt x="41559" y="129946"/>
                </a:lnTo>
                <a:lnTo>
                  <a:pt x="20789" y="129946"/>
                </a:lnTo>
                <a:lnTo>
                  <a:pt x="24333" y="141554"/>
                </a:lnTo>
                <a:lnTo>
                  <a:pt x="109893" y="141554"/>
                </a:lnTo>
                <a:lnTo>
                  <a:pt x="109893" y="142646"/>
                </a:lnTo>
                <a:close/>
              </a:path>
              <a:path w="423545" h="271779">
                <a:moveTo>
                  <a:pt x="211689" y="15307"/>
                </a:moveTo>
                <a:lnTo>
                  <a:pt x="208140" y="12915"/>
                </a:lnTo>
                <a:lnTo>
                  <a:pt x="215239" y="12915"/>
                </a:lnTo>
                <a:lnTo>
                  <a:pt x="211689" y="15307"/>
                </a:lnTo>
                <a:close/>
              </a:path>
              <a:path w="423545" h="271779">
                <a:moveTo>
                  <a:pt x="399046" y="141554"/>
                </a:moveTo>
                <a:lnTo>
                  <a:pt x="211689" y="15307"/>
                </a:lnTo>
                <a:lnTo>
                  <a:pt x="215239" y="12915"/>
                </a:lnTo>
                <a:lnTo>
                  <a:pt x="230863" y="12915"/>
                </a:lnTo>
                <a:lnTo>
                  <a:pt x="404533" y="129946"/>
                </a:lnTo>
                <a:lnTo>
                  <a:pt x="402590" y="129946"/>
                </a:lnTo>
                <a:lnTo>
                  <a:pt x="399046" y="141554"/>
                </a:lnTo>
                <a:close/>
              </a:path>
              <a:path w="423545" h="271779">
                <a:moveTo>
                  <a:pt x="24333" y="141554"/>
                </a:moveTo>
                <a:lnTo>
                  <a:pt x="20789" y="129946"/>
                </a:lnTo>
                <a:lnTo>
                  <a:pt x="41559" y="129946"/>
                </a:lnTo>
                <a:lnTo>
                  <a:pt x="24333" y="141554"/>
                </a:lnTo>
                <a:close/>
              </a:path>
              <a:path w="423545" h="271779">
                <a:moveTo>
                  <a:pt x="109893" y="141554"/>
                </a:moveTo>
                <a:lnTo>
                  <a:pt x="24333" y="141554"/>
                </a:lnTo>
                <a:lnTo>
                  <a:pt x="41559" y="129946"/>
                </a:lnTo>
                <a:lnTo>
                  <a:pt x="122593" y="129946"/>
                </a:lnTo>
                <a:lnTo>
                  <a:pt x="122593" y="136296"/>
                </a:lnTo>
                <a:lnTo>
                  <a:pt x="109893" y="136296"/>
                </a:lnTo>
                <a:lnTo>
                  <a:pt x="109893" y="141554"/>
                </a:lnTo>
                <a:close/>
              </a:path>
              <a:path w="423545" h="271779">
                <a:moveTo>
                  <a:pt x="300799" y="264934"/>
                </a:moveTo>
                <a:lnTo>
                  <a:pt x="300799" y="129946"/>
                </a:lnTo>
                <a:lnTo>
                  <a:pt x="381820" y="129946"/>
                </a:lnTo>
                <a:lnTo>
                  <a:pt x="391243" y="136296"/>
                </a:lnTo>
                <a:lnTo>
                  <a:pt x="313499" y="136296"/>
                </a:lnTo>
                <a:lnTo>
                  <a:pt x="307149" y="142646"/>
                </a:lnTo>
                <a:lnTo>
                  <a:pt x="313499" y="142646"/>
                </a:lnTo>
                <a:lnTo>
                  <a:pt x="313499" y="258584"/>
                </a:lnTo>
                <a:lnTo>
                  <a:pt x="307149" y="258584"/>
                </a:lnTo>
                <a:lnTo>
                  <a:pt x="300799" y="264934"/>
                </a:lnTo>
                <a:close/>
              </a:path>
              <a:path w="423545" h="271779">
                <a:moveTo>
                  <a:pt x="421759" y="141554"/>
                </a:moveTo>
                <a:lnTo>
                  <a:pt x="399046" y="141554"/>
                </a:lnTo>
                <a:lnTo>
                  <a:pt x="402590" y="129946"/>
                </a:lnTo>
                <a:lnTo>
                  <a:pt x="404533" y="129946"/>
                </a:lnTo>
                <a:lnTo>
                  <a:pt x="421759" y="141554"/>
                </a:lnTo>
                <a:close/>
              </a:path>
              <a:path w="423545" h="271779">
                <a:moveTo>
                  <a:pt x="313499" y="271284"/>
                </a:moveTo>
                <a:lnTo>
                  <a:pt x="109893" y="271284"/>
                </a:lnTo>
                <a:lnTo>
                  <a:pt x="109893" y="136296"/>
                </a:lnTo>
                <a:lnTo>
                  <a:pt x="116243" y="142646"/>
                </a:lnTo>
                <a:lnTo>
                  <a:pt x="122593" y="142646"/>
                </a:lnTo>
                <a:lnTo>
                  <a:pt x="122593" y="258584"/>
                </a:lnTo>
                <a:lnTo>
                  <a:pt x="116243" y="258584"/>
                </a:lnTo>
                <a:lnTo>
                  <a:pt x="122593" y="264934"/>
                </a:lnTo>
                <a:lnTo>
                  <a:pt x="313499" y="264934"/>
                </a:lnTo>
                <a:lnTo>
                  <a:pt x="313499" y="271284"/>
                </a:lnTo>
                <a:close/>
              </a:path>
              <a:path w="423545" h="271779">
                <a:moveTo>
                  <a:pt x="122593" y="142646"/>
                </a:moveTo>
                <a:lnTo>
                  <a:pt x="116243" y="142646"/>
                </a:lnTo>
                <a:lnTo>
                  <a:pt x="109893" y="136296"/>
                </a:lnTo>
                <a:lnTo>
                  <a:pt x="122593" y="136296"/>
                </a:lnTo>
                <a:lnTo>
                  <a:pt x="122593" y="142646"/>
                </a:lnTo>
                <a:close/>
              </a:path>
              <a:path w="423545" h="271779">
                <a:moveTo>
                  <a:pt x="313499" y="142646"/>
                </a:moveTo>
                <a:lnTo>
                  <a:pt x="307149" y="142646"/>
                </a:lnTo>
                <a:lnTo>
                  <a:pt x="313499" y="136296"/>
                </a:lnTo>
                <a:lnTo>
                  <a:pt x="313499" y="142646"/>
                </a:lnTo>
                <a:close/>
              </a:path>
              <a:path w="423545" h="271779">
                <a:moveTo>
                  <a:pt x="423379" y="142646"/>
                </a:moveTo>
                <a:lnTo>
                  <a:pt x="313499" y="142646"/>
                </a:lnTo>
                <a:lnTo>
                  <a:pt x="313499" y="136296"/>
                </a:lnTo>
                <a:lnTo>
                  <a:pt x="391243" y="136296"/>
                </a:lnTo>
                <a:lnTo>
                  <a:pt x="399046" y="141554"/>
                </a:lnTo>
                <a:lnTo>
                  <a:pt x="421759" y="141554"/>
                </a:lnTo>
                <a:lnTo>
                  <a:pt x="423379" y="142646"/>
                </a:lnTo>
                <a:close/>
              </a:path>
              <a:path w="423545" h="271779">
                <a:moveTo>
                  <a:pt x="122593" y="264934"/>
                </a:moveTo>
                <a:lnTo>
                  <a:pt x="116243" y="258584"/>
                </a:lnTo>
                <a:lnTo>
                  <a:pt x="122593" y="258584"/>
                </a:lnTo>
                <a:lnTo>
                  <a:pt x="122593" y="264934"/>
                </a:lnTo>
                <a:close/>
              </a:path>
              <a:path w="423545" h="271779">
                <a:moveTo>
                  <a:pt x="300799" y="264934"/>
                </a:moveTo>
                <a:lnTo>
                  <a:pt x="122593" y="264934"/>
                </a:lnTo>
                <a:lnTo>
                  <a:pt x="122593" y="258584"/>
                </a:lnTo>
                <a:lnTo>
                  <a:pt x="300799" y="258584"/>
                </a:lnTo>
                <a:lnTo>
                  <a:pt x="300799" y="264934"/>
                </a:lnTo>
                <a:close/>
              </a:path>
              <a:path w="423545" h="271779">
                <a:moveTo>
                  <a:pt x="313499" y="264934"/>
                </a:moveTo>
                <a:lnTo>
                  <a:pt x="300799" y="264934"/>
                </a:lnTo>
                <a:lnTo>
                  <a:pt x="307149" y="258584"/>
                </a:lnTo>
                <a:lnTo>
                  <a:pt x="313499" y="258584"/>
                </a:lnTo>
                <a:lnTo>
                  <a:pt x="313499" y="264934"/>
                </a:lnTo>
                <a:close/>
              </a:path>
            </a:pathLst>
          </a:custGeom>
          <a:solidFill>
            <a:srgbClr val="C00000"/>
          </a:solidFill>
        </p:spPr>
        <p:txBody>
          <a:bodyPr wrap="square" lIns="0" tIns="0" rIns="0" bIns="0" rtlCol="0"/>
          <a:lstStyle/>
          <a:p/>
        </p:txBody>
      </p:sp>
      <p:sp>
        <p:nvSpPr>
          <p:cNvPr id="68" name="object 68"/>
          <p:cNvSpPr/>
          <p:nvPr/>
        </p:nvSpPr>
        <p:spPr>
          <a:xfrm>
            <a:off x="7566659" y="5289803"/>
            <a:ext cx="269875" cy="363220"/>
          </a:xfrm>
          <a:custGeom>
            <a:avLst/>
            <a:gdLst/>
            <a:ahLst/>
            <a:cxnLst/>
            <a:rect l="l" t="t" r="r" b="b"/>
            <a:pathLst>
              <a:path w="269875" h="363220">
                <a:moveTo>
                  <a:pt x="135636" y="362712"/>
                </a:moveTo>
                <a:lnTo>
                  <a:pt x="135636" y="272796"/>
                </a:lnTo>
                <a:lnTo>
                  <a:pt x="0" y="272796"/>
                </a:lnTo>
                <a:lnTo>
                  <a:pt x="0" y="91440"/>
                </a:lnTo>
                <a:lnTo>
                  <a:pt x="135636" y="91440"/>
                </a:lnTo>
                <a:lnTo>
                  <a:pt x="135636" y="0"/>
                </a:lnTo>
                <a:lnTo>
                  <a:pt x="269748" y="181356"/>
                </a:lnTo>
                <a:lnTo>
                  <a:pt x="135636" y="362712"/>
                </a:lnTo>
                <a:close/>
              </a:path>
            </a:pathLst>
          </a:custGeom>
          <a:solidFill>
            <a:srgbClr val="D9D9D9"/>
          </a:solidFill>
        </p:spPr>
        <p:txBody>
          <a:bodyPr wrap="square" lIns="0" tIns="0" rIns="0" bIns="0" rtlCol="0"/>
          <a:lstStyle/>
          <a:p/>
        </p:txBody>
      </p:sp>
      <p:sp>
        <p:nvSpPr>
          <p:cNvPr id="69" name="object 69"/>
          <p:cNvSpPr/>
          <p:nvPr/>
        </p:nvSpPr>
        <p:spPr>
          <a:xfrm>
            <a:off x="7559929" y="5271350"/>
            <a:ext cx="285115" cy="401320"/>
          </a:xfrm>
          <a:custGeom>
            <a:avLst/>
            <a:gdLst/>
            <a:ahLst/>
            <a:cxnLst/>
            <a:rect l="l" t="t" r="r" b="b"/>
            <a:pathLst>
              <a:path w="285115" h="401320">
                <a:moveTo>
                  <a:pt x="135407" y="109804"/>
                </a:moveTo>
                <a:lnTo>
                  <a:pt x="135407" y="0"/>
                </a:lnTo>
                <a:lnTo>
                  <a:pt x="149677" y="19113"/>
                </a:lnTo>
                <a:lnTo>
                  <a:pt x="148107" y="19113"/>
                </a:lnTo>
                <a:lnTo>
                  <a:pt x="136664" y="22923"/>
                </a:lnTo>
                <a:lnTo>
                  <a:pt x="148107" y="38247"/>
                </a:lnTo>
                <a:lnTo>
                  <a:pt x="148107" y="103454"/>
                </a:lnTo>
                <a:lnTo>
                  <a:pt x="141757" y="103454"/>
                </a:lnTo>
                <a:lnTo>
                  <a:pt x="135407" y="109804"/>
                </a:lnTo>
                <a:close/>
              </a:path>
              <a:path w="285115" h="401320">
                <a:moveTo>
                  <a:pt x="148107" y="38247"/>
                </a:moveTo>
                <a:lnTo>
                  <a:pt x="136664" y="22923"/>
                </a:lnTo>
                <a:lnTo>
                  <a:pt x="148107" y="19113"/>
                </a:lnTo>
                <a:lnTo>
                  <a:pt x="148107" y="38247"/>
                </a:lnTo>
                <a:close/>
              </a:path>
              <a:path w="285115" h="401320">
                <a:moveTo>
                  <a:pt x="269244" y="200475"/>
                </a:moveTo>
                <a:lnTo>
                  <a:pt x="148107" y="38247"/>
                </a:lnTo>
                <a:lnTo>
                  <a:pt x="148107" y="19113"/>
                </a:lnTo>
                <a:lnTo>
                  <a:pt x="149677" y="19113"/>
                </a:lnTo>
                <a:lnTo>
                  <a:pt x="282245" y="196672"/>
                </a:lnTo>
                <a:lnTo>
                  <a:pt x="272084" y="196672"/>
                </a:lnTo>
                <a:lnTo>
                  <a:pt x="269244" y="200475"/>
                </a:lnTo>
                <a:close/>
              </a:path>
              <a:path w="285115" h="401320">
                <a:moveTo>
                  <a:pt x="135407" y="297510"/>
                </a:moveTo>
                <a:lnTo>
                  <a:pt x="0" y="297510"/>
                </a:lnTo>
                <a:lnTo>
                  <a:pt x="0" y="103454"/>
                </a:lnTo>
                <a:lnTo>
                  <a:pt x="135407" y="103454"/>
                </a:lnTo>
                <a:lnTo>
                  <a:pt x="135407" y="109804"/>
                </a:lnTo>
                <a:lnTo>
                  <a:pt x="12700" y="109804"/>
                </a:lnTo>
                <a:lnTo>
                  <a:pt x="6350" y="116154"/>
                </a:lnTo>
                <a:lnTo>
                  <a:pt x="12700" y="116154"/>
                </a:lnTo>
                <a:lnTo>
                  <a:pt x="12700" y="284810"/>
                </a:lnTo>
                <a:lnTo>
                  <a:pt x="6350" y="284810"/>
                </a:lnTo>
                <a:lnTo>
                  <a:pt x="12700" y="291160"/>
                </a:lnTo>
                <a:lnTo>
                  <a:pt x="135407" y="291160"/>
                </a:lnTo>
                <a:lnTo>
                  <a:pt x="135407" y="297510"/>
                </a:lnTo>
                <a:close/>
              </a:path>
              <a:path w="285115" h="401320">
                <a:moveTo>
                  <a:pt x="148107" y="116154"/>
                </a:moveTo>
                <a:lnTo>
                  <a:pt x="12700" y="116154"/>
                </a:lnTo>
                <a:lnTo>
                  <a:pt x="12700" y="109804"/>
                </a:lnTo>
                <a:lnTo>
                  <a:pt x="135407" y="109804"/>
                </a:lnTo>
                <a:lnTo>
                  <a:pt x="141757" y="103454"/>
                </a:lnTo>
                <a:lnTo>
                  <a:pt x="148107" y="103454"/>
                </a:lnTo>
                <a:lnTo>
                  <a:pt x="148107" y="116154"/>
                </a:lnTo>
                <a:close/>
              </a:path>
              <a:path w="285115" h="401320">
                <a:moveTo>
                  <a:pt x="12700" y="116154"/>
                </a:moveTo>
                <a:lnTo>
                  <a:pt x="6350" y="116154"/>
                </a:lnTo>
                <a:lnTo>
                  <a:pt x="12700" y="109804"/>
                </a:lnTo>
                <a:lnTo>
                  <a:pt x="12700" y="116154"/>
                </a:lnTo>
                <a:close/>
              </a:path>
              <a:path w="285115" h="401320">
                <a:moveTo>
                  <a:pt x="272084" y="204279"/>
                </a:moveTo>
                <a:lnTo>
                  <a:pt x="269244" y="200475"/>
                </a:lnTo>
                <a:lnTo>
                  <a:pt x="272084" y="196672"/>
                </a:lnTo>
                <a:lnTo>
                  <a:pt x="272084" y="204279"/>
                </a:lnTo>
                <a:close/>
              </a:path>
              <a:path w="285115" h="401320">
                <a:moveTo>
                  <a:pt x="282254" y="204279"/>
                </a:moveTo>
                <a:lnTo>
                  <a:pt x="272084" y="204279"/>
                </a:lnTo>
                <a:lnTo>
                  <a:pt x="272084" y="196672"/>
                </a:lnTo>
                <a:lnTo>
                  <a:pt x="282245" y="196672"/>
                </a:lnTo>
                <a:lnTo>
                  <a:pt x="285089" y="200482"/>
                </a:lnTo>
                <a:lnTo>
                  <a:pt x="282254" y="204279"/>
                </a:lnTo>
                <a:close/>
              </a:path>
              <a:path w="285115" h="401320">
                <a:moveTo>
                  <a:pt x="149678" y="381838"/>
                </a:moveTo>
                <a:lnTo>
                  <a:pt x="148107" y="381838"/>
                </a:lnTo>
                <a:lnTo>
                  <a:pt x="148107" y="362704"/>
                </a:lnTo>
                <a:lnTo>
                  <a:pt x="269244" y="200475"/>
                </a:lnTo>
                <a:lnTo>
                  <a:pt x="272084" y="204279"/>
                </a:lnTo>
                <a:lnTo>
                  <a:pt x="282254" y="204279"/>
                </a:lnTo>
                <a:lnTo>
                  <a:pt x="149678" y="381838"/>
                </a:lnTo>
                <a:close/>
              </a:path>
              <a:path w="285115" h="401320">
                <a:moveTo>
                  <a:pt x="12700" y="291160"/>
                </a:moveTo>
                <a:lnTo>
                  <a:pt x="6350" y="284810"/>
                </a:lnTo>
                <a:lnTo>
                  <a:pt x="12700" y="284810"/>
                </a:lnTo>
                <a:lnTo>
                  <a:pt x="12700" y="291160"/>
                </a:lnTo>
                <a:close/>
              </a:path>
              <a:path w="285115" h="401320">
                <a:moveTo>
                  <a:pt x="148107" y="297510"/>
                </a:moveTo>
                <a:lnTo>
                  <a:pt x="141757" y="297510"/>
                </a:lnTo>
                <a:lnTo>
                  <a:pt x="135407" y="291160"/>
                </a:lnTo>
                <a:lnTo>
                  <a:pt x="12700" y="291160"/>
                </a:lnTo>
                <a:lnTo>
                  <a:pt x="12700" y="284810"/>
                </a:lnTo>
                <a:lnTo>
                  <a:pt x="148107" y="284810"/>
                </a:lnTo>
                <a:lnTo>
                  <a:pt x="148107" y="297510"/>
                </a:lnTo>
                <a:close/>
              </a:path>
              <a:path w="285115" h="401320">
                <a:moveTo>
                  <a:pt x="135407" y="400951"/>
                </a:moveTo>
                <a:lnTo>
                  <a:pt x="135407" y="291160"/>
                </a:lnTo>
                <a:lnTo>
                  <a:pt x="141757" y="297510"/>
                </a:lnTo>
                <a:lnTo>
                  <a:pt x="148107" y="297510"/>
                </a:lnTo>
                <a:lnTo>
                  <a:pt x="148107" y="362704"/>
                </a:lnTo>
                <a:lnTo>
                  <a:pt x="136664" y="378028"/>
                </a:lnTo>
                <a:lnTo>
                  <a:pt x="148107" y="381838"/>
                </a:lnTo>
                <a:lnTo>
                  <a:pt x="149678" y="381838"/>
                </a:lnTo>
                <a:lnTo>
                  <a:pt x="135407" y="400951"/>
                </a:lnTo>
                <a:close/>
              </a:path>
              <a:path w="285115" h="401320">
                <a:moveTo>
                  <a:pt x="148107" y="381838"/>
                </a:moveTo>
                <a:lnTo>
                  <a:pt x="136664" y="378028"/>
                </a:lnTo>
                <a:lnTo>
                  <a:pt x="148107" y="362704"/>
                </a:lnTo>
                <a:lnTo>
                  <a:pt x="148107" y="381838"/>
                </a:lnTo>
                <a:close/>
              </a:path>
            </a:pathLst>
          </a:custGeom>
          <a:solidFill>
            <a:srgbClr val="C00000"/>
          </a:solidFill>
        </p:spPr>
        <p:txBody>
          <a:bodyPr wrap="square" lIns="0" tIns="0" rIns="0" bIns="0" rtlCol="0"/>
          <a:lstStyle/>
          <a:p/>
        </p:txBody>
      </p:sp>
      <p:sp>
        <p:nvSpPr>
          <p:cNvPr id="70" name="object 70"/>
          <p:cNvSpPr/>
          <p:nvPr/>
        </p:nvSpPr>
        <p:spPr>
          <a:xfrm>
            <a:off x="9128759" y="2464307"/>
            <a:ext cx="271780" cy="363220"/>
          </a:xfrm>
          <a:custGeom>
            <a:avLst/>
            <a:gdLst/>
            <a:ahLst/>
            <a:cxnLst/>
            <a:rect l="l" t="t" r="r" b="b"/>
            <a:pathLst>
              <a:path w="271779" h="363219">
                <a:moveTo>
                  <a:pt x="135636" y="362712"/>
                </a:moveTo>
                <a:lnTo>
                  <a:pt x="135636" y="272796"/>
                </a:lnTo>
                <a:lnTo>
                  <a:pt x="0" y="272796"/>
                </a:lnTo>
                <a:lnTo>
                  <a:pt x="0" y="91440"/>
                </a:lnTo>
                <a:lnTo>
                  <a:pt x="135636" y="91440"/>
                </a:lnTo>
                <a:lnTo>
                  <a:pt x="135636" y="0"/>
                </a:lnTo>
                <a:lnTo>
                  <a:pt x="271272" y="181356"/>
                </a:lnTo>
                <a:lnTo>
                  <a:pt x="135636" y="362712"/>
                </a:lnTo>
                <a:close/>
              </a:path>
            </a:pathLst>
          </a:custGeom>
          <a:solidFill>
            <a:srgbClr val="D9D9D9"/>
          </a:solidFill>
        </p:spPr>
        <p:txBody>
          <a:bodyPr wrap="square" lIns="0" tIns="0" rIns="0" bIns="0" rtlCol="0"/>
          <a:lstStyle/>
          <a:p/>
        </p:txBody>
      </p:sp>
      <p:sp>
        <p:nvSpPr>
          <p:cNvPr id="71" name="object 71"/>
          <p:cNvSpPr/>
          <p:nvPr/>
        </p:nvSpPr>
        <p:spPr>
          <a:xfrm>
            <a:off x="9122143" y="2445283"/>
            <a:ext cx="285115" cy="401320"/>
          </a:xfrm>
          <a:custGeom>
            <a:avLst/>
            <a:gdLst/>
            <a:ahLst/>
            <a:cxnLst/>
            <a:rect l="l" t="t" r="r" b="b"/>
            <a:pathLst>
              <a:path w="285115" h="401319">
                <a:moveTo>
                  <a:pt x="135407" y="109791"/>
                </a:moveTo>
                <a:lnTo>
                  <a:pt x="135407" y="0"/>
                </a:lnTo>
                <a:lnTo>
                  <a:pt x="149678" y="19113"/>
                </a:lnTo>
                <a:lnTo>
                  <a:pt x="148107" y="19113"/>
                </a:lnTo>
                <a:lnTo>
                  <a:pt x="136664" y="22910"/>
                </a:lnTo>
                <a:lnTo>
                  <a:pt x="148107" y="38234"/>
                </a:lnTo>
                <a:lnTo>
                  <a:pt x="148107" y="103441"/>
                </a:lnTo>
                <a:lnTo>
                  <a:pt x="141757" y="103441"/>
                </a:lnTo>
                <a:lnTo>
                  <a:pt x="135407" y="109791"/>
                </a:lnTo>
                <a:close/>
              </a:path>
              <a:path w="285115" h="401319">
                <a:moveTo>
                  <a:pt x="148107" y="38234"/>
                </a:moveTo>
                <a:lnTo>
                  <a:pt x="136664" y="22910"/>
                </a:lnTo>
                <a:lnTo>
                  <a:pt x="148107" y="19113"/>
                </a:lnTo>
                <a:lnTo>
                  <a:pt x="148107" y="38234"/>
                </a:lnTo>
                <a:close/>
              </a:path>
              <a:path w="285115" h="401319">
                <a:moveTo>
                  <a:pt x="269249" y="200469"/>
                </a:moveTo>
                <a:lnTo>
                  <a:pt x="148107" y="38234"/>
                </a:lnTo>
                <a:lnTo>
                  <a:pt x="148107" y="19113"/>
                </a:lnTo>
                <a:lnTo>
                  <a:pt x="149678" y="19113"/>
                </a:lnTo>
                <a:lnTo>
                  <a:pt x="282254" y="196672"/>
                </a:lnTo>
                <a:lnTo>
                  <a:pt x="272084" y="196672"/>
                </a:lnTo>
                <a:lnTo>
                  <a:pt x="269249" y="200469"/>
                </a:lnTo>
                <a:close/>
              </a:path>
              <a:path w="285115" h="401319">
                <a:moveTo>
                  <a:pt x="135407" y="297497"/>
                </a:moveTo>
                <a:lnTo>
                  <a:pt x="0" y="297497"/>
                </a:lnTo>
                <a:lnTo>
                  <a:pt x="0" y="103441"/>
                </a:lnTo>
                <a:lnTo>
                  <a:pt x="135407" y="103441"/>
                </a:lnTo>
                <a:lnTo>
                  <a:pt x="135407" y="109791"/>
                </a:lnTo>
                <a:lnTo>
                  <a:pt x="12700" y="109791"/>
                </a:lnTo>
                <a:lnTo>
                  <a:pt x="6350" y="116141"/>
                </a:lnTo>
                <a:lnTo>
                  <a:pt x="12700" y="116141"/>
                </a:lnTo>
                <a:lnTo>
                  <a:pt x="12700" y="284797"/>
                </a:lnTo>
                <a:lnTo>
                  <a:pt x="6350" y="284797"/>
                </a:lnTo>
                <a:lnTo>
                  <a:pt x="12700" y="291147"/>
                </a:lnTo>
                <a:lnTo>
                  <a:pt x="135407" y="291147"/>
                </a:lnTo>
                <a:lnTo>
                  <a:pt x="135407" y="297497"/>
                </a:lnTo>
                <a:close/>
              </a:path>
              <a:path w="285115" h="401319">
                <a:moveTo>
                  <a:pt x="148107" y="116141"/>
                </a:moveTo>
                <a:lnTo>
                  <a:pt x="12700" y="116141"/>
                </a:lnTo>
                <a:lnTo>
                  <a:pt x="12700" y="109791"/>
                </a:lnTo>
                <a:lnTo>
                  <a:pt x="135407" y="109791"/>
                </a:lnTo>
                <a:lnTo>
                  <a:pt x="141757" y="103441"/>
                </a:lnTo>
                <a:lnTo>
                  <a:pt x="148107" y="103441"/>
                </a:lnTo>
                <a:lnTo>
                  <a:pt x="148107" y="116141"/>
                </a:lnTo>
                <a:close/>
              </a:path>
              <a:path w="285115" h="401319">
                <a:moveTo>
                  <a:pt x="12700" y="116141"/>
                </a:moveTo>
                <a:lnTo>
                  <a:pt x="6350" y="116141"/>
                </a:lnTo>
                <a:lnTo>
                  <a:pt x="12700" y="109791"/>
                </a:lnTo>
                <a:lnTo>
                  <a:pt x="12700" y="116141"/>
                </a:lnTo>
                <a:close/>
              </a:path>
              <a:path w="285115" h="401319">
                <a:moveTo>
                  <a:pt x="272084" y="204266"/>
                </a:moveTo>
                <a:lnTo>
                  <a:pt x="269249" y="200469"/>
                </a:lnTo>
                <a:lnTo>
                  <a:pt x="272084" y="196672"/>
                </a:lnTo>
                <a:lnTo>
                  <a:pt x="272084" y="204266"/>
                </a:lnTo>
                <a:close/>
              </a:path>
              <a:path w="285115" h="401319">
                <a:moveTo>
                  <a:pt x="282254" y="204266"/>
                </a:moveTo>
                <a:lnTo>
                  <a:pt x="272084" y="204266"/>
                </a:lnTo>
                <a:lnTo>
                  <a:pt x="272084" y="196672"/>
                </a:lnTo>
                <a:lnTo>
                  <a:pt x="282254" y="196672"/>
                </a:lnTo>
                <a:lnTo>
                  <a:pt x="285089" y="200469"/>
                </a:lnTo>
                <a:lnTo>
                  <a:pt x="282254" y="204266"/>
                </a:lnTo>
                <a:close/>
              </a:path>
              <a:path w="285115" h="401319">
                <a:moveTo>
                  <a:pt x="149687" y="381825"/>
                </a:moveTo>
                <a:lnTo>
                  <a:pt x="148107" y="381825"/>
                </a:lnTo>
                <a:lnTo>
                  <a:pt x="148107" y="362704"/>
                </a:lnTo>
                <a:lnTo>
                  <a:pt x="269249" y="200469"/>
                </a:lnTo>
                <a:lnTo>
                  <a:pt x="272084" y="204266"/>
                </a:lnTo>
                <a:lnTo>
                  <a:pt x="282254" y="204266"/>
                </a:lnTo>
                <a:lnTo>
                  <a:pt x="149687" y="381825"/>
                </a:lnTo>
                <a:close/>
              </a:path>
              <a:path w="285115" h="401319">
                <a:moveTo>
                  <a:pt x="12700" y="291147"/>
                </a:moveTo>
                <a:lnTo>
                  <a:pt x="6350" y="284797"/>
                </a:lnTo>
                <a:lnTo>
                  <a:pt x="12700" y="284797"/>
                </a:lnTo>
                <a:lnTo>
                  <a:pt x="12700" y="291147"/>
                </a:lnTo>
                <a:close/>
              </a:path>
              <a:path w="285115" h="401319">
                <a:moveTo>
                  <a:pt x="148107" y="297497"/>
                </a:moveTo>
                <a:lnTo>
                  <a:pt x="141757" y="297497"/>
                </a:lnTo>
                <a:lnTo>
                  <a:pt x="135407" y="291147"/>
                </a:lnTo>
                <a:lnTo>
                  <a:pt x="12700" y="291147"/>
                </a:lnTo>
                <a:lnTo>
                  <a:pt x="12700" y="284797"/>
                </a:lnTo>
                <a:lnTo>
                  <a:pt x="148107" y="284797"/>
                </a:lnTo>
                <a:lnTo>
                  <a:pt x="148107" y="297497"/>
                </a:lnTo>
                <a:close/>
              </a:path>
              <a:path w="285115" h="401319">
                <a:moveTo>
                  <a:pt x="135407" y="400951"/>
                </a:moveTo>
                <a:lnTo>
                  <a:pt x="135407" y="291147"/>
                </a:lnTo>
                <a:lnTo>
                  <a:pt x="141757" y="297497"/>
                </a:lnTo>
                <a:lnTo>
                  <a:pt x="148107" y="297497"/>
                </a:lnTo>
                <a:lnTo>
                  <a:pt x="148107" y="362704"/>
                </a:lnTo>
                <a:lnTo>
                  <a:pt x="136664" y="378028"/>
                </a:lnTo>
                <a:lnTo>
                  <a:pt x="148107" y="381825"/>
                </a:lnTo>
                <a:lnTo>
                  <a:pt x="149687" y="381825"/>
                </a:lnTo>
                <a:lnTo>
                  <a:pt x="135407" y="400951"/>
                </a:lnTo>
                <a:close/>
              </a:path>
              <a:path w="285115" h="401319">
                <a:moveTo>
                  <a:pt x="148107" y="381825"/>
                </a:moveTo>
                <a:lnTo>
                  <a:pt x="136664" y="378028"/>
                </a:lnTo>
                <a:lnTo>
                  <a:pt x="148107" y="362704"/>
                </a:lnTo>
                <a:lnTo>
                  <a:pt x="148107" y="381825"/>
                </a:lnTo>
                <a:close/>
              </a:path>
            </a:pathLst>
          </a:custGeom>
          <a:solidFill>
            <a:srgbClr val="C00000"/>
          </a:solidFill>
        </p:spPr>
        <p:txBody>
          <a:bodyPr wrap="square" lIns="0" tIns="0" rIns="0" bIns="0" rtlCol="0"/>
          <a:lstStyle/>
          <a:p/>
        </p:txBody>
      </p:sp>
      <p:sp>
        <p:nvSpPr>
          <p:cNvPr id="72" name="object 72"/>
          <p:cNvSpPr txBox="1"/>
          <p:nvPr/>
        </p:nvSpPr>
        <p:spPr>
          <a:xfrm>
            <a:off x="2634475" y="1372235"/>
            <a:ext cx="837565" cy="268605"/>
          </a:xfrm>
          <a:prstGeom prst="rect">
            <a:avLst/>
          </a:prstGeom>
        </p:spPr>
        <p:txBody>
          <a:bodyPr vert="horz" wrap="square" lIns="0" tIns="12065" rIns="0" bIns="0" rtlCol="0">
            <a:spAutoFit/>
          </a:bodyPr>
          <a:lstStyle/>
          <a:p>
            <a:pPr marL="12700">
              <a:lnSpc>
                <a:spcPct val="100000"/>
              </a:lnSpc>
              <a:spcBef>
                <a:spcPts val="95"/>
              </a:spcBef>
            </a:pPr>
            <a:r>
              <a:rPr sz="1600" b="1" dirty="0">
                <a:solidFill>
                  <a:srgbClr val="C00000"/>
                </a:solidFill>
                <a:latin typeface="微软雅黑" panose="020B0503020204020204" charset="-122"/>
                <a:cs typeface="微软雅黑" panose="020B0503020204020204" charset="-122"/>
              </a:rPr>
              <a:t>环境配</a:t>
            </a:r>
            <a:r>
              <a:rPr sz="1600" b="1" spc="-5" dirty="0">
                <a:solidFill>
                  <a:srgbClr val="C00000"/>
                </a:solidFill>
                <a:latin typeface="微软雅黑" panose="020B0503020204020204" charset="-122"/>
                <a:cs typeface="微软雅黑" panose="020B0503020204020204" charset="-122"/>
              </a:rPr>
              <a:t>置</a:t>
            </a:r>
            <a:endParaRPr sz="1600">
              <a:latin typeface="微软雅黑" panose="020B0503020204020204" charset="-122"/>
              <a:cs typeface="微软雅黑" panose="020B0503020204020204" charset="-122"/>
            </a:endParaRPr>
          </a:p>
        </p:txBody>
      </p:sp>
      <p:sp>
        <p:nvSpPr>
          <p:cNvPr id="73" name="object 73"/>
          <p:cNvSpPr txBox="1"/>
          <p:nvPr/>
        </p:nvSpPr>
        <p:spPr>
          <a:xfrm>
            <a:off x="7981581" y="1399171"/>
            <a:ext cx="837565" cy="268605"/>
          </a:xfrm>
          <a:prstGeom prst="rect">
            <a:avLst/>
          </a:prstGeom>
        </p:spPr>
        <p:txBody>
          <a:bodyPr vert="horz" wrap="square" lIns="0" tIns="12065" rIns="0" bIns="0" rtlCol="0">
            <a:spAutoFit/>
          </a:bodyPr>
          <a:lstStyle/>
          <a:p>
            <a:pPr marL="12700">
              <a:lnSpc>
                <a:spcPct val="100000"/>
              </a:lnSpc>
              <a:spcBef>
                <a:spcPts val="95"/>
              </a:spcBef>
            </a:pPr>
            <a:r>
              <a:rPr sz="1600" b="1" dirty="0">
                <a:solidFill>
                  <a:srgbClr val="C00000"/>
                </a:solidFill>
                <a:latin typeface="微软雅黑" panose="020B0503020204020204" charset="-122"/>
                <a:cs typeface="微软雅黑" panose="020B0503020204020204" charset="-122"/>
              </a:rPr>
              <a:t>执行步</a:t>
            </a:r>
            <a:r>
              <a:rPr sz="1600" b="1" spc="-5" dirty="0">
                <a:solidFill>
                  <a:srgbClr val="C00000"/>
                </a:solidFill>
                <a:latin typeface="微软雅黑" panose="020B0503020204020204" charset="-122"/>
                <a:cs typeface="微软雅黑" panose="020B0503020204020204" charset="-122"/>
              </a:rPr>
              <a:t>骤</a:t>
            </a:r>
            <a:endParaRPr sz="1600">
              <a:latin typeface="微软雅黑" panose="020B0503020204020204" charset="-122"/>
              <a:cs typeface="微软雅黑" panose="020B0503020204020204" charset="-122"/>
            </a:endParaRPr>
          </a:p>
        </p:txBody>
      </p:sp>
      <p:sp>
        <p:nvSpPr>
          <p:cNvPr id="74" name="object 74"/>
          <p:cNvSpPr/>
          <p:nvPr/>
        </p:nvSpPr>
        <p:spPr>
          <a:xfrm>
            <a:off x="2753867" y="4899659"/>
            <a:ext cx="1007744" cy="935990"/>
          </a:xfrm>
          <a:custGeom>
            <a:avLst/>
            <a:gdLst/>
            <a:ahLst/>
            <a:cxnLst/>
            <a:rect l="l" t="t" r="r" b="b"/>
            <a:pathLst>
              <a:path w="1007745" h="935989">
                <a:moveTo>
                  <a:pt x="0" y="0"/>
                </a:moveTo>
                <a:lnTo>
                  <a:pt x="1007363" y="0"/>
                </a:lnTo>
                <a:lnTo>
                  <a:pt x="1007363" y="935736"/>
                </a:lnTo>
                <a:lnTo>
                  <a:pt x="0" y="935736"/>
                </a:lnTo>
                <a:lnTo>
                  <a:pt x="0" y="0"/>
                </a:lnTo>
                <a:close/>
              </a:path>
            </a:pathLst>
          </a:custGeom>
          <a:solidFill>
            <a:srgbClr val="D9D9D9"/>
          </a:solidFill>
        </p:spPr>
        <p:txBody>
          <a:bodyPr wrap="square" lIns="0" tIns="0" rIns="0" bIns="0" rtlCol="0"/>
          <a:lstStyle/>
          <a:p/>
        </p:txBody>
      </p:sp>
      <p:sp>
        <p:nvSpPr>
          <p:cNvPr id="75" name="object 75"/>
          <p:cNvSpPr/>
          <p:nvPr/>
        </p:nvSpPr>
        <p:spPr>
          <a:xfrm>
            <a:off x="2747225" y="4893906"/>
            <a:ext cx="1020444" cy="948055"/>
          </a:xfrm>
          <a:custGeom>
            <a:avLst/>
            <a:gdLst/>
            <a:ahLst/>
            <a:cxnLst/>
            <a:rect l="l" t="t" r="r" b="b"/>
            <a:pathLst>
              <a:path w="1020445" h="948054">
                <a:moveTo>
                  <a:pt x="1019987" y="947839"/>
                </a:moveTo>
                <a:lnTo>
                  <a:pt x="0" y="947839"/>
                </a:lnTo>
                <a:lnTo>
                  <a:pt x="0" y="0"/>
                </a:lnTo>
                <a:lnTo>
                  <a:pt x="1019987" y="0"/>
                </a:lnTo>
                <a:lnTo>
                  <a:pt x="1019987" y="6350"/>
                </a:lnTo>
                <a:lnTo>
                  <a:pt x="12700" y="6350"/>
                </a:lnTo>
                <a:lnTo>
                  <a:pt x="6350" y="12700"/>
                </a:lnTo>
                <a:lnTo>
                  <a:pt x="12700" y="12700"/>
                </a:lnTo>
                <a:lnTo>
                  <a:pt x="12700" y="935139"/>
                </a:lnTo>
                <a:lnTo>
                  <a:pt x="6350" y="935139"/>
                </a:lnTo>
                <a:lnTo>
                  <a:pt x="12700" y="941489"/>
                </a:lnTo>
                <a:lnTo>
                  <a:pt x="1019987" y="941489"/>
                </a:lnTo>
                <a:lnTo>
                  <a:pt x="1019987" y="947839"/>
                </a:lnTo>
                <a:close/>
              </a:path>
              <a:path w="1020445" h="948054">
                <a:moveTo>
                  <a:pt x="12700" y="12700"/>
                </a:moveTo>
                <a:lnTo>
                  <a:pt x="6350" y="12700"/>
                </a:lnTo>
                <a:lnTo>
                  <a:pt x="12700" y="6350"/>
                </a:lnTo>
                <a:lnTo>
                  <a:pt x="12700" y="12700"/>
                </a:lnTo>
                <a:close/>
              </a:path>
              <a:path w="1020445" h="948054">
                <a:moveTo>
                  <a:pt x="1007287" y="12700"/>
                </a:moveTo>
                <a:lnTo>
                  <a:pt x="12700" y="12700"/>
                </a:lnTo>
                <a:lnTo>
                  <a:pt x="12700" y="6350"/>
                </a:lnTo>
                <a:lnTo>
                  <a:pt x="1007287" y="6350"/>
                </a:lnTo>
                <a:lnTo>
                  <a:pt x="1007287" y="12700"/>
                </a:lnTo>
                <a:close/>
              </a:path>
              <a:path w="1020445" h="948054">
                <a:moveTo>
                  <a:pt x="1007287" y="941489"/>
                </a:moveTo>
                <a:lnTo>
                  <a:pt x="1007287" y="6350"/>
                </a:lnTo>
                <a:lnTo>
                  <a:pt x="1013637" y="12700"/>
                </a:lnTo>
                <a:lnTo>
                  <a:pt x="1019987" y="12700"/>
                </a:lnTo>
                <a:lnTo>
                  <a:pt x="1019987" y="935139"/>
                </a:lnTo>
                <a:lnTo>
                  <a:pt x="1013637" y="935139"/>
                </a:lnTo>
                <a:lnTo>
                  <a:pt x="1007287" y="941489"/>
                </a:lnTo>
                <a:close/>
              </a:path>
              <a:path w="1020445" h="948054">
                <a:moveTo>
                  <a:pt x="1019987" y="12700"/>
                </a:moveTo>
                <a:lnTo>
                  <a:pt x="1013637" y="12700"/>
                </a:lnTo>
                <a:lnTo>
                  <a:pt x="1007287" y="6350"/>
                </a:lnTo>
                <a:lnTo>
                  <a:pt x="1019987" y="6350"/>
                </a:lnTo>
                <a:lnTo>
                  <a:pt x="1019987" y="12700"/>
                </a:lnTo>
                <a:close/>
              </a:path>
              <a:path w="1020445" h="948054">
                <a:moveTo>
                  <a:pt x="12700" y="941489"/>
                </a:moveTo>
                <a:lnTo>
                  <a:pt x="6350" y="935139"/>
                </a:lnTo>
                <a:lnTo>
                  <a:pt x="12700" y="935139"/>
                </a:lnTo>
                <a:lnTo>
                  <a:pt x="12700" y="941489"/>
                </a:lnTo>
                <a:close/>
              </a:path>
              <a:path w="1020445" h="948054">
                <a:moveTo>
                  <a:pt x="1007287" y="941489"/>
                </a:moveTo>
                <a:lnTo>
                  <a:pt x="12700" y="941489"/>
                </a:lnTo>
                <a:lnTo>
                  <a:pt x="12700" y="935139"/>
                </a:lnTo>
                <a:lnTo>
                  <a:pt x="1007287" y="935139"/>
                </a:lnTo>
                <a:lnTo>
                  <a:pt x="1007287" y="941489"/>
                </a:lnTo>
                <a:close/>
              </a:path>
              <a:path w="1020445" h="948054">
                <a:moveTo>
                  <a:pt x="1019987" y="941489"/>
                </a:moveTo>
                <a:lnTo>
                  <a:pt x="1007287" y="941489"/>
                </a:lnTo>
                <a:lnTo>
                  <a:pt x="1013637" y="935139"/>
                </a:lnTo>
                <a:lnTo>
                  <a:pt x="1019987" y="935139"/>
                </a:lnTo>
                <a:lnTo>
                  <a:pt x="1019987" y="941489"/>
                </a:lnTo>
                <a:close/>
              </a:path>
            </a:pathLst>
          </a:custGeom>
          <a:solidFill>
            <a:srgbClr val="C00000"/>
          </a:solidFill>
        </p:spPr>
        <p:txBody>
          <a:bodyPr wrap="square" lIns="0" tIns="0" rIns="0" bIns="0" rtlCol="0"/>
          <a:lstStyle/>
          <a:p/>
        </p:txBody>
      </p:sp>
      <p:sp>
        <p:nvSpPr>
          <p:cNvPr id="76" name="object 76"/>
          <p:cNvSpPr txBox="1"/>
          <p:nvPr/>
        </p:nvSpPr>
        <p:spPr>
          <a:xfrm>
            <a:off x="2753867" y="5129491"/>
            <a:ext cx="1007744" cy="453390"/>
          </a:xfrm>
          <a:prstGeom prst="rect">
            <a:avLst/>
          </a:prstGeom>
        </p:spPr>
        <p:txBody>
          <a:bodyPr vert="horz" wrap="square" lIns="0" tIns="13335" rIns="0" bIns="0" rtlCol="0">
            <a:spAutoFit/>
          </a:bodyPr>
          <a:lstStyle/>
          <a:p>
            <a:pPr marL="194945">
              <a:lnSpc>
                <a:spcPct val="100000"/>
              </a:lnSpc>
              <a:spcBef>
                <a:spcPts val="105"/>
              </a:spcBef>
            </a:pPr>
            <a:r>
              <a:rPr sz="1400" b="1" spc="-5" dirty="0">
                <a:solidFill>
                  <a:srgbClr val="C00000"/>
                </a:solidFill>
                <a:latin typeface="微软雅黑" panose="020B0503020204020204" charset="-122"/>
                <a:cs typeface="微软雅黑" panose="020B0503020204020204" charset="-122"/>
              </a:rPr>
              <a:t>RISC-V</a:t>
            </a:r>
            <a:endParaRPr sz="1400">
              <a:latin typeface="微软雅黑" panose="020B0503020204020204" charset="-122"/>
              <a:cs typeface="微软雅黑" panose="020B0503020204020204" charset="-122"/>
            </a:endParaRPr>
          </a:p>
          <a:p>
            <a:pPr marL="236220">
              <a:lnSpc>
                <a:spcPct val="100000"/>
              </a:lnSpc>
            </a:pPr>
            <a:r>
              <a:rPr sz="1400" b="1" dirty="0">
                <a:solidFill>
                  <a:srgbClr val="C00000"/>
                </a:solidFill>
                <a:latin typeface="微软雅黑" panose="020B0503020204020204" charset="-122"/>
                <a:cs typeface="微软雅黑" panose="020B0503020204020204" charset="-122"/>
              </a:rPr>
              <a:t>工具</a:t>
            </a:r>
            <a:r>
              <a:rPr sz="1400" b="1" spc="5" dirty="0">
                <a:solidFill>
                  <a:srgbClr val="C00000"/>
                </a:solidFill>
                <a:latin typeface="微软雅黑" panose="020B0503020204020204" charset="-122"/>
                <a:cs typeface="微软雅黑" panose="020B0503020204020204" charset="-122"/>
              </a:rPr>
              <a:t>链</a:t>
            </a:r>
            <a:endParaRPr sz="1400">
              <a:latin typeface="微软雅黑" panose="020B0503020204020204" charset="-122"/>
              <a:cs typeface="微软雅黑" panose="020B0503020204020204" charset="-122"/>
            </a:endParaRPr>
          </a:p>
        </p:txBody>
      </p:sp>
      <p:sp>
        <p:nvSpPr>
          <p:cNvPr id="77" name="object 77"/>
          <p:cNvSpPr/>
          <p:nvPr/>
        </p:nvSpPr>
        <p:spPr>
          <a:xfrm>
            <a:off x="1310639" y="2177795"/>
            <a:ext cx="1007744" cy="935990"/>
          </a:xfrm>
          <a:custGeom>
            <a:avLst/>
            <a:gdLst/>
            <a:ahLst/>
            <a:cxnLst/>
            <a:rect l="l" t="t" r="r" b="b"/>
            <a:pathLst>
              <a:path w="1007744" h="935989">
                <a:moveTo>
                  <a:pt x="0" y="0"/>
                </a:moveTo>
                <a:lnTo>
                  <a:pt x="1007363" y="0"/>
                </a:lnTo>
                <a:lnTo>
                  <a:pt x="1007363" y="935735"/>
                </a:lnTo>
                <a:lnTo>
                  <a:pt x="0" y="935735"/>
                </a:lnTo>
                <a:lnTo>
                  <a:pt x="0" y="0"/>
                </a:lnTo>
                <a:close/>
              </a:path>
            </a:pathLst>
          </a:custGeom>
          <a:solidFill>
            <a:srgbClr val="D9D9D9"/>
          </a:solidFill>
        </p:spPr>
        <p:txBody>
          <a:bodyPr wrap="square" lIns="0" tIns="0" rIns="0" bIns="0" rtlCol="0"/>
          <a:lstStyle/>
          <a:p/>
        </p:txBody>
      </p:sp>
      <p:sp>
        <p:nvSpPr>
          <p:cNvPr id="78" name="object 78"/>
          <p:cNvSpPr/>
          <p:nvPr/>
        </p:nvSpPr>
        <p:spPr>
          <a:xfrm>
            <a:off x="1303832" y="2172119"/>
            <a:ext cx="1020444" cy="948055"/>
          </a:xfrm>
          <a:custGeom>
            <a:avLst/>
            <a:gdLst/>
            <a:ahLst/>
            <a:cxnLst/>
            <a:rect l="l" t="t" r="r" b="b"/>
            <a:pathLst>
              <a:path w="1020444" h="948055">
                <a:moveTo>
                  <a:pt x="1020000" y="947851"/>
                </a:moveTo>
                <a:lnTo>
                  <a:pt x="0" y="947851"/>
                </a:lnTo>
                <a:lnTo>
                  <a:pt x="0" y="0"/>
                </a:lnTo>
                <a:lnTo>
                  <a:pt x="1020000" y="0"/>
                </a:lnTo>
                <a:lnTo>
                  <a:pt x="1020000" y="6349"/>
                </a:lnTo>
                <a:lnTo>
                  <a:pt x="12700" y="6349"/>
                </a:lnTo>
                <a:lnTo>
                  <a:pt x="6350" y="12699"/>
                </a:lnTo>
                <a:lnTo>
                  <a:pt x="12700" y="12699"/>
                </a:lnTo>
                <a:lnTo>
                  <a:pt x="12700" y="935151"/>
                </a:lnTo>
                <a:lnTo>
                  <a:pt x="6350" y="935151"/>
                </a:lnTo>
                <a:lnTo>
                  <a:pt x="12700" y="941501"/>
                </a:lnTo>
                <a:lnTo>
                  <a:pt x="1020000" y="941501"/>
                </a:lnTo>
                <a:lnTo>
                  <a:pt x="1020000" y="947851"/>
                </a:lnTo>
                <a:close/>
              </a:path>
              <a:path w="1020444" h="948055">
                <a:moveTo>
                  <a:pt x="12700" y="12699"/>
                </a:moveTo>
                <a:lnTo>
                  <a:pt x="6350" y="12699"/>
                </a:lnTo>
                <a:lnTo>
                  <a:pt x="12700" y="6349"/>
                </a:lnTo>
                <a:lnTo>
                  <a:pt x="12700" y="12699"/>
                </a:lnTo>
                <a:close/>
              </a:path>
              <a:path w="1020444" h="948055">
                <a:moveTo>
                  <a:pt x="1007300" y="12699"/>
                </a:moveTo>
                <a:lnTo>
                  <a:pt x="12700" y="12699"/>
                </a:lnTo>
                <a:lnTo>
                  <a:pt x="12700" y="6349"/>
                </a:lnTo>
                <a:lnTo>
                  <a:pt x="1007300" y="6349"/>
                </a:lnTo>
                <a:lnTo>
                  <a:pt x="1007300" y="12699"/>
                </a:lnTo>
                <a:close/>
              </a:path>
              <a:path w="1020444" h="948055">
                <a:moveTo>
                  <a:pt x="1007300" y="941501"/>
                </a:moveTo>
                <a:lnTo>
                  <a:pt x="1007300" y="6349"/>
                </a:lnTo>
                <a:lnTo>
                  <a:pt x="1013650" y="12699"/>
                </a:lnTo>
                <a:lnTo>
                  <a:pt x="1020000" y="12699"/>
                </a:lnTo>
                <a:lnTo>
                  <a:pt x="1020000" y="935151"/>
                </a:lnTo>
                <a:lnTo>
                  <a:pt x="1013650" y="935151"/>
                </a:lnTo>
                <a:lnTo>
                  <a:pt x="1007300" y="941501"/>
                </a:lnTo>
                <a:close/>
              </a:path>
              <a:path w="1020444" h="948055">
                <a:moveTo>
                  <a:pt x="1020000" y="12699"/>
                </a:moveTo>
                <a:lnTo>
                  <a:pt x="1013650" y="12699"/>
                </a:lnTo>
                <a:lnTo>
                  <a:pt x="1007300" y="6349"/>
                </a:lnTo>
                <a:lnTo>
                  <a:pt x="1020000" y="6349"/>
                </a:lnTo>
                <a:lnTo>
                  <a:pt x="1020000" y="12699"/>
                </a:lnTo>
                <a:close/>
              </a:path>
              <a:path w="1020444" h="948055">
                <a:moveTo>
                  <a:pt x="12700" y="941501"/>
                </a:moveTo>
                <a:lnTo>
                  <a:pt x="6350" y="935151"/>
                </a:lnTo>
                <a:lnTo>
                  <a:pt x="12700" y="935151"/>
                </a:lnTo>
                <a:lnTo>
                  <a:pt x="12700" y="941501"/>
                </a:lnTo>
                <a:close/>
              </a:path>
              <a:path w="1020444" h="948055">
                <a:moveTo>
                  <a:pt x="1007300" y="941501"/>
                </a:moveTo>
                <a:lnTo>
                  <a:pt x="12700" y="941501"/>
                </a:lnTo>
                <a:lnTo>
                  <a:pt x="12700" y="935151"/>
                </a:lnTo>
                <a:lnTo>
                  <a:pt x="1007300" y="935151"/>
                </a:lnTo>
                <a:lnTo>
                  <a:pt x="1007300" y="941501"/>
                </a:lnTo>
                <a:close/>
              </a:path>
              <a:path w="1020444" h="948055">
                <a:moveTo>
                  <a:pt x="1020000" y="941501"/>
                </a:moveTo>
                <a:lnTo>
                  <a:pt x="1007300" y="941501"/>
                </a:lnTo>
                <a:lnTo>
                  <a:pt x="1013650" y="935151"/>
                </a:lnTo>
                <a:lnTo>
                  <a:pt x="1020000" y="935151"/>
                </a:lnTo>
                <a:lnTo>
                  <a:pt x="1020000" y="941501"/>
                </a:lnTo>
                <a:close/>
              </a:path>
            </a:pathLst>
          </a:custGeom>
          <a:solidFill>
            <a:srgbClr val="C00000"/>
          </a:solidFill>
        </p:spPr>
        <p:txBody>
          <a:bodyPr wrap="square" lIns="0" tIns="0" rIns="0" bIns="0" rtlCol="0"/>
          <a:lstStyle/>
          <a:p/>
        </p:txBody>
      </p:sp>
      <p:sp>
        <p:nvSpPr>
          <p:cNvPr id="79" name="object 79"/>
          <p:cNvSpPr txBox="1"/>
          <p:nvPr/>
        </p:nvSpPr>
        <p:spPr>
          <a:xfrm>
            <a:off x="1310639" y="2301024"/>
            <a:ext cx="1007744" cy="666750"/>
          </a:xfrm>
          <a:prstGeom prst="rect">
            <a:avLst/>
          </a:prstGeom>
        </p:spPr>
        <p:txBody>
          <a:bodyPr vert="horz" wrap="square" lIns="0" tIns="13335" rIns="0" bIns="0" rtlCol="0">
            <a:spAutoFit/>
          </a:bodyPr>
          <a:lstStyle/>
          <a:p>
            <a:pPr marL="102235" marR="95250" indent="-635" algn="ctr">
              <a:lnSpc>
                <a:spcPct val="100000"/>
              </a:lnSpc>
              <a:spcBef>
                <a:spcPts val="105"/>
              </a:spcBef>
            </a:pPr>
            <a:r>
              <a:rPr sz="1400" b="1" spc="-5" dirty="0">
                <a:solidFill>
                  <a:srgbClr val="C00000"/>
                </a:solidFill>
                <a:latin typeface="微软雅黑" panose="020B0503020204020204" charset="-122"/>
                <a:cs typeface="微软雅黑" panose="020B0503020204020204" charset="-122"/>
              </a:rPr>
              <a:t>Xilinx  </a:t>
            </a:r>
            <a:r>
              <a:rPr sz="1400" b="1" spc="-35" dirty="0">
                <a:solidFill>
                  <a:srgbClr val="C00000"/>
                </a:solidFill>
                <a:latin typeface="微软雅黑" panose="020B0503020204020204" charset="-122"/>
                <a:cs typeface="微软雅黑" panose="020B0503020204020204" charset="-122"/>
              </a:rPr>
              <a:t>A</a:t>
            </a:r>
            <a:r>
              <a:rPr sz="1400" b="1" spc="-5" dirty="0">
                <a:solidFill>
                  <a:srgbClr val="C00000"/>
                </a:solidFill>
                <a:latin typeface="微软雅黑" panose="020B0503020204020204" charset="-122"/>
                <a:cs typeface="微软雅黑" panose="020B0503020204020204" charset="-122"/>
              </a:rPr>
              <a:t>trix-7</a:t>
            </a:r>
            <a:r>
              <a:rPr sz="1400" b="1" dirty="0">
                <a:solidFill>
                  <a:srgbClr val="C00000"/>
                </a:solidFill>
                <a:latin typeface="微软雅黑" panose="020B0503020204020204" charset="-122"/>
                <a:cs typeface="微软雅黑" panose="020B0503020204020204" charset="-122"/>
              </a:rPr>
              <a:t>开 </a:t>
            </a:r>
            <a:r>
              <a:rPr sz="1400" b="1" dirty="0">
                <a:solidFill>
                  <a:srgbClr val="C00000"/>
                </a:solidFill>
                <a:latin typeface="微软雅黑" panose="020B0503020204020204" charset="-122"/>
                <a:cs typeface="微软雅黑" panose="020B0503020204020204" charset="-122"/>
              </a:rPr>
              <a:t>发</a:t>
            </a:r>
            <a:r>
              <a:rPr sz="1400" b="1" spc="5" dirty="0">
                <a:solidFill>
                  <a:srgbClr val="C00000"/>
                </a:solidFill>
                <a:latin typeface="微软雅黑" panose="020B0503020204020204" charset="-122"/>
                <a:cs typeface="微软雅黑" panose="020B0503020204020204" charset="-122"/>
              </a:rPr>
              <a:t>板</a:t>
            </a:r>
            <a:endParaRPr sz="1400">
              <a:latin typeface="微软雅黑" panose="020B0503020204020204" charset="-122"/>
              <a:cs typeface="微软雅黑" panose="020B0503020204020204" charset="-122"/>
            </a:endParaRPr>
          </a:p>
        </p:txBody>
      </p:sp>
      <p:sp>
        <p:nvSpPr>
          <p:cNvPr id="80" name="object 80"/>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341884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蜂鸟E</a:t>
            </a:r>
            <a:r>
              <a:rPr sz="3600" spc="-5" dirty="0">
                <a:solidFill>
                  <a:srgbClr val="C00000"/>
                </a:solidFill>
              </a:rPr>
              <a:t>203</a:t>
            </a:r>
            <a:r>
              <a:rPr sz="3600" dirty="0">
                <a:solidFill>
                  <a:srgbClr val="C00000"/>
                </a:solidFill>
              </a:rPr>
              <a:t>的贡献</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1201419" y="1436052"/>
            <a:ext cx="4196080" cy="3868420"/>
          </a:xfrm>
          <a:prstGeom prst="rect">
            <a:avLst/>
          </a:prstGeom>
        </p:spPr>
        <p:txBody>
          <a:bodyPr vert="horz" wrap="square" lIns="0" tIns="163830" rIns="0" bIns="0" rtlCol="0">
            <a:spAutoFit/>
          </a:bodyPr>
          <a:lstStyle/>
          <a:p>
            <a:pPr marL="469900" indent="-171450">
              <a:lnSpc>
                <a:spcPct val="100000"/>
              </a:lnSpc>
              <a:spcBef>
                <a:spcPts val="1290"/>
              </a:spcBef>
              <a:buSzPct val="94000"/>
              <a:buFont typeface="Wingdings" panose="05000000000000000000"/>
              <a:buChar char=""/>
              <a:tabLst>
                <a:tab pos="469900" algn="l"/>
              </a:tabLst>
            </a:pPr>
            <a:r>
              <a:rPr sz="1800" b="1" dirty="0">
                <a:solidFill>
                  <a:srgbClr val="C00000"/>
                </a:solidFill>
                <a:latin typeface="微软雅黑" panose="020B0503020204020204" charset="-122"/>
                <a:cs typeface="微软雅黑" panose="020B0503020204020204" charset="-122"/>
              </a:rPr>
              <a:t>推动了</a:t>
            </a:r>
            <a:r>
              <a:rPr sz="1800" b="1" spc="-5" dirty="0">
                <a:solidFill>
                  <a:srgbClr val="C00000"/>
                </a:solidFill>
                <a:latin typeface="微软雅黑" panose="020B0503020204020204" charset="-122"/>
                <a:cs typeface="微软雅黑" panose="020B0503020204020204" charset="-122"/>
              </a:rPr>
              <a:t>RISC-V</a:t>
            </a:r>
            <a:r>
              <a:rPr sz="1800" b="1" dirty="0">
                <a:solidFill>
                  <a:srgbClr val="C00000"/>
                </a:solidFill>
                <a:latin typeface="微软雅黑" panose="020B0503020204020204" charset="-122"/>
                <a:cs typeface="微软雅黑" panose="020B0503020204020204" charset="-122"/>
              </a:rPr>
              <a:t>在国内的普及</a:t>
            </a:r>
            <a:endParaRPr sz="1800">
              <a:latin typeface="微软雅黑" panose="020B0503020204020204" charset="-122"/>
              <a:cs typeface="微软雅黑" panose="020B0503020204020204" charset="-122"/>
            </a:endParaRPr>
          </a:p>
          <a:p>
            <a:pPr marL="12700" marR="5080">
              <a:lnSpc>
                <a:spcPct val="150000"/>
              </a:lnSpc>
              <a:spcBef>
                <a:spcPts val="75"/>
              </a:spcBef>
            </a:pPr>
            <a:r>
              <a:rPr sz="1200" dirty="0">
                <a:solidFill>
                  <a:srgbClr val="585858"/>
                </a:solidFill>
                <a:latin typeface="微软雅黑" panose="020B0503020204020204" charset="-122"/>
                <a:cs typeface="微软雅黑" panose="020B0503020204020204" charset="-122"/>
              </a:rPr>
              <a:t>由于中文化翔实而系统资料，且平民化的</a:t>
            </a:r>
            <a:r>
              <a:rPr sz="1200" spc="-90" dirty="0">
                <a:solidFill>
                  <a:srgbClr val="585858"/>
                </a:solidFill>
                <a:latin typeface="微软雅黑" panose="020B0503020204020204" charset="-122"/>
                <a:cs typeface="微软雅黑" panose="020B0503020204020204" charset="-122"/>
              </a:rPr>
              <a:t>V</a:t>
            </a:r>
            <a:r>
              <a:rPr sz="1200" spc="-5" dirty="0">
                <a:solidFill>
                  <a:srgbClr val="585858"/>
                </a:solidFill>
                <a:latin typeface="微软雅黑" panose="020B0503020204020204" charset="-122"/>
                <a:cs typeface="微软雅黑" panose="020B0503020204020204" charset="-122"/>
              </a:rPr>
              <a:t>e</a:t>
            </a:r>
            <a:r>
              <a:rPr sz="1200" dirty="0">
                <a:solidFill>
                  <a:srgbClr val="585858"/>
                </a:solidFill>
                <a:latin typeface="微软雅黑" panose="020B0503020204020204" charset="-122"/>
                <a:cs typeface="微软雅黑" panose="020B0503020204020204" charset="-122"/>
              </a:rPr>
              <a:t>rilog开发，让本土 爱好者能够快速的上手和入门</a:t>
            </a:r>
            <a:r>
              <a:rPr sz="1200" spc="-5" dirty="0">
                <a:solidFill>
                  <a:srgbClr val="585858"/>
                </a:solidFill>
                <a:latin typeface="微软雅黑" panose="020B0503020204020204" charset="-122"/>
                <a:cs typeface="微软雅黑" panose="020B0503020204020204" charset="-122"/>
              </a:rPr>
              <a:t>RISC-V</a:t>
            </a:r>
            <a:r>
              <a:rPr sz="1200" dirty="0">
                <a:solidFill>
                  <a:srgbClr val="585858"/>
                </a:solidFill>
                <a:latin typeface="微软雅黑" panose="020B0503020204020204" charset="-122"/>
                <a:cs typeface="微软雅黑" panose="020B0503020204020204" charset="-122"/>
              </a:rPr>
              <a:t>。</a:t>
            </a:r>
            <a:endParaRPr sz="1200">
              <a:latin typeface="微软雅黑" panose="020B0503020204020204" charset="-122"/>
              <a:cs typeface="微软雅黑" panose="020B0503020204020204" charset="-122"/>
            </a:endParaRPr>
          </a:p>
          <a:p>
            <a:pPr>
              <a:lnSpc>
                <a:spcPct val="100000"/>
              </a:lnSpc>
            </a:pPr>
            <a:endParaRPr sz="1600">
              <a:latin typeface="Times New Roman" panose="02020603050405020304"/>
              <a:cs typeface="Times New Roman" panose="02020603050405020304"/>
            </a:endParaRPr>
          </a:p>
          <a:p>
            <a:pPr>
              <a:lnSpc>
                <a:spcPct val="100000"/>
              </a:lnSpc>
              <a:spcBef>
                <a:spcPts val="20"/>
              </a:spcBef>
            </a:pPr>
            <a:endParaRPr sz="1900">
              <a:latin typeface="Times New Roman" panose="02020603050405020304"/>
              <a:cs typeface="Times New Roman" panose="02020603050405020304"/>
            </a:endParaRPr>
          </a:p>
          <a:p>
            <a:pPr marL="469900" indent="-171450">
              <a:lnSpc>
                <a:spcPct val="100000"/>
              </a:lnSpc>
              <a:spcBef>
                <a:spcPts val="5"/>
              </a:spcBef>
              <a:buSzPct val="94000"/>
              <a:buFont typeface="Wingdings" panose="05000000000000000000"/>
              <a:buChar char=""/>
              <a:tabLst>
                <a:tab pos="469900" algn="l"/>
              </a:tabLst>
            </a:pPr>
            <a:r>
              <a:rPr sz="1800" b="1" dirty="0">
                <a:solidFill>
                  <a:srgbClr val="C00000"/>
                </a:solidFill>
                <a:latin typeface="微软雅黑" panose="020B0503020204020204" charset="-122"/>
                <a:cs typeface="微软雅黑" panose="020B0503020204020204" charset="-122"/>
              </a:rPr>
              <a:t>彻底打通了软硬件的底层边界</a:t>
            </a:r>
            <a:endParaRPr sz="1800">
              <a:latin typeface="微软雅黑" panose="020B0503020204020204" charset="-122"/>
              <a:cs typeface="微软雅黑" panose="020B0503020204020204" charset="-122"/>
            </a:endParaRPr>
          </a:p>
          <a:p>
            <a:pPr marL="12700" marR="186690" algn="just">
              <a:lnSpc>
                <a:spcPct val="140000"/>
              </a:lnSpc>
              <a:spcBef>
                <a:spcPts val="60"/>
              </a:spcBef>
            </a:pPr>
            <a:r>
              <a:rPr sz="1200" dirty="0">
                <a:solidFill>
                  <a:srgbClr val="585858"/>
                </a:solidFill>
                <a:latin typeface="微软雅黑" panose="020B0503020204020204" charset="-122"/>
                <a:cs typeface="微软雅黑" panose="020B0503020204020204" charset="-122"/>
              </a:rPr>
              <a:t>蜂鸟E203不仅开源内核，还配套开源SoC、开源软件SD</a:t>
            </a:r>
            <a:r>
              <a:rPr sz="1200" spc="-5" dirty="0">
                <a:solidFill>
                  <a:srgbClr val="585858"/>
                </a:solidFill>
                <a:latin typeface="微软雅黑" panose="020B0503020204020204" charset="-122"/>
                <a:cs typeface="微软雅黑" panose="020B0503020204020204" charset="-122"/>
              </a:rPr>
              <a:t>K</a:t>
            </a:r>
            <a:r>
              <a:rPr sz="1200" dirty="0">
                <a:solidFill>
                  <a:srgbClr val="585858"/>
                </a:solidFill>
                <a:latin typeface="微软雅黑" panose="020B0503020204020204" charset="-122"/>
                <a:cs typeface="微软雅黑" panose="020B0503020204020204" charset="-122"/>
              </a:rPr>
              <a:t>、 开源IDE、调试器、开源</a:t>
            </a:r>
            <a:r>
              <a:rPr sz="1200" spc="-35" dirty="0">
                <a:solidFill>
                  <a:srgbClr val="585858"/>
                </a:solidFill>
                <a:latin typeface="微软雅黑" panose="020B0503020204020204" charset="-122"/>
                <a:cs typeface="微软雅黑" panose="020B0503020204020204" charset="-122"/>
              </a:rPr>
              <a:t>R</a:t>
            </a:r>
            <a:r>
              <a:rPr sz="1200" spc="-60" dirty="0">
                <a:solidFill>
                  <a:srgbClr val="585858"/>
                </a:solidFill>
                <a:latin typeface="微软雅黑" panose="020B0503020204020204" charset="-122"/>
                <a:cs typeface="微软雅黑" panose="020B0503020204020204" charset="-122"/>
              </a:rPr>
              <a:t>T</a:t>
            </a:r>
            <a:r>
              <a:rPr sz="1200" dirty="0">
                <a:solidFill>
                  <a:srgbClr val="585858"/>
                </a:solidFill>
                <a:latin typeface="微软雅黑" panose="020B0503020204020204" charset="-122"/>
                <a:cs typeface="微软雅黑" panose="020B0503020204020204" charset="-122"/>
              </a:rPr>
              <a:t>OS移植等，形成一个从最底层硬 件到上层软件之间的完整链条，是绝佳的科教素材。</a:t>
            </a:r>
            <a:endParaRPr sz="1200">
              <a:latin typeface="微软雅黑" panose="020B0503020204020204" charset="-122"/>
              <a:cs typeface="微软雅黑" panose="020B0503020204020204" charset="-122"/>
            </a:endParaRPr>
          </a:p>
          <a:p>
            <a:pPr>
              <a:lnSpc>
                <a:spcPct val="100000"/>
              </a:lnSpc>
            </a:pPr>
            <a:endParaRPr sz="1600">
              <a:latin typeface="Times New Roman" panose="02020603050405020304"/>
              <a:cs typeface="Times New Roman" panose="02020603050405020304"/>
            </a:endParaRPr>
          </a:p>
          <a:p>
            <a:pPr>
              <a:lnSpc>
                <a:spcPct val="100000"/>
              </a:lnSpc>
              <a:spcBef>
                <a:spcPts val="20"/>
              </a:spcBef>
            </a:pPr>
            <a:endParaRPr sz="1550">
              <a:latin typeface="Times New Roman" panose="02020603050405020304"/>
              <a:cs typeface="Times New Roman" panose="02020603050405020304"/>
            </a:endParaRPr>
          </a:p>
          <a:p>
            <a:pPr marL="469900" indent="-171450">
              <a:lnSpc>
                <a:spcPct val="100000"/>
              </a:lnSpc>
              <a:buSzPct val="94000"/>
              <a:buFont typeface="Wingdings" panose="05000000000000000000"/>
              <a:buChar char=""/>
              <a:tabLst>
                <a:tab pos="469900" algn="l"/>
              </a:tabLst>
            </a:pPr>
            <a:r>
              <a:rPr sz="1800" b="1" dirty="0">
                <a:solidFill>
                  <a:srgbClr val="C00000"/>
                </a:solidFill>
                <a:latin typeface="微软雅黑" panose="020B0503020204020204" charset="-122"/>
                <a:cs typeface="微软雅黑" panose="020B0503020204020204" charset="-122"/>
              </a:rPr>
              <a:t>展示了工业级</a:t>
            </a:r>
            <a:r>
              <a:rPr sz="1800" b="1" spc="-5" dirty="0">
                <a:solidFill>
                  <a:srgbClr val="C00000"/>
                </a:solidFill>
                <a:latin typeface="微软雅黑" panose="020B0503020204020204" charset="-122"/>
                <a:cs typeface="微软雅黑" panose="020B0503020204020204" charset="-122"/>
              </a:rPr>
              <a:t>CPU</a:t>
            </a:r>
            <a:r>
              <a:rPr sz="1800" b="1" spc="-20" dirty="0">
                <a:solidFill>
                  <a:srgbClr val="C00000"/>
                </a:solidFill>
                <a:latin typeface="微软雅黑" panose="020B0503020204020204" charset="-122"/>
                <a:cs typeface="微软雅黑" panose="020B0503020204020204" charset="-122"/>
              </a:rPr>
              <a:t> </a:t>
            </a:r>
            <a:r>
              <a:rPr sz="1800" b="1" dirty="0">
                <a:solidFill>
                  <a:srgbClr val="C00000"/>
                </a:solidFill>
                <a:latin typeface="微软雅黑" panose="020B0503020204020204" charset="-122"/>
                <a:cs typeface="微软雅黑" panose="020B0503020204020204" charset="-122"/>
              </a:rPr>
              <a:t>IP的设计风格</a:t>
            </a:r>
            <a:endParaRPr sz="1800">
              <a:latin typeface="微软雅黑" panose="020B0503020204020204" charset="-122"/>
              <a:cs typeface="微软雅黑" panose="020B0503020204020204" charset="-122"/>
            </a:endParaRPr>
          </a:p>
          <a:p>
            <a:pPr marL="12700" marR="213995" algn="just">
              <a:lnSpc>
                <a:spcPct val="150000"/>
              </a:lnSpc>
              <a:spcBef>
                <a:spcPts val="75"/>
              </a:spcBef>
            </a:pPr>
            <a:r>
              <a:rPr sz="1200" dirty="0">
                <a:solidFill>
                  <a:srgbClr val="585858"/>
                </a:solidFill>
                <a:latin typeface="微软雅黑" panose="020B0503020204020204" charset="-122"/>
                <a:cs typeface="微软雅黑" panose="020B0503020204020204" charset="-122"/>
              </a:rPr>
              <a:t>展示了工业级稳健和成熟的设计方法、思路和设计代码，并 深入进行剖析。</a:t>
            </a:r>
            <a:endParaRPr sz="1200">
              <a:latin typeface="微软雅黑" panose="020B0503020204020204" charset="-122"/>
              <a:cs typeface="微软雅黑" panose="020B0503020204020204" charset="-122"/>
            </a:endParaRPr>
          </a:p>
        </p:txBody>
      </p:sp>
      <p:sp>
        <p:nvSpPr>
          <p:cNvPr id="5" name="object 5"/>
          <p:cNvSpPr/>
          <p:nvPr/>
        </p:nvSpPr>
        <p:spPr>
          <a:xfrm>
            <a:off x="6902195" y="3357371"/>
            <a:ext cx="3747515" cy="2500883"/>
          </a:xfrm>
          <a:prstGeom prst="rect">
            <a:avLst/>
          </a:prstGeom>
          <a:blipFill>
            <a:blip r:embed="rId1" cstate="print"/>
            <a:stretch>
              <a:fillRect/>
            </a:stretch>
          </a:blipFill>
        </p:spPr>
        <p:txBody>
          <a:bodyPr wrap="square" lIns="0" tIns="0" rIns="0" bIns="0" rtlCol="0"/>
          <a:lstStyle/>
          <a:p/>
        </p:txBody>
      </p:sp>
      <p:sp>
        <p:nvSpPr>
          <p:cNvPr id="6" name="object 6"/>
          <p:cNvSpPr/>
          <p:nvPr/>
        </p:nvSpPr>
        <p:spPr>
          <a:xfrm>
            <a:off x="6902195" y="749808"/>
            <a:ext cx="3747515" cy="2502408"/>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22909" cy="443230"/>
          </a:xfrm>
          <a:custGeom>
            <a:avLst/>
            <a:gdLst/>
            <a:ahLst/>
            <a:cxnLst/>
            <a:rect l="l" t="t" r="r" b="b"/>
            <a:pathLst>
              <a:path w="422909" h="443230">
                <a:moveTo>
                  <a:pt x="0" y="443114"/>
                </a:moveTo>
                <a:lnTo>
                  <a:pt x="0" y="0"/>
                </a:lnTo>
                <a:lnTo>
                  <a:pt x="422640" y="0"/>
                </a:lnTo>
                <a:lnTo>
                  <a:pt x="0" y="443114"/>
                </a:lnTo>
                <a:close/>
              </a:path>
            </a:pathLst>
          </a:custGeom>
          <a:solidFill>
            <a:srgbClr val="C00000"/>
          </a:solidFill>
        </p:spPr>
        <p:txBody>
          <a:bodyPr wrap="square" lIns="0" tIns="0" rIns="0" bIns="0" rtlCol="0"/>
          <a:lstStyle/>
          <a:p/>
        </p:txBody>
      </p:sp>
      <p:sp>
        <p:nvSpPr>
          <p:cNvPr id="3" name="object 3"/>
          <p:cNvSpPr/>
          <p:nvPr/>
        </p:nvSpPr>
        <p:spPr>
          <a:xfrm>
            <a:off x="2415539" y="1133855"/>
            <a:ext cx="6791325" cy="510540"/>
          </a:xfrm>
          <a:custGeom>
            <a:avLst/>
            <a:gdLst/>
            <a:ahLst/>
            <a:cxnLst/>
            <a:rect l="l" t="t" r="r" b="b"/>
            <a:pathLst>
              <a:path w="6791325" h="510539">
                <a:moveTo>
                  <a:pt x="0" y="0"/>
                </a:moveTo>
                <a:lnTo>
                  <a:pt x="6790944" y="0"/>
                </a:lnTo>
                <a:lnTo>
                  <a:pt x="6790944" y="510540"/>
                </a:lnTo>
                <a:lnTo>
                  <a:pt x="0" y="510540"/>
                </a:lnTo>
                <a:lnTo>
                  <a:pt x="0" y="0"/>
                </a:lnTo>
                <a:close/>
              </a:path>
            </a:pathLst>
          </a:custGeom>
          <a:solidFill>
            <a:srgbClr val="D9D9D9"/>
          </a:solidFill>
        </p:spPr>
        <p:txBody>
          <a:bodyPr wrap="square" lIns="0" tIns="0" rIns="0" bIns="0" rtlCol="0"/>
          <a:lstStyle/>
          <a:p/>
        </p:txBody>
      </p:sp>
      <p:sp>
        <p:nvSpPr>
          <p:cNvPr id="4" name="object 4"/>
          <p:cNvSpPr/>
          <p:nvPr/>
        </p:nvSpPr>
        <p:spPr>
          <a:xfrm>
            <a:off x="8938259" y="1134021"/>
            <a:ext cx="522605" cy="511809"/>
          </a:xfrm>
          <a:custGeom>
            <a:avLst/>
            <a:gdLst/>
            <a:ahLst/>
            <a:cxnLst/>
            <a:rect l="l" t="t" r="r" b="b"/>
            <a:pathLst>
              <a:path w="522604" h="511810">
                <a:moveTo>
                  <a:pt x="261353" y="511327"/>
                </a:moveTo>
                <a:lnTo>
                  <a:pt x="214404" y="507208"/>
                </a:lnTo>
                <a:lnTo>
                  <a:pt x="170212" y="495332"/>
                </a:lnTo>
                <a:lnTo>
                  <a:pt x="129514" y="476421"/>
                </a:lnTo>
                <a:lnTo>
                  <a:pt x="93046" y="451198"/>
                </a:lnTo>
                <a:lnTo>
                  <a:pt x="61546" y="420384"/>
                </a:lnTo>
                <a:lnTo>
                  <a:pt x="35753" y="384701"/>
                </a:lnTo>
                <a:lnTo>
                  <a:pt x="16433" y="344968"/>
                </a:lnTo>
                <a:lnTo>
                  <a:pt x="4260" y="301762"/>
                </a:lnTo>
                <a:lnTo>
                  <a:pt x="0" y="255866"/>
                </a:lnTo>
                <a:lnTo>
                  <a:pt x="4260" y="209850"/>
                </a:lnTo>
                <a:lnTo>
                  <a:pt x="16433" y="166550"/>
                </a:lnTo>
                <a:lnTo>
                  <a:pt x="35782" y="126685"/>
                </a:lnTo>
                <a:lnTo>
                  <a:pt x="61607" y="90943"/>
                </a:lnTo>
                <a:lnTo>
                  <a:pt x="93090" y="60129"/>
                </a:lnTo>
                <a:lnTo>
                  <a:pt x="129541" y="34905"/>
                </a:lnTo>
                <a:lnTo>
                  <a:pt x="170225" y="15995"/>
                </a:lnTo>
                <a:lnTo>
                  <a:pt x="214408" y="4119"/>
                </a:lnTo>
                <a:lnTo>
                  <a:pt x="261353" y="0"/>
                </a:lnTo>
                <a:lnTo>
                  <a:pt x="308298" y="4119"/>
                </a:lnTo>
                <a:lnTo>
                  <a:pt x="352485" y="15997"/>
                </a:lnTo>
                <a:lnTo>
                  <a:pt x="393177" y="34913"/>
                </a:lnTo>
                <a:lnTo>
                  <a:pt x="429634" y="60146"/>
                </a:lnTo>
                <a:lnTo>
                  <a:pt x="461118" y="90977"/>
                </a:lnTo>
                <a:lnTo>
                  <a:pt x="486888" y="126685"/>
                </a:lnTo>
                <a:lnTo>
                  <a:pt x="506176" y="166454"/>
                </a:lnTo>
                <a:lnTo>
                  <a:pt x="518308" y="209707"/>
                </a:lnTo>
                <a:lnTo>
                  <a:pt x="522516" y="255663"/>
                </a:lnTo>
                <a:lnTo>
                  <a:pt x="518308" y="301619"/>
                </a:lnTo>
                <a:lnTo>
                  <a:pt x="506176" y="344872"/>
                </a:lnTo>
                <a:lnTo>
                  <a:pt x="486859" y="384701"/>
                </a:lnTo>
                <a:lnTo>
                  <a:pt x="461057" y="420419"/>
                </a:lnTo>
                <a:lnTo>
                  <a:pt x="429590" y="451216"/>
                </a:lnTo>
                <a:lnTo>
                  <a:pt x="393149" y="476429"/>
                </a:lnTo>
                <a:lnTo>
                  <a:pt x="352472" y="495334"/>
                </a:lnTo>
                <a:lnTo>
                  <a:pt x="308293" y="507208"/>
                </a:lnTo>
                <a:lnTo>
                  <a:pt x="261353" y="511327"/>
                </a:lnTo>
                <a:close/>
              </a:path>
            </a:pathLst>
          </a:custGeom>
          <a:solidFill>
            <a:srgbClr val="D9D9D9"/>
          </a:solidFill>
        </p:spPr>
        <p:txBody>
          <a:bodyPr wrap="square" lIns="0" tIns="0" rIns="0" bIns="0" rtlCol="0"/>
          <a:lstStyle/>
          <a:p/>
        </p:txBody>
      </p:sp>
      <p:sp>
        <p:nvSpPr>
          <p:cNvPr id="5" name="object 5"/>
          <p:cNvSpPr/>
          <p:nvPr/>
        </p:nvSpPr>
        <p:spPr>
          <a:xfrm>
            <a:off x="2119883" y="1133475"/>
            <a:ext cx="522605" cy="511809"/>
          </a:xfrm>
          <a:custGeom>
            <a:avLst/>
            <a:gdLst/>
            <a:ahLst/>
            <a:cxnLst/>
            <a:rect l="l" t="t" r="r" b="b"/>
            <a:pathLst>
              <a:path w="522605" h="511810">
                <a:moveTo>
                  <a:pt x="260921" y="511327"/>
                </a:moveTo>
                <a:lnTo>
                  <a:pt x="213970" y="507208"/>
                </a:lnTo>
                <a:lnTo>
                  <a:pt x="169772" y="495332"/>
                </a:lnTo>
                <a:lnTo>
                  <a:pt x="129068" y="476421"/>
                </a:lnTo>
                <a:lnTo>
                  <a:pt x="92670" y="451264"/>
                </a:lnTo>
                <a:lnTo>
                  <a:pt x="61213" y="420512"/>
                </a:lnTo>
                <a:lnTo>
                  <a:pt x="35478" y="384923"/>
                </a:lnTo>
                <a:lnTo>
                  <a:pt x="16204" y="345225"/>
                </a:lnTo>
                <a:lnTo>
                  <a:pt x="4132" y="302145"/>
                </a:lnTo>
                <a:lnTo>
                  <a:pt x="0" y="256412"/>
                </a:lnTo>
                <a:lnTo>
                  <a:pt x="4132" y="210234"/>
                </a:lnTo>
                <a:lnTo>
                  <a:pt x="16204" y="166807"/>
                </a:lnTo>
                <a:lnTo>
                  <a:pt x="35478" y="126847"/>
                </a:lnTo>
                <a:lnTo>
                  <a:pt x="61213" y="91071"/>
                </a:lnTo>
                <a:lnTo>
                  <a:pt x="92670" y="60194"/>
                </a:lnTo>
                <a:lnTo>
                  <a:pt x="129168" y="34905"/>
                </a:lnTo>
                <a:lnTo>
                  <a:pt x="169820" y="15995"/>
                </a:lnTo>
                <a:lnTo>
                  <a:pt x="213986" y="4119"/>
                </a:lnTo>
                <a:lnTo>
                  <a:pt x="260921" y="0"/>
                </a:lnTo>
                <a:lnTo>
                  <a:pt x="307869" y="4120"/>
                </a:lnTo>
                <a:lnTo>
                  <a:pt x="352068" y="16003"/>
                </a:lnTo>
                <a:lnTo>
                  <a:pt x="392777" y="34933"/>
                </a:lnTo>
                <a:lnTo>
                  <a:pt x="429189" y="60129"/>
                </a:lnTo>
                <a:lnTo>
                  <a:pt x="460668" y="90943"/>
                </a:lnTo>
                <a:lnTo>
                  <a:pt x="486436" y="126625"/>
                </a:lnTo>
                <a:lnTo>
                  <a:pt x="505756" y="166454"/>
                </a:lnTo>
                <a:lnTo>
                  <a:pt x="517888" y="209707"/>
                </a:lnTo>
                <a:lnTo>
                  <a:pt x="522097" y="255663"/>
                </a:lnTo>
                <a:lnTo>
                  <a:pt x="517888" y="301619"/>
                </a:lnTo>
                <a:lnTo>
                  <a:pt x="505756" y="344872"/>
                </a:lnTo>
                <a:lnTo>
                  <a:pt x="486436" y="384701"/>
                </a:lnTo>
                <a:lnTo>
                  <a:pt x="460668" y="420384"/>
                </a:lnTo>
                <a:lnTo>
                  <a:pt x="429189" y="451198"/>
                </a:lnTo>
                <a:lnTo>
                  <a:pt x="392677" y="476449"/>
                </a:lnTo>
                <a:lnTo>
                  <a:pt x="352019" y="495340"/>
                </a:lnTo>
                <a:lnTo>
                  <a:pt x="307853" y="507209"/>
                </a:lnTo>
                <a:lnTo>
                  <a:pt x="260921" y="511327"/>
                </a:lnTo>
                <a:close/>
              </a:path>
            </a:pathLst>
          </a:custGeom>
          <a:solidFill>
            <a:srgbClr val="A6A6A6"/>
          </a:solidFill>
        </p:spPr>
        <p:txBody>
          <a:bodyPr wrap="square" lIns="0" tIns="0" rIns="0" bIns="0" rtlCol="0"/>
          <a:lstStyle/>
          <a:p/>
        </p:txBody>
      </p:sp>
      <p:sp>
        <p:nvSpPr>
          <p:cNvPr id="6" name="object 6"/>
          <p:cNvSpPr txBox="1"/>
          <p:nvPr/>
        </p:nvSpPr>
        <p:spPr>
          <a:xfrm>
            <a:off x="2264702" y="1106754"/>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1</a:t>
            </a:r>
            <a:endParaRPr sz="3200">
              <a:latin typeface="Calibri" panose="020F0502020204030204"/>
              <a:cs typeface="Calibri" panose="020F0502020204030204"/>
            </a:endParaRPr>
          </a:p>
        </p:txBody>
      </p:sp>
      <p:sp>
        <p:nvSpPr>
          <p:cNvPr id="7" name="object 7"/>
          <p:cNvSpPr/>
          <p:nvPr/>
        </p:nvSpPr>
        <p:spPr>
          <a:xfrm>
            <a:off x="2415539" y="1787651"/>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8" name="object 8"/>
          <p:cNvSpPr/>
          <p:nvPr/>
        </p:nvSpPr>
        <p:spPr>
          <a:xfrm>
            <a:off x="8938259" y="1787931"/>
            <a:ext cx="522605" cy="511175"/>
          </a:xfrm>
          <a:custGeom>
            <a:avLst/>
            <a:gdLst/>
            <a:ahLst/>
            <a:cxnLst/>
            <a:rect l="l" t="t" r="r" b="b"/>
            <a:pathLst>
              <a:path w="522604" h="511175">
                <a:moveTo>
                  <a:pt x="261353" y="510717"/>
                </a:moveTo>
                <a:lnTo>
                  <a:pt x="214403" y="506603"/>
                </a:lnTo>
                <a:lnTo>
                  <a:pt x="170208" y="494742"/>
                </a:lnTo>
                <a:lnTo>
                  <a:pt x="129503" y="475854"/>
                </a:lnTo>
                <a:lnTo>
                  <a:pt x="93028" y="450661"/>
                </a:lnTo>
                <a:lnTo>
                  <a:pt x="61571" y="419951"/>
                </a:lnTo>
                <a:lnTo>
                  <a:pt x="35782" y="384361"/>
                </a:lnTo>
                <a:lnTo>
                  <a:pt x="16433" y="344648"/>
                </a:lnTo>
                <a:lnTo>
                  <a:pt x="4260" y="301537"/>
                </a:lnTo>
                <a:lnTo>
                  <a:pt x="0" y="255752"/>
                </a:lnTo>
                <a:lnTo>
                  <a:pt x="4260" y="209733"/>
                </a:lnTo>
                <a:lnTo>
                  <a:pt x="16433" y="166440"/>
                </a:lnTo>
                <a:lnTo>
                  <a:pt x="35782" y="126589"/>
                </a:lnTo>
                <a:lnTo>
                  <a:pt x="61571" y="90900"/>
                </a:lnTo>
                <a:lnTo>
                  <a:pt x="93114" y="60056"/>
                </a:lnTo>
                <a:lnTo>
                  <a:pt x="129556" y="34863"/>
                </a:lnTo>
                <a:lnTo>
                  <a:pt x="170233" y="15975"/>
                </a:lnTo>
                <a:lnTo>
                  <a:pt x="214411" y="4114"/>
                </a:lnTo>
                <a:lnTo>
                  <a:pt x="261353" y="0"/>
                </a:lnTo>
                <a:lnTo>
                  <a:pt x="308299" y="4114"/>
                </a:lnTo>
                <a:lnTo>
                  <a:pt x="352489" y="15979"/>
                </a:lnTo>
                <a:lnTo>
                  <a:pt x="393187" y="34877"/>
                </a:lnTo>
                <a:lnTo>
                  <a:pt x="429651" y="60090"/>
                </a:lnTo>
                <a:lnTo>
                  <a:pt x="461093" y="90833"/>
                </a:lnTo>
                <a:lnTo>
                  <a:pt x="486859" y="126473"/>
                </a:lnTo>
                <a:lnTo>
                  <a:pt x="506176" y="166254"/>
                </a:lnTo>
                <a:lnTo>
                  <a:pt x="518308" y="209457"/>
                </a:lnTo>
                <a:lnTo>
                  <a:pt x="522516" y="255358"/>
                </a:lnTo>
                <a:lnTo>
                  <a:pt x="518308" y="301260"/>
                </a:lnTo>
                <a:lnTo>
                  <a:pt x="506176" y="344462"/>
                </a:lnTo>
                <a:lnTo>
                  <a:pt x="486859" y="384244"/>
                </a:lnTo>
                <a:lnTo>
                  <a:pt x="461093" y="419884"/>
                </a:lnTo>
                <a:lnTo>
                  <a:pt x="429566" y="450696"/>
                </a:lnTo>
                <a:lnTo>
                  <a:pt x="393134" y="475868"/>
                </a:lnTo>
                <a:lnTo>
                  <a:pt x="352464" y="494746"/>
                </a:lnTo>
                <a:lnTo>
                  <a:pt x="308290" y="506604"/>
                </a:lnTo>
                <a:lnTo>
                  <a:pt x="261353" y="510717"/>
                </a:lnTo>
                <a:close/>
              </a:path>
            </a:pathLst>
          </a:custGeom>
          <a:solidFill>
            <a:srgbClr val="D9D9D9"/>
          </a:solidFill>
        </p:spPr>
        <p:txBody>
          <a:bodyPr wrap="square" lIns="0" tIns="0" rIns="0" bIns="0" rtlCol="0"/>
          <a:lstStyle/>
          <a:p/>
        </p:txBody>
      </p:sp>
      <p:sp>
        <p:nvSpPr>
          <p:cNvPr id="9" name="object 9"/>
          <p:cNvSpPr/>
          <p:nvPr/>
        </p:nvSpPr>
        <p:spPr>
          <a:xfrm>
            <a:off x="2119883" y="1787385"/>
            <a:ext cx="522605" cy="511175"/>
          </a:xfrm>
          <a:custGeom>
            <a:avLst/>
            <a:gdLst/>
            <a:ahLst/>
            <a:cxnLst/>
            <a:rect l="l" t="t" r="r" b="b"/>
            <a:pathLst>
              <a:path w="522605" h="511175">
                <a:moveTo>
                  <a:pt x="260921" y="510730"/>
                </a:moveTo>
                <a:lnTo>
                  <a:pt x="213974" y="506615"/>
                </a:lnTo>
                <a:lnTo>
                  <a:pt x="169790" y="494746"/>
                </a:lnTo>
                <a:lnTo>
                  <a:pt x="129109" y="475842"/>
                </a:lnTo>
                <a:lnTo>
                  <a:pt x="92670" y="450617"/>
                </a:lnTo>
                <a:lnTo>
                  <a:pt x="61213" y="419789"/>
                </a:lnTo>
                <a:lnTo>
                  <a:pt x="35478" y="384074"/>
                </a:lnTo>
                <a:lnTo>
                  <a:pt x="16204" y="344189"/>
                </a:lnTo>
                <a:lnTo>
                  <a:pt x="4132" y="300850"/>
                </a:lnTo>
                <a:lnTo>
                  <a:pt x="0" y="254774"/>
                </a:lnTo>
                <a:lnTo>
                  <a:pt x="4132" y="209050"/>
                </a:lnTo>
                <a:lnTo>
                  <a:pt x="16204" y="165985"/>
                </a:lnTo>
                <a:lnTo>
                  <a:pt x="35478" y="126305"/>
                </a:lnTo>
                <a:lnTo>
                  <a:pt x="61213" y="90738"/>
                </a:lnTo>
                <a:lnTo>
                  <a:pt x="92670" y="60009"/>
                </a:lnTo>
                <a:lnTo>
                  <a:pt x="129109" y="34844"/>
                </a:lnTo>
                <a:lnTo>
                  <a:pt x="169790" y="15970"/>
                </a:lnTo>
                <a:lnTo>
                  <a:pt x="213974" y="4113"/>
                </a:lnTo>
                <a:lnTo>
                  <a:pt x="260921" y="0"/>
                </a:lnTo>
                <a:lnTo>
                  <a:pt x="307865" y="4114"/>
                </a:lnTo>
                <a:lnTo>
                  <a:pt x="352050" y="15977"/>
                </a:lnTo>
                <a:lnTo>
                  <a:pt x="392737" y="34866"/>
                </a:lnTo>
                <a:lnTo>
                  <a:pt x="429189" y="60060"/>
                </a:lnTo>
                <a:lnTo>
                  <a:pt x="460668" y="90838"/>
                </a:lnTo>
                <a:lnTo>
                  <a:pt x="486436" y="126478"/>
                </a:lnTo>
                <a:lnTo>
                  <a:pt x="505756" y="166259"/>
                </a:lnTo>
                <a:lnTo>
                  <a:pt x="517888" y="209460"/>
                </a:lnTo>
                <a:lnTo>
                  <a:pt x="522097" y="255358"/>
                </a:lnTo>
                <a:lnTo>
                  <a:pt x="517888" y="301261"/>
                </a:lnTo>
                <a:lnTo>
                  <a:pt x="505756" y="344464"/>
                </a:lnTo>
                <a:lnTo>
                  <a:pt x="486436" y="384247"/>
                </a:lnTo>
                <a:lnTo>
                  <a:pt x="460668" y="419889"/>
                </a:lnTo>
                <a:lnTo>
                  <a:pt x="429189" y="450668"/>
                </a:lnTo>
                <a:lnTo>
                  <a:pt x="392737" y="475863"/>
                </a:lnTo>
                <a:lnTo>
                  <a:pt x="352050" y="494753"/>
                </a:lnTo>
                <a:lnTo>
                  <a:pt x="307865" y="506615"/>
                </a:lnTo>
                <a:lnTo>
                  <a:pt x="260921" y="510730"/>
                </a:lnTo>
                <a:close/>
              </a:path>
            </a:pathLst>
          </a:custGeom>
          <a:solidFill>
            <a:srgbClr val="A6A6A6"/>
          </a:solidFill>
        </p:spPr>
        <p:txBody>
          <a:bodyPr wrap="square" lIns="0" tIns="0" rIns="0" bIns="0" rtlCol="0"/>
          <a:lstStyle/>
          <a:p/>
        </p:txBody>
      </p:sp>
      <p:sp>
        <p:nvSpPr>
          <p:cNvPr id="10" name="object 10"/>
          <p:cNvSpPr txBox="1"/>
          <p:nvPr/>
        </p:nvSpPr>
        <p:spPr>
          <a:xfrm>
            <a:off x="2264702" y="1759953"/>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2</a:t>
            </a:r>
            <a:endParaRPr sz="3200">
              <a:latin typeface="Calibri" panose="020F0502020204030204"/>
              <a:cs typeface="Calibri" panose="020F0502020204030204"/>
            </a:endParaRPr>
          </a:p>
        </p:txBody>
      </p:sp>
      <p:sp>
        <p:nvSpPr>
          <p:cNvPr id="11" name="object 11"/>
          <p:cNvSpPr/>
          <p:nvPr/>
        </p:nvSpPr>
        <p:spPr>
          <a:xfrm>
            <a:off x="2415539" y="2441448"/>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12" name="object 12"/>
          <p:cNvSpPr/>
          <p:nvPr/>
        </p:nvSpPr>
        <p:spPr>
          <a:xfrm>
            <a:off x="8938259" y="2441232"/>
            <a:ext cx="522605" cy="511175"/>
          </a:xfrm>
          <a:custGeom>
            <a:avLst/>
            <a:gdLst/>
            <a:ahLst/>
            <a:cxnLst/>
            <a:rect l="l" t="t" r="r" b="b"/>
            <a:pathLst>
              <a:path w="522604" h="511175">
                <a:moveTo>
                  <a:pt x="261353" y="510717"/>
                </a:moveTo>
                <a:lnTo>
                  <a:pt x="214405" y="506602"/>
                </a:lnTo>
                <a:lnTo>
                  <a:pt x="170217" y="494735"/>
                </a:lnTo>
                <a:lnTo>
                  <a:pt x="129524" y="475830"/>
                </a:lnTo>
                <a:lnTo>
                  <a:pt x="93064" y="450605"/>
                </a:lnTo>
                <a:lnTo>
                  <a:pt x="61571" y="419775"/>
                </a:lnTo>
                <a:lnTo>
                  <a:pt x="35782" y="384056"/>
                </a:lnTo>
                <a:lnTo>
                  <a:pt x="16433" y="344164"/>
                </a:lnTo>
                <a:lnTo>
                  <a:pt x="4260" y="300814"/>
                </a:lnTo>
                <a:lnTo>
                  <a:pt x="0" y="254723"/>
                </a:lnTo>
                <a:lnTo>
                  <a:pt x="4260" y="209014"/>
                </a:lnTo>
                <a:lnTo>
                  <a:pt x="16433" y="165961"/>
                </a:lnTo>
                <a:lnTo>
                  <a:pt x="35782" y="126290"/>
                </a:lnTo>
                <a:lnTo>
                  <a:pt x="61571" y="90729"/>
                </a:lnTo>
                <a:lnTo>
                  <a:pt x="93064" y="60004"/>
                </a:lnTo>
                <a:lnTo>
                  <a:pt x="129524" y="34842"/>
                </a:lnTo>
                <a:lnTo>
                  <a:pt x="170217" y="15970"/>
                </a:lnTo>
                <a:lnTo>
                  <a:pt x="214405" y="4113"/>
                </a:lnTo>
                <a:lnTo>
                  <a:pt x="261353" y="0"/>
                </a:lnTo>
                <a:lnTo>
                  <a:pt x="308297" y="4114"/>
                </a:lnTo>
                <a:lnTo>
                  <a:pt x="352480" y="15977"/>
                </a:lnTo>
                <a:lnTo>
                  <a:pt x="393166" y="34866"/>
                </a:lnTo>
                <a:lnTo>
                  <a:pt x="429616" y="60060"/>
                </a:lnTo>
                <a:lnTo>
                  <a:pt x="461093" y="90838"/>
                </a:lnTo>
                <a:lnTo>
                  <a:pt x="486859" y="126478"/>
                </a:lnTo>
                <a:lnTo>
                  <a:pt x="506176" y="166259"/>
                </a:lnTo>
                <a:lnTo>
                  <a:pt x="518308" y="209460"/>
                </a:lnTo>
                <a:lnTo>
                  <a:pt x="522516" y="255358"/>
                </a:lnTo>
                <a:lnTo>
                  <a:pt x="518308" y="301260"/>
                </a:lnTo>
                <a:lnTo>
                  <a:pt x="506176" y="344462"/>
                </a:lnTo>
                <a:lnTo>
                  <a:pt x="486859" y="384244"/>
                </a:lnTo>
                <a:lnTo>
                  <a:pt x="461093" y="419884"/>
                </a:lnTo>
                <a:lnTo>
                  <a:pt x="429616" y="450661"/>
                </a:lnTo>
                <a:lnTo>
                  <a:pt x="393166" y="475854"/>
                </a:lnTo>
                <a:lnTo>
                  <a:pt x="352480" y="494742"/>
                </a:lnTo>
                <a:lnTo>
                  <a:pt x="308297" y="506603"/>
                </a:lnTo>
                <a:lnTo>
                  <a:pt x="261353" y="510717"/>
                </a:lnTo>
                <a:close/>
              </a:path>
            </a:pathLst>
          </a:custGeom>
          <a:solidFill>
            <a:srgbClr val="D9D9D9"/>
          </a:solidFill>
        </p:spPr>
        <p:txBody>
          <a:bodyPr wrap="square" lIns="0" tIns="0" rIns="0" bIns="0" rtlCol="0"/>
          <a:lstStyle/>
          <a:p/>
        </p:txBody>
      </p:sp>
      <p:sp>
        <p:nvSpPr>
          <p:cNvPr id="13" name="object 13"/>
          <p:cNvSpPr/>
          <p:nvPr/>
        </p:nvSpPr>
        <p:spPr>
          <a:xfrm>
            <a:off x="2119883" y="2440698"/>
            <a:ext cx="522605" cy="511175"/>
          </a:xfrm>
          <a:custGeom>
            <a:avLst/>
            <a:gdLst/>
            <a:ahLst/>
            <a:cxnLst/>
            <a:rect l="l" t="t" r="r" b="b"/>
            <a:pathLst>
              <a:path w="522605" h="511175">
                <a:moveTo>
                  <a:pt x="260921" y="510717"/>
                </a:moveTo>
                <a:lnTo>
                  <a:pt x="213974" y="506603"/>
                </a:lnTo>
                <a:lnTo>
                  <a:pt x="169790" y="494739"/>
                </a:lnTo>
                <a:lnTo>
                  <a:pt x="129109" y="475847"/>
                </a:lnTo>
                <a:lnTo>
                  <a:pt x="92670" y="450648"/>
                </a:lnTo>
                <a:lnTo>
                  <a:pt x="61213" y="419861"/>
                </a:lnTo>
                <a:lnTo>
                  <a:pt x="35478" y="384208"/>
                </a:lnTo>
                <a:lnTo>
                  <a:pt x="16204" y="344410"/>
                </a:lnTo>
                <a:lnTo>
                  <a:pt x="4132" y="301185"/>
                </a:lnTo>
                <a:lnTo>
                  <a:pt x="0" y="255257"/>
                </a:lnTo>
                <a:lnTo>
                  <a:pt x="4132" y="209385"/>
                </a:lnTo>
                <a:lnTo>
                  <a:pt x="16204" y="166207"/>
                </a:lnTo>
                <a:lnTo>
                  <a:pt x="35478" y="126443"/>
                </a:lnTo>
                <a:lnTo>
                  <a:pt x="61213" y="90815"/>
                </a:lnTo>
                <a:lnTo>
                  <a:pt x="92670" y="60047"/>
                </a:lnTo>
                <a:lnTo>
                  <a:pt x="129109" y="34859"/>
                </a:lnTo>
                <a:lnTo>
                  <a:pt x="169790" y="15974"/>
                </a:lnTo>
                <a:lnTo>
                  <a:pt x="213974" y="4113"/>
                </a:lnTo>
                <a:lnTo>
                  <a:pt x="260921" y="0"/>
                </a:lnTo>
                <a:lnTo>
                  <a:pt x="307865" y="4114"/>
                </a:lnTo>
                <a:lnTo>
                  <a:pt x="352050" y="15975"/>
                </a:lnTo>
                <a:lnTo>
                  <a:pt x="392737" y="34863"/>
                </a:lnTo>
                <a:lnTo>
                  <a:pt x="429189" y="60056"/>
                </a:lnTo>
                <a:lnTo>
                  <a:pt x="460668" y="90833"/>
                </a:lnTo>
                <a:lnTo>
                  <a:pt x="486436" y="126473"/>
                </a:lnTo>
                <a:lnTo>
                  <a:pt x="505756" y="166254"/>
                </a:lnTo>
                <a:lnTo>
                  <a:pt x="517888" y="209457"/>
                </a:lnTo>
                <a:lnTo>
                  <a:pt x="522097" y="255358"/>
                </a:lnTo>
                <a:lnTo>
                  <a:pt x="517888" y="301257"/>
                </a:lnTo>
                <a:lnTo>
                  <a:pt x="505756" y="344457"/>
                </a:lnTo>
                <a:lnTo>
                  <a:pt x="486436" y="384238"/>
                </a:lnTo>
                <a:lnTo>
                  <a:pt x="460668" y="419879"/>
                </a:lnTo>
                <a:lnTo>
                  <a:pt x="429189" y="450657"/>
                </a:lnTo>
                <a:lnTo>
                  <a:pt x="392737" y="475851"/>
                </a:lnTo>
                <a:lnTo>
                  <a:pt x="352050" y="494740"/>
                </a:lnTo>
                <a:lnTo>
                  <a:pt x="307865" y="506603"/>
                </a:lnTo>
                <a:lnTo>
                  <a:pt x="260921" y="510717"/>
                </a:lnTo>
                <a:close/>
              </a:path>
            </a:pathLst>
          </a:custGeom>
          <a:solidFill>
            <a:srgbClr val="C00000"/>
          </a:solidFill>
        </p:spPr>
        <p:txBody>
          <a:bodyPr wrap="square" lIns="0" tIns="0" rIns="0" bIns="0" rtlCol="0"/>
          <a:lstStyle/>
          <a:p/>
        </p:txBody>
      </p:sp>
      <p:sp>
        <p:nvSpPr>
          <p:cNvPr id="14" name="object 14"/>
          <p:cNvSpPr txBox="1"/>
          <p:nvPr/>
        </p:nvSpPr>
        <p:spPr>
          <a:xfrm>
            <a:off x="2264702" y="2413254"/>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3</a:t>
            </a:r>
            <a:endParaRPr sz="3200">
              <a:latin typeface="Calibri" panose="020F0502020204030204"/>
              <a:cs typeface="Calibri" panose="020F0502020204030204"/>
            </a:endParaRPr>
          </a:p>
        </p:txBody>
      </p:sp>
      <p:sp>
        <p:nvSpPr>
          <p:cNvPr id="15" name="object 15"/>
          <p:cNvSpPr/>
          <p:nvPr/>
        </p:nvSpPr>
        <p:spPr>
          <a:xfrm>
            <a:off x="2415539" y="3095244"/>
            <a:ext cx="6791325" cy="509270"/>
          </a:xfrm>
          <a:custGeom>
            <a:avLst/>
            <a:gdLst/>
            <a:ahLst/>
            <a:cxnLst/>
            <a:rect l="l" t="t" r="r" b="b"/>
            <a:pathLst>
              <a:path w="6791325" h="509270">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16" name="object 16"/>
          <p:cNvSpPr/>
          <p:nvPr/>
        </p:nvSpPr>
        <p:spPr>
          <a:xfrm>
            <a:off x="8938259" y="3094532"/>
            <a:ext cx="522605" cy="511175"/>
          </a:xfrm>
          <a:custGeom>
            <a:avLst/>
            <a:gdLst/>
            <a:ahLst/>
            <a:cxnLst/>
            <a:rect l="l" t="t" r="r" b="b"/>
            <a:pathLst>
              <a:path w="522604" h="511175">
                <a:moveTo>
                  <a:pt x="261353" y="510717"/>
                </a:moveTo>
                <a:lnTo>
                  <a:pt x="214405" y="506603"/>
                </a:lnTo>
                <a:lnTo>
                  <a:pt x="170217" y="494740"/>
                </a:lnTo>
                <a:lnTo>
                  <a:pt x="129524" y="475849"/>
                </a:lnTo>
                <a:lnTo>
                  <a:pt x="93064" y="450649"/>
                </a:lnTo>
                <a:lnTo>
                  <a:pt x="61571" y="419860"/>
                </a:lnTo>
                <a:lnTo>
                  <a:pt x="35782" y="384203"/>
                </a:lnTo>
                <a:lnTo>
                  <a:pt x="16433" y="344397"/>
                </a:lnTo>
                <a:lnTo>
                  <a:pt x="4260" y="301162"/>
                </a:lnTo>
                <a:lnTo>
                  <a:pt x="0" y="255219"/>
                </a:lnTo>
                <a:lnTo>
                  <a:pt x="4260" y="209362"/>
                </a:lnTo>
                <a:lnTo>
                  <a:pt x="16433" y="166194"/>
                </a:lnTo>
                <a:lnTo>
                  <a:pt x="35782" y="126437"/>
                </a:lnTo>
                <a:lnTo>
                  <a:pt x="61571" y="90814"/>
                </a:lnTo>
                <a:lnTo>
                  <a:pt x="93064" y="60048"/>
                </a:lnTo>
                <a:lnTo>
                  <a:pt x="129524" y="34861"/>
                </a:lnTo>
                <a:lnTo>
                  <a:pt x="170217" y="15975"/>
                </a:lnTo>
                <a:lnTo>
                  <a:pt x="214405" y="4114"/>
                </a:lnTo>
                <a:lnTo>
                  <a:pt x="261353" y="0"/>
                </a:lnTo>
                <a:lnTo>
                  <a:pt x="308297" y="4114"/>
                </a:lnTo>
                <a:lnTo>
                  <a:pt x="352480" y="15977"/>
                </a:lnTo>
                <a:lnTo>
                  <a:pt x="393166" y="34866"/>
                </a:lnTo>
                <a:lnTo>
                  <a:pt x="429616" y="60060"/>
                </a:lnTo>
                <a:lnTo>
                  <a:pt x="461093" y="90838"/>
                </a:lnTo>
                <a:lnTo>
                  <a:pt x="486859" y="126478"/>
                </a:lnTo>
                <a:lnTo>
                  <a:pt x="506176" y="166259"/>
                </a:lnTo>
                <a:lnTo>
                  <a:pt x="518308" y="209460"/>
                </a:lnTo>
                <a:lnTo>
                  <a:pt x="522516" y="255358"/>
                </a:lnTo>
                <a:lnTo>
                  <a:pt x="518308" y="301260"/>
                </a:lnTo>
                <a:lnTo>
                  <a:pt x="506176" y="344462"/>
                </a:lnTo>
                <a:lnTo>
                  <a:pt x="486859" y="384244"/>
                </a:lnTo>
                <a:lnTo>
                  <a:pt x="461093" y="419884"/>
                </a:lnTo>
                <a:lnTo>
                  <a:pt x="429616" y="450661"/>
                </a:lnTo>
                <a:lnTo>
                  <a:pt x="393166" y="475854"/>
                </a:lnTo>
                <a:lnTo>
                  <a:pt x="352480" y="494742"/>
                </a:lnTo>
                <a:lnTo>
                  <a:pt x="308297" y="506603"/>
                </a:lnTo>
                <a:lnTo>
                  <a:pt x="261353" y="510717"/>
                </a:lnTo>
                <a:close/>
              </a:path>
            </a:pathLst>
          </a:custGeom>
          <a:solidFill>
            <a:srgbClr val="D9D9D9"/>
          </a:solidFill>
        </p:spPr>
        <p:txBody>
          <a:bodyPr wrap="square" lIns="0" tIns="0" rIns="0" bIns="0" rtlCol="0"/>
          <a:lstStyle/>
          <a:p/>
        </p:txBody>
      </p:sp>
      <p:sp>
        <p:nvSpPr>
          <p:cNvPr id="17" name="object 17"/>
          <p:cNvSpPr/>
          <p:nvPr/>
        </p:nvSpPr>
        <p:spPr>
          <a:xfrm>
            <a:off x="2119883" y="3093999"/>
            <a:ext cx="522605" cy="511175"/>
          </a:xfrm>
          <a:custGeom>
            <a:avLst/>
            <a:gdLst/>
            <a:ahLst/>
            <a:cxnLst/>
            <a:rect l="l" t="t" r="r" b="b"/>
            <a:pathLst>
              <a:path w="522605" h="511175">
                <a:moveTo>
                  <a:pt x="260921" y="510717"/>
                </a:moveTo>
                <a:lnTo>
                  <a:pt x="213972" y="506603"/>
                </a:lnTo>
                <a:lnTo>
                  <a:pt x="169781" y="494740"/>
                </a:lnTo>
                <a:lnTo>
                  <a:pt x="129088" y="475851"/>
                </a:lnTo>
                <a:lnTo>
                  <a:pt x="92635" y="450657"/>
                </a:lnTo>
                <a:lnTo>
                  <a:pt x="61213" y="419946"/>
                </a:lnTo>
                <a:lnTo>
                  <a:pt x="35478" y="384355"/>
                </a:lnTo>
                <a:lnTo>
                  <a:pt x="16204" y="344643"/>
                </a:lnTo>
                <a:lnTo>
                  <a:pt x="4132" y="301533"/>
                </a:lnTo>
                <a:lnTo>
                  <a:pt x="0" y="255752"/>
                </a:lnTo>
                <a:lnTo>
                  <a:pt x="4132" y="209733"/>
                </a:lnTo>
                <a:lnTo>
                  <a:pt x="16204" y="166440"/>
                </a:lnTo>
                <a:lnTo>
                  <a:pt x="35478" y="126589"/>
                </a:lnTo>
                <a:lnTo>
                  <a:pt x="61213" y="90900"/>
                </a:lnTo>
                <a:lnTo>
                  <a:pt x="92720" y="60056"/>
                </a:lnTo>
                <a:lnTo>
                  <a:pt x="129140" y="34863"/>
                </a:lnTo>
                <a:lnTo>
                  <a:pt x="169806" y="15975"/>
                </a:lnTo>
                <a:lnTo>
                  <a:pt x="213980" y="4114"/>
                </a:lnTo>
                <a:lnTo>
                  <a:pt x="260921" y="0"/>
                </a:lnTo>
                <a:lnTo>
                  <a:pt x="307867" y="4114"/>
                </a:lnTo>
                <a:lnTo>
                  <a:pt x="352059" y="15979"/>
                </a:lnTo>
                <a:lnTo>
                  <a:pt x="392758" y="34877"/>
                </a:lnTo>
                <a:lnTo>
                  <a:pt x="429225" y="60090"/>
                </a:lnTo>
                <a:lnTo>
                  <a:pt x="460668" y="90833"/>
                </a:lnTo>
                <a:lnTo>
                  <a:pt x="486436" y="126473"/>
                </a:lnTo>
                <a:lnTo>
                  <a:pt x="505756" y="166254"/>
                </a:lnTo>
                <a:lnTo>
                  <a:pt x="517888" y="209457"/>
                </a:lnTo>
                <a:lnTo>
                  <a:pt x="522097" y="255358"/>
                </a:lnTo>
                <a:lnTo>
                  <a:pt x="517888" y="301257"/>
                </a:lnTo>
                <a:lnTo>
                  <a:pt x="505756" y="344457"/>
                </a:lnTo>
                <a:lnTo>
                  <a:pt x="486436" y="384238"/>
                </a:lnTo>
                <a:lnTo>
                  <a:pt x="460668" y="419879"/>
                </a:lnTo>
                <a:lnTo>
                  <a:pt x="429139" y="450691"/>
                </a:lnTo>
                <a:lnTo>
                  <a:pt x="392706" y="475866"/>
                </a:lnTo>
                <a:lnTo>
                  <a:pt x="352034" y="494745"/>
                </a:lnTo>
                <a:lnTo>
                  <a:pt x="307859" y="506603"/>
                </a:lnTo>
                <a:lnTo>
                  <a:pt x="260921" y="510717"/>
                </a:lnTo>
                <a:close/>
              </a:path>
            </a:pathLst>
          </a:custGeom>
          <a:solidFill>
            <a:srgbClr val="A6A6A6"/>
          </a:solidFill>
        </p:spPr>
        <p:txBody>
          <a:bodyPr wrap="square" lIns="0" tIns="0" rIns="0" bIns="0" rtlCol="0"/>
          <a:lstStyle/>
          <a:p/>
        </p:txBody>
      </p:sp>
      <p:sp>
        <p:nvSpPr>
          <p:cNvPr id="18" name="object 18"/>
          <p:cNvSpPr txBox="1"/>
          <p:nvPr/>
        </p:nvSpPr>
        <p:spPr>
          <a:xfrm>
            <a:off x="2264702" y="3066554"/>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4</a:t>
            </a:r>
            <a:endParaRPr sz="3200">
              <a:latin typeface="Calibri" panose="020F0502020204030204"/>
              <a:cs typeface="Calibri" panose="020F0502020204030204"/>
            </a:endParaRPr>
          </a:p>
        </p:txBody>
      </p:sp>
      <p:sp>
        <p:nvSpPr>
          <p:cNvPr id="19" name="object 19"/>
          <p:cNvSpPr/>
          <p:nvPr/>
        </p:nvSpPr>
        <p:spPr>
          <a:xfrm>
            <a:off x="2415539" y="3747515"/>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20" name="object 20"/>
          <p:cNvSpPr/>
          <p:nvPr/>
        </p:nvSpPr>
        <p:spPr>
          <a:xfrm>
            <a:off x="8938259" y="3747833"/>
            <a:ext cx="522605" cy="511175"/>
          </a:xfrm>
          <a:custGeom>
            <a:avLst/>
            <a:gdLst/>
            <a:ahLst/>
            <a:cxnLst/>
            <a:rect l="l" t="t" r="r" b="b"/>
            <a:pathLst>
              <a:path w="522604" h="511175">
                <a:moveTo>
                  <a:pt x="261353" y="510717"/>
                </a:moveTo>
                <a:lnTo>
                  <a:pt x="214403" y="506603"/>
                </a:lnTo>
                <a:lnTo>
                  <a:pt x="170208" y="494742"/>
                </a:lnTo>
                <a:lnTo>
                  <a:pt x="129505" y="475854"/>
                </a:lnTo>
                <a:lnTo>
                  <a:pt x="93032" y="450661"/>
                </a:lnTo>
                <a:lnTo>
                  <a:pt x="61571" y="419945"/>
                </a:lnTo>
                <a:lnTo>
                  <a:pt x="35782" y="384349"/>
                </a:lnTo>
                <a:lnTo>
                  <a:pt x="16433" y="344630"/>
                </a:lnTo>
                <a:lnTo>
                  <a:pt x="4260" y="301510"/>
                </a:lnTo>
                <a:lnTo>
                  <a:pt x="0" y="255714"/>
                </a:lnTo>
                <a:lnTo>
                  <a:pt x="4260" y="209710"/>
                </a:lnTo>
                <a:lnTo>
                  <a:pt x="16433" y="166427"/>
                </a:lnTo>
                <a:lnTo>
                  <a:pt x="35782" y="126584"/>
                </a:lnTo>
                <a:lnTo>
                  <a:pt x="61571" y="90899"/>
                </a:lnTo>
                <a:lnTo>
                  <a:pt x="93109" y="60060"/>
                </a:lnTo>
                <a:lnTo>
                  <a:pt x="129553" y="34866"/>
                </a:lnTo>
                <a:lnTo>
                  <a:pt x="170231" y="15977"/>
                </a:lnTo>
                <a:lnTo>
                  <a:pt x="214411" y="4114"/>
                </a:lnTo>
                <a:lnTo>
                  <a:pt x="261353" y="0"/>
                </a:lnTo>
                <a:lnTo>
                  <a:pt x="308298" y="4114"/>
                </a:lnTo>
                <a:lnTo>
                  <a:pt x="352488" y="15980"/>
                </a:lnTo>
                <a:lnTo>
                  <a:pt x="393185" y="34879"/>
                </a:lnTo>
                <a:lnTo>
                  <a:pt x="429648" y="60091"/>
                </a:lnTo>
                <a:lnTo>
                  <a:pt x="461093" y="90838"/>
                </a:lnTo>
                <a:lnTo>
                  <a:pt x="486859" y="126478"/>
                </a:lnTo>
                <a:lnTo>
                  <a:pt x="506176" y="166259"/>
                </a:lnTo>
                <a:lnTo>
                  <a:pt x="518308" y="209460"/>
                </a:lnTo>
                <a:lnTo>
                  <a:pt x="522516" y="255358"/>
                </a:lnTo>
                <a:lnTo>
                  <a:pt x="518308" y="301260"/>
                </a:lnTo>
                <a:lnTo>
                  <a:pt x="506176" y="344462"/>
                </a:lnTo>
                <a:lnTo>
                  <a:pt x="486859" y="384244"/>
                </a:lnTo>
                <a:lnTo>
                  <a:pt x="461093" y="419884"/>
                </a:lnTo>
                <a:lnTo>
                  <a:pt x="429571" y="450692"/>
                </a:lnTo>
                <a:lnTo>
                  <a:pt x="393137" y="475867"/>
                </a:lnTo>
                <a:lnTo>
                  <a:pt x="352465" y="494746"/>
                </a:lnTo>
                <a:lnTo>
                  <a:pt x="308291" y="506604"/>
                </a:lnTo>
                <a:lnTo>
                  <a:pt x="261353" y="510717"/>
                </a:lnTo>
                <a:close/>
              </a:path>
            </a:pathLst>
          </a:custGeom>
          <a:solidFill>
            <a:srgbClr val="D9D9D9"/>
          </a:solidFill>
        </p:spPr>
        <p:txBody>
          <a:bodyPr wrap="square" lIns="0" tIns="0" rIns="0" bIns="0" rtlCol="0"/>
          <a:lstStyle/>
          <a:p/>
        </p:txBody>
      </p:sp>
      <p:sp>
        <p:nvSpPr>
          <p:cNvPr id="21" name="object 21"/>
          <p:cNvSpPr/>
          <p:nvPr/>
        </p:nvSpPr>
        <p:spPr>
          <a:xfrm>
            <a:off x="2119883" y="3747299"/>
            <a:ext cx="522605" cy="511175"/>
          </a:xfrm>
          <a:custGeom>
            <a:avLst/>
            <a:gdLst/>
            <a:ahLst/>
            <a:cxnLst/>
            <a:rect l="l" t="t" r="r" b="b"/>
            <a:pathLst>
              <a:path w="522605" h="511175">
                <a:moveTo>
                  <a:pt x="260921" y="510717"/>
                </a:moveTo>
                <a:lnTo>
                  <a:pt x="213974" y="506602"/>
                </a:lnTo>
                <a:lnTo>
                  <a:pt x="169790" y="494735"/>
                </a:lnTo>
                <a:lnTo>
                  <a:pt x="129109" y="475830"/>
                </a:lnTo>
                <a:lnTo>
                  <a:pt x="92670" y="450605"/>
                </a:lnTo>
                <a:lnTo>
                  <a:pt x="61213" y="419775"/>
                </a:lnTo>
                <a:lnTo>
                  <a:pt x="35478" y="384056"/>
                </a:lnTo>
                <a:lnTo>
                  <a:pt x="16204" y="344164"/>
                </a:lnTo>
                <a:lnTo>
                  <a:pt x="4132" y="300814"/>
                </a:lnTo>
                <a:lnTo>
                  <a:pt x="0" y="254723"/>
                </a:lnTo>
                <a:lnTo>
                  <a:pt x="4132" y="209011"/>
                </a:lnTo>
                <a:lnTo>
                  <a:pt x="16204" y="165956"/>
                </a:lnTo>
                <a:lnTo>
                  <a:pt x="35478" y="126285"/>
                </a:lnTo>
                <a:lnTo>
                  <a:pt x="61213" y="90724"/>
                </a:lnTo>
                <a:lnTo>
                  <a:pt x="92670" y="60000"/>
                </a:lnTo>
                <a:lnTo>
                  <a:pt x="129109" y="34839"/>
                </a:lnTo>
                <a:lnTo>
                  <a:pt x="169790" y="15968"/>
                </a:lnTo>
                <a:lnTo>
                  <a:pt x="213974" y="4113"/>
                </a:lnTo>
                <a:lnTo>
                  <a:pt x="260921" y="0"/>
                </a:lnTo>
                <a:lnTo>
                  <a:pt x="307865" y="4114"/>
                </a:lnTo>
                <a:lnTo>
                  <a:pt x="352050" y="15975"/>
                </a:lnTo>
                <a:lnTo>
                  <a:pt x="392737" y="34863"/>
                </a:lnTo>
                <a:lnTo>
                  <a:pt x="429189" y="60056"/>
                </a:lnTo>
                <a:lnTo>
                  <a:pt x="460668" y="90833"/>
                </a:lnTo>
                <a:lnTo>
                  <a:pt x="486436" y="126473"/>
                </a:lnTo>
                <a:lnTo>
                  <a:pt x="505756" y="166254"/>
                </a:lnTo>
                <a:lnTo>
                  <a:pt x="517888" y="209457"/>
                </a:lnTo>
                <a:lnTo>
                  <a:pt x="522097" y="255358"/>
                </a:lnTo>
                <a:lnTo>
                  <a:pt x="517888" y="301260"/>
                </a:lnTo>
                <a:lnTo>
                  <a:pt x="505756" y="344462"/>
                </a:lnTo>
                <a:lnTo>
                  <a:pt x="486436" y="384244"/>
                </a:lnTo>
                <a:lnTo>
                  <a:pt x="460668" y="419884"/>
                </a:lnTo>
                <a:lnTo>
                  <a:pt x="429189" y="450661"/>
                </a:lnTo>
                <a:lnTo>
                  <a:pt x="392737" y="475854"/>
                </a:lnTo>
                <a:lnTo>
                  <a:pt x="352050" y="494742"/>
                </a:lnTo>
                <a:lnTo>
                  <a:pt x="307865" y="506603"/>
                </a:lnTo>
                <a:lnTo>
                  <a:pt x="260921" y="510717"/>
                </a:lnTo>
                <a:close/>
              </a:path>
            </a:pathLst>
          </a:custGeom>
          <a:solidFill>
            <a:srgbClr val="A6A6A6"/>
          </a:solidFill>
        </p:spPr>
        <p:txBody>
          <a:bodyPr wrap="square" lIns="0" tIns="0" rIns="0" bIns="0" rtlCol="0"/>
          <a:lstStyle/>
          <a:p/>
        </p:txBody>
      </p:sp>
      <p:sp>
        <p:nvSpPr>
          <p:cNvPr id="22" name="object 22"/>
          <p:cNvSpPr txBox="1"/>
          <p:nvPr/>
        </p:nvSpPr>
        <p:spPr>
          <a:xfrm>
            <a:off x="2264702" y="3719855"/>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5</a:t>
            </a:r>
            <a:endParaRPr sz="3200">
              <a:latin typeface="Calibri" panose="020F0502020204030204"/>
              <a:cs typeface="Calibri" panose="020F0502020204030204"/>
            </a:endParaRPr>
          </a:p>
        </p:txBody>
      </p:sp>
      <p:sp>
        <p:nvSpPr>
          <p:cNvPr id="23" name="object 23"/>
          <p:cNvSpPr/>
          <p:nvPr/>
        </p:nvSpPr>
        <p:spPr>
          <a:xfrm>
            <a:off x="2415539" y="4401311"/>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24" name="object 24"/>
          <p:cNvSpPr/>
          <p:nvPr/>
        </p:nvSpPr>
        <p:spPr>
          <a:xfrm>
            <a:off x="8938259" y="4401146"/>
            <a:ext cx="522605" cy="511175"/>
          </a:xfrm>
          <a:custGeom>
            <a:avLst/>
            <a:gdLst/>
            <a:ahLst/>
            <a:cxnLst/>
            <a:rect l="l" t="t" r="r" b="b"/>
            <a:pathLst>
              <a:path w="522604" h="511175">
                <a:moveTo>
                  <a:pt x="261353" y="510717"/>
                </a:moveTo>
                <a:lnTo>
                  <a:pt x="214405" y="506602"/>
                </a:lnTo>
                <a:lnTo>
                  <a:pt x="170217" y="494733"/>
                </a:lnTo>
                <a:lnTo>
                  <a:pt x="129524" y="475826"/>
                </a:lnTo>
                <a:lnTo>
                  <a:pt x="93064" y="450597"/>
                </a:lnTo>
                <a:lnTo>
                  <a:pt x="61571" y="419761"/>
                </a:lnTo>
                <a:lnTo>
                  <a:pt x="35782" y="384035"/>
                </a:lnTo>
                <a:lnTo>
                  <a:pt x="16433" y="344135"/>
                </a:lnTo>
                <a:lnTo>
                  <a:pt x="4260" y="300775"/>
                </a:lnTo>
                <a:lnTo>
                  <a:pt x="0" y="254673"/>
                </a:lnTo>
                <a:lnTo>
                  <a:pt x="4260" y="208975"/>
                </a:lnTo>
                <a:lnTo>
                  <a:pt x="16433" y="165932"/>
                </a:lnTo>
                <a:lnTo>
                  <a:pt x="35782" y="126269"/>
                </a:lnTo>
                <a:lnTo>
                  <a:pt x="61571" y="90715"/>
                </a:lnTo>
                <a:lnTo>
                  <a:pt x="93064" y="59996"/>
                </a:lnTo>
                <a:lnTo>
                  <a:pt x="129524" y="34837"/>
                </a:lnTo>
                <a:lnTo>
                  <a:pt x="170217" y="15968"/>
                </a:lnTo>
                <a:lnTo>
                  <a:pt x="214405" y="4113"/>
                </a:lnTo>
                <a:lnTo>
                  <a:pt x="261353" y="0"/>
                </a:lnTo>
                <a:lnTo>
                  <a:pt x="308297" y="4114"/>
                </a:lnTo>
                <a:lnTo>
                  <a:pt x="352480" y="15975"/>
                </a:lnTo>
                <a:lnTo>
                  <a:pt x="393166" y="34863"/>
                </a:lnTo>
                <a:lnTo>
                  <a:pt x="429616" y="60056"/>
                </a:lnTo>
                <a:lnTo>
                  <a:pt x="461093" y="90833"/>
                </a:lnTo>
                <a:lnTo>
                  <a:pt x="486859" y="126473"/>
                </a:lnTo>
                <a:lnTo>
                  <a:pt x="506176" y="166254"/>
                </a:lnTo>
                <a:lnTo>
                  <a:pt x="518308" y="209457"/>
                </a:lnTo>
                <a:lnTo>
                  <a:pt x="522516" y="255358"/>
                </a:lnTo>
                <a:lnTo>
                  <a:pt x="518308" y="301257"/>
                </a:lnTo>
                <a:lnTo>
                  <a:pt x="506176" y="344457"/>
                </a:lnTo>
                <a:lnTo>
                  <a:pt x="486859" y="384238"/>
                </a:lnTo>
                <a:lnTo>
                  <a:pt x="461093" y="419879"/>
                </a:lnTo>
                <a:lnTo>
                  <a:pt x="429616" y="450657"/>
                </a:lnTo>
                <a:lnTo>
                  <a:pt x="393166" y="475851"/>
                </a:lnTo>
                <a:lnTo>
                  <a:pt x="352480" y="494740"/>
                </a:lnTo>
                <a:lnTo>
                  <a:pt x="308297" y="506603"/>
                </a:lnTo>
                <a:lnTo>
                  <a:pt x="261353" y="510717"/>
                </a:lnTo>
                <a:close/>
              </a:path>
            </a:pathLst>
          </a:custGeom>
          <a:solidFill>
            <a:srgbClr val="D9D9D9"/>
          </a:solidFill>
        </p:spPr>
        <p:txBody>
          <a:bodyPr wrap="square" lIns="0" tIns="0" rIns="0" bIns="0" rtlCol="0"/>
          <a:lstStyle/>
          <a:p/>
        </p:txBody>
      </p:sp>
      <p:sp>
        <p:nvSpPr>
          <p:cNvPr id="25" name="object 25"/>
          <p:cNvSpPr/>
          <p:nvPr/>
        </p:nvSpPr>
        <p:spPr>
          <a:xfrm>
            <a:off x="2119883" y="4400600"/>
            <a:ext cx="522605" cy="511175"/>
          </a:xfrm>
          <a:custGeom>
            <a:avLst/>
            <a:gdLst/>
            <a:ahLst/>
            <a:cxnLst/>
            <a:rect l="l" t="t" r="r" b="b"/>
            <a:pathLst>
              <a:path w="522605" h="511175">
                <a:moveTo>
                  <a:pt x="260921" y="510717"/>
                </a:moveTo>
                <a:lnTo>
                  <a:pt x="213974" y="506603"/>
                </a:lnTo>
                <a:lnTo>
                  <a:pt x="169790" y="494740"/>
                </a:lnTo>
                <a:lnTo>
                  <a:pt x="129109" y="475849"/>
                </a:lnTo>
                <a:lnTo>
                  <a:pt x="92670" y="450649"/>
                </a:lnTo>
                <a:lnTo>
                  <a:pt x="61213" y="419860"/>
                </a:lnTo>
                <a:lnTo>
                  <a:pt x="35478" y="384203"/>
                </a:lnTo>
                <a:lnTo>
                  <a:pt x="16204" y="344397"/>
                </a:lnTo>
                <a:lnTo>
                  <a:pt x="4132" y="301162"/>
                </a:lnTo>
                <a:lnTo>
                  <a:pt x="0" y="255219"/>
                </a:lnTo>
                <a:lnTo>
                  <a:pt x="4132" y="209358"/>
                </a:lnTo>
                <a:lnTo>
                  <a:pt x="16204" y="166189"/>
                </a:lnTo>
                <a:lnTo>
                  <a:pt x="35478" y="126431"/>
                </a:lnTo>
                <a:lnTo>
                  <a:pt x="61213" y="90809"/>
                </a:lnTo>
                <a:lnTo>
                  <a:pt x="92670" y="60044"/>
                </a:lnTo>
                <a:lnTo>
                  <a:pt x="129109" y="34858"/>
                </a:lnTo>
                <a:lnTo>
                  <a:pt x="169790" y="15974"/>
                </a:lnTo>
                <a:lnTo>
                  <a:pt x="213974" y="4113"/>
                </a:lnTo>
                <a:lnTo>
                  <a:pt x="260921" y="0"/>
                </a:lnTo>
                <a:lnTo>
                  <a:pt x="307865" y="4114"/>
                </a:lnTo>
                <a:lnTo>
                  <a:pt x="352050" y="15975"/>
                </a:lnTo>
                <a:lnTo>
                  <a:pt x="392737" y="34863"/>
                </a:lnTo>
                <a:lnTo>
                  <a:pt x="429189" y="60056"/>
                </a:lnTo>
                <a:lnTo>
                  <a:pt x="460668" y="90833"/>
                </a:lnTo>
                <a:lnTo>
                  <a:pt x="486436" y="126473"/>
                </a:lnTo>
                <a:lnTo>
                  <a:pt x="505756" y="166254"/>
                </a:lnTo>
                <a:lnTo>
                  <a:pt x="517888" y="209457"/>
                </a:lnTo>
                <a:lnTo>
                  <a:pt x="522097" y="255358"/>
                </a:lnTo>
                <a:lnTo>
                  <a:pt x="517888" y="301260"/>
                </a:lnTo>
                <a:lnTo>
                  <a:pt x="505756" y="344462"/>
                </a:lnTo>
                <a:lnTo>
                  <a:pt x="486436" y="384244"/>
                </a:lnTo>
                <a:lnTo>
                  <a:pt x="460668" y="419884"/>
                </a:lnTo>
                <a:lnTo>
                  <a:pt x="429189" y="450661"/>
                </a:lnTo>
                <a:lnTo>
                  <a:pt x="392737" y="475854"/>
                </a:lnTo>
                <a:lnTo>
                  <a:pt x="352050" y="494742"/>
                </a:lnTo>
                <a:lnTo>
                  <a:pt x="307865" y="506603"/>
                </a:lnTo>
                <a:lnTo>
                  <a:pt x="260921" y="510717"/>
                </a:lnTo>
                <a:close/>
              </a:path>
            </a:pathLst>
          </a:custGeom>
          <a:solidFill>
            <a:srgbClr val="A6A6A6"/>
          </a:solidFill>
        </p:spPr>
        <p:txBody>
          <a:bodyPr wrap="square" lIns="0" tIns="0" rIns="0" bIns="0" rtlCol="0"/>
          <a:lstStyle/>
          <a:p/>
        </p:txBody>
      </p:sp>
      <p:sp>
        <p:nvSpPr>
          <p:cNvPr id="26" name="object 26"/>
          <p:cNvSpPr txBox="1"/>
          <p:nvPr/>
        </p:nvSpPr>
        <p:spPr>
          <a:xfrm>
            <a:off x="2264702" y="4373156"/>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6</a:t>
            </a:r>
            <a:endParaRPr sz="3200">
              <a:latin typeface="Calibri" panose="020F0502020204030204"/>
              <a:cs typeface="Calibri" panose="020F0502020204030204"/>
            </a:endParaRPr>
          </a:p>
        </p:txBody>
      </p:sp>
      <p:sp>
        <p:nvSpPr>
          <p:cNvPr id="27" name="object 27"/>
          <p:cNvSpPr/>
          <p:nvPr/>
        </p:nvSpPr>
        <p:spPr>
          <a:xfrm>
            <a:off x="2415539" y="5055108"/>
            <a:ext cx="6791325" cy="509270"/>
          </a:xfrm>
          <a:custGeom>
            <a:avLst/>
            <a:gdLst/>
            <a:ahLst/>
            <a:cxnLst/>
            <a:rect l="l" t="t" r="r" b="b"/>
            <a:pathLst>
              <a:path w="6791325" h="509270">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28" name="object 28"/>
          <p:cNvSpPr/>
          <p:nvPr/>
        </p:nvSpPr>
        <p:spPr>
          <a:xfrm>
            <a:off x="8938259" y="5054447"/>
            <a:ext cx="522605" cy="511175"/>
          </a:xfrm>
          <a:custGeom>
            <a:avLst/>
            <a:gdLst/>
            <a:ahLst/>
            <a:cxnLst/>
            <a:rect l="l" t="t" r="r" b="b"/>
            <a:pathLst>
              <a:path w="522604" h="511175">
                <a:moveTo>
                  <a:pt x="261353" y="510717"/>
                </a:moveTo>
                <a:lnTo>
                  <a:pt x="214405" y="506603"/>
                </a:lnTo>
                <a:lnTo>
                  <a:pt x="170217" y="494738"/>
                </a:lnTo>
                <a:lnTo>
                  <a:pt x="129524" y="475844"/>
                </a:lnTo>
                <a:lnTo>
                  <a:pt x="93064" y="450640"/>
                </a:lnTo>
                <a:lnTo>
                  <a:pt x="61571" y="419846"/>
                </a:lnTo>
                <a:lnTo>
                  <a:pt x="35782" y="384182"/>
                </a:lnTo>
                <a:lnTo>
                  <a:pt x="16433" y="344368"/>
                </a:lnTo>
                <a:lnTo>
                  <a:pt x="4260" y="301123"/>
                </a:lnTo>
                <a:lnTo>
                  <a:pt x="0" y="255168"/>
                </a:lnTo>
                <a:lnTo>
                  <a:pt x="4260" y="209323"/>
                </a:lnTo>
                <a:lnTo>
                  <a:pt x="16433" y="166165"/>
                </a:lnTo>
                <a:lnTo>
                  <a:pt x="35782" y="126416"/>
                </a:lnTo>
                <a:lnTo>
                  <a:pt x="61571" y="90800"/>
                </a:lnTo>
                <a:lnTo>
                  <a:pt x="93064" y="60039"/>
                </a:lnTo>
                <a:lnTo>
                  <a:pt x="129524" y="34856"/>
                </a:lnTo>
                <a:lnTo>
                  <a:pt x="170217" y="15973"/>
                </a:lnTo>
                <a:lnTo>
                  <a:pt x="214405" y="4113"/>
                </a:lnTo>
                <a:lnTo>
                  <a:pt x="261353" y="0"/>
                </a:lnTo>
                <a:lnTo>
                  <a:pt x="308297" y="4114"/>
                </a:lnTo>
                <a:lnTo>
                  <a:pt x="352480" y="15975"/>
                </a:lnTo>
                <a:lnTo>
                  <a:pt x="393166" y="34863"/>
                </a:lnTo>
                <a:lnTo>
                  <a:pt x="429616" y="60056"/>
                </a:lnTo>
                <a:lnTo>
                  <a:pt x="461093" y="90833"/>
                </a:lnTo>
                <a:lnTo>
                  <a:pt x="486859" y="126473"/>
                </a:lnTo>
                <a:lnTo>
                  <a:pt x="506176" y="166254"/>
                </a:lnTo>
                <a:lnTo>
                  <a:pt x="518308" y="209457"/>
                </a:lnTo>
                <a:lnTo>
                  <a:pt x="522516" y="255358"/>
                </a:lnTo>
                <a:lnTo>
                  <a:pt x="518308" y="301257"/>
                </a:lnTo>
                <a:lnTo>
                  <a:pt x="506176" y="344457"/>
                </a:lnTo>
                <a:lnTo>
                  <a:pt x="486859" y="384238"/>
                </a:lnTo>
                <a:lnTo>
                  <a:pt x="461093" y="419879"/>
                </a:lnTo>
                <a:lnTo>
                  <a:pt x="429616" y="450657"/>
                </a:lnTo>
                <a:lnTo>
                  <a:pt x="393166" y="475851"/>
                </a:lnTo>
                <a:lnTo>
                  <a:pt x="352480" y="494740"/>
                </a:lnTo>
                <a:lnTo>
                  <a:pt x="308297" y="506603"/>
                </a:lnTo>
                <a:lnTo>
                  <a:pt x="261353" y="510717"/>
                </a:lnTo>
                <a:close/>
              </a:path>
            </a:pathLst>
          </a:custGeom>
          <a:solidFill>
            <a:srgbClr val="D9D9D9"/>
          </a:solidFill>
        </p:spPr>
        <p:txBody>
          <a:bodyPr wrap="square" lIns="0" tIns="0" rIns="0" bIns="0" rtlCol="0"/>
          <a:lstStyle/>
          <a:p/>
        </p:txBody>
      </p:sp>
      <p:sp>
        <p:nvSpPr>
          <p:cNvPr id="29" name="object 29"/>
          <p:cNvSpPr/>
          <p:nvPr/>
        </p:nvSpPr>
        <p:spPr>
          <a:xfrm>
            <a:off x="2119883" y="5053901"/>
            <a:ext cx="522605" cy="511175"/>
          </a:xfrm>
          <a:custGeom>
            <a:avLst/>
            <a:gdLst/>
            <a:ahLst/>
            <a:cxnLst/>
            <a:rect l="l" t="t" r="r" b="b"/>
            <a:pathLst>
              <a:path w="522605" h="511175">
                <a:moveTo>
                  <a:pt x="260921" y="510717"/>
                </a:moveTo>
                <a:lnTo>
                  <a:pt x="213972" y="506603"/>
                </a:lnTo>
                <a:lnTo>
                  <a:pt x="169781" y="494742"/>
                </a:lnTo>
                <a:lnTo>
                  <a:pt x="129090" y="475854"/>
                </a:lnTo>
                <a:lnTo>
                  <a:pt x="92638" y="450661"/>
                </a:lnTo>
                <a:lnTo>
                  <a:pt x="61213" y="419945"/>
                </a:lnTo>
                <a:lnTo>
                  <a:pt x="35478" y="384349"/>
                </a:lnTo>
                <a:lnTo>
                  <a:pt x="16204" y="344630"/>
                </a:lnTo>
                <a:lnTo>
                  <a:pt x="4132" y="301510"/>
                </a:lnTo>
                <a:lnTo>
                  <a:pt x="0" y="255714"/>
                </a:lnTo>
                <a:lnTo>
                  <a:pt x="4132" y="209706"/>
                </a:lnTo>
                <a:lnTo>
                  <a:pt x="16204" y="166422"/>
                </a:lnTo>
                <a:lnTo>
                  <a:pt x="35478" y="126578"/>
                </a:lnTo>
                <a:lnTo>
                  <a:pt x="61213" y="90894"/>
                </a:lnTo>
                <a:lnTo>
                  <a:pt x="92715" y="60056"/>
                </a:lnTo>
                <a:lnTo>
                  <a:pt x="129137" y="34863"/>
                </a:lnTo>
                <a:lnTo>
                  <a:pt x="169804" y="15975"/>
                </a:lnTo>
                <a:lnTo>
                  <a:pt x="213979" y="4114"/>
                </a:lnTo>
                <a:lnTo>
                  <a:pt x="260921" y="0"/>
                </a:lnTo>
                <a:lnTo>
                  <a:pt x="307867" y="4114"/>
                </a:lnTo>
                <a:lnTo>
                  <a:pt x="352058" y="15979"/>
                </a:lnTo>
                <a:lnTo>
                  <a:pt x="392756" y="34876"/>
                </a:lnTo>
                <a:lnTo>
                  <a:pt x="429221" y="60087"/>
                </a:lnTo>
                <a:lnTo>
                  <a:pt x="460668" y="90833"/>
                </a:lnTo>
                <a:lnTo>
                  <a:pt x="486436" y="126473"/>
                </a:lnTo>
                <a:lnTo>
                  <a:pt x="505756" y="166254"/>
                </a:lnTo>
                <a:lnTo>
                  <a:pt x="517888" y="209457"/>
                </a:lnTo>
                <a:lnTo>
                  <a:pt x="522097" y="255358"/>
                </a:lnTo>
                <a:lnTo>
                  <a:pt x="517888" y="301260"/>
                </a:lnTo>
                <a:lnTo>
                  <a:pt x="505756" y="344462"/>
                </a:lnTo>
                <a:lnTo>
                  <a:pt x="486436" y="384244"/>
                </a:lnTo>
                <a:lnTo>
                  <a:pt x="460668" y="419884"/>
                </a:lnTo>
                <a:lnTo>
                  <a:pt x="429144" y="450692"/>
                </a:lnTo>
                <a:lnTo>
                  <a:pt x="392709" y="475867"/>
                </a:lnTo>
                <a:lnTo>
                  <a:pt x="352035" y="494746"/>
                </a:lnTo>
                <a:lnTo>
                  <a:pt x="307860" y="506604"/>
                </a:lnTo>
                <a:lnTo>
                  <a:pt x="260921" y="510717"/>
                </a:lnTo>
                <a:close/>
              </a:path>
            </a:pathLst>
          </a:custGeom>
          <a:solidFill>
            <a:srgbClr val="A6A6A6"/>
          </a:solidFill>
        </p:spPr>
        <p:txBody>
          <a:bodyPr wrap="square" lIns="0" tIns="0" rIns="0" bIns="0" rtlCol="0"/>
          <a:lstStyle/>
          <a:p/>
        </p:txBody>
      </p:sp>
      <p:sp>
        <p:nvSpPr>
          <p:cNvPr id="30" name="object 30"/>
          <p:cNvSpPr txBox="1"/>
          <p:nvPr/>
        </p:nvSpPr>
        <p:spPr>
          <a:xfrm>
            <a:off x="2264702" y="5026456"/>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7</a:t>
            </a:r>
            <a:endParaRPr sz="3200">
              <a:latin typeface="Calibri" panose="020F0502020204030204"/>
              <a:cs typeface="Calibri" panose="020F0502020204030204"/>
            </a:endParaRPr>
          </a:p>
        </p:txBody>
      </p:sp>
      <p:sp>
        <p:nvSpPr>
          <p:cNvPr id="31" name="object 31"/>
          <p:cNvSpPr/>
          <p:nvPr/>
        </p:nvSpPr>
        <p:spPr>
          <a:xfrm>
            <a:off x="2415539" y="5707379"/>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32" name="object 32"/>
          <p:cNvSpPr/>
          <p:nvPr/>
        </p:nvSpPr>
        <p:spPr>
          <a:xfrm>
            <a:off x="8938259" y="5707748"/>
            <a:ext cx="522605" cy="511175"/>
          </a:xfrm>
          <a:custGeom>
            <a:avLst/>
            <a:gdLst/>
            <a:ahLst/>
            <a:cxnLst/>
            <a:rect l="l" t="t" r="r" b="b"/>
            <a:pathLst>
              <a:path w="522604" h="511175">
                <a:moveTo>
                  <a:pt x="261353" y="510717"/>
                </a:moveTo>
                <a:lnTo>
                  <a:pt x="214403" y="506603"/>
                </a:lnTo>
                <a:lnTo>
                  <a:pt x="170210" y="494742"/>
                </a:lnTo>
                <a:lnTo>
                  <a:pt x="129508" y="475854"/>
                </a:lnTo>
                <a:lnTo>
                  <a:pt x="93036" y="450661"/>
                </a:lnTo>
                <a:lnTo>
                  <a:pt x="61533" y="419884"/>
                </a:lnTo>
                <a:lnTo>
                  <a:pt x="35782" y="384334"/>
                </a:lnTo>
                <a:lnTo>
                  <a:pt x="16433" y="344606"/>
                </a:lnTo>
                <a:lnTo>
                  <a:pt x="4260" y="301474"/>
                </a:lnTo>
                <a:lnTo>
                  <a:pt x="0" y="255663"/>
                </a:lnTo>
                <a:lnTo>
                  <a:pt x="4260" y="209671"/>
                </a:lnTo>
                <a:lnTo>
                  <a:pt x="16433" y="166398"/>
                </a:lnTo>
                <a:lnTo>
                  <a:pt x="35782" y="126563"/>
                </a:lnTo>
                <a:lnTo>
                  <a:pt x="61624" y="90833"/>
                </a:lnTo>
                <a:lnTo>
                  <a:pt x="93102" y="60056"/>
                </a:lnTo>
                <a:lnTo>
                  <a:pt x="129549" y="34863"/>
                </a:lnTo>
                <a:lnTo>
                  <a:pt x="170229" y="15975"/>
                </a:lnTo>
                <a:lnTo>
                  <a:pt x="214410" y="4114"/>
                </a:lnTo>
                <a:lnTo>
                  <a:pt x="261353" y="0"/>
                </a:lnTo>
                <a:lnTo>
                  <a:pt x="308298" y="4114"/>
                </a:lnTo>
                <a:lnTo>
                  <a:pt x="352487" y="15978"/>
                </a:lnTo>
                <a:lnTo>
                  <a:pt x="393182" y="34874"/>
                </a:lnTo>
                <a:lnTo>
                  <a:pt x="429643" y="60083"/>
                </a:lnTo>
                <a:lnTo>
                  <a:pt x="461130" y="90885"/>
                </a:lnTo>
                <a:lnTo>
                  <a:pt x="486859" y="126473"/>
                </a:lnTo>
                <a:lnTo>
                  <a:pt x="506176" y="166254"/>
                </a:lnTo>
                <a:lnTo>
                  <a:pt x="518308" y="209457"/>
                </a:lnTo>
                <a:lnTo>
                  <a:pt x="522516" y="255358"/>
                </a:lnTo>
                <a:lnTo>
                  <a:pt x="518308" y="301260"/>
                </a:lnTo>
                <a:lnTo>
                  <a:pt x="506176" y="344462"/>
                </a:lnTo>
                <a:lnTo>
                  <a:pt x="486859" y="384244"/>
                </a:lnTo>
                <a:lnTo>
                  <a:pt x="461039" y="419936"/>
                </a:lnTo>
                <a:lnTo>
                  <a:pt x="429577" y="450688"/>
                </a:lnTo>
                <a:lnTo>
                  <a:pt x="393141" y="475865"/>
                </a:lnTo>
                <a:lnTo>
                  <a:pt x="352468" y="494745"/>
                </a:lnTo>
                <a:lnTo>
                  <a:pt x="308292" y="506604"/>
                </a:lnTo>
                <a:lnTo>
                  <a:pt x="261353" y="510717"/>
                </a:lnTo>
                <a:close/>
              </a:path>
            </a:pathLst>
          </a:custGeom>
          <a:solidFill>
            <a:srgbClr val="D9D9D9"/>
          </a:solidFill>
        </p:spPr>
        <p:txBody>
          <a:bodyPr wrap="square" lIns="0" tIns="0" rIns="0" bIns="0" rtlCol="0"/>
          <a:lstStyle/>
          <a:p/>
        </p:txBody>
      </p:sp>
      <p:sp>
        <p:nvSpPr>
          <p:cNvPr id="33" name="object 33"/>
          <p:cNvSpPr/>
          <p:nvPr/>
        </p:nvSpPr>
        <p:spPr>
          <a:xfrm>
            <a:off x="2119883" y="5707202"/>
            <a:ext cx="522605" cy="511175"/>
          </a:xfrm>
          <a:custGeom>
            <a:avLst/>
            <a:gdLst/>
            <a:ahLst/>
            <a:cxnLst/>
            <a:rect l="l" t="t" r="r" b="b"/>
            <a:pathLst>
              <a:path w="522605" h="511175">
                <a:moveTo>
                  <a:pt x="260921" y="510717"/>
                </a:moveTo>
                <a:lnTo>
                  <a:pt x="213974" y="506602"/>
                </a:lnTo>
                <a:lnTo>
                  <a:pt x="169790" y="494734"/>
                </a:lnTo>
                <a:lnTo>
                  <a:pt x="129109" y="475829"/>
                </a:lnTo>
                <a:lnTo>
                  <a:pt x="92670" y="450602"/>
                </a:lnTo>
                <a:lnTo>
                  <a:pt x="61213" y="419769"/>
                </a:lnTo>
                <a:lnTo>
                  <a:pt x="35478" y="384045"/>
                </a:lnTo>
                <a:lnTo>
                  <a:pt x="16204" y="344146"/>
                </a:lnTo>
                <a:lnTo>
                  <a:pt x="4132" y="300787"/>
                </a:lnTo>
                <a:lnTo>
                  <a:pt x="0" y="254685"/>
                </a:lnTo>
                <a:lnTo>
                  <a:pt x="4132" y="208984"/>
                </a:lnTo>
                <a:lnTo>
                  <a:pt x="16204" y="165938"/>
                </a:lnTo>
                <a:lnTo>
                  <a:pt x="35478" y="126273"/>
                </a:lnTo>
                <a:lnTo>
                  <a:pt x="61213" y="90717"/>
                </a:lnTo>
                <a:lnTo>
                  <a:pt x="92670" y="59997"/>
                </a:lnTo>
                <a:lnTo>
                  <a:pt x="129109" y="34838"/>
                </a:lnTo>
                <a:lnTo>
                  <a:pt x="169790" y="15968"/>
                </a:lnTo>
                <a:lnTo>
                  <a:pt x="213974" y="4113"/>
                </a:lnTo>
                <a:lnTo>
                  <a:pt x="260921" y="0"/>
                </a:lnTo>
                <a:lnTo>
                  <a:pt x="307865" y="4114"/>
                </a:lnTo>
                <a:lnTo>
                  <a:pt x="352050" y="15975"/>
                </a:lnTo>
                <a:lnTo>
                  <a:pt x="392737" y="34863"/>
                </a:lnTo>
                <a:lnTo>
                  <a:pt x="429189" y="60056"/>
                </a:lnTo>
                <a:lnTo>
                  <a:pt x="460668" y="90833"/>
                </a:lnTo>
                <a:lnTo>
                  <a:pt x="486436" y="126473"/>
                </a:lnTo>
                <a:lnTo>
                  <a:pt x="505756" y="166254"/>
                </a:lnTo>
                <a:lnTo>
                  <a:pt x="517888" y="209457"/>
                </a:lnTo>
                <a:lnTo>
                  <a:pt x="522097" y="255358"/>
                </a:lnTo>
                <a:lnTo>
                  <a:pt x="517888" y="301260"/>
                </a:lnTo>
                <a:lnTo>
                  <a:pt x="505756" y="344462"/>
                </a:lnTo>
                <a:lnTo>
                  <a:pt x="486436" y="384244"/>
                </a:lnTo>
                <a:lnTo>
                  <a:pt x="460668" y="419884"/>
                </a:lnTo>
                <a:lnTo>
                  <a:pt x="429189" y="450661"/>
                </a:lnTo>
                <a:lnTo>
                  <a:pt x="392737" y="475854"/>
                </a:lnTo>
                <a:lnTo>
                  <a:pt x="352050" y="494742"/>
                </a:lnTo>
                <a:lnTo>
                  <a:pt x="307865" y="506603"/>
                </a:lnTo>
                <a:lnTo>
                  <a:pt x="260921" y="510717"/>
                </a:lnTo>
                <a:close/>
              </a:path>
            </a:pathLst>
          </a:custGeom>
          <a:solidFill>
            <a:srgbClr val="A6A6A6"/>
          </a:solidFill>
        </p:spPr>
        <p:txBody>
          <a:bodyPr wrap="square" lIns="0" tIns="0" rIns="0" bIns="0" rtlCol="0"/>
          <a:lstStyle/>
          <a:p/>
        </p:txBody>
      </p:sp>
      <p:sp>
        <p:nvSpPr>
          <p:cNvPr id="34" name="object 34"/>
          <p:cNvSpPr txBox="1"/>
          <p:nvPr/>
        </p:nvSpPr>
        <p:spPr>
          <a:xfrm>
            <a:off x="2264702" y="5679757"/>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8</a:t>
            </a:r>
            <a:endParaRPr sz="3200">
              <a:latin typeface="Calibri" panose="020F0502020204030204"/>
              <a:cs typeface="Calibri" panose="020F0502020204030204"/>
            </a:endParaRPr>
          </a:p>
        </p:txBody>
      </p:sp>
      <p:sp>
        <p:nvSpPr>
          <p:cNvPr id="35" name="object 35"/>
          <p:cNvSpPr txBox="1"/>
          <p:nvPr/>
        </p:nvSpPr>
        <p:spPr>
          <a:xfrm>
            <a:off x="2982899" y="1192682"/>
            <a:ext cx="251015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关于</a:t>
            </a:r>
            <a:r>
              <a:rPr sz="2400" b="1" spc="-5" dirty="0">
                <a:solidFill>
                  <a:srgbClr val="A6A6A6"/>
                </a:solidFill>
                <a:latin typeface="微软雅黑" panose="020B0503020204020204" charset="-122"/>
                <a:cs typeface="微软雅黑" panose="020B0503020204020204" charset="-122"/>
              </a:rPr>
              <a:t>ISA</a:t>
            </a:r>
            <a:r>
              <a:rPr sz="2400" b="1" dirty="0">
                <a:solidFill>
                  <a:srgbClr val="A6A6A6"/>
                </a:solidFill>
                <a:latin typeface="微软雅黑" panose="020B0503020204020204" charset="-122"/>
                <a:cs typeface="微软雅黑" panose="020B0503020204020204" charset="-122"/>
              </a:rPr>
              <a:t>和</a:t>
            </a:r>
            <a:r>
              <a:rPr sz="2400" b="1" spc="-5" dirty="0">
                <a:solidFill>
                  <a:srgbClr val="A6A6A6"/>
                </a:solidFill>
                <a:latin typeface="微软雅黑" panose="020B0503020204020204" charset="-122"/>
                <a:cs typeface="微软雅黑" panose="020B0503020204020204" charset="-122"/>
              </a:rPr>
              <a:t>RISC-V</a:t>
            </a:r>
            <a:endParaRPr sz="2400">
              <a:latin typeface="微软雅黑" panose="020B0503020204020204" charset="-122"/>
              <a:cs typeface="微软雅黑" panose="020B0503020204020204" charset="-122"/>
            </a:endParaRPr>
          </a:p>
        </p:txBody>
      </p:sp>
      <p:sp>
        <p:nvSpPr>
          <p:cNvPr id="36" name="object 36"/>
          <p:cNvSpPr txBox="1"/>
          <p:nvPr/>
        </p:nvSpPr>
        <p:spPr>
          <a:xfrm>
            <a:off x="2982899" y="1845360"/>
            <a:ext cx="364744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开源</a:t>
            </a:r>
            <a:r>
              <a:rPr sz="2400" b="1" spc="-5" dirty="0">
                <a:solidFill>
                  <a:srgbClr val="A6A6A6"/>
                </a:solidFill>
                <a:latin typeface="微软雅黑" panose="020B0503020204020204" charset="-122"/>
                <a:cs typeface="微软雅黑" panose="020B0503020204020204" charset="-122"/>
              </a:rPr>
              <a:t>RISC-V</a:t>
            </a:r>
            <a:r>
              <a:rPr sz="2400" b="1" dirty="0">
                <a:solidFill>
                  <a:srgbClr val="A6A6A6"/>
                </a:solidFill>
                <a:latin typeface="微软雅黑" panose="020B0503020204020204" charset="-122"/>
                <a:cs typeface="微软雅黑" panose="020B0503020204020204" charset="-122"/>
              </a:rPr>
              <a:t>内核蜂鸟</a:t>
            </a:r>
            <a:r>
              <a:rPr sz="2400" b="1" spc="-5" dirty="0">
                <a:solidFill>
                  <a:srgbClr val="A6A6A6"/>
                </a:solidFill>
                <a:latin typeface="微软雅黑" panose="020B0503020204020204" charset="-122"/>
                <a:cs typeface="微软雅黑" panose="020B0503020204020204" charset="-122"/>
              </a:rPr>
              <a:t>E203</a:t>
            </a:r>
            <a:endParaRPr sz="2400">
              <a:latin typeface="微软雅黑" panose="020B0503020204020204" charset="-122"/>
              <a:cs typeface="微软雅黑" panose="020B0503020204020204" charset="-122"/>
            </a:endParaRPr>
          </a:p>
        </p:txBody>
      </p:sp>
      <p:sp>
        <p:nvSpPr>
          <p:cNvPr id="37" name="object 37"/>
          <p:cNvSpPr txBox="1"/>
          <p:nvPr/>
        </p:nvSpPr>
        <p:spPr>
          <a:xfrm>
            <a:off x="2982899" y="2499283"/>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C00000"/>
                </a:solidFill>
                <a:latin typeface="微软雅黑" panose="020B0503020204020204" charset="-122"/>
                <a:cs typeface="微软雅黑" panose="020B0503020204020204" charset="-122"/>
              </a:rPr>
              <a:t>RI</a:t>
            </a:r>
            <a:r>
              <a:rPr sz="2400" b="1" dirty="0">
                <a:solidFill>
                  <a:srgbClr val="C00000"/>
                </a:solidFill>
                <a:latin typeface="微软雅黑" panose="020B0503020204020204" charset="-122"/>
                <a:cs typeface="微软雅黑" panose="020B0503020204020204" charset="-122"/>
              </a:rPr>
              <a:t>S</a:t>
            </a:r>
            <a:r>
              <a:rPr sz="2400" b="1" spc="-5" dirty="0">
                <a:solidFill>
                  <a:srgbClr val="C00000"/>
                </a:solidFill>
                <a:latin typeface="微软雅黑" panose="020B0503020204020204" charset="-122"/>
                <a:cs typeface="微软雅黑" panose="020B0503020204020204" charset="-122"/>
              </a:rPr>
              <a:t>C</a:t>
            </a:r>
            <a:r>
              <a:rPr sz="2400" b="1" dirty="0">
                <a:solidFill>
                  <a:srgbClr val="C00000"/>
                </a:solidFill>
                <a:latin typeface="微软雅黑" panose="020B0503020204020204" charset="-122"/>
                <a:cs typeface="微软雅黑" panose="020B0503020204020204" charset="-122"/>
              </a:rPr>
              <a:t>-</a:t>
            </a:r>
            <a:r>
              <a:rPr sz="2400" b="1" spc="-5" dirty="0">
                <a:solidFill>
                  <a:srgbClr val="C00000"/>
                </a:solidFill>
                <a:latin typeface="微软雅黑" panose="020B0503020204020204" charset="-122"/>
                <a:cs typeface="微软雅黑" panose="020B0503020204020204" charset="-122"/>
              </a:rPr>
              <a:t>V</a:t>
            </a:r>
            <a:r>
              <a:rPr sz="2400" b="1" dirty="0">
                <a:solidFill>
                  <a:srgbClr val="C00000"/>
                </a:solidFill>
                <a:latin typeface="微软雅黑" panose="020B0503020204020204" charset="-122"/>
                <a:cs typeface="微软雅黑" panose="020B0503020204020204" charset="-122"/>
              </a:rPr>
              <a:t>的中文书籍</a:t>
            </a:r>
            <a:endParaRPr sz="2400">
              <a:latin typeface="微软雅黑" panose="020B0503020204020204" charset="-122"/>
              <a:cs typeface="微软雅黑" panose="020B0503020204020204" charset="-122"/>
            </a:endParaRPr>
          </a:p>
        </p:txBody>
      </p:sp>
      <p:sp>
        <p:nvSpPr>
          <p:cNvPr id="38" name="object 38"/>
          <p:cNvSpPr txBox="1"/>
          <p:nvPr/>
        </p:nvSpPr>
        <p:spPr>
          <a:xfrm>
            <a:off x="2982899" y="3185159"/>
            <a:ext cx="3875404"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蜂鸟</a:t>
            </a:r>
            <a:r>
              <a:rPr sz="2400" b="1" spc="-5" dirty="0">
                <a:solidFill>
                  <a:srgbClr val="A6A6A6"/>
                </a:solidFill>
                <a:latin typeface="微软雅黑" panose="020B0503020204020204" charset="-122"/>
                <a:cs typeface="微软雅黑" panose="020B0503020204020204" charset="-122"/>
              </a:rPr>
              <a:t>E203</a:t>
            </a:r>
            <a:r>
              <a:rPr sz="2400" b="1" dirty="0">
                <a:solidFill>
                  <a:srgbClr val="A6A6A6"/>
                </a:solidFill>
                <a:latin typeface="微软雅黑" panose="020B0503020204020204" charset="-122"/>
                <a:cs typeface="微软雅黑" panose="020B0503020204020204" charset="-122"/>
              </a:rPr>
              <a:t>软硬件D</a:t>
            </a:r>
            <a:r>
              <a:rPr sz="2400" b="1" spc="-5" dirty="0">
                <a:solidFill>
                  <a:srgbClr val="A6A6A6"/>
                </a:solidFill>
                <a:latin typeface="微软雅黑" panose="020B0503020204020204" charset="-122"/>
                <a:cs typeface="微软雅黑" panose="020B0503020204020204" charset="-122"/>
              </a:rPr>
              <a:t>E</a:t>
            </a:r>
            <a:r>
              <a:rPr sz="2400" b="1" dirty="0">
                <a:solidFill>
                  <a:srgbClr val="A6A6A6"/>
                </a:solidFill>
                <a:latin typeface="微软雅黑" panose="020B0503020204020204" charset="-122"/>
                <a:cs typeface="微软雅黑" panose="020B0503020204020204" charset="-122"/>
              </a:rPr>
              <a:t>MO视频</a:t>
            </a:r>
            <a:endParaRPr sz="2400">
              <a:latin typeface="微软雅黑" panose="020B0503020204020204" charset="-122"/>
              <a:cs typeface="微软雅黑" panose="020B0503020204020204" charset="-122"/>
            </a:endParaRPr>
          </a:p>
        </p:txBody>
      </p:sp>
      <p:sp>
        <p:nvSpPr>
          <p:cNvPr id="39" name="object 39"/>
          <p:cNvSpPr txBox="1"/>
          <p:nvPr/>
        </p:nvSpPr>
        <p:spPr>
          <a:xfrm>
            <a:off x="2982899" y="3772699"/>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的几个误区</a:t>
            </a:r>
            <a:endParaRPr sz="2400">
              <a:latin typeface="微软雅黑" panose="020B0503020204020204" charset="-122"/>
              <a:cs typeface="微软雅黑" panose="020B0503020204020204" charset="-122"/>
            </a:endParaRPr>
          </a:p>
        </p:txBody>
      </p:sp>
      <p:sp>
        <p:nvSpPr>
          <p:cNvPr id="40" name="object 40"/>
          <p:cNvSpPr txBox="1"/>
          <p:nvPr/>
        </p:nvSpPr>
        <p:spPr>
          <a:xfrm>
            <a:off x="2982899" y="4459185"/>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的未来趋势</a:t>
            </a:r>
            <a:endParaRPr sz="2400">
              <a:latin typeface="微软雅黑" panose="020B0503020204020204" charset="-122"/>
              <a:cs typeface="微软雅黑" panose="020B0503020204020204" charset="-122"/>
            </a:endParaRPr>
          </a:p>
        </p:txBody>
      </p:sp>
      <p:sp>
        <p:nvSpPr>
          <p:cNvPr id="41" name="object 41"/>
          <p:cNvSpPr txBox="1"/>
          <p:nvPr/>
        </p:nvSpPr>
        <p:spPr>
          <a:xfrm>
            <a:off x="2982899" y="5112486"/>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的商业本质</a:t>
            </a:r>
            <a:endParaRPr sz="2400">
              <a:latin typeface="微软雅黑" panose="020B0503020204020204" charset="-122"/>
              <a:cs typeface="微软雅黑" panose="020B0503020204020204" charset="-122"/>
            </a:endParaRPr>
          </a:p>
        </p:txBody>
      </p:sp>
      <p:sp>
        <p:nvSpPr>
          <p:cNvPr id="42" name="object 42"/>
          <p:cNvSpPr txBox="1"/>
          <p:nvPr/>
        </p:nvSpPr>
        <p:spPr>
          <a:xfrm>
            <a:off x="2982899" y="5770702"/>
            <a:ext cx="185420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芯来科技介绍</a:t>
            </a:r>
            <a:endParaRPr sz="2400">
              <a:latin typeface="微软雅黑" panose="020B0503020204020204" charset="-122"/>
              <a:cs typeface="微软雅黑" panose="020B0503020204020204" charset="-122"/>
            </a:endParaRPr>
          </a:p>
        </p:txBody>
      </p:sp>
      <p:sp>
        <p:nvSpPr>
          <p:cNvPr id="43" name="object 43"/>
          <p:cNvSpPr txBox="1">
            <a:spLocks noGrp="1"/>
          </p:cNvSpPr>
          <p:nvPr>
            <p:ph type="title"/>
          </p:nvPr>
        </p:nvSpPr>
        <p:spPr>
          <a:xfrm>
            <a:off x="713105" y="243840"/>
            <a:ext cx="1802764"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C00000"/>
                </a:solidFill>
              </a:rPr>
              <a:t>Age</a:t>
            </a:r>
            <a:r>
              <a:rPr sz="3600" dirty="0">
                <a:solidFill>
                  <a:srgbClr val="C00000"/>
                </a:solidFill>
              </a:rPr>
              <a:t>n</a:t>
            </a:r>
            <a:r>
              <a:rPr sz="3600" spc="-5" dirty="0">
                <a:solidFill>
                  <a:srgbClr val="C00000"/>
                </a:solidFill>
              </a:rPr>
              <a:t>d</a:t>
            </a:r>
            <a:r>
              <a:rPr sz="3600" dirty="0">
                <a:solidFill>
                  <a:srgbClr val="C00000"/>
                </a:solidFill>
              </a:rPr>
              <a:t>a</a:t>
            </a:r>
            <a:endParaRPr sz="3600"/>
          </a:p>
        </p:txBody>
      </p:sp>
      <p:sp>
        <p:nvSpPr>
          <p:cNvPr id="44" name="object 4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92150" y="415925"/>
            <a:ext cx="4808220" cy="574040"/>
          </a:xfrm>
          <a:prstGeom prst="rect">
            <a:avLst/>
          </a:prstGeom>
        </p:spPr>
        <p:txBody>
          <a:bodyPr vert="horz" wrap="square" lIns="0" tIns="12700" rIns="0" bIns="0" rtlCol="0">
            <a:spAutoFit/>
          </a:bodyPr>
          <a:lstStyle/>
          <a:p>
            <a:pPr marL="12700">
              <a:lnSpc>
                <a:spcPct val="100000"/>
              </a:lnSpc>
              <a:spcBef>
                <a:spcPts val="100"/>
              </a:spcBef>
            </a:pPr>
            <a:r>
              <a:rPr sz="3600" b="1" dirty="0">
                <a:solidFill>
                  <a:srgbClr val="C00000"/>
                </a:solidFill>
                <a:latin typeface="微软雅黑" panose="020B0503020204020204" charset="-122"/>
                <a:cs typeface="微软雅黑" panose="020B0503020204020204" charset="-122"/>
              </a:rPr>
              <a:t>RI</a:t>
            </a:r>
            <a:r>
              <a:rPr sz="3600" b="1" spc="-5" dirty="0">
                <a:solidFill>
                  <a:srgbClr val="C00000"/>
                </a:solidFill>
                <a:latin typeface="微软雅黑" panose="020B0503020204020204" charset="-122"/>
                <a:cs typeface="微软雅黑" panose="020B0503020204020204" charset="-122"/>
              </a:rPr>
              <a:t>S</a:t>
            </a:r>
            <a:r>
              <a:rPr sz="3600" b="1" dirty="0">
                <a:solidFill>
                  <a:srgbClr val="C00000"/>
                </a:solidFill>
                <a:latin typeface="微软雅黑" panose="020B0503020204020204" charset="-122"/>
                <a:cs typeface="微软雅黑" panose="020B0503020204020204" charset="-122"/>
              </a:rPr>
              <a:t>C</a:t>
            </a:r>
            <a:r>
              <a:rPr sz="3600" b="1" spc="-5" dirty="0">
                <a:solidFill>
                  <a:srgbClr val="C00000"/>
                </a:solidFill>
                <a:latin typeface="微软雅黑" panose="020B0503020204020204" charset="-122"/>
                <a:cs typeface="微软雅黑" panose="020B0503020204020204" charset="-122"/>
              </a:rPr>
              <a:t>-</a:t>
            </a:r>
            <a:r>
              <a:rPr sz="3600" b="1" dirty="0">
                <a:solidFill>
                  <a:srgbClr val="C00000"/>
                </a:solidFill>
                <a:latin typeface="微软雅黑" panose="020B0503020204020204" charset="-122"/>
                <a:cs typeface="微软雅黑" panose="020B0503020204020204" charset="-122"/>
              </a:rPr>
              <a:t>V的中文设计书籍</a:t>
            </a:r>
            <a:endParaRPr sz="3600">
              <a:latin typeface="微软雅黑" panose="020B0503020204020204" charset="-122"/>
              <a:cs typeface="微软雅黑" panose="020B0503020204020204" charset="-122"/>
            </a:endParaRPr>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p:nvPr/>
        </p:nvSpPr>
        <p:spPr>
          <a:xfrm>
            <a:off x="1159763" y="2603558"/>
            <a:ext cx="2269928" cy="2923989"/>
          </a:xfrm>
          <a:prstGeom prst="rect">
            <a:avLst/>
          </a:prstGeom>
          <a:blipFill>
            <a:blip r:embed="rId1" cstate="print"/>
            <a:stretch>
              <a:fillRect/>
            </a:stretch>
          </a:blipFill>
        </p:spPr>
        <p:txBody>
          <a:bodyPr wrap="square" lIns="0" tIns="0" rIns="0" bIns="0" rtlCol="0"/>
          <a:lstStyle/>
          <a:p/>
        </p:txBody>
      </p:sp>
      <p:sp>
        <p:nvSpPr>
          <p:cNvPr id="5" name="object 5"/>
          <p:cNvSpPr/>
          <p:nvPr/>
        </p:nvSpPr>
        <p:spPr>
          <a:xfrm>
            <a:off x="8909304" y="1792223"/>
            <a:ext cx="2168652" cy="757427"/>
          </a:xfrm>
          <a:prstGeom prst="rect">
            <a:avLst/>
          </a:prstGeom>
          <a:blipFill>
            <a:blip r:embed="rId2" cstate="print"/>
            <a:stretch>
              <a:fillRect/>
            </a:stretch>
          </a:blipFill>
        </p:spPr>
        <p:txBody>
          <a:bodyPr wrap="square" lIns="0" tIns="0" rIns="0" bIns="0" rtlCol="0"/>
          <a:lstStyle/>
          <a:p/>
        </p:txBody>
      </p:sp>
      <p:sp>
        <p:nvSpPr>
          <p:cNvPr id="6" name="object 6"/>
          <p:cNvSpPr/>
          <p:nvPr/>
        </p:nvSpPr>
        <p:spPr>
          <a:xfrm>
            <a:off x="8921495" y="3160776"/>
            <a:ext cx="2101762" cy="396239"/>
          </a:xfrm>
          <a:prstGeom prst="rect">
            <a:avLst/>
          </a:prstGeom>
          <a:blipFill>
            <a:blip r:embed="rId3" cstate="print"/>
            <a:stretch>
              <a:fillRect/>
            </a:stretch>
          </a:blipFill>
        </p:spPr>
        <p:txBody>
          <a:bodyPr wrap="square" lIns="0" tIns="0" rIns="0" bIns="0" rtlCol="0"/>
          <a:lstStyle/>
          <a:p/>
        </p:txBody>
      </p:sp>
      <p:sp>
        <p:nvSpPr>
          <p:cNvPr id="7" name="object 7"/>
          <p:cNvSpPr/>
          <p:nvPr/>
        </p:nvSpPr>
        <p:spPr>
          <a:xfrm>
            <a:off x="8901683" y="3515867"/>
            <a:ext cx="2154935" cy="254508"/>
          </a:xfrm>
          <a:prstGeom prst="rect">
            <a:avLst/>
          </a:prstGeom>
          <a:blipFill>
            <a:blip r:embed="rId4" cstate="print"/>
            <a:stretch>
              <a:fillRect/>
            </a:stretch>
          </a:blipFill>
        </p:spPr>
        <p:txBody>
          <a:bodyPr wrap="square" lIns="0" tIns="0" rIns="0" bIns="0" rtlCol="0"/>
          <a:lstStyle/>
          <a:p/>
        </p:txBody>
      </p:sp>
      <p:sp>
        <p:nvSpPr>
          <p:cNvPr id="8" name="object 8"/>
          <p:cNvSpPr/>
          <p:nvPr/>
        </p:nvSpPr>
        <p:spPr>
          <a:xfrm>
            <a:off x="8894273" y="3770376"/>
            <a:ext cx="2162346" cy="341375"/>
          </a:xfrm>
          <a:prstGeom prst="rect">
            <a:avLst/>
          </a:prstGeom>
          <a:blipFill>
            <a:blip r:embed="rId5" cstate="print"/>
            <a:stretch>
              <a:fillRect/>
            </a:stretch>
          </a:blipFill>
        </p:spPr>
        <p:txBody>
          <a:bodyPr wrap="square" lIns="0" tIns="0" rIns="0" bIns="0" rtlCol="0"/>
          <a:lstStyle/>
          <a:p/>
        </p:txBody>
      </p:sp>
      <p:sp>
        <p:nvSpPr>
          <p:cNvPr id="9" name="object 9"/>
          <p:cNvSpPr/>
          <p:nvPr/>
        </p:nvSpPr>
        <p:spPr>
          <a:xfrm>
            <a:off x="8884919" y="4073652"/>
            <a:ext cx="2269235" cy="341375"/>
          </a:xfrm>
          <a:prstGeom prst="rect">
            <a:avLst/>
          </a:prstGeom>
          <a:blipFill>
            <a:blip r:embed="rId6" cstate="print"/>
            <a:stretch>
              <a:fillRect/>
            </a:stretch>
          </a:blipFill>
        </p:spPr>
        <p:txBody>
          <a:bodyPr wrap="square" lIns="0" tIns="0" rIns="0" bIns="0" rtlCol="0"/>
          <a:lstStyle/>
          <a:p/>
        </p:txBody>
      </p:sp>
      <p:sp>
        <p:nvSpPr>
          <p:cNvPr id="10" name="object 10"/>
          <p:cNvSpPr/>
          <p:nvPr/>
        </p:nvSpPr>
        <p:spPr>
          <a:xfrm>
            <a:off x="8935211" y="4428744"/>
            <a:ext cx="2134921" cy="187451"/>
          </a:xfrm>
          <a:prstGeom prst="rect">
            <a:avLst/>
          </a:prstGeom>
          <a:blipFill>
            <a:blip r:embed="rId7" cstate="print"/>
            <a:stretch>
              <a:fillRect/>
            </a:stretch>
          </a:blipFill>
        </p:spPr>
        <p:txBody>
          <a:bodyPr wrap="square" lIns="0" tIns="0" rIns="0" bIns="0" rtlCol="0"/>
          <a:lstStyle/>
          <a:p/>
        </p:txBody>
      </p:sp>
      <p:sp>
        <p:nvSpPr>
          <p:cNvPr id="11" name="object 11"/>
          <p:cNvSpPr/>
          <p:nvPr/>
        </p:nvSpPr>
        <p:spPr>
          <a:xfrm>
            <a:off x="8935211" y="4581144"/>
            <a:ext cx="2081783" cy="348995"/>
          </a:xfrm>
          <a:prstGeom prst="rect">
            <a:avLst/>
          </a:prstGeom>
          <a:blipFill>
            <a:blip r:embed="rId8" cstate="print"/>
            <a:stretch>
              <a:fillRect/>
            </a:stretch>
          </a:blipFill>
        </p:spPr>
        <p:txBody>
          <a:bodyPr wrap="square" lIns="0" tIns="0" rIns="0" bIns="0" rtlCol="0"/>
          <a:lstStyle/>
          <a:p/>
        </p:txBody>
      </p:sp>
      <p:sp>
        <p:nvSpPr>
          <p:cNvPr id="12" name="object 12"/>
          <p:cNvSpPr/>
          <p:nvPr/>
        </p:nvSpPr>
        <p:spPr>
          <a:xfrm>
            <a:off x="8921495" y="4936235"/>
            <a:ext cx="2101596" cy="348995"/>
          </a:xfrm>
          <a:prstGeom prst="rect">
            <a:avLst/>
          </a:prstGeom>
          <a:blipFill>
            <a:blip r:embed="rId9" cstate="print"/>
            <a:stretch>
              <a:fillRect/>
            </a:stretch>
          </a:blipFill>
        </p:spPr>
        <p:txBody>
          <a:bodyPr wrap="square" lIns="0" tIns="0" rIns="0" bIns="0" rtlCol="0"/>
          <a:lstStyle/>
          <a:p/>
        </p:txBody>
      </p:sp>
      <p:sp>
        <p:nvSpPr>
          <p:cNvPr id="13" name="object 13"/>
          <p:cNvSpPr/>
          <p:nvPr/>
        </p:nvSpPr>
        <p:spPr>
          <a:xfrm>
            <a:off x="8935211" y="5239511"/>
            <a:ext cx="2087879" cy="248412"/>
          </a:xfrm>
          <a:prstGeom prst="rect">
            <a:avLst/>
          </a:prstGeom>
          <a:blipFill>
            <a:blip r:embed="rId10" cstate="print"/>
            <a:stretch>
              <a:fillRect/>
            </a:stretch>
          </a:blipFill>
        </p:spPr>
        <p:txBody>
          <a:bodyPr wrap="square" lIns="0" tIns="0" rIns="0" bIns="0" rtlCol="0"/>
          <a:lstStyle/>
          <a:p/>
        </p:txBody>
      </p:sp>
      <p:sp>
        <p:nvSpPr>
          <p:cNvPr id="14" name="object 14"/>
          <p:cNvSpPr/>
          <p:nvPr/>
        </p:nvSpPr>
        <p:spPr>
          <a:xfrm>
            <a:off x="9415271" y="5442203"/>
            <a:ext cx="1581912" cy="220980"/>
          </a:xfrm>
          <a:prstGeom prst="rect">
            <a:avLst/>
          </a:prstGeom>
          <a:blipFill>
            <a:blip r:embed="rId11" cstate="print"/>
            <a:stretch>
              <a:fillRect/>
            </a:stretch>
          </a:blipFill>
        </p:spPr>
        <p:txBody>
          <a:bodyPr wrap="square" lIns="0" tIns="0" rIns="0" bIns="0" rtlCol="0"/>
          <a:lstStyle/>
          <a:p/>
        </p:txBody>
      </p:sp>
      <p:sp>
        <p:nvSpPr>
          <p:cNvPr id="15" name="object 15"/>
          <p:cNvSpPr/>
          <p:nvPr/>
        </p:nvSpPr>
        <p:spPr>
          <a:xfrm>
            <a:off x="8904731" y="2805683"/>
            <a:ext cx="2121407" cy="374903"/>
          </a:xfrm>
          <a:prstGeom prst="rect">
            <a:avLst/>
          </a:prstGeom>
          <a:blipFill>
            <a:blip r:embed="rId12" cstate="print"/>
            <a:stretch>
              <a:fillRect/>
            </a:stretch>
          </a:blipFill>
        </p:spPr>
        <p:txBody>
          <a:bodyPr wrap="square" lIns="0" tIns="0" rIns="0" bIns="0" rtlCol="0"/>
          <a:lstStyle/>
          <a:p/>
        </p:txBody>
      </p:sp>
      <p:sp>
        <p:nvSpPr>
          <p:cNvPr id="16" name="object 16"/>
          <p:cNvSpPr/>
          <p:nvPr/>
        </p:nvSpPr>
        <p:spPr>
          <a:xfrm>
            <a:off x="8913876" y="2511551"/>
            <a:ext cx="2068068" cy="295655"/>
          </a:xfrm>
          <a:prstGeom prst="rect">
            <a:avLst/>
          </a:prstGeom>
          <a:blipFill>
            <a:blip r:embed="rId13" cstate="print"/>
            <a:stretch>
              <a:fillRect/>
            </a:stretch>
          </a:blipFill>
        </p:spPr>
        <p:txBody>
          <a:bodyPr wrap="square" lIns="0" tIns="0" rIns="0" bIns="0" rtlCol="0"/>
          <a:lstStyle/>
          <a:p/>
        </p:txBody>
      </p:sp>
      <p:sp>
        <p:nvSpPr>
          <p:cNvPr id="17" name="object 17"/>
          <p:cNvSpPr/>
          <p:nvPr/>
        </p:nvSpPr>
        <p:spPr>
          <a:xfrm>
            <a:off x="8374380" y="1597152"/>
            <a:ext cx="2729483" cy="234696"/>
          </a:xfrm>
          <a:prstGeom prst="rect">
            <a:avLst/>
          </a:prstGeom>
          <a:blipFill>
            <a:blip r:embed="rId14" cstate="print"/>
            <a:stretch>
              <a:fillRect/>
            </a:stretch>
          </a:blipFill>
        </p:spPr>
        <p:txBody>
          <a:bodyPr wrap="square" lIns="0" tIns="0" rIns="0" bIns="0" rtlCol="0"/>
          <a:lstStyle/>
          <a:p/>
        </p:txBody>
      </p:sp>
      <p:sp>
        <p:nvSpPr>
          <p:cNvPr id="18" name="object 18"/>
          <p:cNvSpPr/>
          <p:nvPr/>
        </p:nvSpPr>
        <p:spPr>
          <a:xfrm>
            <a:off x="6667556" y="3543300"/>
            <a:ext cx="2109159" cy="355091"/>
          </a:xfrm>
          <a:prstGeom prst="rect">
            <a:avLst/>
          </a:prstGeom>
          <a:blipFill>
            <a:blip r:embed="rId15" cstate="print"/>
            <a:stretch>
              <a:fillRect/>
            </a:stretch>
          </a:blipFill>
        </p:spPr>
        <p:txBody>
          <a:bodyPr wrap="square" lIns="0" tIns="0" rIns="0" bIns="0" rtlCol="0"/>
          <a:lstStyle/>
          <a:p/>
        </p:txBody>
      </p:sp>
      <p:sp>
        <p:nvSpPr>
          <p:cNvPr id="19" name="object 19"/>
          <p:cNvSpPr/>
          <p:nvPr/>
        </p:nvSpPr>
        <p:spPr>
          <a:xfrm>
            <a:off x="6667500" y="3883152"/>
            <a:ext cx="2095500" cy="362712"/>
          </a:xfrm>
          <a:prstGeom prst="rect">
            <a:avLst/>
          </a:prstGeom>
          <a:blipFill>
            <a:blip r:embed="rId16" cstate="print"/>
            <a:stretch>
              <a:fillRect/>
            </a:stretch>
          </a:blipFill>
        </p:spPr>
        <p:txBody>
          <a:bodyPr wrap="square" lIns="0" tIns="0" rIns="0" bIns="0" rtlCol="0"/>
          <a:lstStyle/>
          <a:p/>
        </p:txBody>
      </p:sp>
      <p:sp>
        <p:nvSpPr>
          <p:cNvPr id="20" name="object 20"/>
          <p:cNvSpPr/>
          <p:nvPr/>
        </p:nvSpPr>
        <p:spPr>
          <a:xfrm>
            <a:off x="6667500" y="4174235"/>
            <a:ext cx="2109216" cy="355092"/>
          </a:xfrm>
          <a:prstGeom prst="rect">
            <a:avLst/>
          </a:prstGeom>
          <a:blipFill>
            <a:blip r:embed="rId17" cstate="print"/>
            <a:stretch>
              <a:fillRect/>
            </a:stretch>
          </a:blipFill>
        </p:spPr>
        <p:txBody>
          <a:bodyPr wrap="square" lIns="0" tIns="0" rIns="0" bIns="0" rtlCol="0"/>
          <a:lstStyle/>
          <a:p/>
        </p:txBody>
      </p:sp>
      <p:sp>
        <p:nvSpPr>
          <p:cNvPr id="21" name="object 21"/>
          <p:cNvSpPr/>
          <p:nvPr/>
        </p:nvSpPr>
        <p:spPr>
          <a:xfrm>
            <a:off x="6710171" y="4479035"/>
            <a:ext cx="2061972" cy="374904"/>
          </a:xfrm>
          <a:prstGeom prst="rect">
            <a:avLst/>
          </a:prstGeom>
          <a:blipFill>
            <a:blip r:embed="rId18" cstate="print"/>
            <a:stretch>
              <a:fillRect/>
            </a:stretch>
          </a:blipFill>
        </p:spPr>
        <p:txBody>
          <a:bodyPr wrap="square" lIns="0" tIns="0" rIns="0" bIns="0" rtlCol="0"/>
          <a:lstStyle/>
          <a:p/>
        </p:txBody>
      </p:sp>
      <p:sp>
        <p:nvSpPr>
          <p:cNvPr id="22" name="object 22"/>
          <p:cNvSpPr/>
          <p:nvPr/>
        </p:nvSpPr>
        <p:spPr>
          <a:xfrm>
            <a:off x="6027463" y="1691639"/>
            <a:ext cx="1975180" cy="307848"/>
          </a:xfrm>
          <a:prstGeom prst="rect">
            <a:avLst/>
          </a:prstGeom>
          <a:blipFill>
            <a:blip r:embed="rId19" cstate="print"/>
            <a:stretch>
              <a:fillRect/>
            </a:stretch>
          </a:blipFill>
        </p:spPr>
        <p:txBody>
          <a:bodyPr wrap="square" lIns="0" tIns="0" rIns="0" bIns="0" rtlCol="0"/>
          <a:lstStyle/>
          <a:p/>
        </p:txBody>
      </p:sp>
      <p:sp>
        <p:nvSpPr>
          <p:cNvPr id="23" name="object 23"/>
          <p:cNvSpPr/>
          <p:nvPr/>
        </p:nvSpPr>
        <p:spPr>
          <a:xfrm>
            <a:off x="4985044" y="3308603"/>
            <a:ext cx="3703279" cy="234696"/>
          </a:xfrm>
          <a:prstGeom prst="rect">
            <a:avLst/>
          </a:prstGeom>
          <a:blipFill>
            <a:blip r:embed="rId20" cstate="print"/>
            <a:stretch>
              <a:fillRect/>
            </a:stretch>
          </a:blipFill>
        </p:spPr>
        <p:txBody>
          <a:bodyPr wrap="square" lIns="0" tIns="0" rIns="0" bIns="0" rtlCol="0"/>
          <a:lstStyle/>
          <a:p/>
        </p:txBody>
      </p:sp>
      <p:sp>
        <p:nvSpPr>
          <p:cNvPr id="24" name="object 24"/>
          <p:cNvSpPr/>
          <p:nvPr/>
        </p:nvSpPr>
        <p:spPr>
          <a:xfrm>
            <a:off x="6192011" y="1994916"/>
            <a:ext cx="2148840" cy="214884"/>
          </a:xfrm>
          <a:prstGeom prst="rect">
            <a:avLst/>
          </a:prstGeom>
          <a:blipFill>
            <a:blip r:embed="rId21" cstate="print"/>
            <a:stretch>
              <a:fillRect/>
            </a:stretch>
          </a:blipFill>
        </p:spPr>
        <p:txBody>
          <a:bodyPr wrap="square" lIns="0" tIns="0" rIns="0" bIns="0" rtlCol="0"/>
          <a:lstStyle/>
          <a:p/>
        </p:txBody>
      </p:sp>
      <p:sp>
        <p:nvSpPr>
          <p:cNvPr id="25" name="object 25"/>
          <p:cNvSpPr/>
          <p:nvPr/>
        </p:nvSpPr>
        <p:spPr>
          <a:xfrm>
            <a:off x="6160008" y="2231135"/>
            <a:ext cx="2115312" cy="234696"/>
          </a:xfrm>
          <a:prstGeom prst="rect">
            <a:avLst/>
          </a:prstGeom>
          <a:blipFill>
            <a:blip r:embed="rId22" cstate="print"/>
            <a:stretch>
              <a:fillRect/>
            </a:stretch>
          </a:blipFill>
        </p:spPr>
        <p:txBody>
          <a:bodyPr wrap="square" lIns="0" tIns="0" rIns="0" bIns="0" rtlCol="0"/>
          <a:lstStyle/>
          <a:p/>
        </p:txBody>
      </p:sp>
      <p:sp>
        <p:nvSpPr>
          <p:cNvPr id="26" name="object 26"/>
          <p:cNvSpPr/>
          <p:nvPr/>
        </p:nvSpPr>
        <p:spPr>
          <a:xfrm>
            <a:off x="6146291" y="2435351"/>
            <a:ext cx="2168652" cy="382524"/>
          </a:xfrm>
          <a:prstGeom prst="rect">
            <a:avLst/>
          </a:prstGeom>
          <a:blipFill>
            <a:blip r:embed="rId23" cstate="print"/>
            <a:stretch>
              <a:fillRect/>
            </a:stretch>
          </a:blipFill>
        </p:spPr>
        <p:txBody>
          <a:bodyPr wrap="square" lIns="0" tIns="0" rIns="0" bIns="0" rtlCol="0"/>
          <a:lstStyle/>
          <a:p/>
        </p:txBody>
      </p:sp>
      <p:sp>
        <p:nvSpPr>
          <p:cNvPr id="27" name="object 27"/>
          <p:cNvSpPr/>
          <p:nvPr/>
        </p:nvSpPr>
        <p:spPr>
          <a:xfrm>
            <a:off x="6146291" y="2753867"/>
            <a:ext cx="2141219" cy="382524"/>
          </a:xfrm>
          <a:prstGeom prst="rect">
            <a:avLst/>
          </a:prstGeom>
          <a:blipFill>
            <a:blip r:embed="rId24" cstate="print"/>
            <a:stretch>
              <a:fillRect/>
            </a:stretch>
          </a:blipFill>
        </p:spPr>
        <p:txBody>
          <a:bodyPr wrap="square" lIns="0" tIns="0" rIns="0" bIns="0" rtlCol="0"/>
          <a:lstStyle/>
          <a:p/>
        </p:txBody>
      </p:sp>
      <p:sp>
        <p:nvSpPr>
          <p:cNvPr id="28" name="object 28"/>
          <p:cNvSpPr/>
          <p:nvPr/>
        </p:nvSpPr>
        <p:spPr>
          <a:xfrm>
            <a:off x="4587240" y="4178808"/>
            <a:ext cx="2129027" cy="1354836"/>
          </a:xfrm>
          <a:prstGeom prst="rect">
            <a:avLst/>
          </a:prstGeom>
          <a:blipFill>
            <a:blip r:embed="rId25" cstate="print"/>
            <a:stretch>
              <a:fillRect/>
            </a:stretch>
          </a:blipFill>
        </p:spPr>
        <p:txBody>
          <a:bodyPr wrap="square" lIns="0" tIns="0" rIns="0" bIns="0" rtlCol="0"/>
          <a:lstStyle/>
          <a:p/>
        </p:txBody>
      </p:sp>
      <p:sp>
        <p:nvSpPr>
          <p:cNvPr id="29" name="object 29"/>
          <p:cNvSpPr/>
          <p:nvPr/>
        </p:nvSpPr>
        <p:spPr>
          <a:xfrm>
            <a:off x="4845588" y="3915155"/>
            <a:ext cx="1642079" cy="248412"/>
          </a:xfrm>
          <a:prstGeom prst="rect">
            <a:avLst/>
          </a:prstGeom>
          <a:blipFill>
            <a:blip r:embed="rId26" cstate="print"/>
            <a:stretch>
              <a:fillRect/>
            </a:stretch>
          </a:blipFill>
        </p:spPr>
        <p:txBody>
          <a:bodyPr wrap="square" lIns="0" tIns="0" rIns="0" bIns="0" rtlCol="0"/>
          <a:lstStyle/>
          <a:p/>
        </p:txBody>
      </p:sp>
      <p:sp>
        <p:nvSpPr>
          <p:cNvPr id="30" name="object 30"/>
          <p:cNvSpPr/>
          <p:nvPr/>
        </p:nvSpPr>
        <p:spPr>
          <a:xfrm>
            <a:off x="5949556" y="1709978"/>
            <a:ext cx="2348230" cy="299085"/>
          </a:xfrm>
          <a:custGeom>
            <a:avLst/>
            <a:gdLst/>
            <a:ahLst/>
            <a:cxnLst/>
            <a:rect l="l" t="t" r="r" b="b"/>
            <a:pathLst>
              <a:path w="2348229" h="299085">
                <a:moveTo>
                  <a:pt x="2338196" y="298932"/>
                </a:moveTo>
                <a:lnTo>
                  <a:pt x="9525" y="298932"/>
                </a:lnTo>
                <a:lnTo>
                  <a:pt x="7404" y="298691"/>
                </a:lnTo>
                <a:lnTo>
                  <a:pt x="0" y="289407"/>
                </a:lnTo>
                <a:lnTo>
                  <a:pt x="0" y="9525"/>
                </a:lnTo>
                <a:lnTo>
                  <a:pt x="9525" y="0"/>
                </a:lnTo>
                <a:lnTo>
                  <a:pt x="2338196" y="0"/>
                </a:lnTo>
                <a:lnTo>
                  <a:pt x="2347721" y="9525"/>
                </a:lnTo>
                <a:lnTo>
                  <a:pt x="19050" y="9525"/>
                </a:lnTo>
                <a:lnTo>
                  <a:pt x="9525" y="19050"/>
                </a:lnTo>
                <a:lnTo>
                  <a:pt x="19050" y="19050"/>
                </a:lnTo>
                <a:lnTo>
                  <a:pt x="19050" y="279882"/>
                </a:lnTo>
                <a:lnTo>
                  <a:pt x="9525" y="279882"/>
                </a:lnTo>
                <a:lnTo>
                  <a:pt x="19050" y="289407"/>
                </a:lnTo>
                <a:lnTo>
                  <a:pt x="2347721" y="289407"/>
                </a:lnTo>
                <a:lnTo>
                  <a:pt x="2347480" y="291528"/>
                </a:lnTo>
                <a:lnTo>
                  <a:pt x="2340317" y="298691"/>
                </a:lnTo>
                <a:lnTo>
                  <a:pt x="2338196" y="298932"/>
                </a:lnTo>
                <a:close/>
              </a:path>
              <a:path w="2348229" h="299085">
                <a:moveTo>
                  <a:pt x="19050" y="19050"/>
                </a:moveTo>
                <a:lnTo>
                  <a:pt x="9525" y="19050"/>
                </a:lnTo>
                <a:lnTo>
                  <a:pt x="19050" y="9525"/>
                </a:lnTo>
                <a:lnTo>
                  <a:pt x="19050" y="19050"/>
                </a:lnTo>
                <a:close/>
              </a:path>
              <a:path w="2348229" h="299085">
                <a:moveTo>
                  <a:pt x="2328671" y="19050"/>
                </a:moveTo>
                <a:lnTo>
                  <a:pt x="19050" y="19050"/>
                </a:lnTo>
                <a:lnTo>
                  <a:pt x="19050" y="9525"/>
                </a:lnTo>
                <a:lnTo>
                  <a:pt x="2328671" y="9525"/>
                </a:lnTo>
                <a:lnTo>
                  <a:pt x="2328671" y="19050"/>
                </a:lnTo>
                <a:close/>
              </a:path>
              <a:path w="2348229" h="299085">
                <a:moveTo>
                  <a:pt x="2328671" y="289407"/>
                </a:moveTo>
                <a:lnTo>
                  <a:pt x="2328671" y="9525"/>
                </a:lnTo>
                <a:lnTo>
                  <a:pt x="2338196" y="19050"/>
                </a:lnTo>
                <a:lnTo>
                  <a:pt x="2347721" y="19050"/>
                </a:lnTo>
                <a:lnTo>
                  <a:pt x="2347721" y="279882"/>
                </a:lnTo>
                <a:lnTo>
                  <a:pt x="2338196" y="279882"/>
                </a:lnTo>
                <a:lnTo>
                  <a:pt x="2328671" y="289407"/>
                </a:lnTo>
                <a:close/>
              </a:path>
              <a:path w="2348229" h="299085">
                <a:moveTo>
                  <a:pt x="2347721" y="19050"/>
                </a:moveTo>
                <a:lnTo>
                  <a:pt x="2338196" y="19050"/>
                </a:lnTo>
                <a:lnTo>
                  <a:pt x="2328671" y="9525"/>
                </a:lnTo>
                <a:lnTo>
                  <a:pt x="2347721" y="9525"/>
                </a:lnTo>
                <a:lnTo>
                  <a:pt x="2347721" y="19050"/>
                </a:lnTo>
                <a:close/>
              </a:path>
              <a:path w="2348229" h="299085">
                <a:moveTo>
                  <a:pt x="19050" y="289407"/>
                </a:moveTo>
                <a:lnTo>
                  <a:pt x="9525" y="279882"/>
                </a:lnTo>
                <a:lnTo>
                  <a:pt x="19050" y="279882"/>
                </a:lnTo>
                <a:lnTo>
                  <a:pt x="19050" y="289407"/>
                </a:lnTo>
                <a:close/>
              </a:path>
              <a:path w="2348229" h="299085">
                <a:moveTo>
                  <a:pt x="2328671" y="289407"/>
                </a:moveTo>
                <a:lnTo>
                  <a:pt x="19050" y="289407"/>
                </a:lnTo>
                <a:lnTo>
                  <a:pt x="19050" y="279882"/>
                </a:lnTo>
                <a:lnTo>
                  <a:pt x="2328671" y="279882"/>
                </a:lnTo>
                <a:lnTo>
                  <a:pt x="2328671" y="289407"/>
                </a:lnTo>
                <a:close/>
              </a:path>
              <a:path w="2348229" h="299085">
                <a:moveTo>
                  <a:pt x="2347721" y="289407"/>
                </a:moveTo>
                <a:lnTo>
                  <a:pt x="2328671" y="289407"/>
                </a:lnTo>
                <a:lnTo>
                  <a:pt x="2338196" y="279882"/>
                </a:lnTo>
                <a:lnTo>
                  <a:pt x="2347721" y="279882"/>
                </a:lnTo>
                <a:lnTo>
                  <a:pt x="2347721" y="289407"/>
                </a:lnTo>
                <a:close/>
              </a:path>
            </a:pathLst>
          </a:custGeom>
          <a:solidFill>
            <a:srgbClr val="CD3333"/>
          </a:solidFill>
        </p:spPr>
        <p:txBody>
          <a:bodyPr wrap="square" lIns="0" tIns="0" rIns="0" bIns="0" rtlCol="0"/>
          <a:lstStyle/>
          <a:p/>
        </p:txBody>
      </p:sp>
      <p:sp>
        <p:nvSpPr>
          <p:cNvPr id="31" name="object 31"/>
          <p:cNvSpPr/>
          <p:nvPr/>
        </p:nvSpPr>
        <p:spPr>
          <a:xfrm>
            <a:off x="8424138" y="1579880"/>
            <a:ext cx="2505710" cy="263525"/>
          </a:xfrm>
          <a:custGeom>
            <a:avLst/>
            <a:gdLst/>
            <a:ahLst/>
            <a:cxnLst/>
            <a:rect l="l" t="t" r="r" b="b"/>
            <a:pathLst>
              <a:path w="2505709" h="263525">
                <a:moveTo>
                  <a:pt x="2495651" y="263156"/>
                </a:moveTo>
                <a:lnTo>
                  <a:pt x="9525" y="263156"/>
                </a:lnTo>
                <a:lnTo>
                  <a:pt x="7404" y="262928"/>
                </a:lnTo>
                <a:lnTo>
                  <a:pt x="0" y="253631"/>
                </a:lnTo>
                <a:lnTo>
                  <a:pt x="0" y="9525"/>
                </a:lnTo>
                <a:lnTo>
                  <a:pt x="9525" y="0"/>
                </a:lnTo>
                <a:lnTo>
                  <a:pt x="2495651" y="0"/>
                </a:lnTo>
                <a:lnTo>
                  <a:pt x="2505176" y="9525"/>
                </a:lnTo>
                <a:lnTo>
                  <a:pt x="19050" y="9525"/>
                </a:lnTo>
                <a:lnTo>
                  <a:pt x="9525" y="19050"/>
                </a:lnTo>
                <a:lnTo>
                  <a:pt x="19050" y="19050"/>
                </a:lnTo>
                <a:lnTo>
                  <a:pt x="19050" y="244106"/>
                </a:lnTo>
                <a:lnTo>
                  <a:pt x="9525" y="244106"/>
                </a:lnTo>
                <a:lnTo>
                  <a:pt x="19050" y="253631"/>
                </a:lnTo>
                <a:lnTo>
                  <a:pt x="2505176" y="253631"/>
                </a:lnTo>
                <a:lnTo>
                  <a:pt x="2504948" y="255752"/>
                </a:lnTo>
                <a:lnTo>
                  <a:pt x="2497772" y="262928"/>
                </a:lnTo>
                <a:lnTo>
                  <a:pt x="2495651" y="263156"/>
                </a:lnTo>
                <a:close/>
              </a:path>
              <a:path w="2505709" h="263525">
                <a:moveTo>
                  <a:pt x="19050" y="19050"/>
                </a:moveTo>
                <a:lnTo>
                  <a:pt x="9525" y="19050"/>
                </a:lnTo>
                <a:lnTo>
                  <a:pt x="19050" y="9525"/>
                </a:lnTo>
                <a:lnTo>
                  <a:pt x="19050" y="19050"/>
                </a:lnTo>
                <a:close/>
              </a:path>
              <a:path w="2505709" h="263525">
                <a:moveTo>
                  <a:pt x="2486126" y="19050"/>
                </a:moveTo>
                <a:lnTo>
                  <a:pt x="19050" y="19050"/>
                </a:lnTo>
                <a:lnTo>
                  <a:pt x="19050" y="9525"/>
                </a:lnTo>
                <a:lnTo>
                  <a:pt x="2486126" y="9525"/>
                </a:lnTo>
                <a:lnTo>
                  <a:pt x="2486126" y="19050"/>
                </a:lnTo>
                <a:close/>
              </a:path>
              <a:path w="2505709" h="263525">
                <a:moveTo>
                  <a:pt x="2486126" y="253631"/>
                </a:moveTo>
                <a:lnTo>
                  <a:pt x="2486126" y="9525"/>
                </a:lnTo>
                <a:lnTo>
                  <a:pt x="2495651" y="19050"/>
                </a:lnTo>
                <a:lnTo>
                  <a:pt x="2505176" y="19050"/>
                </a:lnTo>
                <a:lnTo>
                  <a:pt x="2505176" y="244106"/>
                </a:lnTo>
                <a:lnTo>
                  <a:pt x="2495651" y="244106"/>
                </a:lnTo>
                <a:lnTo>
                  <a:pt x="2486126" y="253631"/>
                </a:lnTo>
                <a:close/>
              </a:path>
              <a:path w="2505709" h="263525">
                <a:moveTo>
                  <a:pt x="2505176" y="19050"/>
                </a:moveTo>
                <a:lnTo>
                  <a:pt x="2495651" y="19050"/>
                </a:lnTo>
                <a:lnTo>
                  <a:pt x="2486126" y="9525"/>
                </a:lnTo>
                <a:lnTo>
                  <a:pt x="2505176" y="9525"/>
                </a:lnTo>
                <a:lnTo>
                  <a:pt x="2505176" y="19050"/>
                </a:lnTo>
                <a:close/>
              </a:path>
              <a:path w="2505709" h="263525">
                <a:moveTo>
                  <a:pt x="19050" y="253631"/>
                </a:moveTo>
                <a:lnTo>
                  <a:pt x="9525" y="244106"/>
                </a:lnTo>
                <a:lnTo>
                  <a:pt x="19050" y="244106"/>
                </a:lnTo>
                <a:lnTo>
                  <a:pt x="19050" y="253631"/>
                </a:lnTo>
                <a:close/>
              </a:path>
              <a:path w="2505709" h="263525">
                <a:moveTo>
                  <a:pt x="2486126" y="253631"/>
                </a:moveTo>
                <a:lnTo>
                  <a:pt x="19050" y="253631"/>
                </a:lnTo>
                <a:lnTo>
                  <a:pt x="19050" y="244106"/>
                </a:lnTo>
                <a:lnTo>
                  <a:pt x="2486126" y="244106"/>
                </a:lnTo>
                <a:lnTo>
                  <a:pt x="2486126" y="253631"/>
                </a:lnTo>
                <a:close/>
              </a:path>
              <a:path w="2505709" h="263525">
                <a:moveTo>
                  <a:pt x="2505176" y="253631"/>
                </a:moveTo>
                <a:lnTo>
                  <a:pt x="2486126" y="253631"/>
                </a:lnTo>
                <a:lnTo>
                  <a:pt x="2495651" y="244106"/>
                </a:lnTo>
                <a:lnTo>
                  <a:pt x="2505176" y="244106"/>
                </a:lnTo>
                <a:lnTo>
                  <a:pt x="2505176" y="253631"/>
                </a:lnTo>
                <a:close/>
              </a:path>
            </a:pathLst>
          </a:custGeom>
          <a:solidFill>
            <a:srgbClr val="CD3333"/>
          </a:solidFill>
        </p:spPr>
        <p:txBody>
          <a:bodyPr wrap="square" lIns="0" tIns="0" rIns="0" bIns="0" rtlCol="0"/>
          <a:lstStyle/>
          <a:p/>
        </p:txBody>
      </p:sp>
      <p:sp>
        <p:nvSpPr>
          <p:cNvPr id="32" name="object 32"/>
          <p:cNvSpPr/>
          <p:nvPr/>
        </p:nvSpPr>
        <p:spPr>
          <a:xfrm>
            <a:off x="4922901" y="3252901"/>
            <a:ext cx="3669029" cy="300355"/>
          </a:xfrm>
          <a:custGeom>
            <a:avLst/>
            <a:gdLst/>
            <a:ahLst/>
            <a:cxnLst/>
            <a:rect l="l" t="t" r="r" b="b"/>
            <a:pathLst>
              <a:path w="3669029" h="300354">
                <a:moveTo>
                  <a:pt x="3658882" y="299821"/>
                </a:moveTo>
                <a:lnTo>
                  <a:pt x="9525" y="299821"/>
                </a:lnTo>
                <a:lnTo>
                  <a:pt x="7404" y="299580"/>
                </a:lnTo>
                <a:lnTo>
                  <a:pt x="0" y="290296"/>
                </a:lnTo>
                <a:lnTo>
                  <a:pt x="0" y="9525"/>
                </a:lnTo>
                <a:lnTo>
                  <a:pt x="9525" y="0"/>
                </a:lnTo>
                <a:lnTo>
                  <a:pt x="3658882" y="0"/>
                </a:lnTo>
                <a:lnTo>
                  <a:pt x="3668407" y="9525"/>
                </a:lnTo>
                <a:lnTo>
                  <a:pt x="19050" y="9525"/>
                </a:lnTo>
                <a:lnTo>
                  <a:pt x="9525" y="19050"/>
                </a:lnTo>
                <a:lnTo>
                  <a:pt x="19050" y="19050"/>
                </a:lnTo>
                <a:lnTo>
                  <a:pt x="19050" y="280771"/>
                </a:lnTo>
                <a:lnTo>
                  <a:pt x="9525" y="280771"/>
                </a:lnTo>
                <a:lnTo>
                  <a:pt x="19050" y="290296"/>
                </a:lnTo>
                <a:lnTo>
                  <a:pt x="3668407" y="290296"/>
                </a:lnTo>
                <a:lnTo>
                  <a:pt x="3668166" y="292417"/>
                </a:lnTo>
                <a:lnTo>
                  <a:pt x="3661003" y="299580"/>
                </a:lnTo>
                <a:lnTo>
                  <a:pt x="3658882" y="299821"/>
                </a:lnTo>
                <a:close/>
              </a:path>
              <a:path w="3669029" h="300354">
                <a:moveTo>
                  <a:pt x="19050" y="19050"/>
                </a:moveTo>
                <a:lnTo>
                  <a:pt x="9525" y="19050"/>
                </a:lnTo>
                <a:lnTo>
                  <a:pt x="19050" y="9525"/>
                </a:lnTo>
                <a:lnTo>
                  <a:pt x="19050" y="19050"/>
                </a:lnTo>
                <a:close/>
              </a:path>
              <a:path w="3669029" h="300354">
                <a:moveTo>
                  <a:pt x="3649357" y="19050"/>
                </a:moveTo>
                <a:lnTo>
                  <a:pt x="19050" y="19050"/>
                </a:lnTo>
                <a:lnTo>
                  <a:pt x="19050" y="9525"/>
                </a:lnTo>
                <a:lnTo>
                  <a:pt x="3649357" y="9525"/>
                </a:lnTo>
                <a:lnTo>
                  <a:pt x="3649357" y="19050"/>
                </a:lnTo>
                <a:close/>
              </a:path>
              <a:path w="3669029" h="300354">
                <a:moveTo>
                  <a:pt x="3649357" y="290296"/>
                </a:moveTo>
                <a:lnTo>
                  <a:pt x="3649357" y="9525"/>
                </a:lnTo>
                <a:lnTo>
                  <a:pt x="3658882" y="19050"/>
                </a:lnTo>
                <a:lnTo>
                  <a:pt x="3668407" y="19050"/>
                </a:lnTo>
                <a:lnTo>
                  <a:pt x="3668407" y="280771"/>
                </a:lnTo>
                <a:lnTo>
                  <a:pt x="3658882" y="280771"/>
                </a:lnTo>
                <a:lnTo>
                  <a:pt x="3649357" y="290296"/>
                </a:lnTo>
                <a:close/>
              </a:path>
              <a:path w="3669029" h="300354">
                <a:moveTo>
                  <a:pt x="3668407" y="19050"/>
                </a:moveTo>
                <a:lnTo>
                  <a:pt x="3658882" y="19050"/>
                </a:lnTo>
                <a:lnTo>
                  <a:pt x="3649357" y="9525"/>
                </a:lnTo>
                <a:lnTo>
                  <a:pt x="3668407" y="9525"/>
                </a:lnTo>
                <a:lnTo>
                  <a:pt x="3668407" y="19050"/>
                </a:lnTo>
                <a:close/>
              </a:path>
              <a:path w="3669029" h="300354">
                <a:moveTo>
                  <a:pt x="19050" y="290296"/>
                </a:moveTo>
                <a:lnTo>
                  <a:pt x="9525" y="280771"/>
                </a:lnTo>
                <a:lnTo>
                  <a:pt x="19050" y="280771"/>
                </a:lnTo>
                <a:lnTo>
                  <a:pt x="19050" y="290296"/>
                </a:lnTo>
                <a:close/>
              </a:path>
              <a:path w="3669029" h="300354">
                <a:moveTo>
                  <a:pt x="3649357" y="290296"/>
                </a:moveTo>
                <a:lnTo>
                  <a:pt x="19050" y="290296"/>
                </a:lnTo>
                <a:lnTo>
                  <a:pt x="19050" y="280771"/>
                </a:lnTo>
                <a:lnTo>
                  <a:pt x="3649357" y="280771"/>
                </a:lnTo>
                <a:lnTo>
                  <a:pt x="3649357" y="290296"/>
                </a:lnTo>
                <a:close/>
              </a:path>
              <a:path w="3669029" h="300354">
                <a:moveTo>
                  <a:pt x="3668407" y="290296"/>
                </a:moveTo>
                <a:lnTo>
                  <a:pt x="3649357" y="290296"/>
                </a:lnTo>
                <a:lnTo>
                  <a:pt x="3658882" y="280771"/>
                </a:lnTo>
                <a:lnTo>
                  <a:pt x="3668407" y="280771"/>
                </a:lnTo>
                <a:lnTo>
                  <a:pt x="3668407" y="290296"/>
                </a:lnTo>
                <a:close/>
              </a:path>
            </a:pathLst>
          </a:custGeom>
          <a:solidFill>
            <a:srgbClr val="CD3333"/>
          </a:solidFill>
        </p:spPr>
        <p:txBody>
          <a:bodyPr wrap="square" lIns="0" tIns="0" rIns="0" bIns="0" rtlCol="0"/>
          <a:lstStyle/>
          <a:p/>
        </p:txBody>
      </p:sp>
      <p:sp>
        <p:nvSpPr>
          <p:cNvPr id="33" name="object 33"/>
          <p:cNvSpPr/>
          <p:nvPr/>
        </p:nvSpPr>
        <p:spPr>
          <a:xfrm>
            <a:off x="4847285" y="3885526"/>
            <a:ext cx="1629410" cy="299085"/>
          </a:xfrm>
          <a:custGeom>
            <a:avLst/>
            <a:gdLst/>
            <a:ahLst/>
            <a:cxnLst/>
            <a:rect l="l" t="t" r="r" b="b"/>
            <a:pathLst>
              <a:path w="1629410" h="299085">
                <a:moveTo>
                  <a:pt x="1619796" y="298932"/>
                </a:moveTo>
                <a:lnTo>
                  <a:pt x="9525" y="298932"/>
                </a:lnTo>
                <a:lnTo>
                  <a:pt x="7404" y="298691"/>
                </a:lnTo>
                <a:lnTo>
                  <a:pt x="0" y="289407"/>
                </a:lnTo>
                <a:lnTo>
                  <a:pt x="0" y="9525"/>
                </a:lnTo>
                <a:lnTo>
                  <a:pt x="9525" y="0"/>
                </a:lnTo>
                <a:lnTo>
                  <a:pt x="1619796" y="0"/>
                </a:lnTo>
                <a:lnTo>
                  <a:pt x="1629321" y="9525"/>
                </a:lnTo>
                <a:lnTo>
                  <a:pt x="19050" y="9525"/>
                </a:lnTo>
                <a:lnTo>
                  <a:pt x="9525" y="19050"/>
                </a:lnTo>
                <a:lnTo>
                  <a:pt x="19050" y="19050"/>
                </a:lnTo>
                <a:lnTo>
                  <a:pt x="19050" y="279882"/>
                </a:lnTo>
                <a:lnTo>
                  <a:pt x="9525" y="279882"/>
                </a:lnTo>
                <a:lnTo>
                  <a:pt x="19050" y="289407"/>
                </a:lnTo>
                <a:lnTo>
                  <a:pt x="1629321" y="289407"/>
                </a:lnTo>
                <a:lnTo>
                  <a:pt x="1629079" y="291528"/>
                </a:lnTo>
                <a:lnTo>
                  <a:pt x="1621917" y="298691"/>
                </a:lnTo>
                <a:lnTo>
                  <a:pt x="1619796" y="298932"/>
                </a:lnTo>
                <a:close/>
              </a:path>
              <a:path w="1629410" h="299085">
                <a:moveTo>
                  <a:pt x="19050" y="19050"/>
                </a:moveTo>
                <a:lnTo>
                  <a:pt x="9525" y="19050"/>
                </a:lnTo>
                <a:lnTo>
                  <a:pt x="19050" y="9525"/>
                </a:lnTo>
                <a:lnTo>
                  <a:pt x="19050" y="19050"/>
                </a:lnTo>
                <a:close/>
              </a:path>
              <a:path w="1629410" h="299085">
                <a:moveTo>
                  <a:pt x="1610271" y="19050"/>
                </a:moveTo>
                <a:lnTo>
                  <a:pt x="19050" y="19050"/>
                </a:lnTo>
                <a:lnTo>
                  <a:pt x="19050" y="9525"/>
                </a:lnTo>
                <a:lnTo>
                  <a:pt x="1610271" y="9525"/>
                </a:lnTo>
                <a:lnTo>
                  <a:pt x="1610271" y="19050"/>
                </a:lnTo>
                <a:close/>
              </a:path>
              <a:path w="1629410" h="299085">
                <a:moveTo>
                  <a:pt x="1610271" y="289407"/>
                </a:moveTo>
                <a:lnTo>
                  <a:pt x="1610271" y="9525"/>
                </a:lnTo>
                <a:lnTo>
                  <a:pt x="1619796" y="19050"/>
                </a:lnTo>
                <a:lnTo>
                  <a:pt x="1629321" y="19050"/>
                </a:lnTo>
                <a:lnTo>
                  <a:pt x="1629321" y="279882"/>
                </a:lnTo>
                <a:lnTo>
                  <a:pt x="1619796" y="279882"/>
                </a:lnTo>
                <a:lnTo>
                  <a:pt x="1610271" y="289407"/>
                </a:lnTo>
                <a:close/>
              </a:path>
              <a:path w="1629410" h="299085">
                <a:moveTo>
                  <a:pt x="1629321" y="19050"/>
                </a:moveTo>
                <a:lnTo>
                  <a:pt x="1619796" y="19050"/>
                </a:lnTo>
                <a:lnTo>
                  <a:pt x="1610271" y="9525"/>
                </a:lnTo>
                <a:lnTo>
                  <a:pt x="1629321" y="9525"/>
                </a:lnTo>
                <a:lnTo>
                  <a:pt x="1629321" y="19050"/>
                </a:lnTo>
                <a:close/>
              </a:path>
              <a:path w="1629410" h="299085">
                <a:moveTo>
                  <a:pt x="19050" y="289407"/>
                </a:moveTo>
                <a:lnTo>
                  <a:pt x="9525" y="279882"/>
                </a:lnTo>
                <a:lnTo>
                  <a:pt x="19050" y="279882"/>
                </a:lnTo>
                <a:lnTo>
                  <a:pt x="19050" y="289407"/>
                </a:lnTo>
                <a:close/>
              </a:path>
              <a:path w="1629410" h="299085">
                <a:moveTo>
                  <a:pt x="1610271" y="289407"/>
                </a:moveTo>
                <a:lnTo>
                  <a:pt x="19050" y="289407"/>
                </a:lnTo>
                <a:lnTo>
                  <a:pt x="19050" y="279882"/>
                </a:lnTo>
                <a:lnTo>
                  <a:pt x="1610271" y="279882"/>
                </a:lnTo>
                <a:lnTo>
                  <a:pt x="1610271" y="289407"/>
                </a:lnTo>
                <a:close/>
              </a:path>
              <a:path w="1629410" h="299085">
                <a:moveTo>
                  <a:pt x="1629321" y="289407"/>
                </a:moveTo>
                <a:lnTo>
                  <a:pt x="1610271" y="289407"/>
                </a:lnTo>
                <a:lnTo>
                  <a:pt x="1619796" y="279882"/>
                </a:lnTo>
                <a:lnTo>
                  <a:pt x="1629321" y="279882"/>
                </a:lnTo>
                <a:lnTo>
                  <a:pt x="1629321" y="289407"/>
                </a:lnTo>
                <a:close/>
              </a:path>
            </a:pathLst>
          </a:custGeom>
          <a:solidFill>
            <a:srgbClr val="CD3333"/>
          </a:solidFill>
        </p:spPr>
        <p:txBody>
          <a:bodyPr wrap="square" lIns="0" tIns="0" rIns="0" bIns="0" rtlCol="0"/>
          <a:lstStyle/>
          <a:p/>
        </p:txBody>
      </p:sp>
      <p:sp>
        <p:nvSpPr>
          <p:cNvPr id="34" name="object 34"/>
          <p:cNvSpPr txBox="1"/>
          <p:nvPr/>
        </p:nvSpPr>
        <p:spPr>
          <a:xfrm>
            <a:off x="465455" y="1747520"/>
            <a:ext cx="476313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微软雅黑" panose="020B0503020204020204" charset="-122"/>
                <a:cs typeface="微软雅黑" panose="020B0503020204020204" charset="-122"/>
              </a:rPr>
              <a:t>《手把手教你设计</a:t>
            </a:r>
            <a:r>
              <a:rPr sz="1800" b="1" spc="-5" dirty="0">
                <a:solidFill>
                  <a:srgbClr val="C00000"/>
                </a:solidFill>
                <a:latin typeface="微软雅黑" panose="020B0503020204020204" charset="-122"/>
                <a:cs typeface="微软雅黑" panose="020B0503020204020204" charset="-122"/>
              </a:rPr>
              <a:t>CPU——RISC-V</a:t>
            </a:r>
            <a:r>
              <a:rPr sz="1800" b="1" dirty="0">
                <a:solidFill>
                  <a:srgbClr val="C00000"/>
                </a:solidFill>
                <a:latin typeface="微软雅黑" panose="020B0503020204020204" charset="-122"/>
                <a:cs typeface="微软雅黑" panose="020B0503020204020204" charset="-122"/>
              </a:rPr>
              <a:t>处理器篇》</a:t>
            </a:r>
            <a:endParaRPr sz="1800">
              <a:latin typeface="微软雅黑" panose="020B0503020204020204" charset="-122"/>
              <a:cs typeface="微软雅黑" panose="020B0503020204020204" charset="-122"/>
            </a:endParaRPr>
          </a:p>
        </p:txBody>
      </p:sp>
      <p:sp>
        <p:nvSpPr>
          <p:cNvPr id="35" name="object 35"/>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47385" y="2619552"/>
            <a:ext cx="2303610" cy="2909494"/>
          </a:xfrm>
          <a:prstGeom prst="rect">
            <a:avLst/>
          </a:prstGeom>
          <a:blipFill>
            <a:blip r:embed="rId1" cstate="print"/>
            <a:stretch>
              <a:fillRect/>
            </a:stretch>
          </a:blipFill>
        </p:spPr>
        <p:txBody>
          <a:bodyPr wrap="square" lIns="0" tIns="0" rIns="0" bIns="0" rtlCol="0"/>
          <a:lstStyle/>
          <a:p/>
        </p:txBody>
      </p:sp>
      <p:sp>
        <p:nvSpPr>
          <p:cNvPr id="3" name="object 3"/>
          <p:cNvSpPr txBox="1"/>
          <p:nvPr/>
        </p:nvSpPr>
        <p:spPr>
          <a:xfrm>
            <a:off x="692150" y="415925"/>
            <a:ext cx="6083935" cy="566420"/>
          </a:xfrm>
          <a:prstGeom prst="rect">
            <a:avLst/>
          </a:prstGeom>
        </p:spPr>
        <p:txBody>
          <a:bodyPr vert="horz" wrap="square" lIns="0" tIns="12700" rIns="0" bIns="0" rtlCol="0">
            <a:spAutoFit/>
          </a:bodyPr>
          <a:lstStyle/>
          <a:p>
            <a:pPr marL="12700">
              <a:lnSpc>
                <a:spcPct val="100000"/>
              </a:lnSpc>
              <a:spcBef>
                <a:spcPts val="100"/>
              </a:spcBef>
            </a:pPr>
            <a:r>
              <a:rPr sz="3600" b="1" dirty="0">
                <a:solidFill>
                  <a:srgbClr val="C00000"/>
                </a:solidFill>
                <a:latin typeface="微软雅黑" panose="020B0503020204020204" charset="-122"/>
                <a:cs typeface="微软雅黑" panose="020B0503020204020204" charset="-122"/>
              </a:rPr>
              <a:t>RI</a:t>
            </a:r>
            <a:r>
              <a:rPr sz="3600" b="1" spc="-5" dirty="0">
                <a:solidFill>
                  <a:srgbClr val="C00000"/>
                </a:solidFill>
                <a:latin typeface="微软雅黑" panose="020B0503020204020204" charset="-122"/>
                <a:cs typeface="微软雅黑" panose="020B0503020204020204" charset="-122"/>
              </a:rPr>
              <a:t>S</a:t>
            </a:r>
            <a:r>
              <a:rPr sz="3600" b="1" dirty="0">
                <a:solidFill>
                  <a:srgbClr val="C00000"/>
                </a:solidFill>
                <a:latin typeface="微软雅黑" panose="020B0503020204020204" charset="-122"/>
                <a:cs typeface="微软雅黑" panose="020B0503020204020204" charset="-122"/>
              </a:rPr>
              <a:t>C</a:t>
            </a:r>
            <a:r>
              <a:rPr sz="3600" b="1" spc="-5" dirty="0">
                <a:solidFill>
                  <a:srgbClr val="C00000"/>
                </a:solidFill>
                <a:latin typeface="微软雅黑" panose="020B0503020204020204" charset="-122"/>
                <a:cs typeface="微软雅黑" panose="020B0503020204020204" charset="-122"/>
              </a:rPr>
              <a:t>-</a:t>
            </a:r>
            <a:r>
              <a:rPr sz="3600" b="1" dirty="0">
                <a:solidFill>
                  <a:srgbClr val="C00000"/>
                </a:solidFill>
                <a:latin typeface="微软雅黑" panose="020B0503020204020204" charset="-122"/>
                <a:cs typeface="微软雅黑" panose="020B0503020204020204" charset="-122"/>
              </a:rPr>
              <a:t>V的中文嵌入式书籍</a:t>
            </a:r>
            <a:endParaRPr sz="3600">
              <a:latin typeface="微软雅黑" panose="020B0503020204020204" charset="-122"/>
              <a:cs typeface="微软雅黑" panose="020B0503020204020204" charset="-122"/>
            </a:endParaRPr>
          </a:p>
        </p:txBody>
      </p:sp>
      <p:sp>
        <p:nvSpPr>
          <p:cNvPr id="4" name="object 4"/>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5" name="object 5"/>
          <p:cNvSpPr/>
          <p:nvPr/>
        </p:nvSpPr>
        <p:spPr>
          <a:xfrm>
            <a:off x="7793021" y="3070602"/>
            <a:ext cx="2478441" cy="352539"/>
          </a:xfrm>
          <a:prstGeom prst="rect">
            <a:avLst/>
          </a:prstGeom>
          <a:blipFill>
            <a:blip r:embed="rId2" cstate="print"/>
            <a:stretch>
              <a:fillRect/>
            </a:stretch>
          </a:blipFill>
        </p:spPr>
        <p:txBody>
          <a:bodyPr wrap="square" lIns="0" tIns="0" rIns="0" bIns="0" rtlCol="0"/>
          <a:lstStyle/>
          <a:p/>
        </p:txBody>
      </p:sp>
      <p:sp>
        <p:nvSpPr>
          <p:cNvPr id="6" name="object 6"/>
          <p:cNvSpPr/>
          <p:nvPr/>
        </p:nvSpPr>
        <p:spPr>
          <a:xfrm>
            <a:off x="5128531" y="3030356"/>
            <a:ext cx="2438640" cy="363120"/>
          </a:xfrm>
          <a:prstGeom prst="rect">
            <a:avLst/>
          </a:prstGeom>
          <a:blipFill>
            <a:blip r:embed="rId3" cstate="print"/>
            <a:stretch>
              <a:fillRect/>
            </a:stretch>
          </a:blipFill>
        </p:spPr>
        <p:txBody>
          <a:bodyPr wrap="square" lIns="0" tIns="0" rIns="0" bIns="0" rtlCol="0"/>
          <a:lstStyle/>
          <a:p/>
        </p:txBody>
      </p:sp>
      <p:sp>
        <p:nvSpPr>
          <p:cNvPr id="7" name="object 7"/>
          <p:cNvSpPr/>
          <p:nvPr/>
        </p:nvSpPr>
        <p:spPr>
          <a:xfrm>
            <a:off x="5129784" y="3336035"/>
            <a:ext cx="2500884" cy="413003"/>
          </a:xfrm>
          <a:prstGeom prst="rect">
            <a:avLst/>
          </a:prstGeom>
          <a:blipFill>
            <a:blip r:embed="rId4" cstate="print"/>
            <a:stretch>
              <a:fillRect/>
            </a:stretch>
          </a:blipFill>
        </p:spPr>
        <p:txBody>
          <a:bodyPr wrap="square" lIns="0" tIns="0" rIns="0" bIns="0" rtlCol="0"/>
          <a:lstStyle/>
          <a:p/>
        </p:txBody>
      </p:sp>
      <p:sp>
        <p:nvSpPr>
          <p:cNvPr id="8" name="object 8"/>
          <p:cNvSpPr/>
          <p:nvPr/>
        </p:nvSpPr>
        <p:spPr>
          <a:xfrm>
            <a:off x="5140452" y="3685032"/>
            <a:ext cx="2496311" cy="428244"/>
          </a:xfrm>
          <a:prstGeom prst="rect">
            <a:avLst/>
          </a:prstGeom>
          <a:blipFill>
            <a:blip r:embed="rId5" cstate="print"/>
            <a:stretch>
              <a:fillRect/>
            </a:stretch>
          </a:blipFill>
        </p:spPr>
        <p:txBody>
          <a:bodyPr wrap="square" lIns="0" tIns="0" rIns="0" bIns="0" rtlCol="0"/>
          <a:lstStyle/>
          <a:p/>
        </p:txBody>
      </p:sp>
      <p:sp>
        <p:nvSpPr>
          <p:cNvPr id="9" name="object 9"/>
          <p:cNvSpPr/>
          <p:nvPr/>
        </p:nvSpPr>
        <p:spPr>
          <a:xfrm>
            <a:off x="5135879" y="4049267"/>
            <a:ext cx="2516124" cy="312419"/>
          </a:xfrm>
          <a:prstGeom prst="rect">
            <a:avLst/>
          </a:prstGeom>
          <a:blipFill>
            <a:blip r:embed="rId6" cstate="print"/>
            <a:stretch>
              <a:fillRect/>
            </a:stretch>
          </a:blipFill>
        </p:spPr>
        <p:txBody>
          <a:bodyPr wrap="square" lIns="0" tIns="0" rIns="0" bIns="0" rtlCol="0"/>
          <a:lstStyle/>
          <a:p/>
        </p:txBody>
      </p:sp>
      <p:sp>
        <p:nvSpPr>
          <p:cNvPr id="10" name="object 10"/>
          <p:cNvSpPr/>
          <p:nvPr/>
        </p:nvSpPr>
        <p:spPr>
          <a:xfrm>
            <a:off x="5120640" y="4271771"/>
            <a:ext cx="2526791" cy="454151"/>
          </a:xfrm>
          <a:prstGeom prst="rect">
            <a:avLst/>
          </a:prstGeom>
          <a:blipFill>
            <a:blip r:embed="rId7" cstate="print"/>
            <a:stretch>
              <a:fillRect/>
            </a:stretch>
          </a:blipFill>
        </p:spPr>
        <p:txBody>
          <a:bodyPr wrap="square" lIns="0" tIns="0" rIns="0" bIns="0" rtlCol="0"/>
          <a:lstStyle/>
          <a:p/>
        </p:txBody>
      </p:sp>
      <p:sp>
        <p:nvSpPr>
          <p:cNvPr id="11" name="object 11"/>
          <p:cNvSpPr/>
          <p:nvPr/>
        </p:nvSpPr>
        <p:spPr>
          <a:xfrm>
            <a:off x="5141976" y="4664964"/>
            <a:ext cx="2468879" cy="368807"/>
          </a:xfrm>
          <a:prstGeom prst="rect">
            <a:avLst/>
          </a:prstGeom>
          <a:blipFill>
            <a:blip r:embed="rId8" cstate="print"/>
            <a:stretch>
              <a:fillRect/>
            </a:stretch>
          </a:blipFill>
        </p:spPr>
        <p:txBody>
          <a:bodyPr wrap="square" lIns="0" tIns="0" rIns="0" bIns="0" rtlCol="0"/>
          <a:lstStyle/>
          <a:p/>
        </p:txBody>
      </p:sp>
      <p:sp>
        <p:nvSpPr>
          <p:cNvPr id="12" name="object 12"/>
          <p:cNvSpPr/>
          <p:nvPr/>
        </p:nvSpPr>
        <p:spPr>
          <a:xfrm>
            <a:off x="5159621" y="5033771"/>
            <a:ext cx="2395650" cy="323408"/>
          </a:xfrm>
          <a:prstGeom prst="rect">
            <a:avLst/>
          </a:prstGeom>
          <a:blipFill>
            <a:blip r:embed="rId9" cstate="print"/>
            <a:stretch>
              <a:fillRect/>
            </a:stretch>
          </a:blipFill>
        </p:spPr>
        <p:txBody>
          <a:bodyPr wrap="square" lIns="0" tIns="0" rIns="0" bIns="0" rtlCol="0"/>
          <a:lstStyle/>
          <a:p/>
        </p:txBody>
      </p:sp>
      <p:sp>
        <p:nvSpPr>
          <p:cNvPr id="13" name="object 13"/>
          <p:cNvSpPr/>
          <p:nvPr/>
        </p:nvSpPr>
        <p:spPr>
          <a:xfrm>
            <a:off x="7771679" y="1337905"/>
            <a:ext cx="2478140" cy="176451"/>
          </a:xfrm>
          <a:prstGeom prst="rect">
            <a:avLst/>
          </a:prstGeom>
          <a:blipFill>
            <a:blip r:embed="rId10" cstate="print"/>
            <a:stretch>
              <a:fillRect/>
            </a:stretch>
          </a:blipFill>
        </p:spPr>
        <p:txBody>
          <a:bodyPr wrap="square" lIns="0" tIns="0" rIns="0" bIns="0" rtlCol="0"/>
          <a:lstStyle/>
          <a:p/>
        </p:txBody>
      </p:sp>
      <p:sp>
        <p:nvSpPr>
          <p:cNvPr id="14" name="object 14"/>
          <p:cNvSpPr/>
          <p:nvPr/>
        </p:nvSpPr>
        <p:spPr>
          <a:xfrm>
            <a:off x="7782359" y="1580202"/>
            <a:ext cx="2478827" cy="396091"/>
          </a:xfrm>
          <a:prstGeom prst="rect">
            <a:avLst/>
          </a:prstGeom>
          <a:blipFill>
            <a:blip r:embed="rId11" cstate="print"/>
            <a:stretch>
              <a:fillRect/>
            </a:stretch>
          </a:blipFill>
        </p:spPr>
        <p:txBody>
          <a:bodyPr wrap="square" lIns="0" tIns="0" rIns="0" bIns="0" rtlCol="0"/>
          <a:lstStyle/>
          <a:p/>
        </p:txBody>
      </p:sp>
      <p:sp>
        <p:nvSpPr>
          <p:cNvPr id="15" name="object 15"/>
          <p:cNvSpPr/>
          <p:nvPr/>
        </p:nvSpPr>
        <p:spPr>
          <a:xfrm>
            <a:off x="7766304" y="1938527"/>
            <a:ext cx="2609088" cy="347472"/>
          </a:xfrm>
          <a:prstGeom prst="rect">
            <a:avLst/>
          </a:prstGeom>
          <a:blipFill>
            <a:blip r:embed="rId12" cstate="print"/>
            <a:stretch>
              <a:fillRect/>
            </a:stretch>
          </a:blipFill>
        </p:spPr>
        <p:txBody>
          <a:bodyPr wrap="square" lIns="0" tIns="0" rIns="0" bIns="0" rtlCol="0"/>
          <a:lstStyle/>
          <a:p/>
        </p:txBody>
      </p:sp>
      <p:sp>
        <p:nvSpPr>
          <p:cNvPr id="16" name="object 16"/>
          <p:cNvSpPr/>
          <p:nvPr/>
        </p:nvSpPr>
        <p:spPr>
          <a:xfrm>
            <a:off x="7787640" y="2217420"/>
            <a:ext cx="2537459" cy="419100"/>
          </a:xfrm>
          <a:prstGeom prst="rect">
            <a:avLst/>
          </a:prstGeom>
          <a:blipFill>
            <a:blip r:embed="rId13" cstate="print"/>
            <a:stretch>
              <a:fillRect/>
            </a:stretch>
          </a:blipFill>
        </p:spPr>
        <p:txBody>
          <a:bodyPr wrap="square" lIns="0" tIns="0" rIns="0" bIns="0" rtlCol="0"/>
          <a:lstStyle/>
          <a:p/>
        </p:txBody>
      </p:sp>
      <p:sp>
        <p:nvSpPr>
          <p:cNvPr id="17" name="object 17"/>
          <p:cNvSpPr/>
          <p:nvPr/>
        </p:nvSpPr>
        <p:spPr>
          <a:xfrm>
            <a:off x="7769352" y="2612135"/>
            <a:ext cx="2609088" cy="473963"/>
          </a:xfrm>
          <a:prstGeom prst="rect">
            <a:avLst/>
          </a:prstGeom>
          <a:blipFill>
            <a:blip r:embed="rId14" cstate="print"/>
            <a:stretch>
              <a:fillRect/>
            </a:stretch>
          </a:blipFill>
        </p:spPr>
        <p:txBody>
          <a:bodyPr wrap="square" lIns="0" tIns="0" rIns="0" bIns="0" rtlCol="0"/>
          <a:lstStyle/>
          <a:p/>
        </p:txBody>
      </p:sp>
      <p:sp>
        <p:nvSpPr>
          <p:cNvPr id="18" name="object 18"/>
          <p:cNvSpPr/>
          <p:nvPr/>
        </p:nvSpPr>
        <p:spPr>
          <a:xfrm>
            <a:off x="7709916" y="3383279"/>
            <a:ext cx="2685287" cy="457200"/>
          </a:xfrm>
          <a:prstGeom prst="rect">
            <a:avLst/>
          </a:prstGeom>
          <a:blipFill>
            <a:blip r:embed="rId15" cstate="print"/>
            <a:stretch>
              <a:fillRect/>
            </a:stretch>
          </a:blipFill>
        </p:spPr>
        <p:txBody>
          <a:bodyPr wrap="square" lIns="0" tIns="0" rIns="0" bIns="0" rtlCol="0"/>
          <a:lstStyle/>
          <a:p/>
        </p:txBody>
      </p:sp>
      <p:sp>
        <p:nvSpPr>
          <p:cNvPr id="19" name="object 19"/>
          <p:cNvSpPr/>
          <p:nvPr/>
        </p:nvSpPr>
        <p:spPr>
          <a:xfrm>
            <a:off x="7801356" y="3741420"/>
            <a:ext cx="2592324" cy="288036"/>
          </a:xfrm>
          <a:prstGeom prst="rect">
            <a:avLst/>
          </a:prstGeom>
          <a:blipFill>
            <a:blip r:embed="rId16" cstate="print"/>
            <a:stretch>
              <a:fillRect/>
            </a:stretch>
          </a:blipFill>
        </p:spPr>
        <p:txBody>
          <a:bodyPr wrap="square" lIns="0" tIns="0" rIns="0" bIns="0" rtlCol="0"/>
          <a:lstStyle/>
          <a:p/>
        </p:txBody>
      </p:sp>
      <p:sp>
        <p:nvSpPr>
          <p:cNvPr id="20" name="object 20"/>
          <p:cNvSpPr/>
          <p:nvPr/>
        </p:nvSpPr>
        <p:spPr>
          <a:xfrm>
            <a:off x="7859268" y="3959352"/>
            <a:ext cx="2511552" cy="420624"/>
          </a:xfrm>
          <a:prstGeom prst="rect">
            <a:avLst/>
          </a:prstGeom>
          <a:blipFill>
            <a:blip r:embed="rId17" cstate="print"/>
            <a:stretch>
              <a:fillRect/>
            </a:stretch>
          </a:blipFill>
        </p:spPr>
        <p:txBody>
          <a:bodyPr wrap="square" lIns="0" tIns="0" rIns="0" bIns="0" rtlCol="0"/>
          <a:lstStyle/>
          <a:p/>
        </p:txBody>
      </p:sp>
      <p:sp>
        <p:nvSpPr>
          <p:cNvPr id="21" name="object 21"/>
          <p:cNvSpPr/>
          <p:nvPr/>
        </p:nvSpPr>
        <p:spPr>
          <a:xfrm>
            <a:off x="7853171" y="4309871"/>
            <a:ext cx="2500883" cy="292607"/>
          </a:xfrm>
          <a:prstGeom prst="rect">
            <a:avLst/>
          </a:prstGeom>
          <a:blipFill>
            <a:blip r:embed="rId18" cstate="print"/>
            <a:stretch>
              <a:fillRect/>
            </a:stretch>
          </a:blipFill>
        </p:spPr>
        <p:txBody>
          <a:bodyPr wrap="square" lIns="0" tIns="0" rIns="0" bIns="0" rtlCol="0"/>
          <a:lstStyle/>
          <a:p/>
        </p:txBody>
      </p:sp>
      <p:sp>
        <p:nvSpPr>
          <p:cNvPr id="22" name="object 22"/>
          <p:cNvSpPr/>
          <p:nvPr/>
        </p:nvSpPr>
        <p:spPr>
          <a:xfrm>
            <a:off x="7819643" y="4536947"/>
            <a:ext cx="2532888" cy="271272"/>
          </a:xfrm>
          <a:prstGeom prst="rect">
            <a:avLst/>
          </a:prstGeom>
          <a:blipFill>
            <a:blip r:embed="rId19" cstate="print"/>
            <a:stretch>
              <a:fillRect/>
            </a:stretch>
          </a:blipFill>
        </p:spPr>
        <p:txBody>
          <a:bodyPr wrap="square" lIns="0" tIns="0" rIns="0" bIns="0" rtlCol="0"/>
          <a:lstStyle/>
          <a:p/>
        </p:txBody>
      </p:sp>
      <p:sp>
        <p:nvSpPr>
          <p:cNvPr id="23" name="object 23"/>
          <p:cNvSpPr/>
          <p:nvPr/>
        </p:nvSpPr>
        <p:spPr>
          <a:xfrm>
            <a:off x="7856219" y="4788408"/>
            <a:ext cx="2500883" cy="409956"/>
          </a:xfrm>
          <a:prstGeom prst="rect">
            <a:avLst/>
          </a:prstGeom>
          <a:blipFill>
            <a:blip r:embed="rId20" cstate="print"/>
            <a:stretch>
              <a:fillRect/>
            </a:stretch>
          </a:blipFill>
        </p:spPr>
        <p:txBody>
          <a:bodyPr wrap="square" lIns="0" tIns="0" rIns="0" bIns="0" rtlCol="0"/>
          <a:lstStyle/>
          <a:p/>
        </p:txBody>
      </p:sp>
      <p:sp>
        <p:nvSpPr>
          <p:cNvPr id="24" name="object 24"/>
          <p:cNvSpPr/>
          <p:nvPr/>
        </p:nvSpPr>
        <p:spPr>
          <a:xfrm>
            <a:off x="7815071" y="5143500"/>
            <a:ext cx="2511552" cy="297180"/>
          </a:xfrm>
          <a:prstGeom prst="rect">
            <a:avLst/>
          </a:prstGeom>
          <a:blipFill>
            <a:blip r:embed="rId21" cstate="print"/>
            <a:stretch>
              <a:fillRect/>
            </a:stretch>
          </a:blipFill>
        </p:spPr>
        <p:txBody>
          <a:bodyPr wrap="square" lIns="0" tIns="0" rIns="0" bIns="0" rtlCol="0"/>
          <a:lstStyle/>
          <a:p/>
        </p:txBody>
      </p:sp>
      <p:sp>
        <p:nvSpPr>
          <p:cNvPr id="25" name="object 25"/>
          <p:cNvSpPr/>
          <p:nvPr/>
        </p:nvSpPr>
        <p:spPr>
          <a:xfrm>
            <a:off x="7880604" y="5426964"/>
            <a:ext cx="2447544" cy="256031"/>
          </a:xfrm>
          <a:prstGeom prst="rect">
            <a:avLst/>
          </a:prstGeom>
          <a:blipFill>
            <a:blip r:embed="rId22" cstate="print"/>
            <a:stretch>
              <a:fillRect/>
            </a:stretch>
          </a:blipFill>
        </p:spPr>
        <p:txBody>
          <a:bodyPr wrap="square" lIns="0" tIns="0" rIns="0" bIns="0" rtlCol="0"/>
          <a:lstStyle/>
          <a:p/>
        </p:txBody>
      </p:sp>
      <p:sp>
        <p:nvSpPr>
          <p:cNvPr id="26" name="object 26"/>
          <p:cNvSpPr txBox="1"/>
          <p:nvPr/>
        </p:nvSpPr>
        <p:spPr>
          <a:xfrm>
            <a:off x="948689" y="1647939"/>
            <a:ext cx="401637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微软雅黑" panose="020B0503020204020204" charset="-122"/>
                <a:cs typeface="微软雅黑" panose="020B0503020204020204" charset="-122"/>
              </a:rPr>
              <a:t>《</a:t>
            </a:r>
            <a:r>
              <a:rPr sz="1800" b="1" spc="-5" dirty="0">
                <a:solidFill>
                  <a:srgbClr val="C00000"/>
                </a:solidFill>
                <a:latin typeface="微软雅黑" panose="020B0503020204020204" charset="-122"/>
                <a:cs typeface="微软雅黑" panose="020B0503020204020204" charset="-122"/>
              </a:rPr>
              <a:t>R</a:t>
            </a:r>
            <a:r>
              <a:rPr sz="1800" b="1" dirty="0">
                <a:solidFill>
                  <a:srgbClr val="C00000"/>
                </a:solidFill>
                <a:latin typeface="微软雅黑" panose="020B0503020204020204" charset="-122"/>
                <a:cs typeface="微软雅黑" panose="020B0503020204020204" charset="-122"/>
              </a:rPr>
              <a:t>IS</a:t>
            </a:r>
            <a:r>
              <a:rPr sz="1800" b="1" spc="-5" dirty="0">
                <a:solidFill>
                  <a:srgbClr val="C00000"/>
                </a:solidFill>
                <a:latin typeface="微软雅黑" panose="020B0503020204020204" charset="-122"/>
                <a:cs typeface="微软雅黑" panose="020B0503020204020204" charset="-122"/>
              </a:rPr>
              <a:t>C-V</a:t>
            </a:r>
            <a:r>
              <a:rPr sz="1800" b="1" dirty="0">
                <a:solidFill>
                  <a:srgbClr val="C00000"/>
                </a:solidFill>
                <a:latin typeface="微软雅黑" panose="020B0503020204020204" charset="-122"/>
                <a:cs typeface="微软雅黑" panose="020B0503020204020204" charset="-122"/>
              </a:rPr>
              <a:t>架构与嵌入式开发快速入门》</a:t>
            </a:r>
            <a:endParaRPr sz="1800">
              <a:latin typeface="微软雅黑" panose="020B0503020204020204" charset="-122"/>
              <a:cs typeface="微软雅黑" panose="020B0503020204020204" charset="-122"/>
            </a:endParaRPr>
          </a:p>
        </p:txBody>
      </p:sp>
      <p:sp>
        <p:nvSpPr>
          <p:cNvPr id="27" name="object 27"/>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22909" cy="443230"/>
          </a:xfrm>
          <a:custGeom>
            <a:avLst/>
            <a:gdLst/>
            <a:ahLst/>
            <a:cxnLst/>
            <a:rect l="l" t="t" r="r" b="b"/>
            <a:pathLst>
              <a:path w="422909" h="443230">
                <a:moveTo>
                  <a:pt x="0" y="443114"/>
                </a:moveTo>
                <a:lnTo>
                  <a:pt x="0" y="0"/>
                </a:lnTo>
                <a:lnTo>
                  <a:pt x="422640" y="0"/>
                </a:lnTo>
                <a:lnTo>
                  <a:pt x="0" y="443114"/>
                </a:lnTo>
                <a:close/>
              </a:path>
            </a:pathLst>
          </a:custGeom>
          <a:solidFill>
            <a:srgbClr val="C00000"/>
          </a:solidFill>
        </p:spPr>
        <p:txBody>
          <a:bodyPr wrap="square" lIns="0" tIns="0" rIns="0" bIns="0" rtlCol="0"/>
          <a:lstStyle/>
          <a:p/>
        </p:txBody>
      </p:sp>
      <p:sp>
        <p:nvSpPr>
          <p:cNvPr id="3" name="object 3"/>
          <p:cNvSpPr/>
          <p:nvPr/>
        </p:nvSpPr>
        <p:spPr>
          <a:xfrm>
            <a:off x="2394204" y="1135380"/>
            <a:ext cx="6791325" cy="510540"/>
          </a:xfrm>
          <a:custGeom>
            <a:avLst/>
            <a:gdLst/>
            <a:ahLst/>
            <a:cxnLst/>
            <a:rect l="l" t="t" r="r" b="b"/>
            <a:pathLst>
              <a:path w="6791325" h="510539">
                <a:moveTo>
                  <a:pt x="0" y="0"/>
                </a:moveTo>
                <a:lnTo>
                  <a:pt x="6790944" y="0"/>
                </a:lnTo>
                <a:lnTo>
                  <a:pt x="6790944" y="510540"/>
                </a:lnTo>
                <a:lnTo>
                  <a:pt x="0" y="510540"/>
                </a:lnTo>
                <a:lnTo>
                  <a:pt x="0" y="0"/>
                </a:lnTo>
                <a:close/>
              </a:path>
            </a:pathLst>
          </a:custGeom>
          <a:solidFill>
            <a:srgbClr val="D9D9D9"/>
          </a:solidFill>
        </p:spPr>
        <p:txBody>
          <a:bodyPr wrap="square" lIns="0" tIns="0" rIns="0" bIns="0" rtlCol="0"/>
          <a:lstStyle/>
          <a:p/>
        </p:txBody>
      </p:sp>
      <p:sp>
        <p:nvSpPr>
          <p:cNvPr id="4" name="object 4"/>
          <p:cNvSpPr/>
          <p:nvPr/>
        </p:nvSpPr>
        <p:spPr>
          <a:xfrm>
            <a:off x="8916923" y="1134656"/>
            <a:ext cx="522605" cy="511809"/>
          </a:xfrm>
          <a:custGeom>
            <a:avLst/>
            <a:gdLst/>
            <a:ahLst/>
            <a:cxnLst/>
            <a:rect l="l" t="t" r="r" b="b"/>
            <a:pathLst>
              <a:path w="522604" h="511810">
                <a:moveTo>
                  <a:pt x="261099" y="511327"/>
                </a:moveTo>
                <a:lnTo>
                  <a:pt x="214151" y="507207"/>
                </a:lnTo>
                <a:lnTo>
                  <a:pt x="169966" y="495327"/>
                </a:lnTo>
                <a:lnTo>
                  <a:pt x="129280" y="476405"/>
                </a:lnTo>
                <a:lnTo>
                  <a:pt x="92832" y="451160"/>
                </a:lnTo>
                <a:lnTo>
                  <a:pt x="61360" y="420310"/>
                </a:lnTo>
                <a:lnTo>
                  <a:pt x="35603" y="384573"/>
                </a:lnTo>
                <a:lnTo>
                  <a:pt x="16299" y="344669"/>
                </a:lnTo>
                <a:lnTo>
                  <a:pt x="4185" y="301316"/>
                </a:lnTo>
                <a:lnTo>
                  <a:pt x="0" y="255231"/>
                </a:lnTo>
                <a:lnTo>
                  <a:pt x="4185" y="209404"/>
                </a:lnTo>
                <a:lnTo>
                  <a:pt x="16299" y="166251"/>
                </a:lnTo>
                <a:lnTo>
                  <a:pt x="35603" y="126497"/>
                </a:lnTo>
                <a:lnTo>
                  <a:pt x="61360" y="90869"/>
                </a:lnTo>
                <a:lnTo>
                  <a:pt x="92832" y="60091"/>
                </a:lnTo>
                <a:lnTo>
                  <a:pt x="129280" y="34889"/>
                </a:lnTo>
                <a:lnTo>
                  <a:pt x="169966" y="15990"/>
                </a:lnTo>
                <a:lnTo>
                  <a:pt x="214151" y="4118"/>
                </a:lnTo>
                <a:lnTo>
                  <a:pt x="261099" y="0"/>
                </a:lnTo>
                <a:lnTo>
                  <a:pt x="308043" y="4119"/>
                </a:lnTo>
                <a:lnTo>
                  <a:pt x="352228" y="15995"/>
                </a:lnTo>
                <a:lnTo>
                  <a:pt x="392915" y="34905"/>
                </a:lnTo>
                <a:lnTo>
                  <a:pt x="429367" y="60129"/>
                </a:lnTo>
                <a:lnTo>
                  <a:pt x="460846" y="90943"/>
                </a:lnTo>
                <a:lnTo>
                  <a:pt x="486614" y="126625"/>
                </a:lnTo>
                <a:lnTo>
                  <a:pt x="505933" y="166454"/>
                </a:lnTo>
                <a:lnTo>
                  <a:pt x="518066" y="209707"/>
                </a:lnTo>
                <a:lnTo>
                  <a:pt x="522274" y="255663"/>
                </a:lnTo>
                <a:lnTo>
                  <a:pt x="518066" y="301619"/>
                </a:lnTo>
                <a:lnTo>
                  <a:pt x="505933" y="344872"/>
                </a:lnTo>
                <a:lnTo>
                  <a:pt x="486614" y="384701"/>
                </a:lnTo>
                <a:lnTo>
                  <a:pt x="460846" y="420384"/>
                </a:lnTo>
                <a:lnTo>
                  <a:pt x="429367" y="451198"/>
                </a:lnTo>
                <a:lnTo>
                  <a:pt x="392915" y="476421"/>
                </a:lnTo>
                <a:lnTo>
                  <a:pt x="352228" y="495332"/>
                </a:lnTo>
                <a:lnTo>
                  <a:pt x="308043" y="507208"/>
                </a:lnTo>
                <a:lnTo>
                  <a:pt x="261099" y="511327"/>
                </a:lnTo>
                <a:close/>
              </a:path>
            </a:pathLst>
          </a:custGeom>
          <a:solidFill>
            <a:srgbClr val="D9D9D9"/>
          </a:solidFill>
        </p:spPr>
        <p:txBody>
          <a:bodyPr wrap="square" lIns="0" tIns="0" rIns="0" bIns="0" rtlCol="0"/>
          <a:lstStyle/>
          <a:p/>
        </p:txBody>
      </p:sp>
      <p:sp>
        <p:nvSpPr>
          <p:cNvPr id="5" name="object 5"/>
          <p:cNvSpPr/>
          <p:nvPr/>
        </p:nvSpPr>
        <p:spPr>
          <a:xfrm>
            <a:off x="2098548" y="1134110"/>
            <a:ext cx="521970" cy="511809"/>
          </a:xfrm>
          <a:custGeom>
            <a:avLst/>
            <a:gdLst/>
            <a:ahLst/>
            <a:cxnLst/>
            <a:rect l="l" t="t" r="r" b="b"/>
            <a:pathLst>
              <a:path w="521969" h="511810">
                <a:moveTo>
                  <a:pt x="260667" y="511327"/>
                </a:moveTo>
                <a:lnTo>
                  <a:pt x="213720" y="507208"/>
                </a:lnTo>
                <a:lnTo>
                  <a:pt x="169536" y="495332"/>
                </a:lnTo>
                <a:lnTo>
                  <a:pt x="128858" y="476421"/>
                </a:lnTo>
                <a:lnTo>
                  <a:pt x="92428" y="451198"/>
                </a:lnTo>
                <a:lnTo>
                  <a:pt x="60989" y="420384"/>
                </a:lnTo>
                <a:lnTo>
                  <a:pt x="35283" y="384701"/>
                </a:lnTo>
                <a:lnTo>
                  <a:pt x="16055" y="344872"/>
                </a:lnTo>
                <a:lnTo>
                  <a:pt x="4056" y="301699"/>
                </a:lnTo>
                <a:lnTo>
                  <a:pt x="0" y="255777"/>
                </a:lnTo>
                <a:lnTo>
                  <a:pt x="4056" y="209788"/>
                </a:lnTo>
                <a:lnTo>
                  <a:pt x="16096" y="166454"/>
                </a:lnTo>
                <a:lnTo>
                  <a:pt x="35324" y="126625"/>
                </a:lnTo>
                <a:lnTo>
                  <a:pt x="61023" y="90943"/>
                </a:lnTo>
                <a:lnTo>
                  <a:pt x="92453" y="60129"/>
                </a:lnTo>
                <a:lnTo>
                  <a:pt x="128873" y="34905"/>
                </a:lnTo>
                <a:lnTo>
                  <a:pt x="169543" y="15995"/>
                </a:lnTo>
                <a:lnTo>
                  <a:pt x="213722" y="4119"/>
                </a:lnTo>
                <a:lnTo>
                  <a:pt x="260667" y="0"/>
                </a:lnTo>
                <a:lnTo>
                  <a:pt x="307612" y="4119"/>
                </a:lnTo>
                <a:lnTo>
                  <a:pt x="351799" y="15996"/>
                </a:lnTo>
                <a:lnTo>
                  <a:pt x="392489" y="34909"/>
                </a:lnTo>
                <a:lnTo>
                  <a:pt x="428945" y="60139"/>
                </a:lnTo>
                <a:lnTo>
                  <a:pt x="460428" y="90962"/>
                </a:lnTo>
                <a:lnTo>
                  <a:pt x="486199" y="126659"/>
                </a:lnTo>
                <a:lnTo>
                  <a:pt x="505517" y="166508"/>
                </a:lnTo>
                <a:lnTo>
                  <a:pt x="517634" y="209707"/>
                </a:lnTo>
                <a:lnTo>
                  <a:pt x="521843" y="255663"/>
                </a:lnTo>
                <a:lnTo>
                  <a:pt x="517634" y="301619"/>
                </a:lnTo>
                <a:lnTo>
                  <a:pt x="505476" y="344926"/>
                </a:lnTo>
                <a:lnTo>
                  <a:pt x="486158" y="384735"/>
                </a:lnTo>
                <a:lnTo>
                  <a:pt x="460394" y="420403"/>
                </a:lnTo>
                <a:lnTo>
                  <a:pt x="428921" y="451208"/>
                </a:lnTo>
                <a:lnTo>
                  <a:pt x="392474" y="476425"/>
                </a:lnTo>
                <a:lnTo>
                  <a:pt x="351791" y="495333"/>
                </a:lnTo>
                <a:lnTo>
                  <a:pt x="307609" y="507208"/>
                </a:lnTo>
                <a:lnTo>
                  <a:pt x="260667" y="511327"/>
                </a:lnTo>
                <a:close/>
              </a:path>
            </a:pathLst>
          </a:custGeom>
          <a:solidFill>
            <a:srgbClr val="A6A6A6"/>
          </a:solidFill>
        </p:spPr>
        <p:txBody>
          <a:bodyPr wrap="square" lIns="0" tIns="0" rIns="0" bIns="0" rtlCol="0"/>
          <a:lstStyle/>
          <a:p/>
        </p:txBody>
      </p:sp>
      <p:sp>
        <p:nvSpPr>
          <p:cNvPr id="6" name="object 6"/>
          <p:cNvSpPr txBox="1"/>
          <p:nvPr/>
        </p:nvSpPr>
        <p:spPr>
          <a:xfrm>
            <a:off x="2243112" y="1107389"/>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1</a:t>
            </a:r>
            <a:endParaRPr sz="3200">
              <a:latin typeface="Calibri" panose="020F0502020204030204"/>
              <a:cs typeface="Calibri" panose="020F0502020204030204"/>
            </a:endParaRPr>
          </a:p>
        </p:txBody>
      </p:sp>
      <p:sp>
        <p:nvSpPr>
          <p:cNvPr id="7" name="object 7"/>
          <p:cNvSpPr/>
          <p:nvPr/>
        </p:nvSpPr>
        <p:spPr>
          <a:xfrm>
            <a:off x="2394204" y="1789176"/>
            <a:ext cx="6791325" cy="509270"/>
          </a:xfrm>
          <a:custGeom>
            <a:avLst/>
            <a:gdLst/>
            <a:ahLst/>
            <a:cxnLst/>
            <a:rect l="l" t="t" r="r" b="b"/>
            <a:pathLst>
              <a:path w="6791325" h="509269">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8" name="object 8"/>
          <p:cNvSpPr/>
          <p:nvPr/>
        </p:nvSpPr>
        <p:spPr>
          <a:xfrm>
            <a:off x="8916923" y="1788566"/>
            <a:ext cx="522605" cy="511175"/>
          </a:xfrm>
          <a:custGeom>
            <a:avLst/>
            <a:gdLst/>
            <a:ahLst/>
            <a:cxnLst/>
            <a:rect l="l" t="t" r="r" b="b"/>
            <a:pathLst>
              <a:path w="522604" h="511175">
                <a:moveTo>
                  <a:pt x="261099" y="510717"/>
                </a:moveTo>
                <a:lnTo>
                  <a:pt x="214151" y="506603"/>
                </a:lnTo>
                <a:lnTo>
                  <a:pt x="169966" y="494739"/>
                </a:lnTo>
                <a:lnTo>
                  <a:pt x="129280" y="475845"/>
                </a:lnTo>
                <a:lnTo>
                  <a:pt x="92832" y="450640"/>
                </a:lnTo>
                <a:lnTo>
                  <a:pt x="61360" y="419843"/>
                </a:lnTo>
                <a:lnTo>
                  <a:pt x="35603" y="384173"/>
                </a:lnTo>
                <a:lnTo>
                  <a:pt x="16299" y="344349"/>
                </a:lnTo>
                <a:lnTo>
                  <a:pt x="4185" y="301091"/>
                </a:lnTo>
                <a:lnTo>
                  <a:pt x="0" y="255117"/>
                </a:lnTo>
                <a:lnTo>
                  <a:pt x="4185" y="209287"/>
                </a:lnTo>
                <a:lnTo>
                  <a:pt x="16299" y="166141"/>
                </a:lnTo>
                <a:lnTo>
                  <a:pt x="35603" y="126401"/>
                </a:lnTo>
                <a:lnTo>
                  <a:pt x="61360" y="90791"/>
                </a:lnTo>
                <a:lnTo>
                  <a:pt x="92832" y="60035"/>
                </a:lnTo>
                <a:lnTo>
                  <a:pt x="129280" y="34854"/>
                </a:lnTo>
                <a:lnTo>
                  <a:pt x="169966" y="15972"/>
                </a:lnTo>
                <a:lnTo>
                  <a:pt x="214151" y="4113"/>
                </a:lnTo>
                <a:lnTo>
                  <a:pt x="261099" y="0"/>
                </a:lnTo>
                <a:lnTo>
                  <a:pt x="308043" y="4114"/>
                </a:lnTo>
                <a:lnTo>
                  <a:pt x="352228" y="15975"/>
                </a:lnTo>
                <a:lnTo>
                  <a:pt x="392915" y="34863"/>
                </a:lnTo>
                <a:lnTo>
                  <a:pt x="429367" y="60056"/>
                </a:lnTo>
                <a:lnTo>
                  <a:pt x="460846" y="90833"/>
                </a:lnTo>
                <a:lnTo>
                  <a:pt x="486614" y="126473"/>
                </a:lnTo>
                <a:lnTo>
                  <a:pt x="505933" y="166254"/>
                </a:lnTo>
                <a:lnTo>
                  <a:pt x="518066" y="209457"/>
                </a:lnTo>
                <a:lnTo>
                  <a:pt x="522274" y="255358"/>
                </a:lnTo>
                <a:lnTo>
                  <a:pt x="518066" y="301260"/>
                </a:lnTo>
                <a:lnTo>
                  <a:pt x="505933" y="344462"/>
                </a:lnTo>
                <a:lnTo>
                  <a:pt x="486614" y="384244"/>
                </a:lnTo>
                <a:lnTo>
                  <a:pt x="460846" y="419884"/>
                </a:lnTo>
                <a:lnTo>
                  <a:pt x="429367" y="450661"/>
                </a:lnTo>
                <a:lnTo>
                  <a:pt x="392915" y="475854"/>
                </a:lnTo>
                <a:lnTo>
                  <a:pt x="352228" y="494742"/>
                </a:lnTo>
                <a:lnTo>
                  <a:pt x="308043" y="506603"/>
                </a:lnTo>
                <a:lnTo>
                  <a:pt x="261099" y="510717"/>
                </a:lnTo>
                <a:close/>
              </a:path>
            </a:pathLst>
          </a:custGeom>
          <a:solidFill>
            <a:srgbClr val="D9D9D9"/>
          </a:solidFill>
        </p:spPr>
        <p:txBody>
          <a:bodyPr wrap="square" lIns="0" tIns="0" rIns="0" bIns="0" rtlCol="0"/>
          <a:lstStyle/>
          <a:p/>
        </p:txBody>
      </p:sp>
      <p:sp>
        <p:nvSpPr>
          <p:cNvPr id="9" name="object 9"/>
          <p:cNvSpPr/>
          <p:nvPr/>
        </p:nvSpPr>
        <p:spPr>
          <a:xfrm>
            <a:off x="2098548" y="1788020"/>
            <a:ext cx="521970" cy="511175"/>
          </a:xfrm>
          <a:custGeom>
            <a:avLst/>
            <a:gdLst/>
            <a:ahLst/>
            <a:cxnLst/>
            <a:rect l="l" t="t" r="r" b="b"/>
            <a:pathLst>
              <a:path w="521969" h="511175">
                <a:moveTo>
                  <a:pt x="260667" y="510730"/>
                </a:moveTo>
                <a:lnTo>
                  <a:pt x="213719" y="506615"/>
                </a:lnTo>
                <a:lnTo>
                  <a:pt x="169531" y="494753"/>
                </a:lnTo>
                <a:lnTo>
                  <a:pt x="128848" y="475863"/>
                </a:lnTo>
                <a:lnTo>
                  <a:pt x="92411" y="450668"/>
                </a:lnTo>
                <a:lnTo>
                  <a:pt x="60965" y="419889"/>
                </a:lnTo>
                <a:lnTo>
                  <a:pt x="35299" y="384338"/>
                </a:lnTo>
                <a:lnTo>
                  <a:pt x="16070" y="344607"/>
                </a:lnTo>
                <a:lnTo>
                  <a:pt x="4056" y="301475"/>
                </a:lnTo>
                <a:lnTo>
                  <a:pt x="0" y="255663"/>
                </a:lnTo>
                <a:lnTo>
                  <a:pt x="4056" y="209674"/>
                </a:lnTo>
                <a:lnTo>
                  <a:pt x="16070" y="166403"/>
                </a:lnTo>
                <a:lnTo>
                  <a:pt x="35299" y="126569"/>
                </a:lnTo>
                <a:lnTo>
                  <a:pt x="61003" y="90890"/>
                </a:lnTo>
                <a:lnTo>
                  <a:pt x="92477" y="60060"/>
                </a:lnTo>
                <a:lnTo>
                  <a:pt x="128888" y="34866"/>
                </a:lnTo>
                <a:lnTo>
                  <a:pt x="169551" y="15977"/>
                </a:lnTo>
                <a:lnTo>
                  <a:pt x="213725" y="4114"/>
                </a:lnTo>
                <a:lnTo>
                  <a:pt x="260667" y="0"/>
                </a:lnTo>
                <a:lnTo>
                  <a:pt x="307613" y="4114"/>
                </a:lnTo>
                <a:lnTo>
                  <a:pt x="351803" y="15980"/>
                </a:lnTo>
                <a:lnTo>
                  <a:pt x="392499" y="34877"/>
                </a:lnTo>
                <a:lnTo>
                  <a:pt x="428963" y="60087"/>
                </a:lnTo>
                <a:lnTo>
                  <a:pt x="460452" y="90890"/>
                </a:lnTo>
                <a:lnTo>
                  <a:pt x="486182" y="126478"/>
                </a:lnTo>
                <a:lnTo>
                  <a:pt x="505502" y="166259"/>
                </a:lnTo>
                <a:lnTo>
                  <a:pt x="517634" y="209460"/>
                </a:lnTo>
                <a:lnTo>
                  <a:pt x="521843" y="255358"/>
                </a:lnTo>
                <a:lnTo>
                  <a:pt x="517634" y="301261"/>
                </a:lnTo>
                <a:lnTo>
                  <a:pt x="505502" y="344464"/>
                </a:lnTo>
                <a:lnTo>
                  <a:pt x="486182" y="384247"/>
                </a:lnTo>
                <a:lnTo>
                  <a:pt x="460361" y="419942"/>
                </a:lnTo>
                <a:lnTo>
                  <a:pt x="428896" y="450695"/>
                </a:lnTo>
                <a:lnTo>
                  <a:pt x="392459" y="475875"/>
                </a:lnTo>
                <a:lnTo>
                  <a:pt x="351783" y="494756"/>
                </a:lnTo>
                <a:lnTo>
                  <a:pt x="307606" y="506616"/>
                </a:lnTo>
                <a:lnTo>
                  <a:pt x="260667" y="510730"/>
                </a:lnTo>
                <a:close/>
              </a:path>
            </a:pathLst>
          </a:custGeom>
          <a:solidFill>
            <a:srgbClr val="A6A6A6"/>
          </a:solidFill>
        </p:spPr>
        <p:txBody>
          <a:bodyPr wrap="square" lIns="0" tIns="0" rIns="0" bIns="0" rtlCol="0"/>
          <a:lstStyle/>
          <a:p/>
        </p:txBody>
      </p:sp>
      <p:sp>
        <p:nvSpPr>
          <p:cNvPr id="10" name="object 10"/>
          <p:cNvSpPr txBox="1"/>
          <p:nvPr/>
        </p:nvSpPr>
        <p:spPr>
          <a:xfrm>
            <a:off x="2243112" y="1760588"/>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2</a:t>
            </a:r>
            <a:endParaRPr sz="3200">
              <a:latin typeface="Calibri" panose="020F0502020204030204"/>
              <a:cs typeface="Calibri" panose="020F0502020204030204"/>
            </a:endParaRPr>
          </a:p>
        </p:txBody>
      </p:sp>
      <p:sp>
        <p:nvSpPr>
          <p:cNvPr id="11" name="object 11"/>
          <p:cNvSpPr/>
          <p:nvPr/>
        </p:nvSpPr>
        <p:spPr>
          <a:xfrm>
            <a:off x="2394204" y="2441448"/>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12" name="object 12"/>
          <p:cNvSpPr/>
          <p:nvPr/>
        </p:nvSpPr>
        <p:spPr>
          <a:xfrm>
            <a:off x="8916923" y="2441867"/>
            <a:ext cx="522605" cy="511175"/>
          </a:xfrm>
          <a:custGeom>
            <a:avLst/>
            <a:gdLst/>
            <a:ahLst/>
            <a:cxnLst/>
            <a:rect l="l" t="t" r="r" b="b"/>
            <a:pathLst>
              <a:path w="522604" h="511175">
                <a:moveTo>
                  <a:pt x="261099" y="510717"/>
                </a:moveTo>
                <a:lnTo>
                  <a:pt x="214150" y="506603"/>
                </a:lnTo>
                <a:lnTo>
                  <a:pt x="169960" y="494742"/>
                </a:lnTo>
                <a:lnTo>
                  <a:pt x="129266" y="475854"/>
                </a:lnTo>
                <a:lnTo>
                  <a:pt x="92809" y="450661"/>
                </a:lnTo>
                <a:lnTo>
                  <a:pt x="61329" y="419884"/>
                </a:lnTo>
                <a:lnTo>
                  <a:pt x="35603" y="384319"/>
                </a:lnTo>
                <a:lnTo>
                  <a:pt x="16299" y="344582"/>
                </a:lnTo>
                <a:lnTo>
                  <a:pt x="4185" y="301439"/>
                </a:lnTo>
                <a:lnTo>
                  <a:pt x="0" y="255612"/>
                </a:lnTo>
                <a:lnTo>
                  <a:pt x="4185" y="209635"/>
                </a:lnTo>
                <a:lnTo>
                  <a:pt x="16299" y="166374"/>
                </a:lnTo>
                <a:lnTo>
                  <a:pt x="35603" y="126548"/>
                </a:lnTo>
                <a:lnTo>
                  <a:pt x="61405" y="90833"/>
                </a:lnTo>
                <a:lnTo>
                  <a:pt x="92864" y="60056"/>
                </a:lnTo>
                <a:lnTo>
                  <a:pt x="129300" y="34863"/>
                </a:lnTo>
                <a:lnTo>
                  <a:pt x="169976" y="15975"/>
                </a:lnTo>
                <a:lnTo>
                  <a:pt x="214155" y="4114"/>
                </a:lnTo>
                <a:lnTo>
                  <a:pt x="261099" y="0"/>
                </a:lnTo>
                <a:lnTo>
                  <a:pt x="308044" y="4114"/>
                </a:lnTo>
                <a:lnTo>
                  <a:pt x="352234" y="15978"/>
                </a:lnTo>
                <a:lnTo>
                  <a:pt x="392929" y="34872"/>
                </a:lnTo>
                <a:lnTo>
                  <a:pt x="429390" y="60078"/>
                </a:lnTo>
                <a:lnTo>
                  <a:pt x="460878" y="90876"/>
                </a:lnTo>
                <a:lnTo>
                  <a:pt x="486614" y="126473"/>
                </a:lnTo>
                <a:lnTo>
                  <a:pt x="505933" y="166254"/>
                </a:lnTo>
                <a:lnTo>
                  <a:pt x="518066" y="209457"/>
                </a:lnTo>
                <a:lnTo>
                  <a:pt x="522274" y="255358"/>
                </a:lnTo>
                <a:lnTo>
                  <a:pt x="518066" y="301260"/>
                </a:lnTo>
                <a:lnTo>
                  <a:pt x="505933" y="344462"/>
                </a:lnTo>
                <a:lnTo>
                  <a:pt x="486614" y="384244"/>
                </a:lnTo>
                <a:lnTo>
                  <a:pt x="460801" y="419928"/>
                </a:lnTo>
                <a:lnTo>
                  <a:pt x="429335" y="450683"/>
                </a:lnTo>
                <a:lnTo>
                  <a:pt x="392895" y="475863"/>
                </a:lnTo>
                <a:lnTo>
                  <a:pt x="352217" y="494744"/>
                </a:lnTo>
                <a:lnTo>
                  <a:pt x="308039" y="506604"/>
                </a:lnTo>
                <a:lnTo>
                  <a:pt x="261099" y="510717"/>
                </a:lnTo>
                <a:close/>
              </a:path>
            </a:pathLst>
          </a:custGeom>
          <a:solidFill>
            <a:srgbClr val="D9D9D9"/>
          </a:solidFill>
        </p:spPr>
        <p:txBody>
          <a:bodyPr wrap="square" lIns="0" tIns="0" rIns="0" bIns="0" rtlCol="0"/>
          <a:lstStyle/>
          <a:p/>
        </p:txBody>
      </p:sp>
      <p:sp>
        <p:nvSpPr>
          <p:cNvPr id="13" name="object 13"/>
          <p:cNvSpPr/>
          <p:nvPr/>
        </p:nvSpPr>
        <p:spPr>
          <a:xfrm>
            <a:off x="2098548" y="2441333"/>
            <a:ext cx="521970" cy="511175"/>
          </a:xfrm>
          <a:custGeom>
            <a:avLst/>
            <a:gdLst/>
            <a:ahLst/>
            <a:cxnLst/>
            <a:rect l="l" t="t" r="r" b="b"/>
            <a:pathLst>
              <a:path w="521969" h="511175">
                <a:moveTo>
                  <a:pt x="260667" y="510717"/>
                </a:moveTo>
                <a:lnTo>
                  <a:pt x="213720" y="506602"/>
                </a:lnTo>
                <a:lnTo>
                  <a:pt x="169539" y="494732"/>
                </a:lnTo>
                <a:lnTo>
                  <a:pt x="128864" y="475824"/>
                </a:lnTo>
                <a:lnTo>
                  <a:pt x="92438" y="450592"/>
                </a:lnTo>
                <a:lnTo>
                  <a:pt x="61003" y="419752"/>
                </a:lnTo>
                <a:lnTo>
                  <a:pt x="35299" y="384020"/>
                </a:lnTo>
                <a:lnTo>
                  <a:pt x="16070" y="344111"/>
                </a:lnTo>
                <a:lnTo>
                  <a:pt x="4056" y="300740"/>
                </a:lnTo>
                <a:lnTo>
                  <a:pt x="0" y="254622"/>
                </a:lnTo>
                <a:lnTo>
                  <a:pt x="4056" y="208939"/>
                </a:lnTo>
                <a:lnTo>
                  <a:pt x="16070" y="165908"/>
                </a:lnTo>
                <a:lnTo>
                  <a:pt x="35299" y="126254"/>
                </a:lnTo>
                <a:lnTo>
                  <a:pt x="61003" y="90707"/>
                </a:lnTo>
                <a:lnTo>
                  <a:pt x="92438" y="59991"/>
                </a:lnTo>
                <a:lnTo>
                  <a:pt x="128864" y="34836"/>
                </a:lnTo>
                <a:lnTo>
                  <a:pt x="169539" y="15967"/>
                </a:lnTo>
                <a:lnTo>
                  <a:pt x="213720" y="4113"/>
                </a:lnTo>
                <a:lnTo>
                  <a:pt x="260667" y="0"/>
                </a:lnTo>
                <a:lnTo>
                  <a:pt x="307611" y="4114"/>
                </a:lnTo>
                <a:lnTo>
                  <a:pt x="351796" y="15975"/>
                </a:lnTo>
                <a:lnTo>
                  <a:pt x="392483" y="34863"/>
                </a:lnTo>
                <a:lnTo>
                  <a:pt x="428935" y="60056"/>
                </a:lnTo>
                <a:lnTo>
                  <a:pt x="460414" y="90833"/>
                </a:lnTo>
                <a:lnTo>
                  <a:pt x="486182" y="126473"/>
                </a:lnTo>
                <a:lnTo>
                  <a:pt x="505502" y="166254"/>
                </a:lnTo>
                <a:lnTo>
                  <a:pt x="517634" y="209457"/>
                </a:lnTo>
                <a:lnTo>
                  <a:pt x="521843" y="255358"/>
                </a:lnTo>
                <a:lnTo>
                  <a:pt x="517634" y="301257"/>
                </a:lnTo>
                <a:lnTo>
                  <a:pt x="505502" y="344457"/>
                </a:lnTo>
                <a:lnTo>
                  <a:pt x="486182" y="384238"/>
                </a:lnTo>
                <a:lnTo>
                  <a:pt x="460414" y="419879"/>
                </a:lnTo>
                <a:lnTo>
                  <a:pt x="428935" y="450657"/>
                </a:lnTo>
                <a:lnTo>
                  <a:pt x="392483" y="475851"/>
                </a:lnTo>
                <a:lnTo>
                  <a:pt x="351796" y="494740"/>
                </a:lnTo>
                <a:lnTo>
                  <a:pt x="307611" y="506603"/>
                </a:lnTo>
                <a:lnTo>
                  <a:pt x="260667" y="510717"/>
                </a:lnTo>
                <a:close/>
              </a:path>
            </a:pathLst>
          </a:custGeom>
          <a:solidFill>
            <a:srgbClr val="A6A6A6"/>
          </a:solidFill>
        </p:spPr>
        <p:txBody>
          <a:bodyPr wrap="square" lIns="0" tIns="0" rIns="0" bIns="0" rtlCol="0"/>
          <a:lstStyle/>
          <a:p/>
        </p:txBody>
      </p:sp>
      <p:sp>
        <p:nvSpPr>
          <p:cNvPr id="14" name="object 14"/>
          <p:cNvSpPr txBox="1"/>
          <p:nvPr/>
        </p:nvSpPr>
        <p:spPr>
          <a:xfrm>
            <a:off x="2243112" y="2413888"/>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3</a:t>
            </a:r>
            <a:endParaRPr sz="3200">
              <a:latin typeface="Calibri" panose="020F0502020204030204"/>
              <a:cs typeface="Calibri" panose="020F0502020204030204"/>
            </a:endParaRPr>
          </a:p>
        </p:txBody>
      </p:sp>
      <p:sp>
        <p:nvSpPr>
          <p:cNvPr id="15" name="object 15"/>
          <p:cNvSpPr/>
          <p:nvPr/>
        </p:nvSpPr>
        <p:spPr>
          <a:xfrm>
            <a:off x="2394204" y="3095244"/>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16" name="object 16"/>
          <p:cNvSpPr/>
          <p:nvPr/>
        </p:nvSpPr>
        <p:spPr>
          <a:xfrm>
            <a:off x="8916923" y="3095167"/>
            <a:ext cx="522605" cy="511175"/>
          </a:xfrm>
          <a:custGeom>
            <a:avLst/>
            <a:gdLst/>
            <a:ahLst/>
            <a:cxnLst/>
            <a:rect l="l" t="t" r="r" b="b"/>
            <a:pathLst>
              <a:path w="522604" h="511175">
                <a:moveTo>
                  <a:pt x="261099" y="510717"/>
                </a:moveTo>
                <a:lnTo>
                  <a:pt x="214148" y="506603"/>
                </a:lnTo>
                <a:lnTo>
                  <a:pt x="169948" y="494742"/>
                </a:lnTo>
                <a:lnTo>
                  <a:pt x="129240" y="475854"/>
                </a:lnTo>
                <a:lnTo>
                  <a:pt x="92832" y="450727"/>
                </a:lnTo>
                <a:lnTo>
                  <a:pt x="61360" y="420012"/>
                </a:lnTo>
                <a:lnTo>
                  <a:pt x="35603" y="384466"/>
                </a:lnTo>
                <a:lnTo>
                  <a:pt x="16299" y="344815"/>
                </a:lnTo>
                <a:lnTo>
                  <a:pt x="4185" y="301786"/>
                </a:lnTo>
                <a:lnTo>
                  <a:pt x="0" y="256108"/>
                </a:lnTo>
                <a:lnTo>
                  <a:pt x="4185" y="209986"/>
                </a:lnTo>
                <a:lnTo>
                  <a:pt x="16299" y="166612"/>
                </a:lnTo>
                <a:lnTo>
                  <a:pt x="35603" y="126700"/>
                </a:lnTo>
                <a:lnTo>
                  <a:pt x="61360" y="90967"/>
                </a:lnTo>
                <a:lnTo>
                  <a:pt x="92832" y="60126"/>
                </a:lnTo>
                <a:lnTo>
                  <a:pt x="129340" y="34866"/>
                </a:lnTo>
                <a:lnTo>
                  <a:pt x="169996" y="15977"/>
                </a:lnTo>
                <a:lnTo>
                  <a:pt x="214163" y="4114"/>
                </a:lnTo>
                <a:lnTo>
                  <a:pt x="261099" y="0"/>
                </a:lnTo>
                <a:lnTo>
                  <a:pt x="308047" y="4115"/>
                </a:lnTo>
                <a:lnTo>
                  <a:pt x="352245" y="15985"/>
                </a:lnTo>
                <a:lnTo>
                  <a:pt x="392955" y="34893"/>
                </a:lnTo>
                <a:lnTo>
                  <a:pt x="429367" y="60060"/>
                </a:lnTo>
                <a:lnTo>
                  <a:pt x="460846" y="90838"/>
                </a:lnTo>
                <a:lnTo>
                  <a:pt x="486614" y="126478"/>
                </a:lnTo>
                <a:lnTo>
                  <a:pt x="505933" y="166259"/>
                </a:lnTo>
                <a:lnTo>
                  <a:pt x="518066" y="209460"/>
                </a:lnTo>
                <a:lnTo>
                  <a:pt x="522274" y="255358"/>
                </a:lnTo>
                <a:lnTo>
                  <a:pt x="518066" y="301260"/>
                </a:lnTo>
                <a:lnTo>
                  <a:pt x="505933" y="344462"/>
                </a:lnTo>
                <a:lnTo>
                  <a:pt x="486614" y="384244"/>
                </a:lnTo>
                <a:lnTo>
                  <a:pt x="460846" y="419884"/>
                </a:lnTo>
                <a:lnTo>
                  <a:pt x="429367" y="450661"/>
                </a:lnTo>
                <a:lnTo>
                  <a:pt x="392855" y="475882"/>
                </a:lnTo>
                <a:lnTo>
                  <a:pt x="352197" y="494750"/>
                </a:lnTo>
                <a:lnTo>
                  <a:pt x="308031" y="506604"/>
                </a:lnTo>
                <a:lnTo>
                  <a:pt x="261099" y="510717"/>
                </a:lnTo>
                <a:close/>
              </a:path>
            </a:pathLst>
          </a:custGeom>
          <a:solidFill>
            <a:srgbClr val="D9D9D9"/>
          </a:solidFill>
        </p:spPr>
        <p:txBody>
          <a:bodyPr wrap="square" lIns="0" tIns="0" rIns="0" bIns="0" rtlCol="0"/>
          <a:lstStyle/>
          <a:p/>
        </p:txBody>
      </p:sp>
      <p:sp>
        <p:nvSpPr>
          <p:cNvPr id="17" name="object 17"/>
          <p:cNvSpPr/>
          <p:nvPr/>
        </p:nvSpPr>
        <p:spPr>
          <a:xfrm>
            <a:off x="2098548" y="3094634"/>
            <a:ext cx="521970" cy="511175"/>
          </a:xfrm>
          <a:custGeom>
            <a:avLst/>
            <a:gdLst/>
            <a:ahLst/>
            <a:cxnLst/>
            <a:rect l="l" t="t" r="r" b="b"/>
            <a:pathLst>
              <a:path w="521969" h="511175">
                <a:moveTo>
                  <a:pt x="260667" y="510717"/>
                </a:moveTo>
                <a:lnTo>
                  <a:pt x="213720" y="506602"/>
                </a:lnTo>
                <a:lnTo>
                  <a:pt x="169539" y="494738"/>
                </a:lnTo>
                <a:lnTo>
                  <a:pt x="128864" y="475842"/>
                </a:lnTo>
                <a:lnTo>
                  <a:pt x="92438" y="450636"/>
                </a:lnTo>
                <a:lnTo>
                  <a:pt x="61003" y="419837"/>
                </a:lnTo>
                <a:lnTo>
                  <a:pt x="35299" y="384167"/>
                </a:lnTo>
                <a:lnTo>
                  <a:pt x="16070" y="344344"/>
                </a:lnTo>
                <a:lnTo>
                  <a:pt x="4056" y="301087"/>
                </a:lnTo>
                <a:lnTo>
                  <a:pt x="0" y="255117"/>
                </a:lnTo>
                <a:lnTo>
                  <a:pt x="4056" y="209287"/>
                </a:lnTo>
                <a:lnTo>
                  <a:pt x="16070" y="166141"/>
                </a:lnTo>
                <a:lnTo>
                  <a:pt x="35299" y="126401"/>
                </a:lnTo>
                <a:lnTo>
                  <a:pt x="61003" y="90791"/>
                </a:lnTo>
                <a:lnTo>
                  <a:pt x="92438" y="60035"/>
                </a:lnTo>
                <a:lnTo>
                  <a:pt x="128864" y="34854"/>
                </a:lnTo>
                <a:lnTo>
                  <a:pt x="169539" y="15972"/>
                </a:lnTo>
                <a:lnTo>
                  <a:pt x="213720" y="4113"/>
                </a:lnTo>
                <a:lnTo>
                  <a:pt x="260667" y="0"/>
                </a:lnTo>
                <a:lnTo>
                  <a:pt x="307611" y="4114"/>
                </a:lnTo>
                <a:lnTo>
                  <a:pt x="351796" y="15975"/>
                </a:lnTo>
                <a:lnTo>
                  <a:pt x="392483" y="34863"/>
                </a:lnTo>
                <a:lnTo>
                  <a:pt x="428935" y="60056"/>
                </a:lnTo>
                <a:lnTo>
                  <a:pt x="460414" y="90833"/>
                </a:lnTo>
                <a:lnTo>
                  <a:pt x="486182" y="126473"/>
                </a:lnTo>
                <a:lnTo>
                  <a:pt x="505502" y="166254"/>
                </a:lnTo>
                <a:lnTo>
                  <a:pt x="517634" y="209457"/>
                </a:lnTo>
                <a:lnTo>
                  <a:pt x="521843" y="255358"/>
                </a:lnTo>
                <a:lnTo>
                  <a:pt x="517634" y="301257"/>
                </a:lnTo>
                <a:lnTo>
                  <a:pt x="505502" y="344457"/>
                </a:lnTo>
                <a:lnTo>
                  <a:pt x="486182" y="384238"/>
                </a:lnTo>
                <a:lnTo>
                  <a:pt x="460414" y="419879"/>
                </a:lnTo>
                <a:lnTo>
                  <a:pt x="428935" y="450657"/>
                </a:lnTo>
                <a:lnTo>
                  <a:pt x="392483" y="475851"/>
                </a:lnTo>
                <a:lnTo>
                  <a:pt x="351796" y="494740"/>
                </a:lnTo>
                <a:lnTo>
                  <a:pt x="307611" y="506603"/>
                </a:lnTo>
                <a:lnTo>
                  <a:pt x="260667" y="510717"/>
                </a:lnTo>
                <a:close/>
              </a:path>
            </a:pathLst>
          </a:custGeom>
          <a:solidFill>
            <a:srgbClr val="C00000"/>
          </a:solidFill>
        </p:spPr>
        <p:txBody>
          <a:bodyPr wrap="square" lIns="0" tIns="0" rIns="0" bIns="0" rtlCol="0"/>
          <a:lstStyle/>
          <a:p/>
        </p:txBody>
      </p:sp>
      <p:sp>
        <p:nvSpPr>
          <p:cNvPr id="18" name="object 18"/>
          <p:cNvSpPr txBox="1"/>
          <p:nvPr/>
        </p:nvSpPr>
        <p:spPr>
          <a:xfrm>
            <a:off x="2243112" y="3067189"/>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4</a:t>
            </a:r>
            <a:endParaRPr sz="3200">
              <a:latin typeface="Calibri" panose="020F0502020204030204"/>
              <a:cs typeface="Calibri" panose="020F0502020204030204"/>
            </a:endParaRPr>
          </a:p>
        </p:txBody>
      </p:sp>
      <p:sp>
        <p:nvSpPr>
          <p:cNvPr id="19" name="object 19"/>
          <p:cNvSpPr/>
          <p:nvPr/>
        </p:nvSpPr>
        <p:spPr>
          <a:xfrm>
            <a:off x="2394204" y="3749040"/>
            <a:ext cx="6791325" cy="509270"/>
          </a:xfrm>
          <a:custGeom>
            <a:avLst/>
            <a:gdLst/>
            <a:ahLst/>
            <a:cxnLst/>
            <a:rect l="l" t="t" r="r" b="b"/>
            <a:pathLst>
              <a:path w="6791325" h="509270">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20" name="object 20"/>
          <p:cNvSpPr/>
          <p:nvPr/>
        </p:nvSpPr>
        <p:spPr>
          <a:xfrm>
            <a:off x="8916923" y="3748468"/>
            <a:ext cx="522605" cy="511175"/>
          </a:xfrm>
          <a:custGeom>
            <a:avLst/>
            <a:gdLst/>
            <a:ahLst/>
            <a:cxnLst/>
            <a:rect l="l" t="t" r="r" b="b"/>
            <a:pathLst>
              <a:path w="522604" h="511175">
                <a:moveTo>
                  <a:pt x="261099" y="510717"/>
                </a:moveTo>
                <a:lnTo>
                  <a:pt x="214151" y="506603"/>
                </a:lnTo>
                <a:lnTo>
                  <a:pt x="169966" y="494739"/>
                </a:lnTo>
                <a:lnTo>
                  <a:pt x="129280" y="475844"/>
                </a:lnTo>
                <a:lnTo>
                  <a:pt x="92832" y="450636"/>
                </a:lnTo>
                <a:lnTo>
                  <a:pt x="61360" y="419836"/>
                </a:lnTo>
                <a:lnTo>
                  <a:pt x="35603" y="384161"/>
                </a:lnTo>
                <a:lnTo>
                  <a:pt x="16299" y="344331"/>
                </a:lnTo>
                <a:lnTo>
                  <a:pt x="4185" y="301064"/>
                </a:lnTo>
                <a:lnTo>
                  <a:pt x="0" y="255079"/>
                </a:lnTo>
                <a:lnTo>
                  <a:pt x="4185" y="209264"/>
                </a:lnTo>
                <a:lnTo>
                  <a:pt x="16299" y="166128"/>
                </a:lnTo>
                <a:lnTo>
                  <a:pt x="35603" y="126396"/>
                </a:lnTo>
                <a:lnTo>
                  <a:pt x="61360" y="90790"/>
                </a:lnTo>
                <a:lnTo>
                  <a:pt x="92832" y="60035"/>
                </a:lnTo>
                <a:lnTo>
                  <a:pt x="129280" y="34855"/>
                </a:lnTo>
                <a:lnTo>
                  <a:pt x="169966" y="15973"/>
                </a:lnTo>
                <a:lnTo>
                  <a:pt x="214151" y="4114"/>
                </a:lnTo>
                <a:lnTo>
                  <a:pt x="261099" y="0"/>
                </a:lnTo>
                <a:lnTo>
                  <a:pt x="308043" y="4114"/>
                </a:lnTo>
                <a:lnTo>
                  <a:pt x="352228" y="15977"/>
                </a:lnTo>
                <a:lnTo>
                  <a:pt x="392915" y="34866"/>
                </a:lnTo>
                <a:lnTo>
                  <a:pt x="429367" y="60060"/>
                </a:lnTo>
                <a:lnTo>
                  <a:pt x="460846" y="90838"/>
                </a:lnTo>
                <a:lnTo>
                  <a:pt x="486614" y="126478"/>
                </a:lnTo>
                <a:lnTo>
                  <a:pt x="505933" y="166259"/>
                </a:lnTo>
                <a:lnTo>
                  <a:pt x="518066" y="209460"/>
                </a:lnTo>
                <a:lnTo>
                  <a:pt x="522274" y="255358"/>
                </a:lnTo>
                <a:lnTo>
                  <a:pt x="518066" y="301260"/>
                </a:lnTo>
                <a:lnTo>
                  <a:pt x="505933" y="344462"/>
                </a:lnTo>
                <a:lnTo>
                  <a:pt x="486614" y="384244"/>
                </a:lnTo>
                <a:lnTo>
                  <a:pt x="460846" y="419884"/>
                </a:lnTo>
                <a:lnTo>
                  <a:pt x="429367" y="450661"/>
                </a:lnTo>
                <a:lnTo>
                  <a:pt x="392915" y="475854"/>
                </a:lnTo>
                <a:lnTo>
                  <a:pt x="352228" y="494742"/>
                </a:lnTo>
                <a:lnTo>
                  <a:pt x="308043" y="506603"/>
                </a:lnTo>
                <a:lnTo>
                  <a:pt x="261099" y="510717"/>
                </a:lnTo>
                <a:close/>
              </a:path>
            </a:pathLst>
          </a:custGeom>
          <a:solidFill>
            <a:srgbClr val="D9D9D9"/>
          </a:solidFill>
        </p:spPr>
        <p:txBody>
          <a:bodyPr wrap="square" lIns="0" tIns="0" rIns="0" bIns="0" rtlCol="0"/>
          <a:lstStyle/>
          <a:p/>
        </p:txBody>
      </p:sp>
      <p:sp>
        <p:nvSpPr>
          <p:cNvPr id="21" name="object 21"/>
          <p:cNvSpPr/>
          <p:nvPr/>
        </p:nvSpPr>
        <p:spPr>
          <a:xfrm>
            <a:off x="2098548" y="3747935"/>
            <a:ext cx="521970" cy="511175"/>
          </a:xfrm>
          <a:custGeom>
            <a:avLst/>
            <a:gdLst/>
            <a:ahLst/>
            <a:cxnLst/>
            <a:rect l="l" t="t" r="r" b="b"/>
            <a:pathLst>
              <a:path w="521969" h="511175">
                <a:moveTo>
                  <a:pt x="260667" y="510717"/>
                </a:moveTo>
                <a:lnTo>
                  <a:pt x="213719" y="506603"/>
                </a:lnTo>
                <a:lnTo>
                  <a:pt x="169533" y="494742"/>
                </a:lnTo>
                <a:lnTo>
                  <a:pt x="128850" y="475854"/>
                </a:lnTo>
                <a:lnTo>
                  <a:pt x="92415" y="450661"/>
                </a:lnTo>
                <a:lnTo>
                  <a:pt x="60971" y="419884"/>
                </a:lnTo>
                <a:lnTo>
                  <a:pt x="35299" y="384319"/>
                </a:lnTo>
                <a:lnTo>
                  <a:pt x="16070" y="344582"/>
                </a:lnTo>
                <a:lnTo>
                  <a:pt x="4056" y="301439"/>
                </a:lnTo>
                <a:lnTo>
                  <a:pt x="0" y="255612"/>
                </a:lnTo>
                <a:lnTo>
                  <a:pt x="4056" y="209635"/>
                </a:lnTo>
                <a:lnTo>
                  <a:pt x="16070" y="166374"/>
                </a:lnTo>
                <a:lnTo>
                  <a:pt x="35299" y="126548"/>
                </a:lnTo>
                <a:lnTo>
                  <a:pt x="61047" y="90833"/>
                </a:lnTo>
                <a:lnTo>
                  <a:pt x="92470" y="60056"/>
                </a:lnTo>
                <a:lnTo>
                  <a:pt x="128884" y="34863"/>
                </a:lnTo>
                <a:lnTo>
                  <a:pt x="169549" y="15975"/>
                </a:lnTo>
                <a:lnTo>
                  <a:pt x="213724" y="4114"/>
                </a:lnTo>
                <a:lnTo>
                  <a:pt x="260667" y="0"/>
                </a:lnTo>
                <a:lnTo>
                  <a:pt x="307612" y="4114"/>
                </a:lnTo>
                <a:lnTo>
                  <a:pt x="351802" y="15978"/>
                </a:lnTo>
                <a:lnTo>
                  <a:pt x="392497" y="34872"/>
                </a:lnTo>
                <a:lnTo>
                  <a:pt x="428958" y="60078"/>
                </a:lnTo>
                <a:lnTo>
                  <a:pt x="460446" y="90876"/>
                </a:lnTo>
                <a:lnTo>
                  <a:pt x="486182" y="126473"/>
                </a:lnTo>
                <a:lnTo>
                  <a:pt x="505502" y="166254"/>
                </a:lnTo>
                <a:lnTo>
                  <a:pt x="517634" y="209457"/>
                </a:lnTo>
                <a:lnTo>
                  <a:pt x="521843" y="255358"/>
                </a:lnTo>
                <a:lnTo>
                  <a:pt x="517634" y="301260"/>
                </a:lnTo>
                <a:lnTo>
                  <a:pt x="505502" y="344462"/>
                </a:lnTo>
                <a:lnTo>
                  <a:pt x="486182" y="384244"/>
                </a:lnTo>
                <a:lnTo>
                  <a:pt x="460370" y="419928"/>
                </a:lnTo>
                <a:lnTo>
                  <a:pt x="428903" y="450683"/>
                </a:lnTo>
                <a:lnTo>
                  <a:pt x="392463" y="475863"/>
                </a:lnTo>
                <a:lnTo>
                  <a:pt x="351785" y="494744"/>
                </a:lnTo>
                <a:lnTo>
                  <a:pt x="307607" y="506604"/>
                </a:lnTo>
                <a:lnTo>
                  <a:pt x="260667" y="510717"/>
                </a:lnTo>
                <a:close/>
              </a:path>
            </a:pathLst>
          </a:custGeom>
          <a:solidFill>
            <a:srgbClr val="A6A6A6"/>
          </a:solidFill>
        </p:spPr>
        <p:txBody>
          <a:bodyPr wrap="square" lIns="0" tIns="0" rIns="0" bIns="0" rtlCol="0"/>
          <a:lstStyle/>
          <a:p/>
        </p:txBody>
      </p:sp>
      <p:sp>
        <p:nvSpPr>
          <p:cNvPr id="22" name="object 22"/>
          <p:cNvSpPr txBox="1"/>
          <p:nvPr/>
        </p:nvSpPr>
        <p:spPr>
          <a:xfrm>
            <a:off x="2243112" y="3720490"/>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5</a:t>
            </a:r>
            <a:endParaRPr sz="3200">
              <a:latin typeface="Calibri" panose="020F0502020204030204"/>
              <a:cs typeface="Calibri" panose="020F0502020204030204"/>
            </a:endParaRPr>
          </a:p>
        </p:txBody>
      </p:sp>
      <p:sp>
        <p:nvSpPr>
          <p:cNvPr id="23" name="object 23"/>
          <p:cNvSpPr/>
          <p:nvPr/>
        </p:nvSpPr>
        <p:spPr>
          <a:xfrm>
            <a:off x="2394204" y="4401311"/>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24" name="object 24"/>
          <p:cNvSpPr/>
          <p:nvPr/>
        </p:nvSpPr>
        <p:spPr>
          <a:xfrm>
            <a:off x="8916923" y="4401781"/>
            <a:ext cx="522605" cy="511175"/>
          </a:xfrm>
          <a:custGeom>
            <a:avLst/>
            <a:gdLst/>
            <a:ahLst/>
            <a:cxnLst/>
            <a:rect l="l" t="t" r="r" b="b"/>
            <a:pathLst>
              <a:path w="522604" h="511175">
                <a:moveTo>
                  <a:pt x="261099" y="510717"/>
                </a:moveTo>
                <a:lnTo>
                  <a:pt x="214150" y="506603"/>
                </a:lnTo>
                <a:lnTo>
                  <a:pt x="169961" y="494740"/>
                </a:lnTo>
                <a:lnTo>
                  <a:pt x="129269" y="475851"/>
                </a:lnTo>
                <a:lnTo>
                  <a:pt x="92814" y="450657"/>
                </a:lnTo>
                <a:lnTo>
                  <a:pt x="61335" y="419879"/>
                </a:lnTo>
                <a:lnTo>
                  <a:pt x="35574" y="384238"/>
                </a:lnTo>
                <a:lnTo>
                  <a:pt x="16299" y="344553"/>
                </a:lnTo>
                <a:lnTo>
                  <a:pt x="4185" y="301400"/>
                </a:lnTo>
                <a:lnTo>
                  <a:pt x="0" y="255562"/>
                </a:lnTo>
                <a:lnTo>
                  <a:pt x="4185" y="209599"/>
                </a:lnTo>
                <a:lnTo>
                  <a:pt x="16299" y="166350"/>
                </a:lnTo>
                <a:lnTo>
                  <a:pt x="35603" y="126533"/>
                </a:lnTo>
                <a:lnTo>
                  <a:pt x="61396" y="90833"/>
                </a:lnTo>
                <a:lnTo>
                  <a:pt x="92858" y="60056"/>
                </a:lnTo>
                <a:lnTo>
                  <a:pt x="129296" y="34863"/>
                </a:lnTo>
                <a:lnTo>
                  <a:pt x="169974" y="15975"/>
                </a:lnTo>
                <a:lnTo>
                  <a:pt x="214155" y="4114"/>
                </a:lnTo>
                <a:lnTo>
                  <a:pt x="261099" y="0"/>
                </a:lnTo>
                <a:lnTo>
                  <a:pt x="308044" y="4114"/>
                </a:lnTo>
                <a:lnTo>
                  <a:pt x="352232" y="15977"/>
                </a:lnTo>
                <a:lnTo>
                  <a:pt x="392926" y="34870"/>
                </a:lnTo>
                <a:lnTo>
                  <a:pt x="429385" y="60074"/>
                </a:lnTo>
                <a:lnTo>
                  <a:pt x="460871" y="90868"/>
                </a:lnTo>
                <a:lnTo>
                  <a:pt x="486643" y="126533"/>
                </a:lnTo>
                <a:lnTo>
                  <a:pt x="505933" y="166254"/>
                </a:lnTo>
                <a:lnTo>
                  <a:pt x="518066" y="209457"/>
                </a:lnTo>
                <a:lnTo>
                  <a:pt x="522274" y="255358"/>
                </a:lnTo>
                <a:lnTo>
                  <a:pt x="518066" y="301257"/>
                </a:lnTo>
                <a:lnTo>
                  <a:pt x="505933" y="344457"/>
                </a:lnTo>
                <a:lnTo>
                  <a:pt x="486614" y="384238"/>
                </a:lnTo>
                <a:lnTo>
                  <a:pt x="460810" y="419914"/>
                </a:lnTo>
                <a:lnTo>
                  <a:pt x="429341" y="450675"/>
                </a:lnTo>
                <a:lnTo>
                  <a:pt x="392899" y="475859"/>
                </a:lnTo>
                <a:lnTo>
                  <a:pt x="352219" y="494742"/>
                </a:lnTo>
                <a:lnTo>
                  <a:pt x="308040" y="506603"/>
                </a:lnTo>
                <a:lnTo>
                  <a:pt x="261099" y="510717"/>
                </a:lnTo>
                <a:close/>
              </a:path>
            </a:pathLst>
          </a:custGeom>
          <a:solidFill>
            <a:srgbClr val="D9D9D9"/>
          </a:solidFill>
        </p:spPr>
        <p:txBody>
          <a:bodyPr wrap="square" lIns="0" tIns="0" rIns="0" bIns="0" rtlCol="0"/>
          <a:lstStyle/>
          <a:p/>
        </p:txBody>
      </p:sp>
      <p:sp>
        <p:nvSpPr>
          <p:cNvPr id="25" name="object 25"/>
          <p:cNvSpPr/>
          <p:nvPr/>
        </p:nvSpPr>
        <p:spPr>
          <a:xfrm>
            <a:off x="2098548" y="4401235"/>
            <a:ext cx="521970" cy="511175"/>
          </a:xfrm>
          <a:custGeom>
            <a:avLst/>
            <a:gdLst/>
            <a:ahLst/>
            <a:cxnLst/>
            <a:rect l="l" t="t" r="r" b="b"/>
            <a:pathLst>
              <a:path w="521969" h="511175">
                <a:moveTo>
                  <a:pt x="260667" y="510717"/>
                </a:moveTo>
                <a:lnTo>
                  <a:pt x="213716" y="506603"/>
                </a:lnTo>
                <a:lnTo>
                  <a:pt x="169521" y="494742"/>
                </a:lnTo>
                <a:lnTo>
                  <a:pt x="128824" y="475854"/>
                </a:lnTo>
                <a:lnTo>
                  <a:pt x="92438" y="450727"/>
                </a:lnTo>
                <a:lnTo>
                  <a:pt x="61003" y="420012"/>
                </a:lnTo>
                <a:lnTo>
                  <a:pt x="35299" y="384466"/>
                </a:lnTo>
                <a:lnTo>
                  <a:pt x="16070" y="344815"/>
                </a:lnTo>
                <a:lnTo>
                  <a:pt x="4056" y="301786"/>
                </a:lnTo>
                <a:lnTo>
                  <a:pt x="0" y="256108"/>
                </a:lnTo>
                <a:lnTo>
                  <a:pt x="4056" y="209983"/>
                </a:lnTo>
                <a:lnTo>
                  <a:pt x="16070" y="166607"/>
                </a:lnTo>
                <a:lnTo>
                  <a:pt x="35299" y="126695"/>
                </a:lnTo>
                <a:lnTo>
                  <a:pt x="61003" y="90961"/>
                </a:lnTo>
                <a:lnTo>
                  <a:pt x="92438" y="60122"/>
                </a:lnTo>
                <a:lnTo>
                  <a:pt x="128924" y="34863"/>
                </a:lnTo>
                <a:lnTo>
                  <a:pt x="169569" y="15975"/>
                </a:lnTo>
                <a:lnTo>
                  <a:pt x="213732" y="4114"/>
                </a:lnTo>
                <a:lnTo>
                  <a:pt x="260667" y="0"/>
                </a:lnTo>
                <a:lnTo>
                  <a:pt x="307615" y="4115"/>
                </a:lnTo>
                <a:lnTo>
                  <a:pt x="351814" y="15983"/>
                </a:lnTo>
                <a:lnTo>
                  <a:pt x="392523" y="34891"/>
                </a:lnTo>
                <a:lnTo>
                  <a:pt x="428935" y="60056"/>
                </a:lnTo>
                <a:lnTo>
                  <a:pt x="460414" y="90833"/>
                </a:lnTo>
                <a:lnTo>
                  <a:pt x="486182" y="126473"/>
                </a:lnTo>
                <a:lnTo>
                  <a:pt x="505502" y="166254"/>
                </a:lnTo>
                <a:lnTo>
                  <a:pt x="517634" y="209457"/>
                </a:lnTo>
                <a:lnTo>
                  <a:pt x="521843" y="255358"/>
                </a:lnTo>
                <a:lnTo>
                  <a:pt x="517634" y="301260"/>
                </a:lnTo>
                <a:lnTo>
                  <a:pt x="505502" y="344462"/>
                </a:lnTo>
                <a:lnTo>
                  <a:pt x="486182" y="384244"/>
                </a:lnTo>
                <a:lnTo>
                  <a:pt x="460414" y="419884"/>
                </a:lnTo>
                <a:lnTo>
                  <a:pt x="428935" y="450661"/>
                </a:lnTo>
                <a:lnTo>
                  <a:pt x="392423" y="475882"/>
                </a:lnTo>
                <a:lnTo>
                  <a:pt x="351765" y="494750"/>
                </a:lnTo>
                <a:lnTo>
                  <a:pt x="307599" y="506604"/>
                </a:lnTo>
                <a:lnTo>
                  <a:pt x="260667" y="510717"/>
                </a:lnTo>
                <a:close/>
              </a:path>
            </a:pathLst>
          </a:custGeom>
          <a:solidFill>
            <a:srgbClr val="A6A6A6"/>
          </a:solidFill>
        </p:spPr>
        <p:txBody>
          <a:bodyPr wrap="square" lIns="0" tIns="0" rIns="0" bIns="0" rtlCol="0"/>
          <a:lstStyle/>
          <a:p/>
        </p:txBody>
      </p:sp>
      <p:sp>
        <p:nvSpPr>
          <p:cNvPr id="26" name="object 26"/>
          <p:cNvSpPr txBox="1"/>
          <p:nvPr/>
        </p:nvSpPr>
        <p:spPr>
          <a:xfrm>
            <a:off x="2243112" y="4373791"/>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6</a:t>
            </a:r>
            <a:endParaRPr sz="3200">
              <a:latin typeface="Calibri" panose="020F0502020204030204"/>
              <a:cs typeface="Calibri" panose="020F0502020204030204"/>
            </a:endParaRPr>
          </a:p>
        </p:txBody>
      </p:sp>
      <p:sp>
        <p:nvSpPr>
          <p:cNvPr id="27" name="object 27"/>
          <p:cNvSpPr/>
          <p:nvPr/>
        </p:nvSpPr>
        <p:spPr>
          <a:xfrm>
            <a:off x="2394204" y="5055108"/>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28" name="object 28"/>
          <p:cNvSpPr/>
          <p:nvPr/>
        </p:nvSpPr>
        <p:spPr>
          <a:xfrm>
            <a:off x="8916923" y="5055082"/>
            <a:ext cx="522605" cy="511175"/>
          </a:xfrm>
          <a:custGeom>
            <a:avLst/>
            <a:gdLst/>
            <a:ahLst/>
            <a:cxnLst/>
            <a:rect l="l" t="t" r="r" b="b"/>
            <a:pathLst>
              <a:path w="522604" h="511175">
                <a:moveTo>
                  <a:pt x="261099" y="510717"/>
                </a:moveTo>
                <a:lnTo>
                  <a:pt x="214148" y="506603"/>
                </a:lnTo>
                <a:lnTo>
                  <a:pt x="169949" y="494740"/>
                </a:lnTo>
                <a:lnTo>
                  <a:pt x="129242" y="475851"/>
                </a:lnTo>
                <a:lnTo>
                  <a:pt x="92832" y="450718"/>
                </a:lnTo>
                <a:lnTo>
                  <a:pt x="61360" y="419999"/>
                </a:lnTo>
                <a:lnTo>
                  <a:pt x="35603" y="384445"/>
                </a:lnTo>
                <a:lnTo>
                  <a:pt x="16299" y="344786"/>
                </a:lnTo>
                <a:lnTo>
                  <a:pt x="4185" y="301747"/>
                </a:lnTo>
                <a:lnTo>
                  <a:pt x="0" y="256057"/>
                </a:lnTo>
                <a:lnTo>
                  <a:pt x="4185" y="209947"/>
                </a:lnTo>
                <a:lnTo>
                  <a:pt x="16299" y="166583"/>
                </a:lnTo>
                <a:lnTo>
                  <a:pt x="35603" y="126680"/>
                </a:lnTo>
                <a:lnTo>
                  <a:pt x="61360" y="90953"/>
                </a:lnTo>
                <a:lnTo>
                  <a:pt x="92832" y="60117"/>
                </a:lnTo>
                <a:lnTo>
                  <a:pt x="129336" y="34863"/>
                </a:lnTo>
                <a:lnTo>
                  <a:pt x="169994" y="15975"/>
                </a:lnTo>
                <a:lnTo>
                  <a:pt x="214162" y="4114"/>
                </a:lnTo>
                <a:lnTo>
                  <a:pt x="261099" y="0"/>
                </a:lnTo>
                <a:lnTo>
                  <a:pt x="308047" y="4115"/>
                </a:lnTo>
                <a:lnTo>
                  <a:pt x="352244" y="15983"/>
                </a:lnTo>
                <a:lnTo>
                  <a:pt x="392952" y="34889"/>
                </a:lnTo>
                <a:lnTo>
                  <a:pt x="429367" y="60056"/>
                </a:lnTo>
                <a:lnTo>
                  <a:pt x="460846" y="90833"/>
                </a:lnTo>
                <a:lnTo>
                  <a:pt x="486614" y="126473"/>
                </a:lnTo>
                <a:lnTo>
                  <a:pt x="505933" y="166254"/>
                </a:lnTo>
                <a:lnTo>
                  <a:pt x="518066" y="209457"/>
                </a:lnTo>
                <a:lnTo>
                  <a:pt x="522274" y="255358"/>
                </a:lnTo>
                <a:lnTo>
                  <a:pt x="518066" y="301257"/>
                </a:lnTo>
                <a:lnTo>
                  <a:pt x="505933" y="344457"/>
                </a:lnTo>
                <a:lnTo>
                  <a:pt x="486614" y="384238"/>
                </a:lnTo>
                <a:lnTo>
                  <a:pt x="460846" y="419879"/>
                </a:lnTo>
                <a:lnTo>
                  <a:pt x="429367" y="450657"/>
                </a:lnTo>
                <a:lnTo>
                  <a:pt x="392859" y="475877"/>
                </a:lnTo>
                <a:lnTo>
                  <a:pt x="352199" y="494748"/>
                </a:lnTo>
                <a:lnTo>
                  <a:pt x="308032" y="506604"/>
                </a:lnTo>
                <a:lnTo>
                  <a:pt x="261099" y="510717"/>
                </a:lnTo>
                <a:close/>
              </a:path>
            </a:pathLst>
          </a:custGeom>
          <a:solidFill>
            <a:srgbClr val="D9D9D9"/>
          </a:solidFill>
        </p:spPr>
        <p:txBody>
          <a:bodyPr wrap="square" lIns="0" tIns="0" rIns="0" bIns="0" rtlCol="0"/>
          <a:lstStyle/>
          <a:p/>
        </p:txBody>
      </p:sp>
      <p:sp>
        <p:nvSpPr>
          <p:cNvPr id="29" name="object 29"/>
          <p:cNvSpPr/>
          <p:nvPr/>
        </p:nvSpPr>
        <p:spPr>
          <a:xfrm>
            <a:off x="2098548" y="5054536"/>
            <a:ext cx="521970" cy="511175"/>
          </a:xfrm>
          <a:custGeom>
            <a:avLst/>
            <a:gdLst/>
            <a:ahLst/>
            <a:cxnLst/>
            <a:rect l="l" t="t" r="r" b="b"/>
            <a:pathLst>
              <a:path w="521969" h="511175">
                <a:moveTo>
                  <a:pt x="260667" y="510717"/>
                </a:moveTo>
                <a:lnTo>
                  <a:pt x="213720" y="506603"/>
                </a:lnTo>
                <a:lnTo>
                  <a:pt x="169539" y="494739"/>
                </a:lnTo>
                <a:lnTo>
                  <a:pt x="128864" y="475844"/>
                </a:lnTo>
                <a:lnTo>
                  <a:pt x="92438" y="450636"/>
                </a:lnTo>
                <a:lnTo>
                  <a:pt x="61003" y="419836"/>
                </a:lnTo>
                <a:lnTo>
                  <a:pt x="35299" y="384161"/>
                </a:lnTo>
                <a:lnTo>
                  <a:pt x="16070" y="344331"/>
                </a:lnTo>
                <a:lnTo>
                  <a:pt x="4056" y="301064"/>
                </a:lnTo>
                <a:lnTo>
                  <a:pt x="0" y="255079"/>
                </a:lnTo>
                <a:lnTo>
                  <a:pt x="4056" y="209260"/>
                </a:lnTo>
                <a:lnTo>
                  <a:pt x="16070" y="166123"/>
                </a:lnTo>
                <a:lnTo>
                  <a:pt x="35299" y="126390"/>
                </a:lnTo>
                <a:lnTo>
                  <a:pt x="61003" y="90785"/>
                </a:lnTo>
                <a:lnTo>
                  <a:pt x="92438" y="60031"/>
                </a:lnTo>
                <a:lnTo>
                  <a:pt x="128864" y="34853"/>
                </a:lnTo>
                <a:lnTo>
                  <a:pt x="169539" y="15972"/>
                </a:lnTo>
                <a:lnTo>
                  <a:pt x="213720" y="4113"/>
                </a:lnTo>
                <a:lnTo>
                  <a:pt x="260667" y="0"/>
                </a:lnTo>
                <a:lnTo>
                  <a:pt x="307611" y="4114"/>
                </a:lnTo>
                <a:lnTo>
                  <a:pt x="351796" y="15975"/>
                </a:lnTo>
                <a:lnTo>
                  <a:pt x="392483" y="34863"/>
                </a:lnTo>
                <a:lnTo>
                  <a:pt x="428935" y="60056"/>
                </a:lnTo>
                <a:lnTo>
                  <a:pt x="460414" y="90833"/>
                </a:lnTo>
                <a:lnTo>
                  <a:pt x="486182" y="126473"/>
                </a:lnTo>
                <a:lnTo>
                  <a:pt x="505502" y="166254"/>
                </a:lnTo>
                <a:lnTo>
                  <a:pt x="517634" y="209457"/>
                </a:lnTo>
                <a:lnTo>
                  <a:pt x="521843" y="255358"/>
                </a:lnTo>
                <a:lnTo>
                  <a:pt x="517634" y="301260"/>
                </a:lnTo>
                <a:lnTo>
                  <a:pt x="505502" y="344462"/>
                </a:lnTo>
                <a:lnTo>
                  <a:pt x="486182" y="384244"/>
                </a:lnTo>
                <a:lnTo>
                  <a:pt x="460414" y="419884"/>
                </a:lnTo>
                <a:lnTo>
                  <a:pt x="428935" y="450661"/>
                </a:lnTo>
                <a:lnTo>
                  <a:pt x="392483" y="475854"/>
                </a:lnTo>
                <a:lnTo>
                  <a:pt x="351796" y="494742"/>
                </a:lnTo>
                <a:lnTo>
                  <a:pt x="307611" y="506603"/>
                </a:lnTo>
                <a:lnTo>
                  <a:pt x="260667" y="510717"/>
                </a:lnTo>
                <a:close/>
              </a:path>
            </a:pathLst>
          </a:custGeom>
          <a:solidFill>
            <a:srgbClr val="A6A6A6"/>
          </a:solidFill>
        </p:spPr>
        <p:txBody>
          <a:bodyPr wrap="square" lIns="0" tIns="0" rIns="0" bIns="0" rtlCol="0"/>
          <a:lstStyle/>
          <a:p/>
        </p:txBody>
      </p:sp>
      <p:sp>
        <p:nvSpPr>
          <p:cNvPr id="30" name="object 30"/>
          <p:cNvSpPr txBox="1"/>
          <p:nvPr/>
        </p:nvSpPr>
        <p:spPr>
          <a:xfrm>
            <a:off x="2243112" y="5027091"/>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7</a:t>
            </a:r>
            <a:endParaRPr sz="3200">
              <a:latin typeface="Calibri" panose="020F0502020204030204"/>
              <a:cs typeface="Calibri" panose="020F0502020204030204"/>
            </a:endParaRPr>
          </a:p>
        </p:txBody>
      </p:sp>
      <p:sp>
        <p:nvSpPr>
          <p:cNvPr id="31" name="object 31"/>
          <p:cNvSpPr/>
          <p:nvPr/>
        </p:nvSpPr>
        <p:spPr>
          <a:xfrm>
            <a:off x="2394204" y="5708903"/>
            <a:ext cx="6791325" cy="509270"/>
          </a:xfrm>
          <a:custGeom>
            <a:avLst/>
            <a:gdLst/>
            <a:ahLst/>
            <a:cxnLst/>
            <a:rect l="l" t="t" r="r" b="b"/>
            <a:pathLst>
              <a:path w="6791325" h="509270">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32" name="object 32"/>
          <p:cNvSpPr/>
          <p:nvPr/>
        </p:nvSpPr>
        <p:spPr>
          <a:xfrm>
            <a:off x="8916923" y="5708383"/>
            <a:ext cx="522605" cy="511175"/>
          </a:xfrm>
          <a:custGeom>
            <a:avLst/>
            <a:gdLst/>
            <a:ahLst/>
            <a:cxnLst/>
            <a:rect l="l" t="t" r="r" b="b"/>
            <a:pathLst>
              <a:path w="522604" h="511175">
                <a:moveTo>
                  <a:pt x="261099" y="510717"/>
                </a:moveTo>
                <a:lnTo>
                  <a:pt x="214151" y="506602"/>
                </a:lnTo>
                <a:lnTo>
                  <a:pt x="169966" y="494737"/>
                </a:lnTo>
                <a:lnTo>
                  <a:pt x="129280" y="475839"/>
                </a:lnTo>
                <a:lnTo>
                  <a:pt x="92832" y="450628"/>
                </a:lnTo>
                <a:lnTo>
                  <a:pt x="61360" y="419822"/>
                </a:lnTo>
                <a:lnTo>
                  <a:pt x="35603" y="384141"/>
                </a:lnTo>
                <a:lnTo>
                  <a:pt x="16299" y="344302"/>
                </a:lnTo>
                <a:lnTo>
                  <a:pt x="4185" y="301025"/>
                </a:lnTo>
                <a:lnTo>
                  <a:pt x="0" y="255028"/>
                </a:lnTo>
                <a:lnTo>
                  <a:pt x="4185" y="209225"/>
                </a:lnTo>
                <a:lnTo>
                  <a:pt x="16299" y="166099"/>
                </a:lnTo>
                <a:lnTo>
                  <a:pt x="35603" y="126375"/>
                </a:lnTo>
                <a:lnTo>
                  <a:pt x="61360" y="90776"/>
                </a:lnTo>
                <a:lnTo>
                  <a:pt x="92832" y="60027"/>
                </a:lnTo>
                <a:lnTo>
                  <a:pt x="129280" y="34851"/>
                </a:lnTo>
                <a:lnTo>
                  <a:pt x="169966" y="15971"/>
                </a:lnTo>
                <a:lnTo>
                  <a:pt x="214151" y="4113"/>
                </a:lnTo>
                <a:lnTo>
                  <a:pt x="261099" y="0"/>
                </a:lnTo>
                <a:lnTo>
                  <a:pt x="308043" y="4114"/>
                </a:lnTo>
                <a:lnTo>
                  <a:pt x="352228" y="15975"/>
                </a:lnTo>
                <a:lnTo>
                  <a:pt x="392915" y="34863"/>
                </a:lnTo>
                <a:lnTo>
                  <a:pt x="429367" y="60056"/>
                </a:lnTo>
                <a:lnTo>
                  <a:pt x="460846" y="90833"/>
                </a:lnTo>
                <a:lnTo>
                  <a:pt x="486614" y="126473"/>
                </a:lnTo>
                <a:lnTo>
                  <a:pt x="505933" y="166254"/>
                </a:lnTo>
                <a:lnTo>
                  <a:pt x="518066" y="209457"/>
                </a:lnTo>
                <a:lnTo>
                  <a:pt x="522274" y="255358"/>
                </a:lnTo>
                <a:lnTo>
                  <a:pt x="518066" y="301257"/>
                </a:lnTo>
                <a:lnTo>
                  <a:pt x="505933" y="344457"/>
                </a:lnTo>
                <a:lnTo>
                  <a:pt x="486614" y="384238"/>
                </a:lnTo>
                <a:lnTo>
                  <a:pt x="460846" y="419879"/>
                </a:lnTo>
                <a:lnTo>
                  <a:pt x="429367" y="450657"/>
                </a:lnTo>
                <a:lnTo>
                  <a:pt x="392915" y="475851"/>
                </a:lnTo>
                <a:lnTo>
                  <a:pt x="352228" y="494740"/>
                </a:lnTo>
                <a:lnTo>
                  <a:pt x="308043" y="506603"/>
                </a:lnTo>
                <a:lnTo>
                  <a:pt x="261099" y="510717"/>
                </a:lnTo>
                <a:close/>
              </a:path>
            </a:pathLst>
          </a:custGeom>
          <a:solidFill>
            <a:srgbClr val="D9D9D9"/>
          </a:solidFill>
        </p:spPr>
        <p:txBody>
          <a:bodyPr wrap="square" lIns="0" tIns="0" rIns="0" bIns="0" rtlCol="0"/>
          <a:lstStyle/>
          <a:p/>
        </p:txBody>
      </p:sp>
      <p:sp>
        <p:nvSpPr>
          <p:cNvPr id="33" name="object 33"/>
          <p:cNvSpPr/>
          <p:nvPr/>
        </p:nvSpPr>
        <p:spPr>
          <a:xfrm>
            <a:off x="2098548" y="5707837"/>
            <a:ext cx="521970" cy="511175"/>
          </a:xfrm>
          <a:custGeom>
            <a:avLst/>
            <a:gdLst/>
            <a:ahLst/>
            <a:cxnLst/>
            <a:rect l="l" t="t" r="r" b="b"/>
            <a:pathLst>
              <a:path w="521969" h="511175">
                <a:moveTo>
                  <a:pt x="260667" y="510717"/>
                </a:moveTo>
                <a:lnTo>
                  <a:pt x="213719" y="506603"/>
                </a:lnTo>
                <a:lnTo>
                  <a:pt x="169534" y="494742"/>
                </a:lnTo>
                <a:lnTo>
                  <a:pt x="128852" y="475854"/>
                </a:lnTo>
                <a:lnTo>
                  <a:pt x="92419" y="450661"/>
                </a:lnTo>
                <a:lnTo>
                  <a:pt x="60976" y="419884"/>
                </a:lnTo>
                <a:lnTo>
                  <a:pt x="35268" y="384244"/>
                </a:lnTo>
                <a:lnTo>
                  <a:pt x="16070" y="344564"/>
                </a:lnTo>
                <a:lnTo>
                  <a:pt x="4056" y="301412"/>
                </a:lnTo>
                <a:lnTo>
                  <a:pt x="0" y="255574"/>
                </a:lnTo>
                <a:lnTo>
                  <a:pt x="4056" y="209608"/>
                </a:lnTo>
                <a:lnTo>
                  <a:pt x="16070" y="166356"/>
                </a:lnTo>
                <a:lnTo>
                  <a:pt x="35299" y="126537"/>
                </a:lnTo>
                <a:lnTo>
                  <a:pt x="61040" y="90833"/>
                </a:lnTo>
                <a:lnTo>
                  <a:pt x="92466" y="60056"/>
                </a:lnTo>
                <a:lnTo>
                  <a:pt x="128881" y="34863"/>
                </a:lnTo>
                <a:lnTo>
                  <a:pt x="169547" y="15975"/>
                </a:lnTo>
                <a:lnTo>
                  <a:pt x="213724" y="4114"/>
                </a:lnTo>
                <a:lnTo>
                  <a:pt x="260667" y="0"/>
                </a:lnTo>
                <a:lnTo>
                  <a:pt x="307612" y="4114"/>
                </a:lnTo>
                <a:lnTo>
                  <a:pt x="351801" y="15977"/>
                </a:lnTo>
                <a:lnTo>
                  <a:pt x="392495" y="34871"/>
                </a:lnTo>
                <a:lnTo>
                  <a:pt x="428955" y="60075"/>
                </a:lnTo>
                <a:lnTo>
                  <a:pt x="460441" y="90870"/>
                </a:lnTo>
                <a:lnTo>
                  <a:pt x="486213" y="126537"/>
                </a:lnTo>
                <a:lnTo>
                  <a:pt x="505502" y="166254"/>
                </a:lnTo>
                <a:lnTo>
                  <a:pt x="517634" y="209457"/>
                </a:lnTo>
                <a:lnTo>
                  <a:pt x="521843" y="255358"/>
                </a:lnTo>
                <a:lnTo>
                  <a:pt x="517634" y="301260"/>
                </a:lnTo>
                <a:lnTo>
                  <a:pt x="505502" y="344462"/>
                </a:lnTo>
                <a:lnTo>
                  <a:pt x="486182" y="384244"/>
                </a:lnTo>
                <a:lnTo>
                  <a:pt x="460376" y="419921"/>
                </a:lnTo>
                <a:lnTo>
                  <a:pt x="428908" y="450680"/>
                </a:lnTo>
                <a:lnTo>
                  <a:pt x="392466" y="475862"/>
                </a:lnTo>
                <a:lnTo>
                  <a:pt x="351787" y="494744"/>
                </a:lnTo>
                <a:lnTo>
                  <a:pt x="307608" y="506604"/>
                </a:lnTo>
                <a:lnTo>
                  <a:pt x="260667" y="510717"/>
                </a:lnTo>
                <a:close/>
              </a:path>
            </a:pathLst>
          </a:custGeom>
          <a:solidFill>
            <a:srgbClr val="A6A6A6"/>
          </a:solidFill>
        </p:spPr>
        <p:txBody>
          <a:bodyPr wrap="square" lIns="0" tIns="0" rIns="0" bIns="0" rtlCol="0"/>
          <a:lstStyle/>
          <a:p/>
        </p:txBody>
      </p:sp>
      <p:sp>
        <p:nvSpPr>
          <p:cNvPr id="34" name="object 34"/>
          <p:cNvSpPr txBox="1"/>
          <p:nvPr/>
        </p:nvSpPr>
        <p:spPr>
          <a:xfrm>
            <a:off x="2243112" y="5680392"/>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8</a:t>
            </a:r>
            <a:endParaRPr sz="3200">
              <a:latin typeface="Calibri" panose="020F0502020204030204"/>
              <a:cs typeface="Calibri" panose="020F0502020204030204"/>
            </a:endParaRPr>
          </a:p>
        </p:txBody>
      </p:sp>
      <p:sp>
        <p:nvSpPr>
          <p:cNvPr id="35" name="object 35"/>
          <p:cNvSpPr txBox="1"/>
          <p:nvPr/>
        </p:nvSpPr>
        <p:spPr>
          <a:xfrm>
            <a:off x="2961309" y="1193317"/>
            <a:ext cx="251015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关于</a:t>
            </a:r>
            <a:r>
              <a:rPr sz="2400" b="1" spc="-5" dirty="0">
                <a:solidFill>
                  <a:srgbClr val="A6A6A6"/>
                </a:solidFill>
                <a:latin typeface="微软雅黑" panose="020B0503020204020204" charset="-122"/>
                <a:cs typeface="微软雅黑" panose="020B0503020204020204" charset="-122"/>
              </a:rPr>
              <a:t>ISA</a:t>
            </a:r>
            <a:r>
              <a:rPr sz="2400" b="1" dirty="0">
                <a:solidFill>
                  <a:srgbClr val="A6A6A6"/>
                </a:solidFill>
                <a:latin typeface="微软雅黑" panose="020B0503020204020204" charset="-122"/>
                <a:cs typeface="微软雅黑" panose="020B0503020204020204" charset="-122"/>
              </a:rPr>
              <a:t>和</a:t>
            </a:r>
            <a:r>
              <a:rPr sz="2400" b="1" spc="-5" dirty="0">
                <a:solidFill>
                  <a:srgbClr val="A6A6A6"/>
                </a:solidFill>
                <a:latin typeface="微软雅黑" panose="020B0503020204020204" charset="-122"/>
                <a:cs typeface="微软雅黑" panose="020B0503020204020204" charset="-122"/>
              </a:rPr>
              <a:t>RISC-V</a:t>
            </a:r>
            <a:endParaRPr sz="2400">
              <a:latin typeface="微软雅黑" panose="020B0503020204020204" charset="-122"/>
              <a:cs typeface="微软雅黑" panose="020B0503020204020204" charset="-122"/>
            </a:endParaRPr>
          </a:p>
        </p:txBody>
      </p:sp>
      <p:sp>
        <p:nvSpPr>
          <p:cNvPr id="36" name="object 36"/>
          <p:cNvSpPr txBox="1"/>
          <p:nvPr/>
        </p:nvSpPr>
        <p:spPr>
          <a:xfrm>
            <a:off x="2961309" y="1845995"/>
            <a:ext cx="364744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开源</a:t>
            </a:r>
            <a:r>
              <a:rPr sz="2400" b="1" spc="-5" dirty="0">
                <a:solidFill>
                  <a:srgbClr val="A6A6A6"/>
                </a:solidFill>
                <a:latin typeface="微软雅黑" panose="020B0503020204020204" charset="-122"/>
                <a:cs typeface="微软雅黑" panose="020B0503020204020204" charset="-122"/>
              </a:rPr>
              <a:t>RISC-V</a:t>
            </a:r>
            <a:r>
              <a:rPr sz="2400" b="1" dirty="0">
                <a:solidFill>
                  <a:srgbClr val="A6A6A6"/>
                </a:solidFill>
                <a:latin typeface="微软雅黑" panose="020B0503020204020204" charset="-122"/>
                <a:cs typeface="微软雅黑" panose="020B0503020204020204" charset="-122"/>
              </a:rPr>
              <a:t>内核蜂鸟</a:t>
            </a:r>
            <a:r>
              <a:rPr sz="2400" b="1" spc="-5" dirty="0">
                <a:solidFill>
                  <a:srgbClr val="A6A6A6"/>
                </a:solidFill>
                <a:latin typeface="微软雅黑" panose="020B0503020204020204" charset="-122"/>
                <a:cs typeface="微软雅黑" panose="020B0503020204020204" charset="-122"/>
              </a:rPr>
              <a:t>E203</a:t>
            </a:r>
            <a:endParaRPr sz="2400">
              <a:latin typeface="微软雅黑" panose="020B0503020204020204" charset="-122"/>
              <a:cs typeface="微软雅黑" panose="020B0503020204020204" charset="-122"/>
            </a:endParaRPr>
          </a:p>
        </p:txBody>
      </p:sp>
      <p:sp>
        <p:nvSpPr>
          <p:cNvPr id="37" name="object 37"/>
          <p:cNvSpPr txBox="1"/>
          <p:nvPr/>
        </p:nvSpPr>
        <p:spPr>
          <a:xfrm>
            <a:off x="2961309" y="2499918"/>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的中文书籍</a:t>
            </a:r>
            <a:endParaRPr sz="2400">
              <a:latin typeface="微软雅黑" panose="020B0503020204020204" charset="-122"/>
              <a:cs typeface="微软雅黑" panose="020B0503020204020204" charset="-122"/>
            </a:endParaRPr>
          </a:p>
        </p:txBody>
      </p:sp>
      <p:sp>
        <p:nvSpPr>
          <p:cNvPr id="38" name="object 38"/>
          <p:cNvSpPr txBox="1"/>
          <p:nvPr/>
        </p:nvSpPr>
        <p:spPr>
          <a:xfrm>
            <a:off x="2961309" y="3185795"/>
            <a:ext cx="3875404"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C00000"/>
                </a:solidFill>
                <a:latin typeface="微软雅黑" panose="020B0503020204020204" charset="-122"/>
                <a:cs typeface="微软雅黑" panose="020B0503020204020204" charset="-122"/>
              </a:rPr>
              <a:t>蜂鸟</a:t>
            </a:r>
            <a:r>
              <a:rPr sz="2400" b="1" spc="-5" dirty="0">
                <a:solidFill>
                  <a:srgbClr val="C00000"/>
                </a:solidFill>
                <a:latin typeface="微软雅黑" panose="020B0503020204020204" charset="-122"/>
                <a:cs typeface="微软雅黑" panose="020B0503020204020204" charset="-122"/>
              </a:rPr>
              <a:t>E203</a:t>
            </a:r>
            <a:r>
              <a:rPr sz="2400" b="1" dirty="0">
                <a:solidFill>
                  <a:srgbClr val="C00000"/>
                </a:solidFill>
                <a:latin typeface="微软雅黑" panose="020B0503020204020204" charset="-122"/>
                <a:cs typeface="微软雅黑" panose="020B0503020204020204" charset="-122"/>
              </a:rPr>
              <a:t>软硬件D</a:t>
            </a:r>
            <a:r>
              <a:rPr sz="2400" b="1" spc="-5" dirty="0">
                <a:solidFill>
                  <a:srgbClr val="C00000"/>
                </a:solidFill>
                <a:latin typeface="微软雅黑" panose="020B0503020204020204" charset="-122"/>
                <a:cs typeface="微软雅黑" panose="020B0503020204020204" charset="-122"/>
              </a:rPr>
              <a:t>E</a:t>
            </a:r>
            <a:r>
              <a:rPr sz="2400" b="1" dirty="0">
                <a:solidFill>
                  <a:srgbClr val="C00000"/>
                </a:solidFill>
                <a:latin typeface="微软雅黑" panose="020B0503020204020204" charset="-122"/>
                <a:cs typeface="微软雅黑" panose="020B0503020204020204" charset="-122"/>
              </a:rPr>
              <a:t>MO视频</a:t>
            </a:r>
            <a:endParaRPr sz="2400">
              <a:latin typeface="微软雅黑" panose="020B0503020204020204" charset="-122"/>
              <a:cs typeface="微软雅黑" panose="020B0503020204020204" charset="-122"/>
            </a:endParaRPr>
          </a:p>
        </p:txBody>
      </p:sp>
      <p:sp>
        <p:nvSpPr>
          <p:cNvPr id="39" name="object 39"/>
          <p:cNvSpPr txBox="1"/>
          <p:nvPr/>
        </p:nvSpPr>
        <p:spPr>
          <a:xfrm>
            <a:off x="2961309" y="3773335"/>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的几个误区</a:t>
            </a:r>
            <a:endParaRPr sz="2400">
              <a:latin typeface="微软雅黑" panose="020B0503020204020204" charset="-122"/>
              <a:cs typeface="微软雅黑" panose="020B0503020204020204" charset="-122"/>
            </a:endParaRPr>
          </a:p>
        </p:txBody>
      </p:sp>
      <p:sp>
        <p:nvSpPr>
          <p:cNvPr id="40" name="object 40"/>
          <p:cNvSpPr txBox="1"/>
          <p:nvPr/>
        </p:nvSpPr>
        <p:spPr>
          <a:xfrm>
            <a:off x="2961309" y="4459820"/>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的未来趋势</a:t>
            </a:r>
            <a:endParaRPr sz="2400">
              <a:latin typeface="微软雅黑" panose="020B0503020204020204" charset="-122"/>
              <a:cs typeface="微软雅黑" panose="020B0503020204020204" charset="-122"/>
            </a:endParaRPr>
          </a:p>
        </p:txBody>
      </p:sp>
      <p:sp>
        <p:nvSpPr>
          <p:cNvPr id="41" name="object 41"/>
          <p:cNvSpPr txBox="1"/>
          <p:nvPr/>
        </p:nvSpPr>
        <p:spPr>
          <a:xfrm>
            <a:off x="2961309" y="5113121"/>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的商业本质</a:t>
            </a:r>
            <a:endParaRPr sz="2400">
              <a:latin typeface="微软雅黑" panose="020B0503020204020204" charset="-122"/>
              <a:cs typeface="微软雅黑" panose="020B0503020204020204" charset="-122"/>
            </a:endParaRPr>
          </a:p>
        </p:txBody>
      </p:sp>
      <p:sp>
        <p:nvSpPr>
          <p:cNvPr id="42" name="object 42"/>
          <p:cNvSpPr txBox="1"/>
          <p:nvPr/>
        </p:nvSpPr>
        <p:spPr>
          <a:xfrm>
            <a:off x="2961309" y="5752896"/>
            <a:ext cx="185420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芯来科技介绍</a:t>
            </a:r>
            <a:endParaRPr sz="2400">
              <a:latin typeface="微软雅黑" panose="020B0503020204020204" charset="-122"/>
              <a:cs typeface="微软雅黑" panose="020B0503020204020204" charset="-122"/>
            </a:endParaRPr>
          </a:p>
        </p:txBody>
      </p:sp>
      <p:sp>
        <p:nvSpPr>
          <p:cNvPr id="43" name="object 43"/>
          <p:cNvSpPr txBox="1">
            <a:spLocks noGrp="1"/>
          </p:cNvSpPr>
          <p:nvPr>
            <p:ph type="title"/>
          </p:nvPr>
        </p:nvSpPr>
        <p:spPr>
          <a:xfrm>
            <a:off x="713105" y="243840"/>
            <a:ext cx="1802764"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C00000"/>
                </a:solidFill>
              </a:rPr>
              <a:t>Age</a:t>
            </a:r>
            <a:r>
              <a:rPr sz="3600" dirty="0">
                <a:solidFill>
                  <a:srgbClr val="C00000"/>
                </a:solidFill>
              </a:rPr>
              <a:t>n</a:t>
            </a:r>
            <a:r>
              <a:rPr sz="3600" spc="-5" dirty="0">
                <a:solidFill>
                  <a:srgbClr val="C00000"/>
                </a:solidFill>
              </a:rPr>
              <a:t>d</a:t>
            </a:r>
            <a:r>
              <a:rPr sz="3600" dirty="0">
                <a:solidFill>
                  <a:srgbClr val="C00000"/>
                </a:solidFill>
              </a:rPr>
              <a:t>a</a:t>
            </a:r>
            <a:endParaRPr sz="3600"/>
          </a:p>
        </p:txBody>
      </p:sp>
      <p:sp>
        <p:nvSpPr>
          <p:cNvPr id="44" name="object 4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6858000"/>
          </a:xfrm>
          <a:prstGeom prst="rect">
            <a:avLst/>
          </a:prstGeom>
          <a:blipFill>
            <a:blip r:embed="rId1" cstate="print"/>
            <a:stretch>
              <a:fillRect/>
            </a:stretch>
          </a:blipFill>
        </p:spPr>
        <p:txBody>
          <a:bodyPr wrap="square" lIns="0" tIns="0" rIns="0" bIns="0" rtlCol="0"/>
          <a:lstStyle/>
          <a:p/>
        </p:txBody>
      </p:sp>
      <p:sp>
        <p:nvSpPr>
          <p:cNvPr id="3" name="object 3"/>
          <p:cNvSpPr/>
          <p:nvPr/>
        </p:nvSpPr>
        <p:spPr>
          <a:xfrm>
            <a:off x="1496567" y="0"/>
            <a:ext cx="10695432" cy="6858000"/>
          </a:xfrm>
          <a:prstGeom prst="rect">
            <a:avLst/>
          </a:prstGeom>
          <a:blipFill>
            <a:blip r:embed="rId2" cstate="print"/>
            <a:stretch>
              <a:fillRect/>
            </a:stretch>
          </a:blipFill>
        </p:spPr>
        <p:txBody>
          <a:bodyPr wrap="square" lIns="0" tIns="0" rIns="0" bIns="0" rtlCol="0"/>
          <a:lstStyle/>
          <a:p/>
        </p:txBody>
      </p:sp>
      <p:sp>
        <p:nvSpPr>
          <p:cNvPr id="4" name="object 4"/>
          <p:cNvSpPr/>
          <p:nvPr/>
        </p:nvSpPr>
        <p:spPr>
          <a:xfrm>
            <a:off x="0" y="3047"/>
            <a:ext cx="12192000" cy="6855459"/>
          </a:xfrm>
          <a:custGeom>
            <a:avLst/>
            <a:gdLst/>
            <a:ahLst/>
            <a:cxnLst/>
            <a:rect l="l" t="t" r="r" b="b"/>
            <a:pathLst>
              <a:path w="12192000" h="6855459">
                <a:moveTo>
                  <a:pt x="0" y="6854952"/>
                </a:moveTo>
                <a:lnTo>
                  <a:pt x="0" y="0"/>
                </a:lnTo>
                <a:lnTo>
                  <a:pt x="12192000" y="0"/>
                </a:lnTo>
                <a:lnTo>
                  <a:pt x="12192000" y="6854952"/>
                </a:lnTo>
                <a:lnTo>
                  <a:pt x="0" y="6854952"/>
                </a:lnTo>
                <a:close/>
              </a:path>
            </a:pathLst>
          </a:custGeom>
          <a:solidFill>
            <a:srgbClr val="C00000">
              <a:alpha val="28999"/>
            </a:srgbClr>
          </a:solidFill>
        </p:spPr>
        <p:txBody>
          <a:bodyPr wrap="square" lIns="0" tIns="0" rIns="0" bIns="0" rtlCol="0"/>
          <a:lstStyle/>
          <a:p/>
        </p:txBody>
      </p:sp>
      <p:sp>
        <p:nvSpPr>
          <p:cNvPr id="5" name="object 5"/>
          <p:cNvSpPr txBox="1"/>
          <p:nvPr/>
        </p:nvSpPr>
        <p:spPr>
          <a:xfrm>
            <a:off x="1584325" y="2642361"/>
            <a:ext cx="9025890" cy="1488440"/>
          </a:xfrm>
          <a:prstGeom prst="rect">
            <a:avLst/>
          </a:prstGeom>
        </p:spPr>
        <p:txBody>
          <a:bodyPr vert="horz" wrap="square" lIns="0" tIns="12700" rIns="0" bIns="0" rtlCol="0">
            <a:spAutoFit/>
          </a:bodyPr>
          <a:lstStyle/>
          <a:p>
            <a:pPr marL="12700" marR="5080" indent="545465">
              <a:lnSpc>
                <a:spcPct val="150000"/>
              </a:lnSpc>
              <a:spcBef>
                <a:spcPts val="100"/>
              </a:spcBef>
            </a:pPr>
            <a:r>
              <a:rPr sz="3200" b="1" dirty="0">
                <a:solidFill>
                  <a:srgbClr val="FFFFFF"/>
                </a:solidFill>
                <a:latin typeface="微软雅黑" panose="020B0503020204020204" charset="-122"/>
                <a:cs typeface="微软雅黑" panose="020B0503020204020204" charset="-122"/>
              </a:rPr>
              <a:t>蜂鸟</a:t>
            </a:r>
            <a:r>
              <a:rPr sz="3200" b="1" spc="-5" dirty="0">
                <a:solidFill>
                  <a:srgbClr val="FFFFFF"/>
                </a:solidFill>
                <a:latin typeface="微软雅黑" panose="020B0503020204020204" charset="-122"/>
                <a:cs typeface="微软雅黑" panose="020B0503020204020204" charset="-122"/>
              </a:rPr>
              <a:t>RISC-V</a:t>
            </a:r>
            <a:r>
              <a:rPr sz="3200" b="1" dirty="0">
                <a:solidFill>
                  <a:srgbClr val="FFFFFF"/>
                </a:solidFill>
                <a:latin typeface="微软雅黑" panose="020B0503020204020204" charset="-122"/>
                <a:cs typeface="微软雅黑" panose="020B0503020204020204" charset="-122"/>
              </a:rPr>
              <a:t>开源处理器软硬件演示视频地</a:t>
            </a:r>
            <a:r>
              <a:rPr sz="3200" b="1" spc="5" dirty="0">
                <a:solidFill>
                  <a:srgbClr val="FFFFFF"/>
                </a:solidFill>
                <a:latin typeface="微软雅黑" panose="020B0503020204020204" charset="-122"/>
                <a:cs typeface="微软雅黑" panose="020B0503020204020204" charset="-122"/>
              </a:rPr>
              <a:t>址 </a:t>
            </a:r>
            <a:r>
              <a:rPr sz="3200" b="1" spc="-15" dirty="0">
                <a:solidFill>
                  <a:srgbClr val="FFFFFF"/>
                </a:solidFill>
                <a:latin typeface="微软雅黑" panose="020B0503020204020204" charset="-122"/>
                <a:cs typeface="微软雅黑" panose="020B0503020204020204" charset="-122"/>
              </a:rPr>
              <a:t>https://v.qq.com/x/page/m08324sj90v.html</a:t>
            </a:r>
            <a:endParaRPr sz="3200">
              <a:latin typeface="微软雅黑" panose="020B0503020204020204" charset="-122"/>
              <a:cs typeface="微软雅黑" panose="020B0503020204020204" charset="-122"/>
            </a:endParaRPr>
          </a:p>
        </p:txBody>
      </p:sp>
      <p:sp>
        <p:nvSpPr>
          <p:cNvPr id="6" name="object 6"/>
          <p:cNvSpPr/>
          <p:nvPr/>
        </p:nvSpPr>
        <p:spPr>
          <a:xfrm>
            <a:off x="10966704" y="6272784"/>
            <a:ext cx="1036320" cy="419100"/>
          </a:xfrm>
          <a:prstGeom prst="rect">
            <a:avLst/>
          </a:prstGeom>
          <a:blipFill>
            <a:blip r:embed="rId3" cstate="print"/>
            <a:stretch>
              <a:fillRect/>
            </a:stretch>
          </a:blipFill>
        </p:spPr>
        <p:txBody>
          <a:bodyPr wrap="square" lIns="0" tIns="0" rIns="0" bIns="0" rtlCol="0"/>
          <a:lstStyle/>
          <a:p/>
        </p:txBody>
      </p:sp>
      <p:sp>
        <p:nvSpPr>
          <p:cNvPr id="7" name="object 7"/>
          <p:cNvSpPr txBox="1"/>
          <p:nvPr/>
        </p:nvSpPr>
        <p:spPr>
          <a:xfrm>
            <a:off x="4098925" y="925830"/>
            <a:ext cx="3612515" cy="1365885"/>
          </a:xfrm>
          <a:prstGeom prst="rect">
            <a:avLst/>
          </a:prstGeom>
        </p:spPr>
        <p:txBody>
          <a:bodyPr vert="horz" wrap="square" lIns="0" tIns="12065" rIns="0" bIns="0" rtlCol="0">
            <a:spAutoFit/>
          </a:bodyPr>
          <a:lstStyle/>
          <a:p>
            <a:pPr marL="12700">
              <a:lnSpc>
                <a:spcPct val="100000"/>
              </a:lnSpc>
              <a:spcBef>
                <a:spcPts val="95"/>
              </a:spcBef>
            </a:pPr>
            <a:r>
              <a:rPr sz="8800" b="1" spc="-5" dirty="0">
                <a:solidFill>
                  <a:srgbClr val="FFFFFF"/>
                </a:solidFill>
                <a:latin typeface="微软雅黑" panose="020B0503020204020204" charset="-122"/>
                <a:cs typeface="微软雅黑" panose="020B0503020204020204" charset="-122"/>
              </a:rPr>
              <a:t>DE</a:t>
            </a:r>
            <a:r>
              <a:rPr sz="8800" b="1" spc="-5" dirty="0">
                <a:solidFill>
                  <a:srgbClr val="FFFFFF"/>
                </a:solidFill>
                <a:latin typeface="微软雅黑" panose="020B0503020204020204" charset="-122"/>
                <a:cs typeface="微软雅黑" panose="020B0503020204020204" charset="-122"/>
              </a:rPr>
              <a:t>M</a:t>
            </a:r>
            <a:r>
              <a:rPr sz="8800" b="1" spc="-5" dirty="0">
                <a:solidFill>
                  <a:srgbClr val="FFFFFF"/>
                </a:solidFill>
                <a:latin typeface="微软雅黑" panose="020B0503020204020204" charset="-122"/>
                <a:cs typeface="微软雅黑" panose="020B0503020204020204" charset="-122"/>
              </a:rPr>
              <a:t>O</a:t>
            </a:r>
            <a:endParaRPr sz="8800">
              <a:latin typeface="微软雅黑" panose="020B0503020204020204" charset="-122"/>
              <a:cs typeface="微软雅黑" panose="020B0503020204020204" charset="-122"/>
            </a:endParaRPr>
          </a:p>
        </p:txBody>
      </p:sp>
      <p:sp>
        <p:nvSpPr>
          <p:cNvPr id="8" name="object 8"/>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22909" cy="443230"/>
          </a:xfrm>
          <a:custGeom>
            <a:avLst/>
            <a:gdLst/>
            <a:ahLst/>
            <a:cxnLst/>
            <a:rect l="l" t="t" r="r" b="b"/>
            <a:pathLst>
              <a:path w="422909" h="443230">
                <a:moveTo>
                  <a:pt x="0" y="443114"/>
                </a:moveTo>
                <a:lnTo>
                  <a:pt x="0" y="0"/>
                </a:lnTo>
                <a:lnTo>
                  <a:pt x="422640" y="0"/>
                </a:lnTo>
                <a:lnTo>
                  <a:pt x="0" y="443114"/>
                </a:lnTo>
                <a:close/>
              </a:path>
            </a:pathLst>
          </a:custGeom>
          <a:solidFill>
            <a:srgbClr val="C00000"/>
          </a:solidFill>
        </p:spPr>
        <p:txBody>
          <a:bodyPr wrap="square" lIns="0" tIns="0" rIns="0" bIns="0" rtlCol="0"/>
          <a:lstStyle/>
          <a:p/>
        </p:txBody>
      </p:sp>
      <p:sp>
        <p:nvSpPr>
          <p:cNvPr id="3" name="object 3"/>
          <p:cNvSpPr/>
          <p:nvPr/>
        </p:nvSpPr>
        <p:spPr>
          <a:xfrm>
            <a:off x="2394204" y="1135380"/>
            <a:ext cx="6791325" cy="510540"/>
          </a:xfrm>
          <a:custGeom>
            <a:avLst/>
            <a:gdLst/>
            <a:ahLst/>
            <a:cxnLst/>
            <a:rect l="l" t="t" r="r" b="b"/>
            <a:pathLst>
              <a:path w="6791325" h="510539">
                <a:moveTo>
                  <a:pt x="0" y="0"/>
                </a:moveTo>
                <a:lnTo>
                  <a:pt x="6790944" y="0"/>
                </a:lnTo>
                <a:lnTo>
                  <a:pt x="6790944" y="510540"/>
                </a:lnTo>
                <a:lnTo>
                  <a:pt x="0" y="510540"/>
                </a:lnTo>
                <a:lnTo>
                  <a:pt x="0" y="0"/>
                </a:lnTo>
                <a:close/>
              </a:path>
            </a:pathLst>
          </a:custGeom>
          <a:solidFill>
            <a:srgbClr val="D9D9D9"/>
          </a:solidFill>
        </p:spPr>
        <p:txBody>
          <a:bodyPr wrap="square" lIns="0" tIns="0" rIns="0" bIns="0" rtlCol="0"/>
          <a:lstStyle/>
          <a:p/>
        </p:txBody>
      </p:sp>
      <p:sp>
        <p:nvSpPr>
          <p:cNvPr id="4" name="object 4"/>
          <p:cNvSpPr/>
          <p:nvPr/>
        </p:nvSpPr>
        <p:spPr>
          <a:xfrm>
            <a:off x="8916923" y="1134656"/>
            <a:ext cx="522605" cy="511809"/>
          </a:xfrm>
          <a:custGeom>
            <a:avLst/>
            <a:gdLst/>
            <a:ahLst/>
            <a:cxnLst/>
            <a:rect l="l" t="t" r="r" b="b"/>
            <a:pathLst>
              <a:path w="522604" h="511810">
                <a:moveTo>
                  <a:pt x="261023" y="511327"/>
                </a:moveTo>
                <a:lnTo>
                  <a:pt x="214075" y="507207"/>
                </a:lnTo>
                <a:lnTo>
                  <a:pt x="169890" y="495327"/>
                </a:lnTo>
                <a:lnTo>
                  <a:pt x="129206" y="476405"/>
                </a:lnTo>
                <a:lnTo>
                  <a:pt x="92763" y="451160"/>
                </a:lnTo>
                <a:lnTo>
                  <a:pt x="61297" y="420310"/>
                </a:lnTo>
                <a:lnTo>
                  <a:pt x="35550" y="384573"/>
                </a:lnTo>
                <a:lnTo>
                  <a:pt x="16258" y="344669"/>
                </a:lnTo>
                <a:lnTo>
                  <a:pt x="4162" y="301316"/>
                </a:lnTo>
                <a:lnTo>
                  <a:pt x="0" y="255231"/>
                </a:lnTo>
                <a:lnTo>
                  <a:pt x="4162" y="209404"/>
                </a:lnTo>
                <a:lnTo>
                  <a:pt x="16258" y="166251"/>
                </a:lnTo>
                <a:lnTo>
                  <a:pt x="35550" y="126497"/>
                </a:lnTo>
                <a:lnTo>
                  <a:pt x="61297" y="90869"/>
                </a:lnTo>
                <a:lnTo>
                  <a:pt x="92763" y="60091"/>
                </a:lnTo>
                <a:lnTo>
                  <a:pt x="129206" y="34889"/>
                </a:lnTo>
                <a:lnTo>
                  <a:pt x="169890" y="15990"/>
                </a:lnTo>
                <a:lnTo>
                  <a:pt x="214075" y="4118"/>
                </a:lnTo>
                <a:lnTo>
                  <a:pt x="261023" y="0"/>
                </a:lnTo>
                <a:lnTo>
                  <a:pt x="307966" y="4119"/>
                </a:lnTo>
                <a:lnTo>
                  <a:pt x="352150" y="15995"/>
                </a:lnTo>
                <a:lnTo>
                  <a:pt x="392835" y="34905"/>
                </a:lnTo>
                <a:lnTo>
                  <a:pt x="429286" y="60129"/>
                </a:lnTo>
                <a:lnTo>
                  <a:pt x="460762" y="90943"/>
                </a:lnTo>
                <a:lnTo>
                  <a:pt x="486529" y="126625"/>
                </a:lnTo>
                <a:lnTo>
                  <a:pt x="505846" y="166454"/>
                </a:lnTo>
                <a:lnTo>
                  <a:pt x="517978" y="209707"/>
                </a:lnTo>
                <a:lnTo>
                  <a:pt x="522185" y="255663"/>
                </a:lnTo>
                <a:lnTo>
                  <a:pt x="517978" y="301619"/>
                </a:lnTo>
                <a:lnTo>
                  <a:pt x="505846" y="344872"/>
                </a:lnTo>
                <a:lnTo>
                  <a:pt x="486529" y="384701"/>
                </a:lnTo>
                <a:lnTo>
                  <a:pt x="460762" y="420384"/>
                </a:lnTo>
                <a:lnTo>
                  <a:pt x="429286" y="451198"/>
                </a:lnTo>
                <a:lnTo>
                  <a:pt x="392835" y="476421"/>
                </a:lnTo>
                <a:lnTo>
                  <a:pt x="352150" y="495332"/>
                </a:lnTo>
                <a:lnTo>
                  <a:pt x="307966" y="507208"/>
                </a:lnTo>
                <a:lnTo>
                  <a:pt x="261023" y="511327"/>
                </a:lnTo>
                <a:close/>
              </a:path>
            </a:pathLst>
          </a:custGeom>
          <a:solidFill>
            <a:srgbClr val="D9D9D9"/>
          </a:solidFill>
        </p:spPr>
        <p:txBody>
          <a:bodyPr wrap="square" lIns="0" tIns="0" rIns="0" bIns="0" rtlCol="0"/>
          <a:lstStyle/>
          <a:p/>
        </p:txBody>
      </p:sp>
      <p:sp>
        <p:nvSpPr>
          <p:cNvPr id="5" name="object 5"/>
          <p:cNvSpPr/>
          <p:nvPr/>
        </p:nvSpPr>
        <p:spPr>
          <a:xfrm>
            <a:off x="2098548" y="1134110"/>
            <a:ext cx="521970" cy="511809"/>
          </a:xfrm>
          <a:custGeom>
            <a:avLst/>
            <a:gdLst/>
            <a:ahLst/>
            <a:cxnLst/>
            <a:rect l="l" t="t" r="r" b="b"/>
            <a:pathLst>
              <a:path w="521969" h="511810">
                <a:moveTo>
                  <a:pt x="260667" y="511327"/>
                </a:moveTo>
                <a:lnTo>
                  <a:pt x="213720" y="507208"/>
                </a:lnTo>
                <a:lnTo>
                  <a:pt x="169536" y="495332"/>
                </a:lnTo>
                <a:lnTo>
                  <a:pt x="128858" y="476421"/>
                </a:lnTo>
                <a:lnTo>
                  <a:pt x="92428" y="451198"/>
                </a:lnTo>
                <a:lnTo>
                  <a:pt x="60989" y="420384"/>
                </a:lnTo>
                <a:lnTo>
                  <a:pt x="35283" y="384701"/>
                </a:lnTo>
                <a:lnTo>
                  <a:pt x="16055" y="344872"/>
                </a:lnTo>
                <a:lnTo>
                  <a:pt x="4056" y="301699"/>
                </a:lnTo>
                <a:lnTo>
                  <a:pt x="0" y="255777"/>
                </a:lnTo>
                <a:lnTo>
                  <a:pt x="4056" y="209788"/>
                </a:lnTo>
                <a:lnTo>
                  <a:pt x="16096" y="166454"/>
                </a:lnTo>
                <a:lnTo>
                  <a:pt x="35324" y="126625"/>
                </a:lnTo>
                <a:lnTo>
                  <a:pt x="61023" y="90943"/>
                </a:lnTo>
                <a:lnTo>
                  <a:pt x="92453" y="60129"/>
                </a:lnTo>
                <a:lnTo>
                  <a:pt x="128873" y="34905"/>
                </a:lnTo>
                <a:lnTo>
                  <a:pt x="169543" y="15995"/>
                </a:lnTo>
                <a:lnTo>
                  <a:pt x="213722" y="4119"/>
                </a:lnTo>
                <a:lnTo>
                  <a:pt x="260667" y="0"/>
                </a:lnTo>
                <a:lnTo>
                  <a:pt x="307611" y="4119"/>
                </a:lnTo>
                <a:lnTo>
                  <a:pt x="351797" y="15996"/>
                </a:lnTo>
                <a:lnTo>
                  <a:pt x="392486" y="34909"/>
                </a:lnTo>
                <a:lnTo>
                  <a:pt x="428940" y="60139"/>
                </a:lnTo>
                <a:lnTo>
                  <a:pt x="460421" y="90962"/>
                </a:lnTo>
                <a:lnTo>
                  <a:pt x="486189" y="126659"/>
                </a:lnTo>
                <a:lnTo>
                  <a:pt x="505506" y="166508"/>
                </a:lnTo>
                <a:lnTo>
                  <a:pt x="517622" y="209707"/>
                </a:lnTo>
                <a:lnTo>
                  <a:pt x="521830" y="255663"/>
                </a:lnTo>
                <a:lnTo>
                  <a:pt x="517622" y="301619"/>
                </a:lnTo>
                <a:lnTo>
                  <a:pt x="505464" y="344926"/>
                </a:lnTo>
                <a:lnTo>
                  <a:pt x="486148" y="384735"/>
                </a:lnTo>
                <a:lnTo>
                  <a:pt x="460387" y="420403"/>
                </a:lnTo>
                <a:lnTo>
                  <a:pt x="428915" y="451208"/>
                </a:lnTo>
                <a:lnTo>
                  <a:pt x="392471" y="476425"/>
                </a:lnTo>
                <a:lnTo>
                  <a:pt x="351790" y="495333"/>
                </a:lnTo>
                <a:lnTo>
                  <a:pt x="307609" y="507208"/>
                </a:lnTo>
                <a:lnTo>
                  <a:pt x="260667" y="511327"/>
                </a:lnTo>
                <a:close/>
              </a:path>
            </a:pathLst>
          </a:custGeom>
          <a:solidFill>
            <a:srgbClr val="A6A6A6"/>
          </a:solidFill>
        </p:spPr>
        <p:txBody>
          <a:bodyPr wrap="square" lIns="0" tIns="0" rIns="0" bIns="0" rtlCol="0"/>
          <a:lstStyle/>
          <a:p/>
        </p:txBody>
      </p:sp>
      <p:sp>
        <p:nvSpPr>
          <p:cNvPr id="6" name="object 6"/>
          <p:cNvSpPr txBox="1"/>
          <p:nvPr/>
        </p:nvSpPr>
        <p:spPr>
          <a:xfrm>
            <a:off x="2243112" y="1107389"/>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1</a:t>
            </a:r>
            <a:endParaRPr sz="3200">
              <a:latin typeface="Calibri" panose="020F0502020204030204"/>
              <a:cs typeface="Calibri" panose="020F0502020204030204"/>
            </a:endParaRPr>
          </a:p>
        </p:txBody>
      </p:sp>
      <p:sp>
        <p:nvSpPr>
          <p:cNvPr id="7" name="object 7"/>
          <p:cNvSpPr/>
          <p:nvPr/>
        </p:nvSpPr>
        <p:spPr>
          <a:xfrm>
            <a:off x="2394204" y="1789176"/>
            <a:ext cx="6791325" cy="509270"/>
          </a:xfrm>
          <a:custGeom>
            <a:avLst/>
            <a:gdLst/>
            <a:ahLst/>
            <a:cxnLst/>
            <a:rect l="l" t="t" r="r" b="b"/>
            <a:pathLst>
              <a:path w="6791325" h="509269">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8" name="object 8"/>
          <p:cNvSpPr/>
          <p:nvPr/>
        </p:nvSpPr>
        <p:spPr>
          <a:xfrm>
            <a:off x="8916923" y="1788566"/>
            <a:ext cx="522605" cy="511175"/>
          </a:xfrm>
          <a:custGeom>
            <a:avLst/>
            <a:gdLst/>
            <a:ahLst/>
            <a:cxnLst/>
            <a:rect l="l" t="t" r="r" b="b"/>
            <a:pathLst>
              <a:path w="522604" h="511175">
                <a:moveTo>
                  <a:pt x="261023" y="510717"/>
                </a:moveTo>
                <a:lnTo>
                  <a:pt x="214075" y="506603"/>
                </a:lnTo>
                <a:lnTo>
                  <a:pt x="169890" y="494739"/>
                </a:lnTo>
                <a:lnTo>
                  <a:pt x="129206" y="475845"/>
                </a:lnTo>
                <a:lnTo>
                  <a:pt x="92763" y="450640"/>
                </a:lnTo>
                <a:lnTo>
                  <a:pt x="61297" y="419843"/>
                </a:lnTo>
                <a:lnTo>
                  <a:pt x="35550" y="384173"/>
                </a:lnTo>
                <a:lnTo>
                  <a:pt x="16258" y="344349"/>
                </a:lnTo>
                <a:lnTo>
                  <a:pt x="4162" y="301091"/>
                </a:lnTo>
                <a:lnTo>
                  <a:pt x="0" y="255117"/>
                </a:lnTo>
                <a:lnTo>
                  <a:pt x="4162" y="209287"/>
                </a:lnTo>
                <a:lnTo>
                  <a:pt x="16258" y="166141"/>
                </a:lnTo>
                <a:lnTo>
                  <a:pt x="35550" y="126401"/>
                </a:lnTo>
                <a:lnTo>
                  <a:pt x="61297" y="90791"/>
                </a:lnTo>
                <a:lnTo>
                  <a:pt x="92763" y="60035"/>
                </a:lnTo>
                <a:lnTo>
                  <a:pt x="129206" y="34854"/>
                </a:lnTo>
                <a:lnTo>
                  <a:pt x="169890" y="15972"/>
                </a:lnTo>
                <a:lnTo>
                  <a:pt x="214075" y="4113"/>
                </a:lnTo>
                <a:lnTo>
                  <a:pt x="261023" y="0"/>
                </a:lnTo>
                <a:lnTo>
                  <a:pt x="307966" y="4114"/>
                </a:lnTo>
                <a:lnTo>
                  <a:pt x="352150" y="15975"/>
                </a:lnTo>
                <a:lnTo>
                  <a:pt x="392835" y="34863"/>
                </a:lnTo>
                <a:lnTo>
                  <a:pt x="429286" y="60056"/>
                </a:lnTo>
                <a:lnTo>
                  <a:pt x="460762" y="90833"/>
                </a:lnTo>
                <a:lnTo>
                  <a:pt x="486529" y="126473"/>
                </a:lnTo>
                <a:lnTo>
                  <a:pt x="505846" y="166254"/>
                </a:lnTo>
                <a:lnTo>
                  <a:pt x="517978" y="209457"/>
                </a:lnTo>
                <a:lnTo>
                  <a:pt x="522185" y="255358"/>
                </a:lnTo>
                <a:lnTo>
                  <a:pt x="517978" y="301260"/>
                </a:lnTo>
                <a:lnTo>
                  <a:pt x="505846" y="344462"/>
                </a:lnTo>
                <a:lnTo>
                  <a:pt x="486529" y="384244"/>
                </a:lnTo>
                <a:lnTo>
                  <a:pt x="460762" y="419884"/>
                </a:lnTo>
                <a:lnTo>
                  <a:pt x="429286" y="450661"/>
                </a:lnTo>
                <a:lnTo>
                  <a:pt x="392835" y="475854"/>
                </a:lnTo>
                <a:lnTo>
                  <a:pt x="352150" y="494742"/>
                </a:lnTo>
                <a:lnTo>
                  <a:pt x="307966" y="506603"/>
                </a:lnTo>
                <a:lnTo>
                  <a:pt x="261023" y="510717"/>
                </a:lnTo>
                <a:close/>
              </a:path>
            </a:pathLst>
          </a:custGeom>
          <a:solidFill>
            <a:srgbClr val="D9D9D9"/>
          </a:solidFill>
        </p:spPr>
        <p:txBody>
          <a:bodyPr wrap="square" lIns="0" tIns="0" rIns="0" bIns="0" rtlCol="0"/>
          <a:lstStyle/>
          <a:p/>
        </p:txBody>
      </p:sp>
      <p:sp>
        <p:nvSpPr>
          <p:cNvPr id="9" name="object 9"/>
          <p:cNvSpPr/>
          <p:nvPr/>
        </p:nvSpPr>
        <p:spPr>
          <a:xfrm>
            <a:off x="2098548" y="1788020"/>
            <a:ext cx="521970" cy="511175"/>
          </a:xfrm>
          <a:custGeom>
            <a:avLst/>
            <a:gdLst/>
            <a:ahLst/>
            <a:cxnLst/>
            <a:rect l="l" t="t" r="r" b="b"/>
            <a:pathLst>
              <a:path w="521969" h="511175">
                <a:moveTo>
                  <a:pt x="260667" y="510730"/>
                </a:moveTo>
                <a:lnTo>
                  <a:pt x="213719" y="506615"/>
                </a:lnTo>
                <a:lnTo>
                  <a:pt x="169531" y="494753"/>
                </a:lnTo>
                <a:lnTo>
                  <a:pt x="128848" y="475863"/>
                </a:lnTo>
                <a:lnTo>
                  <a:pt x="92411" y="450668"/>
                </a:lnTo>
                <a:lnTo>
                  <a:pt x="60965" y="419889"/>
                </a:lnTo>
                <a:lnTo>
                  <a:pt x="35299" y="384338"/>
                </a:lnTo>
                <a:lnTo>
                  <a:pt x="16070" y="344607"/>
                </a:lnTo>
                <a:lnTo>
                  <a:pt x="4056" y="301475"/>
                </a:lnTo>
                <a:lnTo>
                  <a:pt x="0" y="255663"/>
                </a:lnTo>
                <a:lnTo>
                  <a:pt x="4056" y="209674"/>
                </a:lnTo>
                <a:lnTo>
                  <a:pt x="16070" y="166403"/>
                </a:lnTo>
                <a:lnTo>
                  <a:pt x="35299" y="126569"/>
                </a:lnTo>
                <a:lnTo>
                  <a:pt x="61003" y="90890"/>
                </a:lnTo>
                <a:lnTo>
                  <a:pt x="92477" y="60060"/>
                </a:lnTo>
                <a:lnTo>
                  <a:pt x="128888" y="34866"/>
                </a:lnTo>
                <a:lnTo>
                  <a:pt x="169551" y="15977"/>
                </a:lnTo>
                <a:lnTo>
                  <a:pt x="213725" y="4114"/>
                </a:lnTo>
                <a:lnTo>
                  <a:pt x="260667" y="0"/>
                </a:lnTo>
                <a:lnTo>
                  <a:pt x="307612" y="4114"/>
                </a:lnTo>
                <a:lnTo>
                  <a:pt x="351801" y="15980"/>
                </a:lnTo>
                <a:lnTo>
                  <a:pt x="392496" y="34877"/>
                </a:lnTo>
                <a:lnTo>
                  <a:pt x="428957" y="60087"/>
                </a:lnTo>
                <a:lnTo>
                  <a:pt x="460445" y="90890"/>
                </a:lnTo>
                <a:lnTo>
                  <a:pt x="486173" y="126478"/>
                </a:lnTo>
                <a:lnTo>
                  <a:pt x="505491" y="166259"/>
                </a:lnTo>
                <a:lnTo>
                  <a:pt x="517622" y="209460"/>
                </a:lnTo>
                <a:lnTo>
                  <a:pt x="521830" y="255358"/>
                </a:lnTo>
                <a:lnTo>
                  <a:pt x="517622" y="301261"/>
                </a:lnTo>
                <a:lnTo>
                  <a:pt x="505491" y="344464"/>
                </a:lnTo>
                <a:lnTo>
                  <a:pt x="486173" y="384247"/>
                </a:lnTo>
                <a:lnTo>
                  <a:pt x="460353" y="419942"/>
                </a:lnTo>
                <a:lnTo>
                  <a:pt x="428891" y="450695"/>
                </a:lnTo>
                <a:lnTo>
                  <a:pt x="392456" y="475875"/>
                </a:lnTo>
                <a:lnTo>
                  <a:pt x="351782" y="494756"/>
                </a:lnTo>
                <a:lnTo>
                  <a:pt x="307606" y="506616"/>
                </a:lnTo>
                <a:lnTo>
                  <a:pt x="260667" y="510730"/>
                </a:lnTo>
                <a:close/>
              </a:path>
            </a:pathLst>
          </a:custGeom>
          <a:solidFill>
            <a:srgbClr val="A6A6A6"/>
          </a:solidFill>
        </p:spPr>
        <p:txBody>
          <a:bodyPr wrap="square" lIns="0" tIns="0" rIns="0" bIns="0" rtlCol="0"/>
          <a:lstStyle/>
          <a:p/>
        </p:txBody>
      </p:sp>
      <p:sp>
        <p:nvSpPr>
          <p:cNvPr id="10" name="object 10"/>
          <p:cNvSpPr txBox="1"/>
          <p:nvPr/>
        </p:nvSpPr>
        <p:spPr>
          <a:xfrm>
            <a:off x="2243112" y="1760588"/>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2</a:t>
            </a:r>
            <a:endParaRPr sz="3200">
              <a:latin typeface="Calibri" panose="020F0502020204030204"/>
              <a:cs typeface="Calibri" panose="020F0502020204030204"/>
            </a:endParaRPr>
          </a:p>
        </p:txBody>
      </p:sp>
      <p:sp>
        <p:nvSpPr>
          <p:cNvPr id="11" name="object 11"/>
          <p:cNvSpPr/>
          <p:nvPr/>
        </p:nvSpPr>
        <p:spPr>
          <a:xfrm>
            <a:off x="2394204" y="2441448"/>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12" name="object 12"/>
          <p:cNvSpPr/>
          <p:nvPr/>
        </p:nvSpPr>
        <p:spPr>
          <a:xfrm>
            <a:off x="8916923" y="2441867"/>
            <a:ext cx="522605" cy="511175"/>
          </a:xfrm>
          <a:custGeom>
            <a:avLst/>
            <a:gdLst/>
            <a:ahLst/>
            <a:cxnLst/>
            <a:rect l="l" t="t" r="r" b="b"/>
            <a:pathLst>
              <a:path w="522604" h="511175">
                <a:moveTo>
                  <a:pt x="261023" y="510717"/>
                </a:moveTo>
                <a:lnTo>
                  <a:pt x="214074" y="506603"/>
                </a:lnTo>
                <a:lnTo>
                  <a:pt x="169884" y="494742"/>
                </a:lnTo>
                <a:lnTo>
                  <a:pt x="129193" y="475854"/>
                </a:lnTo>
                <a:lnTo>
                  <a:pt x="92740" y="450661"/>
                </a:lnTo>
                <a:lnTo>
                  <a:pt x="61266" y="419884"/>
                </a:lnTo>
                <a:lnTo>
                  <a:pt x="35550" y="384319"/>
                </a:lnTo>
                <a:lnTo>
                  <a:pt x="16258" y="344582"/>
                </a:lnTo>
                <a:lnTo>
                  <a:pt x="4162" y="301439"/>
                </a:lnTo>
                <a:lnTo>
                  <a:pt x="0" y="255612"/>
                </a:lnTo>
                <a:lnTo>
                  <a:pt x="4162" y="209638"/>
                </a:lnTo>
                <a:lnTo>
                  <a:pt x="16258" y="166379"/>
                </a:lnTo>
                <a:lnTo>
                  <a:pt x="35550" y="126554"/>
                </a:lnTo>
                <a:lnTo>
                  <a:pt x="61342" y="90838"/>
                </a:lnTo>
                <a:lnTo>
                  <a:pt x="92795" y="60060"/>
                </a:lnTo>
                <a:lnTo>
                  <a:pt x="129227" y="34866"/>
                </a:lnTo>
                <a:lnTo>
                  <a:pt x="169901" y="15977"/>
                </a:lnTo>
                <a:lnTo>
                  <a:pt x="214079" y="4114"/>
                </a:lnTo>
                <a:lnTo>
                  <a:pt x="261023" y="0"/>
                </a:lnTo>
                <a:lnTo>
                  <a:pt x="307968" y="4114"/>
                </a:lnTo>
                <a:lnTo>
                  <a:pt x="352156" y="15979"/>
                </a:lnTo>
                <a:lnTo>
                  <a:pt x="392849" y="34875"/>
                </a:lnTo>
                <a:lnTo>
                  <a:pt x="429308" y="60082"/>
                </a:lnTo>
                <a:lnTo>
                  <a:pt x="460794" y="90882"/>
                </a:lnTo>
                <a:lnTo>
                  <a:pt x="486529" y="126478"/>
                </a:lnTo>
                <a:lnTo>
                  <a:pt x="505846" y="166259"/>
                </a:lnTo>
                <a:lnTo>
                  <a:pt x="517978" y="209460"/>
                </a:lnTo>
                <a:lnTo>
                  <a:pt x="522185" y="255358"/>
                </a:lnTo>
                <a:lnTo>
                  <a:pt x="517978" y="301260"/>
                </a:lnTo>
                <a:lnTo>
                  <a:pt x="505846" y="344462"/>
                </a:lnTo>
                <a:lnTo>
                  <a:pt x="486529" y="384244"/>
                </a:lnTo>
                <a:lnTo>
                  <a:pt x="460718" y="419928"/>
                </a:lnTo>
                <a:lnTo>
                  <a:pt x="429253" y="450683"/>
                </a:lnTo>
                <a:lnTo>
                  <a:pt x="392815" y="475863"/>
                </a:lnTo>
                <a:lnTo>
                  <a:pt x="352139" y="494744"/>
                </a:lnTo>
                <a:lnTo>
                  <a:pt x="307962" y="506604"/>
                </a:lnTo>
                <a:lnTo>
                  <a:pt x="261023" y="510717"/>
                </a:lnTo>
                <a:close/>
              </a:path>
            </a:pathLst>
          </a:custGeom>
          <a:solidFill>
            <a:srgbClr val="D9D9D9"/>
          </a:solidFill>
        </p:spPr>
        <p:txBody>
          <a:bodyPr wrap="square" lIns="0" tIns="0" rIns="0" bIns="0" rtlCol="0"/>
          <a:lstStyle/>
          <a:p/>
        </p:txBody>
      </p:sp>
      <p:sp>
        <p:nvSpPr>
          <p:cNvPr id="13" name="object 13"/>
          <p:cNvSpPr/>
          <p:nvPr/>
        </p:nvSpPr>
        <p:spPr>
          <a:xfrm>
            <a:off x="2098548" y="2441333"/>
            <a:ext cx="521970" cy="511175"/>
          </a:xfrm>
          <a:custGeom>
            <a:avLst/>
            <a:gdLst/>
            <a:ahLst/>
            <a:cxnLst/>
            <a:rect l="l" t="t" r="r" b="b"/>
            <a:pathLst>
              <a:path w="521969" h="511175">
                <a:moveTo>
                  <a:pt x="260667" y="510717"/>
                </a:moveTo>
                <a:lnTo>
                  <a:pt x="213720" y="506602"/>
                </a:lnTo>
                <a:lnTo>
                  <a:pt x="169539" y="494732"/>
                </a:lnTo>
                <a:lnTo>
                  <a:pt x="128864" y="475824"/>
                </a:lnTo>
                <a:lnTo>
                  <a:pt x="92438" y="450592"/>
                </a:lnTo>
                <a:lnTo>
                  <a:pt x="61003" y="419752"/>
                </a:lnTo>
                <a:lnTo>
                  <a:pt x="35299" y="384020"/>
                </a:lnTo>
                <a:lnTo>
                  <a:pt x="16070" y="344111"/>
                </a:lnTo>
                <a:lnTo>
                  <a:pt x="4056" y="300740"/>
                </a:lnTo>
                <a:lnTo>
                  <a:pt x="0" y="254622"/>
                </a:lnTo>
                <a:lnTo>
                  <a:pt x="4056" y="208939"/>
                </a:lnTo>
                <a:lnTo>
                  <a:pt x="16070" y="165908"/>
                </a:lnTo>
                <a:lnTo>
                  <a:pt x="35299" y="126254"/>
                </a:lnTo>
                <a:lnTo>
                  <a:pt x="61003" y="90707"/>
                </a:lnTo>
                <a:lnTo>
                  <a:pt x="92438" y="59991"/>
                </a:lnTo>
                <a:lnTo>
                  <a:pt x="128864" y="34836"/>
                </a:lnTo>
                <a:lnTo>
                  <a:pt x="169539" y="15967"/>
                </a:lnTo>
                <a:lnTo>
                  <a:pt x="213720" y="4113"/>
                </a:lnTo>
                <a:lnTo>
                  <a:pt x="260667" y="0"/>
                </a:lnTo>
                <a:lnTo>
                  <a:pt x="307611" y="4114"/>
                </a:lnTo>
                <a:lnTo>
                  <a:pt x="351794" y="15975"/>
                </a:lnTo>
                <a:lnTo>
                  <a:pt x="392480" y="34863"/>
                </a:lnTo>
                <a:lnTo>
                  <a:pt x="428930" y="60056"/>
                </a:lnTo>
                <a:lnTo>
                  <a:pt x="460407" y="90833"/>
                </a:lnTo>
                <a:lnTo>
                  <a:pt x="486173" y="126473"/>
                </a:lnTo>
                <a:lnTo>
                  <a:pt x="505491" y="166254"/>
                </a:lnTo>
                <a:lnTo>
                  <a:pt x="517622" y="209457"/>
                </a:lnTo>
                <a:lnTo>
                  <a:pt x="521830" y="255358"/>
                </a:lnTo>
                <a:lnTo>
                  <a:pt x="517622" y="301257"/>
                </a:lnTo>
                <a:lnTo>
                  <a:pt x="505491" y="344457"/>
                </a:lnTo>
                <a:lnTo>
                  <a:pt x="486173" y="384238"/>
                </a:lnTo>
                <a:lnTo>
                  <a:pt x="460407" y="419879"/>
                </a:lnTo>
                <a:lnTo>
                  <a:pt x="428930" y="450657"/>
                </a:lnTo>
                <a:lnTo>
                  <a:pt x="392480" y="475851"/>
                </a:lnTo>
                <a:lnTo>
                  <a:pt x="351794" y="494740"/>
                </a:lnTo>
                <a:lnTo>
                  <a:pt x="307611" y="506603"/>
                </a:lnTo>
                <a:lnTo>
                  <a:pt x="260667" y="510717"/>
                </a:lnTo>
                <a:close/>
              </a:path>
            </a:pathLst>
          </a:custGeom>
          <a:solidFill>
            <a:srgbClr val="A6A6A6"/>
          </a:solidFill>
        </p:spPr>
        <p:txBody>
          <a:bodyPr wrap="square" lIns="0" tIns="0" rIns="0" bIns="0" rtlCol="0"/>
          <a:lstStyle/>
          <a:p/>
        </p:txBody>
      </p:sp>
      <p:sp>
        <p:nvSpPr>
          <p:cNvPr id="14" name="object 14"/>
          <p:cNvSpPr txBox="1"/>
          <p:nvPr/>
        </p:nvSpPr>
        <p:spPr>
          <a:xfrm>
            <a:off x="2243112" y="2413888"/>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3</a:t>
            </a:r>
            <a:endParaRPr sz="3200">
              <a:latin typeface="Calibri" panose="020F0502020204030204"/>
              <a:cs typeface="Calibri" panose="020F0502020204030204"/>
            </a:endParaRPr>
          </a:p>
        </p:txBody>
      </p:sp>
      <p:sp>
        <p:nvSpPr>
          <p:cNvPr id="15" name="object 15"/>
          <p:cNvSpPr/>
          <p:nvPr/>
        </p:nvSpPr>
        <p:spPr>
          <a:xfrm>
            <a:off x="2394204" y="3095244"/>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16" name="object 16"/>
          <p:cNvSpPr/>
          <p:nvPr/>
        </p:nvSpPr>
        <p:spPr>
          <a:xfrm>
            <a:off x="8916923" y="3095167"/>
            <a:ext cx="522605" cy="511175"/>
          </a:xfrm>
          <a:custGeom>
            <a:avLst/>
            <a:gdLst/>
            <a:ahLst/>
            <a:cxnLst/>
            <a:rect l="l" t="t" r="r" b="b"/>
            <a:pathLst>
              <a:path w="522604" h="511175">
                <a:moveTo>
                  <a:pt x="261099" y="510794"/>
                </a:moveTo>
                <a:lnTo>
                  <a:pt x="214148" y="506679"/>
                </a:lnTo>
                <a:lnTo>
                  <a:pt x="169949" y="494816"/>
                </a:lnTo>
                <a:lnTo>
                  <a:pt x="129242" y="475926"/>
                </a:lnTo>
                <a:lnTo>
                  <a:pt x="92832" y="450792"/>
                </a:lnTo>
                <a:lnTo>
                  <a:pt x="61360" y="420070"/>
                </a:lnTo>
                <a:lnTo>
                  <a:pt x="35603" y="384514"/>
                </a:lnTo>
                <a:lnTo>
                  <a:pt x="16299" y="344850"/>
                </a:lnTo>
                <a:lnTo>
                  <a:pt x="4185" y="301806"/>
                </a:lnTo>
                <a:lnTo>
                  <a:pt x="0" y="256108"/>
                </a:lnTo>
                <a:lnTo>
                  <a:pt x="4185" y="209990"/>
                </a:lnTo>
                <a:lnTo>
                  <a:pt x="16299" y="166617"/>
                </a:lnTo>
                <a:lnTo>
                  <a:pt x="35603" y="126706"/>
                </a:lnTo>
                <a:lnTo>
                  <a:pt x="61360" y="90972"/>
                </a:lnTo>
                <a:lnTo>
                  <a:pt x="92832" y="60130"/>
                </a:lnTo>
                <a:lnTo>
                  <a:pt x="129337" y="34870"/>
                </a:lnTo>
                <a:lnTo>
                  <a:pt x="169995" y="15978"/>
                </a:lnTo>
                <a:lnTo>
                  <a:pt x="214163" y="4114"/>
                </a:lnTo>
                <a:lnTo>
                  <a:pt x="261099" y="0"/>
                </a:lnTo>
                <a:lnTo>
                  <a:pt x="308047" y="4115"/>
                </a:lnTo>
                <a:lnTo>
                  <a:pt x="352244" y="15986"/>
                </a:lnTo>
                <a:lnTo>
                  <a:pt x="392953" y="34896"/>
                </a:lnTo>
                <a:lnTo>
                  <a:pt x="429367" y="60068"/>
                </a:lnTo>
                <a:lnTo>
                  <a:pt x="460846" y="90850"/>
                </a:lnTo>
                <a:lnTo>
                  <a:pt x="486614" y="126495"/>
                </a:lnTo>
                <a:lnTo>
                  <a:pt x="505933" y="166282"/>
                </a:lnTo>
                <a:lnTo>
                  <a:pt x="518066" y="209490"/>
                </a:lnTo>
                <a:lnTo>
                  <a:pt x="522274" y="255397"/>
                </a:lnTo>
                <a:lnTo>
                  <a:pt x="518066" y="301306"/>
                </a:lnTo>
                <a:lnTo>
                  <a:pt x="505933" y="344516"/>
                </a:lnTo>
                <a:lnTo>
                  <a:pt x="486614" y="384303"/>
                </a:lnTo>
                <a:lnTo>
                  <a:pt x="460846" y="419948"/>
                </a:lnTo>
                <a:lnTo>
                  <a:pt x="429367" y="450730"/>
                </a:lnTo>
                <a:lnTo>
                  <a:pt x="392858" y="475952"/>
                </a:lnTo>
                <a:lnTo>
                  <a:pt x="352199" y="494824"/>
                </a:lnTo>
                <a:lnTo>
                  <a:pt x="308032" y="506680"/>
                </a:lnTo>
                <a:lnTo>
                  <a:pt x="261099" y="510794"/>
                </a:lnTo>
                <a:close/>
              </a:path>
            </a:pathLst>
          </a:custGeom>
          <a:solidFill>
            <a:srgbClr val="D9D9D9"/>
          </a:solidFill>
        </p:spPr>
        <p:txBody>
          <a:bodyPr wrap="square" lIns="0" tIns="0" rIns="0" bIns="0" rtlCol="0"/>
          <a:lstStyle/>
          <a:p/>
        </p:txBody>
      </p:sp>
      <p:sp>
        <p:nvSpPr>
          <p:cNvPr id="17" name="object 17"/>
          <p:cNvSpPr/>
          <p:nvPr/>
        </p:nvSpPr>
        <p:spPr>
          <a:xfrm>
            <a:off x="2098548" y="3094634"/>
            <a:ext cx="521970" cy="511175"/>
          </a:xfrm>
          <a:custGeom>
            <a:avLst/>
            <a:gdLst/>
            <a:ahLst/>
            <a:cxnLst/>
            <a:rect l="l" t="t" r="r" b="b"/>
            <a:pathLst>
              <a:path w="521969" h="511175">
                <a:moveTo>
                  <a:pt x="260667" y="510781"/>
                </a:moveTo>
                <a:lnTo>
                  <a:pt x="213720" y="506666"/>
                </a:lnTo>
                <a:lnTo>
                  <a:pt x="169539" y="494800"/>
                </a:lnTo>
                <a:lnTo>
                  <a:pt x="128864" y="475903"/>
                </a:lnTo>
                <a:lnTo>
                  <a:pt x="92438" y="450694"/>
                </a:lnTo>
                <a:lnTo>
                  <a:pt x="61003" y="419890"/>
                </a:lnTo>
                <a:lnTo>
                  <a:pt x="35299" y="384212"/>
                </a:lnTo>
                <a:lnTo>
                  <a:pt x="16070" y="344377"/>
                </a:lnTo>
                <a:lnTo>
                  <a:pt x="4056" y="301106"/>
                </a:lnTo>
                <a:lnTo>
                  <a:pt x="0" y="255117"/>
                </a:lnTo>
                <a:lnTo>
                  <a:pt x="4056" y="209290"/>
                </a:lnTo>
                <a:lnTo>
                  <a:pt x="16070" y="166146"/>
                </a:lnTo>
                <a:lnTo>
                  <a:pt x="35299" y="126407"/>
                </a:lnTo>
                <a:lnTo>
                  <a:pt x="61003" y="90797"/>
                </a:lnTo>
                <a:lnTo>
                  <a:pt x="92438" y="60039"/>
                </a:lnTo>
                <a:lnTo>
                  <a:pt x="128864" y="34857"/>
                </a:lnTo>
                <a:lnTo>
                  <a:pt x="169539" y="15974"/>
                </a:lnTo>
                <a:lnTo>
                  <a:pt x="213720" y="4114"/>
                </a:lnTo>
                <a:lnTo>
                  <a:pt x="260667" y="0"/>
                </a:lnTo>
                <a:lnTo>
                  <a:pt x="307611" y="4114"/>
                </a:lnTo>
                <a:lnTo>
                  <a:pt x="351796" y="15977"/>
                </a:lnTo>
                <a:lnTo>
                  <a:pt x="392483" y="34867"/>
                </a:lnTo>
                <a:lnTo>
                  <a:pt x="428935" y="60062"/>
                </a:lnTo>
                <a:lnTo>
                  <a:pt x="460414" y="90842"/>
                </a:lnTo>
                <a:lnTo>
                  <a:pt x="486182" y="126486"/>
                </a:lnTo>
                <a:lnTo>
                  <a:pt x="505502" y="166271"/>
                </a:lnTo>
                <a:lnTo>
                  <a:pt x="517634" y="209478"/>
                </a:lnTo>
                <a:lnTo>
                  <a:pt x="521843" y="255384"/>
                </a:lnTo>
                <a:lnTo>
                  <a:pt x="517634" y="301294"/>
                </a:lnTo>
                <a:lnTo>
                  <a:pt x="505502" y="344503"/>
                </a:lnTo>
                <a:lnTo>
                  <a:pt x="486182" y="384291"/>
                </a:lnTo>
                <a:lnTo>
                  <a:pt x="460414" y="419936"/>
                </a:lnTo>
                <a:lnTo>
                  <a:pt x="428935" y="450717"/>
                </a:lnTo>
                <a:lnTo>
                  <a:pt x="392483" y="475913"/>
                </a:lnTo>
                <a:lnTo>
                  <a:pt x="351796" y="494803"/>
                </a:lnTo>
                <a:lnTo>
                  <a:pt x="307611" y="506666"/>
                </a:lnTo>
                <a:lnTo>
                  <a:pt x="260667" y="510781"/>
                </a:lnTo>
                <a:close/>
              </a:path>
            </a:pathLst>
          </a:custGeom>
          <a:solidFill>
            <a:srgbClr val="A6A6A6"/>
          </a:solidFill>
        </p:spPr>
        <p:txBody>
          <a:bodyPr wrap="square" lIns="0" tIns="0" rIns="0" bIns="0" rtlCol="0"/>
          <a:lstStyle/>
          <a:p/>
        </p:txBody>
      </p:sp>
      <p:sp>
        <p:nvSpPr>
          <p:cNvPr id="18" name="object 18"/>
          <p:cNvSpPr txBox="1"/>
          <p:nvPr/>
        </p:nvSpPr>
        <p:spPr>
          <a:xfrm>
            <a:off x="2243112" y="3067202"/>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4</a:t>
            </a:r>
            <a:endParaRPr sz="3200">
              <a:latin typeface="Calibri" panose="020F0502020204030204"/>
              <a:cs typeface="Calibri" panose="020F0502020204030204"/>
            </a:endParaRPr>
          </a:p>
        </p:txBody>
      </p:sp>
      <p:sp>
        <p:nvSpPr>
          <p:cNvPr id="19" name="object 19"/>
          <p:cNvSpPr/>
          <p:nvPr/>
        </p:nvSpPr>
        <p:spPr>
          <a:xfrm>
            <a:off x="2394204" y="3749040"/>
            <a:ext cx="6791325" cy="509270"/>
          </a:xfrm>
          <a:custGeom>
            <a:avLst/>
            <a:gdLst/>
            <a:ahLst/>
            <a:cxnLst/>
            <a:rect l="l" t="t" r="r" b="b"/>
            <a:pathLst>
              <a:path w="6791325" h="509270">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20" name="object 20"/>
          <p:cNvSpPr/>
          <p:nvPr/>
        </p:nvSpPr>
        <p:spPr>
          <a:xfrm>
            <a:off x="8916923" y="3748468"/>
            <a:ext cx="522605" cy="511175"/>
          </a:xfrm>
          <a:custGeom>
            <a:avLst/>
            <a:gdLst/>
            <a:ahLst/>
            <a:cxnLst/>
            <a:rect l="l" t="t" r="r" b="b"/>
            <a:pathLst>
              <a:path w="522604" h="511175">
                <a:moveTo>
                  <a:pt x="261023" y="510730"/>
                </a:moveTo>
                <a:lnTo>
                  <a:pt x="214075" y="506615"/>
                </a:lnTo>
                <a:lnTo>
                  <a:pt x="169890" y="494750"/>
                </a:lnTo>
                <a:lnTo>
                  <a:pt x="129206" y="475853"/>
                </a:lnTo>
                <a:lnTo>
                  <a:pt x="92763" y="450644"/>
                </a:lnTo>
                <a:lnTo>
                  <a:pt x="61297" y="419841"/>
                </a:lnTo>
                <a:lnTo>
                  <a:pt x="35550" y="384165"/>
                </a:lnTo>
                <a:lnTo>
                  <a:pt x="16258" y="344333"/>
                </a:lnTo>
                <a:lnTo>
                  <a:pt x="4162" y="301064"/>
                </a:lnTo>
                <a:lnTo>
                  <a:pt x="0" y="255079"/>
                </a:lnTo>
                <a:lnTo>
                  <a:pt x="4162" y="209264"/>
                </a:lnTo>
                <a:lnTo>
                  <a:pt x="16258" y="166128"/>
                </a:lnTo>
                <a:lnTo>
                  <a:pt x="35550" y="126396"/>
                </a:lnTo>
                <a:lnTo>
                  <a:pt x="61297" y="90790"/>
                </a:lnTo>
                <a:lnTo>
                  <a:pt x="92763" y="60035"/>
                </a:lnTo>
                <a:lnTo>
                  <a:pt x="129206" y="34855"/>
                </a:lnTo>
                <a:lnTo>
                  <a:pt x="169890" y="15973"/>
                </a:lnTo>
                <a:lnTo>
                  <a:pt x="214075" y="4114"/>
                </a:lnTo>
                <a:lnTo>
                  <a:pt x="261023" y="0"/>
                </a:lnTo>
                <a:lnTo>
                  <a:pt x="307966" y="4114"/>
                </a:lnTo>
                <a:lnTo>
                  <a:pt x="352150" y="15977"/>
                </a:lnTo>
                <a:lnTo>
                  <a:pt x="392835" y="34866"/>
                </a:lnTo>
                <a:lnTo>
                  <a:pt x="429286" y="60060"/>
                </a:lnTo>
                <a:lnTo>
                  <a:pt x="460762" y="90838"/>
                </a:lnTo>
                <a:lnTo>
                  <a:pt x="486529" y="126478"/>
                </a:lnTo>
                <a:lnTo>
                  <a:pt x="505846" y="166259"/>
                </a:lnTo>
                <a:lnTo>
                  <a:pt x="517978" y="209460"/>
                </a:lnTo>
                <a:lnTo>
                  <a:pt x="522185" y="255358"/>
                </a:lnTo>
                <a:lnTo>
                  <a:pt x="517978" y="301261"/>
                </a:lnTo>
                <a:lnTo>
                  <a:pt x="505846" y="344464"/>
                </a:lnTo>
                <a:lnTo>
                  <a:pt x="486529" y="384247"/>
                </a:lnTo>
                <a:lnTo>
                  <a:pt x="460762" y="419889"/>
                </a:lnTo>
                <a:lnTo>
                  <a:pt x="429286" y="450668"/>
                </a:lnTo>
                <a:lnTo>
                  <a:pt x="392835" y="475863"/>
                </a:lnTo>
                <a:lnTo>
                  <a:pt x="352150" y="494753"/>
                </a:lnTo>
                <a:lnTo>
                  <a:pt x="307966" y="506615"/>
                </a:lnTo>
                <a:lnTo>
                  <a:pt x="261023" y="510730"/>
                </a:lnTo>
                <a:close/>
              </a:path>
            </a:pathLst>
          </a:custGeom>
          <a:solidFill>
            <a:srgbClr val="D9D9D9"/>
          </a:solidFill>
        </p:spPr>
        <p:txBody>
          <a:bodyPr wrap="square" lIns="0" tIns="0" rIns="0" bIns="0" rtlCol="0"/>
          <a:lstStyle/>
          <a:p/>
        </p:txBody>
      </p:sp>
      <p:sp>
        <p:nvSpPr>
          <p:cNvPr id="21" name="object 21"/>
          <p:cNvSpPr/>
          <p:nvPr/>
        </p:nvSpPr>
        <p:spPr>
          <a:xfrm>
            <a:off x="2098548" y="3747935"/>
            <a:ext cx="521970" cy="511175"/>
          </a:xfrm>
          <a:custGeom>
            <a:avLst/>
            <a:gdLst/>
            <a:ahLst/>
            <a:cxnLst/>
            <a:rect l="l" t="t" r="r" b="b"/>
            <a:pathLst>
              <a:path w="521969" h="511175">
                <a:moveTo>
                  <a:pt x="260667" y="510717"/>
                </a:moveTo>
                <a:lnTo>
                  <a:pt x="213719" y="506603"/>
                </a:lnTo>
                <a:lnTo>
                  <a:pt x="169533" y="494742"/>
                </a:lnTo>
                <a:lnTo>
                  <a:pt x="128850" y="475854"/>
                </a:lnTo>
                <a:lnTo>
                  <a:pt x="92415" y="450661"/>
                </a:lnTo>
                <a:lnTo>
                  <a:pt x="60971" y="419884"/>
                </a:lnTo>
                <a:lnTo>
                  <a:pt x="35299" y="384319"/>
                </a:lnTo>
                <a:lnTo>
                  <a:pt x="16070" y="344582"/>
                </a:lnTo>
                <a:lnTo>
                  <a:pt x="4056" y="301439"/>
                </a:lnTo>
                <a:lnTo>
                  <a:pt x="0" y="255612"/>
                </a:lnTo>
                <a:lnTo>
                  <a:pt x="4056" y="209635"/>
                </a:lnTo>
                <a:lnTo>
                  <a:pt x="16070" y="166374"/>
                </a:lnTo>
                <a:lnTo>
                  <a:pt x="35299" y="126548"/>
                </a:lnTo>
                <a:lnTo>
                  <a:pt x="61047" y="90833"/>
                </a:lnTo>
                <a:lnTo>
                  <a:pt x="92470" y="60056"/>
                </a:lnTo>
                <a:lnTo>
                  <a:pt x="128884" y="34863"/>
                </a:lnTo>
                <a:lnTo>
                  <a:pt x="169549" y="15975"/>
                </a:lnTo>
                <a:lnTo>
                  <a:pt x="213724" y="4114"/>
                </a:lnTo>
                <a:lnTo>
                  <a:pt x="260667" y="0"/>
                </a:lnTo>
                <a:lnTo>
                  <a:pt x="307612" y="4114"/>
                </a:lnTo>
                <a:lnTo>
                  <a:pt x="351800" y="15978"/>
                </a:lnTo>
                <a:lnTo>
                  <a:pt x="392493" y="34872"/>
                </a:lnTo>
                <a:lnTo>
                  <a:pt x="428953" y="60078"/>
                </a:lnTo>
                <a:lnTo>
                  <a:pt x="460438" y="90876"/>
                </a:lnTo>
                <a:lnTo>
                  <a:pt x="486173" y="126473"/>
                </a:lnTo>
                <a:lnTo>
                  <a:pt x="505491" y="166254"/>
                </a:lnTo>
                <a:lnTo>
                  <a:pt x="517622" y="209457"/>
                </a:lnTo>
                <a:lnTo>
                  <a:pt x="521830" y="255358"/>
                </a:lnTo>
                <a:lnTo>
                  <a:pt x="517622" y="301260"/>
                </a:lnTo>
                <a:lnTo>
                  <a:pt x="505491" y="344462"/>
                </a:lnTo>
                <a:lnTo>
                  <a:pt x="486173" y="384244"/>
                </a:lnTo>
                <a:lnTo>
                  <a:pt x="460362" y="419928"/>
                </a:lnTo>
                <a:lnTo>
                  <a:pt x="428898" y="450683"/>
                </a:lnTo>
                <a:lnTo>
                  <a:pt x="392460" y="475863"/>
                </a:lnTo>
                <a:lnTo>
                  <a:pt x="351784" y="494744"/>
                </a:lnTo>
                <a:lnTo>
                  <a:pt x="307607" y="506604"/>
                </a:lnTo>
                <a:lnTo>
                  <a:pt x="260667" y="510717"/>
                </a:lnTo>
                <a:close/>
              </a:path>
            </a:pathLst>
          </a:custGeom>
          <a:solidFill>
            <a:srgbClr val="C00000"/>
          </a:solidFill>
        </p:spPr>
        <p:txBody>
          <a:bodyPr wrap="square" lIns="0" tIns="0" rIns="0" bIns="0" rtlCol="0"/>
          <a:lstStyle/>
          <a:p/>
        </p:txBody>
      </p:sp>
      <p:sp>
        <p:nvSpPr>
          <p:cNvPr id="22" name="object 22"/>
          <p:cNvSpPr txBox="1"/>
          <p:nvPr/>
        </p:nvSpPr>
        <p:spPr>
          <a:xfrm>
            <a:off x="2243112" y="3720490"/>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5</a:t>
            </a:r>
            <a:endParaRPr sz="3200">
              <a:latin typeface="Calibri" panose="020F0502020204030204"/>
              <a:cs typeface="Calibri" panose="020F0502020204030204"/>
            </a:endParaRPr>
          </a:p>
        </p:txBody>
      </p:sp>
      <p:sp>
        <p:nvSpPr>
          <p:cNvPr id="23" name="object 23"/>
          <p:cNvSpPr/>
          <p:nvPr/>
        </p:nvSpPr>
        <p:spPr>
          <a:xfrm>
            <a:off x="2394204" y="4401311"/>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24" name="object 24"/>
          <p:cNvSpPr/>
          <p:nvPr/>
        </p:nvSpPr>
        <p:spPr>
          <a:xfrm>
            <a:off x="8916923" y="4401781"/>
            <a:ext cx="522605" cy="511175"/>
          </a:xfrm>
          <a:custGeom>
            <a:avLst/>
            <a:gdLst/>
            <a:ahLst/>
            <a:cxnLst/>
            <a:rect l="l" t="t" r="r" b="b"/>
            <a:pathLst>
              <a:path w="522604" h="511175">
                <a:moveTo>
                  <a:pt x="261023" y="510717"/>
                </a:moveTo>
                <a:lnTo>
                  <a:pt x="214074" y="506603"/>
                </a:lnTo>
                <a:lnTo>
                  <a:pt x="169886" y="494740"/>
                </a:lnTo>
                <a:lnTo>
                  <a:pt x="129196" y="475851"/>
                </a:lnTo>
                <a:lnTo>
                  <a:pt x="92744" y="450657"/>
                </a:lnTo>
                <a:lnTo>
                  <a:pt x="61272" y="419879"/>
                </a:lnTo>
                <a:lnTo>
                  <a:pt x="35520" y="384238"/>
                </a:lnTo>
                <a:lnTo>
                  <a:pt x="16258" y="344553"/>
                </a:lnTo>
                <a:lnTo>
                  <a:pt x="4162" y="301400"/>
                </a:lnTo>
                <a:lnTo>
                  <a:pt x="0" y="255562"/>
                </a:lnTo>
                <a:lnTo>
                  <a:pt x="4162" y="209599"/>
                </a:lnTo>
                <a:lnTo>
                  <a:pt x="16258" y="166350"/>
                </a:lnTo>
                <a:lnTo>
                  <a:pt x="35550" y="126533"/>
                </a:lnTo>
                <a:lnTo>
                  <a:pt x="61333" y="90833"/>
                </a:lnTo>
                <a:lnTo>
                  <a:pt x="92788" y="60056"/>
                </a:lnTo>
                <a:lnTo>
                  <a:pt x="129223" y="34863"/>
                </a:lnTo>
                <a:lnTo>
                  <a:pt x="169899" y="15975"/>
                </a:lnTo>
                <a:lnTo>
                  <a:pt x="214078" y="4114"/>
                </a:lnTo>
                <a:lnTo>
                  <a:pt x="261023" y="0"/>
                </a:lnTo>
                <a:lnTo>
                  <a:pt x="307967" y="4114"/>
                </a:lnTo>
                <a:lnTo>
                  <a:pt x="352155" y="15977"/>
                </a:lnTo>
                <a:lnTo>
                  <a:pt x="392846" y="34870"/>
                </a:lnTo>
                <a:lnTo>
                  <a:pt x="429304" y="60074"/>
                </a:lnTo>
                <a:lnTo>
                  <a:pt x="460788" y="90868"/>
                </a:lnTo>
                <a:lnTo>
                  <a:pt x="486558" y="126533"/>
                </a:lnTo>
                <a:lnTo>
                  <a:pt x="505846" y="166254"/>
                </a:lnTo>
                <a:lnTo>
                  <a:pt x="517978" y="209457"/>
                </a:lnTo>
                <a:lnTo>
                  <a:pt x="522185" y="255358"/>
                </a:lnTo>
                <a:lnTo>
                  <a:pt x="517978" y="301257"/>
                </a:lnTo>
                <a:lnTo>
                  <a:pt x="505846" y="344457"/>
                </a:lnTo>
                <a:lnTo>
                  <a:pt x="486529" y="384238"/>
                </a:lnTo>
                <a:lnTo>
                  <a:pt x="460727" y="419914"/>
                </a:lnTo>
                <a:lnTo>
                  <a:pt x="429260" y="450675"/>
                </a:lnTo>
                <a:lnTo>
                  <a:pt x="392819" y="475859"/>
                </a:lnTo>
                <a:lnTo>
                  <a:pt x="352142" y="494742"/>
                </a:lnTo>
                <a:lnTo>
                  <a:pt x="307963" y="506603"/>
                </a:lnTo>
                <a:lnTo>
                  <a:pt x="261023" y="510717"/>
                </a:lnTo>
                <a:close/>
              </a:path>
            </a:pathLst>
          </a:custGeom>
          <a:solidFill>
            <a:srgbClr val="D9D9D9"/>
          </a:solidFill>
        </p:spPr>
        <p:txBody>
          <a:bodyPr wrap="square" lIns="0" tIns="0" rIns="0" bIns="0" rtlCol="0"/>
          <a:lstStyle/>
          <a:p/>
        </p:txBody>
      </p:sp>
      <p:sp>
        <p:nvSpPr>
          <p:cNvPr id="25" name="object 25"/>
          <p:cNvSpPr/>
          <p:nvPr/>
        </p:nvSpPr>
        <p:spPr>
          <a:xfrm>
            <a:off x="2098548" y="4401235"/>
            <a:ext cx="521970" cy="511175"/>
          </a:xfrm>
          <a:custGeom>
            <a:avLst/>
            <a:gdLst/>
            <a:ahLst/>
            <a:cxnLst/>
            <a:rect l="l" t="t" r="r" b="b"/>
            <a:pathLst>
              <a:path w="521969" h="511175">
                <a:moveTo>
                  <a:pt x="260667" y="510717"/>
                </a:moveTo>
                <a:lnTo>
                  <a:pt x="213716" y="506603"/>
                </a:lnTo>
                <a:lnTo>
                  <a:pt x="169521" y="494742"/>
                </a:lnTo>
                <a:lnTo>
                  <a:pt x="128824" y="475854"/>
                </a:lnTo>
                <a:lnTo>
                  <a:pt x="92438" y="450727"/>
                </a:lnTo>
                <a:lnTo>
                  <a:pt x="61003" y="420012"/>
                </a:lnTo>
                <a:lnTo>
                  <a:pt x="35299" y="384466"/>
                </a:lnTo>
                <a:lnTo>
                  <a:pt x="16070" y="344815"/>
                </a:lnTo>
                <a:lnTo>
                  <a:pt x="4056" y="301786"/>
                </a:lnTo>
                <a:lnTo>
                  <a:pt x="0" y="256108"/>
                </a:lnTo>
                <a:lnTo>
                  <a:pt x="4056" y="209983"/>
                </a:lnTo>
                <a:lnTo>
                  <a:pt x="16070" y="166607"/>
                </a:lnTo>
                <a:lnTo>
                  <a:pt x="35299" y="126695"/>
                </a:lnTo>
                <a:lnTo>
                  <a:pt x="61003" y="90961"/>
                </a:lnTo>
                <a:lnTo>
                  <a:pt x="92438" y="60122"/>
                </a:lnTo>
                <a:lnTo>
                  <a:pt x="128924" y="34863"/>
                </a:lnTo>
                <a:lnTo>
                  <a:pt x="169569" y="15975"/>
                </a:lnTo>
                <a:lnTo>
                  <a:pt x="213732" y="4114"/>
                </a:lnTo>
                <a:lnTo>
                  <a:pt x="260667" y="0"/>
                </a:lnTo>
                <a:lnTo>
                  <a:pt x="307615" y="4115"/>
                </a:lnTo>
                <a:lnTo>
                  <a:pt x="351812" y="15983"/>
                </a:lnTo>
                <a:lnTo>
                  <a:pt x="392520" y="34891"/>
                </a:lnTo>
                <a:lnTo>
                  <a:pt x="428930" y="60056"/>
                </a:lnTo>
                <a:lnTo>
                  <a:pt x="460407" y="90833"/>
                </a:lnTo>
                <a:lnTo>
                  <a:pt x="486173" y="126473"/>
                </a:lnTo>
                <a:lnTo>
                  <a:pt x="505491" y="166254"/>
                </a:lnTo>
                <a:lnTo>
                  <a:pt x="517622" y="209457"/>
                </a:lnTo>
                <a:lnTo>
                  <a:pt x="521830" y="255358"/>
                </a:lnTo>
                <a:lnTo>
                  <a:pt x="517622" y="301260"/>
                </a:lnTo>
                <a:lnTo>
                  <a:pt x="505491" y="344462"/>
                </a:lnTo>
                <a:lnTo>
                  <a:pt x="486173" y="384244"/>
                </a:lnTo>
                <a:lnTo>
                  <a:pt x="460407" y="419884"/>
                </a:lnTo>
                <a:lnTo>
                  <a:pt x="428930" y="450661"/>
                </a:lnTo>
                <a:lnTo>
                  <a:pt x="392420" y="475882"/>
                </a:lnTo>
                <a:lnTo>
                  <a:pt x="351764" y="494750"/>
                </a:lnTo>
                <a:lnTo>
                  <a:pt x="307599" y="506604"/>
                </a:lnTo>
                <a:lnTo>
                  <a:pt x="260667" y="510717"/>
                </a:lnTo>
                <a:close/>
              </a:path>
            </a:pathLst>
          </a:custGeom>
          <a:solidFill>
            <a:srgbClr val="A6A6A6"/>
          </a:solidFill>
        </p:spPr>
        <p:txBody>
          <a:bodyPr wrap="square" lIns="0" tIns="0" rIns="0" bIns="0" rtlCol="0"/>
          <a:lstStyle/>
          <a:p/>
        </p:txBody>
      </p:sp>
      <p:sp>
        <p:nvSpPr>
          <p:cNvPr id="26" name="object 26"/>
          <p:cNvSpPr txBox="1"/>
          <p:nvPr/>
        </p:nvSpPr>
        <p:spPr>
          <a:xfrm>
            <a:off x="2243112" y="4373791"/>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6</a:t>
            </a:r>
            <a:endParaRPr sz="3200">
              <a:latin typeface="Calibri" panose="020F0502020204030204"/>
              <a:cs typeface="Calibri" panose="020F0502020204030204"/>
            </a:endParaRPr>
          </a:p>
        </p:txBody>
      </p:sp>
      <p:sp>
        <p:nvSpPr>
          <p:cNvPr id="27" name="object 27"/>
          <p:cNvSpPr/>
          <p:nvPr/>
        </p:nvSpPr>
        <p:spPr>
          <a:xfrm>
            <a:off x="2394204" y="5055108"/>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28" name="object 28"/>
          <p:cNvSpPr/>
          <p:nvPr/>
        </p:nvSpPr>
        <p:spPr>
          <a:xfrm>
            <a:off x="8916923" y="5055082"/>
            <a:ext cx="522605" cy="511175"/>
          </a:xfrm>
          <a:custGeom>
            <a:avLst/>
            <a:gdLst/>
            <a:ahLst/>
            <a:cxnLst/>
            <a:rect l="l" t="t" r="r" b="b"/>
            <a:pathLst>
              <a:path w="522604" h="511175">
                <a:moveTo>
                  <a:pt x="261023" y="510717"/>
                </a:moveTo>
                <a:lnTo>
                  <a:pt x="214072" y="506603"/>
                </a:lnTo>
                <a:lnTo>
                  <a:pt x="169874" y="494740"/>
                </a:lnTo>
                <a:lnTo>
                  <a:pt x="129169" y="475851"/>
                </a:lnTo>
                <a:lnTo>
                  <a:pt x="92763" y="450718"/>
                </a:lnTo>
                <a:lnTo>
                  <a:pt x="61297" y="419999"/>
                </a:lnTo>
                <a:lnTo>
                  <a:pt x="35550" y="384445"/>
                </a:lnTo>
                <a:lnTo>
                  <a:pt x="16258" y="344786"/>
                </a:lnTo>
                <a:lnTo>
                  <a:pt x="4162" y="301747"/>
                </a:lnTo>
                <a:lnTo>
                  <a:pt x="0" y="256057"/>
                </a:lnTo>
                <a:lnTo>
                  <a:pt x="4162" y="209947"/>
                </a:lnTo>
                <a:lnTo>
                  <a:pt x="16258" y="166583"/>
                </a:lnTo>
                <a:lnTo>
                  <a:pt x="35550" y="126680"/>
                </a:lnTo>
                <a:lnTo>
                  <a:pt x="61297" y="90953"/>
                </a:lnTo>
                <a:lnTo>
                  <a:pt x="92763" y="60117"/>
                </a:lnTo>
                <a:lnTo>
                  <a:pt x="129262" y="34863"/>
                </a:lnTo>
                <a:lnTo>
                  <a:pt x="169919" y="15975"/>
                </a:lnTo>
                <a:lnTo>
                  <a:pt x="214086" y="4114"/>
                </a:lnTo>
                <a:lnTo>
                  <a:pt x="261023" y="0"/>
                </a:lnTo>
                <a:lnTo>
                  <a:pt x="307970" y="4115"/>
                </a:lnTo>
                <a:lnTo>
                  <a:pt x="352166" y="15983"/>
                </a:lnTo>
                <a:lnTo>
                  <a:pt x="392873" y="34889"/>
                </a:lnTo>
                <a:lnTo>
                  <a:pt x="429286" y="60056"/>
                </a:lnTo>
                <a:lnTo>
                  <a:pt x="460762" y="90833"/>
                </a:lnTo>
                <a:lnTo>
                  <a:pt x="486529" y="126473"/>
                </a:lnTo>
                <a:lnTo>
                  <a:pt x="505846" y="166254"/>
                </a:lnTo>
                <a:lnTo>
                  <a:pt x="517978" y="209457"/>
                </a:lnTo>
                <a:lnTo>
                  <a:pt x="522185" y="255358"/>
                </a:lnTo>
                <a:lnTo>
                  <a:pt x="517978" y="301257"/>
                </a:lnTo>
                <a:lnTo>
                  <a:pt x="505846" y="344457"/>
                </a:lnTo>
                <a:lnTo>
                  <a:pt x="486529" y="384238"/>
                </a:lnTo>
                <a:lnTo>
                  <a:pt x="460762" y="419879"/>
                </a:lnTo>
                <a:lnTo>
                  <a:pt x="429286" y="450657"/>
                </a:lnTo>
                <a:lnTo>
                  <a:pt x="392780" y="475877"/>
                </a:lnTo>
                <a:lnTo>
                  <a:pt x="352121" y="494748"/>
                </a:lnTo>
                <a:lnTo>
                  <a:pt x="307955" y="506604"/>
                </a:lnTo>
                <a:lnTo>
                  <a:pt x="261023" y="510717"/>
                </a:lnTo>
                <a:close/>
              </a:path>
            </a:pathLst>
          </a:custGeom>
          <a:solidFill>
            <a:srgbClr val="D9D9D9"/>
          </a:solidFill>
        </p:spPr>
        <p:txBody>
          <a:bodyPr wrap="square" lIns="0" tIns="0" rIns="0" bIns="0" rtlCol="0"/>
          <a:lstStyle/>
          <a:p/>
        </p:txBody>
      </p:sp>
      <p:sp>
        <p:nvSpPr>
          <p:cNvPr id="29" name="object 29"/>
          <p:cNvSpPr/>
          <p:nvPr/>
        </p:nvSpPr>
        <p:spPr>
          <a:xfrm>
            <a:off x="2098548" y="5054536"/>
            <a:ext cx="521970" cy="511175"/>
          </a:xfrm>
          <a:custGeom>
            <a:avLst/>
            <a:gdLst/>
            <a:ahLst/>
            <a:cxnLst/>
            <a:rect l="l" t="t" r="r" b="b"/>
            <a:pathLst>
              <a:path w="521969" h="511175">
                <a:moveTo>
                  <a:pt x="260667" y="510717"/>
                </a:moveTo>
                <a:lnTo>
                  <a:pt x="213720" y="506603"/>
                </a:lnTo>
                <a:lnTo>
                  <a:pt x="169539" y="494739"/>
                </a:lnTo>
                <a:lnTo>
                  <a:pt x="128864" y="475844"/>
                </a:lnTo>
                <a:lnTo>
                  <a:pt x="92438" y="450636"/>
                </a:lnTo>
                <a:lnTo>
                  <a:pt x="61003" y="419836"/>
                </a:lnTo>
                <a:lnTo>
                  <a:pt x="35299" y="384161"/>
                </a:lnTo>
                <a:lnTo>
                  <a:pt x="16070" y="344331"/>
                </a:lnTo>
                <a:lnTo>
                  <a:pt x="4056" y="301064"/>
                </a:lnTo>
                <a:lnTo>
                  <a:pt x="0" y="255079"/>
                </a:lnTo>
                <a:lnTo>
                  <a:pt x="4056" y="209260"/>
                </a:lnTo>
                <a:lnTo>
                  <a:pt x="16070" y="166123"/>
                </a:lnTo>
                <a:lnTo>
                  <a:pt x="35299" y="126390"/>
                </a:lnTo>
                <a:lnTo>
                  <a:pt x="61003" y="90785"/>
                </a:lnTo>
                <a:lnTo>
                  <a:pt x="92438" y="60031"/>
                </a:lnTo>
                <a:lnTo>
                  <a:pt x="128864" y="34853"/>
                </a:lnTo>
                <a:lnTo>
                  <a:pt x="169539" y="15972"/>
                </a:lnTo>
                <a:lnTo>
                  <a:pt x="213720" y="4113"/>
                </a:lnTo>
                <a:lnTo>
                  <a:pt x="260667" y="0"/>
                </a:lnTo>
                <a:lnTo>
                  <a:pt x="307611" y="4114"/>
                </a:lnTo>
                <a:lnTo>
                  <a:pt x="351794" y="15975"/>
                </a:lnTo>
                <a:lnTo>
                  <a:pt x="392480" y="34863"/>
                </a:lnTo>
                <a:lnTo>
                  <a:pt x="428930" y="60056"/>
                </a:lnTo>
                <a:lnTo>
                  <a:pt x="460407" y="90833"/>
                </a:lnTo>
                <a:lnTo>
                  <a:pt x="486173" y="126473"/>
                </a:lnTo>
                <a:lnTo>
                  <a:pt x="505491" y="166254"/>
                </a:lnTo>
                <a:lnTo>
                  <a:pt x="517622" y="209457"/>
                </a:lnTo>
                <a:lnTo>
                  <a:pt x="521830" y="255358"/>
                </a:lnTo>
                <a:lnTo>
                  <a:pt x="517622" y="301260"/>
                </a:lnTo>
                <a:lnTo>
                  <a:pt x="505491" y="344462"/>
                </a:lnTo>
                <a:lnTo>
                  <a:pt x="486173" y="384244"/>
                </a:lnTo>
                <a:lnTo>
                  <a:pt x="460407" y="419884"/>
                </a:lnTo>
                <a:lnTo>
                  <a:pt x="428930" y="450661"/>
                </a:lnTo>
                <a:lnTo>
                  <a:pt x="392480" y="475854"/>
                </a:lnTo>
                <a:lnTo>
                  <a:pt x="351794" y="494742"/>
                </a:lnTo>
                <a:lnTo>
                  <a:pt x="307611" y="506603"/>
                </a:lnTo>
                <a:lnTo>
                  <a:pt x="260667" y="510717"/>
                </a:lnTo>
                <a:close/>
              </a:path>
            </a:pathLst>
          </a:custGeom>
          <a:solidFill>
            <a:srgbClr val="A6A6A6"/>
          </a:solidFill>
        </p:spPr>
        <p:txBody>
          <a:bodyPr wrap="square" lIns="0" tIns="0" rIns="0" bIns="0" rtlCol="0"/>
          <a:lstStyle/>
          <a:p/>
        </p:txBody>
      </p:sp>
      <p:sp>
        <p:nvSpPr>
          <p:cNvPr id="30" name="object 30"/>
          <p:cNvSpPr txBox="1"/>
          <p:nvPr/>
        </p:nvSpPr>
        <p:spPr>
          <a:xfrm>
            <a:off x="2243112" y="5027091"/>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7</a:t>
            </a:r>
            <a:endParaRPr sz="3200">
              <a:latin typeface="Calibri" panose="020F0502020204030204"/>
              <a:cs typeface="Calibri" panose="020F0502020204030204"/>
            </a:endParaRPr>
          </a:p>
        </p:txBody>
      </p:sp>
      <p:sp>
        <p:nvSpPr>
          <p:cNvPr id="31" name="object 31"/>
          <p:cNvSpPr/>
          <p:nvPr/>
        </p:nvSpPr>
        <p:spPr>
          <a:xfrm>
            <a:off x="2394204" y="5708903"/>
            <a:ext cx="6791325" cy="509270"/>
          </a:xfrm>
          <a:custGeom>
            <a:avLst/>
            <a:gdLst/>
            <a:ahLst/>
            <a:cxnLst/>
            <a:rect l="l" t="t" r="r" b="b"/>
            <a:pathLst>
              <a:path w="6791325" h="509270">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32" name="object 32"/>
          <p:cNvSpPr/>
          <p:nvPr/>
        </p:nvSpPr>
        <p:spPr>
          <a:xfrm>
            <a:off x="8916923" y="5708383"/>
            <a:ext cx="522605" cy="511175"/>
          </a:xfrm>
          <a:custGeom>
            <a:avLst/>
            <a:gdLst/>
            <a:ahLst/>
            <a:cxnLst/>
            <a:rect l="l" t="t" r="r" b="b"/>
            <a:pathLst>
              <a:path w="522604" h="511175">
                <a:moveTo>
                  <a:pt x="261023" y="510717"/>
                </a:moveTo>
                <a:lnTo>
                  <a:pt x="214075" y="506603"/>
                </a:lnTo>
                <a:lnTo>
                  <a:pt x="169890" y="494738"/>
                </a:lnTo>
                <a:lnTo>
                  <a:pt x="129206" y="475842"/>
                </a:lnTo>
                <a:lnTo>
                  <a:pt x="92763" y="450632"/>
                </a:lnTo>
                <a:lnTo>
                  <a:pt x="61297" y="419827"/>
                </a:lnTo>
                <a:lnTo>
                  <a:pt x="35550" y="384146"/>
                </a:lnTo>
                <a:lnTo>
                  <a:pt x="16258" y="344307"/>
                </a:lnTo>
                <a:lnTo>
                  <a:pt x="4162" y="301028"/>
                </a:lnTo>
                <a:lnTo>
                  <a:pt x="0" y="255028"/>
                </a:lnTo>
                <a:lnTo>
                  <a:pt x="4162" y="209225"/>
                </a:lnTo>
                <a:lnTo>
                  <a:pt x="16258" y="166099"/>
                </a:lnTo>
                <a:lnTo>
                  <a:pt x="35550" y="126375"/>
                </a:lnTo>
                <a:lnTo>
                  <a:pt x="61297" y="90776"/>
                </a:lnTo>
                <a:lnTo>
                  <a:pt x="92763" y="60027"/>
                </a:lnTo>
                <a:lnTo>
                  <a:pt x="129206" y="34851"/>
                </a:lnTo>
                <a:lnTo>
                  <a:pt x="169890" y="15971"/>
                </a:lnTo>
                <a:lnTo>
                  <a:pt x="214075" y="4113"/>
                </a:lnTo>
                <a:lnTo>
                  <a:pt x="261023" y="0"/>
                </a:lnTo>
                <a:lnTo>
                  <a:pt x="307966" y="4114"/>
                </a:lnTo>
                <a:lnTo>
                  <a:pt x="352150" y="15975"/>
                </a:lnTo>
                <a:lnTo>
                  <a:pt x="392835" y="34863"/>
                </a:lnTo>
                <a:lnTo>
                  <a:pt x="429286" y="60056"/>
                </a:lnTo>
                <a:lnTo>
                  <a:pt x="460762" y="90833"/>
                </a:lnTo>
                <a:lnTo>
                  <a:pt x="486529" y="126473"/>
                </a:lnTo>
                <a:lnTo>
                  <a:pt x="505846" y="166254"/>
                </a:lnTo>
                <a:lnTo>
                  <a:pt x="517978" y="209457"/>
                </a:lnTo>
                <a:lnTo>
                  <a:pt x="522185" y="255358"/>
                </a:lnTo>
                <a:lnTo>
                  <a:pt x="517978" y="301260"/>
                </a:lnTo>
                <a:lnTo>
                  <a:pt x="505846" y="344462"/>
                </a:lnTo>
                <a:lnTo>
                  <a:pt x="486529" y="384244"/>
                </a:lnTo>
                <a:lnTo>
                  <a:pt x="460762" y="419884"/>
                </a:lnTo>
                <a:lnTo>
                  <a:pt x="429286" y="450661"/>
                </a:lnTo>
                <a:lnTo>
                  <a:pt x="392835" y="475854"/>
                </a:lnTo>
                <a:lnTo>
                  <a:pt x="352150" y="494742"/>
                </a:lnTo>
                <a:lnTo>
                  <a:pt x="307966" y="506603"/>
                </a:lnTo>
                <a:lnTo>
                  <a:pt x="261023" y="510717"/>
                </a:lnTo>
                <a:close/>
              </a:path>
            </a:pathLst>
          </a:custGeom>
          <a:solidFill>
            <a:srgbClr val="D9D9D9"/>
          </a:solidFill>
        </p:spPr>
        <p:txBody>
          <a:bodyPr wrap="square" lIns="0" tIns="0" rIns="0" bIns="0" rtlCol="0"/>
          <a:lstStyle/>
          <a:p/>
        </p:txBody>
      </p:sp>
      <p:sp>
        <p:nvSpPr>
          <p:cNvPr id="33" name="object 33"/>
          <p:cNvSpPr/>
          <p:nvPr/>
        </p:nvSpPr>
        <p:spPr>
          <a:xfrm>
            <a:off x="2098548" y="5707837"/>
            <a:ext cx="521970" cy="511175"/>
          </a:xfrm>
          <a:custGeom>
            <a:avLst/>
            <a:gdLst/>
            <a:ahLst/>
            <a:cxnLst/>
            <a:rect l="l" t="t" r="r" b="b"/>
            <a:pathLst>
              <a:path w="521969" h="511175">
                <a:moveTo>
                  <a:pt x="260667" y="510717"/>
                </a:moveTo>
                <a:lnTo>
                  <a:pt x="213719" y="506603"/>
                </a:lnTo>
                <a:lnTo>
                  <a:pt x="169534" y="494742"/>
                </a:lnTo>
                <a:lnTo>
                  <a:pt x="128852" y="475854"/>
                </a:lnTo>
                <a:lnTo>
                  <a:pt x="92419" y="450661"/>
                </a:lnTo>
                <a:lnTo>
                  <a:pt x="60976" y="419884"/>
                </a:lnTo>
                <a:lnTo>
                  <a:pt x="35268" y="384244"/>
                </a:lnTo>
                <a:lnTo>
                  <a:pt x="16070" y="344564"/>
                </a:lnTo>
                <a:lnTo>
                  <a:pt x="4056" y="301412"/>
                </a:lnTo>
                <a:lnTo>
                  <a:pt x="0" y="255574"/>
                </a:lnTo>
                <a:lnTo>
                  <a:pt x="4056" y="209608"/>
                </a:lnTo>
                <a:lnTo>
                  <a:pt x="16070" y="166356"/>
                </a:lnTo>
                <a:lnTo>
                  <a:pt x="35299" y="126537"/>
                </a:lnTo>
                <a:lnTo>
                  <a:pt x="61040" y="90833"/>
                </a:lnTo>
                <a:lnTo>
                  <a:pt x="92466" y="60056"/>
                </a:lnTo>
                <a:lnTo>
                  <a:pt x="128881" y="34863"/>
                </a:lnTo>
                <a:lnTo>
                  <a:pt x="169547" y="15975"/>
                </a:lnTo>
                <a:lnTo>
                  <a:pt x="213724" y="4114"/>
                </a:lnTo>
                <a:lnTo>
                  <a:pt x="260667" y="0"/>
                </a:lnTo>
                <a:lnTo>
                  <a:pt x="307612" y="4114"/>
                </a:lnTo>
                <a:lnTo>
                  <a:pt x="351799" y="15977"/>
                </a:lnTo>
                <a:lnTo>
                  <a:pt x="392491" y="34871"/>
                </a:lnTo>
                <a:lnTo>
                  <a:pt x="428949" y="60075"/>
                </a:lnTo>
                <a:lnTo>
                  <a:pt x="460434" y="90870"/>
                </a:lnTo>
                <a:lnTo>
                  <a:pt x="486204" y="126537"/>
                </a:lnTo>
                <a:lnTo>
                  <a:pt x="505491" y="166254"/>
                </a:lnTo>
                <a:lnTo>
                  <a:pt x="517622" y="209457"/>
                </a:lnTo>
                <a:lnTo>
                  <a:pt x="521830" y="255358"/>
                </a:lnTo>
                <a:lnTo>
                  <a:pt x="517622" y="301260"/>
                </a:lnTo>
                <a:lnTo>
                  <a:pt x="505491" y="344462"/>
                </a:lnTo>
                <a:lnTo>
                  <a:pt x="486173" y="384244"/>
                </a:lnTo>
                <a:lnTo>
                  <a:pt x="460369" y="419921"/>
                </a:lnTo>
                <a:lnTo>
                  <a:pt x="428902" y="450680"/>
                </a:lnTo>
                <a:lnTo>
                  <a:pt x="392463" y="475862"/>
                </a:lnTo>
                <a:lnTo>
                  <a:pt x="351785" y="494744"/>
                </a:lnTo>
                <a:lnTo>
                  <a:pt x="307607" y="506604"/>
                </a:lnTo>
                <a:lnTo>
                  <a:pt x="260667" y="510717"/>
                </a:lnTo>
                <a:close/>
              </a:path>
            </a:pathLst>
          </a:custGeom>
          <a:solidFill>
            <a:srgbClr val="A6A6A6"/>
          </a:solidFill>
        </p:spPr>
        <p:txBody>
          <a:bodyPr wrap="square" lIns="0" tIns="0" rIns="0" bIns="0" rtlCol="0"/>
          <a:lstStyle/>
          <a:p/>
        </p:txBody>
      </p:sp>
      <p:sp>
        <p:nvSpPr>
          <p:cNvPr id="34" name="object 34"/>
          <p:cNvSpPr txBox="1"/>
          <p:nvPr/>
        </p:nvSpPr>
        <p:spPr>
          <a:xfrm>
            <a:off x="2243112" y="5680392"/>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8</a:t>
            </a:r>
            <a:endParaRPr sz="3200">
              <a:latin typeface="Calibri" panose="020F0502020204030204"/>
              <a:cs typeface="Calibri" panose="020F0502020204030204"/>
            </a:endParaRPr>
          </a:p>
        </p:txBody>
      </p:sp>
      <p:sp>
        <p:nvSpPr>
          <p:cNvPr id="35" name="object 35"/>
          <p:cNvSpPr txBox="1"/>
          <p:nvPr/>
        </p:nvSpPr>
        <p:spPr>
          <a:xfrm>
            <a:off x="2961297" y="1193317"/>
            <a:ext cx="251015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关于</a:t>
            </a:r>
            <a:r>
              <a:rPr sz="2400" b="1" spc="-5" dirty="0">
                <a:solidFill>
                  <a:srgbClr val="A6A6A6"/>
                </a:solidFill>
                <a:latin typeface="微软雅黑" panose="020B0503020204020204" charset="-122"/>
                <a:cs typeface="微软雅黑" panose="020B0503020204020204" charset="-122"/>
              </a:rPr>
              <a:t>ISA</a:t>
            </a:r>
            <a:r>
              <a:rPr sz="2400" b="1" dirty="0">
                <a:solidFill>
                  <a:srgbClr val="A6A6A6"/>
                </a:solidFill>
                <a:latin typeface="微软雅黑" panose="020B0503020204020204" charset="-122"/>
                <a:cs typeface="微软雅黑" panose="020B0503020204020204" charset="-122"/>
              </a:rPr>
              <a:t>和</a:t>
            </a:r>
            <a:r>
              <a:rPr sz="2400" b="1" spc="-5" dirty="0">
                <a:solidFill>
                  <a:srgbClr val="A6A6A6"/>
                </a:solidFill>
                <a:latin typeface="微软雅黑" panose="020B0503020204020204" charset="-122"/>
                <a:cs typeface="微软雅黑" panose="020B0503020204020204" charset="-122"/>
              </a:rPr>
              <a:t>RISC-V</a:t>
            </a:r>
            <a:endParaRPr sz="2400">
              <a:latin typeface="微软雅黑" panose="020B0503020204020204" charset="-122"/>
              <a:cs typeface="微软雅黑" panose="020B0503020204020204" charset="-122"/>
            </a:endParaRPr>
          </a:p>
        </p:txBody>
      </p:sp>
      <p:sp>
        <p:nvSpPr>
          <p:cNvPr id="36" name="object 36"/>
          <p:cNvSpPr txBox="1"/>
          <p:nvPr/>
        </p:nvSpPr>
        <p:spPr>
          <a:xfrm>
            <a:off x="2961297" y="1845995"/>
            <a:ext cx="364744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开源</a:t>
            </a:r>
            <a:r>
              <a:rPr sz="2400" b="1" spc="-5" dirty="0">
                <a:solidFill>
                  <a:srgbClr val="A6A6A6"/>
                </a:solidFill>
                <a:latin typeface="微软雅黑" panose="020B0503020204020204" charset="-122"/>
                <a:cs typeface="微软雅黑" panose="020B0503020204020204" charset="-122"/>
              </a:rPr>
              <a:t>RISC-V</a:t>
            </a:r>
            <a:r>
              <a:rPr sz="2400" b="1" dirty="0">
                <a:solidFill>
                  <a:srgbClr val="A6A6A6"/>
                </a:solidFill>
                <a:latin typeface="微软雅黑" panose="020B0503020204020204" charset="-122"/>
                <a:cs typeface="微软雅黑" panose="020B0503020204020204" charset="-122"/>
              </a:rPr>
              <a:t>内核蜂鸟</a:t>
            </a:r>
            <a:r>
              <a:rPr sz="2400" b="1" spc="-5" dirty="0">
                <a:solidFill>
                  <a:srgbClr val="A6A6A6"/>
                </a:solidFill>
                <a:latin typeface="微软雅黑" panose="020B0503020204020204" charset="-122"/>
                <a:cs typeface="微软雅黑" panose="020B0503020204020204" charset="-122"/>
              </a:rPr>
              <a:t>E203</a:t>
            </a:r>
            <a:endParaRPr sz="2400">
              <a:latin typeface="微软雅黑" panose="020B0503020204020204" charset="-122"/>
              <a:cs typeface="微软雅黑" panose="020B0503020204020204" charset="-122"/>
            </a:endParaRPr>
          </a:p>
        </p:txBody>
      </p:sp>
      <p:sp>
        <p:nvSpPr>
          <p:cNvPr id="37" name="object 37"/>
          <p:cNvSpPr txBox="1"/>
          <p:nvPr/>
        </p:nvSpPr>
        <p:spPr>
          <a:xfrm>
            <a:off x="2961297" y="2499918"/>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的中文书籍</a:t>
            </a:r>
            <a:endParaRPr sz="2400">
              <a:latin typeface="微软雅黑" panose="020B0503020204020204" charset="-122"/>
              <a:cs typeface="微软雅黑" panose="020B0503020204020204" charset="-122"/>
            </a:endParaRPr>
          </a:p>
        </p:txBody>
      </p:sp>
      <p:sp>
        <p:nvSpPr>
          <p:cNvPr id="38" name="object 38"/>
          <p:cNvSpPr txBox="1"/>
          <p:nvPr/>
        </p:nvSpPr>
        <p:spPr>
          <a:xfrm>
            <a:off x="2961297" y="3175343"/>
            <a:ext cx="3875404"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蜂鸟</a:t>
            </a:r>
            <a:r>
              <a:rPr sz="2400" b="1" spc="-5" dirty="0">
                <a:solidFill>
                  <a:srgbClr val="A6A6A6"/>
                </a:solidFill>
                <a:latin typeface="微软雅黑" panose="020B0503020204020204" charset="-122"/>
                <a:cs typeface="微软雅黑" panose="020B0503020204020204" charset="-122"/>
              </a:rPr>
              <a:t>E203</a:t>
            </a:r>
            <a:r>
              <a:rPr sz="2400" b="1" dirty="0">
                <a:solidFill>
                  <a:srgbClr val="A6A6A6"/>
                </a:solidFill>
                <a:latin typeface="微软雅黑" panose="020B0503020204020204" charset="-122"/>
                <a:cs typeface="微软雅黑" panose="020B0503020204020204" charset="-122"/>
              </a:rPr>
              <a:t>软硬件D</a:t>
            </a:r>
            <a:r>
              <a:rPr sz="2400" b="1" spc="-5" dirty="0">
                <a:solidFill>
                  <a:srgbClr val="A6A6A6"/>
                </a:solidFill>
                <a:latin typeface="微软雅黑" panose="020B0503020204020204" charset="-122"/>
                <a:cs typeface="微软雅黑" panose="020B0503020204020204" charset="-122"/>
              </a:rPr>
              <a:t>E</a:t>
            </a:r>
            <a:r>
              <a:rPr sz="2400" b="1" dirty="0">
                <a:solidFill>
                  <a:srgbClr val="A6A6A6"/>
                </a:solidFill>
                <a:latin typeface="微软雅黑" panose="020B0503020204020204" charset="-122"/>
                <a:cs typeface="微软雅黑" panose="020B0503020204020204" charset="-122"/>
              </a:rPr>
              <a:t>MO视频</a:t>
            </a:r>
            <a:endParaRPr sz="2400">
              <a:latin typeface="微软雅黑" panose="020B0503020204020204" charset="-122"/>
              <a:cs typeface="微软雅黑" panose="020B0503020204020204" charset="-122"/>
            </a:endParaRPr>
          </a:p>
        </p:txBody>
      </p:sp>
      <p:sp>
        <p:nvSpPr>
          <p:cNvPr id="39" name="object 39"/>
          <p:cNvSpPr txBox="1"/>
          <p:nvPr/>
        </p:nvSpPr>
        <p:spPr>
          <a:xfrm>
            <a:off x="2961297" y="3773335"/>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C00000"/>
                </a:solidFill>
                <a:latin typeface="微软雅黑" panose="020B0503020204020204" charset="-122"/>
                <a:cs typeface="微软雅黑" panose="020B0503020204020204" charset="-122"/>
              </a:rPr>
              <a:t>RI</a:t>
            </a:r>
            <a:r>
              <a:rPr sz="2400" b="1" dirty="0">
                <a:solidFill>
                  <a:srgbClr val="C00000"/>
                </a:solidFill>
                <a:latin typeface="微软雅黑" panose="020B0503020204020204" charset="-122"/>
                <a:cs typeface="微软雅黑" panose="020B0503020204020204" charset="-122"/>
              </a:rPr>
              <a:t>S</a:t>
            </a:r>
            <a:r>
              <a:rPr sz="2400" b="1" spc="-5" dirty="0">
                <a:solidFill>
                  <a:srgbClr val="C00000"/>
                </a:solidFill>
                <a:latin typeface="微软雅黑" panose="020B0503020204020204" charset="-122"/>
                <a:cs typeface="微软雅黑" panose="020B0503020204020204" charset="-122"/>
              </a:rPr>
              <a:t>C</a:t>
            </a:r>
            <a:r>
              <a:rPr sz="2400" b="1" dirty="0">
                <a:solidFill>
                  <a:srgbClr val="C00000"/>
                </a:solidFill>
                <a:latin typeface="微软雅黑" panose="020B0503020204020204" charset="-122"/>
                <a:cs typeface="微软雅黑" panose="020B0503020204020204" charset="-122"/>
              </a:rPr>
              <a:t>-</a:t>
            </a:r>
            <a:r>
              <a:rPr sz="2400" b="1" spc="-5" dirty="0">
                <a:solidFill>
                  <a:srgbClr val="C00000"/>
                </a:solidFill>
                <a:latin typeface="微软雅黑" panose="020B0503020204020204" charset="-122"/>
                <a:cs typeface="微软雅黑" panose="020B0503020204020204" charset="-122"/>
              </a:rPr>
              <a:t>V</a:t>
            </a:r>
            <a:r>
              <a:rPr sz="2400" b="1" dirty="0">
                <a:solidFill>
                  <a:srgbClr val="C00000"/>
                </a:solidFill>
                <a:latin typeface="微软雅黑" panose="020B0503020204020204" charset="-122"/>
                <a:cs typeface="微软雅黑" panose="020B0503020204020204" charset="-122"/>
              </a:rPr>
              <a:t>的几个误区</a:t>
            </a:r>
            <a:endParaRPr sz="2400">
              <a:latin typeface="微软雅黑" panose="020B0503020204020204" charset="-122"/>
              <a:cs typeface="微软雅黑" panose="020B0503020204020204" charset="-122"/>
            </a:endParaRPr>
          </a:p>
        </p:txBody>
      </p:sp>
      <p:sp>
        <p:nvSpPr>
          <p:cNvPr id="40" name="object 40"/>
          <p:cNvSpPr txBox="1"/>
          <p:nvPr/>
        </p:nvSpPr>
        <p:spPr>
          <a:xfrm>
            <a:off x="2961297" y="4459820"/>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的未来趋势</a:t>
            </a:r>
            <a:endParaRPr sz="2400">
              <a:latin typeface="微软雅黑" panose="020B0503020204020204" charset="-122"/>
              <a:cs typeface="微软雅黑" panose="020B0503020204020204" charset="-122"/>
            </a:endParaRPr>
          </a:p>
        </p:txBody>
      </p:sp>
      <p:sp>
        <p:nvSpPr>
          <p:cNvPr id="41" name="object 41"/>
          <p:cNvSpPr txBox="1"/>
          <p:nvPr/>
        </p:nvSpPr>
        <p:spPr>
          <a:xfrm>
            <a:off x="2961297" y="5113121"/>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的商业本质</a:t>
            </a:r>
            <a:endParaRPr sz="2400">
              <a:latin typeface="微软雅黑" panose="020B0503020204020204" charset="-122"/>
              <a:cs typeface="微软雅黑" panose="020B0503020204020204" charset="-122"/>
            </a:endParaRPr>
          </a:p>
        </p:txBody>
      </p:sp>
      <p:sp>
        <p:nvSpPr>
          <p:cNvPr id="42" name="object 42"/>
          <p:cNvSpPr txBox="1"/>
          <p:nvPr/>
        </p:nvSpPr>
        <p:spPr>
          <a:xfrm>
            <a:off x="2961297" y="5798997"/>
            <a:ext cx="185420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芯来科技介绍</a:t>
            </a:r>
            <a:endParaRPr sz="2400">
              <a:latin typeface="微软雅黑" panose="020B0503020204020204" charset="-122"/>
              <a:cs typeface="微软雅黑" panose="020B0503020204020204" charset="-122"/>
            </a:endParaRPr>
          </a:p>
        </p:txBody>
      </p:sp>
      <p:sp>
        <p:nvSpPr>
          <p:cNvPr id="43" name="object 43"/>
          <p:cNvSpPr txBox="1">
            <a:spLocks noGrp="1"/>
          </p:cNvSpPr>
          <p:nvPr>
            <p:ph type="title"/>
          </p:nvPr>
        </p:nvSpPr>
        <p:spPr>
          <a:xfrm>
            <a:off x="713105" y="243840"/>
            <a:ext cx="1802764"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C00000"/>
                </a:solidFill>
              </a:rPr>
              <a:t>Age</a:t>
            </a:r>
            <a:r>
              <a:rPr sz="3600" dirty="0">
                <a:solidFill>
                  <a:srgbClr val="C00000"/>
                </a:solidFill>
              </a:rPr>
              <a:t>n</a:t>
            </a:r>
            <a:r>
              <a:rPr sz="3600" spc="-5" dirty="0">
                <a:solidFill>
                  <a:srgbClr val="C00000"/>
                </a:solidFill>
              </a:rPr>
              <a:t>d</a:t>
            </a:r>
            <a:r>
              <a:rPr sz="3600" dirty="0">
                <a:solidFill>
                  <a:srgbClr val="C00000"/>
                </a:solidFill>
              </a:rPr>
              <a:t>a</a:t>
            </a:r>
            <a:endParaRPr sz="3600"/>
          </a:p>
        </p:txBody>
      </p:sp>
      <p:sp>
        <p:nvSpPr>
          <p:cNvPr id="44" name="object 4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5173345" cy="56642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误区</a:t>
            </a:r>
            <a:r>
              <a:rPr sz="3600" spc="-5" dirty="0">
                <a:solidFill>
                  <a:srgbClr val="C00000"/>
                </a:solidFill>
              </a:rPr>
              <a:t>1</a:t>
            </a:r>
            <a:r>
              <a:rPr sz="3600" dirty="0">
                <a:solidFill>
                  <a:srgbClr val="C00000"/>
                </a:solidFill>
              </a:rPr>
              <a:t>:此开放非彼开放</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770890" y="1404163"/>
            <a:ext cx="11062335" cy="1488440"/>
          </a:xfrm>
          <a:prstGeom prst="rect">
            <a:avLst/>
          </a:prstGeom>
        </p:spPr>
        <p:txBody>
          <a:bodyPr vert="horz" wrap="square" lIns="0" tIns="134620" rIns="0" bIns="0" rtlCol="0">
            <a:spAutoFit/>
          </a:bodyPr>
          <a:lstStyle/>
          <a:p>
            <a:pPr marL="298450" indent="-285750">
              <a:lnSpc>
                <a:spcPct val="100000"/>
              </a:lnSpc>
              <a:spcBef>
                <a:spcPts val="1060"/>
              </a:spcBef>
              <a:buFont typeface="Wingdings" panose="05000000000000000000"/>
              <a:buChar char=""/>
              <a:tabLst>
                <a:tab pos="297815" algn="l"/>
                <a:tab pos="298450" algn="l"/>
              </a:tabLst>
            </a:pPr>
            <a:r>
              <a:rPr sz="1600" dirty="0">
                <a:latin typeface="微软雅黑" panose="020B0503020204020204" charset="-122"/>
                <a:cs typeface="微软雅黑" panose="020B0503020204020204" charset="-122"/>
              </a:rPr>
              <a:t>以企业为主导的处理器的开放组织并不是第一次，譬如</a:t>
            </a:r>
            <a:r>
              <a:rPr sz="1600" spc="-10" dirty="0">
                <a:latin typeface="微软雅黑" panose="020B0503020204020204" charset="-122"/>
                <a:cs typeface="微软雅黑" panose="020B0503020204020204" charset="-122"/>
              </a:rPr>
              <a:t>：</a:t>
            </a:r>
            <a:r>
              <a:rPr sz="1600" b="1" spc="-10" dirty="0">
                <a:solidFill>
                  <a:srgbClr val="C00000"/>
                </a:solidFill>
                <a:latin typeface="微软雅黑" panose="020B0503020204020204" charset="-122"/>
                <a:cs typeface="微软雅黑" panose="020B0503020204020204" charset="-122"/>
              </a:rPr>
              <a:t>OpenSPARC</a:t>
            </a:r>
            <a:r>
              <a:rPr sz="1600" spc="-10" dirty="0">
                <a:latin typeface="微软雅黑" panose="020B0503020204020204" charset="-122"/>
                <a:cs typeface="微软雅黑" panose="020B0503020204020204" charset="-122"/>
              </a:rPr>
              <a:t>，</a:t>
            </a:r>
            <a:r>
              <a:rPr sz="1600" b="1" spc="-10" dirty="0">
                <a:solidFill>
                  <a:srgbClr val="C00000"/>
                </a:solidFill>
                <a:latin typeface="微软雅黑" panose="020B0503020204020204" charset="-122"/>
                <a:cs typeface="微软雅黑" panose="020B0503020204020204" charset="-122"/>
              </a:rPr>
              <a:t>OpenPower</a:t>
            </a:r>
            <a:r>
              <a:rPr sz="1600" spc="-10" dirty="0">
                <a:latin typeface="微软雅黑" panose="020B0503020204020204" charset="-122"/>
                <a:cs typeface="微软雅黑" panose="020B0503020204020204" charset="-122"/>
              </a:rPr>
              <a:t>，</a:t>
            </a:r>
            <a:r>
              <a:rPr sz="1600" b="1" spc="-10" dirty="0">
                <a:solidFill>
                  <a:srgbClr val="C00000"/>
                </a:solidFill>
                <a:latin typeface="微软雅黑" panose="020B0503020204020204" charset="-122"/>
                <a:cs typeface="微软雅黑" panose="020B0503020204020204" charset="-122"/>
              </a:rPr>
              <a:t>OpenMIPS</a:t>
            </a:r>
            <a:endParaRPr sz="1600">
              <a:latin typeface="微软雅黑" panose="020B0503020204020204" charset="-122"/>
              <a:cs typeface="微软雅黑" panose="020B0503020204020204" charset="-122"/>
            </a:endParaRPr>
          </a:p>
          <a:p>
            <a:pPr marL="298450" indent="-285750">
              <a:lnSpc>
                <a:spcPct val="100000"/>
              </a:lnSpc>
              <a:spcBef>
                <a:spcPts val="960"/>
              </a:spcBef>
              <a:buFont typeface="Wingdings" panose="05000000000000000000"/>
              <a:buChar char=""/>
              <a:tabLst>
                <a:tab pos="297815" algn="l"/>
                <a:tab pos="298450" algn="l"/>
              </a:tabLst>
            </a:pP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是第一次以非盈利中立组织来维护指令集标准，且向全世界进行开</a:t>
            </a:r>
            <a:r>
              <a:rPr sz="1600" spc="-5" dirty="0">
                <a:latin typeface="微软雅黑" panose="020B0503020204020204" charset="-122"/>
                <a:cs typeface="微软雅黑" panose="020B0503020204020204" charset="-122"/>
              </a:rPr>
              <a:t>放</a:t>
            </a:r>
            <a:endParaRPr sz="1600">
              <a:latin typeface="微软雅黑" panose="020B0503020204020204" charset="-122"/>
              <a:cs typeface="微软雅黑" panose="020B0503020204020204" charset="-122"/>
            </a:endParaRPr>
          </a:p>
          <a:p>
            <a:pPr marL="298450" marR="5080" indent="-285750">
              <a:lnSpc>
                <a:spcPct val="150000"/>
              </a:lnSpc>
              <a:buFont typeface="Wingdings" panose="05000000000000000000"/>
              <a:buChar char=""/>
              <a:tabLst>
                <a:tab pos="297815" algn="l"/>
                <a:tab pos="298450" algn="l"/>
              </a:tabLst>
            </a:pPr>
            <a:r>
              <a:rPr sz="1600" dirty="0">
                <a:latin typeface="微软雅黑" panose="020B0503020204020204" charset="-122"/>
                <a:cs typeface="微软雅黑" panose="020B0503020204020204" charset="-122"/>
              </a:rPr>
              <a:t>正是因为</a:t>
            </a: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这种更加纯粹的开放，</a:t>
            </a: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以前所未有的速度被普及和接纳。以蜂鸟</a:t>
            </a:r>
            <a:r>
              <a:rPr sz="1600" spc="-5" dirty="0">
                <a:latin typeface="微软雅黑" panose="020B0503020204020204" charset="-122"/>
                <a:cs typeface="微软雅黑" panose="020B0503020204020204" charset="-122"/>
              </a:rPr>
              <a:t>E203</a:t>
            </a:r>
            <a:r>
              <a:rPr sz="1600" dirty="0">
                <a:latin typeface="微软雅黑" panose="020B0503020204020204" charset="-122"/>
                <a:cs typeface="微软雅黑" panose="020B0503020204020204" charset="-122"/>
              </a:rPr>
              <a:t>为例，其启动和传播完全</a:t>
            </a:r>
            <a:r>
              <a:rPr sz="1600" spc="-5" dirty="0">
                <a:latin typeface="微软雅黑" panose="020B0503020204020204" charset="-122"/>
                <a:cs typeface="微软雅黑" panose="020B0503020204020204" charset="-122"/>
              </a:rPr>
              <a:t>出 </a:t>
            </a:r>
            <a:r>
              <a:rPr sz="1600" dirty="0">
                <a:latin typeface="微软雅黑" panose="020B0503020204020204" charset="-122"/>
                <a:cs typeface="微软雅黑" panose="020B0503020204020204" charset="-122"/>
              </a:rPr>
              <a:t>于个体的自发行为，如果是用其他商用架构，那是不可能做到</a:t>
            </a:r>
            <a:r>
              <a:rPr sz="1600" spc="-5" dirty="0">
                <a:latin typeface="微软雅黑" panose="020B0503020204020204" charset="-122"/>
                <a:cs typeface="微软雅黑" panose="020B0503020204020204" charset="-122"/>
              </a:rPr>
              <a:t>的</a:t>
            </a:r>
            <a:endParaRPr sz="1600">
              <a:latin typeface="微软雅黑" panose="020B0503020204020204" charset="-122"/>
              <a:cs typeface="微软雅黑" panose="020B0503020204020204" charset="-122"/>
            </a:endParaRPr>
          </a:p>
        </p:txBody>
      </p:sp>
      <p:sp>
        <p:nvSpPr>
          <p:cNvPr id="5" name="object 5"/>
          <p:cNvSpPr/>
          <p:nvPr/>
        </p:nvSpPr>
        <p:spPr>
          <a:xfrm>
            <a:off x="3616477" y="3333752"/>
            <a:ext cx="4267920" cy="2800724"/>
          </a:xfrm>
          <a:prstGeom prst="rect">
            <a:avLst/>
          </a:prstGeom>
          <a:blipFill>
            <a:blip r:embed="rId1" cstate="print"/>
            <a:stretch>
              <a:fillRect/>
            </a:stretch>
          </a:blipFill>
        </p:spPr>
        <p:txBody>
          <a:bodyPr wrap="square" lIns="0" tIns="0" rIns="0" bIns="0" rtlCol="0"/>
          <a:lstStyle/>
          <a:p/>
        </p:txBody>
      </p:sp>
      <p:sp>
        <p:nvSpPr>
          <p:cNvPr id="6" name="object 6"/>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491998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误区</a:t>
            </a:r>
            <a:r>
              <a:rPr sz="3600" spc="-5" dirty="0">
                <a:solidFill>
                  <a:srgbClr val="C00000"/>
                </a:solidFill>
              </a:rPr>
              <a:t>2</a:t>
            </a:r>
            <a:r>
              <a:rPr sz="3600" dirty="0">
                <a:solidFill>
                  <a:srgbClr val="C00000"/>
                </a:solidFill>
              </a:rPr>
              <a:t>:此FREE非彼FREE</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768984" y="1444624"/>
            <a:ext cx="8838565" cy="1259840"/>
          </a:xfrm>
          <a:prstGeom prst="rect">
            <a:avLst/>
          </a:prstGeom>
        </p:spPr>
        <p:txBody>
          <a:bodyPr vert="horz" wrap="square" lIns="0" tIns="149860" rIns="0" bIns="0" rtlCol="0">
            <a:spAutoFit/>
          </a:bodyPr>
          <a:lstStyle/>
          <a:p>
            <a:pPr marL="298450" indent="-285750">
              <a:lnSpc>
                <a:spcPct val="100000"/>
              </a:lnSpc>
              <a:spcBef>
                <a:spcPts val="1180"/>
              </a:spcBef>
              <a:buFont typeface="Wingdings" panose="05000000000000000000"/>
              <a:buChar char=""/>
              <a:tabLst>
                <a:tab pos="298450" algn="l"/>
              </a:tabLst>
            </a:pPr>
            <a:r>
              <a:rPr sz="1800" spc="-15" dirty="0">
                <a:latin typeface="微软雅黑" panose="020B0503020204020204" charset="-122"/>
                <a:cs typeface="微软雅黑" panose="020B0503020204020204" charset="-122"/>
              </a:rPr>
              <a:t>Free</a:t>
            </a:r>
            <a:r>
              <a:rPr sz="1800" dirty="0">
                <a:latin typeface="微软雅黑" panose="020B0503020204020204" charset="-122"/>
                <a:cs typeface="微软雅黑" panose="020B0503020204020204" charset="-122"/>
              </a:rPr>
              <a:t>的英文存在着多重含义，可以是</a:t>
            </a:r>
            <a:r>
              <a:rPr sz="1800" b="1" dirty="0">
                <a:solidFill>
                  <a:srgbClr val="C00000"/>
                </a:solidFill>
                <a:latin typeface="微软雅黑" panose="020B0503020204020204" charset="-122"/>
                <a:cs typeface="微软雅黑" panose="020B0503020204020204" charset="-122"/>
              </a:rPr>
              <a:t>自由</a:t>
            </a:r>
            <a:r>
              <a:rPr sz="1800" b="1" spc="-5" dirty="0">
                <a:solidFill>
                  <a:srgbClr val="C00000"/>
                </a:solidFill>
                <a:latin typeface="微软雅黑" panose="020B0503020204020204" charset="-122"/>
                <a:cs typeface="微软雅黑" panose="020B0503020204020204" charset="-122"/>
              </a:rPr>
              <a:t>(Freedom)</a:t>
            </a:r>
            <a:r>
              <a:rPr sz="1800" dirty="0">
                <a:latin typeface="微软雅黑" panose="020B0503020204020204" charset="-122"/>
                <a:cs typeface="微软雅黑" panose="020B0503020204020204" charset="-122"/>
              </a:rPr>
              <a:t>也可以是</a:t>
            </a:r>
            <a:r>
              <a:rPr sz="1800" b="1" dirty="0">
                <a:solidFill>
                  <a:srgbClr val="C00000"/>
                </a:solidFill>
                <a:latin typeface="微软雅黑" panose="020B0503020204020204" charset="-122"/>
                <a:cs typeface="微软雅黑" panose="020B0503020204020204" charset="-122"/>
              </a:rPr>
              <a:t>免费</a:t>
            </a:r>
            <a:endParaRPr sz="1800">
              <a:latin typeface="微软雅黑" panose="020B0503020204020204" charset="-122"/>
              <a:cs typeface="微软雅黑" panose="020B0503020204020204" charset="-122"/>
            </a:endParaRPr>
          </a:p>
          <a:p>
            <a:pPr marL="298450" indent="-285750">
              <a:lnSpc>
                <a:spcPct val="100000"/>
              </a:lnSpc>
              <a:spcBef>
                <a:spcPts val="1080"/>
              </a:spcBef>
              <a:buFont typeface="Wingdings" panose="05000000000000000000"/>
              <a:buChar char=""/>
              <a:tabLst>
                <a:tab pos="298450" algn="l"/>
              </a:tabLst>
            </a:pPr>
            <a:r>
              <a:rPr sz="1800" spc="-5" dirty="0">
                <a:latin typeface="微软雅黑" panose="020B0503020204020204" charset="-122"/>
                <a:cs typeface="微软雅黑" panose="020B0503020204020204" charset="-122"/>
              </a:rPr>
              <a:t>RISC-V</a:t>
            </a:r>
            <a:r>
              <a:rPr sz="1800" dirty="0">
                <a:latin typeface="微软雅黑" panose="020B0503020204020204" charset="-122"/>
                <a:cs typeface="微软雅黑" panose="020B0503020204020204" charset="-122"/>
              </a:rPr>
              <a:t>的</a:t>
            </a:r>
            <a:r>
              <a:rPr sz="1800" spc="-15" dirty="0">
                <a:latin typeface="微软雅黑" panose="020B0503020204020204" charset="-122"/>
                <a:cs typeface="微软雅黑" panose="020B0503020204020204" charset="-122"/>
              </a:rPr>
              <a:t>Free</a:t>
            </a:r>
            <a:r>
              <a:rPr sz="1800" dirty="0">
                <a:latin typeface="微软雅黑" panose="020B0503020204020204" charset="-122"/>
                <a:cs typeface="微软雅黑" panose="020B0503020204020204" charset="-122"/>
              </a:rPr>
              <a:t>是</a:t>
            </a:r>
            <a:r>
              <a:rPr sz="1800" b="1" dirty="0">
                <a:solidFill>
                  <a:srgbClr val="C00000"/>
                </a:solidFill>
                <a:latin typeface="微软雅黑" panose="020B0503020204020204" charset="-122"/>
                <a:cs typeface="微软雅黑" panose="020B0503020204020204" charset="-122"/>
              </a:rPr>
              <a:t>自由而非免费</a:t>
            </a:r>
            <a:r>
              <a:rPr sz="1800" dirty="0">
                <a:latin typeface="微软雅黑" panose="020B0503020204020204" charset="-122"/>
                <a:cs typeface="微软雅黑" panose="020B0503020204020204" charset="-122"/>
              </a:rPr>
              <a:t>，这种是驱动创新的原动力</a:t>
            </a:r>
            <a:endParaRPr sz="1800">
              <a:latin typeface="微软雅黑" panose="020B0503020204020204" charset="-122"/>
              <a:cs typeface="微软雅黑" panose="020B0503020204020204" charset="-122"/>
            </a:endParaRPr>
          </a:p>
          <a:p>
            <a:pPr marL="298450" indent="-285750">
              <a:lnSpc>
                <a:spcPct val="100000"/>
              </a:lnSpc>
              <a:spcBef>
                <a:spcPts val="1080"/>
              </a:spcBef>
              <a:buFont typeface="Wingdings" panose="05000000000000000000"/>
              <a:buChar char=""/>
              <a:tabLst>
                <a:tab pos="298450" algn="l"/>
              </a:tabLst>
            </a:pPr>
            <a:r>
              <a:rPr sz="1800" dirty="0">
                <a:latin typeface="微软雅黑" panose="020B0503020204020204" charset="-122"/>
                <a:cs typeface="微软雅黑" panose="020B0503020204020204" charset="-122"/>
              </a:rPr>
              <a:t>世上无免费的午餐，大家都爱免费，但夸大宣传</a:t>
            </a:r>
            <a:r>
              <a:rPr sz="1800" spc="-5" dirty="0">
                <a:latin typeface="微软雅黑" panose="020B0503020204020204" charset="-122"/>
                <a:cs typeface="微软雅黑" panose="020B0503020204020204" charset="-122"/>
              </a:rPr>
              <a:t>R</a:t>
            </a:r>
            <a:r>
              <a:rPr sz="1800" dirty="0">
                <a:latin typeface="微软雅黑" panose="020B0503020204020204" charset="-122"/>
                <a:cs typeface="微软雅黑" panose="020B0503020204020204" charset="-122"/>
              </a:rPr>
              <a:t>ISC-</a:t>
            </a:r>
            <a:r>
              <a:rPr sz="1800" spc="-5" dirty="0">
                <a:latin typeface="微软雅黑" panose="020B0503020204020204" charset="-122"/>
                <a:cs typeface="微软雅黑" panose="020B0503020204020204" charset="-122"/>
              </a:rPr>
              <a:t>V</a:t>
            </a:r>
            <a:r>
              <a:rPr sz="1800" dirty="0">
                <a:latin typeface="微软雅黑" panose="020B0503020204020204" charset="-122"/>
                <a:cs typeface="微软雅黑" panose="020B0503020204020204" charset="-122"/>
              </a:rPr>
              <a:t>的免费对国内产业发展无裨益</a:t>
            </a:r>
            <a:endParaRPr sz="1800">
              <a:latin typeface="微软雅黑" panose="020B0503020204020204" charset="-122"/>
              <a:cs typeface="微软雅黑" panose="020B0503020204020204" charset="-122"/>
            </a:endParaRPr>
          </a:p>
        </p:txBody>
      </p:sp>
      <p:sp>
        <p:nvSpPr>
          <p:cNvPr id="5" name="object 5"/>
          <p:cNvSpPr/>
          <p:nvPr/>
        </p:nvSpPr>
        <p:spPr>
          <a:xfrm>
            <a:off x="4674108" y="3343655"/>
            <a:ext cx="2348484" cy="2348484"/>
          </a:xfrm>
          <a:prstGeom prst="rect">
            <a:avLst/>
          </a:prstGeom>
          <a:blipFill>
            <a:blip r:embed="rId1" cstate="print"/>
            <a:stretch>
              <a:fillRect/>
            </a:stretch>
          </a:blipFill>
        </p:spPr>
        <p:txBody>
          <a:bodyPr wrap="square" lIns="0" tIns="0" rIns="0" bIns="0" rtlCol="0"/>
          <a:lstStyle/>
          <a:p/>
        </p:txBody>
      </p:sp>
      <p:sp>
        <p:nvSpPr>
          <p:cNvPr id="6" name="object 6"/>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8338184"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误区</a:t>
            </a:r>
            <a:r>
              <a:rPr sz="3600" spc="-5" dirty="0">
                <a:solidFill>
                  <a:srgbClr val="C00000"/>
                </a:solidFill>
              </a:rPr>
              <a:t>3:</a:t>
            </a:r>
            <a:r>
              <a:rPr sz="3600" dirty="0">
                <a:solidFill>
                  <a:srgbClr val="C00000"/>
                </a:solidFill>
              </a:rPr>
              <a:t>此</a:t>
            </a:r>
            <a:r>
              <a:rPr sz="3600" spc="-5" dirty="0">
                <a:solidFill>
                  <a:srgbClr val="C00000"/>
                </a:solidFill>
              </a:rPr>
              <a:t>OpenSource</a:t>
            </a:r>
            <a:r>
              <a:rPr sz="3600" dirty="0">
                <a:solidFill>
                  <a:srgbClr val="C00000"/>
                </a:solidFill>
              </a:rPr>
              <a:t>非彼</a:t>
            </a:r>
            <a:r>
              <a:rPr sz="3600" spc="-5" dirty="0">
                <a:solidFill>
                  <a:srgbClr val="C00000"/>
                </a:solidFill>
              </a:rPr>
              <a:t>OpenSource</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692150" y="1353057"/>
            <a:ext cx="10975340" cy="1854200"/>
          </a:xfrm>
          <a:prstGeom prst="rect">
            <a:avLst/>
          </a:prstGeom>
        </p:spPr>
        <p:txBody>
          <a:bodyPr vert="horz" wrap="square" lIns="0" tIns="134620" rIns="0" bIns="0" rtlCol="0">
            <a:spAutoFit/>
          </a:bodyPr>
          <a:lstStyle/>
          <a:p>
            <a:pPr marL="298450" indent="-285750">
              <a:lnSpc>
                <a:spcPct val="100000"/>
              </a:lnSpc>
              <a:spcBef>
                <a:spcPts val="1060"/>
              </a:spcBef>
              <a:buFont typeface="Wingdings" panose="05000000000000000000"/>
              <a:buChar char=""/>
              <a:tabLst>
                <a:tab pos="297815" algn="l"/>
                <a:tab pos="298450" algn="l"/>
              </a:tabLst>
            </a:pPr>
            <a:r>
              <a:rPr sz="1600" spc="-5" dirty="0">
                <a:latin typeface="微软雅黑" panose="020B0503020204020204" charset="-122"/>
                <a:cs typeface="微软雅黑" panose="020B0503020204020204" charset="-122"/>
              </a:rPr>
              <a:t>Linux</a:t>
            </a:r>
            <a:r>
              <a:rPr sz="1600" dirty="0">
                <a:latin typeface="微软雅黑" panose="020B0503020204020204" charset="-122"/>
                <a:cs typeface="微软雅黑" panose="020B0503020204020204" charset="-122"/>
              </a:rPr>
              <a:t>的</a:t>
            </a:r>
            <a:r>
              <a:rPr sz="1600" spc="-5" dirty="0">
                <a:latin typeface="微软雅黑" panose="020B0503020204020204" charset="-122"/>
                <a:cs typeface="微软雅黑" panose="020B0503020204020204" charset="-122"/>
              </a:rPr>
              <a:t>OpenSource</a:t>
            </a:r>
            <a:r>
              <a:rPr sz="1600" dirty="0">
                <a:latin typeface="微软雅黑" panose="020B0503020204020204" charset="-122"/>
                <a:cs typeface="微软雅黑" panose="020B0503020204020204" charset="-122"/>
              </a:rPr>
              <a:t>开源的是源</a:t>
            </a:r>
            <a:r>
              <a:rPr sz="1600" spc="-5" dirty="0">
                <a:latin typeface="微软雅黑" panose="020B0503020204020204" charset="-122"/>
                <a:cs typeface="微软雅黑" panose="020B0503020204020204" charset="-122"/>
              </a:rPr>
              <a:t>码</a:t>
            </a:r>
            <a:endParaRPr sz="1600">
              <a:latin typeface="微软雅黑" panose="020B0503020204020204" charset="-122"/>
              <a:cs typeface="微软雅黑" panose="020B0503020204020204" charset="-122"/>
            </a:endParaRPr>
          </a:p>
          <a:p>
            <a:pPr marL="298450" indent="-285750">
              <a:lnSpc>
                <a:spcPct val="100000"/>
              </a:lnSpc>
              <a:spcBef>
                <a:spcPts val="960"/>
              </a:spcBef>
              <a:buFont typeface="Wingdings" panose="05000000000000000000"/>
              <a:buChar char=""/>
              <a:tabLst>
                <a:tab pos="297815" algn="l"/>
                <a:tab pos="298450" algn="l"/>
              </a:tabLst>
            </a:pP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的</a:t>
            </a:r>
            <a:r>
              <a:rPr sz="1600" spc="-5" dirty="0">
                <a:latin typeface="微软雅黑" panose="020B0503020204020204" charset="-122"/>
                <a:cs typeface="微软雅黑" panose="020B0503020204020204" charset="-122"/>
              </a:rPr>
              <a:t>OpenSource</a:t>
            </a:r>
            <a:r>
              <a:rPr sz="1600" dirty="0">
                <a:latin typeface="微软雅黑" panose="020B0503020204020204" charset="-122"/>
                <a:cs typeface="微软雅黑" panose="020B0503020204020204" charset="-122"/>
              </a:rPr>
              <a:t>开源的是文字标</a:t>
            </a:r>
            <a:r>
              <a:rPr sz="1600" spc="-5" dirty="0">
                <a:latin typeface="微软雅黑" panose="020B0503020204020204" charset="-122"/>
                <a:cs typeface="微软雅黑" panose="020B0503020204020204" charset="-122"/>
              </a:rPr>
              <a:t>准</a:t>
            </a:r>
            <a:endParaRPr sz="1600">
              <a:latin typeface="微软雅黑" panose="020B0503020204020204" charset="-122"/>
              <a:cs typeface="微软雅黑" panose="020B0503020204020204" charset="-122"/>
            </a:endParaRPr>
          </a:p>
          <a:p>
            <a:pPr marL="298450" indent="-285750">
              <a:lnSpc>
                <a:spcPct val="100000"/>
              </a:lnSpc>
              <a:spcBef>
                <a:spcPts val="960"/>
              </a:spcBef>
              <a:buFont typeface="Wingdings" panose="05000000000000000000"/>
              <a:buChar char=""/>
              <a:tabLst>
                <a:tab pos="297815" algn="l"/>
                <a:tab pos="298450" algn="l"/>
              </a:tabLst>
            </a:pP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和</a:t>
            </a:r>
            <a:r>
              <a:rPr sz="1600" spc="-5" dirty="0">
                <a:latin typeface="微软雅黑" panose="020B0503020204020204" charset="-122"/>
                <a:cs typeface="微软雅黑" panose="020B0503020204020204" charset="-122"/>
              </a:rPr>
              <a:t>Linux</a:t>
            </a:r>
            <a:r>
              <a:rPr sz="1600" dirty="0">
                <a:latin typeface="微软雅黑" panose="020B0503020204020204" charset="-122"/>
                <a:cs typeface="微软雅黑" panose="020B0503020204020204" charset="-122"/>
              </a:rPr>
              <a:t>没有类比性</a:t>
            </a: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没有主线源码</a:t>
            </a:r>
            <a:r>
              <a:rPr sz="1600" spc="-5" dirty="0">
                <a:latin typeface="微软雅黑" panose="020B0503020204020204" charset="-122"/>
                <a:cs typeface="微软雅黑" panose="020B0503020204020204" charset="-122"/>
              </a:rPr>
              <a:t>库</a:t>
            </a:r>
            <a:endParaRPr sz="1600">
              <a:latin typeface="微软雅黑" panose="020B0503020204020204" charset="-122"/>
              <a:cs typeface="微软雅黑" panose="020B0503020204020204" charset="-122"/>
            </a:endParaRPr>
          </a:p>
          <a:p>
            <a:pPr marL="298450" marR="5080" indent="-285750">
              <a:lnSpc>
                <a:spcPct val="150000"/>
              </a:lnSpc>
              <a:buFont typeface="Wingdings" panose="05000000000000000000"/>
              <a:buChar char=""/>
              <a:tabLst>
                <a:tab pos="297815" algn="l"/>
                <a:tab pos="298450" algn="l"/>
              </a:tabLst>
            </a:pP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跟</a:t>
            </a:r>
            <a:r>
              <a:rPr sz="1600" spc="-5" dirty="0">
                <a:latin typeface="微软雅黑" panose="020B0503020204020204" charset="-122"/>
                <a:cs typeface="微软雅黑" panose="020B0503020204020204" charset="-122"/>
              </a:rPr>
              <a:t>DDR，USB</a:t>
            </a:r>
            <a:r>
              <a:rPr sz="1600" dirty="0">
                <a:latin typeface="微软雅黑" panose="020B0503020204020204" charset="-122"/>
                <a:cs typeface="微软雅黑" panose="020B0503020204020204" charset="-122"/>
              </a:rPr>
              <a:t>等等硬件标准更加有类比性。</a:t>
            </a:r>
            <a:r>
              <a:rPr sz="1600" spc="-5" dirty="0">
                <a:latin typeface="微软雅黑" panose="020B0503020204020204" charset="-122"/>
                <a:cs typeface="微软雅黑" panose="020B0503020204020204" charset="-122"/>
              </a:rPr>
              <a:t>DDR</a:t>
            </a:r>
            <a:r>
              <a:rPr sz="1600" dirty="0">
                <a:latin typeface="微软雅黑" panose="020B0503020204020204" charset="-122"/>
                <a:cs typeface="微软雅黑" panose="020B0503020204020204" charset="-122"/>
              </a:rPr>
              <a:t>等标准不断升级</a:t>
            </a: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的</a:t>
            </a:r>
            <a:r>
              <a:rPr sz="1600" spc="-5" dirty="0">
                <a:latin typeface="微软雅黑" panose="020B0503020204020204" charset="-122"/>
                <a:cs typeface="微软雅黑" panose="020B0503020204020204" charset="-122"/>
              </a:rPr>
              <a:t>ISA</a:t>
            </a:r>
            <a:r>
              <a:rPr sz="1600" dirty="0">
                <a:latin typeface="微软雅黑" panose="020B0503020204020204" charset="-122"/>
                <a:cs typeface="微软雅黑" panose="020B0503020204020204" charset="-122"/>
              </a:rPr>
              <a:t>标准在不断的衍进。由于处理</a:t>
            </a:r>
            <a:r>
              <a:rPr sz="1600" spc="-5" dirty="0">
                <a:latin typeface="微软雅黑" panose="020B0503020204020204" charset="-122"/>
                <a:cs typeface="微软雅黑" panose="020B0503020204020204" charset="-122"/>
              </a:rPr>
              <a:t>器 </a:t>
            </a:r>
            <a:r>
              <a:rPr sz="1600" dirty="0">
                <a:latin typeface="微软雅黑" panose="020B0503020204020204" charset="-122"/>
                <a:cs typeface="微软雅黑" panose="020B0503020204020204" charset="-122"/>
              </a:rPr>
              <a:t>内核是最复杂且软硬件综合一体的</a:t>
            </a:r>
            <a:r>
              <a:rPr sz="1600" spc="-5" dirty="0">
                <a:latin typeface="微软雅黑" panose="020B0503020204020204" charset="-122"/>
                <a:cs typeface="微软雅黑" panose="020B0503020204020204" charset="-122"/>
              </a:rPr>
              <a:t>IP，</a:t>
            </a:r>
            <a:r>
              <a:rPr sz="1600" dirty="0">
                <a:latin typeface="微软雅黑" panose="020B0503020204020204" charset="-122"/>
                <a:cs typeface="微软雅黑" panose="020B0503020204020204" charset="-122"/>
              </a:rPr>
              <a:t>所以相比普通的接口类标准，有其特殊</a:t>
            </a:r>
            <a:r>
              <a:rPr sz="1600" spc="-5" dirty="0">
                <a:latin typeface="微软雅黑" panose="020B0503020204020204" charset="-122"/>
                <a:cs typeface="微软雅黑" panose="020B0503020204020204" charset="-122"/>
              </a:rPr>
              <a:t>性</a:t>
            </a:r>
            <a:endParaRPr sz="1600">
              <a:latin typeface="微软雅黑" panose="020B0503020204020204" charset="-122"/>
              <a:cs typeface="微软雅黑" panose="020B0503020204020204" charset="-122"/>
            </a:endParaRPr>
          </a:p>
        </p:txBody>
      </p:sp>
      <p:sp>
        <p:nvSpPr>
          <p:cNvPr id="5" name="object 5"/>
          <p:cNvSpPr/>
          <p:nvPr/>
        </p:nvSpPr>
        <p:spPr>
          <a:xfrm>
            <a:off x="4920996" y="3739896"/>
            <a:ext cx="2244852" cy="2244852"/>
          </a:xfrm>
          <a:prstGeom prst="rect">
            <a:avLst/>
          </a:prstGeom>
          <a:blipFill>
            <a:blip r:embed="rId1" cstate="print"/>
            <a:stretch>
              <a:fillRect/>
            </a:stretch>
          </a:blipFill>
        </p:spPr>
        <p:txBody>
          <a:bodyPr wrap="square" lIns="0" tIns="0" rIns="0" bIns="0" rtlCol="0"/>
          <a:lstStyle/>
          <a:p/>
        </p:txBody>
      </p:sp>
      <p:sp>
        <p:nvSpPr>
          <p:cNvPr id="6" name="object 6"/>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550418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误区</a:t>
            </a:r>
            <a:r>
              <a:rPr sz="3600" spc="-5" dirty="0">
                <a:solidFill>
                  <a:srgbClr val="C00000"/>
                </a:solidFill>
              </a:rPr>
              <a:t>4:RISC-V</a:t>
            </a:r>
            <a:r>
              <a:rPr sz="3600" dirty="0">
                <a:solidFill>
                  <a:srgbClr val="C00000"/>
                </a:solidFill>
              </a:rPr>
              <a:t>只适用于</a:t>
            </a:r>
            <a:r>
              <a:rPr sz="3600" spc="-5" dirty="0">
                <a:solidFill>
                  <a:srgbClr val="C00000"/>
                </a:solidFill>
              </a:rPr>
              <a:t>IoT</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819150" y="1211453"/>
            <a:ext cx="10490835" cy="2219960"/>
          </a:xfrm>
          <a:prstGeom prst="rect">
            <a:avLst/>
          </a:prstGeom>
        </p:spPr>
        <p:txBody>
          <a:bodyPr vert="horz" wrap="square" lIns="0" tIns="134620" rIns="0" bIns="0" rtlCol="0">
            <a:spAutoFit/>
          </a:bodyPr>
          <a:lstStyle/>
          <a:p>
            <a:pPr marL="298450" indent="-285750">
              <a:lnSpc>
                <a:spcPct val="100000"/>
              </a:lnSpc>
              <a:spcBef>
                <a:spcPts val="1060"/>
              </a:spcBef>
              <a:buFont typeface="Wingdings" panose="05000000000000000000"/>
              <a:buChar char=""/>
              <a:tabLst>
                <a:tab pos="297815" algn="l"/>
                <a:tab pos="298450" algn="l"/>
              </a:tabLst>
            </a:pPr>
            <a:r>
              <a:rPr sz="1600" dirty="0">
                <a:latin typeface="微软雅黑" panose="020B0503020204020204" charset="-122"/>
                <a:cs typeface="微软雅黑" panose="020B0503020204020204" charset="-122"/>
              </a:rPr>
              <a:t>背景知识</a:t>
            </a:r>
            <a:r>
              <a:rPr sz="1600" spc="-5" dirty="0">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a:p>
            <a:pPr marL="755650" lvl="1" indent="-285750">
              <a:lnSpc>
                <a:spcPct val="100000"/>
              </a:lnSpc>
              <a:spcBef>
                <a:spcPts val="960"/>
              </a:spcBef>
              <a:buFont typeface="Wingdings" panose="05000000000000000000"/>
              <a:buChar char=""/>
              <a:tabLst>
                <a:tab pos="755015" algn="l"/>
                <a:tab pos="755650" algn="l"/>
              </a:tabLst>
            </a:pPr>
            <a:r>
              <a:rPr sz="1600" dirty="0">
                <a:latin typeface="微软雅黑" panose="020B0503020204020204" charset="-122"/>
                <a:cs typeface="微软雅黑" panose="020B0503020204020204" charset="-122"/>
              </a:rPr>
              <a:t>嵌入式领域内的绝对生态壁垒</a:t>
            </a:r>
            <a:r>
              <a:rPr sz="1600" spc="-5" dirty="0">
                <a:latin typeface="微软雅黑" panose="020B0503020204020204" charset="-122"/>
                <a:cs typeface="微软雅黑" panose="020B0503020204020204" charset="-122"/>
              </a:rPr>
              <a:t>——</a:t>
            </a:r>
            <a:r>
              <a:rPr sz="1600" dirty="0">
                <a:latin typeface="微软雅黑" panose="020B0503020204020204" charset="-122"/>
                <a:cs typeface="微软雅黑" panose="020B0503020204020204" charset="-122"/>
              </a:rPr>
              <a:t>二进制兼容</a:t>
            </a:r>
            <a:r>
              <a:rPr sz="1600" spc="-5" dirty="0">
                <a:latin typeface="微软雅黑" panose="020B0503020204020204" charset="-122"/>
                <a:cs typeface="微软雅黑" panose="020B0503020204020204" charset="-122"/>
              </a:rPr>
              <a:t>——</a:t>
            </a:r>
            <a:r>
              <a:rPr sz="1600" dirty="0">
                <a:latin typeface="微软雅黑" panose="020B0503020204020204" charset="-122"/>
                <a:cs typeface="微软雅黑" panose="020B0503020204020204" charset="-122"/>
              </a:rPr>
              <a:t>并不存</a:t>
            </a:r>
            <a:r>
              <a:rPr sz="1600" spc="-5" dirty="0">
                <a:latin typeface="微软雅黑" panose="020B0503020204020204" charset="-122"/>
                <a:cs typeface="微软雅黑" panose="020B0503020204020204" charset="-122"/>
              </a:rPr>
              <a:t>在</a:t>
            </a:r>
            <a:endParaRPr sz="1600">
              <a:latin typeface="微软雅黑" panose="020B0503020204020204" charset="-122"/>
              <a:cs typeface="微软雅黑" panose="020B0503020204020204" charset="-122"/>
            </a:endParaRPr>
          </a:p>
          <a:p>
            <a:pPr marL="755650" lvl="1" indent="-285750">
              <a:lnSpc>
                <a:spcPct val="100000"/>
              </a:lnSpc>
              <a:spcBef>
                <a:spcPts val="960"/>
              </a:spcBef>
              <a:buFont typeface="Wingdings" panose="05000000000000000000"/>
              <a:buChar char=""/>
              <a:tabLst>
                <a:tab pos="755015" algn="l"/>
                <a:tab pos="755650" algn="l"/>
              </a:tabLst>
            </a:pPr>
            <a:r>
              <a:rPr sz="1600" dirty="0">
                <a:latin typeface="微软雅黑" panose="020B0503020204020204" charset="-122"/>
                <a:cs typeface="微软雅黑" panose="020B0503020204020204" charset="-122"/>
              </a:rPr>
              <a:t>嵌入式设备的软硬件一体性和源代码重编译特性决定了其只存在生态相对壁</a:t>
            </a:r>
            <a:r>
              <a:rPr sz="1600" spc="-5" dirty="0">
                <a:latin typeface="微软雅黑" panose="020B0503020204020204" charset="-122"/>
                <a:cs typeface="微软雅黑" panose="020B0503020204020204" charset="-122"/>
              </a:rPr>
              <a:t>垒</a:t>
            </a:r>
            <a:endParaRPr sz="1600">
              <a:latin typeface="微软雅黑" panose="020B0503020204020204" charset="-122"/>
              <a:cs typeface="微软雅黑" panose="020B0503020204020204" charset="-122"/>
            </a:endParaRPr>
          </a:p>
          <a:p>
            <a:pPr marL="298450" marR="5080" indent="-285750">
              <a:lnSpc>
                <a:spcPct val="150000"/>
              </a:lnSpc>
              <a:buFont typeface="Wingdings" panose="05000000000000000000"/>
              <a:buChar char=""/>
              <a:tabLst>
                <a:tab pos="297815" algn="l"/>
                <a:tab pos="298450" algn="l"/>
              </a:tabLst>
            </a:pPr>
            <a:r>
              <a:rPr sz="1600" spc="-5" dirty="0">
                <a:latin typeface="微软雅黑" panose="020B0503020204020204" charset="-122"/>
                <a:cs typeface="微软雅黑" panose="020B0503020204020204" charset="-122"/>
              </a:rPr>
              <a:t>IoT</a:t>
            </a:r>
            <a:r>
              <a:rPr sz="1600" dirty="0">
                <a:latin typeface="微软雅黑" panose="020B0503020204020204" charset="-122"/>
                <a:cs typeface="微软雅黑" panose="020B0503020204020204" charset="-122"/>
              </a:rPr>
              <a:t>的生态相对门槛更低，所以</a:t>
            </a: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的接纳难度更低，拥有广泛的增量市场和定制化需求，因此是</a:t>
            </a: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介入</a:t>
            </a:r>
            <a:r>
              <a:rPr sz="1600" spc="-5" dirty="0">
                <a:latin typeface="微软雅黑" panose="020B0503020204020204" charset="-122"/>
                <a:cs typeface="微软雅黑" panose="020B0503020204020204" charset="-122"/>
              </a:rPr>
              <a:t>的 </a:t>
            </a:r>
            <a:r>
              <a:rPr sz="1600" dirty="0">
                <a:latin typeface="微软雅黑" panose="020B0503020204020204" charset="-122"/>
                <a:cs typeface="微软雅黑" panose="020B0503020204020204" charset="-122"/>
              </a:rPr>
              <a:t>机会</a:t>
            </a:r>
            <a:r>
              <a:rPr sz="1600" spc="-5" dirty="0">
                <a:latin typeface="微软雅黑" panose="020B0503020204020204" charset="-122"/>
                <a:cs typeface="微软雅黑" panose="020B0503020204020204" charset="-122"/>
              </a:rPr>
              <a:t>点</a:t>
            </a:r>
            <a:endParaRPr sz="1600">
              <a:latin typeface="微软雅黑" panose="020B0503020204020204" charset="-122"/>
              <a:cs typeface="微软雅黑" panose="020B0503020204020204" charset="-122"/>
            </a:endParaRPr>
          </a:p>
          <a:p>
            <a:pPr marL="298450" indent="-285750">
              <a:lnSpc>
                <a:spcPct val="100000"/>
              </a:lnSpc>
              <a:spcBef>
                <a:spcPts val="960"/>
              </a:spcBef>
              <a:buFont typeface="Wingdings" panose="05000000000000000000"/>
              <a:buChar char=""/>
              <a:tabLst>
                <a:tab pos="297815" algn="l"/>
                <a:tab pos="298450" algn="l"/>
              </a:tabLst>
            </a:pP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标准和技术本身并不局限于</a:t>
            </a:r>
            <a:r>
              <a:rPr sz="1600" spc="-5" dirty="0">
                <a:latin typeface="微软雅黑" panose="020B0503020204020204" charset="-122"/>
                <a:cs typeface="微软雅黑" panose="020B0503020204020204" charset="-122"/>
              </a:rPr>
              <a:t>IoT</a:t>
            </a:r>
            <a:r>
              <a:rPr sz="1600" dirty="0">
                <a:latin typeface="微软雅黑" panose="020B0503020204020204" charset="-122"/>
                <a:cs typeface="微软雅黑" panose="020B0503020204020204" charset="-122"/>
              </a:rPr>
              <a:t>领</a:t>
            </a:r>
            <a:r>
              <a:rPr sz="1600" spc="-5" dirty="0">
                <a:latin typeface="微软雅黑" panose="020B0503020204020204" charset="-122"/>
                <a:cs typeface="微软雅黑" panose="020B0503020204020204" charset="-122"/>
              </a:rPr>
              <a:t>域</a:t>
            </a:r>
            <a:endParaRPr sz="1600">
              <a:latin typeface="微软雅黑" panose="020B0503020204020204" charset="-122"/>
              <a:cs typeface="微软雅黑" panose="020B0503020204020204" charset="-122"/>
            </a:endParaRPr>
          </a:p>
        </p:txBody>
      </p:sp>
      <p:sp>
        <p:nvSpPr>
          <p:cNvPr id="5" name="object 5"/>
          <p:cNvSpPr/>
          <p:nvPr/>
        </p:nvSpPr>
        <p:spPr>
          <a:xfrm>
            <a:off x="4838700" y="3558540"/>
            <a:ext cx="2456688" cy="2197607"/>
          </a:xfrm>
          <a:prstGeom prst="rect">
            <a:avLst/>
          </a:prstGeom>
          <a:blipFill>
            <a:blip r:embed="rId1" cstate="print"/>
            <a:stretch>
              <a:fillRect/>
            </a:stretch>
          </a:blipFill>
        </p:spPr>
        <p:txBody>
          <a:bodyPr wrap="square" lIns="0" tIns="0" rIns="0" bIns="0" rtlCol="0"/>
          <a:lstStyle/>
          <a:p/>
        </p:txBody>
      </p:sp>
      <p:sp>
        <p:nvSpPr>
          <p:cNvPr id="6" name="object 6"/>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9027795" cy="56642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误区</a:t>
            </a:r>
            <a:r>
              <a:rPr sz="3600" spc="-5" dirty="0">
                <a:solidFill>
                  <a:srgbClr val="C00000"/>
                </a:solidFill>
              </a:rPr>
              <a:t>5:RISC-V</a:t>
            </a:r>
            <a:r>
              <a:rPr sz="3600" dirty="0">
                <a:solidFill>
                  <a:srgbClr val="C00000"/>
                </a:solidFill>
              </a:rPr>
              <a:t>等于新的设计语言和方法学</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544830" y="1204468"/>
            <a:ext cx="11202035" cy="2219960"/>
          </a:xfrm>
          <a:prstGeom prst="rect">
            <a:avLst/>
          </a:prstGeom>
        </p:spPr>
        <p:txBody>
          <a:bodyPr vert="horz" wrap="square" lIns="0" tIns="134620" rIns="0" bIns="0" rtlCol="0">
            <a:spAutoFit/>
          </a:bodyPr>
          <a:lstStyle/>
          <a:p>
            <a:pPr marL="298450" indent="-285750">
              <a:lnSpc>
                <a:spcPct val="100000"/>
              </a:lnSpc>
              <a:spcBef>
                <a:spcPts val="1060"/>
              </a:spcBef>
              <a:buFont typeface="Wingdings" panose="05000000000000000000"/>
              <a:buChar char=""/>
              <a:tabLst>
                <a:tab pos="297815" algn="l"/>
                <a:tab pos="298450" algn="l"/>
              </a:tabLst>
            </a:pPr>
            <a:r>
              <a:rPr sz="1600" dirty="0">
                <a:latin typeface="微软雅黑" panose="020B0503020204020204" charset="-122"/>
                <a:cs typeface="微软雅黑" panose="020B0503020204020204" charset="-122"/>
              </a:rPr>
              <a:t>背景</a:t>
            </a:r>
            <a:r>
              <a:rPr sz="1600" spc="-5" dirty="0">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a:p>
            <a:pPr marL="755650" lvl="1" indent="-285750">
              <a:lnSpc>
                <a:spcPct val="100000"/>
              </a:lnSpc>
              <a:spcBef>
                <a:spcPts val="960"/>
              </a:spcBef>
              <a:buFont typeface="Wingdings" panose="05000000000000000000"/>
              <a:buChar char=""/>
              <a:tabLst>
                <a:tab pos="755015" algn="l"/>
                <a:tab pos="755650" algn="l"/>
              </a:tabLst>
            </a:pPr>
            <a:r>
              <a:rPr sz="1600" dirty="0">
                <a:latin typeface="微软雅黑" panose="020B0503020204020204" charset="-122"/>
                <a:cs typeface="微软雅黑" panose="020B0503020204020204" charset="-122"/>
              </a:rPr>
              <a:t>新的设计语言能够加速编写代码的速</a:t>
            </a:r>
            <a:r>
              <a:rPr sz="1600" spc="-5" dirty="0">
                <a:latin typeface="微软雅黑" panose="020B0503020204020204" charset="-122"/>
                <a:cs typeface="微软雅黑" panose="020B0503020204020204" charset="-122"/>
              </a:rPr>
              <a:t>度</a:t>
            </a:r>
            <a:endParaRPr sz="1600">
              <a:latin typeface="微软雅黑" panose="020B0503020204020204" charset="-122"/>
              <a:cs typeface="微软雅黑" panose="020B0503020204020204" charset="-122"/>
            </a:endParaRPr>
          </a:p>
          <a:p>
            <a:pPr marL="755650" lvl="1" indent="-285750">
              <a:lnSpc>
                <a:spcPct val="100000"/>
              </a:lnSpc>
              <a:spcBef>
                <a:spcPts val="960"/>
              </a:spcBef>
              <a:buFont typeface="Wingdings" panose="05000000000000000000"/>
              <a:buChar char=""/>
              <a:tabLst>
                <a:tab pos="755015" algn="l"/>
                <a:tab pos="755650" algn="l"/>
              </a:tabLst>
            </a:pPr>
            <a:r>
              <a:rPr sz="1600" dirty="0">
                <a:latin typeface="微软雅黑" panose="020B0503020204020204" charset="-122"/>
                <a:cs typeface="微软雅黑" panose="020B0503020204020204" charset="-122"/>
              </a:rPr>
              <a:t>新的方法学能够带来新的想象空</a:t>
            </a:r>
            <a:r>
              <a:rPr sz="1600" spc="-5" dirty="0">
                <a:latin typeface="微软雅黑" panose="020B0503020204020204" charset="-122"/>
                <a:cs typeface="微软雅黑" panose="020B0503020204020204" charset="-122"/>
              </a:rPr>
              <a:t>间</a:t>
            </a:r>
            <a:endParaRPr sz="1600">
              <a:latin typeface="微软雅黑" panose="020B0503020204020204" charset="-122"/>
              <a:cs typeface="微软雅黑" panose="020B0503020204020204" charset="-122"/>
            </a:endParaRPr>
          </a:p>
          <a:p>
            <a:pPr marL="755650" lvl="1" indent="-285750">
              <a:lnSpc>
                <a:spcPct val="100000"/>
              </a:lnSpc>
              <a:spcBef>
                <a:spcPts val="960"/>
              </a:spcBef>
              <a:buFont typeface="Wingdings" panose="05000000000000000000"/>
              <a:buChar char=""/>
              <a:tabLst>
                <a:tab pos="755015" algn="l"/>
                <a:tab pos="755650" algn="l"/>
              </a:tabLst>
            </a:pPr>
            <a:r>
              <a:rPr sz="1600" dirty="0">
                <a:latin typeface="微软雅黑" panose="020B0503020204020204" charset="-122"/>
                <a:cs typeface="微软雅黑" panose="020B0503020204020204" charset="-122"/>
              </a:rPr>
              <a:t>芯片产业更趋于稳</a:t>
            </a:r>
            <a:r>
              <a:rPr sz="1600" spc="-5" dirty="0">
                <a:latin typeface="微软雅黑" panose="020B0503020204020204" charset="-122"/>
                <a:cs typeface="微软雅黑" panose="020B0503020204020204" charset="-122"/>
              </a:rPr>
              <a:t>健</a:t>
            </a:r>
            <a:endParaRPr sz="1600">
              <a:latin typeface="微软雅黑" panose="020B0503020204020204" charset="-122"/>
              <a:cs typeface="微软雅黑" panose="020B0503020204020204" charset="-122"/>
            </a:endParaRPr>
          </a:p>
          <a:p>
            <a:pPr marL="298450" indent="-285750">
              <a:lnSpc>
                <a:spcPct val="100000"/>
              </a:lnSpc>
              <a:spcBef>
                <a:spcPts val="960"/>
              </a:spcBef>
              <a:buFont typeface="Wingdings" panose="05000000000000000000"/>
              <a:buChar char=""/>
              <a:tabLst>
                <a:tab pos="297815" algn="l"/>
                <a:tab pos="298450" algn="l"/>
              </a:tabLst>
            </a:pP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只是一份开放指令集标准，与新的设计语言和方法学无</a:t>
            </a:r>
            <a:r>
              <a:rPr sz="1600" spc="-5" dirty="0">
                <a:latin typeface="微软雅黑" panose="020B0503020204020204" charset="-122"/>
                <a:cs typeface="微软雅黑" panose="020B0503020204020204" charset="-122"/>
              </a:rPr>
              <a:t>关</a:t>
            </a:r>
            <a:endParaRPr sz="1600">
              <a:latin typeface="微软雅黑" panose="020B0503020204020204" charset="-122"/>
              <a:cs typeface="微软雅黑" panose="020B0503020204020204" charset="-122"/>
            </a:endParaRPr>
          </a:p>
          <a:p>
            <a:pPr marL="298450" indent="-285750">
              <a:lnSpc>
                <a:spcPct val="100000"/>
              </a:lnSpc>
              <a:spcBef>
                <a:spcPts val="960"/>
              </a:spcBef>
              <a:buFont typeface="Wingdings" panose="05000000000000000000"/>
              <a:buChar char=""/>
              <a:tabLst>
                <a:tab pos="297815" algn="l"/>
                <a:tab pos="298450" algn="l"/>
              </a:tabLst>
            </a:pPr>
            <a:r>
              <a:rPr sz="1600" dirty="0">
                <a:latin typeface="微软雅黑" panose="020B0503020204020204" charset="-122"/>
                <a:cs typeface="微软雅黑" panose="020B0503020204020204" charset="-122"/>
              </a:rPr>
              <a:t>本土产业更需专注解决核心产业有和无的问题，将</a:t>
            </a: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与新的设计语言和设计方法打包宣传对于</a:t>
            </a: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的推广并无裨</a:t>
            </a:r>
            <a:r>
              <a:rPr sz="1600" spc="-5" dirty="0">
                <a:latin typeface="微软雅黑" panose="020B0503020204020204" charset="-122"/>
                <a:cs typeface="微软雅黑" panose="020B0503020204020204" charset="-122"/>
              </a:rPr>
              <a:t>益</a:t>
            </a:r>
            <a:endParaRPr sz="1600">
              <a:latin typeface="微软雅黑" panose="020B0503020204020204" charset="-122"/>
              <a:cs typeface="微软雅黑" panose="020B0503020204020204" charset="-122"/>
            </a:endParaRPr>
          </a:p>
        </p:txBody>
      </p:sp>
      <p:sp>
        <p:nvSpPr>
          <p:cNvPr id="5" name="object 5"/>
          <p:cNvSpPr/>
          <p:nvPr/>
        </p:nvSpPr>
        <p:spPr>
          <a:xfrm>
            <a:off x="4146803" y="3572255"/>
            <a:ext cx="3898392" cy="2523744"/>
          </a:xfrm>
          <a:prstGeom prst="rect">
            <a:avLst/>
          </a:prstGeom>
          <a:blipFill>
            <a:blip r:embed="rId1" cstate="print"/>
            <a:stretch>
              <a:fillRect/>
            </a:stretch>
          </a:blipFill>
        </p:spPr>
        <p:txBody>
          <a:bodyPr wrap="square" lIns="0" tIns="0" rIns="0" bIns="0" rtlCol="0"/>
          <a:lstStyle/>
          <a:p/>
        </p:txBody>
      </p:sp>
      <p:sp>
        <p:nvSpPr>
          <p:cNvPr id="6" name="object 6"/>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567817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误区</a:t>
            </a:r>
            <a:r>
              <a:rPr sz="3600" spc="-5" dirty="0">
                <a:solidFill>
                  <a:srgbClr val="C00000"/>
                </a:solidFill>
              </a:rPr>
              <a:t>6:RISC-V</a:t>
            </a:r>
            <a:r>
              <a:rPr sz="3600" dirty="0">
                <a:solidFill>
                  <a:srgbClr val="C00000"/>
                </a:solidFill>
              </a:rPr>
              <a:t>等于不要版税</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692150" y="1256030"/>
            <a:ext cx="5854700" cy="1671320"/>
          </a:xfrm>
          <a:prstGeom prst="rect">
            <a:avLst/>
          </a:prstGeom>
        </p:spPr>
        <p:txBody>
          <a:bodyPr vert="horz" wrap="square" lIns="0" tIns="149860" rIns="0" bIns="0" rtlCol="0">
            <a:spAutoFit/>
          </a:bodyPr>
          <a:lstStyle/>
          <a:p>
            <a:pPr marL="298450" indent="-285750">
              <a:lnSpc>
                <a:spcPct val="100000"/>
              </a:lnSpc>
              <a:spcBef>
                <a:spcPts val="1180"/>
              </a:spcBef>
              <a:buFont typeface="Wingdings" panose="05000000000000000000"/>
              <a:buChar char=""/>
              <a:tabLst>
                <a:tab pos="298450" algn="l"/>
              </a:tabLst>
            </a:pPr>
            <a:r>
              <a:rPr sz="1800" dirty="0">
                <a:latin typeface="微软雅黑" panose="020B0503020204020204" charset="-122"/>
                <a:cs typeface="微软雅黑" panose="020B0503020204020204" charset="-122"/>
              </a:rPr>
              <a:t>背景：</a:t>
            </a:r>
            <a:endParaRPr sz="1800">
              <a:latin typeface="微软雅黑" panose="020B0503020204020204" charset="-122"/>
              <a:cs typeface="微软雅黑" panose="020B0503020204020204" charset="-122"/>
            </a:endParaRPr>
          </a:p>
          <a:p>
            <a:pPr marL="812800" lvl="1" indent="-342900">
              <a:lnSpc>
                <a:spcPct val="100000"/>
              </a:lnSpc>
              <a:spcBef>
                <a:spcPts val="1080"/>
              </a:spcBef>
              <a:buFont typeface="Wingdings" panose="05000000000000000000"/>
              <a:buChar char=""/>
              <a:tabLst>
                <a:tab pos="812165" algn="l"/>
                <a:tab pos="812800" algn="l"/>
              </a:tabLst>
            </a:pPr>
            <a:r>
              <a:rPr sz="1800" dirty="0">
                <a:latin typeface="微软雅黑" panose="020B0503020204020204" charset="-122"/>
                <a:cs typeface="微软雅黑" panose="020B0503020204020204" charset="-122"/>
              </a:rPr>
              <a:t>人类已知的商业模式：</a:t>
            </a:r>
            <a:r>
              <a:rPr sz="1800" b="1" dirty="0">
                <a:solidFill>
                  <a:srgbClr val="C00000"/>
                </a:solidFill>
                <a:latin typeface="微软雅黑" panose="020B0503020204020204" charset="-122"/>
                <a:cs typeface="微软雅黑" panose="020B0503020204020204" charset="-122"/>
              </a:rPr>
              <a:t>卖产品，卖服务，流量变现</a:t>
            </a:r>
            <a:endParaRPr sz="1800">
              <a:latin typeface="微软雅黑" panose="020B0503020204020204" charset="-122"/>
              <a:cs typeface="微软雅黑" panose="020B0503020204020204" charset="-122"/>
            </a:endParaRPr>
          </a:p>
          <a:p>
            <a:pPr marL="812800" lvl="1" indent="-342900">
              <a:lnSpc>
                <a:spcPct val="100000"/>
              </a:lnSpc>
              <a:spcBef>
                <a:spcPts val="1080"/>
              </a:spcBef>
              <a:buFont typeface="Wingdings" panose="05000000000000000000"/>
              <a:buChar char=""/>
              <a:tabLst>
                <a:tab pos="812165" algn="l"/>
                <a:tab pos="812800" algn="l"/>
              </a:tabLst>
            </a:pPr>
            <a:r>
              <a:rPr sz="1800" dirty="0">
                <a:latin typeface="微软雅黑" panose="020B0503020204020204" charset="-122"/>
                <a:cs typeface="微软雅黑" panose="020B0503020204020204" charset="-122"/>
              </a:rPr>
              <a:t>芯片</a:t>
            </a:r>
            <a:r>
              <a:rPr sz="1800" spc="-5" dirty="0">
                <a:latin typeface="微软雅黑" panose="020B0503020204020204" charset="-122"/>
                <a:cs typeface="微软雅黑" panose="020B0503020204020204" charset="-122"/>
              </a:rPr>
              <a:t>IP</a:t>
            </a:r>
            <a:r>
              <a:rPr sz="1800" dirty="0">
                <a:latin typeface="微软雅黑" panose="020B0503020204020204" charset="-122"/>
                <a:cs typeface="微软雅黑" panose="020B0503020204020204" charset="-122"/>
              </a:rPr>
              <a:t>行业依赖的版税模式，本质上等于卖服务</a:t>
            </a:r>
            <a:endParaRPr sz="1800">
              <a:latin typeface="微软雅黑" panose="020B0503020204020204" charset="-122"/>
              <a:cs typeface="微软雅黑" panose="020B0503020204020204" charset="-122"/>
            </a:endParaRPr>
          </a:p>
          <a:p>
            <a:pPr marL="298450" indent="-285750">
              <a:lnSpc>
                <a:spcPct val="100000"/>
              </a:lnSpc>
              <a:spcBef>
                <a:spcPts val="1080"/>
              </a:spcBef>
              <a:buFont typeface="Wingdings" panose="05000000000000000000"/>
              <a:buChar char=""/>
              <a:tabLst>
                <a:tab pos="298450" algn="l"/>
              </a:tabLst>
            </a:pPr>
            <a:r>
              <a:rPr sz="1800" spc="-5" dirty="0">
                <a:latin typeface="微软雅黑" panose="020B0503020204020204" charset="-122"/>
                <a:cs typeface="微软雅黑" panose="020B0503020204020204" charset="-122"/>
              </a:rPr>
              <a:t>RISC-V</a:t>
            </a:r>
            <a:r>
              <a:rPr sz="1800" dirty="0">
                <a:latin typeface="微软雅黑" panose="020B0503020204020204" charset="-122"/>
                <a:cs typeface="微软雅黑" panose="020B0503020204020204" charset="-122"/>
              </a:rPr>
              <a:t>只是一种开放标准，与具体的商业模式无关</a:t>
            </a:r>
            <a:endParaRPr sz="1800">
              <a:latin typeface="微软雅黑" panose="020B0503020204020204" charset="-122"/>
              <a:cs typeface="微软雅黑" panose="020B0503020204020204" charset="-122"/>
            </a:endParaRPr>
          </a:p>
        </p:txBody>
      </p:sp>
      <p:sp>
        <p:nvSpPr>
          <p:cNvPr id="5" name="object 5"/>
          <p:cNvSpPr/>
          <p:nvPr/>
        </p:nvSpPr>
        <p:spPr>
          <a:xfrm>
            <a:off x="5038344" y="3355847"/>
            <a:ext cx="2712720" cy="2589276"/>
          </a:xfrm>
          <a:prstGeom prst="rect">
            <a:avLst/>
          </a:prstGeom>
          <a:blipFill>
            <a:blip r:embed="rId1" cstate="print"/>
            <a:stretch>
              <a:fillRect/>
            </a:stretch>
          </a:blipFill>
        </p:spPr>
        <p:txBody>
          <a:bodyPr wrap="square" lIns="0" tIns="0" rIns="0" bIns="0" rtlCol="0"/>
          <a:lstStyle/>
          <a:p/>
        </p:txBody>
      </p:sp>
      <p:sp>
        <p:nvSpPr>
          <p:cNvPr id="6" name="object 6"/>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389382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RI</a:t>
            </a:r>
            <a:r>
              <a:rPr sz="3600" spc="-5" dirty="0">
                <a:solidFill>
                  <a:srgbClr val="C00000"/>
                </a:solidFill>
              </a:rPr>
              <a:t>S</a:t>
            </a:r>
            <a:r>
              <a:rPr sz="3600" dirty="0">
                <a:solidFill>
                  <a:srgbClr val="C00000"/>
                </a:solidFill>
              </a:rPr>
              <a:t>C</a:t>
            </a:r>
            <a:r>
              <a:rPr sz="3600" spc="-5" dirty="0">
                <a:solidFill>
                  <a:srgbClr val="C00000"/>
                </a:solidFill>
              </a:rPr>
              <a:t>-</a:t>
            </a:r>
            <a:r>
              <a:rPr sz="3600" dirty="0">
                <a:solidFill>
                  <a:srgbClr val="C00000"/>
                </a:solidFill>
              </a:rPr>
              <a:t>V唯一的标签</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p:nvPr/>
        </p:nvSpPr>
        <p:spPr>
          <a:xfrm>
            <a:off x="3609589" y="2268263"/>
            <a:ext cx="4545008" cy="2470424"/>
          </a:xfrm>
          <a:prstGeom prst="rect">
            <a:avLst/>
          </a:prstGeom>
          <a:blipFill>
            <a:blip r:embed="rId1" cstate="print"/>
            <a:stretch>
              <a:fillRect/>
            </a:stretch>
          </a:blipFill>
        </p:spPr>
        <p:txBody>
          <a:bodyPr wrap="square" lIns="0" tIns="0" rIns="0" bIns="0" rtlCol="0"/>
          <a:lstStyle/>
          <a:p/>
        </p:txBody>
      </p:sp>
      <p:sp>
        <p:nvSpPr>
          <p:cNvPr id="5" name="object 5"/>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22909" cy="443230"/>
          </a:xfrm>
          <a:custGeom>
            <a:avLst/>
            <a:gdLst/>
            <a:ahLst/>
            <a:cxnLst/>
            <a:rect l="l" t="t" r="r" b="b"/>
            <a:pathLst>
              <a:path w="422909" h="443230">
                <a:moveTo>
                  <a:pt x="0" y="443114"/>
                </a:moveTo>
                <a:lnTo>
                  <a:pt x="0" y="0"/>
                </a:lnTo>
                <a:lnTo>
                  <a:pt x="422640" y="0"/>
                </a:lnTo>
                <a:lnTo>
                  <a:pt x="0" y="443114"/>
                </a:lnTo>
                <a:close/>
              </a:path>
            </a:pathLst>
          </a:custGeom>
          <a:solidFill>
            <a:srgbClr val="C00000"/>
          </a:solidFill>
        </p:spPr>
        <p:txBody>
          <a:bodyPr wrap="square" lIns="0" tIns="0" rIns="0" bIns="0" rtlCol="0"/>
          <a:lstStyle/>
          <a:p/>
        </p:txBody>
      </p:sp>
      <p:sp>
        <p:nvSpPr>
          <p:cNvPr id="3" name="object 3"/>
          <p:cNvSpPr/>
          <p:nvPr/>
        </p:nvSpPr>
        <p:spPr>
          <a:xfrm>
            <a:off x="2394204" y="1135380"/>
            <a:ext cx="6791325" cy="510540"/>
          </a:xfrm>
          <a:custGeom>
            <a:avLst/>
            <a:gdLst/>
            <a:ahLst/>
            <a:cxnLst/>
            <a:rect l="l" t="t" r="r" b="b"/>
            <a:pathLst>
              <a:path w="6791325" h="510539">
                <a:moveTo>
                  <a:pt x="0" y="0"/>
                </a:moveTo>
                <a:lnTo>
                  <a:pt x="6790944" y="0"/>
                </a:lnTo>
                <a:lnTo>
                  <a:pt x="6790944" y="510540"/>
                </a:lnTo>
                <a:lnTo>
                  <a:pt x="0" y="510540"/>
                </a:lnTo>
                <a:lnTo>
                  <a:pt x="0" y="0"/>
                </a:lnTo>
                <a:close/>
              </a:path>
            </a:pathLst>
          </a:custGeom>
          <a:solidFill>
            <a:srgbClr val="D9D9D9"/>
          </a:solidFill>
        </p:spPr>
        <p:txBody>
          <a:bodyPr wrap="square" lIns="0" tIns="0" rIns="0" bIns="0" rtlCol="0"/>
          <a:lstStyle/>
          <a:p/>
        </p:txBody>
      </p:sp>
      <p:sp>
        <p:nvSpPr>
          <p:cNvPr id="4" name="object 4"/>
          <p:cNvSpPr/>
          <p:nvPr/>
        </p:nvSpPr>
        <p:spPr>
          <a:xfrm>
            <a:off x="8916923" y="1134656"/>
            <a:ext cx="522605" cy="511809"/>
          </a:xfrm>
          <a:custGeom>
            <a:avLst/>
            <a:gdLst/>
            <a:ahLst/>
            <a:cxnLst/>
            <a:rect l="l" t="t" r="r" b="b"/>
            <a:pathLst>
              <a:path w="522604" h="511810">
                <a:moveTo>
                  <a:pt x="261023" y="511327"/>
                </a:moveTo>
                <a:lnTo>
                  <a:pt x="214075" y="507207"/>
                </a:lnTo>
                <a:lnTo>
                  <a:pt x="169890" y="495327"/>
                </a:lnTo>
                <a:lnTo>
                  <a:pt x="129206" y="476405"/>
                </a:lnTo>
                <a:lnTo>
                  <a:pt x="92763" y="451160"/>
                </a:lnTo>
                <a:lnTo>
                  <a:pt x="61297" y="420310"/>
                </a:lnTo>
                <a:lnTo>
                  <a:pt x="35550" y="384573"/>
                </a:lnTo>
                <a:lnTo>
                  <a:pt x="16258" y="344669"/>
                </a:lnTo>
                <a:lnTo>
                  <a:pt x="4162" y="301316"/>
                </a:lnTo>
                <a:lnTo>
                  <a:pt x="0" y="255231"/>
                </a:lnTo>
                <a:lnTo>
                  <a:pt x="4162" y="209404"/>
                </a:lnTo>
                <a:lnTo>
                  <a:pt x="16258" y="166251"/>
                </a:lnTo>
                <a:lnTo>
                  <a:pt x="35550" y="126497"/>
                </a:lnTo>
                <a:lnTo>
                  <a:pt x="61297" y="90869"/>
                </a:lnTo>
                <a:lnTo>
                  <a:pt x="92763" y="60091"/>
                </a:lnTo>
                <a:lnTo>
                  <a:pt x="129206" y="34889"/>
                </a:lnTo>
                <a:lnTo>
                  <a:pt x="169890" y="15990"/>
                </a:lnTo>
                <a:lnTo>
                  <a:pt x="214075" y="4118"/>
                </a:lnTo>
                <a:lnTo>
                  <a:pt x="261023" y="0"/>
                </a:lnTo>
                <a:lnTo>
                  <a:pt x="307966" y="4119"/>
                </a:lnTo>
                <a:lnTo>
                  <a:pt x="352150" y="15995"/>
                </a:lnTo>
                <a:lnTo>
                  <a:pt x="392835" y="34905"/>
                </a:lnTo>
                <a:lnTo>
                  <a:pt x="429286" y="60129"/>
                </a:lnTo>
                <a:lnTo>
                  <a:pt x="460762" y="90943"/>
                </a:lnTo>
                <a:lnTo>
                  <a:pt x="486529" y="126625"/>
                </a:lnTo>
                <a:lnTo>
                  <a:pt x="505846" y="166454"/>
                </a:lnTo>
                <a:lnTo>
                  <a:pt x="517978" y="209707"/>
                </a:lnTo>
                <a:lnTo>
                  <a:pt x="522185" y="255663"/>
                </a:lnTo>
                <a:lnTo>
                  <a:pt x="517978" y="301619"/>
                </a:lnTo>
                <a:lnTo>
                  <a:pt x="505846" y="344872"/>
                </a:lnTo>
                <a:lnTo>
                  <a:pt x="486529" y="384701"/>
                </a:lnTo>
                <a:lnTo>
                  <a:pt x="460762" y="420384"/>
                </a:lnTo>
                <a:lnTo>
                  <a:pt x="429286" y="451198"/>
                </a:lnTo>
                <a:lnTo>
                  <a:pt x="392835" y="476421"/>
                </a:lnTo>
                <a:lnTo>
                  <a:pt x="352150" y="495332"/>
                </a:lnTo>
                <a:lnTo>
                  <a:pt x="307966" y="507208"/>
                </a:lnTo>
                <a:lnTo>
                  <a:pt x="261023" y="511327"/>
                </a:lnTo>
                <a:close/>
              </a:path>
            </a:pathLst>
          </a:custGeom>
          <a:solidFill>
            <a:srgbClr val="D9D9D9"/>
          </a:solidFill>
        </p:spPr>
        <p:txBody>
          <a:bodyPr wrap="square" lIns="0" tIns="0" rIns="0" bIns="0" rtlCol="0"/>
          <a:lstStyle/>
          <a:p/>
        </p:txBody>
      </p:sp>
      <p:sp>
        <p:nvSpPr>
          <p:cNvPr id="5" name="object 5"/>
          <p:cNvSpPr/>
          <p:nvPr/>
        </p:nvSpPr>
        <p:spPr>
          <a:xfrm>
            <a:off x="2098548" y="1134110"/>
            <a:ext cx="521970" cy="511809"/>
          </a:xfrm>
          <a:custGeom>
            <a:avLst/>
            <a:gdLst/>
            <a:ahLst/>
            <a:cxnLst/>
            <a:rect l="l" t="t" r="r" b="b"/>
            <a:pathLst>
              <a:path w="521969" h="511810">
                <a:moveTo>
                  <a:pt x="260667" y="511327"/>
                </a:moveTo>
                <a:lnTo>
                  <a:pt x="213720" y="507208"/>
                </a:lnTo>
                <a:lnTo>
                  <a:pt x="169536" y="495332"/>
                </a:lnTo>
                <a:lnTo>
                  <a:pt x="128858" y="476421"/>
                </a:lnTo>
                <a:lnTo>
                  <a:pt x="92428" y="451198"/>
                </a:lnTo>
                <a:lnTo>
                  <a:pt x="60989" y="420384"/>
                </a:lnTo>
                <a:lnTo>
                  <a:pt x="35283" y="384701"/>
                </a:lnTo>
                <a:lnTo>
                  <a:pt x="16055" y="344872"/>
                </a:lnTo>
                <a:lnTo>
                  <a:pt x="4056" y="301699"/>
                </a:lnTo>
                <a:lnTo>
                  <a:pt x="0" y="255777"/>
                </a:lnTo>
                <a:lnTo>
                  <a:pt x="4056" y="209788"/>
                </a:lnTo>
                <a:lnTo>
                  <a:pt x="16096" y="166454"/>
                </a:lnTo>
                <a:lnTo>
                  <a:pt x="35324" y="126625"/>
                </a:lnTo>
                <a:lnTo>
                  <a:pt x="61023" y="90943"/>
                </a:lnTo>
                <a:lnTo>
                  <a:pt x="92453" y="60129"/>
                </a:lnTo>
                <a:lnTo>
                  <a:pt x="128873" y="34905"/>
                </a:lnTo>
                <a:lnTo>
                  <a:pt x="169543" y="15995"/>
                </a:lnTo>
                <a:lnTo>
                  <a:pt x="213722" y="4119"/>
                </a:lnTo>
                <a:lnTo>
                  <a:pt x="260667" y="0"/>
                </a:lnTo>
                <a:lnTo>
                  <a:pt x="307611" y="4119"/>
                </a:lnTo>
                <a:lnTo>
                  <a:pt x="351797" y="15996"/>
                </a:lnTo>
                <a:lnTo>
                  <a:pt x="392486" y="34909"/>
                </a:lnTo>
                <a:lnTo>
                  <a:pt x="428940" y="60139"/>
                </a:lnTo>
                <a:lnTo>
                  <a:pt x="460421" y="90962"/>
                </a:lnTo>
                <a:lnTo>
                  <a:pt x="486189" y="126659"/>
                </a:lnTo>
                <a:lnTo>
                  <a:pt x="505506" y="166508"/>
                </a:lnTo>
                <a:lnTo>
                  <a:pt x="517622" y="209707"/>
                </a:lnTo>
                <a:lnTo>
                  <a:pt x="521830" y="255663"/>
                </a:lnTo>
                <a:lnTo>
                  <a:pt x="517622" y="301619"/>
                </a:lnTo>
                <a:lnTo>
                  <a:pt x="505464" y="344926"/>
                </a:lnTo>
                <a:lnTo>
                  <a:pt x="486148" y="384735"/>
                </a:lnTo>
                <a:lnTo>
                  <a:pt x="460387" y="420403"/>
                </a:lnTo>
                <a:lnTo>
                  <a:pt x="428915" y="451208"/>
                </a:lnTo>
                <a:lnTo>
                  <a:pt x="392471" y="476425"/>
                </a:lnTo>
                <a:lnTo>
                  <a:pt x="351790" y="495333"/>
                </a:lnTo>
                <a:lnTo>
                  <a:pt x="307609" y="507208"/>
                </a:lnTo>
                <a:lnTo>
                  <a:pt x="260667" y="511327"/>
                </a:lnTo>
                <a:close/>
              </a:path>
            </a:pathLst>
          </a:custGeom>
          <a:solidFill>
            <a:srgbClr val="A6A6A6"/>
          </a:solidFill>
        </p:spPr>
        <p:txBody>
          <a:bodyPr wrap="square" lIns="0" tIns="0" rIns="0" bIns="0" rtlCol="0"/>
          <a:lstStyle/>
          <a:p/>
        </p:txBody>
      </p:sp>
      <p:sp>
        <p:nvSpPr>
          <p:cNvPr id="6" name="object 6"/>
          <p:cNvSpPr txBox="1"/>
          <p:nvPr/>
        </p:nvSpPr>
        <p:spPr>
          <a:xfrm>
            <a:off x="2243112" y="1107389"/>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1</a:t>
            </a:r>
            <a:endParaRPr sz="3200">
              <a:latin typeface="Calibri" panose="020F0502020204030204"/>
              <a:cs typeface="Calibri" panose="020F0502020204030204"/>
            </a:endParaRPr>
          </a:p>
        </p:txBody>
      </p:sp>
      <p:sp>
        <p:nvSpPr>
          <p:cNvPr id="7" name="object 7"/>
          <p:cNvSpPr/>
          <p:nvPr/>
        </p:nvSpPr>
        <p:spPr>
          <a:xfrm>
            <a:off x="2394204" y="1789176"/>
            <a:ext cx="6791325" cy="509270"/>
          </a:xfrm>
          <a:custGeom>
            <a:avLst/>
            <a:gdLst/>
            <a:ahLst/>
            <a:cxnLst/>
            <a:rect l="l" t="t" r="r" b="b"/>
            <a:pathLst>
              <a:path w="6791325" h="509269">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8" name="object 8"/>
          <p:cNvSpPr/>
          <p:nvPr/>
        </p:nvSpPr>
        <p:spPr>
          <a:xfrm>
            <a:off x="8916923" y="1788566"/>
            <a:ext cx="522605" cy="511175"/>
          </a:xfrm>
          <a:custGeom>
            <a:avLst/>
            <a:gdLst/>
            <a:ahLst/>
            <a:cxnLst/>
            <a:rect l="l" t="t" r="r" b="b"/>
            <a:pathLst>
              <a:path w="522604" h="511175">
                <a:moveTo>
                  <a:pt x="261023" y="510717"/>
                </a:moveTo>
                <a:lnTo>
                  <a:pt x="214075" y="506603"/>
                </a:lnTo>
                <a:lnTo>
                  <a:pt x="169890" y="494739"/>
                </a:lnTo>
                <a:lnTo>
                  <a:pt x="129206" y="475845"/>
                </a:lnTo>
                <a:lnTo>
                  <a:pt x="92763" y="450640"/>
                </a:lnTo>
                <a:lnTo>
                  <a:pt x="61297" y="419843"/>
                </a:lnTo>
                <a:lnTo>
                  <a:pt x="35550" y="384173"/>
                </a:lnTo>
                <a:lnTo>
                  <a:pt x="16258" y="344349"/>
                </a:lnTo>
                <a:lnTo>
                  <a:pt x="4162" y="301091"/>
                </a:lnTo>
                <a:lnTo>
                  <a:pt x="0" y="255117"/>
                </a:lnTo>
                <a:lnTo>
                  <a:pt x="4162" y="209287"/>
                </a:lnTo>
                <a:lnTo>
                  <a:pt x="16258" y="166141"/>
                </a:lnTo>
                <a:lnTo>
                  <a:pt x="35550" y="126401"/>
                </a:lnTo>
                <a:lnTo>
                  <a:pt x="61297" y="90791"/>
                </a:lnTo>
                <a:lnTo>
                  <a:pt x="92763" y="60035"/>
                </a:lnTo>
                <a:lnTo>
                  <a:pt x="129206" y="34854"/>
                </a:lnTo>
                <a:lnTo>
                  <a:pt x="169890" y="15972"/>
                </a:lnTo>
                <a:lnTo>
                  <a:pt x="214075" y="4113"/>
                </a:lnTo>
                <a:lnTo>
                  <a:pt x="261023" y="0"/>
                </a:lnTo>
                <a:lnTo>
                  <a:pt x="307966" y="4114"/>
                </a:lnTo>
                <a:lnTo>
                  <a:pt x="352150" y="15975"/>
                </a:lnTo>
                <a:lnTo>
                  <a:pt x="392835" y="34863"/>
                </a:lnTo>
                <a:lnTo>
                  <a:pt x="429286" y="60056"/>
                </a:lnTo>
                <a:lnTo>
                  <a:pt x="460762" y="90833"/>
                </a:lnTo>
                <a:lnTo>
                  <a:pt x="486529" y="126473"/>
                </a:lnTo>
                <a:lnTo>
                  <a:pt x="505846" y="166254"/>
                </a:lnTo>
                <a:lnTo>
                  <a:pt x="517978" y="209457"/>
                </a:lnTo>
                <a:lnTo>
                  <a:pt x="522185" y="255358"/>
                </a:lnTo>
                <a:lnTo>
                  <a:pt x="517978" y="301260"/>
                </a:lnTo>
                <a:lnTo>
                  <a:pt x="505846" y="344462"/>
                </a:lnTo>
                <a:lnTo>
                  <a:pt x="486529" y="384244"/>
                </a:lnTo>
                <a:lnTo>
                  <a:pt x="460762" y="419884"/>
                </a:lnTo>
                <a:lnTo>
                  <a:pt x="429286" y="450661"/>
                </a:lnTo>
                <a:lnTo>
                  <a:pt x="392835" y="475854"/>
                </a:lnTo>
                <a:lnTo>
                  <a:pt x="352150" y="494742"/>
                </a:lnTo>
                <a:lnTo>
                  <a:pt x="307966" y="506603"/>
                </a:lnTo>
                <a:lnTo>
                  <a:pt x="261023" y="510717"/>
                </a:lnTo>
                <a:close/>
              </a:path>
            </a:pathLst>
          </a:custGeom>
          <a:solidFill>
            <a:srgbClr val="D9D9D9"/>
          </a:solidFill>
        </p:spPr>
        <p:txBody>
          <a:bodyPr wrap="square" lIns="0" tIns="0" rIns="0" bIns="0" rtlCol="0"/>
          <a:lstStyle/>
          <a:p/>
        </p:txBody>
      </p:sp>
      <p:sp>
        <p:nvSpPr>
          <p:cNvPr id="9" name="object 9"/>
          <p:cNvSpPr/>
          <p:nvPr/>
        </p:nvSpPr>
        <p:spPr>
          <a:xfrm>
            <a:off x="2098548" y="1788020"/>
            <a:ext cx="521970" cy="511175"/>
          </a:xfrm>
          <a:custGeom>
            <a:avLst/>
            <a:gdLst/>
            <a:ahLst/>
            <a:cxnLst/>
            <a:rect l="l" t="t" r="r" b="b"/>
            <a:pathLst>
              <a:path w="521969" h="511175">
                <a:moveTo>
                  <a:pt x="260667" y="510730"/>
                </a:moveTo>
                <a:lnTo>
                  <a:pt x="213719" y="506615"/>
                </a:lnTo>
                <a:lnTo>
                  <a:pt x="169531" y="494753"/>
                </a:lnTo>
                <a:lnTo>
                  <a:pt x="128848" y="475863"/>
                </a:lnTo>
                <a:lnTo>
                  <a:pt x="92411" y="450668"/>
                </a:lnTo>
                <a:lnTo>
                  <a:pt x="60965" y="419889"/>
                </a:lnTo>
                <a:lnTo>
                  <a:pt x="35299" y="384338"/>
                </a:lnTo>
                <a:lnTo>
                  <a:pt x="16070" y="344607"/>
                </a:lnTo>
                <a:lnTo>
                  <a:pt x="4056" y="301475"/>
                </a:lnTo>
                <a:lnTo>
                  <a:pt x="0" y="255663"/>
                </a:lnTo>
                <a:lnTo>
                  <a:pt x="4056" y="209674"/>
                </a:lnTo>
                <a:lnTo>
                  <a:pt x="16070" y="166403"/>
                </a:lnTo>
                <a:lnTo>
                  <a:pt x="35299" y="126569"/>
                </a:lnTo>
                <a:lnTo>
                  <a:pt x="61003" y="90890"/>
                </a:lnTo>
                <a:lnTo>
                  <a:pt x="92477" y="60060"/>
                </a:lnTo>
                <a:lnTo>
                  <a:pt x="128888" y="34866"/>
                </a:lnTo>
                <a:lnTo>
                  <a:pt x="169551" y="15977"/>
                </a:lnTo>
                <a:lnTo>
                  <a:pt x="213725" y="4114"/>
                </a:lnTo>
                <a:lnTo>
                  <a:pt x="260667" y="0"/>
                </a:lnTo>
                <a:lnTo>
                  <a:pt x="307612" y="4114"/>
                </a:lnTo>
                <a:lnTo>
                  <a:pt x="351801" y="15980"/>
                </a:lnTo>
                <a:lnTo>
                  <a:pt x="392496" y="34877"/>
                </a:lnTo>
                <a:lnTo>
                  <a:pt x="428957" y="60087"/>
                </a:lnTo>
                <a:lnTo>
                  <a:pt x="460445" y="90890"/>
                </a:lnTo>
                <a:lnTo>
                  <a:pt x="486173" y="126478"/>
                </a:lnTo>
                <a:lnTo>
                  <a:pt x="505491" y="166259"/>
                </a:lnTo>
                <a:lnTo>
                  <a:pt x="517622" y="209460"/>
                </a:lnTo>
                <a:lnTo>
                  <a:pt x="521830" y="255358"/>
                </a:lnTo>
                <a:lnTo>
                  <a:pt x="517622" y="301261"/>
                </a:lnTo>
                <a:lnTo>
                  <a:pt x="505491" y="344464"/>
                </a:lnTo>
                <a:lnTo>
                  <a:pt x="486173" y="384247"/>
                </a:lnTo>
                <a:lnTo>
                  <a:pt x="460353" y="419942"/>
                </a:lnTo>
                <a:lnTo>
                  <a:pt x="428891" y="450695"/>
                </a:lnTo>
                <a:lnTo>
                  <a:pt x="392456" y="475875"/>
                </a:lnTo>
                <a:lnTo>
                  <a:pt x="351782" y="494756"/>
                </a:lnTo>
                <a:lnTo>
                  <a:pt x="307606" y="506616"/>
                </a:lnTo>
                <a:lnTo>
                  <a:pt x="260667" y="510730"/>
                </a:lnTo>
                <a:close/>
              </a:path>
            </a:pathLst>
          </a:custGeom>
          <a:solidFill>
            <a:srgbClr val="A6A6A6"/>
          </a:solidFill>
        </p:spPr>
        <p:txBody>
          <a:bodyPr wrap="square" lIns="0" tIns="0" rIns="0" bIns="0" rtlCol="0"/>
          <a:lstStyle/>
          <a:p/>
        </p:txBody>
      </p:sp>
      <p:sp>
        <p:nvSpPr>
          <p:cNvPr id="10" name="object 10"/>
          <p:cNvSpPr txBox="1"/>
          <p:nvPr/>
        </p:nvSpPr>
        <p:spPr>
          <a:xfrm>
            <a:off x="2243112" y="1760588"/>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2</a:t>
            </a:r>
            <a:endParaRPr sz="3200">
              <a:latin typeface="Calibri" panose="020F0502020204030204"/>
              <a:cs typeface="Calibri" panose="020F0502020204030204"/>
            </a:endParaRPr>
          </a:p>
        </p:txBody>
      </p:sp>
      <p:sp>
        <p:nvSpPr>
          <p:cNvPr id="11" name="object 11"/>
          <p:cNvSpPr/>
          <p:nvPr/>
        </p:nvSpPr>
        <p:spPr>
          <a:xfrm>
            <a:off x="2394204" y="2441448"/>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12" name="object 12"/>
          <p:cNvSpPr/>
          <p:nvPr/>
        </p:nvSpPr>
        <p:spPr>
          <a:xfrm>
            <a:off x="8916923" y="2441867"/>
            <a:ext cx="522605" cy="511175"/>
          </a:xfrm>
          <a:custGeom>
            <a:avLst/>
            <a:gdLst/>
            <a:ahLst/>
            <a:cxnLst/>
            <a:rect l="l" t="t" r="r" b="b"/>
            <a:pathLst>
              <a:path w="522604" h="511175">
                <a:moveTo>
                  <a:pt x="261023" y="510717"/>
                </a:moveTo>
                <a:lnTo>
                  <a:pt x="214074" y="506603"/>
                </a:lnTo>
                <a:lnTo>
                  <a:pt x="169884" y="494742"/>
                </a:lnTo>
                <a:lnTo>
                  <a:pt x="129193" y="475854"/>
                </a:lnTo>
                <a:lnTo>
                  <a:pt x="92740" y="450661"/>
                </a:lnTo>
                <a:lnTo>
                  <a:pt x="61266" y="419884"/>
                </a:lnTo>
                <a:lnTo>
                  <a:pt x="35550" y="384319"/>
                </a:lnTo>
                <a:lnTo>
                  <a:pt x="16258" y="344582"/>
                </a:lnTo>
                <a:lnTo>
                  <a:pt x="4162" y="301439"/>
                </a:lnTo>
                <a:lnTo>
                  <a:pt x="0" y="255612"/>
                </a:lnTo>
                <a:lnTo>
                  <a:pt x="4162" y="209635"/>
                </a:lnTo>
                <a:lnTo>
                  <a:pt x="16258" y="166374"/>
                </a:lnTo>
                <a:lnTo>
                  <a:pt x="35550" y="126548"/>
                </a:lnTo>
                <a:lnTo>
                  <a:pt x="61342" y="90833"/>
                </a:lnTo>
                <a:lnTo>
                  <a:pt x="92795" y="60056"/>
                </a:lnTo>
                <a:lnTo>
                  <a:pt x="129227" y="34863"/>
                </a:lnTo>
                <a:lnTo>
                  <a:pt x="169901" y="15975"/>
                </a:lnTo>
                <a:lnTo>
                  <a:pt x="214079" y="4114"/>
                </a:lnTo>
                <a:lnTo>
                  <a:pt x="261023" y="0"/>
                </a:lnTo>
                <a:lnTo>
                  <a:pt x="307968" y="4114"/>
                </a:lnTo>
                <a:lnTo>
                  <a:pt x="352156" y="15978"/>
                </a:lnTo>
                <a:lnTo>
                  <a:pt x="392849" y="34872"/>
                </a:lnTo>
                <a:lnTo>
                  <a:pt x="429308" y="60078"/>
                </a:lnTo>
                <a:lnTo>
                  <a:pt x="460794" y="90876"/>
                </a:lnTo>
                <a:lnTo>
                  <a:pt x="486529" y="126473"/>
                </a:lnTo>
                <a:lnTo>
                  <a:pt x="505846" y="166254"/>
                </a:lnTo>
                <a:lnTo>
                  <a:pt x="517978" y="209457"/>
                </a:lnTo>
                <a:lnTo>
                  <a:pt x="522185" y="255358"/>
                </a:lnTo>
                <a:lnTo>
                  <a:pt x="517978" y="301260"/>
                </a:lnTo>
                <a:lnTo>
                  <a:pt x="505846" y="344462"/>
                </a:lnTo>
                <a:lnTo>
                  <a:pt x="486529" y="384244"/>
                </a:lnTo>
                <a:lnTo>
                  <a:pt x="460718" y="419928"/>
                </a:lnTo>
                <a:lnTo>
                  <a:pt x="429253" y="450683"/>
                </a:lnTo>
                <a:lnTo>
                  <a:pt x="392815" y="475863"/>
                </a:lnTo>
                <a:lnTo>
                  <a:pt x="352139" y="494744"/>
                </a:lnTo>
                <a:lnTo>
                  <a:pt x="307962" y="506604"/>
                </a:lnTo>
                <a:lnTo>
                  <a:pt x="261023" y="510717"/>
                </a:lnTo>
                <a:close/>
              </a:path>
            </a:pathLst>
          </a:custGeom>
          <a:solidFill>
            <a:srgbClr val="D9D9D9"/>
          </a:solidFill>
        </p:spPr>
        <p:txBody>
          <a:bodyPr wrap="square" lIns="0" tIns="0" rIns="0" bIns="0" rtlCol="0"/>
          <a:lstStyle/>
          <a:p/>
        </p:txBody>
      </p:sp>
      <p:sp>
        <p:nvSpPr>
          <p:cNvPr id="13" name="object 13"/>
          <p:cNvSpPr/>
          <p:nvPr/>
        </p:nvSpPr>
        <p:spPr>
          <a:xfrm>
            <a:off x="2098548" y="2441333"/>
            <a:ext cx="521970" cy="511175"/>
          </a:xfrm>
          <a:custGeom>
            <a:avLst/>
            <a:gdLst/>
            <a:ahLst/>
            <a:cxnLst/>
            <a:rect l="l" t="t" r="r" b="b"/>
            <a:pathLst>
              <a:path w="521969" h="511175">
                <a:moveTo>
                  <a:pt x="260667" y="510717"/>
                </a:moveTo>
                <a:lnTo>
                  <a:pt x="213720" y="506602"/>
                </a:lnTo>
                <a:lnTo>
                  <a:pt x="169539" y="494732"/>
                </a:lnTo>
                <a:lnTo>
                  <a:pt x="128864" y="475824"/>
                </a:lnTo>
                <a:lnTo>
                  <a:pt x="92438" y="450592"/>
                </a:lnTo>
                <a:lnTo>
                  <a:pt x="61003" y="419752"/>
                </a:lnTo>
                <a:lnTo>
                  <a:pt x="35299" y="384020"/>
                </a:lnTo>
                <a:lnTo>
                  <a:pt x="16070" y="344111"/>
                </a:lnTo>
                <a:lnTo>
                  <a:pt x="4056" y="300740"/>
                </a:lnTo>
                <a:lnTo>
                  <a:pt x="0" y="254622"/>
                </a:lnTo>
                <a:lnTo>
                  <a:pt x="4056" y="208939"/>
                </a:lnTo>
                <a:lnTo>
                  <a:pt x="16070" y="165908"/>
                </a:lnTo>
                <a:lnTo>
                  <a:pt x="35299" y="126254"/>
                </a:lnTo>
                <a:lnTo>
                  <a:pt x="61003" y="90707"/>
                </a:lnTo>
                <a:lnTo>
                  <a:pt x="92438" y="59991"/>
                </a:lnTo>
                <a:lnTo>
                  <a:pt x="128864" y="34836"/>
                </a:lnTo>
                <a:lnTo>
                  <a:pt x="169539" y="15967"/>
                </a:lnTo>
                <a:lnTo>
                  <a:pt x="213720" y="4113"/>
                </a:lnTo>
                <a:lnTo>
                  <a:pt x="260667" y="0"/>
                </a:lnTo>
                <a:lnTo>
                  <a:pt x="307611" y="4114"/>
                </a:lnTo>
                <a:lnTo>
                  <a:pt x="351794" y="15975"/>
                </a:lnTo>
                <a:lnTo>
                  <a:pt x="392480" y="34863"/>
                </a:lnTo>
                <a:lnTo>
                  <a:pt x="428930" y="60056"/>
                </a:lnTo>
                <a:lnTo>
                  <a:pt x="460407" y="90833"/>
                </a:lnTo>
                <a:lnTo>
                  <a:pt x="486173" y="126473"/>
                </a:lnTo>
                <a:lnTo>
                  <a:pt x="505491" y="166254"/>
                </a:lnTo>
                <a:lnTo>
                  <a:pt x="517622" y="209457"/>
                </a:lnTo>
                <a:lnTo>
                  <a:pt x="521830" y="255358"/>
                </a:lnTo>
                <a:lnTo>
                  <a:pt x="517622" y="301257"/>
                </a:lnTo>
                <a:lnTo>
                  <a:pt x="505491" y="344457"/>
                </a:lnTo>
                <a:lnTo>
                  <a:pt x="486173" y="384238"/>
                </a:lnTo>
                <a:lnTo>
                  <a:pt x="460407" y="419879"/>
                </a:lnTo>
                <a:lnTo>
                  <a:pt x="428930" y="450657"/>
                </a:lnTo>
                <a:lnTo>
                  <a:pt x="392480" y="475851"/>
                </a:lnTo>
                <a:lnTo>
                  <a:pt x="351794" y="494740"/>
                </a:lnTo>
                <a:lnTo>
                  <a:pt x="307611" y="506603"/>
                </a:lnTo>
                <a:lnTo>
                  <a:pt x="260667" y="510717"/>
                </a:lnTo>
                <a:close/>
              </a:path>
            </a:pathLst>
          </a:custGeom>
          <a:solidFill>
            <a:srgbClr val="A6A6A6"/>
          </a:solidFill>
        </p:spPr>
        <p:txBody>
          <a:bodyPr wrap="square" lIns="0" tIns="0" rIns="0" bIns="0" rtlCol="0"/>
          <a:lstStyle/>
          <a:p/>
        </p:txBody>
      </p:sp>
      <p:sp>
        <p:nvSpPr>
          <p:cNvPr id="14" name="object 14"/>
          <p:cNvSpPr txBox="1"/>
          <p:nvPr/>
        </p:nvSpPr>
        <p:spPr>
          <a:xfrm>
            <a:off x="2243112" y="2413888"/>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3</a:t>
            </a:r>
            <a:endParaRPr sz="3200">
              <a:latin typeface="Calibri" panose="020F0502020204030204"/>
              <a:cs typeface="Calibri" panose="020F0502020204030204"/>
            </a:endParaRPr>
          </a:p>
        </p:txBody>
      </p:sp>
      <p:sp>
        <p:nvSpPr>
          <p:cNvPr id="15" name="object 15"/>
          <p:cNvSpPr/>
          <p:nvPr/>
        </p:nvSpPr>
        <p:spPr>
          <a:xfrm>
            <a:off x="2394204" y="3095244"/>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16" name="object 16"/>
          <p:cNvSpPr/>
          <p:nvPr/>
        </p:nvSpPr>
        <p:spPr>
          <a:xfrm>
            <a:off x="8916923" y="3095167"/>
            <a:ext cx="522605" cy="511175"/>
          </a:xfrm>
          <a:custGeom>
            <a:avLst/>
            <a:gdLst/>
            <a:ahLst/>
            <a:cxnLst/>
            <a:rect l="l" t="t" r="r" b="b"/>
            <a:pathLst>
              <a:path w="522604" h="511175">
                <a:moveTo>
                  <a:pt x="261099" y="510794"/>
                </a:moveTo>
                <a:lnTo>
                  <a:pt x="214148" y="506679"/>
                </a:lnTo>
                <a:lnTo>
                  <a:pt x="169949" y="494816"/>
                </a:lnTo>
                <a:lnTo>
                  <a:pt x="129242" y="475926"/>
                </a:lnTo>
                <a:lnTo>
                  <a:pt x="92832" y="450792"/>
                </a:lnTo>
                <a:lnTo>
                  <a:pt x="61360" y="420070"/>
                </a:lnTo>
                <a:lnTo>
                  <a:pt x="35603" y="384514"/>
                </a:lnTo>
                <a:lnTo>
                  <a:pt x="16299" y="344850"/>
                </a:lnTo>
                <a:lnTo>
                  <a:pt x="4185" y="301806"/>
                </a:lnTo>
                <a:lnTo>
                  <a:pt x="0" y="256108"/>
                </a:lnTo>
                <a:lnTo>
                  <a:pt x="4185" y="209990"/>
                </a:lnTo>
                <a:lnTo>
                  <a:pt x="16299" y="166617"/>
                </a:lnTo>
                <a:lnTo>
                  <a:pt x="35603" y="126706"/>
                </a:lnTo>
                <a:lnTo>
                  <a:pt x="61360" y="90972"/>
                </a:lnTo>
                <a:lnTo>
                  <a:pt x="92832" y="60130"/>
                </a:lnTo>
                <a:lnTo>
                  <a:pt x="129337" y="34870"/>
                </a:lnTo>
                <a:lnTo>
                  <a:pt x="169995" y="15978"/>
                </a:lnTo>
                <a:lnTo>
                  <a:pt x="214163" y="4114"/>
                </a:lnTo>
                <a:lnTo>
                  <a:pt x="261099" y="0"/>
                </a:lnTo>
                <a:lnTo>
                  <a:pt x="308047" y="4115"/>
                </a:lnTo>
                <a:lnTo>
                  <a:pt x="352244" y="15986"/>
                </a:lnTo>
                <a:lnTo>
                  <a:pt x="392953" y="34896"/>
                </a:lnTo>
                <a:lnTo>
                  <a:pt x="429367" y="60068"/>
                </a:lnTo>
                <a:lnTo>
                  <a:pt x="460846" y="90850"/>
                </a:lnTo>
                <a:lnTo>
                  <a:pt x="486614" y="126495"/>
                </a:lnTo>
                <a:lnTo>
                  <a:pt x="505933" y="166282"/>
                </a:lnTo>
                <a:lnTo>
                  <a:pt x="518066" y="209490"/>
                </a:lnTo>
                <a:lnTo>
                  <a:pt x="522274" y="255397"/>
                </a:lnTo>
                <a:lnTo>
                  <a:pt x="518066" y="301306"/>
                </a:lnTo>
                <a:lnTo>
                  <a:pt x="505933" y="344516"/>
                </a:lnTo>
                <a:lnTo>
                  <a:pt x="486614" y="384303"/>
                </a:lnTo>
                <a:lnTo>
                  <a:pt x="460846" y="419948"/>
                </a:lnTo>
                <a:lnTo>
                  <a:pt x="429367" y="450730"/>
                </a:lnTo>
                <a:lnTo>
                  <a:pt x="392858" y="475952"/>
                </a:lnTo>
                <a:lnTo>
                  <a:pt x="352199" y="494824"/>
                </a:lnTo>
                <a:lnTo>
                  <a:pt x="308032" y="506680"/>
                </a:lnTo>
                <a:lnTo>
                  <a:pt x="261099" y="510794"/>
                </a:lnTo>
                <a:close/>
              </a:path>
            </a:pathLst>
          </a:custGeom>
          <a:solidFill>
            <a:srgbClr val="D9D9D9"/>
          </a:solidFill>
        </p:spPr>
        <p:txBody>
          <a:bodyPr wrap="square" lIns="0" tIns="0" rIns="0" bIns="0" rtlCol="0"/>
          <a:lstStyle/>
          <a:p/>
        </p:txBody>
      </p:sp>
      <p:sp>
        <p:nvSpPr>
          <p:cNvPr id="17" name="object 17"/>
          <p:cNvSpPr/>
          <p:nvPr/>
        </p:nvSpPr>
        <p:spPr>
          <a:xfrm>
            <a:off x="2098548" y="3094634"/>
            <a:ext cx="521970" cy="511175"/>
          </a:xfrm>
          <a:custGeom>
            <a:avLst/>
            <a:gdLst/>
            <a:ahLst/>
            <a:cxnLst/>
            <a:rect l="l" t="t" r="r" b="b"/>
            <a:pathLst>
              <a:path w="521969" h="511175">
                <a:moveTo>
                  <a:pt x="260667" y="510781"/>
                </a:moveTo>
                <a:lnTo>
                  <a:pt x="213720" y="506666"/>
                </a:lnTo>
                <a:lnTo>
                  <a:pt x="169539" y="494800"/>
                </a:lnTo>
                <a:lnTo>
                  <a:pt x="128864" y="475903"/>
                </a:lnTo>
                <a:lnTo>
                  <a:pt x="92438" y="450694"/>
                </a:lnTo>
                <a:lnTo>
                  <a:pt x="61003" y="419890"/>
                </a:lnTo>
                <a:lnTo>
                  <a:pt x="35299" y="384212"/>
                </a:lnTo>
                <a:lnTo>
                  <a:pt x="16070" y="344377"/>
                </a:lnTo>
                <a:lnTo>
                  <a:pt x="4056" y="301106"/>
                </a:lnTo>
                <a:lnTo>
                  <a:pt x="0" y="255117"/>
                </a:lnTo>
                <a:lnTo>
                  <a:pt x="4056" y="209290"/>
                </a:lnTo>
                <a:lnTo>
                  <a:pt x="16070" y="166146"/>
                </a:lnTo>
                <a:lnTo>
                  <a:pt x="35299" y="126407"/>
                </a:lnTo>
                <a:lnTo>
                  <a:pt x="61003" y="90797"/>
                </a:lnTo>
                <a:lnTo>
                  <a:pt x="92438" y="60039"/>
                </a:lnTo>
                <a:lnTo>
                  <a:pt x="128864" y="34857"/>
                </a:lnTo>
                <a:lnTo>
                  <a:pt x="169539" y="15974"/>
                </a:lnTo>
                <a:lnTo>
                  <a:pt x="213720" y="4114"/>
                </a:lnTo>
                <a:lnTo>
                  <a:pt x="260667" y="0"/>
                </a:lnTo>
                <a:lnTo>
                  <a:pt x="307611" y="4114"/>
                </a:lnTo>
                <a:lnTo>
                  <a:pt x="351796" y="15977"/>
                </a:lnTo>
                <a:lnTo>
                  <a:pt x="392483" y="34867"/>
                </a:lnTo>
                <a:lnTo>
                  <a:pt x="428935" y="60062"/>
                </a:lnTo>
                <a:lnTo>
                  <a:pt x="460414" y="90842"/>
                </a:lnTo>
                <a:lnTo>
                  <a:pt x="486182" y="126486"/>
                </a:lnTo>
                <a:lnTo>
                  <a:pt x="505502" y="166271"/>
                </a:lnTo>
                <a:lnTo>
                  <a:pt x="517634" y="209478"/>
                </a:lnTo>
                <a:lnTo>
                  <a:pt x="521843" y="255384"/>
                </a:lnTo>
                <a:lnTo>
                  <a:pt x="517634" y="301294"/>
                </a:lnTo>
                <a:lnTo>
                  <a:pt x="505502" y="344503"/>
                </a:lnTo>
                <a:lnTo>
                  <a:pt x="486182" y="384291"/>
                </a:lnTo>
                <a:lnTo>
                  <a:pt x="460414" y="419936"/>
                </a:lnTo>
                <a:lnTo>
                  <a:pt x="428935" y="450717"/>
                </a:lnTo>
                <a:lnTo>
                  <a:pt x="392483" y="475913"/>
                </a:lnTo>
                <a:lnTo>
                  <a:pt x="351796" y="494803"/>
                </a:lnTo>
                <a:lnTo>
                  <a:pt x="307611" y="506666"/>
                </a:lnTo>
                <a:lnTo>
                  <a:pt x="260667" y="510781"/>
                </a:lnTo>
                <a:close/>
              </a:path>
            </a:pathLst>
          </a:custGeom>
          <a:solidFill>
            <a:srgbClr val="A6A6A6"/>
          </a:solidFill>
        </p:spPr>
        <p:txBody>
          <a:bodyPr wrap="square" lIns="0" tIns="0" rIns="0" bIns="0" rtlCol="0"/>
          <a:lstStyle/>
          <a:p/>
        </p:txBody>
      </p:sp>
      <p:sp>
        <p:nvSpPr>
          <p:cNvPr id="18" name="object 18"/>
          <p:cNvSpPr txBox="1"/>
          <p:nvPr/>
        </p:nvSpPr>
        <p:spPr>
          <a:xfrm>
            <a:off x="2243112" y="3067202"/>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4</a:t>
            </a:r>
            <a:endParaRPr sz="3200">
              <a:latin typeface="Calibri" panose="020F0502020204030204"/>
              <a:cs typeface="Calibri" panose="020F0502020204030204"/>
            </a:endParaRPr>
          </a:p>
        </p:txBody>
      </p:sp>
      <p:sp>
        <p:nvSpPr>
          <p:cNvPr id="19" name="object 19"/>
          <p:cNvSpPr/>
          <p:nvPr/>
        </p:nvSpPr>
        <p:spPr>
          <a:xfrm>
            <a:off x="2394204" y="3749040"/>
            <a:ext cx="6791325" cy="509270"/>
          </a:xfrm>
          <a:custGeom>
            <a:avLst/>
            <a:gdLst/>
            <a:ahLst/>
            <a:cxnLst/>
            <a:rect l="l" t="t" r="r" b="b"/>
            <a:pathLst>
              <a:path w="6791325" h="509270">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20" name="object 20"/>
          <p:cNvSpPr/>
          <p:nvPr/>
        </p:nvSpPr>
        <p:spPr>
          <a:xfrm>
            <a:off x="8916923" y="3748468"/>
            <a:ext cx="522605" cy="511175"/>
          </a:xfrm>
          <a:custGeom>
            <a:avLst/>
            <a:gdLst/>
            <a:ahLst/>
            <a:cxnLst/>
            <a:rect l="l" t="t" r="r" b="b"/>
            <a:pathLst>
              <a:path w="522604" h="511175">
                <a:moveTo>
                  <a:pt x="261023" y="510717"/>
                </a:moveTo>
                <a:lnTo>
                  <a:pt x="214075" y="506603"/>
                </a:lnTo>
                <a:lnTo>
                  <a:pt x="169890" y="494739"/>
                </a:lnTo>
                <a:lnTo>
                  <a:pt x="129206" y="475844"/>
                </a:lnTo>
                <a:lnTo>
                  <a:pt x="92763" y="450636"/>
                </a:lnTo>
                <a:lnTo>
                  <a:pt x="61297" y="419836"/>
                </a:lnTo>
                <a:lnTo>
                  <a:pt x="35550" y="384161"/>
                </a:lnTo>
                <a:lnTo>
                  <a:pt x="16258" y="344331"/>
                </a:lnTo>
                <a:lnTo>
                  <a:pt x="4162" y="301064"/>
                </a:lnTo>
                <a:lnTo>
                  <a:pt x="0" y="255079"/>
                </a:lnTo>
                <a:lnTo>
                  <a:pt x="4162" y="209264"/>
                </a:lnTo>
                <a:lnTo>
                  <a:pt x="16258" y="166128"/>
                </a:lnTo>
                <a:lnTo>
                  <a:pt x="35550" y="126396"/>
                </a:lnTo>
                <a:lnTo>
                  <a:pt x="61297" y="90790"/>
                </a:lnTo>
                <a:lnTo>
                  <a:pt x="92763" y="60035"/>
                </a:lnTo>
                <a:lnTo>
                  <a:pt x="129206" y="34855"/>
                </a:lnTo>
                <a:lnTo>
                  <a:pt x="169890" y="15973"/>
                </a:lnTo>
                <a:lnTo>
                  <a:pt x="214075" y="4114"/>
                </a:lnTo>
                <a:lnTo>
                  <a:pt x="261023" y="0"/>
                </a:lnTo>
                <a:lnTo>
                  <a:pt x="307966" y="4114"/>
                </a:lnTo>
                <a:lnTo>
                  <a:pt x="352150" y="15977"/>
                </a:lnTo>
                <a:lnTo>
                  <a:pt x="392835" y="34866"/>
                </a:lnTo>
                <a:lnTo>
                  <a:pt x="429286" y="60060"/>
                </a:lnTo>
                <a:lnTo>
                  <a:pt x="460762" y="90838"/>
                </a:lnTo>
                <a:lnTo>
                  <a:pt x="486529" y="126478"/>
                </a:lnTo>
                <a:lnTo>
                  <a:pt x="505846" y="166259"/>
                </a:lnTo>
                <a:lnTo>
                  <a:pt x="517978" y="209460"/>
                </a:lnTo>
                <a:lnTo>
                  <a:pt x="522185" y="255358"/>
                </a:lnTo>
                <a:lnTo>
                  <a:pt x="517978" y="301260"/>
                </a:lnTo>
                <a:lnTo>
                  <a:pt x="505846" y="344462"/>
                </a:lnTo>
                <a:lnTo>
                  <a:pt x="486529" y="384244"/>
                </a:lnTo>
                <a:lnTo>
                  <a:pt x="460762" y="419884"/>
                </a:lnTo>
                <a:lnTo>
                  <a:pt x="429286" y="450661"/>
                </a:lnTo>
                <a:lnTo>
                  <a:pt x="392835" y="475854"/>
                </a:lnTo>
                <a:lnTo>
                  <a:pt x="352150" y="494742"/>
                </a:lnTo>
                <a:lnTo>
                  <a:pt x="307966" y="506603"/>
                </a:lnTo>
                <a:lnTo>
                  <a:pt x="261023" y="510717"/>
                </a:lnTo>
                <a:close/>
              </a:path>
            </a:pathLst>
          </a:custGeom>
          <a:solidFill>
            <a:srgbClr val="D9D9D9"/>
          </a:solidFill>
        </p:spPr>
        <p:txBody>
          <a:bodyPr wrap="square" lIns="0" tIns="0" rIns="0" bIns="0" rtlCol="0"/>
          <a:lstStyle/>
          <a:p/>
        </p:txBody>
      </p:sp>
      <p:sp>
        <p:nvSpPr>
          <p:cNvPr id="21" name="object 21"/>
          <p:cNvSpPr/>
          <p:nvPr/>
        </p:nvSpPr>
        <p:spPr>
          <a:xfrm>
            <a:off x="2098548" y="3747935"/>
            <a:ext cx="521970" cy="511175"/>
          </a:xfrm>
          <a:custGeom>
            <a:avLst/>
            <a:gdLst/>
            <a:ahLst/>
            <a:cxnLst/>
            <a:rect l="l" t="t" r="r" b="b"/>
            <a:pathLst>
              <a:path w="521969" h="511175">
                <a:moveTo>
                  <a:pt x="260667" y="510717"/>
                </a:moveTo>
                <a:lnTo>
                  <a:pt x="213719" y="506603"/>
                </a:lnTo>
                <a:lnTo>
                  <a:pt x="169533" y="494742"/>
                </a:lnTo>
                <a:lnTo>
                  <a:pt x="128850" y="475854"/>
                </a:lnTo>
                <a:lnTo>
                  <a:pt x="92415" y="450661"/>
                </a:lnTo>
                <a:lnTo>
                  <a:pt x="60971" y="419884"/>
                </a:lnTo>
                <a:lnTo>
                  <a:pt x="35299" y="384319"/>
                </a:lnTo>
                <a:lnTo>
                  <a:pt x="16070" y="344582"/>
                </a:lnTo>
                <a:lnTo>
                  <a:pt x="4056" y="301439"/>
                </a:lnTo>
                <a:lnTo>
                  <a:pt x="0" y="255612"/>
                </a:lnTo>
                <a:lnTo>
                  <a:pt x="4056" y="209635"/>
                </a:lnTo>
                <a:lnTo>
                  <a:pt x="16070" y="166374"/>
                </a:lnTo>
                <a:lnTo>
                  <a:pt x="35299" y="126548"/>
                </a:lnTo>
                <a:lnTo>
                  <a:pt x="61047" y="90833"/>
                </a:lnTo>
                <a:lnTo>
                  <a:pt x="92470" y="60056"/>
                </a:lnTo>
                <a:lnTo>
                  <a:pt x="128884" y="34863"/>
                </a:lnTo>
                <a:lnTo>
                  <a:pt x="169549" y="15975"/>
                </a:lnTo>
                <a:lnTo>
                  <a:pt x="213724" y="4114"/>
                </a:lnTo>
                <a:lnTo>
                  <a:pt x="260667" y="0"/>
                </a:lnTo>
                <a:lnTo>
                  <a:pt x="307612" y="4114"/>
                </a:lnTo>
                <a:lnTo>
                  <a:pt x="351800" y="15978"/>
                </a:lnTo>
                <a:lnTo>
                  <a:pt x="392493" y="34872"/>
                </a:lnTo>
                <a:lnTo>
                  <a:pt x="428953" y="60078"/>
                </a:lnTo>
                <a:lnTo>
                  <a:pt x="460438" y="90876"/>
                </a:lnTo>
                <a:lnTo>
                  <a:pt x="486173" y="126473"/>
                </a:lnTo>
                <a:lnTo>
                  <a:pt x="505491" y="166254"/>
                </a:lnTo>
                <a:lnTo>
                  <a:pt x="517622" y="209457"/>
                </a:lnTo>
                <a:lnTo>
                  <a:pt x="521830" y="255358"/>
                </a:lnTo>
                <a:lnTo>
                  <a:pt x="517622" y="301260"/>
                </a:lnTo>
                <a:lnTo>
                  <a:pt x="505491" y="344462"/>
                </a:lnTo>
                <a:lnTo>
                  <a:pt x="486173" y="384244"/>
                </a:lnTo>
                <a:lnTo>
                  <a:pt x="460362" y="419928"/>
                </a:lnTo>
                <a:lnTo>
                  <a:pt x="428898" y="450683"/>
                </a:lnTo>
                <a:lnTo>
                  <a:pt x="392460" y="475863"/>
                </a:lnTo>
                <a:lnTo>
                  <a:pt x="351784" y="494744"/>
                </a:lnTo>
                <a:lnTo>
                  <a:pt x="307607" y="506604"/>
                </a:lnTo>
                <a:lnTo>
                  <a:pt x="260667" y="510717"/>
                </a:lnTo>
                <a:close/>
              </a:path>
            </a:pathLst>
          </a:custGeom>
          <a:solidFill>
            <a:srgbClr val="A6A6A6"/>
          </a:solidFill>
        </p:spPr>
        <p:txBody>
          <a:bodyPr wrap="square" lIns="0" tIns="0" rIns="0" bIns="0" rtlCol="0"/>
          <a:lstStyle/>
          <a:p/>
        </p:txBody>
      </p:sp>
      <p:sp>
        <p:nvSpPr>
          <p:cNvPr id="22" name="object 22"/>
          <p:cNvSpPr txBox="1"/>
          <p:nvPr/>
        </p:nvSpPr>
        <p:spPr>
          <a:xfrm>
            <a:off x="2243112" y="3720490"/>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5</a:t>
            </a:r>
            <a:endParaRPr sz="3200">
              <a:latin typeface="Calibri" panose="020F0502020204030204"/>
              <a:cs typeface="Calibri" panose="020F0502020204030204"/>
            </a:endParaRPr>
          </a:p>
        </p:txBody>
      </p:sp>
      <p:sp>
        <p:nvSpPr>
          <p:cNvPr id="23" name="object 23"/>
          <p:cNvSpPr/>
          <p:nvPr/>
        </p:nvSpPr>
        <p:spPr>
          <a:xfrm>
            <a:off x="2394204" y="4401311"/>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24" name="object 24"/>
          <p:cNvSpPr/>
          <p:nvPr/>
        </p:nvSpPr>
        <p:spPr>
          <a:xfrm>
            <a:off x="8916923" y="4401781"/>
            <a:ext cx="522605" cy="511175"/>
          </a:xfrm>
          <a:custGeom>
            <a:avLst/>
            <a:gdLst/>
            <a:ahLst/>
            <a:cxnLst/>
            <a:rect l="l" t="t" r="r" b="b"/>
            <a:pathLst>
              <a:path w="522604" h="511175">
                <a:moveTo>
                  <a:pt x="261023" y="510717"/>
                </a:moveTo>
                <a:lnTo>
                  <a:pt x="214074" y="506603"/>
                </a:lnTo>
                <a:lnTo>
                  <a:pt x="169886" y="494740"/>
                </a:lnTo>
                <a:lnTo>
                  <a:pt x="129196" y="475851"/>
                </a:lnTo>
                <a:lnTo>
                  <a:pt x="92744" y="450657"/>
                </a:lnTo>
                <a:lnTo>
                  <a:pt x="61272" y="419879"/>
                </a:lnTo>
                <a:lnTo>
                  <a:pt x="35520" y="384238"/>
                </a:lnTo>
                <a:lnTo>
                  <a:pt x="16258" y="344553"/>
                </a:lnTo>
                <a:lnTo>
                  <a:pt x="4162" y="301400"/>
                </a:lnTo>
                <a:lnTo>
                  <a:pt x="0" y="255562"/>
                </a:lnTo>
                <a:lnTo>
                  <a:pt x="4162" y="209599"/>
                </a:lnTo>
                <a:lnTo>
                  <a:pt x="16258" y="166350"/>
                </a:lnTo>
                <a:lnTo>
                  <a:pt x="35550" y="126533"/>
                </a:lnTo>
                <a:lnTo>
                  <a:pt x="61333" y="90833"/>
                </a:lnTo>
                <a:lnTo>
                  <a:pt x="92788" y="60056"/>
                </a:lnTo>
                <a:lnTo>
                  <a:pt x="129223" y="34863"/>
                </a:lnTo>
                <a:lnTo>
                  <a:pt x="169899" y="15975"/>
                </a:lnTo>
                <a:lnTo>
                  <a:pt x="214078" y="4114"/>
                </a:lnTo>
                <a:lnTo>
                  <a:pt x="261023" y="0"/>
                </a:lnTo>
                <a:lnTo>
                  <a:pt x="307967" y="4114"/>
                </a:lnTo>
                <a:lnTo>
                  <a:pt x="352155" y="15977"/>
                </a:lnTo>
                <a:lnTo>
                  <a:pt x="392846" y="34870"/>
                </a:lnTo>
                <a:lnTo>
                  <a:pt x="429304" y="60074"/>
                </a:lnTo>
                <a:lnTo>
                  <a:pt x="460788" y="90868"/>
                </a:lnTo>
                <a:lnTo>
                  <a:pt x="486558" y="126533"/>
                </a:lnTo>
                <a:lnTo>
                  <a:pt x="505846" y="166254"/>
                </a:lnTo>
                <a:lnTo>
                  <a:pt x="517978" y="209457"/>
                </a:lnTo>
                <a:lnTo>
                  <a:pt x="522185" y="255358"/>
                </a:lnTo>
                <a:lnTo>
                  <a:pt x="517978" y="301257"/>
                </a:lnTo>
                <a:lnTo>
                  <a:pt x="505846" y="344457"/>
                </a:lnTo>
                <a:lnTo>
                  <a:pt x="486529" y="384238"/>
                </a:lnTo>
                <a:lnTo>
                  <a:pt x="460727" y="419914"/>
                </a:lnTo>
                <a:lnTo>
                  <a:pt x="429260" y="450675"/>
                </a:lnTo>
                <a:lnTo>
                  <a:pt x="392819" y="475859"/>
                </a:lnTo>
                <a:lnTo>
                  <a:pt x="352142" y="494742"/>
                </a:lnTo>
                <a:lnTo>
                  <a:pt x="307963" y="506603"/>
                </a:lnTo>
                <a:lnTo>
                  <a:pt x="261023" y="510717"/>
                </a:lnTo>
                <a:close/>
              </a:path>
            </a:pathLst>
          </a:custGeom>
          <a:solidFill>
            <a:srgbClr val="D9D9D9"/>
          </a:solidFill>
        </p:spPr>
        <p:txBody>
          <a:bodyPr wrap="square" lIns="0" tIns="0" rIns="0" bIns="0" rtlCol="0"/>
          <a:lstStyle/>
          <a:p/>
        </p:txBody>
      </p:sp>
      <p:sp>
        <p:nvSpPr>
          <p:cNvPr id="25" name="object 25"/>
          <p:cNvSpPr/>
          <p:nvPr/>
        </p:nvSpPr>
        <p:spPr>
          <a:xfrm>
            <a:off x="2098548" y="4401235"/>
            <a:ext cx="521970" cy="511175"/>
          </a:xfrm>
          <a:custGeom>
            <a:avLst/>
            <a:gdLst/>
            <a:ahLst/>
            <a:cxnLst/>
            <a:rect l="l" t="t" r="r" b="b"/>
            <a:pathLst>
              <a:path w="521969" h="511175">
                <a:moveTo>
                  <a:pt x="260667" y="510717"/>
                </a:moveTo>
                <a:lnTo>
                  <a:pt x="213716" y="506603"/>
                </a:lnTo>
                <a:lnTo>
                  <a:pt x="169521" y="494742"/>
                </a:lnTo>
                <a:lnTo>
                  <a:pt x="128824" y="475854"/>
                </a:lnTo>
                <a:lnTo>
                  <a:pt x="92438" y="450727"/>
                </a:lnTo>
                <a:lnTo>
                  <a:pt x="61003" y="420012"/>
                </a:lnTo>
                <a:lnTo>
                  <a:pt x="35299" y="384466"/>
                </a:lnTo>
                <a:lnTo>
                  <a:pt x="16070" y="344815"/>
                </a:lnTo>
                <a:lnTo>
                  <a:pt x="4056" y="301786"/>
                </a:lnTo>
                <a:lnTo>
                  <a:pt x="0" y="256108"/>
                </a:lnTo>
                <a:lnTo>
                  <a:pt x="4056" y="209983"/>
                </a:lnTo>
                <a:lnTo>
                  <a:pt x="16070" y="166607"/>
                </a:lnTo>
                <a:lnTo>
                  <a:pt x="35299" y="126695"/>
                </a:lnTo>
                <a:lnTo>
                  <a:pt x="61003" y="90961"/>
                </a:lnTo>
                <a:lnTo>
                  <a:pt x="92438" y="60122"/>
                </a:lnTo>
                <a:lnTo>
                  <a:pt x="128924" y="34863"/>
                </a:lnTo>
                <a:lnTo>
                  <a:pt x="169569" y="15975"/>
                </a:lnTo>
                <a:lnTo>
                  <a:pt x="213732" y="4114"/>
                </a:lnTo>
                <a:lnTo>
                  <a:pt x="260667" y="0"/>
                </a:lnTo>
                <a:lnTo>
                  <a:pt x="307615" y="4115"/>
                </a:lnTo>
                <a:lnTo>
                  <a:pt x="351812" y="15983"/>
                </a:lnTo>
                <a:lnTo>
                  <a:pt x="392520" y="34891"/>
                </a:lnTo>
                <a:lnTo>
                  <a:pt x="428930" y="60056"/>
                </a:lnTo>
                <a:lnTo>
                  <a:pt x="460407" y="90833"/>
                </a:lnTo>
                <a:lnTo>
                  <a:pt x="486173" y="126473"/>
                </a:lnTo>
                <a:lnTo>
                  <a:pt x="505491" y="166254"/>
                </a:lnTo>
                <a:lnTo>
                  <a:pt x="517622" y="209457"/>
                </a:lnTo>
                <a:lnTo>
                  <a:pt x="521830" y="255358"/>
                </a:lnTo>
                <a:lnTo>
                  <a:pt x="517622" y="301260"/>
                </a:lnTo>
                <a:lnTo>
                  <a:pt x="505491" y="344462"/>
                </a:lnTo>
                <a:lnTo>
                  <a:pt x="486173" y="384244"/>
                </a:lnTo>
                <a:lnTo>
                  <a:pt x="460407" y="419884"/>
                </a:lnTo>
                <a:lnTo>
                  <a:pt x="428930" y="450661"/>
                </a:lnTo>
                <a:lnTo>
                  <a:pt x="392420" y="475882"/>
                </a:lnTo>
                <a:lnTo>
                  <a:pt x="351764" y="494750"/>
                </a:lnTo>
                <a:lnTo>
                  <a:pt x="307599" y="506604"/>
                </a:lnTo>
                <a:lnTo>
                  <a:pt x="260667" y="510717"/>
                </a:lnTo>
                <a:close/>
              </a:path>
            </a:pathLst>
          </a:custGeom>
          <a:solidFill>
            <a:srgbClr val="C00000"/>
          </a:solidFill>
        </p:spPr>
        <p:txBody>
          <a:bodyPr wrap="square" lIns="0" tIns="0" rIns="0" bIns="0" rtlCol="0"/>
          <a:lstStyle/>
          <a:p/>
        </p:txBody>
      </p:sp>
      <p:sp>
        <p:nvSpPr>
          <p:cNvPr id="26" name="object 26"/>
          <p:cNvSpPr txBox="1"/>
          <p:nvPr/>
        </p:nvSpPr>
        <p:spPr>
          <a:xfrm>
            <a:off x="2243112" y="4373791"/>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6</a:t>
            </a:r>
            <a:endParaRPr sz="3200">
              <a:latin typeface="Calibri" panose="020F0502020204030204"/>
              <a:cs typeface="Calibri" panose="020F0502020204030204"/>
            </a:endParaRPr>
          </a:p>
        </p:txBody>
      </p:sp>
      <p:sp>
        <p:nvSpPr>
          <p:cNvPr id="27" name="object 27"/>
          <p:cNvSpPr/>
          <p:nvPr/>
        </p:nvSpPr>
        <p:spPr>
          <a:xfrm>
            <a:off x="2394204" y="5055108"/>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28" name="object 28"/>
          <p:cNvSpPr/>
          <p:nvPr/>
        </p:nvSpPr>
        <p:spPr>
          <a:xfrm>
            <a:off x="8916923" y="5055082"/>
            <a:ext cx="522605" cy="511175"/>
          </a:xfrm>
          <a:custGeom>
            <a:avLst/>
            <a:gdLst/>
            <a:ahLst/>
            <a:cxnLst/>
            <a:rect l="l" t="t" r="r" b="b"/>
            <a:pathLst>
              <a:path w="522604" h="511175">
                <a:moveTo>
                  <a:pt x="261023" y="510717"/>
                </a:moveTo>
                <a:lnTo>
                  <a:pt x="214072" y="506603"/>
                </a:lnTo>
                <a:lnTo>
                  <a:pt x="169874" y="494740"/>
                </a:lnTo>
                <a:lnTo>
                  <a:pt x="129169" y="475851"/>
                </a:lnTo>
                <a:lnTo>
                  <a:pt x="92763" y="450718"/>
                </a:lnTo>
                <a:lnTo>
                  <a:pt x="61297" y="419999"/>
                </a:lnTo>
                <a:lnTo>
                  <a:pt x="35550" y="384445"/>
                </a:lnTo>
                <a:lnTo>
                  <a:pt x="16258" y="344786"/>
                </a:lnTo>
                <a:lnTo>
                  <a:pt x="4162" y="301747"/>
                </a:lnTo>
                <a:lnTo>
                  <a:pt x="0" y="256057"/>
                </a:lnTo>
                <a:lnTo>
                  <a:pt x="4162" y="209947"/>
                </a:lnTo>
                <a:lnTo>
                  <a:pt x="16258" y="166583"/>
                </a:lnTo>
                <a:lnTo>
                  <a:pt x="35550" y="126680"/>
                </a:lnTo>
                <a:lnTo>
                  <a:pt x="61297" y="90953"/>
                </a:lnTo>
                <a:lnTo>
                  <a:pt x="92763" y="60117"/>
                </a:lnTo>
                <a:lnTo>
                  <a:pt x="129262" y="34863"/>
                </a:lnTo>
                <a:lnTo>
                  <a:pt x="169919" y="15975"/>
                </a:lnTo>
                <a:lnTo>
                  <a:pt x="214086" y="4114"/>
                </a:lnTo>
                <a:lnTo>
                  <a:pt x="261023" y="0"/>
                </a:lnTo>
                <a:lnTo>
                  <a:pt x="307970" y="4115"/>
                </a:lnTo>
                <a:lnTo>
                  <a:pt x="352166" y="15983"/>
                </a:lnTo>
                <a:lnTo>
                  <a:pt x="392873" y="34889"/>
                </a:lnTo>
                <a:lnTo>
                  <a:pt x="429286" y="60056"/>
                </a:lnTo>
                <a:lnTo>
                  <a:pt x="460762" y="90833"/>
                </a:lnTo>
                <a:lnTo>
                  <a:pt x="486529" y="126473"/>
                </a:lnTo>
                <a:lnTo>
                  <a:pt x="505846" y="166254"/>
                </a:lnTo>
                <a:lnTo>
                  <a:pt x="517978" y="209457"/>
                </a:lnTo>
                <a:lnTo>
                  <a:pt x="522185" y="255358"/>
                </a:lnTo>
                <a:lnTo>
                  <a:pt x="517978" y="301257"/>
                </a:lnTo>
                <a:lnTo>
                  <a:pt x="505846" y="344457"/>
                </a:lnTo>
                <a:lnTo>
                  <a:pt x="486529" y="384238"/>
                </a:lnTo>
                <a:lnTo>
                  <a:pt x="460762" y="419879"/>
                </a:lnTo>
                <a:lnTo>
                  <a:pt x="429286" y="450657"/>
                </a:lnTo>
                <a:lnTo>
                  <a:pt x="392780" y="475877"/>
                </a:lnTo>
                <a:lnTo>
                  <a:pt x="352121" y="494748"/>
                </a:lnTo>
                <a:lnTo>
                  <a:pt x="307955" y="506604"/>
                </a:lnTo>
                <a:lnTo>
                  <a:pt x="261023" y="510717"/>
                </a:lnTo>
                <a:close/>
              </a:path>
            </a:pathLst>
          </a:custGeom>
          <a:solidFill>
            <a:srgbClr val="D9D9D9"/>
          </a:solidFill>
        </p:spPr>
        <p:txBody>
          <a:bodyPr wrap="square" lIns="0" tIns="0" rIns="0" bIns="0" rtlCol="0"/>
          <a:lstStyle/>
          <a:p/>
        </p:txBody>
      </p:sp>
      <p:sp>
        <p:nvSpPr>
          <p:cNvPr id="29" name="object 29"/>
          <p:cNvSpPr/>
          <p:nvPr/>
        </p:nvSpPr>
        <p:spPr>
          <a:xfrm>
            <a:off x="2098548" y="5054536"/>
            <a:ext cx="521970" cy="511175"/>
          </a:xfrm>
          <a:custGeom>
            <a:avLst/>
            <a:gdLst/>
            <a:ahLst/>
            <a:cxnLst/>
            <a:rect l="l" t="t" r="r" b="b"/>
            <a:pathLst>
              <a:path w="521969" h="511175">
                <a:moveTo>
                  <a:pt x="260667" y="510717"/>
                </a:moveTo>
                <a:lnTo>
                  <a:pt x="213720" y="506603"/>
                </a:lnTo>
                <a:lnTo>
                  <a:pt x="169539" y="494739"/>
                </a:lnTo>
                <a:lnTo>
                  <a:pt x="128864" y="475844"/>
                </a:lnTo>
                <a:lnTo>
                  <a:pt x="92438" y="450636"/>
                </a:lnTo>
                <a:lnTo>
                  <a:pt x="61003" y="419836"/>
                </a:lnTo>
                <a:lnTo>
                  <a:pt x="35299" y="384161"/>
                </a:lnTo>
                <a:lnTo>
                  <a:pt x="16070" y="344331"/>
                </a:lnTo>
                <a:lnTo>
                  <a:pt x="4056" y="301064"/>
                </a:lnTo>
                <a:lnTo>
                  <a:pt x="0" y="255079"/>
                </a:lnTo>
                <a:lnTo>
                  <a:pt x="4056" y="209260"/>
                </a:lnTo>
                <a:lnTo>
                  <a:pt x="16070" y="166123"/>
                </a:lnTo>
                <a:lnTo>
                  <a:pt x="35299" y="126390"/>
                </a:lnTo>
                <a:lnTo>
                  <a:pt x="61003" y="90785"/>
                </a:lnTo>
                <a:lnTo>
                  <a:pt x="92438" y="60031"/>
                </a:lnTo>
                <a:lnTo>
                  <a:pt x="128864" y="34853"/>
                </a:lnTo>
                <a:lnTo>
                  <a:pt x="169539" y="15972"/>
                </a:lnTo>
                <a:lnTo>
                  <a:pt x="213720" y="4113"/>
                </a:lnTo>
                <a:lnTo>
                  <a:pt x="260667" y="0"/>
                </a:lnTo>
                <a:lnTo>
                  <a:pt x="307611" y="4114"/>
                </a:lnTo>
                <a:lnTo>
                  <a:pt x="351794" y="15975"/>
                </a:lnTo>
                <a:lnTo>
                  <a:pt x="392480" y="34863"/>
                </a:lnTo>
                <a:lnTo>
                  <a:pt x="428930" y="60056"/>
                </a:lnTo>
                <a:lnTo>
                  <a:pt x="460407" y="90833"/>
                </a:lnTo>
                <a:lnTo>
                  <a:pt x="486173" y="126473"/>
                </a:lnTo>
                <a:lnTo>
                  <a:pt x="505491" y="166254"/>
                </a:lnTo>
                <a:lnTo>
                  <a:pt x="517622" y="209457"/>
                </a:lnTo>
                <a:lnTo>
                  <a:pt x="521830" y="255358"/>
                </a:lnTo>
                <a:lnTo>
                  <a:pt x="517622" y="301260"/>
                </a:lnTo>
                <a:lnTo>
                  <a:pt x="505491" y="344462"/>
                </a:lnTo>
                <a:lnTo>
                  <a:pt x="486173" y="384244"/>
                </a:lnTo>
                <a:lnTo>
                  <a:pt x="460407" y="419884"/>
                </a:lnTo>
                <a:lnTo>
                  <a:pt x="428930" y="450661"/>
                </a:lnTo>
                <a:lnTo>
                  <a:pt x="392480" y="475854"/>
                </a:lnTo>
                <a:lnTo>
                  <a:pt x="351794" y="494742"/>
                </a:lnTo>
                <a:lnTo>
                  <a:pt x="307611" y="506603"/>
                </a:lnTo>
                <a:lnTo>
                  <a:pt x="260667" y="510717"/>
                </a:lnTo>
                <a:close/>
              </a:path>
            </a:pathLst>
          </a:custGeom>
          <a:solidFill>
            <a:srgbClr val="A6A6A6"/>
          </a:solidFill>
        </p:spPr>
        <p:txBody>
          <a:bodyPr wrap="square" lIns="0" tIns="0" rIns="0" bIns="0" rtlCol="0"/>
          <a:lstStyle/>
          <a:p/>
        </p:txBody>
      </p:sp>
      <p:sp>
        <p:nvSpPr>
          <p:cNvPr id="30" name="object 30"/>
          <p:cNvSpPr txBox="1"/>
          <p:nvPr/>
        </p:nvSpPr>
        <p:spPr>
          <a:xfrm>
            <a:off x="2243112" y="5027091"/>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7</a:t>
            </a:r>
            <a:endParaRPr sz="3200">
              <a:latin typeface="Calibri" panose="020F0502020204030204"/>
              <a:cs typeface="Calibri" panose="020F0502020204030204"/>
            </a:endParaRPr>
          </a:p>
        </p:txBody>
      </p:sp>
      <p:sp>
        <p:nvSpPr>
          <p:cNvPr id="31" name="object 31"/>
          <p:cNvSpPr/>
          <p:nvPr/>
        </p:nvSpPr>
        <p:spPr>
          <a:xfrm>
            <a:off x="2394204" y="5708903"/>
            <a:ext cx="6791325" cy="509270"/>
          </a:xfrm>
          <a:custGeom>
            <a:avLst/>
            <a:gdLst/>
            <a:ahLst/>
            <a:cxnLst/>
            <a:rect l="l" t="t" r="r" b="b"/>
            <a:pathLst>
              <a:path w="6791325" h="509270">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32" name="object 32"/>
          <p:cNvSpPr/>
          <p:nvPr/>
        </p:nvSpPr>
        <p:spPr>
          <a:xfrm>
            <a:off x="8916923" y="5708383"/>
            <a:ext cx="522605" cy="511175"/>
          </a:xfrm>
          <a:custGeom>
            <a:avLst/>
            <a:gdLst/>
            <a:ahLst/>
            <a:cxnLst/>
            <a:rect l="l" t="t" r="r" b="b"/>
            <a:pathLst>
              <a:path w="522604" h="511175">
                <a:moveTo>
                  <a:pt x="261023" y="510717"/>
                </a:moveTo>
                <a:lnTo>
                  <a:pt x="214075" y="506602"/>
                </a:lnTo>
                <a:lnTo>
                  <a:pt x="169890" y="494737"/>
                </a:lnTo>
                <a:lnTo>
                  <a:pt x="129206" y="475839"/>
                </a:lnTo>
                <a:lnTo>
                  <a:pt x="92763" y="450628"/>
                </a:lnTo>
                <a:lnTo>
                  <a:pt x="61297" y="419822"/>
                </a:lnTo>
                <a:lnTo>
                  <a:pt x="35550" y="384141"/>
                </a:lnTo>
                <a:lnTo>
                  <a:pt x="16258" y="344302"/>
                </a:lnTo>
                <a:lnTo>
                  <a:pt x="4162" y="301025"/>
                </a:lnTo>
                <a:lnTo>
                  <a:pt x="0" y="255028"/>
                </a:lnTo>
                <a:lnTo>
                  <a:pt x="4162" y="209225"/>
                </a:lnTo>
                <a:lnTo>
                  <a:pt x="16258" y="166099"/>
                </a:lnTo>
                <a:lnTo>
                  <a:pt x="35550" y="126375"/>
                </a:lnTo>
                <a:lnTo>
                  <a:pt x="61297" y="90776"/>
                </a:lnTo>
                <a:lnTo>
                  <a:pt x="92763" y="60027"/>
                </a:lnTo>
                <a:lnTo>
                  <a:pt x="129206" y="34851"/>
                </a:lnTo>
                <a:lnTo>
                  <a:pt x="169890" y="15971"/>
                </a:lnTo>
                <a:lnTo>
                  <a:pt x="214075" y="4113"/>
                </a:lnTo>
                <a:lnTo>
                  <a:pt x="261023" y="0"/>
                </a:lnTo>
                <a:lnTo>
                  <a:pt x="307966" y="4114"/>
                </a:lnTo>
                <a:lnTo>
                  <a:pt x="352150" y="15975"/>
                </a:lnTo>
                <a:lnTo>
                  <a:pt x="392835" y="34863"/>
                </a:lnTo>
                <a:lnTo>
                  <a:pt x="429286" y="60056"/>
                </a:lnTo>
                <a:lnTo>
                  <a:pt x="460762" y="90833"/>
                </a:lnTo>
                <a:lnTo>
                  <a:pt x="486529" y="126473"/>
                </a:lnTo>
                <a:lnTo>
                  <a:pt x="505846" y="166254"/>
                </a:lnTo>
                <a:lnTo>
                  <a:pt x="517978" y="209457"/>
                </a:lnTo>
                <a:lnTo>
                  <a:pt x="522185" y="255358"/>
                </a:lnTo>
                <a:lnTo>
                  <a:pt x="517978" y="301257"/>
                </a:lnTo>
                <a:lnTo>
                  <a:pt x="505846" y="344457"/>
                </a:lnTo>
                <a:lnTo>
                  <a:pt x="486529" y="384238"/>
                </a:lnTo>
                <a:lnTo>
                  <a:pt x="460762" y="419879"/>
                </a:lnTo>
                <a:lnTo>
                  <a:pt x="429286" y="450657"/>
                </a:lnTo>
                <a:lnTo>
                  <a:pt x="392835" y="475851"/>
                </a:lnTo>
                <a:lnTo>
                  <a:pt x="352150" y="494740"/>
                </a:lnTo>
                <a:lnTo>
                  <a:pt x="307966" y="506603"/>
                </a:lnTo>
                <a:lnTo>
                  <a:pt x="261023" y="510717"/>
                </a:lnTo>
                <a:close/>
              </a:path>
            </a:pathLst>
          </a:custGeom>
          <a:solidFill>
            <a:srgbClr val="D9D9D9"/>
          </a:solidFill>
        </p:spPr>
        <p:txBody>
          <a:bodyPr wrap="square" lIns="0" tIns="0" rIns="0" bIns="0" rtlCol="0"/>
          <a:lstStyle/>
          <a:p/>
        </p:txBody>
      </p:sp>
      <p:sp>
        <p:nvSpPr>
          <p:cNvPr id="33" name="object 33"/>
          <p:cNvSpPr/>
          <p:nvPr/>
        </p:nvSpPr>
        <p:spPr>
          <a:xfrm>
            <a:off x="2098548" y="5707837"/>
            <a:ext cx="521970" cy="511175"/>
          </a:xfrm>
          <a:custGeom>
            <a:avLst/>
            <a:gdLst/>
            <a:ahLst/>
            <a:cxnLst/>
            <a:rect l="l" t="t" r="r" b="b"/>
            <a:pathLst>
              <a:path w="521969" h="511175">
                <a:moveTo>
                  <a:pt x="260667" y="510717"/>
                </a:moveTo>
                <a:lnTo>
                  <a:pt x="213719" y="506603"/>
                </a:lnTo>
                <a:lnTo>
                  <a:pt x="169534" y="494742"/>
                </a:lnTo>
                <a:lnTo>
                  <a:pt x="128852" y="475854"/>
                </a:lnTo>
                <a:lnTo>
                  <a:pt x="92419" y="450661"/>
                </a:lnTo>
                <a:lnTo>
                  <a:pt x="60976" y="419884"/>
                </a:lnTo>
                <a:lnTo>
                  <a:pt x="35268" y="384244"/>
                </a:lnTo>
                <a:lnTo>
                  <a:pt x="16070" y="344564"/>
                </a:lnTo>
                <a:lnTo>
                  <a:pt x="4056" y="301412"/>
                </a:lnTo>
                <a:lnTo>
                  <a:pt x="0" y="255574"/>
                </a:lnTo>
                <a:lnTo>
                  <a:pt x="4056" y="209608"/>
                </a:lnTo>
                <a:lnTo>
                  <a:pt x="16070" y="166356"/>
                </a:lnTo>
                <a:lnTo>
                  <a:pt x="35299" y="126537"/>
                </a:lnTo>
                <a:lnTo>
                  <a:pt x="61040" y="90833"/>
                </a:lnTo>
                <a:lnTo>
                  <a:pt x="92466" y="60056"/>
                </a:lnTo>
                <a:lnTo>
                  <a:pt x="128881" y="34863"/>
                </a:lnTo>
                <a:lnTo>
                  <a:pt x="169547" y="15975"/>
                </a:lnTo>
                <a:lnTo>
                  <a:pt x="213724" y="4114"/>
                </a:lnTo>
                <a:lnTo>
                  <a:pt x="260667" y="0"/>
                </a:lnTo>
                <a:lnTo>
                  <a:pt x="307612" y="4114"/>
                </a:lnTo>
                <a:lnTo>
                  <a:pt x="351799" y="15977"/>
                </a:lnTo>
                <a:lnTo>
                  <a:pt x="392491" y="34871"/>
                </a:lnTo>
                <a:lnTo>
                  <a:pt x="428949" y="60075"/>
                </a:lnTo>
                <a:lnTo>
                  <a:pt x="460434" y="90870"/>
                </a:lnTo>
                <a:lnTo>
                  <a:pt x="486204" y="126537"/>
                </a:lnTo>
                <a:lnTo>
                  <a:pt x="505491" y="166254"/>
                </a:lnTo>
                <a:lnTo>
                  <a:pt x="517622" y="209457"/>
                </a:lnTo>
                <a:lnTo>
                  <a:pt x="521830" y="255358"/>
                </a:lnTo>
                <a:lnTo>
                  <a:pt x="517622" y="301260"/>
                </a:lnTo>
                <a:lnTo>
                  <a:pt x="505491" y="344462"/>
                </a:lnTo>
                <a:lnTo>
                  <a:pt x="486173" y="384244"/>
                </a:lnTo>
                <a:lnTo>
                  <a:pt x="460369" y="419921"/>
                </a:lnTo>
                <a:lnTo>
                  <a:pt x="428902" y="450680"/>
                </a:lnTo>
                <a:lnTo>
                  <a:pt x="392463" y="475862"/>
                </a:lnTo>
                <a:lnTo>
                  <a:pt x="351785" y="494744"/>
                </a:lnTo>
                <a:lnTo>
                  <a:pt x="307607" y="506604"/>
                </a:lnTo>
                <a:lnTo>
                  <a:pt x="260667" y="510717"/>
                </a:lnTo>
                <a:close/>
              </a:path>
            </a:pathLst>
          </a:custGeom>
          <a:solidFill>
            <a:srgbClr val="A6A6A6"/>
          </a:solidFill>
        </p:spPr>
        <p:txBody>
          <a:bodyPr wrap="square" lIns="0" tIns="0" rIns="0" bIns="0" rtlCol="0"/>
          <a:lstStyle/>
          <a:p/>
        </p:txBody>
      </p:sp>
      <p:sp>
        <p:nvSpPr>
          <p:cNvPr id="34" name="object 34"/>
          <p:cNvSpPr txBox="1"/>
          <p:nvPr/>
        </p:nvSpPr>
        <p:spPr>
          <a:xfrm>
            <a:off x="2961297" y="1193317"/>
            <a:ext cx="251015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关于</a:t>
            </a:r>
            <a:r>
              <a:rPr sz="2400" b="1" spc="-5" dirty="0">
                <a:solidFill>
                  <a:srgbClr val="A6A6A6"/>
                </a:solidFill>
                <a:latin typeface="微软雅黑" panose="020B0503020204020204" charset="-122"/>
                <a:cs typeface="微软雅黑" panose="020B0503020204020204" charset="-122"/>
              </a:rPr>
              <a:t>ISA</a:t>
            </a:r>
            <a:r>
              <a:rPr sz="2400" b="1" dirty="0">
                <a:solidFill>
                  <a:srgbClr val="A6A6A6"/>
                </a:solidFill>
                <a:latin typeface="微软雅黑" panose="020B0503020204020204" charset="-122"/>
                <a:cs typeface="微软雅黑" panose="020B0503020204020204" charset="-122"/>
              </a:rPr>
              <a:t>和</a:t>
            </a:r>
            <a:r>
              <a:rPr sz="2400" b="1" spc="-5" dirty="0">
                <a:solidFill>
                  <a:srgbClr val="A6A6A6"/>
                </a:solidFill>
                <a:latin typeface="微软雅黑" panose="020B0503020204020204" charset="-122"/>
                <a:cs typeface="微软雅黑" panose="020B0503020204020204" charset="-122"/>
              </a:rPr>
              <a:t>RISC-V</a:t>
            </a:r>
            <a:endParaRPr sz="2400">
              <a:latin typeface="微软雅黑" panose="020B0503020204020204" charset="-122"/>
              <a:cs typeface="微软雅黑" panose="020B0503020204020204" charset="-122"/>
            </a:endParaRPr>
          </a:p>
        </p:txBody>
      </p:sp>
      <p:sp>
        <p:nvSpPr>
          <p:cNvPr id="35" name="object 35"/>
          <p:cNvSpPr txBox="1"/>
          <p:nvPr/>
        </p:nvSpPr>
        <p:spPr>
          <a:xfrm>
            <a:off x="2961297" y="1845995"/>
            <a:ext cx="364744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开源</a:t>
            </a:r>
            <a:r>
              <a:rPr sz="2400" b="1" spc="-5" dirty="0">
                <a:solidFill>
                  <a:srgbClr val="A6A6A6"/>
                </a:solidFill>
                <a:latin typeface="微软雅黑" panose="020B0503020204020204" charset="-122"/>
                <a:cs typeface="微软雅黑" panose="020B0503020204020204" charset="-122"/>
              </a:rPr>
              <a:t>RISC-V</a:t>
            </a:r>
            <a:r>
              <a:rPr sz="2400" b="1" dirty="0">
                <a:solidFill>
                  <a:srgbClr val="A6A6A6"/>
                </a:solidFill>
                <a:latin typeface="微软雅黑" panose="020B0503020204020204" charset="-122"/>
                <a:cs typeface="微软雅黑" panose="020B0503020204020204" charset="-122"/>
              </a:rPr>
              <a:t>内核蜂鸟</a:t>
            </a:r>
            <a:r>
              <a:rPr sz="2400" b="1" spc="-5" dirty="0">
                <a:solidFill>
                  <a:srgbClr val="A6A6A6"/>
                </a:solidFill>
                <a:latin typeface="微软雅黑" panose="020B0503020204020204" charset="-122"/>
                <a:cs typeface="微软雅黑" panose="020B0503020204020204" charset="-122"/>
              </a:rPr>
              <a:t>E203</a:t>
            </a:r>
            <a:endParaRPr sz="2400">
              <a:latin typeface="微软雅黑" panose="020B0503020204020204" charset="-122"/>
              <a:cs typeface="微软雅黑" panose="020B0503020204020204" charset="-122"/>
            </a:endParaRPr>
          </a:p>
        </p:txBody>
      </p:sp>
      <p:sp>
        <p:nvSpPr>
          <p:cNvPr id="36" name="object 36"/>
          <p:cNvSpPr txBox="1"/>
          <p:nvPr/>
        </p:nvSpPr>
        <p:spPr>
          <a:xfrm>
            <a:off x="2961297" y="2499918"/>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的中文书籍</a:t>
            </a:r>
            <a:endParaRPr sz="2400">
              <a:latin typeface="微软雅黑" panose="020B0503020204020204" charset="-122"/>
              <a:cs typeface="微软雅黑" panose="020B0503020204020204" charset="-122"/>
            </a:endParaRPr>
          </a:p>
        </p:txBody>
      </p:sp>
      <p:sp>
        <p:nvSpPr>
          <p:cNvPr id="37" name="object 37"/>
          <p:cNvSpPr txBox="1"/>
          <p:nvPr/>
        </p:nvSpPr>
        <p:spPr>
          <a:xfrm>
            <a:off x="2961297" y="3175343"/>
            <a:ext cx="3875404"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蜂鸟</a:t>
            </a:r>
            <a:r>
              <a:rPr sz="2400" b="1" spc="-5" dirty="0">
                <a:solidFill>
                  <a:srgbClr val="A6A6A6"/>
                </a:solidFill>
                <a:latin typeface="微软雅黑" panose="020B0503020204020204" charset="-122"/>
                <a:cs typeface="微软雅黑" panose="020B0503020204020204" charset="-122"/>
              </a:rPr>
              <a:t>E203</a:t>
            </a:r>
            <a:r>
              <a:rPr sz="2400" b="1" dirty="0">
                <a:solidFill>
                  <a:srgbClr val="A6A6A6"/>
                </a:solidFill>
                <a:latin typeface="微软雅黑" panose="020B0503020204020204" charset="-122"/>
                <a:cs typeface="微软雅黑" panose="020B0503020204020204" charset="-122"/>
              </a:rPr>
              <a:t>软硬件D</a:t>
            </a:r>
            <a:r>
              <a:rPr sz="2400" b="1" spc="-5" dirty="0">
                <a:solidFill>
                  <a:srgbClr val="A6A6A6"/>
                </a:solidFill>
                <a:latin typeface="微软雅黑" panose="020B0503020204020204" charset="-122"/>
                <a:cs typeface="微软雅黑" panose="020B0503020204020204" charset="-122"/>
              </a:rPr>
              <a:t>E</a:t>
            </a:r>
            <a:r>
              <a:rPr sz="2400" b="1" dirty="0">
                <a:solidFill>
                  <a:srgbClr val="A6A6A6"/>
                </a:solidFill>
                <a:latin typeface="微软雅黑" panose="020B0503020204020204" charset="-122"/>
                <a:cs typeface="微软雅黑" panose="020B0503020204020204" charset="-122"/>
              </a:rPr>
              <a:t>MO视频</a:t>
            </a:r>
            <a:endParaRPr sz="2400">
              <a:latin typeface="微软雅黑" panose="020B0503020204020204" charset="-122"/>
              <a:cs typeface="微软雅黑" panose="020B0503020204020204" charset="-122"/>
            </a:endParaRPr>
          </a:p>
        </p:txBody>
      </p:sp>
      <p:sp>
        <p:nvSpPr>
          <p:cNvPr id="38" name="object 38"/>
          <p:cNvSpPr txBox="1"/>
          <p:nvPr/>
        </p:nvSpPr>
        <p:spPr>
          <a:xfrm>
            <a:off x="2961297" y="3773335"/>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的几个误区</a:t>
            </a:r>
            <a:endParaRPr sz="2400">
              <a:latin typeface="微软雅黑" panose="020B0503020204020204" charset="-122"/>
              <a:cs typeface="微软雅黑" panose="020B0503020204020204" charset="-122"/>
            </a:endParaRPr>
          </a:p>
        </p:txBody>
      </p:sp>
      <p:sp>
        <p:nvSpPr>
          <p:cNvPr id="39" name="object 39"/>
          <p:cNvSpPr txBox="1"/>
          <p:nvPr/>
        </p:nvSpPr>
        <p:spPr>
          <a:xfrm>
            <a:off x="2961297" y="4459820"/>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C00000"/>
                </a:solidFill>
                <a:latin typeface="微软雅黑" panose="020B0503020204020204" charset="-122"/>
                <a:cs typeface="微软雅黑" panose="020B0503020204020204" charset="-122"/>
              </a:rPr>
              <a:t>RI</a:t>
            </a:r>
            <a:r>
              <a:rPr sz="2400" b="1" dirty="0">
                <a:solidFill>
                  <a:srgbClr val="C00000"/>
                </a:solidFill>
                <a:latin typeface="微软雅黑" panose="020B0503020204020204" charset="-122"/>
                <a:cs typeface="微软雅黑" panose="020B0503020204020204" charset="-122"/>
              </a:rPr>
              <a:t>S</a:t>
            </a:r>
            <a:r>
              <a:rPr sz="2400" b="1" spc="-5" dirty="0">
                <a:solidFill>
                  <a:srgbClr val="C00000"/>
                </a:solidFill>
                <a:latin typeface="微软雅黑" panose="020B0503020204020204" charset="-122"/>
                <a:cs typeface="微软雅黑" panose="020B0503020204020204" charset="-122"/>
              </a:rPr>
              <a:t>C</a:t>
            </a:r>
            <a:r>
              <a:rPr sz="2400" b="1" dirty="0">
                <a:solidFill>
                  <a:srgbClr val="C00000"/>
                </a:solidFill>
                <a:latin typeface="微软雅黑" panose="020B0503020204020204" charset="-122"/>
                <a:cs typeface="微软雅黑" panose="020B0503020204020204" charset="-122"/>
              </a:rPr>
              <a:t>-</a:t>
            </a:r>
            <a:r>
              <a:rPr sz="2400" b="1" spc="-5" dirty="0">
                <a:solidFill>
                  <a:srgbClr val="C00000"/>
                </a:solidFill>
                <a:latin typeface="微软雅黑" panose="020B0503020204020204" charset="-122"/>
                <a:cs typeface="微软雅黑" panose="020B0503020204020204" charset="-122"/>
              </a:rPr>
              <a:t>V</a:t>
            </a:r>
            <a:r>
              <a:rPr sz="2400" b="1" dirty="0">
                <a:solidFill>
                  <a:srgbClr val="C00000"/>
                </a:solidFill>
                <a:latin typeface="微软雅黑" panose="020B0503020204020204" charset="-122"/>
                <a:cs typeface="微软雅黑" panose="020B0503020204020204" charset="-122"/>
              </a:rPr>
              <a:t>的未来趋势</a:t>
            </a:r>
            <a:endParaRPr sz="2400">
              <a:latin typeface="微软雅黑" panose="020B0503020204020204" charset="-122"/>
              <a:cs typeface="微软雅黑" panose="020B0503020204020204" charset="-122"/>
            </a:endParaRPr>
          </a:p>
        </p:txBody>
      </p:sp>
      <p:sp>
        <p:nvSpPr>
          <p:cNvPr id="40" name="object 40"/>
          <p:cNvSpPr txBox="1"/>
          <p:nvPr/>
        </p:nvSpPr>
        <p:spPr>
          <a:xfrm>
            <a:off x="2961297" y="5113121"/>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的商业本质</a:t>
            </a:r>
            <a:endParaRPr sz="2400">
              <a:latin typeface="微软雅黑" panose="020B0503020204020204" charset="-122"/>
              <a:cs typeface="微软雅黑" panose="020B0503020204020204" charset="-122"/>
            </a:endParaRPr>
          </a:p>
        </p:txBody>
      </p:sp>
      <p:sp>
        <p:nvSpPr>
          <p:cNvPr id="41" name="object 41"/>
          <p:cNvSpPr txBox="1"/>
          <p:nvPr/>
        </p:nvSpPr>
        <p:spPr>
          <a:xfrm>
            <a:off x="2243112" y="5782627"/>
            <a:ext cx="2572385" cy="391160"/>
          </a:xfrm>
          <a:prstGeom prst="rect">
            <a:avLst/>
          </a:prstGeom>
        </p:spPr>
        <p:txBody>
          <a:bodyPr vert="horz" wrap="square" lIns="0" tIns="0" rIns="0" bIns="0" rtlCol="0">
            <a:spAutoFit/>
          </a:bodyPr>
          <a:lstStyle/>
          <a:p>
            <a:pPr marL="12700">
              <a:lnSpc>
                <a:spcPts val="3080"/>
              </a:lnSpc>
              <a:tabLst>
                <a:tab pos="730250" algn="l"/>
              </a:tabLst>
            </a:pPr>
            <a:r>
              <a:rPr sz="3200" b="1" dirty="0">
                <a:solidFill>
                  <a:srgbClr val="FFFFFF"/>
                </a:solidFill>
                <a:latin typeface="Calibri" panose="020F0502020204030204"/>
                <a:cs typeface="Calibri" panose="020F0502020204030204"/>
              </a:rPr>
              <a:t>8</a:t>
            </a:r>
            <a:r>
              <a:rPr sz="3200" b="1" dirty="0">
                <a:solidFill>
                  <a:srgbClr val="FFFFFF"/>
                </a:solidFill>
                <a:latin typeface="Calibri" panose="020F0502020204030204"/>
                <a:cs typeface="Calibri" panose="020F0502020204030204"/>
              </a:rPr>
              <a:t>	</a:t>
            </a:r>
            <a:r>
              <a:rPr sz="2400" b="1" dirty="0">
                <a:solidFill>
                  <a:srgbClr val="A6A6A6"/>
                </a:solidFill>
                <a:latin typeface="微软雅黑" panose="020B0503020204020204" charset="-122"/>
                <a:cs typeface="微软雅黑" panose="020B0503020204020204" charset="-122"/>
              </a:rPr>
              <a:t>芯来科技介绍</a:t>
            </a:r>
            <a:endParaRPr sz="2400">
              <a:latin typeface="微软雅黑" panose="020B0503020204020204" charset="-122"/>
              <a:cs typeface="微软雅黑" panose="020B0503020204020204" charset="-122"/>
            </a:endParaRPr>
          </a:p>
        </p:txBody>
      </p:sp>
      <p:sp>
        <p:nvSpPr>
          <p:cNvPr id="42" name="object 42"/>
          <p:cNvSpPr txBox="1">
            <a:spLocks noGrp="1"/>
          </p:cNvSpPr>
          <p:nvPr>
            <p:ph type="title"/>
          </p:nvPr>
        </p:nvSpPr>
        <p:spPr>
          <a:xfrm>
            <a:off x="713105" y="243840"/>
            <a:ext cx="1802764"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C00000"/>
                </a:solidFill>
              </a:rPr>
              <a:t>Age</a:t>
            </a:r>
            <a:r>
              <a:rPr sz="3600" dirty="0">
                <a:solidFill>
                  <a:srgbClr val="C00000"/>
                </a:solidFill>
              </a:rPr>
              <a:t>n</a:t>
            </a:r>
            <a:r>
              <a:rPr sz="3600" spc="-5" dirty="0">
                <a:solidFill>
                  <a:srgbClr val="C00000"/>
                </a:solidFill>
              </a:rPr>
              <a:t>d</a:t>
            </a:r>
            <a:r>
              <a:rPr sz="3600" dirty="0">
                <a:solidFill>
                  <a:srgbClr val="C00000"/>
                </a:solidFill>
              </a:rPr>
              <a:t>a</a:t>
            </a:r>
            <a:endParaRPr sz="3600"/>
          </a:p>
        </p:txBody>
      </p:sp>
      <p:sp>
        <p:nvSpPr>
          <p:cNvPr id="43" name="object 43"/>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8176260" cy="56642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趋势论:处理器领域的几次变革和趋势</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692150" y="1236853"/>
            <a:ext cx="6812280" cy="4048760"/>
          </a:xfrm>
          <a:prstGeom prst="rect">
            <a:avLst/>
          </a:prstGeom>
        </p:spPr>
        <p:txBody>
          <a:bodyPr vert="horz" wrap="square" lIns="0" tIns="134620" rIns="0" bIns="0" rtlCol="0">
            <a:spAutoFit/>
          </a:bodyPr>
          <a:lstStyle/>
          <a:p>
            <a:pPr marL="298450" indent="-285750">
              <a:lnSpc>
                <a:spcPct val="100000"/>
              </a:lnSpc>
              <a:spcBef>
                <a:spcPts val="1060"/>
              </a:spcBef>
              <a:buFont typeface="Wingdings" panose="05000000000000000000"/>
              <a:buChar char=""/>
              <a:tabLst>
                <a:tab pos="297815" algn="l"/>
                <a:tab pos="298450" algn="l"/>
              </a:tabLst>
            </a:pPr>
            <a:r>
              <a:rPr sz="1600" dirty="0">
                <a:latin typeface="微软雅黑" panose="020B0503020204020204" charset="-122"/>
                <a:cs typeface="微软雅黑" panose="020B0503020204020204" charset="-122"/>
              </a:rPr>
              <a:t>趋势</a:t>
            </a:r>
            <a:r>
              <a:rPr sz="1600" spc="-5" dirty="0">
                <a:latin typeface="微软雅黑" panose="020B0503020204020204" charset="-122"/>
                <a:cs typeface="微软雅黑" panose="020B0503020204020204" charset="-122"/>
              </a:rPr>
              <a:t>论</a:t>
            </a:r>
            <a:endParaRPr sz="1600">
              <a:latin typeface="微软雅黑" panose="020B0503020204020204" charset="-122"/>
              <a:cs typeface="微软雅黑" panose="020B0503020204020204" charset="-122"/>
            </a:endParaRPr>
          </a:p>
          <a:p>
            <a:pPr marL="812800" lvl="1" indent="-342900">
              <a:lnSpc>
                <a:spcPct val="100000"/>
              </a:lnSpc>
              <a:spcBef>
                <a:spcPts val="960"/>
              </a:spcBef>
              <a:buFont typeface="Wingdings" panose="05000000000000000000"/>
              <a:buChar char=""/>
              <a:tabLst>
                <a:tab pos="812165" algn="l"/>
                <a:tab pos="812800" algn="l"/>
              </a:tabLst>
            </a:pPr>
            <a:r>
              <a:rPr sz="1600" dirty="0">
                <a:latin typeface="微软雅黑" panose="020B0503020204020204" charset="-122"/>
                <a:cs typeface="微软雅黑" panose="020B0503020204020204" charset="-122"/>
              </a:rPr>
              <a:t>愈发</a:t>
            </a:r>
            <a:r>
              <a:rPr sz="1600" b="1" dirty="0">
                <a:solidFill>
                  <a:srgbClr val="C00000"/>
                </a:solidFill>
                <a:latin typeface="微软雅黑" panose="020B0503020204020204" charset="-122"/>
                <a:cs typeface="微软雅黑" panose="020B0503020204020204" charset="-122"/>
              </a:rPr>
              <a:t>开放</a:t>
            </a:r>
            <a:r>
              <a:rPr sz="1600" dirty="0">
                <a:latin typeface="微软雅黑" panose="020B0503020204020204" charset="-122"/>
                <a:cs typeface="微软雅黑" panose="020B0503020204020204" charset="-122"/>
              </a:rPr>
              <a:t>的趋</a:t>
            </a:r>
            <a:r>
              <a:rPr sz="1600" spc="-5" dirty="0">
                <a:latin typeface="微软雅黑" panose="020B0503020204020204" charset="-122"/>
                <a:cs typeface="微软雅黑" panose="020B0503020204020204" charset="-122"/>
              </a:rPr>
              <a:t>势</a:t>
            </a:r>
            <a:endParaRPr sz="1600">
              <a:latin typeface="微软雅黑" panose="020B0503020204020204" charset="-122"/>
              <a:cs typeface="微软雅黑" panose="020B0503020204020204" charset="-122"/>
            </a:endParaRPr>
          </a:p>
          <a:p>
            <a:pPr marL="812800" lvl="1" indent="-342900">
              <a:lnSpc>
                <a:spcPct val="100000"/>
              </a:lnSpc>
              <a:spcBef>
                <a:spcPts val="960"/>
              </a:spcBef>
              <a:buFont typeface="Wingdings" panose="05000000000000000000"/>
              <a:buChar char=""/>
              <a:tabLst>
                <a:tab pos="812165" algn="l"/>
                <a:tab pos="812800" algn="l"/>
              </a:tabLst>
            </a:pPr>
            <a:r>
              <a:rPr sz="1600" dirty="0">
                <a:latin typeface="微软雅黑" panose="020B0503020204020204" charset="-122"/>
                <a:cs typeface="微软雅黑" panose="020B0503020204020204" charset="-122"/>
              </a:rPr>
              <a:t>愈发</a:t>
            </a:r>
            <a:r>
              <a:rPr sz="1600" b="1" dirty="0">
                <a:solidFill>
                  <a:srgbClr val="C00000"/>
                </a:solidFill>
                <a:latin typeface="微软雅黑" panose="020B0503020204020204" charset="-122"/>
                <a:cs typeface="微软雅黑" panose="020B0503020204020204" charset="-122"/>
              </a:rPr>
              <a:t>平民化</a:t>
            </a:r>
            <a:r>
              <a:rPr sz="1600" dirty="0">
                <a:latin typeface="微软雅黑" panose="020B0503020204020204" charset="-122"/>
                <a:cs typeface="微软雅黑" panose="020B0503020204020204" charset="-122"/>
              </a:rPr>
              <a:t>的趋</a:t>
            </a:r>
            <a:r>
              <a:rPr sz="1600" spc="-5" dirty="0">
                <a:latin typeface="微软雅黑" panose="020B0503020204020204" charset="-122"/>
                <a:cs typeface="微软雅黑" panose="020B0503020204020204" charset="-122"/>
              </a:rPr>
              <a:t>势</a:t>
            </a:r>
            <a:endParaRPr sz="1600">
              <a:latin typeface="微软雅黑" panose="020B0503020204020204" charset="-122"/>
              <a:cs typeface="微软雅黑" panose="020B0503020204020204" charset="-122"/>
            </a:endParaRPr>
          </a:p>
          <a:p>
            <a:pPr marL="298450" indent="-285750">
              <a:lnSpc>
                <a:spcPct val="100000"/>
              </a:lnSpc>
              <a:spcBef>
                <a:spcPts val="960"/>
              </a:spcBef>
              <a:buFont typeface="Wingdings" panose="05000000000000000000"/>
              <a:buChar char=""/>
              <a:tabLst>
                <a:tab pos="297815" algn="l"/>
                <a:tab pos="298450" algn="l"/>
              </a:tabLst>
            </a:pPr>
            <a:r>
              <a:rPr sz="1600" dirty="0">
                <a:latin typeface="微软雅黑" panose="020B0503020204020204" charset="-122"/>
                <a:cs typeface="微软雅黑" panose="020B0503020204020204" charset="-122"/>
              </a:rPr>
              <a:t>历史进程</a:t>
            </a:r>
            <a:r>
              <a:rPr sz="1600" spc="-5" dirty="0">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a:p>
            <a:pPr marL="812800" marR="154305" lvl="1" indent="-342900">
              <a:lnSpc>
                <a:spcPct val="150000"/>
              </a:lnSpc>
              <a:buFont typeface="Wingdings" panose="05000000000000000000"/>
              <a:buChar char=""/>
              <a:tabLst>
                <a:tab pos="812165" algn="l"/>
                <a:tab pos="812800" algn="l"/>
              </a:tabLst>
            </a:pPr>
            <a:r>
              <a:rPr sz="1600" b="1" dirty="0">
                <a:solidFill>
                  <a:srgbClr val="C00000"/>
                </a:solidFill>
                <a:latin typeface="微软雅黑" panose="020B0503020204020204" charset="-122"/>
                <a:cs typeface="微软雅黑" panose="020B0503020204020204" charset="-122"/>
              </a:rPr>
              <a:t>处理器诞生之初</a:t>
            </a:r>
            <a:r>
              <a:rPr sz="1600" dirty="0">
                <a:latin typeface="微软雅黑" panose="020B0503020204020204" charset="-122"/>
                <a:cs typeface="微软雅黑" panose="020B0503020204020204" charset="-122"/>
              </a:rPr>
              <a:t>：以</a:t>
            </a:r>
            <a:r>
              <a:rPr sz="1600" spc="-5" dirty="0">
                <a:latin typeface="微软雅黑" panose="020B0503020204020204" charset="-122"/>
                <a:cs typeface="微软雅黑" panose="020B0503020204020204" charset="-122"/>
              </a:rPr>
              <a:t>IBM</a:t>
            </a:r>
            <a:r>
              <a:rPr sz="1600" spc="-40" dirty="0">
                <a:latin typeface="微软雅黑" panose="020B0503020204020204" charset="-122"/>
                <a:cs typeface="微软雅黑" panose="020B0503020204020204" charset="-122"/>
              </a:rPr>
              <a:t> </a:t>
            </a:r>
            <a:r>
              <a:rPr sz="1600" spc="-5" dirty="0">
                <a:latin typeface="微软雅黑" panose="020B0503020204020204" charset="-122"/>
                <a:cs typeface="微软雅黑" panose="020B0503020204020204" charset="-122"/>
              </a:rPr>
              <a:t>/</a:t>
            </a:r>
            <a:r>
              <a:rPr sz="1600" spc="-35" dirty="0">
                <a:latin typeface="微软雅黑" panose="020B0503020204020204" charset="-122"/>
                <a:cs typeface="微软雅黑" panose="020B0503020204020204" charset="-122"/>
              </a:rPr>
              <a:t> </a:t>
            </a:r>
            <a:r>
              <a:rPr sz="1600" spc="-5" dirty="0">
                <a:latin typeface="微软雅黑" panose="020B0503020204020204" charset="-122"/>
                <a:cs typeface="微软雅黑" panose="020B0503020204020204" charset="-122"/>
              </a:rPr>
              <a:t>Sun</a:t>
            </a:r>
            <a:r>
              <a:rPr sz="1600" dirty="0">
                <a:latin typeface="微软雅黑" panose="020B0503020204020204" charset="-122"/>
                <a:cs typeface="微软雅黑" panose="020B0503020204020204" charset="-122"/>
              </a:rPr>
              <a:t>为代表的整机和服务器，开启了</a:t>
            </a:r>
            <a:r>
              <a:rPr sz="1600" spc="-5" dirty="0">
                <a:latin typeface="微软雅黑" panose="020B0503020204020204" charset="-122"/>
                <a:cs typeface="微软雅黑" panose="020B0503020204020204" charset="-122"/>
              </a:rPr>
              <a:t>人 </a:t>
            </a:r>
            <a:r>
              <a:rPr sz="1600" dirty="0">
                <a:latin typeface="微软雅黑" panose="020B0503020204020204" charset="-122"/>
                <a:cs typeface="微软雅黑" panose="020B0503020204020204" charset="-122"/>
              </a:rPr>
              <a:t>类信息化的大潮</a:t>
            </a:r>
            <a:r>
              <a:rPr sz="1600" spc="-5" dirty="0">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a:p>
            <a:pPr marL="812800" marR="48260" lvl="1" indent="-342900">
              <a:lnSpc>
                <a:spcPct val="150000"/>
              </a:lnSpc>
              <a:buFont typeface="Wingdings" panose="05000000000000000000"/>
              <a:buChar char=""/>
              <a:tabLst>
                <a:tab pos="812165" algn="l"/>
                <a:tab pos="812800" algn="l"/>
              </a:tabLst>
            </a:pPr>
            <a:r>
              <a:rPr sz="1600" b="1" dirty="0">
                <a:solidFill>
                  <a:srgbClr val="C00000"/>
                </a:solidFill>
                <a:latin typeface="微软雅黑" panose="020B0503020204020204" charset="-122"/>
                <a:cs typeface="微软雅黑" panose="020B0503020204020204" charset="-122"/>
              </a:rPr>
              <a:t>第一次变革</a:t>
            </a:r>
            <a:r>
              <a:rPr sz="1600" dirty="0">
                <a:solidFill>
                  <a:srgbClr val="C00000"/>
                </a:solidFill>
                <a:latin typeface="微软雅黑" panose="020B0503020204020204" charset="-122"/>
                <a:cs typeface="微软雅黑" panose="020B0503020204020204" charset="-122"/>
              </a:rPr>
              <a:t>：</a:t>
            </a:r>
            <a:r>
              <a:rPr sz="1600" dirty="0">
                <a:latin typeface="微软雅黑" panose="020B0503020204020204" charset="-122"/>
                <a:cs typeface="微软雅黑" panose="020B0503020204020204" charset="-122"/>
              </a:rPr>
              <a:t>以</a:t>
            </a:r>
            <a:r>
              <a:rPr sz="1600" spc="-5" dirty="0">
                <a:latin typeface="微软雅黑" panose="020B0503020204020204" charset="-122"/>
                <a:cs typeface="微软雅黑" panose="020B0503020204020204" charset="-122"/>
              </a:rPr>
              <a:t>Intel</a:t>
            </a:r>
            <a:r>
              <a:rPr sz="1600" spc="-40" dirty="0">
                <a:latin typeface="微软雅黑" panose="020B0503020204020204" charset="-122"/>
                <a:cs typeface="微软雅黑" panose="020B0503020204020204" charset="-122"/>
              </a:rPr>
              <a:t> </a:t>
            </a:r>
            <a:r>
              <a:rPr sz="1600" spc="-5" dirty="0">
                <a:latin typeface="微软雅黑" panose="020B0503020204020204" charset="-122"/>
                <a:cs typeface="微软雅黑" panose="020B0503020204020204" charset="-122"/>
              </a:rPr>
              <a:t>/</a:t>
            </a:r>
            <a:r>
              <a:rPr sz="1600" spc="-30" dirty="0">
                <a:latin typeface="微软雅黑" panose="020B0503020204020204" charset="-122"/>
                <a:cs typeface="微软雅黑" panose="020B0503020204020204" charset="-122"/>
              </a:rPr>
              <a:t> </a:t>
            </a:r>
            <a:r>
              <a:rPr sz="1600" spc="-5" dirty="0">
                <a:latin typeface="微软雅黑" panose="020B0503020204020204" charset="-122"/>
                <a:cs typeface="微软雅黑" panose="020B0503020204020204" charset="-122"/>
              </a:rPr>
              <a:t>AMD</a:t>
            </a:r>
            <a:r>
              <a:rPr sz="1600" dirty="0">
                <a:latin typeface="微软雅黑" panose="020B0503020204020204" charset="-122"/>
                <a:cs typeface="微软雅黑" panose="020B0503020204020204" charset="-122"/>
              </a:rPr>
              <a:t>为代表的</a:t>
            </a:r>
            <a:r>
              <a:rPr sz="1600" spc="-5" dirty="0">
                <a:latin typeface="微软雅黑" panose="020B0503020204020204" charset="-122"/>
                <a:cs typeface="微软雅黑" panose="020B0503020204020204" charset="-122"/>
              </a:rPr>
              <a:t>x86</a:t>
            </a:r>
            <a:r>
              <a:rPr sz="1600" dirty="0">
                <a:latin typeface="微软雅黑" panose="020B0503020204020204" charset="-122"/>
                <a:cs typeface="微软雅黑" panose="020B0503020204020204" charset="-122"/>
              </a:rPr>
              <a:t>处理器芯片，极大地推</a:t>
            </a:r>
            <a:r>
              <a:rPr sz="1600" spc="-5" dirty="0">
                <a:latin typeface="微软雅黑" panose="020B0503020204020204" charset="-122"/>
                <a:cs typeface="微软雅黑" panose="020B0503020204020204" charset="-122"/>
              </a:rPr>
              <a:t>进 </a:t>
            </a:r>
            <a:r>
              <a:rPr sz="1600" dirty="0">
                <a:latin typeface="微软雅黑" panose="020B0503020204020204" charset="-122"/>
                <a:cs typeface="微软雅黑" panose="020B0503020204020204" charset="-122"/>
              </a:rPr>
              <a:t>了</a:t>
            </a:r>
            <a:r>
              <a:rPr sz="1600" spc="-5" dirty="0">
                <a:latin typeface="微软雅黑" panose="020B0503020204020204" charset="-122"/>
                <a:cs typeface="微软雅黑" panose="020B0503020204020204" charset="-122"/>
              </a:rPr>
              <a:t>PC</a:t>
            </a:r>
            <a:r>
              <a:rPr sz="1600" dirty="0">
                <a:latin typeface="微软雅黑" panose="020B0503020204020204" charset="-122"/>
                <a:cs typeface="微软雅黑" panose="020B0503020204020204" charset="-122"/>
              </a:rPr>
              <a:t>和服务器的普及和繁荣</a:t>
            </a:r>
            <a:r>
              <a:rPr sz="1600" spc="-5" dirty="0">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a:p>
            <a:pPr marL="812800" marR="5080" lvl="1" indent="-342900">
              <a:lnSpc>
                <a:spcPct val="150000"/>
              </a:lnSpc>
              <a:buFont typeface="Wingdings" panose="05000000000000000000"/>
              <a:buChar char=""/>
              <a:tabLst>
                <a:tab pos="812165" algn="l"/>
                <a:tab pos="812800" algn="l"/>
              </a:tabLst>
            </a:pPr>
            <a:r>
              <a:rPr sz="1600" b="1" dirty="0">
                <a:solidFill>
                  <a:srgbClr val="C00000"/>
                </a:solidFill>
                <a:latin typeface="微软雅黑" panose="020B0503020204020204" charset="-122"/>
                <a:cs typeface="微软雅黑" panose="020B0503020204020204" charset="-122"/>
              </a:rPr>
              <a:t>第二次变革</a:t>
            </a:r>
            <a:r>
              <a:rPr sz="1600" dirty="0">
                <a:solidFill>
                  <a:srgbClr val="C00000"/>
                </a:solidFill>
                <a:latin typeface="微软雅黑" panose="020B0503020204020204" charset="-122"/>
                <a:cs typeface="微软雅黑" panose="020B0503020204020204" charset="-122"/>
              </a:rPr>
              <a:t>：</a:t>
            </a:r>
            <a:r>
              <a:rPr sz="1600" dirty="0">
                <a:latin typeface="微软雅黑" panose="020B0503020204020204" charset="-122"/>
                <a:cs typeface="微软雅黑" panose="020B0503020204020204" charset="-122"/>
              </a:rPr>
              <a:t>以</a:t>
            </a:r>
            <a:r>
              <a:rPr sz="1600" spc="-5" dirty="0">
                <a:latin typeface="微软雅黑" panose="020B0503020204020204" charset="-122"/>
                <a:cs typeface="微软雅黑" panose="020B0503020204020204" charset="-122"/>
              </a:rPr>
              <a:t>ARM</a:t>
            </a:r>
            <a:r>
              <a:rPr sz="1600" spc="-30" dirty="0">
                <a:latin typeface="微软雅黑" panose="020B0503020204020204" charset="-122"/>
                <a:cs typeface="微软雅黑" panose="020B0503020204020204" charset="-122"/>
              </a:rPr>
              <a:t> </a:t>
            </a:r>
            <a:r>
              <a:rPr sz="1600" spc="-5" dirty="0">
                <a:latin typeface="微软雅黑" panose="020B0503020204020204" charset="-122"/>
                <a:cs typeface="微软雅黑" panose="020B0503020204020204" charset="-122"/>
              </a:rPr>
              <a:t>/</a:t>
            </a:r>
            <a:r>
              <a:rPr sz="1600" spc="-30" dirty="0">
                <a:latin typeface="微软雅黑" panose="020B0503020204020204" charset="-122"/>
                <a:cs typeface="微软雅黑" panose="020B0503020204020204" charset="-122"/>
              </a:rPr>
              <a:t> </a:t>
            </a:r>
            <a:r>
              <a:rPr sz="1600" spc="-5" dirty="0">
                <a:latin typeface="微软雅黑" panose="020B0503020204020204" charset="-122"/>
                <a:cs typeface="微软雅黑" panose="020B0503020204020204" charset="-122"/>
              </a:rPr>
              <a:t>MIPS</a:t>
            </a:r>
            <a:r>
              <a:rPr sz="1600" dirty="0">
                <a:latin typeface="微软雅黑" panose="020B0503020204020204" charset="-122"/>
                <a:cs typeface="微软雅黑" panose="020B0503020204020204" charset="-122"/>
              </a:rPr>
              <a:t>为代表的商用处理器架构授权</a:t>
            </a:r>
            <a:r>
              <a:rPr sz="1600" spc="-5" dirty="0">
                <a:latin typeface="微软雅黑" panose="020B0503020204020204" charset="-122"/>
                <a:cs typeface="微软雅黑" panose="020B0503020204020204" charset="-122"/>
              </a:rPr>
              <a:t>+IP，奠 </a:t>
            </a:r>
            <a:r>
              <a:rPr sz="1600" dirty="0">
                <a:latin typeface="微软雅黑" panose="020B0503020204020204" charset="-122"/>
                <a:cs typeface="微软雅黑" panose="020B0503020204020204" charset="-122"/>
              </a:rPr>
              <a:t>定了嵌入式和移动手持设备井喷的基</a:t>
            </a:r>
            <a:r>
              <a:rPr sz="1600" spc="-5" dirty="0">
                <a:latin typeface="微软雅黑" panose="020B0503020204020204" charset="-122"/>
                <a:cs typeface="微软雅黑" panose="020B0503020204020204" charset="-122"/>
              </a:rPr>
              <a:t>础</a:t>
            </a:r>
            <a:r>
              <a:rPr sz="1600" dirty="0">
                <a:latin typeface="微软雅黑" panose="020B0503020204020204" charset="-122"/>
                <a:cs typeface="微软雅黑" panose="020B0503020204020204" charset="-122"/>
              </a:rPr>
              <a:t> </a:t>
            </a:r>
            <a:r>
              <a:rPr sz="1600" spc="-5" dirty="0">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a:p>
            <a:pPr marL="812800" lvl="1" indent="-342900">
              <a:lnSpc>
                <a:spcPct val="100000"/>
              </a:lnSpc>
              <a:spcBef>
                <a:spcPts val="960"/>
              </a:spcBef>
              <a:buFont typeface="Wingdings" panose="05000000000000000000"/>
              <a:buChar char=""/>
              <a:tabLst>
                <a:tab pos="812165" algn="l"/>
                <a:tab pos="812800" algn="l"/>
              </a:tabLst>
            </a:pPr>
            <a:r>
              <a:rPr sz="1600" b="1" dirty="0">
                <a:solidFill>
                  <a:srgbClr val="C00000"/>
                </a:solidFill>
                <a:latin typeface="微软雅黑" panose="020B0503020204020204" charset="-122"/>
                <a:cs typeface="微软雅黑" panose="020B0503020204020204" charset="-122"/>
              </a:rPr>
              <a:t>第三次变革</a:t>
            </a:r>
            <a:r>
              <a:rPr sz="1600" dirty="0">
                <a:solidFill>
                  <a:srgbClr val="C00000"/>
                </a:solidFill>
                <a:latin typeface="微软雅黑" panose="020B0503020204020204" charset="-122"/>
                <a:cs typeface="微软雅黑" panose="020B0503020204020204" charset="-122"/>
              </a:rPr>
              <a:t>：</a:t>
            </a:r>
            <a:r>
              <a:rPr sz="1600" dirty="0">
                <a:latin typeface="微软雅黑" panose="020B0503020204020204" charset="-122"/>
                <a:cs typeface="微软雅黑" panose="020B0503020204020204" charset="-122"/>
              </a:rPr>
              <a:t>以</a:t>
            </a: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为代表的开放标准</a:t>
            </a:r>
            <a:r>
              <a:rPr sz="1600" spc="-5" dirty="0">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p:txBody>
      </p:sp>
      <p:sp>
        <p:nvSpPr>
          <p:cNvPr id="5" name="object 5"/>
          <p:cNvSpPr/>
          <p:nvPr/>
        </p:nvSpPr>
        <p:spPr>
          <a:xfrm>
            <a:off x="7254240" y="4507991"/>
            <a:ext cx="4937759" cy="2350007"/>
          </a:xfrm>
          <a:prstGeom prst="rect">
            <a:avLst/>
          </a:prstGeom>
          <a:blipFill>
            <a:blip r:embed="rId1" cstate="print"/>
            <a:stretch>
              <a:fillRect/>
            </a:stretch>
          </a:blipFill>
        </p:spPr>
        <p:txBody>
          <a:bodyPr wrap="square" lIns="0" tIns="0" rIns="0" bIns="0" rtlCol="0"/>
          <a:lstStyle/>
          <a:p/>
        </p:txBody>
      </p:sp>
      <p:sp>
        <p:nvSpPr>
          <p:cNvPr id="6" name="object 6"/>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6444" y="1324482"/>
            <a:ext cx="10378440" cy="2219960"/>
          </a:xfrm>
          <a:prstGeom prst="rect">
            <a:avLst/>
          </a:prstGeom>
        </p:spPr>
        <p:txBody>
          <a:bodyPr vert="horz" wrap="square" lIns="0" tIns="134620" rIns="0" bIns="0" rtlCol="0">
            <a:spAutoFit/>
          </a:bodyPr>
          <a:lstStyle/>
          <a:p>
            <a:pPr marL="285115" indent="-272415">
              <a:lnSpc>
                <a:spcPct val="100000"/>
              </a:lnSpc>
              <a:spcBef>
                <a:spcPts val="1060"/>
              </a:spcBef>
              <a:buFont typeface="Wingdings" panose="05000000000000000000"/>
              <a:buChar char=""/>
              <a:tabLst>
                <a:tab pos="285115" algn="l"/>
              </a:tabLst>
            </a:pPr>
            <a:r>
              <a:rPr sz="1600" dirty="0">
                <a:latin typeface="微软雅黑" panose="020B0503020204020204" charset="-122"/>
                <a:cs typeface="微软雅黑" panose="020B0503020204020204" charset="-122"/>
              </a:rPr>
              <a:t>开放的趋势</a:t>
            </a: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的目标是成为一种由基金会维护的开放通用的指令集架</a:t>
            </a:r>
            <a:r>
              <a:rPr sz="1600" spc="-5" dirty="0">
                <a:latin typeface="微软雅黑" panose="020B0503020204020204" charset="-122"/>
                <a:cs typeface="微软雅黑" panose="020B0503020204020204" charset="-122"/>
              </a:rPr>
              <a:t>构</a:t>
            </a:r>
            <a:endParaRPr sz="1600">
              <a:latin typeface="微软雅黑" panose="020B0503020204020204" charset="-122"/>
              <a:cs typeface="微软雅黑" panose="020B0503020204020204" charset="-122"/>
            </a:endParaRPr>
          </a:p>
          <a:p>
            <a:pPr marL="815975" lvl="1" indent="-346075">
              <a:lnSpc>
                <a:spcPct val="100000"/>
              </a:lnSpc>
              <a:spcBef>
                <a:spcPts val="960"/>
              </a:spcBef>
              <a:buFont typeface="Wingdings" panose="05000000000000000000"/>
              <a:buChar char=""/>
              <a:tabLst>
                <a:tab pos="815340" algn="l"/>
                <a:tab pos="815975" algn="l"/>
              </a:tabLst>
            </a:pPr>
            <a:r>
              <a:rPr sz="1600" b="1" dirty="0">
                <a:solidFill>
                  <a:srgbClr val="C00000"/>
                </a:solidFill>
                <a:latin typeface="微软雅黑" panose="020B0503020204020204" charset="-122"/>
                <a:cs typeface="微软雅黑" panose="020B0503020204020204" charset="-122"/>
              </a:rPr>
              <a:t>整</a:t>
            </a:r>
            <a:r>
              <a:rPr sz="1600" b="1" spc="-5" dirty="0">
                <a:solidFill>
                  <a:srgbClr val="C00000"/>
                </a:solidFill>
                <a:latin typeface="微软雅黑" panose="020B0503020204020204" charset="-122"/>
                <a:cs typeface="微软雅黑" panose="020B0503020204020204" charset="-122"/>
              </a:rPr>
              <a:t>机 </a:t>
            </a:r>
            <a:r>
              <a:rPr sz="1600" spc="-5" dirty="0">
                <a:solidFill>
                  <a:srgbClr val="C00000"/>
                </a:solidFill>
                <a:latin typeface="Wingdings" panose="05000000000000000000"/>
                <a:cs typeface="Wingdings" panose="05000000000000000000"/>
              </a:rPr>
              <a:t></a:t>
            </a:r>
            <a:r>
              <a:rPr sz="1600" spc="80" dirty="0">
                <a:solidFill>
                  <a:srgbClr val="C00000"/>
                </a:solidFill>
                <a:latin typeface="Times New Roman" panose="02020603050405020304"/>
                <a:cs typeface="Times New Roman" panose="02020603050405020304"/>
              </a:rPr>
              <a:t> </a:t>
            </a:r>
            <a:r>
              <a:rPr sz="1600" b="1" dirty="0">
                <a:solidFill>
                  <a:srgbClr val="C00000"/>
                </a:solidFill>
                <a:latin typeface="微软雅黑" panose="020B0503020204020204" charset="-122"/>
                <a:cs typeface="微软雅黑" panose="020B0503020204020204" charset="-122"/>
              </a:rPr>
              <a:t>处理器芯</a:t>
            </a:r>
            <a:r>
              <a:rPr sz="1600" b="1" spc="-5" dirty="0">
                <a:solidFill>
                  <a:srgbClr val="C00000"/>
                </a:solidFill>
                <a:latin typeface="微软雅黑" panose="020B0503020204020204" charset="-122"/>
                <a:cs typeface="微软雅黑" panose="020B0503020204020204" charset="-122"/>
              </a:rPr>
              <a:t>片</a:t>
            </a:r>
            <a:r>
              <a:rPr sz="1600" b="1" dirty="0">
                <a:solidFill>
                  <a:srgbClr val="C00000"/>
                </a:solidFill>
                <a:latin typeface="微软雅黑" panose="020B0503020204020204" charset="-122"/>
                <a:cs typeface="微软雅黑" panose="020B0503020204020204" charset="-122"/>
              </a:rPr>
              <a:t> </a:t>
            </a:r>
            <a:r>
              <a:rPr sz="1600" spc="-5" dirty="0">
                <a:solidFill>
                  <a:srgbClr val="C00000"/>
                </a:solidFill>
                <a:latin typeface="Wingdings" panose="05000000000000000000"/>
                <a:cs typeface="Wingdings" panose="05000000000000000000"/>
              </a:rPr>
              <a:t></a:t>
            </a:r>
            <a:r>
              <a:rPr sz="1600" spc="80" dirty="0">
                <a:solidFill>
                  <a:srgbClr val="C00000"/>
                </a:solidFill>
                <a:latin typeface="Times New Roman" panose="02020603050405020304"/>
                <a:cs typeface="Times New Roman" panose="02020603050405020304"/>
              </a:rPr>
              <a:t> </a:t>
            </a:r>
            <a:r>
              <a:rPr sz="1600" b="1" dirty="0">
                <a:solidFill>
                  <a:srgbClr val="C00000"/>
                </a:solidFill>
                <a:latin typeface="微软雅黑" panose="020B0503020204020204" charset="-122"/>
                <a:cs typeface="微软雅黑" panose="020B0503020204020204" charset="-122"/>
              </a:rPr>
              <a:t>处理器</a:t>
            </a:r>
            <a:r>
              <a:rPr sz="1600" b="1" spc="-5" dirty="0">
                <a:solidFill>
                  <a:srgbClr val="C00000"/>
                </a:solidFill>
                <a:latin typeface="微软雅黑" panose="020B0503020204020204" charset="-122"/>
                <a:cs typeface="微软雅黑" panose="020B0503020204020204" charset="-122"/>
              </a:rPr>
              <a:t>IP</a:t>
            </a:r>
            <a:r>
              <a:rPr sz="1600" b="1" dirty="0">
                <a:solidFill>
                  <a:srgbClr val="C00000"/>
                </a:solidFill>
                <a:latin typeface="微软雅黑" panose="020B0503020204020204" charset="-122"/>
                <a:cs typeface="微软雅黑" panose="020B0503020204020204" charset="-122"/>
              </a:rPr>
              <a:t> </a:t>
            </a:r>
            <a:r>
              <a:rPr sz="1600" spc="-5" dirty="0">
                <a:solidFill>
                  <a:srgbClr val="C00000"/>
                </a:solidFill>
                <a:latin typeface="Wingdings" panose="05000000000000000000"/>
                <a:cs typeface="Wingdings" panose="05000000000000000000"/>
              </a:rPr>
              <a:t></a:t>
            </a:r>
            <a:r>
              <a:rPr sz="1600" spc="80" dirty="0">
                <a:solidFill>
                  <a:srgbClr val="C00000"/>
                </a:solidFill>
                <a:latin typeface="Times New Roman" panose="02020603050405020304"/>
                <a:cs typeface="Times New Roman" panose="02020603050405020304"/>
              </a:rPr>
              <a:t> </a:t>
            </a:r>
            <a:r>
              <a:rPr sz="1600" b="1" spc="-5" dirty="0">
                <a:solidFill>
                  <a:srgbClr val="C00000"/>
                </a:solidFill>
                <a:latin typeface="微软雅黑" panose="020B0503020204020204" charset="-122"/>
                <a:cs typeface="微软雅黑" panose="020B0503020204020204" charset="-122"/>
              </a:rPr>
              <a:t>RISC-V</a:t>
            </a:r>
            <a:r>
              <a:rPr sz="1600" b="1" dirty="0">
                <a:solidFill>
                  <a:srgbClr val="C00000"/>
                </a:solidFill>
                <a:latin typeface="微软雅黑" panose="020B0503020204020204" charset="-122"/>
                <a:cs typeface="微软雅黑" panose="020B0503020204020204" charset="-122"/>
              </a:rPr>
              <a:t>标</a:t>
            </a:r>
            <a:r>
              <a:rPr sz="1600" b="1" spc="-5" dirty="0">
                <a:solidFill>
                  <a:srgbClr val="C00000"/>
                </a:solidFill>
                <a:latin typeface="微软雅黑" panose="020B0503020204020204" charset="-122"/>
                <a:cs typeface="微软雅黑" panose="020B0503020204020204" charset="-122"/>
              </a:rPr>
              <a:t>准</a:t>
            </a:r>
            <a:endParaRPr sz="1600">
              <a:latin typeface="微软雅黑" panose="020B0503020204020204" charset="-122"/>
              <a:cs typeface="微软雅黑" panose="020B0503020204020204" charset="-122"/>
            </a:endParaRPr>
          </a:p>
          <a:p>
            <a:pPr marL="815975" lvl="1" indent="-346075">
              <a:lnSpc>
                <a:spcPct val="100000"/>
              </a:lnSpc>
              <a:spcBef>
                <a:spcPts val="960"/>
              </a:spcBef>
              <a:buFont typeface="Wingdings" panose="05000000000000000000"/>
              <a:buChar char=""/>
              <a:tabLst>
                <a:tab pos="815340" algn="l"/>
                <a:tab pos="815975" algn="l"/>
              </a:tabLst>
            </a:pPr>
            <a:r>
              <a:rPr sz="1600" dirty="0">
                <a:latin typeface="微软雅黑" panose="020B0503020204020204" charset="-122"/>
                <a:cs typeface="微软雅黑" panose="020B0503020204020204" charset="-122"/>
              </a:rPr>
              <a:t>因其开放，得到了诸多大型公司和社区的支持，因此生态发展迅</a:t>
            </a:r>
            <a:r>
              <a:rPr sz="1600" spc="-5" dirty="0">
                <a:latin typeface="微软雅黑" panose="020B0503020204020204" charset="-122"/>
                <a:cs typeface="微软雅黑" panose="020B0503020204020204" charset="-122"/>
              </a:rPr>
              <a:t>速</a:t>
            </a:r>
            <a:endParaRPr sz="1600">
              <a:latin typeface="微软雅黑" panose="020B0503020204020204" charset="-122"/>
              <a:cs typeface="微软雅黑" panose="020B0503020204020204" charset="-122"/>
            </a:endParaRPr>
          </a:p>
          <a:p>
            <a:pPr marL="815975" lvl="1" indent="-346075">
              <a:lnSpc>
                <a:spcPct val="100000"/>
              </a:lnSpc>
              <a:spcBef>
                <a:spcPts val="960"/>
              </a:spcBef>
              <a:buFont typeface="Wingdings" panose="05000000000000000000"/>
              <a:buChar char=""/>
              <a:tabLst>
                <a:tab pos="815340" algn="l"/>
                <a:tab pos="815975" algn="l"/>
              </a:tabLst>
            </a:pPr>
            <a:r>
              <a:rPr sz="1600" dirty="0">
                <a:latin typeface="微软雅黑" panose="020B0503020204020204" charset="-122"/>
                <a:cs typeface="微软雅黑" panose="020B0503020204020204" charset="-122"/>
              </a:rPr>
              <a:t>当生态建设不再由一家公司而是由全行业推动时，其速度远远高于以往由单一商业公司推动，且成本被均</a:t>
            </a:r>
            <a:r>
              <a:rPr sz="1600" spc="-5" dirty="0">
                <a:latin typeface="微软雅黑" panose="020B0503020204020204" charset="-122"/>
                <a:cs typeface="微软雅黑" panose="020B0503020204020204" charset="-122"/>
              </a:rPr>
              <a:t>摊</a:t>
            </a:r>
            <a:endParaRPr sz="1600">
              <a:latin typeface="微软雅黑" panose="020B0503020204020204" charset="-122"/>
              <a:cs typeface="微软雅黑" panose="020B0503020204020204" charset="-122"/>
            </a:endParaRPr>
          </a:p>
          <a:p>
            <a:pPr marL="285115" indent="-272415">
              <a:lnSpc>
                <a:spcPct val="100000"/>
              </a:lnSpc>
              <a:spcBef>
                <a:spcPts val="960"/>
              </a:spcBef>
              <a:buFont typeface="Wingdings" panose="05000000000000000000"/>
              <a:buChar char=""/>
              <a:tabLst>
                <a:tab pos="285115" algn="l"/>
              </a:tabLst>
            </a:pPr>
            <a:r>
              <a:rPr sz="1600" dirty="0">
                <a:latin typeface="微软雅黑" panose="020B0503020204020204" charset="-122"/>
                <a:cs typeface="微软雅黑" panose="020B0503020204020204" charset="-122"/>
              </a:rPr>
              <a:t>平民化的趋势：技术上利用后发优势，所以简洁，模块化和可扩</a:t>
            </a:r>
            <a:r>
              <a:rPr sz="1600" spc="-5" dirty="0">
                <a:latin typeface="微软雅黑" panose="020B0503020204020204" charset="-122"/>
                <a:cs typeface="微软雅黑" panose="020B0503020204020204" charset="-122"/>
              </a:rPr>
              <a:t>展</a:t>
            </a:r>
            <a:endParaRPr sz="1600">
              <a:latin typeface="微软雅黑" panose="020B0503020204020204" charset="-122"/>
              <a:cs typeface="微软雅黑" panose="020B0503020204020204" charset="-122"/>
            </a:endParaRPr>
          </a:p>
          <a:p>
            <a:pPr marL="815975" lvl="1" indent="-346075">
              <a:lnSpc>
                <a:spcPct val="100000"/>
              </a:lnSpc>
              <a:spcBef>
                <a:spcPts val="960"/>
              </a:spcBef>
              <a:buFont typeface="Wingdings" panose="05000000000000000000"/>
              <a:buChar char=""/>
              <a:tabLst>
                <a:tab pos="815340" algn="l"/>
                <a:tab pos="815975" algn="l"/>
              </a:tabLst>
            </a:pPr>
            <a:r>
              <a:rPr sz="1600" b="1" dirty="0">
                <a:solidFill>
                  <a:srgbClr val="C00000"/>
                </a:solidFill>
                <a:latin typeface="微软雅黑" panose="020B0503020204020204" charset="-122"/>
                <a:cs typeface="微软雅黑" panose="020B0503020204020204" charset="-122"/>
              </a:rPr>
              <a:t>满足</a:t>
            </a:r>
            <a:r>
              <a:rPr sz="1600" b="1" spc="-5" dirty="0">
                <a:solidFill>
                  <a:srgbClr val="C00000"/>
                </a:solidFill>
                <a:latin typeface="微软雅黑" panose="020B0503020204020204" charset="-122"/>
                <a:cs typeface="微软雅黑" panose="020B0503020204020204" charset="-122"/>
              </a:rPr>
              <a:t>AIoT</a:t>
            </a:r>
            <a:r>
              <a:rPr sz="1600" b="1" dirty="0">
                <a:solidFill>
                  <a:srgbClr val="C00000"/>
                </a:solidFill>
                <a:latin typeface="微软雅黑" panose="020B0503020204020204" charset="-122"/>
                <a:cs typeface="微软雅黑" panose="020B0503020204020204" charset="-122"/>
              </a:rPr>
              <a:t>万亿级市场的差异化需</a:t>
            </a:r>
            <a:r>
              <a:rPr sz="1600" b="1" spc="-5" dirty="0">
                <a:solidFill>
                  <a:srgbClr val="C00000"/>
                </a:solidFill>
                <a:latin typeface="微软雅黑" panose="020B0503020204020204" charset="-122"/>
                <a:cs typeface="微软雅黑" panose="020B0503020204020204" charset="-122"/>
              </a:rPr>
              <a:t>求</a:t>
            </a:r>
            <a:endParaRPr sz="1600">
              <a:latin typeface="微软雅黑" panose="020B0503020204020204" charset="-122"/>
              <a:cs typeface="微软雅黑" panose="020B0503020204020204" charset="-122"/>
            </a:endParaRPr>
          </a:p>
        </p:txBody>
      </p:sp>
      <p:sp>
        <p:nvSpPr>
          <p:cNvPr id="3" name="object 3"/>
          <p:cNvSpPr/>
          <p:nvPr/>
        </p:nvSpPr>
        <p:spPr>
          <a:xfrm>
            <a:off x="1027175" y="3986784"/>
            <a:ext cx="1403603" cy="1316736"/>
          </a:xfrm>
          <a:prstGeom prst="rect">
            <a:avLst/>
          </a:prstGeom>
          <a:blipFill>
            <a:blip r:embed="rId1" cstate="print"/>
            <a:stretch>
              <a:fillRect/>
            </a:stretch>
          </a:blipFill>
        </p:spPr>
        <p:txBody>
          <a:bodyPr wrap="square" lIns="0" tIns="0" rIns="0" bIns="0" rtlCol="0"/>
          <a:lstStyle/>
          <a:p/>
        </p:txBody>
      </p:sp>
      <p:sp>
        <p:nvSpPr>
          <p:cNvPr id="4" name="object 4"/>
          <p:cNvSpPr/>
          <p:nvPr/>
        </p:nvSpPr>
        <p:spPr>
          <a:xfrm>
            <a:off x="9643871" y="3899915"/>
            <a:ext cx="1269492" cy="1190244"/>
          </a:xfrm>
          <a:prstGeom prst="rect">
            <a:avLst/>
          </a:prstGeom>
          <a:blipFill>
            <a:blip r:embed="rId2" cstate="print"/>
            <a:stretch>
              <a:fillRect/>
            </a:stretch>
          </a:blipFill>
        </p:spPr>
        <p:txBody>
          <a:bodyPr wrap="square" lIns="0" tIns="0" rIns="0" bIns="0" rtlCol="0"/>
          <a:lstStyle/>
          <a:p/>
        </p:txBody>
      </p:sp>
      <p:sp>
        <p:nvSpPr>
          <p:cNvPr id="5" name="object 5"/>
          <p:cNvSpPr/>
          <p:nvPr/>
        </p:nvSpPr>
        <p:spPr>
          <a:xfrm>
            <a:off x="6313932" y="4044696"/>
            <a:ext cx="1121664" cy="1051560"/>
          </a:xfrm>
          <a:prstGeom prst="rect">
            <a:avLst/>
          </a:prstGeom>
          <a:blipFill>
            <a:blip r:embed="rId3" cstate="print"/>
            <a:stretch>
              <a:fillRect/>
            </a:stretch>
          </a:blipFill>
        </p:spPr>
        <p:txBody>
          <a:bodyPr wrap="square" lIns="0" tIns="0" rIns="0" bIns="0" rtlCol="0"/>
          <a:lstStyle/>
          <a:p/>
        </p:txBody>
      </p:sp>
      <p:sp>
        <p:nvSpPr>
          <p:cNvPr id="6" name="object 6"/>
          <p:cNvSpPr/>
          <p:nvPr/>
        </p:nvSpPr>
        <p:spPr>
          <a:xfrm>
            <a:off x="7972043" y="4044696"/>
            <a:ext cx="1261872" cy="1022603"/>
          </a:xfrm>
          <a:prstGeom prst="rect">
            <a:avLst/>
          </a:prstGeom>
          <a:blipFill>
            <a:blip r:embed="rId4" cstate="print"/>
            <a:stretch>
              <a:fillRect/>
            </a:stretch>
          </a:blipFill>
        </p:spPr>
        <p:txBody>
          <a:bodyPr wrap="square" lIns="0" tIns="0" rIns="0" bIns="0" rtlCol="0"/>
          <a:lstStyle/>
          <a:p/>
        </p:txBody>
      </p:sp>
      <p:sp>
        <p:nvSpPr>
          <p:cNvPr id="7" name="object 7"/>
          <p:cNvSpPr/>
          <p:nvPr/>
        </p:nvSpPr>
        <p:spPr>
          <a:xfrm>
            <a:off x="2891027" y="4072128"/>
            <a:ext cx="1062227" cy="996696"/>
          </a:xfrm>
          <a:prstGeom prst="rect">
            <a:avLst/>
          </a:prstGeom>
          <a:blipFill>
            <a:blip r:embed="rId5" cstate="print"/>
            <a:stretch>
              <a:fillRect/>
            </a:stretch>
          </a:blipFill>
        </p:spPr>
        <p:txBody>
          <a:bodyPr wrap="square" lIns="0" tIns="0" rIns="0" bIns="0" rtlCol="0"/>
          <a:lstStyle/>
          <a:p/>
        </p:txBody>
      </p:sp>
      <p:sp>
        <p:nvSpPr>
          <p:cNvPr id="8" name="object 8"/>
          <p:cNvSpPr txBox="1"/>
          <p:nvPr/>
        </p:nvSpPr>
        <p:spPr>
          <a:xfrm>
            <a:off x="1207871" y="5558421"/>
            <a:ext cx="1040765" cy="268605"/>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C00000"/>
                </a:solidFill>
                <a:latin typeface="微软雅黑" panose="020B0503020204020204" charset="-122"/>
                <a:cs typeface="微软雅黑" panose="020B0503020204020204" charset="-122"/>
              </a:rPr>
              <a:t>基金会维</a:t>
            </a:r>
            <a:r>
              <a:rPr sz="1600" spc="-5" dirty="0">
                <a:solidFill>
                  <a:srgbClr val="C00000"/>
                </a:solidFill>
                <a:latin typeface="微软雅黑" panose="020B0503020204020204" charset="-122"/>
                <a:cs typeface="微软雅黑" panose="020B0503020204020204" charset="-122"/>
              </a:rPr>
              <a:t>护</a:t>
            </a:r>
            <a:endParaRPr sz="1600">
              <a:latin typeface="微软雅黑" panose="020B0503020204020204" charset="-122"/>
              <a:cs typeface="微软雅黑" panose="020B0503020204020204" charset="-122"/>
            </a:endParaRPr>
          </a:p>
        </p:txBody>
      </p:sp>
      <p:sp>
        <p:nvSpPr>
          <p:cNvPr id="9" name="object 9"/>
          <p:cNvSpPr txBox="1"/>
          <p:nvPr/>
        </p:nvSpPr>
        <p:spPr>
          <a:xfrm>
            <a:off x="3004185" y="5558790"/>
            <a:ext cx="837565" cy="268605"/>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C00000"/>
                </a:solidFill>
                <a:latin typeface="微软雅黑" panose="020B0503020204020204" charset="-122"/>
                <a:cs typeface="微软雅黑" panose="020B0503020204020204" charset="-122"/>
              </a:rPr>
              <a:t>架构开</a:t>
            </a:r>
            <a:r>
              <a:rPr sz="1600" spc="-5" dirty="0">
                <a:solidFill>
                  <a:srgbClr val="C00000"/>
                </a:solidFill>
                <a:latin typeface="微软雅黑" panose="020B0503020204020204" charset="-122"/>
                <a:cs typeface="微软雅黑" panose="020B0503020204020204" charset="-122"/>
              </a:rPr>
              <a:t>放</a:t>
            </a:r>
            <a:endParaRPr sz="1600">
              <a:latin typeface="微软雅黑" panose="020B0503020204020204" charset="-122"/>
              <a:cs typeface="微软雅黑" panose="020B0503020204020204" charset="-122"/>
            </a:endParaRPr>
          </a:p>
        </p:txBody>
      </p:sp>
      <p:sp>
        <p:nvSpPr>
          <p:cNvPr id="10" name="object 10"/>
          <p:cNvSpPr txBox="1"/>
          <p:nvPr/>
        </p:nvSpPr>
        <p:spPr>
          <a:xfrm>
            <a:off x="6456045" y="5558790"/>
            <a:ext cx="837565" cy="268605"/>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C00000"/>
                </a:solidFill>
                <a:latin typeface="微软雅黑" panose="020B0503020204020204" charset="-122"/>
                <a:cs typeface="微软雅黑" panose="020B0503020204020204" charset="-122"/>
              </a:rPr>
              <a:t>后发优</a:t>
            </a:r>
            <a:r>
              <a:rPr sz="1600" spc="-5" dirty="0">
                <a:solidFill>
                  <a:srgbClr val="C00000"/>
                </a:solidFill>
                <a:latin typeface="微软雅黑" panose="020B0503020204020204" charset="-122"/>
                <a:cs typeface="微软雅黑" panose="020B0503020204020204" charset="-122"/>
              </a:rPr>
              <a:t>势</a:t>
            </a:r>
            <a:endParaRPr sz="1600">
              <a:latin typeface="微软雅黑" panose="020B0503020204020204" charset="-122"/>
              <a:cs typeface="微软雅黑" panose="020B0503020204020204" charset="-122"/>
            </a:endParaRPr>
          </a:p>
        </p:txBody>
      </p:sp>
      <p:sp>
        <p:nvSpPr>
          <p:cNvPr id="11" name="object 11"/>
          <p:cNvSpPr txBox="1"/>
          <p:nvPr/>
        </p:nvSpPr>
        <p:spPr>
          <a:xfrm>
            <a:off x="8183244" y="5558790"/>
            <a:ext cx="837565" cy="268605"/>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C00000"/>
                </a:solidFill>
                <a:latin typeface="微软雅黑" panose="020B0503020204020204" charset="-122"/>
                <a:cs typeface="微软雅黑" panose="020B0503020204020204" charset="-122"/>
              </a:rPr>
              <a:t>简洁设</a:t>
            </a:r>
            <a:r>
              <a:rPr sz="1600" spc="-5" dirty="0">
                <a:solidFill>
                  <a:srgbClr val="C00000"/>
                </a:solidFill>
                <a:latin typeface="微软雅黑" panose="020B0503020204020204" charset="-122"/>
                <a:cs typeface="微软雅黑" panose="020B0503020204020204" charset="-122"/>
              </a:rPr>
              <a:t>计</a:t>
            </a:r>
            <a:endParaRPr sz="1600">
              <a:latin typeface="微软雅黑" panose="020B0503020204020204" charset="-122"/>
              <a:cs typeface="微软雅黑" panose="020B0503020204020204" charset="-122"/>
            </a:endParaRPr>
          </a:p>
        </p:txBody>
      </p:sp>
      <p:sp>
        <p:nvSpPr>
          <p:cNvPr id="12" name="object 12"/>
          <p:cNvSpPr txBox="1"/>
          <p:nvPr/>
        </p:nvSpPr>
        <p:spPr>
          <a:xfrm>
            <a:off x="9702800" y="5558790"/>
            <a:ext cx="1243965" cy="268605"/>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C00000"/>
                </a:solidFill>
                <a:latin typeface="微软雅黑" panose="020B0503020204020204" charset="-122"/>
                <a:cs typeface="微软雅黑" panose="020B0503020204020204" charset="-122"/>
              </a:rPr>
              <a:t>模块化可扩</a:t>
            </a:r>
            <a:r>
              <a:rPr sz="1600" spc="-5" dirty="0">
                <a:solidFill>
                  <a:srgbClr val="C00000"/>
                </a:solidFill>
                <a:latin typeface="微软雅黑" panose="020B0503020204020204" charset="-122"/>
                <a:cs typeface="微软雅黑" panose="020B0503020204020204" charset="-122"/>
              </a:rPr>
              <a:t>展</a:t>
            </a:r>
            <a:endParaRPr sz="1600">
              <a:latin typeface="微软雅黑" panose="020B0503020204020204" charset="-122"/>
              <a:cs typeface="微软雅黑" panose="020B0503020204020204" charset="-122"/>
            </a:endParaRPr>
          </a:p>
        </p:txBody>
      </p:sp>
      <p:sp>
        <p:nvSpPr>
          <p:cNvPr id="13" name="object 13"/>
          <p:cNvSpPr/>
          <p:nvPr/>
        </p:nvSpPr>
        <p:spPr>
          <a:xfrm>
            <a:off x="4517135" y="3939540"/>
            <a:ext cx="1229867" cy="1167384"/>
          </a:xfrm>
          <a:prstGeom prst="rect">
            <a:avLst/>
          </a:prstGeom>
          <a:blipFill>
            <a:blip r:embed="rId6" cstate="print"/>
            <a:stretch>
              <a:fillRect/>
            </a:stretch>
          </a:blipFill>
        </p:spPr>
        <p:txBody>
          <a:bodyPr wrap="square" lIns="0" tIns="0" rIns="0" bIns="0" rtlCol="0"/>
          <a:lstStyle/>
          <a:p/>
        </p:txBody>
      </p:sp>
      <p:sp>
        <p:nvSpPr>
          <p:cNvPr id="14" name="object 14"/>
          <p:cNvSpPr txBox="1"/>
          <p:nvPr/>
        </p:nvSpPr>
        <p:spPr>
          <a:xfrm>
            <a:off x="4712970" y="5558790"/>
            <a:ext cx="837565" cy="268605"/>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C00000"/>
                </a:solidFill>
                <a:latin typeface="微软雅黑" panose="020B0503020204020204" charset="-122"/>
                <a:cs typeface="微软雅黑" panose="020B0503020204020204" charset="-122"/>
              </a:rPr>
              <a:t>社区活</a:t>
            </a:r>
            <a:r>
              <a:rPr sz="1600" spc="-5" dirty="0">
                <a:solidFill>
                  <a:srgbClr val="C00000"/>
                </a:solidFill>
                <a:latin typeface="微软雅黑" panose="020B0503020204020204" charset="-122"/>
                <a:cs typeface="微软雅黑" panose="020B0503020204020204" charset="-122"/>
              </a:rPr>
              <a:t>跃</a:t>
            </a:r>
            <a:endParaRPr sz="1600">
              <a:latin typeface="微软雅黑" panose="020B0503020204020204" charset="-122"/>
              <a:cs typeface="微软雅黑" panose="020B0503020204020204" charset="-122"/>
            </a:endParaRPr>
          </a:p>
        </p:txBody>
      </p:sp>
      <p:sp>
        <p:nvSpPr>
          <p:cNvPr id="15" name="object 15"/>
          <p:cNvSpPr txBox="1">
            <a:spLocks noGrp="1"/>
          </p:cNvSpPr>
          <p:nvPr>
            <p:ph type="title"/>
          </p:nvPr>
        </p:nvSpPr>
        <p:spPr>
          <a:xfrm>
            <a:off x="692150" y="415925"/>
            <a:ext cx="343662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RI</a:t>
            </a:r>
            <a:r>
              <a:rPr sz="3600" spc="-5" dirty="0">
                <a:solidFill>
                  <a:srgbClr val="C00000"/>
                </a:solidFill>
              </a:rPr>
              <a:t>S</a:t>
            </a:r>
            <a:r>
              <a:rPr sz="3600" dirty="0">
                <a:solidFill>
                  <a:srgbClr val="C00000"/>
                </a:solidFill>
              </a:rPr>
              <a:t>C</a:t>
            </a:r>
            <a:r>
              <a:rPr sz="3600" spc="-5" dirty="0">
                <a:solidFill>
                  <a:srgbClr val="C00000"/>
                </a:solidFill>
              </a:rPr>
              <a:t>-</a:t>
            </a:r>
            <a:r>
              <a:rPr sz="3600" dirty="0">
                <a:solidFill>
                  <a:srgbClr val="C00000"/>
                </a:solidFill>
              </a:rPr>
              <a:t>V顺势而生</a:t>
            </a:r>
            <a:endParaRPr sz="3600"/>
          </a:p>
        </p:txBody>
      </p:sp>
      <p:sp>
        <p:nvSpPr>
          <p:cNvPr id="16" name="object 16"/>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17" name="object 17"/>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22909" cy="443230"/>
          </a:xfrm>
          <a:custGeom>
            <a:avLst/>
            <a:gdLst/>
            <a:ahLst/>
            <a:cxnLst/>
            <a:rect l="l" t="t" r="r" b="b"/>
            <a:pathLst>
              <a:path w="422909" h="443230">
                <a:moveTo>
                  <a:pt x="0" y="443114"/>
                </a:moveTo>
                <a:lnTo>
                  <a:pt x="0" y="0"/>
                </a:lnTo>
                <a:lnTo>
                  <a:pt x="422640" y="0"/>
                </a:lnTo>
                <a:lnTo>
                  <a:pt x="0" y="443114"/>
                </a:lnTo>
                <a:close/>
              </a:path>
            </a:pathLst>
          </a:custGeom>
          <a:solidFill>
            <a:srgbClr val="C00000"/>
          </a:solidFill>
        </p:spPr>
        <p:txBody>
          <a:bodyPr wrap="square" lIns="0" tIns="0" rIns="0" bIns="0" rtlCol="0"/>
          <a:lstStyle/>
          <a:p/>
        </p:txBody>
      </p:sp>
      <p:sp>
        <p:nvSpPr>
          <p:cNvPr id="3" name="object 3"/>
          <p:cNvSpPr/>
          <p:nvPr/>
        </p:nvSpPr>
        <p:spPr>
          <a:xfrm>
            <a:off x="2394204" y="1135380"/>
            <a:ext cx="6791325" cy="510540"/>
          </a:xfrm>
          <a:custGeom>
            <a:avLst/>
            <a:gdLst/>
            <a:ahLst/>
            <a:cxnLst/>
            <a:rect l="l" t="t" r="r" b="b"/>
            <a:pathLst>
              <a:path w="6791325" h="510539">
                <a:moveTo>
                  <a:pt x="0" y="0"/>
                </a:moveTo>
                <a:lnTo>
                  <a:pt x="6790944" y="0"/>
                </a:lnTo>
                <a:lnTo>
                  <a:pt x="6790944" y="510540"/>
                </a:lnTo>
                <a:lnTo>
                  <a:pt x="0" y="510540"/>
                </a:lnTo>
                <a:lnTo>
                  <a:pt x="0" y="0"/>
                </a:lnTo>
                <a:close/>
              </a:path>
            </a:pathLst>
          </a:custGeom>
          <a:solidFill>
            <a:srgbClr val="D9D9D9"/>
          </a:solidFill>
        </p:spPr>
        <p:txBody>
          <a:bodyPr wrap="square" lIns="0" tIns="0" rIns="0" bIns="0" rtlCol="0"/>
          <a:lstStyle/>
          <a:p/>
        </p:txBody>
      </p:sp>
      <p:sp>
        <p:nvSpPr>
          <p:cNvPr id="4" name="object 4"/>
          <p:cNvSpPr/>
          <p:nvPr/>
        </p:nvSpPr>
        <p:spPr>
          <a:xfrm>
            <a:off x="8916923" y="1134656"/>
            <a:ext cx="522605" cy="511809"/>
          </a:xfrm>
          <a:custGeom>
            <a:avLst/>
            <a:gdLst/>
            <a:ahLst/>
            <a:cxnLst/>
            <a:rect l="l" t="t" r="r" b="b"/>
            <a:pathLst>
              <a:path w="522604" h="511810">
                <a:moveTo>
                  <a:pt x="261023" y="511327"/>
                </a:moveTo>
                <a:lnTo>
                  <a:pt x="214075" y="507207"/>
                </a:lnTo>
                <a:lnTo>
                  <a:pt x="169890" y="495327"/>
                </a:lnTo>
                <a:lnTo>
                  <a:pt x="129206" y="476405"/>
                </a:lnTo>
                <a:lnTo>
                  <a:pt x="92763" y="451160"/>
                </a:lnTo>
                <a:lnTo>
                  <a:pt x="61297" y="420310"/>
                </a:lnTo>
                <a:lnTo>
                  <a:pt x="35550" y="384573"/>
                </a:lnTo>
                <a:lnTo>
                  <a:pt x="16258" y="344669"/>
                </a:lnTo>
                <a:lnTo>
                  <a:pt x="4162" y="301316"/>
                </a:lnTo>
                <a:lnTo>
                  <a:pt x="0" y="255231"/>
                </a:lnTo>
                <a:lnTo>
                  <a:pt x="4162" y="209404"/>
                </a:lnTo>
                <a:lnTo>
                  <a:pt x="16258" y="166251"/>
                </a:lnTo>
                <a:lnTo>
                  <a:pt x="35550" y="126497"/>
                </a:lnTo>
                <a:lnTo>
                  <a:pt x="61297" y="90869"/>
                </a:lnTo>
                <a:lnTo>
                  <a:pt x="92763" y="60091"/>
                </a:lnTo>
                <a:lnTo>
                  <a:pt x="129206" y="34889"/>
                </a:lnTo>
                <a:lnTo>
                  <a:pt x="169890" y="15990"/>
                </a:lnTo>
                <a:lnTo>
                  <a:pt x="214075" y="4118"/>
                </a:lnTo>
                <a:lnTo>
                  <a:pt x="261023" y="0"/>
                </a:lnTo>
                <a:lnTo>
                  <a:pt x="307966" y="4119"/>
                </a:lnTo>
                <a:lnTo>
                  <a:pt x="352150" y="15995"/>
                </a:lnTo>
                <a:lnTo>
                  <a:pt x="392835" y="34905"/>
                </a:lnTo>
                <a:lnTo>
                  <a:pt x="429286" y="60129"/>
                </a:lnTo>
                <a:lnTo>
                  <a:pt x="460762" y="90943"/>
                </a:lnTo>
                <a:lnTo>
                  <a:pt x="486529" y="126625"/>
                </a:lnTo>
                <a:lnTo>
                  <a:pt x="505846" y="166454"/>
                </a:lnTo>
                <a:lnTo>
                  <a:pt x="517978" y="209707"/>
                </a:lnTo>
                <a:lnTo>
                  <a:pt x="522185" y="255663"/>
                </a:lnTo>
                <a:lnTo>
                  <a:pt x="517978" y="301619"/>
                </a:lnTo>
                <a:lnTo>
                  <a:pt x="505846" y="344872"/>
                </a:lnTo>
                <a:lnTo>
                  <a:pt x="486529" y="384701"/>
                </a:lnTo>
                <a:lnTo>
                  <a:pt x="460762" y="420384"/>
                </a:lnTo>
                <a:lnTo>
                  <a:pt x="429286" y="451198"/>
                </a:lnTo>
                <a:lnTo>
                  <a:pt x="392835" y="476421"/>
                </a:lnTo>
                <a:lnTo>
                  <a:pt x="352150" y="495332"/>
                </a:lnTo>
                <a:lnTo>
                  <a:pt x="307966" y="507208"/>
                </a:lnTo>
                <a:lnTo>
                  <a:pt x="261023" y="511327"/>
                </a:lnTo>
                <a:close/>
              </a:path>
            </a:pathLst>
          </a:custGeom>
          <a:solidFill>
            <a:srgbClr val="D9D9D9"/>
          </a:solidFill>
        </p:spPr>
        <p:txBody>
          <a:bodyPr wrap="square" lIns="0" tIns="0" rIns="0" bIns="0" rtlCol="0"/>
          <a:lstStyle/>
          <a:p/>
        </p:txBody>
      </p:sp>
      <p:sp>
        <p:nvSpPr>
          <p:cNvPr id="5" name="object 5"/>
          <p:cNvSpPr/>
          <p:nvPr/>
        </p:nvSpPr>
        <p:spPr>
          <a:xfrm>
            <a:off x="2098548" y="1134110"/>
            <a:ext cx="521970" cy="511809"/>
          </a:xfrm>
          <a:custGeom>
            <a:avLst/>
            <a:gdLst/>
            <a:ahLst/>
            <a:cxnLst/>
            <a:rect l="l" t="t" r="r" b="b"/>
            <a:pathLst>
              <a:path w="521969" h="511810">
                <a:moveTo>
                  <a:pt x="260667" y="511327"/>
                </a:moveTo>
                <a:lnTo>
                  <a:pt x="213720" y="507208"/>
                </a:lnTo>
                <a:lnTo>
                  <a:pt x="169536" y="495332"/>
                </a:lnTo>
                <a:lnTo>
                  <a:pt x="128858" y="476421"/>
                </a:lnTo>
                <a:lnTo>
                  <a:pt x="92428" y="451198"/>
                </a:lnTo>
                <a:lnTo>
                  <a:pt x="60989" y="420384"/>
                </a:lnTo>
                <a:lnTo>
                  <a:pt x="35283" y="384701"/>
                </a:lnTo>
                <a:lnTo>
                  <a:pt x="16055" y="344872"/>
                </a:lnTo>
                <a:lnTo>
                  <a:pt x="4056" y="301699"/>
                </a:lnTo>
                <a:lnTo>
                  <a:pt x="0" y="255777"/>
                </a:lnTo>
                <a:lnTo>
                  <a:pt x="4056" y="209788"/>
                </a:lnTo>
                <a:lnTo>
                  <a:pt x="16096" y="166454"/>
                </a:lnTo>
                <a:lnTo>
                  <a:pt x="35324" y="126625"/>
                </a:lnTo>
                <a:lnTo>
                  <a:pt x="61023" y="90943"/>
                </a:lnTo>
                <a:lnTo>
                  <a:pt x="92453" y="60129"/>
                </a:lnTo>
                <a:lnTo>
                  <a:pt x="128873" y="34905"/>
                </a:lnTo>
                <a:lnTo>
                  <a:pt x="169543" y="15995"/>
                </a:lnTo>
                <a:lnTo>
                  <a:pt x="213722" y="4119"/>
                </a:lnTo>
                <a:lnTo>
                  <a:pt x="260667" y="0"/>
                </a:lnTo>
                <a:lnTo>
                  <a:pt x="307611" y="4119"/>
                </a:lnTo>
                <a:lnTo>
                  <a:pt x="351797" y="15996"/>
                </a:lnTo>
                <a:lnTo>
                  <a:pt x="392486" y="34909"/>
                </a:lnTo>
                <a:lnTo>
                  <a:pt x="428940" y="60139"/>
                </a:lnTo>
                <a:lnTo>
                  <a:pt x="460421" y="90962"/>
                </a:lnTo>
                <a:lnTo>
                  <a:pt x="486189" y="126659"/>
                </a:lnTo>
                <a:lnTo>
                  <a:pt x="505506" y="166508"/>
                </a:lnTo>
                <a:lnTo>
                  <a:pt x="517622" y="209707"/>
                </a:lnTo>
                <a:lnTo>
                  <a:pt x="521830" y="255663"/>
                </a:lnTo>
                <a:lnTo>
                  <a:pt x="517622" y="301619"/>
                </a:lnTo>
                <a:lnTo>
                  <a:pt x="505464" y="344926"/>
                </a:lnTo>
                <a:lnTo>
                  <a:pt x="486148" y="384735"/>
                </a:lnTo>
                <a:lnTo>
                  <a:pt x="460387" y="420403"/>
                </a:lnTo>
                <a:lnTo>
                  <a:pt x="428915" y="451208"/>
                </a:lnTo>
                <a:lnTo>
                  <a:pt x="392471" y="476425"/>
                </a:lnTo>
                <a:lnTo>
                  <a:pt x="351790" y="495333"/>
                </a:lnTo>
                <a:lnTo>
                  <a:pt x="307609" y="507208"/>
                </a:lnTo>
                <a:lnTo>
                  <a:pt x="260667" y="511327"/>
                </a:lnTo>
                <a:close/>
              </a:path>
            </a:pathLst>
          </a:custGeom>
          <a:solidFill>
            <a:srgbClr val="A6A6A6"/>
          </a:solidFill>
        </p:spPr>
        <p:txBody>
          <a:bodyPr wrap="square" lIns="0" tIns="0" rIns="0" bIns="0" rtlCol="0"/>
          <a:lstStyle/>
          <a:p/>
        </p:txBody>
      </p:sp>
      <p:sp>
        <p:nvSpPr>
          <p:cNvPr id="6" name="object 6"/>
          <p:cNvSpPr txBox="1"/>
          <p:nvPr/>
        </p:nvSpPr>
        <p:spPr>
          <a:xfrm>
            <a:off x="2243112" y="1107389"/>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1</a:t>
            </a:r>
            <a:endParaRPr sz="3200">
              <a:latin typeface="Calibri" panose="020F0502020204030204"/>
              <a:cs typeface="Calibri" panose="020F0502020204030204"/>
            </a:endParaRPr>
          </a:p>
        </p:txBody>
      </p:sp>
      <p:sp>
        <p:nvSpPr>
          <p:cNvPr id="7" name="object 7"/>
          <p:cNvSpPr/>
          <p:nvPr/>
        </p:nvSpPr>
        <p:spPr>
          <a:xfrm>
            <a:off x="2394204" y="1789176"/>
            <a:ext cx="6791325" cy="509270"/>
          </a:xfrm>
          <a:custGeom>
            <a:avLst/>
            <a:gdLst/>
            <a:ahLst/>
            <a:cxnLst/>
            <a:rect l="l" t="t" r="r" b="b"/>
            <a:pathLst>
              <a:path w="6791325" h="509269">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8" name="object 8"/>
          <p:cNvSpPr/>
          <p:nvPr/>
        </p:nvSpPr>
        <p:spPr>
          <a:xfrm>
            <a:off x="8916923" y="1788566"/>
            <a:ext cx="522605" cy="511175"/>
          </a:xfrm>
          <a:custGeom>
            <a:avLst/>
            <a:gdLst/>
            <a:ahLst/>
            <a:cxnLst/>
            <a:rect l="l" t="t" r="r" b="b"/>
            <a:pathLst>
              <a:path w="522604" h="511175">
                <a:moveTo>
                  <a:pt x="261023" y="510717"/>
                </a:moveTo>
                <a:lnTo>
                  <a:pt x="214075" y="506603"/>
                </a:lnTo>
                <a:lnTo>
                  <a:pt x="169890" y="494739"/>
                </a:lnTo>
                <a:lnTo>
                  <a:pt x="129206" y="475845"/>
                </a:lnTo>
                <a:lnTo>
                  <a:pt x="92763" y="450640"/>
                </a:lnTo>
                <a:lnTo>
                  <a:pt x="61297" y="419843"/>
                </a:lnTo>
                <a:lnTo>
                  <a:pt x="35550" y="384173"/>
                </a:lnTo>
                <a:lnTo>
                  <a:pt x="16258" y="344349"/>
                </a:lnTo>
                <a:lnTo>
                  <a:pt x="4162" y="301091"/>
                </a:lnTo>
                <a:lnTo>
                  <a:pt x="0" y="255117"/>
                </a:lnTo>
                <a:lnTo>
                  <a:pt x="4162" y="209287"/>
                </a:lnTo>
                <a:lnTo>
                  <a:pt x="16258" y="166141"/>
                </a:lnTo>
                <a:lnTo>
                  <a:pt x="35550" y="126401"/>
                </a:lnTo>
                <a:lnTo>
                  <a:pt x="61297" y="90791"/>
                </a:lnTo>
                <a:lnTo>
                  <a:pt x="92763" y="60035"/>
                </a:lnTo>
                <a:lnTo>
                  <a:pt x="129206" y="34854"/>
                </a:lnTo>
                <a:lnTo>
                  <a:pt x="169890" y="15972"/>
                </a:lnTo>
                <a:lnTo>
                  <a:pt x="214075" y="4113"/>
                </a:lnTo>
                <a:lnTo>
                  <a:pt x="261023" y="0"/>
                </a:lnTo>
                <a:lnTo>
                  <a:pt x="307966" y="4114"/>
                </a:lnTo>
                <a:lnTo>
                  <a:pt x="352150" y="15975"/>
                </a:lnTo>
                <a:lnTo>
                  <a:pt x="392835" y="34863"/>
                </a:lnTo>
                <a:lnTo>
                  <a:pt x="429286" y="60056"/>
                </a:lnTo>
                <a:lnTo>
                  <a:pt x="460762" y="90833"/>
                </a:lnTo>
                <a:lnTo>
                  <a:pt x="486529" y="126473"/>
                </a:lnTo>
                <a:lnTo>
                  <a:pt x="505846" y="166254"/>
                </a:lnTo>
                <a:lnTo>
                  <a:pt x="517978" y="209457"/>
                </a:lnTo>
                <a:lnTo>
                  <a:pt x="522185" y="255358"/>
                </a:lnTo>
                <a:lnTo>
                  <a:pt x="517978" y="301260"/>
                </a:lnTo>
                <a:lnTo>
                  <a:pt x="505846" y="344462"/>
                </a:lnTo>
                <a:lnTo>
                  <a:pt x="486529" y="384244"/>
                </a:lnTo>
                <a:lnTo>
                  <a:pt x="460762" y="419884"/>
                </a:lnTo>
                <a:lnTo>
                  <a:pt x="429286" y="450661"/>
                </a:lnTo>
                <a:lnTo>
                  <a:pt x="392835" y="475854"/>
                </a:lnTo>
                <a:lnTo>
                  <a:pt x="352150" y="494742"/>
                </a:lnTo>
                <a:lnTo>
                  <a:pt x="307966" y="506603"/>
                </a:lnTo>
                <a:lnTo>
                  <a:pt x="261023" y="510717"/>
                </a:lnTo>
                <a:close/>
              </a:path>
            </a:pathLst>
          </a:custGeom>
          <a:solidFill>
            <a:srgbClr val="D9D9D9"/>
          </a:solidFill>
        </p:spPr>
        <p:txBody>
          <a:bodyPr wrap="square" lIns="0" tIns="0" rIns="0" bIns="0" rtlCol="0"/>
          <a:lstStyle/>
          <a:p/>
        </p:txBody>
      </p:sp>
      <p:sp>
        <p:nvSpPr>
          <p:cNvPr id="9" name="object 9"/>
          <p:cNvSpPr/>
          <p:nvPr/>
        </p:nvSpPr>
        <p:spPr>
          <a:xfrm>
            <a:off x="2098548" y="1788020"/>
            <a:ext cx="521970" cy="511175"/>
          </a:xfrm>
          <a:custGeom>
            <a:avLst/>
            <a:gdLst/>
            <a:ahLst/>
            <a:cxnLst/>
            <a:rect l="l" t="t" r="r" b="b"/>
            <a:pathLst>
              <a:path w="521969" h="511175">
                <a:moveTo>
                  <a:pt x="260667" y="510730"/>
                </a:moveTo>
                <a:lnTo>
                  <a:pt x="213719" y="506615"/>
                </a:lnTo>
                <a:lnTo>
                  <a:pt x="169531" y="494753"/>
                </a:lnTo>
                <a:lnTo>
                  <a:pt x="128848" y="475863"/>
                </a:lnTo>
                <a:lnTo>
                  <a:pt x="92411" y="450668"/>
                </a:lnTo>
                <a:lnTo>
                  <a:pt x="60965" y="419889"/>
                </a:lnTo>
                <a:lnTo>
                  <a:pt x="35299" y="384338"/>
                </a:lnTo>
                <a:lnTo>
                  <a:pt x="16070" y="344607"/>
                </a:lnTo>
                <a:lnTo>
                  <a:pt x="4056" y="301475"/>
                </a:lnTo>
                <a:lnTo>
                  <a:pt x="0" y="255663"/>
                </a:lnTo>
                <a:lnTo>
                  <a:pt x="4056" y="209674"/>
                </a:lnTo>
                <a:lnTo>
                  <a:pt x="16070" y="166403"/>
                </a:lnTo>
                <a:lnTo>
                  <a:pt x="35299" y="126569"/>
                </a:lnTo>
                <a:lnTo>
                  <a:pt x="61003" y="90890"/>
                </a:lnTo>
                <a:lnTo>
                  <a:pt x="92477" y="60060"/>
                </a:lnTo>
                <a:lnTo>
                  <a:pt x="128888" y="34866"/>
                </a:lnTo>
                <a:lnTo>
                  <a:pt x="169551" y="15977"/>
                </a:lnTo>
                <a:lnTo>
                  <a:pt x="213725" y="4114"/>
                </a:lnTo>
                <a:lnTo>
                  <a:pt x="260667" y="0"/>
                </a:lnTo>
                <a:lnTo>
                  <a:pt x="307612" y="4114"/>
                </a:lnTo>
                <a:lnTo>
                  <a:pt x="351801" y="15980"/>
                </a:lnTo>
                <a:lnTo>
                  <a:pt x="392496" y="34877"/>
                </a:lnTo>
                <a:lnTo>
                  <a:pt x="428957" y="60087"/>
                </a:lnTo>
                <a:lnTo>
                  <a:pt x="460445" y="90890"/>
                </a:lnTo>
                <a:lnTo>
                  <a:pt x="486173" y="126478"/>
                </a:lnTo>
                <a:lnTo>
                  <a:pt x="505491" y="166259"/>
                </a:lnTo>
                <a:lnTo>
                  <a:pt x="517622" y="209460"/>
                </a:lnTo>
                <a:lnTo>
                  <a:pt x="521830" y="255358"/>
                </a:lnTo>
                <a:lnTo>
                  <a:pt x="517622" y="301261"/>
                </a:lnTo>
                <a:lnTo>
                  <a:pt x="505491" y="344464"/>
                </a:lnTo>
                <a:lnTo>
                  <a:pt x="486173" y="384247"/>
                </a:lnTo>
                <a:lnTo>
                  <a:pt x="460353" y="419942"/>
                </a:lnTo>
                <a:lnTo>
                  <a:pt x="428891" y="450695"/>
                </a:lnTo>
                <a:lnTo>
                  <a:pt x="392456" y="475875"/>
                </a:lnTo>
                <a:lnTo>
                  <a:pt x="351782" y="494756"/>
                </a:lnTo>
                <a:lnTo>
                  <a:pt x="307606" y="506616"/>
                </a:lnTo>
                <a:lnTo>
                  <a:pt x="260667" y="510730"/>
                </a:lnTo>
                <a:close/>
              </a:path>
            </a:pathLst>
          </a:custGeom>
          <a:solidFill>
            <a:srgbClr val="A6A6A6"/>
          </a:solidFill>
        </p:spPr>
        <p:txBody>
          <a:bodyPr wrap="square" lIns="0" tIns="0" rIns="0" bIns="0" rtlCol="0"/>
          <a:lstStyle/>
          <a:p/>
        </p:txBody>
      </p:sp>
      <p:sp>
        <p:nvSpPr>
          <p:cNvPr id="10" name="object 10"/>
          <p:cNvSpPr txBox="1"/>
          <p:nvPr/>
        </p:nvSpPr>
        <p:spPr>
          <a:xfrm>
            <a:off x="2243112" y="1760588"/>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2</a:t>
            </a:r>
            <a:endParaRPr sz="3200">
              <a:latin typeface="Calibri" panose="020F0502020204030204"/>
              <a:cs typeface="Calibri" panose="020F0502020204030204"/>
            </a:endParaRPr>
          </a:p>
        </p:txBody>
      </p:sp>
      <p:sp>
        <p:nvSpPr>
          <p:cNvPr id="11" name="object 11"/>
          <p:cNvSpPr/>
          <p:nvPr/>
        </p:nvSpPr>
        <p:spPr>
          <a:xfrm>
            <a:off x="2394204" y="2441448"/>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12" name="object 12"/>
          <p:cNvSpPr/>
          <p:nvPr/>
        </p:nvSpPr>
        <p:spPr>
          <a:xfrm>
            <a:off x="8916923" y="2441867"/>
            <a:ext cx="522605" cy="511175"/>
          </a:xfrm>
          <a:custGeom>
            <a:avLst/>
            <a:gdLst/>
            <a:ahLst/>
            <a:cxnLst/>
            <a:rect l="l" t="t" r="r" b="b"/>
            <a:pathLst>
              <a:path w="522604" h="511175">
                <a:moveTo>
                  <a:pt x="261023" y="510717"/>
                </a:moveTo>
                <a:lnTo>
                  <a:pt x="214074" y="506603"/>
                </a:lnTo>
                <a:lnTo>
                  <a:pt x="169884" y="494742"/>
                </a:lnTo>
                <a:lnTo>
                  <a:pt x="129193" y="475854"/>
                </a:lnTo>
                <a:lnTo>
                  <a:pt x="92740" y="450661"/>
                </a:lnTo>
                <a:lnTo>
                  <a:pt x="61266" y="419884"/>
                </a:lnTo>
                <a:lnTo>
                  <a:pt x="35550" y="384319"/>
                </a:lnTo>
                <a:lnTo>
                  <a:pt x="16258" y="344582"/>
                </a:lnTo>
                <a:lnTo>
                  <a:pt x="4162" y="301439"/>
                </a:lnTo>
                <a:lnTo>
                  <a:pt x="0" y="255612"/>
                </a:lnTo>
                <a:lnTo>
                  <a:pt x="4162" y="209635"/>
                </a:lnTo>
                <a:lnTo>
                  <a:pt x="16258" y="166374"/>
                </a:lnTo>
                <a:lnTo>
                  <a:pt x="35550" y="126548"/>
                </a:lnTo>
                <a:lnTo>
                  <a:pt x="61342" y="90833"/>
                </a:lnTo>
                <a:lnTo>
                  <a:pt x="92795" y="60056"/>
                </a:lnTo>
                <a:lnTo>
                  <a:pt x="129227" y="34863"/>
                </a:lnTo>
                <a:lnTo>
                  <a:pt x="169901" y="15975"/>
                </a:lnTo>
                <a:lnTo>
                  <a:pt x="214079" y="4114"/>
                </a:lnTo>
                <a:lnTo>
                  <a:pt x="261023" y="0"/>
                </a:lnTo>
                <a:lnTo>
                  <a:pt x="307968" y="4114"/>
                </a:lnTo>
                <a:lnTo>
                  <a:pt x="352156" y="15978"/>
                </a:lnTo>
                <a:lnTo>
                  <a:pt x="392849" y="34872"/>
                </a:lnTo>
                <a:lnTo>
                  <a:pt x="429308" y="60078"/>
                </a:lnTo>
                <a:lnTo>
                  <a:pt x="460794" y="90876"/>
                </a:lnTo>
                <a:lnTo>
                  <a:pt x="486529" y="126473"/>
                </a:lnTo>
                <a:lnTo>
                  <a:pt x="505846" y="166254"/>
                </a:lnTo>
                <a:lnTo>
                  <a:pt x="517978" y="209457"/>
                </a:lnTo>
                <a:lnTo>
                  <a:pt x="522185" y="255358"/>
                </a:lnTo>
                <a:lnTo>
                  <a:pt x="517978" y="301260"/>
                </a:lnTo>
                <a:lnTo>
                  <a:pt x="505846" y="344462"/>
                </a:lnTo>
                <a:lnTo>
                  <a:pt x="486529" y="384244"/>
                </a:lnTo>
                <a:lnTo>
                  <a:pt x="460718" y="419928"/>
                </a:lnTo>
                <a:lnTo>
                  <a:pt x="429253" y="450683"/>
                </a:lnTo>
                <a:lnTo>
                  <a:pt x="392815" y="475863"/>
                </a:lnTo>
                <a:lnTo>
                  <a:pt x="352139" y="494744"/>
                </a:lnTo>
                <a:lnTo>
                  <a:pt x="307962" y="506604"/>
                </a:lnTo>
                <a:lnTo>
                  <a:pt x="261023" y="510717"/>
                </a:lnTo>
                <a:close/>
              </a:path>
            </a:pathLst>
          </a:custGeom>
          <a:solidFill>
            <a:srgbClr val="D9D9D9"/>
          </a:solidFill>
        </p:spPr>
        <p:txBody>
          <a:bodyPr wrap="square" lIns="0" tIns="0" rIns="0" bIns="0" rtlCol="0"/>
          <a:lstStyle/>
          <a:p/>
        </p:txBody>
      </p:sp>
      <p:sp>
        <p:nvSpPr>
          <p:cNvPr id="13" name="object 13"/>
          <p:cNvSpPr/>
          <p:nvPr/>
        </p:nvSpPr>
        <p:spPr>
          <a:xfrm>
            <a:off x="2098548" y="2441333"/>
            <a:ext cx="521970" cy="511175"/>
          </a:xfrm>
          <a:custGeom>
            <a:avLst/>
            <a:gdLst/>
            <a:ahLst/>
            <a:cxnLst/>
            <a:rect l="l" t="t" r="r" b="b"/>
            <a:pathLst>
              <a:path w="521969" h="511175">
                <a:moveTo>
                  <a:pt x="260667" y="510717"/>
                </a:moveTo>
                <a:lnTo>
                  <a:pt x="213720" y="506602"/>
                </a:lnTo>
                <a:lnTo>
                  <a:pt x="169539" y="494732"/>
                </a:lnTo>
                <a:lnTo>
                  <a:pt x="128864" y="475824"/>
                </a:lnTo>
                <a:lnTo>
                  <a:pt x="92438" y="450592"/>
                </a:lnTo>
                <a:lnTo>
                  <a:pt x="61003" y="419752"/>
                </a:lnTo>
                <a:lnTo>
                  <a:pt x="35299" y="384020"/>
                </a:lnTo>
                <a:lnTo>
                  <a:pt x="16070" y="344111"/>
                </a:lnTo>
                <a:lnTo>
                  <a:pt x="4056" y="300740"/>
                </a:lnTo>
                <a:lnTo>
                  <a:pt x="0" y="254622"/>
                </a:lnTo>
                <a:lnTo>
                  <a:pt x="4056" y="208939"/>
                </a:lnTo>
                <a:lnTo>
                  <a:pt x="16070" y="165908"/>
                </a:lnTo>
                <a:lnTo>
                  <a:pt x="35299" y="126254"/>
                </a:lnTo>
                <a:lnTo>
                  <a:pt x="61003" y="90707"/>
                </a:lnTo>
                <a:lnTo>
                  <a:pt x="92438" y="59991"/>
                </a:lnTo>
                <a:lnTo>
                  <a:pt x="128864" y="34836"/>
                </a:lnTo>
                <a:lnTo>
                  <a:pt x="169539" y="15967"/>
                </a:lnTo>
                <a:lnTo>
                  <a:pt x="213720" y="4113"/>
                </a:lnTo>
                <a:lnTo>
                  <a:pt x="260667" y="0"/>
                </a:lnTo>
                <a:lnTo>
                  <a:pt x="307611" y="4114"/>
                </a:lnTo>
                <a:lnTo>
                  <a:pt x="351794" y="15975"/>
                </a:lnTo>
                <a:lnTo>
                  <a:pt x="392480" y="34863"/>
                </a:lnTo>
                <a:lnTo>
                  <a:pt x="428930" y="60056"/>
                </a:lnTo>
                <a:lnTo>
                  <a:pt x="460407" y="90833"/>
                </a:lnTo>
                <a:lnTo>
                  <a:pt x="486173" y="126473"/>
                </a:lnTo>
                <a:lnTo>
                  <a:pt x="505491" y="166254"/>
                </a:lnTo>
                <a:lnTo>
                  <a:pt x="517622" y="209457"/>
                </a:lnTo>
                <a:lnTo>
                  <a:pt x="521830" y="255358"/>
                </a:lnTo>
                <a:lnTo>
                  <a:pt x="517622" y="301257"/>
                </a:lnTo>
                <a:lnTo>
                  <a:pt x="505491" y="344457"/>
                </a:lnTo>
                <a:lnTo>
                  <a:pt x="486173" y="384238"/>
                </a:lnTo>
                <a:lnTo>
                  <a:pt x="460407" y="419879"/>
                </a:lnTo>
                <a:lnTo>
                  <a:pt x="428930" y="450657"/>
                </a:lnTo>
                <a:lnTo>
                  <a:pt x="392480" y="475851"/>
                </a:lnTo>
                <a:lnTo>
                  <a:pt x="351794" y="494740"/>
                </a:lnTo>
                <a:lnTo>
                  <a:pt x="307611" y="506603"/>
                </a:lnTo>
                <a:lnTo>
                  <a:pt x="260667" y="510717"/>
                </a:lnTo>
                <a:close/>
              </a:path>
            </a:pathLst>
          </a:custGeom>
          <a:solidFill>
            <a:srgbClr val="A6A6A6"/>
          </a:solidFill>
        </p:spPr>
        <p:txBody>
          <a:bodyPr wrap="square" lIns="0" tIns="0" rIns="0" bIns="0" rtlCol="0"/>
          <a:lstStyle/>
          <a:p/>
        </p:txBody>
      </p:sp>
      <p:sp>
        <p:nvSpPr>
          <p:cNvPr id="14" name="object 14"/>
          <p:cNvSpPr txBox="1"/>
          <p:nvPr/>
        </p:nvSpPr>
        <p:spPr>
          <a:xfrm>
            <a:off x="2243112" y="2413888"/>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3</a:t>
            </a:r>
            <a:endParaRPr sz="3200">
              <a:latin typeface="Calibri" panose="020F0502020204030204"/>
              <a:cs typeface="Calibri" panose="020F0502020204030204"/>
            </a:endParaRPr>
          </a:p>
        </p:txBody>
      </p:sp>
      <p:sp>
        <p:nvSpPr>
          <p:cNvPr id="15" name="object 15"/>
          <p:cNvSpPr/>
          <p:nvPr/>
        </p:nvSpPr>
        <p:spPr>
          <a:xfrm>
            <a:off x="2394204" y="3095244"/>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16" name="object 16"/>
          <p:cNvSpPr/>
          <p:nvPr/>
        </p:nvSpPr>
        <p:spPr>
          <a:xfrm>
            <a:off x="8916923" y="3095167"/>
            <a:ext cx="522605" cy="511175"/>
          </a:xfrm>
          <a:custGeom>
            <a:avLst/>
            <a:gdLst/>
            <a:ahLst/>
            <a:cxnLst/>
            <a:rect l="l" t="t" r="r" b="b"/>
            <a:pathLst>
              <a:path w="522604" h="511175">
                <a:moveTo>
                  <a:pt x="261099" y="510794"/>
                </a:moveTo>
                <a:lnTo>
                  <a:pt x="214148" y="506679"/>
                </a:lnTo>
                <a:lnTo>
                  <a:pt x="169949" y="494816"/>
                </a:lnTo>
                <a:lnTo>
                  <a:pt x="129242" y="475926"/>
                </a:lnTo>
                <a:lnTo>
                  <a:pt x="92832" y="450792"/>
                </a:lnTo>
                <a:lnTo>
                  <a:pt x="61360" y="420070"/>
                </a:lnTo>
                <a:lnTo>
                  <a:pt x="35603" y="384514"/>
                </a:lnTo>
                <a:lnTo>
                  <a:pt x="16299" y="344850"/>
                </a:lnTo>
                <a:lnTo>
                  <a:pt x="4185" y="301806"/>
                </a:lnTo>
                <a:lnTo>
                  <a:pt x="0" y="256108"/>
                </a:lnTo>
                <a:lnTo>
                  <a:pt x="4185" y="209990"/>
                </a:lnTo>
                <a:lnTo>
                  <a:pt x="16299" y="166617"/>
                </a:lnTo>
                <a:lnTo>
                  <a:pt x="35603" y="126706"/>
                </a:lnTo>
                <a:lnTo>
                  <a:pt x="61360" y="90972"/>
                </a:lnTo>
                <a:lnTo>
                  <a:pt x="92832" y="60130"/>
                </a:lnTo>
                <a:lnTo>
                  <a:pt x="129337" y="34870"/>
                </a:lnTo>
                <a:lnTo>
                  <a:pt x="169995" y="15978"/>
                </a:lnTo>
                <a:lnTo>
                  <a:pt x="214163" y="4114"/>
                </a:lnTo>
                <a:lnTo>
                  <a:pt x="261099" y="0"/>
                </a:lnTo>
                <a:lnTo>
                  <a:pt x="308047" y="4115"/>
                </a:lnTo>
                <a:lnTo>
                  <a:pt x="352244" y="15986"/>
                </a:lnTo>
                <a:lnTo>
                  <a:pt x="392953" y="34896"/>
                </a:lnTo>
                <a:lnTo>
                  <a:pt x="429367" y="60068"/>
                </a:lnTo>
                <a:lnTo>
                  <a:pt x="460846" y="90850"/>
                </a:lnTo>
                <a:lnTo>
                  <a:pt x="486614" y="126495"/>
                </a:lnTo>
                <a:lnTo>
                  <a:pt x="505933" y="166282"/>
                </a:lnTo>
                <a:lnTo>
                  <a:pt x="518066" y="209490"/>
                </a:lnTo>
                <a:lnTo>
                  <a:pt x="522274" y="255397"/>
                </a:lnTo>
                <a:lnTo>
                  <a:pt x="518066" y="301306"/>
                </a:lnTo>
                <a:lnTo>
                  <a:pt x="505933" y="344516"/>
                </a:lnTo>
                <a:lnTo>
                  <a:pt x="486614" y="384303"/>
                </a:lnTo>
                <a:lnTo>
                  <a:pt x="460846" y="419948"/>
                </a:lnTo>
                <a:lnTo>
                  <a:pt x="429367" y="450730"/>
                </a:lnTo>
                <a:lnTo>
                  <a:pt x="392858" y="475952"/>
                </a:lnTo>
                <a:lnTo>
                  <a:pt x="352199" y="494824"/>
                </a:lnTo>
                <a:lnTo>
                  <a:pt x="308032" y="506680"/>
                </a:lnTo>
                <a:lnTo>
                  <a:pt x="261099" y="510794"/>
                </a:lnTo>
                <a:close/>
              </a:path>
            </a:pathLst>
          </a:custGeom>
          <a:solidFill>
            <a:srgbClr val="D9D9D9"/>
          </a:solidFill>
        </p:spPr>
        <p:txBody>
          <a:bodyPr wrap="square" lIns="0" tIns="0" rIns="0" bIns="0" rtlCol="0"/>
          <a:lstStyle/>
          <a:p/>
        </p:txBody>
      </p:sp>
      <p:sp>
        <p:nvSpPr>
          <p:cNvPr id="17" name="object 17"/>
          <p:cNvSpPr/>
          <p:nvPr/>
        </p:nvSpPr>
        <p:spPr>
          <a:xfrm>
            <a:off x="2098548" y="3094634"/>
            <a:ext cx="521970" cy="511175"/>
          </a:xfrm>
          <a:custGeom>
            <a:avLst/>
            <a:gdLst/>
            <a:ahLst/>
            <a:cxnLst/>
            <a:rect l="l" t="t" r="r" b="b"/>
            <a:pathLst>
              <a:path w="521969" h="511175">
                <a:moveTo>
                  <a:pt x="260667" y="510781"/>
                </a:moveTo>
                <a:lnTo>
                  <a:pt x="213720" y="506666"/>
                </a:lnTo>
                <a:lnTo>
                  <a:pt x="169539" y="494800"/>
                </a:lnTo>
                <a:lnTo>
                  <a:pt x="128864" y="475903"/>
                </a:lnTo>
                <a:lnTo>
                  <a:pt x="92438" y="450694"/>
                </a:lnTo>
                <a:lnTo>
                  <a:pt x="61003" y="419890"/>
                </a:lnTo>
                <a:lnTo>
                  <a:pt x="35299" y="384212"/>
                </a:lnTo>
                <a:lnTo>
                  <a:pt x="16070" y="344377"/>
                </a:lnTo>
                <a:lnTo>
                  <a:pt x="4056" y="301106"/>
                </a:lnTo>
                <a:lnTo>
                  <a:pt x="0" y="255117"/>
                </a:lnTo>
                <a:lnTo>
                  <a:pt x="4056" y="209290"/>
                </a:lnTo>
                <a:lnTo>
                  <a:pt x="16070" y="166146"/>
                </a:lnTo>
                <a:lnTo>
                  <a:pt x="35299" y="126407"/>
                </a:lnTo>
                <a:lnTo>
                  <a:pt x="61003" y="90797"/>
                </a:lnTo>
                <a:lnTo>
                  <a:pt x="92438" y="60039"/>
                </a:lnTo>
                <a:lnTo>
                  <a:pt x="128864" y="34857"/>
                </a:lnTo>
                <a:lnTo>
                  <a:pt x="169539" y="15974"/>
                </a:lnTo>
                <a:lnTo>
                  <a:pt x="213720" y="4114"/>
                </a:lnTo>
                <a:lnTo>
                  <a:pt x="260667" y="0"/>
                </a:lnTo>
                <a:lnTo>
                  <a:pt x="307611" y="4114"/>
                </a:lnTo>
                <a:lnTo>
                  <a:pt x="351796" y="15977"/>
                </a:lnTo>
                <a:lnTo>
                  <a:pt x="392483" y="34867"/>
                </a:lnTo>
                <a:lnTo>
                  <a:pt x="428935" y="60062"/>
                </a:lnTo>
                <a:lnTo>
                  <a:pt x="460414" y="90842"/>
                </a:lnTo>
                <a:lnTo>
                  <a:pt x="486182" y="126486"/>
                </a:lnTo>
                <a:lnTo>
                  <a:pt x="505502" y="166271"/>
                </a:lnTo>
                <a:lnTo>
                  <a:pt x="517634" y="209478"/>
                </a:lnTo>
                <a:lnTo>
                  <a:pt x="521843" y="255384"/>
                </a:lnTo>
                <a:lnTo>
                  <a:pt x="517634" y="301294"/>
                </a:lnTo>
                <a:lnTo>
                  <a:pt x="505502" y="344503"/>
                </a:lnTo>
                <a:lnTo>
                  <a:pt x="486182" y="384291"/>
                </a:lnTo>
                <a:lnTo>
                  <a:pt x="460414" y="419936"/>
                </a:lnTo>
                <a:lnTo>
                  <a:pt x="428935" y="450717"/>
                </a:lnTo>
                <a:lnTo>
                  <a:pt x="392483" y="475913"/>
                </a:lnTo>
                <a:lnTo>
                  <a:pt x="351796" y="494803"/>
                </a:lnTo>
                <a:lnTo>
                  <a:pt x="307611" y="506666"/>
                </a:lnTo>
                <a:lnTo>
                  <a:pt x="260667" y="510781"/>
                </a:lnTo>
                <a:close/>
              </a:path>
            </a:pathLst>
          </a:custGeom>
          <a:solidFill>
            <a:srgbClr val="A6A6A6"/>
          </a:solidFill>
        </p:spPr>
        <p:txBody>
          <a:bodyPr wrap="square" lIns="0" tIns="0" rIns="0" bIns="0" rtlCol="0"/>
          <a:lstStyle/>
          <a:p/>
        </p:txBody>
      </p:sp>
      <p:sp>
        <p:nvSpPr>
          <p:cNvPr id="18" name="object 18"/>
          <p:cNvSpPr txBox="1"/>
          <p:nvPr/>
        </p:nvSpPr>
        <p:spPr>
          <a:xfrm>
            <a:off x="2243112" y="3067202"/>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4</a:t>
            </a:r>
            <a:endParaRPr sz="3200">
              <a:latin typeface="Calibri" panose="020F0502020204030204"/>
              <a:cs typeface="Calibri" panose="020F0502020204030204"/>
            </a:endParaRPr>
          </a:p>
        </p:txBody>
      </p:sp>
      <p:sp>
        <p:nvSpPr>
          <p:cNvPr id="19" name="object 19"/>
          <p:cNvSpPr/>
          <p:nvPr/>
        </p:nvSpPr>
        <p:spPr>
          <a:xfrm>
            <a:off x="2394204" y="3749040"/>
            <a:ext cx="6791325" cy="509270"/>
          </a:xfrm>
          <a:custGeom>
            <a:avLst/>
            <a:gdLst/>
            <a:ahLst/>
            <a:cxnLst/>
            <a:rect l="l" t="t" r="r" b="b"/>
            <a:pathLst>
              <a:path w="6791325" h="509270">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20" name="object 20"/>
          <p:cNvSpPr/>
          <p:nvPr/>
        </p:nvSpPr>
        <p:spPr>
          <a:xfrm>
            <a:off x="8916923" y="3748468"/>
            <a:ext cx="522605" cy="511175"/>
          </a:xfrm>
          <a:custGeom>
            <a:avLst/>
            <a:gdLst/>
            <a:ahLst/>
            <a:cxnLst/>
            <a:rect l="l" t="t" r="r" b="b"/>
            <a:pathLst>
              <a:path w="522604" h="511175">
                <a:moveTo>
                  <a:pt x="261023" y="510717"/>
                </a:moveTo>
                <a:lnTo>
                  <a:pt x="214075" y="506603"/>
                </a:lnTo>
                <a:lnTo>
                  <a:pt x="169890" y="494739"/>
                </a:lnTo>
                <a:lnTo>
                  <a:pt x="129206" y="475844"/>
                </a:lnTo>
                <a:lnTo>
                  <a:pt x="92763" y="450636"/>
                </a:lnTo>
                <a:lnTo>
                  <a:pt x="61297" y="419836"/>
                </a:lnTo>
                <a:lnTo>
                  <a:pt x="35550" y="384161"/>
                </a:lnTo>
                <a:lnTo>
                  <a:pt x="16258" y="344331"/>
                </a:lnTo>
                <a:lnTo>
                  <a:pt x="4162" y="301064"/>
                </a:lnTo>
                <a:lnTo>
                  <a:pt x="0" y="255079"/>
                </a:lnTo>
                <a:lnTo>
                  <a:pt x="4162" y="209264"/>
                </a:lnTo>
                <a:lnTo>
                  <a:pt x="16258" y="166128"/>
                </a:lnTo>
                <a:lnTo>
                  <a:pt x="35550" y="126396"/>
                </a:lnTo>
                <a:lnTo>
                  <a:pt x="61297" y="90790"/>
                </a:lnTo>
                <a:lnTo>
                  <a:pt x="92763" y="60035"/>
                </a:lnTo>
                <a:lnTo>
                  <a:pt x="129206" y="34855"/>
                </a:lnTo>
                <a:lnTo>
                  <a:pt x="169890" y="15973"/>
                </a:lnTo>
                <a:lnTo>
                  <a:pt x="214075" y="4114"/>
                </a:lnTo>
                <a:lnTo>
                  <a:pt x="261023" y="0"/>
                </a:lnTo>
                <a:lnTo>
                  <a:pt x="307966" y="4114"/>
                </a:lnTo>
                <a:lnTo>
                  <a:pt x="352150" y="15977"/>
                </a:lnTo>
                <a:lnTo>
                  <a:pt x="392835" y="34866"/>
                </a:lnTo>
                <a:lnTo>
                  <a:pt x="429286" y="60060"/>
                </a:lnTo>
                <a:lnTo>
                  <a:pt x="460762" y="90838"/>
                </a:lnTo>
                <a:lnTo>
                  <a:pt x="486529" y="126478"/>
                </a:lnTo>
                <a:lnTo>
                  <a:pt x="505846" y="166259"/>
                </a:lnTo>
                <a:lnTo>
                  <a:pt x="517978" y="209460"/>
                </a:lnTo>
                <a:lnTo>
                  <a:pt x="522185" y="255358"/>
                </a:lnTo>
                <a:lnTo>
                  <a:pt x="517978" y="301260"/>
                </a:lnTo>
                <a:lnTo>
                  <a:pt x="505846" y="344462"/>
                </a:lnTo>
                <a:lnTo>
                  <a:pt x="486529" y="384244"/>
                </a:lnTo>
                <a:lnTo>
                  <a:pt x="460762" y="419884"/>
                </a:lnTo>
                <a:lnTo>
                  <a:pt x="429286" y="450661"/>
                </a:lnTo>
                <a:lnTo>
                  <a:pt x="392835" y="475854"/>
                </a:lnTo>
                <a:lnTo>
                  <a:pt x="352150" y="494742"/>
                </a:lnTo>
                <a:lnTo>
                  <a:pt x="307966" y="506603"/>
                </a:lnTo>
                <a:lnTo>
                  <a:pt x="261023" y="510717"/>
                </a:lnTo>
                <a:close/>
              </a:path>
            </a:pathLst>
          </a:custGeom>
          <a:solidFill>
            <a:srgbClr val="D9D9D9"/>
          </a:solidFill>
        </p:spPr>
        <p:txBody>
          <a:bodyPr wrap="square" lIns="0" tIns="0" rIns="0" bIns="0" rtlCol="0"/>
          <a:lstStyle/>
          <a:p/>
        </p:txBody>
      </p:sp>
      <p:sp>
        <p:nvSpPr>
          <p:cNvPr id="21" name="object 21"/>
          <p:cNvSpPr/>
          <p:nvPr/>
        </p:nvSpPr>
        <p:spPr>
          <a:xfrm>
            <a:off x="2098548" y="3747935"/>
            <a:ext cx="521970" cy="511175"/>
          </a:xfrm>
          <a:custGeom>
            <a:avLst/>
            <a:gdLst/>
            <a:ahLst/>
            <a:cxnLst/>
            <a:rect l="l" t="t" r="r" b="b"/>
            <a:pathLst>
              <a:path w="521969" h="511175">
                <a:moveTo>
                  <a:pt x="260667" y="510717"/>
                </a:moveTo>
                <a:lnTo>
                  <a:pt x="213719" y="506603"/>
                </a:lnTo>
                <a:lnTo>
                  <a:pt x="169533" y="494742"/>
                </a:lnTo>
                <a:lnTo>
                  <a:pt x="128850" y="475854"/>
                </a:lnTo>
                <a:lnTo>
                  <a:pt x="92415" y="450661"/>
                </a:lnTo>
                <a:lnTo>
                  <a:pt x="60971" y="419884"/>
                </a:lnTo>
                <a:lnTo>
                  <a:pt x="35299" y="384319"/>
                </a:lnTo>
                <a:lnTo>
                  <a:pt x="16070" y="344582"/>
                </a:lnTo>
                <a:lnTo>
                  <a:pt x="4056" y="301439"/>
                </a:lnTo>
                <a:lnTo>
                  <a:pt x="0" y="255612"/>
                </a:lnTo>
                <a:lnTo>
                  <a:pt x="4056" y="209635"/>
                </a:lnTo>
                <a:lnTo>
                  <a:pt x="16070" y="166374"/>
                </a:lnTo>
                <a:lnTo>
                  <a:pt x="35299" y="126548"/>
                </a:lnTo>
                <a:lnTo>
                  <a:pt x="61047" y="90833"/>
                </a:lnTo>
                <a:lnTo>
                  <a:pt x="92470" y="60056"/>
                </a:lnTo>
                <a:lnTo>
                  <a:pt x="128884" y="34863"/>
                </a:lnTo>
                <a:lnTo>
                  <a:pt x="169549" y="15975"/>
                </a:lnTo>
                <a:lnTo>
                  <a:pt x="213724" y="4114"/>
                </a:lnTo>
                <a:lnTo>
                  <a:pt x="260667" y="0"/>
                </a:lnTo>
                <a:lnTo>
                  <a:pt x="307612" y="4114"/>
                </a:lnTo>
                <a:lnTo>
                  <a:pt x="351800" y="15978"/>
                </a:lnTo>
                <a:lnTo>
                  <a:pt x="392493" y="34872"/>
                </a:lnTo>
                <a:lnTo>
                  <a:pt x="428953" y="60078"/>
                </a:lnTo>
                <a:lnTo>
                  <a:pt x="460438" y="90876"/>
                </a:lnTo>
                <a:lnTo>
                  <a:pt x="486173" y="126473"/>
                </a:lnTo>
                <a:lnTo>
                  <a:pt x="505491" y="166254"/>
                </a:lnTo>
                <a:lnTo>
                  <a:pt x="517622" y="209457"/>
                </a:lnTo>
                <a:lnTo>
                  <a:pt x="521830" y="255358"/>
                </a:lnTo>
                <a:lnTo>
                  <a:pt x="517622" y="301260"/>
                </a:lnTo>
                <a:lnTo>
                  <a:pt x="505491" y="344462"/>
                </a:lnTo>
                <a:lnTo>
                  <a:pt x="486173" y="384244"/>
                </a:lnTo>
                <a:lnTo>
                  <a:pt x="460362" y="419928"/>
                </a:lnTo>
                <a:lnTo>
                  <a:pt x="428898" y="450683"/>
                </a:lnTo>
                <a:lnTo>
                  <a:pt x="392460" y="475863"/>
                </a:lnTo>
                <a:lnTo>
                  <a:pt x="351784" y="494744"/>
                </a:lnTo>
                <a:lnTo>
                  <a:pt x="307607" y="506604"/>
                </a:lnTo>
                <a:lnTo>
                  <a:pt x="260667" y="510717"/>
                </a:lnTo>
                <a:close/>
              </a:path>
            </a:pathLst>
          </a:custGeom>
          <a:solidFill>
            <a:srgbClr val="A6A6A6"/>
          </a:solidFill>
        </p:spPr>
        <p:txBody>
          <a:bodyPr wrap="square" lIns="0" tIns="0" rIns="0" bIns="0" rtlCol="0"/>
          <a:lstStyle/>
          <a:p/>
        </p:txBody>
      </p:sp>
      <p:sp>
        <p:nvSpPr>
          <p:cNvPr id="22" name="object 22"/>
          <p:cNvSpPr txBox="1"/>
          <p:nvPr/>
        </p:nvSpPr>
        <p:spPr>
          <a:xfrm>
            <a:off x="2243112" y="3720490"/>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5</a:t>
            </a:r>
            <a:endParaRPr sz="3200">
              <a:latin typeface="Calibri" panose="020F0502020204030204"/>
              <a:cs typeface="Calibri" panose="020F0502020204030204"/>
            </a:endParaRPr>
          </a:p>
        </p:txBody>
      </p:sp>
      <p:sp>
        <p:nvSpPr>
          <p:cNvPr id="23" name="object 23"/>
          <p:cNvSpPr/>
          <p:nvPr/>
        </p:nvSpPr>
        <p:spPr>
          <a:xfrm>
            <a:off x="2394204" y="4401311"/>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24" name="object 24"/>
          <p:cNvSpPr/>
          <p:nvPr/>
        </p:nvSpPr>
        <p:spPr>
          <a:xfrm>
            <a:off x="8916923" y="4401781"/>
            <a:ext cx="522605" cy="511175"/>
          </a:xfrm>
          <a:custGeom>
            <a:avLst/>
            <a:gdLst/>
            <a:ahLst/>
            <a:cxnLst/>
            <a:rect l="l" t="t" r="r" b="b"/>
            <a:pathLst>
              <a:path w="522604" h="511175">
                <a:moveTo>
                  <a:pt x="261023" y="510717"/>
                </a:moveTo>
                <a:lnTo>
                  <a:pt x="214074" y="506603"/>
                </a:lnTo>
                <a:lnTo>
                  <a:pt x="169886" y="494740"/>
                </a:lnTo>
                <a:lnTo>
                  <a:pt x="129196" y="475851"/>
                </a:lnTo>
                <a:lnTo>
                  <a:pt x="92744" y="450657"/>
                </a:lnTo>
                <a:lnTo>
                  <a:pt x="61272" y="419879"/>
                </a:lnTo>
                <a:lnTo>
                  <a:pt x="35520" y="384238"/>
                </a:lnTo>
                <a:lnTo>
                  <a:pt x="16258" y="344553"/>
                </a:lnTo>
                <a:lnTo>
                  <a:pt x="4162" y="301400"/>
                </a:lnTo>
                <a:lnTo>
                  <a:pt x="0" y="255562"/>
                </a:lnTo>
                <a:lnTo>
                  <a:pt x="4162" y="209599"/>
                </a:lnTo>
                <a:lnTo>
                  <a:pt x="16258" y="166350"/>
                </a:lnTo>
                <a:lnTo>
                  <a:pt x="35550" y="126533"/>
                </a:lnTo>
                <a:lnTo>
                  <a:pt x="61333" y="90833"/>
                </a:lnTo>
                <a:lnTo>
                  <a:pt x="92788" y="60056"/>
                </a:lnTo>
                <a:lnTo>
                  <a:pt x="129223" y="34863"/>
                </a:lnTo>
                <a:lnTo>
                  <a:pt x="169899" y="15975"/>
                </a:lnTo>
                <a:lnTo>
                  <a:pt x="214078" y="4114"/>
                </a:lnTo>
                <a:lnTo>
                  <a:pt x="261023" y="0"/>
                </a:lnTo>
                <a:lnTo>
                  <a:pt x="307967" y="4114"/>
                </a:lnTo>
                <a:lnTo>
                  <a:pt x="352155" y="15977"/>
                </a:lnTo>
                <a:lnTo>
                  <a:pt x="392846" y="34870"/>
                </a:lnTo>
                <a:lnTo>
                  <a:pt x="429304" y="60074"/>
                </a:lnTo>
                <a:lnTo>
                  <a:pt x="460788" y="90868"/>
                </a:lnTo>
                <a:lnTo>
                  <a:pt x="486558" y="126533"/>
                </a:lnTo>
                <a:lnTo>
                  <a:pt x="505846" y="166254"/>
                </a:lnTo>
                <a:lnTo>
                  <a:pt x="517978" y="209457"/>
                </a:lnTo>
                <a:lnTo>
                  <a:pt x="522185" y="255358"/>
                </a:lnTo>
                <a:lnTo>
                  <a:pt x="517978" y="301257"/>
                </a:lnTo>
                <a:lnTo>
                  <a:pt x="505846" y="344457"/>
                </a:lnTo>
                <a:lnTo>
                  <a:pt x="486529" y="384238"/>
                </a:lnTo>
                <a:lnTo>
                  <a:pt x="460727" y="419914"/>
                </a:lnTo>
                <a:lnTo>
                  <a:pt x="429260" y="450675"/>
                </a:lnTo>
                <a:lnTo>
                  <a:pt x="392819" y="475859"/>
                </a:lnTo>
                <a:lnTo>
                  <a:pt x="352142" y="494742"/>
                </a:lnTo>
                <a:lnTo>
                  <a:pt x="307963" y="506603"/>
                </a:lnTo>
                <a:lnTo>
                  <a:pt x="261023" y="510717"/>
                </a:lnTo>
                <a:close/>
              </a:path>
            </a:pathLst>
          </a:custGeom>
          <a:solidFill>
            <a:srgbClr val="D9D9D9"/>
          </a:solidFill>
        </p:spPr>
        <p:txBody>
          <a:bodyPr wrap="square" lIns="0" tIns="0" rIns="0" bIns="0" rtlCol="0"/>
          <a:lstStyle/>
          <a:p/>
        </p:txBody>
      </p:sp>
      <p:sp>
        <p:nvSpPr>
          <p:cNvPr id="25" name="object 25"/>
          <p:cNvSpPr/>
          <p:nvPr/>
        </p:nvSpPr>
        <p:spPr>
          <a:xfrm>
            <a:off x="2098548" y="4401235"/>
            <a:ext cx="521970" cy="511175"/>
          </a:xfrm>
          <a:custGeom>
            <a:avLst/>
            <a:gdLst/>
            <a:ahLst/>
            <a:cxnLst/>
            <a:rect l="l" t="t" r="r" b="b"/>
            <a:pathLst>
              <a:path w="521969" h="511175">
                <a:moveTo>
                  <a:pt x="260667" y="510717"/>
                </a:moveTo>
                <a:lnTo>
                  <a:pt x="213716" y="506603"/>
                </a:lnTo>
                <a:lnTo>
                  <a:pt x="169521" y="494742"/>
                </a:lnTo>
                <a:lnTo>
                  <a:pt x="128824" y="475854"/>
                </a:lnTo>
                <a:lnTo>
                  <a:pt x="92438" y="450727"/>
                </a:lnTo>
                <a:lnTo>
                  <a:pt x="61003" y="420012"/>
                </a:lnTo>
                <a:lnTo>
                  <a:pt x="35299" y="384466"/>
                </a:lnTo>
                <a:lnTo>
                  <a:pt x="16070" y="344815"/>
                </a:lnTo>
                <a:lnTo>
                  <a:pt x="4056" y="301786"/>
                </a:lnTo>
                <a:lnTo>
                  <a:pt x="0" y="256108"/>
                </a:lnTo>
                <a:lnTo>
                  <a:pt x="4056" y="209983"/>
                </a:lnTo>
                <a:lnTo>
                  <a:pt x="16070" y="166607"/>
                </a:lnTo>
                <a:lnTo>
                  <a:pt x="35299" y="126695"/>
                </a:lnTo>
                <a:lnTo>
                  <a:pt x="61003" y="90961"/>
                </a:lnTo>
                <a:lnTo>
                  <a:pt x="92438" y="60122"/>
                </a:lnTo>
                <a:lnTo>
                  <a:pt x="128924" y="34863"/>
                </a:lnTo>
                <a:lnTo>
                  <a:pt x="169569" y="15975"/>
                </a:lnTo>
                <a:lnTo>
                  <a:pt x="213732" y="4114"/>
                </a:lnTo>
                <a:lnTo>
                  <a:pt x="260667" y="0"/>
                </a:lnTo>
                <a:lnTo>
                  <a:pt x="307615" y="4115"/>
                </a:lnTo>
                <a:lnTo>
                  <a:pt x="351812" y="15983"/>
                </a:lnTo>
                <a:lnTo>
                  <a:pt x="392520" y="34891"/>
                </a:lnTo>
                <a:lnTo>
                  <a:pt x="428930" y="60056"/>
                </a:lnTo>
                <a:lnTo>
                  <a:pt x="460407" y="90833"/>
                </a:lnTo>
                <a:lnTo>
                  <a:pt x="486173" y="126473"/>
                </a:lnTo>
                <a:lnTo>
                  <a:pt x="505491" y="166254"/>
                </a:lnTo>
                <a:lnTo>
                  <a:pt x="517622" y="209457"/>
                </a:lnTo>
                <a:lnTo>
                  <a:pt x="521830" y="255358"/>
                </a:lnTo>
                <a:lnTo>
                  <a:pt x="517622" y="301260"/>
                </a:lnTo>
                <a:lnTo>
                  <a:pt x="505491" y="344462"/>
                </a:lnTo>
                <a:lnTo>
                  <a:pt x="486173" y="384244"/>
                </a:lnTo>
                <a:lnTo>
                  <a:pt x="460407" y="419884"/>
                </a:lnTo>
                <a:lnTo>
                  <a:pt x="428930" y="450661"/>
                </a:lnTo>
                <a:lnTo>
                  <a:pt x="392420" y="475882"/>
                </a:lnTo>
                <a:lnTo>
                  <a:pt x="351764" y="494750"/>
                </a:lnTo>
                <a:lnTo>
                  <a:pt x="307599" y="506604"/>
                </a:lnTo>
                <a:lnTo>
                  <a:pt x="260667" y="510717"/>
                </a:lnTo>
                <a:close/>
              </a:path>
            </a:pathLst>
          </a:custGeom>
          <a:solidFill>
            <a:srgbClr val="A6A6A6"/>
          </a:solidFill>
        </p:spPr>
        <p:txBody>
          <a:bodyPr wrap="square" lIns="0" tIns="0" rIns="0" bIns="0" rtlCol="0"/>
          <a:lstStyle/>
          <a:p/>
        </p:txBody>
      </p:sp>
      <p:sp>
        <p:nvSpPr>
          <p:cNvPr id="26" name="object 26"/>
          <p:cNvSpPr txBox="1"/>
          <p:nvPr/>
        </p:nvSpPr>
        <p:spPr>
          <a:xfrm>
            <a:off x="2243112" y="4373791"/>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6</a:t>
            </a:r>
            <a:endParaRPr sz="3200">
              <a:latin typeface="Calibri" panose="020F0502020204030204"/>
              <a:cs typeface="Calibri" panose="020F0502020204030204"/>
            </a:endParaRPr>
          </a:p>
        </p:txBody>
      </p:sp>
      <p:sp>
        <p:nvSpPr>
          <p:cNvPr id="27" name="object 27"/>
          <p:cNvSpPr/>
          <p:nvPr/>
        </p:nvSpPr>
        <p:spPr>
          <a:xfrm>
            <a:off x="2394204" y="5055108"/>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28" name="object 28"/>
          <p:cNvSpPr/>
          <p:nvPr/>
        </p:nvSpPr>
        <p:spPr>
          <a:xfrm>
            <a:off x="8916923" y="5055082"/>
            <a:ext cx="522605" cy="511175"/>
          </a:xfrm>
          <a:custGeom>
            <a:avLst/>
            <a:gdLst/>
            <a:ahLst/>
            <a:cxnLst/>
            <a:rect l="l" t="t" r="r" b="b"/>
            <a:pathLst>
              <a:path w="522604" h="511175">
                <a:moveTo>
                  <a:pt x="261023" y="510717"/>
                </a:moveTo>
                <a:lnTo>
                  <a:pt x="214072" y="506603"/>
                </a:lnTo>
                <a:lnTo>
                  <a:pt x="169874" y="494740"/>
                </a:lnTo>
                <a:lnTo>
                  <a:pt x="129169" y="475851"/>
                </a:lnTo>
                <a:lnTo>
                  <a:pt x="92763" y="450718"/>
                </a:lnTo>
                <a:lnTo>
                  <a:pt x="61297" y="419999"/>
                </a:lnTo>
                <a:lnTo>
                  <a:pt x="35550" y="384445"/>
                </a:lnTo>
                <a:lnTo>
                  <a:pt x="16258" y="344786"/>
                </a:lnTo>
                <a:lnTo>
                  <a:pt x="4162" y="301747"/>
                </a:lnTo>
                <a:lnTo>
                  <a:pt x="0" y="256057"/>
                </a:lnTo>
                <a:lnTo>
                  <a:pt x="4162" y="209947"/>
                </a:lnTo>
                <a:lnTo>
                  <a:pt x="16258" y="166583"/>
                </a:lnTo>
                <a:lnTo>
                  <a:pt x="35550" y="126680"/>
                </a:lnTo>
                <a:lnTo>
                  <a:pt x="61297" y="90953"/>
                </a:lnTo>
                <a:lnTo>
                  <a:pt x="92763" y="60117"/>
                </a:lnTo>
                <a:lnTo>
                  <a:pt x="129262" y="34863"/>
                </a:lnTo>
                <a:lnTo>
                  <a:pt x="169919" y="15975"/>
                </a:lnTo>
                <a:lnTo>
                  <a:pt x="214086" y="4114"/>
                </a:lnTo>
                <a:lnTo>
                  <a:pt x="261023" y="0"/>
                </a:lnTo>
                <a:lnTo>
                  <a:pt x="307970" y="4115"/>
                </a:lnTo>
                <a:lnTo>
                  <a:pt x="352166" y="15983"/>
                </a:lnTo>
                <a:lnTo>
                  <a:pt x="392873" y="34889"/>
                </a:lnTo>
                <a:lnTo>
                  <a:pt x="429286" y="60056"/>
                </a:lnTo>
                <a:lnTo>
                  <a:pt x="460762" y="90833"/>
                </a:lnTo>
                <a:lnTo>
                  <a:pt x="486529" y="126473"/>
                </a:lnTo>
                <a:lnTo>
                  <a:pt x="505846" y="166254"/>
                </a:lnTo>
                <a:lnTo>
                  <a:pt x="517978" y="209457"/>
                </a:lnTo>
                <a:lnTo>
                  <a:pt x="522185" y="255358"/>
                </a:lnTo>
                <a:lnTo>
                  <a:pt x="517978" y="301257"/>
                </a:lnTo>
                <a:lnTo>
                  <a:pt x="505846" y="344457"/>
                </a:lnTo>
                <a:lnTo>
                  <a:pt x="486529" y="384238"/>
                </a:lnTo>
                <a:lnTo>
                  <a:pt x="460762" y="419879"/>
                </a:lnTo>
                <a:lnTo>
                  <a:pt x="429286" y="450657"/>
                </a:lnTo>
                <a:lnTo>
                  <a:pt x="392780" y="475877"/>
                </a:lnTo>
                <a:lnTo>
                  <a:pt x="352121" y="494748"/>
                </a:lnTo>
                <a:lnTo>
                  <a:pt x="307955" y="506604"/>
                </a:lnTo>
                <a:lnTo>
                  <a:pt x="261023" y="510717"/>
                </a:lnTo>
                <a:close/>
              </a:path>
            </a:pathLst>
          </a:custGeom>
          <a:solidFill>
            <a:srgbClr val="D9D9D9"/>
          </a:solidFill>
        </p:spPr>
        <p:txBody>
          <a:bodyPr wrap="square" lIns="0" tIns="0" rIns="0" bIns="0" rtlCol="0"/>
          <a:lstStyle/>
          <a:p/>
        </p:txBody>
      </p:sp>
      <p:sp>
        <p:nvSpPr>
          <p:cNvPr id="29" name="object 29"/>
          <p:cNvSpPr/>
          <p:nvPr/>
        </p:nvSpPr>
        <p:spPr>
          <a:xfrm>
            <a:off x="2098548" y="5054536"/>
            <a:ext cx="521970" cy="511175"/>
          </a:xfrm>
          <a:custGeom>
            <a:avLst/>
            <a:gdLst/>
            <a:ahLst/>
            <a:cxnLst/>
            <a:rect l="l" t="t" r="r" b="b"/>
            <a:pathLst>
              <a:path w="521969" h="511175">
                <a:moveTo>
                  <a:pt x="260667" y="510717"/>
                </a:moveTo>
                <a:lnTo>
                  <a:pt x="213720" y="506603"/>
                </a:lnTo>
                <a:lnTo>
                  <a:pt x="169539" y="494739"/>
                </a:lnTo>
                <a:lnTo>
                  <a:pt x="128864" y="475844"/>
                </a:lnTo>
                <a:lnTo>
                  <a:pt x="92438" y="450636"/>
                </a:lnTo>
                <a:lnTo>
                  <a:pt x="61003" y="419836"/>
                </a:lnTo>
                <a:lnTo>
                  <a:pt x="35299" y="384161"/>
                </a:lnTo>
                <a:lnTo>
                  <a:pt x="16070" y="344331"/>
                </a:lnTo>
                <a:lnTo>
                  <a:pt x="4056" y="301064"/>
                </a:lnTo>
                <a:lnTo>
                  <a:pt x="0" y="255079"/>
                </a:lnTo>
                <a:lnTo>
                  <a:pt x="4056" y="209260"/>
                </a:lnTo>
                <a:lnTo>
                  <a:pt x="16070" y="166123"/>
                </a:lnTo>
                <a:lnTo>
                  <a:pt x="35299" y="126390"/>
                </a:lnTo>
                <a:lnTo>
                  <a:pt x="61003" y="90785"/>
                </a:lnTo>
                <a:lnTo>
                  <a:pt x="92438" y="60031"/>
                </a:lnTo>
                <a:lnTo>
                  <a:pt x="128864" y="34853"/>
                </a:lnTo>
                <a:lnTo>
                  <a:pt x="169539" y="15972"/>
                </a:lnTo>
                <a:lnTo>
                  <a:pt x="213720" y="4113"/>
                </a:lnTo>
                <a:lnTo>
                  <a:pt x="260667" y="0"/>
                </a:lnTo>
                <a:lnTo>
                  <a:pt x="307611" y="4114"/>
                </a:lnTo>
                <a:lnTo>
                  <a:pt x="351794" y="15975"/>
                </a:lnTo>
                <a:lnTo>
                  <a:pt x="392480" y="34863"/>
                </a:lnTo>
                <a:lnTo>
                  <a:pt x="428930" y="60056"/>
                </a:lnTo>
                <a:lnTo>
                  <a:pt x="460407" y="90833"/>
                </a:lnTo>
                <a:lnTo>
                  <a:pt x="486173" y="126473"/>
                </a:lnTo>
                <a:lnTo>
                  <a:pt x="505491" y="166254"/>
                </a:lnTo>
                <a:lnTo>
                  <a:pt x="517622" y="209457"/>
                </a:lnTo>
                <a:lnTo>
                  <a:pt x="521830" y="255358"/>
                </a:lnTo>
                <a:lnTo>
                  <a:pt x="517622" y="301260"/>
                </a:lnTo>
                <a:lnTo>
                  <a:pt x="505491" y="344462"/>
                </a:lnTo>
                <a:lnTo>
                  <a:pt x="486173" y="384244"/>
                </a:lnTo>
                <a:lnTo>
                  <a:pt x="460407" y="419884"/>
                </a:lnTo>
                <a:lnTo>
                  <a:pt x="428930" y="450661"/>
                </a:lnTo>
                <a:lnTo>
                  <a:pt x="392480" y="475854"/>
                </a:lnTo>
                <a:lnTo>
                  <a:pt x="351794" y="494742"/>
                </a:lnTo>
                <a:lnTo>
                  <a:pt x="307611" y="506603"/>
                </a:lnTo>
                <a:lnTo>
                  <a:pt x="260667" y="510717"/>
                </a:lnTo>
                <a:close/>
              </a:path>
            </a:pathLst>
          </a:custGeom>
          <a:solidFill>
            <a:srgbClr val="C00000"/>
          </a:solidFill>
        </p:spPr>
        <p:txBody>
          <a:bodyPr wrap="square" lIns="0" tIns="0" rIns="0" bIns="0" rtlCol="0"/>
          <a:lstStyle/>
          <a:p/>
        </p:txBody>
      </p:sp>
      <p:sp>
        <p:nvSpPr>
          <p:cNvPr id="30" name="object 30"/>
          <p:cNvSpPr txBox="1"/>
          <p:nvPr/>
        </p:nvSpPr>
        <p:spPr>
          <a:xfrm>
            <a:off x="2243112" y="5027091"/>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7</a:t>
            </a:r>
            <a:endParaRPr sz="3200">
              <a:latin typeface="Calibri" panose="020F0502020204030204"/>
              <a:cs typeface="Calibri" panose="020F0502020204030204"/>
            </a:endParaRPr>
          </a:p>
        </p:txBody>
      </p:sp>
      <p:sp>
        <p:nvSpPr>
          <p:cNvPr id="31" name="object 31"/>
          <p:cNvSpPr/>
          <p:nvPr/>
        </p:nvSpPr>
        <p:spPr>
          <a:xfrm>
            <a:off x="2394204" y="5708903"/>
            <a:ext cx="6791325" cy="509270"/>
          </a:xfrm>
          <a:custGeom>
            <a:avLst/>
            <a:gdLst/>
            <a:ahLst/>
            <a:cxnLst/>
            <a:rect l="l" t="t" r="r" b="b"/>
            <a:pathLst>
              <a:path w="6791325" h="509270">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32" name="object 32"/>
          <p:cNvSpPr/>
          <p:nvPr/>
        </p:nvSpPr>
        <p:spPr>
          <a:xfrm>
            <a:off x="8916923" y="5708383"/>
            <a:ext cx="522605" cy="511175"/>
          </a:xfrm>
          <a:custGeom>
            <a:avLst/>
            <a:gdLst/>
            <a:ahLst/>
            <a:cxnLst/>
            <a:rect l="l" t="t" r="r" b="b"/>
            <a:pathLst>
              <a:path w="522604" h="511175">
                <a:moveTo>
                  <a:pt x="261023" y="510717"/>
                </a:moveTo>
                <a:lnTo>
                  <a:pt x="214075" y="506602"/>
                </a:lnTo>
                <a:lnTo>
                  <a:pt x="169890" y="494737"/>
                </a:lnTo>
                <a:lnTo>
                  <a:pt x="129206" y="475839"/>
                </a:lnTo>
                <a:lnTo>
                  <a:pt x="92763" y="450628"/>
                </a:lnTo>
                <a:lnTo>
                  <a:pt x="61297" y="419822"/>
                </a:lnTo>
                <a:lnTo>
                  <a:pt x="35550" y="384141"/>
                </a:lnTo>
                <a:lnTo>
                  <a:pt x="16258" y="344302"/>
                </a:lnTo>
                <a:lnTo>
                  <a:pt x="4162" y="301025"/>
                </a:lnTo>
                <a:lnTo>
                  <a:pt x="0" y="255028"/>
                </a:lnTo>
                <a:lnTo>
                  <a:pt x="4162" y="209225"/>
                </a:lnTo>
                <a:lnTo>
                  <a:pt x="16258" y="166099"/>
                </a:lnTo>
                <a:lnTo>
                  <a:pt x="35550" y="126375"/>
                </a:lnTo>
                <a:lnTo>
                  <a:pt x="61297" y="90776"/>
                </a:lnTo>
                <a:lnTo>
                  <a:pt x="92763" y="60027"/>
                </a:lnTo>
                <a:lnTo>
                  <a:pt x="129206" y="34851"/>
                </a:lnTo>
                <a:lnTo>
                  <a:pt x="169890" y="15971"/>
                </a:lnTo>
                <a:lnTo>
                  <a:pt x="214075" y="4113"/>
                </a:lnTo>
                <a:lnTo>
                  <a:pt x="261023" y="0"/>
                </a:lnTo>
                <a:lnTo>
                  <a:pt x="307966" y="4114"/>
                </a:lnTo>
                <a:lnTo>
                  <a:pt x="352150" y="15975"/>
                </a:lnTo>
                <a:lnTo>
                  <a:pt x="392835" y="34863"/>
                </a:lnTo>
                <a:lnTo>
                  <a:pt x="429286" y="60056"/>
                </a:lnTo>
                <a:lnTo>
                  <a:pt x="460762" y="90833"/>
                </a:lnTo>
                <a:lnTo>
                  <a:pt x="486529" y="126473"/>
                </a:lnTo>
                <a:lnTo>
                  <a:pt x="505846" y="166254"/>
                </a:lnTo>
                <a:lnTo>
                  <a:pt x="517978" y="209457"/>
                </a:lnTo>
                <a:lnTo>
                  <a:pt x="522185" y="255358"/>
                </a:lnTo>
                <a:lnTo>
                  <a:pt x="517978" y="301257"/>
                </a:lnTo>
                <a:lnTo>
                  <a:pt x="505846" y="344457"/>
                </a:lnTo>
                <a:lnTo>
                  <a:pt x="486529" y="384238"/>
                </a:lnTo>
                <a:lnTo>
                  <a:pt x="460762" y="419879"/>
                </a:lnTo>
                <a:lnTo>
                  <a:pt x="429286" y="450657"/>
                </a:lnTo>
                <a:lnTo>
                  <a:pt x="392835" y="475851"/>
                </a:lnTo>
                <a:lnTo>
                  <a:pt x="352150" y="494740"/>
                </a:lnTo>
                <a:lnTo>
                  <a:pt x="307966" y="506603"/>
                </a:lnTo>
                <a:lnTo>
                  <a:pt x="261023" y="510717"/>
                </a:lnTo>
                <a:close/>
              </a:path>
            </a:pathLst>
          </a:custGeom>
          <a:solidFill>
            <a:srgbClr val="D9D9D9"/>
          </a:solidFill>
        </p:spPr>
        <p:txBody>
          <a:bodyPr wrap="square" lIns="0" tIns="0" rIns="0" bIns="0" rtlCol="0"/>
          <a:lstStyle/>
          <a:p/>
        </p:txBody>
      </p:sp>
      <p:sp>
        <p:nvSpPr>
          <p:cNvPr id="33" name="object 33"/>
          <p:cNvSpPr/>
          <p:nvPr/>
        </p:nvSpPr>
        <p:spPr>
          <a:xfrm>
            <a:off x="2098548" y="5707837"/>
            <a:ext cx="521970" cy="511175"/>
          </a:xfrm>
          <a:custGeom>
            <a:avLst/>
            <a:gdLst/>
            <a:ahLst/>
            <a:cxnLst/>
            <a:rect l="l" t="t" r="r" b="b"/>
            <a:pathLst>
              <a:path w="521969" h="511175">
                <a:moveTo>
                  <a:pt x="260667" y="510717"/>
                </a:moveTo>
                <a:lnTo>
                  <a:pt x="213719" y="506603"/>
                </a:lnTo>
                <a:lnTo>
                  <a:pt x="169534" y="494742"/>
                </a:lnTo>
                <a:lnTo>
                  <a:pt x="128852" y="475854"/>
                </a:lnTo>
                <a:lnTo>
                  <a:pt x="92419" y="450661"/>
                </a:lnTo>
                <a:lnTo>
                  <a:pt x="60976" y="419884"/>
                </a:lnTo>
                <a:lnTo>
                  <a:pt x="35268" y="384244"/>
                </a:lnTo>
                <a:lnTo>
                  <a:pt x="16070" y="344564"/>
                </a:lnTo>
                <a:lnTo>
                  <a:pt x="4056" y="301412"/>
                </a:lnTo>
                <a:lnTo>
                  <a:pt x="0" y="255574"/>
                </a:lnTo>
                <a:lnTo>
                  <a:pt x="4056" y="209608"/>
                </a:lnTo>
                <a:lnTo>
                  <a:pt x="16070" y="166356"/>
                </a:lnTo>
                <a:lnTo>
                  <a:pt x="35299" y="126537"/>
                </a:lnTo>
                <a:lnTo>
                  <a:pt x="61040" y="90833"/>
                </a:lnTo>
                <a:lnTo>
                  <a:pt x="92466" y="60056"/>
                </a:lnTo>
                <a:lnTo>
                  <a:pt x="128881" y="34863"/>
                </a:lnTo>
                <a:lnTo>
                  <a:pt x="169547" y="15975"/>
                </a:lnTo>
                <a:lnTo>
                  <a:pt x="213724" y="4114"/>
                </a:lnTo>
                <a:lnTo>
                  <a:pt x="260667" y="0"/>
                </a:lnTo>
                <a:lnTo>
                  <a:pt x="307612" y="4114"/>
                </a:lnTo>
                <a:lnTo>
                  <a:pt x="351799" y="15977"/>
                </a:lnTo>
                <a:lnTo>
                  <a:pt x="392491" y="34871"/>
                </a:lnTo>
                <a:lnTo>
                  <a:pt x="428949" y="60075"/>
                </a:lnTo>
                <a:lnTo>
                  <a:pt x="460434" y="90870"/>
                </a:lnTo>
                <a:lnTo>
                  <a:pt x="486204" y="126537"/>
                </a:lnTo>
                <a:lnTo>
                  <a:pt x="505491" y="166254"/>
                </a:lnTo>
                <a:lnTo>
                  <a:pt x="517622" y="209457"/>
                </a:lnTo>
                <a:lnTo>
                  <a:pt x="521830" y="255358"/>
                </a:lnTo>
                <a:lnTo>
                  <a:pt x="517622" y="301260"/>
                </a:lnTo>
                <a:lnTo>
                  <a:pt x="505491" y="344462"/>
                </a:lnTo>
                <a:lnTo>
                  <a:pt x="486173" y="384244"/>
                </a:lnTo>
                <a:lnTo>
                  <a:pt x="460369" y="419921"/>
                </a:lnTo>
                <a:lnTo>
                  <a:pt x="428902" y="450680"/>
                </a:lnTo>
                <a:lnTo>
                  <a:pt x="392463" y="475862"/>
                </a:lnTo>
                <a:lnTo>
                  <a:pt x="351785" y="494744"/>
                </a:lnTo>
                <a:lnTo>
                  <a:pt x="307607" y="506604"/>
                </a:lnTo>
                <a:lnTo>
                  <a:pt x="260667" y="510717"/>
                </a:lnTo>
                <a:close/>
              </a:path>
            </a:pathLst>
          </a:custGeom>
          <a:solidFill>
            <a:srgbClr val="A6A6A6"/>
          </a:solidFill>
        </p:spPr>
        <p:txBody>
          <a:bodyPr wrap="square" lIns="0" tIns="0" rIns="0" bIns="0" rtlCol="0"/>
          <a:lstStyle/>
          <a:p/>
        </p:txBody>
      </p:sp>
      <p:sp>
        <p:nvSpPr>
          <p:cNvPr id="34" name="object 34"/>
          <p:cNvSpPr txBox="1"/>
          <p:nvPr/>
        </p:nvSpPr>
        <p:spPr>
          <a:xfrm>
            <a:off x="2243112" y="5680392"/>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8</a:t>
            </a:r>
            <a:endParaRPr sz="3200">
              <a:latin typeface="Calibri" panose="020F0502020204030204"/>
              <a:cs typeface="Calibri" panose="020F0502020204030204"/>
            </a:endParaRPr>
          </a:p>
        </p:txBody>
      </p:sp>
      <p:sp>
        <p:nvSpPr>
          <p:cNvPr id="35" name="object 35"/>
          <p:cNvSpPr txBox="1"/>
          <p:nvPr/>
        </p:nvSpPr>
        <p:spPr>
          <a:xfrm>
            <a:off x="2961297" y="1193317"/>
            <a:ext cx="251015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关于</a:t>
            </a:r>
            <a:r>
              <a:rPr sz="2400" b="1" spc="-5" dirty="0">
                <a:solidFill>
                  <a:srgbClr val="A6A6A6"/>
                </a:solidFill>
                <a:latin typeface="微软雅黑" panose="020B0503020204020204" charset="-122"/>
                <a:cs typeface="微软雅黑" panose="020B0503020204020204" charset="-122"/>
              </a:rPr>
              <a:t>ISA</a:t>
            </a:r>
            <a:r>
              <a:rPr sz="2400" b="1" dirty="0">
                <a:solidFill>
                  <a:srgbClr val="A6A6A6"/>
                </a:solidFill>
                <a:latin typeface="微软雅黑" panose="020B0503020204020204" charset="-122"/>
                <a:cs typeface="微软雅黑" panose="020B0503020204020204" charset="-122"/>
              </a:rPr>
              <a:t>和</a:t>
            </a:r>
            <a:r>
              <a:rPr sz="2400" b="1" spc="-5" dirty="0">
                <a:solidFill>
                  <a:srgbClr val="A6A6A6"/>
                </a:solidFill>
                <a:latin typeface="微软雅黑" panose="020B0503020204020204" charset="-122"/>
                <a:cs typeface="微软雅黑" panose="020B0503020204020204" charset="-122"/>
              </a:rPr>
              <a:t>RISC-V</a:t>
            </a:r>
            <a:endParaRPr sz="2400">
              <a:latin typeface="微软雅黑" panose="020B0503020204020204" charset="-122"/>
              <a:cs typeface="微软雅黑" panose="020B0503020204020204" charset="-122"/>
            </a:endParaRPr>
          </a:p>
        </p:txBody>
      </p:sp>
      <p:sp>
        <p:nvSpPr>
          <p:cNvPr id="36" name="object 36"/>
          <p:cNvSpPr txBox="1"/>
          <p:nvPr/>
        </p:nvSpPr>
        <p:spPr>
          <a:xfrm>
            <a:off x="2961297" y="1845995"/>
            <a:ext cx="364744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开源</a:t>
            </a:r>
            <a:r>
              <a:rPr sz="2400" b="1" spc="-5" dirty="0">
                <a:solidFill>
                  <a:srgbClr val="A6A6A6"/>
                </a:solidFill>
                <a:latin typeface="微软雅黑" panose="020B0503020204020204" charset="-122"/>
                <a:cs typeface="微软雅黑" panose="020B0503020204020204" charset="-122"/>
              </a:rPr>
              <a:t>RISC-V</a:t>
            </a:r>
            <a:r>
              <a:rPr sz="2400" b="1" dirty="0">
                <a:solidFill>
                  <a:srgbClr val="A6A6A6"/>
                </a:solidFill>
                <a:latin typeface="微软雅黑" panose="020B0503020204020204" charset="-122"/>
                <a:cs typeface="微软雅黑" panose="020B0503020204020204" charset="-122"/>
              </a:rPr>
              <a:t>内核蜂鸟</a:t>
            </a:r>
            <a:r>
              <a:rPr sz="2400" b="1" spc="-5" dirty="0">
                <a:solidFill>
                  <a:srgbClr val="A6A6A6"/>
                </a:solidFill>
                <a:latin typeface="微软雅黑" panose="020B0503020204020204" charset="-122"/>
                <a:cs typeface="微软雅黑" panose="020B0503020204020204" charset="-122"/>
              </a:rPr>
              <a:t>E203</a:t>
            </a:r>
            <a:endParaRPr sz="2400">
              <a:latin typeface="微软雅黑" panose="020B0503020204020204" charset="-122"/>
              <a:cs typeface="微软雅黑" panose="020B0503020204020204" charset="-122"/>
            </a:endParaRPr>
          </a:p>
        </p:txBody>
      </p:sp>
      <p:sp>
        <p:nvSpPr>
          <p:cNvPr id="37" name="object 37"/>
          <p:cNvSpPr txBox="1"/>
          <p:nvPr/>
        </p:nvSpPr>
        <p:spPr>
          <a:xfrm>
            <a:off x="2961297" y="2499918"/>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的中文书籍</a:t>
            </a:r>
            <a:endParaRPr sz="2400">
              <a:latin typeface="微软雅黑" panose="020B0503020204020204" charset="-122"/>
              <a:cs typeface="微软雅黑" panose="020B0503020204020204" charset="-122"/>
            </a:endParaRPr>
          </a:p>
        </p:txBody>
      </p:sp>
      <p:sp>
        <p:nvSpPr>
          <p:cNvPr id="38" name="object 38"/>
          <p:cNvSpPr txBox="1"/>
          <p:nvPr/>
        </p:nvSpPr>
        <p:spPr>
          <a:xfrm>
            <a:off x="2961297" y="3175343"/>
            <a:ext cx="3875404"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蜂鸟</a:t>
            </a:r>
            <a:r>
              <a:rPr sz="2400" b="1" spc="-5" dirty="0">
                <a:solidFill>
                  <a:srgbClr val="A6A6A6"/>
                </a:solidFill>
                <a:latin typeface="微软雅黑" panose="020B0503020204020204" charset="-122"/>
                <a:cs typeface="微软雅黑" panose="020B0503020204020204" charset="-122"/>
              </a:rPr>
              <a:t>E203</a:t>
            </a:r>
            <a:r>
              <a:rPr sz="2400" b="1" dirty="0">
                <a:solidFill>
                  <a:srgbClr val="A6A6A6"/>
                </a:solidFill>
                <a:latin typeface="微软雅黑" panose="020B0503020204020204" charset="-122"/>
                <a:cs typeface="微软雅黑" panose="020B0503020204020204" charset="-122"/>
              </a:rPr>
              <a:t>软硬件D</a:t>
            </a:r>
            <a:r>
              <a:rPr sz="2400" b="1" spc="-5" dirty="0">
                <a:solidFill>
                  <a:srgbClr val="A6A6A6"/>
                </a:solidFill>
                <a:latin typeface="微软雅黑" panose="020B0503020204020204" charset="-122"/>
                <a:cs typeface="微软雅黑" panose="020B0503020204020204" charset="-122"/>
              </a:rPr>
              <a:t>E</a:t>
            </a:r>
            <a:r>
              <a:rPr sz="2400" b="1" dirty="0">
                <a:solidFill>
                  <a:srgbClr val="A6A6A6"/>
                </a:solidFill>
                <a:latin typeface="微软雅黑" panose="020B0503020204020204" charset="-122"/>
                <a:cs typeface="微软雅黑" panose="020B0503020204020204" charset="-122"/>
              </a:rPr>
              <a:t>MO视频</a:t>
            </a:r>
            <a:endParaRPr sz="2400">
              <a:latin typeface="微软雅黑" panose="020B0503020204020204" charset="-122"/>
              <a:cs typeface="微软雅黑" panose="020B0503020204020204" charset="-122"/>
            </a:endParaRPr>
          </a:p>
        </p:txBody>
      </p:sp>
      <p:sp>
        <p:nvSpPr>
          <p:cNvPr id="39" name="object 39"/>
          <p:cNvSpPr txBox="1"/>
          <p:nvPr/>
        </p:nvSpPr>
        <p:spPr>
          <a:xfrm>
            <a:off x="2961297" y="3773335"/>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的几个误区</a:t>
            </a:r>
            <a:endParaRPr sz="2400">
              <a:latin typeface="微软雅黑" panose="020B0503020204020204" charset="-122"/>
              <a:cs typeface="微软雅黑" panose="020B0503020204020204" charset="-122"/>
            </a:endParaRPr>
          </a:p>
        </p:txBody>
      </p:sp>
      <p:sp>
        <p:nvSpPr>
          <p:cNvPr id="40" name="object 40"/>
          <p:cNvSpPr txBox="1"/>
          <p:nvPr/>
        </p:nvSpPr>
        <p:spPr>
          <a:xfrm>
            <a:off x="2961297" y="4459820"/>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的未来趋势</a:t>
            </a:r>
            <a:endParaRPr sz="2400">
              <a:latin typeface="微软雅黑" panose="020B0503020204020204" charset="-122"/>
              <a:cs typeface="微软雅黑" panose="020B0503020204020204" charset="-122"/>
            </a:endParaRPr>
          </a:p>
        </p:txBody>
      </p:sp>
      <p:sp>
        <p:nvSpPr>
          <p:cNvPr id="41" name="object 41"/>
          <p:cNvSpPr txBox="1"/>
          <p:nvPr/>
        </p:nvSpPr>
        <p:spPr>
          <a:xfrm>
            <a:off x="2961297" y="5113121"/>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C00000"/>
                </a:solidFill>
                <a:latin typeface="微软雅黑" panose="020B0503020204020204" charset="-122"/>
                <a:cs typeface="微软雅黑" panose="020B0503020204020204" charset="-122"/>
              </a:rPr>
              <a:t>RI</a:t>
            </a:r>
            <a:r>
              <a:rPr sz="2400" b="1" dirty="0">
                <a:solidFill>
                  <a:srgbClr val="C00000"/>
                </a:solidFill>
                <a:latin typeface="微软雅黑" panose="020B0503020204020204" charset="-122"/>
                <a:cs typeface="微软雅黑" panose="020B0503020204020204" charset="-122"/>
              </a:rPr>
              <a:t>S</a:t>
            </a:r>
            <a:r>
              <a:rPr sz="2400" b="1" spc="-5" dirty="0">
                <a:solidFill>
                  <a:srgbClr val="C00000"/>
                </a:solidFill>
                <a:latin typeface="微软雅黑" panose="020B0503020204020204" charset="-122"/>
                <a:cs typeface="微软雅黑" panose="020B0503020204020204" charset="-122"/>
              </a:rPr>
              <a:t>C</a:t>
            </a:r>
            <a:r>
              <a:rPr sz="2400" b="1" dirty="0">
                <a:solidFill>
                  <a:srgbClr val="C00000"/>
                </a:solidFill>
                <a:latin typeface="微软雅黑" panose="020B0503020204020204" charset="-122"/>
                <a:cs typeface="微软雅黑" panose="020B0503020204020204" charset="-122"/>
              </a:rPr>
              <a:t>-</a:t>
            </a:r>
            <a:r>
              <a:rPr sz="2400" b="1" spc="-5" dirty="0">
                <a:solidFill>
                  <a:srgbClr val="C00000"/>
                </a:solidFill>
                <a:latin typeface="微软雅黑" panose="020B0503020204020204" charset="-122"/>
                <a:cs typeface="微软雅黑" panose="020B0503020204020204" charset="-122"/>
              </a:rPr>
              <a:t>V</a:t>
            </a:r>
            <a:r>
              <a:rPr sz="2400" b="1" dirty="0">
                <a:solidFill>
                  <a:srgbClr val="C00000"/>
                </a:solidFill>
                <a:latin typeface="微软雅黑" panose="020B0503020204020204" charset="-122"/>
                <a:cs typeface="微软雅黑" panose="020B0503020204020204" charset="-122"/>
              </a:rPr>
              <a:t>的商业本质</a:t>
            </a:r>
            <a:endParaRPr sz="2400">
              <a:latin typeface="微软雅黑" panose="020B0503020204020204" charset="-122"/>
              <a:cs typeface="微软雅黑" panose="020B0503020204020204" charset="-122"/>
            </a:endParaRPr>
          </a:p>
        </p:txBody>
      </p:sp>
      <p:sp>
        <p:nvSpPr>
          <p:cNvPr id="42" name="object 42"/>
          <p:cNvSpPr txBox="1"/>
          <p:nvPr/>
        </p:nvSpPr>
        <p:spPr>
          <a:xfrm>
            <a:off x="2961297" y="5762116"/>
            <a:ext cx="185420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芯来科技介绍</a:t>
            </a:r>
            <a:endParaRPr sz="2400">
              <a:latin typeface="微软雅黑" panose="020B0503020204020204" charset="-122"/>
              <a:cs typeface="微软雅黑" panose="020B0503020204020204" charset="-122"/>
            </a:endParaRPr>
          </a:p>
        </p:txBody>
      </p:sp>
      <p:sp>
        <p:nvSpPr>
          <p:cNvPr id="43" name="object 43"/>
          <p:cNvSpPr txBox="1">
            <a:spLocks noGrp="1"/>
          </p:cNvSpPr>
          <p:nvPr>
            <p:ph type="title"/>
          </p:nvPr>
        </p:nvSpPr>
        <p:spPr>
          <a:xfrm>
            <a:off x="713105" y="243840"/>
            <a:ext cx="1802764"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C00000"/>
                </a:solidFill>
              </a:rPr>
              <a:t>Age</a:t>
            </a:r>
            <a:r>
              <a:rPr sz="3600" dirty="0">
                <a:solidFill>
                  <a:srgbClr val="C00000"/>
                </a:solidFill>
              </a:rPr>
              <a:t>n</a:t>
            </a:r>
            <a:r>
              <a:rPr sz="3600" spc="-5" dirty="0">
                <a:solidFill>
                  <a:srgbClr val="C00000"/>
                </a:solidFill>
              </a:rPr>
              <a:t>d</a:t>
            </a:r>
            <a:r>
              <a:rPr sz="3600" dirty="0">
                <a:solidFill>
                  <a:srgbClr val="C00000"/>
                </a:solidFill>
              </a:rPr>
              <a:t>a</a:t>
            </a:r>
            <a:endParaRPr sz="3600"/>
          </a:p>
        </p:txBody>
      </p:sp>
      <p:sp>
        <p:nvSpPr>
          <p:cNvPr id="44" name="object 4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389382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RI</a:t>
            </a:r>
            <a:r>
              <a:rPr sz="3600" spc="-5" dirty="0">
                <a:solidFill>
                  <a:srgbClr val="C00000"/>
                </a:solidFill>
              </a:rPr>
              <a:t>S</a:t>
            </a:r>
            <a:r>
              <a:rPr sz="3600" dirty="0">
                <a:solidFill>
                  <a:srgbClr val="C00000"/>
                </a:solidFill>
              </a:rPr>
              <a:t>C</a:t>
            </a:r>
            <a:r>
              <a:rPr sz="3600" spc="-5" dirty="0">
                <a:solidFill>
                  <a:srgbClr val="C00000"/>
                </a:solidFill>
              </a:rPr>
              <a:t>-</a:t>
            </a:r>
            <a:r>
              <a:rPr sz="3600" dirty="0">
                <a:solidFill>
                  <a:srgbClr val="C00000"/>
                </a:solidFill>
              </a:rPr>
              <a:t>V的商业本质</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692150" y="1419860"/>
            <a:ext cx="7047230" cy="142430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C00000"/>
                </a:solidFill>
                <a:latin typeface="微软雅黑" panose="020B0503020204020204" charset="-122"/>
                <a:cs typeface="微软雅黑" panose="020B0503020204020204" charset="-122"/>
              </a:rPr>
              <a:t>背景观点一：处理器生态中最昂贵的成本是什么</a:t>
            </a:r>
            <a:endParaRPr sz="2400">
              <a:latin typeface="微软雅黑" panose="020B0503020204020204" charset="-122"/>
              <a:cs typeface="微软雅黑" panose="020B0503020204020204" charset="-122"/>
            </a:endParaRPr>
          </a:p>
          <a:p>
            <a:pPr marL="298450" indent="-285750">
              <a:lnSpc>
                <a:spcPct val="100000"/>
              </a:lnSpc>
              <a:spcBef>
                <a:spcPts val="2730"/>
              </a:spcBef>
              <a:buFont typeface="Wingdings" panose="05000000000000000000"/>
              <a:buChar char=""/>
              <a:tabLst>
                <a:tab pos="298450" algn="l"/>
              </a:tabLst>
            </a:pPr>
            <a:r>
              <a:rPr sz="1800" dirty="0">
                <a:latin typeface="微软雅黑" panose="020B0503020204020204" charset="-122"/>
                <a:cs typeface="微软雅黑" panose="020B0503020204020204" charset="-122"/>
              </a:rPr>
              <a:t>教育成本：人民普遍的熟悉程度</a:t>
            </a:r>
            <a:endParaRPr sz="1800">
              <a:latin typeface="微软雅黑" panose="020B0503020204020204" charset="-122"/>
              <a:cs typeface="微软雅黑" panose="020B0503020204020204" charset="-122"/>
            </a:endParaRPr>
          </a:p>
          <a:p>
            <a:pPr marL="298450" indent="-285750">
              <a:lnSpc>
                <a:spcPct val="100000"/>
              </a:lnSpc>
              <a:spcBef>
                <a:spcPts val="1080"/>
              </a:spcBef>
              <a:buFont typeface="Wingdings" panose="05000000000000000000"/>
              <a:buChar char=""/>
              <a:tabLst>
                <a:tab pos="298450" algn="l"/>
              </a:tabLst>
            </a:pPr>
            <a:r>
              <a:rPr sz="1800" dirty="0">
                <a:latin typeface="微软雅黑" panose="020B0503020204020204" charset="-122"/>
                <a:cs typeface="微软雅黑" panose="020B0503020204020204" charset="-122"/>
              </a:rPr>
              <a:t>接受成本：人民愿意投入的时间</a:t>
            </a:r>
            <a:endParaRPr sz="1800">
              <a:latin typeface="微软雅黑" panose="020B0503020204020204" charset="-122"/>
              <a:cs typeface="微软雅黑" panose="020B0503020204020204" charset="-122"/>
            </a:endParaRPr>
          </a:p>
        </p:txBody>
      </p:sp>
      <p:sp>
        <p:nvSpPr>
          <p:cNvPr id="5" name="object 5"/>
          <p:cNvSpPr txBox="1"/>
          <p:nvPr/>
        </p:nvSpPr>
        <p:spPr>
          <a:xfrm>
            <a:off x="2975610" y="3243580"/>
            <a:ext cx="5718175" cy="50546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C00000"/>
                </a:solidFill>
                <a:latin typeface="微软雅黑" panose="020B0503020204020204" charset="-122"/>
                <a:cs typeface="微软雅黑" panose="020B0503020204020204" charset="-122"/>
              </a:rPr>
              <a:t>昂贵到无法用金钱造就和购</a:t>
            </a:r>
            <a:r>
              <a:rPr sz="3200" b="1" spc="5" dirty="0">
                <a:solidFill>
                  <a:srgbClr val="C00000"/>
                </a:solidFill>
                <a:latin typeface="微软雅黑" panose="020B0503020204020204" charset="-122"/>
                <a:cs typeface="微软雅黑" panose="020B0503020204020204" charset="-122"/>
              </a:rPr>
              <a:t>买</a:t>
            </a:r>
            <a:endParaRPr sz="3200">
              <a:latin typeface="微软雅黑" panose="020B0503020204020204" charset="-122"/>
              <a:cs typeface="微软雅黑" panose="020B0503020204020204" charset="-122"/>
            </a:endParaRPr>
          </a:p>
        </p:txBody>
      </p:sp>
      <p:sp>
        <p:nvSpPr>
          <p:cNvPr id="6" name="object 6"/>
          <p:cNvSpPr/>
          <p:nvPr/>
        </p:nvSpPr>
        <p:spPr>
          <a:xfrm>
            <a:off x="3607308" y="4018788"/>
            <a:ext cx="4341876" cy="2205228"/>
          </a:xfrm>
          <a:prstGeom prst="rect">
            <a:avLst/>
          </a:prstGeom>
          <a:blipFill>
            <a:blip r:embed="rId1" cstate="print"/>
            <a:stretch>
              <a:fillRect/>
            </a:stretch>
          </a:blipFill>
        </p:spPr>
        <p:txBody>
          <a:bodyPr wrap="square" lIns="0" tIns="0" rIns="0" bIns="0" rtlCol="0"/>
          <a:lstStyle/>
          <a:p/>
        </p:txBody>
      </p:sp>
      <p:sp>
        <p:nvSpPr>
          <p:cNvPr id="7" name="object 7"/>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4764" y="2069592"/>
            <a:ext cx="5215128" cy="2487167"/>
          </a:xfrm>
          <a:prstGeom prst="rect">
            <a:avLst/>
          </a:prstGeom>
          <a:blipFill>
            <a:blip r:embed="rId1" cstate="print"/>
            <a:stretch>
              <a:fillRect/>
            </a:stretch>
          </a:blipFill>
        </p:spPr>
        <p:txBody>
          <a:bodyPr wrap="square" lIns="0" tIns="0" rIns="0" bIns="0" rtlCol="0"/>
          <a:lstStyle/>
          <a:p/>
        </p:txBody>
      </p:sp>
      <p:sp>
        <p:nvSpPr>
          <p:cNvPr id="3" name="object 3"/>
          <p:cNvSpPr txBox="1">
            <a:spLocks noGrp="1"/>
          </p:cNvSpPr>
          <p:nvPr>
            <p:ph type="title"/>
          </p:nvPr>
        </p:nvSpPr>
        <p:spPr>
          <a:xfrm>
            <a:off x="692150" y="415925"/>
            <a:ext cx="389382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RI</a:t>
            </a:r>
            <a:r>
              <a:rPr sz="3600" spc="-5" dirty="0">
                <a:solidFill>
                  <a:srgbClr val="C00000"/>
                </a:solidFill>
              </a:rPr>
              <a:t>S</a:t>
            </a:r>
            <a:r>
              <a:rPr sz="3600" dirty="0">
                <a:solidFill>
                  <a:srgbClr val="C00000"/>
                </a:solidFill>
              </a:rPr>
              <a:t>C</a:t>
            </a:r>
            <a:r>
              <a:rPr sz="3600" spc="-5" dirty="0">
                <a:solidFill>
                  <a:srgbClr val="C00000"/>
                </a:solidFill>
              </a:rPr>
              <a:t>-</a:t>
            </a:r>
            <a:r>
              <a:rPr sz="3600" dirty="0">
                <a:solidFill>
                  <a:srgbClr val="C00000"/>
                </a:solidFill>
              </a:rPr>
              <a:t>V的商业本质</a:t>
            </a:r>
            <a:endParaRPr sz="3600"/>
          </a:p>
        </p:txBody>
      </p:sp>
      <p:sp>
        <p:nvSpPr>
          <p:cNvPr id="4" name="object 4"/>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5" name="object 5"/>
          <p:cNvSpPr txBox="1"/>
          <p:nvPr/>
        </p:nvSpPr>
        <p:spPr>
          <a:xfrm>
            <a:off x="496569" y="1946770"/>
            <a:ext cx="6249035" cy="2505710"/>
          </a:xfrm>
          <a:prstGeom prst="rect">
            <a:avLst/>
          </a:prstGeom>
        </p:spPr>
        <p:txBody>
          <a:bodyPr vert="horz" wrap="square" lIns="0" tIns="12700" rIns="0" bIns="0" rtlCol="0">
            <a:spAutoFit/>
          </a:bodyPr>
          <a:lstStyle/>
          <a:p>
            <a:pPr marL="26670">
              <a:lnSpc>
                <a:spcPct val="100000"/>
              </a:lnSpc>
              <a:spcBef>
                <a:spcPts val="100"/>
              </a:spcBef>
            </a:pPr>
            <a:r>
              <a:rPr sz="2400" b="1" dirty="0">
                <a:solidFill>
                  <a:srgbClr val="C00000"/>
                </a:solidFill>
                <a:latin typeface="微软雅黑" panose="020B0503020204020204" charset="-122"/>
                <a:cs typeface="微软雅黑" panose="020B0503020204020204" charset="-122"/>
              </a:rPr>
              <a:t>背景观点二：处理器生态的核心是什么？</a:t>
            </a:r>
            <a:endParaRPr sz="2400">
              <a:latin typeface="微软雅黑" panose="020B0503020204020204" charset="-122"/>
              <a:cs typeface="微软雅黑" panose="020B0503020204020204" charset="-122"/>
            </a:endParaRPr>
          </a:p>
          <a:p>
            <a:pPr>
              <a:lnSpc>
                <a:spcPct val="100000"/>
              </a:lnSpc>
            </a:pPr>
            <a:endParaRPr sz="3100">
              <a:latin typeface="Times New Roman" panose="02020603050405020304"/>
              <a:cs typeface="Times New Roman" panose="02020603050405020304"/>
            </a:endParaRPr>
          </a:p>
          <a:p>
            <a:pPr marL="298450" indent="-285750">
              <a:lnSpc>
                <a:spcPct val="100000"/>
              </a:lnSpc>
              <a:spcBef>
                <a:spcPts val="1895"/>
              </a:spcBef>
              <a:buFont typeface="Wingdings" panose="05000000000000000000"/>
              <a:buChar char=""/>
              <a:tabLst>
                <a:tab pos="298450" algn="l"/>
              </a:tabLst>
            </a:pPr>
            <a:r>
              <a:rPr sz="1800" dirty="0">
                <a:latin typeface="微软雅黑" panose="020B0503020204020204" charset="-122"/>
                <a:cs typeface="微软雅黑" panose="020B0503020204020204" charset="-122"/>
              </a:rPr>
              <a:t>对长远来看，生态的核心不是存在多少已有的Co</a:t>
            </a:r>
            <a:r>
              <a:rPr sz="1800" spc="-5" dirty="0">
                <a:latin typeface="微软雅黑" panose="020B0503020204020204" charset="-122"/>
                <a:cs typeface="微软雅黑" panose="020B0503020204020204" charset="-122"/>
              </a:rPr>
              <a:t>de</a:t>
            </a:r>
            <a:r>
              <a:rPr sz="1800" dirty="0">
                <a:latin typeface="微软雅黑" panose="020B0503020204020204" charset="-122"/>
                <a:cs typeface="微软雅黑" panose="020B0503020204020204" charset="-122"/>
              </a:rPr>
              <a:t>s和方案</a:t>
            </a:r>
            <a:endParaRPr sz="1800">
              <a:latin typeface="微软雅黑" panose="020B0503020204020204" charset="-122"/>
              <a:cs typeface="微软雅黑" panose="020B0503020204020204" charset="-122"/>
            </a:endParaRPr>
          </a:p>
          <a:p>
            <a:pPr marL="298450" indent="-285750">
              <a:lnSpc>
                <a:spcPct val="100000"/>
              </a:lnSpc>
              <a:spcBef>
                <a:spcPts val="1080"/>
              </a:spcBef>
              <a:buFont typeface="Wingdings" panose="05000000000000000000"/>
              <a:buChar char=""/>
              <a:tabLst>
                <a:tab pos="298450" algn="l"/>
              </a:tabLst>
            </a:pPr>
            <a:r>
              <a:rPr sz="1800" dirty="0">
                <a:latin typeface="微软雅黑" panose="020B0503020204020204" charset="-122"/>
                <a:cs typeface="微软雅黑" panose="020B0503020204020204" charset="-122"/>
              </a:rPr>
              <a:t>长远来看，生态的核心是“人心”和“人性”</a:t>
            </a:r>
            <a:endParaRPr sz="1800">
              <a:latin typeface="微软雅黑" panose="020B0503020204020204" charset="-122"/>
              <a:cs typeface="微软雅黑" panose="020B0503020204020204" charset="-122"/>
            </a:endParaRPr>
          </a:p>
          <a:p>
            <a:pPr marL="755650" lvl="1" indent="-285750">
              <a:lnSpc>
                <a:spcPct val="100000"/>
              </a:lnSpc>
              <a:spcBef>
                <a:spcPts val="985"/>
              </a:spcBef>
              <a:buFont typeface="Wingdings" panose="05000000000000000000"/>
              <a:buChar char=""/>
              <a:tabLst>
                <a:tab pos="755015" algn="l"/>
                <a:tab pos="755650" algn="l"/>
              </a:tabLst>
            </a:pPr>
            <a:r>
              <a:rPr sz="1600" dirty="0">
                <a:latin typeface="微软雅黑" panose="020B0503020204020204" charset="-122"/>
                <a:cs typeface="微软雅黑" panose="020B0503020204020204" charset="-122"/>
              </a:rPr>
              <a:t>“人心”对自由的向往会导致其更倾向于开放的技</a:t>
            </a:r>
            <a:r>
              <a:rPr sz="1600" spc="-5" dirty="0">
                <a:latin typeface="微软雅黑" panose="020B0503020204020204" charset="-122"/>
                <a:cs typeface="微软雅黑" panose="020B0503020204020204" charset="-122"/>
              </a:rPr>
              <a:t>术</a:t>
            </a:r>
            <a:endParaRPr sz="1600">
              <a:latin typeface="微软雅黑" panose="020B0503020204020204" charset="-122"/>
              <a:cs typeface="微软雅黑" panose="020B0503020204020204" charset="-122"/>
            </a:endParaRPr>
          </a:p>
          <a:p>
            <a:pPr marL="755650" lvl="1" indent="-285750">
              <a:lnSpc>
                <a:spcPct val="100000"/>
              </a:lnSpc>
              <a:spcBef>
                <a:spcPts val="960"/>
              </a:spcBef>
              <a:buFont typeface="Wingdings" panose="05000000000000000000"/>
              <a:buChar char=""/>
              <a:tabLst>
                <a:tab pos="755015" algn="l"/>
                <a:tab pos="755650" algn="l"/>
              </a:tabLst>
            </a:pPr>
            <a:r>
              <a:rPr sz="1600" dirty="0">
                <a:latin typeface="微软雅黑" panose="020B0503020204020204" charset="-122"/>
                <a:cs typeface="微软雅黑" panose="020B0503020204020204" charset="-122"/>
              </a:rPr>
              <a:t>“人性”的懒惰决定了处理器生态会存在主链效</a:t>
            </a:r>
            <a:r>
              <a:rPr sz="1600" spc="-5" dirty="0">
                <a:latin typeface="微软雅黑" panose="020B0503020204020204" charset="-122"/>
                <a:cs typeface="微软雅黑" panose="020B0503020204020204" charset="-122"/>
              </a:rPr>
              <a:t>应</a:t>
            </a:r>
            <a:endParaRPr sz="1600">
              <a:latin typeface="微软雅黑" panose="020B0503020204020204" charset="-122"/>
              <a:cs typeface="微软雅黑" panose="020B0503020204020204" charset="-122"/>
            </a:endParaRPr>
          </a:p>
        </p:txBody>
      </p:sp>
      <p:sp>
        <p:nvSpPr>
          <p:cNvPr id="6" name="object 6"/>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389382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RI</a:t>
            </a:r>
            <a:r>
              <a:rPr sz="3600" spc="-5" dirty="0">
                <a:solidFill>
                  <a:srgbClr val="C00000"/>
                </a:solidFill>
              </a:rPr>
              <a:t>S</a:t>
            </a:r>
            <a:r>
              <a:rPr sz="3600" dirty="0">
                <a:solidFill>
                  <a:srgbClr val="C00000"/>
                </a:solidFill>
              </a:rPr>
              <a:t>C</a:t>
            </a:r>
            <a:r>
              <a:rPr sz="3600" spc="-5" dirty="0">
                <a:solidFill>
                  <a:srgbClr val="C00000"/>
                </a:solidFill>
              </a:rPr>
              <a:t>-</a:t>
            </a:r>
            <a:r>
              <a:rPr sz="3600" dirty="0">
                <a:solidFill>
                  <a:srgbClr val="C00000"/>
                </a:solidFill>
              </a:rPr>
              <a:t>V的商业本质</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511175" y="1372870"/>
            <a:ext cx="7706995" cy="38163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C00000"/>
                </a:solidFill>
                <a:latin typeface="微软雅黑" panose="020B0503020204020204" charset="-122"/>
                <a:cs typeface="微软雅黑" panose="020B0503020204020204" charset="-122"/>
              </a:rPr>
              <a:t>背景观点三：没有门槛的舞台将造就是壁垒最高的舞台</a:t>
            </a:r>
            <a:endParaRPr sz="2400">
              <a:latin typeface="微软雅黑" panose="020B0503020204020204" charset="-122"/>
              <a:cs typeface="微软雅黑" panose="020B0503020204020204" charset="-122"/>
            </a:endParaRPr>
          </a:p>
        </p:txBody>
      </p:sp>
      <p:sp>
        <p:nvSpPr>
          <p:cNvPr id="5" name="object 5"/>
          <p:cNvSpPr/>
          <p:nvPr/>
        </p:nvSpPr>
        <p:spPr>
          <a:xfrm>
            <a:off x="819911" y="2171700"/>
            <a:ext cx="4288536" cy="2706624"/>
          </a:xfrm>
          <a:prstGeom prst="rect">
            <a:avLst/>
          </a:prstGeom>
          <a:blipFill>
            <a:blip r:embed="rId1" cstate="print"/>
            <a:stretch>
              <a:fillRect/>
            </a:stretch>
          </a:blipFill>
        </p:spPr>
        <p:txBody>
          <a:bodyPr wrap="square" lIns="0" tIns="0" rIns="0" bIns="0" rtlCol="0"/>
          <a:lstStyle/>
          <a:p/>
        </p:txBody>
      </p:sp>
      <p:sp>
        <p:nvSpPr>
          <p:cNvPr id="6" name="object 6"/>
          <p:cNvSpPr/>
          <p:nvPr/>
        </p:nvSpPr>
        <p:spPr>
          <a:xfrm>
            <a:off x="6149340" y="2171700"/>
            <a:ext cx="4509516" cy="2706624"/>
          </a:xfrm>
          <a:prstGeom prst="rect">
            <a:avLst/>
          </a:prstGeom>
          <a:blipFill>
            <a:blip r:embed="rId2" cstate="print"/>
            <a:stretch>
              <a:fillRect/>
            </a:stretch>
          </a:blipFill>
        </p:spPr>
        <p:txBody>
          <a:bodyPr wrap="square" lIns="0" tIns="0" rIns="0" bIns="0" rtlCol="0"/>
          <a:lstStyle/>
          <a:p/>
        </p:txBody>
      </p:sp>
      <p:sp>
        <p:nvSpPr>
          <p:cNvPr id="7" name="object 7"/>
          <p:cNvSpPr txBox="1"/>
          <p:nvPr/>
        </p:nvSpPr>
        <p:spPr>
          <a:xfrm>
            <a:off x="3052330" y="5409019"/>
            <a:ext cx="4925695" cy="331470"/>
          </a:xfrm>
          <a:prstGeom prst="rect">
            <a:avLst/>
          </a:prstGeom>
        </p:spPr>
        <p:txBody>
          <a:bodyPr vert="horz" wrap="square" lIns="0" tIns="13335" rIns="0" bIns="0" rtlCol="0">
            <a:spAutoFit/>
          </a:bodyPr>
          <a:lstStyle/>
          <a:p>
            <a:pPr marL="12700">
              <a:lnSpc>
                <a:spcPct val="100000"/>
              </a:lnSpc>
              <a:spcBef>
                <a:spcPts val="105"/>
              </a:spcBef>
            </a:pPr>
            <a:r>
              <a:rPr sz="2000" b="1" dirty="0">
                <a:solidFill>
                  <a:srgbClr val="C00000"/>
                </a:solidFill>
                <a:latin typeface="微软雅黑" panose="020B0503020204020204" charset="-122"/>
                <a:cs typeface="微软雅黑" panose="020B0503020204020204" charset="-122"/>
              </a:rPr>
              <a:t>绝对</a:t>
            </a:r>
            <a:r>
              <a:rPr sz="2000" b="1" spc="-5" dirty="0">
                <a:solidFill>
                  <a:srgbClr val="C00000"/>
                </a:solidFill>
                <a:latin typeface="微软雅黑" panose="020B0503020204020204" charset="-122"/>
                <a:cs typeface="微软雅黑" panose="020B0503020204020204" charset="-122"/>
              </a:rPr>
              <a:t>Open</a:t>
            </a:r>
            <a:r>
              <a:rPr sz="2000" b="1" dirty="0">
                <a:solidFill>
                  <a:srgbClr val="C00000"/>
                </a:solidFill>
                <a:latin typeface="微软雅黑" panose="020B0503020204020204" charset="-122"/>
                <a:cs typeface="微软雅黑" panose="020B0503020204020204" charset="-122"/>
              </a:rPr>
              <a:t>的舞</a:t>
            </a:r>
            <a:r>
              <a:rPr sz="2000" b="1" spc="5" dirty="0">
                <a:solidFill>
                  <a:srgbClr val="C00000"/>
                </a:solidFill>
                <a:latin typeface="微软雅黑" panose="020B0503020204020204" charset="-122"/>
                <a:cs typeface="微软雅黑" panose="020B0503020204020204" charset="-122"/>
              </a:rPr>
              <a:t>台</a:t>
            </a:r>
            <a:r>
              <a:rPr sz="2000" b="1" spc="-55" dirty="0">
                <a:solidFill>
                  <a:srgbClr val="C00000"/>
                </a:solidFill>
                <a:latin typeface="微软雅黑" panose="020B0503020204020204" charset="-122"/>
                <a:cs typeface="微软雅黑" panose="020B0503020204020204" charset="-122"/>
              </a:rPr>
              <a:t> </a:t>
            </a:r>
            <a:r>
              <a:rPr sz="2000" dirty="0">
                <a:solidFill>
                  <a:srgbClr val="C00000"/>
                </a:solidFill>
                <a:latin typeface="Wingdings" panose="05000000000000000000"/>
                <a:cs typeface="Wingdings" panose="05000000000000000000"/>
              </a:rPr>
              <a:t></a:t>
            </a:r>
            <a:r>
              <a:rPr sz="2000" spc="55" dirty="0">
                <a:solidFill>
                  <a:srgbClr val="C00000"/>
                </a:solidFill>
                <a:latin typeface="Times New Roman" panose="02020603050405020304"/>
                <a:cs typeface="Times New Roman" panose="02020603050405020304"/>
              </a:rPr>
              <a:t> </a:t>
            </a:r>
            <a:r>
              <a:rPr sz="2000" b="1" dirty="0">
                <a:solidFill>
                  <a:srgbClr val="C00000"/>
                </a:solidFill>
                <a:latin typeface="微软雅黑" panose="020B0503020204020204" charset="-122"/>
                <a:cs typeface="微软雅黑" panose="020B0503020204020204" charset="-122"/>
              </a:rPr>
              <a:t>催生出更加绝对的垄</a:t>
            </a:r>
            <a:r>
              <a:rPr sz="2000" b="1" spc="5" dirty="0">
                <a:solidFill>
                  <a:srgbClr val="C00000"/>
                </a:solidFill>
                <a:latin typeface="微软雅黑" panose="020B0503020204020204" charset="-122"/>
                <a:cs typeface="微软雅黑" panose="020B0503020204020204" charset="-122"/>
              </a:rPr>
              <a:t>断</a:t>
            </a:r>
            <a:endParaRPr sz="2000">
              <a:latin typeface="微软雅黑" panose="020B0503020204020204" charset="-122"/>
              <a:cs typeface="微软雅黑" panose="020B0503020204020204" charset="-122"/>
            </a:endParaRPr>
          </a:p>
        </p:txBody>
      </p:sp>
      <p:sp>
        <p:nvSpPr>
          <p:cNvPr id="8" name="object 8"/>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389382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RI</a:t>
            </a:r>
            <a:r>
              <a:rPr sz="3600" spc="-5" dirty="0">
                <a:solidFill>
                  <a:srgbClr val="C00000"/>
                </a:solidFill>
              </a:rPr>
              <a:t>S</a:t>
            </a:r>
            <a:r>
              <a:rPr sz="3600" dirty="0">
                <a:solidFill>
                  <a:srgbClr val="C00000"/>
                </a:solidFill>
              </a:rPr>
              <a:t>C</a:t>
            </a:r>
            <a:r>
              <a:rPr sz="3600" spc="-5" dirty="0">
                <a:solidFill>
                  <a:srgbClr val="C00000"/>
                </a:solidFill>
              </a:rPr>
              <a:t>-</a:t>
            </a:r>
            <a:r>
              <a:rPr sz="3600" dirty="0">
                <a:solidFill>
                  <a:srgbClr val="C00000"/>
                </a:solidFill>
              </a:rPr>
              <a:t>V的商业本质</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p:nvPr/>
        </p:nvSpPr>
        <p:spPr>
          <a:xfrm>
            <a:off x="5509259" y="0"/>
            <a:ext cx="6682740" cy="6858000"/>
          </a:xfrm>
          <a:prstGeom prst="rect">
            <a:avLst/>
          </a:prstGeom>
          <a:blipFill>
            <a:blip r:embed="rId1" cstate="print"/>
            <a:stretch>
              <a:fillRect/>
            </a:stretch>
          </a:blipFill>
        </p:spPr>
        <p:txBody>
          <a:bodyPr wrap="square" lIns="0" tIns="0" rIns="0" bIns="0" rtlCol="0"/>
          <a:lstStyle/>
          <a:p/>
        </p:txBody>
      </p:sp>
      <p:sp>
        <p:nvSpPr>
          <p:cNvPr id="5" name="object 5"/>
          <p:cNvSpPr txBox="1"/>
          <p:nvPr/>
        </p:nvSpPr>
        <p:spPr>
          <a:xfrm>
            <a:off x="433070" y="1414145"/>
            <a:ext cx="4754880" cy="4732655"/>
          </a:xfrm>
          <a:prstGeom prst="rect">
            <a:avLst/>
          </a:prstGeom>
        </p:spPr>
        <p:txBody>
          <a:bodyPr vert="horz" wrap="square" lIns="0" tIns="182880" rIns="0" bIns="0" rtlCol="0">
            <a:spAutoFit/>
          </a:bodyPr>
          <a:lstStyle/>
          <a:p>
            <a:pPr marL="12700">
              <a:lnSpc>
                <a:spcPct val="100000"/>
              </a:lnSpc>
              <a:spcBef>
                <a:spcPts val="1440"/>
              </a:spcBef>
            </a:pPr>
            <a:r>
              <a:rPr sz="2000" b="1" dirty="0">
                <a:solidFill>
                  <a:srgbClr val="C00000"/>
                </a:solidFill>
                <a:latin typeface="微软雅黑" panose="020B0503020204020204" charset="-122"/>
                <a:cs typeface="微软雅黑" panose="020B0503020204020204" charset="-122"/>
              </a:rPr>
              <a:t>开放将生态中最昂贵的成本降到几乎为</a:t>
            </a:r>
            <a:r>
              <a:rPr sz="2000" b="1" dirty="0">
                <a:solidFill>
                  <a:srgbClr val="C00000"/>
                </a:solidFill>
                <a:latin typeface="微软雅黑" panose="020B0503020204020204" charset="-122"/>
                <a:cs typeface="微软雅黑" panose="020B0503020204020204" charset="-122"/>
              </a:rPr>
              <a:t>0</a:t>
            </a:r>
            <a:endParaRPr sz="2000">
              <a:latin typeface="微软雅黑" panose="020B0503020204020204" charset="-122"/>
              <a:cs typeface="微软雅黑" panose="020B0503020204020204" charset="-122"/>
            </a:endParaRPr>
          </a:p>
          <a:p>
            <a:pPr marL="368935" indent="-285750">
              <a:lnSpc>
                <a:spcPct val="100000"/>
              </a:lnSpc>
              <a:spcBef>
                <a:spcPts val="1065"/>
              </a:spcBef>
              <a:buFont typeface="Wingdings" panose="05000000000000000000"/>
              <a:buChar char=""/>
              <a:tabLst>
                <a:tab pos="368935" algn="l"/>
                <a:tab pos="369570" algn="l"/>
              </a:tabLst>
            </a:pPr>
            <a:r>
              <a:rPr sz="1600" dirty="0">
                <a:latin typeface="微软雅黑" panose="020B0503020204020204" charset="-122"/>
                <a:cs typeface="微软雅黑" panose="020B0503020204020204" charset="-122"/>
              </a:rPr>
              <a:t>开放</a:t>
            </a:r>
            <a:r>
              <a:rPr sz="1600" spc="-5" dirty="0">
                <a:latin typeface="微软雅黑" panose="020B0503020204020204" charset="-122"/>
                <a:cs typeface="微软雅黑" panose="020B0503020204020204" charset="-122"/>
              </a:rPr>
              <a:t>——</a:t>
            </a:r>
            <a:r>
              <a:rPr sz="1600" dirty="0">
                <a:latin typeface="微软雅黑" panose="020B0503020204020204" charset="-122"/>
                <a:cs typeface="微软雅黑" panose="020B0503020204020204" charset="-122"/>
              </a:rPr>
              <a:t>解决了生态中的核心问</a:t>
            </a:r>
            <a:r>
              <a:rPr sz="1600" spc="-5" dirty="0">
                <a:latin typeface="微软雅黑" panose="020B0503020204020204" charset="-122"/>
                <a:cs typeface="微软雅黑" panose="020B0503020204020204" charset="-122"/>
              </a:rPr>
              <a:t>题</a:t>
            </a:r>
            <a:endParaRPr sz="1600">
              <a:latin typeface="微软雅黑" panose="020B0503020204020204" charset="-122"/>
              <a:cs typeface="微软雅黑" panose="020B0503020204020204" charset="-122"/>
            </a:endParaRPr>
          </a:p>
          <a:p>
            <a:pPr marL="12700">
              <a:lnSpc>
                <a:spcPct val="100000"/>
              </a:lnSpc>
              <a:spcBef>
                <a:spcPts val="510"/>
              </a:spcBef>
            </a:pPr>
            <a:r>
              <a:rPr sz="2000" b="1" spc="-5" dirty="0">
                <a:solidFill>
                  <a:srgbClr val="C00000"/>
                </a:solidFill>
                <a:latin typeface="微软雅黑" panose="020B0503020204020204" charset="-122"/>
                <a:cs typeface="微软雅黑" panose="020B0503020204020204" charset="-122"/>
              </a:rPr>
              <a:t>RISC-V</a:t>
            </a:r>
            <a:r>
              <a:rPr sz="2000" b="1" dirty="0">
                <a:solidFill>
                  <a:srgbClr val="C00000"/>
                </a:solidFill>
                <a:latin typeface="微软雅黑" panose="020B0503020204020204" charset="-122"/>
                <a:cs typeface="微软雅黑" panose="020B0503020204020204" charset="-122"/>
              </a:rPr>
              <a:t>离不开专业的商业公</a:t>
            </a:r>
            <a:r>
              <a:rPr sz="2000" b="1" spc="5" dirty="0">
                <a:solidFill>
                  <a:srgbClr val="C00000"/>
                </a:solidFill>
                <a:latin typeface="微软雅黑" panose="020B0503020204020204" charset="-122"/>
                <a:cs typeface="微软雅黑" panose="020B0503020204020204" charset="-122"/>
              </a:rPr>
              <a:t>司</a:t>
            </a:r>
            <a:endParaRPr sz="2000">
              <a:latin typeface="微软雅黑" panose="020B0503020204020204" charset="-122"/>
              <a:cs typeface="微软雅黑" panose="020B0503020204020204" charset="-122"/>
            </a:endParaRPr>
          </a:p>
          <a:p>
            <a:pPr marL="368935" indent="-285750">
              <a:lnSpc>
                <a:spcPct val="100000"/>
              </a:lnSpc>
              <a:spcBef>
                <a:spcPts val="1510"/>
              </a:spcBef>
              <a:buFont typeface="Wingdings" panose="05000000000000000000"/>
              <a:buChar char=""/>
              <a:tabLst>
                <a:tab pos="368935" algn="l"/>
                <a:tab pos="369570" algn="l"/>
              </a:tabLst>
            </a:pPr>
            <a:r>
              <a:rPr sz="1600" dirty="0">
                <a:latin typeface="微软雅黑" panose="020B0503020204020204" charset="-122"/>
                <a:cs typeface="微软雅黑" panose="020B0503020204020204" charset="-122"/>
              </a:rPr>
              <a:t>商业公司的专注性，推进产业的落</a:t>
            </a:r>
            <a:r>
              <a:rPr sz="1600" spc="-5" dirty="0">
                <a:latin typeface="微软雅黑" panose="020B0503020204020204" charset="-122"/>
                <a:cs typeface="微软雅黑" panose="020B0503020204020204" charset="-122"/>
              </a:rPr>
              <a:t>地</a:t>
            </a:r>
            <a:endParaRPr sz="1600">
              <a:latin typeface="微软雅黑" panose="020B0503020204020204" charset="-122"/>
              <a:cs typeface="微软雅黑" panose="020B0503020204020204" charset="-122"/>
            </a:endParaRPr>
          </a:p>
          <a:p>
            <a:pPr marL="368935" indent="-285750">
              <a:lnSpc>
                <a:spcPct val="100000"/>
              </a:lnSpc>
              <a:spcBef>
                <a:spcPts val="960"/>
              </a:spcBef>
              <a:buFont typeface="Wingdings" panose="05000000000000000000"/>
              <a:buChar char=""/>
              <a:tabLst>
                <a:tab pos="368935" algn="l"/>
                <a:tab pos="369570" algn="l"/>
              </a:tabLst>
            </a:pPr>
            <a:r>
              <a:rPr sz="1600" dirty="0">
                <a:latin typeface="微软雅黑" panose="020B0503020204020204" charset="-122"/>
                <a:cs typeface="微软雅黑" panose="020B0503020204020204" charset="-122"/>
              </a:rPr>
              <a:t>开源世界促进生态，并反哺商业公</a:t>
            </a:r>
            <a:r>
              <a:rPr sz="1600" spc="-5" dirty="0">
                <a:latin typeface="微软雅黑" panose="020B0503020204020204" charset="-122"/>
                <a:cs typeface="微软雅黑" panose="020B0503020204020204" charset="-122"/>
              </a:rPr>
              <a:t>司</a:t>
            </a:r>
            <a:endParaRPr sz="1600">
              <a:latin typeface="微软雅黑" panose="020B0503020204020204" charset="-122"/>
              <a:cs typeface="微软雅黑" panose="020B0503020204020204" charset="-122"/>
            </a:endParaRPr>
          </a:p>
          <a:p>
            <a:pPr marL="12700">
              <a:lnSpc>
                <a:spcPct val="100000"/>
              </a:lnSpc>
              <a:spcBef>
                <a:spcPts val="910"/>
              </a:spcBef>
            </a:pPr>
            <a:r>
              <a:rPr sz="2000" b="1" dirty="0">
                <a:solidFill>
                  <a:srgbClr val="C00000"/>
                </a:solidFill>
                <a:latin typeface="微软雅黑" panose="020B0503020204020204" charset="-122"/>
                <a:cs typeface="微软雅黑" panose="020B0503020204020204" charset="-122"/>
              </a:rPr>
              <a:t>开放标准对门槛的双重影</a:t>
            </a:r>
            <a:r>
              <a:rPr sz="2000" b="1" spc="5" dirty="0">
                <a:solidFill>
                  <a:srgbClr val="C00000"/>
                </a:solidFill>
                <a:latin typeface="微软雅黑" panose="020B0503020204020204" charset="-122"/>
                <a:cs typeface="微软雅黑" panose="020B0503020204020204" charset="-122"/>
              </a:rPr>
              <a:t>响</a:t>
            </a:r>
            <a:endParaRPr sz="2000">
              <a:latin typeface="微软雅黑" panose="020B0503020204020204" charset="-122"/>
              <a:cs typeface="微软雅黑" panose="020B0503020204020204" charset="-122"/>
            </a:endParaRPr>
          </a:p>
          <a:p>
            <a:pPr marL="368935" indent="-285750">
              <a:lnSpc>
                <a:spcPct val="100000"/>
              </a:lnSpc>
              <a:spcBef>
                <a:spcPts val="780"/>
              </a:spcBef>
              <a:buFont typeface="Wingdings" panose="05000000000000000000"/>
              <a:buChar char=""/>
              <a:tabLst>
                <a:tab pos="368935" algn="l"/>
                <a:tab pos="369570" algn="l"/>
              </a:tabLst>
            </a:pPr>
            <a:r>
              <a:rPr sz="1600" dirty="0">
                <a:latin typeface="微软雅黑" panose="020B0503020204020204" charset="-122"/>
                <a:cs typeface="微软雅黑" panose="020B0503020204020204" charset="-122"/>
              </a:rPr>
              <a:t>降低了生态的参与门</a:t>
            </a:r>
            <a:r>
              <a:rPr sz="1600" spc="-5" dirty="0">
                <a:latin typeface="微软雅黑" panose="020B0503020204020204" charset="-122"/>
                <a:cs typeface="微软雅黑" panose="020B0503020204020204" charset="-122"/>
              </a:rPr>
              <a:t>槛</a:t>
            </a:r>
            <a:endParaRPr sz="1600">
              <a:latin typeface="微软雅黑" panose="020B0503020204020204" charset="-122"/>
              <a:cs typeface="微软雅黑" panose="020B0503020204020204" charset="-122"/>
            </a:endParaRPr>
          </a:p>
          <a:p>
            <a:pPr marL="368935" indent="-285750">
              <a:lnSpc>
                <a:spcPct val="100000"/>
              </a:lnSpc>
              <a:spcBef>
                <a:spcPts val="960"/>
              </a:spcBef>
              <a:buFont typeface="Wingdings" panose="05000000000000000000"/>
              <a:buChar char=""/>
              <a:tabLst>
                <a:tab pos="368935" algn="l"/>
                <a:tab pos="369570" algn="l"/>
              </a:tabLst>
            </a:pPr>
            <a:r>
              <a:rPr sz="1600" dirty="0">
                <a:latin typeface="微软雅黑" panose="020B0503020204020204" charset="-122"/>
                <a:cs typeface="微软雅黑" panose="020B0503020204020204" charset="-122"/>
              </a:rPr>
              <a:t>抬升了商业公司的门</a:t>
            </a:r>
            <a:r>
              <a:rPr sz="1600" spc="-5" dirty="0">
                <a:latin typeface="微软雅黑" panose="020B0503020204020204" charset="-122"/>
                <a:cs typeface="微软雅黑" panose="020B0503020204020204" charset="-122"/>
              </a:rPr>
              <a:t>槛</a:t>
            </a:r>
            <a:endParaRPr sz="1600">
              <a:latin typeface="微软雅黑" panose="020B0503020204020204" charset="-122"/>
              <a:cs typeface="微软雅黑" panose="020B0503020204020204" charset="-122"/>
            </a:endParaRPr>
          </a:p>
          <a:p>
            <a:pPr marL="368935" indent="-285750">
              <a:lnSpc>
                <a:spcPct val="100000"/>
              </a:lnSpc>
              <a:spcBef>
                <a:spcPts val="960"/>
              </a:spcBef>
              <a:buFont typeface="Wingdings" panose="05000000000000000000"/>
              <a:buChar char=""/>
              <a:tabLst>
                <a:tab pos="368935" algn="l"/>
                <a:tab pos="369570" algn="l"/>
              </a:tabLst>
            </a:pPr>
            <a:r>
              <a:rPr sz="1600" dirty="0">
                <a:latin typeface="微软雅黑" panose="020B0503020204020204" charset="-122"/>
                <a:cs typeface="微软雅黑" panose="020B0503020204020204" charset="-122"/>
              </a:rPr>
              <a:t>催生出更加绝对的垄</a:t>
            </a:r>
            <a:r>
              <a:rPr sz="1600" spc="-5" dirty="0">
                <a:latin typeface="微软雅黑" panose="020B0503020204020204" charset="-122"/>
                <a:cs typeface="微软雅黑" panose="020B0503020204020204" charset="-122"/>
              </a:rPr>
              <a:t>断</a:t>
            </a:r>
            <a:endParaRPr sz="1600">
              <a:latin typeface="微软雅黑" panose="020B0503020204020204" charset="-122"/>
              <a:cs typeface="微软雅黑" panose="020B0503020204020204" charset="-122"/>
            </a:endParaRPr>
          </a:p>
          <a:p>
            <a:pPr marL="124460">
              <a:lnSpc>
                <a:spcPct val="100000"/>
              </a:lnSpc>
              <a:spcBef>
                <a:spcPts val="840"/>
              </a:spcBef>
            </a:pPr>
            <a:r>
              <a:rPr sz="2000" b="1" spc="-5" dirty="0">
                <a:solidFill>
                  <a:srgbClr val="C00000"/>
                </a:solidFill>
                <a:latin typeface="微软雅黑" panose="020B0503020204020204" charset="-122"/>
                <a:cs typeface="微软雅黑" panose="020B0503020204020204" charset="-122"/>
              </a:rPr>
              <a:t>RISC-V商业公司的壁</a:t>
            </a:r>
            <a:r>
              <a:rPr sz="2000" b="1" spc="5" dirty="0">
                <a:solidFill>
                  <a:srgbClr val="C00000"/>
                </a:solidFill>
                <a:latin typeface="微软雅黑" panose="020B0503020204020204" charset="-122"/>
                <a:cs typeface="微软雅黑" panose="020B0503020204020204" charset="-122"/>
              </a:rPr>
              <a:t>垒</a:t>
            </a:r>
            <a:endParaRPr sz="2000">
              <a:latin typeface="微软雅黑" panose="020B0503020204020204" charset="-122"/>
              <a:cs typeface="微软雅黑" panose="020B0503020204020204" charset="-122"/>
            </a:endParaRPr>
          </a:p>
          <a:p>
            <a:pPr marL="368935" indent="-285750">
              <a:lnSpc>
                <a:spcPct val="100000"/>
              </a:lnSpc>
              <a:spcBef>
                <a:spcPts val="1065"/>
              </a:spcBef>
              <a:buFont typeface="Wingdings" panose="05000000000000000000"/>
              <a:buChar char=""/>
              <a:tabLst>
                <a:tab pos="368935" algn="l"/>
                <a:tab pos="369570" algn="l"/>
              </a:tabLst>
            </a:pPr>
            <a:r>
              <a:rPr sz="1600" dirty="0">
                <a:latin typeface="微软雅黑" panose="020B0503020204020204" charset="-122"/>
                <a:cs typeface="微软雅黑" panose="020B0503020204020204" charset="-122"/>
              </a:rPr>
              <a:t>绝对的技术和服务壁</a:t>
            </a:r>
            <a:r>
              <a:rPr sz="1600" spc="-5" dirty="0">
                <a:latin typeface="微软雅黑" panose="020B0503020204020204" charset="-122"/>
                <a:cs typeface="微软雅黑" panose="020B0503020204020204" charset="-122"/>
              </a:rPr>
              <a:t>垒</a:t>
            </a:r>
            <a:endParaRPr sz="1600">
              <a:latin typeface="微软雅黑" panose="020B0503020204020204" charset="-122"/>
              <a:cs typeface="微软雅黑" panose="020B0503020204020204" charset="-122"/>
            </a:endParaRPr>
          </a:p>
          <a:p>
            <a:pPr marL="368935" indent="-285750">
              <a:lnSpc>
                <a:spcPct val="100000"/>
              </a:lnSpc>
              <a:spcBef>
                <a:spcPts val="960"/>
              </a:spcBef>
              <a:buFont typeface="Wingdings" panose="05000000000000000000"/>
              <a:buChar char=""/>
              <a:tabLst>
                <a:tab pos="368935" algn="l"/>
                <a:tab pos="369570" algn="l"/>
              </a:tabLst>
            </a:pPr>
            <a:r>
              <a:rPr sz="1600" dirty="0">
                <a:latin typeface="微软雅黑" panose="020B0503020204020204" charset="-122"/>
                <a:cs typeface="微软雅黑" panose="020B0503020204020204" charset="-122"/>
              </a:rPr>
              <a:t>其他的商业要素壁</a:t>
            </a:r>
            <a:r>
              <a:rPr sz="1600" spc="-5" dirty="0">
                <a:latin typeface="微软雅黑" panose="020B0503020204020204" charset="-122"/>
                <a:cs typeface="微软雅黑" panose="020B0503020204020204" charset="-122"/>
              </a:rPr>
              <a:t>垒</a:t>
            </a:r>
            <a:endParaRPr sz="1600">
              <a:latin typeface="微软雅黑" panose="020B0503020204020204" charset="-122"/>
              <a:cs typeface="微软雅黑" panose="020B0503020204020204" charset="-122"/>
            </a:endParaRPr>
          </a:p>
        </p:txBody>
      </p:sp>
      <p:sp>
        <p:nvSpPr>
          <p:cNvPr id="6" name="object 6"/>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389382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RI</a:t>
            </a:r>
            <a:r>
              <a:rPr sz="3600" spc="-5" dirty="0">
                <a:solidFill>
                  <a:srgbClr val="C00000"/>
                </a:solidFill>
              </a:rPr>
              <a:t>S</a:t>
            </a:r>
            <a:r>
              <a:rPr sz="3600" dirty="0">
                <a:solidFill>
                  <a:srgbClr val="C00000"/>
                </a:solidFill>
              </a:rPr>
              <a:t>C</a:t>
            </a:r>
            <a:r>
              <a:rPr sz="3600" spc="-5" dirty="0">
                <a:solidFill>
                  <a:srgbClr val="C00000"/>
                </a:solidFill>
              </a:rPr>
              <a:t>-</a:t>
            </a:r>
            <a:r>
              <a:rPr sz="3600" dirty="0">
                <a:solidFill>
                  <a:srgbClr val="C00000"/>
                </a:solidFill>
              </a:rPr>
              <a:t>V的商业本质</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511175" y="1774050"/>
            <a:ext cx="5391785" cy="2257425"/>
          </a:xfrm>
          <a:prstGeom prst="rect">
            <a:avLst/>
          </a:prstGeom>
        </p:spPr>
        <p:txBody>
          <a:bodyPr vert="horz" wrap="square" lIns="0" tIns="12700" rIns="0" bIns="0" rtlCol="0">
            <a:spAutoFit/>
          </a:bodyPr>
          <a:lstStyle/>
          <a:p>
            <a:pPr marL="22225">
              <a:lnSpc>
                <a:spcPct val="100000"/>
              </a:lnSpc>
              <a:spcBef>
                <a:spcPts val="100"/>
              </a:spcBef>
            </a:pPr>
            <a:r>
              <a:rPr sz="2400" b="1" dirty="0">
                <a:solidFill>
                  <a:srgbClr val="C00000"/>
                </a:solidFill>
                <a:latin typeface="微软雅黑" panose="020B0503020204020204" charset="-122"/>
                <a:cs typeface="微软雅黑" panose="020B0503020204020204" charset="-122"/>
              </a:rPr>
              <a:t>中国处理器</a:t>
            </a:r>
            <a:r>
              <a:rPr sz="2400" b="1" spc="-5" dirty="0">
                <a:solidFill>
                  <a:srgbClr val="C00000"/>
                </a:solidFill>
                <a:latin typeface="微软雅黑" panose="020B0503020204020204" charset="-122"/>
                <a:cs typeface="微软雅黑" panose="020B0503020204020204" charset="-122"/>
              </a:rPr>
              <a:t>IP</a:t>
            </a:r>
            <a:r>
              <a:rPr sz="2400" b="1" dirty="0">
                <a:solidFill>
                  <a:srgbClr val="C00000"/>
                </a:solidFill>
                <a:latin typeface="微软雅黑" panose="020B0503020204020204" charset="-122"/>
                <a:cs typeface="微软雅黑" panose="020B0503020204020204" charset="-122"/>
              </a:rPr>
              <a:t>产业最后一次机会</a:t>
            </a:r>
            <a:endParaRPr sz="2400">
              <a:latin typeface="微软雅黑" panose="020B0503020204020204" charset="-122"/>
              <a:cs typeface="微软雅黑" panose="020B0503020204020204" charset="-122"/>
            </a:endParaRPr>
          </a:p>
          <a:p>
            <a:pPr>
              <a:lnSpc>
                <a:spcPct val="100000"/>
              </a:lnSpc>
              <a:spcBef>
                <a:spcPts val="30"/>
              </a:spcBef>
            </a:pPr>
            <a:endParaRPr sz="4400">
              <a:latin typeface="Times New Roman" panose="02020603050405020304"/>
              <a:cs typeface="Times New Roman" panose="02020603050405020304"/>
            </a:endParaRPr>
          </a:p>
          <a:p>
            <a:pPr marL="298450" indent="-285750">
              <a:lnSpc>
                <a:spcPct val="100000"/>
              </a:lnSpc>
              <a:buFont typeface="Wingdings" panose="05000000000000000000"/>
              <a:buChar char=""/>
              <a:tabLst>
                <a:tab pos="298450" algn="l"/>
              </a:tabLst>
            </a:pPr>
            <a:r>
              <a:rPr sz="2000" dirty="0">
                <a:latin typeface="微软雅黑" panose="020B0503020204020204" charset="-122"/>
                <a:cs typeface="微软雅黑" panose="020B0503020204020204" charset="-122"/>
              </a:rPr>
              <a:t>处理器产业变革的最后一次趋</a:t>
            </a:r>
            <a:r>
              <a:rPr sz="2000" spc="5" dirty="0">
                <a:latin typeface="微软雅黑" panose="020B0503020204020204" charset="-122"/>
                <a:cs typeface="微软雅黑" panose="020B0503020204020204" charset="-122"/>
              </a:rPr>
              <a:t>势</a:t>
            </a:r>
            <a:endParaRPr sz="2000">
              <a:latin typeface="微软雅黑" panose="020B0503020204020204" charset="-122"/>
              <a:cs typeface="微软雅黑" panose="020B0503020204020204" charset="-122"/>
            </a:endParaRPr>
          </a:p>
          <a:p>
            <a:pPr marL="298450" indent="-285750">
              <a:lnSpc>
                <a:spcPct val="100000"/>
              </a:lnSpc>
              <a:spcBef>
                <a:spcPts val="1200"/>
              </a:spcBef>
              <a:buFont typeface="Wingdings" panose="05000000000000000000"/>
              <a:buChar char=""/>
              <a:tabLst>
                <a:tab pos="298450" algn="l"/>
              </a:tabLst>
            </a:pPr>
            <a:r>
              <a:rPr sz="2000" dirty="0">
                <a:latin typeface="微软雅黑" panose="020B0503020204020204" charset="-122"/>
                <a:cs typeface="微软雅黑" panose="020B0503020204020204" charset="-122"/>
              </a:rPr>
              <a:t>开放性大幅降低业余门槛但大幅抬高商业门</a:t>
            </a:r>
            <a:r>
              <a:rPr sz="2000" spc="5" dirty="0">
                <a:latin typeface="微软雅黑" panose="020B0503020204020204" charset="-122"/>
                <a:cs typeface="微软雅黑" panose="020B0503020204020204" charset="-122"/>
              </a:rPr>
              <a:t>槛</a:t>
            </a:r>
            <a:endParaRPr sz="2000">
              <a:latin typeface="微软雅黑" panose="020B0503020204020204" charset="-122"/>
              <a:cs typeface="微软雅黑" panose="020B0503020204020204" charset="-122"/>
            </a:endParaRPr>
          </a:p>
          <a:p>
            <a:pPr marL="298450" indent="-285750">
              <a:lnSpc>
                <a:spcPct val="100000"/>
              </a:lnSpc>
              <a:spcBef>
                <a:spcPts val="1200"/>
              </a:spcBef>
              <a:buFont typeface="Wingdings" panose="05000000000000000000"/>
              <a:buChar char=""/>
              <a:tabLst>
                <a:tab pos="298450" algn="l"/>
              </a:tabLst>
            </a:pPr>
            <a:r>
              <a:rPr sz="2000" dirty="0">
                <a:latin typeface="微软雅黑" panose="020B0503020204020204" charset="-122"/>
                <a:cs typeface="微软雅黑" panose="020B0503020204020204" charset="-122"/>
              </a:rPr>
              <a:t>一旦新的商业格局重新形成，中国将机会甚</a:t>
            </a:r>
            <a:r>
              <a:rPr sz="2000" spc="5" dirty="0">
                <a:latin typeface="微软雅黑" panose="020B0503020204020204" charset="-122"/>
                <a:cs typeface="微软雅黑" panose="020B0503020204020204" charset="-122"/>
              </a:rPr>
              <a:t>微</a:t>
            </a:r>
            <a:endParaRPr sz="2000">
              <a:latin typeface="微软雅黑" panose="020B0503020204020204" charset="-122"/>
              <a:cs typeface="微软雅黑" panose="020B0503020204020204" charset="-122"/>
            </a:endParaRPr>
          </a:p>
        </p:txBody>
      </p:sp>
      <p:sp>
        <p:nvSpPr>
          <p:cNvPr id="5" name="object 5"/>
          <p:cNvSpPr/>
          <p:nvPr/>
        </p:nvSpPr>
        <p:spPr>
          <a:xfrm>
            <a:off x="7078980" y="1490472"/>
            <a:ext cx="3406139" cy="3406140"/>
          </a:xfrm>
          <a:prstGeom prst="rect">
            <a:avLst/>
          </a:prstGeom>
          <a:blipFill>
            <a:blip r:embed="rId1" cstate="print"/>
            <a:stretch>
              <a:fillRect/>
            </a:stretch>
          </a:blipFill>
        </p:spPr>
        <p:txBody>
          <a:bodyPr wrap="square" lIns="0" tIns="0" rIns="0" bIns="0" rtlCol="0"/>
          <a:lstStyle/>
          <a:p/>
        </p:txBody>
      </p:sp>
      <p:sp>
        <p:nvSpPr>
          <p:cNvPr id="6" name="object 6"/>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389382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RI</a:t>
            </a:r>
            <a:r>
              <a:rPr sz="3600" spc="-5" dirty="0">
                <a:solidFill>
                  <a:srgbClr val="C00000"/>
                </a:solidFill>
              </a:rPr>
              <a:t>S</a:t>
            </a:r>
            <a:r>
              <a:rPr sz="3600" dirty="0">
                <a:solidFill>
                  <a:srgbClr val="C00000"/>
                </a:solidFill>
              </a:rPr>
              <a:t>C</a:t>
            </a:r>
            <a:r>
              <a:rPr sz="3600" spc="-5" dirty="0">
                <a:solidFill>
                  <a:srgbClr val="C00000"/>
                </a:solidFill>
              </a:rPr>
              <a:t>-</a:t>
            </a:r>
            <a:r>
              <a:rPr sz="3600" dirty="0">
                <a:solidFill>
                  <a:srgbClr val="C00000"/>
                </a:solidFill>
              </a:rPr>
              <a:t>V的商业本质</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574675" y="1991387"/>
            <a:ext cx="10457815" cy="3788410"/>
          </a:xfrm>
          <a:prstGeom prst="rect">
            <a:avLst/>
          </a:prstGeom>
        </p:spPr>
        <p:txBody>
          <a:bodyPr vert="horz" wrap="square" lIns="0" tIns="142240" rIns="0" bIns="0" rtlCol="0">
            <a:spAutoFit/>
          </a:bodyPr>
          <a:lstStyle/>
          <a:p>
            <a:pPr marL="165100" indent="-152400">
              <a:lnSpc>
                <a:spcPct val="100000"/>
              </a:lnSpc>
              <a:spcBef>
                <a:spcPts val="1120"/>
              </a:spcBef>
              <a:buSzPct val="94000"/>
              <a:buFont typeface="Wingdings" panose="05000000000000000000"/>
              <a:buChar char=""/>
              <a:tabLst>
                <a:tab pos="165100" algn="l"/>
              </a:tabLst>
            </a:pPr>
            <a:r>
              <a:rPr sz="1600" b="1" dirty="0">
                <a:latin typeface="微软雅黑" panose="020B0503020204020204" charset="-122"/>
                <a:cs typeface="微软雅黑" panose="020B0503020204020204" charset="-122"/>
              </a:rPr>
              <a:t>专业、本地、服</a:t>
            </a:r>
            <a:r>
              <a:rPr sz="1600" b="1" spc="-5" dirty="0">
                <a:latin typeface="微软雅黑" panose="020B0503020204020204" charset="-122"/>
                <a:cs typeface="微软雅黑" panose="020B0503020204020204" charset="-122"/>
              </a:rPr>
              <a:t>务</a:t>
            </a:r>
            <a:endParaRPr sz="1600">
              <a:latin typeface="微软雅黑" panose="020B0503020204020204" charset="-122"/>
              <a:cs typeface="微软雅黑" panose="020B0503020204020204" charset="-122"/>
            </a:endParaRPr>
          </a:p>
          <a:p>
            <a:pPr marL="584200" lvl="1" indent="-114300">
              <a:lnSpc>
                <a:spcPct val="100000"/>
              </a:lnSpc>
              <a:spcBef>
                <a:spcPts val="770"/>
              </a:spcBef>
              <a:buSzPct val="92000"/>
              <a:buFont typeface="Wingdings" panose="05000000000000000000"/>
              <a:buChar char=""/>
              <a:tabLst>
                <a:tab pos="584835" algn="l"/>
              </a:tabLst>
            </a:pPr>
            <a:r>
              <a:rPr sz="1200" dirty="0">
                <a:latin typeface="微软雅黑" panose="020B0503020204020204" charset="-122"/>
                <a:cs typeface="微软雅黑" panose="020B0503020204020204" charset="-122"/>
              </a:rPr>
              <a:t>专业、优质、和及时的本地化服务，为客户的成功长期保驾护航</a:t>
            </a:r>
            <a:endParaRPr sz="1200">
              <a:latin typeface="微软雅黑" panose="020B0503020204020204" charset="-122"/>
              <a:cs typeface="微软雅黑" panose="020B0503020204020204" charset="-122"/>
            </a:endParaRPr>
          </a:p>
          <a:p>
            <a:pPr marL="165100" indent="-152400">
              <a:lnSpc>
                <a:spcPct val="100000"/>
              </a:lnSpc>
              <a:spcBef>
                <a:spcPts val="910"/>
              </a:spcBef>
              <a:buSzPct val="94000"/>
              <a:buFont typeface="Wingdings" panose="05000000000000000000"/>
              <a:buChar char=""/>
              <a:tabLst>
                <a:tab pos="165100" algn="l"/>
              </a:tabLst>
            </a:pPr>
            <a:r>
              <a:rPr sz="1600" b="1" dirty="0">
                <a:latin typeface="微软雅黑" panose="020B0503020204020204" charset="-122"/>
                <a:cs typeface="微软雅黑" panose="020B0503020204020204" charset="-122"/>
              </a:rPr>
              <a:t>充足的验证质</a:t>
            </a:r>
            <a:r>
              <a:rPr sz="1600" b="1" spc="-5" dirty="0">
                <a:latin typeface="微软雅黑" panose="020B0503020204020204" charset="-122"/>
                <a:cs typeface="微软雅黑" panose="020B0503020204020204" charset="-122"/>
              </a:rPr>
              <a:t>量</a:t>
            </a:r>
            <a:endParaRPr sz="1600">
              <a:latin typeface="微软雅黑" panose="020B0503020204020204" charset="-122"/>
              <a:cs typeface="微软雅黑" panose="020B0503020204020204" charset="-122"/>
            </a:endParaRPr>
          </a:p>
          <a:p>
            <a:pPr marL="584200" lvl="1" indent="-114300">
              <a:lnSpc>
                <a:spcPct val="100000"/>
              </a:lnSpc>
              <a:spcBef>
                <a:spcPts val="770"/>
              </a:spcBef>
              <a:buSzPct val="92000"/>
              <a:buFont typeface="Wingdings" panose="05000000000000000000"/>
              <a:buChar char=""/>
              <a:tabLst>
                <a:tab pos="584835" algn="l"/>
              </a:tabLst>
            </a:pPr>
            <a:r>
              <a:rPr sz="1200" dirty="0">
                <a:latin typeface="微软雅黑" panose="020B0503020204020204" charset="-122"/>
                <a:cs typeface="微软雅黑" panose="020B0503020204020204" charset="-122"/>
              </a:rPr>
              <a:t>一流的设计，成熟和稳健的设计方法，良好的代码可读性，以及充分的验证以保证质量。为客户的芯片集成与ASIC流程带来便利与信心</a:t>
            </a:r>
            <a:endParaRPr sz="1200">
              <a:latin typeface="微软雅黑" panose="020B0503020204020204" charset="-122"/>
              <a:cs typeface="微软雅黑" panose="020B0503020204020204" charset="-122"/>
            </a:endParaRPr>
          </a:p>
          <a:p>
            <a:pPr marL="584200" lvl="1" indent="-114300">
              <a:lnSpc>
                <a:spcPct val="100000"/>
              </a:lnSpc>
              <a:spcBef>
                <a:spcPts val="720"/>
              </a:spcBef>
              <a:buSzPct val="92000"/>
              <a:buFont typeface="Wingdings" panose="05000000000000000000"/>
              <a:buChar char=""/>
              <a:tabLst>
                <a:tab pos="584835" algn="l"/>
              </a:tabLst>
            </a:pPr>
            <a:r>
              <a:rPr sz="1200" dirty="0">
                <a:latin typeface="微软雅黑" panose="020B0503020204020204" charset="-122"/>
                <a:cs typeface="微软雅黑" panose="020B0503020204020204" charset="-122"/>
              </a:rPr>
              <a:t>为客户提升产品研发效率，抢占市场先机，是对商用处理器IP的基本要求</a:t>
            </a:r>
            <a:endParaRPr sz="1200">
              <a:latin typeface="微软雅黑" panose="020B0503020204020204" charset="-122"/>
              <a:cs typeface="微软雅黑" panose="020B0503020204020204" charset="-122"/>
            </a:endParaRPr>
          </a:p>
          <a:p>
            <a:pPr marL="165100" indent="-152400">
              <a:lnSpc>
                <a:spcPct val="100000"/>
              </a:lnSpc>
              <a:spcBef>
                <a:spcPts val="910"/>
              </a:spcBef>
              <a:buSzPct val="94000"/>
              <a:buFont typeface="Wingdings" panose="05000000000000000000"/>
              <a:buChar char=""/>
              <a:tabLst>
                <a:tab pos="165100" algn="l"/>
              </a:tabLst>
            </a:pPr>
            <a:r>
              <a:rPr sz="1600" b="1" dirty="0">
                <a:latin typeface="微软雅黑" panose="020B0503020204020204" charset="-122"/>
                <a:cs typeface="微软雅黑" panose="020B0503020204020204" charset="-122"/>
              </a:rPr>
              <a:t>出色的</a:t>
            </a:r>
            <a:r>
              <a:rPr sz="1600" b="1" spc="-45" dirty="0">
                <a:latin typeface="微软雅黑" panose="020B0503020204020204" charset="-122"/>
                <a:cs typeface="微软雅黑" panose="020B0503020204020204" charset="-122"/>
              </a:rPr>
              <a:t>PPA</a:t>
            </a:r>
            <a:endParaRPr sz="1600">
              <a:latin typeface="微软雅黑" panose="020B0503020204020204" charset="-122"/>
              <a:cs typeface="微软雅黑" panose="020B0503020204020204" charset="-122"/>
            </a:endParaRPr>
          </a:p>
          <a:p>
            <a:pPr marL="584200" lvl="1" indent="-114300">
              <a:lnSpc>
                <a:spcPct val="100000"/>
              </a:lnSpc>
              <a:spcBef>
                <a:spcPts val="770"/>
              </a:spcBef>
              <a:buSzPct val="92000"/>
              <a:buFont typeface="Wingdings" panose="05000000000000000000"/>
              <a:buChar char=""/>
              <a:tabLst>
                <a:tab pos="584835" algn="l"/>
              </a:tabLst>
            </a:pPr>
            <a:r>
              <a:rPr sz="1200" dirty="0">
                <a:latin typeface="微软雅黑" panose="020B0503020204020204" charset="-122"/>
                <a:cs typeface="微软雅黑" panose="020B0503020204020204" charset="-122"/>
              </a:rPr>
              <a:t>出色的</a:t>
            </a:r>
            <a:r>
              <a:rPr sz="1200" spc="-20" dirty="0">
                <a:latin typeface="微软雅黑" panose="020B0503020204020204" charset="-122"/>
                <a:cs typeface="微软雅黑" panose="020B0503020204020204" charset="-122"/>
              </a:rPr>
              <a:t>PPA（Power</a:t>
            </a:r>
            <a:r>
              <a:rPr sz="1200" spc="-5" dirty="0">
                <a:latin typeface="微软雅黑" panose="020B0503020204020204" charset="-122"/>
                <a:cs typeface="微软雅黑" panose="020B0503020204020204" charset="-122"/>
              </a:rPr>
              <a:t> Performance Area）</a:t>
            </a:r>
            <a:r>
              <a:rPr sz="1200" dirty="0">
                <a:latin typeface="微软雅黑" panose="020B0503020204020204" charset="-122"/>
                <a:cs typeface="微软雅黑" panose="020B0503020204020204" charset="-122"/>
              </a:rPr>
              <a:t>参数和良好的可扩展性，为客户的产品带来出色竞争力和差异性</a:t>
            </a:r>
            <a:endParaRPr sz="1200">
              <a:latin typeface="微软雅黑" panose="020B0503020204020204" charset="-122"/>
              <a:cs typeface="微软雅黑" panose="020B0503020204020204" charset="-122"/>
            </a:endParaRPr>
          </a:p>
          <a:p>
            <a:pPr marL="165100" indent="-152400">
              <a:lnSpc>
                <a:spcPct val="100000"/>
              </a:lnSpc>
              <a:spcBef>
                <a:spcPts val="910"/>
              </a:spcBef>
              <a:buSzPct val="94000"/>
              <a:buFont typeface="Wingdings" panose="05000000000000000000"/>
              <a:buChar char=""/>
              <a:tabLst>
                <a:tab pos="165100" algn="l"/>
              </a:tabLst>
            </a:pPr>
            <a:r>
              <a:rPr sz="1600" b="1" dirty="0">
                <a:latin typeface="微软雅黑" panose="020B0503020204020204" charset="-122"/>
                <a:cs typeface="微软雅黑" panose="020B0503020204020204" charset="-122"/>
              </a:rPr>
              <a:t>代码密度足够</a:t>
            </a:r>
            <a:r>
              <a:rPr sz="1600" b="1" spc="-5" dirty="0">
                <a:latin typeface="微软雅黑" panose="020B0503020204020204" charset="-122"/>
                <a:cs typeface="微软雅黑" panose="020B0503020204020204" charset="-122"/>
              </a:rPr>
              <a:t>高</a:t>
            </a:r>
            <a:endParaRPr sz="1600">
              <a:latin typeface="微软雅黑" panose="020B0503020204020204" charset="-122"/>
              <a:cs typeface="微软雅黑" panose="020B0503020204020204" charset="-122"/>
            </a:endParaRPr>
          </a:p>
          <a:p>
            <a:pPr marL="584200" lvl="1" indent="-114300">
              <a:lnSpc>
                <a:spcPct val="100000"/>
              </a:lnSpc>
              <a:spcBef>
                <a:spcPts val="770"/>
              </a:spcBef>
              <a:buSzPct val="92000"/>
              <a:buFont typeface="Wingdings" panose="05000000000000000000"/>
              <a:buChar char=""/>
              <a:tabLst>
                <a:tab pos="584835" algn="l"/>
              </a:tabLst>
            </a:pPr>
            <a:r>
              <a:rPr sz="1200" dirty="0">
                <a:latin typeface="微软雅黑" panose="020B0503020204020204" charset="-122"/>
                <a:cs typeface="微软雅黑" panose="020B0503020204020204" charset="-122"/>
              </a:rPr>
              <a:t>优异的代码密度（Code</a:t>
            </a:r>
            <a:r>
              <a:rPr sz="1200" spc="-10" dirty="0">
                <a:latin typeface="微软雅黑" panose="020B0503020204020204" charset="-122"/>
                <a:cs typeface="微软雅黑" panose="020B0503020204020204" charset="-122"/>
              </a:rPr>
              <a:t> </a:t>
            </a:r>
            <a:r>
              <a:rPr sz="1200" spc="-5" dirty="0">
                <a:latin typeface="微软雅黑" panose="020B0503020204020204" charset="-122"/>
                <a:cs typeface="微软雅黑" panose="020B0503020204020204" charset="-122"/>
              </a:rPr>
              <a:t>Density），</a:t>
            </a:r>
            <a:r>
              <a:rPr sz="1200" dirty="0">
                <a:latin typeface="微软雅黑" panose="020B0503020204020204" charset="-122"/>
                <a:cs typeface="微软雅黑" panose="020B0503020204020204" charset="-122"/>
              </a:rPr>
              <a:t>为客户的芯片节省宝贵的片上</a:t>
            </a:r>
            <a:r>
              <a:rPr sz="1200" spc="-5" dirty="0">
                <a:latin typeface="微软雅黑" panose="020B0503020204020204" charset="-122"/>
                <a:cs typeface="微软雅黑" panose="020B0503020204020204" charset="-122"/>
              </a:rPr>
              <a:t>SRAM</a:t>
            </a:r>
            <a:r>
              <a:rPr sz="1200" dirty="0">
                <a:latin typeface="微软雅黑" panose="020B0503020204020204" charset="-122"/>
                <a:cs typeface="微软雅黑" panose="020B0503020204020204" charset="-122"/>
              </a:rPr>
              <a:t>或</a:t>
            </a:r>
            <a:r>
              <a:rPr sz="1200" spc="-5" dirty="0">
                <a:latin typeface="微软雅黑" panose="020B0503020204020204" charset="-122"/>
                <a:cs typeface="微软雅黑" panose="020B0503020204020204" charset="-122"/>
              </a:rPr>
              <a:t>Flash</a:t>
            </a:r>
            <a:r>
              <a:rPr sz="1200" dirty="0">
                <a:latin typeface="微软雅黑" panose="020B0503020204020204" charset="-122"/>
                <a:cs typeface="微软雅黑" panose="020B0503020204020204" charset="-122"/>
              </a:rPr>
              <a:t>存储空间从而降低其芯片成本</a:t>
            </a:r>
            <a:endParaRPr sz="1200">
              <a:latin typeface="微软雅黑" panose="020B0503020204020204" charset="-122"/>
              <a:cs typeface="微软雅黑" panose="020B0503020204020204" charset="-122"/>
            </a:endParaRPr>
          </a:p>
          <a:p>
            <a:pPr marL="165100" indent="-152400">
              <a:lnSpc>
                <a:spcPct val="100000"/>
              </a:lnSpc>
              <a:spcBef>
                <a:spcPts val="910"/>
              </a:spcBef>
              <a:buSzPct val="94000"/>
              <a:buFont typeface="Wingdings" panose="05000000000000000000"/>
              <a:buChar char=""/>
              <a:tabLst>
                <a:tab pos="165100" algn="l"/>
              </a:tabLst>
            </a:pPr>
            <a:r>
              <a:rPr sz="1600" b="1" dirty="0">
                <a:latin typeface="微软雅黑" panose="020B0503020204020204" charset="-122"/>
                <a:cs typeface="微软雅黑" panose="020B0503020204020204" charset="-122"/>
              </a:rPr>
              <a:t>完善的</a:t>
            </a:r>
            <a:r>
              <a:rPr sz="1600" b="1" spc="-5" dirty="0">
                <a:latin typeface="微软雅黑" panose="020B0503020204020204" charset="-122"/>
                <a:cs typeface="微软雅黑" panose="020B0503020204020204" charset="-122"/>
              </a:rPr>
              <a:t>IDE</a:t>
            </a:r>
            <a:endParaRPr sz="1600">
              <a:latin typeface="微软雅黑" panose="020B0503020204020204" charset="-122"/>
              <a:cs typeface="微软雅黑" panose="020B0503020204020204" charset="-122"/>
            </a:endParaRPr>
          </a:p>
          <a:p>
            <a:pPr marL="584200" lvl="1" indent="-114300">
              <a:lnSpc>
                <a:spcPct val="100000"/>
              </a:lnSpc>
              <a:spcBef>
                <a:spcPts val="770"/>
              </a:spcBef>
              <a:buSzPct val="92000"/>
              <a:buFont typeface="Wingdings" panose="05000000000000000000"/>
              <a:buChar char=""/>
              <a:tabLst>
                <a:tab pos="584835" algn="l"/>
              </a:tabLst>
            </a:pPr>
            <a:r>
              <a:rPr sz="1200" dirty="0">
                <a:latin typeface="微软雅黑" panose="020B0503020204020204" charset="-122"/>
                <a:cs typeface="微软雅黑" panose="020B0503020204020204" charset="-122"/>
              </a:rPr>
              <a:t>一流的图形化集成开发环境</a:t>
            </a:r>
            <a:r>
              <a:rPr sz="1200" spc="-5" dirty="0">
                <a:latin typeface="微软雅黑" panose="020B0503020204020204" charset="-122"/>
                <a:cs typeface="微软雅黑" panose="020B0503020204020204" charset="-122"/>
              </a:rPr>
              <a:t>（IDE，Integrated Development Environment），</a:t>
            </a:r>
            <a:r>
              <a:rPr sz="1200" dirty="0">
                <a:latin typeface="微软雅黑" panose="020B0503020204020204" charset="-122"/>
                <a:cs typeface="微软雅黑" panose="020B0503020204020204" charset="-122"/>
              </a:rPr>
              <a:t>通过完善的功能以及优秀的体验提升用户的生产效率，这对于面向</a:t>
            </a:r>
            <a:endParaRPr sz="1200">
              <a:latin typeface="微软雅黑" panose="020B0503020204020204" charset="-122"/>
              <a:cs typeface="微软雅黑" panose="020B0503020204020204" charset="-122"/>
            </a:endParaRPr>
          </a:p>
          <a:p>
            <a:pPr marL="469900">
              <a:lnSpc>
                <a:spcPct val="100000"/>
              </a:lnSpc>
              <a:spcBef>
                <a:spcPts val="720"/>
              </a:spcBef>
            </a:pPr>
            <a:r>
              <a:rPr sz="1200" dirty="0">
                <a:latin typeface="微软雅黑" panose="020B0503020204020204" charset="-122"/>
                <a:cs typeface="微软雅黑" panose="020B0503020204020204" charset="-122"/>
              </a:rPr>
              <a:t>AIoT领域的芯片产品极为重要</a:t>
            </a:r>
            <a:endParaRPr sz="1200">
              <a:latin typeface="微软雅黑" panose="020B0503020204020204" charset="-122"/>
              <a:cs typeface="微软雅黑" panose="020B0503020204020204" charset="-122"/>
            </a:endParaRPr>
          </a:p>
        </p:txBody>
      </p:sp>
      <p:sp>
        <p:nvSpPr>
          <p:cNvPr id="5" name="object 5"/>
          <p:cNvSpPr txBox="1"/>
          <p:nvPr/>
        </p:nvSpPr>
        <p:spPr>
          <a:xfrm>
            <a:off x="521334" y="1375905"/>
            <a:ext cx="4712970" cy="331470"/>
          </a:xfrm>
          <a:prstGeom prst="rect">
            <a:avLst/>
          </a:prstGeom>
        </p:spPr>
        <p:txBody>
          <a:bodyPr vert="horz" wrap="square" lIns="0" tIns="13335" rIns="0" bIns="0" rtlCol="0">
            <a:spAutoFit/>
          </a:bodyPr>
          <a:lstStyle/>
          <a:p>
            <a:pPr marL="12700">
              <a:lnSpc>
                <a:spcPct val="100000"/>
              </a:lnSpc>
              <a:spcBef>
                <a:spcPts val="105"/>
              </a:spcBef>
            </a:pPr>
            <a:r>
              <a:rPr sz="2000" b="1" dirty="0">
                <a:solidFill>
                  <a:srgbClr val="C00000"/>
                </a:solidFill>
                <a:latin typeface="微软雅黑" panose="020B0503020204020204" charset="-122"/>
                <a:cs typeface="微软雅黑" panose="020B0503020204020204" charset="-122"/>
              </a:rPr>
              <a:t>当前阶段</a:t>
            </a:r>
            <a:r>
              <a:rPr sz="2000" b="1" spc="-5" dirty="0">
                <a:solidFill>
                  <a:srgbClr val="C00000"/>
                </a:solidFill>
                <a:latin typeface="微软雅黑" panose="020B0503020204020204" charset="-122"/>
                <a:cs typeface="微软雅黑" panose="020B0503020204020204" charset="-122"/>
              </a:rPr>
              <a:t>RISC-V</a:t>
            </a:r>
            <a:r>
              <a:rPr sz="2000" b="1" dirty="0">
                <a:solidFill>
                  <a:srgbClr val="C00000"/>
                </a:solidFill>
                <a:latin typeface="微软雅黑" panose="020B0503020204020204" charset="-122"/>
                <a:cs typeface="微软雅黑" panose="020B0503020204020204" charset="-122"/>
              </a:rPr>
              <a:t>商用</a:t>
            </a:r>
            <a:r>
              <a:rPr sz="2000" b="1" spc="-5" dirty="0">
                <a:solidFill>
                  <a:srgbClr val="C00000"/>
                </a:solidFill>
                <a:latin typeface="微软雅黑" panose="020B0503020204020204" charset="-122"/>
                <a:cs typeface="微软雅黑" panose="020B0503020204020204" charset="-122"/>
              </a:rPr>
              <a:t>IP</a:t>
            </a:r>
            <a:r>
              <a:rPr sz="2000" b="1" dirty="0">
                <a:solidFill>
                  <a:srgbClr val="C00000"/>
                </a:solidFill>
                <a:latin typeface="微软雅黑" panose="020B0503020204020204" charset="-122"/>
                <a:cs typeface="微软雅黑" panose="020B0503020204020204" charset="-122"/>
              </a:rPr>
              <a:t>必备的的五大要</a:t>
            </a:r>
            <a:r>
              <a:rPr sz="2000" b="1" spc="5" dirty="0">
                <a:solidFill>
                  <a:srgbClr val="C00000"/>
                </a:solidFill>
                <a:latin typeface="微软雅黑" panose="020B0503020204020204" charset="-122"/>
                <a:cs typeface="微软雅黑" panose="020B0503020204020204" charset="-122"/>
              </a:rPr>
              <a:t>素</a:t>
            </a:r>
            <a:endParaRPr sz="2000">
              <a:latin typeface="微软雅黑" panose="020B0503020204020204" charset="-122"/>
              <a:cs typeface="微软雅黑" panose="020B0503020204020204" charset="-122"/>
            </a:endParaRPr>
          </a:p>
        </p:txBody>
      </p:sp>
      <p:sp>
        <p:nvSpPr>
          <p:cNvPr id="6" name="object 6"/>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22909" cy="443230"/>
          </a:xfrm>
          <a:custGeom>
            <a:avLst/>
            <a:gdLst/>
            <a:ahLst/>
            <a:cxnLst/>
            <a:rect l="l" t="t" r="r" b="b"/>
            <a:pathLst>
              <a:path w="422909" h="443230">
                <a:moveTo>
                  <a:pt x="0" y="443114"/>
                </a:moveTo>
                <a:lnTo>
                  <a:pt x="0" y="0"/>
                </a:lnTo>
                <a:lnTo>
                  <a:pt x="422640" y="0"/>
                </a:lnTo>
                <a:lnTo>
                  <a:pt x="0" y="443114"/>
                </a:lnTo>
                <a:close/>
              </a:path>
            </a:pathLst>
          </a:custGeom>
          <a:solidFill>
            <a:srgbClr val="C00000"/>
          </a:solidFill>
        </p:spPr>
        <p:txBody>
          <a:bodyPr wrap="square" lIns="0" tIns="0" rIns="0" bIns="0" rtlCol="0"/>
          <a:lstStyle/>
          <a:p/>
        </p:txBody>
      </p:sp>
      <p:sp>
        <p:nvSpPr>
          <p:cNvPr id="3" name="object 3"/>
          <p:cNvSpPr/>
          <p:nvPr/>
        </p:nvSpPr>
        <p:spPr>
          <a:xfrm>
            <a:off x="2394204" y="1135380"/>
            <a:ext cx="6791325" cy="510540"/>
          </a:xfrm>
          <a:custGeom>
            <a:avLst/>
            <a:gdLst/>
            <a:ahLst/>
            <a:cxnLst/>
            <a:rect l="l" t="t" r="r" b="b"/>
            <a:pathLst>
              <a:path w="6791325" h="510539">
                <a:moveTo>
                  <a:pt x="0" y="0"/>
                </a:moveTo>
                <a:lnTo>
                  <a:pt x="6790944" y="0"/>
                </a:lnTo>
                <a:lnTo>
                  <a:pt x="6790944" y="510540"/>
                </a:lnTo>
                <a:lnTo>
                  <a:pt x="0" y="510540"/>
                </a:lnTo>
                <a:lnTo>
                  <a:pt x="0" y="0"/>
                </a:lnTo>
                <a:close/>
              </a:path>
            </a:pathLst>
          </a:custGeom>
          <a:solidFill>
            <a:srgbClr val="D9D9D9"/>
          </a:solidFill>
        </p:spPr>
        <p:txBody>
          <a:bodyPr wrap="square" lIns="0" tIns="0" rIns="0" bIns="0" rtlCol="0"/>
          <a:lstStyle/>
          <a:p/>
        </p:txBody>
      </p:sp>
      <p:sp>
        <p:nvSpPr>
          <p:cNvPr id="4" name="object 4"/>
          <p:cNvSpPr/>
          <p:nvPr/>
        </p:nvSpPr>
        <p:spPr>
          <a:xfrm>
            <a:off x="8916923" y="1134656"/>
            <a:ext cx="522605" cy="511809"/>
          </a:xfrm>
          <a:custGeom>
            <a:avLst/>
            <a:gdLst/>
            <a:ahLst/>
            <a:cxnLst/>
            <a:rect l="l" t="t" r="r" b="b"/>
            <a:pathLst>
              <a:path w="522604" h="511810">
                <a:moveTo>
                  <a:pt x="261023" y="511327"/>
                </a:moveTo>
                <a:lnTo>
                  <a:pt x="214075" y="507207"/>
                </a:lnTo>
                <a:lnTo>
                  <a:pt x="169890" y="495327"/>
                </a:lnTo>
                <a:lnTo>
                  <a:pt x="129206" y="476405"/>
                </a:lnTo>
                <a:lnTo>
                  <a:pt x="92763" y="451160"/>
                </a:lnTo>
                <a:lnTo>
                  <a:pt x="61297" y="420310"/>
                </a:lnTo>
                <a:lnTo>
                  <a:pt x="35550" y="384573"/>
                </a:lnTo>
                <a:lnTo>
                  <a:pt x="16258" y="344669"/>
                </a:lnTo>
                <a:lnTo>
                  <a:pt x="4162" y="301316"/>
                </a:lnTo>
                <a:lnTo>
                  <a:pt x="0" y="255231"/>
                </a:lnTo>
                <a:lnTo>
                  <a:pt x="4162" y="209404"/>
                </a:lnTo>
                <a:lnTo>
                  <a:pt x="16258" y="166251"/>
                </a:lnTo>
                <a:lnTo>
                  <a:pt x="35550" y="126497"/>
                </a:lnTo>
                <a:lnTo>
                  <a:pt x="61297" y="90869"/>
                </a:lnTo>
                <a:lnTo>
                  <a:pt x="92763" y="60091"/>
                </a:lnTo>
                <a:lnTo>
                  <a:pt x="129206" y="34889"/>
                </a:lnTo>
                <a:lnTo>
                  <a:pt x="169890" y="15990"/>
                </a:lnTo>
                <a:lnTo>
                  <a:pt x="214075" y="4118"/>
                </a:lnTo>
                <a:lnTo>
                  <a:pt x="261023" y="0"/>
                </a:lnTo>
                <a:lnTo>
                  <a:pt x="307966" y="4119"/>
                </a:lnTo>
                <a:lnTo>
                  <a:pt x="352150" y="15995"/>
                </a:lnTo>
                <a:lnTo>
                  <a:pt x="392835" y="34905"/>
                </a:lnTo>
                <a:lnTo>
                  <a:pt x="429286" y="60129"/>
                </a:lnTo>
                <a:lnTo>
                  <a:pt x="460762" y="90943"/>
                </a:lnTo>
                <a:lnTo>
                  <a:pt x="486529" y="126625"/>
                </a:lnTo>
                <a:lnTo>
                  <a:pt x="505846" y="166454"/>
                </a:lnTo>
                <a:lnTo>
                  <a:pt x="517978" y="209707"/>
                </a:lnTo>
                <a:lnTo>
                  <a:pt x="522185" y="255663"/>
                </a:lnTo>
                <a:lnTo>
                  <a:pt x="517978" y="301619"/>
                </a:lnTo>
                <a:lnTo>
                  <a:pt x="505846" y="344872"/>
                </a:lnTo>
                <a:lnTo>
                  <a:pt x="486529" y="384701"/>
                </a:lnTo>
                <a:lnTo>
                  <a:pt x="460762" y="420384"/>
                </a:lnTo>
                <a:lnTo>
                  <a:pt x="429286" y="451198"/>
                </a:lnTo>
                <a:lnTo>
                  <a:pt x="392835" y="476421"/>
                </a:lnTo>
                <a:lnTo>
                  <a:pt x="352150" y="495332"/>
                </a:lnTo>
                <a:lnTo>
                  <a:pt x="307966" y="507208"/>
                </a:lnTo>
                <a:lnTo>
                  <a:pt x="261023" y="511327"/>
                </a:lnTo>
                <a:close/>
              </a:path>
            </a:pathLst>
          </a:custGeom>
          <a:solidFill>
            <a:srgbClr val="D9D9D9"/>
          </a:solidFill>
        </p:spPr>
        <p:txBody>
          <a:bodyPr wrap="square" lIns="0" tIns="0" rIns="0" bIns="0" rtlCol="0"/>
          <a:lstStyle/>
          <a:p/>
        </p:txBody>
      </p:sp>
      <p:sp>
        <p:nvSpPr>
          <p:cNvPr id="5" name="object 5"/>
          <p:cNvSpPr/>
          <p:nvPr/>
        </p:nvSpPr>
        <p:spPr>
          <a:xfrm>
            <a:off x="2098548" y="1134110"/>
            <a:ext cx="521970" cy="511809"/>
          </a:xfrm>
          <a:custGeom>
            <a:avLst/>
            <a:gdLst/>
            <a:ahLst/>
            <a:cxnLst/>
            <a:rect l="l" t="t" r="r" b="b"/>
            <a:pathLst>
              <a:path w="521969" h="511810">
                <a:moveTo>
                  <a:pt x="260667" y="511327"/>
                </a:moveTo>
                <a:lnTo>
                  <a:pt x="213720" y="507208"/>
                </a:lnTo>
                <a:lnTo>
                  <a:pt x="169536" y="495332"/>
                </a:lnTo>
                <a:lnTo>
                  <a:pt x="128858" y="476421"/>
                </a:lnTo>
                <a:lnTo>
                  <a:pt x="92428" y="451198"/>
                </a:lnTo>
                <a:lnTo>
                  <a:pt x="60989" y="420384"/>
                </a:lnTo>
                <a:lnTo>
                  <a:pt x="35283" y="384701"/>
                </a:lnTo>
                <a:lnTo>
                  <a:pt x="16055" y="344872"/>
                </a:lnTo>
                <a:lnTo>
                  <a:pt x="4056" y="301699"/>
                </a:lnTo>
                <a:lnTo>
                  <a:pt x="0" y="255777"/>
                </a:lnTo>
                <a:lnTo>
                  <a:pt x="4056" y="209788"/>
                </a:lnTo>
                <a:lnTo>
                  <a:pt x="16096" y="166454"/>
                </a:lnTo>
                <a:lnTo>
                  <a:pt x="35324" y="126625"/>
                </a:lnTo>
                <a:lnTo>
                  <a:pt x="61023" y="90943"/>
                </a:lnTo>
                <a:lnTo>
                  <a:pt x="92453" y="60129"/>
                </a:lnTo>
                <a:lnTo>
                  <a:pt x="128873" y="34905"/>
                </a:lnTo>
                <a:lnTo>
                  <a:pt x="169543" y="15995"/>
                </a:lnTo>
                <a:lnTo>
                  <a:pt x="213722" y="4119"/>
                </a:lnTo>
                <a:lnTo>
                  <a:pt x="260667" y="0"/>
                </a:lnTo>
                <a:lnTo>
                  <a:pt x="307611" y="4119"/>
                </a:lnTo>
                <a:lnTo>
                  <a:pt x="351797" y="15996"/>
                </a:lnTo>
                <a:lnTo>
                  <a:pt x="392486" y="34909"/>
                </a:lnTo>
                <a:lnTo>
                  <a:pt x="428940" y="60139"/>
                </a:lnTo>
                <a:lnTo>
                  <a:pt x="460421" y="90962"/>
                </a:lnTo>
                <a:lnTo>
                  <a:pt x="486189" y="126659"/>
                </a:lnTo>
                <a:lnTo>
                  <a:pt x="505506" y="166508"/>
                </a:lnTo>
                <a:lnTo>
                  <a:pt x="517622" y="209707"/>
                </a:lnTo>
                <a:lnTo>
                  <a:pt x="521830" y="255663"/>
                </a:lnTo>
                <a:lnTo>
                  <a:pt x="517622" y="301619"/>
                </a:lnTo>
                <a:lnTo>
                  <a:pt x="505464" y="344926"/>
                </a:lnTo>
                <a:lnTo>
                  <a:pt x="486148" y="384735"/>
                </a:lnTo>
                <a:lnTo>
                  <a:pt x="460387" y="420403"/>
                </a:lnTo>
                <a:lnTo>
                  <a:pt x="428915" y="451208"/>
                </a:lnTo>
                <a:lnTo>
                  <a:pt x="392471" y="476425"/>
                </a:lnTo>
                <a:lnTo>
                  <a:pt x="351790" y="495333"/>
                </a:lnTo>
                <a:lnTo>
                  <a:pt x="307609" y="507208"/>
                </a:lnTo>
                <a:lnTo>
                  <a:pt x="260667" y="511327"/>
                </a:lnTo>
                <a:close/>
              </a:path>
            </a:pathLst>
          </a:custGeom>
          <a:solidFill>
            <a:srgbClr val="A6A6A6"/>
          </a:solidFill>
        </p:spPr>
        <p:txBody>
          <a:bodyPr wrap="square" lIns="0" tIns="0" rIns="0" bIns="0" rtlCol="0"/>
          <a:lstStyle/>
          <a:p/>
        </p:txBody>
      </p:sp>
      <p:sp>
        <p:nvSpPr>
          <p:cNvPr id="6" name="object 6"/>
          <p:cNvSpPr txBox="1"/>
          <p:nvPr/>
        </p:nvSpPr>
        <p:spPr>
          <a:xfrm>
            <a:off x="2243112" y="1107389"/>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1</a:t>
            </a:r>
            <a:endParaRPr sz="3200">
              <a:latin typeface="Calibri" panose="020F0502020204030204"/>
              <a:cs typeface="Calibri" panose="020F0502020204030204"/>
            </a:endParaRPr>
          </a:p>
        </p:txBody>
      </p:sp>
      <p:sp>
        <p:nvSpPr>
          <p:cNvPr id="7" name="object 7"/>
          <p:cNvSpPr/>
          <p:nvPr/>
        </p:nvSpPr>
        <p:spPr>
          <a:xfrm>
            <a:off x="2394204" y="1789176"/>
            <a:ext cx="6791325" cy="509270"/>
          </a:xfrm>
          <a:custGeom>
            <a:avLst/>
            <a:gdLst/>
            <a:ahLst/>
            <a:cxnLst/>
            <a:rect l="l" t="t" r="r" b="b"/>
            <a:pathLst>
              <a:path w="6791325" h="509269">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8" name="object 8"/>
          <p:cNvSpPr/>
          <p:nvPr/>
        </p:nvSpPr>
        <p:spPr>
          <a:xfrm>
            <a:off x="8916923" y="1788553"/>
            <a:ext cx="522605" cy="511175"/>
          </a:xfrm>
          <a:custGeom>
            <a:avLst/>
            <a:gdLst/>
            <a:ahLst/>
            <a:cxnLst/>
            <a:rect l="l" t="t" r="r" b="b"/>
            <a:pathLst>
              <a:path w="522604" h="511175">
                <a:moveTo>
                  <a:pt x="261023" y="510717"/>
                </a:moveTo>
                <a:lnTo>
                  <a:pt x="214075" y="506603"/>
                </a:lnTo>
                <a:lnTo>
                  <a:pt x="169890" y="494739"/>
                </a:lnTo>
                <a:lnTo>
                  <a:pt x="129206" y="475845"/>
                </a:lnTo>
                <a:lnTo>
                  <a:pt x="92763" y="450641"/>
                </a:lnTo>
                <a:lnTo>
                  <a:pt x="61297" y="419845"/>
                </a:lnTo>
                <a:lnTo>
                  <a:pt x="35550" y="384176"/>
                </a:lnTo>
                <a:lnTo>
                  <a:pt x="16258" y="344355"/>
                </a:lnTo>
                <a:lnTo>
                  <a:pt x="4162" y="301100"/>
                </a:lnTo>
                <a:lnTo>
                  <a:pt x="0" y="255130"/>
                </a:lnTo>
                <a:lnTo>
                  <a:pt x="4162" y="209299"/>
                </a:lnTo>
                <a:lnTo>
                  <a:pt x="16258" y="166152"/>
                </a:lnTo>
                <a:lnTo>
                  <a:pt x="35550" y="126411"/>
                </a:lnTo>
                <a:lnTo>
                  <a:pt x="61297" y="90799"/>
                </a:lnTo>
                <a:lnTo>
                  <a:pt x="92763" y="60040"/>
                </a:lnTo>
                <a:lnTo>
                  <a:pt x="129206" y="34857"/>
                </a:lnTo>
                <a:lnTo>
                  <a:pt x="169890" y="15974"/>
                </a:lnTo>
                <a:lnTo>
                  <a:pt x="214075" y="4114"/>
                </a:lnTo>
                <a:lnTo>
                  <a:pt x="261023" y="0"/>
                </a:lnTo>
                <a:lnTo>
                  <a:pt x="307966" y="4114"/>
                </a:lnTo>
                <a:lnTo>
                  <a:pt x="352150" y="15977"/>
                </a:lnTo>
                <a:lnTo>
                  <a:pt x="392835" y="34866"/>
                </a:lnTo>
                <a:lnTo>
                  <a:pt x="429286" y="60060"/>
                </a:lnTo>
                <a:lnTo>
                  <a:pt x="460762" y="90838"/>
                </a:lnTo>
                <a:lnTo>
                  <a:pt x="486529" y="126478"/>
                </a:lnTo>
                <a:lnTo>
                  <a:pt x="505846" y="166259"/>
                </a:lnTo>
                <a:lnTo>
                  <a:pt x="517978" y="209460"/>
                </a:lnTo>
                <a:lnTo>
                  <a:pt x="522185" y="255358"/>
                </a:lnTo>
                <a:lnTo>
                  <a:pt x="517978" y="301260"/>
                </a:lnTo>
                <a:lnTo>
                  <a:pt x="505846" y="344462"/>
                </a:lnTo>
                <a:lnTo>
                  <a:pt x="486529" y="384244"/>
                </a:lnTo>
                <a:lnTo>
                  <a:pt x="460762" y="419884"/>
                </a:lnTo>
                <a:lnTo>
                  <a:pt x="429286" y="450661"/>
                </a:lnTo>
                <a:lnTo>
                  <a:pt x="392835" y="475854"/>
                </a:lnTo>
                <a:lnTo>
                  <a:pt x="352150" y="494742"/>
                </a:lnTo>
                <a:lnTo>
                  <a:pt x="307966" y="506603"/>
                </a:lnTo>
                <a:lnTo>
                  <a:pt x="261023" y="510717"/>
                </a:lnTo>
                <a:close/>
              </a:path>
            </a:pathLst>
          </a:custGeom>
          <a:solidFill>
            <a:srgbClr val="D9D9D9"/>
          </a:solidFill>
        </p:spPr>
        <p:txBody>
          <a:bodyPr wrap="square" lIns="0" tIns="0" rIns="0" bIns="0" rtlCol="0"/>
          <a:lstStyle/>
          <a:p/>
        </p:txBody>
      </p:sp>
      <p:sp>
        <p:nvSpPr>
          <p:cNvPr id="9" name="object 9"/>
          <p:cNvSpPr/>
          <p:nvPr/>
        </p:nvSpPr>
        <p:spPr>
          <a:xfrm>
            <a:off x="2098548" y="1788020"/>
            <a:ext cx="521970" cy="511175"/>
          </a:xfrm>
          <a:custGeom>
            <a:avLst/>
            <a:gdLst/>
            <a:ahLst/>
            <a:cxnLst/>
            <a:rect l="l" t="t" r="r" b="b"/>
            <a:pathLst>
              <a:path w="521969" h="511175">
                <a:moveTo>
                  <a:pt x="260667" y="510705"/>
                </a:moveTo>
                <a:lnTo>
                  <a:pt x="213719" y="506591"/>
                </a:lnTo>
                <a:lnTo>
                  <a:pt x="169531" y="494729"/>
                </a:lnTo>
                <a:lnTo>
                  <a:pt x="128847" y="475841"/>
                </a:lnTo>
                <a:lnTo>
                  <a:pt x="92410" y="450648"/>
                </a:lnTo>
                <a:lnTo>
                  <a:pt x="60963" y="419871"/>
                </a:lnTo>
                <a:lnTo>
                  <a:pt x="35299" y="384325"/>
                </a:lnTo>
                <a:lnTo>
                  <a:pt x="16070" y="344599"/>
                </a:lnTo>
                <a:lnTo>
                  <a:pt x="4056" y="301470"/>
                </a:lnTo>
                <a:lnTo>
                  <a:pt x="0" y="255663"/>
                </a:lnTo>
                <a:lnTo>
                  <a:pt x="4056" y="209671"/>
                </a:lnTo>
                <a:lnTo>
                  <a:pt x="16070" y="166398"/>
                </a:lnTo>
                <a:lnTo>
                  <a:pt x="35299" y="126563"/>
                </a:lnTo>
                <a:lnTo>
                  <a:pt x="61003" y="90885"/>
                </a:lnTo>
                <a:lnTo>
                  <a:pt x="92478" y="60055"/>
                </a:lnTo>
                <a:lnTo>
                  <a:pt x="128889" y="34862"/>
                </a:lnTo>
                <a:lnTo>
                  <a:pt x="169552" y="15975"/>
                </a:lnTo>
                <a:lnTo>
                  <a:pt x="213725" y="4114"/>
                </a:lnTo>
                <a:lnTo>
                  <a:pt x="260667" y="0"/>
                </a:lnTo>
                <a:lnTo>
                  <a:pt x="307612" y="4114"/>
                </a:lnTo>
                <a:lnTo>
                  <a:pt x="351802" y="15978"/>
                </a:lnTo>
                <a:lnTo>
                  <a:pt x="392497" y="34874"/>
                </a:lnTo>
                <a:lnTo>
                  <a:pt x="428958" y="60083"/>
                </a:lnTo>
                <a:lnTo>
                  <a:pt x="460446" y="90885"/>
                </a:lnTo>
                <a:lnTo>
                  <a:pt x="486173" y="126469"/>
                </a:lnTo>
                <a:lnTo>
                  <a:pt x="505491" y="166248"/>
                </a:lnTo>
                <a:lnTo>
                  <a:pt x="517622" y="209448"/>
                </a:lnTo>
                <a:lnTo>
                  <a:pt x="521830" y="255346"/>
                </a:lnTo>
                <a:lnTo>
                  <a:pt x="517622" y="301247"/>
                </a:lnTo>
                <a:lnTo>
                  <a:pt x="505491" y="344450"/>
                </a:lnTo>
                <a:lnTo>
                  <a:pt x="486173" y="384231"/>
                </a:lnTo>
                <a:lnTo>
                  <a:pt x="460407" y="419871"/>
                </a:lnTo>
                <a:lnTo>
                  <a:pt x="428890" y="450676"/>
                </a:lnTo>
                <a:lnTo>
                  <a:pt x="392454" y="475853"/>
                </a:lnTo>
                <a:lnTo>
                  <a:pt x="351781" y="494732"/>
                </a:lnTo>
                <a:lnTo>
                  <a:pt x="307606" y="506591"/>
                </a:lnTo>
                <a:lnTo>
                  <a:pt x="260667" y="510705"/>
                </a:lnTo>
                <a:close/>
              </a:path>
            </a:pathLst>
          </a:custGeom>
          <a:solidFill>
            <a:srgbClr val="A6A6A6"/>
          </a:solidFill>
        </p:spPr>
        <p:txBody>
          <a:bodyPr wrap="square" lIns="0" tIns="0" rIns="0" bIns="0" rtlCol="0"/>
          <a:lstStyle/>
          <a:p/>
        </p:txBody>
      </p:sp>
      <p:sp>
        <p:nvSpPr>
          <p:cNvPr id="10" name="object 10"/>
          <p:cNvSpPr txBox="1"/>
          <p:nvPr/>
        </p:nvSpPr>
        <p:spPr>
          <a:xfrm>
            <a:off x="2243112" y="1760575"/>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2</a:t>
            </a:r>
            <a:endParaRPr sz="3200">
              <a:latin typeface="Calibri" panose="020F0502020204030204"/>
              <a:cs typeface="Calibri" panose="020F0502020204030204"/>
            </a:endParaRPr>
          </a:p>
        </p:txBody>
      </p:sp>
      <p:sp>
        <p:nvSpPr>
          <p:cNvPr id="11" name="object 11"/>
          <p:cNvSpPr/>
          <p:nvPr/>
        </p:nvSpPr>
        <p:spPr>
          <a:xfrm>
            <a:off x="2394204" y="2441448"/>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12" name="object 12"/>
          <p:cNvSpPr/>
          <p:nvPr/>
        </p:nvSpPr>
        <p:spPr>
          <a:xfrm>
            <a:off x="8916923" y="2441854"/>
            <a:ext cx="522605" cy="511175"/>
          </a:xfrm>
          <a:custGeom>
            <a:avLst/>
            <a:gdLst/>
            <a:ahLst/>
            <a:cxnLst/>
            <a:rect l="l" t="t" r="r" b="b"/>
            <a:pathLst>
              <a:path w="522604" h="511175">
                <a:moveTo>
                  <a:pt x="261023" y="510705"/>
                </a:moveTo>
                <a:lnTo>
                  <a:pt x="214074" y="506591"/>
                </a:lnTo>
                <a:lnTo>
                  <a:pt x="169884" y="494729"/>
                </a:lnTo>
                <a:lnTo>
                  <a:pt x="129192" y="475842"/>
                </a:lnTo>
                <a:lnTo>
                  <a:pt x="92739" y="450649"/>
                </a:lnTo>
                <a:lnTo>
                  <a:pt x="61264" y="419873"/>
                </a:lnTo>
                <a:lnTo>
                  <a:pt x="35550" y="384314"/>
                </a:lnTo>
                <a:lnTo>
                  <a:pt x="16258" y="344581"/>
                </a:lnTo>
                <a:lnTo>
                  <a:pt x="4162" y="301444"/>
                </a:lnTo>
                <a:lnTo>
                  <a:pt x="0" y="255625"/>
                </a:lnTo>
                <a:lnTo>
                  <a:pt x="4162" y="209644"/>
                </a:lnTo>
                <a:lnTo>
                  <a:pt x="16258" y="166380"/>
                </a:lnTo>
                <a:lnTo>
                  <a:pt x="35550" y="126552"/>
                </a:lnTo>
                <a:lnTo>
                  <a:pt x="61344" y="90833"/>
                </a:lnTo>
                <a:lnTo>
                  <a:pt x="92796" y="60056"/>
                </a:lnTo>
                <a:lnTo>
                  <a:pt x="129228" y="34863"/>
                </a:lnTo>
                <a:lnTo>
                  <a:pt x="169901" y="15975"/>
                </a:lnTo>
                <a:lnTo>
                  <a:pt x="214079" y="4114"/>
                </a:lnTo>
                <a:lnTo>
                  <a:pt x="261023" y="0"/>
                </a:lnTo>
                <a:lnTo>
                  <a:pt x="307968" y="4114"/>
                </a:lnTo>
                <a:lnTo>
                  <a:pt x="352156" y="15978"/>
                </a:lnTo>
                <a:lnTo>
                  <a:pt x="392850" y="34873"/>
                </a:lnTo>
                <a:lnTo>
                  <a:pt x="429309" y="60079"/>
                </a:lnTo>
                <a:lnTo>
                  <a:pt x="460795" y="90879"/>
                </a:lnTo>
                <a:lnTo>
                  <a:pt x="486529" y="126473"/>
                </a:lnTo>
                <a:lnTo>
                  <a:pt x="505846" y="166254"/>
                </a:lnTo>
                <a:lnTo>
                  <a:pt x="517978" y="209457"/>
                </a:lnTo>
                <a:lnTo>
                  <a:pt x="522185" y="255358"/>
                </a:lnTo>
                <a:lnTo>
                  <a:pt x="517978" y="301256"/>
                </a:lnTo>
                <a:lnTo>
                  <a:pt x="505846" y="344456"/>
                </a:lnTo>
                <a:lnTo>
                  <a:pt x="486529" y="384235"/>
                </a:lnTo>
                <a:lnTo>
                  <a:pt x="460716" y="419919"/>
                </a:lnTo>
                <a:lnTo>
                  <a:pt x="429252" y="450673"/>
                </a:lnTo>
                <a:lnTo>
                  <a:pt x="392814" y="475852"/>
                </a:lnTo>
                <a:lnTo>
                  <a:pt x="352139" y="494732"/>
                </a:lnTo>
                <a:lnTo>
                  <a:pt x="307962" y="506591"/>
                </a:lnTo>
                <a:lnTo>
                  <a:pt x="261023" y="510705"/>
                </a:lnTo>
                <a:close/>
              </a:path>
            </a:pathLst>
          </a:custGeom>
          <a:solidFill>
            <a:srgbClr val="D9D9D9"/>
          </a:solidFill>
        </p:spPr>
        <p:txBody>
          <a:bodyPr wrap="square" lIns="0" tIns="0" rIns="0" bIns="0" rtlCol="0"/>
          <a:lstStyle/>
          <a:p/>
        </p:txBody>
      </p:sp>
      <p:sp>
        <p:nvSpPr>
          <p:cNvPr id="13" name="object 13"/>
          <p:cNvSpPr/>
          <p:nvPr/>
        </p:nvSpPr>
        <p:spPr>
          <a:xfrm>
            <a:off x="2098548" y="2441308"/>
            <a:ext cx="521970" cy="511175"/>
          </a:xfrm>
          <a:custGeom>
            <a:avLst/>
            <a:gdLst/>
            <a:ahLst/>
            <a:cxnLst/>
            <a:rect l="l" t="t" r="r" b="b"/>
            <a:pathLst>
              <a:path w="521969" h="511175">
                <a:moveTo>
                  <a:pt x="260667" y="510717"/>
                </a:moveTo>
                <a:lnTo>
                  <a:pt x="213720" y="506602"/>
                </a:lnTo>
                <a:lnTo>
                  <a:pt x="169539" y="494732"/>
                </a:lnTo>
                <a:lnTo>
                  <a:pt x="128864" y="475825"/>
                </a:lnTo>
                <a:lnTo>
                  <a:pt x="92438" y="450594"/>
                </a:lnTo>
                <a:lnTo>
                  <a:pt x="61003" y="419757"/>
                </a:lnTo>
                <a:lnTo>
                  <a:pt x="35299" y="384028"/>
                </a:lnTo>
                <a:lnTo>
                  <a:pt x="16070" y="344123"/>
                </a:lnTo>
                <a:lnTo>
                  <a:pt x="4056" y="300757"/>
                </a:lnTo>
                <a:lnTo>
                  <a:pt x="0" y="254647"/>
                </a:lnTo>
                <a:lnTo>
                  <a:pt x="4056" y="208957"/>
                </a:lnTo>
                <a:lnTo>
                  <a:pt x="16070" y="165920"/>
                </a:lnTo>
                <a:lnTo>
                  <a:pt x="35299" y="126262"/>
                </a:lnTo>
                <a:lnTo>
                  <a:pt x="61003" y="90711"/>
                </a:lnTo>
                <a:lnTo>
                  <a:pt x="92438" y="59993"/>
                </a:lnTo>
                <a:lnTo>
                  <a:pt x="128864" y="34837"/>
                </a:lnTo>
                <a:lnTo>
                  <a:pt x="169539" y="15967"/>
                </a:lnTo>
                <a:lnTo>
                  <a:pt x="213720" y="4113"/>
                </a:lnTo>
                <a:lnTo>
                  <a:pt x="260667" y="0"/>
                </a:lnTo>
                <a:lnTo>
                  <a:pt x="307611" y="4114"/>
                </a:lnTo>
                <a:lnTo>
                  <a:pt x="351794" y="15975"/>
                </a:lnTo>
                <a:lnTo>
                  <a:pt x="392480" y="34863"/>
                </a:lnTo>
                <a:lnTo>
                  <a:pt x="428930" y="60056"/>
                </a:lnTo>
                <a:lnTo>
                  <a:pt x="460407" y="90833"/>
                </a:lnTo>
                <a:lnTo>
                  <a:pt x="486173" y="126473"/>
                </a:lnTo>
                <a:lnTo>
                  <a:pt x="505491" y="166254"/>
                </a:lnTo>
                <a:lnTo>
                  <a:pt x="517622" y="209457"/>
                </a:lnTo>
                <a:lnTo>
                  <a:pt x="521830" y="255358"/>
                </a:lnTo>
                <a:lnTo>
                  <a:pt x="517622" y="301257"/>
                </a:lnTo>
                <a:lnTo>
                  <a:pt x="505491" y="344457"/>
                </a:lnTo>
                <a:lnTo>
                  <a:pt x="486173" y="384238"/>
                </a:lnTo>
                <a:lnTo>
                  <a:pt x="460407" y="419879"/>
                </a:lnTo>
                <a:lnTo>
                  <a:pt x="428930" y="450657"/>
                </a:lnTo>
                <a:lnTo>
                  <a:pt x="392480" y="475851"/>
                </a:lnTo>
                <a:lnTo>
                  <a:pt x="351794" y="494740"/>
                </a:lnTo>
                <a:lnTo>
                  <a:pt x="307611" y="506603"/>
                </a:lnTo>
                <a:lnTo>
                  <a:pt x="260667" y="510717"/>
                </a:lnTo>
                <a:close/>
              </a:path>
            </a:pathLst>
          </a:custGeom>
          <a:solidFill>
            <a:srgbClr val="A6A6A6"/>
          </a:solidFill>
        </p:spPr>
        <p:txBody>
          <a:bodyPr wrap="square" lIns="0" tIns="0" rIns="0" bIns="0" rtlCol="0"/>
          <a:lstStyle/>
          <a:p/>
        </p:txBody>
      </p:sp>
      <p:sp>
        <p:nvSpPr>
          <p:cNvPr id="14" name="object 14"/>
          <p:cNvSpPr txBox="1"/>
          <p:nvPr/>
        </p:nvSpPr>
        <p:spPr>
          <a:xfrm>
            <a:off x="2243112" y="2413863"/>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3</a:t>
            </a:r>
            <a:endParaRPr sz="3200">
              <a:latin typeface="Calibri" panose="020F0502020204030204"/>
              <a:cs typeface="Calibri" panose="020F0502020204030204"/>
            </a:endParaRPr>
          </a:p>
        </p:txBody>
      </p:sp>
      <p:sp>
        <p:nvSpPr>
          <p:cNvPr id="15" name="object 15"/>
          <p:cNvSpPr/>
          <p:nvPr/>
        </p:nvSpPr>
        <p:spPr>
          <a:xfrm>
            <a:off x="2394204" y="3095244"/>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16" name="object 16"/>
          <p:cNvSpPr/>
          <p:nvPr/>
        </p:nvSpPr>
        <p:spPr>
          <a:xfrm>
            <a:off x="8916923" y="3095142"/>
            <a:ext cx="522605" cy="511175"/>
          </a:xfrm>
          <a:custGeom>
            <a:avLst/>
            <a:gdLst/>
            <a:ahLst/>
            <a:cxnLst/>
            <a:rect l="l" t="t" r="r" b="b"/>
            <a:pathLst>
              <a:path w="522604" h="511175">
                <a:moveTo>
                  <a:pt x="261099" y="510781"/>
                </a:moveTo>
                <a:lnTo>
                  <a:pt x="214148" y="506666"/>
                </a:lnTo>
                <a:lnTo>
                  <a:pt x="169948" y="494803"/>
                </a:lnTo>
                <a:lnTo>
                  <a:pt x="129240" y="475914"/>
                </a:lnTo>
                <a:lnTo>
                  <a:pt x="92832" y="450783"/>
                </a:lnTo>
                <a:lnTo>
                  <a:pt x="61360" y="420064"/>
                </a:lnTo>
                <a:lnTo>
                  <a:pt x="35603" y="384513"/>
                </a:lnTo>
                <a:lnTo>
                  <a:pt x="16299" y="344855"/>
                </a:lnTo>
                <a:lnTo>
                  <a:pt x="4185" y="301820"/>
                </a:lnTo>
                <a:lnTo>
                  <a:pt x="0" y="256133"/>
                </a:lnTo>
                <a:lnTo>
                  <a:pt x="4185" y="210007"/>
                </a:lnTo>
                <a:lnTo>
                  <a:pt x="16299" y="166629"/>
                </a:lnTo>
                <a:lnTo>
                  <a:pt x="35603" y="126714"/>
                </a:lnTo>
                <a:lnTo>
                  <a:pt x="61360" y="90976"/>
                </a:lnTo>
                <a:lnTo>
                  <a:pt x="92832" y="60132"/>
                </a:lnTo>
                <a:lnTo>
                  <a:pt x="129339" y="34870"/>
                </a:lnTo>
                <a:lnTo>
                  <a:pt x="169996" y="15978"/>
                </a:lnTo>
                <a:lnTo>
                  <a:pt x="214163" y="4114"/>
                </a:lnTo>
                <a:lnTo>
                  <a:pt x="261099" y="0"/>
                </a:lnTo>
                <a:lnTo>
                  <a:pt x="308047" y="4115"/>
                </a:lnTo>
                <a:lnTo>
                  <a:pt x="352245" y="15987"/>
                </a:lnTo>
                <a:lnTo>
                  <a:pt x="392954" y="34897"/>
                </a:lnTo>
                <a:lnTo>
                  <a:pt x="429367" y="60068"/>
                </a:lnTo>
                <a:lnTo>
                  <a:pt x="460846" y="90850"/>
                </a:lnTo>
                <a:lnTo>
                  <a:pt x="486614" y="126495"/>
                </a:lnTo>
                <a:lnTo>
                  <a:pt x="505933" y="166282"/>
                </a:lnTo>
                <a:lnTo>
                  <a:pt x="518066" y="209490"/>
                </a:lnTo>
                <a:lnTo>
                  <a:pt x="522274" y="255397"/>
                </a:lnTo>
                <a:lnTo>
                  <a:pt x="518066" y="301303"/>
                </a:lnTo>
                <a:lnTo>
                  <a:pt x="505933" y="344509"/>
                </a:lnTo>
                <a:lnTo>
                  <a:pt x="486614" y="384294"/>
                </a:lnTo>
                <a:lnTo>
                  <a:pt x="460846" y="419938"/>
                </a:lnTo>
                <a:lnTo>
                  <a:pt x="429367" y="450718"/>
                </a:lnTo>
                <a:lnTo>
                  <a:pt x="392856" y="475941"/>
                </a:lnTo>
                <a:lnTo>
                  <a:pt x="352198" y="494812"/>
                </a:lnTo>
                <a:lnTo>
                  <a:pt x="308031" y="506667"/>
                </a:lnTo>
                <a:lnTo>
                  <a:pt x="261099" y="510781"/>
                </a:lnTo>
                <a:close/>
              </a:path>
            </a:pathLst>
          </a:custGeom>
          <a:solidFill>
            <a:srgbClr val="D9D9D9"/>
          </a:solidFill>
        </p:spPr>
        <p:txBody>
          <a:bodyPr wrap="square" lIns="0" tIns="0" rIns="0" bIns="0" rtlCol="0"/>
          <a:lstStyle/>
          <a:p/>
        </p:txBody>
      </p:sp>
      <p:sp>
        <p:nvSpPr>
          <p:cNvPr id="17" name="object 17"/>
          <p:cNvSpPr/>
          <p:nvPr/>
        </p:nvSpPr>
        <p:spPr>
          <a:xfrm>
            <a:off x="2098548" y="3094596"/>
            <a:ext cx="521970" cy="511175"/>
          </a:xfrm>
          <a:custGeom>
            <a:avLst/>
            <a:gdLst/>
            <a:ahLst/>
            <a:cxnLst/>
            <a:rect l="l" t="t" r="r" b="b"/>
            <a:pathLst>
              <a:path w="521969" h="511175">
                <a:moveTo>
                  <a:pt x="260667" y="510794"/>
                </a:moveTo>
                <a:lnTo>
                  <a:pt x="213720" y="506678"/>
                </a:lnTo>
                <a:lnTo>
                  <a:pt x="169539" y="494812"/>
                </a:lnTo>
                <a:lnTo>
                  <a:pt x="128864" y="475914"/>
                </a:lnTo>
                <a:lnTo>
                  <a:pt x="92438" y="450704"/>
                </a:lnTo>
                <a:lnTo>
                  <a:pt x="61003" y="419902"/>
                </a:lnTo>
                <a:lnTo>
                  <a:pt x="35299" y="384226"/>
                </a:lnTo>
                <a:lnTo>
                  <a:pt x="16070" y="344397"/>
                </a:lnTo>
                <a:lnTo>
                  <a:pt x="4056" y="301133"/>
                </a:lnTo>
                <a:lnTo>
                  <a:pt x="0" y="255155"/>
                </a:lnTo>
                <a:lnTo>
                  <a:pt x="4056" y="209321"/>
                </a:lnTo>
                <a:lnTo>
                  <a:pt x="16070" y="166169"/>
                </a:lnTo>
                <a:lnTo>
                  <a:pt x="35299" y="126424"/>
                </a:lnTo>
                <a:lnTo>
                  <a:pt x="61003" y="90808"/>
                </a:lnTo>
                <a:lnTo>
                  <a:pt x="92438" y="60046"/>
                </a:lnTo>
                <a:lnTo>
                  <a:pt x="128864" y="34861"/>
                </a:lnTo>
                <a:lnTo>
                  <a:pt x="169539" y="15976"/>
                </a:lnTo>
                <a:lnTo>
                  <a:pt x="213720" y="4114"/>
                </a:lnTo>
                <a:lnTo>
                  <a:pt x="260667" y="0"/>
                </a:lnTo>
                <a:lnTo>
                  <a:pt x="307611" y="4114"/>
                </a:lnTo>
                <a:lnTo>
                  <a:pt x="351796" y="15978"/>
                </a:lnTo>
                <a:lnTo>
                  <a:pt x="392483" y="34870"/>
                </a:lnTo>
                <a:lnTo>
                  <a:pt x="428935" y="60068"/>
                </a:lnTo>
                <a:lnTo>
                  <a:pt x="460414" y="90850"/>
                </a:lnTo>
                <a:lnTo>
                  <a:pt x="486182" y="126495"/>
                </a:lnTo>
                <a:lnTo>
                  <a:pt x="505502" y="166282"/>
                </a:lnTo>
                <a:lnTo>
                  <a:pt x="517634" y="209490"/>
                </a:lnTo>
                <a:lnTo>
                  <a:pt x="521843" y="255397"/>
                </a:lnTo>
                <a:lnTo>
                  <a:pt x="517634" y="301303"/>
                </a:lnTo>
                <a:lnTo>
                  <a:pt x="505502" y="344511"/>
                </a:lnTo>
                <a:lnTo>
                  <a:pt x="486182" y="384298"/>
                </a:lnTo>
                <a:lnTo>
                  <a:pt x="460414" y="419943"/>
                </a:lnTo>
                <a:lnTo>
                  <a:pt x="428935" y="450725"/>
                </a:lnTo>
                <a:lnTo>
                  <a:pt x="392483" y="475923"/>
                </a:lnTo>
                <a:lnTo>
                  <a:pt x="351796" y="494815"/>
                </a:lnTo>
                <a:lnTo>
                  <a:pt x="307611" y="506679"/>
                </a:lnTo>
                <a:lnTo>
                  <a:pt x="260667" y="510794"/>
                </a:lnTo>
                <a:close/>
              </a:path>
            </a:pathLst>
          </a:custGeom>
          <a:solidFill>
            <a:srgbClr val="A6A6A6"/>
          </a:solidFill>
        </p:spPr>
        <p:txBody>
          <a:bodyPr wrap="square" lIns="0" tIns="0" rIns="0" bIns="0" rtlCol="0"/>
          <a:lstStyle/>
          <a:p/>
        </p:txBody>
      </p:sp>
      <p:sp>
        <p:nvSpPr>
          <p:cNvPr id="18" name="object 18"/>
          <p:cNvSpPr txBox="1"/>
          <p:nvPr/>
        </p:nvSpPr>
        <p:spPr>
          <a:xfrm>
            <a:off x="2243112" y="3067164"/>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4</a:t>
            </a:r>
            <a:endParaRPr sz="3200">
              <a:latin typeface="Calibri" panose="020F0502020204030204"/>
              <a:cs typeface="Calibri" panose="020F0502020204030204"/>
            </a:endParaRPr>
          </a:p>
        </p:txBody>
      </p:sp>
      <p:sp>
        <p:nvSpPr>
          <p:cNvPr id="19" name="object 19"/>
          <p:cNvSpPr/>
          <p:nvPr/>
        </p:nvSpPr>
        <p:spPr>
          <a:xfrm>
            <a:off x="2394204" y="3749040"/>
            <a:ext cx="6791325" cy="509270"/>
          </a:xfrm>
          <a:custGeom>
            <a:avLst/>
            <a:gdLst/>
            <a:ahLst/>
            <a:cxnLst/>
            <a:rect l="l" t="t" r="r" b="b"/>
            <a:pathLst>
              <a:path w="6791325" h="509270">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20" name="object 20"/>
          <p:cNvSpPr/>
          <p:nvPr/>
        </p:nvSpPr>
        <p:spPr>
          <a:xfrm>
            <a:off x="8916923" y="3748443"/>
            <a:ext cx="522605" cy="511175"/>
          </a:xfrm>
          <a:custGeom>
            <a:avLst/>
            <a:gdLst/>
            <a:ahLst/>
            <a:cxnLst/>
            <a:rect l="l" t="t" r="r" b="b"/>
            <a:pathLst>
              <a:path w="522604" h="511175">
                <a:moveTo>
                  <a:pt x="261023" y="510705"/>
                </a:moveTo>
                <a:lnTo>
                  <a:pt x="214075" y="506590"/>
                </a:lnTo>
                <a:lnTo>
                  <a:pt x="169890" y="494726"/>
                </a:lnTo>
                <a:lnTo>
                  <a:pt x="129206" y="475832"/>
                </a:lnTo>
                <a:lnTo>
                  <a:pt x="92763" y="450627"/>
                </a:lnTo>
                <a:lnTo>
                  <a:pt x="61297" y="419830"/>
                </a:lnTo>
                <a:lnTo>
                  <a:pt x="35550" y="384160"/>
                </a:lnTo>
                <a:lnTo>
                  <a:pt x="16258" y="344336"/>
                </a:lnTo>
                <a:lnTo>
                  <a:pt x="4162" y="301078"/>
                </a:lnTo>
                <a:lnTo>
                  <a:pt x="0" y="255104"/>
                </a:lnTo>
                <a:lnTo>
                  <a:pt x="4162" y="209278"/>
                </a:lnTo>
                <a:lnTo>
                  <a:pt x="16258" y="166135"/>
                </a:lnTo>
                <a:lnTo>
                  <a:pt x="35550" y="126397"/>
                </a:lnTo>
                <a:lnTo>
                  <a:pt x="61297" y="90789"/>
                </a:lnTo>
                <a:lnTo>
                  <a:pt x="92763" y="60034"/>
                </a:lnTo>
                <a:lnTo>
                  <a:pt x="129206" y="34853"/>
                </a:lnTo>
                <a:lnTo>
                  <a:pt x="169890" y="15972"/>
                </a:lnTo>
                <a:lnTo>
                  <a:pt x="214075" y="4113"/>
                </a:lnTo>
                <a:lnTo>
                  <a:pt x="261023" y="0"/>
                </a:lnTo>
                <a:lnTo>
                  <a:pt x="307966" y="4114"/>
                </a:lnTo>
                <a:lnTo>
                  <a:pt x="352150" y="15975"/>
                </a:lnTo>
                <a:lnTo>
                  <a:pt x="392835" y="34862"/>
                </a:lnTo>
                <a:lnTo>
                  <a:pt x="429286" y="60055"/>
                </a:lnTo>
                <a:lnTo>
                  <a:pt x="460762" y="90831"/>
                </a:lnTo>
                <a:lnTo>
                  <a:pt x="486529" y="126469"/>
                </a:lnTo>
                <a:lnTo>
                  <a:pt x="505846" y="166248"/>
                </a:lnTo>
                <a:lnTo>
                  <a:pt x="517978" y="209448"/>
                </a:lnTo>
                <a:lnTo>
                  <a:pt x="522185" y="255346"/>
                </a:lnTo>
                <a:lnTo>
                  <a:pt x="517978" y="301247"/>
                </a:lnTo>
                <a:lnTo>
                  <a:pt x="505846" y="344450"/>
                </a:lnTo>
                <a:lnTo>
                  <a:pt x="486529" y="384231"/>
                </a:lnTo>
                <a:lnTo>
                  <a:pt x="460762" y="419871"/>
                </a:lnTo>
                <a:lnTo>
                  <a:pt x="429286" y="450648"/>
                </a:lnTo>
                <a:lnTo>
                  <a:pt x="392835" y="475841"/>
                </a:lnTo>
                <a:lnTo>
                  <a:pt x="352150" y="494729"/>
                </a:lnTo>
                <a:lnTo>
                  <a:pt x="307966" y="506591"/>
                </a:lnTo>
                <a:lnTo>
                  <a:pt x="261023" y="510705"/>
                </a:lnTo>
                <a:close/>
              </a:path>
            </a:pathLst>
          </a:custGeom>
          <a:solidFill>
            <a:srgbClr val="D9D9D9"/>
          </a:solidFill>
        </p:spPr>
        <p:txBody>
          <a:bodyPr wrap="square" lIns="0" tIns="0" rIns="0" bIns="0" rtlCol="0"/>
          <a:lstStyle/>
          <a:p/>
        </p:txBody>
      </p:sp>
      <p:sp>
        <p:nvSpPr>
          <p:cNvPr id="21" name="object 21"/>
          <p:cNvSpPr/>
          <p:nvPr/>
        </p:nvSpPr>
        <p:spPr>
          <a:xfrm>
            <a:off x="2098548" y="3747896"/>
            <a:ext cx="521970" cy="511175"/>
          </a:xfrm>
          <a:custGeom>
            <a:avLst/>
            <a:gdLst/>
            <a:ahLst/>
            <a:cxnLst/>
            <a:rect l="l" t="t" r="r" b="b"/>
            <a:pathLst>
              <a:path w="521969" h="511175">
                <a:moveTo>
                  <a:pt x="260667" y="510705"/>
                </a:moveTo>
                <a:lnTo>
                  <a:pt x="213719" y="506591"/>
                </a:lnTo>
                <a:lnTo>
                  <a:pt x="169532" y="494729"/>
                </a:lnTo>
                <a:lnTo>
                  <a:pt x="128848" y="475842"/>
                </a:lnTo>
                <a:lnTo>
                  <a:pt x="92412" y="450649"/>
                </a:lnTo>
                <a:lnTo>
                  <a:pt x="60967" y="419873"/>
                </a:lnTo>
                <a:lnTo>
                  <a:pt x="35299" y="384322"/>
                </a:lnTo>
                <a:lnTo>
                  <a:pt x="16070" y="344593"/>
                </a:lnTo>
                <a:lnTo>
                  <a:pt x="4056" y="301462"/>
                </a:lnTo>
                <a:lnTo>
                  <a:pt x="0" y="255650"/>
                </a:lnTo>
                <a:lnTo>
                  <a:pt x="4056" y="209662"/>
                </a:lnTo>
                <a:lnTo>
                  <a:pt x="16070" y="166392"/>
                </a:lnTo>
                <a:lnTo>
                  <a:pt x="35299" y="126559"/>
                </a:lnTo>
                <a:lnTo>
                  <a:pt x="61054" y="90833"/>
                </a:lnTo>
                <a:lnTo>
                  <a:pt x="92475" y="60056"/>
                </a:lnTo>
                <a:lnTo>
                  <a:pt x="128887" y="34863"/>
                </a:lnTo>
                <a:lnTo>
                  <a:pt x="169551" y="15975"/>
                </a:lnTo>
                <a:lnTo>
                  <a:pt x="213725" y="4114"/>
                </a:lnTo>
                <a:lnTo>
                  <a:pt x="260667" y="0"/>
                </a:lnTo>
                <a:lnTo>
                  <a:pt x="307612" y="4114"/>
                </a:lnTo>
                <a:lnTo>
                  <a:pt x="351801" y="15978"/>
                </a:lnTo>
                <a:lnTo>
                  <a:pt x="392495" y="34874"/>
                </a:lnTo>
                <a:lnTo>
                  <a:pt x="428956" y="60081"/>
                </a:lnTo>
                <a:lnTo>
                  <a:pt x="460443" y="90883"/>
                </a:lnTo>
                <a:lnTo>
                  <a:pt x="486173" y="126473"/>
                </a:lnTo>
                <a:lnTo>
                  <a:pt x="505491" y="166254"/>
                </a:lnTo>
                <a:lnTo>
                  <a:pt x="517622" y="209457"/>
                </a:lnTo>
                <a:lnTo>
                  <a:pt x="521830" y="255358"/>
                </a:lnTo>
                <a:lnTo>
                  <a:pt x="517622" y="301256"/>
                </a:lnTo>
                <a:lnTo>
                  <a:pt x="505491" y="344456"/>
                </a:lnTo>
                <a:lnTo>
                  <a:pt x="486173" y="384235"/>
                </a:lnTo>
                <a:lnTo>
                  <a:pt x="460356" y="419924"/>
                </a:lnTo>
                <a:lnTo>
                  <a:pt x="428893" y="450675"/>
                </a:lnTo>
                <a:lnTo>
                  <a:pt x="392457" y="475853"/>
                </a:lnTo>
                <a:lnTo>
                  <a:pt x="351782" y="494732"/>
                </a:lnTo>
                <a:lnTo>
                  <a:pt x="307606" y="506591"/>
                </a:lnTo>
                <a:lnTo>
                  <a:pt x="260667" y="510705"/>
                </a:lnTo>
                <a:close/>
              </a:path>
            </a:pathLst>
          </a:custGeom>
          <a:solidFill>
            <a:srgbClr val="A6A6A6"/>
          </a:solidFill>
        </p:spPr>
        <p:txBody>
          <a:bodyPr wrap="square" lIns="0" tIns="0" rIns="0" bIns="0" rtlCol="0"/>
          <a:lstStyle/>
          <a:p/>
        </p:txBody>
      </p:sp>
      <p:sp>
        <p:nvSpPr>
          <p:cNvPr id="22" name="object 22"/>
          <p:cNvSpPr txBox="1"/>
          <p:nvPr/>
        </p:nvSpPr>
        <p:spPr>
          <a:xfrm>
            <a:off x="2243112" y="3720452"/>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5</a:t>
            </a:r>
            <a:endParaRPr sz="3200">
              <a:latin typeface="Calibri" panose="020F0502020204030204"/>
              <a:cs typeface="Calibri" panose="020F0502020204030204"/>
            </a:endParaRPr>
          </a:p>
        </p:txBody>
      </p:sp>
      <p:sp>
        <p:nvSpPr>
          <p:cNvPr id="23" name="object 23"/>
          <p:cNvSpPr/>
          <p:nvPr/>
        </p:nvSpPr>
        <p:spPr>
          <a:xfrm>
            <a:off x="2394204" y="4401311"/>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24" name="object 24"/>
          <p:cNvSpPr/>
          <p:nvPr/>
        </p:nvSpPr>
        <p:spPr>
          <a:xfrm>
            <a:off x="8916923" y="4401730"/>
            <a:ext cx="522605" cy="511175"/>
          </a:xfrm>
          <a:custGeom>
            <a:avLst/>
            <a:gdLst/>
            <a:ahLst/>
            <a:cxnLst/>
            <a:rect l="l" t="t" r="r" b="b"/>
            <a:pathLst>
              <a:path w="522604" h="511175">
                <a:moveTo>
                  <a:pt x="261023" y="510705"/>
                </a:moveTo>
                <a:lnTo>
                  <a:pt x="214074" y="506591"/>
                </a:lnTo>
                <a:lnTo>
                  <a:pt x="169884" y="494729"/>
                </a:lnTo>
                <a:lnTo>
                  <a:pt x="129193" y="475842"/>
                </a:lnTo>
                <a:lnTo>
                  <a:pt x="92740" y="450649"/>
                </a:lnTo>
                <a:lnTo>
                  <a:pt x="61266" y="419873"/>
                </a:lnTo>
                <a:lnTo>
                  <a:pt x="35550" y="384310"/>
                </a:lnTo>
                <a:lnTo>
                  <a:pt x="16258" y="344575"/>
                </a:lnTo>
                <a:lnTo>
                  <a:pt x="4162" y="301435"/>
                </a:lnTo>
                <a:lnTo>
                  <a:pt x="0" y="255612"/>
                </a:lnTo>
                <a:lnTo>
                  <a:pt x="4162" y="209635"/>
                </a:lnTo>
                <a:lnTo>
                  <a:pt x="16258" y="166374"/>
                </a:lnTo>
                <a:lnTo>
                  <a:pt x="35550" y="126548"/>
                </a:lnTo>
                <a:lnTo>
                  <a:pt x="61342" y="90833"/>
                </a:lnTo>
                <a:lnTo>
                  <a:pt x="92795" y="60056"/>
                </a:lnTo>
                <a:lnTo>
                  <a:pt x="129227" y="34863"/>
                </a:lnTo>
                <a:lnTo>
                  <a:pt x="169901" y="15975"/>
                </a:lnTo>
                <a:lnTo>
                  <a:pt x="214079" y="4114"/>
                </a:lnTo>
                <a:lnTo>
                  <a:pt x="261023" y="0"/>
                </a:lnTo>
                <a:lnTo>
                  <a:pt x="307968" y="4114"/>
                </a:lnTo>
                <a:lnTo>
                  <a:pt x="352156" y="15978"/>
                </a:lnTo>
                <a:lnTo>
                  <a:pt x="392849" y="34872"/>
                </a:lnTo>
                <a:lnTo>
                  <a:pt x="429308" y="60078"/>
                </a:lnTo>
                <a:lnTo>
                  <a:pt x="460794" y="90876"/>
                </a:lnTo>
                <a:lnTo>
                  <a:pt x="486529" y="126473"/>
                </a:lnTo>
                <a:lnTo>
                  <a:pt x="505846" y="166254"/>
                </a:lnTo>
                <a:lnTo>
                  <a:pt x="517978" y="209457"/>
                </a:lnTo>
                <a:lnTo>
                  <a:pt x="522185" y="255358"/>
                </a:lnTo>
                <a:lnTo>
                  <a:pt x="517978" y="301256"/>
                </a:lnTo>
                <a:lnTo>
                  <a:pt x="505846" y="344456"/>
                </a:lnTo>
                <a:lnTo>
                  <a:pt x="486529" y="384235"/>
                </a:lnTo>
                <a:lnTo>
                  <a:pt x="460718" y="419917"/>
                </a:lnTo>
                <a:lnTo>
                  <a:pt x="429253" y="450672"/>
                </a:lnTo>
                <a:lnTo>
                  <a:pt x="392815" y="475851"/>
                </a:lnTo>
                <a:lnTo>
                  <a:pt x="352139" y="494732"/>
                </a:lnTo>
                <a:lnTo>
                  <a:pt x="307962" y="506591"/>
                </a:lnTo>
                <a:lnTo>
                  <a:pt x="261023" y="510705"/>
                </a:lnTo>
                <a:close/>
              </a:path>
            </a:pathLst>
          </a:custGeom>
          <a:solidFill>
            <a:srgbClr val="D9D9D9"/>
          </a:solidFill>
        </p:spPr>
        <p:txBody>
          <a:bodyPr wrap="square" lIns="0" tIns="0" rIns="0" bIns="0" rtlCol="0"/>
          <a:lstStyle/>
          <a:p/>
        </p:txBody>
      </p:sp>
      <p:sp>
        <p:nvSpPr>
          <p:cNvPr id="25" name="object 25"/>
          <p:cNvSpPr/>
          <p:nvPr/>
        </p:nvSpPr>
        <p:spPr>
          <a:xfrm>
            <a:off x="2098548" y="4401184"/>
            <a:ext cx="521970" cy="511175"/>
          </a:xfrm>
          <a:custGeom>
            <a:avLst/>
            <a:gdLst/>
            <a:ahLst/>
            <a:cxnLst/>
            <a:rect l="l" t="t" r="r" b="b"/>
            <a:pathLst>
              <a:path w="521969" h="511175">
                <a:moveTo>
                  <a:pt x="260667" y="510717"/>
                </a:moveTo>
                <a:lnTo>
                  <a:pt x="213720" y="506602"/>
                </a:lnTo>
                <a:lnTo>
                  <a:pt x="169539" y="494734"/>
                </a:lnTo>
                <a:lnTo>
                  <a:pt x="128864" y="475827"/>
                </a:lnTo>
                <a:lnTo>
                  <a:pt x="92438" y="450597"/>
                </a:lnTo>
                <a:lnTo>
                  <a:pt x="61003" y="419760"/>
                </a:lnTo>
                <a:lnTo>
                  <a:pt x="35299" y="384030"/>
                </a:lnTo>
                <a:lnTo>
                  <a:pt x="16070" y="344122"/>
                </a:lnTo>
                <a:lnTo>
                  <a:pt x="4056" y="300752"/>
                </a:lnTo>
                <a:lnTo>
                  <a:pt x="0" y="254635"/>
                </a:lnTo>
                <a:lnTo>
                  <a:pt x="4056" y="208948"/>
                </a:lnTo>
                <a:lnTo>
                  <a:pt x="16070" y="165914"/>
                </a:lnTo>
                <a:lnTo>
                  <a:pt x="35299" y="126258"/>
                </a:lnTo>
                <a:lnTo>
                  <a:pt x="61003" y="90709"/>
                </a:lnTo>
                <a:lnTo>
                  <a:pt x="92438" y="59992"/>
                </a:lnTo>
                <a:lnTo>
                  <a:pt x="128864" y="34836"/>
                </a:lnTo>
                <a:lnTo>
                  <a:pt x="169539" y="15967"/>
                </a:lnTo>
                <a:lnTo>
                  <a:pt x="213720" y="4113"/>
                </a:lnTo>
                <a:lnTo>
                  <a:pt x="260667" y="0"/>
                </a:lnTo>
                <a:lnTo>
                  <a:pt x="307611" y="4114"/>
                </a:lnTo>
                <a:lnTo>
                  <a:pt x="351794" y="15975"/>
                </a:lnTo>
                <a:lnTo>
                  <a:pt x="392480" y="34863"/>
                </a:lnTo>
                <a:lnTo>
                  <a:pt x="428930" y="60056"/>
                </a:lnTo>
                <a:lnTo>
                  <a:pt x="460407" y="90833"/>
                </a:lnTo>
                <a:lnTo>
                  <a:pt x="486173" y="126473"/>
                </a:lnTo>
                <a:lnTo>
                  <a:pt x="505491" y="166254"/>
                </a:lnTo>
                <a:lnTo>
                  <a:pt x="517622" y="209457"/>
                </a:lnTo>
                <a:lnTo>
                  <a:pt x="521830" y="255358"/>
                </a:lnTo>
                <a:lnTo>
                  <a:pt x="517622" y="301260"/>
                </a:lnTo>
                <a:lnTo>
                  <a:pt x="505491" y="344462"/>
                </a:lnTo>
                <a:lnTo>
                  <a:pt x="486173" y="384244"/>
                </a:lnTo>
                <a:lnTo>
                  <a:pt x="460407" y="419884"/>
                </a:lnTo>
                <a:lnTo>
                  <a:pt x="428930" y="450661"/>
                </a:lnTo>
                <a:lnTo>
                  <a:pt x="392480" y="475854"/>
                </a:lnTo>
                <a:lnTo>
                  <a:pt x="351794" y="494742"/>
                </a:lnTo>
                <a:lnTo>
                  <a:pt x="307611" y="506603"/>
                </a:lnTo>
                <a:lnTo>
                  <a:pt x="260667" y="510717"/>
                </a:lnTo>
                <a:close/>
              </a:path>
            </a:pathLst>
          </a:custGeom>
          <a:solidFill>
            <a:srgbClr val="A6A6A6"/>
          </a:solidFill>
        </p:spPr>
        <p:txBody>
          <a:bodyPr wrap="square" lIns="0" tIns="0" rIns="0" bIns="0" rtlCol="0"/>
          <a:lstStyle/>
          <a:p/>
        </p:txBody>
      </p:sp>
      <p:sp>
        <p:nvSpPr>
          <p:cNvPr id="26" name="object 26"/>
          <p:cNvSpPr txBox="1"/>
          <p:nvPr/>
        </p:nvSpPr>
        <p:spPr>
          <a:xfrm>
            <a:off x="2243112" y="4373740"/>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6</a:t>
            </a:r>
            <a:endParaRPr sz="3200">
              <a:latin typeface="Calibri" panose="020F0502020204030204"/>
              <a:cs typeface="Calibri" panose="020F0502020204030204"/>
            </a:endParaRPr>
          </a:p>
        </p:txBody>
      </p:sp>
      <p:sp>
        <p:nvSpPr>
          <p:cNvPr id="27" name="object 27"/>
          <p:cNvSpPr/>
          <p:nvPr/>
        </p:nvSpPr>
        <p:spPr>
          <a:xfrm>
            <a:off x="2394204" y="5055108"/>
            <a:ext cx="6791325" cy="510540"/>
          </a:xfrm>
          <a:custGeom>
            <a:avLst/>
            <a:gdLst/>
            <a:ahLst/>
            <a:cxnLst/>
            <a:rect l="l" t="t" r="r" b="b"/>
            <a:pathLst>
              <a:path w="6791325" h="510539">
                <a:moveTo>
                  <a:pt x="0" y="0"/>
                </a:moveTo>
                <a:lnTo>
                  <a:pt x="6790944" y="0"/>
                </a:lnTo>
                <a:lnTo>
                  <a:pt x="6790944" y="510539"/>
                </a:lnTo>
                <a:lnTo>
                  <a:pt x="0" y="510539"/>
                </a:lnTo>
                <a:lnTo>
                  <a:pt x="0" y="0"/>
                </a:lnTo>
                <a:close/>
              </a:path>
            </a:pathLst>
          </a:custGeom>
          <a:solidFill>
            <a:srgbClr val="D9D9D9"/>
          </a:solidFill>
        </p:spPr>
        <p:txBody>
          <a:bodyPr wrap="square" lIns="0" tIns="0" rIns="0" bIns="0" rtlCol="0"/>
          <a:lstStyle/>
          <a:p/>
        </p:txBody>
      </p:sp>
      <p:sp>
        <p:nvSpPr>
          <p:cNvPr id="28" name="object 28"/>
          <p:cNvSpPr/>
          <p:nvPr/>
        </p:nvSpPr>
        <p:spPr>
          <a:xfrm>
            <a:off x="8916923" y="5055018"/>
            <a:ext cx="522605" cy="511175"/>
          </a:xfrm>
          <a:custGeom>
            <a:avLst/>
            <a:gdLst/>
            <a:ahLst/>
            <a:cxnLst/>
            <a:rect l="l" t="t" r="r" b="b"/>
            <a:pathLst>
              <a:path w="522604" h="511175">
                <a:moveTo>
                  <a:pt x="261023" y="510717"/>
                </a:moveTo>
                <a:lnTo>
                  <a:pt x="214071" y="506603"/>
                </a:lnTo>
                <a:lnTo>
                  <a:pt x="169872" y="494742"/>
                </a:lnTo>
                <a:lnTo>
                  <a:pt x="129166" y="475854"/>
                </a:lnTo>
                <a:lnTo>
                  <a:pt x="92763" y="450728"/>
                </a:lnTo>
                <a:lnTo>
                  <a:pt x="61297" y="420015"/>
                </a:lnTo>
                <a:lnTo>
                  <a:pt x="35550" y="384470"/>
                </a:lnTo>
                <a:lnTo>
                  <a:pt x="16258" y="344821"/>
                </a:lnTo>
                <a:lnTo>
                  <a:pt x="4162" y="301795"/>
                </a:lnTo>
                <a:lnTo>
                  <a:pt x="0" y="256120"/>
                </a:lnTo>
                <a:lnTo>
                  <a:pt x="4162" y="209992"/>
                </a:lnTo>
                <a:lnTo>
                  <a:pt x="16258" y="166613"/>
                </a:lnTo>
                <a:lnTo>
                  <a:pt x="35550" y="126698"/>
                </a:lnTo>
                <a:lnTo>
                  <a:pt x="61297" y="90963"/>
                </a:lnTo>
                <a:lnTo>
                  <a:pt x="92763" y="60123"/>
                </a:lnTo>
                <a:lnTo>
                  <a:pt x="129267" y="34863"/>
                </a:lnTo>
                <a:lnTo>
                  <a:pt x="169921" y="15975"/>
                </a:lnTo>
                <a:lnTo>
                  <a:pt x="214087" y="4114"/>
                </a:lnTo>
                <a:lnTo>
                  <a:pt x="261023" y="0"/>
                </a:lnTo>
                <a:lnTo>
                  <a:pt x="307970" y="4115"/>
                </a:lnTo>
                <a:lnTo>
                  <a:pt x="352168" y="15983"/>
                </a:lnTo>
                <a:lnTo>
                  <a:pt x="392876" y="34891"/>
                </a:lnTo>
                <a:lnTo>
                  <a:pt x="429286" y="60056"/>
                </a:lnTo>
                <a:lnTo>
                  <a:pt x="460762" y="90833"/>
                </a:lnTo>
                <a:lnTo>
                  <a:pt x="486529" y="126473"/>
                </a:lnTo>
                <a:lnTo>
                  <a:pt x="505846" y="166254"/>
                </a:lnTo>
                <a:lnTo>
                  <a:pt x="517978" y="209457"/>
                </a:lnTo>
                <a:lnTo>
                  <a:pt x="522185" y="255358"/>
                </a:lnTo>
                <a:lnTo>
                  <a:pt x="517978" y="301260"/>
                </a:lnTo>
                <a:lnTo>
                  <a:pt x="505846" y="344462"/>
                </a:lnTo>
                <a:lnTo>
                  <a:pt x="486529" y="384244"/>
                </a:lnTo>
                <a:lnTo>
                  <a:pt x="460762" y="419884"/>
                </a:lnTo>
                <a:lnTo>
                  <a:pt x="429286" y="450661"/>
                </a:lnTo>
                <a:lnTo>
                  <a:pt x="392775" y="475882"/>
                </a:lnTo>
                <a:lnTo>
                  <a:pt x="352119" y="494750"/>
                </a:lnTo>
                <a:lnTo>
                  <a:pt x="307954" y="506604"/>
                </a:lnTo>
                <a:lnTo>
                  <a:pt x="261023" y="510717"/>
                </a:lnTo>
                <a:close/>
              </a:path>
            </a:pathLst>
          </a:custGeom>
          <a:solidFill>
            <a:srgbClr val="D9D9D9"/>
          </a:solidFill>
        </p:spPr>
        <p:txBody>
          <a:bodyPr wrap="square" lIns="0" tIns="0" rIns="0" bIns="0" rtlCol="0"/>
          <a:lstStyle/>
          <a:p/>
        </p:txBody>
      </p:sp>
      <p:sp>
        <p:nvSpPr>
          <p:cNvPr id="29" name="object 29"/>
          <p:cNvSpPr/>
          <p:nvPr/>
        </p:nvSpPr>
        <p:spPr>
          <a:xfrm>
            <a:off x="2098548" y="5054485"/>
            <a:ext cx="521970" cy="511175"/>
          </a:xfrm>
          <a:custGeom>
            <a:avLst/>
            <a:gdLst/>
            <a:ahLst/>
            <a:cxnLst/>
            <a:rect l="l" t="t" r="r" b="b"/>
            <a:pathLst>
              <a:path w="521969" h="511175">
                <a:moveTo>
                  <a:pt x="260667" y="510705"/>
                </a:moveTo>
                <a:lnTo>
                  <a:pt x="213720" y="506590"/>
                </a:lnTo>
                <a:lnTo>
                  <a:pt x="169539" y="494727"/>
                </a:lnTo>
                <a:lnTo>
                  <a:pt x="128864" y="475833"/>
                </a:lnTo>
                <a:lnTo>
                  <a:pt x="92438" y="450629"/>
                </a:lnTo>
                <a:lnTo>
                  <a:pt x="61003" y="419834"/>
                </a:lnTo>
                <a:lnTo>
                  <a:pt x="35299" y="384167"/>
                </a:lnTo>
                <a:lnTo>
                  <a:pt x="16070" y="344348"/>
                </a:lnTo>
                <a:lnTo>
                  <a:pt x="4056" y="301096"/>
                </a:lnTo>
                <a:lnTo>
                  <a:pt x="0" y="255130"/>
                </a:lnTo>
                <a:lnTo>
                  <a:pt x="4056" y="209296"/>
                </a:lnTo>
                <a:lnTo>
                  <a:pt x="16070" y="166147"/>
                </a:lnTo>
                <a:lnTo>
                  <a:pt x="35299" y="126405"/>
                </a:lnTo>
                <a:lnTo>
                  <a:pt x="61003" y="90794"/>
                </a:lnTo>
                <a:lnTo>
                  <a:pt x="92438" y="60036"/>
                </a:lnTo>
                <a:lnTo>
                  <a:pt x="128864" y="34854"/>
                </a:lnTo>
                <a:lnTo>
                  <a:pt x="169539" y="15973"/>
                </a:lnTo>
                <a:lnTo>
                  <a:pt x="213720" y="4113"/>
                </a:lnTo>
                <a:lnTo>
                  <a:pt x="260667" y="0"/>
                </a:lnTo>
                <a:lnTo>
                  <a:pt x="307611" y="4114"/>
                </a:lnTo>
                <a:lnTo>
                  <a:pt x="351794" y="15975"/>
                </a:lnTo>
                <a:lnTo>
                  <a:pt x="392480" y="34862"/>
                </a:lnTo>
                <a:lnTo>
                  <a:pt x="428930" y="60055"/>
                </a:lnTo>
                <a:lnTo>
                  <a:pt x="460407" y="90831"/>
                </a:lnTo>
                <a:lnTo>
                  <a:pt x="486173" y="126469"/>
                </a:lnTo>
                <a:lnTo>
                  <a:pt x="505491" y="166248"/>
                </a:lnTo>
                <a:lnTo>
                  <a:pt x="517622" y="209448"/>
                </a:lnTo>
                <a:lnTo>
                  <a:pt x="521830" y="255346"/>
                </a:lnTo>
                <a:lnTo>
                  <a:pt x="517622" y="301247"/>
                </a:lnTo>
                <a:lnTo>
                  <a:pt x="505491" y="344450"/>
                </a:lnTo>
                <a:lnTo>
                  <a:pt x="486173" y="384231"/>
                </a:lnTo>
                <a:lnTo>
                  <a:pt x="460407" y="419871"/>
                </a:lnTo>
                <a:lnTo>
                  <a:pt x="428930" y="450648"/>
                </a:lnTo>
                <a:lnTo>
                  <a:pt x="392480" y="475841"/>
                </a:lnTo>
                <a:lnTo>
                  <a:pt x="351794" y="494729"/>
                </a:lnTo>
                <a:lnTo>
                  <a:pt x="307611" y="506591"/>
                </a:lnTo>
                <a:lnTo>
                  <a:pt x="260667" y="510705"/>
                </a:lnTo>
                <a:close/>
              </a:path>
            </a:pathLst>
          </a:custGeom>
          <a:solidFill>
            <a:srgbClr val="A6A6A6"/>
          </a:solidFill>
        </p:spPr>
        <p:txBody>
          <a:bodyPr wrap="square" lIns="0" tIns="0" rIns="0" bIns="0" rtlCol="0"/>
          <a:lstStyle/>
          <a:p/>
        </p:txBody>
      </p:sp>
      <p:sp>
        <p:nvSpPr>
          <p:cNvPr id="30" name="object 30"/>
          <p:cNvSpPr txBox="1"/>
          <p:nvPr/>
        </p:nvSpPr>
        <p:spPr>
          <a:xfrm>
            <a:off x="2243112" y="5027040"/>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7</a:t>
            </a:r>
            <a:endParaRPr sz="3200">
              <a:latin typeface="Calibri" panose="020F0502020204030204"/>
              <a:cs typeface="Calibri" panose="020F0502020204030204"/>
            </a:endParaRPr>
          </a:p>
        </p:txBody>
      </p:sp>
      <p:sp>
        <p:nvSpPr>
          <p:cNvPr id="31" name="object 31"/>
          <p:cNvSpPr/>
          <p:nvPr/>
        </p:nvSpPr>
        <p:spPr>
          <a:xfrm>
            <a:off x="2394204" y="5708903"/>
            <a:ext cx="6791325" cy="509270"/>
          </a:xfrm>
          <a:custGeom>
            <a:avLst/>
            <a:gdLst/>
            <a:ahLst/>
            <a:cxnLst/>
            <a:rect l="l" t="t" r="r" b="b"/>
            <a:pathLst>
              <a:path w="6791325" h="509270">
                <a:moveTo>
                  <a:pt x="0" y="0"/>
                </a:moveTo>
                <a:lnTo>
                  <a:pt x="6790944" y="0"/>
                </a:lnTo>
                <a:lnTo>
                  <a:pt x="6790944" y="509015"/>
                </a:lnTo>
                <a:lnTo>
                  <a:pt x="0" y="509015"/>
                </a:lnTo>
                <a:lnTo>
                  <a:pt x="0" y="0"/>
                </a:lnTo>
                <a:close/>
              </a:path>
            </a:pathLst>
          </a:custGeom>
          <a:solidFill>
            <a:srgbClr val="D9D9D9"/>
          </a:solidFill>
        </p:spPr>
        <p:txBody>
          <a:bodyPr wrap="square" lIns="0" tIns="0" rIns="0" bIns="0" rtlCol="0"/>
          <a:lstStyle/>
          <a:p/>
        </p:txBody>
      </p:sp>
      <p:sp>
        <p:nvSpPr>
          <p:cNvPr id="32" name="object 32"/>
          <p:cNvSpPr/>
          <p:nvPr/>
        </p:nvSpPr>
        <p:spPr>
          <a:xfrm>
            <a:off x="8916923" y="5708319"/>
            <a:ext cx="522605" cy="511175"/>
          </a:xfrm>
          <a:custGeom>
            <a:avLst/>
            <a:gdLst/>
            <a:ahLst/>
            <a:cxnLst/>
            <a:rect l="l" t="t" r="r" b="b"/>
            <a:pathLst>
              <a:path w="522604" h="511175">
                <a:moveTo>
                  <a:pt x="261099" y="510781"/>
                </a:moveTo>
                <a:lnTo>
                  <a:pt x="214151" y="506665"/>
                </a:lnTo>
                <a:lnTo>
                  <a:pt x="169966" y="494799"/>
                </a:lnTo>
                <a:lnTo>
                  <a:pt x="129280" y="475900"/>
                </a:lnTo>
                <a:lnTo>
                  <a:pt x="92832" y="450687"/>
                </a:lnTo>
                <a:lnTo>
                  <a:pt x="61360" y="419880"/>
                </a:lnTo>
                <a:lnTo>
                  <a:pt x="35603" y="384198"/>
                </a:lnTo>
                <a:lnTo>
                  <a:pt x="16299" y="344360"/>
                </a:lnTo>
                <a:lnTo>
                  <a:pt x="4185" y="301085"/>
                </a:lnTo>
                <a:lnTo>
                  <a:pt x="0" y="255092"/>
                </a:lnTo>
                <a:lnTo>
                  <a:pt x="4185" y="209273"/>
                </a:lnTo>
                <a:lnTo>
                  <a:pt x="16299" y="166134"/>
                </a:lnTo>
                <a:lnTo>
                  <a:pt x="35603" y="126399"/>
                </a:lnTo>
                <a:lnTo>
                  <a:pt x="61360" y="90792"/>
                </a:lnTo>
                <a:lnTo>
                  <a:pt x="92832" y="60037"/>
                </a:lnTo>
                <a:lnTo>
                  <a:pt x="129280" y="34856"/>
                </a:lnTo>
                <a:lnTo>
                  <a:pt x="169966" y="15974"/>
                </a:lnTo>
                <a:lnTo>
                  <a:pt x="214151" y="4114"/>
                </a:lnTo>
                <a:lnTo>
                  <a:pt x="261099" y="0"/>
                </a:lnTo>
                <a:lnTo>
                  <a:pt x="308043" y="4114"/>
                </a:lnTo>
                <a:lnTo>
                  <a:pt x="352228" y="15977"/>
                </a:lnTo>
                <a:lnTo>
                  <a:pt x="392915" y="34867"/>
                </a:lnTo>
                <a:lnTo>
                  <a:pt x="429367" y="60062"/>
                </a:lnTo>
                <a:lnTo>
                  <a:pt x="460846" y="90842"/>
                </a:lnTo>
                <a:lnTo>
                  <a:pt x="486614" y="126486"/>
                </a:lnTo>
                <a:lnTo>
                  <a:pt x="505933" y="166271"/>
                </a:lnTo>
                <a:lnTo>
                  <a:pt x="518066" y="209478"/>
                </a:lnTo>
                <a:lnTo>
                  <a:pt x="522274" y="255384"/>
                </a:lnTo>
                <a:lnTo>
                  <a:pt x="518066" y="301290"/>
                </a:lnTo>
                <a:lnTo>
                  <a:pt x="505933" y="344498"/>
                </a:lnTo>
                <a:lnTo>
                  <a:pt x="486614" y="384285"/>
                </a:lnTo>
                <a:lnTo>
                  <a:pt x="460846" y="419931"/>
                </a:lnTo>
                <a:lnTo>
                  <a:pt x="429367" y="450713"/>
                </a:lnTo>
                <a:lnTo>
                  <a:pt x="392915" y="475910"/>
                </a:lnTo>
                <a:lnTo>
                  <a:pt x="352228" y="494802"/>
                </a:lnTo>
                <a:lnTo>
                  <a:pt x="308043" y="506666"/>
                </a:lnTo>
                <a:lnTo>
                  <a:pt x="261099" y="510781"/>
                </a:lnTo>
                <a:close/>
              </a:path>
            </a:pathLst>
          </a:custGeom>
          <a:solidFill>
            <a:srgbClr val="D9D9D9"/>
          </a:solidFill>
        </p:spPr>
        <p:txBody>
          <a:bodyPr wrap="square" lIns="0" tIns="0" rIns="0" bIns="0" rtlCol="0"/>
          <a:lstStyle/>
          <a:p/>
        </p:txBody>
      </p:sp>
      <p:sp>
        <p:nvSpPr>
          <p:cNvPr id="33" name="object 33"/>
          <p:cNvSpPr/>
          <p:nvPr/>
        </p:nvSpPr>
        <p:spPr>
          <a:xfrm>
            <a:off x="2098548" y="5707773"/>
            <a:ext cx="521970" cy="511175"/>
          </a:xfrm>
          <a:custGeom>
            <a:avLst/>
            <a:gdLst/>
            <a:ahLst/>
            <a:cxnLst/>
            <a:rect l="l" t="t" r="r" b="b"/>
            <a:pathLst>
              <a:path w="521969" h="511175">
                <a:moveTo>
                  <a:pt x="260667" y="510781"/>
                </a:moveTo>
                <a:lnTo>
                  <a:pt x="213719" y="506666"/>
                </a:lnTo>
                <a:lnTo>
                  <a:pt x="169533" y="494803"/>
                </a:lnTo>
                <a:lnTo>
                  <a:pt x="128850" y="475913"/>
                </a:lnTo>
                <a:lnTo>
                  <a:pt x="92415" y="450717"/>
                </a:lnTo>
                <a:lnTo>
                  <a:pt x="60971" y="419936"/>
                </a:lnTo>
                <a:lnTo>
                  <a:pt x="35299" y="384366"/>
                </a:lnTo>
                <a:lnTo>
                  <a:pt x="16070" y="344622"/>
                </a:lnTo>
                <a:lnTo>
                  <a:pt x="4056" y="301472"/>
                </a:lnTo>
                <a:lnTo>
                  <a:pt x="0" y="255638"/>
                </a:lnTo>
                <a:lnTo>
                  <a:pt x="4056" y="209656"/>
                </a:lnTo>
                <a:lnTo>
                  <a:pt x="16070" y="166391"/>
                </a:lnTo>
                <a:lnTo>
                  <a:pt x="35299" y="126561"/>
                </a:lnTo>
                <a:lnTo>
                  <a:pt x="61047" y="90842"/>
                </a:lnTo>
                <a:lnTo>
                  <a:pt x="92470" y="60062"/>
                </a:lnTo>
                <a:lnTo>
                  <a:pt x="128884" y="34867"/>
                </a:lnTo>
                <a:lnTo>
                  <a:pt x="169549" y="15977"/>
                </a:lnTo>
                <a:lnTo>
                  <a:pt x="213724" y="4114"/>
                </a:lnTo>
                <a:lnTo>
                  <a:pt x="260667" y="0"/>
                </a:lnTo>
                <a:lnTo>
                  <a:pt x="307612" y="4114"/>
                </a:lnTo>
                <a:lnTo>
                  <a:pt x="351802" y="15980"/>
                </a:lnTo>
                <a:lnTo>
                  <a:pt x="392497" y="34876"/>
                </a:lnTo>
                <a:lnTo>
                  <a:pt x="428958" y="60085"/>
                </a:lnTo>
                <a:lnTo>
                  <a:pt x="460446" y="90886"/>
                </a:lnTo>
                <a:lnTo>
                  <a:pt x="486182" y="126486"/>
                </a:lnTo>
                <a:lnTo>
                  <a:pt x="505502" y="166271"/>
                </a:lnTo>
                <a:lnTo>
                  <a:pt x="517634" y="209478"/>
                </a:lnTo>
                <a:lnTo>
                  <a:pt x="521843" y="255384"/>
                </a:lnTo>
                <a:lnTo>
                  <a:pt x="517634" y="301294"/>
                </a:lnTo>
                <a:lnTo>
                  <a:pt x="505502" y="344503"/>
                </a:lnTo>
                <a:lnTo>
                  <a:pt x="486182" y="384291"/>
                </a:lnTo>
                <a:lnTo>
                  <a:pt x="460370" y="419979"/>
                </a:lnTo>
                <a:lnTo>
                  <a:pt x="428903" y="450739"/>
                </a:lnTo>
                <a:lnTo>
                  <a:pt x="392463" y="475923"/>
                </a:lnTo>
                <a:lnTo>
                  <a:pt x="351785" y="494806"/>
                </a:lnTo>
                <a:lnTo>
                  <a:pt x="307607" y="506667"/>
                </a:lnTo>
                <a:lnTo>
                  <a:pt x="260667" y="510781"/>
                </a:lnTo>
                <a:close/>
              </a:path>
            </a:pathLst>
          </a:custGeom>
          <a:solidFill>
            <a:srgbClr val="C00000"/>
          </a:solidFill>
        </p:spPr>
        <p:txBody>
          <a:bodyPr wrap="square" lIns="0" tIns="0" rIns="0" bIns="0" rtlCol="0"/>
          <a:lstStyle/>
          <a:p/>
        </p:txBody>
      </p:sp>
      <p:sp>
        <p:nvSpPr>
          <p:cNvPr id="34" name="object 34"/>
          <p:cNvSpPr txBox="1"/>
          <p:nvPr/>
        </p:nvSpPr>
        <p:spPr>
          <a:xfrm>
            <a:off x="2243112" y="5680341"/>
            <a:ext cx="231775" cy="514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FFFFFF"/>
                </a:solidFill>
                <a:latin typeface="Calibri" panose="020F0502020204030204"/>
                <a:cs typeface="Calibri" panose="020F0502020204030204"/>
              </a:rPr>
              <a:t>8</a:t>
            </a:r>
            <a:endParaRPr sz="3200">
              <a:latin typeface="Calibri" panose="020F0502020204030204"/>
              <a:cs typeface="Calibri" panose="020F0502020204030204"/>
            </a:endParaRPr>
          </a:p>
        </p:txBody>
      </p:sp>
      <p:sp>
        <p:nvSpPr>
          <p:cNvPr id="35" name="object 35"/>
          <p:cNvSpPr txBox="1"/>
          <p:nvPr/>
        </p:nvSpPr>
        <p:spPr>
          <a:xfrm>
            <a:off x="2961297" y="1193317"/>
            <a:ext cx="251015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关于</a:t>
            </a:r>
            <a:r>
              <a:rPr sz="2400" b="1" spc="-5" dirty="0">
                <a:solidFill>
                  <a:srgbClr val="A6A6A6"/>
                </a:solidFill>
                <a:latin typeface="微软雅黑" panose="020B0503020204020204" charset="-122"/>
                <a:cs typeface="微软雅黑" panose="020B0503020204020204" charset="-122"/>
              </a:rPr>
              <a:t>ISA</a:t>
            </a:r>
            <a:r>
              <a:rPr sz="2400" b="1" dirty="0">
                <a:solidFill>
                  <a:srgbClr val="A6A6A6"/>
                </a:solidFill>
                <a:latin typeface="微软雅黑" panose="020B0503020204020204" charset="-122"/>
                <a:cs typeface="微软雅黑" panose="020B0503020204020204" charset="-122"/>
              </a:rPr>
              <a:t>和</a:t>
            </a:r>
            <a:r>
              <a:rPr sz="2400" b="1" spc="-5" dirty="0">
                <a:solidFill>
                  <a:srgbClr val="A6A6A6"/>
                </a:solidFill>
                <a:latin typeface="微软雅黑" panose="020B0503020204020204" charset="-122"/>
                <a:cs typeface="微软雅黑" panose="020B0503020204020204" charset="-122"/>
              </a:rPr>
              <a:t>RISC-V</a:t>
            </a:r>
            <a:endParaRPr sz="2400">
              <a:latin typeface="微软雅黑" panose="020B0503020204020204" charset="-122"/>
              <a:cs typeface="微软雅黑" panose="020B0503020204020204" charset="-122"/>
            </a:endParaRPr>
          </a:p>
        </p:txBody>
      </p:sp>
      <p:sp>
        <p:nvSpPr>
          <p:cNvPr id="36" name="object 36"/>
          <p:cNvSpPr txBox="1"/>
          <p:nvPr/>
        </p:nvSpPr>
        <p:spPr>
          <a:xfrm>
            <a:off x="2961297" y="1845995"/>
            <a:ext cx="364744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开源</a:t>
            </a:r>
            <a:r>
              <a:rPr sz="2400" b="1" spc="-5" dirty="0">
                <a:solidFill>
                  <a:srgbClr val="A6A6A6"/>
                </a:solidFill>
                <a:latin typeface="微软雅黑" panose="020B0503020204020204" charset="-122"/>
                <a:cs typeface="微软雅黑" panose="020B0503020204020204" charset="-122"/>
              </a:rPr>
              <a:t>RISC-V</a:t>
            </a:r>
            <a:r>
              <a:rPr sz="2400" b="1" dirty="0">
                <a:solidFill>
                  <a:srgbClr val="A6A6A6"/>
                </a:solidFill>
                <a:latin typeface="微软雅黑" panose="020B0503020204020204" charset="-122"/>
                <a:cs typeface="微软雅黑" panose="020B0503020204020204" charset="-122"/>
              </a:rPr>
              <a:t>内核蜂鸟</a:t>
            </a:r>
            <a:r>
              <a:rPr sz="2400" b="1" spc="-5" dirty="0">
                <a:solidFill>
                  <a:srgbClr val="A6A6A6"/>
                </a:solidFill>
                <a:latin typeface="微软雅黑" panose="020B0503020204020204" charset="-122"/>
                <a:cs typeface="微软雅黑" panose="020B0503020204020204" charset="-122"/>
              </a:rPr>
              <a:t>E203</a:t>
            </a:r>
            <a:endParaRPr sz="2400">
              <a:latin typeface="微软雅黑" panose="020B0503020204020204" charset="-122"/>
              <a:cs typeface="微软雅黑" panose="020B0503020204020204" charset="-122"/>
            </a:endParaRPr>
          </a:p>
        </p:txBody>
      </p:sp>
      <p:sp>
        <p:nvSpPr>
          <p:cNvPr id="37" name="object 37"/>
          <p:cNvSpPr txBox="1"/>
          <p:nvPr/>
        </p:nvSpPr>
        <p:spPr>
          <a:xfrm>
            <a:off x="2961297" y="2499893"/>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的中文书籍</a:t>
            </a:r>
            <a:endParaRPr sz="2400">
              <a:latin typeface="微软雅黑" panose="020B0503020204020204" charset="-122"/>
              <a:cs typeface="微软雅黑" panose="020B0503020204020204" charset="-122"/>
            </a:endParaRPr>
          </a:p>
        </p:txBody>
      </p:sp>
      <p:sp>
        <p:nvSpPr>
          <p:cNvPr id="38" name="object 38"/>
          <p:cNvSpPr txBox="1"/>
          <p:nvPr/>
        </p:nvSpPr>
        <p:spPr>
          <a:xfrm>
            <a:off x="2961297" y="3175317"/>
            <a:ext cx="3875404"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6A6A6"/>
                </a:solidFill>
                <a:latin typeface="微软雅黑" panose="020B0503020204020204" charset="-122"/>
                <a:cs typeface="微软雅黑" panose="020B0503020204020204" charset="-122"/>
              </a:rPr>
              <a:t>蜂鸟</a:t>
            </a:r>
            <a:r>
              <a:rPr sz="2400" b="1" spc="-5" dirty="0">
                <a:solidFill>
                  <a:srgbClr val="A6A6A6"/>
                </a:solidFill>
                <a:latin typeface="微软雅黑" panose="020B0503020204020204" charset="-122"/>
                <a:cs typeface="微软雅黑" panose="020B0503020204020204" charset="-122"/>
              </a:rPr>
              <a:t>E203</a:t>
            </a:r>
            <a:r>
              <a:rPr sz="2400" b="1" dirty="0">
                <a:solidFill>
                  <a:srgbClr val="A6A6A6"/>
                </a:solidFill>
                <a:latin typeface="微软雅黑" panose="020B0503020204020204" charset="-122"/>
                <a:cs typeface="微软雅黑" panose="020B0503020204020204" charset="-122"/>
              </a:rPr>
              <a:t>软硬件D</a:t>
            </a:r>
            <a:r>
              <a:rPr sz="2400" b="1" spc="-5" dirty="0">
                <a:solidFill>
                  <a:srgbClr val="A6A6A6"/>
                </a:solidFill>
                <a:latin typeface="微软雅黑" panose="020B0503020204020204" charset="-122"/>
                <a:cs typeface="微软雅黑" panose="020B0503020204020204" charset="-122"/>
              </a:rPr>
              <a:t>E</a:t>
            </a:r>
            <a:r>
              <a:rPr sz="2400" b="1" dirty="0">
                <a:solidFill>
                  <a:srgbClr val="A6A6A6"/>
                </a:solidFill>
                <a:latin typeface="微软雅黑" panose="020B0503020204020204" charset="-122"/>
                <a:cs typeface="微软雅黑" panose="020B0503020204020204" charset="-122"/>
              </a:rPr>
              <a:t>MO视频</a:t>
            </a:r>
            <a:endParaRPr sz="2400">
              <a:latin typeface="微软雅黑" panose="020B0503020204020204" charset="-122"/>
              <a:cs typeface="微软雅黑" panose="020B0503020204020204" charset="-122"/>
            </a:endParaRPr>
          </a:p>
        </p:txBody>
      </p:sp>
      <p:sp>
        <p:nvSpPr>
          <p:cNvPr id="39" name="object 39"/>
          <p:cNvSpPr txBox="1"/>
          <p:nvPr/>
        </p:nvSpPr>
        <p:spPr>
          <a:xfrm>
            <a:off x="2961297" y="3773296"/>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的几个误区</a:t>
            </a:r>
            <a:endParaRPr sz="2400">
              <a:latin typeface="微软雅黑" panose="020B0503020204020204" charset="-122"/>
              <a:cs typeface="微软雅黑" panose="020B0503020204020204" charset="-122"/>
            </a:endParaRPr>
          </a:p>
        </p:txBody>
      </p:sp>
      <p:sp>
        <p:nvSpPr>
          <p:cNvPr id="40" name="object 40"/>
          <p:cNvSpPr txBox="1"/>
          <p:nvPr/>
        </p:nvSpPr>
        <p:spPr>
          <a:xfrm>
            <a:off x="2961297" y="4459770"/>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的未来趋势</a:t>
            </a:r>
            <a:endParaRPr sz="2400">
              <a:latin typeface="微软雅黑" panose="020B0503020204020204" charset="-122"/>
              <a:cs typeface="微软雅黑" panose="020B0503020204020204" charset="-122"/>
            </a:endParaRPr>
          </a:p>
        </p:txBody>
      </p:sp>
      <p:sp>
        <p:nvSpPr>
          <p:cNvPr id="41" name="object 41"/>
          <p:cNvSpPr txBox="1"/>
          <p:nvPr/>
        </p:nvSpPr>
        <p:spPr>
          <a:xfrm>
            <a:off x="2961297" y="5113070"/>
            <a:ext cx="260413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A6A6A6"/>
                </a:solidFill>
                <a:latin typeface="微软雅黑" panose="020B0503020204020204" charset="-122"/>
                <a:cs typeface="微软雅黑" panose="020B0503020204020204" charset="-122"/>
              </a:rPr>
              <a:t>RI</a:t>
            </a:r>
            <a:r>
              <a:rPr sz="2400" b="1" dirty="0">
                <a:solidFill>
                  <a:srgbClr val="A6A6A6"/>
                </a:solidFill>
                <a:latin typeface="微软雅黑" panose="020B0503020204020204" charset="-122"/>
                <a:cs typeface="微软雅黑" panose="020B0503020204020204" charset="-122"/>
              </a:rPr>
              <a:t>S</a:t>
            </a:r>
            <a:r>
              <a:rPr sz="2400" b="1" spc="-5" dirty="0">
                <a:solidFill>
                  <a:srgbClr val="A6A6A6"/>
                </a:solidFill>
                <a:latin typeface="微软雅黑" panose="020B0503020204020204" charset="-122"/>
                <a:cs typeface="微软雅黑" panose="020B0503020204020204" charset="-122"/>
              </a:rPr>
              <a:t>C</a:t>
            </a:r>
            <a:r>
              <a:rPr sz="2400" b="1" dirty="0">
                <a:solidFill>
                  <a:srgbClr val="A6A6A6"/>
                </a:solidFill>
                <a:latin typeface="微软雅黑" panose="020B0503020204020204" charset="-122"/>
                <a:cs typeface="微软雅黑" panose="020B0503020204020204" charset="-122"/>
              </a:rPr>
              <a:t>-</a:t>
            </a:r>
            <a:r>
              <a:rPr sz="2400" b="1" spc="-5" dirty="0">
                <a:solidFill>
                  <a:srgbClr val="A6A6A6"/>
                </a:solidFill>
                <a:latin typeface="微软雅黑" panose="020B0503020204020204" charset="-122"/>
                <a:cs typeface="微软雅黑" panose="020B0503020204020204" charset="-122"/>
              </a:rPr>
              <a:t>V</a:t>
            </a:r>
            <a:r>
              <a:rPr sz="2400" b="1" dirty="0">
                <a:solidFill>
                  <a:srgbClr val="A6A6A6"/>
                </a:solidFill>
                <a:latin typeface="微软雅黑" panose="020B0503020204020204" charset="-122"/>
                <a:cs typeface="微软雅黑" panose="020B0503020204020204" charset="-122"/>
              </a:rPr>
              <a:t>的商业本质</a:t>
            </a:r>
            <a:endParaRPr sz="2400">
              <a:latin typeface="微软雅黑" panose="020B0503020204020204" charset="-122"/>
              <a:cs typeface="微软雅黑" panose="020B0503020204020204" charset="-122"/>
            </a:endParaRPr>
          </a:p>
        </p:txBody>
      </p:sp>
      <p:sp>
        <p:nvSpPr>
          <p:cNvPr id="42" name="object 42"/>
          <p:cNvSpPr txBox="1"/>
          <p:nvPr/>
        </p:nvSpPr>
        <p:spPr>
          <a:xfrm>
            <a:off x="2961297" y="5771273"/>
            <a:ext cx="185420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C00000"/>
                </a:solidFill>
                <a:latin typeface="微软雅黑" panose="020B0503020204020204" charset="-122"/>
                <a:cs typeface="微软雅黑" panose="020B0503020204020204" charset="-122"/>
              </a:rPr>
              <a:t>芯来科技介绍</a:t>
            </a:r>
            <a:endParaRPr sz="2400">
              <a:latin typeface="微软雅黑" panose="020B0503020204020204" charset="-122"/>
              <a:cs typeface="微软雅黑" panose="020B0503020204020204" charset="-122"/>
            </a:endParaRPr>
          </a:p>
        </p:txBody>
      </p:sp>
      <p:sp>
        <p:nvSpPr>
          <p:cNvPr id="43" name="object 43"/>
          <p:cNvSpPr txBox="1">
            <a:spLocks noGrp="1"/>
          </p:cNvSpPr>
          <p:nvPr>
            <p:ph type="title"/>
          </p:nvPr>
        </p:nvSpPr>
        <p:spPr>
          <a:xfrm>
            <a:off x="713105" y="243840"/>
            <a:ext cx="1802764"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C00000"/>
                </a:solidFill>
              </a:rPr>
              <a:t>Age</a:t>
            </a:r>
            <a:r>
              <a:rPr sz="3600" dirty="0">
                <a:solidFill>
                  <a:srgbClr val="C00000"/>
                </a:solidFill>
              </a:rPr>
              <a:t>n</a:t>
            </a:r>
            <a:r>
              <a:rPr sz="3600" spc="-5" dirty="0">
                <a:solidFill>
                  <a:srgbClr val="C00000"/>
                </a:solidFill>
              </a:rPr>
              <a:t>d</a:t>
            </a:r>
            <a:r>
              <a:rPr sz="3600" dirty="0">
                <a:solidFill>
                  <a:srgbClr val="C00000"/>
                </a:solidFill>
              </a:rPr>
              <a:t>a</a:t>
            </a:r>
            <a:endParaRPr sz="3600"/>
          </a:p>
        </p:txBody>
      </p:sp>
      <p:sp>
        <p:nvSpPr>
          <p:cNvPr id="44" name="object 4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18542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芯来科技</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txBox="1"/>
          <p:nvPr/>
        </p:nvSpPr>
        <p:spPr>
          <a:xfrm>
            <a:off x="692150" y="1403223"/>
            <a:ext cx="6678930" cy="3408679"/>
          </a:xfrm>
          <a:prstGeom prst="rect">
            <a:avLst/>
          </a:prstGeom>
        </p:spPr>
        <p:txBody>
          <a:bodyPr vert="horz" wrap="square" lIns="0" tIns="12700" rIns="0" bIns="0" rtlCol="0">
            <a:spAutoFit/>
          </a:bodyPr>
          <a:lstStyle/>
          <a:p>
            <a:pPr marL="12700" marR="36195">
              <a:lnSpc>
                <a:spcPct val="150000"/>
              </a:lnSpc>
              <a:spcBef>
                <a:spcPts val="100"/>
              </a:spcBef>
              <a:buSzPct val="94000"/>
              <a:buFont typeface="Wingdings" panose="05000000000000000000"/>
              <a:buChar char=""/>
              <a:tabLst>
                <a:tab pos="165100" algn="l"/>
              </a:tabLst>
            </a:pPr>
            <a:r>
              <a:rPr sz="1600" dirty="0">
                <a:latin typeface="微软雅黑" panose="020B0503020204020204" charset="-122"/>
                <a:cs typeface="微软雅黑" panose="020B0503020204020204" charset="-122"/>
              </a:rPr>
              <a:t>芯来科技</a:t>
            </a:r>
            <a:r>
              <a:rPr sz="1600" spc="-5" dirty="0">
                <a:latin typeface="微软雅黑" panose="020B0503020204020204" charset="-122"/>
                <a:cs typeface="微软雅黑" panose="020B0503020204020204" charset="-122"/>
              </a:rPr>
              <a:t>（Nuclei</a:t>
            </a:r>
            <a:r>
              <a:rPr sz="1600" spc="-15" dirty="0">
                <a:latin typeface="微软雅黑" panose="020B0503020204020204" charset="-122"/>
                <a:cs typeface="微软雅黑" panose="020B0503020204020204" charset="-122"/>
              </a:rPr>
              <a:t> System</a:t>
            </a:r>
            <a:r>
              <a:rPr sz="1600" spc="-10" dirty="0">
                <a:latin typeface="微软雅黑" panose="020B0503020204020204" charset="-122"/>
                <a:cs typeface="微软雅黑" panose="020B0503020204020204" charset="-122"/>
              </a:rPr>
              <a:t> </a:t>
            </a:r>
            <a:r>
              <a:rPr sz="1600" spc="-20" dirty="0">
                <a:latin typeface="微软雅黑" panose="020B0503020204020204" charset="-122"/>
                <a:cs typeface="微软雅黑" panose="020B0503020204020204" charset="-122"/>
              </a:rPr>
              <a:t>Technology）</a:t>
            </a:r>
            <a:r>
              <a:rPr sz="1600" dirty="0">
                <a:latin typeface="微软雅黑" panose="020B0503020204020204" charset="-122"/>
                <a:cs typeface="微软雅黑" panose="020B0503020204020204" charset="-122"/>
              </a:rPr>
              <a:t>创立于</a:t>
            </a:r>
            <a:r>
              <a:rPr sz="1600" spc="-5" dirty="0">
                <a:latin typeface="微软雅黑" panose="020B0503020204020204" charset="-122"/>
                <a:cs typeface="微软雅黑" panose="020B0503020204020204" charset="-122"/>
              </a:rPr>
              <a:t>2018</a:t>
            </a:r>
            <a:r>
              <a:rPr sz="1600" dirty="0">
                <a:latin typeface="微软雅黑" panose="020B0503020204020204" charset="-122"/>
                <a:cs typeface="微软雅黑" panose="020B0503020204020204" charset="-122"/>
              </a:rPr>
              <a:t>年，是中国大陆</a:t>
            </a:r>
            <a:r>
              <a:rPr sz="1600" spc="-5" dirty="0">
                <a:latin typeface="微软雅黑" panose="020B0503020204020204" charset="-122"/>
                <a:cs typeface="微软雅黑" panose="020B0503020204020204" charset="-122"/>
              </a:rPr>
              <a:t>最 </a:t>
            </a:r>
            <a:r>
              <a:rPr sz="1600" dirty="0">
                <a:latin typeface="微软雅黑" panose="020B0503020204020204" charset="-122"/>
                <a:cs typeface="微软雅黑" panose="020B0503020204020204" charset="-122"/>
              </a:rPr>
              <a:t>有代表性的新创</a:t>
            </a: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处理器内核</a:t>
            </a:r>
            <a:r>
              <a:rPr sz="1600" spc="-5" dirty="0">
                <a:latin typeface="微软雅黑" panose="020B0503020204020204" charset="-122"/>
                <a:cs typeface="微软雅黑" panose="020B0503020204020204" charset="-122"/>
              </a:rPr>
              <a:t>IP</a:t>
            </a:r>
            <a:r>
              <a:rPr sz="1600" dirty="0">
                <a:latin typeface="微软雅黑" panose="020B0503020204020204" charset="-122"/>
                <a:cs typeface="微软雅黑" panose="020B0503020204020204" charset="-122"/>
              </a:rPr>
              <a:t>和解决方案公司</a:t>
            </a:r>
            <a:r>
              <a:rPr sz="1600" spc="-5" dirty="0">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a:p>
            <a:pPr marL="12700" marR="86360">
              <a:lnSpc>
                <a:spcPct val="150000"/>
              </a:lnSpc>
              <a:spcBef>
                <a:spcPts val="1200"/>
              </a:spcBef>
              <a:buSzPct val="94000"/>
              <a:buFont typeface="Wingdings" panose="05000000000000000000"/>
              <a:buChar char=""/>
              <a:tabLst>
                <a:tab pos="165100" algn="l"/>
              </a:tabLst>
            </a:pPr>
            <a:r>
              <a:rPr sz="1600" dirty="0">
                <a:latin typeface="微软雅黑" panose="020B0503020204020204" charset="-122"/>
                <a:cs typeface="微软雅黑" panose="020B0503020204020204" charset="-122"/>
              </a:rPr>
              <a:t>公司从创立之初便聚焦</a:t>
            </a: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处理器内核研发，助力本土</a:t>
            </a: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生态</a:t>
            </a:r>
            <a:r>
              <a:rPr sz="1600" spc="-5" dirty="0">
                <a:latin typeface="微软雅黑" panose="020B0503020204020204" charset="-122"/>
                <a:cs typeface="微软雅黑" panose="020B0503020204020204" charset="-122"/>
              </a:rPr>
              <a:t>建 </a:t>
            </a:r>
            <a:r>
              <a:rPr sz="1600" dirty="0">
                <a:latin typeface="微软雅黑" panose="020B0503020204020204" charset="-122"/>
                <a:cs typeface="微软雅黑" panose="020B0503020204020204" charset="-122"/>
              </a:rPr>
              <a:t>设，为本土产业赋能</a:t>
            </a:r>
            <a:r>
              <a:rPr sz="1600" spc="-5" dirty="0">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a:p>
            <a:pPr marL="12700" marR="5080">
              <a:lnSpc>
                <a:spcPct val="150000"/>
              </a:lnSpc>
              <a:spcBef>
                <a:spcPts val="1200"/>
              </a:spcBef>
              <a:buSzPct val="94000"/>
              <a:buFont typeface="Wingdings" panose="05000000000000000000"/>
              <a:buChar char=""/>
              <a:tabLst>
                <a:tab pos="165100" algn="l"/>
              </a:tabLst>
            </a:pPr>
            <a:r>
              <a:rPr sz="1600" dirty="0">
                <a:latin typeface="微软雅黑" panose="020B0503020204020204" charset="-122"/>
                <a:cs typeface="微软雅黑" panose="020B0503020204020204" charset="-122"/>
              </a:rPr>
              <a:t>公司自成立以来发展迅猛，在短短数月之内便完成了团队搭建、千万级</a:t>
            </a:r>
            <a:r>
              <a:rPr sz="1600" spc="-5" dirty="0">
                <a:latin typeface="微软雅黑" panose="020B0503020204020204" charset="-122"/>
                <a:cs typeface="微软雅黑" panose="020B0503020204020204" charset="-122"/>
              </a:rPr>
              <a:t>天 </a:t>
            </a:r>
            <a:r>
              <a:rPr sz="1600" dirty="0">
                <a:latin typeface="微软雅黑" panose="020B0503020204020204" charset="-122"/>
                <a:cs typeface="微软雅黑" panose="020B0503020204020204" charset="-122"/>
              </a:rPr>
              <a:t>使轮融资、新产品研发交付等关键步骤</a:t>
            </a:r>
            <a:r>
              <a:rPr sz="1600" spc="-5" dirty="0">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a:p>
            <a:pPr marL="12700" marR="86360">
              <a:lnSpc>
                <a:spcPct val="150000"/>
              </a:lnSpc>
              <a:spcBef>
                <a:spcPts val="1200"/>
              </a:spcBef>
              <a:buSzPct val="94000"/>
              <a:buFont typeface="Wingdings" panose="05000000000000000000"/>
              <a:buChar char=""/>
              <a:tabLst>
                <a:tab pos="165100" algn="l"/>
              </a:tabLst>
            </a:pPr>
            <a:r>
              <a:rPr sz="1600" dirty="0">
                <a:latin typeface="微软雅黑" panose="020B0503020204020204" charset="-122"/>
                <a:cs typeface="微软雅黑" panose="020B0503020204020204" charset="-122"/>
              </a:rPr>
              <a:t>芯来科技目前是</a:t>
            </a: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基金会银级会员，中国</a:t>
            </a: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产业联盟副理事</a:t>
            </a:r>
            <a:r>
              <a:rPr sz="1600" spc="-5" dirty="0">
                <a:latin typeface="微软雅黑" panose="020B0503020204020204" charset="-122"/>
                <a:cs typeface="微软雅黑" panose="020B0503020204020204" charset="-122"/>
              </a:rPr>
              <a:t>长 </a:t>
            </a:r>
            <a:r>
              <a:rPr sz="1600" dirty="0">
                <a:latin typeface="微软雅黑" panose="020B0503020204020204" charset="-122"/>
                <a:cs typeface="微软雅黑" panose="020B0503020204020204" charset="-122"/>
              </a:rPr>
              <a:t>单位，以及中国开放指令集生态</a:t>
            </a:r>
            <a:r>
              <a:rPr sz="1600" spc="-5" dirty="0">
                <a:latin typeface="微软雅黑" panose="020B0503020204020204" charset="-122"/>
                <a:cs typeface="微软雅黑" panose="020B0503020204020204" charset="-122"/>
              </a:rPr>
              <a:t>（RISC-V）</a:t>
            </a:r>
            <a:r>
              <a:rPr sz="1600" dirty="0">
                <a:latin typeface="微软雅黑" panose="020B0503020204020204" charset="-122"/>
                <a:cs typeface="微软雅黑" panose="020B0503020204020204" charset="-122"/>
              </a:rPr>
              <a:t>联盟会员单位</a:t>
            </a:r>
            <a:r>
              <a:rPr sz="1600" spc="-5" dirty="0">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p:txBody>
      </p:sp>
      <p:sp>
        <p:nvSpPr>
          <p:cNvPr id="5" name="object 5"/>
          <p:cNvSpPr/>
          <p:nvPr/>
        </p:nvSpPr>
        <p:spPr>
          <a:xfrm>
            <a:off x="9133331" y="0"/>
            <a:ext cx="3058668" cy="1760220"/>
          </a:xfrm>
          <a:prstGeom prst="rect">
            <a:avLst/>
          </a:prstGeom>
          <a:blipFill>
            <a:blip r:embed="rId1" cstate="print"/>
            <a:stretch>
              <a:fillRect/>
            </a:stretch>
          </a:blipFill>
        </p:spPr>
        <p:txBody>
          <a:bodyPr wrap="square" lIns="0" tIns="0" rIns="0" bIns="0" rtlCol="0"/>
          <a:lstStyle/>
          <a:p/>
        </p:txBody>
      </p:sp>
      <p:sp>
        <p:nvSpPr>
          <p:cNvPr id="6" name="object 6"/>
          <p:cNvSpPr/>
          <p:nvPr/>
        </p:nvSpPr>
        <p:spPr>
          <a:xfrm>
            <a:off x="9133331" y="1955292"/>
            <a:ext cx="3058668" cy="1931289"/>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9133331" y="4085844"/>
            <a:ext cx="3058668" cy="2043683"/>
          </a:xfrm>
          <a:prstGeom prst="rect">
            <a:avLst/>
          </a:prstGeom>
          <a:blipFill>
            <a:blip r:embed="rId3" cstate="print"/>
            <a:stretch>
              <a:fillRect/>
            </a:stretch>
          </a:blipFill>
        </p:spPr>
        <p:txBody>
          <a:bodyPr wrap="square" lIns="0" tIns="0" rIns="0" bIns="0" rtlCol="0"/>
          <a:lstStyle/>
          <a:p/>
        </p:txBody>
      </p:sp>
      <p:sp>
        <p:nvSpPr>
          <p:cNvPr id="8" name="object 8"/>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2150" y="415925"/>
            <a:ext cx="457073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rPr>
              <a:t>想更深入了解RI</a:t>
            </a:r>
            <a:r>
              <a:rPr sz="3600" spc="-5" dirty="0">
                <a:solidFill>
                  <a:srgbClr val="C00000"/>
                </a:solidFill>
              </a:rPr>
              <a:t>S</a:t>
            </a:r>
            <a:r>
              <a:rPr sz="3600" dirty="0">
                <a:solidFill>
                  <a:srgbClr val="C00000"/>
                </a:solidFill>
              </a:rPr>
              <a:t>C</a:t>
            </a:r>
            <a:r>
              <a:rPr sz="3600" spc="-5" dirty="0">
                <a:solidFill>
                  <a:srgbClr val="C00000"/>
                </a:solidFill>
              </a:rPr>
              <a:t>-</a:t>
            </a:r>
            <a:r>
              <a:rPr sz="3600" spc="20" dirty="0">
                <a:solidFill>
                  <a:srgbClr val="C00000"/>
                </a:solidFill>
              </a:rPr>
              <a:t>V</a:t>
            </a:r>
            <a:r>
              <a:rPr sz="3600" dirty="0">
                <a:solidFill>
                  <a:srgbClr val="C00000"/>
                </a:solidFill>
              </a:rPr>
              <a:t>?</a:t>
            </a:r>
            <a:endParaRPr sz="3600"/>
          </a:p>
        </p:txBody>
      </p:sp>
      <p:sp>
        <p:nvSpPr>
          <p:cNvPr id="3" name="object 3"/>
          <p:cNvSpPr/>
          <p:nvPr/>
        </p:nvSpPr>
        <p:spPr>
          <a:xfrm>
            <a:off x="0" y="377952"/>
            <a:ext cx="433070" cy="715010"/>
          </a:xfrm>
          <a:custGeom>
            <a:avLst/>
            <a:gdLst/>
            <a:ahLst/>
            <a:cxnLst/>
            <a:rect l="l" t="t" r="r" b="b"/>
            <a:pathLst>
              <a:path w="433070" h="715010">
                <a:moveTo>
                  <a:pt x="0" y="714756"/>
                </a:moveTo>
                <a:lnTo>
                  <a:pt x="0" y="0"/>
                </a:lnTo>
                <a:lnTo>
                  <a:pt x="432816" y="0"/>
                </a:lnTo>
                <a:lnTo>
                  <a:pt x="432816" y="714756"/>
                </a:lnTo>
                <a:lnTo>
                  <a:pt x="0" y="714756"/>
                </a:lnTo>
                <a:close/>
              </a:path>
            </a:pathLst>
          </a:custGeom>
          <a:solidFill>
            <a:srgbClr val="C00000"/>
          </a:solidFill>
        </p:spPr>
        <p:txBody>
          <a:bodyPr wrap="square" lIns="0" tIns="0" rIns="0" bIns="0" rtlCol="0"/>
          <a:lstStyle/>
          <a:p/>
        </p:txBody>
      </p:sp>
      <p:sp>
        <p:nvSpPr>
          <p:cNvPr id="4" name="object 4"/>
          <p:cNvSpPr/>
          <p:nvPr/>
        </p:nvSpPr>
        <p:spPr>
          <a:xfrm>
            <a:off x="1086529" y="2050760"/>
            <a:ext cx="1513698" cy="1533970"/>
          </a:xfrm>
          <a:prstGeom prst="rect">
            <a:avLst/>
          </a:prstGeom>
          <a:blipFill>
            <a:blip r:embed="rId1" cstate="print"/>
            <a:stretch>
              <a:fillRect/>
            </a:stretch>
          </a:blipFill>
        </p:spPr>
        <p:txBody>
          <a:bodyPr wrap="square" lIns="0" tIns="0" rIns="0" bIns="0" rtlCol="0"/>
          <a:lstStyle/>
          <a:p/>
        </p:txBody>
      </p:sp>
      <p:sp>
        <p:nvSpPr>
          <p:cNvPr id="5" name="object 5"/>
          <p:cNvSpPr txBox="1"/>
          <p:nvPr/>
        </p:nvSpPr>
        <p:spPr>
          <a:xfrm>
            <a:off x="1227455" y="1515109"/>
            <a:ext cx="124460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C00000"/>
                </a:solidFill>
                <a:latin typeface="微软雅黑" panose="020B0503020204020204" charset="-122"/>
                <a:cs typeface="微软雅黑" panose="020B0503020204020204" charset="-122"/>
              </a:rPr>
              <a:t>关注我们</a:t>
            </a:r>
            <a:endParaRPr sz="2400">
              <a:latin typeface="微软雅黑" panose="020B0503020204020204" charset="-122"/>
              <a:cs typeface="微软雅黑" panose="020B0503020204020204" charset="-122"/>
            </a:endParaRPr>
          </a:p>
        </p:txBody>
      </p:sp>
      <p:sp>
        <p:nvSpPr>
          <p:cNvPr id="6" name="object 6"/>
          <p:cNvSpPr txBox="1"/>
          <p:nvPr/>
        </p:nvSpPr>
        <p:spPr>
          <a:xfrm>
            <a:off x="3854450" y="1236980"/>
            <a:ext cx="5004435" cy="4024629"/>
          </a:xfrm>
          <a:prstGeom prst="rect">
            <a:avLst/>
          </a:prstGeom>
        </p:spPr>
        <p:txBody>
          <a:bodyPr vert="horz" wrap="square" lIns="0" tIns="13335" rIns="0" bIns="0" rtlCol="0">
            <a:spAutoFit/>
          </a:bodyPr>
          <a:lstStyle/>
          <a:p>
            <a:pPr marL="1553845">
              <a:lnSpc>
                <a:spcPct val="100000"/>
              </a:lnSpc>
              <a:spcBef>
                <a:spcPts val="105"/>
              </a:spcBef>
            </a:pPr>
            <a:r>
              <a:rPr sz="3200" b="1" dirty="0">
                <a:solidFill>
                  <a:srgbClr val="C00000"/>
                </a:solidFill>
                <a:latin typeface="微软雅黑" panose="020B0503020204020204" charset="-122"/>
                <a:cs typeface="微软雅黑" panose="020B0503020204020204" charset="-122"/>
              </a:rPr>
              <a:t>加入我</a:t>
            </a:r>
            <a:r>
              <a:rPr sz="3200" b="1" spc="5" dirty="0">
                <a:solidFill>
                  <a:srgbClr val="C00000"/>
                </a:solidFill>
                <a:latin typeface="微软雅黑" panose="020B0503020204020204" charset="-122"/>
                <a:cs typeface="微软雅黑" panose="020B0503020204020204" charset="-122"/>
              </a:rPr>
              <a:t>们</a:t>
            </a:r>
            <a:endParaRPr sz="3200">
              <a:latin typeface="微软雅黑" panose="020B0503020204020204" charset="-122"/>
              <a:cs typeface="微软雅黑" panose="020B0503020204020204" charset="-122"/>
            </a:endParaRPr>
          </a:p>
          <a:p>
            <a:pPr marL="12700" marR="130175">
              <a:lnSpc>
                <a:spcPct val="150000"/>
              </a:lnSpc>
              <a:spcBef>
                <a:spcPts val="1360"/>
              </a:spcBef>
            </a:pPr>
            <a:r>
              <a:rPr sz="1400" spc="-5" dirty="0">
                <a:latin typeface="微软雅黑" panose="020B0503020204020204" charset="-122"/>
                <a:cs typeface="微软雅黑" panose="020B0503020204020204" charset="-122"/>
              </a:rPr>
              <a:t>芯来科技诚招热爱RISC-</a:t>
            </a:r>
            <a:r>
              <a:rPr sz="1400" spc="-10" dirty="0">
                <a:latin typeface="微软雅黑" panose="020B0503020204020204" charset="-122"/>
                <a:cs typeface="微软雅黑" panose="020B0503020204020204" charset="-122"/>
              </a:rPr>
              <a:t>V</a:t>
            </a:r>
            <a:r>
              <a:rPr sz="1400" dirty="0">
                <a:latin typeface="微软雅黑" panose="020B0503020204020204" charset="-122"/>
                <a:cs typeface="微软雅黑" panose="020B0503020204020204" charset="-122"/>
              </a:rPr>
              <a:t>的你加入，与这个充满激情团队一</a:t>
            </a:r>
            <a:r>
              <a:rPr sz="1400" dirty="0">
                <a:latin typeface="微软雅黑" panose="020B0503020204020204" charset="-122"/>
                <a:cs typeface="微软雅黑" panose="020B0503020204020204" charset="-122"/>
              </a:rPr>
              <a:t>起 </a:t>
            </a:r>
            <a:r>
              <a:rPr sz="1400" dirty="0">
                <a:latin typeface="微软雅黑" panose="020B0503020204020204" charset="-122"/>
                <a:cs typeface="微软雅黑" panose="020B0503020204020204" charset="-122"/>
              </a:rPr>
              <a:t>快速成长</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12700" marR="5080" algn="just">
              <a:lnSpc>
                <a:spcPct val="150000"/>
              </a:lnSpc>
            </a:pPr>
            <a:r>
              <a:rPr sz="1400" dirty="0">
                <a:latin typeface="微软雅黑" panose="020B0503020204020204" charset="-122"/>
                <a:cs typeface="微软雅黑" panose="020B0503020204020204" charset="-122"/>
              </a:rPr>
              <a:t>这里有行业内有竞争力的薪资，有着未来可期的股权激励机制</a:t>
            </a:r>
            <a:r>
              <a:rPr sz="1400" dirty="0">
                <a:latin typeface="微软雅黑" panose="020B0503020204020204" charset="-122"/>
                <a:cs typeface="微软雅黑" panose="020B0503020204020204" charset="-122"/>
              </a:rPr>
              <a:t>。 </a:t>
            </a:r>
            <a:r>
              <a:rPr sz="1400" dirty="0">
                <a:latin typeface="微软雅黑" panose="020B0503020204020204" charset="-122"/>
                <a:cs typeface="微软雅黑" panose="020B0503020204020204" charset="-122"/>
              </a:rPr>
              <a:t>这里大牛云集、高配团队、弹性工作、环境舒适、五险一金、</a:t>
            </a:r>
            <a:r>
              <a:rPr sz="1400" dirty="0">
                <a:latin typeface="微软雅黑" panose="020B0503020204020204" charset="-122"/>
                <a:cs typeface="微软雅黑" panose="020B0503020204020204" charset="-122"/>
              </a:rPr>
              <a:t>佳 </a:t>
            </a:r>
            <a:r>
              <a:rPr sz="1400" dirty="0">
                <a:latin typeface="微软雅黑" panose="020B0503020204020204" charset="-122"/>
                <a:cs typeface="微软雅黑" panose="020B0503020204020204" charset="-122"/>
              </a:rPr>
              <a:t>节福利</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12700" marR="130175">
              <a:lnSpc>
                <a:spcPct val="150000"/>
              </a:lnSpc>
            </a:pPr>
            <a:r>
              <a:rPr sz="1400" spc="-5" dirty="0">
                <a:latin typeface="微软雅黑" panose="020B0503020204020204" charset="-122"/>
                <a:cs typeface="微软雅黑" panose="020B0503020204020204" charset="-122"/>
              </a:rPr>
              <a:t>如果你想学到RISC-</a:t>
            </a:r>
            <a:r>
              <a:rPr sz="1400" spc="-10" dirty="0">
                <a:latin typeface="微软雅黑" panose="020B0503020204020204" charset="-122"/>
                <a:cs typeface="微软雅黑" panose="020B0503020204020204" charset="-122"/>
              </a:rPr>
              <a:t>V</a:t>
            </a:r>
            <a:r>
              <a:rPr sz="1400" dirty="0">
                <a:latin typeface="微软雅黑" panose="020B0503020204020204" charset="-122"/>
                <a:cs typeface="微软雅黑" panose="020B0503020204020204" charset="-122"/>
              </a:rPr>
              <a:t>的软硬件各方面知识与技能，如果你想</a:t>
            </a:r>
            <a:r>
              <a:rPr sz="1400" dirty="0">
                <a:latin typeface="微软雅黑" panose="020B0503020204020204" charset="-122"/>
                <a:cs typeface="微软雅黑" panose="020B0503020204020204" charset="-122"/>
              </a:rPr>
              <a:t>在 </a:t>
            </a:r>
            <a:r>
              <a:rPr sz="1400" dirty="0">
                <a:latin typeface="微软雅黑" panose="020B0503020204020204" charset="-122"/>
                <a:cs typeface="微软雅黑" panose="020B0503020204020204" charset="-122"/>
              </a:rPr>
              <a:t>最短的时间内成长为一名技术大牛，这里有你想要的所有</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a:p>
            <a:pPr marL="12700">
              <a:lnSpc>
                <a:spcPct val="100000"/>
              </a:lnSpc>
              <a:spcBef>
                <a:spcPts val="935"/>
              </a:spcBef>
            </a:pPr>
            <a:r>
              <a:rPr sz="1600" b="1" spc="-5" dirty="0">
                <a:latin typeface="微软雅黑" panose="020B0503020204020204" charset="-122"/>
                <a:cs typeface="微软雅黑" panose="020B0503020204020204" charset="-122"/>
              </a:rPr>
              <a:t>What </a:t>
            </a:r>
            <a:r>
              <a:rPr sz="1600" b="1" spc="-10" dirty="0">
                <a:latin typeface="微软雅黑" panose="020B0503020204020204" charset="-122"/>
                <a:cs typeface="微软雅黑" panose="020B0503020204020204" charset="-122"/>
              </a:rPr>
              <a:t>are you </a:t>
            </a:r>
            <a:r>
              <a:rPr sz="1600" b="1" spc="-5" dirty="0">
                <a:latin typeface="微软雅黑" panose="020B0503020204020204" charset="-122"/>
                <a:cs typeface="微软雅黑" panose="020B0503020204020204" charset="-122"/>
              </a:rPr>
              <a:t>waiting for</a:t>
            </a:r>
            <a:r>
              <a:rPr sz="1600" b="1" spc="20" dirty="0">
                <a:latin typeface="微软雅黑" panose="020B0503020204020204" charset="-122"/>
                <a:cs typeface="微软雅黑" panose="020B0503020204020204" charset="-122"/>
              </a:rPr>
              <a:t> </a:t>
            </a:r>
            <a:r>
              <a:rPr sz="1600" b="1" spc="-5" dirty="0">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a:p>
            <a:pPr marL="12700" marR="415290">
              <a:lnSpc>
                <a:spcPct val="141000"/>
              </a:lnSpc>
              <a:spcBef>
                <a:spcPts val="165"/>
              </a:spcBef>
            </a:pPr>
            <a:r>
              <a:rPr sz="1400" dirty="0">
                <a:latin typeface="微软雅黑" panose="020B0503020204020204" charset="-122"/>
                <a:cs typeface="微软雅黑" panose="020B0503020204020204" charset="-122"/>
              </a:rPr>
              <a:t>有意向的同仁，</a:t>
            </a:r>
            <a:r>
              <a:rPr sz="1400" dirty="0">
                <a:latin typeface="微软雅黑" panose="020B0503020204020204" charset="-122"/>
                <a:cs typeface="微软雅黑" panose="020B0503020204020204" charset="-122"/>
                <a:hlinkClick r:id="rId2"/>
              </a:rPr>
              <a:t>请将简历发送至</a:t>
            </a:r>
            <a:r>
              <a:rPr sz="1800" b="1" spc="-5" dirty="0">
                <a:solidFill>
                  <a:srgbClr val="C00000"/>
                </a:solidFill>
                <a:latin typeface="微软雅黑" panose="020B0503020204020204" charset="-122"/>
                <a:cs typeface="微软雅黑" panose="020B0503020204020204" charset="-122"/>
                <a:hlinkClick r:id="rId2"/>
              </a:rPr>
              <a:t>h</a:t>
            </a:r>
            <a:r>
              <a:rPr sz="1800" b="1" dirty="0">
                <a:solidFill>
                  <a:srgbClr val="C00000"/>
                </a:solidFill>
                <a:latin typeface="微软雅黑" panose="020B0503020204020204" charset="-122"/>
                <a:cs typeface="微软雅黑" panose="020B0503020204020204" charset="-122"/>
                <a:hlinkClick r:id="rId2"/>
              </a:rPr>
              <a:t>r@</a:t>
            </a:r>
            <a:r>
              <a:rPr sz="1800" b="1" spc="-5" dirty="0">
                <a:solidFill>
                  <a:srgbClr val="C00000"/>
                </a:solidFill>
                <a:latin typeface="微软雅黑" panose="020B0503020204020204" charset="-122"/>
                <a:cs typeface="微软雅黑" panose="020B0503020204020204" charset="-122"/>
                <a:hlinkClick r:id="rId2"/>
              </a:rPr>
              <a:t>nu</a:t>
            </a:r>
            <a:r>
              <a:rPr sz="1800" b="1" dirty="0">
                <a:solidFill>
                  <a:srgbClr val="C00000"/>
                </a:solidFill>
                <a:latin typeface="微软雅黑" panose="020B0503020204020204" charset="-122"/>
                <a:cs typeface="微软雅黑" panose="020B0503020204020204" charset="-122"/>
                <a:hlinkClick r:id="rId2"/>
              </a:rPr>
              <a:t>cleisys.com </a:t>
            </a:r>
            <a:r>
              <a:rPr sz="1400" dirty="0">
                <a:latin typeface="微软雅黑" panose="020B0503020204020204" charset="-122"/>
                <a:cs typeface="微软雅黑" panose="020B0503020204020204" charset="-122"/>
              </a:rPr>
              <a:t>邮箱标题注明：姓名</a:t>
            </a:r>
            <a:r>
              <a:rPr sz="1400" spc="-5" dirty="0">
                <a:latin typeface="微软雅黑" panose="020B0503020204020204" charset="-122"/>
                <a:cs typeface="微软雅黑" panose="020B0503020204020204" charset="-122"/>
              </a:rPr>
              <a:t>+</a:t>
            </a:r>
            <a:r>
              <a:rPr sz="1400" dirty="0">
                <a:latin typeface="微软雅黑" panose="020B0503020204020204" charset="-122"/>
                <a:cs typeface="微软雅黑" panose="020B0503020204020204" charset="-122"/>
              </a:rPr>
              <a:t>应聘岗位</a:t>
            </a:r>
            <a:r>
              <a:rPr sz="1400" spc="5" dirty="0">
                <a:latin typeface="微软雅黑" panose="020B0503020204020204" charset="-122"/>
                <a:cs typeface="微软雅黑" panose="020B0503020204020204" charset="-122"/>
              </a:rPr>
              <a:t>。</a:t>
            </a:r>
            <a:endParaRPr sz="1400">
              <a:latin typeface="微软雅黑" panose="020B0503020204020204" charset="-122"/>
              <a:cs typeface="微软雅黑" panose="020B0503020204020204" charset="-122"/>
            </a:endParaRPr>
          </a:p>
        </p:txBody>
      </p:sp>
      <p:sp>
        <p:nvSpPr>
          <p:cNvPr id="7" name="object 7"/>
          <p:cNvSpPr txBox="1"/>
          <p:nvPr/>
        </p:nvSpPr>
        <p:spPr>
          <a:xfrm rot="19980000">
            <a:off x="2777478" y="3110173"/>
            <a:ext cx="800589" cy="565150"/>
          </a:xfrm>
          <a:prstGeom prst="rect">
            <a:avLst/>
          </a:prstGeom>
        </p:spPr>
        <p:txBody>
          <a:bodyPr vert="horz" wrap="square" lIns="0" tIns="0" rIns="0" bIns="0" rtlCol="0">
            <a:spAutoFit/>
          </a:bodyPr>
          <a:lstStyle/>
          <a:p>
            <a:pPr>
              <a:lnSpc>
                <a:spcPts val="4450"/>
              </a:lnSpc>
            </a:pPr>
            <a:r>
              <a:rPr sz="4450" b="1" dirty="0">
                <a:solidFill>
                  <a:srgbClr val="C00000"/>
                </a:solidFill>
                <a:latin typeface="微软雅黑" panose="020B0503020204020204" charset="-122"/>
                <a:cs typeface="微软雅黑" panose="020B0503020204020204" charset="-122"/>
              </a:rPr>
              <a:t>或</a:t>
            </a:r>
            <a:endParaRPr sz="4450">
              <a:latin typeface="微软雅黑" panose="020B0503020204020204" charset="-122"/>
              <a:cs typeface="微软雅黑" panose="020B0503020204020204" charset="-122"/>
            </a:endParaRPr>
          </a:p>
        </p:txBody>
      </p:sp>
      <p:sp>
        <p:nvSpPr>
          <p:cNvPr id="8" name="object 8"/>
          <p:cNvSpPr/>
          <p:nvPr/>
        </p:nvSpPr>
        <p:spPr>
          <a:xfrm>
            <a:off x="9288780" y="3326891"/>
            <a:ext cx="1542287" cy="1542288"/>
          </a:xfrm>
          <a:prstGeom prst="rect">
            <a:avLst/>
          </a:prstGeom>
          <a:blipFill>
            <a:blip r:embed="rId3" cstate="print"/>
            <a:stretch>
              <a:fillRect/>
            </a:stretch>
          </a:blipFill>
        </p:spPr>
        <p:txBody>
          <a:bodyPr wrap="square" lIns="0" tIns="0" rIns="0" bIns="0" rtlCol="0"/>
          <a:lstStyle/>
          <a:p/>
        </p:txBody>
      </p:sp>
      <p:sp>
        <p:nvSpPr>
          <p:cNvPr id="9" name="object 9"/>
          <p:cNvSpPr txBox="1"/>
          <p:nvPr/>
        </p:nvSpPr>
        <p:spPr>
          <a:xfrm>
            <a:off x="9438640" y="2249170"/>
            <a:ext cx="1244600" cy="756920"/>
          </a:xfrm>
          <a:prstGeom prst="rect">
            <a:avLst/>
          </a:prstGeom>
        </p:spPr>
        <p:txBody>
          <a:bodyPr vert="horz" wrap="square" lIns="0" tIns="12700" rIns="0" bIns="0" rtlCol="0">
            <a:spAutoFit/>
          </a:bodyPr>
          <a:lstStyle/>
          <a:p>
            <a:pPr marL="135255" marR="5080" indent="-123190">
              <a:lnSpc>
                <a:spcPct val="100000"/>
              </a:lnSpc>
              <a:spcBef>
                <a:spcPts val="100"/>
              </a:spcBef>
              <a:tabLst>
                <a:tab pos="803275" algn="l"/>
              </a:tabLst>
            </a:pPr>
            <a:r>
              <a:rPr sz="2400" b="1" dirty="0">
                <a:solidFill>
                  <a:srgbClr val="C00000"/>
                </a:solidFill>
                <a:latin typeface="微软雅黑" panose="020B0503020204020204" charset="-122"/>
                <a:cs typeface="微软雅黑" panose="020B0503020204020204" charset="-122"/>
              </a:rPr>
              <a:t>招聘链接 请	扫</a:t>
            </a:r>
            <a:endParaRPr sz="2400">
              <a:latin typeface="微软雅黑" panose="020B0503020204020204" charset="-122"/>
              <a:cs typeface="微软雅黑" panose="020B0503020204020204" charset="-122"/>
            </a:endParaRPr>
          </a:p>
        </p:txBody>
      </p:sp>
      <p:sp>
        <p:nvSpPr>
          <p:cNvPr id="10" name="object 10"/>
          <p:cNvSpPr/>
          <p:nvPr/>
        </p:nvSpPr>
        <p:spPr>
          <a:xfrm>
            <a:off x="1076936" y="3854993"/>
            <a:ext cx="1524567" cy="1509522"/>
          </a:xfrm>
          <a:prstGeom prst="rect">
            <a:avLst/>
          </a:prstGeom>
          <a:blipFill>
            <a:blip r:embed="rId4" cstate="print"/>
            <a:stretch>
              <a:fillRect/>
            </a:stretch>
          </a:blipFill>
        </p:spPr>
        <p:txBody>
          <a:bodyPr wrap="square" lIns="0" tIns="0" rIns="0" bIns="0" rtlCol="0"/>
          <a:lstStyle/>
          <a:p/>
        </p:txBody>
      </p:sp>
      <p:sp>
        <p:nvSpPr>
          <p:cNvPr id="11" name="object 11"/>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14038</Words>
  <Application>WPS 演示</Application>
  <PresentationFormat>On-screen Show (4:3)</PresentationFormat>
  <Paragraphs>1625</Paragraphs>
  <Slides>60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60</vt:i4>
      </vt:variant>
    </vt:vector>
  </HeadingPairs>
  <TitlesOfParts>
    <vt:vector size="70" baseType="lpstr">
      <vt:lpstr>Arial</vt:lpstr>
      <vt:lpstr>宋体</vt:lpstr>
      <vt:lpstr>Wingdings</vt:lpstr>
      <vt:lpstr>微软雅黑</vt:lpstr>
      <vt:lpstr>Wingdings</vt:lpstr>
      <vt:lpstr>Calibri</vt:lpstr>
      <vt:lpstr>Times New Roman</vt:lpstr>
      <vt:lpstr>Arial Unicode MS</vt:lpstr>
      <vt:lpstr>Calibri</vt:lpstr>
      <vt:lpstr>Office Theme</vt:lpstr>
      <vt:lpstr>面向物联网的开源RISC-V 处理器的设计和开发</vt:lpstr>
      <vt:lpstr>自我介绍</vt:lpstr>
      <vt:lpstr>Agenda</vt:lpstr>
      <vt:lpstr>Agenda</vt:lpstr>
      <vt:lpstr>指令集架构</vt:lpstr>
      <vt:lpstr>指令集架构和微架构</vt:lpstr>
      <vt:lpstr>架构乐园</vt:lpstr>
      <vt:lpstr>RISC-V的诞生</vt:lpstr>
      <vt:lpstr>RISC-V阵营不断扩大</vt:lpstr>
      <vt:lpstr>Agenda</vt:lpstr>
      <vt:lpstr>处理器设计和验证的特点</vt:lpstr>
      <vt:lpstr>蜂鸟E203的设计目标和哲学</vt:lpstr>
      <vt:lpstr>蜂鸟E203开源项目</vt:lpstr>
      <vt:lpstr>蜂鸟E203系统结构</vt:lpstr>
      <vt:lpstr>蜂鸟E203模块层次划分</vt:lpstr>
      <vt:lpstr>蜂鸟E203流水线设计</vt:lpstr>
      <vt:lpstr>蜂鸟E203取指单元</vt:lpstr>
      <vt:lpstr>蜂鸟E203执行单元</vt:lpstr>
      <vt:lpstr>蜂鸟E203存储架构设计</vt:lpstr>
      <vt:lpstr>蜂鸟E203存储架构设计</vt:lpstr>
      <vt:lpstr>蜂鸟E203总线协议ICB</vt:lpstr>
      <vt:lpstr>蜂鸟E203总线接口单元</vt:lpstr>
      <vt:lpstr>蜂鸟E203的中断和异常</vt:lpstr>
      <vt:lpstr>蜂鸟E203的中断和异常</vt:lpstr>
      <vt:lpstr>蜂鸟E203的调试机制</vt:lpstr>
      <vt:lpstr>蜂鸟E203的低功耗的诀窍</vt:lpstr>
      <vt:lpstr>蜂鸟E203的扩展性</vt:lpstr>
      <vt:lpstr>蜂鸟E203的扩展性</vt:lpstr>
      <vt:lpstr>蜂鸟E203 SoC</vt:lpstr>
      <vt:lpstr>蜂鸟E203 开发环境</vt:lpstr>
      <vt:lpstr>专用FPGA开发板和调试器</vt:lpstr>
      <vt:lpstr>通过FPGA进行仿真</vt:lpstr>
      <vt:lpstr>蜂鸟E203的贡献</vt:lpstr>
      <vt:lpstr>Agenda</vt:lpstr>
      <vt:lpstr>PowerPoint 演示文稿</vt:lpstr>
      <vt:lpstr>PowerPoint 演示文稿</vt:lpstr>
      <vt:lpstr>Agenda</vt:lpstr>
      <vt:lpstr>PowerPoint 演示文稿</vt:lpstr>
      <vt:lpstr>Agenda</vt:lpstr>
      <vt:lpstr>误区1:此开放非彼开放</vt:lpstr>
      <vt:lpstr>误区2:此FREE非彼FREE</vt:lpstr>
      <vt:lpstr>误区3:此OpenSource非彼OpenSource</vt:lpstr>
      <vt:lpstr>误区4:RISC-V只适用于IoT</vt:lpstr>
      <vt:lpstr>误区5:RISC-V等于新的设计语言和方法学</vt:lpstr>
      <vt:lpstr>误区6:RISC-V等于不要版税</vt:lpstr>
      <vt:lpstr>RISC-V唯一的标签</vt:lpstr>
      <vt:lpstr>Agenda</vt:lpstr>
      <vt:lpstr>趋势论:处理器领域的几次变革和趋势</vt:lpstr>
      <vt:lpstr>RISC-V顺势而生</vt:lpstr>
      <vt:lpstr>Agenda</vt:lpstr>
      <vt:lpstr>RISC-V的商业本质</vt:lpstr>
      <vt:lpstr>RISC-V的商业本质</vt:lpstr>
      <vt:lpstr>RISC-V的商业本质</vt:lpstr>
      <vt:lpstr>RISC-V的商业本质</vt:lpstr>
      <vt:lpstr>RISC-V的商业本质</vt:lpstr>
      <vt:lpstr>RISC-V的商业本质</vt:lpstr>
      <vt:lpstr>Agenda</vt:lpstr>
      <vt:lpstr>芯来科技</vt:lpstr>
      <vt:lpstr>想更深入了解RISC-V?</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面向物联网的开源RISC-V 处理器的设计和开发</dc:title>
  <dc:creator/>
  <cp:lastModifiedBy>Administrator</cp:lastModifiedBy>
  <cp:revision>1</cp:revision>
  <dcterms:created xsi:type="dcterms:W3CDTF">2020-08-30T14:53:26Z</dcterms:created>
  <dcterms:modified xsi:type="dcterms:W3CDTF">2020-08-30T14:53:27Z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2019-01-27T00:00:00Z</vt:filetime>
  </property>
  <property fmtid="{D5CDD505-2E9C-101B-9397-08002B2CF9AE}" pid="3" name="Creator">
    <vt:lpwstr>WPS 演示</vt:lpwstr>
  </property>
  <property fmtid="{D5CDD505-2E9C-101B-9397-08002B2CF9AE}" pid="4" name="LastSaved">
    <vt:filetime>2020-08-30T00:00:00Z</vt:filetime>
  </property>
  <property fmtid="{D5CDD505-2E9C-101B-9397-08002B2CF9AE}" pid="5" name="KSOProductBuildVer">
    <vt:lpwstr>2052-11.1.0.9912</vt:lpwstr>
  </property>
</Properties>
</file>