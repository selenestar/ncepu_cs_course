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33" r:id="rId2"/>
    <p:sldId id="334" r:id="rId3"/>
    <p:sldId id="313" r:id="rId4"/>
    <p:sldId id="326" r:id="rId5"/>
    <p:sldId id="258" r:id="rId6"/>
    <p:sldId id="314" r:id="rId7"/>
    <p:sldId id="315" r:id="rId8"/>
    <p:sldId id="316" r:id="rId9"/>
    <p:sldId id="356" r:id="rId10"/>
    <p:sldId id="298" r:id="rId11"/>
    <p:sldId id="325" r:id="rId12"/>
    <p:sldId id="318" r:id="rId13"/>
    <p:sldId id="319" r:id="rId14"/>
    <p:sldId id="324" r:id="rId15"/>
    <p:sldId id="355" r:id="rId16"/>
    <p:sldId id="320" r:id="rId17"/>
    <p:sldId id="321" r:id="rId18"/>
    <p:sldId id="322" r:id="rId19"/>
    <p:sldId id="323" r:id="rId20"/>
    <p:sldId id="327" r:id="rId21"/>
    <p:sldId id="328" r:id="rId22"/>
    <p:sldId id="329" r:id="rId23"/>
    <p:sldId id="330" r:id="rId24"/>
    <p:sldId id="332" r:id="rId25"/>
    <p:sldId id="357" r:id="rId26"/>
    <p:sldId id="331" r:id="rId27"/>
    <p:sldId id="358" r:id="rId28"/>
    <p:sldId id="293" r:id="rId29"/>
    <p:sldId id="336" r:id="rId30"/>
    <p:sldId id="337" r:id="rId31"/>
    <p:sldId id="338" r:id="rId32"/>
    <p:sldId id="339" r:id="rId33"/>
    <p:sldId id="347" r:id="rId34"/>
    <p:sldId id="349" r:id="rId35"/>
    <p:sldId id="341" r:id="rId36"/>
    <p:sldId id="350" r:id="rId37"/>
    <p:sldId id="335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00F"/>
    <a:srgbClr val="FFFFFF"/>
    <a:srgbClr val="202A3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6" autoAdjust="0"/>
    <p:restoredTop sz="94660"/>
  </p:normalViewPr>
  <p:slideViewPr>
    <p:cSldViewPr snapToGrid="0">
      <p:cViewPr varScale="1">
        <p:scale>
          <a:sx n="66" d="100"/>
          <a:sy n="66" d="100"/>
        </p:scale>
        <p:origin x="74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1E80A-0AF9-4FF4-9F1E-1D9ECF927AFB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64B0E-1590-42B8-B7A8-F6DFF9F5D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25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97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320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64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53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64B0E-1590-42B8-B7A8-F6DFF9F5D79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236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64B0E-1590-42B8-B7A8-F6DFF9F5D79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238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64B0E-1590-42B8-B7A8-F6DFF9F5D79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883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64B0E-1590-42B8-B7A8-F6DFF9F5D79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738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378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82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2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3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04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7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52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53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98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5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06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4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883905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66405911"/>
              </p:ext>
            </p:extLst>
          </p:nvPr>
        </p:nvGraphicFramePr>
        <p:xfrm>
          <a:off x="-1" y="1041897"/>
          <a:ext cx="1883906" cy="4931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Rocket-chip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Toolflow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703">
                <a:tc>
                  <a:txBody>
                    <a:bodyPr/>
                    <a:lstStyle/>
                    <a:p>
                      <a:pPr algn="ctr">
                        <a:lnSpc>
                          <a:spcPts val="3200"/>
                        </a:lnSpc>
                      </a:pPr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RoCC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Example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Summary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0" y="1064844"/>
            <a:ext cx="1883905" cy="78818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RISC-V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7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2" y="6019805"/>
            <a:ext cx="950295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9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800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574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883905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94726170"/>
              </p:ext>
            </p:extLst>
          </p:nvPr>
        </p:nvGraphicFramePr>
        <p:xfrm>
          <a:off x="-1" y="1041897"/>
          <a:ext cx="1883906" cy="4931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RISC-V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Rocket-chip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Toolflow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703">
                <a:tc>
                  <a:txBody>
                    <a:bodyPr/>
                    <a:lstStyle/>
                    <a:p>
                      <a:pPr algn="ctr">
                        <a:lnSpc>
                          <a:spcPts val="3200"/>
                        </a:lnSpc>
                      </a:pPr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RoCC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Example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Summary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-2" y="1826844"/>
            <a:ext cx="1883905" cy="78818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Rocket-chip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7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2" y="6019805"/>
            <a:ext cx="950295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9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800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91076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883905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>
            <p:extLst/>
          </p:nvPr>
        </p:nvGraphicFramePr>
        <p:xfrm>
          <a:off x="-1" y="1041897"/>
          <a:ext cx="1883906" cy="4931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RISC-V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Rocket-chip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Toolflow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703">
                <a:tc>
                  <a:txBody>
                    <a:bodyPr/>
                    <a:lstStyle/>
                    <a:p>
                      <a:pPr algn="ctr">
                        <a:lnSpc>
                          <a:spcPts val="3200"/>
                        </a:lnSpc>
                      </a:pPr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RoCC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Example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Summary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-2" y="2640814"/>
            <a:ext cx="1883905" cy="78818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 core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7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2" y="6019805"/>
            <a:ext cx="950295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9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800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6480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883905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>
            <p:extLst/>
          </p:nvPr>
        </p:nvGraphicFramePr>
        <p:xfrm>
          <a:off x="-1" y="1041897"/>
          <a:ext cx="1883906" cy="4931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RISC-V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Rocket-chip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Toolflow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703">
                <a:tc>
                  <a:txBody>
                    <a:bodyPr/>
                    <a:lstStyle/>
                    <a:p>
                      <a:pPr algn="ctr">
                        <a:lnSpc>
                          <a:spcPts val="3200"/>
                        </a:lnSpc>
                      </a:pPr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RoCC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Example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Summary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-2" y="3429000"/>
            <a:ext cx="1883905" cy="78818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Toolflow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7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2" y="6019805"/>
            <a:ext cx="950295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9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800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09640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883905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>
            <p:extLst/>
          </p:nvPr>
        </p:nvGraphicFramePr>
        <p:xfrm>
          <a:off x="-1" y="1041897"/>
          <a:ext cx="1883906" cy="4931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RISC-V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Rocket-chip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Toolflow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703">
                <a:tc>
                  <a:txBody>
                    <a:bodyPr/>
                    <a:lstStyle/>
                    <a:p>
                      <a:pPr algn="ctr">
                        <a:lnSpc>
                          <a:spcPts val="3200"/>
                        </a:lnSpc>
                      </a:pPr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RoCC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Example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Summary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-2" y="4204855"/>
            <a:ext cx="1883905" cy="990600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RoCC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Example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7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2" y="6019805"/>
            <a:ext cx="950295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9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800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44808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883905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>
            <p:extLst/>
          </p:nvPr>
        </p:nvGraphicFramePr>
        <p:xfrm>
          <a:off x="-1" y="1041897"/>
          <a:ext cx="1883906" cy="4931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RISC-V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Rocket-chip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Rocket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Toolflow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703">
                <a:tc>
                  <a:txBody>
                    <a:bodyPr/>
                    <a:lstStyle/>
                    <a:p>
                      <a:pPr algn="ctr">
                        <a:lnSpc>
                          <a:spcPts val="3200"/>
                        </a:lnSpc>
                      </a:pPr>
                      <a:r>
                        <a:rPr lang="en-US" altLang="zh-CN" sz="2200" kern="1200" dirty="0" err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RoCC</a:t>
                      </a:r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Example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Summary</a:t>
                      </a:r>
                      <a:endParaRPr lang="zh-CN" altLang="en-US" sz="220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-2" y="5174674"/>
            <a:ext cx="1883905" cy="79892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Summary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7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2" y="6019805"/>
            <a:ext cx="950295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9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800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1095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53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D4F16-D75F-473B-8405-81EF58A6BDE1}" type="datetimeFigureOut">
              <a:rPr lang="zh-CN" altLang="en-US" smtClean="0"/>
              <a:t>2018/3/17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5C872-36C9-4C53-8ADD-4F30F2EA5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4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6593825" y="4053232"/>
            <a:ext cx="3667777" cy="664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9" name="Freeform 6"/>
          <p:cNvSpPr>
            <a:spLocks/>
          </p:cNvSpPr>
          <p:nvPr/>
        </p:nvSpPr>
        <p:spPr bwMode="auto">
          <a:xfrm rot="16200000">
            <a:off x="4436242" y="-2625775"/>
            <a:ext cx="3359649" cy="12232133"/>
          </a:xfrm>
          <a:custGeom>
            <a:avLst/>
            <a:gdLst>
              <a:gd name="T0" fmla="*/ 606 w 606"/>
              <a:gd name="T1" fmla="*/ 335 h 697"/>
              <a:gd name="T2" fmla="*/ 464 w 606"/>
              <a:gd name="T3" fmla="*/ 0 h 697"/>
              <a:gd name="T4" fmla="*/ 0 w 606"/>
              <a:gd name="T5" fmla="*/ 0 h 697"/>
              <a:gd name="T6" fmla="*/ 0 w 606"/>
              <a:gd name="T7" fmla="*/ 697 h 697"/>
              <a:gd name="T8" fmla="*/ 432 w 606"/>
              <a:gd name="T9" fmla="*/ 697 h 697"/>
              <a:gd name="T10" fmla="*/ 606 w 606"/>
              <a:gd name="T11" fmla="*/ 335 h 697"/>
              <a:gd name="connsiteX0" fmla="*/ 18141 w 18141"/>
              <a:gd name="connsiteY0" fmla="*/ 4806 h 10000"/>
              <a:gd name="connsiteX1" fmla="*/ 15798 w 18141"/>
              <a:gd name="connsiteY1" fmla="*/ 0 h 10000"/>
              <a:gd name="connsiteX2" fmla="*/ 0 w 18141"/>
              <a:gd name="connsiteY2" fmla="*/ 0 h 10000"/>
              <a:gd name="connsiteX3" fmla="*/ 8141 w 18141"/>
              <a:gd name="connsiteY3" fmla="*/ 10000 h 10000"/>
              <a:gd name="connsiteX4" fmla="*/ 15270 w 18141"/>
              <a:gd name="connsiteY4" fmla="*/ 10000 h 10000"/>
              <a:gd name="connsiteX5" fmla="*/ 18141 w 18141"/>
              <a:gd name="connsiteY5" fmla="*/ 4806 h 10000"/>
              <a:gd name="connsiteX0" fmla="*/ 19334 w 19334"/>
              <a:gd name="connsiteY0" fmla="*/ 5546 h 10740"/>
              <a:gd name="connsiteX1" fmla="*/ 16991 w 19334"/>
              <a:gd name="connsiteY1" fmla="*/ 740 h 10740"/>
              <a:gd name="connsiteX2" fmla="*/ 1193 w 19334"/>
              <a:gd name="connsiteY2" fmla="*/ 740 h 10740"/>
              <a:gd name="connsiteX3" fmla="*/ 1125 w 19334"/>
              <a:gd name="connsiteY3" fmla="*/ 10740 h 10740"/>
              <a:gd name="connsiteX4" fmla="*/ 16463 w 19334"/>
              <a:gd name="connsiteY4" fmla="*/ 10740 h 10740"/>
              <a:gd name="connsiteX5" fmla="*/ 19334 w 19334"/>
              <a:gd name="connsiteY5" fmla="*/ 5546 h 10740"/>
              <a:gd name="connsiteX0" fmla="*/ 19434 w 19434"/>
              <a:gd name="connsiteY0" fmla="*/ 4806 h 10000"/>
              <a:gd name="connsiteX1" fmla="*/ 17091 w 19434"/>
              <a:gd name="connsiteY1" fmla="*/ 0 h 10000"/>
              <a:gd name="connsiteX2" fmla="*/ 1293 w 19434"/>
              <a:gd name="connsiteY2" fmla="*/ 0 h 10000"/>
              <a:gd name="connsiteX3" fmla="*/ 1225 w 19434"/>
              <a:gd name="connsiteY3" fmla="*/ 10000 h 10000"/>
              <a:gd name="connsiteX4" fmla="*/ 16563 w 19434"/>
              <a:gd name="connsiteY4" fmla="*/ 10000 h 10000"/>
              <a:gd name="connsiteX5" fmla="*/ 19434 w 19434"/>
              <a:gd name="connsiteY5" fmla="*/ 4806 h 10000"/>
              <a:gd name="connsiteX0" fmla="*/ 18216 w 18216"/>
              <a:gd name="connsiteY0" fmla="*/ 4806 h 10000"/>
              <a:gd name="connsiteX1" fmla="*/ 15873 w 18216"/>
              <a:gd name="connsiteY1" fmla="*/ 0 h 10000"/>
              <a:gd name="connsiteX2" fmla="*/ 2606 w 18216"/>
              <a:gd name="connsiteY2" fmla="*/ 0 h 10000"/>
              <a:gd name="connsiteX3" fmla="*/ 7 w 18216"/>
              <a:gd name="connsiteY3" fmla="*/ 10000 h 10000"/>
              <a:gd name="connsiteX4" fmla="*/ 15345 w 18216"/>
              <a:gd name="connsiteY4" fmla="*/ 10000 h 10000"/>
              <a:gd name="connsiteX5" fmla="*/ 18216 w 18216"/>
              <a:gd name="connsiteY5" fmla="*/ 4806 h 10000"/>
              <a:gd name="connsiteX0" fmla="*/ 18209 w 18209"/>
              <a:gd name="connsiteY0" fmla="*/ 5046 h 10240"/>
              <a:gd name="connsiteX1" fmla="*/ 15866 w 18209"/>
              <a:gd name="connsiteY1" fmla="*/ 240 h 10240"/>
              <a:gd name="connsiteX2" fmla="*/ 2599 w 18209"/>
              <a:gd name="connsiteY2" fmla="*/ 240 h 10240"/>
              <a:gd name="connsiteX3" fmla="*/ 0 w 18209"/>
              <a:gd name="connsiteY3" fmla="*/ 10240 h 10240"/>
              <a:gd name="connsiteX4" fmla="*/ 15338 w 18209"/>
              <a:gd name="connsiteY4" fmla="*/ 10240 h 10240"/>
              <a:gd name="connsiteX5" fmla="*/ 18209 w 18209"/>
              <a:gd name="connsiteY5" fmla="*/ 5046 h 10240"/>
              <a:gd name="connsiteX0" fmla="*/ 18209 w 18209"/>
              <a:gd name="connsiteY0" fmla="*/ 4807 h 10001"/>
              <a:gd name="connsiteX1" fmla="*/ 15866 w 18209"/>
              <a:gd name="connsiteY1" fmla="*/ 1 h 10001"/>
              <a:gd name="connsiteX2" fmla="*/ 2599 w 18209"/>
              <a:gd name="connsiteY2" fmla="*/ 1 h 10001"/>
              <a:gd name="connsiteX3" fmla="*/ 0 w 18209"/>
              <a:gd name="connsiteY3" fmla="*/ 10001 h 10001"/>
              <a:gd name="connsiteX4" fmla="*/ 15338 w 18209"/>
              <a:gd name="connsiteY4" fmla="*/ 10001 h 10001"/>
              <a:gd name="connsiteX5" fmla="*/ 18209 w 18209"/>
              <a:gd name="connsiteY5" fmla="*/ 4807 h 10001"/>
              <a:gd name="connsiteX0" fmla="*/ 18209 w 18209"/>
              <a:gd name="connsiteY0" fmla="*/ 4806 h 10000"/>
              <a:gd name="connsiteX1" fmla="*/ 15866 w 18209"/>
              <a:gd name="connsiteY1" fmla="*/ 0 h 10000"/>
              <a:gd name="connsiteX2" fmla="*/ 136 w 18209"/>
              <a:gd name="connsiteY2" fmla="*/ 11 h 10000"/>
              <a:gd name="connsiteX3" fmla="*/ 0 w 18209"/>
              <a:gd name="connsiteY3" fmla="*/ 10000 h 10000"/>
              <a:gd name="connsiteX4" fmla="*/ 15338 w 18209"/>
              <a:gd name="connsiteY4" fmla="*/ 10000 h 10000"/>
              <a:gd name="connsiteX5" fmla="*/ 18209 w 18209"/>
              <a:gd name="connsiteY5" fmla="*/ 4806 h 10000"/>
              <a:gd name="connsiteX0" fmla="*/ 18423 w 18423"/>
              <a:gd name="connsiteY0" fmla="*/ 4827 h 10021"/>
              <a:gd name="connsiteX1" fmla="*/ 16080 w 18423"/>
              <a:gd name="connsiteY1" fmla="*/ 21 h 10021"/>
              <a:gd name="connsiteX2" fmla="*/ 8 w 18423"/>
              <a:gd name="connsiteY2" fmla="*/ 0 h 10021"/>
              <a:gd name="connsiteX3" fmla="*/ 214 w 18423"/>
              <a:gd name="connsiteY3" fmla="*/ 10021 h 10021"/>
              <a:gd name="connsiteX4" fmla="*/ 15552 w 18423"/>
              <a:gd name="connsiteY4" fmla="*/ 10021 h 10021"/>
              <a:gd name="connsiteX5" fmla="*/ 18423 w 18423"/>
              <a:gd name="connsiteY5" fmla="*/ 4827 h 10021"/>
              <a:gd name="connsiteX0" fmla="*/ 19601 w 19601"/>
              <a:gd name="connsiteY0" fmla="*/ 4827 h 10021"/>
              <a:gd name="connsiteX1" fmla="*/ 17258 w 19601"/>
              <a:gd name="connsiteY1" fmla="*/ 21 h 10021"/>
              <a:gd name="connsiteX2" fmla="*/ 1186 w 19601"/>
              <a:gd name="connsiteY2" fmla="*/ 0 h 10021"/>
              <a:gd name="connsiteX3" fmla="*/ 1222 w 19601"/>
              <a:gd name="connsiteY3" fmla="*/ 4885 h 10021"/>
              <a:gd name="connsiteX4" fmla="*/ 1392 w 19601"/>
              <a:gd name="connsiteY4" fmla="*/ 10021 h 10021"/>
              <a:gd name="connsiteX5" fmla="*/ 16730 w 19601"/>
              <a:gd name="connsiteY5" fmla="*/ 10021 h 10021"/>
              <a:gd name="connsiteX6" fmla="*/ 19601 w 19601"/>
              <a:gd name="connsiteY6" fmla="*/ 4827 h 10021"/>
              <a:gd name="connsiteX0" fmla="*/ 20013 w 20013"/>
              <a:gd name="connsiteY0" fmla="*/ 4827 h 10021"/>
              <a:gd name="connsiteX1" fmla="*/ 17670 w 20013"/>
              <a:gd name="connsiteY1" fmla="*/ 21 h 10021"/>
              <a:gd name="connsiteX2" fmla="*/ 1598 w 20013"/>
              <a:gd name="connsiteY2" fmla="*/ 0 h 10021"/>
              <a:gd name="connsiteX3" fmla="*/ 1634 w 20013"/>
              <a:gd name="connsiteY3" fmla="*/ 4885 h 10021"/>
              <a:gd name="connsiteX4" fmla="*/ 1804 w 20013"/>
              <a:gd name="connsiteY4" fmla="*/ 10021 h 10021"/>
              <a:gd name="connsiteX5" fmla="*/ 17142 w 20013"/>
              <a:gd name="connsiteY5" fmla="*/ 10021 h 10021"/>
              <a:gd name="connsiteX6" fmla="*/ 20013 w 20013"/>
              <a:gd name="connsiteY6" fmla="*/ 4827 h 10021"/>
              <a:gd name="connsiteX0" fmla="*/ 19602 w 19602"/>
              <a:gd name="connsiteY0" fmla="*/ 4827 h 10021"/>
              <a:gd name="connsiteX1" fmla="*/ 17259 w 19602"/>
              <a:gd name="connsiteY1" fmla="*/ 21 h 10021"/>
              <a:gd name="connsiteX2" fmla="*/ 1187 w 19602"/>
              <a:gd name="connsiteY2" fmla="*/ 0 h 10021"/>
              <a:gd name="connsiteX3" fmla="*/ 1223 w 19602"/>
              <a:gd name="connsiteY3" fmla="*/ 4885 h 10021"/>
              <a:gd name="connsiteX4" fmla="*/ 1393 w 19602"/>
              <a:gd name="connsiteY4" fmla="*/ 10021 h 10021"/>
              <a:gd name="connsiteX5" fmla="*/ 16731 w 19602"/>
              <a:gd name="connsiteY5" fmla="*/ 10021 h 10021"/>
              <a:gd name="connsiteX6" fmla="*/ 19602 w 19602"/>
              <a:gd name="connsiteY6" fmla="*/ 4827 h 10021"/>
              <a:gd name="connsiteX0" fmla="*/ 19602 w 19602"/>
              <a:gd name="connsiteY0" fmla="*/ 4827 h 10021"/>
              <a:gd name="connsiteX1" fmla="*/ 17259 w 19602"/>
              <a:gd name="connsiteY1" fmla="*/ 21 h 10021"/>
              <a:gd name="connsiteX2" fmla="*/ 1187 w 19602"/>
              <a:gd name="connsiteY2" fmla="*/ 0 h 10021"/>
              <a:gd name="connsiteX3" fmla="*/ 1223 w 19602"/>
              <a:gd name="connsiteY3" fmla="*/ 4885 h 10021"/>
              <a:gd name="connsiteX4" fmla="*/ 3423 w 19602"/>
              <a:gd name="connsiteY4" fmla="*/ 10005 h 10021"/>
              <a:gd name="connsiteX5" fmla="*/ 16731 w 19602"/>
              <a:gd name="connsiteY5" fmla="*/ 10021 h 10021"/>
              <a:gd name="connsiteX6" fmla="*/ 19602 w 19602"/>
              <a:gd name="connsiteY6" fmla="*/ 4827 h 10021"/>
              <a:gd name="connsiteX0" fmla="*/ 19845 w 19845"/>
              <a:gd name="connsiteY0" fmla="*/ 4827 h 10021"/>
              <a:gd name="connsiteX1" fmla="*/ 17502 w 19845"/>
              <a:gd name="connsiteY1" fmla="*/ 21 h 10021"/>
              <a:gd name="connsiteX2" fmla="*/ 1430 w 19845"/>
              <a:gd name="connsiteY2" fmla="*/ 0 h 10021"/>
              <a:gd name="connsiteX3" fmla="*/ 677 w 19845"/>
              <a:gd name="connsiteY3" fmla="*/ 4869 h 10021"/>
              <a:gd name="connsiteX4" fmla="*/ 3666 w 19845"/>
              <a:gd name="connsiteY4" fmla="*/ 10005 h 10021"/>
              <a:gd name="connsiteX5" fmla="*/ 16974 w 19845"/>
              <a:gd name="connsiteY5" fmla="*/ 10021 h 10021"/>
              <a:gd name="connsiteX6" fmla="*/ 19845 w 19845"/>
              <a:gd name="connsiteY6" fmla="*/ 4827 h 10021"/>
              <a:gd name="connsiteX0" fmla="*/ 19196 w 19196"/>
              <a:gd name="connsiteY0" fmla="*/ 4806 h 10000"/>
              <a:gd name="connsiteX1" fmla="*/ 16853 w 19196"/>
              <a:gd name="connsiteY1" fmla="*/ 0 h 10000"/>
              <a:gd name="connsiteX2" fmla="*/ 2360 w 19196"/>
              <a:gd name="connsiteY2" fmla="*/ 10 h 10000"/>
              <a:gd name="connsiteX3" fmla="*/ 28 w 19196"/>
              <a:gd name="connsiteY3" fmla="*/ 4848 h 10000"/>
              <a:gd name="connsiteX4" fmla="*/ 3017 w 19196"/>
              <a:gd name="connsiteY4" fmla="*/ 9984 h 10000"/>
              <a:gd name="connsiteX5" fmla="*/ 16325 w 19196"/>
              <a:gd name="connsiteY5" fmla="*/ 10000 h 10000"/>
              <a:gd name="connsiteX6" fmla="*/ 19196 w 19196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3 w 19173"/>
              <a:gd name="connsiteY0" fmla="*/ 4806 h 10000"/>
              <a:gd name="connsiteX1" fmla="*/ 16830 w 19173"/>
              <a:gd name="connsiteY1" fmla="*/ 0 h 10000"/>
              <a:gd name="connsiteX2" fmla="*/ 2337 w 19173"/>
              <a:gd name="connsiteY2" fmla="*/ 10 h 10000"/>
              <a:gd name="connsiteX3" fmla="*/ 5 w 19173"/>
              <a:gd name="connsiteY3" fmla="*/ 4848 h 10000"/>
              <a:gd name="connsiteX4" fmla="*/ 2994 w 19173"/>
              <a:gd name="connsiteY4" fmla="*/ 9984 h 10000"/>
              <a:gd name="connsiteX5" fmla="*/ 16302 w 19173"/>
              <a:gd name="connsiteY5" fmla="*/ 10000 h 10000"/>
              <a:gd name="connsiteX6" fmla="*/ 19173 w 19173"/>
              <a:gd name="connsiteY6" fmla="*/ 4806 h 10000"/>
              <a:gd name="connsiteX0" fmla="*/ 19232 w 19232"/>
              <a:gd name="connsiteY0" fmla="*/ 4806 h 10000"/>
              <a:gd name="connsiteX1" fmla="*/ 16889 w 19232"/>
              <a:gd name="connsiteY1" fmla="*/ 0 h 10000"/>
              <a:gd name="connsiteX2" fmla="*/ 2396 w 19232"/>
              <a:gd name="connsiteY2" fmla="*/ 10 h 10000"/>
              <a:gd name="connsiteX3" fmla="*/ 64 w 19232"/>
              <a:gd name="connsiteY3" fmla="*/ 4848 h 10000"/>
              <a:gd name="connsiteX4" fmla="*/ 3053 w 19232"/>
              <a:gd name="connsiteY4" fmla="*/ 9984 h 10000"/>
              <a:gd name="connsiteX5" fmla="*/ 16361 w 19232"/>
              <a:gd name="connsiteY5" fmla="*/ 10000 h 10000"/>
              <a:gd name="connsiteX6" fmla="*/ 19232 w 19232"/>
              <a:gd name="connsiteY6" fmla="*/ 4806 h 10000"/>
              <a:gd name="connsiteX0" fmla="*/ 19324 w 19324"/>
              <a:gd name="connsiteY0" fmla="*/ 4812 h 10006"/>
              <a:gd name="connsiteX1" fmla="*/ 16981 w 19324"/>
              <a:gd name="connsiteY1" fmla="*/ 6 h 10006"/>
              <a:gd name="connsiteX2" fmla="*/ 1811 w 19324"/>
              <a:gd name="connsiteY2" fmla="*/ 0 h 10006"/>
              <a:gd name="connsiteX3" fmla="*/ 156 w 19324"/>
              <a:gd name="connsiteY3" fmla="*/ 4854 h 10006"/>
              <a:gd name="connsiteX4" fmla="*/ 3145 w 19324"/>
              <a:gd name="connsiteY4" fmla="*/ 9990 h 10006"/>
              <a:gd name="connsiteX5" fmla="*/ 16453 w 19324"/>
              <a:gd name="connsiteY5" fmla="*/ 10006 h 10006"/>
              <a:gd name="connsiteX6" fmla="*/ 19324 w 19324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3057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2380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2267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2267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318 w 19318"/>
              <a:gd name="connsiteY0" fmla="*/ 4812 h 10006"/>
              <a:gd name="connsiteX1" fmla="*/ 16975 w 19318"/>
              <a:gd name="connsiteY1" fmla="*/ 6 h 10006"/>
              <a:gd name="connsiteX2" fmla="*/ 1241 w 19318"/>
              <a:gd name="connsiteY2" fmla="*/ 0 h 10006"/>
              <a:gd name="connsiteX3" fmla="*/ 150 w 19318"/>
              <a:gd name="connsiteY3" fmla="*/ 4854 h 10006"/>
              <a:gd name="connsiteX4" fmla="*/ 2349 w 19318"/>
              <a:gd name="connsiteY4" fmla="*/ 9990 h 10006"/>
              <a:gd name="connsiteX5" fmla="*/ 16447 w 19318"/>
              <a:gd name="connsiteY5" fmla="*/ 10006 h 10006"/>
              <a:gd name="connsiteX6" fmla="*/ 19318 w 19318"/>
              <a:gd name="connsiteY6" fmla="*/ 4812 h 10006"/>
              <a:gd name="connsiteX0" fmla="*/ 19230 w 19230"/>
              <a:gd name="connsiteY0" fmla="*/ 4812 h 10006"/>
              <a:gd name="connsiteX1" fmla="*/ 16887 w 19230"/>
              <a:gd name="connsiteY1" fmla="*/ 6 h 10006"/>
              <a:gd name="connsiteX2" fmla="*/ 1153 w 19230"/>
              <a:gd name="connsiteY2" fmla="*/ 0 h 10006"/>
              <a:gd name="connsiteX3" fmla="*/ 62 w 19230"/>
              <a:gd name="connsiteY3" fmla="*/ 4854 h 10006"/>
              <a:gd name="connsiteX4" fmla="*/ 2261 w 19230"/>
              <a:gd name="connsiteY4" fmla="*/ 9990 h 10006"/>
              <a:gd name="connsiteX5" fmla="*/ 16359 w 19230"/>
              <a:gd name="connsiteY5" fmla="*/ 10006 h 10006"/>
              <a:gd name="connsiteX6" fmla="*/ 19230 w 19230"/>
              <a:gd name="connsiteY6" fmla="*/ 4812 h 10006"/>
              <a:gd name="connsiteX0" fmla="*/ 19230 w 19230"/>
              <a:gd name="connsiteY0" fmla="*/ 4837 h 10031"/>
              <a:gd name="connsiteX1" fmla="*/ 16887 w 19230"/>
              <a:gd name="connsiteY1" fmla="*/ 0 h 10031"/>
              <a:gd name="connsiteX2" fmla="*/ 1153 w 19230"/>
              <a:gd name="connsiteY2" fmla="*/ 25 h 10031"/>
              <a:gd name="connsiteX3" fmla="*/ 62 w 19230"/>
              <a:gd name="connsiteY3" fmla="*/ 4879 h 10031"/>
              <a:gd name="connsiteX4" fmla="*/ 2261 w 19230"/>
              <a:gd name="connsiteY4" fmla="*/ 10015 h 10031"/>
              <a:gd name="connsiteX5" fmla="*/ 16359 w 19230"/>
              <a:gd name="connsiteY5" fmla="*/ 10031 h 10031"/>
              <a:gd name="connsiteX6" fmla="*/ 19230 w 19230"/>
              <a:gd name="connsiteY6" fmla="*/ 4837 h 10031"/>
              <a:gd name="connsiteX0" fmla="*/ 19230 w 19230"/>
              <a:gd name="connsiteY0" fmla="*/ 4812 h 10006"/>
              <a:gd name="connsiteX1" fmla="*/ 16887 w 19230"/>
              <a:gd name="connsiteY1" fmla="*/ 0 h 10006"/>
              <a:gd name="connsiteX2" fmla="*/ 1153 w 19230"/>
              <a:gd name="connsiteY2" fmla="*/ 0 h 10006"/>
              <a:gd name="connsiteX3" fmla="*/ 62 w 19230"/>
              <a:gd name="connsiteY3" fmla="*/ 4854 h 10006"/>
              <a:gd name="connsiteX4" fmla="*/ 2261 w 19230"/>
              <a:gd name="connsiteY4" fmla="*/ 9990 h 10006"/>
              <a:gd name="connsiteX5" fmla="*/ 16359 w 19230"/>
              <a:gd name="connsiteY5" fmla="*/ 10006 h 10006"/>
              <a:gd name="connsiteX6" fmla="*/ 19230 w 19230"/>
              <a:gd name="connsiteY6" fmla="*/ 4812 h 10006"/>
              <a:gd name="connsiteX0" fmla="*/ 19473 w 19473"/>
              <a:gd name="connsiteY0" fmla="*/ 4812 h 10006"/>
              <a:gd name="connsiteX1" fmla="*/ 17130 w 19473"/>
              <a:gd name="connsiteY1" fmla="*/ 0 h 10006"/>
              <a:gd name="connsiteX2" fmla="*/ 1396 w 19473"/>
              <a:gd name="connsiteY2" fmla="*/ 0 h 10006"/>
              <a:gd name="connsiteX3" fmla="*/ 47 w 19473"/>
              <a:gd name="connsiteY3" fmla="*/ 4854 h 10006"/>
              <a:gd name="connsiteX4" fmla="*/ 2504 w 19473"/>
              <a:gd name="connsiteY4" fmla="*/ 9990 h 10006"/>
              <a:gd name="connsiteX5" fmla="*/ 16602 w 19473"/>
              <a:gd name="connsiteY5" fmla="*/ 10006 h 10006"/>
              <a:gd name="connsiteX6" fmla="*/ 19473 w 19473"/>
              <a:gd name="connsiteY6" fmla="*/ 4812 h 10006"/>
              <a:gd name="connsiteX0" fmla="*/ 19890 w 19890"/>
              <a:gd name="connsiteY0" fmla="*/ 4812 h 10006"/>
              <a:gd name="connsiteX1" fmla="*/ 17547 w 19890"/>
              <a:gd name="connsiteY1" fmla="*/ 0 h 10006"/>
              <a:gd name="connsiteX2" fmla="*/ 1813 w 19890"/>
              <a:gd name="connsiteY2" fmla="*/ 0 h 10006"/>
              <a:gd name="connsiteX3" fmla="*/ 34 w 19890"/>
              <a:gd name="connsiteY3" fmla="*/ 4854 h 10006"/>
              <a:gd name="connsiteX4" fmla="*/ 2921 w 19890"/>
              <a:gd name="connsiteY4" fmla="*/ 9990 h 10006"/>
              <a:gd name="connsiteX5" fmla="*/ 17019 w 19890"/>
              <a:gd name="connsiteY5" fmla="*/ 10006 h 10006"/>
              <a:gd name="connsiteX6" fmla="*/ 19890 w 19890"/>
              <a:gd name="connsiteY6" fmla="*/ 4812 h 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90" h="10006">
                <a:moveTo>
                  <a:pt x="19890" y="4812"/>
                </a:moveTo>
                <a:cubicBezTo>
                  <a:pt x="19890" y="2918"/>
                  <a:pt x="18982" y="1220"/>
                  <a:pt x="17547" y="0"/>
                </a:cubicBezTo>
                <a:lnTo>
                  <a:pt x="1813" y="0"/>
                </a:lnTo>
                <a:cubicBezTo>
                  <a:pt x="1058" y="1169"/>
                  <a:pt x="-226" y="3122"/>
                  <a:pt x="34" y="4854"/>
                </a:cubicBezTo>
                <a:cubicBezTo>
                  <a:pt x="-44" y="6617"/>
                  <a:pt x="1238" y="8978"/>
                  <a:pt x="2921" y="9990"/>
                </a:cubicBezTo>
                <a:lnTo>
                  <a:pt x="17019" y="10006"/>
                </a:lnTo>
                <a:cubicBezTo>
                  <a:pt x="18768" y="8786"/>
                  <a:pt x="19890" y="6907"/>
                  <a:pt x="19890" y="4812"/>
                </a:cubicBezTo>
                <a:close/>
              </a:path>
            </a:pathLst>
          </a:custGeom>
          <a:solidFill>
            <a:srgbClr val="202A36">
              <a:alpha val="96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4169597" y="2647187"/>
            <a:ext cx="3765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中科院计算所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物端系统组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04022" y="3257876"/>
            <a:ext cx="74969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spc="3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</a:t>
            </a:r>
            <a:r>
              <a:rPr lang="zh-CN" altLang="en-US" sz="3600" b="1" spc="3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处理器研究工作总结汇报</a:t>
            </a:r>
          </a:p>
        </p:txBody>
      </p:sp>
      <p:sp>
        <p:nvSpPr>
          <p:cNvPr id="84" name="TextBox 25"/>
          <p:cNvSpPr txBox="1"/>
          <p:nvPr/>
        </p:nvSpPr>
        <p:spPr>
          <a:xfrm>
            <a:off x="3970065" y="4262492"/>
            <a:ext cx="4598830" cy="369332"/>
          </a:xfrm>
          <a:prstGeom prst="rect">
            <a:avLst/>
          </a:prstGeom>
          <a:solidFill>
            <a:srgbClr val="FCB00F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/>
            <a:r>
              <a:rPr lang="zh-CN" altLang="en-US" b="1" dirty="0">
                <a:solidFill>
                  <a:srgbClr val="202A36"/>
                </a:solidFill>
              </a:rPr>
              <a:t>汇报人：胡婷    日期：</a:t>
            </a:r>
            <a:r>
              <a:rPr lang="en-US" altLang="zh-CN" b="1" dirty="0">
                <a:solidFill>
                  <a:srgbClr val="202A36"/>
                </a:solidFill>
              </a:rPr>
              <a:t>2017</a:t>
            </a:r>
            <a:r>
              <a:rPr lang="zh-CN" altLang="en-US" b="1" dirty="0">
                <a:solidFill>
                  <a:srgbClr val="202A36"/>
                </a:solidFill>
              </a:rPr>
              <a:t>年</a:t>
            </a:r>
            <a:r>
              <a:rPr lang="en-US" altLang="zh-CN" b="1" dirty="0">
                <a:solidFill>
                  <a:srgbClr val="202A36"/>
                </a:solidFill>
              </a:rPr>
              <a:t>5</a:t>
            </a:r>
            <a:r>
              <a:rPr lang="zh-CN" altLang="en-US" b="1" dirty="0">
                <a:solidFill>
                  <a:srgbClr val="202A36"/>
                </a:solidFill>
              </a:rPr>
              <a:t>月</a:t>
            </a:r>
            <a:r>
              <a:rPr lang="en-US" altLang="zh-CN" b="1" dirty="0">
                <a:solidFill>
                  <a:srgbClr val="202A36"/>
                </a:solidFill>
              </a:rPr>
              <a:t>10</a:t>
            </a:r>
            <a:r>
              <a:rPr lang="zh-CN" altLang="en-US" b="1" dirty="0">
                <a:solidFill>
                  <a:srgbClr val="202A36"/>
                </a:solidFill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03212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076709" y="0"/>
            <a:ext cx="6115291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709839" y="1640663"/>
            <a:ext cx="2448272" cy="3714839"/>
            <a:chOff x="1838237" y="1801451"/>
            <a:chExt cx="2448272" cy="3714839"/>
          </a:xfrm>
        </p:grpSpPr>
        <p:sp>
          <p:nvSpPr>
            <p:cNvPr id="6" name="文本框 5"/>
            <p:cNvSpPr txBox="1"/>
            <p:nvPr/>
          </p:nvSpPr>
          <p:spPr>
            <a:xfrm>
              <a:off x="2045281" y="4592960"/>
              <a:ext cx="198323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dirty="0">
                  <a:solidFill>
                    <a:srgbClr val="202A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录</a:t>
              </a:r>
            </a:p>
          </p:txBody>
        </p:sp>
        <p:sp>
          <p:nvSpPr>
            <p:cNvPr id="8" name="椭圆 7"/>
            <p:cNvSpPr/>
            <p:nvPr/>
          </p:nvSpPr>
          <p:spPr>
            <a:xfrm>
              <a:off x="1838237" y="1937347"/>
              <a:ext cx="2448272" cy="2448272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>
              <a:spLocks noChangeAspect="1"/>
            </p:cNvSpPr>
            <p:nvPr/>
          </p:nvSpPr>
          <p:spPr>
            <a:xfrm>
              <a:off x="3043275" y="1801451"/>
              <a:ext cx="72000" cy="72000"/>
            </a:xfrm>
            <a:prstGeom prst="ellips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标题 4"/>
            <p:cNvSpPr txBox="1">
              <a:spLocks/>
            </p:cNvSpPr>
            <p:nvPr/>
          </p:nvSpPr>
          <p:spPr>
            <a:xfrm>
              <a:off x="1891143" y="3368713"/>
              <a:ext cx="2376264" cy="47348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400" b="1" dirty="0">
                  <a:solidFill>
                    <a:srgbClr val="FCB00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400" b="1" dirty="0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941996" y="2041106"/>
              <a:ext cx="2240761" cy="2240761"/>
            </a:xfrm>
            <a:prstGeom prst="ellipse">
              <a:avLst/>
            </a:prstGeom>
            <a:noFill/>
            <a:ln w="317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Freeform 28"/>
            <p:cNvSpPr>
              <a:spLocks noEditPoints="1"/>
            </p:cNvSpPr>
            <p:nvPr/>
          </p:nvSpPr>
          <p:spPr bwMode="auto">
            <a:xfrm>
              <a:off x="2404482" y="2336613"/>
              <a:ext cx="1315781" cy="988635"/>
            </a:xfrm>
            <a:custGeom>
              <a:avLst/>
              <a:gdLst>
                <a:gd name="T0" fmla="*/ 40 w 192"/>
                <a:gd name="T1" fmla="*/ 118 h 144"/>
                <a:gd name="T2" fmla="*/ 40 w 192"/>
                <a:gd name="T3" fmla="*/ 118 h 144"/>
                <a:gd name="T4" fmla="*/ 56 w 192"/>
                <a:gd name="T5" fmla="*/ 116 h 144"/>
                <a:gd name="T6" fmla="*/ 97 w 192"/>
                <a:gd name="T7" fmla="*/ 137 h 144"/>
                <a:gd name="T8" fmla="*/ 99 w 192"/>
                <a:gd name="T9" fmla="*/ 137 h 144"/>
                <a:gd name="T10" fmla="*/ 140 w 192"/>
                <a:gd name="T11" fmla="*/ 116 h 144"/>
                <a:gd name="T12" fmla="*/ 156 w 192"/>
                <a:gd name="T13" fmla="*/ 118 h 144"/>
                <a:gd name="T14" fmla="*/ 156 w 192"/>
                <a:gd name="T15" fmla="*/ 118 h 144"/>
                <a:gd name="T16" fmla="*/ 156 w 192"/>
                <a:gd name="T17" fmla="*/ 70 h 144"/>
                <a:gd name="T18" fmla="*/ 96 w 192"/>
                <a:gd name="T19" fmla="*/ 98 h 144"/>
                <a:gd name="T20" fmla="*/ 40 w 192"/>
                <a:gd name="T21" fmla="*/ 72 h 144"/>
                <a:gd name="T22" fmla="*/ 40 w 192"/>
                <a:gd name="T23" fmla="*/ 118 h 144"/>
                <a:gd name="T24" fmla="*/ 96 w 192"/>
                <a:gd name="T25" fmla="*/ 0 h 144"/>
                <a:gd name="T26" fmla="*/ 0 w 192"/>
                <a:gd name="T27" fmla="*/ 44 h 144"/>
                <a:gd name="T28" fmla="*/ 96 w 192"/>
                <a:gd name="T29" fmla="*/ 88 h 144"/>
                <a:gd name="T30" fmla="*/ 192 w 192"/>
                <a:gd name="T31" fmla="*/ 44 h 144"/>
                <a:gd name="T32" fmla="*/ 96 w 192"/>
                <a:gd name="T33" fmla="*/ 0 h 144"/>
                <a:gd name="T34" fmla="*/ 8 w 192"/>
                <a:gd name="T35" fmla="*/ 56 h 144"/>
                <a:gd name="T36" fmla="*/ 4 w 192"/>
                <a:gd name="T37" fmla="*/ 104 h 144"/>
                <a:gd name="T38" fmla="*/ 12 w 192"/>
                <a:gd name="T39" fmla="*/ 104 h 144"/>
                <a:gd name="T40" fmla="*/ 12 w 192"/>
                <a:gd name="T41" fmla="*/ 58 h 144"/>
                <a:gd name="T42" fmla="*/ 8 w 192"/>
                <a:gd name="T43" fmla="*/ 56 h 144"/>
                <a:gd name="T44" fmla="*/ 16 w 192"/>
                <a:gd name="T45" fmla="*/ 144 h 144"/>
                <a:gd name="T46" fmla="*/ 9 w 192"/>
                <a:gd name="T47" fmla="*/ 124 h 144"/>
                <a:gd name="T48" fmla="*/ 16 w 192"/>
                <a:gd name="T49" fmla="*/ 116 h 144"/>
                <a:gd name="T50" fmla="*/ 8 w 192"/>
                <a:gd name="T51" fmla="*/ 108 h 144"/>
                <a:gd name="T52" fmla="*/ 0 w 192"/>
                <a:gd name="T53" fmla="*/ 116 h 144"/>
                <a:gd name="T54" fmla="*/ 7 w 192"/>
                <a:gd name="T55" fmla="*/ 124 h 144"/>
                <a:gd name="T56" fmla="*/ 0 w 192"/>
                <a:gd name="T57" fmla="*/ 144 h 144"/>
                <a:gd name="T58" fmla="*/ 16 w 192"/>
                <a:gd name="T5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2" h="144">
                  <a:moveTo>
                    <a:pt x="40" y="118"/>
                  </a:moveTo>
                  <a:cubicBezTo>
                    <a:pt x="40" y="118"/>
                    <a:pt x="40" y="118"/>
                    <a:pt x="40" y="118"/>
                  </a:cubicBezTo>
                  <a:cubicBezTo>
                    <a:pt x="45" y="116"/>
                    <a:pt x="50" y="116"/>
                    <a:pt x="56" y="116"/>
                  </a:cubicBezTo>
                  <a:cubicBezTo>
                    <a:pt x="72" y="116"/>
                    <a:pt x="91" y="127"/>
                    <a:pt x="97" y="137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5" y="127"/>
                    <a:pt x="123" y="116"/>
                    <a:pt x="140" y="116"/>
                  </a:cubicBezTo>
                  <a:cubicBezTo>
                    <a:pt x="145" y="116"/>
                    <a:pt x="151" y="116"/>
                    <a:pt x="156" y="118"/>
                  </a:cubicBezTo>
                  <a:cubicBezTo>
                    <a:pt x="156" y="118"/>
                    <a:pt x="156" y="118"/>
                    <a:pt x="156" y="118"/>
                  </a:cubicBezTo>
                  <a:cubicBezTo>
                    <a:pt x="156" y="70"/>
                    <a:pt x="156" y="70"/>
                    <a:pt x="156" y="70"/>
                  </a:cubicBezTo>
                  <a:cubicBezTo>
                    <a:pt x="96" y="98"/>
                    <a:pt x="96" y="98"/>
                    <a:pt x="96" y="98"/>
                  </a:cubicBezTo>
                  <a:cubicBezTo>
                    <a:pt x="40" y="72"/>
                    <a:pt x="40" y="72"/>
                    <a:pt x="40" y="72"/>
                  </a:cubicBezTo>
                  <a:lnTo>
                    <a:pt x="40" y="118"/>
                  </a:lnTo>
                  <a:close/>
                  <a:moveTo>
                    <a:pt x="96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192" y="44"/>
                    <a:pt x="192" y="44"/>
                    <a:pt x="192" y="44"/>
                  </a:cubicBezTo>
                  <a:lnTo>
                    <a:pt x="96" y="0"/>
                  </a:lnTo>
                  <a:close/>
                  <a:moveTo>
                    <a:pt x="8" y="56"/>
                  </a:moveTo>
                  <a:cubicBezTo>
                    <a:pt x="4" y="104"/>
                    <a:pt x="4" y="104"/>
                    <a:pt x="4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2" y="58"/>
                    <a:pt x="12" y="58"/>
                    <a:pt x="12" y="58"/>
                  </a:cubicBezTo>
                  <a:lnTo>
                    <a:pt x="8" y="56"/>
                  </a:lnTo>
                  <a:close/>
                  <a:moveTo>
                    <a:pt x="16" y="144"/>
                  </a:moveTo>
                  <a:cubicBezTo>
                    <a:pt x="9" y="124"/>
                    <a:pt x="9" y="124"/>
                    <a:pt x="9" y="124"/>
                  </a:cubicBezTo>
                  <a:cubicBezTo>
                    <a:pt x="13" y="123"/>
                    <a:pt x="16" y="120"/>
                    <a:pt x="16" y="116"/>
                  </a:cubicBezTo>
                  <a:cubicBezTo>
                    <a:pt x="16" y="111"/>
                    <a:pt x="12" y="108"/>
                    <a:pt x="8" y="108"/>
                  </a:cubicBezTo>
                  <a:cubicBezTo>
                    <a:pt x="3" y="108"/>
                    <a:pt x="0" y="111"/>
                    <a:pt x="0" y="116"/>
                  </a:cubicBezTo>
                  <a:cubicBezTo>
                    <a:pt x="0" y="120"/>
                    <a:pt x="3" y="123"/>
                    <a:pt x="7" y="124"/>
                  </a:cubicBezTo>
                  <a:cubicBezTo>
                    <a:pt x="0" y="144"/>
                    <a:pt x="0" y="144"/>
                    <a:pt x="0" y="144"/>
                  </a:cubicBezTo>
                  <a:lnTo>
                    <a:pt x="16" y="144"/>
                  </a:lnTo>
                  <a:close/>
                </a:path>
              </a:pathLst>
            </a:custGeom>
            <a:solidFill>
              <a:srgbClr val="FCB00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7" name="矩形 56"/>
          <p:cNvSpPr/>
          <p:nvPr/>
        </p:nvSpPr>
        <p:spPr>
          <a:xfrm>
            <a:off x="6593825" y="4053232"/>
            <a:ext cx="3667777" cy="664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989950" y="645010"/>
            <a:ext cx="4744356" cy="5599314"/>
            <a:chOff x="6929525" y="630376"/>
            <a:chExt cx="4744356" cy="5599314"/>
          </a:xfrm>
        </p:grpSpPr>
        <p:grpSp>
          <p:nvGrpSpPr>
            <p:cNvPr id="64" name="组合 63"/>
            <p:cNvGrpSpPr/>
            <p:nvPr/>
          </p:nvGrpSpPr>
          <p:grpSpPr>
            <a:xfrm>
              <a:off x="6929525" y="1526537"/>
              <a:ext cx="4744356" cy="830997"/>
              <a:chOff x="5546725" y="1409700"/>
              <a:chExt cx="4744356" cy="830997"/>
            </a:xfrm>
          </p:grpSpPr>
          <p:sp>
            <p:nvSpPr>
              <p:cNvPr id="65" name="文本框 104"/>
              <p:cNvSpPr txBox="1">
                <a:spLocks noChangeArrowheads="1"/>
              </p:cNvSpPr>
              <p:nvPr/>
            </p:nvSpPr>
            <p:spPr bwMode="auto">
              <a:xfrm>
                <a:off x="5546725" y="1409700"/>
                <a:ext cx="12065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4800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华文细黑" panose="02010600040101010101" pitchFamily="2" charset="-122"/>
                  </a:rPr>
                  <a:t>02</a:t>
                </a:r>
                <a:endParaRPr lang="zh-CN" altLang="en-US" sz="4400" dirty="0">
                  <a:solidFill>
                    <a:srgbClr val="FFFFFF"/>
                  </a:solidFill>
                  <a:latin typeface="Century Gothic" panose="020B0502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66" name="文本框 108"/>
              <p:cNvSpPr txBox="1">
                <a:spLocks noChangeArrowheads="1"/>
              </p:cNvSpPr>
              <p:nvPr/>
            </p:nvSpPr>
            <p:spPr bwMode="auto">
              <a:xfrm>
                <a:off x="6460444" y="1609725"/>
                <a:ext cx="3830637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28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Rocket chip SoC</a:t>
                </a:r>
                <a:endParaRPr lang="zh-CN" alt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6929525" y="2442752"/>
              <a:ext cx="4744356" cy="830997"/>
              <a:chOff x="5546725" y="2544763"/>
              <a:chExt cx="4744356" cy="830997"/>
            </a:xfrm>
          </p:grpSpPr>
          <p:sp>
            <p:nvSpPr>
              <p:cNvPr id="68" name="文本框 105"/>
              <p:cNvSpPr txBox="1">
                <a:spLocks noChangeArrowheads="1"/>
              </p:cNvSpPr>
              <p:nvPr/>
            </p:nvSpPr>
            <p:spPr bwMode="auto">
              <a:xfrm>
                <a:off x="5546725" y="2544763"/>
                <a:ext cx="12065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4800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华文细黑" panose="02010600040101010101" pitchFamily="2" charset="-122"/>
                  </a:rPr>
                  <a:t>03</a:t>
                </a:r>
                <a:endParaRPr lang="zh-CN" altLang="en-US" sz="4400" dirty="0">
                  <a:solidFill>
                    <a:srgbClr val="FFFFFF"/>
                  </a:solidFill>
                  <a:latin typeface="Century Gothic" panose="020B0502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69" name="文本框 109"/>
              <p:cNvSpPr txBox="1">
                <a:spLocks noChangeArrowheads="1"/>
              </p:cNvSpPr>
              <p:nvPr/>
            </p:nvSpPr>
            <p:spPr bwMode="auto">
              <a:xfrm>
                <a:off x="6460444" y="2744788"/>
                <a:ext cx="3830637" cy="522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28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Rocket core</a:t>
                </a:r>
                <a:endParaRPr lang="zh-CN" alt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6929525" y="3372545"/>
              <a:ext cx="4744356" cy="830997"/>
              <a:chOff x="5546725" y="3679825"/>
              <a:chExt cx="4744356" cy="830997"/>
            </a:xfrm>
          </p:grpSpPr>
          <p:sp>
            <p:nvSpPr>
              <p:cNvPr id="71" name="文本框 107"/>
              <p:cNvSpPr txBox="1">
                <a:spLocks noChangeArrowheads="1"/>
              </p:cNvSpPr>
              <p:nvPr/>
            </p:nvSpPr>
            <p:spPr bwMode="auto">
              <a:xfrm>
                <a:off x="5546725" y="3679825"/>
                <a:ext cx="12065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4800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华文细黑" panose="02010600040101010101" pitchFamily="2" charset="-122"/>
                  </a:rPr>
                  <a:t>04</a:t>
                </a:r>
                <a:endParaRPr lang="zh-CN" altLang="en-US" sz="4400" dirty="0">
                  <a:solidFill>
                    <a:srgbClr val="FFFFFF"/>
                  </a:solidFill>
                  <a:latin typeface="Century Gothic" panose="020B0502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72" name="文本框 110"/>
              <p:cNvSpPr txBox="1">
                <a:spLocks noChangeArrowheads="1"/>
              </p:cNvSpPr>
              <p:nvPr/>
            </p:nvSpPr>
            <p:spPr bwMode="auto">
              <a:xfrm>
                <a:off x="6460444" y="3879850"/>
                <a:ext cx="383063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2800" b="1" dirty="0" err="1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Toolflow</a:t>
                </a:r>
                <a:endParaRPr lang="zh-CN" alt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6929525" y="4367671"/>
              <a:ext cx="4744356" cy="830997"/>
              <a:chOff x="5546725" y="4816475"/>
              <a:chExt cx="4744356" cy="830997"/>
            </a:xfrm>
          </p:grpSpPr>
          <p:sp>
            <p:nvSpPr>
              <p:cNvPr id="74" name="文本框 106"/>
              <p:cNvSpPr txBox="1">
                <a:spLocks noChangeArrowheads="1"/>
              </p:cNvSpPr>
              <p:nvPr/>
            </p:nvSpPr>
            <p:spPr bwMode="auto">
              <a:xfrm>
                <a:off x="5546725" y="4816475"/>
                <a:ext cx="12065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4800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华文细黑" panose="02010600040101010101" pitchFamily="2" charset="-122"/>
                  </a:rPr>
                  <a:t>05</a:t>
                </a:r>
                <a:endParaRPr lang="zh-CN" altLang="en-US" sz="4400" dirty="0">
                  <a:solidFill>
                    <a:srgbClr val="FFFFFF"/>
                  </a:solidFill>
                  <a:latin typeface="Century Gothic" panose="020B0502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75" name="文本框 111"/>
              <p:cNvSpPr txBox="1">
                <a:spLocks noChangeArrowheads="1"/>
              </p:cNvSpPr>
              <p:nvPr/>
            </p:nvSpPr>
            <p:spPr bwMode="auto">
              <a:xfrm>
                <a:off x="6460444" y="5016500"/>
                <a:ext cx="3830637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2800" b="1" dirty="0" err="1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RoCC</a:t>
                </a:r>
                <a:r>
                  <a:rPr lang="en-US" altLang="zh-CN" sz="28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Example</a:t>
                </a:r>
                <a:endParaRPr lang="zh-CN" alt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6929525" y="5398693"/>
              <a:ext cx="4744356" cy="830997"/>
              <a:chOff x="5546725" y="1409700"/>
              <a:chExt cx="4744356" cy="830997"/>
            </a:xfrm>
          </p:grpSpPr>
          <p:sp>
            <p:nvSpPr>
              <p:cNvPr id="33" name="文本框 104"/>
              <p:cNvSpPr txBox="1">
                <a:spLocks noChangeArrowheads="1"/>
              </p:cNvSpPr>
              <p:nvPr/>
            </p:nvSpPr>
            <p:spPr bwMode="auto">
              <a:xfrm>
                <a:off x="5546725" y="1409700"/>
                <a:ext cx="12065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4800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华文细黑" panose="02010600040101010101" pitchFamily="2" charset="-122"/>
                  </a:rPr>
                  <a:t>06</a:t>
                </a:r>
                <a:endParaRPr lang="zh-CN" altLang="en-US" sz="4400" dirty="0">
                  <a:solidFill>
                    <a:srgbClr val="FFFFFF"/>
                  </a:solidFill>
                  <a:latin typeface="Century Gothic" panose="020B0502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34" name="文本框 108"/>
              <p:cNvSpPr txBox="1">
                <a:spLocks noChangeArrowheads="1"/>
              </p:cNvSpPr>
              <p:nvPr/>
            </p:nvSpPr>
            <p:spPr bwMode="auto">
              <a:xfrm>
                <a:off x="6460444" y="1609725"/>
                <a:ext cx="383063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28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Summary</a:t>
                </a: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6929525" y="630376"/>
              <a:ext cx="4744356" cy="830997"/>
              <a:chOff x="5546725" y="1409700"/>
              <a:chExt cx="4744356" cy="830997"/>
            </a:xfrm>
          </p:grpSpPr>
          <p:sp>
            <p:nvSpPr>
              <p:cNvPr id="36" name="文本框 104"/>
              <p:cNvSpPr txBox="1">
                <a:spLocks noChangeArrowheads="1"/>
              </p:cNvSpPr>
              <p:nvPr/>
            </p:nvSpPr>
            <p:spPr bwMode="auto">
              <a:xfrm>
                <a:off x="5546725" y="1409700"/>
                <a:ext cx="12065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4800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华文细黑" panose="02010600040101010101" pitchFamily="2" charset="-122"/>
                  </a:rPr>
                  <a:t>01</a:t>
                </a:r>
                <a:endParaRPr lang="zh-CN" altLang="en-US" sz="4400" dirty="0">
                  <a:solidFill>
                    <a:srgbClr val="FFFFFF"/>
                  </a:solidFill>
                  <a:latin typeface="Century Gothic" panose="020B0502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37" name="文本框 108"/>
              <p:cNvSpPr txBox="1">
                <a:spLocks noChangeArrowheads="1"/>
              </p:cNvSpPr>
              <p:nvPr/>
            </p:nvSpPr>
            <p:spPr bwMode="auto">
              <a:xfrm>
                <a:off x="6460444" y="1609725"/>
                <a:ext cx="3830637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28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RISC-V</a:t>
                </a:r>
                <a:endParaRPr lang="zh-CN" alt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165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3"/>
          <p:cNvSpPr>
            <a:spLocks noChangeArrowheads="1"/>
          </p:cNvSpPr>
          <p:nvPr/>
        </p:nvSpPr>
        <p:spPr bwMode="auto">
          <a:xfrm>
            <a:off x="2706003" y="515427"/>
            <a:ext cx="3635914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RISC-V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指令集组成</a:t>
            </a:r>
            <a:endParaRPr lang="en-US" altLang="zh-CN" b="1" dirty="0">
              <a:solidFill>
                <a:srgbClr val="202A36"/>
              </a:solidFill>
              <a:cs typeface="Arial" panose="020B0604020202020204" pitchFamily="34" charset="0"/>
              <a:sym typeface="Impact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475172"/>
              </p:ext>
            </p:extLst>
          </p:nvPr>
        </p:nvGraphicFramePr>
        <p:xfrm>
          <a:off x="2532469" y="1739785"/>
          <a:ext cx="8977360" cy="461015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17230">
                  <a:extLst>
                    <a:ext uri="{9D8B030D-6E8A-4147-A177-3AD203B41FA5}">
                      <a16:colId xmlns:a16="http://schemas.microsoft.com/office/drawing/2014/main" val="4283093073"/>
                    </a:ext>
                  </a:extLst>
                </a:gridCol>
                <a:gridCol w="1217230">
                  <a:extLst>
                    <a:ext uri="{9D8B030D-6E8A-4147-A177-3AD203B41FA5}">
                      <a16:colId xmlns:a16="http://schemas.microsoft.com/office/drawing/2014/main" val="1543106886"/>
                    </a:ext>
                  </a:extLst>
                </a:gridCol>
                <a:gridCol w="3271450">
                  <a:extLst>
                    <a:ext uri="{9D8B030D-6E8A-4147-A177-3AD203B41FA5}">
                      <a16:colId xmlns:a16="http://schemas.microsoft.com/office/drawing/2014/main" val="3653754607"/>
                    </a:ext>
                  </a:extLst>
                </a:gridCol>
                <a:gridCol w="3271450">
                  <a:extLst>
                    <a:ext uri="{9D8B030D-6E8A-4147-A177-3AD203B41FA5}">
                      <a16:colId xmlns:a16="http://schemas.microsoft.com/office/drawing/2014/main" val="4261669457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指令集类型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指令集名称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指令数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说明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5655931"/>
                  </a:ext>
                </a:extLst>
              </a:tr>
              <a:tr h="1080000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基础指令集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RV32I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32</a:t>
                      </a:r>
                      <a:r>
                        <a:rPr lang="zh-CN" sz="1600" kern="100" dirty="0">
                          <a:effectLst/>
                        </a:rPr>
                        <a:t>位寻址空间，</a:t>
                      </a:r>
                      <a:r>
                        <a:rPr lang="en-US" sz="1600" kern="100" dirty="0">
                          <a:effectLst/>
                        </a:rPr>
                        <a:t>32</a:t>
                      </a:r>
                      <a:r>
                        <a:rPr lang="zh-CN" sz="1600" kern="100" dirty="0">
                          <a:effectLst/>
                        </a:rPr>
                        <a:t>个</a:t>
                      </a:r>
                      <a:r>
                        <a:rPr lang="en-US" sz="1600" kern="100" dirty="0">
                          <a:effectLst/>
                        </a:rPr>
                        <a:t>32</a:t>
                      </a:r>
                      <a:r>
                        <a:rPr lang="zh-CN" sz="1600" kern="100" dirty="0">
                          <a:effectLst/>
                        </a:rPr>
                        <a:t>位寄存器；</a:t>
                      </a:r>
                    </a:p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包含</a:t>
                      </a:r>
                      <a:r>
                        <a:rPr lang="en-US" sz="1600" kern="100" dirty="0">
                          <a:effectLst/>
                        </a:rPr>
                        <a:t>RV32E</a:t>
                      </a:r>
                      <a:r>
                        <a:rPr lang="zh-CN" sz="1600" kern="100" dirty="0">
                          <a:effectLst/>
                        </a:rPr>
                        <a:t>子集，寄存器数量变为</a:t>
                      </a:r>
                      <a:r>
                        <a:rPr lang="en-US" sz="1600" kern="100" dirty="0">
                          <a:effectLst/>
                        </a:rPr>
                        <a:t>16</a:t>
                      </a:r>
                      <a:r>
                        <a:rPr lang="zh-CN" sz="1600" kern="100" dirty="0">
                          <a:effectLst/>
                        </a:rPr>
                        <a:t>个，用于嵌入式环境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743639"/>
                  </a:ext>
                </a:extLst>
              </a:tr>
              <a:tr h="3829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RV64I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64</a:t>
                      </a:r>
                      <a:r>
                        <a:rPr lang="zh-CN" sz="1600" kern="100">
                          <a:effectLst/>
                        </a:rPr>
                        <a:t>位寻址空间，</a:t>
                      </a:r>
                      <a:r>
                        <a:rPr lang="en-US" sz="1600" kern="100">
                          <a:effectLst/>
                        </a:rPr>
                        <a:t>32</a:t>
                      </a:r>
                      <a:r>
                        <a:rPr lang="zh-CN" sz="1600" kern="100">
                          <a:effectLst/>
                        </a:rPr>
                        <a:t>个</a:t>
                      </a:r>
                      <a:r>
                        <a:rPr lang="en-US" sz="1600" kern="100">
                          <a:effectLst/>
                        </a:rPr>
                        <a:t>64</a:t>
                      </a:r>
                      <a:r>
                        <a:rPr lang="zh-CN" sz="1600" kern="100">
                          <a:effectLst/>
                        </a:rPr>
                        <a:t>位寄存器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3622343"/>
                  </a:ext>
                </a:extLst>
              </a:tr>
              <a:tr h="381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RV128I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128</a:t>
                      </a:r>
                      <a:r>
                        <a:rPr lang="zh-CN" sz="1600" kern="100">
                          <a:effectLst/>
                        </a:rPr>
                        <a:t>位寻址空间，</a:t>
                      </a:r>
                      <a:r>
                        <a:rPr lang="en-US" sz="1600" kern="100">
                          <a:effectLst/>
                        </a:rPr>
                        <a:t>32</a:t>
                      </a:r>
                      <a:r>
                        <a:rPr lang="zh-CN" sz="1600" kern="100">
                          <a:effectLst/>
                        </a:rPr>
                        <a:t>个</a:t>
                      </a:r>
                      <a:r>
                        <a:rPr lang="en-US" sz="1600" kern="100">
                          <a:effectLst/>
                        </a:rPr>
                        <a:t>128</a:t>
                      </a:r>
                      <a:r>
                        <a:rPr lang="zh-CN" sz="1600" kern="100">
                          <a:effectLst/>
                        </a:rPr>
                        <a:t>位寄存器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601025"/>
                  </a:ext>
                </a:extLst>
              </a:tr>
              <a:tr h="382937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扩展指令集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包含乘除指令和余数操作指令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4586402"/>
                  </a:ext>
                </a:extLst>
              </a:tr>
              <a:tr h="3829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包含原子操作指令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2218995"/>
                  </a:ext>
                </a:extLst>
              </a:tr>
              <a:tr h="3829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包含单精度浮点指令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0808995"/>
                  </a:ext>
                </a:extLst>
              </a:tr>
              <a:tr h="3829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包含双精度浮点指令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5915846"/>
                  </a:ext>
                </a:extLst>
              </a:tr>
              <a:tr h="3829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Q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包含四倍精度浮点指令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1494704"/>
                  </a:ext>
                </a:extLst>
              </a:tr>
              <a:tr h="3829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压缩指令集，指令长度为</a:t>
                      </a:r>
                      <a:r>
                        <a:rPr lang="en-US" sz="1600" kern="100" dirty="0">
                          <a:effectLst/>
                        </a:rPr>
                        <a:t>16</a:t>
                      </a:r>
                      <a:r>
                        <a:rPr lang="zh-CN" sz="1600" kern="100" dirty="0">
                          <a:effectLst/>
                        </a:rPr>
                        <a:t>位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3337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72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3"/>
          <p:cNvSpPr>
            <a:spLocks noChangeArrowheads="1"/>
          </p:cNvSpPr>
          <p:nvPr/>
        </p:nvSpPr>
        <p:spPr bwMode="auto">
          <a:xfrm>
            <a:off x="2706003" y="515427"/>
            <a:ext cx="3778580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RISC-V 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可扩展空间</a:t>
            </a:r>
            <a:endParaRPr lang="en-US" altLang="zh-CN" b="1" dirty="0">
              <a:solidFill>
                <a:srgbClr val="202A36"/>
              </a:solidFill>
              <a:cs typeface="Arial" panose="020B0604020202020204" pitchFamily="34" charset="0"/>
              <a:sym typeface="Impact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948134"/>
              </p:ext>
            </p:extLst>
          </p:nvPr>
        </p:nvGraphicFramePr>
        <p:xfrm>
          <a:off x="2025038" y="1764053"/>
          <a:ext cx="9972000" cy="393337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231556681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43586647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86282323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31234776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1441378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227253747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549557906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1577686192"/>
                    </a:ext>
                  </a:extLst>
                </a:gridCol>
              </a:tblGrid>
              <a:tr h="933603"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spcAft>
                          <a:spcPts val="24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Inst[4:2]</a:t>
                      </a:r>
                      <a:endParaRPr lang="zh-CN" sz="1800" kern="100" dirty="0">
                        <a:effectLst/>
                      </a:endParaRPr>
                    </a:p>
                    <a:p>
                      <a:pPr algn="l">
                        <a:lnSpc>
                          <a:spcPts val="23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Inst[6:5]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001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010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011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100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101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110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186022"/>
                  </a:ext>
                </a:extLst>
              </a:tr>
              <a:tr h="74994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LOAD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LOAD-FP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kern="100" dirty="0">
                          <a:effectLst/>
                        </a:rPr>
                        <a:t>custom-0 </a:t>
                      </a:r>
                      <a:endParaRPr lang="zh-CN" sz="1800" b="1" i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MISC-MEM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OP-IMM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AUIPC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OP-IMM-32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535548"/>
                  </a:ext>
                </a:extLst>
              </a:tr>
              <a:tr h="74994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STORE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STORE-FP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custom-1</a:t>
                      </a:r>
                      <a:r>
                        <a:rPr lang="en-US" sz="1800" b="1" kern="100" dirty="0">
                          <a:effectLst/>
                        </a:rPr>
                        <a:t> 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AMO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OP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LUI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OP-32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388200"/>
                  </a:ext>
                </a:extLst>
              </a:tr>
              <a:tr h="74994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10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MADD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MSUB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NMSUB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NMADD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OP-FP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reserved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custom-2/rv128 </a:t>
                      </a:r>
                      <a:endParaRPr lang="zh-CN" altLang="en-US" sz="1800" b="1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24903"/>
                  </a:ext>
                </a:extLst>
              </a:tr>
              <a:tr h="74994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11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>
                          <a:effectLst/>
                        </a:rPr>
                        <a:t>BRANCH </a:t>
                      </a:r>
                      <a:endParaRPr lang="zh-CN" sz="18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JALR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reserved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JAL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SYSTEM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</a:rPr>
                        <a:t>reserved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custom-3/rv128</a:t>
                      </a:r>
                      <a:r>
                        <a:rPr lang="en-US" sz="1800" b="1" kern="100" dirty="0">
                          <a:effectLst/>
                        </a:rPr>
                        <a:t> 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881518"/>
                  </a:ext>
                </a:extLst>
              </a:tr>
            </a:tbl>
          </a:graphicData>
        </a:graphic>
      </p:graphicFrame>
      <p:sp>
        <p:nvSpPr>
          <p:cNvPr id="5" name="副标题 2"/>
          <p:cNvSpPr txBox="1">
            <a:spLocks/>
          </p:cNvSpPr>
          <p:nvPr/>
        </p:nvSpPr>
        <p:spPr>
          <a:xfrm>
            <a:off x="2161226" y="5983913"/>
            <a:ext cx="9699624" cy="61653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custom-0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custom-3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可用作扩展指令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472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706003" y="2058670"/>
            <a:ext cx="8688828" cy="3962303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UC Berkeley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开源项目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Rocket-chip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 chip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是一个高度参数化的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 Generator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，包含处理器、总线单元、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和其他一些外设的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</a:pP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Chisel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是基于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Scala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的特定领域应用，它将面向对象、函数式编程等思想引入了硬件描述语言，能够提供强大的硬件开发能力。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706003" y="515427"/>
            <a:ext cx="4824123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Rocket-chip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 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Generator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5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706003" y="1594438"/>
            <a:ext cx="8688828" cy="85334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采用参数化的配置方法，可以基于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Rocket-chip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构建具有不同结构和要求的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706003" y="515427"/>
            <a:ext cx="3533898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Rocket-chip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 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SoC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43762"/>
              </p:ext>
            </p:extLst>
          </p:nvPr>
        </p:nvGraphicFramePr>
        <p:xfrm>
          <a:off x="2486727" y="2641326"/>
          <a:ext cx="9127379" cy="3888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310449">
                  <a:extLst>
                    <a:ext uri="{9D8B030D-6E8A-4147-A177-3AD203B41FA5}">
                      <a16:colId xmlns:a16="http://schemas.microsoft.com/office/drawing/2014/main" val="1491599234"/>
                    </a:ext>
                  </a:extLst>
                </a:gridCol>
                <a:gridCol w="2520768">
                  <a:extLst>
                    <a:ext uri="{9D8B030D-6E8A-4147-A177-3AD203B41FA5}">
                      <a16:colId xmlns:a16="http://schemas.microsoft.com/office/drawing/2014/main" val="4146147873"/>
                    </a:ext>
                  </a:extLst>
                </a:gridCol>
                <a:gridCol w="1847417">
                  <a:extLst>
                    <a:ext uri="{9D8B030D-6E8A-4147-A177-3AD203B41FA5}">
                      <a16:colId xmlns:a16="http://schemas.microsoft.com/office/drawing/2014/main" val="3271948774"/>
                    </a:ext>
                  </a:extLst>
                </a:gridCol>
                <a:gridCol w="2448745">
                  <a:extLst>
                    <a:ext uri="{9D8B030D-6E8A-4147-A177-3AD203B41FA5}">
                      <a16:colId xmlns:a16="http://schemas.microsoft.com/office/drawing/2014/main" val="127880452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Description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Parameter 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Default Value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Possible Value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64465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 of Rocket Tiles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NTILES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3839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 of MSHRs in L1 D$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DCacheParams.nMSHRs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7673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 of sets in L1 D$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DCacheParams.nSets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0, power of 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5058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 of ways in L1 D$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DCacheParams.nWays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0, power of 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438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 of sets in L1 I$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ICacheParams.nSets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0, power of 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031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 of ways in L1 I$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ICacheParams.nWays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0, power of 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1537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 of 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Cacheline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CacheBlockBytes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0, and ?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21888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Instantiate FPU?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fpu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=Option[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FPUParams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Some(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FPUParams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 / Some[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FPUParams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4336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 BTB?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btb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=Option[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BTBParams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Some(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BTBParams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 / Some(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BTBParams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407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 of BTB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BTBParams.nEntries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 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50188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Instantiate 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RoCC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rocc=Seq[RoCCParams]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Nil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Nil / 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Seq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RoCCParams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636710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00" y="3229674"/>
            <a:ext cx="7933900" cy="2711304"/>
          </a:xfrm>
          <a:prstGeom prst="rect">
            <a:avLst/>
          </a:prstGeom>
          <a:ln w="28575">
            <a:solidFill>
              <a:srgbClr val="FCB00F"/>
            </a:solidFill>
          </a:ln>
        </p:spPr>
      </p:pic>
    </p:spTree>
    <p:extLst>
      <p:ext uri="{BB962C8B-B14F-4D97-AF65-F5344CB8AC3E}">
        <p14:creationId xmlns:p14="http://schemas.microsoft.com/office/powerpoint/2010/main" val="41765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706003" y="1594438"/>
            <a:ext cx="8688828" cy="85334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采用参数化的配置方法，可以基于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Rocket-chip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构建具有不同结构和要求的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706003" y="515427"/>
            <a:ext cx="3533898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Rocket-chip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 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SoC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46617" y="2767446"/>
            <a:ext cx="10007600" cy="3263569"/>
            <a:chOff x="2039917" y="2881746"/>
            <a:chExt cx="10007600" cy="326356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9917" y="2881746"/>
              <a:ext cx="9902371" cy="55013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9917" y="4330730"/>
              <a:ext cx="9662598" cy="48881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9917" y="4988432"/>
              <a:ext cx="10007600" cy="115688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39917" y="3600766"/>
              <a:ext cx="8847739" cy="561076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6617" y="6031015"/>
            <a:ext cx="9196401" cy="798462"/>
          </a:xfrm>
          <a:prstGeom prst="rect">
            <a:avLst/>
          </a:prstGeom>
          <a:ln w="28575">
            <a:solidFill>
              <a:srgbClr val="FCB00F"/>
            </a:solidFill>
          </a:ln>
        </p:spPr>
      </p:pic>
    </p:spTree>
    <p:extLst>
      <p:ext uri="{BB962C8B-B14F-4D97-AF65-F5344CB8AC3E}">
        <p14:creationId xmlns:p14="http://schemas.microsoft.com/office/powerpoint/2010/main" val="39334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706003" y="1594438"/>
            <a:ext cx="4580168" cy="49827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 = 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DefaultConfig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706003" y="515427"/>
            <a:ext cx="3533898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Rocket-chip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 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SoC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003" y="2931885"/>
            <a:ext cx="3061042" cy="32581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550" y="2092714"/>
            <a:ext cx="6176423" cy="476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7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706002" y="1594438"/>
            <a:ext cx="6249311" cy="49827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 = 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RoCCExampleConfig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706003" y="515427"/>
            <a:ext cx="3533898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Rocket-chip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 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SoC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47" y="3196558"/>
            <a:ext cx="3819886" cy="290640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550" y="2092714"/>
            <a:ext cx="6176423" cy="476528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481943" y="3976914"/>
            <a:ext cx="1103086" cy="1915886"/>
          </a:xfrm>
          <a:prstGeom prst="rect">
            <a:avLst/>
          </a:prstGeom>
          <a:noFill/>
          <a:ln w="57150">
            <a:solidFill>
              <a:srgbClr val="FCB0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85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2"/>
          <p:cNvSpPr>
            <a:spLocks noGrp="1"/>
          </p:cNvSpPr>
          <p:nvPr>
            <p:ph type="subTitle" idx="4294967295"/>
          </p:nvPr>
        </p:nvSpPr>
        <p:spPr>
          <a:xfrm>
            <a:off x="2518031" y="3671434"/>
            <a:ext cx="8959396" cy="318656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是一款采用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指令集架构的开源处理器，它是使用五级流水线、单发射顺序执行的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位标量处理器。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和分页虚拟内存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具有兼容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 754-2008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FPU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423932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Rocket core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简介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29" y="1937741"/>
            <a:ext cx="8211399" cy="14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4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7436248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RISC-V Rocket  vs.  ARM Cortex-A5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0428627"/>
                  </p:ext>
                </p:extLst>
              </p:nvPr>
            </p:nvGraphicFramePr>
            <p:xfrm>
              <a:off x="2188517" y="1683657"/>
              <a:ext cx="9669786" cy="285205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188000">
                      <a:extLst>
                        <a:ext uri="{9D8B030D-6E8A-4147-A177-3AD203B41FA5}">
                          <a16:colId xmlns:a16="http://schemas.microsoft.com/office/drawing/2014/main" val="984437998"/>
                        </a:ext>
                      </a:extLst>
                    </a:gridCol>
                    <a:gridCol w="673100">
                      <a:extLst>
                        <a:ext uri="{9D8B030D-6E8A-4147-A177-3AD203B41FA5}">
                          <a16:colId xmlns:a16="http://schemas.microsoft.com/office/drawing/2014/main" val="3070249118"/>
                        </a:ext>
                      </a:extLst>
                    </a:gridCol>
                    <a:gridCol w="873760">
                      <a:extLst>
                        <a:ext uri="{9D8B030D-6E8A-4147-A177-3AD203B41FA5}">
                          <a16:colId xmlns:a16="http://schemas.microsoft.com/office/drawing/2014/main" val="3010665639"/>
                        </a:ext>
                      </a:extLst>
                    </a:gridCol>
                    <a:gridCol w="1112520">
                      <a:extLst>
                        <a:ext uri="{9D8B030D-6E8A-4147-A177-3AD203B41FA5}">
                          <a16:colId xmlns:a16="http://schemas.microsoft.com/office/drawing/2014/main" val="3581212492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170009085"/>
                        </a:ext>
                      </a:extLst>
                    </a:gridCol>
                    <a:gridCol w="1437277">
                      <a:extLst>
                        <a:ext uri="{9D8B030D-6E8A-4147-A177-3AD203B41FA5}">
                          <a16:colId xmlns:a16="http://schemas.microsoft.com/office/drawing/2014/main" val="3735853349"/>
                        </a:ext>
                      </a:extLst>
                    </a:gridCol>
                    <a:gridCol w="1494972">
                      <a:extLst>
                        <a:ext uri="{9D8B030D-6E8A-4147-A177-3AD203B41FA5}">
                          <a16:colId xmlns:a16="http://schemas.microsoft.com/office/drawing/2014/main" val="2802005705"/>
                        </a:ext>
                      </a:extLst>
                    </a:gridCol>
                    <a:gridCol w="1480457">
                      <a:extLst>
                        <a:ext uri="{9D8B030D-6E8A-4147-A177-3AD203B41FA5}">
                          <a16:colId xmlns:a16="http://schemas.microsoft.com/office/drawing/2014/main" val="3951825394"/>
                        </a:ext>
                      </a:extLst>
                    </a:gridCol>
                  </a:tblGrid>
                  <a:tr h="1397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指令系统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字长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主频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(GHz)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性能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(DMIPS/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MHz)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面积</a:t>
                          </a:r>
                          <a:r>
                            <a:rPr lang="en-US" sz="2000" kern="100" dirty="0">
                              <a:effectLst/>
                            </a:rPr>
                            <a:t>(mm</a:t>
                          </a:r>
                          <a:r>
                            <a:rPr lang="en-US" sz="20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</a:t>
                          </a:r>
                          <a:r>
                            <a:rPr lang="zh-CN" sz="2000" kern="100" dirty="0">
                              <a:effectLst/>
                            </a:rPr>
                            <a:t>无高速缓存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面积</a:t>
                          </a:r>
                          <a:r>
                            <a:rPr lang="en-US" sz="2000" kern="100" dirty="0">
                              <a:effectLst/>
                            </a:rPr>
                            <a:t>(mm</a:t>
                          </a:r>
                          <a:r>
                            <a:rPr lang="en-US" sz="20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(16kB</a:t>
                          </a:r>
                          <a:r>
                            <a:rPr lang="zh-CN" sz="2000" kern="100" dirty="0">
                              <a:effectLst/>
                            </a:rPr>
                            <a:t>高速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缓存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面积效率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(DMIPS/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MHz/mm</a:t>
                          </a:r>
                          <a:r>
                            <a:rPr lang="en-US" sz="20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动态功耗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</a:t>
                          </a:r>
                          <a:r>
                            <a:rPr lang="en-US" sz="2000" kern="100" dirty="0" err="1">
                              <a:effectLst/>
                            </a:rPr>
                            <a:t>mW</a:t>
                          </a:r>
                          <a:r>
                            <a:rPr lang="en-US" sz="2000" kern="100" dirty="0">
                              <a:effectLst/>
                            </a:rPr>
                            <a:t>/MHz)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527892"/>
                      </a:ext>
                    </a:extLst>
                  </a:tr>
                  <a:tr h="484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ARM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32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&gt;1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1.57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0.27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0.53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3.0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&lt;0.080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958365"/>
                      </a:ext>
                    </a:extLst>
                  </a:tr>
                  <a:tr h="484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RISC-V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64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&gt;1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1.72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0.14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0.39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4.4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0.034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74482"/>
                      </a:ext>
                    </a:extLst>
                  </a:tr>
                  <a:tr h="484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Ratio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2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1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1.1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0.5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0.7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1.5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zh-CN" altLang="en-US" sz="2000" kern="100" smtClean="0">
                                  <a:effectLst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altLang="zh-CN" sz="2000" kern="100" dirty="0">
                              <a:effectLst/>
                            </a:rPr>
                            <a:t>0.4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97531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0428627"/>
                  </p:ext>
                </p:extLst>
              </p:nvPr>
            </p:nvGraphicFramePr>
            <p:xfrm>
              <a:off x="2188517" y="1683657"/>
              <a:ext cx="9669786" cy="285205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188000">
                      <a:extLst>
                        <a:ext uri="{9D8B030D-6E8A-4147-A177-3AD203B41FA5}">
                          <a16:colId xmlns:a16="http://schemas.microsoft.com/office/drawing/2014/main" val="984437998"/>
                        </a:ext>
                      </a:extLst>
                    </a:gridCol>
                    <a:gridCol w="673100">
                      <a:extLst>
                        <a:ext uri="{9D8B030D-6E8A-4147-A177-3AD203B41FA5}">
                          <a16:colId xmlns:a16="http://schemas.microsoft.com/office/drawing/2014/main" val="3070249118"/>
                        </a:ext>
                      </a:extLst>
                    </a:gridCol>
                    <a:gridCol w="873760">
                      <a:extLst>
                        <a:ext uri="{9D8B030D-6E8A-4147-A177-3AD203B41FA5}">
                          <a16:colId xmlns:a16="http://schemas.microsoft.com/office/drawing/2014/main" val="3010665639"/>
                        </a:ext>
                      </a:extLst>
                    </a:gridCol>
                    <a:gridCol w="1112520">
                      <a:extLst>
                        <a:ext uri="{9D8B030D-6E8A-4147-A177-3AD203B41FA5}">
                          <a16:colId xmlns:a16="http://schemas.microsoft.com/office/drawing/2014/main" val="3581212492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170009085"/>
                        </a:ext>
                      </a:extLst>
                    </a:gridCol>
                    <a:gridCol w="1437277">
                      <a:extLst>
                        <a:ext uri="{9D8B030D-6E8A-4147-A177-3AD203B41FA5}">
                          <a16:colId xmlns:a16="http://schemas.microsoft.com/office/drawing/2014/main" val="3735853349"/>
                        </a:ext>
                      </a:extLst>
                    </a:gridCol>
                    <a:gridCol w="1494972">
                      <a:extLst>
                        <a:ext uri="{9D8B030D-6E8A-4147-A177-3AD203B41FA5}">
                          <a16:colId xmlns:a16="http://schemas.microsoft.com/office/drawing/2014/main" val="2802005705"/>
                        </a:ext>
                      </a:extLst>
                    </a:gridCol>
                    <a:gridCol w="1480457">
                      <a:extLst>
                        <a:ext uri="{9D8B030D-6E8A-4147-A177-3AD203B41FA5}">
                          <a16:colId xmlns:a16="http://schemas.microsoft.com/office/drawing/2014/main" val="3951825394"/>
                        </a:ext>
                      </a:extLst>
                    </a:gridCol>
                  </a:tblGrid>
                  <a:tr h="1397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指令系统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字长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主频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(GHz)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性能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(DMIPS/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MHz)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面积</a:t>
                          </a:r>
                          <a:r>
                            <a:rPr lang="en-US" sz="2000" kern="100" dirty="0">
                              <a:effectLst/>
                            </a:rPr>
                            <a:t>(mm</a:t>
                          </a:r>
                          <a:r>
                            <a:rPr lang="en-US" sz="20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</a:t>
                          </a:r>
                          <a:r>
                            <a:rPr lang="zh-CN" sz="2000" kern="100" dirty="0">
                              <a:effectLst/>
                            </a:rPr>
                            <a:t>无高速缓存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面积</a:t>
                          </a:r>
                          <a:r>
                            <a:rPr lang="en-US" sz="2000" kern="100" dirty="0">
                              <a:effectLst/>
                            </a:rPr>
                            <a:t>(mm</a:t>
                          </a:r>
                          <a:r>
                            <a:rPr lang="en-US" sz="20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(16kB</a:t>
                          </a:r>
                          <a:r>
                            <a:rPr lang="zh-CN" sz="2000" kern="100" dirty="0">
                              <a:effectLst/>
                            </a:rPr>
                            <a:t>高速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缓存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面积效率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(DMIPS/</a:t>
                          </a:r>
                          <a:endParaRPr lang="zh-CN" sz="2000" kern="1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MHz/mm</a:t>
                          </a:r>
                          <a:r>
                            <a:rPr lang="en-US" sz="20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000" kern="100" dirty="0">
                              <a:effectLst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kern="100" dirty="0">
                              <a:effectLst/>
                            </a:rPr>
                            <a:t>动态功耗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(</a:t>
                          </a:r>
                          <a:r>
                            <a:rPr lang="en-US" sz="2000" kern="100" dirty="0" err="1">
                              <a:effectLst/>
                            </a:rPr>
                            <a:t>mW</a:t>
                          </a:r>
                          <a:r>
                            <a:rPr lang="en-US" sz="2000" kern="100" dirty="0">
                              <a:effectLst/>
                            </a:rPr>
                            <a:t>/MHz)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527892"/>
                      </a:ext>
                    </a:extLst>
                  </a:tr>
                  <a:tr h="484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ARM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32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&gt;1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1.57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0.27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0.53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3.0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&lt;0.080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958365"/>
                      </a:ext>
                    </a:extLst>
                  </a:tr>
                  <a:tr h="484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RISC-V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64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&gt;1</a:t>
                          </a:r>
                          <a:endParaRPr lang="zh-CN" sz="2000" kern="1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1.72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0.14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0.39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4.4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0.034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74482"/>
                      </a:ext>
                    </a:extLst>
                  </a:tr>
                  <a:tr h="484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Ratio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2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1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1.1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0.5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0.7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2000" kern="100" dirty="0">
                              <a:effectLst/>
                            </a:rPr>
                            <a:t>1.5</a:t>
                          </a:r>
                          <a:endParaRPr lang="zh-CN" sz="2000" kern="1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53086" t="-487500" r="-412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9753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副标题 2"/>
          <p:cNvSpPr txBox="1">
            <a:spLocks/>
          </p:cNvSpPr>
          <p:nvPr/>
        </p:nvSpPr>
        <p:spPr>
          <a:xfrm>
            <a:off x="2319145" y="4803549"/>
            <a:ext cx="9190684" cy="2054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比较以相同的台湾积体电路制造公司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(TSMC)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(40GPLUS)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制造的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(Cotex-A5)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(Rocket)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  <a:spcBef>
                <a:spcPts val="18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二者都使用单发射指令和按序流水线，但是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核更快、更小，功耗更低。</a:t>
            </a:r>
          </a:p>
        </p:txBody>
      </p:sp>
    </p:spTree>
    <p:extLst>
      <p:ext uri="{BB962C8B-B14F-4D97-AF65-F5344CB8AC3E}">
        <p14:creationId xmlns:p14="http://schemas.microsoft.com/office/powerpoint/2010/main" val="195524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流水线取指阶段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770" y="1754706"/>
            <a:ext cx="9485730" cy="4213953"/>
          </a:xfrm>
          <a:prstGeom prst="rect">
            <a:avLst/>
          </a:prstGeom>
        </p:spPr>
      </p:pic>
      <p:sp>
        <p:nvSpPr>
          <p:cNvPr id="5" name="副标题 2"/>
          <p:cNvSpPr txBox="1">
            <a:spLocks/>
          </p:cNvSpPr>
          <p:nvPr/>
        </p:nvSpPr>
        <p:spPr>
          <a:xfrm>
            <a:off x="2560860" y="5062206"/>
            <a:ext cx="3660741" cy="1560965"/>
          </a:xfrm>
          <a:prstGeom prst="rect">
            <a:avLst/>
          </a:prstGeom>
          <a:ln w="28575">
            <a:solidFill>
              <a:srgbClr val="FCB00F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BTB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Branch Target Buffer</a:t>
            </a:r>
          </a:p>
          <a:p>
            <a:pPr marL="0" indent="0">
              <a:lnSpc>
                <a:spcPts val="32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 Address Stack</a:t>
            </a:r>
          </a:p>
          <a:p>
            <a:pPr marL="0" indent="0">
              <a:lnSpc>
                <a:spcPts val="32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BHT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Branch History Table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55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流水线译码阶段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040" y="1647372"/>
            <a:ext cx="9312317" cy="48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0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流水线译码阶段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410485"/>
              </p:ext>
            </p:extLst>
          </p:nvPr>
        </p:nvGraphicFramePr>
        <p:xfrm>
          <a:off x="2014052" y="1486988"/>
          <a:ext cx="5244047" cy="521977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824287">
                  <a:extLst>
                    <a:ext uri="{9D8B030D-6E8A-4147-A177-3AD203B41FA5}">
                      <a16:colId xmlns:a16="http://schemas.microsoft.com/office/drawing/2014/main" val="2403896338"/>
                    </a:ext>
                  </a:extLst>
                </a:gridCol>
                <a:gridCol w="739328">
                  <a:extLst>
                    <a:ext uri="{9D8B030D-6E8A-4147-A177-3AD203B41FA5}">
                      <a16:colId xmlns:a16="http://schemas.microsoft.com/office/drawing/2014/main" val="1017837289"/>
                    </a:ext>
                  </a:extLst>
                </a:gridCol>
                <a:gridCol w="3680432">
                  <a:extLst>
                    <a:ext uri="{9D8B030D-6E8A-4147-A177-3AD203B41FA5}">
                      <a16:colId xmlns:a16="http://schemas.microsoft.com/office/drawing/2014/main" val="112258354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控制信号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位宽</a:t>
                      </a:r>
                      <a:r>
                        <a:rPr lang="en-US" sz="1400" kern="100" dirty="0">
                          <a:effectLst/>
                        </a:rPr>
                        <a:t>/bit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说明</a:t>
                      </a:r>
                      <a:r>
                        <a:rPr lang="en-US" sz="1400" kern="100" dirty="0">
                          <a:effectLst/>
                        </a:rPr>
                        <a:t>(</a:t>
                      </a:r>
                      <a:r>
                        <a:rPr lang="zh-CN" sz="1400" kern="100" dirty="0">
                          <a:effectLst/>
                        </a:rPr>
                        <a:t>针对当前指令</a:t>
                      </a:r>
                      <a:r>
                        <a:rPr lang="en-US" sz="14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365284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val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是否合法指令，合法指令此位应为</a:t>
                      </a: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97514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fp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是否单精度浮点指令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092218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rocc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是否</a:t>
                      </a:r>
                      <a:r>
                        <a:rPr lang="en-US" sz="1400" kern="100">
                          <a:effectLst/>
                        </a:rPr>
                        <a:t>RoCC</a:t>
                      </a:r>
                      <a:r>
                        <a:rPr lang="zh-CN" sz="1400" kern="100">
                          <a:effectLst/>
                        </a:rPr>
                        <a:t>指令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849716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branch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是否条件分支跳转指令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669512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jal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</a:t>
                      </a:r>
                      <a:r>
                        <a:rPr lang="en-US" sz="1400" kern="100" dirty="0">
                          <a:effectLst/>
                        </a:rPr>
                        <a:t>JAL</a:t>
                      </a:r>
                      <a:r>
                        <a:rPr lang="zh-CN" sz="1400" kern="100" dirty="0">
                          <a:effectLst/>
                        </a:rPr>
                        <a:t>指令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274269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jalr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</a:t>
                      </a:r>
                      <a:r>
                        <a:rPr lang="en-US" sz="1400" kern="100" dirty="0">
                          <a:effectLst/>
                        </a:rPr>
                        <a:t>JALR</a:t>
                      </a:r>
                      <a:r>
                        <a:rPr lang="zh-CN" sz="1400" kern="100" dirty="0">
                          <a:effectLst/>
                        </a:rPr>
                        <a:t>指令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550997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rxs2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指令中是否包含</a:t>
                      </a:r>
                      <a:r>
                        <a:rPr lang="en-US" sz="1400" kern="100" dirty="0">
                          <a:effectLst/>
                        </a:rPr>
                        <a:t>rs2</a:t>
                      </a:r>
                      <a:r>
                        <a:rPr lang="zh-CN" sz="1400" kern="100" dirty="0">
                          <a:effectLst/>
                        </a:rPr>
                        <a:t>源操作寄存器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48488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rxs1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指令中是否包含</a:t>
                      </a:r>
                      <a:r>
                        <a:rPr lang="en-US" sz="1400" kern="100" dirty="0">
                          <a:effectLst/>
                        </a:rPr>
                        <a:t>rs1</a:t>
                      </a:r>
                      <a:r>
                        <a:rPr lang="zh-CN" sz="1400" kern="100" dirty="0">
                          <a:effectLst/>
                        </a:rPr>
                        <a:t>源操作寄存器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996746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sel_alu2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第二个操作数类型，寄存器、立即数或</a:t>
                      </a:r>
                      <a:r>
                        <a:rPr lang="en-US" sz="1400" kern="100" dirty="0">
                          <a:effectLst/>
                        </a:rPr>
                        <a:t>PC</a:t>
                      </a:r>
                      <a:r>
                        <a:rPr lang="zh-CN" sz="1400" kern="100" dirty="0">
                          <a:effectLst/>
                        </a:rPr>
                        <a:t>偏移大小</a:t>
                      </a:r>
                      <a:r>
                        <a:rPr lang="en-US" sz="1400" kern="100" dirty="0">
                          <a:effectLst/>
                        </a:rPr>
                        <a:t>(2</a:t>
                      </a:r>
                      <a:r>
                        <a:rPr lang="zh-CN" sz="1400" kern="100" dirty="0">
                          <a:effectLst/>
                        </a:rPr>
                        <a:t>或</a:t>
                      </a:r>
                      <a:r>
                        <a:rPr lang="en-US" sz="1400" kern="100" dirty="0">
                          <a:effectLst/>
                        </a:rPr>
                        <a:t>4)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379427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sel_alu1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第一个操作数类型，寄存器或是</a:t>
                      </a:r>
                      <a:r>
                        <a:rPr lang="en-US" sz="1400" kern="100" dirty="0">
                          <a:effectLst/>
                        </a:rPr>
                        <a:t>PC</a:t>
                      </a:r>
                      <a:r>
                        <a:rPr lang="zh-CN" sz="1400" kern="100" dirty="0">
                          <a:effectLst/>
                        </a:rPr>
                        <a:t>值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061988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sel_imm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当前指令的立即数编码格式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67888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alu_dw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ALU</a:t>
                      </a:r>
                      <a:r>
                        <a:rPr lang="zh-CN" sz="1400" kern="100" dirty="0">
                          <a:effectLst/>
                        </a:rPr>
                        <a:t>的数据宽度，</a:t>
                      </a:r>
                      <a:r>
                        <a:rPr lang="en-US" sz="1400" kern="100" dirty="0">
                          <a:effectLst/>
                        </a:rPr>
                        <a:t>32</a:t>
                      </a:r>
                      <a:r>
                        <a:rPr lang="zh-CN" sz="1400" kern="100" dirty="0">
                          <a:effectLst/>
                        </a:rPr>
                        <a:t>位或</a:t>
                      </a:r>
                      <a:r>
                        <a:rPr lang="en-US" sz="1400" kern="100" dirty="0">
                          <a:effectLst/>
                        </a:rPr>
                        <a:t>64</a:t>
                      </a:r>
                      <a:r>
                        <a:rPr lang="zh-CN" sz="1400" kern="100" dirty="0">
                          <a:effectLst/>
                        </a:rPr>
                        <a:t>位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650915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alu_fn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定义</a:t>
                      </a:r>
                      <a:r>
                        <a:rPr lang="en-US" sz="1400" kern="100" dirty="0">
                          <a:effectLst/>
                        </a:rPr>
                        <a:t>ALU</a:t>
                      </a:r>
                      <a:r>
                        <a:rPr lang="zh-CN" sz="1400" kern="100" dirty="0">
                          <a:effectLst/>
                        </a:rPr>
                        <a:t>执行的操作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41131"/>
                  </a:ext>
                </a:extLst>
              </a:tr>
              <a:tr h="31164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mem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是否需要访问存储器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474694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83788"/>
              </p:ext>
            </p:extLst>
          </p:nvPr>
        </p:nvGraphicFramePr>
        <p:xfrm>
          <a:off x="7334299" y="1486988"/>
          <a:ext cx="4769338" cy="5201037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985129">
                  <a:extLst>
                    <a:ext uri="{9D8B030D-6E8A-4147-A177-3AD203B41FA5}">
                      <a16:colId xmlns:a16="http://schemas.microsoft.com/office/drawing/2014/main" val="2523240984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231515688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21906676"/>
                    </a:ext>
                  </a:extLst>
                </a:gridCol>
              </a:tblGrid>
              <a:tr h="582800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控制信号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位宽</a:t>
                      </a:r>
                      <a:r>
                        <a:rPr lang="en-US" sz="1400" kern="100" dirty="0">
                          <a:effectLst/>
                        </a:rPr>
                        <a:t>/bit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说明</a:t>
                      </a:r>
                      <a:r>
                        <a:rPr lang="en-US" sz="1400" kern="100" dirty="0">
                          <a:effectLst/>
                        </a:rPr>
                        <a:t>(</a:t>
                      </a:r>
                      <a:r>
                        <a:rPr lang="zh-CN" sz="1400" kern="100" dirty="0">
                          <a:effectLst/>
                        </a:rPr>
                        <a:t>针对当前指令</a:t>
                      </a:r>
                      <a:r>
                        <a:rPr lang="en-US" sz="14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/>
                </a:tc>
                <a:extLst>
                  <a:ext uri="{0D108BD9-81ED-4DB2-BD59-A6C34878D82A}">
                    <a16:rowId xmlns:a16="http://schemas.microsoft.com/office/drawing/2014/main" val="1517982335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mem_cmd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5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访存的指令，加载、存储等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928608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mem_type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定义访存的数据长度和数据类型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8116683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rfs1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单精度浮点指令，是否包含</a:t>
                      </a:r>
                      <a:r>
                        <a:rPr lang="en-US" sz="1400" kern="100" dirty="0">
                          <a:effectLst/>
                        </a:rPr>
                        <a:t>rs1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6002798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rfs2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单精度浮点指令，是否包含</a:t>
                      </a:r>
                      <a:r>
                        <a:rPr lang="en-US" sz="1400" kern="100" dirty="0">
                          <a:effectLst/>
                        </a:rPr>
                        <a:t>rs2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0792403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rfs3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单精度浮点指令，是否包含</a:t>
                      </a:r>
                      <a:r>
                        <a:rPr lang="en-US" sz="1400" kern="100" dirty="0">
                          <a:effectLst/>
                        </a:rPr>
                        <a:t>rs3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124006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wfd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单精度浮点指令，是否需要写回操作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6052535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div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是否乘除指令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7492420"/>
                  </a:ext>
                </a:extLst>
              </a:tr>
              <a:tr h="57753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wxd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指令中是否包含</a:t>
                      </a:r>
                      <a:r>
                        <a:rPr lang="en-US" sz="1400" kern="100" dirty="0" err="1">
                          <a:effectLst/>
                        </a:rPr>
                        <a:t>rd</a:t>
                      </a:r>
                      <a:r>
                        <a:rPr lang="zh-CN" sz="1400" kern="100" dirty="0">
                          <a:effectLst/>
                        </a:rPr>
                        <a:t>目的操作寄存器，是否需要写回操作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9833039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csr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CSR</a:t>
                      </a:r>
                      <a:r>
                        <a:rPr lang="zh-CN" sz="1400" kern="100" dirty="0">
                          <a:effectLst/>
                        </a:rPr>
                        <a:t>指令类型，</a:t>
                      </a:r>
                      <a:r>
                        <a:rPr lang="en-US" sz="1400" kern="100" dirty="0">
                          <a:effectLst/>
                        </a:rPr>
                        <a:t>N</a:t>
                      </a:r>
                      <a:r>
                        <a:rPr lang="zh-CN" sz="1400" kern="100" dirty="0">
                          <a:effectLst/>
                        </a:rPr>
                        <a:t>、</a:t>
                      </a:r>
                      <a:r>
                        <a:rPr lang="en-US" sz="1400" kern="100" dirty="0">
                          <a:effectLst/>
                        </a:rPr>
                        <a:t>W</a:t>
                      </a:r>
                      <a:r>
                        <a:rPr lang="zh-CN" sz="1400" kern="100" dirty="0">
                          <a:effectLst/>
                        </a:rPr>
                        <a:t>、</a:t>
                      </a:r>
                      <a:r>
                        <a:rPr lang="en-US" sz="1400" kern="100" dirty="0">
                          <a:effectLst/>
                        </a:rPr>
                        <a:t>S</a:t>
                      </a:r>
                      <a:r>
                        <a:rPr lang="zh-CN" sz="1400" kern="100" dirty="0">
                          <a:effectLst/>
                        </a:rPr>
                        <a:t>、</a:t>
                      </a:r>
                      <a:r>
                        <a:rPr lang="en-US" sz="1400" kern="100" dirty="0">
                          <a:effectLst/>
                        </a:rPr>
                        <a:t>C</a:t>
                      </a:r>
                      <a:r>
                        <a:rPr lang="zh-CN" sz="1400" kern="100" dirty="0">
                          <a:effectLst/>
                        </a:rPr>
                        <a:t>、</a:t>
                      </a:r>
                      <a:r>
                        <a:rPr lang="en-US" sz="1400" kern="100" dirty="0">
                          <a:effectLst/>
                        </a:rPr>
                        <a:t>I</a:t>
                      </a:r>
                      <a:r>
                        <a:rPr lang="zh-CN" sz="1400" kern="100" dirty="0">
                          <a:effectLst/>
                        </a:rPr>
                        <a:t>、</a:t>
                      </a:r>
                      <a:r>
                        <a:rPr lang="en-US" sz="1400" kern="100" dirty="0">
                          <a:effectLst/>
                        </a:rPr>
                        <a:t>R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6362847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fence_i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</a:t>
                      </a:r>
                      <a:r>
                        <a:rPr lang="en-US" sz="1400" kern="100" dirty="0" err="1">
                          <a:effectLst/>
                        </a:rPr>
                        <a:t>fence.i</a:t>
                      </a:r>
                      <a:r>
                        <a:rPr lang="zh-CN" sz="1400" kern="100" dirty="0">
                          <a:effectLst/>
                        </a:rPr>
                        <a:t>指令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9191394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fence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</a:t>
                      </a:r>
                      <a:r>
                        <a:rPr lang="en-US" sz="1400" kern="100" dirty="0">
                          <a:effectLst/>
                        </a:rPr>
                        <a:t>fence</a:t>
                      </a:r>
                      <a:r>
                        <a:rPr lang="zh-CN" sz="1400" kern="100" dirty="0">
                          <a:effectLst/>
                        </a:rPr>
                        <a:t>指令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303314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amo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</a:t>
                      </a:r>
                      <a:r>
                        <a:rPr lang="en-US" sz="1400" kern="100" dirty="0" err="1">
                          <a:effectLst/>
                        </a:rPr>
                        <a:t>amo</a:t>
                      </a:r>
                      <a:r>
                        <a:rPr lang="zh-CN" sz="1400" kern="100" dirty="0">
                          <a:effectLst/>
                        </a:rPr>
                        <a:t>指令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68136"/>
                  </a:ext>
                </a:extLst>
              </a:tr>
              <a:tr h="332611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dp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是否双精度浮点指令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290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40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流水线译码阶段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040" y="1647372"/>
            <a:ext cx="9312317" cy="48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2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8" y="1551875"/>
            <a:ext cx="9158514" cy="5022561"/>
          </a:xfrm>
          <a:prstGeom prst="rect">
            <a:avLst/>
          </a:prstGeom>
        </p:spPr>
      </p:pic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流水线执行阶段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流水线访存阶段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43" y="1484086"/>
            <a:ext cx="7885257" cy="5188743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198620" y="2045154"/>
            <a:ext cx="1778000" cy="615554"/>
            <a:chOff x="4198620" y="2045154"/>
            <a:chExt cx="1778000" cy="615554"/>
          </a:xfrm>
        </p:grpSpPr>
        <p:sp>
          <p:nvSpPr>
            <p:cNvPr id="2" name="文本框 1"/>
            <p:cNvSpPr txBox="1"/>
            <p:nvPr/>
          </p:nvSpPr>
          <p:spPr>
            <a:xfrm>
              <a:off x="4714240" y="2045154"/>
              <a:ext cx="1262380" cy="307777"/>
            </a:xfrm>
            <a:prstGeom prst="rect">
              <a:avLst/>
            </a:prstGeom>
            <a:noFill/>
            <a:ln w="28575">
              <a:solidFill>
                <a:srgbClr val="FCB00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条件分支指令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198620" y="2352931"/>
              <a:ext cx="1778000" cy="307777"/>
            </a:xfrm>
            <a:prstGeom prst="rect">
              <a:avLst/>
            </a:prstGeom>
            <a:noFill/>
            <a:ln w="28575">
              <a:solidFill>
                <a:srgbClr val="FCB00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无条件跳转指令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JAL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600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305722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流水线写回阶段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019" y="1521505"/>
            <a:ext cx="9802162" cy="480895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70719" y="2685534"/>
            <a:ext cx="6166366" cy="9671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B00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(Rocket Custom Coprocessor Interface)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用于连接外部加速器或是协处理器。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0550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6128508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集成外部加速器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2382194" y="1913207"/>
            <a:ext cx="9364330" cy="44172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4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紧耦合，扩展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指令集并且把加速器直接集成到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处理器核的流水线中。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spcBef>
                <a:spcPts val="4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松耦合，在单独的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中添加加速器，在通过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TileLink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总线连接到存储系统。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spcBef>
                <a:spcPts val="4000"/>
              </a:spcBef>
            </a:pP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(Rocket Custom Coprocessor Interface)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，加速器被视作协处理器，通过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接口从处理器接收指令和数据。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6003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扩展指令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2396708" y="2397159"/>
            <a:ext cx="9364330" cy="12073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4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接口的处理器扩展技术，主要是通过扩展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指令集，添加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扩展指令，并设计相应扩展部件。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副标题 2"/>
          <p:cNvSpPr txBox="1">
            <a:spLocks/>
          </p:cNvSpPr>
          <p:nvPr/>
        </p:nvSpPr>
        <p:spPr>
          <a:xfrm>
            <a:off x="2396708" y="4257263"/>
            <a:ext cx="9364330" cy="12073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4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Rocket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处理器基于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的可扩展空间，共定义了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089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扩展指令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772" y="1587361"/>
            <a:ext cx="6800000" cy="5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指令格式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36215"/>
              </p:ext>
            </p:extLst>
          </p:nvPr>
        </p:nvGraphicFramePr>
        <p:xfrm>
          <a:off x="2370545" y="2103552"/>
          <a:ext cx="9351370" cy="683192"/>
        </p:xfrm>
        <a:graphic>
          <a:graphicData uri="http://schemas.openxmlformats.org/drawingml/2006/table">
            <a:tbl>
              <a:tblPr firstRow="1" firstCol="1" bandRow="1"/>
              <a:tblGrid>
                <a:gridCol w="1842448">
                  <a:extLst>
                    <a:ext uri="{9D8B030D-6E8A-4147-A177-3AD203B41FA5}">
                      <a16:colId xmlns:a16="http://schemas.microsoft.com/office/drawing/2014/main" val="336743161"/>
                    </a:ext>
                  </a:extLst>
                </a:gridCol>
                <a:gridCol w="1347867">
                  <a:extLst>
                    <a:ext uri="{9D8B030D-6E8A-4147-A177-3AD203B41FA5}">
                      <a16:colId xmlns:a16="http://schemas.microsoft.com/office/drawing/2014/main" val="807572873"/>
                    </a:ext>
                  </a:extLst>
                </a:gridCol>
                <a:gridCol w="1271778">
                  <a:extLst>
                    <a:ext uri="{9D8B030D-6E8A-4147-A177-3AD203B41FA5}">
                      <a16:colId xmlns:a16="http://schemas.microsoft.com/office/drawing/2014/main" val="423291780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7092356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29015971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65181138"/>
                    </a:ext>
                  </a:extLst>
                </a:gridCol>
                <a:gridCol w="1386999">
                  <a:extLst>
                    <a:ext uri="{9D8B030D-6E8A-4147-A177-3AD203B41FA5}">
                      <a16:colId xmlns:a16="http://schemas.microsoft.com/office/drawing/2014/main" val="822012271"/>
                    </a:ext>
                  </a:extLst>
                </a:gridCol>
                <a:gridCol w="1990278">
                  <a:extLst>
                    <a:ext uri="{9D8B030D-6E8A-4147-A177-3AD203B41FA5}">
                      <a16:colId xmlns:a16="http://schemas.microsoft.com/office/drawing/2014/main" val="400399365"/>
                    </a:ext>
                  </a:extLst>
                </a:gridCol>
              </a:tblGrid>
              <a:tr h="227730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31                     25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24             20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19           15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11                7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6                            0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213226"/>
                  </a:ext>
                </a:extLst>
              </a:tr>
              <a:tr h="4554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funct7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rs2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rs1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xd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xs1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xs2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rd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opcode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714283"/>
                  </a:ext>
                </a:extLst>
              </a:tr>
            </a:tbl>
          </a:graphicData>
        </a:graphic>
      </p:graphicFrame>
      <p:sp>
        <p:nvSpPr>
          <p:cNvPr id="7" name="副标题 2"/>
          <p:cNvSpPr txBox="1">
            <a:spLocks/>
          </p:cNvSpPr>
          <p:nvPr/>
        </p:nvSpPr>
        <p:spPr>
          <a:xfrm>
            <a:off x="2247218" y="3511276"/>
            <a:ext cx="9699624" cy="31689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xs1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，决定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寄存器内的值是否通过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接口传至加速器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，决定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寄存器内的值是否通过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接口传至加速器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，决定处理器是否等待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指令执行的返回值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，决定指令执行的不同操作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297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处理器扩展接口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97" y="1440854"/>
            <a:ext cx="4840203" cy="51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7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处理器扩展接口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97" y="1440854"/>
            <a:ext cx="4840203" cy="51600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632" y="2989943"/>
            <a:ext cx="8726498" cy="36109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87658" y="193040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Yu Gothic UI" panose="020B0500000000000000" pitchFamily="34" charset="-128"/>
                <a:ea typeface="Yu Gothic UI" panose="020B0500000000000000" pitchFamily="34" charset="-128"/>
              </a:rPr>
              <a:t>Accel.</a:t>
            </a:r>
            <a:endParaRPr lang="zh-CN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174" y="2159516"/>
            <a:ext cx="7019048" cy="771429"/>
          </a:xfrm>
          <a:prstGeom prst="rect">
            <a:avLst/>
          </a:prstGeom>
          <a:ln w="28575">
            <a:solidFill>
              <a:srgbClr val="FCB00F"/>
            </a:solidFill>
          </a:ln>
        </p:spPr>
      </p:pic>
    </p:spTree>
    <p:extLst>
      <p:ext uri="{BB962C8B-B14F-4D97-AF65-F5344CB8AC3E}">
        <p14:creationId xmlns:p14="http://schemas.microsoft.com/office/powerpoint/2010/main" val="13199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处理器扩展接口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97" y="1440854"/>
            <a:ext cx="4840203" cy="51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5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处理器扩展接口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97" y="1440854"/>
            <a:ext cx="4840203" cy="516005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26" y="1440854"/>
            <a:ext cx="10219444" cy="371171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44115" y="574541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Yu Gothic UI" panose="020B0500000000000000" pitchFamily="34" charset="-128"/>
                <a:ea typeface="Yu Gothic UI" panose="020B0500000000000000" pitchFamily="34" charset="-128"/>
              </a:rPr>
              <a:t>Accel.</a:t>
            </a:r>
            <a:endParaRPr lang="zh-CN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593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RoCC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处理器扩展接口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97" y="1440854"/>
            <a:ext cx="4840203" cy="51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4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副标题 2"/>
          <p:cNvSpPr txBox="1">
            <a:spLocks/>
          </p:cNvSpPr>
          <p:nvPr/>
        </p:nvSpPr>
        <p:spPr>
          <a:xfrm>
            <a:off x="2239747" y="1823432"/>
            <a:ext cx="4089015" cy="4615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Firrtl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用于将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Chisel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源文件编译为  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Verilog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Verilator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Verilog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代码编译生成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</a:p>
          <a:p>
            <a:pPr algn="l">
              <a:lnSpc>
                <a:spcPct val="10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代码用于仿真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</a:p>
          <a:p>
            <a:pPr algn="l">
              <a:lnSpc>
                <a:spcPct val="1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用于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应用程序的仿真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3" y="515427"/>
            <a:ext cx="42027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Toolflow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762" y="370891"/>
            <a:ext cx="5457976" cy="60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8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3" y="515427"/>
            <a:ext cx="6395794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 err="1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Verilator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 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C++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模拟器</a:t>
            </a:r>
            <a:endParaRPr lang="zh-CN" altLang="en-US" b="1" dirty="0">
              <a:solidFill>
                <a:srgbClr val="202A36"/>
              </a:solidFill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0" y="1398669"/>
            <a:ext cx="3454400" cy="545933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239745" y="2134925"/>
            <a:ext cx="6497855" cy="3986817"/>
            <a:chOff x="2239746" y="1823433"/>
            <a:chExt cx="6497855" cy="3986817"/>
          </a:xfrm>
        </p:grpSpPr>
        <p:sp>
          <p:nvSpPr>
            <p:cNvPr id="27" name="副标题 2"/>
            <p:cNvSpPr txBox="1">
              <a:spLocks/>
            </p:cNvSpPr>
            <p:nvPr/>
          </p:nvSpPr>
          <p:spPr>
            <a:xfrm>
              <a:off x="2239747" y="1823433"/>
              <a:ext cx="6497854" cy="398681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 emulator/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make CONFIG=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RoccExampleConfig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00000"/>
                </a:lnSpc>
              </a:pP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00000"/>
                </a:lnSpc>
                <a:spcBef>
                  <a:spcPts val="1800"/>
                </a:spcBef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time ./emulator-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rocketchip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RoccExampleConfig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–c 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acc.elf</a:t>
              </a: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l">
                <a:lnSpc>
                  <a:spcPct val="100000"/>
                </a:lnSpc>
                <a:spcBef>
                  <a:spcPts val="3000"/>
                </a:spcBef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make debug CONFIG=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RoccExampleConfig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time ./emulator-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rocketchip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RoccExampleConfig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-debug</a:t>
              </a:r>
            </a:p>
            <a:p>
              <a:pPr algn="l">
                <a:lnSpc>
                  <a:spcPct val="100000"/>
                </a:lnSpc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–c --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vcd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acc.vcd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acc.elf</a:t>
              </a: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390" y="2803363"/>
              <a:ext cx="5610225" cy="35242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9746" y="4410188"/>
              <a:ext cx="6179209" cy="3473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056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3" y="515427"/>
            <a:ext cx="1669049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VCS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137" y="1364566"/>
            <a:ext cx="3772863" cy="5493434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1885070" y="6302326"/>
            <a:ext cx="6879103" cy="436098"/>
          </a:xfrm>
          <a:prstGeom prst="roundRect">
            <a:avLst/>
          </a:prstGeom>
          <a:solidFill>
            <a:srgbClr val="FCB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 ./emulator-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rocketchip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RoccExample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–c –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acc.elf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894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副标题 2"/>
          <p:cNvSpPr txBox="1">
            <a:spLocks/>
          </p:cNvSpPr>
          <p:nvPr/>
        </p:nvSpPr>
        <p:spPr>
          <a:xfrm>
            <a:off x="2183476" y="1440664"/>
            <a:ext cx="6693239" cy="5757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1800" b="1" dirty="0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-gnu-toolchain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，用于构建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交叉编译环境，支持构建通用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ELF /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Newlib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工具链和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Linux-ELF /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工具链两种模式。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riscv-gcc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GCC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</a:p>
          <a:p>
            <a:pPr marL="800100" lvl="1" indent="-34290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riscv-binutils-gdb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二进制工具（链接器，汇编器等）、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调试工具</a:t>
            </a:r>
          </a:p>
          <a:p>
            <a:pPr marL="800100" lvl="1" indent="-34290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riscv-glibc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 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标准库实现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riscv-llvm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，包含用于构建高度优化的编译器、优化器和运行     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时环境的工具包。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1800" b="1" dirty="0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en-US" altLang="zh-CN" sz="1800" b="1" dirty="0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-sim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指令集模拟器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1800" b="1" dirty="0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-opcodes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定义所有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riscv-fesvr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 Frontend Server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，前端服务器库。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riscv-pk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提供一个代理内核，轻量级的应用程序执行环境，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还提供一个最简单的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bootloader</a:t>
            </a:r>
          </a:p>
          <a:p>
            <a:pPr marL="0" lvl="1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FCB0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riscv-qemu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一个支持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和系统模拟器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3" y="515427"/>
            <a:ext cx="6395794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RISC-V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工具链</a:t>
            </a:r>
            <a:endParaRPr lang="en-US" altLang="zh-CN" b="1" dirty="0">
              <a:solidFill>
                <a:srgbClr val="202A36"/>
              </a:solidFill>
              <a:cs typeface="Arial" panose="020B0604020202020204" pitchFamily="34" charset="0"/>
              <a:sym typeface="Impact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173" y="1440663"/>
            <a:ext cx="3427828" cy="541733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553324" y="2813538"/>
            <a:ext cx="760681" cy="337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2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副标题 2"/>
          <p:cNvSpPr txBox="1">
            <a:spLocks/>
          </p:cNvSpPr>
          <p:nvPr/>
        </p:nvSpPr>
        <p:spPr>
          <a:xfrm>
            <a:off x="2970944" y="4327834"/>
            <a:ext cx="8843572" cy="1564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encoding.h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CSR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寄存器内容编码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opcodes-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，包含指令操作码的定义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riscv-opc.h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，包含所有指令、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CSR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寄存器地址、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exception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的编码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3" y="515427"/>
            <a:ext cx="6395794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扩展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RISC-V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工具链</a:t>
            </a:r>
            <a:endParaRPr lang="en-US" altLang="zh-CN" b="1" dirty="0">
              <a:solidFill>
                <a:srgbClr val="202A36"/>
              </a:solidFill>
              <a:cs typeface="Arial" panose="020B0604020202020204" pitchFamily="34" charset="0"/>
              <a:sym typeface="Impact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39" y="2243069"/>
            <a:ext cx="10171919" cy="1885392"/>
          </a:xfrm>
          <a:prstGeom prst="rect">
            <a:avLst/>
          </a:prstGeom>
        </p:spPr>
      </p:pic>
      <p:sp>
        <p:nvSpPr>
          <p:cNvPr id="5" name="副标题 2"/>
          <p:cNvSpPr txBox="1">
            <a:spLocks/>
          </p:cNvSpPr>
          <p:nvPr/>
        </p:nvSpPr>
        <p:spPr>
          <a:xfrm>
            <a:off x="2706003" y="1513978"/>
            <a:ext cx="3118022" cy="5676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-opcodes</a:t>
            </a: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2970944" y="6091311"/>
            <a:ext cx="9373455" cy="604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riscv-opc.c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，包含所有寄存器名和指令格式的定义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985" y="1448767"/>
            <a:ext cx="4914286" cy="4542857"/>
          </a:xfrm>
          <a:prstGeom prst="rect">
            <a:avLst/>
          </a:prstGeom>
          <a:ln w="12700">
            <a:solidFill>
              <a:srgbClr val="FCB00F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947" y="1448767"/>
            <a:ext cx="6705324" cy="4542857"/>
          </a:xfrm>
          <a:prstGeom prst="rect">
            <a:avLst/>
          </a:prstGeom>
          <a:ln w="12700">
            <a:solidFill>
              <a:srgbClr val="FCB00F"/>
            </a:solidFill>
          </a:ln>
        </p:spPr>
      </p:pic>
    </p:spTree>
    <p:extLst>
      <p:ext uri="{BB962C8B-B14F-4D97-AF65-F5344CB8AC3E}">
        <p14:creationId xmlns:p14="http://schemas.microsoft.com/office/powerpoint/2010/main" val="254155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副标题 2"/>
          <p:cNvSpPr txBox="1">
            <a:spLocks/>
          </p:cNvSpPr>
          <p:nvPr/>
        </p:nvSpPr>
        <p:spPr>
          <a:xfrm>
            <a:off x="2706003" y="1530632"/>
            <a:ext cx="2275983" cy="56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riscv-opc.c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3" y="515427"/>
            <a:ext cx="6395794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扩展</a:t>
            </a: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RISC-V</a:t>
            </a:r>
            <a:r>
              <a:rPr lang="zh-CN" altLang="en-US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工具链</a:t>
            </a:r>
            <a:endParaRPr lang="en-US" altLang="zh-CN" b="1" dirty="0">
              <a:solidFill>
                <a:srgbClr val="202A36"/>
              </a:solidFill>
              <a:cs typeface="Arial" panose="020B0604020202020204" pitchFamily="34" charset="0"/>
              <a:sym typeface="Impact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97" y="2189932"/>
            <a:ext cx="10131759" cy="3392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276" y="3438637"/>
            <a:ext cx="3752381" cy="542857"/>
          </a:xfrm>
          <a:prstGeom prst="rect">
            <a:avLst/>
          </a:prstGeom>
        </p:spPr>
      </p:pic>
      <p:sp>
        <p:nvSpPr>
          <p:cNvPr id="13" name="副标题 2"/>
          <p:cNvSpPr txBox="1">
            <a:spLocks/>
          </p:cNvSpPr>
          <p:nvPr/>
        </p:nvSpPr>
        <p:spPr>
          <a:xfrm>
            <a:off x="2706002" y="2718781"/>
            <a:ext cx="2275983" cy="56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riscv-opc.h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783478"/>
              </p:ext>
            </p:extLst>
          </p:nvPr>
        </p:nvGraphicFramePr>
        <p:xfrm>
          <a:off x="2706002" y="4336929"/>
          <a:ext cx="9351370" cy="1594116"/>
        </p:xfrm>
        <a:graphic>
          <a:graphicData uri="http://schemas.openxmlformats.org/drawingml/2006/table">
            <a:tbl>
              <a:tblPr firstRow="1" firstCol="1" bandRow="1"/>
              <a:tblGrid>
                <a:gridCol w="1842448">
                  <a:extLst>
                    <a:ext uri="{9D8B030D-6E8A-4147-A177-3AD203B41FA5}">
                      <a16:colId xmlns:a16="http://schemas.microsoft.com/office/drawing/2014/main" val="336743161"/>
                    </a:ext>
                  </a:extLst>
                </a:gridCol>
                <a:gridCol w="1347867">
                  <a:extLst>
                    <a:ext uri="{9D8B030D-6E8A-4147-A177-3AD203B41FA5}">
                      <a16:colId xmlns:a16="http://schemas.microsoft.com/office/drawing/2014/main" val="807572873"/>
                    </a:ext>
                  </a:extLst>
                </a:gridCol>
                <a:gridCol w="1271778">
                  <a:extLst>
                    <a:ext uri="{9D8B030D-6E8A-4147-A177-3AD203B41FA5}">
                      <a16:colId xmlns:a16="http://schemas.microsoft.com/office/drawing/2014/main" val="423291780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7092356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29015971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65181138"/>
                    </a:ext>
                  </a:extLst>
                </a:gridCol>
                <a:gridCol w="1386999">
                  <a:extLst>
                    <a:ext uri="{9D8B030D-6E8A-4147-A177-3AD203B41FA5}">
                      <a16:colId xmlns:a16="http://schemas.microsoft.com/office/drawing/2014/main" val="822012271"/>
                    </a:ext>
                  </a:extLst>
                </a:gridCol>
                <a:gridCol w="1990278">
                  <a:extLst>
                    <a:ext uri="{9D8B030D-6E8A-4147-A177-3AD203B41FA5}">
                      <a16:colId xmlns:a16="http://schemas.microsoft.com/office/drawing/2014/main" val="400399365"/>
                    </a:ext>
                  </a:extLst>
                </a:gridCol>
              </a:tblGrid>
              <a:tr h="227730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31                     25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24             20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19           15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11                7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6                            0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213226"/>
                  </a:ext>
                </a:extLst>
              </a:tr>
              <a:tr h="4554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funct7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rs2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rs1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xd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xs1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xs2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rd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opcode</a:t>
                      </a:r>
                      <a:endParaRPr lang="zh-CN" sz="2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714283"/>
                  </a:ext>
                </a:extLst>
              </a:tr>
              <a:tr h="455462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1 1 1 1 1 1 1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0 0 0 0 0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0 0 0 0 0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0 0 0 0 0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1 1 1 1 1 1 1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770463"/>
                  </a:ext>
                </a:extLst>
              </a:tr>
              <a:tr h="4554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0 0 0 0 1 0 0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0 0 0 0 0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0 0 0 0 0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0 0 0 0 0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0 0 0 1 0 1 1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232775"/>
                  </a:ext>
                </a:extLst>
              </a:tr>
            </a:tbl>
          </a:graphicData>
        </a:graphic>
      </p:graphicFrame>
      <p:sp>
        <p:nvSpPr>
          <p:cNvPr id="15" name="副标题 2"/>
          <p:cNvSpPr txBox="1">
            <a:spLocks/>
          </p:cNvSpPr>
          <p:nvPr/>
        </p:nvSpPr>
        <p:spPr>
          <a:xfrm>
            <a:off x="1933169" y="5094640"/>
            <a:ext cx="772833" cy="307879"/>
          </a:xfrm>
          <a:prstGeom prst="rect">
            <a:avLst/>
          </a:prstGeom>
          <a:ln w="19050">
            <a:solidFill>
              <a:srgbClr val="FCB00F"/>
            </a:solidFill>
          </a:ln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</a:p>
        </p:txBody>
      </p:sp>
      <p:sp>
        <p:nvSpPr>
          <p:cNvPr id="16" name="副标题 2"/>
          <p:cNvSpPr txBox="1">
            <a:spLocks/>
          </p:cNvSpPr>
          <p:nvPr/>
        </p:nvSpPr>
        <p:spPr>
          <a:xfrm>
            <a:off x="1933169" y="5513985"/>
            <a:ext cx="886494" cy="307879"/>
          </a:xfrm>
          <a:prstGeom prst="rect">
            <a:avLst/>
          </a:prstGeom>
          <a:ln w="19050">
            <a:solidFill>
              <a:srgbClr val="FCB00F"/>
            </a:solidFill>
          </a:ln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MATCH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719" y="3438637"/>
            <a:ext cx="4304762" cy="5619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279" y="6160230"/>
            <a:ext cx="9063961" cy="571883"/>
          </a:xfrm>
          <a:prstGeom prst="rect">
            <a:avLst/>
          </a:prstGeom>
          <a:ln w="28575">
            <a:solidFill>
              <a:srgbClr val="FCB00F"/>
            </a:solidFill>
          </a:ln>
        </p:spPr>
      </p:pic>
    </p:spTree>
    <p:extLst>
      <p:ext uri="{BB962C8B-B14F-4D97-AF65-F5344CB8AC3E}">
        <p14:creationId xmlns:p14="http://schemas.microsoft.com/office/powerpoint/2010/main" val="15615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2706002" y="515427"/>
            <a:ext cx="74031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Reconfigurable SIMD Extensions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0574" y="1710747"/>
            <a:ext cx="4341911" cy="42477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04641"/>
              </p:ext>
            </p:extLst>
          </p:nvPr>
        </p:nvGraphicFramePr>
        <p:xfrm>
          <a:off x="7284162" y="2746307"/>
          <a:ext cx="4608000" cy="1440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417962284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613005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1867608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329369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524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6852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4063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4257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0805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76425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9083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4438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283584" y="2732832"/>
            <a:ext cx="1145172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83240" y="2922952"/>
            <a:ext cx="1145516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83068" y="3113072"/>
            <a:ext cx="1145688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282896" y="3290087"/>
            <a:ext cx="1145859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82896" y="3982712"/>
            <a:ext cx="1141808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(nv-1)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83076" y="2746307"/>
            <a:ext cx="458957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79011" y="4009662"/>
            <a:ext cx="860222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54683" y="2540198"/>
            <a:ext cx="458957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62066" y="2524209"/>
            <a:ext cx="751733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nwidth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666046" y="2732832"/>
            <a:ext cx="723858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18986" y="2732832"/>
            <a:ext cx="723858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*2</a:t>
            </a:r>
            <a:r>
              <a:rPr lang="en-US" altLang="zh-CN" sz="1200" dirty="0">
                <a:solidFill>
                  <a:schemeClr val="tx1"/>
                </a:solidFill>
              </a:rPr>
              <a:t>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979201" y="2732832"/>
            <a:ext cx="723858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*3)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426348" y="4308573"/>
            <a:ext cx="860222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v0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567110" y="4308573"/>
            <a:ext cx="860222" cy="222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739064" y="4296862"/>
            <a:ext cx="860222" cy="255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v2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899781" y="4308573"/>
            <a:ext cx="860222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v3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28756" y="3982712"/>
            <a:ext cx="1171459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*2-1)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600215" y="3996187"/>
            <a:ext cx="1116436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*3-1)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771674" y="3996187"/>
            <a:ext cx="1116436" cy="19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*4-1)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603282" y="3425458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603110" y="3620695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603110" y="3797340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767915" y="2893078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67743" y="3088315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767743" y="3264960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767915" y="3441917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767743" y="3637154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767743" y="3813799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948874" y="2891370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948702" y="3086607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948702" y="3263252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948874" y="3440209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948702" y="3635446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948702" y="3812091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1153008" y="2891370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152836" y="3086607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1152836" y="3263252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1153008" y="3440209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1152836" y="3635446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1152836" y="3812091"/>
            <a:ext cx="458957" cy="1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530947" y="4695205"/>
            <a:ext cx="2114430" cy="545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向量寄存器</a:t>
            </a:r>
          </a:p>
        </p:txBody>
      </p:sp>
      <p:sp>
        <p:nvSpPr>
          <p:cNvPr id="52" name="矩形 51"/>
          <p:cNvSpPr/>
          <p:nvPr/>
        </p:nvSpPr>
        <p:spPr>
          <a:xfrm>
            <a:off x="7997687" y="5101005"/>
            <a:ext cx="3384627" cy="545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向量大小：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nwidth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383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72919"/>
              </p:ext>
            </p:extLst>
          </p:nvPr>
        </p:nvGraphicFramePr>
        <p:xfrm>
          <a:off x="2706003" y="1587500"/>
          <a:ext cx="8585199" cy="5124445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436340">
                  <a:extLst>
                    <a:ext uri="{9D8B030D-6E8A-4147-A177-3AD203B41FA5}">
                      <a16:colId xmlns:a16="http://schemas.microsoft.com/office/drawing/2014/main" val="1026043242"/>
                    </a:ext>
                  </a:extLst>
                </a:gridCol>
                <a:gridCol w="1740243">
                  <a:extLst>
                    <a:ext uri="{9D8B030D-6E8A-4147-A177-3AD203B41FA5}">
                      <a16:colId xmlns:a16="http://schemas.microsoft.com/office/drawing/2014/main" val="2412507088"/>
                    </a:ext>
                  </a:extLst>
                </a:gridCol>
                <a:gridCol w="4408616">
                  <a:extLst>
                    <a:ext uri="{9D8B030D-6E8A-4147-A177-3AD203B41FA5}">
                      <a16:colId xmlns:a16="http://schemas.microsoft.com/office/drawing/2014/main" val="492778400"/>
                    </a:ext>
                  </a:extLst>
                </a:gridCol>
              </a:tblGrid>
              <a:tr h="451021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向量指令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opcode(</a:t>
                      </a:r>
                      <a:r>
                        <a:rPr lang="en-US" sz="1800" kern="100" dirty="0" err="1">
                          <a:effectLst/>
                        </a:rPr>
                        <a:t>funct</a:t>
                      </a:r>
                      <a:r>
                        <a:rPr lang="en-US" sz="1800" kern="100" dirty="0">
                          <a:effectLst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描述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395524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lv </a:t>
                      </a: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, rs1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0000001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加载</a:t>
                      </a: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zh-CN" sz="1800" kern="100" dirty="0">
                          <a:effectLst/>
                        </a:rPr>
                        <a:t>向量寄存器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76703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sv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rvs</a:t>
                      </a:r>
                      <a:r>
                        <a:rPr lang="en-US" sz="1800" kern="100" dirty="0">
                          <a:effectLst/>
                        </a:rPr>
                        <a:t>, rs1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0000010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将向量寄存器内数据写回内存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194420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addv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, rvs1, rvs2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0000100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rvd[i] = rvs1[i] + rvs2[i]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626537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subv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, rvs1, rvs2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0001000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–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12975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avgv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, rvs1, rvs2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0001100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(rvs1[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+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]) &gt;&gt; 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555042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minv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0010000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(rvs1[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&lt;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]) ?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: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06422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maxv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0010100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(rvs2[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&lt;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]) ?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: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849006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srlv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0011000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&gt;&gt;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](log</a:t>
                      </a:r>
                      <a:r>
                        <a:rPr lang="en-US" sz="1800" kern="100" baseline="-25000" dirty="0">
                          <a:effectLst/>
                        </a:rPr>
                        <a:t>2</a:t>
                      </a:r>
                      <a:r>
                        <a:rPr lang="en-US" sz="1800" kern="100" dirty="0">
                          <a:effectLst/>
                        </a:rPr>
                        <a:t>w-1, 0)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869567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srav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0011100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&gt;&gt;&gt;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](log</a:t>
                      </a:r>
                      <a:r>
                        <a:rPr lang="en-US" sz="1800" kern="100" baseline="-25000" dirty="0">
                          <a:effectLst/>
                        </a:rPr>
                        <a:t>2</a:t>
                      </a:r>
                      <a:r>
                        <a:rPr lang="en-US" sz="1800" kern="100" dirty="0">
                          <a:effectLst/>
                        </a:rPr>
                        <a:t>w-1, 0)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293450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sllv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0100000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&lt;&lt;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](log</a:t>
                      </a:r>
                      <a:r>
                        <a:rPr lang="en-US" sz="1800" kern="100" baseline="-25000" dirty="0">
                          <a:effectLst/>
                        </a:rPr>
                        <a:t>2</a:t>
                      </a:r>
                      <a:r>
                        <a:rPr lang="en-US" sz="1800" kern="100" dirty="0">
                          <a:effectLst/>
                        </a:rPr>
                        <a:t>w-1, 0)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527410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orv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0100100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|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837007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andv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0101000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&amp;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604640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xorv rvd, rvs1, rvs2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0101100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^ rvs2[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253539"/>
                  </a:ext>
                </a:extLst>
              </a:tr>
              <a:tr h="333816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absv rvd, rvs1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0110000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rvd</a:t>
                      </a:r>
                      <a:r>
                        <a:rPr lang="en-US" sz="1800" kern="100" dirty="0">
                          <a:effectLst/>
                        </a:rPr>
                        <a:t>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=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&lt; 0 ? -rvs1[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 : rvs1[</a:t>
                      </a:r>
                      <a:r>
                        <a:rPr lang="en-US" sz="1800" kern="100" dirty="0" err="1">
                          <a:effectLst/>
                        </a:rPr>
                        <a:t>i</a:t>
                      </a:r>
                      <a:r>
                        <a:rPr lang="en-US" sz="1800" kern="100" dirty="0">
                          <a:effectLst/>
                        </a:rPr>
                        <a:t>]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108" marR="6810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142881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706002" y="515427"/>
            <a:ext cx="74031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Reconfigurable SIMD Extensions</a:t>
            </a:r>
          </a:p>
        </p:txBody>
      </p:sp>
    </p:spTree>
    <p:extLst>
      <p:ext uri="{BB962C8B-B14F-4D97-AF65-F5344CB8AC3E}">
        <p14:creationId xmlns:p14="http://schemas.microsoft.com/office/powerpoint/2010/main" val="6244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hudat\AppData\Local\Microsoft\Windows\INetCache\Content.Word\simd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003" y="1574164"/>
            <a:ext cx="8393797" cy="50552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组合 8"/>
          <p:cNvGrpSpPr/>
          <p:nvPr/>
        </p:nvGrpSpPr>
        <p:grpSpPr>
          <a:xfrm>
            <a:off x="5227320" y="3018106"/>
            <a:ext cx="6964680" cy="2898140"/>
            <a:chOff x="3627120" y="2804160"/>
            <a:chExt cx="6964680" cy="2898140"/>
          </a:xfrm>
        </p:grpSpPr>
        <p:sp>
          <p:nvSpPr>
            <p:cNvPr id="8" name="矩形 7"/>
            <p:cNvSpPr/>
            <p:nvPr/>
          </p:nvSpPr>
          <p:spPr>
            <a:xfrm>
              <a:off x="3627120" y="2804160"/>
              <a:ext cx="6964680" cy="28981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CB0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0380" y="2913711"/>
              <a:ext cx="6742760" cy="2719052"/>
            </a:xfrm>
            <a:prstGeom prst="rect">
              <a:avLst/>
            </a:prstGeom>
          </p:spPr>
        </p:pic>
      </p:grp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2706002" y="515427"/>
            <a:ext cx="740319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202A36"/>
                </a:solidFill>
                <a:cs typeface="Arial" panose="020B0604020202020204" pitchFamily="34" charset="0"/>
                <a:sym typeface="Impact" pitchFamily="34" charset="0"/>
              </a:rPr>
              <a:t>Reconfigurable SIMD Extensions</a:t>
            </a:r>
          </a:p>
        </p:txBody>
      </p:sp>
    </p:spTree>
    <p:extLst>
      <p:ext uri="{BB962C8B-B14F-4D97-AF65-F5344CB8AC3E}">
        <p14:creationId xmlns:p14="http://schemas.microsoft.com/office/powerpoint/2010/main" val="343062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6593825" y="4053232"/>
            <a:ext cx="3667777" cy="664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9" name="Freeform 6"/>
          <p:cNvSpPr>
            <a:spLocks/>
          </p:cNvSpPr>
          <p:nvPr/>
        </p:nvSpPr>
        <p:spPr bwMode="auto">
          <a:xfrm rot="16200000">
            <a:off x="4436242" y="-2625775"/>
            <a:ext cx="3359649" cy="12232133"/>
          </a:xfrm>
          <a:custGeom>
            <a:avLst/>
            <a:gdLst>
              <a:gd name="T0" fmla="*/ 606 w 606"/>
              <a:gd name="T1" fmla="*/ 335 h 697"/>
              <a:gd name="T2" fmla="*/ 464 w 606"/>
              <a:gd name="T3" fmla="*/ 0 h 697"/>
              <a:gd name="T4" fmla="*/ 0 w 606"/>
              <a:gd name="T5" fmla="*/ 0 h 697"/>
              <a:gd name="T6" fmla="*/ 0 w 606"/>
              <a:gd name="T7" fmla="*/ 697 h 697"/>
              <a:gd name="T8" fmla="*/ 432 w 606"/>
              <a:gd name="T9" fmla="*/ 697 h 697"/>
              <a:gd name="T10" fmla="*/ 606 w 606"/>
              <a:gd name="T11" fmla="*/ 335 h 697"/>
              <a:gd name="connsiteX0" fmla="*/ 18141 w 18141"/>
              <a:gd name="connsiteY0" fmla="*/ 4806 h 10000"/>
              <a:gd name="connsiteX1" fmla="*/ 15798 w 18141"/>
              <a:gd name="connsiteY1" fmla="*/ 0 h 10000"/>
              <a:gd name="connsiteX2" fmla="*/ 0 w 18141"/>
              <a:gd name="connsiteY2" fmla="*/ 0 h 10000"/>
              <a:gd name="connsiteX3" fmla="*/ 8141 w 18141"/>
              <a:gd name="connsiteY3" fmla="*/ 10000 h 10000"/>
              <a:gd name="connsiteX4" fmla="*/ 15270 w 18141"/>
              <a:gd name="connsiteY4" fmla="*/ 10000 h 10000"/>
              <a:gd name="connsiteX5" fmla="*/ 18141 w 18141"/>
              <a:gd name="connsiteY5" fmla="*/ 4806 h 10000"/>
              <a:gd name="connsiteX0" fmla="*/ 19334 w 19334"/>
              <a:gd name="connsiteY0" fmla="*/ 5546 h 10740"/>
              <a:gd name="connsiteX1" fmla="*/ 16991 w 19334"/>
              <a:gd name="connsiteY1" fmla="*/ 740 h 10740"/>
              <a:gd name="connsiteX2" fmla="*/ 1193 w 19334"/>
              <a:gd name="connsiteY2" fmla="*/ 740 h 10740"/>
              <a:gd name="connsiteX3" fmla="*/ 1125 w 19334"/>
              <a:gd name="connsiteY3" fmla="*/ 10740 h 10740"/>
              <a:gd name="connsiteX4" fmla="*/ 16463 w 19334"/>
              <a:gd name="connsiteY4" fmla="*/ 10740 h 10740"/>
              <a:gd name="connsiteX5" fmla="*/ 19334 w 19334"/>
              <a:gd name="connsiteY5" fmla="*/ 5546 h 10740"/>
              <a:gd name="connsiteX0" fmla="*/ 19434 w 19434"/>
              <a:gd name="connsiteY0" fmla="*/ 4806 h 10000"/>
              <a:gd name="connsiteX1" fmla="*/ 17091 w 19434"/>
              <a:gd name="connsiteY1" fmla="*/ 0 h 10000"/>
              <a:gd name="connsiteX2" fmla="*/ 1293 w 19434"/>
              <a:gd name="connsiteY2" fmla="*/ 0 h 10000"/>
              <a:gd name="connsiteX3" fmla="*/ 1225 w 19434"/>
              <a:gd name="connsiteY3" fmla="*/ 10000 h 10000"/>
              <a:gd name="connsiteX4" fmla="*/ 16563 w 19434"/>
              <a:gd name="connsiteY4" fmla="*/ 10000 h 10000"/>
              <a:gd name="connsiteX5" fmla="*/ 19434 w 19434"/>
              <a:gd name="connsiteY5" fmla="*/ 4806 h 10000"/>
              <a:gd name="connsiteX0" fmla="*/ 18216 w 18216"/>
              <a:gd name="connsiteY0" fmla="*/ 4806 h 10000"/>
              <a:gd name="connsiteX1" fmla="*/ 15873 w 18216"/>
              <a:gd name="connsiteY1" fmla="*/ 0 h 10000"/>
              <a:gd name="connsiteX2" fmla="*/ 2606 w 18216"/>
              <a:gd name="connsiteY2" fmla="*/ 0 h 10000"/>
              <a:gd name="connsiteX3" fmla="*/ 7 w 18216"/>
              <a:gd name="connsiteY3" fmla="*/ 10000 h 10000"/>
              <a:gd name="connsiteX4" fmla="*/ 15345 w 18216"/>
              <a:gd name="connsiteY4" fmla="*/ 10000 h 10000"/>
              <a:gd name="connsiteX5" fmla="*/ 18216 w 18216"/>
              <a:gd name="connsiteY5" fmla="*/ 4806 h 10000"/>
              <a:gd name="connsiteX0" fmla="*/ 18209 w 18209"/>
              <a:gd name="connsiteY0" fmla="*/ 5046 h 10240"/>
              <a:gd name="connsiteX1" fmla="*/ 15866 w 18209"/>
              <a:gd name="connsiteY1" fmla="*/ 240 h 10240"/>
              <a:gd name="connsiteX2" fmla="*/ 2599 w 18209"/>
              <a:gd name="connsiteY2" fmla="*/ 240 h 10240"/>
              <a:gd name="connsiteX3" fmla="*/ 0 w 18209"/>
              <a:gd name="connsiteY3" fmla="*/ 10240 h 10240"/>
              <a:gd name="connsiteX4" fmla="*/ 15338 w 18209"/>
              <a:gd name="connsiteY4" fmla="*/ 10240 h 10240"/>
              <a:gd name="connsiteX5" fmla="*/ 18209 w 18209"/>
              <a:gd name="connsiteY5" fmla="*/ 5046 h 10240"/>
              <a:gd name="connsiteX0" fmla="*/ 18209 w 18209"/>
              <a:gd name="connsiteY0" fmla="*/ 4807 h 10001"/>
              <a:gd name="connsiteX1" fmla="*/ 15866 w 18209"/>
              <a:gd name="connsiteY1" fmla="*/ 1 h 10001"/>
              <a:gd name="connsiteX2" fmla="*/ 2599 w 18209"/>
              <a:gd name="connsiteY2" fmla="*/ 1 h 10001"/>
              <a:gd name="connsiteX3" fmla="*/ 0 w 18209"/>
              <a:gd name="connsiteY3" fmla="*/ 10001 h 10001"/>
              <a:gd name="connsiteX4" fmla="*/ 15338 w 18209"/>
              <a:gd name="connsiteY4" fmla="*/ 10001 h 10001"/>
              <a:gd name="connsiteX5" fmla="*/ 18209 w 18209"/>
              <a:gd name="connsiteY5" fmla="*/ 4807 h 10001"/>
              <a:gd name="connsiteX0" fmla="*/ 18209 w 18209"/>
              <a:gd name="connsiteY0" fmla="*/ 4806 h 10000"/>
              <a:gd name="connsiteX1" fmla="*/ 15866 w 18209"/>
              <a:gd name="connsiteY1" fmla="*/ 0 h 10000"/>
              <a:gd name="connsiteX2" fmla="*/ 136 w 18209"/>
              <a:gd name="connsiteY2" fmla="*/ 11 h 10000"/>
              <a:gd name="connsiteX3" fmla="*/ 0 w 18209"/>
              <a:gd name="connsiteY3" fmla="*/ 10000 h 10000"/>
              <a:gd name="connsiteX4" fmla="*/ 15338 w 18209"/>
              <a:gd name="connsiteY4" fmla="*/ 10000 h 10000"/>
              <a:gd name="connsiteX5" fmla="*/ 18209 w 18209"/>
              <a:gd name="connsiteY5" fmla="*/ 4806 h 10000"/>
              <a:gd name="connsiteX0" fmla="*/ 18423 w 18423"/>
              <a:gd name="connsiteY0" fmla="*/ 4827 h 10021"/>
              <a:gd name="connsiteX1" fmla="*/ 16080 w 18423"/>
              <a:gd name="connsiteY1" fmla="*/ 21 h 10021"/>
              <a:gd name="connsiteX2" fmla="*/ 8 w 18423"/>
              <a:gd name="connsiteY2" fmla="*/ 0 h 10021"/>
              <a:gd name="connsiteX3" fmla="*/ 214 w 18423"/>
              <a:gd name="connsiteY3" fmla="*/ 10021 h 10021"/>
              <a:gd name="connsiteX4" fmla="*/ 15552 w 18423"/>
              <a:gd name="connsiteY4" fmla="*/ 10021 h 10021"/>
              <a:gd name="connsiteX5" fmla="*/ 18423 w 18423"/>
              <a:gd name="connsiteY5" fmla="*/ 4827 h 10021"/>
              <a:gd name="connsiteX0" fmla="*/ 19601 w 19601"/>
              <a:gd name="connsiteY0" fmla="*/ 4827 h 10021"/>
              <a:gd name="connsiteX1" fmla="*/ 17258 w 19601"/>
              <a:gd name="connsiteY1" fmla="*/ 21 h 10021"/>
              <a:gd name="connsiteX2" fmla="*/ 1186 w 19601"/>
              <a:gd name="connsiteY2" fmla="*/ 0 h 10021"/>
              <a:gd name="connsiteX3" fmla="*/ 1222 w 19601"/>
              <a:gd name="connsiteY3" fmla="*/ 4885 h 10021"/>
              <a:gd name="connsiteX4" fmla="*/ 1392 w 19601"/>
              <a:gd name="connsiteY4" fmla="*/ 10021 h 10021"/>
              <a:gd name="connsiteX5" fmla="*/ 16730 w 19601"/>
              <a:gd name="connsiteY5" fmla="*/ 10021 h 10021"/>
              <a:gd name="connsiteX6" fmla="*/ 19601 w 19601"/>
              <a:gd name="connsiteY6" fmla="*/ 4827 h 10021"/>
              <a:gd name="connsiteX0" fmla="*/ 20013 w 20013"/>
              <a:gd name="connsiteY0" fmla="*/ 4827 h 10021"/>
              <a:gd name="connsiteX1" fmla="*/ 17670 w 20013"/>
              <a:gd name="connsiteY1" fmla="*/ 21 h 10021"/>
              <a:gd name="connsiteX2" fmla="*/ 1598 w 20013"/>
              <a:gd name="connsiteY2" fmla="*/ 0 h 10021"/>
              <a:gd name="connsiteX3" fmla="*/ 1634 w 20013"/>
              <a:gd name="connsiteY3" fmla="*/ 4885 h 10021"/>
              <a:gd name="connsiteX4" fmla="*/ 1804 w 20013"/>
              <a:gd name="connsiteY4" fmla="*/ 10021 h 10021"/>
              <a:gd name="connsiteX5" fmla="*/ 17142 w 20013"/>
              <a:gd name="connsiteY5" fmla="*/ 10021 h 10021"/>
              <a:gd name="connsiteX6" fmla="*/ 20013 w 20013"/>
              <a:gd name="connsiteY6" fmla="*/ 4827 h 10021"/>
              <a:gd name="connsiteX0" fmla="*/ 19602 w 19602"/>
              <a:gd name="connsiteY0" fmla="*/ 4827 h 10021"/>
              <a:gd name="connsiteX1" fmla="*/ 17259 w 19602"/>
              <a:gd name="connsiteY1" fmla="*/ 21 h 10021"/>
              <a:gd name="connsiteX2" fmla="*/ 1187 w 19602"/>
              <a:gd name="connsiteY2" fmla="*/ 0 h 10021"/>
              <a:gd name="connsiteX3" fmla="*/ 1223 w 19602"/>
              <a:gd name="connsiteY3" fmla="*/ 4885 h 10021"/>
              <a:gd name="connsiteX4" fmla="*/ 1393 w 19602"/>
              <a:gd name="connsiteY4" fmla="*/ 10021 h 10021"/>
              <a:gd name="connsiteX5" fmla="*/ 16731 w 19602"/>
              <a:gd name="connsiteY5" fmla="*/ 10021 h 10021"/>
              <a:gd name="connsiteX6" fmla="*/ 19602 w 19602"/>
              <a:gd name="connsiteY6" fmla="*/ 4827 h 10021"/>
              <a:gd name="connsiteX0" fmla="*/ 19602 w 19602"/>
              <a:gd name="connsiteY0" fmla="*/ 4827 h 10021"/>
              <a:gd name="connsiteX1" fmla="*/ 17259 w 19602"/>
              <a:gd name="connsiteY1" fmla="*/ 21 h 10021"/>
              <a:gd name="connsiteX2" fmla="*/ 1187 w 19602"/>
              <a:gd name="connsiteY2" fmla="*/ 0 h 10021"/>
              <a:gd name="connsiteX3" fmla="*/ 1223 w 19602"/>
              <a:gd name="connsiteY3" fmla="*/ 4885 h 10021"/>
              <a:gd name="connsiteX4" fmla="*/ 3423 w 19602"/>
              <a:gd name="connsiteY4" fmla="*/ 10005 h 10021"/>
              <a:gd name="connsiteX5" fmla="*/ 16731 w 19602"/>
              <a:gd name="connsiteY5" fmla="*/ 10021 h 10021"/>
              <a:gd name="connsiteX6" fmla="*/ 19602 w 19602"/>
              <a:gd name="connsiteY6" fmla="*/ 4827 h 10021"/>
              <a:gd name="connsiteX0" fmla="*/ 19845 w 19845"/>
              <a:gd name="connsiteY0" fmla="*/ 4827 h 10021"/>
              <a:gd name="connsiteX1" fmla="*/ 17502 w 19845"/>
              <a:gd name="connsiteY1" fmla="*/ 21 h 10021"/>
              <a:gd name="connsiteX2" fmla="*/ 1430 w 19845"/>
              <a:gd name="connsiteY2" fmla="*/ 0 h 10021"/>
              <a:gd name="connsiteX3" fmla="*/ 677 w 19845"/>
              <a:gd name="connsiteY3" fmla="*/ 4869 h 10021"/>
              <a:gd name="connsiteX4" fmla="*/ 3666 w 19845"/>
              <a:gd name="connsiteY4" fmla="*/ 10005 h 10021"/>
              <a:gd name="connsiteX5" fmla="*/ 16974 w 19845"/>
              <a:gd name="connsiteY5" fmla="*/ 10021 h 10021"/>
              <a:gd name="connsiteX6" fmla="*/ 19845 w 19845"/>
              <a:gd name="connsiteY6" fmla="*/ 4827 h 10021"/>
              <a:gd name="connsiteX0" fmla="*/ 19196 w 19196"/>
              <a:gd name="connsiteY0" fmla="*/ 4806 h 10000"/>
              <a:gd name="connsiteX1" fmla="*/ 16853 w 19196"/>
              <a:gd name="connsiteY1" fmla="*/ 0 h 10000"/>
              <a:gd name="connsiteX2" fmla="*/ 2360 w 19196"/>
              <a:gd name="connsiteY2" fmla="*/ 10 h 10000"/>
              <a:gd name="connsiteX3" fmla="*/ 28 w 19196"/>
              <a:gd name="connsiteY3" fmla="*/ 4848 h 10000"/>
              <a:gd name="connsiteX4" fmla="*/ 3017 w 19196"/>
              <a:gd name="connsiteY4" fmla="*/ 9984 h 10000"/>
              <a:gd name="connsiteX5" fmla="*/ 16325 w 19196"/>
              <a:gd name="connsiteY5" fmla="*/ 10000 h 10000"/>
              <a:gd name="connsiteX6" fmla="*/ 19196 w 19196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1 w 19171"/>
              <a:gd name="connsiteY0" fmla="*/ 4806 h 10000"/>
              <a:gd name="connsiteX1" fmla="*/ 16828 w 19171"/>
              <a:gd name="connsiteY1" fmla="*/ 0 h 10000"/>
              <a:gd name="connsiteX2" fmla="*/ 2335 w 19171"/>
              <a:gd name="connsiteY2" fmla="*/ 10 h 10000"/>
              <a:gd name="connsiteX3" fmla="*/ 3 w 19171"/>
              <a:gd name="connsiteY3" fmla="*/ 4848 h 10000"/>
              <a:gd name="connsiteX4" fmla="*/ 2992 w 19171"/>
              <a:gd name="connsiteY4" fmla="*/ 9984 h 10000"/>
              <a:gd name="connsiteX5" fmla="*/ 16300 w 19171"/>
              <a:gd name="connsiteY5" fmla="*/ 10000 h 10000"/>
              <a:gd name="connsiteX6" fmla="*/ 19171 w 19171"/>
              <a:gd name="connsiteY6" fmla="*/ 4806 h 10000"/>
              <a:gd name="connsiteX0" fmla="*/ 19173 w 19173"/>
              <a:gd name="connsiteY0" fmla="*/ 4806 h 10000"/>
              <a:gd name="connsiteX1" fmla="*/ 16830 w 19173"/>
              <a:gd name="connsiteY1" fmla="*/ 0 h 10000"/>
              <a:gd name="connsiteX2" fmla="*/ 2337 w 19173"/>
              <a:gd name="connsiteY2" fmla="*/ 10 h 10000"/>
              <a:gd name="connsiteX3" fmla="*/ 5 w 19173"/>
              <a:gd name="connsiteY3" fmla="*/ 4848 h 10000"/>
              <a:gd name="connsiteX4" fmla="*/ 2994 w 19173"/>
              <a:gd name="connsiteY4" fmla="*/ 9984 h 10000"/>
              <a:gd name="connsiteX5" fmla="*/ 16302 w 19173"/>
              <a:gd name="connsiteY5" fmla="*/ 10000 h 10000"/>
              <a:gd name="connsiteX6" fmla="*/ 19173 w 19173"/>
              <a:gd name="connsiteY6" fmla="*/ 4806 h 10000"/>
              <a:gd name="connsiteX0" fmla="*/ 19232 w 19232"/>
              <a:gd name="connsiteY0" fmla="*/ 4806 h 10000"/>
              <a:gd name="connsiteX1" fmla="*/ 16889 w 19232"/>
              <a:gd name="connsiteY1" fmla="*/ 0 h 10000"/>
              <a:gd name="connsiteX2" fmla="*/ 2396 w 19232"/>
              <a:gd name="connsiteY2" fmla="*/ 10 h 10000"/>
              <a:gd name="connsiteX3" fmla="*/ 64 w 19232"/>
              <a:gd name="connsiteY3" fmla="*/ 4848 h 10000"/>
              <a:gd name="connsiteX4" fmla="*/ 3053 w 19232"/>
              <a:gd name="connsiteY4" fmla="*/ 9984 h 10000"/>
              <a:gd name="connsiteX5" fmla="*/ 16361 w 19232"/>
              <a:gd name="connsiteY5" fmla="*/ 10000 h 10000"/>
              <a:gd name="connsiteX6" fmla="*/ 19232 w 19232"/>
              <a:gd name="connsiteY6" fmla="*/ 4806 h 10000"/>
              <a:gd name="connsiteX0" fmla="*/ 19324 w 19324"/>
              <a:gd name="connsiteY0" fmla="*/ 4812 h 10006"/>
              <a:gd name="connsiteX1" fmla="*/ 16981 w 19324"/>
              <a:gd name="connsiteY1" fmla="*/ 6 h 10006"/>
              <a:gd name="connsiteX2" fmla="*/ 1811 w 19324"/>
              <a:gd name="connsiteY2" fmla="*/ 0 h 10006"/>
              <a:gd name="connsiteX3" fmla="*/ 156 w 19324"/>
              <a:gd name="connsiteY3" fmla="*/ 4854 h 10006"/>
              <a:gd name="connsiteX4" fmla="*/ 3145 w 19324"/>
              <a:gd name="connsiteY4" fmla="*/ 9990 h 10006"/>
              <a:gd name="connsiteX5" fmla="*/ 16453 w 19324"/>
              <a:gd name="connsiteY5" fmla="*/ 10006 h 10006"/>
              <a:gd name="connsiteX6" fmla="*/ 19324 w 19324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3057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2380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2267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236 w 19236"/>
              <a:gd name="connsiteY0" fmla="*/ 4812 h 10006"/>
              <a:gd name="connsiteX1" fmla="*/ 16893 w 19236"/>
              <a:gd name="connsiteY1" fmla="*/ 6 h 10006"/>
              <a:gd name="connsiteX2" fmla="*/ 1723 w 19236"/>
              <a:gd name="connsiteY2" fmla="*/ 0 h 10006"/>
              <a:gd name="connsiteX3" fmla="*/ 68 w 19236"/>
              <a:gd name="connsiteY3" fmla="*/ 4854 h 10006"/>
              <a:gd name="connsiteX4" fmla="*/ 2267 w 19236"/>
              <a:gd name="connsiteY4" fmla="*/ 9990 h 10006"/>
              <a:gd name="connsiteX5" fmla="*/ 16365 w 19236"/>
              <a:gd name="connsiteY5" fmla="*/ 10006 h 10006"/>
              <a:gd name="connsiteX6" fmla="*/ 19236 w 19236"/>
              <a:gd name="connsiteY6" fmla="*/ 4812 h 10006"/>
              <a:gd name="connsiteX0" fmla="*/ 19318 w 19318"/>
              <a:gd name="connsiteY0" fmla="*/ 4812 h 10006"/>
              <a:gd name="connsiteX1" fmla="*/ 16975 w 19318"/>
              <a:gd name="connsiteY1" fmla="*/ 6 h 10006"/>
              <a:gd name="connsiteX2" fmla="*/ 1241 w 19318"/>
              <a:gd name="connsiteY2" fmla="*/ 0 h 10006"/>
              <a:gd name="connsiteX3" fmla="*/ 150 w 19318"/>
              <a:gd name="connsiteY3" fmla="*/ 4854 h 10006"/>
              <a:gd name="connsiteX4" fmla="*/ 2349 w 19318"/>
              <a:gd name="connsiteY4" fmla="*/ 9990 h 10006"/>
              <a:gd name="connsiteX5" fmla="*/ 16447 w 19318"/>
              <a:gd name="connsiteY5" fmla="*/ 10006 h 10006"/>
              <a:gd name="connsiteX6" fmla="*/ 19318 w 19318"/>
              <a:gd name="connsiteY6" fmla="*/ 4812 h 10006"/>
              <a:gd name="connsiteX0" fmla="*/ 19230 w 19230"/>
              <a:gd name="connsiteY0" fmla="*/ 4812 h 10006"/>
              <a:gd name="connsiteX1" fmla="*/ 16887 w 19230"/>
              <a:gd name="connsiteY1" fmla="*/ 6 h 10006"/>
              <a:gd name="connsiteX2" fmla="*/ 1153 w 19230"/>
              <a:gd name="connsiteY2" fmla="*/ 0 h 10006"/>
              <a:gd name="connsiteX3" fmla="*/ 62 w 19230"/>
              <a:gd name="connsiteY3" fmla="*/ 4854 h 10006"/>
              <a:gd name="connsiteX4" fmla="*/ 2261 w 19230"/>
              <a:gd name="connsiteY4" fmla="*/ 9990 h 10006"/>
              <a:gd name="connsiteX5" fmla="*/ 16359 w 19230"/>
              <a:gd name="connsiteY5" fmla="*/ 10006 h 10006"/>
              <a:gd name="connsiteX6" fmla="*/ 19230 w 19230"/>
              <a:gd name="connsiteY6" fmla="*/ 4812 h 10006"/>
              <a:gd name="connsiteX0" fmla="*/ 19230 w 19230"/>
              <a:gd name="connsiteY0" fmla="*/ 4837 h 10031"/>
              <a:gd name="connsiteX1" fmla="*/ 16887 w 19230"/>
              <a:gd name="connsiteY1" fmla="*/ 0 h 10031"/>
              <a:gd name="connsiteX2" fmla="*/ 1153 w 19230"/>
              <a:gd name="connsiteY2" fmla="*/ 25 h 10031"/>
              <a:gd name="connsiteX3" fmla="*/ 62 w 19230"/>
              <a:gd name="connsiteY3" fmla="*/ 4879 h 10031"/>
              <a:gd name="connsiteX4" fmla="*/ 2261 w 19230"/>
              <a:gd name="connsiteY4" fmla="*/ 10015 h 10031"/>
              <a:gd name="connsiteX5" fmla="*/ 16359 w 19230"/>
              <a:gd name="connsiteY5" fmla="*/ 10031 h 10031"/>
              <a:gd name="connsiteX6" fmla="*/ 19230 w 19230"/>
              <a:gd name="connsiteY6" fmla="*/ 4837 h 10031"/>
              <a:gd name="connsiteX0" fmla="*/ 19230 w 19230"/>
              <a:gd name="connsiteY0" fmla="*/ 4812 h 10006"/>
              <a:gd name="connsiteX1" fmla="*/ 16887 w 19230"/>
              <a:gd name="connsiteY1" fmla="*/ 0 h 10006"/>
              <a:gd name="connsiteX2" fmla="*/ 1153 w 19230"/>
              <a:gd name="connsiteY2" fmla="*/ 0 h 10006"/>
              <a:gd name="connsiteX3" fmla="*/ 62 w 19230"/>
              <a:gd name="connsiteY3" fmla="*/ 4854 h 10006"/>
              <a:gd name="connsiteX4" fmla="*/ 2261 w 19230"/>
              <a:gd name="connsiteY4" fmla="*/ 9990 h 10006"/>
              <a:gd name="connsiteX5" fmla="*/ 16359 w 19230"/>
              <a:gd name="connsiteY5" fmla="*/ 10006 h 10006"/>
              <a:gd name="connsiteX6" fmla="*/ 19230 w 19230"/>
              <a:gd name="connsiteY6" fmla="*/ 4812 h 10006"/>
              <a:gd name="connsiteX0" fmla="*/ 19473 w 19473"/>
              <a:gd name="connsiteY0" fmla="*/ 4812 h 10006"/>
              <a:gd name="connsiteX1" fmla="*/ 17130 w 19473"/>
              <a:gd name="connsiteY1" fmla="*/ 0 h 10006"/>
              <a:gd name="connsiteX2" fmla="*/ 1396 w 19473"/>
              <a:gd name="connsiteY2" fmla="*/ 0 h 10006"/>
              <a:gd name="connsiteX3" fmla="*/ 47 w 19473"/>
              <a:gd name="connsiteY3" fmla="*/ 4854 h 10006"/>
              <a:gd name="connsiteX4" fmla="*/ 2504 w 19473"/>
              <a:gd name="connsiteY4" fmla="*/ 9990 h 10006"/>
              <a:gd name="connsiteX5" fmla="*/ 16602 w 19473"/>
              <a:gd name="connsiteY5" fmla="*/ 10006 h 10006"/>
              <a:gd name="connsiteX6" fmla="*/ 19473 w 19473"/>
              <a:gd name="connsiteY6" fmla="*/ 4812 h 10006"/>
              <a:gd name="connsiteX0" fmla="*/ 19890 w 19890"/>
              <a:gd name="connsiteY0" fmla="*/ 4812 h 10006"/>
              <a:gd name="connsiteX1" fmla="*/ 17547 w 19890"/>
              <a:gd name="connsiteY1" fmla="*/ 0 h 10006"/>
              <a:gd name="connsiteX2" fmla="*/ 1813 w 19890"/>
              <a:gd name="connsiteY2" fmla="*/ 0 h 10006"/>
              <a:gd name="connsiteX3" fmla="*/ 34 w 19890"/>
              <a:gd name="connsiteY3" fmla="*/ 4854 h 10006"/>
              <a:gd name="connsiteX4" fmla="*/ 2921 w 19890"/>
              <a:gd name="connsiteY4" fmla="*/ 9990 h 10006"/>
              <a:gd name="connsiteX5" fmla="*/ 17019 w 19890"/>
              <a:gd name="connsiteY5" fmla="*/ 10006 h 10006"/>
              <a:gd name="connsiteX6" fmla="*/ 19890 w 19890"/>
              <a:gd name="connsiteY6" fmla="*/ 4812 h 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90" h="10006">
                <a:moveTo>
                  <a:pt x="19890" y="4812"/>
                </a:moveTo>
                <a:cubicBezTo>
                  <a:pt x="19890" y="2918"/>
                  <a:pt x="18982" y="1220"/>
                  <a:pt x="17547" y="0"/>
                </a:cubicBezTo>
                <a:lnTo>
                  <a:pt x="1813" y="0"/>
                </a:lnTo>
                <a:cubicBezTo>
                  <a:pt x="1058" y="1169"/>
                  <a:pt x="-226" y="3122"/>
                  <a:pt x="34" y="4854"/>
                </a:cubicBezTo>
                <a:cubicBezTo>
                  <a:pt x="-44" y="6617"/>
                  <a:pt x="1238" y="8978"/>
                  <a:pt x="2921" y="9990"/>
                </a:cubicBezTo>
                <a:lnTo>
                  <a:pt x="17019" y="10006"/>
                </a:lnTo>
                <a:cubicBezTo>
                  <a:pt x="18768" y="8786"/>
                  <a:pt x="19890" y="6907"/>
                  <a:pt x="19890" y="4812"/>
                </a:cubicBezTo>
                <a:close/>
              </a:path>
            </a:pathLst>
          </a:custGeom>
          <a:solidFill>
            <a:srgbClr val="202A36">
              <a:alpha val="96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4169598" y="2470184"/>
            <a:ext cx="3765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中科院计算所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物端系统组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04024" y="3079306"/>
            <a:ext cx="74969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spc="3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</a:t>
            </a:r>
            <a:r>
              <a:rPr lang="zh-CN" altLang="en-US" sz="3600" b="1" spc="3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处理器研究工作总结汇报</a:t>
            </a:r>
          </a:p>
        </p:txBody>
      </p:sp>
      <p:sp>
        <p:nvSpPr>
          <p:cNvPr id="83" name="矩形 82"/>
          <p:cNvSpPr/>
          <p:nvPr/>
        </p:nvSpPr>
        <p:spPr>
          <a:xfrm>
            <a:off x="2647235" y="4508569"/>
            <a:ext cx="6937660" cy="328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2017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日</a:t>
            </a:r>
          </a:p>
        </p:txBody>
      </p:sp>
      <p:sp>
        <p:nvSpPr>
          <p:cNvPr id="84" name="TextBox 25"/>
          <p:cNvSpPr txBox="1"/>
          <p:nvPr/>
        </p:nvSpPr>
        <p:spPr>
          <a:xfrm>
            <a:off x="4986065" y="3976110"/>
            <a:ext cx="2260001" cy="369332"/>
          </a:xfrm>
          <a:prstGeom prst="rect">
            <a:avLst/>
          </a:prstGeom>
          <a:solidFill>
            <a:srgbClr val="FCB00F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/>
            <a:r>
              <a:rPr lang="zh-CN" altLang="en-US" b="1" dirty="0">
                <a:solidFill>
                  <a:srgbClr val="202A36"/>
                </a:solidFill>
              </a:rPr>
              <a:t>汇报人：胡婷</a:t>
            </a:r>
          </a:p>
        </p:txBody>
      </p:sp>
    </p:spTree>
    <p:extLst>
      <p:ext uri="{BB962C8B-B14F-4D97-AF65-F5344CB8AC3E}">
        <p14:creationId xmlns:p14="http://schemas.microsoft.com/office/powerpoint/2010/main" val="3598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6577</TotalTime>
  <Words>2059</Words>
  <Application>Microsoft Office PowerPoint</Application>
  <PresentationFormat>宽屏</PresentationFormat>
  <Paragraphs>520</Paragraphs>
  <Slides>37</Slides>
  <Notes>9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Arial Unicode MS</vt:lpstr>
      <vt:lpstr>Yu Gothic UI</vt:lpstr>
      <vt:lpstr>等线</vt:lpstr>
      <vt:lpstr>等线 Light</vt:lpstr>
      <vt:lpstr>华文细黑</vt:lpstr>
      <vt:lpstr>宋体</vt:lpstr>
      <vt:lpstr>微软雅黑</vt:lpstr>
      <vt:lpstr>Arial</vt:lpstr>
      <vt:lpstr>Calibri</vt:lpstr>
      <vt:lpstr>Century Gothic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胡婷</dc:creator>
  <cp:lastModifiedBy>胡婷</cp:lastModifiedBy>
  <cp:revision>157</cp:revision>
  <dcterms:created xsi:type="dcterms:W3CDTF">2017-03-20T01:06:35Z</dcterms:created>
  <dcterms:modified xsi:type="dcterms:W3CDTF">2018-03-17T14:34:33Z</dcterms:modified>
</cp:coreProperties>
</file>